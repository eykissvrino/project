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5" r:id="rId1"/>
    <p:sldMasterId id="2147483676" r:id="rId2"/>
  </p:sldMasterIdLst>
  <p:notesMasterIdLst>
    <p:notesMasterId r:id="rId48"/>
  </p:notesMasterIdLst>
  <p:handoutMasterIdLst>
    <p:handoutMasterId r:id="rId49"/>
  </p:handoutMasterIdLst>
  <p:sldIdLst>
    <p:sldId id="360" r:id="rId3"/>
    <p:sldId id="408" r:id="rId4"/>
    <p:sldId id="442" r:id="rId5"/>
    <p:sldId id="406" r:id="rId6"/>
    <p:sldId id="409" r:id="rId7"/>
    <p:sldId id="294" r:id="rId8"/>
    <p:sldId id="446" r:id="rId9"/>
    <p:sldId id="413" r:id="rId10"/>
    <p:sldId id="414" r:id="rId11"/>
    <p:sldId id="447" r:id="rId12"/>
    <p:sldId id="416" r:id="rId13"/>
    <p:sldId id="417" r:id="rId14"/>
    <p:sldId id="283" r:id="rId15"/>
    <p:sldId id="310" r:id="rId16"/>
    <p:sldId id="418" r:id="rId17"/>
    <p:sldId id="412" r:id="rId18"/>
    <p:sldId id="419" r:id="rId19"/>
    <p:sldId id="375" r:id="rId20"/>
    <p:sldId id="420" r:id="rId21"/>
    <p:sldId id="421" r:id="rId22"/>
    <p:sldId id="355" r:id="rId23"/>
    <p:sldId id="313" r:id="rId24"/>
    <p:sldId id="444" r:id="rId25"/>
    <p:sldId id="445" r:id="rId26"/>
    <p:sldId id="422" r:id="rId27"/>
    <p:sldId id="428" r:id="rId28"/>
    <p:sldId id="423" r:id="rId29"/>
    <p:sldId id="424" r:id="rId30"/>
    <p:sldId id="425" r:id="rId31"/>
    <p:sldId id="426" r:id="rId32"/>
    <p:sldId id="431" r:id="rId33"/>
    <p:sldId id="432" r:id="rId34"/>
    <p:sldId id="376" r:id="rId35"/>
    <p:sldId id="433" r:id="rId36"/>
    <p:sldId id="434" r:id="rId37"/>
    <p:sldId id="435" r:id="rId38"/>
    <p:sldId id="436" r:id="rId39"/>
    <p:sldId id="437" r:id="rId40"/>
    <p:sldId id="440" r:id="rId41"/>
    <p:sldId id="439" r:id="rId42"/>
    <p:sldId id="438" r:id="rId43"/>
    <p:sldId id="443" r:id="rId44"/>
    <p:sldId id="378" r:id="rId45"/>
    <p:sldId id="332" r:id="rId46"/>
    <p:sldId id="441" r:id="rId47"/>
  </p:sldIdLst>
  <p:sldSz cx="9144000" cy="6858000" type="screen4x3"/>
  <p:notesSz cx="9928225" cy="6669088"/>
  <p:defaultTextStyle>
    <a:defPPr>
      <a:defRPr lang="en-US"/>
    </a:defPPr>
    <a:lvl1pPr algn="l" rtl="0" fontAlgn="base">
      <a:spcBef>
        <a:spcPct val="0"/>
      </a:spcBef>
      <a:spcAft>
        <a:spcPct val="0"/>
      </a:spcAft>
      <a:defRPr sz="2400" b="1" kern="1200">
        <a:solidFill>
          <a:schemeClr val="tx1"/>
        </a:solidFill>
        <a:latin typeface="Times New Roman" pitchFamily="18" charset="0"/>
        <a:ea typeface="+mn-ea"/>
        <a:cs typeface="+mn-cs"/>
      </a:defRPr>
    </a:lvl1pPr>
    <a:lvl2pPr marL="457200" algn="l" rtl="0" fontAlgn="base">
      <a:spcBef>
        <a:spcPct val="0"/>
      </a:spcBef>
      <a:spcAft>
        <a:spcPct val="0"/>
      </a:spcAft>
      <a:defRPr sz="2400" b="1" kern="1200">
        <a:solidFill>
          <a:schemeClr val="tx1"/>
        </a:solidFill>
        <a:latin typeface="Times New Roman" pitchFamily="18" charset="0"/>
        <a:ea typeface="+mn-ea"/>
        <a:cs typeface="+mn-cs"/>
      </a:defRPr>
    </a:lvl2pPr>
    <a:lvl3pPr marL="914400" algn="l" rtl="0" fontAlgn="base">
      <a:spcBef>
        <a:spcPct val="0"/>
      </a:spcBef>
      <a:spcAft>
        <a:spcPct val="0"/>
      </a:spcAft>
      <a:defRPr sz="2400" b="1" kern="1200">
        <a:solidFill>
          <a:schemeClr val="tx1"/>
        </a:solidFill>
        <a:latin typeface="Times New Roman" pitchFamily="18" charset="0"/>
        <a:ea typeface="+mn-ea"/>
        <a:cs typeface="+mn-cs"/>
      </a:defRPr>
    </a:lvl3pPr>
    <a:lvl4pPr marL="1371600" algn="l" rtl="0" fontAlgn="base">
      <a:spcBef>
        <a:spcPct val="0"/>
      </a:spcBef>
      <a:spcAft>
        <a:spcPct val="0"/>
      </a:spcAft>
      <a:defRPr sz="2400" b="1" kern="1200">
        <a:solidFill>
          <a:schemeClr val="tx1"/>
        </a:solidFill>
        <a:latin typeface="Times New Roman" pitchFamily="18" charset="0"/>
        <a:ea typeface="+mn-ea"/>
        <a:cs typeface="+mn-cs"/>
      </a:defRPr>
    </a:lvl4pPr>
    <a:lvl5pPr marL="1828800" algn="l" rtl="0" fontAlgn="base">
      <a:spcBef>
        <a:spcPct val="0"/>
      </a:spcBef>
      <a:spcAft>
        <a:spcPct val="0"/>
      </a:spcAft>
      <a:defRPr sz="2400" b="1" kern="1200">
        <a:solidFill>
          <a:schemeClr val="tx1"/>
        </a:solidFill>
        <a:latin typeface="Times New Roman" pitchFamily="18" charset="0"/>
        <a:ea typeface="+mn-ea"/>
        <a:cs typeface="+mn-cs"/>
      </a:defRPr>
    </a:lvl5pPr>
    <a:lvl6pPr marL="2286000" algn="l" defTabSz="914400" rtl="0" eaLnBrk="1" latinLnBrk="1" hangingPunct="1">
      <a:defRPr sz="2400" b="1" kern="1200">
        <a:solidFill>
          <a:schemeClr val="tx1"/>
        </a:solidFill>
        <a:latin typeface="Times New Roman" pitchFamily="18" charset="0"/>
        <a:ea typeface="+mn-ea"/>
        <a:cs typeface="+mn-cs"/>
      </a:defRPr>
    </a:lvl6pPr>
    <a:lvl7pPr marL="2743200" algn="l" defTabSz="914400" rtl="0" eaLnBrk="1" latinLnBrk="1" hangingPunct="1">
      <a:defRPr sz="2400" b="1" kern="1200">
        <a:solidFill>
          <a:schemeClr val="tx1"/>
        </a:solidFill>
        <a:latin typeface="Times New Roman" pitchFamily="18" charset="0"/>
        <a:ea typeface="+mn-ea"/>
        <a:cs typeface="+mn-cs"/>
      </a:defRPr>
    </a:lvl7pPr>
    <a:lvl8pPr marL="3200400" algn="l" defTabSz="914400" rtl="0" eaLnBrk="1" latinLnBrk="1" hangingPunct="1">
      <a:defRPr sz="2400" b="1" kern="1200">
        <a:solidFill>
          <a:schemeClr val="tx1"/>
        </a:solidFill>
        <a:latin typeface="Times New Roman" pitchFamily="18" charset="0"/>
        <a:ea typeface="+mn-ea"/>
        <a:cs typeface="+mn-cs"/>
      </a:defRPr>
    </a:lvl8pPr>
    <a:lvl9pPr marL="3657600" algn="l" defTabSz="914400" rtl="0" eaLnBrk="1" latinLnBrk="1" hangingPunct="1">
      <a:defRPr sz="2400" b="1"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C1C1C"/>
    <a:srgbClr val="FFFF66"/>
    <a:srgbClr val="00FFFF"/>
    <a:srgbClr val="B1E2FB"/>
    <a:srgbClr val="FF00FF"/>
    <a:srgbClr val="009900"/>
    <a:srgbClr val="FFFF00"/>
    <a:srgbClr val="3AEA5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344" autoAdjust="0"/>
    <p:restoredTop sz="90985" autoAdjust="0"/>
  </p:normalViewPr>
  <p:slideViewPr>
    <p:cSldViewPr>
      <p:cViewPr varScale="1">
        <p:scale>
          <a:sx n="63" d="100"/>
          <a:sy n="63" d="100"/>
        </p:scale>
        <p:origin x="1468" y="52"/>
      </p:cViewPr>
      <p:guideLst>
        <p:guide orient="horz" pos="2160"/>
        <p:guide pos="2880"/>
      </p:guideLst>
    </p:cSldViewPr>
  </p:slideViewPr>
  <p:outlineViewPr>
    <p:cViewPr>
      <p:scale>
        <a:sx n="33" d="100"/>
        <a:sy n="33" d="100"/>
      </p:scale>
      <p:origin x="0" y="10698"/>
    </p:cViewPr>
    <p:sldLst>
      <p:sld r:id="rId1" collapse="1"/>
    </p:sldLst>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presProps" Target="pres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tableStyles" Target="tableStyles.xml"/><Relationship Id="rId5" Type="http://schemas.openxmlformats.org/officeDocument/2006/relationships/slide" Target="slides/slide3.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notesMaster" Target="notesMasters/notesMaster1.xml"/><Relationship Id="rId8" Type="http://schemas.openxmlformats.org/officeDocument/2006/relationships/slide" Target="slides/slide6.xml"/><Relationship Id="rId51" Type="http://schemas.openxmlformats.org/officeDocument/2006/relationships/viewProps" Target="view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handoutMaster" Target="handoutMasters/handoutMaster1.xml"/></Relationships>
</file>

<file path=ppt/_rels/viewProps.xml.rels><?xml version="1.0" encoding="UTF-8" standalone="yes"?>
<Relationships xmlns="http://schemas.openxmlformats.org/package/2006/relationships"><Relationship Id="rId1" Type="http://schemas.openxmlformats.org/officeDocument/2006/relationships/slide" Target="slides/slide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0233160621761662"/>
          <c:y val="6.4102564102564139E-2"/>
          <c:w val="0.88601036269430145"/>
          <c:h val="0.64102564102564163"/>
        </c:manualLayout>
      </c:layout>
      <c:lineChart>
        <c:grouping val="standard"/>
        <c:varyColors val="0"/>
        <c:ser>
          <c:idx val="0"/>
          <c:order val="0"/>
          <c:tx>
            <c:strRef>
              <c:f>Sheet1!$A$2</c:f>
              <c:strCache>
                <c:ptCount val="1"/>
              </c:strCache>
            </c:strRef>
          </c:tx>
          <c:spPr>
            <a:ln w="39907">
              <a:solidFill>
                <a:srgbClr val="FFFF00"/>
              </a:solidFill>
              <a:prstDash val="solid"/>
            </a:ln>
          </c:spPr>
          <c:marker>
            <c:symbol val="diamond"/>
            <c:size val="9"/>
            <c:spPr>
              <a:solidFill>
                <a:srgbClr val="FFFF00"/>
              </a:solidFill>
              <a:ln>
                <a:solidFill>
                  <a:srgbClr val="FFFF00"/>
                </a:solidFill>
                <a:prstDash val="solid"/>
              </a:ln>
            </c:spPr>
          </c:marker>
          <c:cat>
            <c:strRef>
              <c:f>Sheet1!$B$1:$I$1</c:f>
              <c:strCache>
                <c:ptCount val="8"/>
                <c:pt idx="0">
                  <c:v>Pre-Geneva</c:v>
                </c:pt>
                <c:pt idx="1">
                  <c:v>Geneva</c:v>
                </c:pt>
                <c:pt idx="2">
                  <c:v>Annecy</c:v>
                </c:pt>
                <c:pt idx="3">
                  <c:v>Torquay</c:v>
                </c:pt>
                <c:pt idx="4">
                  <c:v>Geneva</c:v>
                </c:pt>
                <c:pt idx="5">
                  <c:v>Dillon</c:v>
                </c:pt>
                <c:pt idx="6">
                  <c:v>Kennedy</c:v>
                </c:pt>
                <c:pt idx="7">
                  <c:v>Tokyo</c:v>
                </c:pt>
              </c:strCache>
            </c:strRef>
          </c:cat>
          <c:val>
            <c:numRef>
              <c:f>Sheet1!$B$2:$I$2</c:f>
              <c:numCache>
                <c:formatCode>General</c:formatCode>
                <c:ptCount val="8"/>
                <c:pt idx="0">
                  <c:v>101.2</c:v>
                </c:pt>
                <c:pt idx="1">
                  <c:v>60</c:v>
                </c:pt>
                <c:pt idx="2">
                  <c:v>40</c:v>
                </c:pt>
                <c:pt idx="3">
                  <c:v>36</c:v>
                </c:pt>
                <c:pt idx="4">
                  <c:v>28</c:v>
                </c:pt>
                <c:pt idx="5">
                  <c:v>22</c:v>
                </c:pt>
                <c:pt idx="6">
                  <c:v>16</c:v>
                </c:pt>
                <c:pt idx="7">
                  <c:v>8</c:v>
                </c:pt>
              </c:numCache>
            </c:numRef>
          </c:val>
          <c:smooth val="1"/>
          <c:extLst>
            <c:ext xmlns:c16="http://schemas.microsoft.com/office/drawing/2014/chart" uri="{C3380CC4-5D6E-409C-BE32-E72D297353CC}">
              <c16:uniqueId val="{00000000-2BE1-4B18-9F34-425BAC1EFA25}"/>
            </c:ext>
          </c:extLst>
        </c:ser>
        <c:dLbls>
          <c:showLegendKey val="0"/>
          <c:showVal val="0"/>
          <c:showCatName val="0"/>
          <c:showSerName val="0"/>
          <c:showPercent val="0"/>
          <c:showBubbleSize val="0"/>
        </c:dLbls>
        <c:marker val="1"/>
        <c:smooth val="0"/>
        <c:axId val="125177216"/>
        <c:axId val="125220352"/>
      </c:lineChart>
      <c:catAx>
        <c:axId val="125177216"/>
        <c:scaling>
          <c:orientation val="minMax"/>
        </c:scaling>
        <c:delete val="0"/>
        <c:axPos val="b"/>
        <c:numFmt formatCode="General" sourceLinked="1"/>
        <c:majorTickMark val="out"/>
        <c:minorTickMark val="none"/>
        <c:tickLblPos val="nextTo"/>
        <c:spPr>
          <a:ln w="13302">
            <a:solidFill>
              <a:srgbClr val="FFFFFF"/>
            </a:solidFill>
            <a:prstDash val="solid"/>
          </a:ln>
        </c:spPr>
        <c:txPr>
          <a:bodyPr rot="-2700000" vert="horz"/>
          <a:lstStyle/>
          <a:p>
            <a:pPr>
              <a:defRPr sz="1807" b="1" i="0" u="none" strike="noStrike" baseline="0">
                <a:solidFill>
                  <a:srgbClr val="FFFFFF"/>
                </a:solidFill>
                <a:latin typeface="Times New Roman"/>
                <a:ea typeface="Times New Roman"/>
                <a:cs typeface="Times New Roman"/>
              </a:defRPr>
            </a:pPr>
            <a:endParaRPr lang="ko-KR"/>
          </a:p>
        </c:txPr>
        <c:crossAx val="125220352"/>
        <c:crosses val="autoZero"/>
        <c:auto val="1"/>
        <c:lblAlgn val="ctr"/>
        <c:lblOffset val="100"/>
        <c:tickLblSkip val="1"/>
        <c:tickMarkSkip val="1"/>
        <c:noMultiLvlLbl val="0"/>
      </c:catAx>
      <c:valAx>
        <c:axId val="125220352"/>
        <c:scaling>
          <c:orientation val="minMax"/>
        </c:scaling>
        <c:delete val="0"/>
        <c:axPos val="l"/>
        <c:majorGridlines>
          <c:spPr>
            <a:ln w="13302">
              <a:solidFill>
                <a:srgbClr val="FFFFFF"/>
              </a:solidFill>
              <a:prstDash val="solid"/>
            </a:ln>
          </c:spPr>
        </c:majorGridlines>
        <c:numFmt formatCode="General" sourceLinked="1"/>
        <c:majorTickMark val="out"/>
        <c:minorTickMark val="none"/>
        <c:tickLblPos val="nextTo"/>
        <c:spPr>
          <a:ln w="13302">
            <a:solidFill>
              <a:srgbClr val="FFFFFF"/>
            </a:solidFill>
            <a:prstDash val="solid"/>
          </a:ln>
        </c:spPr>
        <c:txPr>
          <a:bodyPr rot="0" vert="horz"/>
          <a:lstStyle/>
          <a:p>
            <a:pPr>
              <a:defRPr sz="1807" b="1" i="0" u="none" strike="noStrike" baseline="0">
                <a:solidFill>
                  <a:srgbClr val="FFFFFF"/>
                </a:solidFill>
                <a:latin typeface="Times New Roman"/>
                <a:ea typeface="Times New Roman"/>
                <a:cs typeface="Times New Roman"/>
              </a:defRPr>
            </a:pPr>
            <a:endParaRPr lang="ko-KR"/>
          </a:p>
        </c:txPr>
        <c:crossAx val="125177216"/>
        <c:crosses val="autoZero"/>
        <c:crossBetween val="between"/>
      </c:valAx>
      <c:spPr>
        <a:noFill/>
        <a:ln w="13302">
          <a:solidFill>
            <a:srgbClr val="00FF00"/>
          </a:solidFill>
          <a:prstDash val="solid"/>
        </a:ln>
      </c:spPr>
    </c:plotArea>
    <c:plotVisOnly val="1"/>
    <c:dispBlanksAs val="gap"/>
    <c:showDLblsOverMax val="0"/>
  </c:chart>
  <c:spPr>
    <a:gradFill rotWithShape="0">
      <a:gsLst>
        <a:gs pos="0">
          <a:srgbClr val="333399"/>
        </a:gs>
        <a:gs pos="100000">
          <a:srgbClr val="333399">
            <a:gamma/>
            <a:shade val="46275"/>
            <a:invGamma/>
          </a:srgbClr>
        </a:gs>
      </a:gsLst>
      <a:lin ang="5400000" scaled="1"/>
    </a:gradFill>
    <a:ln w="13302">
      <a:solidFill>
        <a:srgbClr val="0000FF"/>
      </a:solidFill>
      <a:prstDash val="solid"/>
    </a:ln>
  </c:spPr>
  <c:txPr>
    <a:bodyPr/>
    <a:lstStyle/>
    <a:p>
      <a:pPr>
        <a:defRPr sz="1885" b="1" i="0" u="none" strike="noStrike" baseline="0">
          <a:solidFill>
            <a:schemeClr val="tx1"/>
          </a:solidFill>
          <a:latin typeface="Times New Roman"/>
          <a:ea typeface="Times New Roman"/>
          <a:cs typeface="Times New Roman"/>
        </a:defRPr>
      </a:pPr>
      <a:endParaRPr lang="ko-KR"/>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8610" name="Rectangle 2"/>
          <p:cNvSpPr>
            <a:spLocks noGrp="1" noChangeArrowheads="1"/>
          </p:cNvSpPr>
          <p:nvPr>
            <p:ph type="hdr" sz="quarter"/>
          </p:nvPr>
        </p:nvSpPr>
        <p:spPr bwMode="auto">
          <a:xfrm>
            <a:off x="0" y="0"/>
            <a:ext cx="4302231" cy="333454"/>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200">
                <a:ea typeface="굴림" pitchFamily="50" charset="-127"/>
              </a:defRPr>
            </a:lvl1pPr>
          </a:lstStyle>
          <a:p>
            <a:pPr>
              <a:defRPr/>
            </a:pPr>
            <a:endParaRPr lang="ko-KR" altLang="en-US"/>
          </a:p>
        </p:txBody>
      </p:sp>
      <p:sp>
        <p:nvSpPr>
          <p:cNvPr id="68611" name="Rectangle 3"/>
          <p:cNvSpPr>
            <a:spLocks noGrp="1" noChangeArrowheads="1"/>
          </p:cNvSpPr>
          <p:nvPr>
            <p:ph type="dt" sz="quarter" idx="1"/>
          </p:nvPr>
        </p:nvSpPr>
        <p:spPr bwMode="auto">
          <a:xfrm>
            <a:off x="5625994" y="0"/>
            <a:ext cx="4302231" cy="333454"/>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ea typeface="굴림" pitchFamily="50" charset="-127"/>
              </a:defRPr>
            </a:lvl1pPr>
          </a:lstStyle>
          <a:p>
            <a:pPr>
              <a:defRPr/>
            </a:pPr>
            <a:endParaRPr lang="ko-KR" altLang="en-US"/>
          </a:p>
        </p:txBody>
      </p:sp>
      <p:sp>
        <p:nvSpPr>
          <p:cNvPr id="68612" name="Rectangle 4"/>
          <p:cNvSpPr>
            <a:spLocks noGrp="1" noChangeArrowheads="1"/>
          </p:cNvSpPr>
          <p:nvPr>
            <p:ph type="ftr" sz="quarter" idx="2"/>
          </p:nvPr>
        </p:nvSpPr>
        <p:spPr bwMode="auto">
          <a:xfrm>
            <a:off x="0" y="6335634"/>
            <a:ext cx="4302231" cy="333454"/>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defRPr sz="1200">
                <a:ea typeface="굴림" pitchFamily="50" charset="-127"/>
              </a:defRPr>
            </a:lvl1pPr>
          </a:lstStyle>
          <a:p>
            <a:pPr>
              <a:defRPr/>
            </a:pPr>
            <a:endParaRPr lang="ko-KR" altLang="en-US"/>
          </a:p>
        </p:txBody>
      </p:sp>
      <p:sp>
        <p:nvSpPr>
          <p:cNvPr id="68613" name="Rectangle 5"/>
          <p:cNvSpPr>
            <a:spLocks noGrp="1" noChangeArrowheads="1"/>
          </p:cNvSpPr>
          <p:nvPr>
            <p:ph type="sldNum" sz="quarter" idx="3"/>
          </p:nvPr>
        </p:nvSpPr>
        <p:spPr bwMode="auto">
          <a:xfrm>
            <a:off x="5625994" y="6335634"/>
            <a:ext cx="4302231" cy="333454"/>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ea typeface="굴림" pitchFamily="50" charset="-127"/>
              </a:defRPr>
            </a:lvl1pPr>
          </a:lstStyle>
          <a:p>
            <a:pPr>
              <a:defRPr/>
            </a:pPr>
            <a:fld id="{3A8CDFD5-8FEE-4B6C-B337-5A582A951B37}" type="slidenum">
              <a:rPr lang="ko-KR" altLang="en-US"/>
              <a:pPr>
                <a:defRPr/>
              </a:pPr>
              <a:t>‹#›</a:t>
            </a:fld>
            <a:endParaRPr lang="ko-KR" altLang="en-US"/>
          </a:p>
        </p:txBody>
      </p:sp>
    </p:spTree>
    <p:extLst>
      <p:ext uri="{BB962C8B-B14F-4D97-AF65-F5344CB8AC3E}">
        <p14:creationId xmlns:p14="http://schemas.microsoft.com/office/powerpoint/2010/main" val="156231364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302125" cy="3333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622925" y="0"/>
            <a:ext cx="4303713" cy="333375"/>
          </a:xfrm>
          <a:prstGeom prst="rect">
            <a:avLst/>
          </a:prstGeom>
        </p:spPr>
        <p:txBody>
          <a:bodyPr vert="horz" lIns="91440" tIns="45720" rIns="91440" bIns="45720" rtlCol="0"/>
          <a:lstStyle>
            <a:lvl1pPr algn="r">
              <a:defRPr sz="1200"/>
            </a:lvl1pPr>
          </a:lstStyle>
          <a:p>
            <a:fld id="{8EDC00E7-662E-424B-9D6A-416C830FA6D2}" type="datetimeFigureOut">
              <a:rPr lang="en-US" smtClean="0"/>
              <a:pPr/>
              <a:t>9/9/2025</a:t>
            </a:fld>
            <a:endParaRPr lang="en-US"/>
          </a:p>
        </p:txBody>
      </p:sp>
      <p:sp>
        <p:nvSpPr>
          <p:cNvPr id="4" name="Slide Image Placeholder 3"/>
          <p:cNvSpPr>
            <a:spLocks noGrp="1" noRot="1" noChangeAspect="1"/>
          </p:cNvSpPr>
          <p:nvPr>
            <p:ph type="sldImg" idx="2"/>
          </p:nvPr>
        </p:nvSpPr>
        <p:spPr>
          <a:xfrm>
            <a:off x="3297238" y="500063"/>
            <a:ext cx="3333750" cy="2500312"/>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92188" y="3167063"/>
            <a:ext cx="7943850" cy="300196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334125"/>
            <a:ext cx="4302125" cy="33337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622925" y="6334125"/>
            <a:ext cx="4303713" cy="333375"/>
          </a:xfrm>
          <a:prstGeom prst="rect">
            <a:avLst/>
          </a:prstGeom>
        </p:spPr>
        <p:txBody>
          <a:bodyPr vert="horz" lIns="91440" tIns="45720" rIns="91440" bIns="45720" rtlCol="0" anchor="b"/>
          <a:lstStyle>
            <a:lvl1pPr algn="r">
              <a:defRPr sz="1200"/>
            </a:lvl1pPr>
          </a:lstStyle>
          <a:p>
            <a:fld id="{B4D28D73-C76D-4D0D-85D6-790F2BACC5ED}" type="slidenum">
              <a:rPr lang="en-US" smtClean="0"/>
              <a:pPr/>
              <a:t>‹#›</a:t>
            </a:fld>
            <a:endParaRPr lang="en-US"/>
          </a:p>
        </p:txBody>
      </p:sp>
    </p:spTree>
    <p:extLst>
      <p:ext uri="{BB962C8B-B14F-4D97-AF65-F5344CB8AC3E}">
        <p14:creationId xmlns:p14="http://schemas.microsoft.com/office/powerpoint/2010/main" val="7755607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fld id="{B4D28D73-C76D-4D0D-85D6-790F2BACC5ED}" type="slidenum">
              <a:rPr lang="en-US" smtClean="0"/>
              <a:pPr/>
              <a:t>6</a:t>
            </a:fld>
            <a:endParaRPr lang="en-US"/>
          </a:p>
        </p:txBody>
      </p:sp>
    </p:spTree>
    <p:extLst>
      <p:ext uri="{BB962C8B-B14F-4D97-AF65-F5344CB8AC3E}">
        <p14:creationId xmlns:p14="http://schemas.microsoft.com/office/powerpoint/2010/main" val="25366173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fld id="{B4D28D73-C76D-4D0D-85D6-790F2BACC5ED}" type="slidenum">
              <a:rPr lang="en-US" smtClean="0"/>
              <a:pPr/>
              <a:t>23</a:t>
            </a:fld>
            <a:endParaRPr lang="en-US"/>
          </a:p>
        </p:txBody>
      </p:sp>
    </p:spTree>
    <p:extLst>
      <p:ext uri="{BB962C8B-B14F-4D97-AF65-F5344CB8AC3E}">
        <p14:creationId xmlns:p14="http://schemas.microsoft.com/office/powerpoint/2010/main" val="34394487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p:spPr>
        <p:txBody>
          <a:bodyPr/>
          <a:lstStyle/>
          <a:p>
            <a:fld id="{8E628CEA-483B-4615-8BD9-098FE3716F83}" type="slidenum">
              <a:rPr lang="en-GB" altLang="ko-KR"/>
              <a:pPr/>
              <a:t>26</a:t>
            </a:fld>
            <a:endParaRPr lang="en-GB" altLang="ko-KR"/>
          </a:p>
        </p:txBody>
      </p:sp>
      <p:sp>
        <p:nvSpPr>
          <p:cNvPr id="53251" name="Rectangle 2"/>
          <p:cNvSpPr>
            <a:spLocks noGrp="1" noChangeArrowheads="1"/>
          </p:cNvSpPr>
          <p:nvPr>
            <p:ph type="body" idx="1"/>
          </p:nvPr>
        </p:nvSpPr>
        <p:spPr>
          <a:xfrm>
            <a:off x="1323764" y="3168278"/>
            <a:ext cx="7280698" cy="3000385"/>
          </a:xfrm>
          <a:noFill/>
          <a:ln/>
        </p:spPr>
        <p:txBody>
          <a:bodyPr lIns="92075" tIns="46038" rIns="92075" bIns="46038"/>
          <a:lstStyle/>
          <a:p>
            <a:endParaRPr lang="en-US" altLang="ko-KR">
              <a:ea typeface="굴림" charset="-127"/>
            </a:endParaRPr>
          </a:p>
        </p:txBody>
      </p:sp>
      <p:sp>
        <p:nvSpPr>
          <p:cNvPr id="53252" name="Rectangle 3"/>
          <p:cNvSpPr>
            <a:spLocks noGrp="1" noRot="1" noChangeAspect="1" noChangeArrowheads="1" noTextEdit="1"/>
          </p:cNvSpPr>
          <p:nvPr>
            <p:ph type="sldImg"/>
          </p:nvPr>
        </p:nvSpPr>
        <p:spPr>
          <a:xfrm>
            <a:off x="3305175" y="504825"/>
            <a:ext cx="3321050" cy="2490788"/>
          </a:xfrm>
          <a:ln w="12700" cap="flat">
            <a:solidFill>
              <a:schemeClr val="tx1"/>
            </a:solidFill>
          </a:ln>
        </p:spPr>
      </p:sp>
    </p:spTree>
    <p:extLst>
      <p:ext uri="{BB962C8B-B14F-4D97-AF65-F5344CB8AC3E}">
        <p14:creationId xmlns:p14="http://schemas.microsoft.com/office/powerpoint/2010/main" val="33102673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p:spPr>
        <p:txBody>
          <a:bodyPr/>
          <a:lstStyle/>
          <a:p>
            <a:fld id="{8E628CEA-483B-4615-8BD9-098FE3716F83}" type="slidenum">
              <a:rPr lang="en-GB" altLang="ko-KR"/>
              <a:pPr/>
              <a:t>27</a:t>
            </a:fld>
            <a:endParaRPr lang="en-GB" altLang="ko-KR"/>
          </a:p>
        </p:txBody>
      </p:sp>
      <p:sp>
        <p:nvSpPr>
          <p:cNvPr id="53251" name="Rectangle 2"/>
          <p:cNvSpPr>
            <a:spLocks noGrp="1" noChangeArrowheads="1"/>
          </p:cNvSpPr>
          <p:nvPr>
            <p:ph type="body" idx="1"/>
          </p:nvPr>
        </p:nvSpPr>
        <p:spPr>
          <a:xfrm>
            <a:off x="1323764" y="3168278"/>
            <a:ext cx="7280698" cy="3000385"/>
          </a:xfrm>
          <a:noFill/>
          <a:ln/>
        </p:spPr>
        <p:txBody>
          <a:bodyPr lIns="92075" tIns="46038" rIns="92075" bIns="46038"/>
          <a:lstStyle/>
          <a:p>
            <a:endParaRPr lang="en-US" altLang="ko-KR">
              <a:ea typeface="굴림" charset="-127"/>
            </a:endParaRPr>
          </a:p>
        </p:txBody>
      </p:sp>
      <p:sp>
        <p:nvSpPr>
          <p:cNvPr id="53252" name="Rectangle 3"/>
          <p:cNvSpPr>
            <a:spLocks noGrp="1" noRot="1" noChangeAspect="1" noChangeArrowheads="1" noTextEdit="1"/>
          </p:cNvSpPr>
          <p:nvPr>
            <p:ph type="sldImg"/>
          </p:nvPr>
        </p:nvSpPr>
        <p:spPr>
          <a:xfrm>
            <a:off x="3305175" y="504825"/>
            <a:ext cx="3321050" cy="2490788"/>
          </a:xfrm>
          <a:ln w="12700" cap="flat">
            <a:solidFill>
              <a:schemeClr val="tx1"/>
            </a:solidFill>
          </a:ln>
        </p:spPr>
      </p:sp>
    </p:spTree>
    <p:extLst>
      <p:ext uri="{BB962C8B-B14F-4D97-AF65-F5344CB8AC3E}">
        <p14:creationId xmlns:p14="http://schemas.microsoft.com/office/powerpoint/2010/main" val="1866040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p:spPr>
        <p:txBody>
          <a:bodyPr/>
          <a:lstStyle/>
          <a:p>
            <a:fld id="{8E628CEA-483B-4615-8BD9-098FE3716F83}" type="slidenum">
              <a:rPr lang="en-GB" altLang="ko-KR"/>
              <a:pPr/>
              <a:t>28</a:t>
            </a:fld>
            <a:endParaRPr lang="en-GB" altLang="ko-KR"/>
          </a:p>
        </p:txBody>
      </p:sp>
      <p:sp>
        <p:nvSpPr>
          <p:cNvPr id="53251" name="Rectangle 2"/>
          <p:cNvSpPr>
            <a:spLocks noGrp="1" noChangeArrowheads="1"/>
          </p:cNvSpPr>
          <p:nvPr>
            <p:ph type="body" idx="1"/>
          </p:nvPr>
        </p:nvSpPr>
        <p:spPr>
          <a:xfrm>
            <a:off x="1323764" y="3168278"/>
            <a:ext cx="7280698" cy="3000385"/>
          </a:xfrm>
          <a:noFill/>
          <a:ln/>
        </p:spPr>
        <p:txBody>
          <a:bodyPr lIns="92075" tIns="46038" rIns="92075" bIns="46038"/>
          <a:lstStyle/>
          <a:p>
            <a:endParaRPr lang="en-US" altLang="ko-KR" dirty="0">
              <a:ea typeface="굴림" charset="-127"/>
            </a:endParaRPr>
          </a:p>
        </p:txBody>
      </p:sp>
      <p:sp>
        <p:nvSpPr>
          <p:cNvPr id="53252" name="Rectangle 3"/>
          <p:cNvSpPr>
            <a:spLocks noGrp="1" noRot="1" noChangeAspect="1" noChangeArrowheads="1" noTextEdit="1"/>
          </p:cNvSpPr>
          <p:nvPr>
            <p:ph type="sldImg"/>
          </p:nvPr>
        </p:nvSpPr>
        <p:spPr>
          <a:xfrm>
            <a:off x="3305175" y="504825"/>
            <a:ext cx="3321050" cy="2490788"/>
          </a:xfrm>
          <a:ln w="12700" cap="flat">
            <a:solidFill>
              <a:schemeClr val="tx1"/>
            </a:solidFill>
          </a:ln>
        </p:spPr>
      </p:sp>
    </p:spTree>
    <p:extLst>
      <p:ext uri="{BB962C8B-B14F-4D97-AF65-F5344CB8AC3E}">
        <p14:creationId xmlns:p14="http://schemas.microsoft.com/office/powerpoint/2010/main" val="615007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oleObject" Target="../embeddings/oleObject2.bin"/><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oleObject" Target="../embeddings/oleObject3.bin"/><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oleObject" Target="../embeddings/oleObject4.bin"/><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oleObject" Target="../embeddings/oleObject5.bin"/><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oleObject" Target="../embeddings/oleObject6.bin"/><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oleObject" Target="../embeddings/oleObject7.bin"/><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oleObject" Target="../embeddings/oleObject7.bin"/><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oleObject" Target="../embeddings/oleObject8.bin"/><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oleObject" Target="../embeddings/oleObject9.bin"/><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oleObject" Target="../embeddings/oleObject10.bin"/><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oleObject" Target="../embeddings/oleObject11.bin"/><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oleObject" Target="../embeddings/oleObject13.bin"/><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oleObject" Target="../embeddings/oleObject14.bin"/><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oleObject" Target="../embeddings/oleObject15.bin"/><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oleObject" Target="../embeddings/oleObject15.bin"/><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oleObject" Target="../embeddings/oleObject16.bin"/><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oleObject" Target="../embeddings/oleObject17.bin"/><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oleObject" Target="../embeddings/oleObject17.bin"/><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oleObject" Target="../embeddings/oleObject18.bin"/><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oleObject" Target="../embeddings/oleObject19.bin"/><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oleObject" Target="../embeddings/oleObject19.bin"/><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oleObject" Target="../embeddings/oleObject20.bin"/><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aphicFrame>
        <p:nvGraphicFramePr>
          <p:cNvPr id="4" name="Object 2"/>
          <p:cNvGraphicFramePr>
            <a:graphicFrameLocks noChangeAspect="1"/>
          </p:cNvGraphicFramePr>
          <p:nvPr/>
        </p:nvGraphicFramePr>
        <p:xfrm>
          <a:off x="0" y="2371725"/>
          <a:ext cx="9144000" cy="4486275"/>
        </p:xfrm>
        <a:graphic>
          <a:graphicData uri="http://schemas.openxmlformats.org/presentationml/2006/ole">
            <mc:AlternateContent xmlns:mc="http://schemas.openxmlformats.org/markup-compatibility/2006">
              <mc:Choice xmlns:v="urn:schemas-microsoft-com:vml" Requires="v">
                <p:oleObj name="Image" r:id="rId2" imgW="10438095" imgH="5980952" progId="">
                  <p:embed/>
                </p:oleObj>
              </mc:Choice>
              <mc:Fallback>
                <p:oleObj name="Image" r:id="rId2" imgW="10438095" imgH="5980952" progId="">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ltGray">
                      <a:xfrm>
                        <a:off x="0" y="2371725"/>
                        <a:ext cx="9144000" cy="4486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 name="Text Box 14"/>
          <p:cNvSpPr txBox="1">
            <a:spLocks noChangeArrowheads="1"/>
          </p:cNvSpPr>
          <p:nvPr/>
        </p:nvSpPr>
        <p:spPr bwMode="auto">
          <a:xfrm>
            <a:off x="381000" y="304800"/>
            <a:ext cx="1079500" cy="396875"/>
          </a:xfrm>
          <a:prstGeom prst="rect">
            <a:avLst/>
          </a:prstGeom>
          <a:noFill/>
          <a:ln w="9525">
            <a:noFill/>
            <a:miter lim="800000"/>
            <a:headEnd/>
            <a:tailEnd/>
          </a:ln>
          <a:effectLst/>
        </p:spPr>
        <p:txBody>
          <a:bodyPr>
            <a:spAutoFit/>
          </a:bodyPr>
          <a:lstStyle/>
          <a:p>
            <a:pPr>
              <a:defRPr/>
            </a:pPr>
            <a:r>
              <a:rPr lang="en-US" altLang="ko-KR" sz="2000">
                <a:latin typeface="Verdana" pitchFamily="34" charset="0"/>
                <a:ea typeface="굴림" charset="-127"/>
              </a:rPr>
              <a:t>LOGO</a:t>
            </a:r>
          </a:p>
        </p:txBody>
      </p:sp>
      <p:sp>
        <p:nvSpPr>
          <p:cNvPr id="6" name="Rectangle 18"/>
          <p:cNvSpPr>
            <a:spLocks noChangeArrowheads="1"/>
          </p:cNvSpPr>
          <p:nvPr/>
        </p:nvSpPr>
        <p:spPr bwMode="gray">
          <a:xfrm>
            <a:off x="0" y="2349500"/>
            <a:ext cx="9144000" cy="73025"/>
          </a:xfrm>
          <a:prstGeom prst="rect">
            <a:avLst/>
          </a:prstGeom>
          <a:gradFill rotWithShape="1">
            <a:gsLst>
              <a:gs pos="0">
                <a:schemeClr val="bg1"/>
              </a:gs>
              <a:gs pos="50000">
                <a:schemeClr val="accent1"/>
              </a:gs>
              <a:gs pos="100000">
                <a:schemeClr val="bg1"/>
              </a:gs>
            </a:gsLst>
            <a:lin ang="0" scaled="1"/>
          </a:gradFill>
          <a:ln w="9525">
            <a:noFill/>
            <a:miter lim="800000"/>
            <a:headEnd/>
            <a:tailEnd/>
          </a:ln>
          <a:effectLst/>
        </p:spPr>
        <p:txBody>
          <a:bodyPr wrap="none" anchor="ctr"/>
          <a:lstStyle/>
          <a:p>
            <a:pPr algn="ctr">
              <a:defRPr/>
            </a:pPr>
            <a:endParaRPr lang="ko-KR" altLang="en-US" sz="1800" b="0">
              <a:latin typeface="Arial" pitchFamily="34" charset="0"/>
              <a:ea typeface="굴림" pitchFamily="50" charset="-127"/>
            </a:endParaRPr>
          </a:p>
        </p:txBody>
      </p:sp>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graphicFrame>
        <p:nvGraphicFramePr>
          <p:cNvPr id="4" name="Object 2"/>
          <p:cNvGraphicFramePr>
            <a:graphicFrameLocks noChangeAspect="1"/>
          </p:cNvGraphicFramePr>
          <p:nvPr/>
        </p:nvGraphicFramePr>
        <p:xfrm>
          <a:off x="0" y="2371725"/>
          <a:ext cx="9144000" cy="4486275"/>
        </p:xfrm>
        <a:graphic>
          <a:graphicData uri="http://schemas.openxmlformats.org/presentationml/2006/ole">
            <mc:AlternateContent xmlns:mc="http://schemas.openxmlformats.org/markup-compatibility/2006">
              <mc:Choice xmlns:v="urn:schemas-microsoft-com:vml" Requires="v">
                <p:oleObj name="Image" r:id="rId2" imgW="10438095" imgH="5980952" progId="">
                  <p:embed/>
                </p:oleObj>
              </mc:Choice>
              <mc:Fallback>
                <p:oleObj name="Image" r:id="rId2" imgW="10438095" imgH="5980952" progId="">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ltGray">
                      <a:xfrm>
                        <a:off x="0" y="2371725"/>
                        <a:ext cx="9144000" cy="4486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 name="Text Box 14"/>
          <p:cNvSpPr txBox="1">
            <a:spLocks noChangeArrowheads="1"/>
          </p:cNvSpPr>
          <p:nvPr/>
        </p:nvSpPr>
        <p:spPr bwMode="auto">
          <a:xfrm>
            <a:off x="381000" y="304800"/>
            <a:ext cx="1079500" cy="396875"/>
          </a:xfrm>
          <a:prstGeom prst="rect">
            <a:avLst/>
          </a:prstGeom>
          <a:noFill/>
          <a:ln w="9525">
            <a:noFill/>
            <a:miter lim="800000"/>
            <a:headEnd/>
            <a:tailEnd/>
          </a:ln>
          <a:effectLst/>
        </p:spPr>
        <p:txBody>
          <a:bodyPr>
            <a:spAutoFit/>
          </a:bodyPr>
          <a:lstStyle/>
          <a:p>
            <a:pPr>
              <a:defRPr/>
            </a:pPr>
            <a:r>
              <a:rPr lang="en-US" altLang="ko-KR" sz="2000">
                <a:latin typeface="Verdana" pitchFamily="34" charset="0"/>
                <a:ea typeface="굴림" charset="-127"/>
              </a:rPr>
              <a:t>LOGO</a:t>
            </a:r>
          </a:p>
        </p:txBody>
      </p:sp>
      <p:sp>
        <p:nvSpPr>
          <p:cNvPr id="6" name="Rectangle 18"/>
          <p:cNvSpPr>
            <a:spLocks noChangeArrowheads="1"/>
          </p:cNvSpPr>
          <p:nvPr/>
        </p:nvSpPr>
        <p:spPr bwMode="gray">
          <a:xfrm>
            <a:off x="0" y="2349500"/>
            <a:ext cx="9144000" cy="73025"/>
          </a:xfrm>
          <a:prstGeom prst="rect">
            <a:avLst/>
          </a:prstGeom>
          <a:gradFill rotWithShape="1">
            <a:gsLst>
              <a:gs pos="0">
                <a:schemeClr val="bg1"/>
              </a:gs>
              <a:gs pos="50000">
                <a:schemeClr val="accent1"/>
              </a:gs>
              <a:gs pos="100000">
                <a:schemeClr val="bg1"/>
              </a:gs>
            </a:gsLst>
            <a:lin ang="0" scaled="1"/>
          </a:gradFill>
          <a:ln w="9525">
            <a:noFill/>
            <a:miter lim="800000"/>
            <a:headEnd/>
            <a:tailEnd/>
          </a:ln>
          <a:effectLst/>
        </p:spPr>
        <p:txBody>
          <a:bodyPr wrap="none" anchor="ctr"/>
          <a:lstStyle/>
          <a:p>
            <a:pPr algn="ctr">
              <a:defRPr/>
            </a:pPr>
            <a:endParaRPr lang="ko-KR" altLang="en-US" sz="1800" b="0">
              <a:latin typeface="Arial" pitchFamily="34" charset="0"/>
              <a:ea typeface="굴림" pitchFamily="50" charset="-127"/>
            </a:endParaRPr>
          </a:p>
        </p:txBody>
      </p:sp>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aphicFrame>
        <p:nvGraphicFramePr>
          <p:cNvPr id="4" name="Object 2"/>
          <p:cNvGraphicFramePr>
            <a:graphicFrameLocks noChangeAspect="1"/>
          </p:cNvGraphicFramePr>
          <p:nvPr/>
        </p:nvGraphicFramePr>
        <p:xfrm>
          <a:off x="0" y="2371725"/>
          <a:ext cx="9144000" cy="4486275"/>
        </p:xfrm>
        <a:graphic>
          <a:graphicData uri="http://schemas.openxmlformats.org/presentationml/2006/ole">
            <mc:AlternateContent xmlns:mc="http://schemas.openxmlformats.org/markup-compatibility/2006">
              <mc:Choice xmlns:v="urn:schemas-microsoft-com:vml" Requires="v">
                <p:oleObj name="Image" r:id="rId2" imgW="10438095" imgH="5980952" progId="">
                  <p:embed/>
                </p:oleObj>
              </mc:Choice>
              <mc:Fallback>
                <p:oleObj name="Image" r:id="rId2" imgW="10438095" imgH="5980952" progId="">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ltGray">
                      <a:xfrm>
                        <a:off x="0" y="2371725"/>
                        <a:ext cx="9144000" cy="4486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 name="Text Box 14"/>
          <p:cNvSpPr txBox="1">
            <a:spLocks noChangeArrowheads="1"/>
          </p:cNvSpPr>
          <p:nvPr/>
        </p:nvSpPr>
        <p:spPr bwMode="auto">
          <a:xfrm>
            <a:off x="381000" y="304800"/>
            <a:ext cx="1079500" cy="396875"/>
          </a:xfrm>
          <a:prstGeom prst="rect">
            <a:avLst/>
          </a:prstGeom>
          <a:noFill/>
          <a:ln w="9525">
            <a:noFill/>
            <a:miter lim="800000"/>
            <a:headEnd/>
            <a:tailEnd/>
          </a:ln>
          <a:effectLst/>
        </p:spPr>
        <p:txBody>
          <a:bodyPr>
            <a:spAutoFit/>
          </a:bodyPr>
          <a:lstStyle/>
          <a:p>
            <a:pPr>
              <a:defRPr/>
            </a:pPr>
            <a:r>
              <a:rPr lang="en-US" altLang="ko-KR" sz="2000">
                <a:latin typeface="Verdana" pitchFamily="34" charset="0"/>
                <a:ea typeface="굴림" charset="-127"/>
              </a:rPr>
              <a:t>LOGO</a:t>
            </a:r>
          </a:p>
        </p:txBody>
      </p:sp>
      <p:sp>
        <p:nvSpPr>
          <p:cNvPr id="6" name="Rectangle 18"/>
          <p:cNvSpPr>
            <a:spLocks noChangeArrowheads="1"/>
          </p:cNvSpPr>
          <p:nvPr/>
        </p:nvSpPr>
        <p:spPr bwMode="gray">
          <a:xfrm>
            <a:off x="0" y="2349500"/>
            <a:ext cx="9144000" cy="73025"/>
          </a:xfrm>
          <a:prstGeom prst="rect">
            <a:avLst/>
          </a:prstGeom>
          <a:gradFill rotWithShape="1">
            <a:gsLst>
              <a:gs pos="0">
                <a:schemeClr val="bg1"/>
              </a:gs>
              <a:gs pos="50000">
                <a:schemeClr val="accent1"/>
              </a:gs>
              <a:gs pos="100000">
                <a:schemeClr val="bg1"/>
              </a:gs>
            </a:gsLst>
            <a:lin ang="0" scaled="1"/>
          </a:gradFill>
          <a:ln w="9525">
            <a:noFill/>
            <a:miter lim="800000"/>
            <a:headEnd/>
            <a:tailEnd/>
          </a:ln>
          <a:effectLst/>
        </p:spPr>
        <p:txBody>
          <a:bodyPr wrap="none" anchor="ctr"/>
          <a:lstStyle/>
          <a:p>
            <a:pPr algn="ctr">
              <a:defRPr/>
            </a:pPr>
            <a:endParaRPr lang="ko-KR" altLang="en-US" sz="1800" b="0">
              <a:latin typeface="Arial" pitchFamily="34" charset="0"/>
              <a:ea typeface="굴림" pitchFamily="50" charset="-127"/>
            </a:endParaRPr>
          </a:p>
        </p:txBody>
      </p:sp>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graphicFrame>
        <p:nvGraphicFramePr>
          <p:cNvPr id="5" name="Object 2"/>
          <p:cNvGraphicFramePr>
            <a:graphicFrameLocks noChangeAspect="1"/>
          </p:cNvGraphicFramePr>
          <p:nvPr/>
        </p:nvGraphicFramePr>
        <p:xfrm>
          <a:off x="0" y="2371725"/>
          <a:ext cx="9144000" cy="4486275"/>
        </p:xfrm>
        <a:graphic>
          <a:graphicData uri="http://schemas.openxmlformats.org/presentationml/2006/ole">
            <mc:AlternateContent xmlns:mc="http://schemas.openxmlformats.org/markup-compatibility/2006">
              <mc:Choice xmlns:v="urn:schemas-microsoft-com:vml" Requires="v">
                <p:oleObj name="Image" r:id="rId2" imgW="10438095" imgH="5980952" progId="">
                  <p:embed/>
                </p:oleObj>
              </mc:Choice>
              <mc:Fallback>
                <p:oleObj name="Image" r:id="rId2" imgW="10438095" imgH="5980952" progId="">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ltGray">
                      <a:xfrm>
                        <a:off x="0" y="2371725"/>
                        <a:ext cx="9144000" cy="4486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 name="Text Box 14"/>
          <p:cNvSpPr txBox="1">
            <a:spLocks noChangeArrowheads="1"/>
          </p:cNvSpPr>
          <p:nvPr/>
        </p:nvSpPr>
        <p:spPr bwMode="auto">
          <a:xfrm>
            <a:off x="381000" y="304800"/>
            <a:ext cx="1079500" cy="396875"/>
          </a:xfrm>
          <a:prstGeom prst="rect">
            <a:avLst/>
          </a:prstGeom>
          <a:noFill/>
          <a:ln w="9525">
            <a:noFill/>
            <a:miter lim="800000"/>
            <a:headEnd/>
            <a:tailEnd/>
          </a:ln>
          <a:effectLst/>
        </p:spPr>
        <p:txBody>
          <a:bodyPr>
            <a:spAutoFit/>
          </a:bodyPr>
          <a:lstStyle/>
          <a:p>
            <a:pPr>
              <a:defRPr/>
            </a:pPr>
            <a:r>
              <a:rPr lang="en-US" altLang="ko-KR" sz="2000">
                <a:latin typeface="Verdana" pitchFamily="34" charset="0"/>
                <a:ea typeface="굴림" charset="-127"/>
              </a:rPr>
              <a:t>LOGO</a:t>
            </a:r>
          </a:p>
        </p:txBody>
      </p:sp>
      <p:sp>
        <p:nvSpPr>
          <p:cNvPr id="7" name="Rectangle 18"/>
          <p:cNvSpPr>
            <a:spLocks noChangeArrowheads="1"/>
          </p:cNvSpPr>
          <p:nvPr/>
        </p:nvSpPr>
        <p:spPr bwMode="gray">
          <a:xfrm>
            <a:off x="0" y="2349500"/>
            <a:ext cx="9144000" cy="73025"/>
          </a:xfrm>
          <a:prstGeom prst="rect">
            <a:avLst/>
          </a:prstGeom>
          <a:gradFill rotWithShape="1">
            <a:gsLst>
              <a:gs pos="0">
                <a:schemeClr val="bg1"/>
              </a:gs>
              <a:gs pos="50000">
                <a:schemeClr val="accent1"/>
              </a:gs>
              <a:gs pos="100000">
                <a:schemeClr val="bg1"/>
              </a:gs>
            </a:gsLst>
            <a:lin ang="0" scaled="1"/>
          </a:gradFill>
          <a:ln w="9525">
            <a:noFill/>
            <a:miter lim="800000"/>
            <a:headEnd/>
            <a:tailEnd/>
          </a:ln>
          <a:effectLst/>
        </p:spPr>
        <p:txBody>
          <a:bodyPr wrap="none" anchor="ctr"/>
          <a:lstStyle/>
          <a:p>
            <a:pPr algn="ctr">
              <a:defRPr/>
            </a:pPr>
            <a:endParaRPr lang="ko-KR" altLang="en-US" sz="1800" b="0">
              <a:latin typeface="Arial" pitchFamily="34" charset="0"/>
              <a:ea typeface="굴림" pitchFamily="50" charset="-127"/>
            </a:endParaRPr>
          </a:p>
        </p:txBody>
      </p:sp>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371600"/>
            <a:ext cx="4038600" cy="52482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371600"/>
            <a:ext cx="4038600" cy="52482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graphicFrame>
        <p:nvGraphicFramePr>
          <p:cNvPr id="7" name="Object 2"/>
          <p:cNvGraphicFramePr>
            <a:graphicFrameLocks noChangeAspect="1"/>
          </p:cNvGraphicFramePr>
          <p:nvPr/>
        </p:nvGraphicFramePr>
        <p:xfrm>
          <a:off x="0" y="2371725"/>
          <a:ext cx="9144000" cy="4486275"/>
        </p:xfrm>
        <a:graphic>
          <a:graphicData uri="http://schemas.openxmlformats.org/presentationml/2006/ole">
            <mc:AlternateContent xmlns:mc="http://schemas.openxmlformats.org/markup-compatibility/2006">
              <mc:Choice xmlns:v="urn:schemas-microsoft-com:vml" Requires="v">
                <p:oleObj name="Image" r:id="rId2" imgW="10438095" imgH="5980952" progId="">
                  <p:embed/>
                </p:oleObj>
              </mc:Choice>
              <mc:Fallback>
                <p:oleObj name="Image" r:id="rId2" imgW="10438095" imgH="5980952" progId="">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ltGray">
                      <a:xfrm>
                        <a:off x="0" y="2371725"/>
                        <a:ext cx="9144000" cy="4486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 name="Text Box 14"/>
          <p:cNvSpPr txBox="1">
            <a:spLocks noChangeArrowheads="1"/>
          </p:cNvSpPr>
          <p:nvPr/>
        </p:nvSpPr>
        <p:spPr bwMode="auto">
          <a:xfrm>
            <a:off x="381000" y="304800"/>
            <a:ext cx="1079500" cy="396875"/>
          </a:xfrm>
          <a:prstGeom prst="rect">
            <a:avLst/>
          </a:prstGeom>
          <a:noFill/>
          <a:ln w="9525">
            <a:noFill/>
            <a:miter lim="800000"/>
            <a:headEnd/>
            <a:tailEnd/>
          </a:ln>
          <a:effectLst/>
        </p:spPr>
        <p:txBody>
          <a:bodyPr>
            <a:spAutoFit/>
          </a:bodyPr>
          <a:lstStyle/>
          <a:p>
            <a:pPr>
              <a:defRPr/>
            </a:pPr>
            <a:r>
              <a:rPr lang="en-US" altLang="ko-KR" sz="2000">
                <a:latin typeface="Verdana" pitchFamily="34" charset="0"/>
                <a:ea typeface="굴림" charset="-127"/>
              </a:rPr>
              <a:t>LOGO</a:t>
            </a:r>
          </a:p>
        </p:txBody>
      </p:sp>
      <p:sp>
        <p:nvSpPr>
          <p:cNvPr id="9" name="Rectangle 18"/>
          <p:cNvSpPr>
            <a:spLocks noChangeArrowheads="1"/>
          </p:cNvSpPr>
          <p:nvPr/>
        </p:nvSpPr>
        <p:spPr bwMode="gray">
          <a:xfrm>
            <a:off x="0" y="2349500"/>
            <a:ext cx="9144000" cy="73025"/>
          </a:xfrm>
          <a:prstGeom prst="rect">
            <a:avLst/>
          </a:prstGeom>
          <a:gradFill rotWithShape="1">
            <a:gsLst>
              <a:gs pos="0">
                <a:schemeClr val="bg1"/>
              </a:gs>
              <a:gs pos="50000">
                <a:schemeClr val="accent1"/>
              </a:gs>
              <a:gs pos="100000">
                <a:schemeClr val="bg1"/>
              </a:gs>
            </a:gsLst>
            <a:lin ang="0" scaled="1"/>
          </a:gradFill>
          <a:ln w="9525">
            <a:noFill/>
            <a:miter lim="800000"/>
            <a:headEnd/>
            <a:tailEnd/>
          </a:ln>
          <a:effectLst/>
        </p:spPr>
        <p:txBody>
          <a:bodyPr wrap="none" anchor="ctr"/>
          <a:lstStyle/>
          <a:p>
            <a:pPr algn="ctr">
              <a:defRPr/>
            </a:pPr>
            <a:endParaRPr lang="ko-KR" altLang="en-US" sz="1800" b="0">
              <a:latin typeface="Arial" pitchFamily="34" charset="0"/>
              <a:ea typeface="굴림" pitchFamily="50" charset="-127"/>
            </a:endParaRPr>
          </a:p>
        </p:txBody>
      </p:sp>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graphicFrame>
        <p:nvGraphicFramePr>
          <p:cNvPr id="3" name="Object 2"/>
          <p:cNvGraphicFramePr>
            <a:graphicFrameLocks noChangeAspect="1"/>
          </p:cNvGraphicFramePr>
          <p:nvPr/>
        </p:nvGraphicFramePr>
        <p:xfrm>
          <a:off x="0" y="2371725"/>
          <a:ext cx="9144000" cy="4486275"/>
        </p:xfrm>
        <a:graphic>
          <a:graphicData uri="http://schemas.openxmlformats.org/presentationml/2006/ole">
            <mc:AlternateContent xmlns:mc="http://schemas.openxmlformats.org/markup-compatibility/2006">
              <mc:Choice xmlns:v="urn:schemas-microsoft-com:vml" Requires="v">
                <p:oleObj name="Image" r:id="rId2" imgW="10438095" imgH="5980952" progId="">
                  <p:embed/>
                </p:oleObj>
              </mc:Choice>
              <mc:Fallback>
                <p:oleObj name="Image" r:id="rId2" imgW="10438095" imgH="5980952" progId="">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ltGray">
                      <a:xfrm>
                        <a:off x="0" y="2371725"/>
                        <a:ext cx="9144000" cy="4486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 name="Text Box 14"/>
          <p:cNvSpPr txBox="1">
            <a:spLocks noChangeArrowheads="1"/>
          </p:cNvSpPr>
          <p:nvPr/>
        </p:nvSpPr>
        <p:spPr bwMode="auto">
          <a:xfrm>
            <a:off x="381000" y="304800"/>
            <a:ext cx="1079500" cy="396875"/>
          </a:xfrm>
          <a:prstGeom prst="rect">
            <a:avLst/>
          </a:prstGeom>
          <a:noFill/>
          <a:ln w="9525">
            <a:noFill/>
            <a:miter lim="800000"/>
            <a:headEnd/>
            <a:tailEnd/>
          </a:ln>
          <a:effectLst/>
        </p:spPr>
        <p:txBody>
          <a:bodyPr>
            <a:spAutoFit/>
          </a:bodyPr>
          <a:lstStyle/>
          <a:p>
            <a:pPr>
              <a:defRPr/>
            </a:pPr>
            <a:r>
              <a:rPr lang="en-US" altLang="ko-KR" sz="2000">
                <a:latin typeface="Verdana" pitchFamily="34" charset="0"/>
                <a:ea typeface="굴림" charset="-127"/>
              </a:rPr>
              <a:t>LOGO</a:t>
            </a:r>
          </a:p>
        </p:txBody>
      </p:sp>
      <p:sp>
        <p:nvSpPr>
          <p:cNvPr id="5" name="Rectangle 18"/>
          <p:cNvSpPr>
            <a:spLocks noChangeArrowheads="1"/>
          </p:cNvSpPr>
          <p:nvPr/>
        </p:nvSpPr>
        <p:spPr bwMode="gray">
          <a:xfrm>
            <a:off x="0" y="2349500"/>
            <a:ext cx="9144000" cy="73025"/>
          </a:xfrm>
          <a:prstGeom prst="rect">
            <a:avLst/>
          </a:prstGeom>
          <a:gradFill rotWithShape="1">
            <a:gsLst>
              <a:gs pos="0">
                <a:schemeClr val="bg1"/>
              </a:gs>
              <a:gs pos="50000">
                <a:schemeClr val="accent1"/>
              </a:gs>
              <a:gs pos="100000">
                <a:schemeClr val="bg1"/>
              </a:gs>
            </a:gsLst>
            <a:lin ang="0" scaled="1"/>
          </a:gradFill>
          <a:ln w="9525">
            <a:noFill/>
            <a:miter lim="800000"/>
            <a:headEnd/>
            <a:tailEnd/>
          </a:ln>
          <a:effectLst/>
        </p:spPr>
        <p:txBody>
          <a:bodyPr wrap="none" anchor="ctr"/>
          <a:lstStyle/>
          <a:p>
            <a:pPr algn="ctr">
              <a:defRPr/>
            </a:pPr>
            <a:endParaRPr lang="ko-KR" altLang="en-US" sz="1800" b="0">
              <a:latin typeface="Arial" pitchFamily="34" charset="0"/>
              <a:ea typeface="굴림" pitchFamily="50" charset="-127"/>
            </a:endParaRPr>
          </a:p>
        </p:txBody>
      </p:sp>
      <p:sp>
        <p:nvSpPr>
          <p:cNvPr id="2" name="Title 1"/>
          <p:cNvSpPr>
            <a:spLocks noGrp="1"/>
          </p:cNvSpPr>
          <p:nvPr>
            <p:ph type="title"/>
          </p:nvPr>
        </p:nvSpPr>
        <p:spPr/>
        <p:txBody>
          <a:bodyPr/>
          <a:lstStyle/>
          <a:p>
            <a:r>
              <a:rPr lang="en-US"/>
              <a:t>Click to edit Master title style</a:t>
            </a:r>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graphicFrame>
        <p:nvGraphicFramePr>
          <p:cNvPr id="2" name="Object 2"/>
          <p:cNvGraphicFramePr>
            <a:graphicFrameLocks noChangeAspect="1"/>
          </p:cNvGraphicFramePr>
          <p:nvPr/>
        </p:nvGraphicFramePr>
        <p:xfrm>
          <a:off x="0" y="2371725"/>
          <a:ext cx="9144000" cy="4486275"/>
        </p:xfrm>
        <a:graphic>
          <a:graphicData uri="http://schemas.openxmlformats.org/presentationml/2006/ole">
            <mc:AlternateContent xmlns:mc="http://schemas.openxmlformats.org/markup-compatibility/2006">
              <mc:Choice xmlns:v="urn:schemas-microsoft-com:vml" Requires="v">
                <p:oleObj name="Image" r:id="rId2" imgW="10438095" imgH="5980952" progId="">
                  <p:embed/>
                </p:oleObj>
              </mc:Choice>
              <mc:Fallback>
                <p:oleObj name="Image" r:id="rId2" imgW="10438095" imgH="5980952" progId="">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ltGray">
                      <a:xfrm>
                        <a:off x="0" y="2371725"/>
                        <a:ext cx="9144000" cy="4486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 name="Text Box 14"/>
          <p:cNvSpPr txBox="1">
            <a:spLocks noChangeArrowheads="1"/>
          </p:cNvSpPr>
          <p:nvPr/>
        </p:nvSpPr>
        <p:spPr bwMode="auto">
          <a:xfrm>
            <a:off x="381000" y="304800"/>
            <a:ext cx="1079500" cy="396875"/>
          </a:xfrm>
          <a:prstGeom prst="rect">
            <a:avLst/>
          </a:prstGeom>
          <a:noFill/>
          <a:ln w="9525">
            <a:noFill/>
            <a:miter lim="800000"/>
            <a:headEnd/>
            <a:tailEnd/>
          </a:ln>
          <a:effectLst/>
        </p:spPr>
        <p:txBody>
          <a:bodyPr>
            <a:spAutoFit/>
          </a:bodyPr>
          <a:lstStyle/>
          <a:p>
            <a:pPr>
              <a:defRPr/>
            </a:pPr>
            <a:r>
              <a:rPr lang="en-US" altLang="ko-KR" sz="2000">
                <a:latin typeface="Verdana" pitchFamily="34" charset="0"/>
                <a:ea typeface="굴림" charset="-127"/>
              </a:rPr>
              <a:t>LOGO</a:t>
            </a:r>
          </a:p>
        </p:txBody>
      </p:sp>
      <p:sp>
        <p:nvSpPr>
          <p:cNvPr id="4" name="Rectangle 18"/>
          <p:cNvSpPr>
            <a:spLocks noChangeArrowheads="1"/>
          </p:cNvSpPr>
          <p:nvPr/>
        </p:nvSpPr>
        <p:spPr bwMode="gray">
          <a:xfrm>
            <a:off x="0" y="2349500"/>
            <a:ext cx="9144000" cy="73025"/>
          </a:xfrm>
          <a:prstGeom prst="rect">
            <a:avLst/>
          </a:prstGeom>
          <a:gradFill rotWithShape="1">
            <a:gsLst>
              <a:gs pos="0">
                <a:schemeClr val="bg1"/>
              </a:gs>
              <a:gs pos="50000">
                <a:schemeClr val="accent1"/>
              </a:gs>
              <a:gs pos="100000">
                <a:schemeClr val="bg1"/>
              </a:gs>
            </a:gsLst>
            <a:lin ang="0" scaled="1"/>
          </a:gradFill>
          <a:ln w="9525">
            <a:noFill/>
            <a:miter lim="800000"/>
            <a:headEnd/>
            <a:tailEnd/>
          </a:ln>
          <a:effectLst/>
        </p:spPr>
        <p:txBody>
          <a:bodyPr wrap="none" anchor="ctr"/>
          <a:lstStyle/>
          <a:p>
            <a:pPr algn="ctr">
              <a:defRPr/>
            </a:pPr>
            <a:endParaRPr lang="ko-KR" altLang="en-US" sz="1800" b="0">
              <a:latin typeface="Arial" pitchFamily="34" charset="0"/>
              <a:ea typeface="굴림" pitchFamily="50" charset="-127"/>
            </a:endParaRPr>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aphicFrame>
        <p:nvGraphicFramePr>
          <p:cNvPr id="5" name="Object 2"/>
          <p:cNvGraphicFramePr>
            <a:graphicFrameLocks noChangeAspect="1"/>
          </p:cNvGraphicFramePr>
          <p:nvPr/>
        </p:nvGraphicFramePr>
        <p:xfrm>
          <a:off x="0" y="2371725"/>
          <a:ext cx="9144000" cy="4486275"/>
        </p:xfrm>
        <a:graphic>
          <a:graphicData uri="http://schemas.openxmlformats.org/presentationml/2006/ole">
            <mc:AlternateContent xmlns:mc="http://schemas.openxmlformats.org/markup-compatibility/2006">
              <mc:Choice xmlns:v="urn:schemas-microsoft-com:vml" Requires="v">
                <p:oleObj name="Image" r:id="rId2" imgW="10438095" imgH="5980952" progId="">
                  <p:embed/>
                </p:oleObj>
              </mc:Choice>
              <mc:Fallback>
                <p:oleObj name="Image" r:id="rId2" imgW="10438095" imgH="5980952" progId="">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ltGray">
                      <a:xfrm>
                        <a:off x="0" y="2371725"/>
                        <a:ext cx="9144000" cy="4486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 name="Text Box 14"/>
          <p:cNvSpPr txBox="1">
            <a:spLocks noChangeArrowheads="1"/>
          </p:cNvSpPr>
          <p:nvPr/>
        </p:nvSpPr>
        <p:spPr bwMode="auto">
          <a:xfrm>
            <a:off x="381000" y="304800"/>
            <a:ext cx="1079500" cy="396875"/>
          </a:xfrm>
          <a:prstGeom prst="rect">
            <a:avLst/>
          </a:prstGeom>
          <a:noFill/>
          <a:ln w="9525">
            <a:noFill/>
            <a:miter lim="800000"/>
            <a:headEnd/>
            <a:tailEnd/>
          </a:ln>
          <a:effectLst/>
        </p:spPr>
        <p:txBody>
          <a:bodyPr>
            <a:spAutoFit/>
          </a:bodyPr>
          <a:lstStyle/>
          <a:p>
            <a:pPr>
              <a:defRPr/>
            </a:pPr>
            <a:r>
              <a:rPr lang="en-US" altLang="ko-KR" sz="2000">
                <a:latin typeface="Verdana" pitchFamily="34" charset="0"/>
                <a:ea typeface="굴림" charset="-127"/>
              </a:rPr>
              <a:t>LOGO</a:t>
            </a:r>
          </a:p>
        </p:txBody>
      </p:sp>
      <p:sp>
        <p:nvSpPr>
          <p:cNvPr id="7" name="Rectangle 18"/>
          <p:cNvSpPr>
            <a:spLocks noChangeArrowheads="1"/>
          </p:cNvSpPr>
          <p:nvPr/>
        </p:nvSpPr>
        <p:spPr bwMode="gray">
          <a:xfrm>
            <a:off x="0" y="2349500"/>
            <a:ext cx="9144000" cy="73025"/>
          </a:xfrm>
          <a:prstGeom prst="rect">
            <a:avLst/>
          </a:prstGeom>
          <a:gradFill rotWithShape="1">
            <a:gsLst>
              <a:gs pos="0">
                <a:schemeClr val="bg1"/>
              </a:gs>
              <a:gs pos="50000">
                <a:schemeClr val="accent1"/>
              </a:gs>
              <a:gs pos="100000">
                <a:schemeClr val="bg1"/>
              </a:gs>
            </a:gsLst>
            <a:lin ang="0" scaled="1"/>
          </a:gradFill>
          <a:ln w="9525">
            <a:noFill/>
            <a:miter lim="800000"/>
            <a:headEnd/>
            <a:tailEnd/>
          </a:ln>
          <a:effectLst/>
        </p:spPr>
        <p:txBody>
          <a:bodyPr wrap="none" anchor="ctr"/>
          <a:lstStyle/>
          <a:p>
            <a:pPr algn="ctr">
              <a:defRPr/>
            </a:pPr>
            <a:endParaRPr lang="ko-KR" altLang="en-US" sz="1800" b="0">
              <a:latin typeface="Arial" pitchFamily="34" charset="0"/>
              <a:ea typeface="굴림" pitchFamily="50" charset="-127"/>
            </a:endParaRPr>
          </a:p>
        </p:txBody>
      </p:sp>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aphicFrame>
        <p:nvGraphicFramePr>
          <p:cNvPr id="5" name="Object 2"/>
          <p:cNvGraphicFramePr>
            <a:graphicFrameLocks noChangeAspect="1"/>
          </p:cNvGraphicFramePr>
          <p:nvPr/>
        </p:nvGraphicFramePr>
        <p:xfrm>
          <a:off x="0" y="2371725"/>
          <a:ext cx="9144000" cy="4486275"/>
        </p:xfrm>
        <a:graphic>
          <a:graphicData uri="http://schemas.openxmlformats.org/presentationml/2006/ole">
            <mc:AlternateContent xmlns:mc="http://schemas.openxmlformats.org/markup-compatibility/2006">
              <mc:Choice xmlns:v="urn:schemas-microsoft-com:vml" Requires="v">
                <p:oleObj name="Image" r:id="rId2" imgW="10438095" imgH="5980952" progId="">
                  <p:embed/>
                </p:oleObj>
              </mc:Choice>
              <mc:Fallback>
                <p:oleObj name="Image" r:id="rId2" imgW="10438095" imgH="5980952" progId="">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ltGray">
                      <a:xfrm>
                        <a:off x="0" y="2371725"/>
                        <a:ext cx="9144000" cy="4486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 name="Text Box 14"/>
          <p:cNvSpPr txBox="1">
            <a:spLocks noChangeArrowheads="1"/>
          </p:cNvSpPr>
          <p:nvPr/>
        </p:nvSpPr>
        <p:spPr bwMode="auto">
          <a:xfrm>
            <a:off x="381000" y="304800"/>
            <a:ext cx="1079500" cy="396875"/>
          </a:xfrm>
          <a:prstGeom prst="rect">
            <a:avLst/>
          </a:prstGeom>
          <a:noFill/>
          <a:ln w="9525">
            <a:noFill/>
            <a:miter lim="800000"/>
            <a:headEnd/>
            <a:tailEnd/>
          </a:ln>
          <a:effectLst/>
        </p:spPr>
        <p:txBody>
          <a:bodyPr>
            <a:spAutoFit/>
          </a:bodyPr>
          <a:lstStyle/>
          <a:p>
            <a:pPr>
              <a:defRPr/>
            </a:pPr>
            <a:r>
              <a:rPr lang="en-US" altLang="ko-KR" sz="2000">
                <a:latin typeface="Verdana" pitchFamily="34" charset="0"/>
                <a:ea typeface="굴림" charset="-127"/>
              </a:rPr>
              <a:t>LOGO</a:t>
            </a:r>
          </a:p>
        </p:txBody>
      </p:sp>
      <p:sp>
        <p:nvSpPr>
          <p:cNvPr id="7" name="Rectangle 18"/>
          <p:cNvSpPr>
            <a:spLocks noChangeArrowheads="1"/>
          </p:cNvSpPr>
          <p:nvPr/>
        </p:nvSpPr>
        <p:spPr bwMode="gray">
          <a:xfrm>
            <a:off x="0" y="2349500"/>
            <a:ext cx="9144000" cy="73025"/>
          </a:xfrm>
          <a:prstGeom prst="rect">
            <a:avLst/>
          </a:prstGeom>
          <a:gradFill rotWithShape="1">
            <a:gsLst>
              <a:gs pos="0">
                <a:schemeClr val="bg1"/>
              </a:gs>
              <a:gs pos="50000">
                <a:schemeClr val="accent1"/>
              </a:gs>
              <a:gs pos="100000">
                <a:schemeClr val="bg1"/>
              </a:gs>
            </a:gsLst>
            <a:lin ang="0" scaled="1"/>
          </a:gradFill>
          <a:ln w="9525">
            <a:noFill/>
            <a:miter lim="800000"/>
            <a:headEnd/>
            <a:tailEnd/>
          </a:ln>
          <a:effectLst/>
        </p:spPr>
        <p:txBody>
          <a:bodyPr wrap="none" anchor="ctr"/>
          <a:lstStyle/>
          <a:p>
            <a:pPr algn="ctr">
              <a:defRPr/>
            </a:pPr>
            <a:endParaRPr lang="ko-KR" altLang="en-US" sz="1800" b="0">
              <a:latin typeface="Arial" pitchFamily="34" charset="0"/>
              <a:ea typeface="굴림" pitchFamily="50" charset="-127"/>
            </a:endParaRPr>
          </a:p>
        </p:txBody>
      </p:sp>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graphicFrame>
        <p:nvGraphicFramePr>
          <p:cNvPr id="4" name="Object 2"/>
          <p:cNvGraphicFramePr>
            <a:graphicFrameLocks noChangeAspect="1"/>
          </p:cNvGraphicFramePr>
          <p:nvPr/>
        </p:nvGraphicFramePr>
        <p:xfrm>
          <a:off x="0" y="2371725"/>
          <a:ext cx="9144000" cy="4486275"/>
        </p:xfrm>
        <a:graphic>
          <a:graphicData uri="http://schemas.openxmlformats.org/presentationml/2006/ole">
            <mc:AlternateContent xmlns:mc="http://schemas.openxmlformats.org/markup-compatibility/2006">
              <mc:Choice xmlns:v="urn:schemas-microsoft-com:vml" Requires="v">
                <p:oleObj name="Image" r:id="rId2" imgW="10438095" imgH="5980952" progId="">
                  <p:embed/>
                </p:oleObj>
              </mc:Choice>
              <mc:Fallback>
                <p:oleObj name="Image" r:id="rId2" imgW="10438095" imgH="5980952" progId="">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ltGray">
                      <a:xfrm>
                        <a:off x="0" y="2371725"/>
                        <a:ext cx="9144000" cy="4486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 name="Text Box 14"/>
          <p:cNvSpPr txBox="1">
            <a:spLocks noChangeArrowheads="1"/>
          </p:cNvSpPr>
          <p:nvPr/>
        </p:nvSpPr>
        <p:spPr bwMode="auto">
          <a:xfrm>
            <a:off x="381000" y="304800"/>
            <a:ext cx="1079500" cy="396875"/>
          </a:xfrm>
          <a:prstGeom prst="rect">
            <a:avLst/>
          </a:prstGeom>
          <a:noFill/>
          <a:ln w="9525">
            <a:noFill/>
            <a:miter lim="800000"/>
            <a:headEnd/>
            <a:tailEnd/>
          </a:ln>
          <a:effectLst/>
        </p:spPr>
        <p:txBody>
          <a:bodyPr>
            <a:spAutoFit/>
          </a:bodyPr>
          <a:lstStyle/>
          <a:p>
            <a:pPr>
              <a:defRPr/>
            </a:pPr>
            <a:r>
              <a:rPr lang="en-US" altLang="ko-KR" sz="2000">
                <a:latin typeface="Verdana" pitchFamily="34" charset="0"/>
                <a:ea typeface="굴림" charset="-127"/>
              </a:rPr>
              <a:t>LOGO</a:t>
            </a:r>
          </a:p>
        </p:txBody>
      </p:sp>
      <p:sp>
        <p:nvSpPr>
          <p:cNvPr id="6" name="Rectangle 18"/>
          <p:cNvSpPr>
            <a:spLocks noChangeArrowheads="1"/>
          </p:cNvSpPr>
          <p:nvPr/>
        </p:nvSpPr>
        <p:spPr bwMode="gray">
          <a:xfrm>
            <a:off x="0" y="2349500"/>
            <a:ext cx="9144000" cy="73025"/>
          </a:xfrm>
          <a:prstGeom prst="rect">
            <a:avLst/>
          </a:prstGeom>
          <a:gradFill rotWithShape="1">
            <a:gsLst>
              <a:gs pos="0">
                <a:schemeClr val="bg1"/>
              </a:gs>
              <a:gs pos="50000">
                <a:schemeClr val="accent1"/>
              </a:gs>
              <a:gs pos="100000">
                <a:schemeClr val="bg1"/>
              </a:gs>
            </a:gsLst>
            <a:lin ang="0" scaled="1"/>
          </a:gradFill>
          <a:ln w="9525">
            <a:noFill/>
            <a:miter lim="800000"/>
            <a:headEnd/>
            <a:tailEnd/>
          </a:ln>
          <a:effectLst/>
        </p:spPr>
        <p:txBody>
          <a:bodyPr wrap="none" anchor="ctr"/>
          <a:lstStyle/>
          <a:p>
            <a:pPr algn="ctr">
              <a:defRPr/>
            </a:pPr>
            <a:endParaRPr lang="ko-KR" altLang="en-US" sz="1800" b="0">
              <a:latin typeface="Arial" pitchFamily="34" charset="0"/>
              <a:ea typeface="굴림" pitchFamily="50" charset="-127"/>
            </a:endParaRPr>
          </a:p>
        </p:txBody>
      </p:sp>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aphicFrame>
        <p:nvGraphicFramePr>
          <p:cNvPr id="4" name="Object 2"/>
          <p:cNvGraphicFramePr>
            <a:graphicFrameLocks noChangeAspect="1"/>
          </p:cNvGraphicFramePr>
          <p:nvPr/>
        </p:nvGraphicFramePr>
        <p:xfrm>
          <a:off x="0" y="2371725"/>
          <a:ext cx="9144000" cy="4486275"/>
        </p:xfrm>
        <a:graphic>
          <a:graphicData uri="http://schemas.openxmlformats.org/presentationml/2006/ole">
            <mc:AlternateContent xmlns:mc="http://schemas.openxmlformats.org/markup-compatibility/2006">
              <mc:Choice xmlns:v="urn:schemas-microsoft-com:vml" Requires="v">
                <p:oleObj name="Image" r:id="rId2" imgW="10438095" imgH="5980952" progId="">
                  <p:embed/>
                </p:oleObj>
              </mc:Choice>
              <mc:Fallback>
                <p:oleObj name="Image" r:id="rId2" imgW="10438095" imgH="5980952" progId="">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ltGray">
                      <a:xfrm>
                        <a:off x="0" y="2371725"/>
                        <a:ext cx="9144000" cy="4486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 name="Text Box 14"/>
          <p:cNvSpPr txBox="1">
            <a:spLocks noChangeArrowheads="1"/>
          </p:cNvSpPr>
          <p:nvPr/>
        </p:nvSpPr>
        <p:spPr bwMode="auto">
          <a:xfrm>
            <a:off x="381000" y="304800"/>
            <a:ext cx="1079500" cy="396875"/>
          </a:xfrm>
          <a:prstGeom prst="rect">
            <a:avLst/>
          </a:prstGeom>
          <a:noFill/>
          <a:ln w="9525">
            <a:noFill/>
            <a:miter lim="800000"/>
            <a:headEnd/>
            <a:tailEnd/>
          </a:ln>
          <a:effectLst/>
        </p:spPr>
        <p:txBody>
          <a:bodyPr>
            <a:spAutoFit/>
          </a:bodyPr>
          <a:lstStyle/>
          <a:p>
            <a:pPr>
              <a:defRPr/>
            </a:pPr>
            <a:r>
              <a:rPr lang="en-US" altLang="ko-KR" sz="2000">
                <a:latin typeface="Verdana" pitchFamily="34" charset="0"/>
                <a:ea typeface="굴림" charset="-127"/>
              </a:rPr>
              <a:t>LOGO</a:t>
            </a:r>
          </a:p>
        </p:txBody>
      </p:sp>
      <p:sp>
        <p:nvSpPr>
          <p:cNvPr id="6" name="Rectangle 18"/>
          <p:cNvSpPr>
            <a:spLocks noChangeArrowheads="1"/>
          </p:cNvSpPr>
          <p:nvPr/>
        </p:nvSpPr>
        <p:spPr bwMode="gray">
          <a:xfrm>
            <a:off x="0" y="2349500"/>
            <a:ext cx="9144000" cy="73025"/>
          </a:xfrm>
          <a:prstGeom prst="rect">
            <a:avLst/>
          </a:prstGeom>
          <a:gradFill rotWithShape="1">
            <a:gsLst>
              <a:gs pos="0">
                <a:schemeClr val="bg1"/>
              </a:gs>
              <a:gs pos="50000">
                <a:schemeClr val="accent1"/>
              </a:gs>
              <a:gs pos="100000">
                <a:schemeClr val="bg1"/>
              </a:gs>
            </a:gsLst>
            <a:lin ang="0" scaled="1"/>
          </a:gradFill>
          <a:ln w="9525">
            <a:noFill/>
            <a:miter lim="800000"/>
            <a:headEnd/>
            <a:tailEnd/>
          </a:ln>
          <a:effectLst/>
        </p:spPr>
        <p:txBody>
          <a:bodyPr wrap="none" anchor="ctr"/>
          <a:lstStyle/>
          <a:p>
            <a:pPr algn="ctr">
              <a:defRPr/>
            </a:pPr>
            <a:endParaRPr lang="ko-KR" altLang="en-US" sz="1800" b="0">
              <a:latin typeface="Arial" pitchFamily="34" charset="0"/>
              <a:ea typeface="굴림" pitchFamily="50" charset="-127"/>
            </a:endParaRPr>
          </a:p>
        </p:txBody>
      </p:sp>
      <p:sp>
        <p:nvSpPr>
          <p:cNvPr id="2" name="Vertical Title 1"/>
          <p:cNvSpPr>
            <a:spLocks noGrp="1"/>
          </p:cNvSpPr>
          <p:nvPr>
            <p:ph type="title" orient="vert"/>
          </p:nvPr>
        </p:nvSpPr>
        <p:spPr>
          <a:xfrm>
            <a:off x="6629400" y="319088"/>
            <a:ext cx="2057400" cy="630078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319088"/>
            <a:ext cx="6019800" cy="630078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aphicFrame>
        <p:nvGraphicFramePr>
          <p:cNvPr id="4" name="Object 15"/>
          <p:cNvGraphicFramePr>
            <a:graphicFrameLocks noChangeAspect="1"/>
          </p:cNvGraphicFramePr>
          <p:nvPr/>
        </p:nvGraphicFramePr>
        <p:xfrm>
          <a:off x="0" y="0"/>
          <a:ext cx="9144000" cy="1062038"/>
        </p:xfrm>
        <a:graphic>
          <a:graphicData uri="http://schemas.openxmlformats.org/presentationml/2006/ole">
            <mc:AlternateContent xmlns:mc="http://schemas.openxmlformats.org/markup-compatibility/2006">
              <mc:Choice xmlns:v="urn:schemas-microsoft-com:vml" Requires="v">
                <p:oleObj name="Image" r:id="rId2" imgW="10387302" imgH="1205924" progId="">
                  <p:embed/>
                </p:oleObj>
              </mc:Choice>
              <mc:Fallback>
                <p:oleObj name="Image" r:id="rId2" imgW="10387302" imgH="1205924" progId="">
                  <p:embed/>
                  <p:pic>
                    <p:nvPicPr>
                      <p:cNvPr id="0" name="Object 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ltGray">
                      <a:xfrm>
                        <a:off x="0" y="0"/>
                        <a:ext cx="9144000" cy="1062038"/>
                      </a:xfrm>
                      <a:prstGeom prst="rect">
                        <a:avLst/>
                      </a:prstGeom>
                      <a:noFill/>
                      <a:ln>
                        <a:noFill/>
                      </a:ln>
                      <a:effectLst/>
                      <a:extLst>
                        <a:ext uri="{909E8E84-426E-40DD-AFC4-6F175D3DCCD1}">
                          <a14:hiddenFill xmlns:a14="http://schemas.microsoft.com/office/drawing/2010/main">
                            <a:solidFill>
                              <a:srgbClr val="FDC529"/>
                            </a:solidFill>
                          </a14:hiddenFill>
                        </a:ext>
                        <a:ext uri="{91240B29-F687-4F45-9708-019B960494DF}">
                          <a14:hiddenLine xmlns:a14="http://schemas.microsoft.com/office/drawing/2010/main" w="9525">
                            <a:solidFill>
                              <a:srgbClr val="B1E2FB"/>
                            </a:solidFill>
                            <a:miter lim="800000"/>
                            <a:headEnd/>
                            <a:tailEnd/>
                          </a14:hiddenLine>
                        </a:ext>
                        <a:ext uri="{AF507438-7753-43E0-B8FC-AC1667EBCBE1}">
                          <a14:hiddenEffects xmlns:a14="http://schemas.microsoft.com/office/drawing/2010/main">
                            <a:effectLst>
                              <a:outerShdw dist="35921" dir="2700000" algn="ctr" rotWithShape="0">
                                <a:srgbClr val="0066CC"/>
                              </a:outerShdw>
                            </a:effectLst>
                          </a14:hiddenEffects>
                        </a:ext>
                      </a:extLst>
                    </p:spPr>
                  </p:pic>
                </p:oleObj>
              </mc:Fallback>
            </mc:AlternateContent>
          </a:graphicData>
        </a:graphic>
      </p:graphicFrame>
      <p:sp>
        <p:nvSpPr>
          <p:cNvPr id="5" name="Rectangle 16"/>
          <p:cNvSpPr>
            <a:spLocks noChangeArrowheads="1"/>
          </p:cNvSpPr>
          <p:nvPr/>
        </p:nvSpPr>
        <p:spPr bwMode="gray">
          <a:xfrm>
            <a:off x="0" y="1066800"/>
            <a:ext cx="9144000" cy="73025"/>
          </a:xfrm>
          <a:prstGeom prst="rect">
            <a:avLst/>
          </a:prstGeom>
          <a:gradFill rotWithShape="1">
            <a:gsLst>
              <a:gs pos="0">
                <a:schemeClr val="bg1"/>
              </a:gs>
              <a:gs pos="50000">
                <a:schemeClr val="accent1"/>
              </a:gs>
              <a:gs pos="100000">
                <a:schemeClr val="bg1"/>
              </a:gs>
            </a:gsLst>
            <a:lin ang="0" scaled="1"/>
          </a:gradFill>
          <a:ln w="9525">
            <a:noFill/>
            <a:miter lim="800000"/>
            <a:headEnd/>
            <a:tailEnd/>
          </a:ln>
          <a:effectLst/>
        </p:spPr>
        <p:txBody>
          <a:bodyPr wrap="none" anchor="ctr"/>
          <a:lstStyle/>
          <a:p>
            <a:pPr algn="ctr">
              <a:defRPr/>
            </a:pPr>
            <a:endParaRPr lang="ko-KR" altLang="en-US" sz="1800" b="0">
              <a:latin typeface="Arial" pitchFamily="34" charset="0"/>
              <a:ea typeface="굴림" pitchFamily="50" charset="-127"/>
            </a:endParaRPr>
          </a:p>
        </p:txBody>
      </p:sp>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6" name="Rectangle 4"/>
          <p:cNvSpPr>
            <a:spLocks noGrp="1" noChangeArrowheads="1"/>
          </p:cNvSpPr>
          <p:nvPr>
            <p:ph type="dt" sz="half" idx="10"/>
          </p:nvPr>
        </p:nvSpPr>
        <p:spPr/>
        <p:txBody>
          <a:bodyPr/>
          <a:lstStyle>
            <a:lvl1pPr>
              <a:defRPr/>
            </a:lvl1pPr>
          </a:lstStyle>
          <a:p>
            <a:pPr>
              <a:defRPr/>
            </a:pPr>
            <a:endParaRPr lang="en-US" altLang="ko-KR"/>
          </a:p>
        </p:txBody>
      </p:sp>
      <p:sp>
        <p:nvSpPr>
          <p:cNvPr id="7" name="Rectangle 5"/>
          <p:cNvSpPr>
            <a:spLocks noGrp="1" noChangeArrowheads="1"/>
          </p:cNvSpPr>
          <p:nvPr>
            <p:ph type="ftr" sz="quarter" idx="11"/>
          </p:nvPr>
        </p:nvSpPr>
        <p:spPr/>
        <p:txBody>
          <a:bodyPr/>
          <a:lstStyle>
            <a:lvl1pPr>
              <a:defRPr/>
            </a:lvl1pPr>
          </a:lstStyle>
          <a:p>
            <a:pPr>
              <a:defRPr/>
            </a:pPr>
            <a:endParaRPr lang="en-US" altLang="ko-KR"/>
          </a:p>
        </p:txBody>
      </p:sp>
      <p:sp>
        <p:nvSpPr>
          <p:cNvPr id="8" name="Rectangle 6"/>
          <p:cNvSpPr>
            <a:spLocks noGrp="1" noChangeArrowheads="1"/>
          </p:cNvSpPr>
          <p:nvPr>
            <p:ph type="sldNum" sz="quarter" idx="12"/>
          </p:nvPr>
        </p:nvSpPr>
        <p:spPr/>
        <p:txBody>
          <a:bodyPr/>
          <a:lstStyle>
            <a:lvl1pPr>
              <a:defRPr/>
            </a:lvl1pPr>
          </a:lstStyle>
          <a:p>
            <a:pPr>
              <a:defRPr/>
            </a:pPr>
            <a:fld id="{AC19050A-58C5-43A3-A3A0-AC5C4FC06C60}" type="slidenum">
              <a:rPr lang="en-US" altLang="ko-KR"/>
              <a:pPr>
                <a:defRPr/>
              </a:pPr>
              <a:t>‹#›</a:t>
            </a:fld>
            <a:endParaRPr lang="en-US" altLang="ko-KR"/>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graphicFrame>
        <p:nvGraphicFramePr>
          <p:cNvPr id="4" name="Object 15"/>
          <p:cNvGraphicFramePr>
            <a:graphicFrameLocks noChangeAspect="1"/>
          </p:cNvGraphicFramePr>
          <p:nvPr/>
        </p:nvGraphicFramePr>
        <p:xfrm>
          <a:off x="0" y="0"/>
          <a:ext cx="9144000" cy="1062038"/>
        </p:xfrm>
        <a:graphic>
          <a:graphicData uri="http://schemas.openxmlformats.org/presentationml/2006/ole">
            <mc:AlternateContent xmlns:mc="http://schemas.openxmlformats.org/markup-compatibility/2006">
              <mc:Choice xmlns:v="urn:schemas-microsoft-com:vml" Requires="v">
                <p:oleObj name="Image" r:id="rId2" imgW="10387302" imgH="1205924" progId="">
                  <p:embed/>
                </p:oleObj>
              </mc:Choice>
              <mc:Fallback>
                <p:oleObj name="Image" r:id="rId2" imgW="10387302" imgH="1205924" progId="">
                  <p:embed/>
                  <p:pic>
                    <p:nvPicPr>
                      <p:cNvPr id="0" name="Object 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ltGray">
                      <a:xfrm>
                        <a:off x="0" y="0"/>
                        <a:ext cx="9144000" cy="1062038"/>
                      </a:xfrm>
                      <a:prstGeom prst="rect">
                        <a:avLst/>
                      </a:prstGeom>
                      <a:noFill/>
                      <a:ln>
                        <a:noFill/>
                      </a:ln>
                      <a:effectLst/>
                      <a:extLst>
                        <a:ext uri="{909E8E84-426E-40DD-AFC4-6F175D3DCCD1}">
                          <a14:hiddenFill xmlns:a14="http://schemas.microsoft.com/office/drawing/2010/main">
                            <a:solidFill>
                              <a:srgbClr val="FDC529"/>
                            </a:solidFill>
                          </a14:hiddenFill>
                        </a:ext>
                        <a:ext uri="{91240B29-F687-4F45-9708-019B960494DF}">
                          <a14:hiddenLine xmlns:a14="http://schemas.microsoft.com/office/drawing/2010/main" w="9525">
                            <a:solidFill>
                              <a:srgbClr val="B1E2FB"/>
                            </a:solidFill>
                            <a:miter lim="800000"/>
                            <a:headEnd/>
                            <a:tailEnd/>
                          </a14:hiddenLine>
                        </a:ext>
                        <a:ext uri="{AF507438-7753-43E0-B8FC-AC1667EBCBE1}">
                          <a14:hiddenEffects xmlns:a14="http://schemas.microsoft.com/office/drawing/2010/main">
                            <a:effectLst>
                              <a:outerShdw dist="35921" dir="2700000" algn="ctr" rotWithShape="0">
                                <a:srgbClr val="0066CC"/>
                              </a:outerShdw>
                            </a:effectLst>
                          </a14:hiddenEffects>
                        </a:ext>
                      </a:extLst>
                    </p:spPr>
                  </p:pic>
                </p:oleObj>
              </mc:Fallback>
            </mc:AlternateContent>
          </a:graphicData>
        </a:graphic>
      </p:graphicFrame>
      <p:sp>
        <p:nvSpPr>
          <p:cNvPr id="5" name="Rectangle 16"/>
          <p:cNvSpPr>
            <a:spLocks noChangeArrowheads="1"/>
          </p:cNvSpPr>
          <p:nvPr/>
        </p:nvSpPr>
        <p:spPr bwMode="gray">
          <a:xfrm>
            <a:off x="0" y="1066800"/>
            <a:ext cx="9144000" cy="73025"/>
          </a:xfrm>
          <a:prstGeom prst="rect">
            <a:avLst/>
          </a:prstGeom>
          <a:gradFill rotWithShape="1">
            <a:gsLst>
              <a:gs pos="0">
                <a:schemeClr val="bg1"/>
              </a:gs>
              <a:gs pos="50000">
                <a:schemeClr val="accent1"/>
              </a:gs>
              <a:gs pos="100000">
                <a:schemeClr val="bg1"/>
              </a:gs>
            </a:gsLst>
            <a:lin ang="0" scaled="1"/>
          </a:gradFill>
          <a:ln w="9525">
            <a:noFill/>
            <a:miter lim="800000"/>
            <a:headEnd/>
            <a:tailEnd/>
          </a:ln>
          <a:effectLst/>
        </p:spPr>
        <p:txBody>
          <a:bodyPr wrap="none" anchor="ctr"/>
          <a:lstStyle/>
          <a:p>
            <a:pPr algn="ctr">
              <a:defRPr/>
            </a:pPr>
            <a:endParaRPr lang="ko-KR" altLang="en-US" sz="1800" b="0">
              <a:latin typeface="Arial" pitchFamily="34" charset="0"/>
              <a:ea typeface="굴림" pitchFamily="50" charset="-127"/>
            </a:endParaRPr>
          </a:p>
        </p:txBody>
      </p:sp>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p:cNvSpPr>
            <a:spLocks noGrp="1" noChangeArrowheads="1"/>
          </p:cNvSpPr>
          <p:nvPr>
            <p:ph type="dt" sz="half" idx="10"/>
          </p:nvPr>
        </p:nvSpPr>
        <p:spPr/>
        <p:txBody>
          <a:bodyPr/>
          <a:lstStyle>
            <a:lvl1pPr>
              <a:defRPr/>
            </a:lvl1pPr>
          </a:lstStyle>
          <a:p>
            <a:pPr>
              <a:defRPr/>
            </a:pPr>
            <a:endParaRPr lang="en-US" altLang="ko-KR"/>
          </a:p>
        </p:txBody>
      </p:sp>
      <p:sp>
        <p:nvSpPr>
          <p:cNvPr id="7" name="Rectangle 5"/>
          <p:cNvSpPr>
            <a:spLocks noGrp="1" noChangeArrowheads="1"/>
          </p:cNvSpPr>
          <p:nvPr>
            <p:ph type="ftr" sz="quarter" idx="11"/>
          </p:nvPr>
        </p:nvSpPr>
        <p:spPr/>
        <p:txBody>
          <a:bodyPr/>
          <a:lstStyle>
            <a:lvl1pPr>
              <a:defRPr/>
            </a:lvl1pPr>
          </a:lstStyle>
          <a:p>
            <a:pPr>
              <a:defRPr/>
            </a:pPr>
            <a:endParaRPr lang="en-US" altLang="ko-KR"/>
          </a:p>
        </p:txBody>
      </p:sp>
      <p:sp>
        <p:nvSpPr>
          <p:cNvPr id="8" name="Rectangle 6"/>
          <p:cNvSpPr>
            <a:spLocks noGrp="1" noChangeArrowheads="1"/>
          </p:cNvSpPr>
          <p:nvPr>
            <p:ph type="sldNum" sz="quarter" idx="12"/>
          </p:nvPr>
        </p:nvSpPr>
        <p:spPr/>
        <p:txBody>
          <a:bodyPr/>
          <a:lstStyle>
            <a:lvl1pPr>
              <a:defRPr/>
            </a:lvl1pPr>
          </a:lstStyle>
          <a:p>
            <a:pPr>
              <a:defRPr/>
            </a:pPr>
            <a:fld id="{CBF6FA59-E777-4A5B-8351-EE8432691672}" type="slidenum">
              <a:rPr lang="en-US" altLang="ko-KR"/>
              <a:pPr>
                <a:defRPr/>
              </a:pPr>
              <a:t>‹#›</a:t>
            </a:fld>
            <a:endParaRPr lang="en-US" altLang="ko-KR"/>
          </a:p>
        </p:txBody>
      </p:sp>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aphicFrame>
        <p:nvGraphicFramePr>
          <p:cNvPr id="4" name="Object 15"/>
          <p:cNvGraphicFramePr>
            <a:graphicFrameLocks noChangeAspect="1"/>
          </p:cNvGraphicFramePr>
          <p:nvPr/>
        </p:nvGraphicFramePr>
        <p:xfrm>
          <a:off x="0" y="0"/>
          <a:ext cx="9144000" cy="1062038"/>
        </p:xfrm>
        <a:graphic>
          <a:graphicData uri="http://schemas.openxmlformats.org/presentationml/2006/ole">
            <mc:AlternateContent xmlns:mc="http://schemas.openxmlformats.org/markup-compatibility/2006">
              <mc:Choice xmlns:v="urn:schemas-microsoft-com:vml" Requires="v">
                <p:oleObj name="Image" r:id="rId2" imgW="10387302" imgH="1205924" progId="">
                  <p:embed/>
                </p:oleObj>
              </mc:Choice>
              <mc:Fallback>
                <p:oleObj name="Image" r:id="rId2" imgW="10387302" imgH="1205924" progId="">
                  <p:embed/>
                  <p:pic>
                    <p:nvPicPr>
                      <p:cNvPr id="0" name="Object 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ltGray">
                      <a:xfrm>
                        <a:off x="0" y="0"/>
                        <a:ext cx="9144000" cy="1062038"/>
                      </a:xfrm>
                      <a:prstGeom prst="rect">
                        <a:avLst/>
                      </a:prstGeom>
                      <a:noFill/>
                      <a:ln>
                        <a:noFill/>
                      </a:ln>
                      <a:effectLst/>
                      <a:extLst>
                        <a:ext uri="{909E8E84-426E-40DD-AFC4-6F175D3DCCD1}">
                          <a14:hiddenFill xmlns:a14="http://schemas.microsoft.com/office/drawing/2010/main">
                            <a:solidFill>
                              <a:srgbClr val="FDC529"/>
                            </a:solidFill>
                          </a14:hiddenFill>
                        </a:ext>
                        <a:ext uri="{91240B29-F687-4F45-9708-019B960494DF}">
                          <a14:hiddenLine xmlns:a14="http://schemas.microsoft.com/office/drawing/2010/main" w="9525">
                            <a:solidFill>
                              <a:srgbClr val="B1E2FB"/>
                            </a:solidFill>
                            <a:miter lim="800000"/>
                            <a:headEnd/>
                            <a:tailEnd/>
                          </a14:hiddenLine>
                        </a:ext>
                        <a:ext uri="{AF507438-7753-43E0-B8FC-AC1667EBCBE1}">
                          <a14:hiddenEffects xmlns:a14="http://schemas.microsoft.com/office/drawing/2010/main">
                            <a:effectLst>
                              <a:outerShdw dist="35921" dir="2700000" algn="ctr" rotWithShape="0">
                                <a:srgbClr val="0066CC"/>
                              </a:outerShdw>
                            </a:effectLst>
                          </a14:hiddenEffects>
                        </a:ext>
                      </a:extLst>
                    </p:spPr>
                  </p:pic>
                </p:oleObj>
              </mc:Fallback>
            </mc:AlternateContent>
          </a:graphicData>
        </a:graphic>
      </p:graphicFrame>
      <p:sp>
        <p:nvSpPr>
          <p:cNvPr id="5" name="Rectangle 16"/>
          <p:cNvSpPr>
            <a:spLocks noChangeArrowheads="1"/>
          </p:cNvSpPr>
          <p:nvPr/>
        </p:nvSpPr>
        <p:spPr bwMode="gray">
          <a:xfrm>
            <a:off x="0" y="1066800"/>
            <a:ext cx="9144000" cy="73025"/>
          </a:xfrm>
          <a:prstGeom prst="rect">
            <a:avLst/>
          </a:prstGeom>
          <a:gradFill rotWithShape="1">
            <a:gsLst>
              <a:gs pos="0">
                <a:schemeClr val="bg1"/>
              </a:gs>
              <a:gs pos="50000">
                <a:schemeClr val="accent1"/>
              </a:gs>
              <a:gs pos="100000">
                <a:schemeClr val="bg1"/>
              </a:gs>
            </a:gsLst>
            <a:lin ang="0" scaled="1"/>
          </a:gradFill>
          <a:ln w="9525">
            <a:noFill/>
            <a:miter lim="800000"/>
            <a:headEnd/>
            <a:tailEnd/>
          </a:ln>
          <a:effectLst/>
        </p:spPr>
        <p:txBody>
          <a:bodyPr wrap="none" anchor="ctr"/>
          <a:lstStyle/>
          <a:p>
            <a:pPr algn="ctr">
              <a:defRPr/>
            </a:pPr>
            <a:endParaRPr lang="ko-KR" altLang="en-US" sz="1800" b="0">
              <a:latin typeface="Arial" pitchFamily="34" charset="0"/>
              <a:ea typeface="굴림" pitchFamily="50" charset="-127"/>
            </a:endParaRPr>
          </a:p>
        </p:txBody>
      </p:sp>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6" name="Rectangle 4"/>
          <p:cNvSpPr>
            <a:spLocks noGrp="1" noChangeArrowheads="1"/>
          </p:cNvSpPr>
          <p:nvPr>
            <p:ph type="dt" sz="half" idx="10"/>
          </p:nvPr>
        </p:nvSpPr>
        <p:spPr/>
        <p:txBody>
          <a:bodyPr/>
          <a:lstStyle>
            <a:lvl1pPr>
              <a:defRPr/>
            </a:lvl1pPr>
          </a:lstStyle>
          <a:p>
            <a:pPr>
              <a:defRPr/>
            </a:pPr>
            <a:endParaRPr lang="en-US" altLang="ko-KR"/>
          </a:p>
        </p:txBody>
      </p:sp>
      <p:sp>
        <p:nvSpPr>
          <p:cNvPr id="7" name="Rectangle 5"/>
          <p:cNvSpPr>
            <a:spLocks noGrp="1" noChangeArrowheads="1"/>
          </p:cNvSpPr>
          <p:nvPr>
            <p:ph type="ftr" sz="quarter" idx="11"/>
          </p:nvPr>
        </p:nvSpPr>
        <p:spPr/>
        <p:txBody>
          <a:bodyPr/>
          <a:lstStyle>
            <a:lvl1pPr>
              <a:defRPr/>
            </a:lvl1pPr>
          </a:lstStyle>
          <a:p>
            <a:pPr>
              <a:defRPr/>
            </a:pPr>
            <a:endParaRPr lang="en-US" altLang="ko-KR"/>
          </a:p>
        </p:txBody>
      </p:sp>
      <p:sp>
        <p:nvSpPr>
          <p:cNvPr id="8" name="Rectangle 6"/>
          <p:cNvSpPr>
            <a:spLocks noGrp="1" noChangeArrowheads="1"/>
          </p:cNvSpPr>
          <p:nvPr>
            <p:ph type="sldNum" sz="quarter" idx="12"/>
          </p:nvPr>
        </p:nvSpPr>
        <p:spPr/>
        <p:txBody>
          <a:bodyPr/>
          <a:lstStyle>
            <a:lvl1pPr>
              <a:defRPr/>
            </a:lvl1pPr>
          </a:lstStyle>
          <a:p>
            <a:pPr>
              <a:defRPr/>
            </a:pPr>
            <a:fld id="{D2EA33A2-A139-4A51-B2DC-BF1D88450462}" type="slidenum">
              <a:rPr lang="en-US" altLang="ko-KR"/>
              <a:pPr>
                <a:defRPr/>
              </a:pPr>
              <a:t>‹#›</a:t>
            </a:fld>
            <a:endParaRPr lang="en-US" altLang="ko-KR"/>
          </a:p>
        </p:txBody>
      </p:sp>
    </p:spTree>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graphicFrame>
        <p:nvGraphicFramePr>
          <p:cNvPr id="5" name="Object 15"/>
          <p:cNvGraphicFramePr>
            <a:graphicFrameLocks noChangeAspect="1"/>
          </p:cNvGraphicFramePr>
          <p:nvPr/>
        </p:nvGraphicFramePr>
        <p:xfrm>
          <a:off x="0" y="0"/>
          <a:ext cx="9144000" cy="1062038"/>
        </p:xfrm>
        <a:graphic>
          <a:graphicData uri="http://schemas.openxmlformats.org/presentationml/2006/ole">
            <mc:AlternateContent xmlns:mc="http://schemas.openxmlformats.org/markup-compatibility/2006">
              <mc:Choice xmlns:v="urn:schemas-microsoft-com:vml" Requires="v">
                <p:oleObj name="Image" r:id="rId2" imgW="10387302" imgH="1205924" progId="">
                  <p:embed/>
                </p:oleObj>
              </mc:Choice>
              <mc:Fallback>
                <p:oleObj name="Image" r:id="rId2" imgW="10387302" imgH="1205924" progId="">
                  <p:embed/>
                  <p:pic>
                    <p:nvPicPr>
                      <p:cNvPr id="0" name="Object 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ltGray">
                      <a:xfrm>
                        <a:off x="0" y="0"/>
                        <a:ext cx="9144000" cy="1062038"/>
                      </a:xfrm>
                      <a:prstGeom prst="rect">
                        <a:avLst/>
                      </a:prstGeom>
                      <a:noFill/>
                      <a:ln>
                        <a:noFill/>
                      </a:ln>
                      <a:effectLst/>
                      <a:extLst>
                        <a:ext uri="{909E8E84-426E-40DD-AFC4-6F175D3DCCD1}">
                          <a14:hiddenFill xmlns:a14="http://schemas.microsoft.com/office/drawing/2010/main">
                            <a:solidFill>
                              <a:srgbClr val="FDC529"/>
                            </a:solidFill>
                          </a14:hiddenFill>
                        </a:ext>
                        <a:ext uri="{91240B29-F687-4F45-9708-019B960494DF}">
                          <a14:hiddenLine xmlns:a14="http://schemas.microsoft.com/office/drawing/2010/main" w="9525">
                            <a:solidFill>
                              <a:srgbClr val="B1E2FB"/>
                            </a:solidFill>
                            <a:miter lim="800000"/>
                            <a:headEnd/>
                            <a:tailEnd/>
                          </a14:hiddenLine>
                        </a:ext>
                        <a:ext uri="{AF507438-7753-43E0-B8FC-AC1667EBCBE1}">
                          <a14:hiddenEffects xmlns:a14="http://schemas.microsoft.com/office/drawing/2010/main">
                            <a:effectLst>
                              <a:outerShdw dist="35921" dir="2700000" algn="ctr" rotWithShape="0">
                                <a:srgbClr val="0066CC"/>
                              </a:outerShdw>
                            </a:effectLst>
                          </a14:hiddenEffects>
                        </a:ext>
                      </a:extLst>
                    </p:spPr>
                  </p:pic>
                </p:oleObj>
              </mc:Fallback>
            </mc:AlternateContent>
          </a:graphicData>
        </a:graphic>
      </p:graphicFrame>
      <p:sp>
        <p:nvSpPr>
          <p:cNvPr id="6" name="Rectangle 16"/>
          <p:cNvSpPr>
            <a:spLocks noChangeArrowheads="1"/>
          </p:cNvSpPr>
          <p:nvPr/>
        </p:nvSpPr>
        <p:spPr bwMode="gray">
          <a:xfrm>
            <a:off x="0" y="1066800"/>
            <a:ext cx="9144000" cy="73025"/>
          </a:xfrm>
          <a:prstGeom prst="rect">
            <a:avLst/>
          </a:prstGeom>
          <a:gradFill rotWithShape="1">
            <a:gsLst>
              <a:gs pos="0">
                <a:schemeClr val="bg1"/>
              </a:gs>
              <a:gs pos="50000">
                <a:schemeClr val="accent1"/>
              </a:gs>
              <a:gs pos="100000">
                <a:schemeClr val="bg1"/>
              </a:gs>
            </a:gsLst>
            <a:lin ang="0" scaled="1"/>
          </a:gradFill>
          <a:ln w="9525">
            <a:noFill/>
            <a:miter lim="800000"/>
            <a:headEnd/>
            <a:tailEnd/>
          </a:ln>
          <a:effectLst/>
        </p:spPr>
        <p:txBody>
          <a:bodyPr wrap="none" anchor="ctr"/>
          <a:lstStyle/>
          <a:p>
            <a:pPr algn="ctr">
              <a:defRPr/>
            </a:pPr>
            <a:endParaRPr lang="ko-KR" altLang="en-US" sz="1800" b="0">
              <a:latin typeface="Arial" pitchFamily="34" charset="0"/>
              <a:ea typeface="굴림" pitchFamily="50" charset="-127"/>
            </a:endParaRPr>
          </a:p>
        </p:txBody>
      </p:sp>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371600"/>
            <a:ext cx="4038600" cy="52482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371600"/>
            <a:ext cx="4038600" cy="52482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0"/>
          <p:cNvSpPr>
            <a:spLocks noGrp="1" noChangeArrowheads="1"/>
          </p:cNvSpPr>
          <p:nvPr>
            <p:ph type="dt" sz="half" idx="10"/>
          </p:nvPr>
        </p:nvSpPr>
        <p:spPr/>
        <p:txBody>
          <a:bodyPr/>
          <a:lstStyle>
            <a:lvl1pPr>
              <a:defRPr/>
            </a:lvl1pPr>
          </a:lstStyle>
          <a:p>
            <a:pPr>
              <a:defRPr/>
            </a:pPr>
            <a:endParaRPr lang="en-US" altLang="ko-KR"/>
          </a:p>
        </p:txBody>
      </p:sp>
      <p:sp>
        <p:nvSpPr>
          <p:cNvPr id="8" name="Rectangle 11"/>
          <p:cNvSpPr>
            <a:spLocks noGrp="1" noChangeArrowheads="1"/>
          </p:cNvSpPr>
          <p:nvPr>
            <p:ph type="ftr" sz="quarter" idx="11"/>
          </p:nvPr>
        </p:nvSpPr>
        <p:spPr/>
        <p:txBody>
          <a:bodyPr/>
          <a:lstStyle>
            <a:lvl1pPr>
              <a:defRPr/>
            </a:lvl1pPr>
          </a:lstStyle>
          <a:p>
            <a:pPr>
              <a:defRPr/>
            </a:pPr>
            <a:endParaRPr lang="en-US" altLang="ko-KR"/>
          </a:p>
        </p:txBody>
      </p:sp>
      <p:sp>
        <p:nvSpPr>
          <p:cNvPr id="9" name="Rectangle 12"/>
          <p:cNvSpPr>
            <a:spLocks noGrp="1" noChangeArrowheads="1"/>
          </p:cNvSpPr>
          <p:nvPr>
            <p:ph type="sldNum" sz="quarter" idx="12"/>
          </p:nvPr>
        </p:nvSpPr>
        <p:spPr/>
        <p:txBody>
          <a:bodyPr/>
          <a:lstStyle>
            <a:lvl1pPr>
              <a:defRPr/>
            </a:lvl1pPr>
          </a:lstStyle>
          <a:p>
            <a:pPr>
              <a:defRPr/>
            </a:pPr>
            <a:fld id="{D7113BB3-2F8B-425B-B2A5-080DAE82A45C}" type="slidenum">
              <a:rPr lang="en-US" altLang="ko-KR"/>
              <a:pPr>
                <a:defRPr/>
              </a:pPr>
              <a:t>‹#›</a:t>
            </a:fld>
            <a:endParaRPr lang="en-US" altLang="ko-KR"/>
          </a:p>
        </p:txBody>
      </p:sp>
    </p:spTree>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graphicFrame>
        <p:nvGraphicFramePr>
          <p:cNvPr id="7" name="Object 15"/>
          <p:cNvGraphicFramePr>
            <a:graphicFrameLocks noChangeAspect="1"/>
          </p:cNvGraphicFramePr>
          <p:nvPr/>
        </p:nvGraphicFramePr>
        <p:xfrm>
          <a:off x="0" y="0"/>
          <a:ext cx="9144000" cy="1062038"/>
        </p:xfrm>
        <a:graphic>
          <a:graphicData uri="http://schemas.openxmlformats.org/presentationml/2006/ole">
            <mc:AlternateContent xmlns:mc="http://schemas.openxmlformats.org/markup-compatibility/2006">
              <mc:Choice xmlns:v="urn:schemas-microsoft-com:vml" Requires="v">
                <p:oleObj name="Image" r:id="rId2" imgW="10387302" imgH="1205924" progId="">
                  <p:embed/>
                </p:oleObj>
              </mc:Choice>
              <mc:Fallback>
                <p:oleObj name="Image" r:id="rId2" imgW="10387302" imgH="1205924" progId="">
                  <p:embed/>
                  <p:pic>
                    <p:nvPicPr>
                      <p:cNvPr id="0" name="Object 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ltGray">
                      <a:xfrm>
                        <a:off x="0" y="0"/>
                        <a:ext cx="9144000" cy="1062038"/>
                      </a:xfrm>
                      <a:prstGeom prst="rect">
                        <a:avLst/>
                      </a:prstGeom>
                      <a:noFill/>
                      <a:ln>
                        <a:noFill/>
                      </a:ln>
                      <a:effectLst/>
                      <a:extLst>
                        <a:ext uri="{909E8E84-426E-40DD-AFC4-6F175D3DCCD1}">
                          <a14:hiddenFill xmlns:a14="http://schemas.microsoft.com/office/drawing/2010/main">
                            <a:solidFill>
                              <a:srgbClr val="FDC529"/>
                            </a:solidFill>
                          </a14:hiddenFill>
                        </a:ext>
                        <a:ext uri="{91240B29-F687-4F45-9708-019B960494DF}">
                          <a14:hiddenLine xmlns:a14="http://schemas.microsoft.com/office/drawing/2010/main" w="9525">
                            <a:solidFill>
                              <a:srgbClr val="B1E2FB"/>
                            </a:solidFill>
                            <a:miter lim="800000"/>
                            <a:headEnd/>
                            <a:tailEnd/>
                          </a14:hiddenLine>
                        </a:ext>
                        <a:ext uri="{AF507438-7753-43E0-B8FC-AC1667EBCBE1}">
                          <a14:hiddenEffects xmlns:a14="http://schemas.microsoft.com/office/drawing/2010/main">
                            <a:effectLst>
                              <a:outerShdw dist="35921" dir="2700000" algn="ctr" rotWithShape="0">
                                <a:srgbClr val="0066CC"/>
                              </a:outerShdw>
                            </a:effectLst>
                          </a14:hiddenEffects>
                        </a:ext>
                      </a:extLst>
                    </p:spPr>
                  </p:pic>
                </p:oleObj>
              </mc:Fallback>
            </mc:AlternateContent>
          </a:graphicData>
        </a:graphic>
      </p:graphicFrame>
      <p:sp>
        <p:nvSpPr>
          <p:cNvPr id="8" name="Rectangle 16"/>
          <p:cNvSpPr>
            <a:spLocks noChangeArrowheads="1"/>
          </p:cNvSpPr>
          <p:nvPr/>
        </p:nvSpPr>
        <p:spPr bwMode="gray">
          <a:xfrm>
            <a:off x="0" y="1066800"/>
            <a:ext cx="9144000" cy="73025"/>
          </a:xfrm>
          <a:prstGeom prst="rect">
            <a:avLst/>
          </a:prstGeom>
          <a:gradFill rotWithShape="1">
            <a:gsLst>
              <a:gs pos="0">
                <a:schemeClr val="bg1"/>
              </a:gs>
              <a:gs pos="50000">
                <a:schemeClr val="accent1"/>
              </a:gs>
              <a:gs pos="100000">
                <a:schemeClr val="bg1"/>
              </a:gs>
            </a:gsLst>
            <a:lin ang="0" scaled="1"/>
          </a:gradFill>
          <a:ln w="9525">
            <a:noFill/>
            <a:miter lim="800000"/>
            <a:headEnd/>
            <a:tailEnd/>
          </a:ln>
          <a:effectLst/>
        </p:spPr>
        <p:txBody>
          <a:bodyPr wrap="none" anchor="ctr"/>
          <a:lstStyle/>
          <a:p>
            <a:pPr algn="ctr">
              <a:defRPr/>
            </a:pPr>
            <a:endParaRPr lang="ko-KR" altLang="en-US" sz="1800" b="0">
              <a:latin typeface="Arial" pitchFamily="34" charset="0"/>
              <a:ea typeface="굴림" pitchFamily="50" charset="-127"/>
            </a:endParaRPr>
          </a:p>
        </p:txBody>
      </p:sp>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Rectangle 4"/>
          <p:cNvSpPr>
            <a:spLocks noGrp="1" noChangeArrowheads="1"/>
          </p:cNvSpPr>
          <p:nvPr>
            <p:ph type="dt" sz="half" idx="10"/>
          </p:nvPr>
        </p:nvSpPr>
        <p:spPr/>
        <p:txBody>
          <a:bodyPr/>
          <a:lstStyle>
            <a:lvl1pPr>
              <a:defRPr/>
            </a:lvl1pPr>
          </a:lstStyle>
          <a:p>
            <a:pPr>
              <a:defRPr/>
            </a:pPr>
            <a:endParaRPr lang="en-US" altLang="ko-KR"/>
          </a:p>
        </p:txBody>
      </p:sp>
      <p:sp>
        <p:nvSpPr>
          <p:cNvPr id="10" name="Rectangle 5"/>
          <p:cNvSpPr>
            <a:spLocks noGrp="1" noChangeArrowheads="1"/>
          </p:cNvSpPr>
          <p:nvPr>
            <p:ph type="ftr" sz="quarter" idx="11"/>
          </p:nvPr>
        </p:nvSpPr>
        <p:spPr/>
        <p:txBody>
          <a:bodyPr/>
          <a:lstStyle>
            <a:lvl1pPr>
              <a:defRPr/>
            </a:lvl1pPr>
          </a:lstStyle>
          <a:p>
            <a:pPr>
              <a:defRPr/>
            </a:pPr>
            <a:endParaRPr lang="en-US" altLang="ko-KR"/>
          </a:p>
        </p:txBody>
      </p:sp>
      <p:sp>
        <p:nvSpPr>
          <p:cNvPr id="11" name="Rectangle 6"/>
          <p:cNvSpPr>
            <a:spLocks noGrp="1" noChangeArrowheads="1"/>
          </p:cNvSpPr>
          <p:nvPr>
            <p:ph type="sldNum" sz="quarter" idx="12"/>
          </p:nvPr>
        </p:nvSpPr>
        <p:spPr/>
        <p:txBody>
          <a:bodyPr/>
          <a:lstStyle>
            <a:lvl1pPr>
              <a:defRPr/>
            </a:lvl1pPr>
          </a:lstStyle>
          <a:p>
            <a:pPr>
              <a:defRPr/>
            </a:pPr>
            <a:fld id="{83457861-1353-4590-B80D-0C42A897DF07}" type="slidenum">
              <a:rPr lang="en-US" altLang="ko-KR"/>
              <a:pPr>
                <a:defRPr/>
              </a:pPr>
              <a:t>‹#›</a:t>
            </a:fld>
            <a:endParaRPr lang="en-US" altLang="ko-KR"/>
          </a:p>
        </p:txBody>
      </p:sp>
    </p:spTree>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graphicFrame>
        <p:nvGraphicFramePr>
          <p:cNvPr id="3" name="Object 15"/>
          <p:cNvGraphicFramePr>
            <a:graphicFrameLocks noChangeAspect="1"/>
          </p:cNvGraphicFramePr>
          <p:nvPr/>
        </p:nvGraphicFramePr>
        <p:xfrm>
          <a:off x="0" y="0"/>
          <a:ext cx="9144000" cy="1062038"/>
        </p:xfrm>
        <a:graphic>
          <a:graphicData uri="http://schemas.openxmlformats.org/presentationml/2006/ole">
            <mc:AlternateContent xmlns:mc="http://schemas.openxmlformats.org/markup-compatibility/2006">
              <mc:Choice xmlns:v="urn:schemas-microsoft-com:vml" Requires="v">
                <p:oleObj name="Image" r:id="rId2" imgW="10387302" imgH="1205924" progId="">
                  <p:embed/>
                </p:oleObj>
              </mc:Choice>
              <mc:Fallback>
                <p:oleObj name="Image" r:id="rId2" imgW="10387302" imgH="1205924" progId="">
                  <p:embed/>
                  <p:pic>
                    <p:nvPicPr>
                      <p:cNvPr id="0" name="Object 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ltGray">
                      <a:xfrm>
                        <a:off x="0" y="0"/>
                        <a:ext cx="9144000" cy="1062038"/>
                      </a:xfrm>
                      <a:prstGeom prst="rect">
                        <a:avLst/>
                      </a:prstGeom>
                      <a:noFill/>
                      <a:ln>
                        <a:noFill/>
                      </a:ln>
                      <a:effectLst/>
                      <a:extLst>
                        <a:ext uri="{909E8E84-426E-40DD-AFC4-6F175D3DCCD1}">
                          <a14:hiddenFill xmlns:a14="http://schemas.microsoft.com/office/drawing/2010/main">
                            <a:solidFill>
                              <a:srgbClr val="FDC529"/>
                            </a:solidFill>
                          </a14:hiddenFill>
                        </a:ext>
                        <a:ext uri="{91240B29-F687-4F45-9708-019B960494DF}">
                          <a14:hiddenLine xmlns:a14="http://schemas.microsoft.com/office/drawing/2010/main" w="9525">
                            <a:solidFill>
                              <a:srgbClr val="B1E2FB"/>
                            </a:solidFill>
                            <a:miter lim="800000"/>
                            <a:headEnd/>
                            <a:tailEnd/>
                          </a14:hiddenLine>
                        </a:ext>
                        <a:ext uri="{AF507438-7753-43E0-B8FC-AC1667EBCBE1}">
                          <a14:hiddenEffects xmlns:a14="http://schemas.microsoft.com/office/drawing/2010/main">
                            <a:effectLst>
                              <a:outerShdw dist="35921" dir="2700000" algn="ctr" rotWithShape="0">
                                <a:srgbClr val="0066CC"/>
                              </a:outerShdw>
                            </a:effectLst>
                          </a14:hiddenEffects>
                        </a:ext>
                      </a:extLst>
                    </p:spPr>
                  </p:pic>
                </p:oleObj>
              </mc:Fallback>
            </mc:AlternateContent>
          </a:graphicData>
        </a:graphic>
      </p:graphicFrame>
      <p:sp>
        <p:nvSpPr>
          <p:cNvPr id="4" name="Rectangle 16"/>
          <p:cNvSpPr>
            <a:spLocks noChangeArrowheads="1"/>
          </p:cNvSpPr>
          <p:nvPr/>
        </p:nvSpPr>
        <p:spPr bwMode="gray">
          <a:xfrm>
            <a:off x="0" y="1066800"/>
            <a:ext cx="9144000" cy="73025"/>
          </a:xfrm>
          <a:prstGeom prst="rect">
            <a:avLst/>
          </a:prstGeom>
          <a:gradFill rotWithShape="1">
            <a:gsLst>
              <a:gs pos="0">
                <a:schemeClr val="bg1"/>
              </a:gs>
              <a:gs pos="50000">
                <a:schemeClr val="accent1"/>
              </a:gs>
              <a:gs pos="100000">
                <a:schemeClr val="bg1"/>
              </a:gs>
            </a:gsLst>
            <a:lin ang="0" scaled="1"/>
          </a:gradFill>
          <a:ln w="9525">
            <a:noFill/>
            <a:miter lim="800000"/>
            <a:headEnd/>
            <a:tailEnd/>
          </a:ln>
          <a:effectLst/>
        </p:spPr>
        <p:txBody>
          <a:bodyPr wrap="none" anchor="ctr"/>
          <a:lstStyle/>
          <a:p>
            <a:pPr algn="ctr">
              <a:defRPr/>
            </a:pPr>
            <a:endParaRPr lang="ko-KR" altLang="en-US" sz="1800" b="0">
              <a:latin typeface="Arial" pitchFamily="34" charset="0"/>
              <a:ea typeface="굴림" pitchFamily="50" charset="-127"/>
            </a:endParaRPr>
          </a:p>
        </p:txBody>
      </p:sp>
      <p:sp>
        <p:nvSpPr>
          <p:cNvPr id="2" name="Title 1"/>
          <p:cNvSpPr>
            <a:spLocks noGrp="1"/>
          </p:cNvSpPr>
          <p:nvPr>
            <p:ph type="title"/>
          </p:nvPr>
        </p:nvSpPr>
        <p:spPr/>
        <p:txBody>
          <a:bodyPr/>
          <a:lstStyle/>
          <a:p>
            <a:r>
              <a:rPr lang="en-US"/>
              <a:t>Click to edit Master title style</a:t>
            </a:r>
          </a:p>
        </p:txBody>
      </p:sp>
      <p:sp>
        <p:nvSpPr>
          <p:cNvPr id="5" name="Rectangle 10"/>
          <p:cNvSpPr>
            <a:spLocks noGrp="1" noChangeArrowheads="1"/>
          </p:cNvSpPr>
          <p:nvPr>
            <p:ph type="dt" sz="half" idx="10"/>
          </p:nvPr>
        </p:nvSpPr>
        <p:spPr/>
        <p:txBody>
          <a:bodyPr/>
          <a:lstStyle>
            <a:lvl1pPr>
              <a:defRPr/>
            </a:lvl1pPr>
          </a:lstStyle>
          <a:p>
            <a:pPr>
              <a:defRPr/>
            </a:pPr>
            <a:endParaRPr lang="en-US" altLang="ko-KR"/>
          </a:p>
        </p:txBody>
      </p:sp>
      <p:sp>
        <p:nvSpPr>
          <p:cNvPr id="6" name="Rectangle 11"/>
          <p:cNvSpPr>
            <a:spLocks noGrp="1" noChangeArrowheads="1"/>
          </p:cNvSpPr>
          <p:nvPr>
            <p:ph type="ftr" sz="quarter" idx="11"/>
          </p:nvPr>
        </p:nvSpPr>
        <p:spPr/>
        <p:txBody>
          <a:bodyPr/>
          <a:lstStyle>
            <a:lvl1pPr>
              <a:defRPr/>
            </a:lvl1pPr>
          </a:lstStyle>
          <a:p>
            <a:pPr>
              <a:defRPr/>
            </a:pPr>
            <a:endParaRPr lang="en-US" altLang="ko-KR"/>
          </a:p>
        </p:txBody>
      </p:sp>
      <p:sp>
        <p:nvSpPr>
          <p:cNvPr id="7" name="Rectangle 12"/>
          <p:cNvSpPr>
            <a:spLocks noGrp="1" noChangeArrowheads="1"/>
          </p:cNvSpPr>
          <p:nvPr>
            <p:ph type="sldNum" sz="quarter" idx="12"/>
          </p:nvPr>
        </p:nvSpPr>
        <p:spPr/>
        <p:txBody>
          <a:bodyPr/>
          <a:lstStyle>
            <a:lvl1pPr>
              <a:defRPr/>
            </a:lvl1pPr>
          </a:lstStyle>
          <a:p>
            <a:pPr>
              <a:defRPr/>
            </a:pPr>
            <a:fld id="{242D896A-D6B2-415D-BF4C-BD3DEE8C6032}" type="slidenum">
              <a:rPr lang="en-US" altLang="ko-KR"/>
              <a:pPr>
                <a:defRPr/>
              </a:pPr>
              <a:t>‹#›</a:t>
            </a:fld>
            <a:endParaRPr lang="en-US" altLang="ko-KR"/>
          </a:p>
        </p:txBody>
      </p:sp>
    </p:spTree>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graphicFrame>
        <p:nvGraphicFramePr>
          <p:cNvPr id="2" name="Object 15"/>
          <p:cNvGraphicFramePr>
            <a:graphicFrameLocks noChangeAspect="1"/>
          </p:cNvGraphicFramePr>
          <p:nvPr/>
        </p:nvGraphicFramePr>
        <p:xfrm>
          <a:off x="0" y="0"/>
          <a:ext cx="9144000" cy="1062038"/>
        </p:xfrm>
        <a:graphic>
          <a:graphicData uri="http://schemas.openxmlformats.org/presentationml/2006/ole">
            <mc:AlternateContent xmlns:mc="http://schemas.openxmlformats.org/markup-compatibility/2006">
              <mc:Choice xmlns:v="urn:schemas-microsoft-com:vml" Requires="v">
                <p:oleObj name="Image" r:id="rId2" imgW="10387302" imgH="1205924" progId="">
                  <p:embed/>
                </p:oleObj>
              </mc:Choice>
              <mc:Fallback>
                <p:oleObj name="Image" r:id="rId2" imgW="10387302" imgH="1205924" progId="">
                  <p:embed/>
                  <p:pic>
                    <p:nvPicPr>
                      <p:cNvPr id="0" name="Object 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ltGray">
                      <a:xfrm>
                        <a:off x="0" y="0"/>
                        <a:ext cx="9144000" cy="1062038"/>
                      </a:xfrm>
                      <a:prstGeom prst="rect">
                        <a:avLst/>
                      </a:prstGeom>
                      <a:noFill/>
                      <a:ln>
                        <a:noFill/>
                      </a:ln>
                      <a:effectLst/>
                      <a:extLst>
                        <a:ext uri="{909E8E84-426E-40DD-AFC4-6F175D3DCCD1}">
                          <a14:hiddenFill xmlns:a14="http://schemas.microsoft.com/office/drawing/2010/main">
                            <a:solidFill>
                              <a:srgbClr val="FDC529"/>
                            </a:solidFill>
                          </a14:hiddenFill>
                        </a:ext>
                        <a:ext uri="{91240B29-F687-4F45-9708-019B960494DF}">
                          <a14:hiddenLine xmlns:a14="http://schemas.microsoft.com/office/drawing/2010/main" w="9525">
                            <a:solidFill>
                              <a:srgbClr val="B1E2FB"/>
                            </a:solidFill>
                            <a:miter lim="800000"/>
                            <a:headEnd/>
                            <a:tailEnd/>
                          </a14:hiddenLine>
                        </a:ext>
                        <a:ext uri="{AF507438-7753-43E0-B8FC-AC1667EBCBE1}">
                          <a14:hiddenEffects xmlns:a14="http://schemas.microsoft.com/office/drawing/2010/main">
                            <a:effectLst>
                              <a:outerShdw dist="35921" dir="2700000" algn="ctr" rotWithShape="0">
                                <a:srgbClr val="0066CC"/>
                              </a:outerShdw>
                            </a:effectLst>
                          </a14:hiddenEffects>
                        </a:ext>
                      </a:extLst>
                    </p:spPr>
                  </p:pic>
                </p:oleObj>
              </mc:Fallback>
            </mc:AlternateContent>
          </a:graphicData>
        </a:graphic>
      </p:graphicFrame>
      <p:sp>
        <p:nvSpPr>
          <p:cNvPr id="3" name="Rectangle 16"/>
          <p:cNvSpPr>
            <a:spLocks noChangeArrowheads="1"/>
          </p:cNvSpPr>
          <p:nvPr/>
        </p:nvSpPr>
        <p:spPr bwMode="gray">
          <a:xfrm>
            <a:off x="0" y="1066800"/>
            <a:ext cx="9144000" cy="73025"/>
          </a:xfrm>
          <a:prstGeom prst="rect">
            <a:avLst/>
          </a:prstGeom>
          <a:gradFill rotWithShape="1">
            <a:gsLst>
              <a:gs pos="0">
                <a:schemeClr val="bg1"/>
              </a:gs>
              <a:gs pos="50000">
                <a:schemeClr val="accent1"/>
              </a:gs>
              <a:gs pos="100000">
                <a:schemeClr val="bg1"/>
              </a:gs>
            </a:gsLst>
            <a:lin ang="0" scaled="1"/>
          </a:gradFill>
          <a:ln w="9525">
            <a:noFill/>
            <a:miter lim="800000"/>
            <a:headEnd/>
            <a:tailEnd/>
          </a:ln>
          <a:effectLst/>
        </p:spPr>
        <p:txBody>
          <a:bodyPr wrap="none" anchor="ctr"/>
          <a:lstStyle/>
          <a:p>
            <a:pPr algn="ctr">
              <a:defRPr/>
            </a:pPr>
            <a:endParaRPr lang="ko-KR" altLang="en-US" sz="1800" b="0">
              <a:latin typeface="Arial" pitchFamily="34" charset="0"/>
              <a:ea typeface="굴림" pitchFamily="50" charset="-127"/>
            </a:endParaRPr>
          </a:p>
        </p:txBody>
      </p:sp>
      <p:sp>
        <p:nvSpPr>
          <p:cNvPr id="4" name="Rectangle 4"/>
          <p:cNvSpPr>
            <a:spLocks noGrp="1" noChangeArrowheads="1"/>
          </p:cNvSpPr>
          <p:nvPr>
            <p:ph type="dt" sz="half" idx="10"/>
          </p:nvPr>
        </p:nvSpPr>
        <p:spPr/>
        <p:txBody>
          <a:bodyPr/>
          <a:lstStyle>
            <a:lvl1pPr>
              <a:defRPr/>
            </a:lvl1pPr>
          </a:lstStyle>
          <a:p>
            <a:pPr>
              <a:defRPr/>
            </a:pPr>
            <a:endParaRPr lang="en-US" altLang="ko-KR"/>
          </a:p>
        </p:txBody>
      </p:sp>
      <p:sp>
        <p:nvSpPr>
          <p:cNvPr id="5" name="Rectangle 5"/>
          <p:cNvSpPr>
            <a:spLocks noGrp="1" noChangeArrowheads="1"/>
          </p:cNvSpPr>
          <p:nvPr>
            <p:ph type="ftr" sz="quarter" idx="11"/>
          </p:nvPr>
        </p:nvSpPr>
        <p:spPr/>
        <p:txBody>
          <a:bodyPr/>
          <a:lstStyle>
            <a:lvl1pPr>
              <a:defRPr/>
            </a:lvl1pPr>
          </a:lstStyle>
          <a:p>
            <a:pPr>
              <a:defRPr/>
            </a:pPr>
            <a:endParaRPr lang="en-US" altLang="ko-KR"/>
          </a:p>
        </p:txBody>
      </p:sp>
      <p:sp>
        <p:nvSpPr>
          <p:cNvPr id="6" name="Rectangle 6"/>
          <p:cNvSpPr>
            <a:spLocks noGrp="1" noChangeArrowheads="1"/>
          </p:cNvSpPr>
          <p:nvPr>
            <p:ph type="sldNum" sz="quarter" idx="12"/>
          </p:nvPr>
        </p:nvSpPr>
        <p:spPr/>
        <p:txBody>
          <a:bodyPr/>
          <a:lstStyle>
            <a:lvl1pPr>
              <a:defRPr/>
            </a:lvl1pPr>
          </a:lstStyle>
          <a:p>
            <a:pPr>
              <a:defRPr/>
            </a:pPr>
            <a:fld id="{84FA9CAB-5207-4F51-9E54-59E315A09411}" type="slidenum">
              <a:rPr lang="en-US" altLang="ko-KR"/>
              <a:pPr>
                <a:defRPr/>
              </a:pPr>
              <a:t>‹#›</a:t>
            </a:fld>
            <a:endParaRPr lang="en-US" altLang="ko-KR"/>
          </a:p>
        </p:txBody>
      </p:sp>
    </p:spTree>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aphicFrame>
        <p:nvGraphicFramePr>
          <p:cNvPr id="5" name="Object 15"/>
          <p:cNvGraphicFramePr>
            <a:graphicFrameLocks noChangeAspect="1"/>
          </p:cNvGraphicFramePr>
          <p:nvPr/>
        </p:nvGraphicFramePr>
        <p:xfrm>
          <a:off x="0" y="0"/>
          <a:ext cx="9144000" cy="1062038"/>
        </p:xfrm>
        <a:graphic>
          <a:graphicData uri="http://schemas.openxmlformats.org/presentationml/2006/ole">
            <mc:AlternateContent xmlns:mc="http://schemas.openxmlformats.org/markup-compatibility/2006">
              <mc:Choice xmlns:v="urn:schemas-microsoft-com:vml" Requires="v">
                <p:oleObj name="Image" r:id="rId2" imgW="10387302" imgH="1205924" progId="">
                  <p:embed/>
                </p:oleObj>
              </mc:Choice>
              <mc:Fallback>
                <p:oleObj name="Image" r:id="rId2" imgW="10387302" imgH="1205924" progId="">
                  <p:embed/>
                  <p:pic>
                    <p:nvPicPr>
                      <p:cNvPr id="0" name="Object 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ltGray">
                      <a:xfrm>
                        <a:off x="0" y="0"/>
                        <a:ext cx="9144000" cy="1062038"/>
                      </a:xfrm>
                      <a:prstGeom prst="rect">
                        <a:avLst/>
                      </a:prstGeom>
                      <a:noFill/>
                      <a:ln>
                        <a:noFill/>
                      </a:ln>
                      <a:effectLst/>
                      <a:extLst>
                        <a:ext uri="{909E8E84-426E-40DD-AFC4-6F175D3DCCD1}">
                          <a14:hiddenFill xmlns:a14="http://schemas.microsoft.com/office/drawing/2010/main">
                            <a:solidFill>
                              <a:srgbClr val="FDC529"/>
                            </a:solidFill>
                          </a14:hiddenFill>
                        </a:ext>
                        <a:ext uri="{91240B29-F687-4F45-9708-019B960494DF}">
                          <a14:hiddenLine xmlns:a14="http://schemas.microsoft.com/office/drawing/2010/main" w="9525">
                            <a:solidFill>
                              <a:srgbClr val="B1E2FB"/>
                            </a:solidFill>
                            <a:miter lim="800000"/>
                            <a:headEnd/>
                            <a:tailEnd/>
                          </a14:hiddenLine>
                        </a:ext>
                        <a:ext uri="{AF507438-7753-43E0-B8FC-AC1667EBCBE1}">
                          <a14:hiddenEffects xmlns:a14="http://schemas.microsoft.com/office/drawing/2010/main">
                            <a:effectLst>
                              <a:outerShdw dist="35921" dir="2700000" algn="ctr" rotWithShape="0">
                                <a:srgbClr val="0066CC"/>
                              </a:outerShdw>
                            </a:effectLst>
                          </a14:hiddenEffects>
                        </a:ext>
                      </a:extLst>
                    </p:spPr>
                  </p:pic>
                </p:oleObj>
              </mc:Fallback>
            </mc:AlternateContent>
          </a:graphicData>
        </a:graphic>
      </p:graphicFrame>
      <p:sp>
        <p:nvSpPr>
          <p:cNvPr id="6" name="Rectangle 16"/>
          <p:cNvSpPr>
            <a:spLocks noChangeArrowheads="1"/>
          </p:cNvSpPr>
          <p:nvPr/>
        </p:nvSpPr>
        <p:spPr bwMode="gray">
          <a:xfrm>
            <a:off x="0" y="1066800"/>
            <a:ext cx="9144000" cy="73025"/>
          </a:xfrm>
          <a:prstGeom prst="rect">
            <a:avLst/>
          </a:prstGeom>
          <a:gradFill rotWithShape="1">
            <a:gsLst>
              <a:gs pos="0">
                <a:schemeClr val="bg1"/>
              </a:gs>
              <a:gs pos="50000">
                <a:schemeClr val="accent1"/>
              </a:gs>
              <a:gs pos="100000">
                <a:schemeClr val="bg1"/>
              </a:gs>
            </a:gsLst>
            <a:lin ang="0" scaled="1"/>
          </a:gradFill>
          <a:ln w="9525">
            <a:noFill/>
            <a:miter lim="800000"/>
            <a:headEnd/>
            <a:tailEnd/>
          </a:ln>
          <a:effectLst/>
        </p:spPr>
        <p:txBody>
          <a:bodyPr wrap="none" anchor="ctr"/>
          <a:lstStyle/>
          <a:p>
            <a:pPr algn="ctr">
              <a:defRPr/>
            </a:pPr>
            <a:endParaRPr lang="ko-KR" altLang="en-US" sz="1800" b="0">
              <a:latin typeface="Arial" pitchFamily="34" charset="0"/>
              <a:ea typeface="굴림" pitchFamily="50" charset="-127"/>
            </a:endParaRPr>
          </a:p>
        </p:txBody>
      </p:sp>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Rectangle 10"/>
          <p:cNvSpPr>
            <a:spLocks noGrp="1" noChangeArrowheads="1"/>
          </p:cNvSpPr>
          <p:nvPr>
            <p:ph type="dt" sz="half" idx="10"/>
          </p:nvPr>
        </p:nvSpPr>
        <p:spPr/>
        <p:txBody>
          <a:bodyPr/>
          <a:lstStyle>
            <a:lvl1pPr>
              <a:defRPr/>
            </a:lvl1pPr>
          </a:lstStyle>
          <a:p>
            <a:pPr>
              <a:defRPr/>
            </a:pPr>
            <a:endParaRPr lang="en-US" altLang="ko-KR"/>
          </a:p>
        </p:txBody>
      </p:sp>
      <p:sp>
        <p:nvSpPr>
          <p:cNvPr id="8" name="Rectangle 11"/>
          <p:cNvSpPr>
            <a:spLocks noGrp="1" noChangeArrowheads="1"/>
          </p:cNvSpPr>
          <p:nvPr>
            <p:ph type="ftr" sz="quarter" idx="11"/>
          </p:nvPr>
        </p:nvSpPr>
        <p:spPr/>
        <p:txBody>
          <a:bodyPr/>
          <a:lstStyle>
            <a:lvl1pPr>
              <a:defRPr/>
            </a:lvl1pPr>
          </a:lstStyle>
          <a:p>
            <a:pPr>
              <a:defRPr/>
            </a:pPr>
            <a:endParaRPr lang="en-US" altLang="ko-KR"/>
          </a:p>
        </p:txBody>
      </p:sp>
      <p:sp>
        <p:nvSpPr>
          <p:cNvPr id="9" name="Rectangle 12"/>
          <p:cNvSpPr>
            <a:spLocks noGrp="1" noChangeArrowheads="1"/>
          </p:cNvSpPr>
          <p:nvPr>
            <p:ph type="sldNum" sz="quarter" idx="12"/>
          </p:nvPr>
        </p:nvSpPr>
        <p:spPr/>
        <p:txBody>
          <a:bodyPr/>
          <a:lstStyle>
            <a:lvl1pPr>
              <a:defRPr/>
            </a:lvl1pPr>
          </a:lstStyle>
          <a:p>
            <a:pPr>
              <a:defRPr/>
            </a:pPr>
            <a:fld id="{23AD34DA-0E5E-4578-BC28-9B8D116DE3B3}" type="slidenum">
              <a:rPr lang="en-US" altLang="ko-KR"/>
              <a:pPr>
                <a:defRPr/>
              </a:pPr>
              <a:t>‹#›</a:t>
            </a:fld>
            <a:endParaRPr lang="en-US" altLang="ko-KR"/>
          </a:p>
        </p:txBody>
      </p:sp>
    </p:spTree>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aphicFrame>
        <p:nvGraphicFramePr>
          <p:cNvPr id="5" name="Object 15"/>
          <p:cNvGraphicFramePr>
            <a:graphicFrameLocks noChangeAspect="1"/>
          </p:cNvGraphicFramePr>
          <p:nvPr/>
        </p:nvGraphicFramePr>
        <p:xfrm>
          <a:off x="0" y="0"/>
          <a:ext cx="9144000" cy="1062038"/>
        </p:xfrm>
        <a:graphic>
          <a:graphicData uri="http://schemas.openxmlformats.org/presentationml/2006/ole">
            <mc:AlternateContent xmlns:mc="http://schemas.openxmlformats.org/markup-compatibility/2006">
              <mc:Choice xmlns:v="urn:schemas-microsoft-com:vml" Requires="v">
                <p:oleObj name="Image" r:id="rId2" imgW="10387302" imgH="1205924" progId="">
                  <p:embed/>
                </p:oleObj>
              </mc:Choice>
              <mc:Fallback>
                <p:oleObj name="Image" r:id="rId2" imgW="10387302" imgH="1205924" progId="">
                  <p:embed/>
                  <p:pic>
                    <p:nvPicPr>
                      <p:cNvPr id="0" name="Object 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ltGray">
                      <a:xfrm>
                        <a:off x="0" y="0"/>
                        <a:ext cx="9144000" cy="1062038"/>
                      </a:xfrm>
                      <a:prstGeom prst="rect">
                        <a:avLst/>
                      </a:prstGeom>
                      <a:noFill/>
                      <a:ln>
                        <a:noFill/>
                      </a:ln>
                      <a:effectLst/>
                      <a:extLst>
                        <a:ext uri="{909E8E84-426E-40DD-AFC4-6F175D3DCCD1}">
                          <a14:hiddenFill xmlns:a14="http://schemas.microsoft.com/office/drawing/2010/main">
                            <a:solidFill>
                              <a:srgbClr val="FDC529"/>
                            </a:solidFill>
                          </a14:hiddenFill>
                        </a:ext>
                        <a:ext uri="{91240B29-F687-4F45-9708-019B960494DF}">
                          <a14:hiddenLine xmlns:a14="http://schemas.microsoft.com/office/drawing/2010/main" w="9525">
                            <a:solidFill>
                              <a:srgbClr val="B1E2FB"/>
                            </a:solidFill>
                            <a:miter lim="800000"/>
                            <a:headEnd/>
                            <a:tailEnd/>
                          </a14:hiddenLine>
                        </a:ext>
                        <a:ext uri="{AF507438-7753-43E0-B8FC-AC1667EBCBE1}">
                          <a14:hiddenEffects xmlns:a14="http://schemas.microsoft.com/office/drawing/2010/main">
                            <a:effectLst>
                              <a:outerShdw dist="35921" dir="2700000" algn="ctr" rotWithShape="0">
                                <a:srgbClr val="0066CC"/>
                              </a:outerShdw>
                            </a:effectLst>
                          </a14:hiddenEffects>
                        </a:ext>
                      </a:extLst>
                    </p:spPr>
                  </p:pic>
                </p:oleObj>
              </mc:Fallback>
            </mc:AlternateContent>
          </a:graphicData>
        </a:graphic>
      </p:graphicFrame>
      <p:sp>
        <p:nvSpPr>
          <p:cNvPr id="6" name="Rectangle 16"/>
          <p:cNvSpPr>
            <a:spLocks noChangeArrowheads="1"/>
          </p:cNvSpPr>
          <p:nvPr/>
        </p:nvSpPr>
        <p:spPr bwMode="gray">
          <a:xfrm>
            <a:off x="0" y="1066800"/>
            <a:ext cx="9144000" cy="73025"/>
          </a:xfrm>
          <a:prstGeom prst="rect">
            <a:avLst/>
          </a:prstGeom>
          <a:gradFill rotWithShape="1">
            <a:gsLst>
              <a:gs pos="0">
                <a:schemeClr val="bg1"/>
              </a:gs>
              <a:gs pos="50000">
                <a:schemeClr val="accent1"/>
              </a:gs>
              <a:gs pos="100000">
                <a:schemeClr val="bg1"/>
              </a:gs>
            </a:gsLst>
            <a:lin ang="0" scaled="1"/>
          </a:gradFill>
          <a:ln w="9525">
            <a:noFill/>
            <a:miter lim="800000"/>
            <a:headEnd/>
            <a:tailEnd/>
          </a:ln>
          <a:effectLst/>
        </p:spPr>
        <p:txBody>
          <a:bodyPr wrap="none" anchor="ctr"/>
          <a:lstStyle/>
          <a:p>
            <a:pPr algn="ctr">
              <a:defRPr/>
            </a:pPr>
            <a:endParaRPr lang="ko-KR" altLang="en-US" sz="1800" b="0">
              <a:latin typeface="Arial" pitchFamily="34" charset="0"/>
              <a:ea typeface="굴림" pitchFamily="50" charset="-127"/>
            </a:endParaRPr>
          </a:p>
        </p:txBody>
      </p:sp>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Rectangle 10"/>
          <p:cNvSpPr>
            <a:spLocks noGrp="1" noChangeArrowheads="1"/>
          </p:cNvSpPr>
          <p:nvPr>
            <p:ph type="dt" sz="half" idx="10"/>
          </p:nvPr>
        </p:nvSpPr>
        <p:spPr/>
        <p:txBody>
          <a:bodyPr/>
          <a:lstStyle>
            <a:lvl1pPr>
              <a:defRPr/>
            </a:lvl1pPr>
          </a:lstStyle>
          <a:p>
            <a:pPr>
              <a:defRPr/>
            </a:pPr>
            <a:endParaRPr lang="en-US" altLang="ko-KR"/>
          </a:p>
        </p:txBody>
      </p:sp>
      <p:sp>
        <p:nvSpPr>
          <p:cNvPr id="8" name="Rectangle 11"/>
          <p:cNvSpPr>
            <a:spLocks noGrp="1" noChangeArrowheads="1"/>
          </p:cNvSpPr>
          <p:nvPr>
            <p:ph type="ftr" sz="quarter" idx="11"/>
          </p:nvPr>
        </p:nvSpPr>
        <p:spPr/>
        <p:txBody>
          <a:bodyPr/>
          <a:lstStyle>
            <a:lvl1pPr>
              <a:defRPr/>
            </a:lvl1pPr>
          </a:lstStyle>
          <a:p>
            <a:pPr>
              <a:defRPr/>
            </a:pPr>
            <a:endParaRPr lang="en-US" altLang="ko-KR"/>
          </a:p>
        </p:txBody>
      </p:sp>
      <p:sp>
        <p:nvSpPr>
          <p:cNvPr id="9" name="Rectangle 12"/>
          <p:cNvSpPr>
            <a:spLocks noGrp="1" noChangeArrowheads="1"/>
          </p:cNvSpPr>
          <p:nvPr>
            <p:ph type="sldNum" sz="quarter" idx="12"/>
          </p:nvPr>
        </p:nvSpPr>
        <p:spPr/>
        <p:txBody>
          <a:bodyPr/>
          <a:lstStyle>
            <a:lvl1pPr>
              <a:defRPr/>
            </a:lvl1pPr>
          </a:lstStyle>
          <a:p>
            <a:pPr>
              <a:defRPr/>
            </a:pPr>
            <a:fld id="{2D726163-8FE6-490C-BBC5-6A494A7B1B64}" type="slidenum">
              <a:rPr lang="en-US" altLang="ko-KR"/>
              <a:pPr>
                <a:defRPr/>
              </a:pPr>
              <a:t>‹#›</a:t>
            </a:fld>
            <a:endParaRPr lang="en-US" altLang="ko-KR"/>
          </a:p>
        </p:txBody>
      </p:sp>
    </p:spTree>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graphicFrame>
        <p:nvGraphicFramePr>
          <p:cNvPr id="4" name="Object 15"/>
          <p:cNvGraphicFramePr>
            <a:graphicFrameLocks noChangeAspect="1"/>
          </p:cNvGraphicFramePr>
          <p:nvPr/>
        </p:nvGraphicFramePr>
        <p:xfrm>
          <a:off x="0" y="0"/>
          <a:ext cx="9144000" cy="1062038"/>
        </p:xfrm>
        <a:graphic>
          <a:graphicData uri="http://schemas.openxmlformats.org/presentationml/2006/ole">
            <mc:AlternateContent xmlns:mc="http://schemas.openxmlformats.org/markup-compatibility/2006">
              <mc:Choice xmlns:v="urn:schemas-microsoft-com:vml" Requires="v">
                <p:oleObj name="Image" r:id="rId2" imgW="10387302" imgH="1205924" progId="">
                  <p:embed/>
                </p:oleObj>
              </mc:Choice>
              <mc:Fallback>
                <p:oleObj name="Image" r:id="rId2" imgW="10387302" imgH="1205924" progId="">
                  <p:embed/>
                  <p:pic>
                    <p:nvPicPr>
                      <p:cNvPr id="0" name="Object 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ltGray">
                      <a:xfrm>
                        <a:off x="0" y="0"/>
                        <a:ext cx="9144000" cy="1062038"/>
                      </a:xfrm>
                      <a:prstGeom prst="rect">
                        <a:avLst/>
                      </a:prstGeom>
                      <a:noFill/>
                      <a:ln>
                        <a:noFill/>
                      </a:ln>
                      <a:effectLst/>
                      <a:extLst>
                        <a:ext uri="{909E8E84-426E-40DD-AFC4-6F175D3DCCD1}">
                          <a14:hiddenFill xmlns:a14="http://schemas.microsoft.com/office/drawing/2010/main">
                            <a:solidFill>
                              <a:srgbClr val="FDC529"/>
                            </a:solidFill>
                          </a14:hiddenFill>
                        </a:ext>
                        <a:ext uri="{91240B29-F687-4F45-9708-019B960494DF}">
                          <a14:hiddenLine xmlns:a14="http://schemas.microsoft.com/office/drawing/2010/main" w="9525">
                            <a:solidFill>
                              <a:srgbClr val="B1E2FB"/>
                            </a:solidFill>
                            <a:miter lim="800000"/>
                            <a:headEnd/>
                            <a:tailEnd/>
                          </a14:hiddenLine>
                        </a:ext>
                        <a:ext uri="{AF507438-7753-43E0-B8FC-AC1667EBCBE1}">
                          <a14:hiddenEffects xmlns:a14="http://schemas.microsoft.com/office/drawing/2010/main">
                            <a:effectLst>
                              <a:outerShdw dist="35921" dir="2700000" algn="ctr" rotWithShape="0">
                                <a:srgbClr val="0066CC"/>
                              </a:outerShdw>
                            </a:effectLst>
                          </a14:hiddenEffects>
                        </a:ext>
                      </a:extLst>
                    </p:spPr>
                  </p:pic>
                </p:oleObj>
              </mc:Fallback>
            </mc:AlternateContent>
          </a:graphicData>
        </a:graphic>
      </p:graphicFrame>
      <p:sp>
        <p:nvSpPr>
          <p:cNvPr id="5" name="Rectangle 16"/>
          <p:cNvSpPr>
            <a:spLocks noChangeArrowheads="1"/>
          </p:cNvSpPr>
          <p:nvPr/>
        </p:nvSpPr>
        <p:spPr bwMode="gray">
          <a:xfrm>
            <a:off x="0" y="1066800"/>
            <a:ext cx="9144000" cy="73025"/>
          </a:xfrm>
          <a:prstGeom prst="rect">
            <a:avLst/>
          </a:prstGeom>
          <a:gradFill rotWithShape="1">
            <a:gsLst>
              <a:gs pos="0">
                <a:schemeClr val="bg1"/>
              </a:gs>
              <a:gs pos="50000">
                <a:schemeClr val="accent1"/>
              </a:gs>
              <a:gs pos="100000">
                <a:schemeClr val="bg1"/>
              </a:gs>
            </a:gsLst>
            <a:lin ang="0" scaled="1"/>
          </a:gradFill>
          <a:ln w="9525">
            <a:noFill/>
            <a:miter lim="800000"/>
            <a:headEnd/>
            <a:tailEnd/>
          </a:ln>
          <a:effectLst/>
        </p:spPr>
        <p:txBody>
          <a:bodyPr wrap="none" anchor="ctr"/>
          <a:lstStyle/>
          <a:p>
            <a:pPr algn="ctr">
              <a:defRPr/>
            </a:pPr>
            <a:endParaRPr lang="ko-KR" altLang="en-US" sz="1800" b="0">
              <a:latin typeface="Arial" pitchFamily="34" charset="0"/>
              <a:ea typeface="굴림" pitchFamily="50" charset="-127"/>
            </a:endParaRPr>
          </a:p>
        </p:txBody>
      </p:sp>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p:cNvSpPr>
            <a:spLocks noGrp="1" noChangeArrowheads="1"/>
          </p:cNvSpPr>
          <p:nvPr>
            <p:ph type="dt" sz="half" idx="10"/>
          </p:nvPr>
        </p:nvSpPr>
        <p:spPr/>
        <p:txBody>
          <a:bodyPr/>
          <a:lstStyle>
            <a:lvl1pPr>
              <a:defRPr/>
            </a:lvl1pPr>
          </a:lstStyle>
          <a:p>
            <a:pPr>
              <a:defRPr/>
            </a:pPr>
            <a:endParaRPr lang="en-US" altLang="ko-KR"/>
          </a:p>
        </p:txBody>
      </p:sp>
      <p:sp>
        <p:nvSpPr>
          <p:cNvPr id="7" name="Rectangle 5"/>
          <p:cNvSpPr>
            <a:spLocks noGrp="1" noChangeArrowheads="1"/>
          </p:cNvSpPr>
          <p:nvPr>
            <p:ph type="ftr" sz="quarter" idx="11"/>
          </p:nvPr>
        </p:nvSpPr>
        <p:spPr/>
        <p:txBody>
          <a:bodyPr/>
          <a:lstStyle>
            <a:lvl1pPr>
              <a:defRPr/>
            </a:lvl1pPr>
          </a:lstStyle>
          <a:p>
            <a:pPr>
              <a:defRPr/>
            </a:pPr>
            <a:endParaRPr lang="en-US" altLang="ko-KR"/>
          </a:p>
        </p:txBody>
      </p:sp>
      <p:sp>
        <p:nvSpPr>
          <p:cNvPr id="8" name="Rectangle 6"/>
          <p:cNvSpPr>
            <a:spLocks noGrp="1" noChangeArrowheads="1"/>
          </p:cNvSpPr>
          <p:nvPr>
            <p:ph type="sldNum" sz="quarter" idx="12"/>
          </p:nvPr>
        </p:nvSpPr>
        <p:spPr/>
        <p:txBody>
          <a:bodyPr/>
          <a:lstStyle>
            <a:lvl1pPr>
              <a:defRPr/>
            </a:lvl1pPr>
          </a:lstStyle>
          <a:p>
            <a:pPr>
              <a:defRPr/>
            </a:pPr>
            <a:fld id="{23477CFA-29B4-45FB-B98B-93BEA3C92D53}" type="slidenum">
              <a:rPr lang="en-US" altLang="ko-KR"/>
              <a:pPr>
                <a:defRPr/>
              </a:pPr>
              <a:t>‹#›</a:t>
            </a:fld>
            <a:endParaRPr lang="en-US" altLang="ko-KR"/>
          </a:p>
        </p:txBody>
      </p:sp>
    </p:spTree>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aphicFrame>
        <p:nvGraphicFramePr>
          <p:cNvPr id="4" name="Object 15"/>
          <p:cNvGraphicFramePr>
            <a:graphicFrameLocks noChangeAspect="1"/>
          </p:cNvGraphicFramePr>
          <p:nvPr/>
        </p:nvGraphicFramePr>
        <p:xfrm>
          <a:off x="0" y="0"/>
          <a:ext cx="9144000" cy="1062038"/>
        </p:xfrm>
        <a:graphic>
          <a:graphicData uri="http://schemas.openxmlformats.org/presentationml/2006/ole">
            <mc:AlternateContent xmlns:mc="http://schemas.openxmlformats.org/markup-compatibility/2006">
              <mc:Choice xmlns:v="urn:schemas-microsoft-com:vml" Requires="v">
                <p:oleObj name="Image" r:id="rId2" imgW="10387302" imgH="1205924" progId="">
                  <p:embed/>
                </p:oleObj>
              </mc:Choice>
              <mc:Fallback>
                <p:oleObj name="Image" r:id="rId2" imgW="10387302" imgH="1205924" progId="">
                  <p:embed/>
                  <p:pic>
                    <p:nvPicPr>
                      <p:cNvPr id="0" name="Object 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ltGray">
                      <a:xfrm>
                        <a:off x="0" y="0"/>
                        <a:ext cx="9144000" cy="1062038"/>
                      </a:xfrm>
                      <a:prstGeom prst="rect">
                        <a:avLst/>
                      </a:prstGeom>
                      <a:noFill/>
                      <a:ln>
                        <a:noFill/>
                      </a:ln>
                      <a:effectLst/>
                      <a:extLst>
                        <a:ext uri="{909E8E84-426E-40DD-AFC4-6F175D3DCCD1}">
                          <a14:hiddenFill xmlns:a14="http://schemas.microsoft.com/office/drawing/2010/main">
                            <a:solidFill>
                              <a:srgbClr val="FDC529"/>
                            </a:solidFill>
                          </a14:hiddenFill>
                        </a:ext>
                        <a:ext uri="{91240B29-F687-4F45-9708-019B960494DF}">
                          <a14:hiddenLine xmlns:a14="http://schemas.microsoft.com/office/drawing/2010/main" w="9525">
                            <a:solidFill>
                              <a:srgbClr val="B1E2FB"/>
                            </a:solidFill>
                            <a:miter lim="800000"/>
                            <a:headEnd/>
                            <a:tailEnd/>
                          </a14:hiddenLine>
                        </a:ext>
                        <a:ext uri="{AF507438-7753-43E0-B8FC-AC1667EBCBE1}">
                          <a14:hiddenEffects xmlns:a14="http://schemas.microsoft.com/office/drawing/2010/main">
                            <a:effectLst>
                              <a:outerShdw dist="35921" dir="2700000" algn="ctr" rotWithShape="0">
                                <a:srgbClr val="0066CC"/>
                              </a:outerShdw>
                            </a:effectLst>
                          </a14:hiddenEffects>
                        </a:ext>
                      </a:extLst>
                    </p:spPr>
                  </p:pic>
                </p:oleObj>
              </mc:Fallback>
            </mc:AlternateContent>
          </a:graphicData>
        </a:graphic>
      </p:graphicFrame>
      <p:sp>
        <p:nvSpPr>
          <p:cNvPr id="5" name="Rectangle 16"/>
          <p:cNvSpPr>
            <a:spLocks noChangeArrowheads="1"/>
          </p:cNvSpPr>
          <p:nvPr/>
        </p:nvSpPr>
        <p:spPr bwMode="gray">
          <a:xfrm>
            <a:off x="0" y="1066800"/>
            <a:ext cx="9144000" cy="73025"/>
          </a:xfrm>
          <a:prstGeom prst="rect">
            <a:avLst/>
          </a:prstGeom>
          <a:gradFill rotWithShape="1">
            <a:gsLst>
              <a:gs pos="0">
                <a:schemeClr val="bg1"/>
              </a:gs>
              <a:gs pos="50000">
                <a:schemeClr val="accent1"/>
              </a:gs>
              <a:gs pos="100000">
                <a:schemeClr val="bg1"/>
              </a:gs>
            </a:gsLst>
            <a:lin ang="0" scaled="1"/>
          </a:gradFill>
          <a:ln w="9525">
            <a:noFill/>
            <a:miter lim="800000"/>
            <a:headEnd/>
            <a:tailEnd/>
          </a:ln>
          <a:effectLst/>
        </p:spPr>
        <p:txBody>
          <a:bodyPr wrap="none" anchor="ctr"/>
          <a:lstStyle/>
          <a:p>
            <a:pPr algn="ctr">
              <a:defRPr/>
            </a:pPr>
            <a:endParaRPr lang="ko-KR" altLang="en-US" sz="1800" b="0">
              <a:latin typeface="Arial" pitchFamily="34" charset="0"/>
              <a:ea typeface="굴림" pitchFamily="50" charset="-127"/>
            </a:endParaRPr>
          </a:p>
        </p:txBody>
      </p:sp>
      <p:sp>
        <p:nvSpPr>
          <p:cNvPr id="2" name="Vertical Title 1"/>
          <p:cNvSpPr>
            <a:spLocks noGrp="1"/>
          </p:cNvSpPr>
          <p:nvPr>
            <p:ph type="title" orient="vert"/>
          </p:nvPr>
        </p:nvSpPr>
        <p:spPr>
          <a:xfrm>
            <a:off x="6629400" y="319088"/>
            <a:ext cx="2057400" cy="630078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319088"/>
            <a:ext cx="6019800" cy="630078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p:cNvSpPr>
            <a:spLocks noGrp="1" noChangeArrowheads="1"/>
          </p:cNvSpPr>
          <p:nvPr>
            <p:ph type="dt" sz="half" idx="10"/>
          </p:nvPr>
        </p:nvSpPr>
        <p:spPr/>
        <p:txBody>
          <a:bodyPr/>
          <a:lstStyle>
            <a:lvl1pPr>
              <a:defRPr/>
            </a:lvl1pPr>
          </a:lstStyle>
          <a:p>
            <a:pPr>
              <a:defRPr/>
            </a:pPr>
            <a:endParaRPr lang="en-US" altLang="ko-KR"/>
          </a:p>
        </p:txBody>
      </p:sp>
      <p:sp>
        <p:nvSpPr>
          <p:cNvPr id="7" name="Rectangle 5"/>
          <p:cNvSpPr>
            <a:spLocks noGrp="1" noChangeArrowheads="1"/>
          </p:cNvSpPr>
          <p:nvPr>
            <p:ph type="ftr" sz="quarter" idx="11"/>
          </p:nvPr>
        </p:nvSpPr>
        <p:spPr/>
        <p:txBody>
          <a:bodyPr/>
          <a:lstStyle>
            <a:lvl1pPr>
              <a:defRPr/>
            </a:lvl1pPr>
          </a:lstStyle>
          <a:p>
            <a:pPr>
              <a:defRPr/>
            </a:pPr>
            <a:endParaRPr lang="en-US" altLang="ko-KR"/>
          </a:p>
        </p:txBody>
      </p:sp>
      <p:sp>
        <p:nvSpPr>
          <p:cNvPr id="8" name="Rectangle 6"/>
          <p:cNvSpPr>
            <a:spLocks noGrp="1" noChangeArrowheads="1"/>
          </p:cNvSpPr>
          <p:nvPr>
            <p:ph type="sldNum" sz="quarter" idx="12"/>
          </p:nvPr>
        </p:nvSpPr>
        <p:spPr/>
        <p:txBody>
          <a:bodyPr/>
          <a:lstStyle>
            <a:lvl1pPr>
              <a:defRPr/>
            </a:lvl1pPr>
          </a:lstStyle>
          <a:p>
            <a:pPr>
              <a:defRPr/>
            </a:pPr>
            <a:fld id="{F9EBD73D-BB22-4754-99D3-F3C4723D91E4}" type="slidenum">
              <a:rPr lang="en-US" altLang="ko-KR"/>
              <a:pPr>
                <a:defRPr/>
              </a:pPr>
              <a:t>‹#›</a:t>
            </a:fld>
            <a:endParaRPr lang="en-US" altLang="ko-KR"/>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oleObject" Target="../embeddings/oleObject1.bin"/><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oleObject" Target="../embeddings/oleObject12.bin"/><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rotWithShape="0">
          <a:gsLst>
            <a:gs pos="0">
              <a:srgbClr val="001847"/>
            </a:gs>
            <a:gs pos="100000">
              <a:schemeClr val="bg1"/>
            </a:gs>
          </a:gsLst>
          <a:lin ang="2700000" scaled="1"/>
        </a:gradFill>
        <a:effectLst/>
      </p:bgPr>
    </p:bg>
    <p:spTree>
      <p:nvGrpSpPr>
        <p:cNvPr id="1" name=""/>
        <p:cNvGrpSpPr/>
        <p:nvPr/>
      </p:nvGrpSpPr>
      <p:grpSpPr>
        <a:xfrm>
          <a:off x="0" y="0"/>
          <a:ext cx="0" cy="0"/>
          <a:chOff x="0" y="0"/>
          <a:chExt cx="0" cy="0"/>
        </a:xfrm>
      </p:grpSpPr>
      <p:graphicFrame>
        <p:nvGraphicFramePr>
          <p:cNvPr id="1026" name="Object 2"/>
          <p:cNvGraphicFramePr>
            <a:graphicFrameLocks noChangeAspect="1"/>
          </p:cNvGraphicFramePr>
          <p:nvPr/>
        </p:nvGraphicFramePr>
        <p:xfrm>
          <a:off x="0" y="2371725"/>
          <a:ext cx="9144000" cy="4486275"/>
        </p:xfrm>
        <a:graphic>
          <a:graphicData uri="http://schemas.openxmlformats.org/presentationml/2006/ole">
            <mc:AlternateContent xmlns:mc="http://schemas.openxmlformats.org/markup-compatibility/2006">
              <mc:Choice xmlns:v="urn:schemas-microsoft-com:vml" Requires="v">
                <p:oleObj name="Image" r:id="rId13" imgW="10438095" imgH="5980952" progId="">
                  <p:embed/>
                </p:oleObj>
              </mc:Choice>
              <mc:Fallback>
                <p:oleObj name="Image" r:id="rId13" imgW="10438095" imgH="5980952" progId="">
                  <p:embed/>
                  <p:pic>
                    <p:nvPicPr>
                      <p:cNvPr id="0" name="Object 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ltGray">
                      <a:xfrm>
                        <a:off x="0" y="2371725"/>
                        <a:ext cx="9144000" cy="4486275"/>
                      </a:xfrm>
                      <a:prstGeom prst="rect">
                        <a:avLst/>
                      </a:prstGeom>
                      <a:noFill/>
                      <a:ln>
                        <a:noFill/>
                      </a:ln>
                      <a:effectLst/>
                      <a:extLst>
                        <a:ext uri="{909E8E84-426E-40DD-AFC4-6F175D3DCCD1}">
                          <a14:hiddenFill xmlns:a14="http://schemas.microsoft.com/office/drawing/2010/main">
                            <a:solidFill>
                              <a:srgbClr val="FDC529"/>
                            </a:solidFill>
                          </a14:hiddenFill>
                        </a:ext>
                        <a:ext uri="{91240B29-F687-4F45-9708-019B960494DF}">
                          <a14:hiddenLine xmlns:a14="http://schemas.microsoft.com/office/drawing/2010/main" w="9525">
                            <a:solidFill>
                              <a:srgbClr val="B1E2FB"/>
                            </a:solidFill>
                            <a:miter lim="800000"/>
                            <a:headEnd/>
                            <a:tailEnd/>
                          </a14:hiddenLine>
                        </a:ext>
                        <a:ext uri="{AF507438-7753-43E0-B8FC-AC1667EBCBE1}">
                          <a14:hiddenEffects xmlns:a14="http://schemas.microsoft.com/office/drawing/2010/main">
                            <a:effectLst>
                              <a:outerShdw dist="35921" dir="2700000" algn="ctr" rotWithShape="0">
                                <a:srgbClr val="0066CC"/>
                              </a:outerShdw>
                            </a:effectLst>
                          </a14:hiddenEffects>
                        </a:ext>
                      </a:extLst>
                    </p:spPr>
                  </p:pic>
                </p:oleObj>
              </mc:Fallback>
            </mc:AlternateContent>
          </a:graphicData>
        </a:graphic>
      </p:graphicFrame>
      <p:sp>
        <p:nvSpPr>
          <p:cNvPr id="10" name="Text Box 14"/>
          <p:cNvSpPr txBox="1">
            <a:spLocks noChangeArrowheads="1"/>
          </p:cNvSpPr>
          <p:nvPr/>
        </p:nvSpPr>
        <p:spPr bwMode="auto">
          <a:xfrm>
            <a:off x="381000" y="304800"/>
            <a:ext cx="1079500" cy="396875"/>
          </a:xfrm>
          <a:prstGeom prst="rect">
            <a:avLst/>
          </a:prstGeom>
          <a:noFill/>
          <a:ln w="9525">
            <a:noFill/>
            <a:miter lim="800000"/>
            <a:headEnd/>
            <a:tailEnd/>
          </a:ln>
          <a:effectLst/>
        </p:spPr>
        <p:txBody>
          <a:bodyPr>
            <a:spAutoFit/>
          </a:bodyPr>
          <a:lstStyle/>
          <a:p>
            <a:pPr>
              <a:defRPr/>
            </a:pPr>
            <a:r>
              <a:rPr lang="en-US" altLang="ko-KR" sz="2000">
                <a:latin typeface="Verdana" pitchFamily="34" charset="0"/>
                <a:ea typeface="굴림" charset="-127"/>
              </a:rPr>
              <a:t>LOGO</a:t>
            </a:r>
          </a:p>
        </p:txBody>
      </p:sp>
      <p:sp>
        <p:nvSpPr>
          <p:cNvPr id="11" name="Rectangle 18"/>
          <p:cNvSpPr>
            <a:spLocks noChangeArrowheads="1"/>
          </p:cNvSpPr>
          <p:nvPr/>
        </p:nvSpPr>
        <p:spPr bwMode="gray">
          <a:xfrm>
            <a:off x="0" y="2349500"/>
            <a:ext cx="9144000" cy="73025"/>
          </a:xfrm>
          <a:prstGeom prst="rect">
            <a:avLst/>
          </a:prstGeom>
          <a:gradFill rotWithShape="1">
            <a:gsLst>
              <a:gs pos="0">
                <a:schemeClr val="bg1"/>
              </a:gs>
              <a:gs pos="50000">
                <a:schemeClr val="accent1"/>
              </a:gs>
              <a:gs pos="100000">
                <a:schemeClr val="bg1"/>
              </a:gs>
            </a:gsLst>
            <a:lin ang="0" scaled="1"/>
          </a:gradFill>
          <a:ln w="9525">
            <a:noFill/>
            <a:miter lim="800000"/>
            <a:headEnd/>
            <a:tailEnd/>
          </a:ln>
          <a:effectLst/>
        </p:spPr>
        <p:txBody>
          <a:bodyPr wrap="none" anchor="ctr"/>
          <a:lstStyle/>
          <a:p>
            <a:pPr algn="ctr">
              <a:defRPr/>
            </a:pPr>
            <a:endParaRPr lang="ko-KR" altLang="en-US" sz="1800" b="0">
              <a:latin typeface="Arial" pitchFamily="34" charset="0"/>
              <a:ea typeface="굴림" pitchFamily="50" charset="-127"/>
            </a:endParaRPr>
          </a:p>
        </p:txBody>
      </p:sp>
      <p:sp>
        <p:nvSpPr>
          <p:cNvPr id="1030" name="Rectangle 3"/>
          <p:cNvSpPr>
            <a:spLocks noGrp="1" noChangeArrowheads="1"/>
          </p:cNvSpPr>
          <p:nvPr>
            <p:ph type="body" idx="1"/>
          </p:nvPr>
        </p:nvSpPr>
        <p:spPr bwMode="auto">
          <a:xfrm>
            <a:off x="457200" y="1371600"/>
            <a:ext cx="8229600" cy="524827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altLang="ko-KR"/>
          </a:p>
        </p:txBody>
      </p:sp>
      <p:sp>
        <p:nvSpPr>
          <p:cNvPr id="1031" name="Rectangle 2"/>
          <p:cNvSpPr>
            <a:spLocks noGrp="1" noChangeArrowheads="1"/>
          </p:cNvSpPr>
          <p:nvPr>
            <p:ph type="title"/>
          </p:nvPr>
        </p:nvSpPr>
        <p:spPr bwMode="auto">
          <a:xfrm>
            <a:off x="990600" y="319088"/>
            <a:ext cx="7543800" cy="563562"/>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ko-KR" altLang="en-US"/>
              <a:t>마스터 제목 스타일 편집</a:t>
            </a:r>
            <a:endParaRPr lang="en-US" altLang="ko-KR"/>
          </a:p>
        </p:txBody>
      </p:sp>
    </p:spTree>
  </p:cSld>
  <p:clrMap bg1="dk2" tx1="lt1" bg2="dk1" tx2="lt2" accent1="accent1" accent2="accent2" accent3="accent3" accent4="accent4" accent5="accent5" accent6="accent6" hlink="hlink" folHlink="folHlink"/>
  <p:sldLayoutIdLst>
    <p:sldLayoutId id="2147483985" r:id="rId1"/>
    <p:sldLayoutId id="2147483986" r:id="rId2"/>
    <p:sldLayoutId id="2147483987" r:id="rId3"/>
    <p:sldLayoutId id="2147483988" r:id="rId4"/>
    <p:sldLayoutId id="2147483989" r:id="rId5"/>
    <p:sldLayoutId id="2147483990" r:id="rId6"/>
    <p:sldLayoutId id="2147483991" r:id="rId7"/>
    <p:sldLayoutId id="2147483992" r:id="rId8"/>
    <p:sldLayoutId id="2147483993" r:id="rId9"/>
    <p:sldLayoutId id="2147483994" r:id="rId10"/>
    <p:sldLayoutId id="2147483995" r:id="rId11"/>
  </p:sldLayoutIdLst>
  <p:transition spd="med"/>
  <p:txStyles>
    <p:titleStyle>
      <a:lvl1pPr algn="r" rtl="0" eaLnBrk="0" fontAlgn="base" latinLnBrk="1" hangingPunct="0">
        <a:spcBef>
          <a:spcPct val="0"/>
        </a:spcBef>
        <a:spcAft>
          <a:spcPct val="0"/>
        </a:spcAft>
        <a:defRPr sz="3600">
          <a:solidFill>
            <a:schemeClr val="tx2"/>
          </a:solidFill>
          <a:latin typeface="+mj-lt"/>
          <a:ea typeface="+mj-ea"/>
          <a:cs typeface="+mj-cs"/>
        </a:defRPr>
      </a:lvl1pPr>
      <a:lvl2pPr algn="r" rtl="0" eaLnBrk="0" fontAlgn="base" latinLnBrk="1" hangingPunct="0">
        <a:spcBef>
          <a:spcPct val="0"/>
        </a:spcBef>
        <a:spcAft>
          <a:spcPct val="0"/>
        </a:spcAft>
        <a:defRPr sz="3600">
          <a:solidFill>
            <a:schemeClr val="tx2"/>
          </a:solidFill>
          <a:latin typeface="Arial" pitchFamily="34" charset="0"/>
        </a:defRPr>
      </a:lvl2pPr>
      <a:lvl3pPr algn="r" rtl="0" eaLnBrk="0" fontAlgn="base" latinLnBrk="1" hangingPunct="0">
        <a:spcBef>
          <a:spcPct val="0"/>
        </a:spcBef>
        <a:spcAft>
          <a:spcPct val="0"/>
        </a:spcAft>
        <a:defRPr sz="3600">
          <a:solidFill>
            <a:schemeClr val="tx2"/>
          </a:solidFill>
          <a:latin typeface="Arial" pitchFamily="34" charset="0"/>
        </a:defRPr>
      </a:lvl3pPr>
      <a:lvl4pPr algn="r" rtl="0" eaLnBrk="0" fontAlgn="base" latinLnBrk="1" hangingPunct="0">
        <a:spcBef>
          <a:spcPct val="0"/>
        </a:spcBef>
        <a:spcAft>
          <a:spcPct val="0"/>
        </a:spcAft>
        <a:defRPr sz="3600">
          <a:solidFill>
            <a:schemeClr val="tx2"/>
          </a:solidFill>
          <a:latin typeface="Arial" pitchFamily="34" charset="0"/>
        </a:defRPr>
      </a:lvl4pPr>
      <a:lvl5pPr algn="r" rtl="0" eaLnBrk="0" fontAlgn="base" latinLnBrk="1" hangingPunct="0">
        <a:spcBef>
          <a:spcPct val="0"/>
        </a:spcBef>
        <a:spcAft>
          <a:spcPct val="0"/>
        </a:spcAft>
        <a:defRPr sz="3600">
          <a:solidFill>
            <a:schemeClr val="tx2"/>
          </a:solidFill>
          <a:latin typeface="Arial" pitchFamily="34" charset="0"/>
        </a:defRPr>
      </a:lvl5pPr>
      <a:lvl6pPr marL="457200" algn="r" rtl="0" eaLnBrk="0" fontAlgn="base" latinLnBrk="1" hangingPunct="0">
        <a:spcBef>
          <a:spcPct val="0"/>
        </a:spcBef>
        <a:spcAft>
          <a:spcPct val="0"/>
        </a:spcAft>
        <a:defRPr sz="3600">
          <a:solidFill>
            <a:schemeClr val="tx2"/>
          </a:solidFill>
          <a:latin typeface="Arial" pitchFamily="34" charset="0"/>
        </a:defRPr>
      </a:lvl6pPr>
      <a:lvl7pPr marL="914400" algn="r" rtl="0" eaLnBrk="0" fontAlgn="base" latinLnBrk="1" hangingPunct="0">
        <a:spcBef>
          <a:spcPct val="0"/>
        </a:spcBef>
        <a:spcAft>
          <a:spcPct val="0"/>
        </a:spcAft>
        <a:defRPr sz="3600">
          <a:solidFill>
            <a:schemeClr val="tx2"/>
          </a:solidFill>
          <a:latin typeface="Arial" pitchFamily="34" charset="0"/>
        </a:defRPr>
      </a:lvl7pPr>
      <a:lvl8pPr marL="1371600" algn="r" rtl="0" eaLnBrk="0" fontAlgn="base" latinLnBrk="1" hangingPunct="0">
        <a:spcBef>
          <a:spcPct val="0"/>
        </a:spcBef>
        <a:spcAft>
          <a:spcPct val="0"/>
        </a:spcAft>
        <a:defRPr sz="3600">
          <a:solidFill>
            <a:schemeClr val="tx2"/>
          </a:solidFill>
          <a:latin typeface="Arial" pitchFamily="34" charset="0"/>
        </a:defRPr>
      </a:lvl8pPr>
      <a:lvl9pPr marL="1828800" algn="r" rtl="0" eaLnBrk="0" fontAlgn="base" latinLnBrk="1" hangingPunct="0">
        <a:spcBef>
          <a:spcPct val="0"/>
        </a:spcBef>
        <a:spcAft>
          <a:spcPct val="0"/>
        </a:spcAft>
        <a:defRPr sz="3600">
          <a:solidFill>
            <a:schemeClr val="tx2"/>
          </a:solidFill>
          <a:latin typeface="Arial" pitchFamily="34" charset="0"/>
        </a:defRPr>
      </a:lvl9pPr>
    </p:titleStyle>
    <p:bodyStyle>
      <a:lvl1pPr marL="342900" indent="-342900" algn="l" rtl="0" eaLnBrk="0" fontAlgn="base" latinLnBrk="1" hangingPunct="0">
        <a:spcBef>
          <a:spcPct val="20000"/>
        </a:spcBef>
        <a:spcAft>
          <a:spcPct val="0"/>
        </a:spcAft>
        <a:buClr>
          <a:schemeClr val="hlink"/>
        </a:buClr>
        <a:buFont typeface="Wingdings" pitchFamily="2" charset="2"/>
        <a:buChar char="v"/>
        <a:defRPr sz="2800" b="1">
          <a:solidFill>
            <a:schemeClr val="tx1"/>
          </a:solidFill>
          <a:latin typeface="+mn-lt"/>
          <a:ea typeface="+mn-ea"/>
          <a:cs typeface="+mn-cs"/>
        </a:defRPr>
      </a:lvl1pPr>
      <a:lvl2pPr marL="742950" indent="-285750" algn="l" rtl="0" eaLnBrk="0" fontAlgn="base" latinLnBrk="1" hangingPunct="0">
        <a:spcBef>
          <a:spcPct val="20000"/>
        </a:spcBef>
        <a:spcAft>
          <a:spcPct val="0"/>
        </a:spcAft>
        <a:buClr>
          <a:schemeClr val="accent1"/>
        </a:buClr>
        <a:buFont typeface="Wingdings" pitchFamily="2" charset="2"/>
        <a:buChar char="§"/>
        <a:defRPr sz="2800">
          <a:solidFill>
            <a:schemeClr val="tx2"/>
          </a:solidFill>
          <a:latin typeface="+mj-lt"/>
        </a:defRPr>
      </a:lvl2pPr>
      <a:lvl3pPr marL="1143000" indent="-228600" algn="l" rtl="0" eaLnBrk="0" fontAlgn="base" latinLnBrk="1" hangingPunct="0">
        <a:spcBef>
          <a:spcPct val="20000"/>
        </a:spcBef>
        <a:spcAft>
          <a:spcPct val="0"/>
        </a:spcAft>
        <a:buClr>
          <a:schemeClr val="tx1"/>
        </a:buClr>
        <a:buChar char="•"/>
        <a:defRPr sz="2400">
          <a:solidFill>
            <a:schemeClr val="tx2"/>
          </a:solidFill>
          <a:latin typeface="+mj-lt"/>
        </a:defRPr>
      </a:lvl3pPr>
      <a:lvl4pPr marL="1600200" indent="-228600" algn="l" rtl="0" eaLnBrk="0" fontAlgn="base" latinLnBrk="1" hangingPunct="0">
        <a:spcBef>
          <a:spcPct val="20000"/>
        </a:spcBef>
        <a:spcAft>
          <a:spcPct val="0"/>
        </a:spcAft>
        <a:buChar char="–"/>
        <a:defRPr sz="2000">
          <a:solidFill>
            <a:schemeClr val="tx2"/>
          </a:solidFill>
          <a:latin typeface="+mj-lt"/>
        </a:defRPr>
      </a:lvl4pPr>
      <a:lvl5pPr marL="2057400" indent="-228600" algn="l" rtl="0" eaLnBrk="0" fontAlgn="base" latinLnBrk="1" hangingPunct="0">
        <a:spcBef>
          <a:spcPct val="20000"/>
        </a:spcBef>
        <a:spcAft>
          <a:spcPct val="0"/>
        </a:spcAft>
        <a:buChar char="»"/>
        <a:defRPr sz="2000">
          <a:solidFill>
            <a:schemeClr val="tx2"/>
          </a:solidFill>
          <a:latin typeface="+mj-lt"/>
        </a:defRPr>
      </a:lvl5pPr>
      <a:lvl6pPr marL="2514600" indent="-228600" algn="l" rtl="0" eaLnBrk="0" fontAlgn="base" latinLnBrk="1" hangingPunct="0">
        <a:spcBef>
          <a:spcPct val="20000"/>
        </a:spcBef>
        <a:spcAft>
          <a:spcPct val="0"/>
        </a:spcAft>
        <a:buChar char="»"/>
        <a:defRPr sz="2000">
          <a:solidFill>
            <a:schemeClr val="tx2"/>
          </a:solidFill>
          <a:latin typeface="+mj-lt"/>
        </a:defRPr>
      </a:lvl6pPr>
      <a:lvl7pPr marL="2971800" indent="-228600" algn="l" rtl="0" eaLnBrk="0" fontAlgn="base" latinLnBrk="1" hangingPunct="0">
        <a:spcBef>
          <a:spcPct val="20000"/>
        </a:spcBef>
        <a:spcAft>
          <a:spcPct val="0"/>
        </a:spcAft>
        <a:buChar char="»"/>
        <a:defRPr sz="2000">
          <a:solidFill>
            <a:schemeClr val="tx2"/>
          </a:solidFill>
          <a:latin typeface="+mj-lt"/>
        </a:defRPr>
      </a:lvl7pPr>
      <a:lvl8pPr marL="3429000" indent="-228600" algn="l" rtl="0" eaLnBrk="0" fontAlgn="base" latinLnBrk="1" hangingPunct="0">
        <a:spcBef>
          <a:spcPct val="20000"/>
        </a:spcBef>
        <a:spcAft>
          <a:spcPct val="0"/>
        </a:spcAft>
        <a:buChar char="»"/>
        <a:defRPr sz="2000">
          <a:solidFill>
            <a:schemeClr val="tx2"/>
          </a:solidFill>
          <a:latin typeface="+mj-lt"/>
        </a:defRPr>
      </a:lvl8pPr>
      <a:lvl9pPr marL="3886200" indent="-228600" algn="l" rtl="0" eaLnBrk="0" fontAlgn="base" latinLnBrk="1" hangingPunct="0">
        <a:spcBef>
          <a:spcPct val="20000"/>
        </a:spcBef>
        <a:spcAft>
          <a:spcPct val="0"/>
        </a:spcAft>
        <a:buChar char="»"/>
        <a:defRPr sz="2000">
          <a:solidFill>
            <a:schemeClr val="tx2"/>
          </a:solidFill>
          <a:latin typeface="+mj-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gradFill rotWithShape="0">
          <a:gsLst>
            <a:gs pos="0">
              <a:srgbClr val="001847"/>
            </a:gs>
            <a:gs pos="100000">
              <a:schemeClr val="bg1"/>
            </a:gs>
          </a:gsLst>
          <a:lin ang="2700000" scaled="1"/>
        </a:gradFill>
        <a:effectLst/>
      </p:bgPr>
    </p:bg>
    <p:spTree>
      <p:nvGrpSpPr>
        <p:cNvPr id="1" name=""/>
        <p:cNvGrpSpPr/>
        <p:nvPr/>
      </p:nvGrpSpPr>
      <p:grpSpPr>
        <a:xfrm>
          <a:off x="0" y="0"/>
          <a:ext cx="0" cy="0"/>
          <a:chOff x="0" y="0"/>
          <a:chExt cx="0" cy="0"/>
        </a:xfrm>
      </p:grpSpPr>
      <p:graphicFrame>
        <p:nvGraphicFramePr>
          <p:cNvPr id="13314" name="Object 15"/>
          <p:cNvGraphicFramePr>
            <a:graphicFrameLocks noChangeAspect="1"/>
          </p:cNvGraphicFramePr>
          <p:nvPr/>
        </p:nvGraphicFramePr>
        <p:xfrm>
          <a:off x="0" y="0"/>
          <a:ext cx="9144000" cy="1062038"/>
        </p:xfrm>
        <a:graphic>
          <a:graphicData uri="http://schemas.openxmlformats.org/presentationml/2006/ole">
            <mc:AlternateContent xmlns:mc="http://schemas.openxmlformats.org/markup-compatibility/2006">
              <mc:Choice xmlns:v="urn:schemas-microsoft-com:vml" Requires="v">
                <p:oleObj name="Image" r:id="rId13" imgW="10387302" imgH="1205924" progId="">
                  <p:embed/>
                </p:oleObj>
              </mc:Choice>
              <mc:Fallback>
                <p:oleObj name="Image" r:id="rId13" imgW="10387302" imgH="1205924" progId="">
                  <p:embed/>
                  <p:pic>
                    <p:nvPicPr>
                      <p:cNvPr id="0" name="Object 1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ltGray">
                      <a:xfrm>
                        <a:off x="0" y="0"/>
                        <a:ext cx="9144000" cy="1062038"/>
                      </a:xfrm>
                      <a:prstGeom prst="rect">
                        <a:avLst/>
                      </a:prstGeom>
                      <a:noFill/>
                      <a:ln>
                        <a:noFill/>
                      </a:ln>
                      <a:effectLst/>
                      <a:extLst>
                        <a:ext uri="{909E8E84-426E-40DD-AFC4-6F175D3DCCD1}">
                          <a14:hiddenFill xmlns:a14="http://schemas.microsoft.com/office/drawing/2010/main">
                            <a:solidFill>
                              <a:srgbClr val="FDC529"/>
                            </a:solidFill>
                          </a14:hiddenFill>
                        </a:ext>
                        <a:ext uri="{91240B29-F687-4F45-9708-019B960494DF}">
                          <a14:hiddenLine xmlns:a14="http://schemas.microsoft.com/office/drawing/2010/main" w="9525">
                            <a:solidFill>
                              <a:srgbClr val="B1E2FB"/>
                            </a:solidFill>
                            <a:miter lim="800000"/>
                            <a:headEnd/>
                            <a:tailEnd/>
                          </a14:hiddenLine>
                        </a:ext>
                        <a:ext uri="{AF507438-7753-43E0-B8FC-AC1667EBCBE1}">
                          <a14:hiddenEffects xmlns:a14="http://schemas.microsoft.com/office/drawing/2010/main">
                            <a:effectLst>
                              <a:outerShdw dist="35921" dir="2700000" algn="ctr" rotWithShape="0">
                                <a:srgbClr val="0066CC"/>
                              </a:outerShdw>
                            </a:effectLst>
                          </a14:hiddenEffects>
                        </a:ext>
                      </a:extLst>
                    </p:spPr>
                  </p:pic>
                </p:oleObj>
              </mc:Fallback>
            </mc:AlternateContent>
          </a:graphicData>
        </a:graphic>
      </p:graphicFrame>
      <p:sp>
        <p:nvSpPr>
          <p:cNvPr id="13316" name="Rectangle 3"/>
          <p:cNvSpPr>
            <a:spLocks noGrp="1" noChangeArrowheads="1"/>
          </p:cNvSpPr>
          <p:nvPr>
            <p:ph type="body" idx="1"/>
          </p:nvPr>
        </p:nvSpPr>
        <p:spPr bwMode="auto">
          <a:xfrm>
            <a:off x="457200" y="1371600"/>
            <a:ext cx="8229600" cy="524827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altLang="ko-KR"/>
          </a:p>
        </p:txBody>
      </p:sp>
      <p:sp>
        <p:nvSpPr>
          <p:cNvPr id="2" name="Rectangle 4"/>
          <p:cNvSpPr>
            <a:spLocks noGrp="1" noChangeArrowheads="1"/>
          </p:cNvSpPr>
          <p:nvPr>
            <p:ph type="dt" sz="half" idx="2"/>
          </p:nvPr>
        </p:nvSpPr>
        <p:spPr bwMode="auto">
          <a:xfrm>
            <a:off x="457200" y="6400800"/>
            <a:ext cx="21336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latinLnBrk="0">
              <a:defRPr kumimoji="0" sz="1400" b="0">
                <a:latin typeface="+mj-lt"/>
                <a:ea typeface="굴림" charset="-127"/>
              </a:defRPr>
            </a:lvl1pPr>
          </a:lstStyle>
          <a:p>
            <a:pPr>
              <a:defRPr/>
            </a:pPr>
            <a:endParaRPr lang="en-US" altLang="ko-KR"/>
          </a:p>
        </p:txBody>
      </p:sp>
      <p:sp>
        <p:nvSpPr>
          <p:cNvPr id="1029" name="Rectangle 5"/>
          <p:cNvSpPr>
            <a:spLocks noGrp="1" noChangeArrowheads="1"/>
          </p:cNvSpPr>
          <p:nvPr>
            <p:ph type="ftr" sz="quarter" idx="3"/>
          </p:nvPr>
        </p:nvSpPr>
        <p:spPr bwMode="auto">
          <a:xfrm>
            <a:off x="3124200" y="6400800"/>
            <a:ext cx="28956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latinLnBrk="0">
              <a:defRPr kumimoji="0" sz="1400" b="0">
                <a:latin typeface="+mj-lt"/>
                <a:ea typeface="굴림" charset="-127"/>
              </a:defRPr>
            </a:lvl1pPr>
          </a:lstStyle>
          <a:p>
            <a:pPr>
              <a:defRPr/>
            </a:pPr>
            <a:endParaRPr lang="en-US" altLang="ko-KR"/>
          </a:p>
        </p:txBody>
      </p:sp>
      <p:sp>
        <p:nvSpPr>
          <p:cNvPr id="1030" name="Rectangle 6"/>
          <p:cNvSpPr>
            <a:spLocks noGrp="1" noChangeArrowheads="1"/>
          </p:cNvSpPr>
          <p:nvPr>
            <p:ph type="sldNum" sz="quarter" idx="4"/>
          </p:nvPr>
        </p:nvSpPr>
        <p:spPr bwMode="auto">
          <a:xfrm>
            <a:off x="6553200" y="6400800"/>
            <a:ext cx="21336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latinLnBrk="0">
              <a:defRPr kumimoji="0" sz="1400" b="0">
                <a:latin typeface="+mj-lt"/>
                <a:ea typeface="굴림" charset="-127"/>
              </a:defRPr>
            </a:lvl1pPr>
          </a:lstStyle>
          <a:p>
            <a:pPr>
              <a:defRPr/>
            </a:pPr>
            <a:fld id="{2F609E19-2604-492B-B8BC-5AFF768B4CA3}" type="slidenum">
              <a:rPr lang="en-US" altLang="ko-KR"/>
              <a:pPr>
                <a:defRPr/>
              </a:pPr>
              <a:t>‹#›</a:t>
            </a:fld>
            <a:endParaRPr lang="en-US" altLang="ko-KR"/>
          </a:p>
        </p:txBody>
      </p:sp>
      <p:sp>
        <p:nvSpPr>
          <p:cNvPr id="13320" name="Rectangle 2"/>
          <p:cNvSpPr>
            <a:spLocks noGrp="1" noChangeArrowheads="1"/>
          </p:cNvSpPr>
          <p:nvPr>
            <p:ph type="title"/>
          </p:nvPr>
        </p:nvSpPr>
        <p:spPr bwMode="auto">
          <a:xfrm>
            <a:off x="990600" y="319088"/>
            <a:ext cx="7543800" cy="563562"/>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ko-KR" altLang="en-US"/>
              <a:t>마스터 제목 스타일 편집</a:t>
            </a:r>
            <a:endParaRPr lang="en-US" altLang="ko-KR"/>
          </a:p>
        </p:txBody>
      </p:sp>
      <p:sp>
        <p:nvSpPr>
          <p:cNvPr id="1040" name="Rectangle 16"/>
          <p:cNvSpPr>
            <a:spLocks noChangeArrowheads="1"/>
          </p:cNvSpPr>
          <p:nvPr/>
        </p:nvSpPr>
        <p:spPr bwMode="gray">
          <a:xfrm>
            <a:off x="0" y="1066800"/>
            <a:ext cx="9144000" cy="73025"/>
          </a:xfrm>
          <a:prstGeom prst="rect">
            <a:avLst/>
          </a:prstGeom>
          <a:gradFill rotWithShape="1">
            <a:gsLst>
              <a:gs pos="0">
                <a:schemeClr val="bg1"/>
              </a:gs>
              <a:gs pos="50000">
                <a:schemeClr val="accent1"/>
              </a:gs>
              <a:gs pos="100000">
                <a:schemeClr val="bg1"/>
              </a:gs>
            </a:gsLst>
            <a:lin ang="0" scaled="1"/>
          </a:gradFill>
          <a:ln w="9525">
            <a:noFill/>
            <a:miter lim="800000"/>
            <a:headEnd/>
            <a:tailEnd/>
          </a:ln>
          <a:effectLst/>
        </p:spPr>
        <p:txBody>
          <a:bodyPr wrap="none" anchor="ctr"/>
          <a:lstStyle/>
          <a:p>
            <a:pPr algn="ctr">
              <a:defRPr/>
            </a:pPr>
            <a:endParaRPr lang="ko-KR" altLang="en-US" sz="1800" b="0">
              <a:latin typeface="Arial" pitchFamily="34" charset="0"/>
              <a:ea typeface="굴림" pitchFamily="50" charset="-127"/>
            </a:endParaRPr>
          </a:p>
        </p:txBody>
      </p:sp>
    </p:spTree>
  </p:cSld>
  <p:clrMap bg1="dk2" tx1="lt1" bg2="dk1" tx2="lt2" accent1="accent1" accent2="accent2" accent3="accent3" accent4="accent4" accent5="accent5" accent6="accent6" hlink="hlink" folHlink="folHlink"/>
  <p:sldLayoutIdLst>
    <p:sldLayoutId id="2147483996" r:id="rId1"/>
    <p:sldLayoutId id="2147483997" r:id="rId2"/>
    <p:sldLayoutId id="2147483998" r:id="rId3"/>
    <p:sldLayoutId id="2147483999" r:id="rId4"/>
    <p:sldLayoutId id="2147484000" r:id="rId5"/>
    <p:sldLayoutId id="2147484001" r:id="rId6"/>
    <p:sldLayoutId id="2147484002" r:id="rId7"/>
    <p:sldLayoutId id="2147484003" r:id="rId8"/>
    <p:sldLayoutId id="2147484004" r:id="rId9"/>
    <p:sldLayoutId id="2147484005" r:id="rId10"/>
    <p:sldLayoutId id="2147484006" r:id="rId11"/>
  </p:sldLayoutIdLst>
  <p:transition spd="med"/>
  <p:txStyles>
    <p:titleStyle>
      <a:lvl1pPr algn="r" rtl="0" eaLnBrk="0" fontAlgn="base" latinLnBrk="1" hangingPunct="0">
        <a:spcBef>
          <a:spcPct val="0"/>
        </a:spcBef>
        <a:spcAft>
          <a:spcPct val="0"/>
        </a:spcAft>
        <a:defRPr sz="3600">
          <a:solidFill>
            <a:schemeClr val="tx2"/>
          </a:solidFill>
          <a:latin typeface="+mj-lt"/>
          <a:ea typeface="+mj-ea"/>
          <a:cs typeface="+mj-cs"/>
        </a:defRPr>
      </a:lvl1pPr>
      <a:lvl2pPr algn="r" rtl="0" eaLnBrk="0" fontAlgn="base" latinLnBrk="1" hangingPunct="0">
        <a:spcBef>
          <a:spcPct val="0"/>
        </a:spcBef>
        <a:spcAft>
          <a:spcPct val="0"/>
        </a:spcAft>
        <a:defRPr sz="3600">
          <a:solidFill>
            <a:schemeClr val="tx2"/>
          </a:solidFill>
          <a:latin typeface="Arial" pitchFamily="34" charset="0"/>
        </a:defRPr>
      </a:lvl2pPr>
      <a:lvl3pPr algn="r" rtl="0" eaLnBrk="0" fontAlgn="base" latinLnBrk="1" hangingPunct="0">
        <a:spcBef>
          <a:spcPct val="0"/>
        </a:spcBef>
        <a:spcAft>
          <a:spcPct val="0"/>
        </a:spcAft>
        <a:defRPr sz="3600">
          <a:solidFill>
            <a:schemeClr val="tx2"/>
          </a:solidFill>
          <a:latin typeface="Arial" pitchFamily="34" charset="0"/>
        </a:defRPr>
      </a:lvl3pPr>
      <a:lvl4pPr algn="r" rtl="0" eaLnBrk="0" fontAlgn="base" latinLnBrk="1" hangingPunct="0">
        <a:spcBef>
          <a:spcPct val="0"/>
        </a:spcBef>
        <a:spcAft>
          <a:spcPct val="0"/>
        </a:spcAft>
        <a:defRPr sz="3600">
          <a:solidFill>
            <a:schemeClr val="tx2"/>
          </a:solidFill>
          <a:latin typeface="Arial" pitchFamily="34" charset="0"/>
        </a:defRPr>
      </a:lvl4pPr>
      <a:lvl5pPr algn="r" rtl="0" eaLnBrk="0" fontAlgn="base" latinLnBrk="1" hangingPunct="0">
        <a:spcBef>
          <a:spcPct val="0"/>
        </a:spcBef>
        <a:spcAft>
          <a:spcPct val="0"/>
        </a:spcAft>
        <a:defRPr sz="3600">
          <a:solidFill>
            <a:schemeClr val="tx2"/>
          </a:solidFill>
          <a:latin typeface="Arial" pitchFamily="34" charset="0"/>
        </a:defRPr>
      </a:lvl5pPr>
      <a:lvl6pPr marL="457200" algn="r" rtl="0" eaLnBrk="0" fontAlgn="base" latinLnBrk="1" hangingPunct="0">
        <a:spcBef>
          <a:spcPct val="0"/>
        </a:spcBef>
        <a:spcAft>
          <a:spcPct val="0"/>
        </a:spcAft>
        <a:defRPr sz="3600">
          <a:solidFill>
            <a:schemeClr val="tx2"/>
          </a:solidFill>
          <a:latin typeface="Arial" pitchFamily="34" charset="0"/>
        </a:defRPr>
      </a:lvl6pPr>
      <a:lvl7pPr marL="914400" algn="r" rtl="0" eaLnBrk="0" fontAlgn="base" latinLnBrk="1" hangingPunct="0">
        <a:spcBef>
          <a:spcPct val="0"/>
        </a:spcBef>
        <a:spcAft>
          <a:spcPct val="0"/>
        </a:spcAft>
        <a:defRPr sz="3600">
          <a:solidFill>
            <a:schemeClr val="tx2"/>
          </a:solidFill>
          <a:latin typeface="Arial" pitchFamily="34" charset="0"/>
        </a:defRPr>
      </a:lvl7pPr>
      <a:lvl8pPr marL="1371600" algn="r" rtl="0" eaLnBrk="0" fontAlgn="base" latinLnBrk="1" hangingPunct="0">
        <a:spcBef>
          <a:spcPct val="0"/>
        </a:spcBef>
        <a:spcAft>
          <a:spcPct val="0"/>
        </a:spcAft>
        <a:defRPr sz="3600">
          <a:solidFill>
            <a:schemeClr val="tx2"/>
          </a:solidFill>
          <a:latin typeface="Arial" pitchFamily="34" charset="0"/>
        </a:defRPr>
      </a:lvl8pPr>
      <a:lvl9pPr marL="1828800" algn="r" rtl="0" eaLnBrk="0" fontAlgn="base" latinLnBrk="1" hangingPunct="0">
        <a:spcBef>
          <a:spcPct val="0"/>
        </a:spcBef>
        <a:spcAft>
          <a:spcPct val="0"/>
        </a:spcAft>
        <a:defRPr sz="3600">
          <a:solidFill>
            <a:schemeClr val="tx2"/>
          </a:solidFill>
          <a:latin typeface="Arial" pitchFamily="34" charset="0"/>
        </a:defRPr>
      </a:lvl9pPr>
    </p:titleStyle>
    <p:bodyStyle>
      <a:lvl1pPr marL="342900" indent="-342900" algn="l" rtl="0" eaLnBrk="0" fontAlgn="base" latinLnBrk="1" hangingPunct="0">
        <a:spcBef>
          <a:spcPct val="20000"/>
        </a:spcBef>
        <a:spcAft>
          <a:spcPct val="0"/>
        </a:spcAft>
        <a:buClr>
          <a:schemeClr val="hlink"/>
        </a:buClr>
        <a:buFont typeface="Wingdings" pitchFamily="2" charset="2"/>
        <a:buChar char="v"/>
        <a:defRPr sz="2800" b="1">
          <a:solidFill>
            <a:schemeClr val="tx1"/>
          </a:solidFill>
          <a:latin typeface="+mn-lt"/>
          <a:ea typeface="+mn-ea"/>
          <a:cs typeface="+mn-cs"/>
        </a:defRPr>
      </a:lvl1pPr>
      <a:lvl2pPr marL="742950" indent="-285750" algn="l" rtl="0" eaLnBrk="0" fontAlgn="base" latinLnBrk="1" hangingPunct="0">
        <a:spcBef>
          <a:spcPct val="20000"/>
        </a:spcBef>
        <a:spcAft>
          <a:spcPct val="0"/>
        </a:spcAft>
        <a:buClr>
          <a:schemeClr val="accent1"/>
        </a:buClr>
        <a:buFont typeface="Wingdings" pitchFamily="2" charset="2"/>
        <a:buChar char="§"/>
        <a:defRPr sz="2800">
          <a:solidFill>
            <a:schemeClr val="tx2"/>
          </a:solidFill>
          <a:latin typeface="+mj-lt"/>
        </a:defRPr>
      </a:lvl2pPr>
      <a:lvl3pPr marL="1143000" indent="-228600" algn="l" rtl="0" eaLnBrk="0" fontAlgn="base" latinLnBrk="1" hangingPunct="0">
        <a:spcBef>
          <a:spcPct val="20000"/>
        </a:spcBef>
        <a:spcAft>
          <a:spcPct val="0"/>
        </a:spcAft>
        <a:buClr>
          <a:schemeClr val="tx1"/>
        </a:buClr>
        <a:buChar char="•"/>
        <a:defRPr sz="2400">
          <a:solidFill>
            <a:schemeClr val="tx2"/>
          </a:solidFill>
          <a:latin typeface="+mj-lt"/>
        </a:defRPr>
      </a:lvl3pPr>
      <a:lvl4pPr marL="1600200" indent="-228600" algn="l" rtl="0" eaLnBrk="0" fontAlgn="base" latinLnBrk="1" hangingPunct="0">
        <a:spcBef>
          <a:spcPct val="20000"/>
        </a:spcBef>
        <a:spcAft>
          <a:spcPct val="0"/>
        </a:spcAft>
        <a:buChar char="–"/>
        <a:defRPr sz="2000">
          <a:solidFill>
            <a:schemeClr val="tx2"/>
          </a:solidFill>
          <a:latin typeface="+mj-lt"/>
        </a:defRPr>
      </a:lvl4pPr>
      <a:lvl5pPr marL="2057400" indent="-228600" algn="l" rtl="0" eaLnBrk="0" fontAlgn="base" latinLnBrk="1" hangingPunct="0">
        <a:spcBef>
          <a:spcPct val="20000"/>
        </a:spcBef>
        <a:spcAft>
          <a:spcPct val="0"/>
        </a:spcAft>
        <a:buChar char="»"/>
        <a:defRPr sz="2000">
          <a:solidFill>
            <a:schemeClr val="tx2"/>
          </a:solidFill>
          <a:latin typeface="+mj-lt"/>
        </a:defRPr>
      </a:lvl5pPr>
      <a:lvl6pPr marL="2514600" indent="-228600" algn="l" rtl="0" eaLnBrk="0" fontAlgn="base" latinLnBrk="1" hangingPunct="0">
        <a:spcBef>
          <a:spcPct val="20000"/>
        </a:spcBef>
        <a:spcAft>
          <a:spcPct val="0"/>
        </a:spcAft>
        <a:buChar char="»"/>
        <a:defRPr sz="2000">
          <a:solidFill>
            <a:schemeClr val="tx2"/>
          </a:solidFill>
          <a:latin typeface="+mj-lt"/>
        </a:defRPr>
      </a:lvl6pPr>
      <a:lvl7pPr marL="2971800" indent="-228600" algn="l" rtl="0" eaLnBrk="0" fontAlgn="base" latinLnBrk="1" hangingPunct="0">
        <a:spcBef>
          <a:spcPct val="20000"/>
        </a:spcBef>
        <a:spcAft>
          <a:spcPct val="0"/>
        </a:spcAft>
        <a:buChar char="»"/>
        <a:defRPr sz="2000">
          <a:solidFill>
            <a:schemeClr val="tx2"/>
          </a:solidFill>
          <a:latin typeface="+mj-lt"/>
        </a:defRPr>
      </a:lvl7pPr>
      <a:lvl8pPr marL="3429000" indent="-228600" algn="l" rtl="0" eaLnBrk="0" fontAlgn="base" latinLnBrk="1" hangingPunct="0">
        <a:spcBef>
          <a:spcPct val="20000"/>
        </a:spcBef>
        <a:spcAft>
          <a:spcPct val="0"/>
        </a:spcAft>
        <a:buChar char="»"/>
        <a:defRPr sz="2000">
          <a:solidFill>
            <a:schemeClr val="tx2"/>
          </a:solidFill>
          <a:latin typeface="+mj-lt"/>
        </a:defRPr>
      </a:lvl8pPr>
      <a:lvl9pPr marL="3886200" indent="-228600" algn="l" rtl="0" eaLnBrk="0" fontAlgn="base" latinLnBrk="1" hangingPunct="0">
        <a:spcBef>
          <a:spcPct val="20000"/>
        </a:spcBef>
        <a:spcAft>
          <a:spcPct val="0"/>
        </a:spcAft>
        <a:buChar char="»"/>
        <a:defRPr sz="2000">
          <a:solidFill>
            <a:schemeClr val="tx2"/>
          </a:solidFill>
          <a:latin typeface="+mj-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oleObject" Target="../embeddings/oleObject21.bin"/><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oleObject" Target="../embeddings/oleObject22.bin"/><Relationship Id="rId1" Type="http://schemas.openxmlformats.org/officeDocument/2006/relationships/slideLayout" Target="../slideLayouts/slideLayout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7.xml"/></Relationships>
</file>

<file path=ppt/slides/_rels/slide2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17.xml"/><Relationship Id="rId4" Type="http://schemas.openxmlformats.org/officeDocument/2006/relationships/image" Target="../media/image6.jpeg"/></Relationships>
</file>

<file path=ppt/slides/_rels/slide2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7.jpeg"/><Relationship Id="rId1" Type="http://schemas.openxmlformats.org/officeDocument/2006/relationships/slideLayout" Target="../slideLayouts/slideLayout17.xml"/></Relationships>
</file>

<file path=ppt/slides/_rels/slide3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oleObject" Target="../embeddings/oleObject23.bin"/><Relationship Id="rId1" Type="http://schemas.openxmlformats.org/officeDocument/2006/relationships/slideLayout" Target="../slideLayouts/slideLayout1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oleObject" Target="../embeddings/oleObject24.bin"/><Relationship Id="rId1" Type="http://schemas.openxmlformats.org/officeDocument/2006/relationships/slideLayout" Target="../slideLayouts/slideLayout1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ctrTitle" idx="4294967295"/>
          </p:nvPr>
        </p:nvSpPr>
        <p:spPr>
          <a:xfrm>
            <a:off x="0" y="152400"/>
            <a:ext cx="9144000" cy="2133600"/>
          </a:xfrm>
          <a:solidFill>
            <a:srgbClr val="003296"/>
          </a:solidFill>
          <a:effectLst>
            <a:outerShdw dist="28398" dir="3806097" algn="ctr" rotWithShape="0">
              <a:srgbClr val="000066">
                <a:alpha val="50000"/>
              </a:srgbClr>
            </a:outerShdw>
          </a:effectLst>
        </p:spPr>
        <p:txBody>
          <a:bodyPr/>
          <a:lstStyle/>
          <a:p>
            <a:pPr algn="ctr" eaLnBrk="1" hangingPunct="1">
              <a:defRPr/>
            </a:pPr>
            <a:r>
              <a:rPr lang="en-US" altLang="ko-KR" b="1" dirty="0">
                <a:solidFill>
                  <a:schemeClr val="accent1"/>
                </a:solidFill>
                <a:latin typeface="Times New Roman" pitchFamily="18" charset="0"/>
                <a:ea typeface="굴림" pitchFamily="50" charset="-127"/>
              </a:rPr>
              <a:t>CROSS-BORDER TRADE ENVIRONMENT</a:t>
            </a:r>
          </a:p>
        </p:txBody>
      </p:sp>
      <p:grpSp>
        <p:nvGrpSpPr>
          <p:cNvPr id="57347" name="Group 3"/>
          <p:cNvGrpSpPr>
            <a:grpSpLocks/>
          </p:cNvGrpSpPr>
          <p:nvPr/>
        </p:nvGrpSpPr>
        <p:grpSpPr bwMode="auto">
          <a:xfrm>
            <a:off x="0" y="2924175"/>
            <a:ext cx="9144000" cy="123825"/>
            <a:chOff x="432" y="912"/>
            <a:chExt cx="5808" cy="48"/>
          </a:xfrm>
        </p:grpSpPr>
        <p:sp>
          <p:nvSpPr>
            <p:cNvPr id="57350" name="Line 4"/>
            <p:cNvSpPr>
              <a:spLocks noChangeShapeType="1"/>
            </p:cNvSpPr>
            <p:nvPr/>
          </p:nvSpPr>
          <p:spPr bwMode="auto">
            <a:xfrm>
              <a:off x="432" y="912"/>
              <a:ext cx="5808" cy="0"/>
            </a:xfrm>
            <a:prstGeom prst="line">
              <a:avLst/>
            </a:prstGeom>
            <a:noFill/>
            <a:ln w="76200">
              <a:solidFill>
                <a:schemeClr val="bg2"/>
              </a:solidFill>
              <a:round/>
              <a:headEnd/>
              <a:tailEnd/>
            </a:ln>
          </p:spPr>
          <p:txBody>
            <a:bodyPr wrap="none" anchor="ctr"/>
            <a:lstStyle/>
            <a:p>
              <a:endParaRPr lang="ko-KR" altLang="en-US"/>
            </a:p>
          </p:txBody>
        </p:sp>
        <p:sp>
          <p:nvSpPr>
            <p:cNvPr id="57351" name="Line 5"/>
            <p:cNvSpPr>
              <a:spLocks noChangeShapeType="1"/>
            </p:cNvSpPr>
            <p:nvPr/>
          </p:nvSpPr>
          <p:spPr bwMode="auto">
            <a:xfrm>
              <a:off x="432" y="960"/>
              <a:ext cx="5808" cy="0"/>
            </a:xfrm>
            <a:prstGeom prst="line">
              <a:avLst/>
            </a:prstGeom>
            <a:noFill/>
            <a:ln w="3175">
              <a:solidFill>
                <a:schemeClr val="bg2"/>
              </a:solidFill>
              <a:round/>
              <a:headEnd/>
              <a:tailEnd/>
            </a:ln>
          </p:spPr>
          <p:txBody>
            <a:bodyPr wrap="none" anchor="ctr"/>
            <a:lstStyle/>
            <a:p>
              <a:endParaRPr lang="ko-KR" altLang="en-US"/>
            </a:p>
          </p:txBody>
        </p:sp>
      </p:grpSp>
      <p:sp>
        <p:nvSpPr>
          <p:cNvPr id="57348" name="Text Box 9"/>
          <p:cNvSpPr txBox="1">
            <a:spLocks noChangeArrowheads="1"/>
          </p:cNvSpPr>
          <p:nvPr/>
        </p:nvSpPr>
        <p:spPr bwMode="auto">
          <a:xfrm>
            <a:off x="5364088" y="4717013"/>
            <a:ext cx="2929392" cy="800219"/>
          </a:xfrm>
          <a:prstGeom prst="rect">
            <a:avLst/>
          </a:prstGeom>
          <a:noFill/>
          <a:ln w="12700">
            <a:noFill/>
            <a:miter lim="800000"/>
            <a:headEnd/>
            <a:tailEnd/>
          </a:ln>
        </p:spPr>
        <p:txBody>
          <a:bodyPr wrap="none" lIns="0" tIns="0" rIns="0" bIns="0">
            <a:spAutoFit/>
          </a:bodyPr>
          <a:lstStyle/>
          <a:p>
            <a:pPr algn="r"/>
            <a:r>
              <a:rPr lang="en-US" altLang="ko-KR" sz="2800" dirty="0">
                <a:solidFill>
                  <a:srgbClr val="99FF33"/>
                </a:solidFill>
                <a:ea typeface="굴림" pitchFamily="50" charset="-127"/>
              </a:rPr>
              <a:t>Dr. </a:t>
            </a:r>
            <a:r>
              <a:rPr lang="en-US" altLang="ko-KR" sz="2800" dirty="0" err="1">
                <a:solidFill>
                  <a:srgbClr val="99FF33"/>
                </a:solidFill>
                <a:ea typeface="굴림" pitchFamily="50" charset="-127"/>
              </a:rPr>
              <a:t>Kwangsoo</a:t>
            </a:r>
            <a:r>
              <a:rPr lang="en-US" altLang="ko-KR" sz="2800" dirty="0">
                <a:solidFill>
                  <a:srgbClr val="99FF33"/>
                </a:solidFill>
                <a:ea typeface="굴림" pitchFamily="50" charset="-127"/>
              </a:rPr>
              <a:t> Kim</a:t>
            </a:r>
          </a:p>
          <a:p>
            <a:pPr algn="r"/>
            <a:r>
              <a:rPr lang="en-US" altLang="ko-KR" dirty="0" err="1">
                <a:solidFill>
                  <a:srgbClr val="99FF33"/>
                </a:solidFill>
                <a:ea typeface="굴림" pitchFamily="50" charset="-127"/>
              </a:rPr>
              <a:t>Konkuk</a:t>
            </a:r>
            <a:r>
              <a:rPr lang="en-US" altLang="ko-KR" dirty="0">
                <a:solidFill>
                  <a:srgbClr val="99FF33"/>
                </a:solidFill>
                <a:ea typeface="굴림" pitchFamily="50" charset="-127"/>
              </a:rPr>
              <a:t> University</a:t>
            </a:r>
          </a:p>
        </p:txBody>
      </p:sp>
      <p:sp>
        <p:nvSpPr>
          <p:cNvPr id="57349" name="Rectangle 8"/>
          <p:cNvSpPr>
            <a:spLocks noChangeArrowheads="1"/>
          </p:cNvSpPr>
          <p:nvPr/>
        </p:nvSpPr>
        <p:spPr bwMode="auto">
          <a:xfrm>
            <a:off x="5214938" y="4384675"/>
            <a:ext cx="3240087" cy="1582738"/>
          </a:xfrm>
          <a:prstGeom prst="rect">
            <a:avLst/>
          </a:prstGeom>
          <a:noFill/>
          <a:ln w="38100">
            <a:solidFill>
              <a:schemeClr val="bg2"/>
            </a:solidFill>
            <a:miter lim="800000"/>
            <a:headEnd/>
            <a:tailEnd/>
          </a:ln>
        </p:spPr>
        <p:txBody>
          <a:bodyPr wrap="none" anchor="ctr"/>
          <a:lstStyle/>
          <a:p>
            <a:pPr latinLnBrk="1"/>
            <a:endParaRPr kumimoji="1" lang="ko-KR" altLang="en-US" sz="1800" b="0">
              <a:solidFill>
                <a:schemeClr val="bg1"/>
              </a:solidFill>
              <a:latin typeface="Franklin Gothic Heavy" pitchFamily="34" charset="0"/>
              <a:ea typeface="굴림" pitchFamily="50" charset="-127"/>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ext Box 23"/>
          <p:cNvSpPr txBox="1">
            <a:spLocks noChangeArrowheads="1"/>
          </p:cNvSpPr>
          <p:nvPr/>
        </p:nvSpPr>
        <p:spPr bwMode="auto">
          <a:xfrm>
            <a:off x="3059113" y="260350"/>
            <a:ext cx="2789237" cy="641350"/>
          </a:xfrm>
          <a:prstGeom prst="rect">
            <a:avLst/>
          </a:prstGeom>
          <a:noFill/>
          <a:ln w="9525">
            <a:noFill/>
            <a:miter lim="800000"/>
            <a:headEnd/>
            <a:tailEnd/>
          </a:ln>
          <a:effectLst>
            <a:outerShdw dist="17961" dir="2700000" algn="ctr" rotWithShape="0">
              <a:schemeClr val="tx2"/>
            </a:outerShdw>
          </a:effectLst>
        </p:spPr>
        <p:txBody>
          <a:bodyPr>
            <a:spAutoFit/>
          </a:bodyPr>
          <a:lstStyle/>
          <a:p>
            <a:pPr algn="ctr" latinLnBrk="0">
              <a:defRPr/>
            </a:pPr>
            <a:r>
              <a:rPr kumimoji="0" lang="en-US" altLang="ko-KR" sz="3600" b="1" dirty="0">
                <a:solidFill>
                  <a:srgbClr val="FFCC00"/>
                </a:solidFill>
                <a:effectLst>
                  <a:outerShdw blurRad="38100" dist="38100" dir="2700000" algn="tl">
                    <a:srgbClr val="000000"/>
                  </a:outerShdw>
                </a:effectLst>
                <a:ea typeface="HY헤드라인M" pitchFamily="18" charset="-127"/>
                <a:cs typeface="Times New Roman" pitchFamily="18" charset="0"/>
              </a:rPr>
              <a:t>AGENDA</a:t>
            </a:r>
            <a:endParaRPr kumimoji="0" lang="ko-KR" altLang="en-US" sz="3600" b="1" dirty="0">
              <a:solidFill>
                <a:srgbClr val="FFCC00"/>
              </a:solidFill>
              <a:effectLst>
                <a:outerShdw blurRad="38100" dist="38100" dir="2700000" algn="tl">
                  <a:srgbClr val="000000"/>
                </a:outerShdw>
              </a:effectLst>
              <a:ea typeface="HY헤드라인M" pitchFamily="18" charset="-127"/>
              <a:cs typeface="Times New Roman" pitchFamily="18" charset="0"/>
            </a:endParaRPr>
          </a:p>
        </p:txBody>
      </p:sp>
      <p:grpSp>
        <p:nvGrpSpPr>
          <p:cNvPr id="25" name="Group 24"/>
          <p:cNvGrpSpPr/>
          <p:nvPr/>
        </p:nvGrpSpPr>
        <p:grpSpPr>
          <a:xfrm>
            <a:off x="285750" y="1500188"/>
            <a:ext cx="8572500" cy="4809132"/>
            <a:chOff x="285750" y="1500188"/>
            <a:chExt cx="8572500" cy="4071937"/>
          </a:xfrm>
        </p:grpSpPr>
        <p:grpSp>
          <p:nvGrpSpPr>
            <p:cNvPr id="2" name="Group 18"/>
            <p:cNvGrpSpPr>
              <a:grpSpLocks/>
            </p:cNvGrpSpPr>
            <p:nvPr/>
          </p:nvGrpSpPr>
          <p:grpSpPr bwMode="auto">
            <a:xfrm>
              <a:off x="285750" y="1500188"/>
              <a:ext cx="8572500" cy="4071937"/>
              <a:chOff x="285750" y="1500188"/>
              <a:chExt cx="8572500" cy="3929062"/>
            </a:xfrm>
          </p:grpSpPr>
          <p:grpSp>
            <p:nvGrpSpPr>
              <p:cNvPr id="3" name="Group 173"/>
              <p:cNvGrpSpPr>
                <a:grpSpLocks/>
              </p:cNvGrpSpPr>
              <p:nvPr/>
            </p:nvGrpSpPr>
            <p:grpSpPr bwMode="auto">
              <a:xfrm>
                <a:off x="285750" y="1500188"/>
                <a:ext cx="8572500" cy="842962"/>
                <a:chOff x="1248" y="1350"/>
                <a:chExt cx="3060" cy="348"/>
              </a:xfrm>
            </p:grpSpPr>
            <p:sp>
              <p:nvSpPr>
                <p:cNvPr id="15380" name="AutoShape 95"/>
                <p:cNvSpPr>
                  <a:spLocks noChangeArrowheads="1"/>
                </p:cNvSpPr>
                <p:nvPr/>
              </p:nvSpPr>
              <p:spPr bwMode="gray">
                <a:xfrm>
                  <a:off x="1248" y="1350"/>
                  <a:ext cx="3060" cy="348"/>
                </a:xfrm>
                <a:prstGeom prst="roundRect">
                  <a:avLst>
                    <a:gd name="adj" fmla="val 50000"/>
                  </a:avLst>
                </a:prstGeom>
                <a:solidFill>
                  <a:schemeClr val="bg1"/>
                </a:solidFill>
                <a:ln w="9525" algn="ctr">
                  <a:noFill/>
                  <a:round/>
                  <a:headEnd/>
                  <a:tailEnd/>
                </a:ln>
              </p:spPr>
              <p:txBody>
                <a:bodyPr wrap="none" anchor="ctr"/>
                <a:lstStyle/>
                <a:p>
                  <a:pPr latinLnBrk="0"/>
                  <a:endParaRPr kumimoji="0" lang="ko-KR" altLang="en-US" sz="3200">
                    <a:latin typeface="Arial" pitchFamily="34" charset="0"/>
                  </a:endParaRPr>
                </a:p>
              </p:txBody>
            </p:sp>
            <p:sp>
              <p:nvSpPr>
                <p:cNvPr id="15381" name="AutoShape 94"/>
                <p:cNvSpPr>
                  <a:spLocks noChangeArrowheads="1"/>
                </p:cNvSpPr>
                <p:nvPr/>
              </p:nvSpPr>
              <p:spPr bwMode="gray">
                <a:xfrm>
                  <a:off x="1303" y="1380"/>
                  <a:ext cx="2969" cy="288"/>
                </a:xfrm>
                <a:prstGeom prst="roundRect">
                  <a:avLst>
                    <a:gd name="adj" fmla="val 50000"/>
                  </a:avLst>
                </a:prstGeom>
                <a:solidFill>
                  <a:schemeClr val="bg1">
                    <a:alpha val="50195"/>
                  </a:schemeClr>
                </a:solidFill>
                <a:ln w="9525" algn="ctr">
                  <a:noFill/>
                  <a:round/>
                  <a:headEnd/>
                  <a:tailEnd/>
                </a:ln>
              </p:spPr>
              <p:txBody>
                <a:bodyPr wrap="none" anchor="ctr"/>
                <a:lstStyle/>
                <a:p>
                  <a:pPr latinLnBrk="0"/>
                  <a:endParaRPr kumimoji="0" lang="ko-KR" altLang="en-US" sz="3200">
                    <a:latin typeface="Arial" pitchFamily="34" charset="0"/>
                  </a:endParaRPr>
                </a:p>
              </p:txBody>
            </p:sp>
            <p:sp>
              <p:nvSpPr>
                <p:cNvPr id="100" name="Text Box 42"/>
                <p:cNvSpPr txBox="1">
                  <a:spLocks noChangeArrowheads="1"/>
                </p:cNvSpPr>
                <p:nvPr/>
              </p:nvSpPr>
              <p:spPr bwMode="gray">
                <a:xfrm>
                  <a:off x="1358" y="1380"/>
                  <a:ext cx="2839" cy="233"/>
                </a:xfrm>
                <a:prstGeom prst="rect">
                  <a:avLst/>
                </a:prstGeom>
                <a:solidFill>
                  <a:schemeClr val="bg1"/>
                </a:solidFill>
                <a:ln w="9525" algn="ctr">
                  <a:noFill/>
                  <a:miter lim="800000"/>
                  <a:headEnd/>
                  <a:tailEnd/>
                </a:ln>
                <a:effectLst>
                  <a:outerShdw dist="35921" dir="2700000" algn="ctr" rotWithShape="0">
                    <a:schemeClr val="bg2">
                      <a:alpha val="50000"/>
                    </a:schemeClr>
                  </a:outerShdw>
                </a:effectLst>
              </p:spPr>
              <p:txBody>
                <a:bodyPr>
                  <a:spAutoFit/>
                </a:bodyPr>
                <a:lstStyle/>
                <a:p>
                  <a:pPr algn="ctr" latinLnBrk="0">
                    <a:defRPr/>
                  </a:pPr>
                  <a:endParaRPr kumimoji="0" lang="en-US" altLang="ko-KR" sz="3200" dirty="0">
                    <a:latin typeface="Arial" charset="0"/>
                    <a:ea typeface="HY견고딕" pitchFamily="18" charset="-127"/>
                    <a:cs typeface="Times New Roman" pitchFamily="18" charset="0"/>
                  </a:endParaRPr>
                </a:p>
              </p:txBody>
            </p:sp>
          </p:grpSp>
          <p:grpSp>
            <p:nvGrpSpPr>
              <p:cNvPr id="4" name="Group 174"/>
              <p:cNvGrpSpPr>
                <a:grpSpLocks/>
              </p:cNvGrpSpPr>
              <p:nvPr/>
            </p:nvGrpSpPr>
            <p:grpSpPr bwMode="auto">
              <a:xfrm>
                <a:off x="285750" y="2563813"/>
                <a:ext cx="8501063" cy="842962"/>
                <a:chOff x="1260" y="1794"/>
                <a:chExt cx="3060" cy="348"/>
              </a:xfrm>
            </p:grpSpPr>
            <p:sp>
              <p:nvSpPr>
                <p:cNvPr id="15377" name="AutoShape 109"/>
                <p:cNvSpPr>
                  <a:spLocks noChangeArrowheads="1"/>
                </p:cNvSpPr>
                <p:nvPr/>
              </p:nvSpPr>
              <p:spPr bwMode="gray">
                <a:xfrm>
                  <a:off x="1260" y="1794"/>
                  <a:ext cx="3060" cy="348"/>
                </a:xfrm>
                <a:prstGeom prst="roundRect">
                  <a:avLst>
                    <a:gd name="adj" fmla="val 50000"/>
                  </a:avLst>
                </a:prstGeom>
                <a:solidFill>
                  <a:schemeClr val="bg1"/>
                </a:solidFill>
                <a:ln w="9525" algn="ctr">
                  <a:noFill/>
                  <a:round/>
                  <a:headEnd/>
                  <a:tailEnd/>
                </a:ln>
              </p:spPr>
              <p:txBody>
                <a:bodyPr wrap="none" anchor="ctr"/>
                <a:lstStyle/>
                <a:p>
                  <a:pPr latinLnBrk="0"/>
                  <a:endParaRPr kumimoji="0" lang="ko-KR" altLang="en-US" sz="3200">
                    <a:latin typeface="Arial" pitchFamily="34" charset="0"/>
                  </a:endParaRPr>
                </a:p>
              </p:txBody>
            </p:sp>
            <p:sp>
              <p:nvSpPr>
                <p:cNvPr id="15378" name="AutoShape 110"/>
                <p:cNvSpPr>
                  <a:spLocks noChangeArrowheads="1"/>
                </p:cNvSpPr>
                <p:nvPr/>
              </p:nvSpPr>
              <p:spPr bwMode="gray">
                <a:xfrm>
                  <a:off x="1315" y="1824"/>
                  <a:ext cx="2969" cy="288"/>
                </a:xfrm>
                <a:prstGeom prst="roundRect">
                  <a:avLst>
                    <a:gd name="adj" fmla="val 50000"/>
                  </a:avLst>
                </a:prstGeom>
                <a:solidFill>
                  <a:schemeClr val="bg1">
                    <a:alpha val="50195"/>
                  </a:schemeClr>
                </a:solidFill>
                <a:ln w="9525" algn="ctr">
                  <a:noFill/>
                  <a:round/>
                  <a:headEnd/>
                  <a:tailEnd/>
                </a:ln>
              </p:spPr>
              <p:txBody>
                <a:bodyPr wrap="none" anchor="ctr"/>
                <a:lstStyle/>
                <a:p>
                  <a:pPr latinLnBrk="0"/>
                  <a:endParaRPr kumimoji="0" lang="ko-KR" altLang="en-US" sz="3200">
                    <a:latin typeface="Arial" pitchFamily="34" charset="0"/>
                  </a:endParaRPr>
                </a:p>
              </p:txBody>
            </p:sp>
            <p:sp>
              <p:nvSpPr>
                <p:cNvPr id="104" name="Text Box 111"/>
                <p:cNvSpPr txBox="1">
                  <a:spLocks noChangeArrowheads="1"/>
                </p:cNvSpPr>
                <p:nvPr/>
              </p:nvSpPr>
              <p:spPr bwMode="gray">
                <a:xfrm>
                  <a:off x="1311" y="1824"/>
                  <a:ext cx="2931" cy="197"/>
                </a:xfrm>
                <a:prstGeom prst="rect">
                  <a:avLst/>
                </a:prstGeom>
                <a:solidFill>
                  <a:schemeClr val="bg1"/>
                </a:solidFill>
                <a:ln w="9525" algn="ctr">
                  <a:noFill/>
                  <a:miter lim="800000"/>
                  <a:headEnd/>
                  <a:tailEnd/>
                </a:ln>
                <a:effectLst>
                  <a:outerShdw dist="35921" dir="2700000" algn="ctr" rotWithShape="0">
                    <a:schemeClr val="bg2">
                      <a:alpha val="50000"/>
                    </a:schemeClr>
                  </a:outerShdw>
                </a:effectLst>
              </p:spPr>
              <p:txBody>
                <a:bodyPr>
                  <a:spAutoFit/>
                </a:bodyPr>
                <a:lstStyle/>
                <a:p>
                  <a:pPr algn="ctr" latinLnBrk="0">
                    <a:defRPr/>
                  </a:pPr>
                  <a:r>
                    <a:rPr lang="en-US" altLang="ko-KR" sz="3200" dirty="0">
                      <a:ea typeface="HY견고딕" pitchFamily="18" charset="-127"/>
                      <a:cs typeface="Times New Roman" pitchFamily="18" charset="0"/>
                    </a:rPr>
                    <a:t>Trade Policy</a:t>
                  </a:r>
                  <a:endParaRPr kumimoji="0" lang="en-US" altLang="ko-KR" sz="3200" dirty="0">
                    <a:latin typeface="Arial" charset="0"/>
                    <a:ea typeface="HY견고딕" pitchFamily="18" charset="-127"/>
                    <a:cs typeface="Times New Roman" pitchFamily="18" charset="0"/>
                  </a:endParaRPr>
                </a:p>
              </p:txBody>
            </p:sp>
          </p:grpSp>
          <p:grpSp>
            <p:nvGrpSpPr>
              <p:cNvPr id="5" name="Group 175"/>
              <p:cNvGrpSpPr>
                <a:grpSpLocks/>
              </p:cNvGrpSpPr>
              <p:nvPr/>
            </p:nvGrpSpPr>
            <p:grpSpPr bwMode="auto">
              <a:xfrm>
                <a:off x="285750" y="3571875"/>
                <a:ext cx="8501063" cy="842963"/>
                <a:chOff x="1248" y="2244"/>
                <a:chExt cx="3060" cy="348"/>
              </a:xfrm>
            </p:grpSpPr>
            <p:sp>
              <p:nvSpPr>
                <p:cNvPr id="15374" name="AutoShape 125"/>
                <p:cNvSpPr>
                  <a:spLocks noChangeArrowheads="1"/>
                </p:cNvSpPr>
                <p:nvPr/>
              </p:nvSpPr>
              <p:spPr bwMode="gray">
                <a:xfrm>
                  <a:off x="1248" y="2244"/>
                  <a:ext cx="3060" cy="348"/>
                </a:xfrm>
                <a:prstGeom prst="roundRect">
                  <a:avLst>
                    <a:gd name="adj" fmla="val 50000"/>
                  </a:avLst>
                </a:prstGeom>
                <a:solidFill>
                  <a:schemeClr val="bg1"/>
                </a:solidFill>
                <a:ln w="9525" algn="ctr">
                  <a:noFill/>
                  <a:round/>
                  <a:headEnd/>
                  <a:tailEnd/>
                </a:ln>
              </p:spPr>
              <p:txBody>
                <a:bodyPr wrap="none" anchor="ctr"/>
                <a:lstStyle/>
                <a:p>
                  <a:pPr algn="ctr" latinLnBrk="0"/>
                  <a:endParaRPr kumimoji="0" lang="ko-KR" altLang="en-US" sz="3200">
                    <a:latin typeface="Arial" pitchFamily="34" charset="0"/>
                  </a:endParaRPr>
                </a:p>
              </p:txBody>
            </p:sp>
            <p:sp>
              <p:nvSpPr>
                <p:cNvPr id="15375" name="AutoShape 126"/>
                <p:cNvSpPr>
                  <a:spLocks noChangeArrowheads="1"/>
                </p:cNvSpPr>
                <p:nvPr/>
              </p:nvSpPr>
              <p:spPr bwMode="gray">
                <a:xfrm>
                  <a:off x="1303" y="2274"/>
                  <a:ext cx="2969" cy="288"/>
                </a:xfrm>
                <a:prstGeom prst="roundRect">
                  <a:avLst>
                    <a:gd name="adj" fmla="val 50000"/>
                  </a:avLst>
                </a:prstGeom>
                <a:solidFill>
                  <a:schemeClr val="bg1">
                    <a:alpha val="50195"/>
                  </a:schemeClr>
                </a:solidFill>
                <a:ln w="9525" algn="ctr">
                  <a:noFill/>
                  <a:round/>
                  <a:headEnd/>
                  <a:tailEnd/>
                </a:ln>
              </p:spPr>
              <p:txBody>
                <a:bodyPr wrap="none" anchor="ctr"/>
                <a:lstStyle/>
                <a:p>
                  <a:pPr algn="ctr" latinLnBrk="0"/>
                  <a:endParaRPr kumimoji="0" lang="ko-KR" altLang="en-US" sz="3200">
                    <a:latin typeface="Arial" pitchFamily="34" charset="0"/>
                  </a:endParaRPr>
                </a:p>
              </p:txBody>
            </p:sp>
            <p:sp>
              <p:nvSpPr>
                <p:cNvPr id="108" name="Text Box 127"/>
                <p:cNvSpPr txBox="1">
                  <a:spLocks noChangeArrowheads="1"/>
                </p:cNvSpPr>
                <p:nvPr/>
              </p:nvSpPr>
              <p:spPr bwMode="gray">
                <a:xfrm>
                  <a:off x="1325" y="2274"/>
                  <a:ext cx="2906" cy="197"/>
                </a:xfrm>
                <a:prstGeom prst="rect">
                  <a:avLst/>
                </a:prstGeom>
                <a:solidFill>
                  <a:schemeClr val="bg1"/>
                </a:solidFill>
                <a:ln w="9525" algn="ctr">
                  <a:noFill/>
                  <a:miter lim="800000"/>
                  <a:headEnd/>
                  <a:tailEnd/>
                </a:ln>
                <a:effectLst>
                  <a:outerShdw dist="35921" dir="2700000" algn="ctr" rotWithShape="0">
                    <a:schemeClr val="bg2">
                      <a:alpha val="50000"/>
                    </a:schemeClr>
                  </a:outerShdw>
                </a:effectLst>
              </p:spPr>
              <p:txBody>
                <a:bodyPr>
                  <a:spAutoFit/>
                </a:bodyPr>
                <a:lstStyle/>
                <a:p>
                  <a:pPr algn="ctr" latinLnBrk="0">
                    <a:defRPr/>
                  </a:pPr>
                  <a:r>
                    <a:rPr kumimoji="0" lang="en-US" altLang="ko-KR" sz="3200" dirty="0">
                      <a:latin typeface="Times New Roman" pitchFamily="18" charset="0"/>
                      <a:ea typeface="HY견고딕" pitchFamily="18" charset="-127"/>
                      <a:cs typeface="Times New Roman" pitchFamily="18" charset="0"/>
                    </a:rPr>
                    <a:t>World Trading System</a:t>
                  </a:r>
                </a:p>
              </p:txBody>
            </p:sp>
          </p:grpSp>
          <p:grpSp>
            <p:nvGrpSpPr>
              <p:cNvPr id="6" name="Group 176"/>
              <p:cNvGrpSpPr>
                <a:grpSpLocks/>
              </p:cNvGrpSpPr>
              <p:nvPr/>
            </p:nvGrpSpPr>
            <p:grpSpPr bwMode="auto">
              <a:xfrm>
                <a:off x="285750" y="4586288"/>
                <a:ext cx="8501063" cy="842962"/>
                <a:chOff x="1248" y="2724"/>
                <a:chExt cx="3060" cy="348"/>
              </a:xfrm>
            </p:grpSpPr>
            <p:sp>
              <p:nvSpPr>
                <p:cNvPr id="15371" name="AutoShape 141"/>
                <p:cNvSpPr>
                  <a:spLocks noChangeArrowheads="1"/>
                </p:cNvSpPr>
                <p:nvPr/>
              </p:nvSpPr>
              <p:spPr bwMode="gray">
                <a:xfrm>
                  <a:off x="1248" y="2724"/>
                  <a:ext cx="3060" cy="348"/>
                </a:xfrm>
                <a:prstGeom prst="roundRect">
                  <a:avLst>
                    <a:gd name="adj" fmla="val 50000"/>
                  </a:avLst>
                </a:prstGeom>
                <a:solidFill>
                  <a:schemeClr val="bg1"/>
                </a:solidFill>
                <a:ln w="9525" algn="ctr">
                  <a:noFill/>
                  <a:round/>
                  <a:headEnd/>
                  <a:tailEnd/>
                </a:ln>
              </p:spPr>
              <p:txBody>
                <a:bodyPr wrap="none" anchor="ctr"/>
                <a:lstStyle/>
                <a:p>
                  <a:pPr latinLnBrk="0"/>
                  <a:endParaRPr kumimoji="0" lang="ko-KR" altLang="en-US" sz="3200">
                    <a:latin typeface="Times New Roman" pitchFamily="18" charset="0"/>
                    <a:cs typeface="Times New Roman" pitchFamily="18" charset="0"/>
                  </a:endParaRPr>
                </a:p>
              </p:txBody>
            </p:sp>
            <p:sp>
              <p:nvSpPr>
                <p:cNvPr id="15372" name="AutoShape 142"/>
                <p:cNvSpPr>
                  <a:spLocks noChangeArrowheads="1"/>
                </p:cNvSpPr>
                <p:nvPr/>
              </p:nvSpPr>
              <p:spPr bwMode="gray">
                <a:xfrm>
                  <a:off x="1303" y="2754"/>
                  <a:ext cx="2969" cy="288"/>
                </a:xfrm>
                <a:prstGeom prst="roundRect">
                  <a:avLst>
                    <a:gd name="adj" fmla="val 50000"/>
                  </a:avLst>
                </a:prstGeom>
                <a:solidFill>
                  <a:schemeClr val="bg1">
                    <a:alpha val="50195"/>
                  </a:schemeClr>
                </a:solidFill>
                <a:ln w="9525" algn="ctr">
                  <a:noFill/>
                  <a:round/>
                  <a:headEnd/>
                  <a:tailEnd/>
                </a:ln>
              </p:spPr>
              <p:txBody>
                <a:bodyPr wrap="none" anchor="ctr"/>
                <a:lstStyle/>
                <a:p>
                  <a:pPr latinLnBrk="0"/>
                  <a:endParaRPr kumimoji="0" lang="ko-KR" altLang="en-US" sz="3200">
                    <a:latin typeface="Times New Roman" pitchFamily="18" charset="0"/>
                    <a:cs typeface="Times New Roman" pitchFamily="18" charset="0"/>
                  </a:endParaRPr>
                </a:p>
              </p:txBody>
            </p:sp>
            <p:sp>
              <p:nvSpPr>
                <p:cNvPr id="112" name="Text Box 143"/>
                <p:cNvSpPr txBox="1">
                  <a:spLocks noChangeArrowheads="1"/>
                </p:cNvSpPr>
                <p:nvPr/>
              </p:nvSpPr>
              <p:spPr bwMode="gray">
                <a:xfrm>
                  <a:off x="1447" y="2777"/>
                  <a:ext cx="2784" cy="212"/>
                </a:xfrm>
                <a:prstGeom prst="rect">
                  <a:avLst/>
                </a:prstGeom>
                <a:solidFill>
                  <a:schemeClr val="bg1"/>
                </a:solidFill>
                <a:ln w="9525" algn="ctr">
                  <a:noFill/>
                  <a:miter lim="800000"/>
                  <a:headEnd/>
                  <a:tailEnd/>
                </a:ln>
                <a:effectLst>
                  <a:outerShdw dist="35921" dir="2700000" algn="ctr" rotWithShape="0">
                    <a:schemeClr val="bg2">
                      <a:alpha val="50000"/>
                    </a:schemeClr>
                  </a:outerShdw>
                </a:effectLst>
              </p:spPr>
              <p:txBody>
                <a:bodyPr>
                  <a:spAutoFit/>
                </a:bodyPr>
                <a:lstStyle/>
                <a:p>
                  <a:pPr algn="ctr" latinLnBrk="0">
                    <a:lnSpc>
                      <a:spcPct val="90000"/>
                    </a:lnSpc>
                    <a:spcBef>
                      <a:spcPct val="170000"/>
                    </a:spcBef>
                    <a:defRPr/>
                  </a:pPr>
                  <a:endParaRPr kumimoji="0" lang="ko-KR" altLang="en-US" sz="3200" dirty="0">
                    <a:latin typeface="Times New Roman" pitchFamily="18" charset="0"/>
                    <a:ea typeface="HY견고딕" pitchFamily="18" charset="-127"/>
                    <a:cs typeface="Times New Roman" pitchFamily="18" charset="0"/>
                  </a:endParaRPr>
                </a:p>
              </p:txBody>
            </p:sp>
          </p:grpSp>
        </p:grpSp>
        <p:sp>
          <p:nvSpPr>
            <p:cNvPr id="23" name="Text Box 143"/>
            <p:cNvSpPr txBox="1">
              <a:spLocks noChangeArrowheads="1"/>
            </p:cNvSpPr>
            <p:nvPr/>
          </p:nvSpPr>
          <p:spPr bwMode="gray">
            <a:xfrm>
              <a:off x="571500" y="4881563"/>
              <a:ext cx="8001000" cy="534987"/>
            </a:xfrm>
            <a:prstGeom prst="rect">
              <a:avLst/>
            </a:prstGeom>
            <a:solidFill>
              <a:schemeClr val="bg1"/>
            </a:solidFill>
            <a:ln w="9525" algn="ctr">
              <a:noFill/>
              <a:miter lim="800000"/>
              <a:headEnd/>
              <a:tailEnd/>
            </a:ln>
            <a:effectLst>
              <a:outerShdw dist="35921" dir="2700000" algn="ctr" rotWithShape="0">
                <a:schemeClr val="bg2">
                  <a:alpha val="50000"/>
                </a:schemeClr>
              </a:outerShdw>
            </a:effectLst>
          </p:spPr>
          <p:txBody>
            <a:bodyPr>
              <a:spAutoFit/>
            </a:bodyPr>
            <a:lstStyle/>
            <a:p>
              <a:pPr algn="ctr" latinLnBrk="0">
                <a:lnSpc>
                  <a:spcPct val="90000"/>
                </a:lnSpc>
                <a:spcBef>
                  <a:spcPct val="170000"/>
                </a:spcBef>
                <a:defRPr/>
              </a:pPr>
              <a:r>
                <a:rPr kumimoji="0" lang="en-US" altLang="ko-KR" sz="3200" dirty="0">
                  <a:latin typeface="Times New Roman" pitchFamily="18" charset="0"/>
                  <a:ea typeface="HY견고딕" pitchFamily="18" charset="-127"/>
                  <a:cs typeface="Times New Roman" pitchFamily="18" charset="0"/>
                </a:rPr>
                <a:t>Implications for Businesses</a:t>
              </a:r>
              <a:endParaRPr kumimoji="0" lang="ko-KR" altLang="en-US" sz="3200" dirty="0">
                <a:latin typeface="Times New Roman" pitchFamily="18" charset="0"/>
                <a:ea typeface="HY견고딕" pitchFamily="18" charset="-127"/>
                <a:cs typeface="Times New Roman" pitchFamily="18" charset="0"/>
              </a:endParaRPr>
            </a:p>
          </p:txBody>
        </p:sp>
        <p:sp>
          <p:nvSpPr>
            <p:cNvPr id="24" name="Rectangle 23"/>
            <p:cNvSpPr/>
            <p:nvPr/>
          </p:nvSpPr>
          <p:spPr>
            <a:xfrm>
              <a:off x="2019578" y="1628800"/>
              <a:ext cx="5018874" cy="495134"/>
            </a:xfrm>
            <a:prstGeom prst="rect">
              <a:avLst/>
            </a:prstGeom>
          </p:spPr>
          <p:txBody>
            <a:bodyPr wrap="none">
              <a:spAutoFit/>
            </a:bodyPr>
            <a:lstStyle/>
            <a:p>
              <a:pPr algn="ctr" latinLnBrk="0">
                <a:defRPr/>
              </a:pPr>
              <a:r>
                <a:rPr lang="en-US" altLang="ko-KR" sz="3200" dirty="0">
                  <a:ea typeface="HY견고딕" pitchFamily="18" charset="-127"/>
                  <a:cs typeface="Times New Roman" pitchFamily="18" charset="0"/>
                </a:rPr>
                <a:t>International Trade Theory</a:t>
              </a:r>
              <a:endParaRPr lang="en-US" altLang="ko-KR" sz="3200" dirty="0">
                <a:latin typeface="Arial" charset="0"/>
                <a:ea typeface="HY견고딕" pitchFamily="18" charset="-127"/>
                <a:cs typeface="Times New Roman" pitchFamily="18" charset="0"/>
              </a:endParaRPr>
            </a:p>
          </p:txBody>
        </p:sp>
      </p:gr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a:xfrm>
            <a:off x="772616" y="319088"/>
            <a:ext cx="7543800" cy="563562"/>
          </a:xfrm>
        </p:spPr>
        <p:txBody>
          <a:bodyPr/>
          <a:lstStyle/>
          <a:p>
            <a:pPr algn="ctr"/>
            <a:r>
              <a:rPr lang="en-US" altLang="ko-KR" sz="3200" b="1" dirty="0">
                <a:solidFill>
                  <a:srgbClr val="FFC000"/>
                </a:solidFill>
                <a:latin typeface="Times New Roman" pitchFamily="18" charset="0"/>
                <a:ea typeface="굴림" pitchFamily="50" charset="-127"/>
                <a:cs typeface="Times New Roman" pitchFamily="18" charset="0"/>
              </a:rPr>
              <a:t>COMPONENTS OF GLOBAL BUSINESS ENVIRONMENT</a:t>
            </a:r>
            <a:endParaRPr lang="ko-KR" altLang="en-US" sz="3200" dirty="0">
              <a:latin typeface="Times New Roman" pitchFamily="18" charset="0"/>
              <a:ea typeface="굴림" pitchFamily="50" charset="-127"/>
              <a:cs typeface="Times New Roman" pitchFamily="18" charset="0"/>
            </a:endParaRPr>
          </a:p>
        </p:txBody>
      </p:sp>
      <p:sp>
        <p:nvSpPr>
          <p:cNvPr id="18435" name="Oval 3"/>
          <p:cNvSpPr>
            <a:spLocks noChangeArrowheads="1"/>
          </p:cNvSpPr>
          <p:nvPr/>
        </p:nvSpPr>
        <p:spPr bwMode="auto">
          <a:xfrm>
            <a:off x="3661656" y="3455474"/>
            <a:ext cx="1595223" cy="1215717"/>
          </a:xfrm>
          <a:prstGeom prst="ellipse">
            <a:avLst/>
          </a:prstGeom>
          <a:noFill/>
          <a:ln w="25400">
            <a:solidFill>
              <a:schemeClr val="tx1"/>
            </a:solidFill>
            <a:round/>
            <a:headEnd/>
            <a:tailEnd/>
          </a:ln>
        </p:spPr>
        <p:txBody>
          <a:bodyPr wrap="none" anchor="ctr"/>
          <a:lstStyle/>
          <a:p>
            <a:endParaRPr lang="ko-KR" altLang="en-US" sz="1600">
              <a:latin typeface="Times New Roman" pitchFamily="18" charset="0"/>
              <a:cs typeface="Times New Roman" pitchFamily="18" charset="0"/>
            </a:endParaRPr>
          </a:p>
        </p:txBody>
      </p:sp>
      <p:sp>
        <p:nvSpPr>
          <p:cNvPr id="18436" name="Oval 4"/>
          <p:cNvSpPr>
            <a:spLocks noChangeArrowheads="1"/>
          </p:cNvSpPr>
          <p:nvPr/>
        </p:nvSpPr>
        <p:spPr bwMode="auto">
          <a:xfrm>
            <a:off x="2516600" y="2490498"/>
            <a:ext cx="3915548" cy="3039293"/>
          </a:xfrm>
          <a:prstGeom prst="ellipse">
            <a:avLst/>
          </a:prstGeom>
          <a:noFill/>
          <a:ln w="25400">
            <a:solidFill>
              <a:schemeClr val="tx1"/>
            </a:solidFill>
            <a:round/>
            <a:headEnd/>
            <a:tailEnd/>
          </a:ln>
        </p:spPr>
        <p:txBody>
          <a:bodyPr wrap="none" anchor="ctr"/>
          <a:lstStyle/>
          <a:p>
            <a:endParaRPr lang="ko-KR" altLang="en-US" sz="1600">
              <a:latin typeface="Times New Roman" pitchFamily="18" charset="0"/>
              <a:cs typeface="Times New Roman" pitchFamily="18" charset="0"/>
            </a:endParaRPr>
          </a:p>
        </p:txBody>
      </p:sp>
      <p:sp>
        <p:nvSpPr>
          <p:cNvPr id="18437" name="Oval 5"/>
          <p:cNvSpPr>
            <a:spLocks noChangeArrowheads="1"/>
          </p:cNvSpPr>
          <p:nvPr/>
        </p:nvSpPr>
        <p:spPr bwMode="auto">
          <a:xfrm>
            <a:off x="1214438" y="1916832"/>
            <a:ext cx="6525914" cy="4194224"/>
          </a:xfrm>
          <a:prstGeom prst="ellipse">
            <a:avLst/>
          </a:prstGeom>
          <a:noFill/>
          <a:ln w="25400">
            <a:solidFill>
              <a:schemeClr val="tx1"/>
            </a:solidFill>
            <a:round/>
            <a:headEnd/>
            <a:tailEnd/>
          </a:ln>
        </p:spPr>
        <p:txBody>
          <a:bodyPr wrap="none" anchor="ctr"/>
          <a:lstStyle/>
          <a:p>
            <a:endParaRPr lang="ko-KR" altLang="en-US" sz="1600">
              <a:latin typeface="Times New Roman" pitchFamily="18" charset="0"/>
              <a:cs typeface="Times New Roman" pitchFamily="18" charset="0"/>
            </a:endParaRPr>
          </a:p>
        </p:txBody>
      </p:sp>
      <p:sp>
        <p:nvSpPr>
          <p:cNvPr id="18438" name="Text Box 6"/>
          <p:cNvSpPr txBox="1">
            <a:spLocks noChangeArrowheads="1"/>
          </p:cNvSpPr>
          <p:nvPr/>
        </p:nvSpPr>
        <p:spPr bwMode="auto">
          <a:xfrm>
            <a:off x="4069525" y="3901653"/>
            <a:ext cx="738697" cy="338554"/>
          </a:xfrm>
          <a:prstGeom prst="rect">
            <a:avLst/>
          </a:prstGeom>
          <a:noFill/>
          <a:ln w="9525">
            <a:noFill/>
            <a:miter lim="800000"/>
            <a:headEnd/>
            <a:tailEnd/>
          </a:ln>
        </p:spPr>
        <p:txBody>
          <a:bodyPr anchor="ctr">
            <a:spAutoFit/>
          </a:bodyPr>
          <a:lstStyle/>
          <a:p>
            <a:pPr algn="ctr">
              <a:spcBef>
                <a:spcPct val="50000"/>
              </a:spcBef>
            </a:pPr>
            <a:r>
              <a:rPr lang="en-US" altLang="zh-TW" sz="1600">
                <a:solidFill>
                  <a:schemeClr val="tx2"/>
                </a:solidFill>
                <a:latin typeface="Times New Roman" pitchFamily="18" charset="0"/>
                <a:ea typeface="PMingLiU" pitchFamily="18" charset="-120"/>
                <a:cs typeface="Times New Roman" pitchFamily="18" charset="0"/>
              </a:rPr>
              <a:t>Firm</a:t>
            </a:r>
          </a:p>
        </p:txBody>
      </p:sp>
      <p:sp>
        <p:nvSpPr>
          <p:cNvPr id="18439" name="Text Box 7"/>
          <p:cNvSpPr txBox="1">
            <a:spLocks noChangeArrowheads="1"/>
          </p:cNvSpPr>
          <p:nvPr/>
        </p:nvSpPr>
        <p:spPr bwMode="auto">
          <a:xfrm>
            <a:off x="3368831" y="2684240"/>
            <a:ext cx="2222082" cy="430887"/>
          </a:xfrm>
          <a:prstGeom prst="rect">
            <a:avLst/>
          </a:prstGeom>
          <a:noFill/>
          <a:ln w="9525">
            <a:noFill/>
            <a:miter lim="800000"/>
            <a:headEnd/>
            <a:tailEnd/>
          </a:ln>
        </p:spPr>
        <p:txBody>
          <a:bodyPr wrap="none" anchor="ctr">
            <a:spAutoFit/>
          </a:bodyPr>
          <a:lstStyle/>
          <a:p>
            <a:pPr algn="ctr">
              <a:spcBef>
                <a:spcPct val="50000"/>
              </a:spcBef>
            </a:pPr>
            <a:r>
              <a:rPr lang="en-US" altLang="zh-TW" sz="2200" dirty="0">
                <a:solidFill>
                  <a:srgbClr val="FFFF00"/>
                </a:solidFill>
                <a:ea typeface="PMingLiU" pitchFamily="18" charset="-120"/>
                <a:cs typeface="Times New Roman" pitchFamily="18" charset="0"/>
              </a:rPr>
              <a:t>Market/Industry</a:t>
            </a:r>
            <a:endParaRPr lang="en-US" altLang="zh-TW" sz="2200" b="1" dirty="0">
              <a:solidFill>
                <a:srgbClr val="FFFF00"/>
              </a:solidFill>
              <a:latin typeface="Times New Roman" pitchFamily="18" charset="0"/>
              <a:ea typeface="PMingLiU" pitchFamily="18" charset="-120"/>
              <a:cs typeface="Times New Roman" pitchFamily="18" charset="0"/>
            </a:endParaRPr>
          </a:p>
        </p:txBody>
      </p:sp>
      <p:sp>
        <p:nvSpPr>
          <p:cNvPr id="18440" name="Text Box 8"/>
          <p:cNvSpPr txBox="1">
            <a:spLocks noChangeArrowheads="1"/>
          </p:cNvSpPr>
          <p:nvPr/>
        </p:nvSpPr>
        <p:spPr bwMode="auto">
          <a:xfrm>
            <a:off x="2759001" y="3217813"/>
            <a:ext cx="1281120" cy="338554"/>
          </a:xfrm>
          <a:prstGeom prst="rect">
            <a:avLst/>
          </a:prstGeom>
          <a:noFill/>
          <a:ln w="9525">
            <a:noFill/>
            <a:miter lim="800000"/>
            <a:headEnd/>
            <a:tailEnd/>
          </a:ln>
        </p:spPr>
        <p:txBody>
          <a:bodyPr wrap="none" anchor="ctr">
            <a:spAutoFit/>
          </a:bodyPr>
          <a:lstStyle/>
          <a:p>
            <a:pPr algn="ctr">
              <a:spcBef>
                <a:spcPct val="50000"/>
              </a:spcBef>
            </a:pPr>
            <a:r>
              <a:rPr lang="en-US" altLang="zh-TW" sz="1600" dirty="0">
                <a:latin typeface="Times New Roman" pitchFamily="18" charset="0"/>
                <a:ea typeface="PMingLiU" pitchFamily="18" charset="-120"/>
                <a:cs typeface="Times New Roman" pitchFamily="18" charset="0"/>
              </a:rPr>
              <a:t>Competitors</a:t>
            </a:r>
          </a:p>
        </p:txBody>
      </p:sp>
      <p:sp>
        <p:nvSpPr>
          <p:cNvPr id="18441" name="Text Box 9"/>
          <p:cNvSpPr txBox="1">
            <a:spLocks noChangeArrowheads="1"/>
          </p:cNvSpPr>
          <p:nvPr/>
        </p:nvSpPr>
        <p:spPr bwMode="auto">
          <a:xfrm>
            <a:off x="2548787" y="3738518"/>
            <a:ext cx="1132041" cy="338554"/>
          </a:xfrm>
          <a:prstGeom prst="rect">
            <a:avLst/>
          </a:prstGeom>
          <a:noFill/>
          <a:ln w="9525">
            <a:noFill/>
            <a:miter lim="800000"/>
            <a:headEnd/>
            <a:tailEnd/>
          </a:ln>
        </p:spPr>
        <p:txBody>
          <a:bodyPr wrap="none" anchor="ctr">
            <a:spAutoFit/>
          </a:bodyPr>
          <a:lstStyle/>
          <a:p>
            <a:pPr algn="ctr">
              <a:spcBef>
                <a:spcPct val="50000"/>
              </a:spcBef>
            </a:pPr>
            <a:r>
              <a:rPr lang="en-US" altLang="zh-TW" sz="1600" dirty="0">
                <a:latin typeface="Times New Roman" pitchFamily="18" charset="0"/>
                <a:ea typeface="PMingLiU" pitchFamily="18" charset="-120"/>
                <a:cs typeface="Times New Roman" pitchFamily="18" charset="0"/>
              </a:rPr>
              <a:t>Customers</a:t>
            </a:r>
          </a:p>
        </p:txBody>
      </p:sp>
      <p:sp>
        <p:nvSpPr>
          <p:cNvPr id="18442" name="Text Box 10"/>
          <p:cNvSpPr txBox="1">
            <a:spLocks noChangeArrowheads="1"/>
          </p:cNvSpPr>
          <p:nvPr/>
        </p:nvSpPr>
        <p:spPr bwMode="auto">
          <a:xfrm>
            <a:off x="5331623" y="3789040"/>
            <a:ext cx="1018227" cy="338554"/>
          </a:xfrm>
          <a:prstGeom prst="rect">
            <a:avLst/>
          </a:prstGeom>
          <a:noFill/>
          <a:ln w="9525">
            <a:noFill/>
            <a:miter lim="800000"/>
            <a:headEnd/>
            <a:tailEnd/>
          </a:ln>
        </p:spPr>
        <p:txBody>
          <a:bodyPr wrap="none" anchor="ctr">
            <a:spAutoFit/>
          </a:bodyPr>
          <a:lstStyle/>
          <a:p>
            <a:pPr algn="ctr">
              <a:spcBef>
                <a:spcPct val="50000"/>
              </a:spcBef>
            </a:pPr>
            <a:r>
              <a:rPr lang="en-US" altLang="zh-TW" sz="1600" dirty="0">
                <a:latin typeface="Times New Roman" pitchFamily="18" charset="0"/>
                <a:ea typeface="PMingLiU" pitchFamily="18" charset="-120"/>
                <a:cs typeface="Times New Roman" pitchFamily="18" charset="0"/>
              </a:rPr>
              <a:t>Suppliers</a:t>
            </a:r>
          </a:p>
        </p:txBody>
      </p:sp>
      <p:sp>
        <p:nvSpPr>
          <p:cNvPr id="18443" name="Text Box 11"/>
          <p:cNvSpPr txBox="1">
            <a:spLocks noChangeArrowheads="1"/>
          </p:cNvSpPr>
          <p:nvPr/>
        </p:nvSpPr>
        <p:spPr bwMode="auto">
          <a:xfrm>
            <a:off x="2699792" y="4314582"/>
            <a:ext cx="1025730" cy="338554"/>
          </a:xfrm>
          <a:prstGeom prst="rect">
            <a:avLst/>
          </a:prstGeom>
          <a:noFill/>
          <a:ln w="9525">
            <a:noFill/>
            <a:miter lim="800000"/>
            <a:headEnd/>
            <a:tailEnd/>
          </a:ln>
        </p:spPr>
        <p:txBody>
          <a:bodyPr wrap="none" anchor="ctr">
            <a:spAutoFit/>
          </a:bodyPr>
          <a:lstStyle/>
          <a:p>
            <a:pPr algn="ctr">
              <a:spcBef>
                <a:spcPct val="50000"/>
              </a:spcBef>
            </a:pPr>
            <a:r>
              <a:rPr lang="en-US" altLang="zh-TW" sz="1600" dirty="0">
                <a:latin typeface="Times New Roman" pitchFamily="18" charset="0"/>
                <a:ea typeface="PMingLiU" pitchFamily="18" charset="-120"/>
                <a:cs typeface="Times New Roman" pitchFamily="18" charset="0"/>
              </a:rPr>
              <a:t>Creditors</a:t>
            </a:r>
          </a:p>
        </p:txBody>
      </p:sp>
      <p:sp>
        <p:nvSpPr>
          <p:cNvPr id="18444" name="Text Box 12"/>
          <p:cNvSpPr txBox="1">
            <a:spLocks noChangeArrowheads="1"/>
          </p:cNvSpPr>
          <p:nvPr/>
        </p:nvSpPr>
        <p:spPr bwMode="auto">
          <a:xfrm>
            <a:off x="3269444" y="2036168"/>
            <a:ext cx="2395206" cy="430887"/>
          </a:xfrm>
          <a:prstGeom prst="rect">
            <a:avLst/>
          </a:prstGeom>
          <a:noFill/>
          <a:ln w="9525">
            <a:noFill/>
            <a:miter lim="800000"/>
            <a:headEnd/>
            <a:tailEnd/>
          </a:ln>
        </p:spPr>
        <p:txBody>
          <a:bodyPr wrap="none" anchor="ctr">
            <a:spAutoFit/>
          </a:bodyPr>
          <a:lstStyle/>
          <a:p>
            <a:pPr algn="ctr">
              <a:spcBef>
                <a:spcPct val="50000"/>
              </a:spcBef>
            </a:pPr>
            <a:r>
              <a:rPr lang="en-US" altLang="zh-TW" sz="2200" b="1" dirty="0">
                <a:latin typeface="Times New Roman" pitchFamily="18" charset="0"/>
                <a:ea typeface="PMingLiU" pitchFamily="18" charset="-120"/>
                <a:cs typeface="Times New Roman" pitchFamily="18" charset="0"/>
              </a:rPr>
              <a:t> </a:t>
            </a:r>
            <a:r>
              <a:rPr lang="en-US" altLang="zh-TW" sz="2200" dirty="0">
                <a:solidFill>
                  <a:srgbClr val="FFFF00"/>
                </a:solidFill>
                <a:ea typeface="PMingLiU" pitchFamily="18" charset="-120"/>
                <a:cs typeface="Times New Roman" pitchFamily="18" charset="0"/>
              </a:rPr>
              <a:t>Country/General</a:t>
            </a:r>
            <a:r>
              <a:rPr lang="en-US" altLang="zh-TW" sz="2200" b="1" dirty="0">
                <a:solidFill>
                  <a:srgbClr val="FFFF00"/>
                </a:solidFill>
                <a:latin typeface="Times New Roman" pitchFamily="18" charset="0"/>
                <a:ea typeface="PMingLiU" pitchFamily="18" charset="-120"/>
                <a:cs typeface="Times New Roman" pitchFamily="18" charset="0"/>
              </a:rPr>
              <a:t> </a:t>
            </a:r>
          </a:p>
        </p:txBody>
      </p:sp>
      <p:sp>
        <p:nvSpPr>
          <p:cNvPr id="18445" name="Text Box 13"/>
          <p:cNvSpPr txBox="1">
            <a:spLocks noChangeArrowheads="1"/>
          </p:cNvSpPr>
          <p:nvPr/>
        </p:nvSpPr>
        <p:spPr bwMode="auto">
          <a:xfrm>
            <a:off x="1887175" y="2768251"/>
            <a:ext cx="1051891" cy="338554"/>
          </a:xfrm>
          <a:prstGeom prst="rect">
            <a:avLst/>
          </a:prstGeom>
          <a:noFill/>
          <a:ln w="9525">
            <a:noFill/>
            <a:miter lim="800000"/>
            <a:headEnd/>
            <a:tailEnd/>
          </a:ln>
        </p:spPr>
        <p:txBody>
          <a:bodyPr wrap="none" anchor="ctr">
            <a:spAutoFit/>
          </a:bodyPr>
          <a:lstStyle/>
          <a:p>
            <a:pPr algn="ctr">
              <a:spcBef>
                <a:spcPct val="50000"/>
              </a:spcBef>
            </a:pPr>
            <a:r>
              <a:rPr lang="en-US" altLang="zh-TW" sz="1600" dirty="0">
                <a:latin typeface="Times New Roman" pitchFamily="18" charset="0"/>
                <a:ea typeface="PMingLiU" pitchFamily="18" charset="-120"/>
                <a:cs typeface="Times New Roman" pitchFamily="18" charset="0"/>
              </a:rPr>
              <a:t>Economic</a:t>
            </a:r>
          </a:p>
        </p:txBody>
      </p:sp>
      <p:sp>
        <p:nvSpPr>
          <p:cNvPr id="18446" name="Text Box 14"/>
          <p:cNvSpPr txBox="1">
            <a:spLocks noChangeArrowheads="1"/>
          </p:cNvSpPr>
          <p:nvPr/>
        </p:nvSpPr>
        <p:spPr bwMode="auto">
          <a:xfrm>
            <a:off x="5903053" y="2772050"/>
            <a:ext cx="1370888" cy="338554"/>
          </a:xfrm>
          <a:prstGeom prst="rect">
            <a:avLst/>
          </a:prstGeom>
          <a:noFill/>
          <a:ln w="9525">
            <a:noFill/>
            <a:miter lim="800000"/>
            <a:headEnd/>
            <a:tailEnd/>
          </a:ln>
        </p:spPr>
        <p:txBody>
          <a:bodyPr wrap="none" anchor="ctr">
            <a:spAutoFit/>
          </a:bodyPr>
          <a:lstStyle/>
          <a:p>
            <a:pPr algn="ctr">
              <a:spcBef>
                <a:spcPct val="50000"/>
              </a:spcBef>
            </a:pPr>
            <a:r>
              <a:rPr lang="en-US" altLang="zh-TW" sz="1600" dirty="0">
                <a:latin typeface="Times New Roman" pitchFamily="18" charset="0"/>
                <a:ea typeface="PMingLiU" pitchFamily="18" charset="-120"/>
                <a:cs typeface="Times New Roman" pitchFamily="18" charset="0"/>
              </a:rPr>
              <a:t>Demographic</a:t>
            </a:r>
          </a:p>
        </p:txBody>
      </p:sp>
      <p:sp>
        <p:nvSpPr>
          <p:cNvPr id="18447" name="Text Box 15"/>
          <p:cNvSpPr txBox="1">
            <a:spLocks noChangeArrowheads="1"/>
          </p:cNvSpPr>
          <p:nvPr/>
        </p:nvSpPr>
        <p:spPr bwMode="auto">
          <a:xfrm>
            <a:off x="1571473" y="3926981"/>
            <a:ext cx="710451" cy="338554"/>
          </a:xfrm>
          <a:prstGeom prst="rect">
            <a:avLst/>
          </a:prstGeom>
          <a:noFill/>
          <a:ln w="9525">
            <a:noFill/>
            <a:miter lim="800000"/>
            <a:headEnd/>
            <a:tailEnd/>
          </a:ln>
        </p:spPr>
        <p:txBody>
          <a:bodyPr wrap="none" anchor="ctr">
            <a:spAutoFit/>
          </a:bodyPr>
          <a:lstStyle/>
          <a:p>
            <a:pPr algn="ctr">
              <a:spcBef>
                <a:spcPct val="50000"/>
              </a:spcBef>
            </a:pPr>
            <a:r>
              <a:rPr lang="en-US" altLang="zh-TW" sz="1600">
                <a:latin typeface="Times New Roman" pitchFamily="18" charset="0"/>
                <a:ea typeface="PMingLiU" pitchFamily="18" charset="-120"/>
                <a:cs typeface="Times New Roman" pitchFamily="18" charset="0"/>
              </a:rPr>
              <a:t>Social</a:t>
            </a:r>
          </a:p>
        </p:txBody>
      </p:sp>
      <p:sp>
        <p:nvSpPr>
          <p:cNvPr id="18448" name="Text Box 16"/>
          <p:cNvSpPr txBox="1">
            <a:spLocks noChangeArrowheads="1"/>
          </p:cNvSpPr>
          <p:nvPr/>
        </p:nvSpPr>
        <p:spPr bwMode="auto">
          <a:xfrm>
            <a:off x="5294127" y="5250686"/>
            <a:ext cx="1654137" cy="338554"/>
          </a:xfrm>
          <a:prstGeom prst="rect">
            <a:avLst/>
          </a:prstGeom>
          <a:noFill/>
          <a:ln w="9525">
            <a:noFill/>
            <a:miter lim="800000"/>
            <a:headEnd/>
            <a:tailEnd/>
          </a:ln>
        </p:spPr>
        <p:txBody>
          <a:bodyPr anchor="ctr">
            <a:spAutoFit/>
          </a:bodyPr>
          <a:lstStyle/>
          <a:p>
            <a:pPr algn="ctr"/>
            <a:r>
              <a:rPr lang="en-US" altLang="zh-TW" sz="1600" dirty="0">
                <a:latin typeface="Times New Roman" pitchFamily="18" charset="0"/>
                <a:ea typeface="PMingLiU" pitchFamily="18" charset="-120"/>
                <a:cs typeface="Times New Roman" pitchFamily="18" charset="0"/>
              </a:rPr>
              <a:t>Technological</a:t>
            </a:r>
          </a:p>
        </p:txBody>
      </p:sp>
      <p:sp>
        <p:nvSpPr>
          <p:cNvPr id="18449" name="Text Box 17"/>
          <p:cNvSpPr txBox="1">
            <a:spLocks noChangeArrowheads="1"/>
          </p:cNvSpPr>
          <p:nvPr/>
        </p:nvSpPr>
        <p:spPr bwMode="auto">
          <a:xfrm>
            <a:off x="6692763" y="3926981"/>
            <a:ext cx="675185" cy="338554"/>
          </a:xfrm>
          <a:prstGeom prst="rect">
            <a:avLst/>
          </a:prstGeom>
          <a:noFill/>
          <a:ln w="9525">
            <a:noFill/>
            <a:miter lim="800000"/>
            <a:headEnd/>
            <a:tailEnd/>
          </a:ln>
        </p:spPr>
        <p:txBody>
          <a:bodyPr wrap="none" anchor="ctr">
            <a:spAutoFit/>
          </a:bodyPr>
          <a:lstStyle/>
          <a:p>
            <a:pPr algn="ctr">
              <a:spcBef>
                <a:spcPct val="50000"/>
              </a:spcBef>
            </a:pPr>
            <a:r>
              <a:rPr lang="en-US" altLang="zh-TW" sz="1600" dirty="0">
                <a:latin typeface="Times New Roman" pitchFamily="18" charset="0"/>
                <a:ea typeface="PMingLiU" pitchFamily="18" charset="-120"/>
                <a:cs typeface="Times New Roman" pitchFamily="18" charset="0"/>
              </a:rPr>
              <a:t>Legal</a:t>
            </a:r>
          </a:p>
        </p:txBody>
      </p:sp>
      <p:sp>
        <p:nvSpPr>
          <p:cNvPr id="18450" name="Text Box 18"/>
          <p:cNvSpPr txBox="1">
            <a:spLocks noChangeArrowheads="1"/>
          </p:cNvSpPr>
          <p:nvPr/>
        </p:nvSpPr>
        <p:spPr bwMode="auto">
          <a:xfrm>
            <a:off x="2483768" y="5301208"/>
            <a:ext cx="721351" cy="246221"/>
          </a:xfrm>
          <a:prstGeom prst="rect">
            <a:avLst/>
          </a:prstGeom>
          <a:noFill/>
          <a:ln w="12700">
            <a:noFill/>
            <a:miter lim="800000"/>
            <a:headEnd/>
            <a:tailEnd/>
          </a:ln>
        </p:spPr>
        <p:txBody>
          <a:bodyPr wrap="none" lIns="0" tIns="0" rIns="0" bIns="0">
            <a:spAutoFit/>
          </a:bodyPr>
          <a:lstStyle/>
          <a:p>
            <a:r>
              <a:rPr lang="en-US" altLang="zh-TW" sz="1600" dirty="0">
                <a:latin typeface="Times New Roman" pitchFamily="18" charset="0"/>
                <a:ea typeface="PMingLiU" pitchFamily="18" charset="-120"/>
                <a:cs typeface="Times New Roman" pitchFamily="18" charset="0"/>
              </a:rPr>
              <a:t>Political</a:t>
            </a:r>
            <a:endParaRPr lang="en-GB" altLang="ko-KR" sz="1600" dirty="0">
              <a:latin typeface="Times New Roman" pitchFamily="18" charset="0"/>
              <a:ea typeface="PMingLiU" pitchFamily="18" charset="-120"/>
              <a:cs typeface="Times New Roman" pitchFamily="18" charset="0"/>
            </a:endParaRPr>
          </a:p>
        </p:txBody>
      </p:sp>
      <p:sp>
        <p:nvSpPr>
          <p:cNvPr id="18451" name="Text Box 19"/>
          <p:cNvSpPr txBox="1">
            <a:spLocks noChangeArrowheads="1"/>
          </p:cNvSpPr>
          <p:nvPr/>
        </p:nvSpPr>
        <p:spPr bwMode="auto">
          <a:xfrm>
            <a:off x="5091593" y="4314582"/>
            <a:ext cx="1280607" cy="338554"/>
          </a:xfrm>
          <a:prstGeom prst="rect">
            <a:avLst/>
          </a:prstGeom>
          <a:noFill/>
          <a:ln w="9525">
            <a:noFill/>
            <a:miter lim="800000"/>
            <a:headEnd/>
            <a:tailEnd/>
          </a:ln>
        </p:spPr>
        <p:txBody>
          <a:bodyPr wrap="none" anchor="ctr">
            <a:spAutoFit/>
          </a:bodyPr>
          <a:lstStyle/>
          <a:p>
            <a:pPr algn="ctr">
              <a:spcBef>
                <a:spcPct val="50000"/>
              </a:spcBef>
            </a:pPr>
            <a:r>
              <a:rPr lang="en-US" altLang="zh-TW" sz="1600" dirty="0">
                <a:latin typeface="Times New Roman" pitchFamily="18" charset="0"/>
                <a:ea typeface="PMingLiU" pitchFamily="18" charset="-120"/>
                <a:cs typeface="Times New Roman" pitchFamily="18" charset="0"/>
              </a:rPr>
              <a:t>Labor union</a:t>
            </a:r>
          </a:p>
        </p:txBody>
      </p:sp>
      <p:sp>
        <p:nvSpPr>
          <p:cNvPr id="18452" name="Text Box 20"/>
          <p:cNvSpPr txBox="1">
            <a:spLocks noChangeArrowheads="1"/>
          </p:cNvSpPr>
          <p:nvPr/>
        </p:nvSpPr>
        <p:spPr bwMode="auto">
          <a:xfrm>
            <a:off x="4490844" y="4869160"/>
            <a:ext cx="1377300" cy="338554"/>
          </a:xfrm>
          <a:prstGeom prst="rect">
            <a:avLst/>
          </a:prstGeom>
          <a:noFill/>
          <a:ln w="9525">
            <a:noFill/>
            <a:miter lim="800000"/>
            <a:headEnd/>
            <a:tailEnd/>
          </a:ln>
        </p:spPr>
        <p:txBody>
          <a:bodyPr wrap="none" anchor="ctr">
            <a:spAutoFit/>
          </a:bodyPr>
          <a:lstStyle/>
          <a:p>
            <a:pPr algn="ctr">
              <a:spcBef>
                <a:spcPct val="50000"/>
              </a:spcBef>
            </a:pPr>
            <a:r>
              <a:rPr lang="en-US" altLang="zh-TW" sz="1600" dirty="0">
                <a:latin typeface="Times New Roman" pitchFamily="18" charset="0"/>
                <a:ea typeface="PMingLiU" pitchFamily="18" charset="-120"/>
                <a:cs typeface="Times New Roman" pitchFamily="18" charset="0"/>
              </a:rPr>
              <a:t>Stock holders</a:t>
            </a:r>
          </a:p>
        </p:txBody>
      </p:sp>
      <p:sp>
        <p:nvSpPr>
          <p:cNvPr id="18453" name="Text Box 8"/>
          <p:cNvSpPr txBox="1">
            <a:spLocks noChangeArrowheads="1"/>
          </p:cNvSpPr>
          <p:nvPr/>
        </p:nvSpPr>
        <p:spPr bwMode="auto">
          <a:xfrm>
            <a:off x="4967364" y="3274800"/>
            <a:ext cx="1307153" cy="338554"/>
          </a:xfrm>
          <a:prstGeom prst="rect">
            <a:avLst/>
          </a:prstGeom>
          <a:noFill/>
          <a:ln w="9525">
            <a:noFill/>
            <a:miter lim="800000"/>
            <a:headEnd/>
            <a:tailEnd/>
          </a:ln>
        </p:spPr>
        <p:txBody>
          <a:bodyPr wrap="none" anchor="ctr">
            <a:spAutoFit/>
          </a:bodyPr>
          <a:lstStyle/>
          <a:p>
            <a:pPr algn="ctr">
              <a:spcBef>
                <a:spcPct val="50000"/>
              </a:spcBef>
            </a:pPr>
            <a:r>
              <a:rPr lang="en-US" altLang="zh-TW" sz="1600" dirty="0">
                <a:latin typeface="Times New Roman" pitchFamily="18" charset="0"/>
                <a:ea typeface="PMingLiU" pitchFamily="18" charset="-120"/>
                <a:cs typeface="Times New Roman" pitchFamily="18" charset="0"/>
              </a:rPr>
              <a:t>Technologies</a:t>
            </a:r>
          </a:p>
        </p:txBody>
      </p:sp>
      <p:sp>
        <p:nvSpPr>
          <p:cNvPr id="62" name="Oval 61"/>
          <p:cNvSpPr/>
          <p:nvPr/>
        </p:nvSpPr>
        <p:spPr bwMode="auto">
          <a:xfrm>
            <a:off x="179512" y="1340768"/>
            <a:ext cx="8604448" cy="5256584"/>
          </a:xfrm>
          <a:prstGeom prst="ellipse">
            <a:avLst/>
          </a:prstGeom>
          <a:no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a:ln>
                <a:noFill/>
              </a:ln>
              <a:solidFill>
                <a:schemeClr val="tx1"/>
              </a:solidFill>
              <a:effectLst/>
              <a:latin typeface="Times New Roman" pitchFamily="18" charset="0"/>
            </a:endParaRPr>
          </a:p>
        </p:txBody>
      </p:sp>
      <p:sp>
        <p:nvSpPr>
          <p:cNvPr id="63" name="Text Box 12"/>
          <p:cNvSpPr txBox="1">
            <a:spLocks noChangeArrowheads="1"/>
          </p:cNvSpPr>
          <p:nvPr/>
        </p:nvSpPr>
        <p:spPr bwMode="auto">
          <a:xfrm>
            <a:off x="3370984" y="1460104"/>
            <a:ext cx="2138919" cy="430887"/>
          </a:xfrm>
          <a:prstGeom prst="rect">
            <a:avLst/>
          </a:prstGeom>
          <a:noFill/>
          <a:ln w="9525">
            <a:noFill/>
            <a:miter lim="800000"/>
            <a:headEnd/>
            <a:tailEnd/>
          </a:ln>
        </p:spPr>
        <p:txBody>
          <a:bodyPr wrap="none" anchor="ctr">
            <a:spAutoFit/>
          </a:bodyPr>
          <a:lstStyle/>
          <a:p>
            <a:pPr algn="ctr">
              <a:spcBef>
                <a:spcPct val="50000"/>
              </a:spcBef>
            </a:pPr>
            <a:r>
              <a:rPr lang="en-US" altLang="zh-TW" sz="2200" b="1" dirty="0">
                <a:latin typeface="Times New Roman" pitchFamily="18" charset="0"/>
                <a:ea typeface="PMingLiU" pitchFamily="18" charset="-120"/>
                <a:cs typeface="Times New Roman" pitchFamily="18" charset="0"/>
              </a:rPr>
              <a:t> </a:t>
            </a:r>
            <a:r>
              <a:rPr lang="en-US" altLang="zh-TW" sz="2200" dirty="0">
                <a:solidFill>
                  <a:srgbClr val="FFFF00"/>
                </a:solidFill>
                <a:ea typeface="PMingLiU" pitchFamily="18" charset="-120"/>
                <a:cs typeface="Times New Roman" pitchFamily="18" charset="0"/>
              </a:rPr>
              <a:t>World/General</a:t>
            </a:r>
            <a:r>
              <a:rPr lang="en-US" altLang="zh-TW" sz="2200" b="1" dirty="0">
                <a:solidFill>
                  <a:srgbClr val="FFFF00"/>
                </a:solidFill>
                <a:latin typeface="Times New Roman" pitchFamily="18" charset="0"/>
                <a:ea typeface="PMingLiU" pitchFamily="18" charset="-120"/>
                <a:cs typeface="Times New Roman" pitchFamily="18" charset="0"/>
              </a:rPr>
              <a:t> </a:t>
            </a:r>
          </a:p>
        </p:txBody>
      </p:sp>
      <p:sp>
        <p:nvSpPr>
          <p:cNvPr id="64" name="Text Box 13"/>
          <p:cNvSpPr txBox="1">
            <a:spLocks noChangeArrowheads="1"/>
          </p:cNvSpPr>
          <p:nvPr/>
        </p:nvSpPr>
        <p:spPr bwMode="auto">
          <a:xfrm>
            <a:off x="755576" y="5013176"/>
            <a:ext cx="1039066" cy="443070"/>
          </a:xfrm>
          <a:prstGeom prst="rect">
            <a:avLst/>
          </a:prstGeom>
          <a:noFill/>
          <a:ln w="9525">
            <a:noFill/>
            <a:miter lim="800000"/>
            <a:headEnd/>
            <a:tailEnd/>
          </a:ln>
        </p:spPr>
        <p:txBody>
          <a:bodyPr wrap="none" anchor="ctr">
            <a:spAutoFit/>
          </a:bodyPr>
          <a:lstStyle/>
          <a:p>
            <a:pPr algn="ctr">
              <a:lnSpc>
                <a:spcPts val="800"/>
              </a:lnSpc>
              <a:spcBef>
                <a:spcPct val="50000"/>
              </a:spcBef>
            </a:pPr>
            <a:r>
              <a:rPr lang="en-US" altLang="zh-TW" sz="1600" dirty="0">
                <a:latin typeface="Times New Roman" pitchFamily="18" charset="0"/>
                <a:ea typeface="PMingLiU" pitchFamily="18" charset="-120"/>
                <a:cs typeface="Times New Roman" pitchFamily="18" charset="0"/>
              </a:rPr>
              <a:t>Foreign</a:t>
            </a:r>
          </a:p>
          <a:p>
            <a:pPr algn="ctr">
              <a:lnSpc>
                <a:spcPts val="800"/>
              </a:lnSpc>
              <a:spcBef>
                <a:spcPct val="50000"/>
              </a:spcBef>
            </a:pPr>
            <a:r>
              <a:rPr lang="en-US" altLang="zh-TW" sz="1600" dirty="0">
                <a:ea typeface="PMingLiU" pitchFamily="18" charset="-120"/>
                <a:cs typeface="Times New Roman" pitchFamily="18" charset="0"/>
              </a:rPr>
              <a:t>Exchange</a:t>
            </a:r>
            <a:endParaRPr lang="en-US" altLang="zh-TW" sz="1600" dirty="0">
              <a:latin typeface="Times New Roman" pitchFamily="18" charset="0"/>
              <a:ea typeface="PMingLiU" pitchFamily="18" charset="-120"/>
              <a:cs typeface="Times New Roman" pitchFamily="18" charset="0"/>
            </a:endParaRPr>
          </a:p>
        </p:txBody>
      </p:sp>
      <p:sp>
        <p:nvSpPr>
          <p:cNvPr id="65" name="Text Box 13"/>
          <p:cNvSpPr txBox="1">
            <a:spLocks noChangeArrowheads="1"/>
          </p:cNvSpPr>
          <p:nvPr/>
        </p:nvSpPr>
        <p:spPr bwMode="auto">
          <a:xfrm>
            <a:off x="7164288" y="2298358"/>
            <a:ext cx="537327" cy="338554"/>
          </a:xfrm>
          <a:prstGeom prst="rect">
            <a:avLst/>
          </a:prstGeom>
          <a:noFill/>
          <a:ln w="9525">
            <a:noFill/>
            <a:miter lim="800000"/>
            <a:headEnd/>
            <a:tailEnd/>
          </a:ln>
        </p:spPr>
        <p:txBody>
          <a:bodyPr wrap="none" anchor="ctr">
            <a:spAutoFit/>
          </a:bodyPr>
          <a:lstStyle/>
          <a:p>
            <a:pPr algn="ctr">
              <a:spcBef>
                <a:spcPct val="50000"/>
              </a:spcBef>
            </a:pPr>
            <a:r>
              <a:rPr lang="en-US" altLang="zh-TW" sz="1600" dirty="0">
                <a:latin typeface="Times New Roman" pitchFamily="18" charset="0"/>
                <a:ea typeface="PMingLiU" pitchFamily="18" charset="-120"/>
                <a:cs typeface="Times New Roman" pitchFamily="18" charset="0"/>
              </a:rPr>
              <a:t>FDI</a:t>
            </a:r>
          </a:p>
        </p:txBody>
      </p:sp>
      <p:sp>
        <p:nvSpPr>
          <p:cNvPr id="66" name="Text Box 13"/>
          <p:cNvSpPr txBox="1">
            <a:spLocks noChangeArrowheads="1"/>
          </p:cNvSpPr>
          <p:nvPr/>
        </p:nvSpPr>
        <p:spPr bwMode="auto">
          <a:xfrm>
            <a:off x="1130888" y="2298358"/>
            <a:ext cx="704808" cy="338554"/>
          </a:xfrm>
          <a:prstGeom prst="rect">
            <a:avLst/>
          </a:prstGeom>
          <a:noFill/>
          <a:ln w="9525">
            <a:noFill/>
            <a:miter lim="800000"/>
            <a:headEnd/>
            <a:tailEnd/>
          </a:ln>
        </p:spPr>
        <p:txBody>
          <a:bodyPr wrap="none" anchor="ctr">
            <a:spAutoFit/>
          </a:bodyPr>
          <a:lstStyle/>
          <a:p>
            <a:pPr algn="ctr">
              <a:spcBef>
                <a:spcPct val="50000"/>
              </a:spcBef>
            </a:pPr>
            <a:r>
              <a:rPr lang="en-US" altLang="zh-TW" sz="1600" dirty="0">
                <a:latin typeface="Times New Roman" pitchFamily="18" charset="0"/>
                <a:ea typeface="PMingLiU" pitchFamily="18" charset="-120"/>
                <a:cs typeface="Times New Roman" pitchFamily="18" charset="0"/>
              </a:rPr>
              <a:t>Trade</a:t>
            </a:r>
          </a:p>
        </p:txBody>
      </p:sp>
      <p:sp>
        <p:nvSpPr>
          <p:cNvPr id="67" name="Text Box 13"/>
          <p:cNvSpPr txBox="1">
            <a:spLocks noChangeArrowheads="1"/>
          </p:cNvSpPr>
          <p:nvPr/>
        </p:nvSpPr>
        <p:spPr bwMode="auto">
          <a:xfrm>
            <a:off x="7283888" y="4962654"/>
            <a:ext cx="960520" cy="338554"/>
          </a:xfrm>
          <a:prstGeom prst="rect">
            <a:avLst/>
          </a:prstGeom>
          <a:noFill/>
          <a:ln w="9525">
            <a:noFill/>
            <a:miter lim="800000"/>
            <a:headEnd/>
            <a:tailEnd/>
          </a:ln>
        </p:spPr>
        <p:txBody>
          <a:bodyPr wrap="none" anchor="ctr">
            <a:spAutoFit/>
          </a:bodyPr>
          <a:lstStyle/>
          <a:p>
            <a:pPr algn="ctr">
              <a:spcBef>
                <a:spcPct val="50000"/>
              </a:spcBef>
            </a:pPr>
            <a:r>
              <a:rPr lang="en-US" altLang="zh-TW" sz="1600" dirty="0">
                <a:latin typeface="Times New Roman" pitchFamily="18" charset="0"/>
                <a:ea typeface="PMingLiU" pitchFamily="18" charset="-120"/>
                <a:cs typeface="Times New Roman" pitchFamily="18" charset="0"/>
              </a:rPr>
              <a:t>Regional</a:t>
            </a:r>
          </a:p>
        </p:txBody>
      </p:sp>
      <p:sp>
        <p:nvSpPr>
          <p:cNvPr id="68" name="Text Box 13"/>
          <p:cNvSpPr txBox="1">
            <a:spLocks noChangeArrowheads="1"/>
          </p:cNvSpPr>
          <p:nvPr/>
        </p:nvSpPr>
        <p:spPr bwMode="auto">
          <a:xfrm>
            <a:off x="3801171" y="6165304"/>
            <a:ext cx="1350050" cy="443070"/>
          </a:xfrm>
          <a:prstGeom prst="rect">
            <a:avLst/>
          </a:prstGeom>
          <a:noFill/>
          <a:ln w="9525">
            <a:noFill/>
            <a:miter lim="800000"/>
            <a:headEnd/>
            <a:tailEnd/>
          </a:ln>
        </p:spPr>
        <p:txBody>
          <a:bodyPr wrap="none" anchor="ctr">
            <a:spAutoFit/>
          </a:bodyPr>
          <a:lstStyle/>
          <a:p>
            <a:pPr algn="ctr">
              <a:lnSpc>
                <a:spcPts val="800"/>
              </a:lnSpc>
              <a:spcBef>
                <a:spcPct val="50000"/>
              </a:spcBef>
            </a:pPr>
            <a:r>
              <a:rPr lang="en-US" altLang="zh-TW" sz="1600" dirty="0">
                <a:ea typeface="PMingLiU" pitchFamily="18" charset="-120"/>
                <a:cs typeface="Times New Roman" pitchFamily="18" charset="0"/>
              </a:rPr>
              <a:t>International</a:t>
            </a:r>
          </a:p>
          <a:p>
            <a:pPr algn="ctr">
              <a:lnSpc>
                <a:spcPts val="800"/>
              </a:lnSpc>
              <a:spcBef>
                <a:spcPct val="50000"/>
              </a:spcBef>
            </a:pPr>
            <a:r>
              <a:rPr lang="en-US" altLang="zh-TW" sz="1600" dirty="0">
                <a:latin typeface="Times New Roman" pitchFamily="18" charset="0"/>
                <a:ea typeface="PMingLiU" pitchFamily="18" charset="-120"/>
                <a:cs typeface="Times New Roman" pitchFamily="18" charset="0"/>
              </a:rPr>
              <a:t>Institutions</a:t>
            </a:r>
          </a:p>
        </p:txBody>
      </p:sp>
      <p:sp>
        <p:nvSpPr>
          <p:cNvPr id="69" name="Text Box 11"/>
          <p:cNvSpPr txBox="1">
            <a:spLocks noChangeArrowheads="1"/>
          </p:cNvSpPr>
          <p:nvPr/>
        </p:nvSpPr>
        <p:spPr bwMode="auto">
          <a:xfrm>
            <a:off x="3169305" y="4890646"/>
            <a:ext cx="1258679" cy="338554"/>
          </a:xfrm>
          <a:prstGeom prst="rect">
            <a:avLst/>
          </a:prstGeom>
          <a:noFill/>
          <a:ln w="9525">
            <a:noFill/>
            <a:miter lim="800000"/>
            <a:headEnd/>
            <a:tailEnd/>
          </a:ln>
        </p:spPr>
        <p:txBody>
          <a:bodyPr wrap="none" anchor="ctr">
            <a:spAutoFit/>
          </a:bodyPr>
          <a:lstStyle/>
          <a:p>
            <a:pPr algn="ctr">
              <a:spcBef>
                <a:spcPct val="50000"/>
              </a:spcBef>
            </a:pPr>
            <a:r>
              <a:rPr lang="en-US" altLang="zh-TW" sz="1600" dirty="0">
                <a:ea typeface="PMingLiU" pitchFamily="18" charset="-120"/>
                <a:cs typeface="Times New Roman" pitchFamily="18" charset="0"/>
              </a:rPr>
              <a:t>Distributors</a:t>
            </a:r>
            <a:endParaRPr lang="en-US" altLang="zh-TW" sz="1600" dirty="0">
              <a:latin typeface="Times New Roman" pitchFamily="18" charset="0"/>
              <a:ea typeface="PMingLiU" pitchFamily="18" charset="-120"/>
              <a:cs typeface="Times New Roman" pitchFamily="18" charset="0"/>
            </a:endParaRP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5602" name="Object 2">
            <a:hlinkClick r:id="" action="ppaction://ole?verb=0"/>
          </p:cNvPr>
          <p:cNvGraphicFramePr>
            <a:graphicFrameLocks/>
          </p:cNvGraphicFramePr>
          <p:nvPr/>
        </p:nvGraphicFramePr>
        <p:xfrm>
          <a:off x="381000" y="4208463"/>
          <a:ext cx="8382000" cy="2049462"/>
        </p:xfrm>
        <a:graphic>
          <a:graphicData uri="http://schemas.openxmlformats.org/presentationml/2006/ole">
            <mc:AlternateContent xmlns:mc="http://schemas.openxmlformats.org/markup-compatibility/2006">
              <mc:Choice xmlns:v="urn:schemas-microsoft-com:vml" Requires="v">
                <p:oleObj name="Clip" r:id="rId2" imgW="3657600" imgH="2338200" progId="">
                  <p:embed/>
                </p:oleObj>
              </mc:Choice>
              <mc:Fallback>
                <p:oleObj name="Clip" r:id="rId2" imgW="3657600" imgH="2338200" progId="">
                  <p:embed/>
                  <p:pic>
                    <p:nvPicPr>
                      <p:cNvPr id="0" name="Object 2"/>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4208463"/>
                        <a:ext cx="8382000" cy="2049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5603" name="WordArt 3"/>
          <p:cNvSpPr>
            <a:spLocks noChangeArrowheads="1" noChangeShapeType="1" noTextEdit="1"/>
          </p:cNvSpPr>
          <p:nvPr/>
        </p:nvSpPr>
        <p:spPr bwMode="auto">
          <a:xfrm>
            <a:off x="467544" y="1412776"/>
            <a:ext cx="8280920" cy="2448272"/>
          </a:xfrm>
          <a:prstGeom prst="rect">
            <a:avLst/>
          </a:prstGeom>
        </p:spPr>
        <p:txBody>
          <a:bodyPr wrap="none" fromWordArt="1">
            <a:prstTxWarp prst="textSlantUp">
              <a:avLst>
                <a:gd name="adj" fmla="val 32056"/>
              </a:avLst>
            </a:prstTxWarp>
          </a:bodyPr>
          <a:lstStyle/>
          <a:p>
            <a:pPr algn="ctr"/>
            <a:r>
              <a:rPr lang="en-US" altLang="ko-KR" sz="4800" kern="10" dirty="0">
                <a:ln w="9525">
                  <a:solidFill>
                    <a:srgbClr val="CC99FF"/>
                  </a:solidFill>
                  <a:round/>
                  <a:headEnd/>
                  <a:tailEnd/>
                </a:ln>
                <a:gradFill rotWithShape="1">
                  <a:gsLst>
                    <a:gs pos="0">
                      <a:srgbClr val="333399"/>
                    </a:gs>
                    <a:gs pos="100000">
                      <a:schemeClr val="accent2"/>
                    </a:gs>
                  </a:gsLst>
                  <a:lin ang="5400000" scaled="1"/>
                </a:gradFill>
                <a:effectLst>
                  <a:outerShdw dist="53882" dir="2700000" algn="ctr" rotWithShape="0">
                    <a:srgbClr val="9999FF"/>
                  </a:outerShdw>
                </a:effectLst>
                <a:latin typeface="Impact"/>
              </a:rPr>
              <a:t>International Trade Theory</a:t>
            </a:r>
            <a:endParaRPr lang="ko-KR" altLang="en-US" sz="4800" kern="10" dirty="0">
              <a:ln w="9525">
                <a:solidFill>
                  <a:srgbClr val="CC99FF"/>
                </a:solidFill>
                <a:round/>
                <a:headEnd/>
                <a:tailEnd/>
              </a:ln>
              <a:gradFill rotWithShape="1">
                <a:gsLst>
                  <a:gs pos="0">
                    <a:srgbClr val="333399"/>
                  </a:gs>
                  <a:gs pos="100000">
                    <a:schemeClr val="accent2"/>
                  </a:gs>
                </a:gsLst>
                <a:lin ang="5400000" scaled="1"/>
              </a:gradFill>
              <a:effectLst>
                <a:outerShdw dist="53882" dir="2700000" algn="ctr" rotWithShape="0">
                  <a:srgbClr val="9999FF"/>
                </a:outerShdw>
              </a:effectLst>
              <a:latin typeface="Impact"/>
            </a:endParaRP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74" name="Rectangle 2" descr="Large confetti"/>
          <p:cNvSpPr>
            <a:spLocks noGrp="1" noChangeArrowheads="1"/>
          </p:cNvSpPr>
          <p:nvPr>
            <p:ph type="title"/>
          </p:nvPr>
        </p:nvSpPr>
        <p:spPr>
          <a:xfrm>
            <a:off x="0" y="0"/>
            <a:ext cx="9144000" cy="1143000"/>
          </a:xfrm>
          <a:noFill/>
        </p:spPr>
        <p:txBody>
          <a:bodyPr lIns="90488" tIns="44450" rIns="90488" bIns="44450" anchor="ctr"/>
          <a:lstStyle/>
          <a:p>
            <a:pPr algn="ctr" eaLnBrk="1" hangingPunct="1">
              <a:buClr>
                <a:schemeClr val="tx1"/>
              </a:buClr>
            </a:pPr>
            <a:r>
              <a:rPr kumimoji="0" lang="en-US" altLang="ko-KR" sz="3200" b="1" kern="1200" dirty="0">
                <a:solidFill>
                  <a:srgbClr val="FFCC00"/>
                </a:solidFill>
                <a:latin typeface="Times New Roman" pitchFamily="18" charset="0"/>
                <a:cs typeface="Times New Roman" pitchFamily="18" charset="0"/>
              </a:rPr>
              <a:t>INTERNATIONAL TRADE THEORY</a:t>
            </a:r>
          </a:p>
        </p:txBody>
      </p:sp>
      <p:sp>
        <p:nvSpPr>
          <p:cNvPr id="46083" name="Rectangle 3"/>
          <p:cNvSpPr>
            <a:spLocks noGrp="1" noChangeArrowheads="1"/>
          </p:cNvSpPr>
          <p:nvPr>
            <p:ph type="body" idx="1"/>
          </p:nvPr>
        </p:nvSpPr>
        <p:spPr>
          <a:xfrm>
            <a:off x="1159768" y="1445096"/>
            <a:ext cx="7984232" cy="4648200"/>
          </a:xfrm>
          <a:noFill/>
        </p:spPr>
        <p:txBody>
          <a:bodyPr lIns="90488" tIns="44450" rIns="90488" bIns="44450"/>
          <a:lstStyle/>
          <a:p>
            <a:pPr eaLnBrk="1" hangingPunct="1">
              <a:buFontTx/>
              <a:buChar char="•"/>
            </a:pPr>
            <a:r>
              <a:rPr lang="en-US" altLang="ko-KR" sz="3200" b="0" dirty="0">
                <a:solidFill>
                  <a:schemeClr val="bg2">
                    <a:lumMod val="20000"/>
                    <a:lumOff val="80000"/>
                  </a:schemeClr>
                </a:solidFill>
                <a:latin typeface="Times New Roman" pitchFamily="18" charset="0"/>
                <a:cs typeface="Times New Roman" pitchFamily="18" charset="0"/>
              </a:rPr>
              <a:t>Mercantilism</a:t>
            </a:r>
          </a:p>
          <a:p>
            <a:pPr eaLnBrk="1" hangingPunct="1">
              <a:buFontTx/>
              <a:buChar char="•"/>
            </a:pPr>
            <a:r>
              <a:rPr lang="en-US" altLang="ko-KR" sz="3200" b="0" dirty="0">
                <a:solidFill>
                  <a:schemeClr val="bg2">
                    <a:lumMod val="20000"/>
                    <a:lumOff val="80000"/>
                  </a:schemeClr>
                </a:solidFill>
                <a:latin typeface="Times New Roman" pitchFamily="18" charset="0"/>
                <a:cs typeface="Times New Roman" pitchFamily="18" charset="0"/>
              </a:rPr>
              <a:t>Absolute Advantage</a:t>
            </a:r>
          </a:p>
          <a:p>
            <a:pPr eaLnBrk="1" hangingPunct="1">
              <a:buFontTx/>
              <a:buChar char="•"/>
            </a:pPr>
            <a:r>
              <a:rPr lang="en-US" altLang="ko-KR" sz="3200" b="0" dirty="0">
                <a:solidFill>
                  <a:schemeClr val="bg2">
                    <a:lumMod val="20000"/>
                    <a:lumOff val="80000"/>
                  </a:schemeClr>
                </a:solidFill>
                <a:latin typeface="Times New Roman" pitchFamily="18" charset="0"/>
                <a:cs typeface="Times New Roman" pitchFamily="18" charset="0"/>
              </a:rPr>
              <a:t>Comparative Advantage</a:t>
            </a:r>
          </a:p>
          <a:p>
            <a:pPr eaLnBrk="1" hangingPunct="1">
              <a:buFontTx/>
              <a:buChar char="•"/>
            </a:pPr>
            <a:r>
              <a:rPr lang="en-US" altLang="ko-KR" sz="3200" b="0" dirty="0">
                <a:solidFill>
                  <a:schemeClr val="bg2">
                    <a:lumMod val="20000"/>
                    <a:lumOff val="80000"/>
                  </a:schemeClr>
                </a:solidFill>
                <a:latin typeface="Times New Roman" pitchFamily="18" charset="0"/>
                <a:cs typeface="Times New Roman" pitchFamily="18" charset="0"/>
              </a:rPr>
              <a:t>Heckscher-Ohlin Theory</a:t>
            </a:r>
          </a:p>
          <a:p>
            <a:pPr eaLnBrk="1" hangingPunct="1">
              <a:buFontTx/>
              <a:buChar char="•"/>
            </a:pPr>
            <a:r>
              <a:rPr lang="en-US" altLang="ko-KR" sz="3200" b="0" dirty="0">
                <a:solidFill>
                  <a:schemeClr val="bg2">
                    <a:lumMod val="20000"/>
                    <a:lumOff val="80000"/>
                  </a:schemeClr>
                </a:solidFill>
                <a:latin typeface="Times New Roman" pitchFamily="18" charset="0"/>
                <a:cs typeface="Times New Roman" pitchFamily="18" charset="0"/>
              </a:rPr>
              <a:t>Product Life Cycle Theory</a:t>
            </a:r>
          </a:p>
          <a:p>
            <a:pPr eaLnBrk="1" hangingPunct="1">
              <a:buFontTx/>
              <a:buChar char="•"/>
            </a:pPr>
            <a:r>
              <a:rPr lang="en-US" altLang="ko-KR" sz="3200" b="0" dirty="0">
                <a:solidFill>
                  <a:schemeClr val="bg2">
                    <a:lumMod val="20000"/>
                    <a:lumOff val="80000"/>
                  </a:schemeClr>
                </a:solidFill>
                <a:latin typeface="Times New Roman" pitchFamily="18" charset="0"/>
                <a:cs typeface="Times New Roman" pitchFamily="18" charset="0"/>
              </a:rPr>
              <a:t>Strategic Trade Theory</a:t>
            </a:r>
          </a:p>
          <a:p>
            <a:pPr eaLnBrk="1" hangingPunct="1">
              <a:buFontTx/>
              <a:buChar char="•"/>
            </a:pPr>
            <a:r>
              <a:rPr lang="en-US" altLang="ko-KR" sz="3200" b="0" dirty="0">
                <a:solidFill>
                  <a:schemeClr val="bg2">
                    <a:lumMod val="20000"/>
                    <a:lumOff val="80000"/>
                  </a:schemeClr>
                </a:solidFill>
                <a:latin typeface="Times New Roman" pitchFamily="18" charset="0"/>
                <a:cs typeface="Times New Roman" pitchFamily="18" charset="0"/>
              </a:rPr>
              <a:t>Competitive Advantage (Porter’s Diamond)</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6083">
                                            <p:txEl>
                                              <p:pRg st="0" end="0"/>
                                            </p:txEl>
                                          </p:spTgt>
                                        </p:tgtEl>
                                        <p:attrNameLst>
                                          <p:attrName>style.visibility</p:attrName>
                                        </p:attrNameLst>
                                      </p:cBhvr>
                                      <p:to>
                                        <p:strVal val="visible"/>
                                      </p:to>
                                    </p:set>
                                    <p:anim calcmode="lin" valueType="num">
                                      <p:cBhvr additive="base">
                                        <p:cTn id="7" dur="500" fill="hold"/>
                                        <p:tgtEl>
                                          <p:spTgt spid="4608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4608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6083">
                                            <p:txEl>
                                              <p:pRg st="1" end="1"/>
                                            </p:txEl>
                                          </p:spTgt>
                                        </p:tgtEl>
                                        <p:attrNameLst>
                                          <p:attrName>style.visibility</p:attrName>
                                        </p:attrNameLst>
                                      </p:cBhvr>
                                      <p:to>
                                        <p:strVal val="visible"/>
                                      </p:to>
                                    </p:set>
                                    <p:anim calcmode="lin" valueType="num">
                                      <p:cBhvr additive="base">
                                        <p:cTn id="13" dur="500" fill="hold"/>
                                        <p:tgtEl>
                                          <p:spTgt spid="4608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4608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46083">
                                            <p:txEl>
                                              <p:pRg st="2" end="2"/>
                                            </p:txEl>
                                          </p:spTgt>
                                        </p:tgtEl>
                                        <p:attrNameLst>
                                          <p:attrName>style.visibility</p:attrName>
                                        </p:attrNameLst>
                                      </p:cBhvr>
                                      <p:to>
                                        <p:strVal val="visible"/>
                                      </p:to>
                                    </p:set>
                                    <p:anim calcmode="lin" valueType="num">
                                      <p:cBhvr additive="base">
                                        <p:cTn id="19" dur="500" fill="hold"/>
                                        <p:tgtEl>
                                          <p:spTgt spid="4608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4608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46083">
                                            <p:txEl>
                                              <p:pRg st="3" end="3"/>
                                            </p:txEl>
                                          </p:spTgt>
                                        </p:tgtEl>
                                        <p:attrNameLst>
                                          <p:attrName>style.visibility</p:attrName>
                                        </p:attrNameLst>
                                      </p:cBhvr>
                                      <p:to>
                                        <p:strVal val="visible"/>
                                      </p:to>
                                    </p:set>
                                    <p:anim calcmode="lin" valueType="num">
                                      <p:cBhvr additive="base">
                                        <p:cTn id="25" dur="500" fill="hold"/>
                                        <p:tgtEl>
                                          <p:spTgt spid="46083">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4608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46083">
                                            <p:txEl>
                                              <p:pRg st="4" end="4"/>
                                            </p:txEl>
                                          </p:spTgt>
                                        </p:tgtEl>
                                        <p:attrNameLst>
                                          <p:attrName>style.visibility</p:attrName>
                                        </p:attrNameLst>
                                      </p:cBhvr>
                                      <p:to>
                                        <p:strVal val="visible"/>
                                      </p:to>
                                    </p:set>
                                    <p:anim calcmode="lin" valueType="num">
                                      <p:cBhvr additive="base">
                                        <p:cTn id="31" dur="500" fill="hold"/>
                                        <p:tgtEl>
                                          <p:spTgt spid="46083">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46083">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46083">
                                            <p:txEl>
                                              <p:pRg st="5" end="5"/>
                                            </p:txEl>
                                          </p:spTgt>
                                        </p:tgtEl>
                                        <p:attrNameLst>
                                          <p:attrName>style.visibility</p:attrName>
                                        </p:attrNameLst>
                                      </p:cBhvr>
                                      <p:to>
                                        <p:strVal val="visible"/>
                                      </p:to>
                                    </p:set>
                                    <p:anim calcmode="lin" valueType="num">
                                      <p:cBhvr additive="base">
                                        <p:cTn id="37" dur="500" fill="hold"/>
                                        <p:tgtEl>
                                          <p:spTgt spid="46083">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46083">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46083">
                                            <p:txEl>
                                              <p:pRg st="6" end="6"/>
                                            </p:txEl>
                                          </p:spTgt>
                                        </p:tgtEl>
                                        <p:attrNameLst>
                                          <p:attrName>style.visibility</p:attrName>
                                        </p:attrNameLst>
                                      </p:cBhvr>
                                      <p:to>
                                        <p:strVal val="visible"/>
                                      </p:to>
                                    </p:set>
                                    <p:anim calcmode="lin" valueType="num">
                                      <p:cBhvr additive="base">
                                        <p:cTn id="43" dur="500" fill="hold"/>
                                        <p:tgtEl>
                                          <p:spTgt spid="46083">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46083">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3" grpId="0" build="p" autoUpdateAnimBg="0"/>
    </p:bld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63" name="Rectangle 3">
            <a:extLst>
              <a:ext uri="{FF2B5EF4-FFF2-40B4-BE49-F238E27FC236}">
                <a16:creationId xmlns:a16="http://schemas.microsoft.com/office/drawing/2014/main" id="{7F710278-64C5-2E2C-2FC7-9D7E1057CCE2}"/>
              </a:ext>
            </a:extLst>
          </p:cNvPr>
          <p:cNvSpPr>
            <a:spLocks noGrp="1" noChangeArrowheads="1"/>
          </p:cNvSpPr>
          <p:nvPr>
            <p:ph type="body" idx="1"/>
          </p:nvPr>
        </p:nvSpPr>
        <p:spPr>
          <a:xfrm>
            <a:off x="323528" y="1340768"/>
            <a:ext cx="8712968" cy="4536504"/>
          </a:xfrm>
          <a:noFill/>
        </p:spPr>
        <p:txBody>
          <a:bodyPr lIns="90488" tIns="44450" rIns="90488" bIns="44450"/>
          <a:lstStyle/>
          <a:p>
            <a:pPr eaLnBrk="1" hangingPunct="1">
              <a:buFontTx/>
              <a:buChar char="•"/>
            </a:pPr>
            <a:r>
              <a:rPr lang="en-US" altLang="ko-KR" sz="2400" b="0" dirty="0">
                <a:latin typeface="Times New Roman" panose="02020603050405020304" pitchFamily="18" charset="0"/>
                <a:cs typeface="Times New Roman" panose="02020603050405020304" pitchFamily="18" charset="0"/>
              </a:rPr>
              <a:t>Mid-16</a:t>
            </a:r>
            <a:r>
              <a:rPr lang="en-US" altLang="ko-KR" sz="2400" b="0" baseline="30000" dirty="0">
                <a:latin typeface="Times New Roman" panose="02020603050405020304" pitchFamily="18" charset="0"/>
                <a:cs typeface="Times New Roman" panose="02020603050405020304" pitchFamily="18" charset="0"/>
              </a:rPr>
              <a:t>th</a:t>
            </a:r>
            <a:r>
              <a:rPr lang="en-US" altLang="ko-KR" sz="2400" b="0" dirty="0">
                <a:latin typeface="Times New Roman" panose="02020603050405020304" pitchFamily="18" charset="0"/>
                <a:cs typeface="Times New Roman" panose="02020603050405020304" pitchFamily="18" charset="0"/>
              </a:rPr>
              <a:t> up to 18</a:t>
            </a:r>
            <a:r>
              <a:rPr lang="en-US" altLang="ko-KR" sz="2400" b="0" baseline="30000" dirty="0">
                <a:latin typeface="Times New Roman" panose="02020603050405020304" pitchFamily="18" charset="0"/>
                <a:cs typeface="Times New Roman" panose="02020603050405020304" pitchFamily="18" charset="0"/>
              </a:rPr>
              <a:t>th</a:t>
            </a:r>
            <a:r>
              <a:rPr lang="en-US" altLang="ko-KR" sz="2400" b="0" dirty="0">
                <a:latin typeface="Times New Roman" panose="02020603050405020304" pitchFamily="18" charset="0"/>
                <a:cs typeface="Times New Roman" panose="02020603050405020304" pitchFamily="18" charset="0"/>
              </a:rPr>
              <a:t> centuries </a:t>
            </a:r>
          </a:p>
          <a:p>
            <a:pPr eaLnBrk="1" hangingPunct="1">
              <a:buFontTx/>
              <a:buChar char="•"/>
            </a:pPr>
            <a:r>
              <a:rPr lang="en-US" altLang="ko-KR" sz="2400" b="0" dirty="0">
                <a:latin typeface="Times New Roman" panose="02020603050405020304" pitchFamily="18" charset="0"/>
                <a:cs typeface="Times New Roman" panose="02020603050405020304" pitchFamily="18" charset="0"/>
              </a:rPr>
              <a:t>A nation’s power and wealth depend on accumulated treasure (precious metals).</a:t>
            </a:r>
          </a:p>
          <a:p>
            <a:pPr eaLnBrk="1" hangingPunct="1">
              <a:buFontTx/>
              <a:buChar char="•"/>
            </a:pPr>
            <a:r>
              <a:rPr lang="en-US" altLang="ko-KR" sz="2400" b="0" dirty="0">
                <a:latin typeface="Times New Roman" panose="02020603050405020304" pitchFamily="18" charset="0"/>
                <a:cs typeface="Times New Roman" panose="02020603050405020304" pitchFamily="18" charset="0"/>
              </a:rPr>
              <a:t>Gold and silver are the currency of trade.</a:t>
            </a:r>
          </a:p>
          <a:p>
            <a:pPr eaLnBrk="1" hangingPunct="1">
              <a:buFontTx/>
              <a:buChar char="•"/>
            </a:pPr>
            <a:r>
              <a:rPr lang="en-US" altLang="ko-KR" sz="2400" b="0" dirty="0">
                <a:latin typeface="Times New Roman" panose="02020603050405020304" pitchFamily="18" charset="0"/>
                <a:cs typeface="Times New Roman" panose="02020603050405020304" pitchFamily="18" charset="0"/>
              </a:rPr>
              <a:t>Nations should have a trade surplus by</a:t>
            </a:r>
          </a:p>
          <a:p>
            <a:pPr marL="457200" lvl="1" indent="0" eaLnBrk="1" hangingPunct="1">
              <a:buClr>
                <a:schemeClr val="tx1"/>
              </a:buClr>
              <a:buNone/>
            </a:pPr>
            <a:r>
              <a:rPr lang="en-US" altLang="ko-KR" sz="2400" dirty="0">
                <a:solidFill>
                  <a:schemeClr val="tx1"/>
                </a:solidFill>
                <a:latin typeface="Times New Roman" panose="02020603050405020304" pitchFamily="18" charset="0"/>
                <a:cs typeface="Times New Roman" panose="02020603050405020304" pitchFamily="18" charset="0"/>
              </a:rPr>
              <a:t>- Maximizing exports through subsidies.</a:t>
            </a:r>
          </a:p>
          <a:p>
            <a:pPr marL="457200" lvl="1" indent="0" eaLnBrk="1" hangingPunct="1">
              <a:buClr>
                <a:schemeClr val="tx1"/>
              </a:buClr>
              <a:buNone/>
            </a:pPr>
            <a:r>
              <a:rPr lang="en-US" altLang="ko-KR" sz="2400" dirty="0">
                <a:solidFill>
                  <a:schemeClr val="tx1"/>
                </a:solidFill>
                <a:latin typeface="Times New Roman" panose="02020603050405020304" pitchFamily="18" charset="0"/>
                <a:cs typeface="Times New Roman" panose="02020603050405020304" pitchFamily="18" charset="0"/>
              </a:rPr>
              <a:t>- Minimizing imports through tariffs and quotas.</a:t>
            </a:r>
          </a:p>
          <a:p>
            <a:pPr eaLnBrk="1" hangingPunct="1">
              <a:buFontTx/>
              <a:buChar char="•"/>
            </a:pPr>
            <a:r>
              <a:rPr lang="en-US" altLang="ko-KR" sz="2400" b="0" dirty="0">
                <a:latin typeface="Times New Roman" panose="02020603050405020304" pitchFamily="18" charset="0"/>
                <a:cs typeface="Times New Roman" panose="02020603050405020304" pitchFamily="18" charset="0"/>
              </a:rPr>
              <a:t>Trade is a zero-sum game.</a:t>
            </a:r>
          </a:p>
          <a:p>
            <a:pPr lvl="1" eaLnBrk="1" hangingPunct="1">
              <a:buClr>
                <a:schemeClr val="tx1"/>
              </a:buClr>
              <a:buFontTx/>
              <a:buChar char="-"/>
            </a:pPr>
            <a:r>
              <a:rPr lang="en-US" altLang="ko-KR" sz="2400" dirty="0">
                <a:solidFill>
                  <a:schemeClr val="tx1"/>
                </a:solidFill>
                <a:latin typeface="Times New Roman" panose="02020603050405020304" pitchFamily="18" charset="0"/>
                <a:cs typeface="Times New Roman" panose="02020603050405020304" pitchFamily="18" charset="0"/>
              </a:rPr>
              <a:t>A nation can gain in trade only at the expense of other nations.</a:t>
            </a:r>
          </a:p>
          <a:p>
            <a:pPr lvl="1" eaLnBrk="1" hangingPunct="1">
              <a:buClr>
                <a:schemeClr val="tx1"/>
              </a:buClr>
              <a:buFontTx/>
              <a:buChar char="-"/>
            </a:pPr>
            <a:r>
              <a:rPr lang="en-US" altLang="ko-KR" sz="2400" dirty="0">
                <a:solidFill>
                  <a:schemeClr val="tx1"/>
                </a:solidFill>
                <a:latin typeface="Times New Roman" panose="02020603050405020304" pitchFamily="18" charset="0"/>
                <a:cs typeface="Times New Roman" panose="02020603050405020304" pitchFamily="18" charset="0"/>
              </a:rPr>
              <a:t>Government intervention is good.</a:t>
            </a:r>
          </a:p>
        </p:txBody>
      </p:sp>
      <p:sp>
        <p:nvSpPr>
          <p:cNvPr id="4" name="Rectangle 2" descr="Large confetti">
            <a:extLst>
              <a:ext uri="{FF2B5EF4-FFF2-40B4-BE49-F238E27FC236}">
                <a16:creationId xmlns:a16="http://schemas.microsoft.com/office/drawing/2014/main" id="{25E2733B-6CFC-F2C7-3B16-5E94C1021BEB}"/>
              </a:ext>
            </a:extLst>
          </p:cNvPr>
          <p:cNvSpPr>
            <a:spLocks noGrp="1" noChangeArrowheads="1"/>
          </p:cNvSpPr>
          <p:nvPr>
            <p:ph type="title"/>
          </p:nvPr>
        </p:nvSpPr>
        <p:spPr>
          <a:xfrm>
            <a:off x="0" y="44624"/>
            <a:ext cx="9144000" cy="990600"/>
          </a:xfrm>
        </p:spPr>
        <p:txBody>
          <a:bodyPr lIns="90488" tIns="44450" rIns="90488" bIns="44450" anchor="ctr"/>
          <a:lstStyle/>
          <a:p>
            <a:pPr algn="ctr" eaLnBrk="1" hangingPunct="1">
              <a:defRPr/>
            </a:pPr>
            <a:r>
              <a:rPr lang="en-US" altLang="ko-KR" sz="3200" b="1" kern="1200" dirty="0">
                <a:solidFill>
                  <a:srgbClr val="FFCC00"/>
                </a:solidFill>
                <a:latin typeface="Times New Roman" pitchFamily="18" charset="0"/>
                <a:cs typeface="Times New Roman" pitchFamily="18" charset="0"/>
              </a:rPr>
              <a:t>Mercantilism</a:t>
            </a:r>
            <a:endParaRPr kumimoji="0" lang="en-US" altLang="ko-KR" sz="3200" b="1" kern="1200" dirty="0">
              <a:solidFill>
                <a:srgbClr val="FFCC00"/>
              </a:solidFill>
              <a:latin typeface="Times New Roman" pitchFamily="18" charset="0"/>
              <a:cs typeface="Times New Roman" pitchFamily="18" charset="0"/>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40963">
                                            <p:txEl>
                                              <p:pRg st="0" end="0"/>
                                            </p:txEl>
                                          </p:spTgt>
                                        </p:tgtEl>
                                        <p:attrNameLst>
                                          <p:attrName>style.visibility</p:attrName>
                                        </p:attrNameLst>
                                      </p:cBhvr>
                                      <p:to>
                                        <p:strVal val="visible"/>
                                      </p:to>
                                    </p:set>
                                    <p:anim calcmode="lin" valueType="num">
                                      <p:cBhvr additive="base">
                                        <p:cTn id="7" dur="500" fill="hold"/>
                                        <p:tgtEl>
                                          <p:spTgt spid="4096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4096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40963">
                                            <p:txEl>
                                              <p:pRg st="1" end="1"/>
                                            </p:txEl>
                                          </p:spTgt>
                                        </p:tgtEl>
                                        <p:attrNameLst>
                                          <p:attrName>style.visibility</p:attrName>
                                        </p:attrNameLst>
                                      </p:cBhvr>
                                      <p:to>
                                        <p:strVal val="visible"/>
                                      </p:to>
                                    </p:set>
                                    <p:anim calcmode="lin" valueType="num">
                                      <p:cBhvr additive="base">
                                        <p:cTn id="13" dur="500" fill="hold"/>
                                        <p:tgtEl>
                                          <p:spTgt spid="4096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4096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40963">
                                            <p:txEl>
                                              <p:pRg st="2" end="2"/>
                                            </p:txEl>
                                          </p:spTgt>
                                        </p:tgtEl>
                                        <p:attrNameLst>
                                          <p:attrName>style.visibility</p:attrName>
                                        </p:attrNameLst>
                                      </p:cBhvr>
                                      <p:to>
                                        <p:strVal val="visible"/>
                                      </p:to>
                                    </p:set>
                                    <p:anim calcmode="lin" valueType="num">
                                      <p:cBhvr additive="base">
                                        <p:cTn id="19" dur="500" fill="hold"/>
                                        <p:tgtEl>
                                          <p:spTgt spid="4096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4096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40963">
                                            <p:txEl>
                                              <p:pRg st="3" end="3"/>
                                            </p:txEl>
                                          </p:spTgt>
                                        </p:tgtEl>
                                        <p:attrNameLst>
                                          <p:attrName>style.visibility</p:attrName>
                                        </p:attrNameLst>
                                      </p:cBhvr>
                                      <p:to>
                                        <p:strVal val="visible"/>
                                      </p:to>
                                    </p:set>
                                    <p:anim calcmode="lin" valueType="num">
                                      <p:cBhvr additive="base">
                                        <p:cTn id="25" dur="500" fill="hold"/>
                                        <p:tgtEl>
                                          <p:spTgt spid="40963">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40963">
                                            <p:txEl>
                                              <p:pRg st="3" end="3"/>
                                            </p:txEl>
                                          </p:spTgt>
                                        </p:tgtEl>
                                        <p:attrNameLst>
                                          <p:attrName>ppt_y</p:attrName>
                                        </p:attrNameLst>
                                      </p:cBhvr>
                                      <p:tavLst>
                                        <p:tav tm="0">
                                          <p:val>
                                            <p:strVal val="#ppt_y"/>
                                          </p:val>
                                        </p:tav>
                                        <p:tav tm="100000">
                                          <p:val>
                                            <p:strVal val="#ppt_y"/>
                                          </p:val>
                                        </p:tav>
                                      </p:tavLst>
                                    </p:anim>
                                  </p:childTnLst>
                                </p:cTn>
                              </p:par>
                              <p:par>
                                <p:cTn id="27" presetID="2" presetClass="entr" presetSubtype="8" fill="hold" nodeType="withEffect">
                                  <p:stCondLst>
                                    <p:cond delay="0"/>
                                  </p:stCondLst>
                                  <p:childTnLst>
                                    <p:set>
                                      <p:cBhvr>
                                        <p:cTn id="28" dur="1" fill="hold">
                                          <p:stCondLst>
                                            <p:cond delay="0"/>
                                          </p:stCondLst>
                                        </p:cTn>
                                        <p:tgtEl>
                                          <p:spTgt spid="40963">
                                            <p:txEl>
                                              <p:pRg st="4" end="4"/>
                                            </p:txEl>
                                          </p:spTgt>
                                        </p:tgtEl>
                                        <p:attrNameLst>
                                          <p:attrName>style.visibility</p:attrName>
                                        </p:attrNameLst>
                                      </p:cBhvr>
                                      <p:to>
                                        <p:strVal val="visible"/>
                                      </p:to>
                                    </p:set>
                                    <p:anim calcmode="lin" valueType="num">
                                      <p:cBhvr additive="base">
                                        <p:cTn id="29" dur="500" fill="hold"/>
                                        <p:tgtEl>
                                          <p:spTgt spid="40963">
                                            <p:txEl>
                                              <p:pRg st="4" end="4"/>
                                            </p:txEl>
                                          </p:spTgt>
                                        </p:tgtEl>
                                        <p:attrNameLst>
                                          <p:attrName>ppt_x</p:attrName>
                                        </p:attrNameLst>
                                      </p:cBhvr>
                                      <p:tavLst>
                                        <p:tav tm="0">
                                          <p:val>
                                            <p:strVal val="0-#ppt_w/2"/>
                                          </p:val>
                                        </p:tav>
                                        <p:tav tm="100000">
                                          <p:val>
                                            <p:strVal val="#ppt_x"/>
                                          </p:val>
                                        </p:tav>
                                      </p:tavLst>
                                    </p:anim>
                                    <p:anim calcmode="lin" valueType="num">
                                      <p:cBhvr additive="base">
                                        <p:cTn id="30" dur="500" fill="hold"/>
                                        <p:tgtEl>
                                          <p:spTgt spid="40963">
                                            <p:txEl>
                                              <p:pRg st="4" end="4"/>
                                            </p:txEl>
                                          </p:spTgt>
                                        </p:tgtEl>
                                        <p:attrNameLst>
                                          <p:attrName>ppt_y</p:attrName>
                                        </p:attrNameLst>
                                      </p:cBhvr>
                                      <p:tavLst>
                                        <p:tav tm="0">
                                          <p:val>
                                            <p:strVal val="#ppt_y"/>
                                          </p:val>
                                        </p:tav>
                                        <p:tav tm="100000">
                                          <p:val>
                                            <p:strVal val="#ppt_y"/>
                                          </p:val>
                                        </p:tav>
                                      </p:tavLst>
                                    </p:anim>
                                  </p:childTnLst>
                                </p:cTn>
                              </p:par>
                              <p:par>
                                <p:cTn id="31" presetID="2" presetClass="entr" presetSubtype="8" fill="hold" nodeType="withEffect">
                                  <p:stCondLst>
                                    <p:cond delay="0"/>
                                  </p:stCondLst>
                                  <p:childTnLst>
                                    <p:set>
                                      <p:cBhvr>
                                        <p:cTn id="32" dur="1" fill="hold">
                                          <p:stCondLst>
                                            <p:cond delay="0"/>
                                          </p:stCondLst>
                                        </p:cTn>
                                        <p:tgtEl>
                                          <p:spTgt spid="40963">
                                            <p:txEl>
                                              <p:pRg st="5" end="5"/>
                                            </p:txEl>
                                          </p:spTgt>
                                        </p:tgtEl>
                                        <p:attrNameLst>
                                          <p:attrName>style.visibility</p:attrName>
                                        </p:attrNameLst>
                                      </p:cBhvr>
                                      <p:to>
                                        <p:strVal val="visible"/>
                                      </p:to>
                                    </p:set>
                                    <p:anim calcmode="lin" valueType="num">
                                      <p:cBhvr additive="base">
                                        <p:cTn id="33" dur="500" fill="hold"/>
                                        <p:tgtEl>
                                          <p:spTgt spid="40963">
                                            <p:txEl>
                                              <p:pRg st="5" end="5"/>
                                            </p:txEl>
                                          </p:spTgt>
                                        </p:tgtEl>
                                        <p:attrNameLst>
                                          <p:attrName>ppt_x</p:attrName>
                                        </p:attrNameLst>
                                      </p:cBhvr>
                                      <p:tavLst>
                                        <p:tav tm="0">
                                          <p:val>
                                            <p:strVal val="0-#ppt_w/2"/>
                                          </p:val>
                                        </p:tav>
                                        <p:tav tm="100000">
                                          <p:val>
                                            <p:strVal val="#ppt_x"/>
                                          </p:val>
                                        </p:tav>
                                      </p:tavLst>
                                    </p:anim>
                                    <p:anim calcmode="lin" valueType="num">
                                      <p:cBhvr additive="base">
                                        <p:cTn id="34" dur="500" fill="hold"/>
                                        <p:tgtEl>
                                          <p:spTgt spid="40963">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5" fill="hold" nodeType="clickPar">
                      <p:stCondLst>
                        <p:cond delay="indefinite"/>
                      </p:stCondLst>
                      <p:childTnLst>
                        <p:par>
                          <p:cTn id="36" fill="hold" nodeType="withGroup">
                            <p:stCondLst>
                              <p:cond delay="0"/>
                            </p:stCondLst>
                            <p:childTnLst>
                              <p:par>
                                <p:cTn id="37" presetID="2" presetClass="entr" presetSubtype="8" fill="hold" nodeType="clickEffect">
                                  <p:stCondLst>
                                    <p:cond delay="0"/>
                                  </p:stCondLst>
                                  <p:childTnLst>
                                    <p:set>
                                      <p:cBhvr>
                                        <p:cTn id="38" dur="1" fill="hold">
                                          <p:stCondLst>
                                            <p:cond delay="0"/>
                                          </p:stCondLst>
                                        </p:cTn>
                                        <p:tgtEl>
                                          <p:spTgt spid="40963">
                                            <p:txEl>
                                              <p:pRg st="6" end="6"/>
                                            </p:txEl>
                                          </p:spTgt>
                                        </p:tgtEl>
                                        <p:attrNameLst>
                                          <p:attrName>style.visibility</p:attrName>
                                        </p:attrNameLst>
                                      </p:cBhvr>
                                      <p:to>
                                        <p:strVal val="visible"/>
                                      </p:to>
                                    </p:set>
                                    <p:anim calcmode="lin" valueType="num">
                                      <p:cBhvr additive="base">
                                        <p:cTn id="39" dur="500" fill="hold"/>
                                        <p:tgtEl>
                                          <p:spTgt spid="40963">
                                            <p:txEl>
                                              <p:pRg st="6" end="6"/>
                                            </p:txEl>
                                          </p:spTgt>
                                        </p:tgtEl>
                                        <p:attrNameLst>
                                          <p:attrName>ppt_x</p:attrName>
                                        </p:attrNameLst>
                                      </p:cBhvr>
                                      <p:tavLst>
                                        <p:tav tm="0">
                                          <p:val>
                                            <p:strVal val="0-#ppt_w/2"/>
                                          </p:val>
                                        </p:tav>
                                        <p:tav tm="100000">
                                          <p:val>
                                            <p:strVal val="#ppt_x"/>
                                          </p:val>
                                        </p:tav>
                                      </p:tavLst>
                                    </p:anim>
                                    <p:anim calcmode="lin" valueType="num">
                                      <p:cBhvr additive="base">
                                        <p:cTn id="40" dur="500" fill="hold"/>
                                        <p:tgtEl>
                                          <p:spTgt spid="40963">
                                            <p:txEl>
                                              <p:pRg st="6" end="6"/>
                                            </p:txEl>
                                          </p:spTgt>
                                        </p:tgtEl>
                                        <p:attrNameLst>
                                          <p:attrName>ppt_y</p:attrName>
                                        </p:attrNameLst>
                                      </p:cBhvr>
                                      <p:tavLst>
                                        <p:tav tm="0">
                                          <p:val>
                                            <p:strVal val="#ppt_y"/>
                                          </p:val>
                                        </p:tav>
                                        <p:tav tm="100000">
                                          <p:val>
                                            <p:strVal val="#ppt_y"/>
                                          </p:val>
                                        </p:tav>
                                      </p:tavLst>
                                    </p:anim>
                                  </p:childTnLst>
                                </p:cTn>
                              </p:par>
                              <p:par>
                                <p:cTn id="41" presetID="2" presetClass="entr" presetSubtype="8" fill="hold" nodeType="withEffect">
                                  <p:stCondLst>
                                    <p:cond delay="0"/>
                                  </p:stCondLst>
                                  <p:childTnLst>
                                    <p:set>
                                      <p:cBhvr>
                                        <p:cTn id="42" dur="1" fill="hold">
                                          <p:stCondLst>
                                            <p:cond delay="0"/>
                                          </p:stCondLst>
                                        </p:cTn>
                                        <p:tgtEl>
                                          <p:spTgt spid="40963">
                                            <p:txEl>
                                              <p:pRg st="7" end="7"/>
                                            </p:txEl>
                                          </p:spTgt>
                                        </p:tgtEl>
                                        <p:attrNameLst>
                                          <p:attrName>style.visibility</p:attrName>
                                        </p:attrNameLst>
                                      </p:cBhvr>
                                      <p:to>
                                        <p:strVal val="visible"/>
                                      </p:to>
                                    </p:set>
                                    <p:anim calcmode="lin" valueType="num">
                                      <p:cBhvr additive="base">
                                        <p:cTn id="43" dur="500" fill="hold"/>
                                        <p:tgtEl>
                                          <p:spTgt spid="40963">
                                            <p:txEl>
                                              <p:pRg st="7" end="7"/>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40963">
                                            <p:txEl>
                                              <p:pRg st="7" end="7"/>
                                            </p:txEl>
                                          </p:spTgt>
                                        </p:tgtEl>
                                        <p:attrNameLst>
                                          <p:attrName>ppt_y</p:attrName>
                                        </p:attrNameLst>
                                      </p:cBhvr>
                                      <p:tavLst>
                                        <p:tav tm="0">
                                          <p:val>
                                            <p:strVal val="#ppt_y"/>
                                          </p:val>
                                        </p:tav>
                                        <p:tav tm="100000">
                                          <p:val>
                                            <p:strVal val="#ppt_y"/>
                                          </p:val>
                                        </p:tav>
                                      </p:tavLst>
                                    </p:anim>
                                  </p:childTnLst>
                                </p:cTn>
                              </p:par>
                              <p:par>
                                <p:cTn id="45" presetID="2" presetClass="entr" presetSubtype="8" fill="hold" nodeType="withEffect">
                                  <p:stCondLst>
                                    <p:cond delay="0"/>
                                  </p:stCondLst>
                                  <p:childTnLst>
                                    <p:set>
                                      <p:cBhvr>
                                        <p:cTn id="46" dur="1" fill="hold">
                                          <p:stCondLst>
                                            <p:cond delay="0"/>
                                          </p:stCondLst>
                                        </p:cTn>
                                        <p:tgtEl>
                                          <p:spTgt spid="40963">
                                            <p:txEl>
                                              <p:pRg st="8" end="8"/>
                                            </p:txEl>
                                          </p:spTgt>
                                        </p:tgtEl>
                                        <p:attrNameLst>
                                          <p:attrName>style.visibility</p:attrName>
                                        </p:attrNameLst>
                                      </p:cBhvr>
                                      <p:to>
                                        <p:strVal val="visible"/>
                                      </p:to>
                                    </p:set>
                                    <p:anim calcmode="lin" valueType="num">
                                      <p:cBhvr additive="base">
                                        <p:cTn id="47" dur="500" fill="hold"/>
                                        <p:tgtEl>
                                          <p:spTgt spid="40963">
                                            <p:txEl>
                                              <p:pRg st="8" end="8"/>
                                            </p:txEl>
                                          </p:spTgt>
                                        </p:tgtEl>
                                        <p:attrNameLst>
                                          <p:attrName>ppt_x</p:attrName>
                                        </p:attrNameLst>
                                      </p:cBhvr>
                                      <p:tavLst>
                                        <p:tav tm="0">
                                          <p:val>
                                            <p:strVal val="0-#ppt_w/2"/>
                                          </p:val>
                                        </p:tav>
                                        <p:tav tm="100000">
                                          <p:val>
                                            <p:strVal val="#ppt_x"/>
                                          </p:val>
                                        </p:tav>
                                      </p:tavLst>
                                    </p:anim>
                                    <p:anim calcmode="lin" valueType="num">
                                      <p:cBhvr additive="base">
                                        <p:cTn id="48" dur="500" fill="hold"/>
                                        <p:tgtEl>
                                          <p:spTgt spid="40963">
                                            <p:txEl>
                                              <p:pRg st="8" end="8"/>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3" grpId="0" build="p" autoUpdateAnimBg="0"/>
    </p:bld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22" name="Rectangle 2" descr="Large confetti"/>
          <p:cNvSpPr>
            <a:spLocks noGrp="1" noChangeArrowheads="1"/>
          </p:cNvSpPr>
          <p:nvPr>
            <p:ph type="title"/>
          </p:nvPr>
        </p:nvSpPr>
        <p:spPr>
          <a:xfrm>
            <a:off x="0" y="44624"/>
            <a:ext cx="9144000" cy="990600"/>
          </a:xfrm>
        </p:spPr>
        <p:txBody>
          <a:bodyPr lIns="90488" tIns="44450" rIns="90488" bIns="44450" anchor="ctr"/>
          <a:lstStyle/>
          <a:p>
            <a:pPr algn="ctr" eaLnBrk="1" hangingPunct="1">
              <a:defRPr/>
            </a:pPr>
            <a:r>
              <a:rPr lang="en-US" altLang="ko-KR" sz="3200" b="1" kern="1200" dirty="0">
                <a:solidFill>
                  <a:srgbClr val="FFCC00"/>
                </a:solidFill>
                <a:latin typeface="Times New Roman" pitchFamily="18" charset="0"/>
                <a:cs typeface="Times New Roman" pitchFamily="18" charset="0"/>
              </a:rPr>
              <a:t>Theory of </a:t>
            </a:r>
            <a:r>
              <a:rPr kumimoji="0" lang="en-US" altLang="ko-KR" sz="3200" b="1" kern="1200" dirty="0">
                <a:solidFill>
                  <a:srgbClr val="FFCC00"/>
                </a:solidFill>
                <a:latin typeface="Times New Roman" pitchFamily="18" charset="0"/>
                <a:cs typeface="Times New Roman" pitchFamily="18" charset="0"/>
              </a:rPr>
              <a:t>Absolute Advantage</a:t>
            </a:r>
          </a:p>
        </p:txBody>
      </p:sp>
      <p:sp>
        <p:nvSpPr>
          <p:cNvPr id="36867" name="Rectangle 3"/>
          <p:cNvSpPr>
            <a:spLocks noGrp="1" noChangeArrowheads="1"/>
          </p:cNvSpPr>
          <p:nvPr>
            <p:ph type="body" idx="1"/>
          </p:nvPr>
        </p:nvSpPr>
        <p:spPr>
          <a:xfrm>
            <a:off x="228600" y="1124744"/>
            <a:ext cx="8915400" cy="5306144"/>
          </a:xfrm>
        </p:spPr>
        <p:txBody>
          <a:bodyPr lIns="90488" tIns="44450" rIns="90488" bIns="44450"/>
          <a:lstStyle/>
          <a:p>
            <a:pPr eaLnBrk="1" hangingPunct="1">
              <a:buFontTx/>
              <a:buChar char="•"/>
              <a:defRPr/>
            </a:pPr>
            <a:r>
              <a:rPr kumimoji="0" lang="en-US" altLang="ko-KR" sz="2400" b="0" kern="1200" dirty="0">
                <a:solidFill>
                  <a:schemeClr val="bg2">
                    <a:lumMod val="20000"/>
                    <a:lumOff val="80000"/>
                  </a:schemeClr>
                </a:solidFill>
                <a:latin typeface="Times New Roman" pitchFamily="18" charset="0"/>
                <a:cs typeface="Times New Roman" pitchFamily="18" charset="0"/>
              </a:rPr>
              <a:t>Adam Smith: </a:t>
            </a:r>
            <a:r>
              <a:rPr kumimoji="0" lang="en-US" altLang="ko-KR" sz="2400" b="0" i="1" kern="1200" dirty="0">
                <a:solidFill>
                  <a:schemeClr val="bg2">
                    <a:lumMod val="20000"/>
                    <a:lumOff val="80000"/>
                  </a:schemeClr>
                </a:solidFill>
                <a:latin typeface="Times New Roman" pitchFamily="18" charset="0"/>
                <a:cs typeface="Times New Roman" pitchFamily="18" charset="0"/>
              </a:rPr>
              <a:t>Wealth of Nations </a:t>
            </a:r>
            <a:r>
              <a:rPr kumimoji="0" lang="en-US" altLang="ko-KR" sz="2400" b="0" kern="1200" dirty="0">
                <a:solidFill>
                  <a:schemeClr val="bg2">
                    <a:lumMod val="20000"/>
                    <a:lumOff val="80000"/>
                  </a:schemeClr>
                </a:solidFill>
                <a:latin typeface="Times New Roman" pitchFamily="18" charset="0"/>
                <a:cs typeface="Times New Roman" pitchFamily="18" charset="0"/>
              </a:rPr>
              <a:t>(1776</a:t>
            </a:r>
            <a:r>
              <a:rPr lang="en-US" altLang="ko-KR" sz="2400" b="0" kern="1200" dirty="0">
                <a:solidFill>
                  <a:schemeClr val="bg2">
                    <a:lumMod val="20000"/>
                    <a:lumOff val="80000"/>
                  </a:schemeClr>
                </a:solidFill>
                <a:latin typeface="Times New Roman" pitchFamily="18" charset="0"/>
                <a:cs typeface="Times New Roman" pitchFamily="18" charset="0"/>
              </a:rPr>
              <a:t>) </a:t>
            </a:r>
          </a:p>
          <a:p>
            <a:pPr eaLnBrk="1" hangingPunct="1">
              <a:buFontTx/>
              <a:buChar char="•"/>
              <a:defRPr/>
            </a:pPr>
            <a:r>
              <a:rPr lang="en-US" altLang="ko-KR" sz="2400" b="0" kern="1200" dirty="0">
                <a:solidFill>
                  <a:schemeClr val="bg2">
                    <a:lumMod val="20000"/>
                    <a:lumOff val="80000"/>
                  </a:schemeClr>
                </a:solidFill>
                <a:latin typeface="Times New Roman" pitchFamily="18" charset="0"/>
                <a:cs typeface="Times New Roman" pitchFamily="18" charset="0"/>
              </a:rPr>
              <a:t>Assumes: </a:t>
            </a:r>
            <a:r>
              <a:rPr lang="en-US" altLang="ko-KR" sz="2200" b="0" kern="1200" dirty="0">
                <a:solidFill>
                  <a:schemeClr val="bg2">
                    <a:lumMod val="20000"/>
                    <a:lumOff val="80000"/>
                  </a:schemeClr>
                </a:solidFill>
                <a:latin typeface="Times New Roman" pitchFamily="18" charset="0"/>
                <a:cs typeface="Times New Roman" pitchFamily="18" charset="0"/>
              </a:rPr>
              <a:t>1) two nations, 2) one factor of production – labor,                   3) two commodities  </a:t>
            </a:r>
            <a:r>
              <a:rPr lang="en-US" altLang="ko-KR" sz="2400" b="0" kern="1200" dirty="0">
                <a:solidFill>
                  <a:schemeClr val="bg2">
                    <a:lumMod val="20000"/>
                    <a:lumOff val="80000"/>
                  </a:schemeClr>
                </a:solidFill>
                <a:latin typeface="Times New Roman" pitchFamily="18" charset="0"/>
                <a:cs typeface="Times New Roman" pitchFamily="18" charset="0"/>
              </a:rPr>
              <a:t>	</a:t>
            </a:r>
          </a:p>
          <a:p>
            <a:pPr eaLnBrk="1" hangingPunct="1">
              <a:buFontTx/>
              <a:buChar char="•"/>
              <a:defRPr/>
            </a:pPr>
            <a:r>
              <a:rPr kumimoji="0" lang="en-US" altLang="ko-KR" sz="2400" b="0" kern="1200" dirty="0">
                <a:solidFill>
                  <a:schemeClr val="bg2">
                    <a:lumMod val="20000"/>
                    <a:lumOff val="80000"/>
                  </a:schemeClr>
                </a:solidFill>
                <a:latin typeface="Times New Roman" pitchFamily="18" charset="0"/>
                <a:cs typeface="Times New Roman" pitchFamily="18" charset="0"/>
              </a:rPr>
              <a:t>A nation has absolute advantage in a commodity when </a:t>
            </a:r>
            <a:r>
              <a:rPr lang="en-US" altLang="ko-KR" sz="2400" b="0" kern="1200" dirty="0">
                <a:solidFill>
                  <a:schemeClr val="bg2">
                    <a:lumMod val="20000"/>
                    <a:lumOff val="80000"/>
                  </a:schemeClr>
                </a:solidFill>
                <a:latin typeface="Times New Roman" pitchFamily="18" charset="0"/>
                <a:cs typeface="Times New Roman" pitchFamily="18" charset="0"/>
              </a:rPr>
              <a:t>the nation produces it more efficiently than the other nation.</a:t>
            </a:r>
            <a:endParaRPr kumimoji="0" lang="en-US" altLang="ko-KR" sz="2400" b="0" kern="1200" dirty="0">
              <a:solidFill>
                <a:schemeClr val="bg2">
                  <a:lumMod val="20000"/>
                  <a:lumOff val="80000"/>
                </a:schemeClr>
              </a:solidFill>
              <a:latin typeface="Times New Roman" pitchFamily="18" charset="0"/>
              <a:cs typeface="Times New Roman" pitchFamily="18" charset="0"/>
            </a:endParaRPr>
          </a:p>
          <a:p>
            <a:pPr eaLnBrk="1" hangingPunct="1">
              <a:buFontTx/>
              <a:buChar char="•"/>
              <a:defRPr/>
            </a:pPr>
            <a:r>
              <a:rPr kumimoji="0" lang="en-US" altLang="ko-KR" sz="2400" b="0" kern="1200" dirty="0">
                <a:solidFill>
                  <a:schemeClr val="bg2">
                    <a:lumMod val="20000"/>
                    <a:lumOff val="80000"/>
                  </a:schemeClr>
                </a:solidFill>
                <a:latin typeface="Times New Roman" pitchFamily="18" charset="0"/>
                <a:cs typeface="Times New Roman" pitchFamily="18" charset="0"/>
              </a:rPr>
              <a:t>Two nations trade only when each has </a:t>
            </a:r>
            <a:r>
              <a:rPr kumimoji="0" lang="en-US" altLang="ko-KR" sz="2400" b="0" i="1" u="sng" kern="1200" dirty="0">
                <a:solidFill>
                  <a:schemeClr val="bg2">
                    <a:lumMod val="20000"/>
                    <a:lumOff val="80000"/>
                  </a:schemeClr>
                </a:solidFill>
                <a:latin typeface="Times New Roman" pitchFamily="18" charset="0"/>
                <a:cs typeface="Times New Roman" pitchFamily="18" charset="0"/>
              </a:rPr>
              <a:t>absolute advantage </a:t>
            </a:r>
            <a:r>
              <a:rPr kumimoji="0" lang="en-US" altLang="ko-KR" sz="2400" b="0" kern="1200" dirty="0">
                <a:solidFill>
                  <a:schemeClr val="bg2">
                    <a:lumMod val="20000"/>
                    <a:lumOff val="80000"/>
                  </a:schemeClr>
                </a:solidFill>
                <a:latin typeface="Times New Roman" pitchFamily="18" charset="0"/>
                <a:cs typeface="Times New Roman" pitchFamily="18" charset="0"/>
              </a:rPr>
              <a:t>in one commodity and </a:t>
            </a:r>
            <a:r>
              <a:rPr kumimoji="0" lang="en-US" altLang="ko-KR" sz="2400" b="0" i="1" u="sng" kern="1200" dirty="0">
                <a:solidFill>
                  <a:schemeClr val="bg2">
                    <a:lumMod val="20000"/>
                    <a:lumOff val="80000"/>
                  </a:schemeClr>
                </a:solidFill>
                <a:latin typeface="Times New Roman" pitchFamily="18" charset="0"/>
                <a:cs typeface="Times New Roman" pitchFamily="18" charset="0"/>
              </a:rPr>
              <a:t>absolute disadvantage </a:t>
            </a:r>
            <a:r>
              <a:rPr kumimoji="0" lang="en-US" altLang="ko-KR" sz="2400" b="0" kern="1200" dirty="0">
                <a:solidFill>
                  <a:schemeClr val="bg2">
                    <a:lumMod val="20000"/>
                    <a:lumOff val="80000"/>
                  </a:schemeClr>
                </a:solidFill>
                <a:latin typeface="Times New Roman" pitchFamily="18" charset="0"/>
                <a:cs typeface="Times New Roman" pitchFamily="18" charset="0"/>
              </a:rPr>
              <a:t>in the other commodity. </a:t>
            </a:r>
          </a:p>
          <a:p>
            <a:pPr eaLnBrk="1" hangingPunct="1">
              <a:buFontTx/>
              <a:buChar char="•"/>
              <a:defRPr/>
            </a:pPr>
            <a:r>
              <a:rPr lang="en-US" altLang="ko-KR" sz="2400" b="0" kern="1200" dirty="0">
                <a:solidFill>
                  <a:schemeClr val="bg2">
                    <a:lumMod val="20000"/>
                    <a:lumOff val="80000"/>
                  </a:schemeClr>
                </a:solidFill>
                <a:latin typeface="Times New Roman" pitchFamily="18" charset="0"/>
                <a:cs typeface="Times New Roman" pitchFamily="18" charset="0"/>
              </a:rPr>
              <a:t>Both</a:t>
            </a:r>
            <a:r>
              <a:rPr kumimoji="0" lang="en-US" altLang="ko-KR" sz="2400" b="0" kern="1200" dirty="0">
                <a:solidFill>
                  <a:schemeClr val="bg2">
                    <a:lumMod val="20000"/>
                    <a:lumOff val="80000"/>
                  </a:schemeClr>
                </a:solidFill>
                <a:latin typeface="Times New Roman" pitchFamily="18" charset="0"/>
                <a:cs typeface="Times New Roman" pitchFamily="18" charset="0"/>
              </a:rPr>
              <a:t> nations gain by each </a:t>
            </a:r>
            <a:r>
              <a:rPr kumimoji="0" lang="en-US" altLang="ko-KR" sz="2400" b="0" i="1" u="sng" kern="1200" dirty="0">
                <a:solidFill>
                  <a:schemeClr val="bg2">
                    <a:lumMod val="20000"/>
                    <a:lumOff val="80000"/>
                  </a:schemeClr>
                </a:solidFill>
                <a:latin typeface="Times New Roman" pitchFamily="18" charset="0"/>
                <a:cs typeface="Times New Roman" pitchFamily="18" charset="0"/>
              </a:rPr>
              <a:t>specializing</a:t>
            </a:r>
            <a:r>
              <a:rPr kumimoji="0" lang="en-US" altLang="ko-KR" sz="2400" b="0" kern="1200" dirty="0">
                <a:solidFill>
                  <a:schemeClr val="bg2">
                    <a:lumMod val="20000"/>
                    <a:lumOff val="80000"/>
                  </a:schemeClr>
                </a:solidFill>
                <a:latin typeface="Times New Roman" pitchFamily="18" charset="0"/>
                <a:cs typeface="Times New Roman" pitchFamily="18" charset="0"/>
              </a:rPr>
              <a:t> in producing  the commodity with its absolute advantage and exchanging part of its output with the other nation for the commodity with its absolute disadvantage. </a:t>
            </a:r>
          </a:p>
          <a:p>
            <a:pPr eaLnBrk="1" hangingPunct="1">
              <a:buFontTx/>
              <a:buChar char="•"/>
              <a:defRPr/>
            </a:pPr>
            <a:r>
              <a:rPr kumimoji="0" lang="en-US" altLang="ko-KR" sz="2400" b="0" kern="1200" dirty="0">
                <a:solidFill>
                  <a:schemeClr val="bg2">
                    <a:lumMod val="20000"/>
                    <a:lumOff val="80000"/>
                  </a:schemeClr>
                </a:solidFill>
                <a:latin typeface="Times New Roman" pitchFamily="18" charset="0"/>
                <a:cs typeface="Times New Roman" pitchFamily="18" charset="0"/>
              </a:rPr>
              <a:t>All nations will gain from free trade (Trade is a positive sum game). </a:t>
            </a:r>
          </a:p>
          <a:p>
            <a:pPr eaLnBrk="1" hangingPunct="1">
              <a:buFontTx/>
              <a:buChar char="•"/>
              <a:defRPr/>
            </a:pPr>
            <a:r>
              <a:rPr lang="en-US" altLang="ko-KR" sz="2400" b="0" kern="1200" dirty="0">
                <a:solidFill>
                  <a:schemeClr val="bg2">
                    <a:lumMod val="20000"/>
                    <a:lumOff val="80000"/>
                  </a:schemeClr>
                </a:solidFill>
                <a:latin typeface="Times New Roman" pitchFamily="18" charset="0"/>
                <a:cs typeface="Times New Roman" pitchFamily="18" charset="0"/>
              </a:rPr>
              <a:t>Laissez-faire (no/little government intervention)</a:t>
            </a:r>
            <a:endParaRPr kumimoji="0" lang="en-US" altLang="ko-KR" sz="2400" b="0" kern="1200" dirty="0">
              <a:solidFill>
                <a:schemeClr val="bg2">
                  <a:lumMod val="20000"/>
                  <a:lumOff val="80000"/>
                </a:schemeClr>
              </a:solidFill>
              <a:latin typeface="Times New Roman" pitchFamily="18" charset="0"/>
              <a:cs typeface="Times New Roman" pitchFamily="18" charset="0"/>
            </a:endParaRPr>
          </a:p>
          <a:p>
            <a:pPr eaLnBrk="1" hangingPunct="1">
              <a:buFontTx/>
              <a:buChar char="•"/>
              <a:defRPr/>
            </a:pPr>
            <a:r>
              <a:rPr lang="en-US" altLang="ko-KR" sz="2400" b="0" i="1" kern="1200" dirty="0">
                <a:solidFill>
                  <a:schemeClr val="bg2">
                    <a:lumMod val="20000"/>
                    <a:lumOff val="80000"/>
                  </a:schemeClr>
                </a:solidFill>
                <a:latin typeface="Times New Roman" pitchFamily="18" charset="0"/>
                <a:cs typeface="Times New Roman" pitchFamily="18" charset="0"/>
              </a:rPr>
              <a:t>Sources of Advantage</a:t>
            </a:r>
            <a:r>
              <a:rPr lang="en-US" altLang="ko-KR" sz="2400" b="0" kern="1200" dirty="0">
                <a:solidFill>
                  <a:schemeClr val="bg2">
                    <a:lumMod val="20000"/>
                    <a:lumOff val="80000"/>
                  </a:schemeClr>
                </a:solidFill>
                <a:latin typeface="Times New Roman" pitchFamily="18" charset="0"/>
                <a:cs typeface="Times New Roman" pitchFamily="18" charset="0"/>
              </a:rPr>
              <a:t>: Higher productivity - Nature like climate</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6867">
                                            <p:txEl>
                                              <p:pRg st="0" end="0"/>
                                            </p:txEl>
                                          </p:spTgt>
                                        </p:tgtEl>
                                        <p:attrNameLst>
                                          <p:attrName>style.visibility</p:attrName>
                                        </p:attrNameLst>
                                      </p:cBhvr>
                                      <p:to>
                                        <p:strVal val="visible"/>
                                      </p:to>
                                    </p:set>
                                    <p:anim calcmode="lin" valueType="num">
                                      <p:cBhvr additive="base">
                                        <p:cTn id="7" dur="500" fill="hold"/>
                                        <p:tgtEl>
                                          <p:spTgt spid="3686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686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6867">
                                            <p:txEl>
                                              <p:pRg st="1" end="1"/>
                                            </p:txEl>
                                          </p:spTgt>
                                        </p:tgtEl>
                                        <p:attrNameLst>
                                          <p:attrName>style.visibility</p:attrName>
                                        </p:attrNameLst>
                                      </p:cBhvr>
                                      <p:to>
                                        <p:strVal val="visible"/>
                                      </p:to>
                                    </p:set>
                                    <p:anim calcmode="lin" valueType="num">
                                      <p:cBhvr additive="base">
                                        <p:cTn id="13" dur="500" fill="hold"/>
                                        <p:tgtEl>
                                          <p:spTgt spid="36867">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686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6867">
                                            <p:txEl>
                                              <p:pRg st="2" end="2"/>
                                            </p:txEl>
                                          </p:spTgt>
                                        </p:tgtEl>
                                        <p:attrNameLst>
                                          <p:attrName>style.visibility</p:attrName>
                                        </p:attrNameLst>
                                      </p:cBhvr>
                                      <p:to>
                                        <p:strVal val="visible"/>
                                      </p:to>
                                    </p:set>
                                    <p:anim calcmode="lin" valueType="num">
                                      <p:cBhvr additive="base">
                                        <p:cTn id="19" dur="500" fill="hold"/>
                                        <p:tgtEl>
                                          <p:spTgt spid="36867">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3686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36867">
                                            <p:txEl>
                                              <p:pRg st="3" end="3"/>
                                            </p:txEl>
                                          </p:spTgt>
                                        </p:tgtEl>
                                        <p:attrNameLst>
                                          <p:attrName>style.visibility</p:attrName>
                                        </p:attrNameLst>
                                      </p:cBhvr>
                                      <p:to>
                                        <p:strVal val="visible"/>
                                      </p:to>
                                    </p:set>
                                    <p:anim calcmode="lin" valueType="num">
                                      <p:cBhvr additive="base">
                                        <p:cTn id="25" dur="500" fill="hold"/>
                                        <p:tgtEl>
                                          <p:spTgt spid="36867">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36867">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36867">
                                            <p:txEl>
                                              <p:pRg st="4" end="4"/>
                                            </p:txEl>
                                          </p:spTgt>
                                        </p:tgtEl>
                                        <p:attrNameLst>
                                          <p:attrName>style.visibility</p:attrName>
                                        </p:attrNameLst>
                                      </p:cBhvr>
                                      <p:to>
                                        <p:strVal val="visible"/>
                                      </p:to>
                                    </p:set>
                                    <p:anim calcmode="lin" valueType="num">
                                      <p:cBhvr additive="base">
                                        <p:cTn id="31" dur="500" fill="hold"/>
                                        <p:tgtEl>
                                          <p:spTgt spid="36867">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36867">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36867">
                                            <p:txEl>
                                              <p:pRg st="5" end="5"/>
                                            </p:txEl>
                                          </p:spTgt>
                                        </p:tgtEl>
                                        <p:attrNameLst>
                                          <p:attrName>style.visibility</p:attrName>
                                        </p:attrNameLst>
                                      </p:cBhvr>
                                      <p:to>
                                        <p:strVal val="visible"/>
                                      </p:to>
                                    </p:set>
                                    <p:anim calcmode="lin" valueType="num">
                                      <p:cBhvr additive="base">
                                        <p:cTn id="37" dur="500" fill="hold"/>
                                        <p:tgtEl>
                                          <p:spTgt spid="36867">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36867">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36867">
                                            <p:txEl>
                                              <p:pRg st="6" end="6"/>
                                            </p:txEl>
                                          </p:spTgt>
                                        </p:tgtEl>
                                        <p:attrNameLst>
                                          <p:attrName>style.visibility</p:attrName>
                                        </p:attrNameLst>
                                      </p:cBhvr>
                                      <p:to>
                                        <p:strVal val="visible"/>
                                      </p:to>
                                    </p:set>
                                    <p:anim calcmode="lin" valueType="num">
                                      <p:cBhvr additive="base">
                                        <p:cTn id="43" dur="500" fill="hold"/>
                                        <p:tgtEl>
                                          <p:spTgt spid="36867">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36867">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36867">
                                            <p:txEl>
                                              <p:pRg st="7" end="7"/>
                                            </p:txEl>
                                          </p:spTgt>
                                        </p:tgtEl>
                                        <p:attrNameLst>
                                          <p:attrName>style.visibility</p:attrName>
                                        </p:attrNameLst>
                                      </p:cBhvr>
                                      <p:to>
                                        <p:strVal val="visible"/>
                                      </p:to>
                                    </p:set>
                                    <p:anim calcmode="lin" valueType="num">
                                      <p:cBhvr additive="base">
                                        <p:cTn id="49" dur="500" fill="hold"/>
                                        <p:tgtEl>
                                          <p:spTgt spid="36867">
                                            <p:txEl>
                                              <p:pRg st="7" end="7"/>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36867">
                                            <p:txEl>
                                              <p:pRg st="7" end="7"/>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7" grpId="0" build="p"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descr="Large confetti"/>
          <p:cNvSpPr>
            <a:spLocks noGrp="1" noChangeArrowheads="1"/>
          </p:cNvSpPr>
          <p:nvPr>
            <p:ph type="title"/>
          </p:nvPr>
        </p:nvSpPr>
        <p:spPr>
          <a:xfrm>
            <a:off x="0" y="222920"/>
            <a:ext cx="9144000" cy="685800"/>
          </a:xfrm>
        </p:spPr>
        <p:txBody>
          <a:bodyPr/>
          <a:lstStyle/>
          <a:p>
            <a:pPr algn="ctr" eaLnBrk="1" hangingPunct="1">
              <a:defRPr/>
            </a:pPr>
            <a:r>
              <a:rPr kumimoji="0" lang="en-US" altLang="ko-KR" sz="3200" b="1" kern="1200" dirty="0">
                <a:solidFill>
                  <a:srgbClr val="FFCC00"/>
                </a:solidFill>
                <a:latin typeface="Times New Roman" pitchFamily="18" charset="0"/>
                <a:cs typeface="Times New Roman" pitchFamily="18" charset="0"/>
              </a:rPr>
              <a:t>Theory of Absolute Advantage</a:t>
            </a:r>
          </a:p>
        </p:txBody>
      </p:sp>
      <p:sp>
        <p:nvSpPr>
          <p:cNvPr id="17415" name="Text Box 7"/>
          <p:cNvSpPr txBox="1">
            <a:spLocks noChangeArrowheads="1"/>
          </p:cNvSpPr>
          <p:nvPr/>
        </p:nvSpPr>
        <p:spPr bwMode="auto">
          <a:xfrm rot="-5400000">
            <a:off x="-578185" y="3441335"/>
            <a:ext cx="4601245" cy="400110"/>
          </a:xfrm>
          <a:prstGeom prst="rect">
            <a:avLst/>
          </a:prstGeom>
          <a:noFill/>
          <a:ln w="9525">
            <a:noFill/>
            <a:miter lim="800000"/>
            <a:headEnd/>
            <a:tailEnd/>
          </a:ln>
        </p:spPr>
        <p:txBody>
          <a:bodyPr wrap="square">
            <a:spAutoFit/>
          </a:bodyPr>
          <a:lstStyle/>
          <a:p>
            <a:pPr eaLnBrk="0" latinLnBrk="0" hangingPunct="0">
              <a:spcBef>
                <a:spcPct val="50000"/>
              </a:spcBef>
            </a:pPr>
            <a:r>
              <a:rPr kumimoji="0" lang="ko-KR" altLang="en-US" sz="2000" dirty="0">
                <a:cs typeface="Times New Roman" pitchFamily="18" charset="0"/>
              </a:rPr>
              <a:t>               5            10            15            20</a:t>
            </a:r>
          </a:p>
        </p:txBody>
      </p:sp>
      <p:grpSp>
        <p:nvGrpSpPr>
          <p:cNvPr id="2" name="Group 21"/>
          <p:cNvGrpSpPr/>
          <p:nvPr/>
        </p:nvGrpSpPr>
        <p:grpSpPr>
          <a:xfrm>
            <a:off x="958205" y="1447800"/>
            <a:ext cx="6661795" cy="5149552"/>
            <a:chOff x="958205" y="1447800"/>
            <a:chExt cx="6661795" cy="5149552"/>
          </a:xfrm>
        </p:grpSpPr>
        <p:sp>
          <p:nvSpPr>
            <p:cNvPr id="17411" name="Line 3"/>
            <p:cNvSpPr>
              <a:spLocks noChangeShapeType="1"/>
            </p:cNvSpPr>
            <p:nvPr/>
          </p:nvSpPr>
          <p:spPr bwMode="auto">
            <a:xfrm>
              <a:off x="1905000" y="1600200"/>
              <a:ext cx="0" cy="4038600"/>
            </a:xfrm>
            <a:prstGeom prst="line">
              <a:avLst/>
            </a:prstGeom>
            <a:noFill/>
            <a:ln w="38100">
              <a:solidFill>
                <a:srgbClr val="FFFF00"/>
              </a:solidFill>
              <a:round/>
              <a:headEnd/>
              <a:tailEnd/>
            </a:ln>
          </p:spPr>
          <p:txBody>
            <a:bodyPr wrap="none" anchor="ctr"/>
            <a:lstStyle/>
            <a:p>
              <a:endParaRPr lang="ko-KR" altLang="en-US">
                <a:solidFill>
                  <a:schemeClr val="tx2"/>
                </a:solidFill>
              </a:endParaRPr>
            </a:p>
          </p:txBody>
        </p:sp>
        <p:sp>
          <p:nvSpPr>
            <p:cNvPr id="17412" name="Line 4"/>
            <p:cNvSpPr>
              <a:spLocks noChangeShapeType="1"/>
            </p:cNvSpPr>
            <p:nvPr/>
          </p:nvSpPr>
          <p:spPr bwMode="auto">
            <a:xfrm>
              <a:off x="1905000" y="5638800"/>
              <a:ext cx="5486400" cy="0"/>
            </a:xfrm>
            <a:prstGeom prst="line">
              <a:avLst/>
            </a:prstGeom>
            <a:noFill/>
            <a:ln w="38100">
              <a:solidFill>
                <a:srgbClr val="FFFF00"/>
              </a:solidFill>
              <a:round/>
              <a:headEnd/>
              <a:tailEnd/>
            </a:ln>
          </p:spPr>
          <p:txBody>
            <a:bodyPr wrap="none" anchor="ctr"/>
            <a:lstStyle/>
            <a:p>
              <a:endParaRPr lang="ko-KR" altLang="en-US">
                <a:solidFill>
                  <a:schemeClr val="tx2"/>
                </a:solidFill>
              </a:endParaRPr>
            </a:p>
          </p:txBody>
        </p:sp>
        <p:sp>
          <p:nvSpPr>
            <p:cNvPr id="17413" name="Line 5"/>
            <p:cNvSpPr>
              <a:spLocks noChangeShapeType="1"/>
            </p:cNvSpPr>
            <p:nvPr/>
          </p:nvSpPr>
          <p:spPr bwMode="auto">
            <a:xfrm>
              <a:off x="1905000" y="1828800"/>
              <a:ext cx="2514600" cy="3810000"/>
            </a:xfrm>
            <a:prstGeom prst="line">
              <a:avLst/>
            </a:prstGeom>
            <a:noFill/>
            <a:ln w="38100">
              <a:solidFill>
                <a:srgbClr val="66FF66"/>
              </a:solidFill>
              <a:round/>
              <a:headEnd/>
              <a:tailEnd/>
            </a:ln>
          </p:spPr>
          <p:txBody>
            <a:bodyPr wrap="none" anchor="ctr"/>
            <a:lstStyle/>
            <a:p>
              <a:endParaRPr lang="ko-KR" altLang="en-US">
                <a:solidFill>
                  <a:schemeClr val="tx2"/>
                </a:solidFill>
              </a:endParaRPr>
            </a:p>
          </p:txBody>
        </p:sp>
        <p:sp>
          <p:nvSpPr>
            <p:cNvPr id="17414" name="Text Box 6"/>
            <p:cNvSpPr txBox="1">
              <a:spLocks noChangeArrowheads="1"/>
            </p:cNvSpPr>
            <p:nvPr/>
          </p:nvSpPr>
          <p:spPr bwMode="auto">
            <a:xfrm>
              <a:off x="1828800" y="5638800"/>
              <a:ext cx="5715000" cy="400110"/>
            </a:xfrm>
            <a:prstGeom prst="rect">
              <a:avLst/>
            </a:prstGeom>
            <a:noFill/>
            <a:ln w="9525">
              <a:noFill/>
              <a:miter lim="800000"/>
              <a:headEnd/>
              <a:tailEnd/>
            </a:ln>
          </p:spPr>
          <p:txBody>
            <a:bodyPr>
              <a:spAutoFit/>
            </a:bodyPr>
            <a:lstStyle/>
            <a:p>
              <a:pPr eaLnBrk="0" latinLnBrk="0" hangingPunct="0">
                <a:spcBef>
                  <a:spcPct val="50000"/>
                </a:spcBef>
              </a:pPr>
              <a:r>
                <a:rPr kumimoji="0" lang="ko-KR" altLang="en-US" sz="2000" dirty="0">
                  <a:cs typeface="Times New Roman" pitchFamily="18" charset="0"/>
                </a:rPr>
                <a:t>0                  5                 10               15               20</a:t>
              </a:r>
            </a:p>
          </p:txBody>
        </p:sp>
        <p:sp>
          <p:nvSpPr>
            <p:cNvPr id="17416" name="Line 8"/>
            <p:cNvSpPr>
              <a:spLocks noChangeShapeType="1"/>
            </p:cNvSpPr>
            <p:nvPr/>
          </p:nvSpPr>
          <p:spPr bwMode="auto">
            <a:xfrm>
              <a:off x="1905000" y="4829628"/>
              <a:ext cx="5105400" cy="656772"/>
            </a:xfrm>
            <a:prstGeom prst="line">
              <a:avLst/>
            </a:prstGeom>
            <a:noFill/>
            <a:ln w="38100">
              <a:solidFill>
                <a:srgbClr val="FF66FF"/>
              </a:solidFill>
              <a:round/>
              <a:headEnd/>
              <a:tailEnd/>
            </a:ln>
          </p:spPr>
          <p:txBody>
            <a:bodyPr wrap="none" anchor="ctr"/>
            <a:lstStyle/>
            <a:p>
              <a:endParaRPr lang="ko-KR" altLang="en-US">
                <a:solidFill>
                  <a:schemeClr val="tx2"/>
                </a:solidFill>
              </a:endParaRPr>
            </a:p>
          </p:txBody>
        </p:sp>
        <p:sp>
          <p:nvSpPr>
            <p:cNvPr id="17417" name="Line 10"/>
            <p:cNvSpPr>
              <a:spLocks noChangeShapeType="1"/>
            </p:cNvSpPr>
            <p:nvPr/>
          </p:nvSpPr>
          <p:spPr bwMode="auto">
            <a:xfrm>
              <a:off x="1905000" y="3810000"/>
              <a:ext cx="1295400" cy="0"/>
            </a:xfrm>
            <a:prstGeom prst="line">
              <a:avLst/>
            </a:prstGeom>
            <a:noFill/>
            <a:ln w="38100">
              <a:solidFill>
                <a:srgbClr val="99FFCC"/>
              </a:solidFill>
              <a:prstDash val="sysDot"/>
              <a:round/>
              <a:headEnd/>
              <a:tailEnd/>
            </a:ln>
          </p:spPr>
          <p:txBody>
            <a:bodyPr wrap="none" anchor="ctr"/>
            <a:lstStyle/>
            <a:p>
              <a:endParaRPr lang="ko-KR" altLang="en-US">
                <a:solidFill>
                  <a:schemeClr val="tx2"/>
                </a:solidFill>
              </a:endParaRPr>
            </a:p>
          </p:txBody>
        </p:sp>
        <p:sp>
          <p:nvSpPr>
            <p:cNvPr id="17418" name="Line 11"/>
            <p:cNvSpPr>
              <a:spLocks noChangeShapeType="1"/>
            </p:cNvSpPr>
            <p:nvPr/>
          </p:nvSpPr>
          <p:spPr bwMode="auto">
            <a:xfrm flipV="1">
              <a:off x="3200400" y="3810000"/>
              <a:ext cx="0" cy="1828800"/>
            </a:xfrm>
            <a:prstGeom prst="line">
              <a:avLst/>
            </a:prstGeom>
            <a:noFill/>
            <a:ln w="38100">
              <a:solidFill>
                <a:srgbClr val="99FFCC"/>
              </a:solidFill>
              <a:prstDash val="sysDot"/>
              <a:round/>
              <a:headEnd/>
              <a:tailEnd/>
            </a:ln>
          </p:spPr>
          <p:txBody>
            <a:bodyPr wrap="none" anchor="ctr"/>
            <a:lstStyle/>
            <a:p>
              <a:endParaRPr lang="ko-KR" altLang="en-US">
                <a:solidFill>
                  <a:schemeClr val="tx2"/>
                </a:solidFill>
              </a:endParaRPr>
            </a:p>
          </p:txBody>
        </p:sp>
        <p:sp>
          <p:nvSpPr>
            <p:cNvPr id="17419" name="Line 12"/>
            <p:cNvSpPr>
              <a:spLocks noChangeShapeType="1"/>
            </p:cNvSpPr>
            <p:nvPr/>
          </p:nvSpPr>
          <p:spPr bwMode="auto">
            <a:xfrm>
              <a:off x="1905000" y="5181600"/>
              <a:ext cx="2590800" cy="0"/>
            </a:xfrm>
            <a:prstGeom prst="line">
              <a:avLst/>
            </a:prstGeom>
            <a:noFill/>
            <a:ln w="38100">
              <a:solidFill>
                <a:srgbClr val="99FFCC"/>
              </a:solidFill>
              <a:prstDash val="sysDot"/>
              <a:round/>
              <a:headEnd/>
              <a:tailEnd/>
            </a:ln>
          </p:spPr>
          <p:txBody>
            <a:bodyPr wrap="none" anchor="ctr"/>
            <a:lstStyle/>
            <a:p>
              <a:endParaRPr lang="ko-KR" altLang="en-US">
                <a:solidFill>
                  <a:schemeClr val="tx2"/>
                </a:solidFill>
              </a:endParaRPr>
            </a:p>
          </p:txBody>
        </p:sp>
        <p:sp>
          <p:nvSpPr>
            <p:cNvPr id="17420" name="Line 14"/>
            <p:cNvSpPr>
              <a:spLocks noChangeShapeType="1"/>
            </p:cNvSpPr>
            <p:nvPr/>
          </p:nvSpPr>
          <p:spPr bwMode="auto">
            <a:xfrm flipV="1">
              <a:off x="4495800" y="5181600"/>
              <a:ext cx="0" cy="457200"/>
            </a:xfrm>
            <a:prstGeom prst="line">
              <a:avLst/>
            </a:prstGeom>
            <a:noFill/>
            <a:ln w="38100">
              <a:solidFill>
                <a:srgbClr val="99FFCC"/>
              </a:solidFill>
              <a:prstDash val="sysDot"/>
              <a:round/>
              <a:headEnd/>
              <a:tailEnd/>
            </a:ln>
          </p:spPr>
          <p:txBody>
            <a:bodyPr wrap="none" anchor="ctr"/>
            <a:lstStyle/>
            <a:p>
              <a:endParaRPr lang="ko-KR" altLang="en-US">
                <a:solidFill>
                  <a:schemeClr val="tx2"/>
                </a:solidFill>
              </a:endParaRPr>
            </a:p>
          </p:txBody>
        </p:sp>
        <p:sp>
          <p:nvSpPr>
            <p:cNvPr id="17421" name="Text Box 15"/>
            <p:cNvSpPr txBox="1">
              <a:spLocks noChangeArrowheads="1"/>
            </p:cNvSpPr>
            <p:nvPr/>
          </p:nvSpPr>
          <p:spPr bwMode="auto">
            <a:xfrm>
              <a:off x="3276600" y="3505200"/>
              <a:ext cx="381000" cy="396875"/>
            </a:xfrm>
            <a:prstGeom prst="rect">
              <a:avLst/>
            </a:prstGeom>
            <a:noFill/>
            <a:ln w="9525">
              <a:noFill/>
              <a:miter lim="800000"/>
              <a:headEnd/>
              <a:tailEnd/>
            </a:ln>
          </p:spPr>
          <p:txBody>
            <a:bodyPr>
              <a:spAutoFit/>
            </a:bodyPr>
            <a:lstStyle/>
            <a:p>
              <a:pPr eaLnBrk="0" latinLnBrk="0" hangingPunct="0">
                <a:spcBef>
                  <a:spcPct val="50000"/>
                </a:spcBef>
              </a:pPr>
              <a:r>
                <a:rPr kumimoji="0" lang="en-US" altLang="ko-KR" sz="2000">
                  <a:solidFill>
                    <a:schemeClr val="tx2"/>
                  </a:solidFill>
                  <a:cs typeface="Times New Roman" pitchFamily="18" charset="0"/>
                </a:rPr>
                <a:t>A</a:t>
              </a:r>
            </a:p>
          </p:txBody>
        </p:sp>
        <p:sp>
          <p:nvSpPr>
            <p:cNvPr id="17422" name="Text Box 16"/>
            <p:cNvSpPr txBox="1">
              <a:spLocks noChangeArrowheads="1"/>
            </p:cNvSpPr>
            <p:nvPr/>
          </p:nvSpPr>
          <p:spPr bwMode="auto">
            <a:xfrm>
              <a:off x="4419600" y="4800600"/>
              <a:ext cx="381000" cy="396875"/>
            </a:xfrm>
            <a:prstGeom prst="rect">
              <a:avLst/>
            </a:prstGeom>
            <a:noFill/>
            <a:ln w="9525">
              <a:noFill/>
              <a:miter lim="800000"/>
              <a:headEnd/>
              <a:tailEnd/>
            </a:ln>
          </p:spPr>
          <p:txBody>
            <a:bodyPr>
              <a:spAutoFit/>
            </a:bodyPr>
            <a:lstStyle/>
            <a:p>
              <a:pPr eaLnBrk="0" latinLnBrk="0" hangingPunct="0">
                <a:spcBef>
                  <a:spcPct val="50000"/>
                </a:spcBef>
              </a:pPr>
              <a:r>
                <a:rPr kumimoji="0" lang="en-US" altLang="ko-KR" sz="2000">
                  <a:solidFill>
                    <a:schemeClr val="tx2"/>
                  </a:solidFill>
                  <a:cs typeface="Times New Roman" pitchFamily="18" charset="0"/>
                </a:rPr>
                <a:t>B</a:t>
              </a:r>
            </a:p>
          </p:txBody>
        </p:sp>
        <p:sp>
          <p:nvSpPr>
            <p:cNvPr id="17423" name="Text Box 17"/>
            <p:cNvSpPr txBox="1">
              <a:spLocks noChangeArrowheads="1"/>
            </p:cNvSpPr>
            <p:nvPr/>
          </p:nvSpPr>
          <p:spPr bwMode="auto">
            <a:xfrm>
              <a:off x="2057400" y="4495800"/>
              <a:ext cx="381000" cy="396875"/>
            </a:xfrm>
            <a:prstGeom prst="rect">
              <a:avLst/>
            </a:prstGeom>
            <a:noFill/>
            <a:ln w="9525">
              <a:noFill/>
              <a:miter lim="800000"/>
              <a:headEnd/>
              <a:tailEnd/>
            </a:ln>
          </p:spPr>
          <p:txBody>
            <a:bodyPr>
              <a:spAutoFit/>
            </a:bodyPr>
            <a:lstStyle/>
            <a:p>
              <a:pPr eaLnBrk="0" latinLnBrk="0" hangingPunct="0">
                <a:spcBef>
                  <a:spcPct val="50000"/>
                </a:spcBef>
              </a:pPr>
              <a:r>
                <a:rPr kumimoji="0" lang="en-US" altLang="ko-KR" sz="2000">
                  <a:solidFill>
                    <a:schemeClr val="tx2"/>
                  </a:solidFill>
                  <a:cs typeface="Times New Roman" pitchFamily="18" charset="0"/>
                </a:rPr>
                <a:t>K</a:t>
              </a:r>
            </a:p>
          </p:txBody>
        </p:sp>
        <p:sp>
          <p:nvSpPr>
            <p:cNvPr id="17424" name="Text Box 18"/>
            <p:cNvSpPr txBox="1">
              <a:spLocks noChangeArrowheads="1"/>
            </p:cNvSpPr>
            <p:nvPr/>
          </p:nvSpPr>
          <p:spPr bwMode="auto">
            <a:xfrm>
              <a:off x="1905000" y="1447800"/>
              <a:ext cx="381000" cy="396875"/>
            </a:xfrm>
            <a:prstGeom prst="rect">
              <a:avLst/>
            </a:prstGeom>
            <a:noFill/>
            <a:ln w="9525">
              <a:noFill/>
              <a:miter lim="800000"/>
              <a:headEnd/>
              <a:tailEnd/>
            </a:ln>
          </p:spPr>
          <p:txBody>
            <a:bodyPr>
              <a:spAutoFit/>
            </a:bodyPr>
            <a:lstStyle/>
            <a:p>
              <a:pPr eaLnBrk="0" latinLnBrk="0" hangingPunct="0">
                <a:spcBef>
                  <a:spcPct val="50000"/>
                </a:spcBef>
              </a:pPr>
              <a:r>
                <a:rPr kumimoji="0" lang="en-US" altLang="ko-KR" sz="2000" dirty="0">
                  <a:solidFill>
                    <a:schemeClr val="tx2"/>
                  </a:solidFill>
                  <a:cs typeface="Times New Roman" pitchFamily="18" charset="0"/>
                </a:rPr>
                <a:t>G</a:t>
              </a:r>
            </a:p>
          </p:txBody>
        </p:sp>
        <p:sp>
          <p:nvSpPr>
            <p:cNvPr id="17425" name="Text Box 19"/>
            <p:cNvSpPr txBox="1">
              <a:spLocks noChangeArrowheads="1"/>
            </p:cNvSpPr>
            <p:nvPr/>
          </p:nvSpPr>
          <p:spPr bwMode="auto">
            <a:xfrm>
              <a:off x="7086600" y="5257800"/>
              <a:ext cx="533400" cy="396875"/>
            </a:xfrm>
            <a:prstGeom prst="rect">
              <a:avLst/>
            </a:prstGeom>
            <a:noFill/>
            <a:ln w="9525">
              <a:noFill/>
              <a:miter lim="800000"/>
              <a:headEnd/>
              <a:tailEnd/>
            </a:ln>
          </p:spPr>
          <p:txBody>
            <a:bodyPr>
              <a:spAutoFit/>
            </a:bodyPr>
            <a:lstStyle/>
            <a:p>
              <a:pPr eaLnBrk="0" latinLnBrk="0" hangingPunct="0">
                <a:spcBef>
                  <a:spcPct val="50000"/>
                </a:spcBef>
              </a:pPr>
              <a:r>
                <a:rPr kumimoji="0" lang="en-US" altLang="ko-KR" sz="2000">
                  <a:solidFill>
                    <a:schemeClr val="tx2"/>
                  </a:solidFill>
                  <a:cs typeface="Times New Roman" pitchFamily="18" charset="0"/>
                </a:rPr>
                <a:t>K’</a:t>
              </a:r>
            </a:p>
          </p:txBody>
        </p:sp>
        <p:sp>
          <p:nvSpPr>
            <p:cNvPr id="17426" name="Text Box 20"/>
            <p:cNvSpPr txBox="1">
              <a:spLocks noChangeArrowheads="1"/>
            </p:cNvSpPr>
            <p:nvPr/>
          </p:nvSpPr>
          <p:spPr bwMode="auto">
            <a:xfrm>
              <a:off x="4495800" y="5257800"/>
              <a:ext cx="533400" cy="396875"/>
            </a:xfrm>
            <a:prstGeom prst="rect">
              <a:avLst/>
            </a:prstGeom>
            <a:noFill/>
            <a:ln w="9525">
              <a:noFill/>
              <a:miter lim="800000"/>
              <a:headEnd/>
              <a:tailEnd/>
            </a:ln>
          </p:spPr>
          <p:txBody>
            <a:bodyPr>
              <a:spAutoFit/>
            </a:bodyPr>
            <a:lstStyle/>
            <a:p>
              <a:pPr eaLnBrk="0" latinLnBrk="0" hangingPunct="0">
                <a:spcBef>
                  <a:spcPct val="50000"/>
                </a:spcBef>
              </a:pPr>
              <a:r>
                <a:rPr kumimoji="0" lang="en-US" altLang="ko-KR" sz="2000" dirty="0">
                  <a:solidFill>
                    <a:schemeClr val="tx2"/>
                  </a:solidFill>
                  <a:cs typeface="Times New Roman" pitchFamily="18" charset="0"/>
                </a:rPr>
                <a:t>G’</a:t>
              </a:r>
            </a:p>
          </p:txBody>
        </p:sp>
        <p:sp>
          <p:nvSpPr>
            <p:cNvPr id="17427" name="Text Box 21"/>
            <p:cNvSpPr txBox="1">
              <a:spLocks noChangeArrowheads="1"/>
            </p:cNvSpPr>
            <p:nvPr/>
          </p:nvSpPr>
          <p:spPr bwMode="auto">
            <a:xfrm>
              <a:off x="4119736" y="6135687"/>
              <a:ext cx="1676400" cy="461665"/>
            </a:xfrm>
            <a:prstGeom prst="rect">
              <a:avLst/>
            </a:prstGeom>
            <a:noFill/>
            <a:ln w="9525">
              <a:noFill/>
              <a:miter lim="800000"/>
              <a:headEnd/>
              <a:tailEnd/>
            </a:ln>
          </p:spPr>
          <p:txBody>
            <a:bodyPr>
              <a:spAutoFit/>
            </a:bodyPr>
            <a:lstStyle/>
            <a:p>
              <a:pPr eaLnBrk="0" latinLnBrk="0" hangingPunct="0">
                <a:spcBef>
                  <a:spcPct val="50000"/>
                </a:spcBef>
              </a:pPr>
              <a:r>
                <a:rPr kumimoji="0" lang="en-US" altLang="ko-KR" dirty="0">
                  <a:solidFill>
                    <a:schemeClr val="tx2"/>
                  </a:solidFill>
                  <a:cs typeface="Times New Roman" pitchFamily="18" charset="0"/>
                </a:rPr>
                <a:t>Rice</a:t>
              </a:r>
            </a:p>
          </p:txBody>
        </p:sp>
        <p:sp>
          <p:nvSpPr>
            <p:cNvPr id="17428" name="Text Box 22"/>
            <p:cNvSpPr txBox="1">
              <a:spLocks noChangeArrowheads="1"/>
            </p:cNvSpPr>
            <p:nvPr/>
          </p:nvSpPr>
          <p:spPr bwMode="auto">
            <a:xfrm rot="16200000">
              <a:off x="548482" y="3456136"/>
              <a:ext cx="1281112" cy="461665"/>
            </a:xfrm>
            <a:prstGeom prst="rect">
              <a:avLst/>
            </a:prstGeom>
            <a:noFill/>
            <a:ln w="9525">
              <a:noFill/>
              <a:miter lim="800000"/>
              <a:headEnd/>
              <a:tailEnd/>
            </a:ln>
          </p:spPr>
          <p:txBody>
            <a:bodyPr>
              <a:spAutoFit/>
            </a:bodyPr>
            <a:lstStyle/>
            <a:p>
              <a:pPr eaLnBrk="0" latinLnBrk="0" hangingPunct="0">
                <a:spcBef>
                  <a:spcPct val="50000"/>
                </a:spcBef>
              </a:pPr>
              <a:r>
                <a:rPr kumimoji="0" lang="en-US" altLang="ko-KR" dirty="0">
                  <a:solidFill>
                    <a:schemeClr val="tx2"/>
                  </a:solidFill>
                  <a:cs typeface="Times New Roman" pitchFamily="18" charset="0"/>
                </a:rPr>
                <a:t>Cocoa</a:t>
              </a:r>
            </a:p>
          </p:txBody>
        </p:sp>
        <p:sp>
          <p:nvSpPr>
            <p:cNvPr id="17429" name="Text Box 25"/>
            <p:cNvSpPr txBox="1">
              <a:spLocks noChangeArrowheads="1"/>
            </p:cNvSpPr>
            <p:nvPr/>
          </p:nvSpPr>
          <p:spPr bwMode="auto">
            <a:xfrm>
              <a:off x="4211960" y="2708920"/>
              <a:ext cx="2866256" cy="1200329"/>
            </a:xfrm>
            <a:prstGeom prst="rect">
              <a:avLst/>
            </a:prstGeom>
            <a:solidFill>
              <a:schemeClr val="bg1"/>
            </a:solidFill>
            <a:ln w="9525">
              <a:noFill/>
              <a:miter lim="800000"/>
              <a:headEnd/>
              <a:tailEnd/>
            </a:ln>
          </p:spPr>
          <p:txBody>
            <a:bodyPr wrap="square">
              <a:spAutoFit/>
            </a:bodyPr>
            <a:lstStyle/>
            <a:p>
              <a:pPr eaLnBrk="0" latinLnBrk="0" hangingPunct="0">
                <a:spcBef>
                  <a:spcPct val="50000"/>
                </a:spcBef>
              </a:pPr>
              <a:r>
                <a:rPr kumimoji="0" lang="en-US" altLang="ko-KR" b="0" dirty="0">
                  <a:solidFill>
                    <a:schemeClr val="tx2"/>
                  </a:solidFill>
                  <a:cs typeface="Times New Roman" pitchFamily="18" charset="0"/>
                </a:rPr>
                <a:t>200 units of resources in Ghana and Korea, respectively</a:t>
              </a: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ext Box 3"/>
          <p:cNvSpPr txBox="1">
            <a:spLocks noChangeArrowheads="1"/>
          </p:cNvSpPr>
          <p:nvPr/>
        </p:nvSpPr>
        <p:spPr bwMode="auto">
          <a:xfrm>
            <a:off x="1600200" y="1422400"/>
            <a:ext cx="6172200" cy="400110"/>
          </a:xfrm>
          <a:prstGeom prst="rect">
            <a:avLst/>
          </a:prstGeom>
          <a:noFill/>
          <a:ln w="9525">
            <a:noFill/>
            <a:miter lim="800000"/>
            <a:headEnd/>
            <a:tailEnd/>
          </a:ln>
        </p:spPr>
        <p:txBody>
          <a:bodyPr>
            <a:spAutoFit/>
          </a:bodyPr>
          <a:lstStyle/>
          <a:p>
            <a:pPr algn="ctr" eaLnBrk="0" latinLnBrk="0" hangingPunct="0">
              <a:spcBef>
                <a:spcPct val="50000"/>
              </a:spcBef>
            </a:pPr>
            <a:r>
              <a:rPr kumimoji="0" lang="en-US" altLang="ko-KR" sz="2000" b="0" u="sng" dirty="0">
                <a:cs typeface="Times New Roman" pitchFamily="18" charset="0"/>
              </a:rPr>
              <a:t>Resources Required to Produce 1 Ton of Cocoa and Rice</a:t>
            </a:r>
          </a:p>
        </p:txBody>
      </p:sp>
      <p:sp>
        <p:nvSpPr>
          <p:cNvPr id="18435" name="Text Box 7"/>
          <p:cNvSpPr txBox="1">
            <a:spLocks noChangeArrowheads="1"/>
          </p:cNvSpPr>
          <p:nvPr/>
        </p:nvSpPr>
        <p:spPr bwMode="auto">
          <a:xfrm>
            <a:off x="3657600" y="1651000"/>
            <a:ext cx="3429000" cy="400050"/>
          </a:xfrm>
          <a:prstGeom prst="rect">
            <a:avLst/>
          </a:prstGeom>
          <a:noFill/>
          <a:ln w="9525">
            <a:noFill/>
            <a:miter lim="800000"/>
            <a:headEnd/>
            <a:tailEnd/>
          </a:ln>
        </p:spPr>
        <p:txBody>
          <a:bodyPr>
            <a:spAutoFit/>
          </a:bodyPr>
          <a:lstStyle/>
          <a:p>
            <a:pPr eaLnBrk="0" latinLnBrk="0" hangingPunct="0">
              <a:spcBef>
                <a:spcPct val="50000"/>
              </a:spcBef>
            </a:pPr>
            <a:r>
              <a:rPr kumimoji="0" lang="en-US" altLang="ko-KR" sz="2000" b="0" u="sng" dirty="0">
                <a:cs typeface="Times New Roman" pitchFamily="18" charset="0"/>
              </a:rPr>
              <a:t>Cocoa</a:t>
            </a:r>
            <a:r>
              <a:rPr kumimoji="0" lang="en-US" altLang="ko-KR" sz="2000" b="0" dirty="0">
                <a:cs typeface="Times New Roman" pitchFamily="18" charset="0"/>
              </a:rPr>
              <a:t>             </a:t>
            </a:r>
            <a:r>
              <a:rPr kumimoji="0" lang="en-US" altLang="ko-KR" sz="2000" b="0" u="sng" dirty="0">
                <a:cs typeface="Times New Roman" pitchFamily="18" charset="0"/>
              </a:rPr>
              <a:t>Rice</a:t>
            </a:r>
            <a:endParaRPr kumimoji="0" lang="en-US" altLang="ko-KR" sz="2000" b="0" dirty="0">
              <a:cs typeface="Times New Roman" pitchFamily="18" charset="0"/>
            </a:endParaRPr>
          </a:p>
        </p:txBody>
      </p:sp>
      <p:sp>
        <p:nvSpPr>
          <p:cNvPr id="18436" name="Text Box 8"/>
          <p:cNvSpPr txBox="1">
            <a:spLocks noChangeArrowheads="1"/>
          </p:cNvSpPr>
          <p:nvPr/>
        </p:nvSpPr>
        <p:spPr bwMode="auto">
          <a:xfrm>
            <a:off x="1219200" y="1955800"/>
            <a:ext cx="5486400" cy="400050"/>
          </a:xfrm>
          <a:prstGeom prst="rect">
            <a:avLst/>
          </a:prstGeom>
          <a:noFill/>
          <a:ln w="9525">
            <a:noFill/>
            <a:miter lim="800000"/>
            <a:headEnd/>
            <a:tailEnd/>
          </a:ln>
        </p:spPr>
        <p:txBody>
          <a:bodyPr>
            <a:spAutoFit/>
          </a:bodyPr>
          <a:lstStyle/>
          <a:p>
            <a:pPr eaLnBrk="0" latinLnBrk="0" hangingPunct="0">
              <a:spcBef>
                <a:spcPct val="50000"/>
              </a:spcBef>
            </a:pPr>
            <a:r>
              <a:rPr kumimoji="0" lang="en-US" altLang="ko-KR" sz="2000" b="0" dirty="0">
                <a:cs typeface="Times New Roman" pitchFamily="18" charset="0"/>
              </a:rPr>
              <a:t>Ghana                               10                  20</a:t>
            </a:r>
          </a:p>
        </p:txBody>
      </p:sp>
      <p:sp>
        <p:nvSpPr>
          <p:cNvPr id="18437" name="Text Box 9"/>
          <p:cNvSpPr txBox="1">
            <a:spLocks noChangeArrowheads="1"/>
          </p:cNvSpPr>
          <p:nvPr/>
        </p:nvSpPr>
        <p:spPr bwMode="auto">
          <a:xfrm>
            <a:off x="1190172" y="2184400"/>
            <a:ext cx="5486400" cy="400050"/>
          </a:xfrm>
          <a:prstGeom prst="rect">
            <a:avLst/>
          </a:prstGeom>
          <a:noFill/>
          <a:ln w="9525">
            <a:noFill/>
            <a:miter lim="800000"/>
            <a:headEnd/>
            <a:tailEnd/>
          </a:ln>
        </p:spPr>
        <p:txBody>
          <a:bodyPr>
            <a:spAutoFit/>
          </a:bodyPr>
          <a:lstStyle/>
          <a:p>
            <a:pPr eaLnBrk="0" latinLnBrk="0" hangingPunct="0">
              <a:spcBef>
                <a:spcPct val="50000"/>
              </a:spcBef>
            </a:pPr>
            <a:r>
              <a:rPr kumimoji="0" lang="en-US" altLang="ko-KR" sz="2000" b="0" dirty="0">
                <a:cs typeface="Times New Roman" pitchFamily="18" charset="0"/>
              </a:rPr>
              <a:t>S. Korea                            40                  10</a:t>
            </a:r>
          </a:p>
        </p:txBody>
      </p:sp>
      <p:sp>
        <p:nvSpPr>
          <p:cNvPr id="18438" name="Text Box 10"/>
          <p:cNvSpPr txBox="1">
            <a:spLocks noChangeArrowheads="1"/>
          </p:cNvSpPr>
          <p:nvPr/>
        </p:nvSpPr>
        <p:spPr bwMode="auto">
          <a:xfrm>
            <a:off x="1828800" y="2492896"/>
            <a:ext cx="5867400" cy="400050"/>
          </a:xfrm>
          <a:prstGeom prst="rect">
            <a:avLst/>
          </a:prstGeom>
          <a:noFill/>
          <a:ln w="9525">
            <a:noFill/>
            <a:miter lim="800000"/>
            <a:headEnd/>
            <a:tailEnd/>
          </a:ln>
        </p:spPr>
        <p:txBody>
          <a:bodyPr>
            <a:spAutoFit/>
          </a:bodyPr>
          <a:lstStyle/>
          <a:p>
            <a:pPr algn="ctr" eaLnBrk="0" latinLnBrk="0" hangingPunct="0">
              <a:spcBef>
                <a:spcPct val="50000"/>
              </a:spcBef>
            </a:pPr>
            <a:r>
              <a:rPr kumimoji="0" lang="en-US" altLang="ko-KR" sz="2000" b="0" u="sng" dirty="0">
                <a:cs typeface="Times New Roman" pitchFamily="18" charset="0"/>
              </a:rPr>
              <a:t>Production and Consumption without Trade</a:t>
            </a:r>
          </a:p>
        </p:txBody>
      </p:sp>
      <p:sp>
        <p:nvSpPr>
          <p:cNvPr id="18439" name="Text Box 12"/>
          <p:cNvSpPr txBox="1">
            <a:spLocks noChangeArrowheads="1"/>
          </p:cNvSpPr>
          <p:nvPr/>
        </p:nvSpPr>
        <p:spPr bwMode="auto">
          <a:xfrm>
            <a:off x="1219200" y="2776538"/>
            <a:ext cx="5486400" cy="400050"/>
          </a:xfrm>
          <a:prstGeom prst="rect">
            <a:avLst/>
          </a:prstGeom>
          <a:noFill/>
          <a:ln w="9525">
            <a:noFill/>
            <a:miter lim="800000"/>
            <a:headEnd/>
            <a:tailEnd/>
          </a:ln>
        </p:spPr>
        <p:txBody>
          <a:bodyPr>
            <a:spAutoFit/>
          </a:bodyPr>
          <a:lstStyle/>
          <a:p>
            <a:pPr eaLnBrk="0" latinLnBrk="0" hangingPunct="0">
              <a:spcBef>
                <a:spcPct val="50000"/>
              </a:spcBef>
            </a:pPr>
            <a:r>
              <a:rPr kumimoji="0" lang="en-US" altLang="ko-KR" sz="2000" b="0" dirty="0">
                <a:cs typeface="Times New Roman" pitchFamily="18" charset="0"/>
              </a:rPr>
              <a:t>Ghana                             10.0                 5.0</a:t>
            </a:r>
          </a:p>
        </p:txBody>
      </p:sp>
      <p:sp>
        <p:nvSpPr>
          <p:cNvPr id="18440" name="Text Box 13"/>
          <p:cNvSpPr txBox="1">
            <a:spLocks noChangeArrowheads="1"/>
          </p:cNvSpPr>
          <p:nvPr/>
        </p:nvSpPr>
        <p:spPr bwMode="auto">
          <a:xfrm>
            <a:off x="1219200" y="3005138"/>
            <a:ext cx="5486400" cy="400050"/>
          </a:xfrm>
          <a:prstGeom prst="rect">
            <a:avLst/>
          </a:prstGeom>
          <a:noFill/>
          <a:ln w="9525">
            <a:noFill/>
            <a:miter lim="800000"/>
            <a:headEnd/>
            <a:tailEnd/>
          </a:ln>
        </p:spPr>
        <p:txBody>
          <a:bodyPr>
            <a:spAutoFit/>
          </a:bodyPr>
          <a:lstStyle/>
          <a:p>
            <a:pPr eaLnBrk="0" latinLnBrk="0" hangingPunct="0">
              <a:spcBef>
                <a:spcPct val="50000"/>
              </a:spcBef>
            </a:pPr>
            <a:r>
              <a:rPr kumimoji="0" lang="en-US" altLang="ko-KR" sz="2000" b="0" dirty="0">
                <a:cs typeface="Times New Roman" pitchFamily="18" charset="0"/>
              </a:rPr>
              <a:t>S. Korea                           2.5                10.0</a:t>
            </a:r>
          </a:p>
        </p:txBody>
      </p:sp>
      <p:sp>
        <p:nvSpPr>
          <p:cNvPr id="18441" name="Text Box 14"/>
          <p:cNvSpPr txBox="1">
            <a:spLocks noChangeArrowheads="1"/>
          </p:cNvSpPr>
          <p:nvPr/>
        </p:nvSpPr>
        <p:spPr bwMode="auto">
          <a:xfrm>
            <a:off x="1219200" y="3233738"/>
            <a:ext cx="6324600" cy="400050"/>
          </a:xfrm>
          <a:prstGeom prst="rect">
            <a:avLst/>
          </a:prstGeom>
          <a:noFill/>
          <a:ln w="9525">
            <a:noFill/>
            <a:miter lim="800000"/>
            <a:headEnd/>
            <a:tailEnd/>
          </a:ln>
        </p:spPr>
        <p:txBody>
          <a:bodyPr wrap="square">
            <a:spAutoFit/>
          </a:bodyPr>
          <a:lstStyle/>
          <a:p>
            <a:pPr eaLnBrk="0" latinLnBrk="0" hangingPunct="0">
              <a:spcBef>
                <a:spcPct val="50000"/>
              </a:spcBef>
            </a:pPr>
            <a:r>
              <a:rPr kumimoji="0" lang="en-US" altLang="ko-KR" sz="2000" b="0" dirty="0">
                <a:cs typeface="Times New Roman" pitchFamily="18" charset="0"/>
              </a:rPr>
              <a:t>Total production             12.5                15.0</a:t>
            </a:r>
          </a:p>
        </p:txBody>
      </p:sp>
      <p:sp>
        <p:nvSpPr>
          <p:cNvPr id="18442" name="Text Box 15"/>
          <p:cNvSpPr txBox="1">
            <a:spLocks noChangeArrowheads="1"/>
          </p:cNvSpPr>
          <p:nvPr/>
        </p:nvSpPr>
        <p:spPr bwMode="auto">
          <a:xfrm>
            <a:off x="1872952" y="3624263"/>
            <a:ext cx="5867400" cy="400050"/>
          </a:xfrm>
          <a:prstGeom prst="rect">
            <a:avLst/>
          </a:prstGeom>
          <a:noFill/>
          <a:ln w="9525">
            <a:noFill/>
            <a:miter lim="800000"/>
            <a:headEnd/>
            <a:tailEnd/>
          </a:ln>
        </p:spPr>
        <p:txBody>
          <a:bodyPr>
            <a:spAutoFit/>
          </a:bodyPr>
          <a:lstStyle/>
          <a:p>
            <a:pPr algn="ctr" eaLnBrk="0" latinLnBrk="0" hangingPunct="0">
              <a:spcBef>
                <a:spcPct val="50000"/>
              </a:spcBef>
            </a:pPr>
            <a:r>
              <a:rPr kumimoji="0" lang="en-US" altLang="ko-KR" sz="2000" b="0" u="sng" dirty="0">
                <a:cs typeface="Times New Roman" pitchFamily="18" charset="0"/>
              </a:rPr>
              <a:t>Production with Specialization</a:t>
            </a:r>
          </a:p>
        </p:txBody>
      </p:sp>
      <p:sp>
        <p:nvSpPr>
          <p:cNvPr id="18443" name="Text Box 17"/>
          <p:cNvSpPr txBox="1">
            <a:spLocks noChangeArrowheads="1"/>
          </p:cNvSpPr>
          <p:nvPr/>
        </p:nvSpPr>
        <p:spPr bwMode="auto">
          <a:xfrm>
            <a:off x="1219200" y="3929063"/>
            <a:ext cx="5486400" cy="400050"/>
          </a:xfrm>
          <a:prstGeom prst="rect">
            <a:avLst/>
          </a:prstGeom>
          <a:noFill/>
          <a:ln w="9525">
            <a:noFill/>
            <a:miter lim="800000"/>
            <a:headEnd/>
            <a:tailEnd/>
          </a:ln>
        </p:spPr>
        <p:txBody>
          <a:bodyPr>
            <a:spAutoFit/>
          </a:bodyPr>
          <a:lstStyle/>
          <a:p>
            <a:pPr eaLnBrk="0" latinLnBrk="0" hangingPunct="0">
              <a:spcBef>
                <a:spcPct val="50000"/>
              </a:spcBef>
            </a:pPr>
            <a:r>
              <a:rPr kumimoji="0" lang="en-US" altLang="ko-KR" sz="2000" b="0" dirty="0">
                <a:cs typeface="Times New Roman" pitchFamily="18" charset="0"/>
              </a:rPr>
              <a:t>Ghana                                20                   0</a:t>
            </a:r>
          </a:p>
        </p:txBody>
      </p:sp>
      <p:sp>
        <p:nvSpPr>
          <p:cNvPr id="18444" name="Text Box 18"/>
          <p:cNvSpPr txBox="1">
            <a:spLocks noChangeArrowheads="1"/>
          </p:cNvSpPr>
          <p:nvPr/>
        </p:nvSpPr>
        <p:spPr bwMode="auto">
          <a:xfrm>
            <a:off x="1219200" y="4157663"/>
            <a:ext cx="5486400" cy="400050"/>
          </a:xfrm>
          <a:prstGeom prst="rect">
            <a:avLst/>
          </a:prstGeom>
          <a:noFill/>
          <a:ln w="9525">
            <a:noFill/>
            <a:miter lim="800000"/>
            <a:headEnd/>
            <a:tailEnd/>
          </a:ln>
        </p:spPr>
        <p:txBody>
          <a:bodyPr>
            <a:spAutoFit/>
          </a:bodyPr>
          <a:lstStyle/>
          <a:p>
            <a:pPr eaLnBrk="0" latinLnBrk="0" hangingPunct="0">
              <a:spcBef>
                <a:spcPct val="50000"/>
              </a:spcBef>
            </a:pPr>
            <a:r>
              <a:rPr kumimoji="0" lang="en-US" altLang="ko-KR" sz="2000" b="0" dirty="0">
                <a:cs typeface="Times New Roman" pitchFamily="18" charset="0"/>
              </a:rPr>
              <a:t>S. Korea                              0                  20</a:t>
            </a:r>
          </a:p>
        </p:txBody>
      </p:sp>
      <p:sp>
        <p:nvSpPr>
          <p:cNvPr id="18445" name="Text Box 19"/>
          <p:cNvSpPr txBox="1">
            <a:spLocks noChangeArrowheads="1"/>
          </p:cNvSpPr>
          <p:nvPr/>
        </p:nvSpPr>
        <p:spPr bwMode="auto">
          <a:xfrm>
            <a:off x="1219200" y="4371975"/>
            <a:ext cx="6096000" cy="400050"/>
          </a:xfrm>
          <a:prstGeom prst="rect">
            <a:avLst/>
          </a:prstGeom>
          <a:noFill/>
          <a:ln w="9525">
            <a:noFill/>
            <a:miter lim="800000"/>
            <a:headEnd/>
            <a:tailEnd/>
          </a:ln>
        </p:spPr>
        <p:txBody>
          <a:bodyPr wrap="square">
            <a:spAutoFit/>
          </a:bodyPr>
          <a:lstStyle/>
          <a:p>
            <a:pPr eaLnBrk="0" latinLnBrk="0" hangingPunct="0">
              <a:spcBef>
                <a:spcPct val="50000"/>
              </a:spcBef>
            </a:pPr>
            <a:r>
              <a:rPr kumimoji="0" lang="en-US" altLang="ko-KR" sz="2000" b="0" dirty="0">
                <a:cs typeface="Times New Roman" pitchFamily="18" charset="0"/>
              </a:rPr>
              <a:t>Total production                20                  20</a:t>
            </a:r>
          </a:p>
        </p:txBody>
      </p:sp>
      <p:sp>
        <p:nvSpPr>
          <p:cNvPr id="18446" name="Text Box 20"/>
          <p:cNvSpPr txBox="1">
            <a:spLocks noChangeArrowheads="1"/>
          </p:cNvSpPr>
          <p:nvPr/>
        </p:nvSpPr>
        <p:spPr bwMode="auto">
          <a:xfrm>
            <a:off x="1200472" y="4721225"/>
            <a:ext cx="7620000" cy="400110"/>
          </a:xfrm>
          <a:prstGeom prst="rect">
            <a:avLst/>
          </a:prstGeom>
          <a:noFill/>
          <a:ln w="9525">
            <a:noFill/>
            <a:miter lim="800000"/>
            <a:headEnd/>
            <a:tailEnd/>
          </a:ln>
        </p:spPr>
        <p:txBody>
          <a:bodyPr>
            <a:spAutoFit/>
          </a:bodyPr>
          <a:lstStyle/>
          <a:p>
            <a:pPr algn="ctr" eaLnBrk="0" latinLnBrk="0" hangingPunct="0">
              <a:spcBef>
                <a:spcPct val="50000"/>
              </a:spcBef>
            </a:pPr>
            <a:r>
              <a:rPr kumimoji="0" lang="en-US" altLang="ko-KR" sz="2000" b="0" u="sng">
                <a:cs typeface="Times New Roman" pitchFamily="18" charset="0"/>
              </a:rPr>
              <a:t>Consumption after Ghana Trades 6T of Cocoa for  6TSouth Korean Rice</a:t>
            </a:r>
          </a:p>
        </p:txBody>
      </p:sp>
      <p:sp>
        <p:nvSpPr>
          <p:cNvPr id="18447" name="Text Box 21"/>
          <p:cNvSpPr txBox="1">
            <a:spLocks noChangeArrowheads="1"/>
          </p:cNvSpPr>
          <p:nvPr/>
        </p:nvSpPr>
        <p:spPr bwMode="auto">
          <a:xfrm>
            <a:off x="1219200" y="5026025"/>
            <a:ext cx="5486400" cy="400050"/>
          </a:xfrm>
          <a:prstGeom prst="rect">
            <a:avLst/>
          </a:prstGeom>
          <a:noFill/>
          <a:ln w="9525">
            <a:noFill/>
            <a:miter lim="800000"/>
            <a:headEnd/>
            <a:tailEnd/>
          </a:ln>
        </p:spPr>
        <p:txBody>
          <a:bodyPr wrap="square">
            <a:spAutoFit/>
          </a:bodyPr>
          <a:lstStyle/>
          <a:p>
            <a:pPr eaLnBrk="0" latinLnBrk="0" hangingPunct="0">
              <a:spcBef>
                <a:spcPct val="50000"/>
              </a:spcBef>
            </a:pPr>
            <a:r>
              <a:rPr kumimoji="0" lang="en-US" altLang="ko-KR" sz="2000" b="0" dirty="0">
                <a:cs typeface="Times New Roman" pitchFamily="18" charset="0"/>
              </a:rPr>
              <a:t>Ghana                               14.0                6.0</a:t>
            </a:r>
          </a:p>
        </p:txBody>
      </p:sp>
      <p:sp>
        <p:nvSpPr>
          <p:cNvPr id="18448" name="Text Box 22"/>
          <p:cNvSpPr txBox="1">
            <a:spLocks noChangeArrowheads="1"/>
          </p:cNvSpPr>
          <p:nvPr/>
        </p:nvSpPr>
        <p:spPr bwMode="auto">
          <a:xfrm>
            <a:off x="1219200" y="5254625"/>
            <a:ext cx="5334000" cy="400050"/>
          </a:xfrm>
          <a:prstGeom prst="rect">
            <a:avLst/>
          </a:prstGeom>
          <a:noFill/>
          <a:ln w="9525">
            <a:noFill/>
            <a:miter lim="800000"/>
            <a:headEnd/>
            <a:tailEnd/>
          </a:ln>
        </p:spPr>
        <p:txBody>
          <a:bodyPr wrap="square">
            <a:spAutoFit/>
          </a:bodyPr>
          <a:lstStyle/>
          <a:p>
            <a:pPr eaLnBrk="0" latinLnBrk="0" hangingPunct="0">
              <a:spcBef>
                <a:spcPct val="50000"/>
              </a:spcBef>
            </a:pPr>
            <a:r>
              <a:rPr kumimoji="0" lang="en-US" altLang="ko-KR" sz="2000" b="0" dirty="0">
                <a:cs typeface="Times New Roman" pitchFamily="18" charset="0"/>
              </a:rPr>
              <a:t>S. Korea                             6.0               14.0</a:t>
            </a:r>
          </a:p>
        </p:txBody>
      </p:sp>
      <p:sp>
        <p:nvSpPr>
          <p:cNvPr id="18449" name="Text Box 23"/>
          <p:cNvSpPr txBox="1">
            <a:spLocks noChangeArrowheads="1"/>
          </p:cNvSpPr>
          <p:nvPr/>
        </p:nvSpPr>
        <p:spPr bwMode="auto">
          <a:xfrm>
            <a:off x="1141040" y="5616575"/>
            <a:ext cx="7391400" cy="400110"/>
          </a:xfrm>
          <a:prstGeom prst="rect">
            <a:avLst/>
          </a:prstGeom>
          <a:noFill/>
          <a:ln w="9525">
            <a:noFill/>
            <a:miter lim="800000"/>
            <a:headEnd/>
            <a:tailEnd/>
          </a:ln>
        </p:spPr>
        <p:txBody>
          <a:bodyPr>
            <a:spAutoFit/>
          </a:bodyPr>
          <a:lstStyle/>
          <a:p>
            <a:pPr algn="ctr" eaLnBrk="0" latinLnBrk="0" hangingPunct="0">
              <a:spcBef>
                <a:spcPct val="50000"/>
              </a:spcBef>
            </a:pPr>
            <a:r>
              <a:rPr kumimoji="0" lang="ko-KR" altLang="en-US" sz="2000" b="0" dirty="0">
                <a:cs typeface="Times New Roman" pitchFamily="18" charset="0"/>
              </a:rPr>
              <a:t>   </a:t>
            </a:r>
            <a:r>
              <a:rPr kumimoji="0" lang="ko-KR" altLang="en-US" sz="2000" b="0" u="sng" dirty="0">
                <a:cs typeface="Times New Roman" pitchFamily="18" charset="0"/>
              </a:rPr>
              <a:t> </a:t>
            </a:r>
            <a:r>
              <a:rPr kumimoji="0" lang="en-US" altLang="ko-KR" sz="2000" b="0" u="sng" dirty="0">
                <a:cs typeface="Times New Roman" pitchFamily="18" charset="0"/>
              </a:rPr>
              <a:t>Increase in Consumption as a Result of Specialization and Trade</a:t>
            </a:r>
          </a:p>
        </p:txBody>
      </p:sp>
      <p:sp>
        <p:nvSpPr>
          <p:cNvPr id="18450" name="Text Box 24"/>
          <p:cNvSpPr txBox="1">
            <a:spLocks noChangeArrowheads="1"/>
          </p:cNvSpPr>
          <p:nvPr/>
        </p:nvSpPr>
        <p:spPr bwMode="auto">
          <a:xfrm>
            <a:off x="1219200" y="5905500"/>
            <a:ext cx="5486400" cy="400050"/>
          </a:xfrm>
          <a:prstGeom prst="rect">
            <a:avLst/>
          </a:prstGeom>
          <a:noFill/>
          <a:ln w="9525">
            <a:noFill/>
            <a:miter lim="800000"/>
            <a:headEnd/>
            <a:tailEnd/>
          </a:ln>
        </p:spPr>
        <p:txBody>
          <a:bodyPr>
            <a:spAutoFit/>
          </a:bodyPr>
          <a:lstStyle/>
          <a:p>
            <a:pPr eaLnBrk="0" latinLnBrk="0" hangingPunct="0">
              <a:spcBef>
                <a:spcPct val="50000"/>
              </a:spcBef>
            </a:pPr>
            <a:r>
              <a:rPr kumimoji="0" lang="en-US" altLang="ko-KR" sz="2000" b="0" dirty="0">
                <a:cs typeface="Times New Roman" pitchFamily="18" charset="0"/>
              </a:rPr>
              <a:t>Ghana                                4.0                 1.0</a:t>
            </a:r>
          </a:p>
        </p:txBody>
      </p:sp>
      <p:sp>
        <p:nvSpPr>
          <p:cNvPr id="18451" name="Text Box 25"/>
          <p:cNvSpPr txBox="1">
            <a:spLocks noChangeArrowheads="1"/>
          </p:cNvSpPr>
          <p:nvPr/>
        </p:nvSpPr>
        <p:spPr bwMode="auto">
          <a:xfrm>
            <a:off x="1219200" y="6210300"/>
            <a:ext cx="5562600" cy="400050"/>
          </a:xfrm>
          <a:prstGeom prst="rect">
            <a:avLst/>
          </a:prstGeom>
          <a:noFill/>
          <a:ln w="9525">
            <a:noFill/>
            <a:miter lim="800000"/>
            <a:headEnd/>
            <a:tailEnd/>
          </a:ln>
        </p:spPr>
        <p:txBody>
          <a:bodyPr>
            <a:spAutoFit/>
          </a:bodyPr>
          <a:lstStyle/>
          <a:p>
            <a:pPr eaLnBrk="0" latinLnBrk="0" hangingPunct="0">
              <a:spcBef>
                <a:spcPct val="50000"/>
              </a:spcBef>
            </a:pPr>
            <a:r>
              <a:rPr kumimoji="0" lang="en-US" altLang="ko-KR" sz="2000" b="0" dirty="0">
                <a:cs typeface="Times New Roman" pitchFamily="18" charset="0"/>
              </a:rPr>
              <a:t>S. Korea                             3.5                4.0</a:t>
            </a:r>
          </a:p>
        </p:txBody>
      </p:sp>
      <p:sp>
        <p:nvSpPr>
          <p:cNvPr id="18452" name="Rectangle 2" descr="Large confetti"/>
          <p:cNvSpPr txBox="1">
            <a:spLocks noChangeArrowheads="1"/>
          </p:cNvSpPr>
          <p:nvPr/>
        </p:nvSpPr>
        <p:spPr bwMode="auto">
          <a:xfrm>
            <a:off x="0" y="174576"/>
            <a:ext cx="9144000" cy="662136"/>
          </a:xfrm>
          <a:prstGeom prst="rect">
            <a:avLst/>
          </a:prstGeom>
          <a:noFill/>
          <a:ln w="9525">
            <a:noFill/>
            <a:miter lim="800000"/>
            <a:headEnd/>
            <a:tailEnd/>
          </a:ln>
        </p:spPr>
        <p:txBody>
          <a:bodyPr anchor="b"/>
          <a:lstStyle/>
          <a:p>
            <a:pPr algn="ctr"/>
            <a:r>
              <a:rPr kumimoji="0" lang="en-US" altLang="ko-KR" sz="3200" b="1" dirty="0">
                <a:solidFill>
                  <a:srgbClr val="FFCC00"/>
                </a:solidFill>
                <a:cs typeface="Times New Roman" pitchFamily="18" charset="0"/>
              </a:rPr>
              <a:t>Absolute Advantage and Gains from Trade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4" name="Rectangle 2" descr="Large confetti"/>
          <p:cNvSpPr>
            <a:spLocks noGrp="1" noChangeArrowheads="1"/>
          </p:cNvSpPr>
          <p:nvPr>
            <p:ph type="title"/>
          </p:nvPr>
        </p:nvSpPr>
        <p:spPr>
          <a:xfrm>
            <a:off x="0" y="44624"/>
            <a:ext cx="9144000" cy="990600"/>
          </a:xfrm>
        </p:spPr>
        <p:txBody>
          <a:bodyPr lIns="90488" tIns="44450" rIns="90488" bIns="44450" anchor="ctr"/>
          <a:lstStyle/>
          <a:p>
            <a:pPr algn="ctr" eaLnBrk="1" hangingPunct="1">
              <a:buClr>
                <a:schemeClr val="tx1"/>
              </a:buClr>
              <a:defRPr/>
            </a:pPr>
            <a:r>
              <a:rPr kumimoji="0" lang="en-US" altLang="ko-KR" sz="3200" b="1" kern="1200" dirty="0">
                <a:solidFill>
                  <a:srgbClr val="FFCC00"/>
                </a:solidFill>
                <a:latin typeface="Times New Roman" pitchFamily="18" charset="0"/>
                <a:cs typeface="Times New Roman" pitchFamily="18" charset="0"/>
              </a:rPr>
              <a:t>Theory of Comparative Advantage</a:t>
            </a:r>
          </a:p>
        </p:txBody>
      </p:sp>
      <p:sp>
        <p:nvSpPr>
          <p:cNvPr id="19459" name="Rectangle 3"/>
          <p:cNvSpPr>
            <a:spLocks noGrp="1" noChangeArrowheads="1"/>
          </p:cNvSpPr>
          <p:nvPr>
            <p:ph type="body" idx="1"/>
          </p:nvPr>
        </p:nvSpPr>
        <p:spPr>
          <a:xfrm>
            <a:off x="323528" y="1123528"/>
            <a:ext cx="8820472" cy="5734472"/>
          </a:xfrm>
          <a:noFill/>
        </p:spPr>
        <p:txBody>
          <a:bodyPr lIns="90488" tIns="44450" rIns="90488" bIns="44450"/>
          <a:lstStyle/>
          <a:p>
            <a:pPr eaLnBrk="1" hangingPunct="1">
              <a:buFontTx/>
              <a:buChar char="•"/>
            </a:pPr>
            <a:r>
              <a:rPr lang="en-US" altLang="ko-KR" sz="2200" b="0" dirty="0">
                <a:latin typeface="Times New Roman" pitchFamily="18" charset="0"/>
                <a:cs typeface="Times New Roman" pitchFamily="18" charset="0"/>
              </a:rPr>
              <a:t>David Ricardo: </a:t>
            </a:r>
            <a:r>
              <a:rPr lang="en-US" altLang="ko-KR" sz="2200" b="0" i="1" dirty="0">
                <a:latin typeface="Times New Roman" pitchFamily="18" charset="0"/>
                <a:cs typeface="Times New Roman" pitchFamily="18" charset="0"/>
              </a:rPr>
              <a:t>Principles of Political Economy (</a:t>
            </a:r>
            <a:r>
              <a:rPr lang="en-US" altLang="ko-KR" sz="2200" b="0" dirty="0">
                <a:latin typeface="Times New Roman" pitchFamily="18" charset="0"/>
                <a:cs typeface="Times New Roman" pitchFamily="18" charset="0"/>
              </a:rPr>
              <a:t>1817).</a:t>
            </a:r>
          </a:p>
          <a:p>
            <a:pPr eaLnBrk="1" hangingPunct="1">
              <a:lnSpc>
                <a:spcPct val="90000"/>
              </a:lnSpc>
              <a:buFontTx/>
              <a:buChar char="•"/>
            </a:pPr>
            <a:r>
              <a:rPr lang="en-US" altLang="ko-KR" sz="2200" b="0" dirty="0">
                <a:latin typeface="Times New Roman" pitchFamily="18" charset="0"/>
                <a:cs typeface="Times New Roman" pitchFamily="18" charset="0"/>
              </a:rPr>
              <a:t>Assumes:</a:t>
            </a:r>
          </a:p>
          <a:p>
            <a:pPr lvl="1" eaLnBrk="1" hangingPunct="1">
              <a:lnSpc>
                <a:spcPct val="90000"/>
              </a:lnSpc>
              <a:buClr>
                <a:schemeClr val="tx1"/>
              </a:buClr>
              <a:buFontTx/>
              <a:buNone/>
            </a:pPr>
            <a:r>
              <a:rPr lang="en-US" altLang="ko-KR" sz="2000" dirty="0">
                <a:solidFill>
                  <a:schemeClr val="tx1"/>
                </a:solidFill>
                <a:latin typeface="Times New Roman" panose="02020603050405020304" pitchFamily="18" charset="0"/>
                <a:cs typeface="Times New Roman" panose="02020603050405020304" pitchFamily="18" charset="0"/>
              </a:rPr>
              <a:t>1) Two nations and two commodities only</a:t>
            </a:r>
          </a:p>
          <a:p>
            <a:pPr lvl="1" eaLnBrk="1" hangingPunct="1">
              <a:lnSpc>
                <a:spcPct val="90000"/>
              </a:lnSpc>
              <a:buClr>
                <a:schemeClr val="tx1"/>
              </a:buClr>
              <a:buFontTx/>
              <a:buNone/>
            </a:pPr>
            <a:r>
              <a:rPr lang="en-US" altLang="ko-KR" sz="2000" dirty="0">
                <a:solidFill>
                  <a:schemeClr val="tx1"/>
                </a:solidFill>
                <a:latin typeface="Times New Roman" panose="02020603050405020304" pitchFamily="18" charset="0"/>
                <a:cs typeface="Times New Roman" panose="02020603050405020304" pitchFamily="18" charset="0"/>
              </a:rPr>
              <a:t>2) Perfect mobility of labor within each nation, but immobility between nations</a:t>
            </a:r>
          </a:p>
          <a:p>
            <a:pPr lvl="1" eaLnBrk="1" hangingPunct="1">
              <a:lnSpc>
                <a:spcPct val="90000"/>
              </a:lnSpc>
              <a:buClr>
                <a:schemeClr val="tx1"/>
              </a:buClr>
              <a:buFontTx/>
              <a:buNone/>
            </a:pPr>
            <a:r>
              <a:rPr lang="en-US" altLang="ko-KR" sz="2000" dirty="0">
                <a:solidFill>
                  <a:schemeClr val="tx1"/>
                </a:solidFill>
                <a:latin typeface="Times New Roman" panose="02020603050405020304" pitchFamily="18" charset="0"/>
                <a:cs typeface="Times New Roman" panose="02020603050405020304" pitchFamily="18" charset="0"/>
              </a:rPr>
              <a:t>3) Constant cost of production; 4) No transportation costs; 5) No technical change, </a:t>
            </a:r>
            <a:r>
              <a:rPr lang="en-US" altLang="ko-KR" sz="2000" dirty="0" err="1">
                <a:solidFill>
                  <a:schemeClr val="tx1"/>
                </a:solidFill>
                <a:latin typeface="Times New Roman" panose="02020603050405020304" pitchFamily="18" charset="0"/>
                <a:cs typeface="Times New Roman" panose="02020603050405020304" pitchFamily="18" charset="0"/>
              </a:rPr>
              <a:t>etc</a:t>
            </a:r>
            <a:endParaRPr lang="en-US" altLang="ko-KR" sz="2000" b="0" dirty="0">
              <a:solidFill>
                <a:schemeClr val="tx1"/>
              </a:solidFill>
              <a:latin typeface="Times New Roman" panose="02020603050405020304" pitchFamily="18" charset="0"/>
              <a:cs typeface="Times New Roman" pitchFamily="18" charset="0"/>
            </a:endParaRPr>
          </a:p>
          <a:p>
            <a:pPr eaLnBrk="1" hangingPunct="1">
              <a:buFont typeface="Arial" pitchFamily="34" charset="0"/>
              <a:buChar char="•"/>
            </a:pPr>
            <a:r>
              <a:rPr lang="en-US" altLang="ko-KR" sz="2200" b="0" dirty="0">
                <a:latin typeface="Times New Roman" pitchFamily="18" charset="0"/>
                <a:ea typeface="바탕" pitchFamily="18" charset="-127"/>
                <a:cs typeface="Times New Roman" pitchFamily="18" charset="0"/>
              </a:rPr>
              <a:t>Even if a nation has absolute disadvantage in producing both commodities, both nations can still gain from trade.</a:t>
            </a:r>
            <a:r>
              <a:rPr lang="en-US" altLang="ko-KR" sz="2200" b="0" dirty="0">
                <a:latin typeface="Times New Roman" pitchFamily="18" charset="0"/>
                <a:cs typeface="Times New Roman" pitchFamily="18" charset="0"/>
              </a:rPr>
              <a:t> </a:t>
            </a:r>
          </a:p>
          <a:p>
            <a:pPr eaLnBrk="1" hangingPunct="1">
              <a:buFont typeface="Arial" pitchFamily="34" charset="0"/>
              <a:buChar char="•"/>
            </a:pPr>
            <a:r>
              <a:rPr lang="en-US" altLang="ko-KR" sz="2200" b="0" dirty="0">
                <a:latin typeface="Times New Roman" pitchFamily="18" charset="0"/>
                <a:ea typeface="바탕" pitchFamily="18" charset="-127"/>
              </a:rPr>
              <a:t>A nation should specialize in producing and exporting the commodity with </a:t>
            </a:r>
            <a:r>
              <a:rPr lang="en-US" altLang="ko-KR" sz="2200" b="0" i="1" u="sng" dirty="0">
                <a:latin typeface="Times New Roman" pitchFamily="18" charset="0"/>
                <a:ea typeface="바탕" pitchFamily="18" charset="-127"/>
              </a:rPr>
              <a:t>comparative advantage </a:t>
            </a:r>
            <a:r>
              <a:rPr lang="en-US" altLang="ko-KR" sz="2200" b="0" dirty="0">
                <a:latin typeface="Times New Roman" pitchFamily="18" charset="0"/>
                <a:ea typeface="바탕" pitchFamily="18" charset="-127"/>
              </a:rPr>
              <a:t>(larger absolute advantage or smaller absolute disadvantage) and import the commodity with </a:t>
            </a:r>
            <a:r>
              <a:rPr lang="en-US" altLang="ko-KR" sz="2200" b="0" i="1" u="sng" dirty="0">
                <a:latin typeface="Times New Roman" pitchFamily="18" charset="0"/>
                <a:ea typeface="바탕" pitchFamily="18" charset="-127"/>
              </a:rPr>
              <a:t>comparative disadvantage </a:t>
            </a:r>
            <a:r>
              <a:rPr lang="en-US" altLang="ko-KR" sz="2200" b="0" dirty="0">
                <a:latin typeface="Times New Roman" pitchFamily="18" charset="0"/>
                <a:ea typeface="바탕" pitchFamily="18" charset="-127"/>
              </a:rPr>
              <a:t>(smaller absolute advantage or larger absolute disadvantage)</a:t>
            </a:r>
            <a:r>
              <a:rPr lang="en-US" altLang="ko-KR" sz="2200" b="0" i="1" dirty="0">
                <a:latin typeface="Times New Roman" pitchFamily="18" charset="0"/>
                <a:ea typeface="바탕" pitchFamily="18" charset="-127"/>
              </a:rPr>
              <a:t>.</a:t>
            </a:r>
          </a:p>
          <a:p>
            <a:pPr eaLnBrk="1" hangingPunct="1">
              <a:buFont typeface="Arial" pitchFamily="34" charset="0"/>
              <a:buChar char="•"/>
            </a:pPr>
            <a:r>
              <a:rPr lang="en-US" altLang="ko-KR" sz="2200" b="0" dirty="0">
                <a:latin typeface="Times New Roman" pitchFamily="18" charset="0"/>
                <a:ea typeface="바탕" pitchFamily="18" charset="-127"/>
              </a:rPr>
              <a:t>All nations gain from free trade (Trade is a positive sum game).</a:t>
            </a:r>
          </a:p>
          <a:p>
            <a:pPr eaLnBrk="1" hangingPunct="1">
              <a:buFont typeface="Arial" pitchFamily="34" charset="0"/>
              <a:buChar char="•"/>
            </a:pPr>
            <a:r>
              <a:rPr lang="en-US" altLang="ko-KR" sz="2200" b="0" i="1" dirty="0">
                <a:latin typeface="Times New Roman" pitchFamily="18" charset="0"/>
                <a:ea typeface="바탕" pitchFamily="18" charset="-127"/>
                <a:cs typeface="Times New Roman" pitchFamily="18" charset="0"/>
              </a:rPr>
              <a:t>Sources of Advantage</a:t>
            </a:r>
            <a:r>
              <a:rPr lang="en-US" altLang="ko-KR" sz="2200" b="0" dirty="0">
                <a:latin typeface="Times New Roman" pitchFamily="18" charset="0"/>
                <a:ea typeface="바탕" pitchFamily="18" charset="-127"/>
                <a:cs typeface="Times New Roman" pitchFamily="18" charset="0"/>
              </a:rPr>
              <a:t>: Higher productivity - labor</a:t>
            </a:r>
          </a:p>
        </p:txBody>
      </p:sp>
    </p:spTree>
  </p:cSld>
  <p:clrMapOvr>
    <a:masterClrMapping/>
  </p:clrMapOvr>
  <p:transition>
    <p:random/>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descr="Large confetti"/>
          <p:cNvSpPr>
            <a:spLocks noGrp="1" noChangeArrowheads="1"/>
          </p:cNvSpPr>
          <p:nvPr>
            <p:ph type="title"/>
          </p:nvPr>
        </p:nvSpPr>
        <p:spPr>
          <a:xfrm>
            <a:off x="0" y="152400"/>
            <a:ext cx="9144000" cy="762000"/>
          </a:xfrm>
        </p:spPr>
        <p:txBody>
          <a:bodyPr/>
          <a:lstStyle/>
          <a:p>
            <a:pPr algn="ctr" eaLnBrk="1" hangingPunct="1">
              <a:defRPr/>
            </a:pPr>
            <a:r>
              <a:rPr kumimoji="0" lang="en-US" altLang="ko-KR" sz="3200" b="1" kern="1200" dirty="0">
                <a:solidFill>
                  <a:srgbClr val="FFCC00"/>
                </a:solidFill>
                <a:latin typeface="Times New Roman" pitchFamily="18" charset="0"/>
                <a:cs typeface="Times New Roman" pitchFamily="18" charset="0"/>
              </a:rPr>
              <a:t>Theory of Comparative Advantage</a:t>
            </a:r>
          </a:p>
        </p:txBody>
      </p:sp>
      <p:sp>
        <p:nvSpPr>
          <p:cNvPr id="20483" name="Line 3"/>
          <p:cNvSpPr>
            <a:spLocks noChangeShapeType="1"/>
          </p:cNvSpPr>
          <p:nvPr/>
        </p:nvSpPr>
        <p:spPr bwMode="auto">
          <a:xfrm>
            <a:off x="2025352" y="1600200"/>
            <a:ext cx="0" cy="3962400"/>
          </a:xfrm>
          <a:prstGeom prst="line">
            <a:avLst/>
          </a:prstGeom>
          <a:noFill/>
          <a:ln w="38100">
            <a:solidFill>
              <a:srgbClr val="FFFF00"/>
            </a:solidFill>
            <a:round/>
            <a:headEnd/>
            <a:tailEnd/>
          </a:ln>
        </p:spPr>
        <p:txBody>
          <a:bodyPr wrap="none" anchor="ctr"/>
          <a:lstStyle/>
          <a:p>
            <a:endParaRPr lang="ko-KR" altLang="en-US">
              <a:solidFill>
                <a:schemeClr val="tx2"/>
              </a:solidFill>
            </a:endParaRPr>
          </a:p>
        </p:txBody>
      </p:sp>
      <p:sp>
        <p:nvSpPr>
          <p:cNvPr id="20484" name="Line 4"/>
          <p:cNvSpPr>
            <a:spLocks noChangeShapeType="1"/>
          </p:cNvSpPr>
          <p:nvPr/>
        </p:nvSpPr>
        <p:spPr bwMode="auto">
          <a:xfrm>
            <a:off x="2025352" y="5562600"/>
            <a:ext cx="5562600" cy="0"/>
          </a:xfrm>
          <a:prstGeom prst="line">
            <a:avLst/>
          </a:prstGeom>
          <a:noFill/>
          <a:ln w="38100">
            <a:solidFill>
              <a:srgbClr val="FFFF00"/>
            </a:solidFill>
            <a:round/>
            <a:headEnd/>
            <a:tailEnd/>
          </a:ln>
        </p:spPr>
        <p:txBody>
          <a:bodyPr wrap="none" anchor="ctr"/>
          <a:lstStyle/>
          <a:p>
            <a:endParaRPr lang="ko-KR" altLang="en-US">
              <a:solidFill>
                <a:schemeClr val="tx2"/>
              </a:solidFill>
            </a:endParaRPr>
          </a:p>
        </p:txBody>
      </p:sp>
      <p:sp>
        <p:nvSpPr>
          <p:cNvPr id="20485" name="Text Box 5"/>
          <p:cNvSpPr txBox="1">
            <a:spLocks noChangeArrowheads="1"/>
          </p:cNvSpPr>
          <p:nvPr/>
        </p:nvSpPr>
        <p:spPr bwMode="auto">
          <a:xfrm>
            <a:off x="2025352" y="5562600"/>
            <a:ext cx="5715000" cy="396875"/>
          </a:xfrm>
          <a:prstGeom prst="rect">
            <a:avLst/>
          </a:prstGeom>
          <a:noFill/>
          <a:ln w="9525">
            <a:noFill/>
            <a:miter lim="800000"/>
            <a:headEnd/>
            <a:tailEnd/>
          </a:ln>
        </p:spPr>
        <p:txBody>
          <a:bodyPr>
            <a:spAutoFit/>
          </a:bodyPr>
          <a:lstStyle/>
          <a:p>
            <a:pPr eaLnBrk="0" latinLnBrk="0" hangingPunct="0">
              <a:spcBef>
                <a:spcPct val="50000"/>
              </a:spcBef>
            </a:pPr>
            <a:r>
              <a:rPr kumimoji="0" lang="ko-KR" altLang="en-US" sz="2000" dirty="0">
                <a:cs typeface="Times New Roman" pitchFamily="18" charset="0"/>
              </a:rPr>
              <a:t>0                 5                   10                15                20</a:t>
            </a:r>
          </a:p>
        </p:txBody>
      </p:sp>
      <p:sp>
        <p:nvSpPr>
          <p:cNvPr id="20486" name="Text Box 6"/>
          <p:cNvSpPr txBox="1">
            <a:spLocks noChangeArrowheads="1"/>
          </p:cNvSpPr>
          <p:nvPr/>
        </p:nvSpPr>
        <p:spPr bwMode="auto">
          <a:xfrm rot="-5400000">
            <a:off x="-1076226" y="2884487"/>
            <a:ext cx="5715000" cy="396875"/>
          </a:xfrm>
          <a:prstGeom prst="rect">
            <a:avLst/>
          </a:prstGeom>
          <a:noFill/>
          <a:ln w="9525">
            <a:noFill/>
            <a:miter lim="800000"/>
            <a:headEnd/>
            <a:tailEnd/>
          </a:ln>
        </p:spPr>
        <p:txBody>
          <a:bodyPr>
            <a:spAutoFit/>
          </a:bodyPr>
          <a:lstStyle/>
          <a:p>
            <a:pPr eaLnBrk="0" latinLnBrk="0" hangingPunct="0">
              <a:spcBef>
                <a:spcPct val="50000"/>
              </a:spcBef>
            </a:pPr>
            <a:r>
              <a:rPr kumimoji="0" lang="ko-KR" altLang="en-US" sz="2000" dirty="0">
                <a:cs typeface="Times New Roman" pitchFamily="18" charset="0"/>
              </a:rPr>
              <a:t>                5           10            15               20</a:t>
            </a:r>
          </a:p>
        </p:txBody>
      </p:sp>
      <p:sp>
        <p:nvSpPr>
          <p:cNvPr id="20487" name="Text Box 7"/>
          <p:cNvSpPr txBox="1">
            <a:spLocks noChangeArrowheads="1"/>
          </p:cNvSpPr>
          <p:nvPr/>
        </p:nvSpPr>
        <p:spPr bwMode="auto">
          <a:xfrm rot="-5400000">
            <a:off x="590402" y="3262659"/>
            <a:ext cx="1281112" cy="461665"/>
          </a:xfrm>
          <a:prstGeom prst="rect">
            <a:avLst/>
          </a:prstGeom>
          <a:noFill/>
          <a:ln w="9525">
            <a:noFill/>
            <a:miter lim="800000"/>
            <a:headEnd/>
            <a:tailEnd/>
          </a:ln>
        </p:spPr>
        <p:txBody>
          <a:bodyPr>
            <a:spAutoFit/>
          </a:bodyPr>
          <a:lstStyle/>
          <a:p>
            <a:pPr eaLnBrk="0" latinLnBrk="0" hangingPunct="0">
              <a:spcBef>
                <a:spcPct val="50000"/>
              </a:spcBef>
            </a:pPr>
            <a:r>
              <a:rPr kumimoji="0" lang="en-US" altLang="ko-KR" dirty="0">
                <a:solidFill>
                  <a:schemeClr val="tx2"/>
                </a:solidFill>
                <a:cs typeface="Times New Roman" pitchFamily="18" charset="0"/>
              </a:rPr>
              <a:t>Cocoa</a:t>
            </a:r>
          </a:p>
        </p:txBody>
      </p:sp>
      <p:sp>
        <p:nvSpPr>
          <p:cNvPr id="20488" name="Text Box 8"/>
          <p:cNvSpPr txBox="1">
            <a:spLocks noChangeArrowheads="1"/>
          </p:cNvSpPr>
          <p:nvPr/>
        </p:nvSpPr>
        <p:spPr bwMode="auto">
          <a:xfrm>
            <a:off x="4200872" y="6093296"/>
            <a:ext cx="1676400" cy="461665"/>
          </a:xfrm>
          <a:prstGeom prst="rect">
            <a:avLst/>
          </a:prstGeom>
          <a:noFill/>
          <a:ln w="9525">
            <a:noFill/>
            <a:miter lim="800000"/>
            <a:headEnd/>
            <a:tailEnd/>
          </a:ln>
        </p:spPr>
        <p:txBody>
          <a:bodyPr>
            <a:spAutoFit/>
          </a:bodyPr>
          <a:lstStyle/>
          <a:p>
            <a:pPr eaLnBrk="0" latinLnBrk="0" hangingPunct="0">
              <a:spcBef>
                <a:spcPct val="50000"/>
              </a:spcBef>
            </a:pPr>
            <a:r>
              <a:rPr kumimoji="0" lang="en-US" altLang="ko-KR" dirty="0">
                <a:solidFill>
                  <a:schemeClr val="tx2"/>
                </a:solidFill>
                <a:cs typeface="Times New Roman" pitchFamily="18" charset="0"/>
              </a:rPr>
              <a:t>Rice</a:t>
            </a:r>
          </a:p>
        </p:txBody>
      </p:sp>
      <p:sp>
        <p:nvSpPr>
          <p:cNvPr id="20489" name="Line 10"/>
          <p:cNvSpPr>
            <a:spLocks noChangeShapeType="1"/>
          </p:cNvSpPr>
          <p:nvPr/>
        </p:nvSpPr>
        <p:spPr bwMode="auto">
          <a:xfrm>
            <a:off x="2025352" y="1600200"/>
            <a:ext cx="3962400" cy="3962400"/>
          </a:xfrm>
          <a:prstGeom prst="line">
            <a:avLst/>
          </a:prstGeom>
          <a:noFill/>
          <a:ln w="38100">
            <a:solidFill>
              <a:srgbClr val="66FF66"/>
            </a:solidFill>
            <a:round/>
            <a:headEnd/>
            <a:tailEnd/>
          </a:ln>
        </p:spPr>
        <p:txBody>
          <a:bodyPr wrap="none" anchor="ctr"/>
          <a:lstStyle/>
          <a:p>
            <a:endParaRPr lang="ko-KR" altLang="en-US">
              <a:solidFill>
                <a:schemeClr val="tx2"/>
              </a:solidFill>
            </a:endParaRPr>
          </a:p>
        </p:txBody>
      </p:sp>
      <p:sp>
        <p:nvSpPr>
          <p:cNvPr id="20490" name="Line 11"/>
          <p:cNvSpPr>
            <a:spLocks noChangeShapeType="1"/>
          </p:cNvSpPr>
          <p:nvPr/>
        </p:nvSpPr>
        <p:spPr bwMode="auto">
          <a:xfrm>
            <a:off x="2025352" y="4800600"/>
            <a:ext cx="2667000" cy="762000"/>
          </a:xfrm>
          <a:prstGeom prst="line">
            <a:avLst/>
          </a:prstGeom>
          <a:noFill/>
          <a:ln w="38100">
            <a:solidFill>
              <a:srgbClr val="FF66FF"/>
            </a:solidFill>
            <a:round/>
            <a:headEnd/>
            <a:tailEnd/>
          </a:ln>
        </p:spPr>
        <p:txBody>
          <a:bodyPr wrap="none" anchor="ctr"/>
          <a:lstStyle/>
          <a:p>
            <a:endParaRPr lang="ko-KR" altLang="en-US">
              <a:solidFill>
                <a:schemeClr val="tx2"/>
              </a:solidFill>
            </a:endParaRPr>
          </a:p>
        </p:txBody>
      </p:sp>
      <p:sp>
        <p:nvSpPr>
          <p:cNvPr id="20491" name="Line 12"/>
          <p:cNvSpPr>
            <a:spLocks noChangeShapeType="1"/>
          </p:cNvSpPr>
          <p:nvPr/>
        </p:nvSpPr>
        <p:spPr bwMode="auto">
          <a:xfrm>
            <a:off x="2025352" y="2819400"/>
            <a:ext cx="1143000" cy="0"/>
          </a:xfrm>
          <a:prstGeom prst="line">
            <a:avLst/>
          </a:prstGeom>
          <a:noFill/>
          <a:ln w="38100">
            <a:solidFill>
              <a:srgbClr val="99CCFF"/>
            </a:solidFill>
            <a:prstDash val="sysDot"/>
            <a:round/>
            <a:headEnd/>
            <a:tailEnd/>
          </a:ln>
        </p:spPr>
        <p:txBody>
          <a:bodyPr wrap="none" anchor="ctr"/>
          <a:lstStyle/>
          <a:p>
            <a:endParaRPr lang="ko-KR" altLang="en-US">
              <a:solidFill>
                <a:schemeClr val="tx2"/>
              </a:solidFill>
            </a:endParaRPr>
          </a:p>
        </p:txBody>
      </p:sp>
      <p:sp>
        <p:nvSpPr>
          <p:cNvPr id="20492" name="Line 13"/>
          <p:cNvSpPr>
            <a:spLocks noChangeShapeType="1"/>
          </p:cNvSpPr>
          <p:nvPr/>
        </p:nvSpPr>
        <p:spPr bwMode="auto">
          <a:xfrm>
            <a:off x="3168352" y="2819400"/>
            <a:ext cx="0" cy="2743200"/>
          </a:xfrm>
          <a:prstGeom prst="line">
            <a:avLst/>
          </a:prstGeom>
          <a:noFill/>
          <a:ln w="38100">
            <a:solidFill>
              <a:srgbClr val="99CCFF"/>
            </a:solidFill>
            <a:prstDash val="sysDot"/>
            <a:round/>
            <a:headEnd/>
            <a:tailEnd/>
          </a:ln>
        </p:spPr>
        <p:txBody>
          <a:bodyPr wrap="none" anchor="ctr"/>
          <a:lstStyle/>
          <a:p>
            <a:endParaRPr lang="ko-KR" altLang="en-US">
              <a:solidFill>
                <a:schemeClr val="tx2"/>
              </a:solidFill>
            </a:endParaRPr>
          </a:p>
        </p:txBody>
      </p:sp>
      <p:sp>
        <p:nvSpPr>
          <p:cNvPr id="20493" name="Line 14"/>
          <p:cNvSpPr>
            <a:spLocks noChangeShapeType="1"/>
          </p:cNvSpPr>
          <p:nvPr/>
        </p:nvSpPr>
        <p:spPr bwMode="auto">
          <a:xfrm>
            <a:off x="2025352" y="3886200"/>
            <a:ext cx="2209800" cy="0"/>
          </a:xfrm>
          <a:prstGeom prst="line">
            <a:avLst/>
          </a:prstGeom>
          <a:noFill/>
          <a:ln w="38100">
            <a:solidFill>
              <a:srgbClr val="99CCFF"/>
            </a:solidFill>
            <a:prstDash val="sysDot"/>
            <a:round/>
            <a:headEnd/>
            <a:tailEnd/>
          </a:ln>
        </p:spPr>
        <p:txBody>
          <a:bodyPr wrap="none" anchor="ctr"/>
          <a:lstStyle/>
          <a:p>
            <a:endParaRPr lang="ko-KR" altLang="en-US">
              <a:solidFill>
                <a:schemeClr val="tx2"/>
              </a:solidFill>
            </a:endParaRPr>
          </a:p>
        </p:txBody>
      </p:sp>
      <p:sp>
        <p:nvSpPr>
          <p:cNvPr id="20494" name="Line 15"/>
          <p:cNvSpPr>
            <a:spLocks noChangeShapeType="1"/>
          </p:cNvSpPr>
          <p:nvPr/>
        </p:nvSpPr>
        <p:spPr bwMode="auto">
          <a:xfrm>
            <a:off x="4235152" y="3886200"/>
            <a:ext cx="0" cy="1676400"/>
          </a:xfrm>
          <a:prstGeom prst="line">
            <a:avLst/>
          </a:prstGeom>
          <a:noFill/>
          <a:ln w="38100">
            <a:solidFill>
              <a:srgbClr val="99CCFF"/>
            </a:solidFill>
            <a:prstDash val="sysDot"/>
            <a:round/>
            <a:headEnd/>
            <a:tailEnd/>
          </a:ln>
        </p:spPr>
        <p:txBody>
          <a:bodyPr wrap="none" anchor="ctr"/>
          <a:lstStyle/>
          <a:p>
            <a:endParaRPr lang="ko-KR" altLang="en-US">
              <a:solidFill>
                <a:schemeClr val="tx2"/>
              </a:solidFill>
            </a:endParaRPr>
          </a:p>
        </p:txBody>
      </p:sp>
      <p:sp>
        <p:nvSpPr>
          <p:cNvPr id="20495" name="Text Box 16"/>
          <p:cNvSpPr txBox="1">
            <a:spLocks noChangeArrowheads="1"/>
          </p:cNvSpPr>
          <p:nvPr/>
        </p:nvSpPr>
        <p:spPr bwMode="auto">
          <a:xfrm>
            <a:off x="2711152" y="5562600"/>
            <a:ext cx="609600" cy="336550"/>
          </a:xfrm>
          <a:prstGeom prst="rect">
            <a:avLst/>
          </a:prstGeom>
          <a:noFill/>
          <a:ln w="9525">
            <a:noFill/>
            <a:miter lim="800000"/>
            <a:headEnd/>
            <a:tailEnd/>
          </a:ln>
        </p:spPr>
        <p:txBody>
          <a:bodyPr>
            <a:spAutoFit/>
          </a:bodyPr>
          <a:lstStyle/>
          <a:p>
            <a:pPr eaLnBrk="0" latinLnBrk="0" hangingPunct="0">
              <a:spcBef>
                <a:spcPct val="50000"/>
              </a:spcBef>
            </a:pPr>
            <a:r>
              <a:rPr kumimoji="0" lang="ko-KR" altLang="en-US" sz="1600" dirty="0">
                <a:cs typeface="Times New Roman" pitchFamily="18" charset="0"/>
              </a:rPr>
              <a:t>3.75  </a:t>
            </a:r>
          </a:p>
        </p:txBody>
      </p:sp>
      <p:sp>
        <p:nvSpPr>
          <p:cNvPr id="20496" name="Text Box 17"/>
          <p:cNvSpPr txBox="1">
            <a:spLocks noChangeArrowheads="1"/>
          </p:cNvSpPr>
          <p:nvPr/>
        </p:nvSpPr>
        <p:spPr bwMode="auto">
          <a:xfrm>
            <a:off x="3930352" y="5562600"/>
            <a:ext cx="609600" cy="336550"/>
          </a:xfrm>
          <a:prstGeom prst="rect">
            <a:avLst/>
          </a:prstGeom>
          <a:noFill/>
          <a:ln w="9525">
            <a:noFill/>
            <a:miter lim="800000"/>
            <a:headEnd/>
            <a:tailEnd/>
          </a:ln>
        </p:spPr>
        <p:txBody>
          <a:bodyPr>
            <a:spAutoFit/>
          </a:bodyPr>
          <a:lstStyle/>
          <a:p>
            <a:pPr eaLnBrk="0" latinLnBrk="0" hangingPunct="0">
              <a:spcBef>
                <a:spcPct val="50000"/>
              </a:spcBef>
            </a:pPr>
            <a:r>
              <a:rPr kumimoji="0" lang="ko-KR" altLang="en-US" sz="1600">
                <a:solidFill>
                  <a:schemeClr val="tx2"/>
                </a:solidFill>
                <a:cs typeface="Times New Roman" pitchFamily="18" charset="0"/>
              </a:rPr>
              <a:t>7.5</a:t>
            </a:r>
          </a:p>
        </p:txBody>
      </p:sp>
      <p:sp>
        <p:nvSpPr>
          <p:cNvPr id="20497" name="Text Box 18"/>
          <p:cNvSpPr txBox="1">
            <a:spLocks noChangeArrowheads="1"/>
          </p:cNvSpPr>
          <p:nvPr/>
        </p:nvSpPr>
        <p:spPr bwMode="auto">
          <a:xfrm>
            <a:off x="1568152" y="5029200"/>
            <a:ext cx="609600" cy="336550"/>
          </a:xfrm>
          <a:prstGeom prst="rect">
            <a:avLst/>
          </a:prstGeom>
          <a:noFill/>
          <a:ln w="9525">
            <a:noFill/>
            <a:miter lim="800000"/>
            <a:headEnd/>
            <a:tailEnd/>
          </a:ln>
        </p:spPr>
        <p:txBody>
          <a:bodyPr>
            <a:spAutoFit/>
          </a:bodyPr>
          <a:lstStyle/>
          <a:p>
            <a:pPr eaLnBrk="0" latinLnBrk="0" hangingPunct="0">
              <a:spcBef>
                <a:spcPct val="50000"/>
              </a:spcBef>
            </a:pPr>
            <a:r>
              <a:rPr kumimoji="0" lang="ko-KR" altLang="en-US" sz="1600" dirty="0">
                <a:cs typeface="Times New Roman" pitchFamily="18" charset="0"/>
              </a:rPr>
              <a:t>2.5</a:t>
            </a:r>
          </a:p>
        </p:txBody>
      </p:sp>
      <p:sp>
        <p:nvSpPr>
          <p:cNvPr id="20498" name="Line 19"/>
          <p:cNvSpPr>
            <a:spLocks noChangeShapeType="1"/>
          </p:cNvSpPr>
          <p:nvPr/>
        </p:nvSpPr>
        <p:spPr bwMode="auto">
          <a:xfrm>
            <a:off x="2025352" y="5181600"/>
            <a:ext cx="1295400" cy="0"/>
          </a:xfrm>
          <a:prstGeom prst="line">
            <a:avLst/>
          </a:prstGeom>
          <a:noFill/>
          <a:ln w="38100">
            <a:solidFill>
              <a:srgbClr val="99CCFF"/>
            </a:solidFill>
            <a:prstDash val="sysDot"/>
            <a:round/>
            <a:headEnd/>
            <a:tailEnd/>
          </a:ln>
        </p:spPr>
        <p:txBody>
          <a:bodyPr wrap="none" anchor="ctr"/>
          <a:lstStyle/>
          <a:p>
            <a:endParaRPr lang="ko-KR" altLang="en-US">
              <a:solidFill>
                <a:schemeClr val="tx2"/>
              </a:solidFill>
            </a:endParaRPr>
          </a:p>
        </p:txBody>
      </p:sp>
      <p:sp>
        <p:nvSpPr>
          <p:cNvPr id="20499" name="Line 20"/>
          <p:cNvSpPr>
            <a:spLocks noChangeShapeType="1"/>
          </p:cNvSpPr>
          <p:nvPr/>
        </p:nvSpPr>
        <p:spPr bwMode="auto">
          <a:xfrm>
            <a:off x="3396952" y="5257800"/>
            <a:ext cx="0" cy="304800"/>
          </a:xfrm>
          <a:prstGeom prst="line">
            <a:avLst/>
          </a:prstGeom>
          <a:noFill/>
          <a:ln w="38100">
            <a:solidFill>
              <a:srgbClr val="99CCFF"/>
            </a:solidFill>
            <a:prstDash val="sysDot"/>
            <a:round/>
            <a:headEnd/>
            <a:tailEnd/>
          </a:ln>
        </p:spPr>
        <p:txBody>
          <a:bodyPr wrap="none" anchor="ctr"/>
          <a:lstStyle/>
          <a:p>
            <a:endParaRPr lang="ko-KR" altLang="en-US">
              <a:solidFill>
                <a:schemeClr val="tx2"/>
              </a:solidFill>
            </a:endParaRPr>
          </a:p>
        </p:txBody>
      </p:sp>
      <p:sp>
        <p:nvSpPr>
          <p:cNvPr id="20500" name="Text Box 21"/>
          <p:cNvSpPr txBox="1">
            <a:spLocks noChangeArrowheads="1"/>
          </p:cNvSpPr>
          <p:nvPr/>
        </p:nvSpPr>
        <p:spPr bwMode="auto">
          <a:xfrm>
            <a:off x="2101552" y="1371600"/>
            <a:ext cx="1030288" cy="400110"/>
          </a:xfrm>
          <a:prstGeom prst="rect">
            <a:avLst/>
          </a:prstGeom>
          <a:noFill/>
          <a:ln w="9525">
            <a:noFill/>
            <a:miter lim="800000"/>
            <a:headEnd/>
            <a:tailEnd/>
          </a:ln>
        </p:spPr>
        <p:txBody>
          <a:bodyPr wrap="square">
            <a:spAutoFit/>
          </a:bodyPr>
          <a:lstStyle/>
          <a:p>
            <a:pPr eaLnBrk="0" latinLnBrk="0" hangingPunct="0">
              <a:spcBef>
                <a:spcPct val="50000"/>
              </a:spcBef>
            </a:pPr>
            <a:r>
              <a:rPr kumimoji="0" lang="en-US" altLang="ko-KR" sz="2000" dirty="0">
                <a:solidFill>
                  <a:schemeClr val="tx2"/>
                </a:solidFill>
                <a:cs typeface="Times New Roman" pitchFamily="18" charset="0"/>
              </a:rPr>
              <a:t>G</a:t>
            </a:r>
          </a:p>
        </p:txBody>
      </p:sp>
      <p:sp>
        <p:nvSpPr>
          <p:cNvPr id="20501" name="Text Box 22"/>
          <p:cNvSpPr txBox="1">
            <a:spLocks noChangeArrowheads="1"/>
          </p:cNvSpPr>
          <p:nvPr/>
        </p:nvSpPr>
        <p:spPr bwMode="auto">
          <a:xfrm>
            <a:off x="3244552" y="2514600"/>
            <a:ext cx="381000" cy="396875"/>
          </a:xfrm>
          <a:prstGeom prst="rect">
            <a:avLst/>
          </a:prstGeom>
          <a:noFill/>
          <a:ln w="9525">
            <a:noFill/>
            <a:miter lim="800000"/>
            <a:headEnd/>
            <a:tailEnd/>
          </a:ln>
        </p:spPr>
        <p:txBody>
          <a:bodyPr>
            <a:spAutoFit/>
          </a:bodyPr>
          <a:lstStyle/>
          <a:p>
            <a:pPr eaLnBrk="0" latinLnBrk="0" hangingPunct="0">
              <a:spcBef>
                <a:spcPct val="50000"/>
              </a:spcBef>
            </a:pPr>
            <a:r>
              <a:rPr kumimoji="0" lang="en-US" altLang="ko-KR" sz="2000">
                <a:solidFill>
                  <a:schemeClr val="tx2"/>
                </a:solidFill>
                <a:cs typeface="Times New Roman" pitchFamily="18" charset="0"/>
              </a:rPr>
              <a:t>C</a:t>
            </a:r>
          </a:p>
        </p:txBody>
      </p:sp>
      <p:sp>
        <p:nvSpPr>
          <p:cNvPr id="20502" name="Text Box 23"/>
          <p:cNvSpPr txBox="1">
            <a:spLocks noChangeArrowheads="1"/>
          </p:cNvSpPr>
          <p:nvPr/>
        </p:nvSpPr>
        <p:spPr bwMode="auto">
          <a:xfrm>
            <a:off x="4311352" y="3581400"/>
            <a:ext cx="381000" cy="396875"/>
          </a:xfrm>
          <a:prstGeom prst="rect">
            <a:avLst/>
          </a:prstGeom>
          <a:noFill/>
          <a:ln w="9525">
            <a:noFill/>
            <a:miter lim="800000"/>
            <a:headEnd/>
            <a:tailEnd/>
          </a:ln>
        </p:spPr>
        <p:txBody>
          <a:bodyPr>
            <a:spAutoFit/>
          </a:bodyPr>
          <a:lstStyle/>
          <a:p>
            <a:pPr eaLnBrk="0" latinLnBrk="0" hangingPunct="0">
              <a:spcBef>
                <a:spcPct val="50000"/>
              </a:spcBef>
            </a:pPr>
            <a:r>
              <a:rPr kumimoji="0" lang="en-US" altLang="ko-KR" sz="2000">
                <a:solidFill>
                  <a:schemeClr val="tx2"/>
                </a:solidFill>
                <a:cs typeface="Times New Roman" pitchFamily="18" charset="0"/>
              </a:rPr>
              <a:t>A</a:t>
            </a:r>
          </a:p>
        </p:txBody>
      </p:sp>
      <p:sp>
        <p:nvSpPr>
          <p:cNvPr id="20503" name="Text Box 24"/>
          <p:cNvSpPr txBox="1">
            <a:spLocks noChangeArrowheads="1"/>
          </p:cNvSpPr>
          <p:nvPr/>
        </p:nvSpPr>
        <p:spPr bwMode="auto">
          <a:xfrm>
            <a:off x="5911552" y="5257800"/>
            <a:ext cx="609600" cy="396875"/>
          </a:xfrm>
          <a:prstGeom prst="rect">
            <a:avLst/>
          </a:prstGeom>
          <a:noFill/>
          <a:ln w="9525">
            <a:noFill/>
            <a:miter lim="800000"/>
            <a:headEnd/>
            <a:tailEnd/>
          </a:ln>
        </p:spPr>
        <p:txBody>
          <a:bodyPr>
            <a:spAutoFit/>
          </a:bodyPr>
          <a:lstStyle/>
          <a:p>
            <a:pPr eaLnBrk="0" latinLnBrk="0" hangingPunct="0">
              <a:spcBef>
                <a:spcPct val="50000"/>
              </a:spcBef>
            </a:pPr>
            <a:r>
              <a:rPr kumimoji="0" lang="en-US" altLang="ko-KR" sz="2000">
                <a:solidFill>
                  <a:schemeClr val="tx2"/>
                </a:solidFill>
                <a:cs typeface="Times New Roman" pitchFamily="18" charset="0"/>
              </a:rPr>
              <a:t>G’</a:t>
            </a:r>
          </a:p>
        </p:txBody>
      </p:sp>
      <p:sp>
        <p:nvSpPr>
          <p:cNvPr id="20504" name="Text Box 25"/>
          <p:cNvSpPr txBox="1">
            <a:spLocks noChangeArrowheads="1"/>
          </p:cNvSpPr>
          <p:nvPr/>
        </p:nvSpPr>
        <p:spPr bwMode="auto">
          <a:xfrm>
            <a:off x="3320752" y="4876800"/>
            <a:ext cx="457200" cy="396875"/>
          </a:xfrm>
          <a:prstGeom prst="rect">
            <a:avLst/>
          </a:prstGeom>
          <a:noFill/>
          <a:ln w="9525">
            <a:noFill/>
            <a:miter lim="800000"/>
            <a:headEnd/>
            <a:tailEnd/>
          </a:ln>
        </p:spPr>
        <p:txBody>
          <a:bodyPr>
            <a:spAutoFit/>
          </a:bodyPr>
          <a:lstStyle/>
          <a:p>
            <a:pPr eaLnBrk="0" latinLnBrk="0" hangingPunct="0">
              <a:spcBef>
                <a:spcPct val="50000"/>
              </a:spcBef>
            </a:pPr>
            <a:r>
              <a:rPr kumimoji="0" lang="en-US" altLang="ko-KR" sz="2000">
                <a:solidFill>
                  <a:schemeClr val="tx2"/>
                </a:solidFill>
                <a:cs typeface="Times New Roman" pitchFamily="18" charset="0"/>
              </a:rPr>
              <a:t>B</a:t>
            </a:r>
          </a:p>
        </p:txBody>
      </p:sp>
      <p:sp>
        <p:nvSpPr>
          <p:cNvPr id="20505" name="Text Box 26"/>
          <p:cNvSpPr txBox="1">
            <a:spLocks noChangeArrowheads="1"/>
          </p:cNvSpPr>
          <p:nvPr/>
        </p:nvSpPr>
        <p:spPr bwMode="auto">
          <a:xfrm>
            <a:off x="2025352" y="4495800"/>
            <a:ext cx="890464" cy="400110"/>
          </a:xfrm>
          <a:prstGeom prst="rect">
            <a:avLst/>
          </a:prstGeom>
          <a:noFill/>
          <a:ln w="9525">
            <a:noFill/>
            <a:miter lim="800000"/>
            <a:headEnd/>
            <a:tailEnd/>
          </a:ln>
        </p:spPr>
        <p:txBody>
          <a:bodyPr wrap="square">
            <a:spAutoFit/>
          </a:bodyPr>
          <a:lstStyle/>
          <a:p>
            <a:pPr eaLnBrk="0" latinLnBrk="0" hangingPunct="0">
              <a:spcBef>
                <a:spcPct val="50000"/>
              </a:spcBef>
            </a:pPr>
            <a:r>
              <a:rPr kumimoji="0" lang="en-US" altLang="ko-KR" sz="2000" dirty="0">
                <a:solidFill>
                  <a:schemeClr val="tx2"/>
                </a:solidFill>
                <a:cs typeface="Times New Roman" pitchFamily="18" charset="0"/>
              </a:rPr>
              <a:t>K</a:t>
            </a:r>
          </a:p>
        </p:txBody>
      </p:sp>
      <p:sp>
        <p:nvSpPr>
          <p:cNvPr id="20506" name="Text Box 27"/>
          <p:cNvSpPr txBox="1">
            <a:spLocks noChangeArrowheads="1"/>
          </p:cNvSpPr>
          <p:nvPr/>
        </p:nvSpPr>
        <p:spPr bwMode="auto">
          <a:xfrm>
            <a:off x="4616152" y="5257800"/>
            <a:ext cx="808856" cy="400110"/>
          </a:xfrm>
          <a:prstGeom prst="rect">
            <a:avLst/>
          </a:prstGeom>
          <a:noFill/>
          <a:ln w="9525">
            <a:noFill/>
            <a:miter lim="800000"/>
            <a:headEnd/>
            <a:tailEnd/>
          </a:ln>
        </p:spPr>
        <p:txBody>
          <a:bodyPr wrap="square">
            <a:spAutoFit/>
          </a:bodyPr>
          <a:lstStyle/>
          <a:p>
            <a:pPr eaLnBrk="0" latinLnBrk="0" hangingPunct="0">
              <a:spcBef>
                <a:spcPct val="50000"/>
              </a:spcBef>
            </a:pPr>
            <a:r>
              <a:rPr kumimoji="0" lang="en-US" altLang="ko-KR" sz="2000" dirty="0">
                <a:solidFill>
                  <a:schemeClr val="tx2"/>
                </a:solidFill>
                <a:cs typeface="Times New Roman" pitchFamily="18" charset="0"/>
              </a:rPr>
              <a:t>K’</a:t>
            </a:r>
          </a:p>
        </p:txBody>
      </p:sp>
      <p:sp>
        <p:nvSpPr>
          <p:cNvPr id="27" name="Text Box 25"/>
          <p:cNvSpPr txBox="1">
            <a:spLocks noChangeArrowheads="1"/>
          </p:cNvSpPr>
          <p:nvPr/>
        </p:nvSpPr>
        <p:spPr bwMode="auto">
          <a:xfrm>
            <a:off x="4776936" y="2598003"/>
            <a:ext cx="2866256" cy="1200329"/>
          </a:xfrm>
          <a:prstGeom prst="rect">
            <a:avLst/>
          </a:prstGeom>
          <a:solidFill>
            <a:schemeClr val="bg1"/>
          </a:solidFill>
          <a:ln w="9525">
            <a:noFill/>
            <a:miter lim="800000"/>
            <a:headEnd/>
            <a:tailEnd/>
          </a:ln>
        </p:spPr>
        <p:txBody>
          <a:bodyPr wrap="square">
            <a:spAutoFit/>
          </a:bodyPr>
          <a:lstStyle/>
          <a:p>
            <a:pPr eaLnBrk="0" latinLnBrk="0" hangingPunct="0">
              <a:spcBef>
                <a:spcPct val="50000"/>
              </a:spcBef>
            </a:pPr>
            <a:r>
              <a:rPr kumimoji="0" lang="en-US" altLang="ko-KR" b="0" dirty="0">
                <a:solidFill>
                  <a:schemeClr val="tx2"/>
                </a:solidFill>
                <a:cs typeface="Times New Roman" pitchFamily="18" charset="0"/>
              </a:rPr>
              <a:t>200 units of resources in Ghana and Korea, respectively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descr="Large confetti"/>
          <p:cNvSpPr>
            <a:spLocks noGrp="1" noChangeArrowheads="1"/>
          </p:cNvSpPr>
          <p:nvPr>
            <p:ph type="title"/>
          </p:nvPr>
        </p:nvSpPr>
        <p:spPr>
          <a:xfrm>
            <a:off x="0" y="260648"/>
            <a:ext cx="9144000" cy="533400"/>
          </a:xfrm>
        </p:spPr>
        <p:txBody>
          <a:bodyPr/>
          <a:lstStyle/>
          <a:p>
            <a:pPr algn="ctr" eaLnBrk="1" hangingPunct="1">
              <a:defRPr/>
            </a:pPr>
            <a:r>
              <a:rPr kumimoji="0" lang="en-US" altLang="ko-KR" sz="3200" b="1" kern="1200" dirty="0">
                <a:solidFill>
                  <a:srgbClr val="FFCC00"/>
                </a:solidFill>
                <a:latin typeface="Times New Roman" pitchFamily="18" charset="0"/>
                <a:cs typeface="Times New Roman" pitchFamily="18" charset="0"/>
              </a:rPr>
              <a:t>Comparative Advantage and Gains from Trade</a:t>
            </a:r>
          </a:p>
        </p:txBody>
      </p:sp>
      <p:sp>
        <p:nvSpPr>
          <p:cNvPr id="21507" name="Text Box 3"/>
          <p:cNvSpPr txBox="1">
            <a:spLocks noChangeArrowheads="1"/>
          </p:cNvSpPr>
          <p:nvPr/>
        </p:nvSpPr>
        <p:spPr bwMode="auto">
          <a:xfrm>
            <a:off x="1619672" y="1295400"/>
            <a:ext cx="6048672" cy="400110"/>
          </a:xfrm>
          <a:prstGeom prst="rect">
            <a:avLst/>
          </a:prstGeom>
          <a:noFill/>
          <a:ln w="9525">
            <a:noFill/>
            <a:miter lim="800000"/>
            <a:headEnd/>
            <a:tailEnd/>
          </a:ln>
        </p:spPr>
        <p:txBody>
          <a:bodyPr wrap="square">
            <a:spAutoFit/>
          </a:bodyPr>
          <a:lstStyle/>
          <a:p>
            <a:pPr algn="ctr" eaLnBrk="0" latinLnBrk="0" hangingPunct="0">
              <a:spcBef>
                <a:spcPct val="50000"/>
              </a:spcBef>
            </a:pPr>
            <a:r>
              <a:rPr kumimoji="0" lang="en-US" altLang="ko-KR" sz="2000" b="0" u="sng" dirty="0">
                <a:cs typeface="Times New Roman" pitchFamily="18" charset="0"/>
              </a:rPr>
              <a:t>Resources Required to Produce 1 Ton of Cocoa and </a:t>
            </a:r>
            <a:r>
              <a:rPr lang="en-US" altLang="ko-KR" sz="2000" b="0" u="sng" dirty="0">
                <a:cs typeface="Times New Roman" pitchFamily="18" charset="0"/>
              </a:rPr>
              <a:t>Rice</a:t>
            </a:r>
            <a:endParaRPr kumimoji="0" lang="en-US" altLang="ko-KR" sz="2000" b="0" u="sng" dirty="0">
              <a:cs typeface="Times New Roman" pitchFamily="18" charset="0"/>
            </a:endParaRPr>
          </a:p>
        </p:txBody>
      </p:sp>
      <p:sp>
        <p:nvSpPr>
          <p:cNvPr id="21508" name="Text Box 4"/>
          <p:cNvSpPr txBox="1">
            <a:spLocks noChangeArrowheads="1"/>
          </p:cNvSpPr>
          <p:nvPr/>
        </p:nvSpPr>
        <p:spPr bwMode="auto">
          <a:xfrm>
            <a:off x="1219200" y="1828800"/>
            <a:ext cx="5486400" cy="396875"/>
          </a:xfrm>
          <a:prstGeom prst="rect">
            <a:avLst/>
          </a:prstGeom>
          <a:noFill/>
          <a:ln w="9525">
            <a:noFill/>
            <a:miter lim="800000"/>
            <a:headEnd/>
            <a:tailEnd/>
          </a:ln>
        </p:spPr>
        <p:txBody>
          <a:bodyPr>
            <a:spAutoFit/>
          </a:bodyPr>
          <a:lstStyle/>
          <a:p>
            <a:pPr eaLnBrk="0" latinLnBrk="0" hangingPunct="0">
              <a:spcBef>
                <a:spcPct val="50000"/>
              </a:spcBef>
            </a:pPr>
            <a:r>
              <a:rPr kumimoji="0" lang="en-US" altLang="ko-KR" sz="2000" b="0" dirty="0">
                <a:cs typeface="Times New Roman" pitchFamily="18" charset="0"/>
              </a:rPr>
              <a:t>Ghana                         10                  13.33</a:t>
            </a:r>
          </a:p>
        </p:txBody>
      </p:sp>
      <p:sp>
        <p:nvSpPr>
          <p:cNvPr id="21509" name="Text Box 5"/>
          <p:cNvSpPr txBox="1">
            <a:spLocks noChangeArrowheads="1"/>
          </p:cNvSpPr>
          <p:nvPr/>
        </p:nvSpPr>
        <p:spPr bwMode="auto">
          <a:xfrm>
            <a:off x="1219200" y="2057400"/>
            <a:ext cx="5486400" cy="396875"/>
          </a:xfrm>
          <a:prstGeom prst="rect">
            <a:avLst/>
          </a:prstGeom>
          <a:noFill/>
          <a:ln w="9525">
            <a:noFill/>
            <a:miter lim="800000"/>
            <a:headEnd/>
            <a:tailEnd/>
          </a:ln>
        </p:spPr>
        <p:txBody>
          <a:bodyPr>
            <a:spAutoFit/>
          </a:bodyPr>
          <a:lstStyle/>
          <a:p>
            <a:pPr eaLnBrk="0" latinLnBrk="0" hangingPunct="0">
              <a:spcBef>
                <a:spcPct val="50000"/>
              </a:spcBef>
            </a:pPr>
            <a:r>
              <a:rPr kumimoji="0" lang="en-US" altLang="ko-KR" sz="2000" b="0" dirty="0">
                <a:cs typeface="Times New Roman" pitchFamily="18" charset="0"/>
              </a:rPr>
              <a:t>S. Korea                      40                   20</a:t>
            </a:r>
          </a:p>
        </p:txBody>
      </p:sp>
      <p:sp>
        <p:nvSpPr>
          <p:cNvPr id="21510" name="Text Box 6"/>
          <p:cNvSpPr txBox="1">
            <a:spLocks noChangeArrowheads="1"/>
          </p:cNvSpPr>
          <p:nvPr/>
        </p:nvSpPr>
        <p:spPr bwMode="auto">
          <a:xfrm>
            <a:off x="1656928" y="2348880"/>
            <a:ext cx="5867400" cy="400050"/>
          </a:xfrm>
          <a:prstGeom prst="rect">
            <a:avLst/>
          </a:prstGeom>
          <a:noFill/>
          <a:ln w="9525">
            <a:noFill/>
            <a:miter lim="800000"/>
            <a:headEnd/>
            <a:tailEnd/>
          </a:ln>
        </p:spPr>
        <p:txBody>
          <a:bodyPr>
            <a:spAutoFit/>
          </a:bodyPr>
          <a:lstStyle/>
          <a:p>
            <a:pPr algn="ctr" eaLnBrk="0" latinLnBrk="0" hangingPunct="0">
              <a:spcBef>
                <a:spcPct val="50000"/>
              </a:spcBef>
            </a:pPr>
            <a:r>
              <a:rPr kumimoji="0" lang="en-US" altLang="ko-KR" sz="2000" b="0" u="sng" dirty="0">
                <a:cs typeface="Times New Roman" pitchFamily="18" charset="0"/>
              </a:rPr>
              <a:t>Production and Consumption without Trade</a:t>
            </a:r>
          </a:p>
        </p:txBody>
      </p:sp>
      <p:sp>
        <p:nvSpPr>
          <p:cNvPr id="21511" name="Text Box 7"/>
          <p:cNvSpPr txBox="1">
            <a:spLocks noChangeArrowheads="1"/>
          </p:cNvSpPr>
          <p:nvPr/>
        </p:nvSpPr>
        <p:spPr bwMode="auto">
          <a:xfrm>
            <a:off x="1219200" y="2649538"/>
            <a:ext cx="5486400" cy="396875"/>
          </a:xfrm>
          <a:prstGeom prst="rect">
            <a:avLst/>
          </a:prstGeom>
          <a:noFill/>
          <a:ln w="9525">
            <a:noFill/>
            <a:miter lim="800000"/>
            <a:headEnd/>
            <a:tailEnd/>
          </a:ln>
        </p:spPr>
        <p:txBody>
          <a:bodyPr>
            <a:spAutoFit/>
          </a:bodyPr>
          <a:lstStyle/>
          <a:p>
            <a:pPr eaLnBrk="0" latinLnBrk="0" hangingPunct="0">
              <a:spcBef>
                <a:spcPct val="50000"/>
              </a:spcBef>
            </a:pPr>
            <a:r>
              <a:rPr kumimoji="0" lang="en-US" altLang="ko-KR" sz="2000" b="0" dirty="0">
                <a:cs typeface="Times New Roman" pitchFamily="18" charset="0"/>
              </a:rPr>
              <a:t>Ghana                         10.0                7.5</a:t>
            </a:r>
          </a:p>
        </p:txBody>
      </p:sp>
      <p:sp>
        <p:nvSpPr>
          <p:cNvPr id="21512" name="Text Box 8"/>
          <p:cNvSpPr txBox="1">
            <a:spLocks noChangeArrowheads="1"/>
          </p:cNvSpPr>
          <p:nvPr/>
        </p:nvSpPr>
        <p:spPr bwMode="auto">
          <a:xfrm>
            <a:off x="1219200" y="2878138"/>
            <a:ext cx="5486400" cy="396875"/>
          </a:xfrm>
          <a:prstGeom prst="rect">
            <a:avLst/>
          </a:prstGeom>
          <a:noFill/>
          <a:ln w="9525">
            <a:noFill/>
            <a:miter lim="800000"/>
            <a:headEnd/>
            <a:tailEnd/>
          </a:ln>
        </p:spPr>
        <p:txBody>
          <a:bodyPr>
            <a:spAutoFit/>
          </a:bodyPr>
          <a:lstStyle/>
          <a:p>
            <a:pPr eaLnBrk="0" latinLnBrk="0" hangingPunct="0">
              <a:spcBef>
                <a:spcPct val="50000"/>
              </a:spcBef>
            </a:pPr>
            <a:r>
              <a:rPr kumimoji="0" lang="en-US" altLang="ko-KR" sz="2000" b="0" dirty="0">
                <a:cs typeface="Times New Roman" pitchFamily="18" charset="0"/>
              </a:rPr>
              <a:t>S. Korea                       2.5                 5.0</a:t>
            </a:r>
          </a:p>
        </p:txBody>
      </p:sp>
      <p:sp>
        <p:nvSpPr>
          <p:cNvPr id="21513" name="Text Box 9"/>
          <p:cNvSpPr txBox="1">
            <a:spLocks noChangeArrowheads="1"/>
          </p:cNvSpPr>
          <p:nvPr/>
        </p:nvSpPr>
        <p:spPr bwMode="auto">
          <a:xfrm>
            <a:off x="1219200" y="3167063"/>
            <a:ext cx="6781800" cy="396875"/>
          </a:xfrm>
          <a:prstGeom prst="rect">
            <a:avLst/>
          </a:prstGeom>
          <a:noFill/>
          <a:ln w="9525">
            <a:noFill/>
            <a:miter lim="800000"/>
            <a:headEnd/>
            <a:tailEnd/>
          </a:ln>
        </p:spPr>
        <p:txBody>
          <a:bodyPr wrap="square">
            <a:spAutoFit/>
          </a:bodyPr>
          <a:lstStyle/>
          <a:p>
            <a:pPr eaLnBrk="0" latinLnBrk="0" hangingPunct="0">
              <a:spcBef>
                <a:spcPct val="50000"/>
              </a:spcBef>
            </a:pPr>
            <a:r>
              <a:rPr kumimoji="0" lang="en-US" altLang="ko-KR" sz="2000" b="0" dirty="0">
                <a:cs typeface="Times New Roman" pitchFamily="18" charset="0"/>
              </a:rPr>
              <a:t>Total production         12.5                12.5</a:t>
            </a:r>
          </a:p>
        </p:txBody>
      </p:sp>
      <p:sp>
        <p:nvSpPr>
          <p:cNvPr id="21514" name="Text Box 10"/>
          <p:cNvSpPr txBox="1">
            <a:spLocks noChangeArrowheads="1"/>
          </p:cNvSpPr>
          <p:nvPr/>
        </p:nvSpPr>
        <p:spPr bwMode="auto">
          <a:xfrm>
            <a:off x="1547664" y="3489325"/>
            <a:ext cx="5867400" cy="400050"/>
          </a:xfrm>
          <a:prstGeom prst="rect">
            <a:avLst/>
          </a:prstGeom>
          <a:noFill/>
          <a:ln w="9525">
            <a:noFill/>
            <a:miter lim="800000"/>
            <a:headEnd/>
            <a:tailEnd/>
          </a:ln>
        </p:spPr>
        <p:txBody>
          <a:bodyPr>
            <a:spAutoFit/>
          </a:bodyPr>
          <a:lstStyle/>
          <a:p>
            <a:pPr algn="ctr" eaLnBrk="0" latinLnBrk="0" hangingPunct="0">
              <a:spcBef>
                <a:spcPct val="50000"/>
              </a:spcBef>
            </a:pPr>
            <a:r>
              <a:rPr kumimoji="0" lang="en-US" altLang="ko-KR" sz="2000" b="0" u="sng" dirty="0">
                <a:cs typeface="Times New Roman" pitchFamily="18" charset="0"/>
              </a:rPr>
              <a:t>Production with Specialization</a:t>
            </a:r>
          </a:p>
        </p:txBody>
      </p:sp>
      <p:sp>
        <p:nvSpPr>
          <p:cNvPr id="21515" name="Text Box 11"/>
          <p:cNvSpPr txBox="1">
            <a:spLocks noChangeArrowheads="1"/>
          </p:cNvSpPr>
          <p:nvPr/>
        </p:nvSpPr>
        <p:spPr bwMode="auto">
          <a:xfrm>
            <a:off x="1219200" y="3794125"/>
            <a:ext cx="5486400" cy="396875"/>
          </a:xfrm>
          <a:prstGeom prst="rect">
            <a:avLst/>
          </a:prstGeom>
          <a:noFill/>
          <a:ln w="9525">
            <a:noFill/>
            <a:miter lim="800000"/>
            <a:headEnd/>
            <a:tailEnd/>
          </a:ln>
        </p:spPr>
        <p:txBody>
          <a:bodyPr>
            <a:spAutoFit/>
          </a:bodyPr>
          <a:lstStyle/>
          <a:p>
            <a:pPr eaLnBrk="0" latinLnBrk="0" hangingPunct="0">
              <a:spcBef>
                <a:spcPct val="50000"/>
              </a:spcBef>
            </a:pPr>
            <a:r>
              <a:rPr kumimoji="0" lang="en-US" altLang="ko-KR" sz="2000" b="0" dirty="0">
                <a:cs typeface="Times New Roman" pitchFamily="18" charset="0"/>
              </a:rPr>
              <a:t>Ghana                         15                   3.75</a:t>
            </a:r>
          </a:p>
        </p:txBody>
      </p:sp>
      <p:sp>
        <p:nvSpPr>
          <p:cNvPr id="21516" name="Text Box 12"/>
          <p:cNvSpPr txBox="1">
            <a:spLocks noChangeArrowheads="1"/>
          </p:cNvSpPr>
          <p:nvPr/>
        </p:nvSpPr>
        <p:spPr bwMode="auto">
          <a:xfrm>
            <a:off x="1219200" y="4022725"/>
            <a:ext cx="5486400" cy="396875"/>
          </a:xfrm>
          <a:prstGeom prst="rect">
            <a:avLst/>
          </a:prstGeom>
          <a:noFill/>
          <a:ln w="9525">
            <a:noFill/>
            <a:miter lim="800000"/>
            <a:headEnd/>
            <a:tailEnd/>
          </a:ln>
        </p:spPr>
        <p:txBody>
          <a:bodyPr>
            <a:spAutoFit/>
          </a:bodyPr>
          <a:lstStyle/>
          <a:p>
            <a:pPr eaLnBrk="0" latinLnBrk="0" hangingPunct="0">
              <a:spcBef>
                <a:spcPct val="50000"/>
              </a:spcBef>
            </a:pPr>
            <a:r>
              <a:rPr kumimoji="0" lang="en-US" altLang="ko-KR" sz="2000" b="0" dirty="0">
                <a:cs typeface="Times New Roman" pitchFamily="18" charset="0"/>
              </a:rPr>
              <a:t>S. Korea                     0.0                  10.0</a:t>
            </a:r>
          </a:p>
        </p:txBody>
      </p:sp>
      <p:sp>
        <p:nvSpPr>
          <p:cNvPr id="21517" name="Text Box 13"/>
          <p:cNvSpPr txBox="1">
            <a:spLocks noChangeArrowheads="1"/>
          </p:cNvSpPr>
          <p:nvPr/>
        </p:nvSpPr>
        <p:spPr bwMode="auto">
          <a:xfrm>
            <a:off x="1219200" y="4251325"/>
            <a:ext cx="5715000" cy="396875"/>
          </a:xfrm>
          <a:prstGeom prst="rect">
            <a:avLst/>
          </a:prstGeom>
          <a:noFill/>
          <a:ln w="9525">
            <a:noFill/>
            <a:miter lim="800000"/>
            <a:headEnd/>
            <a:tailEnd/>
          </a:ln>
        </p:spPr>
        <p:txBody>
          <a:bodyPr>
            <a:spAutoFit/>
          </a:bodyPr>
          <a:lstStyle/>
          <a:p>
            <a:pPr eaLnBrk="0" latinLnBrk="0" hangingPunct="0">
              <a:spcBef>
                <a:spcPct val="50000"/>
              </a:spcBef>
            </a:pPr>
            <a:r>
              <a:rPr kumimoji="0" lang="en-US" altLang="ko-KR" sz="2000" b="0" dirty="0">
                <a:cs typeface="Times New Roman" pitchFamily="18" charset="0"/>
              </a:rPr>
              <a:t>Total production         15                  13.75</a:t>
            </a:r>
          </a:p>
        </p:txBody>
      </p:sp>
      <p:sp>
        <p:nvSpPr>
          <p:cNvPr id="21518" name="Text Box 14"/>
          <p:cNvSpPr txBox="1">
            <a:spLocks noChangeArrowheads="1"/>
          </p:cNvSpPr>
          <p:nvPr/>
        </p:nvSpPr>
        <p:spPr bwMode="auto">
          <a:xfrm>
            <a:off x="971600" y="4685074"/>
            <a:ext cx="7543800" cy="400110"/>
          </a:xfrm>
          <a:prstGeom prst="rect">
            <a:avLst/>
          </a:prstGeom>
          <a:noFill/>
          <a:ln w="9525">
            <a:noFill/>
            <a:miter lim="800000"/>
            <a:headEnd/>
            <a:tailEnd/>
          </a:ln>
        </p:spPr>
        <p:txBody>
          <a:bodyPr>
            <a:spAutoFit/>
          </a:bodyPr>
          <a:lstStyle/>
          <a:p>
            <a:pPr algn="ctr" eaLnBrk="0" latinLnBrk="0" hangingPunct="0">
              <a:spcBef>
                <a:spcPct val="50000"/>
              </a:spcBef>
            </a:pPr>
            <a:r>
              <a:rPr kumimoji="0" lang="en-US" altLang="ko-KR" sz="2000" b="0" u="sng" dirty="0">
                <a:cs typeface="Times New Roman" pitchFamily="18" charset="0"/>
              </a:rPr>
              <a:t>Consumption after Ghana Trades 4T of Cocoa for  4TSouth Korean</a:t>
            </a:r>
          </a:p>
        </p:txBody>
      </p:sp>
      <p:sp>
        <p:nvSpPr>
          <p:cNvPr id="21519" name="Text Box 15"/>
          <p:cNvSpPr txBox="1">
            <a:spLocks noChangeArrowheads="1"/>
          </p:cNvSpPr>
          <p:nvPr/>
        </p:nvSpPr>
        <p:spPr bwMode="auto">
          <a:xfrm>
            <a:off x="1219200" y="5029200"/>
            <a:ext cx="5486400" cy="396875"/>
          </a:xfrm>
          <a:prstGeom prst="rect">
            <a:avLst/>
          </a:prstGeom>
          <a:noFill/>
          <a:ln w="9525">
            <a:noFill/>
            <a:miter lim="800000"/>
            <a:headEnd/>
            <a:tailEnd/>
          </a:ln>
        </p:spPr>
        <p:txBody>
          <a:bodyPr>
            <a:spAutoFit/>
          </a:bodyPr>
          <a:lstStyle/>
          <a:p>
            <a:pPr eaLnBrk="0" latinLnBrk="0" hangingPunct="0">
              <a:spcBef>
                <a:spcPct val="50000"/>
              </a:spcBef>
            </a:pPr>
            <a:r>
              <a:rPr kumimoji="0" lang="en-US" altLang="ko-KR" sz="2000" b="0" dirty="0">
                <a:cs typeface="Times New Roman" pitchFamily="18" charset="0"/>
              </a:rPr>
              <a:t>Ghana                         11                   7.75</a:t>
            </a:r>
          </a:p>
        </p:txBody>
      </p:sp>
      <p:sp>
        <p:nvSpPr>
          <p:cNvPr id="21520" name="Text Box 16"/>
          <p:cNvSpPr txBox="1">
            <a:spLocks noChangeArrowheads="1"/>
          </p:cNvSpPr>
          <p:nvPr/>
        </p:nvSpPr>
        <p:spPr bwMode="auto">
          <a:xfrm>
            <a:off x="1219200" y="5334000"/>
            <a:ext cx="5486400" cy="396875"/>
          </a:xfrm>
          <a:prstGeom prst="rect">
            <a:avLst/>
          </a:prstGeom>
          <a:noFill/>
          <a:ln w="9525">
            <a:noFill/>
            <a:miter lim="800000"/>
            <a:headEnd/>
            <a:tailEnd/>
          </a:ln>
        </p:spPr>
        <p:txBody>
          <a:bodyPr>
            <a:spAutoFit/>
          </a:bodyPr>
          <a:lstStyle/>
          <a:p>
            <a:pPr eaLnBrk="0" latinLnBrk="0" hangingPunct="0">
              <a:spcBef>
                <a:spcPct val="50000"/>
              </a:spcBef>
            </a:pPr>
            <a:r>
              <a:rPr kumimoji="0" lang="en-US" altLang="ko-KR" sz="2000" b="0" dirty="0">
                <a:cs typeface="Times New Roman" pitchFamily="18" charset="0"/>
              </a:rPr>
              <a:t>S. Korea                      4                      6</a:t>
            </a:r>
          </a:p>
        </p:txBody>
      </p:sp>
      <p:sp>
        <p:nvSpPr>
          <p:cNvPr id="21521" name="Text Box 17"/>
          <p:cNvSpPr txBox="1">
            <a:spLocks noChangeArrowheads="1"/>
          </p:cNvSpPr>
          <p:nvPr/>
        </p:nvSpPr>
        <p:spPr bwMode="auto">
          <a:xfrm>
            <a:off x="1066800" y="5661248"/>
            <a:ext cx="7391400" cy="400110"/>
          </a:xfrm>
          <a:prstGeom prst="rect">
            <a:avLst/>
          </a:prstGeom>
          <a:noFill/>
          <a:ln w="9525">
            <a:noFill/>
            <a:miter lim="800000"/>
            <a:headEnd/>
            <a:tailEnd/>
          </a:ln>
        </p:spPr>
        <p:txBody>
          <a:bodyPr>
            <a:spAutoFit/>
          </a:bodyPr>
          <a:lstStyle/>
          <a:p>
            <a:pPr algn="ctr" eaLnBrk="0" latinLnBrk="0" hangingPunct="0">
              <a:spcBef>
                <a:spcPct val="50000"/>
              </a:spcBef>
            </a:pPr>
            <a:r>
              <a:rPr kumimoji="0" lang="ko-KR" altLang="en-US" sz="2000" b="0" dirty="0">
                <a:cs typeface="Times New Roman" pitchFamily="18" charset="0"/>
              </a:rPr>
              <a:t>    </a:t>
            </a:r>
            <a:r>
              <a:rPr kumimoji="0" lang="en-US" altLang="ko-KR" sz="2000" b="0" u="sng" dirty="0">
                <a:cs typeface="Times New Roman" pitchFamily="18" charset="0"/>
              </a:rPr>
              <a:t>Increase in Consumption as a Result of Specialization and Trade</a:t>
            </a:r>
          </a:p>
        </p:txBody>
      </p:sp>
      <p:sp>
        <p:nvSpPr>
          <p:cNvPr id="21522" name="Text Box 18"/>
          <p:cNvSpPr txBox="1">
            <a:spLocks noChangeArrowheads="1"/>
          </p:cNvSpPr>
          <p:nvPr/>
        </p:nvSpPr>
        <p:spPr bwMode="auto">
          <a:xfrm>
            <a:off x="1219200" y="5943600"/>
            <a:ext cx="5486400" cy="396875"/>
          </a:xfrm>
          <a:prstGeom prst="rect">
            <a:avLst/>
          </a:prstGeom>
          <a:noFill/>
          <a:ln w="9525">
            <a:noFill/>
            <a:miter lim="800000"/>
            <a:headEnd/>
            <a:tailEnd/>
          </a:ln>
        </p:spPr>
        <p:txBody>
          <a:bodyPr>
            <a:spAutoFit/>
          </a:bodyPr>
          <a:lstStyle/>
          <a:p>
            <a:pPr eaLnBrk="0" latinLnBrk="0" hangingPunct="0">
              <a:spcBef>
                <a:spcPct val="50000"/>
              </a:spcBef>
            </a:pPr>
            <a:r>
              <a:rPr kumimoji="0" lang="en-US" altLang="ko-KR" sz="2000" b="0" dirty="0">
                <a:cs typeface="Times New Roman" pitchFamily="18" charset="0"/>
              </a:rPr>
              <a:t>Ghana                         1.0                   0.25</a:t>
            </a:r>
          </a:p>
        </p:txBody>
      </p:sp>
      <p:sp>
        <p:nvSpPr>
          <p:cNvPr id="21523" name="Text Box 19"/>
          <p:cNvSpPr txBox="1">
            <a:spLocks noChangeArrowheads="1"/>
          </p:cNvSpPr>
          <p:nvPr/>
        </p:nvSpPr>
        <p:spPr bwMode="auto">
          <a:xfrm>
            <a:off x="1219200" y="6248400"/>
            <a:ext cx="5562600" cy="396875"/>
          </a:xfrm>
          <a:prstGeom prst="rect">
            <a:avLst/>
          </a:prstGeom>
          <a:noFill/>
          <a:ln w="9525">
            <a:noFill/>
            <a:miter lim="800000"/>
            <a:headEnd/>
            <a:tailEnd/>
          </a:ln>
        </p:spPr>
        <p:txBody>
          <a:bodyPr>
            <a:spAutoFit/>
          </a:bodyPr>
          <a:lstStyle/>
          <a:p>
            <a:pPr eaLnBrk="0" latinLnBrk="0" hangingPunct="0">
              <a:spcBef>
                <a:spcPct val="50000"/>
              </a:spcBef>
            </a:pPr>
            <a:r>
              <a:rPr kumimoji="0" lang="en-US" altLang="ko-KR" sz="2000" b="0" dirty="0">
                <a:cs typeface="Times New Roman" pitchFamily="18" charset="0"/>
              </a:rPr>
              <a:t>S. Korea                      1.5                   1.0</a:t>
            </a:r>
          </a:p>
        </p:txBody>
      </p:sp>
      <p:sp>
        <p:nvSpPr>
          <p:cNvPr id="21524" name="Text Box 20"/>
          <p:cNvSpPr txBox="1">
            <a:spLocks noChangeArrowheads="1"/>
          </p:cNvSpPr>
          <p:nvPr/>
        </p:nvSpPr>
        <p:spPr bwMode="auto">
          <a:xfrm>
            <a:off x="3352800" y="1600200"/>
            <a:ext cx="4572000" cy="400050"/>
          </a:xfrm>
          <a:prstGeom prst="rect">
            <a:avLst/>
          </a:prstGeom>
          <a:noFill/>
          <a:ln w="9525">
            <a:noFill/>
            <a:miter lim="800000"/>
            <a:headEnd/>
            <a:tailEnd/>
          </a:ln>
        </p:spPr>
        <p:txBody>
          <a:bodyPr wrap="square">
            <a:spAutoFit/>
          </a:bodyPr>
          <a:lstStyle/>
          <a:p>
            <a:pPr eaLnBrk="0" latinLnBrk="0" hangingPunct="0">
              <a:spcBef>
                <a:spcPct val="50000"/>
              </a:spcBef>
            </a:pPr>
            <a:r>
              <a:rPr kumimoji="0" lang="en-US" altLang="ko-KR" sz="2000" b="0" u="sng" dirty="0">
                <a:cs typeface="Times New Roman" pitchFamily="18" charset="0"/>
              </a:rPr>
              <a:t>Cocoa</a:t>
            </a:r>
            <a:r>
              <a:rPr kumimoji="0" lang="en-US" altLang="ko-KR" sz="2000" b="0" dirty="0">
                <a:cs typeface="Times New Roman" pitchFamily="18" charset="0"/>
              </a:rPr>
              <a:t>               </a:t>
            </a:r>
            <a:r>
              <a:rPr kumimoji="0" lang="en-US" altLang="ko-KR" sz="2000" b="0" u="sng" dirty="0">
                <a:cs typeface="Times New Roman" pitchFamily="18" charset="0"/>
              </a:rPr>
              <a:t>Rice</a:t>
            </a:r>
            <a:endParaRPr kumimoji="0" lang="en-US" altLang="ko-KR" sz="2000" b="0" dirty="0">
              <a:cs typeface="Times New Roman"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6" name="Rectangle 2" descr="Large confetti">
            <a:extLst>
              <a:ext uri="{FF2B5EF4-FFF2-40B4-BE49-F238E27FC236}">
                <a16:creationId xmlns:a16="http://schemas.microsoft.com/office/drawing/2014/main" id="{FBAA78CB-6E07-BC50-71CA-DD007562702E}"/>
              </a:ext>
            </a:extLst>
          </p:cNvPr>
          <p:cNvSpPr>
            <a:spLocks noGrp="1" noChangeArrowheads="1"/>
          </p:cNvSpPr>
          <p:nvPr>
            <p:ph type="title"/>
          </p:nvPr>
        </p:nvSpPr>
        <p:spPr>
          <a:xfrm>
            <a:off x="359532" y="9128"/>
            <a:ext cx="8424936" cy="1048544"/>
          </a:xfrm>
          <a:noFill/>
        </p:spPr>
        <p:txBody>
          <a:bodyPr lIns="90488" tIns="44450" rIns="90488" bIns="44450" anchor="ctr"/>
          <a:lstStyle/>
          <a:p>
            <a:pPr algn="ctr" eaLnBrk="1" hangingPunct="1"/>
            <a:r>
              <a:rPr lang="en-US" altLang="ko-KR" sz="2800" b="1" dirty="0">
                <a:solidFill>
                  <a:schemeClr val="accent1"/>
                </a:solidFill>
                <a:latin typeface="Times New Roman" panose="02020603050405020304" pitchFamily="18" charset="0"/>
                <a:cs typeface="Times New Roman" panose="02020603050405020304" pitchFamily="18" charset="0"/>
              </a:rPr>
              <a:t>Heckscher-Olin Theory: </a:t>
            </a:r>
            <a:br>
              <a:rPr lang="en-US" altLang="ko-KR" sz="2800" b="1" dirty="0">
                <a:solidFill>
                  <a:schemeClr val="accent1"/>
                </a:solidFill>
                <a:latin typeface="Times New Roman" panose="02020603050405020304" pitchFamily="18" charset="0"/>
                <a:cs typeface="Times New Roman" panose="02020603050405020304" pitchFamily="18" charset="0"/>
              </a:rPr>
            </a:br>
            <a:r>
              <a:rPr lang="en-US" altLang="ko-KR" sz="2800" b="1" dirty="0">
                <a:solidFill>
                  <a:schemeClr val="accent1"/>
                </a:solidFill>
                <a:latin typeface="Times New Roman" panose="02020603050405020304" pitchFamily="18" charset="0"/>
                <a:cs typeface="Times New Roman" panose="02020603050405020304" pitchFamily="18" charset="0"/>
              </a:rPr>
              <a:t>Comparative advantage based on factor endowments</a:t>
            </a:r>
          </a:p>
        </p:txBody>
      </p:sp>
      <p:sp>
        <p:nvSpPr>
          <p:cNvPr id="29699" name="Rectangle 3">
            <a:extLst>
              <a:ext uri="{FF2B5EF4-FFF2-40B4-BE49-F238E27FC236}">
                <a16:creationId xmlns:a16="http://schemas.microsoft.com/office/drawing/2014/main" id="{D607404E-6DF2-9F7E-D02A-8980A5D72A98}"/>
              </a:ext>
            </a:extLst>
          </p:cNvPr>
          <p:cNvSpPr>
            <a:spLocks noGrp="1" noChangeArrowheads="1"/>
          </p:cNvSpPr>
          <p:nvPr>
            <p:ph type="body" idx="1"/>
          </p:nvPr>
        </p:nvSpPr>
        <p:spPr>
          <a:xfrm>
            <a:off x="107504" y="1333500"/>
            <a:ext cx="9036496" cy="5047828"/>
          </a:xfrm>
          <a:noFill/>
        </p:spPr>
        <p:txBody>
          <a:bodyPr lIns="90488" tIns="44450" rIns="90488" bIns="44450"/>
          <a:lstStyle/>
          <a:p>
            <a:pPr eaLnBrk="1" hangingPunct="1">
              <a:lnSpc>
                <a:spcPct val="90000"/>
              </a:lnSpc>
              <a:buFontTx/>
              <a:buChar char="•"/>
            </a:pPr>
            <a:r>
              <a:rPr lang="en-US" altLang="ko-KR" sz="2000" b="0" dirty="0">
                <a:latin typeface="Times New Roman" panose="02020603050405020304" pitchFamily="18" charset="0"/>
                <a:cs typeface="Times New Roman" panose="02020603050405020304" pitchFamily="18" charset="0"/>
              </a:rPr>
              <a:t>Assumes</a:t>
            </a:r>
          </a:p>
          <a:p>
            <a:pPr eaLnBrk="1" hangingPunct="1">
              <a:lnSpc>
                <a:spcPct val="90000"/>
              </a:lnSpc>
              <a:buFontTx/>
              <a:buNone/>
            </a:pPr>
            <a:r>
              <a:rPr lang="en-US" altLang="ko-KR" sz="2000" b="0" dirty="0">
                <a:latin typeface="Times New Roman" panose="02020603050405020304" pitchFamily="18" charset="0"/>
                <a:cs typeface="Times New Roman" panose="02020603050405020304" pitchFamily="18" charset="0"/>
              </a:rPr>
              <a:t>	  - T</a:t>
            </a:r>
            <a:r>
              <a:rPr lang="en-US" altLang="ko-KR" sz="2000" b="0" dirty="0">
                <a:latin typeface="Times New Roman" panose="02020603050405020304" pitchFamily="18" charset="0"/>
                <a:ea typeface="바탕" panose="02030600000101010101" pitchFamily="18" charset="-127"/>
                <a:cs typeface="Times New Roman" panose="02020603050405020304" pitchFamily="18" charset="0"/>
              </a:rPr>
              <a:t>wo nations (1 &amp; 2), two commodities (X &amp; Y), and two factors of</a:t>
            </a:r>
          </a:p>
          <a:p>
            <a:pPr eaLnBrk="1" hangingPunct="1">
              <a:lnSpc>
                <a:spcPct val="90000"/>
              </a:lnSpc>
              <a:buFontTx/>
              <a:buNone/>
            </a:pPr>
            <a:r>
              <a:rPr lang="en-US" altLang="ko-KR" sz="2000" b="0" dirty="0">
                <a:latin typeface="Times New Roman" panose="02020603050405020304" pitchFamily="18" charset="0"/>
                <a:ea typeface="바탕" panose="02030600000101010101" pitchFamily="18" charset="-127"/>
                <a:cs typeface="Times New Roman" panose="02020603050405020304" pitchFamily="18" charset="0"/>
              </a:rPr>
              <a:t>          production (labor &amp; capital)</a:t>
            </a:r>
          </a:p>
          <a:p>
            <a:pPr eaLnBrk="1" hangingPunct="1">
              <a:lnSpc>
                <a:spcPct val="90000"/>
              </a:lnSpc>
              <a:buFontTx/>
              <a:buNone/>
            </a:pPr>
            <a:r>
              <a:rPr lang="en-US" altLang="ko-KR" sz="2000" b="0" dirty="0">
                <a:latin typeface="Times New Roman" panose="02020603050405020304" pitchFamily="18" charset="0"/>
                <a:cs typeface="Times New Roman" panose="02020603050405020304" pitchFamily="18" charset="0"/>
              </a:rPr>
              <a:t>       - </a:t>
            </a:r>
            <a:r>
              <a:rPr lang="en-US" altLang="ko-KR" sz="2000" b="0" dirty="0">
                <a:latin typeface="Times New Roman" panose="02020603050405020304" pitchFamily="18" charset="0"/>
                <a:ea typeface="바탕" panose="02030600000101010101" pitchFamily="18" charset="-127"/>
                <a:cs typeface="Times New Roman" panose="02020603050405020304" pitchFamily="18" charset="0"/>
              </a:rPr>
              <a:t>Commodity X (labor intensive) &amp; Y (capital intensive) in both countries</a:t>
            </a:r>
          </a:p>
          <a:p>
            <a:pPr eaLnBrk="1" hangingPunct="1">
              <a:lnSpc>
                <a:spcPct val="90000"/>
              </a:lnSpc>
              <a:buFontTx/>
              <a:buNone/>
            </a:pPr>
            <a:r>
              <a:rPr lang="en-US" altLang="ko-KR" sz="2000" b="0" dirty="0">
                <a:latin typeface="Times New Roman" panose="02020603050405020304" pitchFamily="18" charset="0"/>
                <a:cs typeface="Times New Roman" panose="02020603050405020304" pitchFamily="18" charset="0"/>
              </a:rPr>
              <a:t>       - </a:t>
            </a:r>
            <a:r>
              <a:rPr lang="en-US" altLang="ko-KR" sz="2000" b="0" dirty="0">
                <a:latin typeface="Times New Roman" panose="02020603050405020304" pitchFamily="18" charset="0"/>
                <a:ea typeface="바탕" panose="02030600000101010101" pitchFamily="18" charset="-127"/>
                <a:cs typeface="Times New Roman" panose="02020603050405020304" pitchFamily="18" charset="0"/>
              </a:rPr>
              <a:t>Same technology in production used in both countries</a:t>
            </a:r>
          </a:p>
          <a:p>
            <a:pPr eaLnBrk="1" hangingPunct="1">
              <a:lnSpc>
                <a:spcPct val="90000"/>
              </a:lnSpc>
              <a:buFontTx/>
              <a:buNone/>
            </a:pPr>
            <a:r>
              <a:rPr lang="en-US" altLang="ko-KR" sz="2000" b="0" dirty="0">
                <a:latin typeface="Times New Roman" panose="02020603050405020304" pitchFamily="18" charset="0"/>
                <a:cs typeface="Times New Roman" panose="02020603050405020304" pitchFamily="18" charset="0"/>
              </a:rPr>
              <a:t>       - </a:t>
            </a:r>
            <a:r>
              <a:rPr lang="en-US" altLang="ko-KR" sz="2000" b="0" dirty="0">
                <a:latin typeface="Times New Roman" panose="02020603050405020304" pitchFamily="18" charset="0"/>
                <a:ea typeface="바탕" panose="02030600000101010101" pitchFamily="18" charset="-127"/>
                <a:cs typeface="Times New Roman" panose="02020603050405020304" pitchFamily="18" charset="0"/>
              </a:rPr>
              <a:t>Constant returns to scale</a:t>
            </a:r>
          </a:p>
          <a:p>
            <a:pPr eaLnBrk="1" hangingPunct="1">
              <a:lnSpc>
                <a:spcPct val="90000"/>
              </a:lnSpc>
              <a:buFontTx/>
              <a:buNone/>
            </a:pPr>
            <a:r>
              <a:rPr lang="en-US" altLang="ko-KR" sz="2000" b="0" dirty="0">
                <a:latin typeface="Times New Roman" panose="02020603050405020304" pitchFamily="18" charset="0"/>
                <a:cs typeface="Times New Roman" panose="02020603050405020304" pitchFamily="18" charset="0"/>
              </a:rPr>
              <a:t>       - </a:t>
            </a:r>
            <a:r>
              <a:rPr lang="en-US" altLang="ko-KR" sz="2000" b="0" dirty="0">
                <a:latin typeface="Times New Roman" panose="02020603050405020304" pitchFamily="18" charset="0"/>
                <a:ea typeface="바탕" panose="02030600000101010101" pitchFamily="18" charset="-127"/>
                <a:cs typeface="Times New Roman" panose="02020603050405020304" pitchFamily="18" charset="0"/>
              </a:rPr>
              <a:t>Incomplete specialization</a:t>
            </a:r>
          </a:p>
          <a:p>
            <a:pPr eaLnBrk="1" hangingPunct="1">
              <a:lnSpc>
                <a:spcPct val="90000"/>
              </a:lnSpc>
              <a:buFontTx/>
              <a:buNone/>
            </a:pPr>
            <a:r>
              <a:rPr lang="en-US" altLang="ko-KR" sz="2000" b="0" dirty="0">
                <a:latin typeface="Times New Roman" panose="02020603050405020304" pitchFamily="18" charset="0"/>
                <a:cs typeface="Times New Roman" panose="02020603050405020304" pitchFamily="18" charset="0"/>
              </a:rPr>
              <a:t>       - </a:t>
            </a:r>
            <a:r>
              <a:rPr lang="en-US" altLang="ko-KR" sz="2000" b="0" dirty="0">
                <a:latin typeface="Times New Roman" panose="02020603050405020304" pitchFamily="18" charset="0"/>
                <a:ea typeface="바탕" panose="02030600000101010101" pitchFamily="18" charset="-127"/>
                <a:cs typeface="Times New Roman" panose="02020603050405020304" pitchFamily="18" charset="0"/>
              </a:rPr>
              <a:t>Equal tastes in both nations</a:t>
            </a:r>
          </a:p>
          <a:p>
            <a:pPr eaLnBrk="1" hangingPunct="1">
              <a:lnSpc>
                <a:spcPct val="90000"/>
              </a:lnSpc>
              <a:buFontTx/>
              <a:buNone/>
            </a:pPr>
            <a:r>
              <a:rPr lang="en-US" altLang="ko-KR" sz="2000" b="0" dirty="0">
                <a:latin typeface="Times New Roman" panose="02020603050405020304" pitchFamily="18" charset="0"/>
                <a:cs typeface="Times New Roman" panose="02020603050405020304" pitchFamily="18" charset="0"/>
              </a:rPr>
              <a:t>       - </a:t>
            </a:r>
            <a:r>
              <a:rPr lang="en-US" altLang="ko-KR" sz="2000" b="0" dirty="0">
                <a:latin typeface="Times New Roman" panose="02020603050405020304" pitchFamily="18" charset="0"/>
                <a:ea typeface="바탕" panose="02030600000101010101" pitchFamily="18" charset="-127"/>
                <a:cs typeface="Times New Roman" panose="02020603050405020304" pitchFamily="18" charset="0"/>
              </a:rPr>
              <a:t>Perfect competition in both commodities &amp; factor markets in both nations</a:t>
            </a:r>
          </a:p>
          <a:p>
            <a:pPr eaLnBrk="1" hangingPunct="1">
              <a:lnSpc>
                <a:spcPct val="90000"/>
              </a:lnSpc>
              <a:buFontTx/>
              <a:buNone/>
            </a:pPr>
            <a:r>
              <a:rPr lang="en-US" altLang="ko-KR" sz="2000" b="0" dirty="0">
                <a:latin typeface="Times New Roman" panose="02020603050405020304" pitchFamily="18" charset="0"/>
                <a:cs typeface="Times New Roman" panose="02020603050405020304" pitchFamily="18" charset="0"/>
              </a:rPr>
              <a:t>       - </a:t>
            </a:r>
            <a:r>
              <a:rPr lang="en-US" altLang="ko-KR" sz="2000" b="0" dirty="0">
                <a:latin typeface="Times New Roman" panose="02020603050405020304" pitchFamily="18" charset="0"/>
                <a:ea typeface="바탕" panose="02030600000101010101" pitchFamily="18" charset="-127"/>
                <a:cs typeface="Times New Roman" panose="02020603050405020304" pitchFamily="18" charset="0"/>
              </a:rPr>
              <a:t>Perfect internal factor mobility but no international factor mobility</a:t>
            </a:r>
          </a:p>
          <a:p>
            <a:pPr eaLnBrk="1" hangingPunct="1">
              <a:lnSpc>
                <a:spcPct val="90000"/>
              </a:lnSpc>
              <a:buFontTx/>
              <a:buNone/>
            </a:pPr>
            <a:r>
              <a:rPr lang="en-US" altLang="ko-KR" sz="2000" b="0" dirty="0">
                <a:latin typeface="Times New Roman" panose="02020603050405020304" pitchFamily="18" charset="0"/>
                <a:cs typeface="Times New Roman" panose="02020603050405020304" pitchFamily="18" charset="0"/>
              </a:rPr>
              <a:t>       - </a:t>
            </a:r>
            <a:r>
              <a:rPr lang="en-US" altLang="ko-KR" sz="2000" b="0" dirty="0">
                <a:latin typeface="Times New Roman" panose="02020603050405020304" pitchFamily="18" charset="0"/>
                <a:ea typeface="바탕" panose="02030600000101010101" pitchFamily="18" charset="-127"/>
                <a:cs typeface="Times New Roman" panose="02020603050405020304" pitchFamily="18" charset="0"/>
              </a:rPr>
              <a:t>No transportation costs, tariffs, other barriers</a:t>
            </a:r>
          </a:p>
          <a:p>
            <a:pPr eaLnBrk="1" hangingPunct="1">
              <a:lnSpc>
                <a:spcPct val="90000"/>
              </a:lnSpc>
              <a:buFontTx/>
              <a:buNone/>
            </a:pPr>
            <a:r>
              <a:rPr lang="en-US" altLang="ko-KR" sz="2000" b="0" dirty="0">
                <a:latin typeface="Times New Roman" panose="02020603050405020304" pitchFamily="18" charset="0"/>
                <a:cs typeface="Times New Roman" panose="02020603050405020304" pitchFamily="18" charset="0"/>
              </a:rPr>
              <a:t>       - </a:t>
            </a:r>
            <a:r>
              <a:rPr lang="en-US" altLang="ko-KR" sz="2000" b="0" dirty="0">
                <a:latin typeface="Times New Roman" panose="02020603050405020304" pitchFamily="18" charset="0"/>
                <a:ea typeface="바탕" panose="02030600000101010101" pitchFamily="18" charset="-127"/>
                <a:cs typeface="Times New Roman" panose="02020603050405020304" pitchFamily="18" charset="0"/>
              </a:rPr>
              <a:t>Full employment of all resources in both nations</a:t>
            </a:r>
          </a:p>
          <a:p>
            <a:pPr eaLnBrk="1" hangingPunct="1">
              <a:lnSpc>
                <a:spcPct val="90000"/>
              </a:lnSpc>
              <a:buFontTx/>
              <a:buNone/>
            </a:pPr>
            <a:endParaRPr lang="en-US" altLang="ko-KR" sz="2000" b="0" dirty="0">
              <a:latin typeface="Times New Roman" panose="02020603050405020304" pitchFamily="18" charset="0"/>
              <a:cs typeface="Times New Roman" panose="02020603050405020304" pitchFamily="18" charset="0"/>
            </a:endParaRPr>
          </a:p>
        </p:txBody>
      </p:sp>
      <p:sp>
        <p:nvSpPr>
          <p:cNvPr id="11268" name="Text Box 4">
            <a:extLst>
              <a:ext uri="{FF2B5EF4-FFF2-40B4-BE49-F238E27FC236}">
                <a16:creationId xmlns:a16="http://schemas.microsoft.com/office/drawing/2014/main" id="{D0D48951-6223-12FF-C61A-29E02C24E13B}"/>
              </a:ext>
            </a:extLst>
          </p:cNvPr>
          <p:cNvSpPr txBox="1">
            <a:spLocks noChangeArrowheads="1"/>
          </p:cNvSpPr>
          <p:nvPr/>
        </p:nvSpPr>
        <p:spPr bwMode="auto">
          <a:xfrm>
            <a:off x="533400" y="6248400"/>
            <a:ext cx="411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굴림" panose="020B0600000101010101" pitchFamily="50" charset="-127"/>
              </a:defRPr>
            </a:lvl1pPr>
            <a:lvl2pPr marL="742950" indent="-285750" eaLnBrk="0" hangingPunct="0">
              <a:defRPr kumimoji="1" sz="2400">
                <a:solidFill>
                  <a:schemeClr val="tx1"/>
                </a:solidFill>
                <a:latin typeface="Times New Roman" panose="02020603050405020304" pitchFamily="18" charset="0"/>
                <a:ea typeface="굴림" panose="020B0600000101010101" pitchFamily="50" charset="-127"/>
              </a:defRPr>
            </a:lvl2pPr>
            <a:lvl3pPr marL="1143000" indent="-228600" eaLnBrk="0" hangingPunct="0">
              <a:defRPr kumimoji="1" sz="2400">
                <a:solidFill>
                  <a:schemeClr val="tx1"/>
                </a:solidFill>
                <a:latin typeface="Times New Roman" panose="02020603050405020304" pitchFamily="18" charset="0"/>
                <a:ea typeface="굴림" panose="020B0600000101010101" pitchFamily="50" charset="-127"/>
              </a:defRPr>
            </a:lvl3pPr>
            <a:lvl4pPr marL="1600200" indent="-228600" eaLnBrk="0" hangingPunct="0">
              <a:defRPr kumimoji="1" sz="2400">
                <a:solidFill>
                  <a:schemeClr val="tx1"/>
                </a:solidFill>
                <a:latin typeface="Times New Roman" panose="02020603050405020304" pitchFamily="18" charset="0"/>
                <a:ea typeface="굴림" panose="020B0600000101010101" pitchFamily="50" charset="-127"/>
              </a:defRPr>
            </a:lvl4pPr>
            <a:lvl5pPr marL="2057400" indent="-228600" eaLnBrk="0" hangingPunct="0">
              <a:defRPr kumimoji="1" sz="2400">
                <a:solidFill>
                  <a:schemeClr val="tx1"/>
                </a:solidFill>
                <a:latin typeface="Times New Roman" panose="02020603050405020304" pitchFamily="18" charset="0"/>
                <a:ea typeface="굴림" panose="020B0600000101010101" pitchFamily="50" charset="-127"/>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굴림" panose="020B0600000101010101" pitchFamily="50" charset="-127"/>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굴림" panose="020B0600000101010101" pitchFamily="50" charset="-127"/>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굴림" panose="020B0600000101010101" pitchFamily="50" charset="-127"/>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굴림" panose="020B0600000101010101" pitchFamily="50" charset="-127"/>
              </a:defRPr>
            </a:lvl9pPr>
          </a:lstStyle>
          <a:p>
            <a:pPr latinLnBrk="0">
              <a:spcBef>
                <a:spcPct val="50000"/>
              </a:spcBef>
            </a:pPr>
            <a:r>
              <a:rPr kumimoji="0" lang="ko-KR" altLang="en-US" sz="1400">
                <a:solidFill>
                  <a:schemeClr val="bg1"/>
                </a:solidFill>
              </a:rPr>
              <a:t>© </a:t>
            </a:r>
            <a:r>
              <a:rPr kumimoji="0" lang="en-US" altLang="ko-KR" sz="1400">
                <a:solidFill>
                  <a:schemeClr val="bg1"/>
                </a:solidFill>
              </a:rPr>
              <a:t>McGraw Hill Companies, Inc.,2000</a:t>
            </a:r>
          </a:p>
        </p:txBody>
      </p:sp>
      <p:sp>
        <p:nvSpPr>
          <p:cNvPr id="11269" name="Text Box 8">
            <a:extLst>
              <a:ext uri="{FF2B5EF4-FFF2-40B4-BE49-F238E27FC236}">
                <a16:creationId xmlns:a16="http://schemas.microsoft.com/office/drawing/2014/main" id="{72412EEB-0ADE-7AB7-09D9-9D2861EE9CD6}"/>
              </a:ext>
            </a:extLst>
          </p:cNvPr>
          <p:cNvSpPr txBox="1">
            <a:spLocks noChangeArrowheads="1"/>
          </p:cNvSpPr>
          <p:nvPr/>
        </p:nvSpPr>
        <p:spPr bwMode="auto">
          <a:xfrm>
            <a:off x="7772400" y="6172200"/>
            <a:ext cx="1371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굴림" panose="020B0600000101010101" pitchFamily="50" charset="-127"/>
              </a:defRPr>
            </a:lvl1pPr>
            <a:lvl2pPr marL="742950" indent="-285750" eaLnBrk="0" hangingPunct="0">
              <a:defRPr kumimoji="1" sz="2400">
                <a:solidFill>
                  <a:schemeClr val="tx1"/>
                </a:solidFill>
                <a:latin typeface="Times New Roman" panose="02020603050405020304" pitchFamily="18" charset="0"/>
                <a:ea typeface="굴림" panose="020B0600000101010101" pitchFamily="50" charset="-127"/>
              </a:defRPr>
            </a:lvl2pPr>
            <a:lvl3pPr marL="1143000" indent="-228600" eaLnBrk="0" hangingPunct="0">
              <a:defRPr kumimoji="1" sz="2400">
                <a:solidFill>
                  <a:schemeClr val="tx1"/>
                </a:solidFill>
                <a:latin typeface="Times New Roman" panose="02020603050405020304" pitchFamily="18" charset="0"/>
                <a:ea typeface="굴림" panose="020B0600000101010101" pitchFamily="50" charset="-127"/>
              </a:defRPr>
            </a:lvl3pPr>
            <a:lvl4pPr marL="1600200" indent="-228600" eaLnBrk="0" hangingPunct="0">
              <a:defRPr kumimoji="1" sz="2400">
                <a:solidFill>
                  <a:schemeClr val="tx1"/>
                </a:solidFill>
                <a:latin typeface="Times New Roman" panose="02020603050405020304" pitchFamily="18" charset="0"/>
                <a:ea typeface="굴림" panose="020B0600000101010101" pitchFamily="50" charset="-127"/>
              </a:defRPr>
            </a:lvl4pPr>
            <a:lvl5pPr marL="2057400" indent="-228600" eaLnBrk="0" hangingPunct="0">
              <a:defRPr kumimoji="1" sz="2400">
                <a:solidFill>
                  <a:schemeClr val="tx1"/>
                </a:solidFill>
                <a:latin typeface="Times New Roman" panose="02020603050405020304" pitchFamily="18" charset="0"/>
                <a:ea typeface="굴림" panose="020B0600000101010101" pitchFamily="50" charset="-127"/>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굴림" panose="020B0600000101010101" pitchFamily="50" charset="-127"/>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굴림" panose="020B0600000101010101" pitchFamily="50" charset="-127"/>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굴림" panose="020B0600000101010101" pitchFamily="50" charset="-127"/>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굴림" panose="020B0600000101010101" pitchFamily="50" charset="-127"/>
              </a:defRPr>
            </a:lvl9pPr>
          </a:lstStyle>
          <a:p>
            <a:pPr latinLnBrk="0">
              <a:spcBef>
                <a:spcPct val="50000"/>
              </a:spcBef>
            </a:pPr>
            <a:r>
              <a:rPr kumimoji="0" lang="ko-KR" altLang="en-US">
                <a:solidFill>
                  <a:schemeClr val="bg1"/>
                </a:solidFill>
              </a:rPr>
              <a:t>4-18</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9699">
                                            <p:txEl>
                                              <p:pRg st="0" end="0"/>
                                            </p:txEl>
                                          </p:spTgt>
                                        </p:tgtEl>
                                        <p:attrNameLst>
                                          <p:attrName>style.visibility</p:attrName>
                                        </p:attrNameLst>
                                      </p:cBhvr>
                                      <p:to>
                                        <p:strVal val="visible"/>
                                      </p:to>
                                    </p:set>
                                    <p:anim calcmode="lin" valueType="num">
                                      <p:cBhvr additive="base">
                                        <p:cTn id="7" dur="500" fill="hold"/>
                                        <p:tgtEl>
                                          <p:spTgt spid="2969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969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29699">
                                            <p:txEl>
                                              <p:pRg st="1" end="1"/>
                                            </p:txEl>
                                          </p:spTgt>
                                        </p:tgtEl>
                                        <p:attrNameLst>
                                          <p:attrName>style.visibility</p:attrName>
                                        </p:attrNameLst>
                                      </p:cBhvr>
                                      <p:to>
                                        <p:strVal val="visible"/>
                                      </p:to>
                                    </p:set>
                                    <p:anim calcmode="lin" valueType="num">
                                      <p:cBhvr additive="base">
                                        <p:cTn id="13" dur="500" fill="hold"/>
                                        <p:tgtEl>
                                          <p:spTgt spid="29699">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969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29699">
                                            <p:txEl>
                                              <p:pRg st="2" end="2"/>
                                            </p:txEl>
                                          </p:spTgt>
                                        </p:tgtEl>
                                        <p:attrNameLst>
                                          <p:attrName>style.visibility</p:attrName>
                                        </p:attrNameLst>
                                      </p:cBhvr>
                                      <p:to>
                                        <p:strVal val="visible"/>
                                      </p:to>
                                    </p:set>
                                    <p:anim calcmode="lin" valueType="num">
                                      <p:cBhvr additive="base">
                                        <p:cTn id="19" dur="500" fill="hold"/>
                                        <p:tgtEl>
                                          <p:spTgt spid="29699">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9699">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29699">
                                            <p:txEl>
                                              <p:pRg st="3" end="3"/>
                                            </p:txEl>
                                          </p:spTgt>
                                        </p:tgtEl>
                                        <p:attrNameLst>
                                          <p:attrName>style.visibility</p:attrName>
                                        </p:attrNameLst>
                                      </p:cBhvr>
                                      <p:to>
                                        <p:strVal val="visible"/>
                                      </p:to>
                                    </p:set>
                                    <p:anim calcmode="lin" valueType="num">
                                      <p:cBhvr additive="base">
                                        <p:cTn id="25" dur="500" fill="hold"/>
                                        <p:tgtEl>
                                          <p:spTgt spid="29699">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9699">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nodeType="clickEffect">
                                  <p:stCondLst>
                                    <p:cond delay="0"/>
                                  </p:stCondLst>
                                  <p:childTnLst>
                                    <p:set>
                                      <p:cBhvr>
                                        <p:cTn id="30" dur="1" fill="hold">
                                          <p:stCondLst>
                                            <p:cond delay="0"/>
                                          </p:stCondLst>
                                        </p:cTn>
                                        <p:tgtEl>
                                          <p:spTgt spid="29699">
                                            <p:txEl>
                                              <p:pRg st="4" end="4"/>
                                            </p:txEl>
                                          </p:spTgt>
                                        </p:tgtEl>
                                        <p:attrNameLst>
                                          <p:attrName>style.visibility</p:attrName>
                                        </p:attrNameLst>
                                      </p:cBhvr>
                                      <p:to>
                                        <p:strVal val="visible"/>
                                      </p:to>
                                    </p:set>
                                    <p:anim calcmode="lin" valueType="num">
                                      <p:cBhvr additive="base">
                                        <p:cTn id="31" dur="500" fill="hold"/>
                                        <p:tgtEl>
                                          <p:spTgt spid="29699">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29699">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nodeType="clickEffect">
                                  <p:stCondLst>
                                    <p:cond delay="0"/>
                                  </p:stCondLst>
                                  <p:childTnLst>
                                    <p:set>
                                      <p:cBhvr>
                                        <p:cTn id="36" dur="1" fill="hold">
                                          <p:stCondLst>
                                            <p:cond delay="0"/>
                                          </p:stCondLst>
                                        </p:cTn>
                                        <p:tgtEl>
                                          <p:spTgt spid="29699">
                                            <p:txEl>
                                              <p:pRg st="5" end="5"/>
                                            </p:txEl>
                                          </p:spTgt>
                                        </p:tgtEl>
                                        <p:attrNameLst>
                                          <p:attrName>style.visibility</p:attrName>
                                        </p:attrNameLst>
                                      </p:cBhvr>
                                      <p:to>
                                        <p:strVal val="visible"/>
                                      </p:to>
                                    </p:set>
                                    <p:anim calcmode="lin" valueType="num">
                                      <p:cBhvr additive="base">
                                        <p:cTn id="37" dur="500" fill="hold"/>
                                        <p:tgtEl>
                                          <p:spTgt spid="29699">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29699">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nodeType="clickEffect">
                                  <p:stCondLst>
                                    <p:cond delay="0"/>
                                  </p:stCondLst>
                                  <p:childTnLst>
                                    <p:set>
                                      <p:cBhvr>
                                        <p:cTn id="42" dur="1" fill="hold">
                                          <p:stCondLst>
                                            <p:cond delay="0"/>
                                          </p:stCondLst>
                                        </p:cTn>
                                        <p:tgtEl>
                                          <p:spTgt spid="29699">
                                            <p:txEl>
                                              <p:pRg st="6" end="6"/>
                                            </p:txEl>
                                          </p:spTgt>
                                        </p:tgtEl>
                                        <p:attrNameLst>
                                          <p:attrName>style.visibility</p:attrName>
                                        </p:attrNameLst>
                                      </p:cBhvr>
                                      <p:to>
                                        <p:strVal val="visible"/>
                                      </p:to>
                                    </p:set>
                                    <p:anim calcmode="lin" valueType="num">
                                      <p:cBhvr additive="base">
                                        <p:cTn id="43" dur="500" fill="hold"/>
                                        <p:tgtEl>
                                          <p:spTgt spid="29699">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29699">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8" fill="hold" nodeType="clickEffect">
                                  <p:stCondLst>
                                    <p:cond delay="0"/>
                                  </p:stCondLst>
                                  <p:childTnLst>
                                    <p:set>
                                      <p:cBhvr>
                                        <p:cTn id="48" dur="1" fill="hold">
                                          <p:stCondLst>
                                            <p:cond delay="0"/>
                                          </p:stCondLst>
                                        </p:cTn>
                                        <p:tgtEl>
                                          <p:spTgt spid="29699">
                                            <p:txEl>
                                              <p:pRg st="7" end="7"/>
                                            </p:txEl>
                                          </p:spTgt>
                                        </p:tgtEl>
                                        <p:attrNameLst>
                                          <p:attrName>style.visibility</p:attrName>
                                        </p:attrNameLst>
                                      </p:cBhvr>
                                      <p:to>
                                        <p:strVal val="visible"/>
                                      </p:to>
                                    </p:set>
                                    <p:anim calcmode="lin" valueType="num">
                                      <p:cBhvr additive="base">
                                        <p:cTn id="49" dur="500" fill="hold"/>
                                        <p:tgtEl>
                                          <p:spTgt spid="29699">
                                            <p:txEl>
                                              <p:pRg st="7" end="7"/>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29699">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8" fill="hold" nodeType="clickEffect">
                                  <p:stCondLst>
                                    <p:cond delay="0"/>
                                  </p:stCondLst>
                                  <p:childTnLst>
                                    <p:set>
                                      <p:cBhvr>
                                        <p:cTn id="54" dur="1" fill="hold">
                                          <p:stCondLst>
                                            <p:cond delay="0"/>
                                          </p:stCondLst>
                                        </p:cTn>
                                        <p:tgtEl>
                                          <p:spTgt spid="29699">
                                            <p:txEl>
                                              <p:pRg st="8" end="8"/>
                                            </p:txEl>
                                          </p:spTgt>
                                        </p:tgtEl>
                                        <p:attrNameLst>
                                          <p:attrName>style.visibility</p:attrName>
                                        </p:attrNameLst>
                                      </p:cBhvr>
                                      <p:to>
                                        <p:strVal val="visible"/>
                                      </p:to>
                                    </p:set>
                                    <p:anim calcmode="lin" valueType="num">
                                      <p:cBhvr additive="base">
                                        <p:cTn id="55" dur="500" fill="hold"/>
                                        <p:tgtEl>
                                          <p:spTgt spid="29699">
                                            <p:txEl>
                                              <p:pRg st="8" end="8"/>
                                            </p:txEl>
                                          </p:spTgt>
                                        </p:tgtEl>
                                        <p:attrNameLst>
                                          <p:attrName>ppt_x</p:attrName>
                                        </p:attrNameLst>
                                      </p:cBhvr>
                                      <p:tavLst>
                                        <p:tav tm="0">
                                          <p:val>
                                            <p:strVal val="0-#ppt_w/2"/>
                                          </p:val>
                                        </p:tav>
                                        <p:tav tm="100000">
                                          <p:val>
                                            <p:strVal val="#ppt_x"/>
                                          </p:val>
                                        </p:tav>
                                      </p:tavLst>
                                    </p:anim>
                                    <p:anim calcmode="lin" valueType="num">
                                      <p:cBhvr additive="base">
                                        <p:cTn id="56" dur="500" fill="hold"/>
                                        <p:tgtEl>
                                          <p:spTgt spid="29699">
                                            <p:txEl>
                                              <p:pRg st="8" end="8"/>
                                            </p:txEl>
                                          </p:spTgt>
                                        </p:tgtEl>
                                        <p:attrNameLst>
                                          <p:attrName>ppt_y</p:attrName>
                                        </p:attrNameLst>
                                      </p:cBhvr>
                                      <p:tavLst>
                                        <p:tav tm="0">
                                          <p:val>
                                            <p:strVal val="#ppt_y"/>
                                          </p:val>
                                        </p:tav>
                                        <p:tav tm="100000">
                                          <p:val>
                                            <p:strVal val="#ppt_y"/>
                                          </p:val>
                                        </p:tav>
                                      </p:tavLst>
                                    </p:anim>
                                  </p:childTnLst>
                                </p:cTn>
                              </p:par>
                            </p:childTnLst>
                          </p:cTn>
                        </p:par>
                      </p:childTnLst>
                    </p:cTn>
                  </p:par>
                  <p:par>
                    <p:cTn id="57" fill="hold" nodeType="clickPar">
                      <p:stCondLst>
                        <p:cond delay="indefinite"/>
                      </p:stCondLst>
                      <p:childTnLst>
                        <p:par>
                          <p:cTn id="58" fill="hold" nodeType="withGroup">
                            <p:stCondLst>
                              <p:cond delay="0"/>
                            </p:stCondLst>
                            <p:childTnLst>
                              <p:par>
                                <p:cTn id="59" presetID="2" presetClass="entr" presetSubtype="8" fill="hold" nodeType="clickEffect">
                                  <p:stCondLst>
                                    <p:cond delay="0"/>
                                  </p:stCondLst>
                                  <p:childTnLst>
                                    <p:set>
                                      <p:cBhvr>
                                        <p:cTn id="60" dur="1" fill="hold">
                                          <p:stCondLst>
                                            <p:cond delay="0"/>
                                          </p:stCondLst>
                                        </p:cTn>
                                        <p:tgtEl>
                                          <p:spTgt spid="29699">
                                            <p:txEl>
                                              <p:pRg st="9" end="9"/>
                                            </p:txEl>
                                          </p:spTgt>
                                        </p:tgtEl>
                                        <p:attrNameLst>
                                          <p:attrName>style.visibility</p:attrName>
                                        </p:attrNameLst>
                                      </p:cBhvr>
                                      <p:to>
                                        <p:strVal val="visible"/>
                                      </p:to>
                                    </p:set>
                                    <p:anim calcmode="lin" valueType="num">
                                      <p:cBhvr additive="base">
                                        <p:cTn id="61" dur="500" fill="hold"/>
                                        <p:tgtEl>
                                          <p:spTgt spid="29699">
                                            <p:txEl>
                                              <p:pRg st="9" end="9"/>
                                            </p:txEl>
                                          </p:spTgt>
                                        </p:tgtEl>
                                        <p:attrNameLst>
                                          <p:attrName>ppt_x</p:attrName>
                                        </p:attrNameLst>
                                      </p:cBhvr>
                                      <p:tavLst>
                                        <p:tav tm="0">
                                          <p:val>
                                            <p:strVal val="0-#ppt_w/2"/>
                                          </p:val>
                                        </p:tav>
                                        <p:tav tm="100000">
                                          <p:val>
                                            <p:strVal val="#ppt_x"/>
                                          </p:val>
                                        </p:tav>
                                      </p:tavLst>
                                    </p:anim>
                                    <p:anim calcmode="lin" valueType="num">
                                      <p:cBhvr additive="base">
                                        <p:cTn id="62" dur="500" fill="hold"/>
                                        <p:tgtEl>
                                          <p:spTgt spid="29699">
                                            <p:txEl>
                                              <p:pRg st="9" end="9"/>
                                            </p:txEl>
                                          </p:spTgt>
                                        </p:tgtEl>
                                        <p:attrNameLst>
                                          <p:attrName>ppt_y</p:attrName>
                                        </p:attrNameLst>
                                      </p:cBhvr>
                                      <p:tavLst>
                                        <p:tav tm="0">
                                          <p:val>
                                            <p:strVal val="#ppt_y"/>
                                          </p:val>
                                        </p:tav>
                                        <p:tav tm="100000">
                                          <p:val>
                                            <p:strVal val="#ppt_y"/>
                                          </p:val>
                                        </p:tav>
                                      </p:tavLst>
                                    </p:anim>
                                  </p:childTnLst>
                                </p:cTn>
                              </p:par>
                            </p:childTnLst>
                          </p:cTn>
                        </p:par>
                      </p:childTnLst>
                    </p:cTn>
                  </p:par>
                  <p:par>
                    <p:cTn id="63" fill="hold" nodeType="clickPar">
                      <p:stCondLst>
                        <p:cond delay="indefinite"/>
                      </p:stCondLst>
                      <p:childTnLst>
                        <p:par>
                          <p:cTn id="64" fill="hold" nodeType="withGroup">
                            <p:stCondLst>
                              <p:cond delay="0"/>
                            </p:stCondLst>
                            <p:childTnLst>
                              <p:par>
                                <p:cTn id="65" presetID="2" presetClass="entr" presetSubtype="8" fill="hold" nodeType="clickEffect">
                                  <p:stCondLst>
                                    <p:cond delay="0"/>
                                  </p:stCondLst>
                                  <p:childTnLst>
                                    <p:set>
                                      <p:cBhvr>
                                        <p:cTn id="66" dur="1" fill="hold">
                                          <p:stCondLst>
                                            <p:cond delay="0"/>
                                          </p:stCondLst>
                                        </p:cTn>
                                        <p:tgtEl>
                                          <p:spTgt spid="29699">
                                            <p:txEl>
                                              <p:pRg st="10" end="10"/>
                                            </p:txEl>
                                          </p:spTgt>
                                        </p:tgtEl>
                                        <p:attrNameLst>
                                          <p:attrName>style.visibility</p:attrName>
                                        </p:attrNameLst>
                                      </p:cBhvr>
                                      <p:to>
                                        <p:strVal val="visible"/>
                                      </p:to>
                                    </p:set>
                                    <p:anim calcmode="lin" valueType="num">
                                      <p:cBhvr additive="base">
                                        <p:cTn id="67" dur="500" fill="hold"/>
                                        <p:tgtEl>
                                          <p:spTgt spid="29699">
                                            <p:txEl>
                                              <p:pRg st="10" end="10"/>
                                            </p:txEl>
                                          </p:spTgt>
                                        </p:tgtEl>
                                        <p:attrNameLst>
                                          <p:attrName>ppt_x</p:attrName>
                                        </p:attrNameLst>
                                      </p:cBhvr>
                                      <p:tavLst>
                                        <p:tav tm="0">
                                          <p:val>
                                            <p:strVal val="0-#ppt_w/2"/>
                                          </p:val>
                                        </p:tav>
                                        <p:tav tm="100000">
                                          <p:val>
                                            <p:strVal val="#ppt_x"/>
                                          </p:val>
                                        </p:tav>
                                      </p:tavLst>
                                    </p:anim>
                                    <p:anim calcmode="lin" valueType="num">
                                      <p:cBhvr additive="base">
                                        <p:cTn id="68" dur="500" fill="hold"/>
                                        <p:tgtEl>
                                          <p:spTgt spid="29699">
                                            <p:txEl>
                                              <p:pRg st="10" end="10"/>
                                            </p:txEl>
                                          </p:spTgt>
                                        </p:tgtEl>
                                        <p:attrNameLst>
                                          <p:attrName>ppt_y</p:attrName>
                                        </p:attrNameLst>
                                      </p:cBhvr>
                                      <p:tavLst>
                                        <p:tav tm="0">
                                          <p:val>
                                            <p:strVal val="#ppt_y"/>
                                          </p:val>
                                        </p:tav>
                                        <p:tav tm="100000">
                                          <p:val>
                                            <p:strVal val="#ppt_y"/>
                                          </p:val>
                                        </p:tav>
                                      </p:tavLst>
                                    </p:anim>
                                  </p:childTnLst>
                                </p:cTn>
                              </p:par>
                            </p:childTnLst>
                          </p:cTn>
                        </p:par>
                      </p:childTnLst>
                    </p:cTn>
                  </p:par>
                  <p:par>
                    <p:cTn id="69" fill="hold" nodeType="clickPar">
                      <p:stCondLst>
                        <p:cond delay="indefinite"/>
                      </p:stCondLst>
                      <p:childTnLst>
                        <p:par>
                          <p:cTn id="70" fill="hold" nodeType="withGroup">
                            <p:stCondLst>
                              <p:cond delay="0"/>
                            </p:stCondLst>
                            <p:childTnLst>
                              <p:par>
                                <p:cTn id="71" presetID="2" presetClass="entr" presetSubtype="8" fill="hold" nodeType="clickEffect">
                                  <p:stCondLst>
                                    <p:cond delay="0"/>
                                  </p:stCondLst>
                                  <p:childTnLst>
                                    <p:set>
                                      <p:cBhvr>
                                        <p:cTn id="72" dur="1" fill="hold">
                                          <p:stCondLst>
                                            <p:cond delay="0"/>
                                          </p:stCondLst>
                                        </p:cTn>
                                        <p:tgtEl>
                                          <p:spTgt spid="29699">
                                            <p:txEl>
                                              <p:pRg st="11" end="11"/>
                                            </p:txEl>
                                          </p:spTgt>
                                        </p:tgtEl>
                                        <p:attrNameLst>
                                          <p:attrName>style.visibility</p:attrName>
                                        </p:attrNameLst>
                                      </p:cBhvr>
                                      <p:to>
                                        <p:strVal val="visible"/>
                                      </p:to>
                                    </p:set>
                                    <p:anim calcmode="lin" valueType="num">
                                      <p:cBhvr additive="base">
                                        <p:cTn id="73" dur="500" fill="hold"/>
                                        <p:tgtEl>
                                          <p:spTgt spid="29699">
                                            <p:txEl>
                                              <p:pRg st="11" end="11"/>
                                            </p:txEl>
                                          </p:spTgt>
                                        </p:tgtEl>
                                        <p:attrNameLst>
                                          <p:attrName>ppt_x</p:attrName>
                                        </p:attrNameLst>
                                      </p:cBhvr>
                                      <p:tavLst>
                                        <p:tav tm="0">
                                          <p:val>
                                            <p:strVal val="0-#ppt_w/2"/>
                                          </p:val>
                                        </p:tav>
                                        <p:tav tm="100000">
                                          <p:val>
                                            <p:strVal val="#ppt_x"/>
                                          </p:val>
                                        </p:tav>
                                      </p:tavLst>
                                    </p:anim>
                                    <p:anim calcmode="lin" valueType="num">
                                      <p:cBhvr additive="base">
                                        <p:cTn id="74" dur="500" fill="hold"/>
                                        <p:tgtEl>
                                          <p:spTgt spid="29699">
                                            <p:txEl>
                                              <p:pRg st="11" end="1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9" grpId="0" build="p"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descr="Large confetti">
            <a:extLst>
              <a:ext uri="{FF2B5EF4-FFF2-40B4-BE49-F238E27FC236}">
                <a16:creationId xmlns:a16="http://schemas.microsoft.com/office/drawing/2014/main" id="{5155439B-C475-4734-D863-239307A11AF2}"/>
              </a:ext>
            </a:extLst>
          </p:cNvPr>
          <p:cNvSpPr>
            <a:spLocks noGrp="1" noChangeArrowheads="1"/>
          </p:cNvSpPr>
          <p:nvPr>
            <p:ph type="title"/>
          </p:nvPr>
        </p:nvSpPr>
        <p:spPr>
          <a:xfrm>
            <a:off x="990600" y="533400"/>
            <a:ext cx="7620000" cy="1066800"/>
          </a:xfrm>
        </p:spPr>
        <p:txBody>
          <a:bodyPr/>
          <a:lstStyle/>
          <a:p>
            <a:pPr eaLnBrk="1" hangingPunct="1"/>
            <a:br>
              <a:rPr lang="en-US" altLang="ko-KR" sz="2800" b="1" dirty="0">
                <a:solidFill>
                  <a:schemeClr val="tx1"/>
                </a:solidFill>
              </a:rPr>
            </a:br>
            <a:br>
              <a:rPr lang="en-US" altLang="ko-KR" sz="2800" b="1" dirty="0">
                <a:solidFill>
                  <a:schemeClr val="tx1"/>
                </a:solidFill>
              </a:rPr>
            </a:br>
            <a:br>
              <a:rPr lang="en-US" altLang="ko-KR" sz="2800" b="1" dirty="0">
                <a:solidFill>
                  <a:schemeClr val="tx1"/>
                </a:solidFill>
              </a:rPr>
            </a:br>
            <a:br>
              <a:rPr lang="en-US" altLang="ko-KR" sz="2800" b="1" dirty="0">
                <a:solidFill>
                  <a:schemeClr val="tx1"/>
                </a:solidFill>
              </a:rPr>
            </a:br>
            <a:endParaRPr lang="ko-KR" altLang="en-US" sz="2800" b="1" dirty="0">
              <a:solidFill>
                <a:srgbClr val="FF5050"/>
              </a:solidFill>
            </a:endParaRPr>
          </a:p>
        </p:txBody>
      </p:sp>
      <p:sp>
        <p:nvSpPr>
          <p:cNvPr id="12291" name="Rectangle 3">
            <a:extLst>
              <a:ext uri="{FF2B5EF4-FFF2-40B4-BE49-F238E27FC236}">
                <a16:creationId xmlns:a16="http://schemas.microsoft.com/office/drawing/2014/main" id="{1984D2D6-CFB1-A02F-9C1F-CF685D09E7B7}"/>
              </a:ext>
            </a:extLst>
          </p:cNvPr>
          <p:cNvSpPr>
            <a:spLocks noGrp="1" noChangeArrowheads="1"/>
          </p:cNvSpPr>
          <p:nvPr>
            <p:ph type="body" idx="1"/>
          </p:nvPr>
        </p:nvSpPr>
        <p:spPr>
          <a:xfrm>
            <a:off x="256692" y="1340768"/>
            <a:ext cx="8630616" cy="4657412"/>
          </a:xfrm>
        </p:spPr>
        <p:txBody>
          <a:bodyPr/>
          <a:lstStyle/>
          <a:p>
            <a:pPr eaLnBrk="1" hangingPunct="1">
              <a:buFontTx/>
              <a:buChar char="•"/>
            </a:pPr>
            <a:r>
              <a:rPr lang="en-US" altLang="ko-KR" sz="2400" b="0" dirty="0">
                <a:latin typeface="Times New Roman" panose="02020603050405020304" pitchFamily="18" charset="0"/>
                <a:ea typeface="바탕" panose="02030600000101010101" pitchFamily="18" charset="-127"/>
                <a:cs typeface="Times New Roman" panose="02020603050405020304" pitchFamily="18" charset="0"/>
              </a:rPr>
              <a:t>A nation will export the commodity whose production requires the intensive use of the nation’s relatively abundant and cheap factor and import the commodity whose production requires the intensive use of the nation’s relatively scarce and expensive factor.</a:t>
            </a:r>
            <a:r>
              <a:rPr lang="en-US" altLang="ko-KR" sz="2400" b="0" dirty="0">
                <a:latin typeface="Times New Roman" panose="02020603050405020304" pitchFamily="18" charset="0"/>
                <a:cs typeface="Times New Roman" panose="02020603050405020304" pitchFamily="18" charset="0"/>
              </a:rPr>
              <a:t> </a:t>
            </a:r>
          </a:p>
          <a:p>
            <a:pPr eaLnBrk="1" hangingPunct="1">
              <a:buFontTx/>
              <a:buChar char="•"/>
            </a:pPr>
            <a:r>
              <a:rPr lang="en-US" altLang="ko-KR" sz="2400" b="0" dirty="0">
                <a:latin typeface="Times New Roman" panose="02020603050405020304" pitchFamily="18" charset="0"/>
                <a:ea typeface="바탕" panose="02030600000101010101" pitchFamily="18" charset="-127"/>
                <a:cs typeface="Times New Roman" panose="02020603050405020304" pitchFamily="18" charset="0"/>
              </a:rPr>
              <a:t>The relatively labor-rich nation should export the relatively labor-intensive commodity and imports the relatively capital-intensive commodity.</a:t>
            </a:r>
            <a:r>
              <a:rPr lang="en-US" altLang="ko-KR" sz="2400" b="0" dirty="0">
                <a:latin typeface="Times New Roman" panose="02020603050405020304" pitchFamily="18" charset="0"/>
                <a:cs typeface="Times New Roman" panose="02020603050405020304" pitchFamily="18" charset="0"/>
              </a:rPr>
              <a:t> </a:t>
            </a:r>
          </a:p>
          <a:p>
            <a:pPr eaLnBrk="1" hangingPunct="1">
              <a:buFontTx/>
              <a:buChar char="•"/>
            </a:pPr>
            <a:r>
              <a:rPr lang="en-US" altLang="ko-KR" sz="2400" b="0" dirty="0">
                <a:latin typeface="Times New Roman" panose="02020603050405020304" pitchFamily="18" charset="0"/>
                <a:ea typeface="바탕" panose="02030600000101010101" pitchFamily="18" charset="-127"/>
                <a:cs typeface="Times New Roman" panose="02020603050405020304" pitchFamily="18" charset="0"/>
              </a:rPr>
              <a:t>The differences in relative factor abundance (factor endowments) among nations is the basic determinants of comparative advantage.</a:t>
            </a:r>
          </a:p>
          <a:p>
            <a:pPr eaLnBrk="1" hangingPunct="1">
              <a:buFontTx/>
              <a:buChar char="•"/>
            </a:pPr>
            <a:r>
              <a:rPr lang="en-US" altLang="ko-KR" sz="2400" b="0" dirty="0">
                <a:latin typeface="Times New Roman" panose="02020603050405020304" pitchFamily="18" charset="0"/>
                <a:ea typeface="바탕" panose="02030600000101010101" pitchFamily="18" charset="-127"/>
                <a:cs typeface="Times New Roman" panose="02020603050405020304" pitchFamily="18" charset="0"/>
              </a:rPr>
              <a:t>Source of advantage – factor endowments</a:t>
            </a:r>
            <a:r>
              <a:rPr lang="en-US" altLang="ko-KR" sz="2400" b="0" dirty="0">
                <a:latin typeface="Times New Roman" panose="02020603050405020304" pitchFamily="18" charset="0"/>
                <a:cs typeface="Times New Roman" panose="02020603050405020304" pitchFamily="18" charset="0"/>
              </a:rPr>
              <a:t> </a:t>
            </a:r>
          </a:p>
          <a:p>
            <a:pPr eaLnBrk="1" hangingPunct="1">
              <a:buFontTx/>
              <a:buNone/>
            </a:pPr>
            <a:endParaRPr lang="en-US" altLang="ko-KR" sz="2400" b="0" dirty="0">
              <a:latin typeface="Times New Roman" panose="02020603050405020304" pitchFamily="18" charset="0"/>
              <a:cs typeface="Times New Roman" panose="02020603050405020304" pitchFamily="18" charset="0"/>
            </a:endParaRPr>
          </a:p>
          <a:p>
            <a:pPr eaLnBrk="1" hangingPunct="1">
              <a:buFontTx/>
              <a:buNone/>
            </a:pPr>
            <a:endParaRPr lang="ko-KR" altLang="en-US" sz="2400" b="0" dirty="0">
              <a:latin typeface="Times New Roman" panose="02020603050405020304" pitchFamily="18" charset="0"/>
              <a:cs typeface="Times New Roman" panose="02020603050405020304" pitchFamily="18" charset="0"/>
            </a:endParaRPr>
          </a:p>
        </p:txBody>
      </p:sp>
      <p:sp>
        <p:nvSpPr>
          <p:cNvPr id="2" name="Rectangle 2" descr="Large confetti">
            <a:extLst>
              <a:ext uri="{FF2B5EF4-FFF2-40B4-BE49-F238E27FC236}">
                <a16:creationId xmlns:a16="http://schemas.microsoft.com/office/drawing/2014/main" id="{226ABC52-57EF-7C21-EE9F-33598C0B4743}"/>
              </a:ext>
            </a:extLst>
          </p:cNvPr>
          <p:cNvSpPr txBox="1">
            <a:spLocks noChangeArrowheads="1"/>
          </p:cNvSpPr>
          <p:nvPr/>
        </p:nvSpPr>
        <p:spPr bwMode="auto">
          <a:xfrm>
            <a:off x="359532" y="9128"/>
            <a:ext cx="8424936" cy="1048544"/>
          </a:xfrm>
          <a:prstGeom prst="rect">
            <a:avLst/>
          </a:prstGeom>
          <a:noFill/>
          <a:ln w="9525">
            <a:noFill/>
            <a:miter lim="800000"/>
            <a:headEnd/>
            <a:tailEnd/>
          </a:ln>
        </p:spPr>
        <p:txBody>
          <a:bodyPr vert="horz" wrap="square" lIns="90488" tIns="44450" rIns="90488" bIns="44450" numCol="1" anchor="ctr" anchorCtr="0" compatLnSpc="1">
            <a:prstTxWarp prst="textNoShape">
              <a:avLst/>
            </a:prstTxWarp>
          </a:bodyPr>
          <a:lstStyle>
            <a:lvl1pPr algn="r" rtl="0" eaLnBrk="0" fontAlgn="base" latinLnBrk="1" hangingPunct="0">
              <a:spcBef>
                <a:spcPct val="0"/>
              </a:spcBef>
              <a:spcAft>
                <a:spcPct val="0"/>
              </a:spcAft>
              <a:defRPr sz="3600">
                <a:solidFill>
                  <a:schemeClr val="tx2"/>
                </a:solidFill>
                <a:latin typeface="+mj-lt"/>
                <a:ea typeface="+mj-ea"/>
                <a:cs typeface="+mj-cs"/>
              </a:defRPr>
            </a:lvl1pPr>
            <a:lvl2pPr algn="r" rtl="0" eaLnBrk="0" fontAlgn="base" latinLnBrk="1" hangingPunct="0">
              <a:spcBef>
                <a:spcPct val="0"/>
              </a:spcBef>
              <a:spcAft>
                <a:spcPct val="0"/>
              </a:spcAft>
              <a:defRPr sz="3600">
                <a:solidFill>
                  <a:schemeClr val="tx2"/>
                </a:solidFill>
                <a:latin typeface="Arial" pitchFamily="34" charset="0"/>
              </a:defRPr>
            </a:lvl2pPr>
            <a:lvl3pPr algn="r" rtl="0" eaLnBrk="0" fontAlgn="base" latinLnBrk="1" hangingPunct="0">
              <a:spcBef>
                <a:spcPct val="0"/>
              </a:spcBef>
              <a:spcAft>
                <a:spcPct val="0"/>
              </a:spcAft>
              <a:defRPr sz="3600">
                <a:solidFill>
                  <a:schemeClr val="tx2"/>
                </a:solidFill>
                <a:latin typeface="Arial" pitchFamily="34" charset="0"/>
              </a:defRPr>
            </a:lvl3pPr>
            <a:lvl4pPr algn="r" rtl="0" eaLnBrk="0" fontAlgn="base" latinLnBrk="1" hangingPunct="0">
              <a:spcBef>
                <a:spcPct val="0"/>
              </a:spcBef>
              <a:spcAft>
                <a:spcPct val="0"/>
              </a:spcAft>
              <a:defRPr sz="3600">
                <a:solidFill>
                  <a:schemeClr val="tx2"/>
                </a:solidFill>
                <a:latin typeface="Arial" pitchFamily="34" charset="0"/>
              </a:defRPr>
            </a:lvl4pPr>
            <a:lvl5pPr algn="r" rtl="0" eaLnBrk="0" fontAlgn="base" latinLnBrk="1" hangingPunct="0">
              <a:spcBef>
                <a:spcPct val="0"/>
              </a:spcBef>
              <a:spcAft>
                <a:spcPct val="0"/>
              </a:spcAft>
              <a:defRPr sz="3600">
                <a:solidFill>
                  <a:schemeClr val="tx2"/>
                </a:solidFill>
                <a:latin typeface="Arial" pitchFamily="34" charset="0"/>
              </a:defRPr>
            </a:lvl5pPr>
            <a:lvl6pPr marL="457200" algn="r" rtl="0" eaLnBrk="0" fontAlgn="base" latinLnBrk="1" hangingPunct="0">
              <a:spcBef>
                <a:spcPct val="0"/>
              </a:spcBef>
              <a:spcAft>
                <a:spcPct val="0"/>
              </a:spcAft>
              <a:defRPr sz="3600">
                <a:solidFill>
                  <a:schemeClr val="tx2"/>
                </a:solidFill>
                <a:latin typeface="Arial" pitchFamily="34" charset="0"/>
              </a:defRPr>
            </a:lvl6pPr>
            <a:lvl7pPr marL="914400" algn="r" rtl="0" eaLnBrk="0" fontAlgn="base" latinLnBrk="1" hangingPunct="0">
              <a:spcBef>
                <a:spcPct val="0"/>
              </a:spcBef>
              <a:spcAft>
                <a:spcPct val="0"/>
              </a:spcAft>
              <a:defRPr sz="3600">
                <a:solidFill>
                  <a:schemeClr val="tx2"/>
                </a:solidFill>
                <a:latin typeface="Arial" pitchFamily="34" charset="0"/>
              </a:defRPr>
            </a:lvl7pPr>
            <a:lvl8pPr marL="1371600" algn="r" rtl="0" eaLnBrk="0" fontAlgn="base" latinLnBrk="1" hangingPunct="0">
              <a:spcBef>
                <a:spcPct val="0"/>
              </a:spcBef>
              <a:spcAft>
                <a:spcPct val="0"/>
              </a:spcAft>
              <a:defRPr sz="3600">
                <a:solidFill>
                  <a:schemeClr val="tx2"/>
                </a:solidFill>
                <a:latin typeface="Arial" pitchFamily="34" charset="0"/>
              </a:defRPr>
            </a:lvl8pPr>
            <a:lvl9pPr marL="1828800" algn="r" rtl="0" eaLnBrk="0" fontAlgn="base" latinLnBrk="1" hangingPunct="0">
              <a:spcBef>
                <a:spcPct val="0"/>
              </a:spcBef>
              <a:spcAft>
                <a:spcPct val="0"/>
              </a:spcAft>
              <a:defRPr sz="3600">
                <a:solidFill>
                  <a:schemeClr val="tx2"/>
                </a:solidFill>
                <a:latin typeface="Arial" pitchFamily="34" charset="0"/>
              </a:defRPr>
            </a:lvl9pPr>
          </a:lstStyle>
          <a:p>
            <a:pPr algn="ctr" eaLnBrk="1" hangingPunct="1"/>
            <a:r>
              <a:rPr lang="en-US" altLang="ko-KR" sz="2800" b="1" kern="0">
                <a:solidFill>
                  <a:schemeClr val="accent1"/>
                </a:solidFill>
                <a:latin typeface="Times New Roman" panose="02020603050405020304" pitchFamily="18" charset="0"/>
                <a:cs typeface="Times New Roman" panose="02020603050405020304" pitchFamily="18" charset="0"/>
              </a:rPr>
              <a:t>Heckscher-Olin Theory: </a:t>
            </a:r>
            <a:br>
              <a:rPr lang="en-US" altLang="ko-KR" sz="2800" b="1" kern="0">
                <a:solidFill>
                  <a:schemeClr val="accent1"/>
                </a:solidFill>
                <a:latin typeface="Times New Roman" panose="02020603050405020304" pitchFamily="18" charset="0"/>
                <a:cs typeface="Times New Roman" panose="02020603050405020304" pitchFamily="18" charset="0"/>
              </a:rPr>
            </a:br>
            <a:r>
              <a:rPr lang="en-US" altLang="ko-KR" sz="2800" b="1" kern="0">
                <a:solidFill>
                  <a:schemeClr val="accent1"/>
                </a:solidFill>
                <a:latin typeface="Times New Roman" panose="02020603050405020304" pitchFamily="18" charset="0"/>
                <a:cs typeface="Times New Roman" panose="02020603050405020304" pitchFamily="18" charset="0"/>
              </a:rPr>
              <a:t>Comparative advantage based on factor endowments</a:t>
            </a:r>
            <a:endParaRPr lang="en-US" altLang="ko-KR" sz="2800" b="1" kern="0" dirty="0">
              <a:solidFill>
                <a:schemeClr val="accent1"/>
              </a:solidFill>
              <a:latin typeface="Times New Roman" panose="02020603050405020304" pitchFamily="18" charset="0"/>
              <a:cs typeface="Times New Roman" panose="02020603050405020304" pitchFamily="18" charset="0"/>
            </a:endParaRP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314" name="Rectangle 2" descr="Large confetti"/>
          <p:cNvSpPr>
            <a:spLocks noGrp="1" noChangeArrowheads="1"/>
          </p:cNvSpPr>
          <p:nvPr>
            <p:ph type="title"/>
          </p:nvPr>
        </p:nvSpPr>
        <p:spPr>
          <a:xfrm>
            <a:off x="0" y="44624"/>
            <a:ext cx="9144000" cy="990600"/>
          </a:xfrm>
        </p:spPr>
        <p:txBody>
          <a:bodyPr lIns="90488" tIns="44450" rIns="90488" bIns="44450" anchor="ctr"/>
          <a:lstStyle/>
          <a:p>
            <a:pPr algn="ctr" eaLnBrk="1" hangingPunct="1">
              <a:defRPr/>
            </a:pPr>
            <a:r>
              <a:rPr kumimoji="0" lang="en-US" altLang="ko-KR" sz="3200" b="1" kern="1200" dirty="0">
                <a:solidFill>
                  <a:srgbClr val="FFCC00"/>
                </a:solidFill>
                <a:latin typeface="Times New Roman" pitchFamily="18" charset="0"/>
                <a:cs typeface="Times New Roman" pitchFamily="18" charset="0"/>
              </a:rPr>
              <a:t>Product Life Cycle Theory</a:t>
            </a:r>
          </a:p>
        </p:txBody>
      </p:sp>
      <p:sp>
        <p:nvSpPr>
          <p:cNvPr id="26627" name="Rectangle 3"/>
          <p:cNvSpPr>
            <a:spLocks noGrp="1" noChangeArrowheads="1"/>
          </p:cNvSpPr>
          <p:nvPr>
            <p:ph type="body" idx="1"/>
          </p:nvPr>
        </p:nvSpPr>
        <p:spPr>
          <a:xfrm>
            <a:off x="685800" y="1219200"/>
            <a:ext cx="8077200" cy="4191000"/>
          </a:xfrm>
          <a:noFill/>
        </p:spPr>
        <p:txBody>
          <a:bodyPr lIns="90488" tIns="44450" rIns="90488" bIns="44450"/>
          <a:lstStyle/>
          <a:p>
            <a:pPr eaLnBrk="1" hangingPunct="1">
              <a:lnSpc>
                <a:spcPts val="4500"/>
              </a:lnSpc>
              <a:buFontTx/>
              <a:buChar char="•"/>
            </a:pPr>
            <a:r>
              <a:rPr lang="en-US" altLang="ko-KR" sz="2400" b="0" dirty="0">
                <a:latin typeface="Times New Roman" pitchFamily="18" charset="0"/>
                <a:cs typeface="Times New Roman" pitchFamily="18" charset="0"/>
              </a:rPr>
              <a:t>Raymond Vernon (1966)</a:t>
            </a:r>
          </a:p>
          <a:p>
            <a:pPr eaLnBrk="1" hangingPunct="1">
              <a:lnSpc>
                <a:spcPts val="4500"/>
              </a:lnSpc>
              <a:buFontTx/>
              <a:buChar char="•"/>
            </a:pPr>
            <a:r>
              <a:rPr lang="en-US" altLang="ko-KR" sz="2400" b="0" dirty="0">
                <a:latin typeface="Times New Roman" pitchFamily="18" charset="0"/>
                <a:cs typeface="Times New Roman" pitchFamily="18" charset="0"/>
              </a:rPr>
              <a:t>As products mature, the location of optimal production and sales can change.</a:t>
            </a:r>
          </a:p>
          <a:p>
            <a:pPr eaLnBrk="1" hangingPunct="1">
              <a:lnSpc>
                <a:spcPts val="4500"/>
              </a:lnSpc>
              <a:buFontTx/>
              <a:buChar char="•"/>
            </a:pPr>
            <a:r>
              <a:rPr lang="en-US" altLang="ko-KR" sz="2400" b="0" dirty="0">
                <a:latin typeface="Times New Roman" pitchFamily="18" charset="0"/>
                <a:cs typeface="Times New Roman" pitchFamily="18" charset="0"/>
              </a:rPr>
              <a:t>This affects the direction and flow of exports and imports.</a:t>
            </a:r>
          </a:p>
          <a:p>
            <a:pPr eaLnBrk="1" hangingPunct="1">
              <a:lnSpc>
                <a:spcPts val="4500"/>
              </a:lnSpc>
              <a:buFontTx/>
              <a:buChar char="•"/>
            </a:pPr>
            <a:r>
              <a:rPr lang="en-US" altLang="ko-KR" sz="2400" b="0" dirty="0">
                <a:latin typeface="Times New Roman" pitchFamily="18" charset="0"/>
                <a:cs typeface="Times New Roman" pitchFamily="18" charset="0"/>
              </a:rPr>
              <a:t>Globalization and integration of the economy makes this theory </a:t>
            </a:r>
            <a:r>
              <a:rPr lang="en-US" altLang="ko-KR" sz="2400" b="0">
                <a:latin typeface="Times New Roman" pitchFamily="18" charset="0"/>
                <a:cs typeface="Times New Roman" pitchFamily="18" charset="0"/>
              </a:rPr>
              <a:t>less valid.</a:t>
            </a:r>
            <a:endParaRPr lang="en-US" altLang="ko-KR" sz="2400" b="0" dirty="0">
              <a:latin typeface="Times New Roman" pitchFamily="18" charset="0"/>
              <a:cs typeface="Times New Roman" pitchFamily="18" charset="0"/>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6627">
                                            <p:txEl>
                                              <p:pRg st="0" end="0"/>
                                            </p:txEl>
                                          </p:spTgt>
                                        </p:tgtEl>
                                        <p:attrNameLst>
                                          <p:attrName>style.visibility</p:attrName>
                                        </p:attrNameLst>
                                      </p:cBhvr>
                                      <p:to>
                                        <p:strVal val="visible"/>
                                      </p:to>
                                    </p:set>
                                    <p:anim calcmode="lin" valueType="num">
                                      <p:cBhvr additive="base">
                                        <p:cTn id="7" dur="500" fill="hold"/>
                                        <p:tgtEl>
                                          <p:spTgt spid="2662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662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6627">
                                            <p:txEl>
                                              <p:pRg st="1" end="1"/>
                                            </p:txEl>
                                          </p:spTgt>
                                        </p:tgtEl>
                                        <p:attrNameLst>
                                          <p:attrName>style.visibility</p:attrName>
                                        </p:attrNameLst>
                                      </p:cBhvr>
                                      <p:to>
                                        <p:strVal val="visible"/>
                                      </p:to>
                                    </p:set>
                                    <p:anim calcmode="lin" valueType="num">
                                      <p:cBhvr additive="base">
                                        <p:cTn id="13" dur="500" fill="hold"/>
                                        <p:tgtEl>
                                          <p:spTgt spid="26627">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662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6627">
                                            <p:txEl>
                                              <p:pRg st="2" end="2"/>
                                            </p:txEl>
                                          </p:spTgt>
                                        </p:tgtEl>
                                        <p:attrNameLst>
                                          <p:attrName>style.visibility</p:attrName>
                                        </p:attrNameLst>
                                      </p:cBhvr>
                                      <p:to>
                                        <p:strVal val="visible"/>
                                      </p:to>
                                    </p:set>
                                    <p:anim calcmode="lin" valueType="num">
                                      <p:cBhvr additive="base">
                                        <p:cTn id="19" dur="500" fill="hold"/>
                                        <p:tgtEl>
                                          <p:spTgt spid="26627">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662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6627">
                                            <p:txEl>
                                              <p:pRg st="3" end="3"/>
                                            </p:txEl>
                                          </p:spTgt>
                                        </p:tgtEl>
                                        <p:attrNameLst>
                                          <p:attrName>style.visibility</p:attrName>
                                        </p:attrNameLst>
                                      </p:cBhvr>
                                      <p:to>
                                        <p:strVal val="visible"/>
                                      </p:to>
                                    </p:set>
                                    <p:anim calcmode="lin" valueType="num">
                                      <p:cBhvr additive="base">
                                        <p:cTn id="25" dur="500" fill="hold"/>
                                        <p:tgtEl>
                                          <p:spTgt spid="26627">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6627">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7" grpId="0" build="p"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Line 3"/>
          <p:cNvSpPr>
            <a:spLocks noChangeShapeType="1"/>
          </p:cNvSpPr>
          <p:nvPr/>
        </p:nvSpPr>
        <p:spPr bwMode="auto">
          <a:xfrm>
            <a:off x="940541" y="1373737"/>
            <a:ext cx="0" cy="4259349"/>
          </a:xfrm>
          <a:prstGeom prst="line">
            <a:avLst/>
          </a:prstGeom>
          <a:noFill/>
          <a:ln w="25400">
            <a:solidFill>
              <a:srgbClr val="66FFFF"/>
            </a:solidFill>
            <a:round/>
            <a:headEnd/>
            <a:tailEnd/>
          </a:ln>
        </p:spPr>
        <p:txBody>
          <a:bodyPr wrap="none" anchor="ctr"/>
          <a:lstStyle/>
          <a:p>
            <a:endParaRPr lang="ko-KR" altLang="en-US"/>
          </a:p>
        </p:txBody>
      </p:sp>
      <p:sp>
        <p:nvSpPr>
          <p:cNvPr id="5" name="Line 4"/>
          <p:cNvSpPr>
            <a:spLocks noChangeShapeType="1"/>
          </p:cNvSpPr>
          <p:nvPr/>
        </p:nvSpPr>
        <p:spPr bwMode="auto">
          <a:xfrm>
            <a:off x="953890" y="5633086"/>
            <a:ext cx="6916402" cy="0"/>
          </a:xfrm>
          <a:prstGeom prst="line">
            <a:avLst/>
          </a:prstGeom>
          <a:noFill/>
          <a:ln w="25400">
            <a:solidFill>
              <a:srgbClr val="66FFFF"/>
            </a:solidFill>
            <a:round/>
            <a:headEnd/>
            <a:tailEnd/>
          </a:ln>
        </p:spPr>
        <p:txBody>
          <a:bodyPr wrap="none" anchor="ctr"/>
          <a:lstStyle/>
          <a:p>
            <a:endParaRPr lang="ko-KR" altLang="en-US"/>
          </a:p>
        </p:txBody>
      </p:sp>
      <p:sp>
        <p:nvSpPr>
          <p:cNvPr id="6" name="Line 5"/>
          <p:cNvSpPr>
            <a:spLocks noChangeShapeType="1"/>
          </p:cNvSpPr>
          <p:nvPr/>
        </p:nvSpPr>
        <p:spPr bwMode="auto">
          <a:xfrm>
            <a:off x="940541" y="4301368"/>
            <a:ext cx="6941431" cy="0"/>
          </a:xfrm>
          <a:prstGeom prst="line">
            <a:avLst/>
          </a:prstGeom>
          <a:noFill/>
          <a:ln w="25400">
            <a:solidFill>
              <a:srgbClr val="66FFFF"/>
            </a:solidFill>
            <a:round/>
            <a:headEnd/>
            <a:tailEnd/>
          </a:ln>
        </p:spPr>
        <p:txBody>
          <a:bodyPr wrap="none" anchor="ctr"/>
          <a:lstStyle/>
          <a:p>
            <a:endParaRPr lang="ko-KR" altLang="en-US"/>
          </a:p>
        </p:txBody>
      </p:sp>
      <p:sp>
        <p:nvSpPr>
          <p:cNvPr id="7" name="Line 6"/>
          <p:cNvSpPr>
            <a:spLocks noChangeShapeType="1"/>
          </p:cNvSpPr>
          <p:nvPr/>
        </p:nvSpPr>
        <p:spPr bwMode="auto">
          <a:xfrm>
            <a:off x="953890" y="2837552"/>
            <a:ext cx="6941431" cy="0"/>
          </a:xfrm>
          <a:prstGeom prst="line">
            <a:avLst/>
          </a:prstGeom>
          <a:noFill/>
          <a:ln w="25400">
            <a:solidFill>
              <a:srgbClr val="66FFFF"/>
            </a:solidFill>
            <a:round/>
            <a:headEnd/>
            <a:tailEnd/>
          </a:ln>
        </p:spPr>
        <p:txBody>
          <a:bodyPr wrap="none" anchor="ctr"/>
          <a:lstStyle/>
          <a:p>
            <a:endParaRPr lang="ko-KR" altLang="en-US"/>
          </a:p>
        </p:txBody>
      </p:sp>
      <p:sp>
        <p:nvSpPr>
          <p:cNvPr id="8" name="Line 7"/>
          <p:cNvSpPr>
            <a:spLocks noChangeShapeType="1"/>
          </p:cNvSpPr>
          <p:nvPr/>
        </p:nvSpPr>
        <p:spPr bwMode="auto">
          <a:xfrm>
            <a:off x="1190833" y="2734640"/>
            <a:ext cx="0" cy="59904"/>
          </a:xfrm>
          <a:prstGeom prst="line">
            <a:avLst/>
          </a:prstGeom>
          <a:noFill/>
          <a:ln w="12700">
            <a:solidFill>
              <a:srgbClr val="66FFFF"/>
            </a:solidFill>
            <a:round/>
            <a:headEnd/>
            <a:tailEnd/>
          </a:ln>
        </p:spPr>
        <p:txBody>
          <a:bodyPr wrap="none" anchor="ctr"/>
          <a:lstStyle/>
          <a:p>
            <a:endParaRPr lang="ko-KR" altLang="en-US"/>
          </a:p>
        </p:txBody>
      </p:sp>
      <p:sp>
        <p:nvSpPr>
          <p:cNvPr id="9" name="Line 8"/>
          <p:cNvSpPr>
            <a:spLocks noChangeShapeType="1"/>
          </p:cNvSpPr>
          <p:nvPr/>
        </p:nvSpPr>
        <p:spPr bwMode="auto">
          <a:xfrm flipH="1">
            <a:off x="1554591" y="2734640"/>
            <a:ext cx="30035" cy="109056"/>
          </a:xfrm>
          <a:prstGeom prst="line">
            <a:avLst/>
          </a:prstGeom>
          <a:noFill/>
          <a:ln w="12700">
            <a:solidFill>
              <a:srgbClr val="66FFFF"/>
            </a:solidFill>
            <a:round/>
            <a:headEnd/>
            <a:tailEnd/>
          </a:ln>
        </p:spPr>
        <p:txBody>
          <a:bodyPr wrap="none" anchor="ctr"/>
          <a:lstStyle/>
          <a:p>
            <a:endParaRPr lang="ko-KR" altLang="en-US"/>
          </a:p>
        </p:txBody>
      </p:sp>
      <p:sp>
        <p:nvSpPr>
          <p:cNvPr id="10" name="Line 9"/>
          <p:cNvSpPr>
            <a:spLocks noChangeShapeType="1"/>
          </p:cNvSpPr>
          <p:nvPr/>
        </p:nvSpPr>
        <p:spPr bwMode="auto">
          <a:xfrm>
            <a:off x="3556927" y="2734640"/>
            <a:ext cx="0" cy="59904"/>
          </a:xfrm>
          <a:prstGeom prst="line">
            <a:avLst/>
          </a:prstGeom>
          <a:noFill/>
          <a:ln w="12700">
            <a:solidFill>
              <a:srgbClr val="66FFFF"/>
            </a:solidFill>
            <a:round/>
            <a:headEnd/>
            <a:tailEnd/>
          </a:ln>
        </p:spPr>
        <p:txBody>
          <a:bodyPr wrap="none" anchor="ctr"/>
          <a:lstStyle/>
          <a:p>
            <a:endParaRPr lang="ko-KR" altLang="en-US"/>
          </a:p>
        </p:txBody>
      </p:sp>
      <p:sp>
        <p:nvSpPr>
          <p:cNvPr id="11" name="Line 10"/>
          <p:cNvSpPr>
            <a:spLocks noChangeShapeType="1"/>
          </p:cNvSpPr>
          <p:nvPr/>
        </p:nvSpPr>
        <p:spPr bwMode="auto">
          <a:xfrm>
            <a:off x="2767673" y="2734640"/>
            <a:ext cx="0" cy="59904"/>
          </a:xfrm>
          <a:prstGeom prst="line">
            <a:avLst/>
          </a:prstGeom>
          <a:noFill/>
          <a:ln w="12700">
            <a:solidFill>
              <a:srgbClr val="66FFFF"/>
            </a:solidFill>
            <a:round/>
            <a:headEnd/>
            <a:tailEnd/>
          </a:ln>
        </p:spPr>
        <p:txBody>
          <a:bodyPr wrap="none" anchor="ctr"/>
          <a:lstStyle/>
          <a:p>
            <a:endParaRPr lang="ko-KR" altLang="en-US"/>
          </a:p>
        </p:txBody>
      </p:sp>
      <p:sp>
        <p:nvSpPr>
          <p:cNvPr id="12" name="Line 11"/>
          <p:cNvSpPr>
            <a:spLocks noChangeShapeType="1"/>
          </p:cNvSpPr>
          <p:nvPr/>
        </p:nvSpPr>
        <p:spPr bwMode="auto">
          <a:xfrm>
            <a:off x="1980088" y="2734640"/>
            <a:ext cx="0" cy="59904"/>
          </a:xfrm>
          <a:prstGeom prst="line">
            <a:avLst/>
          </a:prstGeom>
          <a:noFill/>
          <a:ln w="12700">
            <a:solidFill>
              <a:srgbClr val="66FFFF"/>
            </a:solidFill>
            <a:round/>
            <a:headEnd/>
            <a:tailEnd/>
          </a:ln>
        </p:spPr>
        <p:txBody>
          <a:bodyPr wrap="none" anchor="ctr"/>
          <a:lstStyle/>
          <a:p>
            <a:endParaRPr lang="ko-KR" altLang="en-US"/>
          </a:p>
        </p:txBody>
      </p:sp>
      <p:sp>
        <p:nvSpPr>
          <p:cNvPr id="13" name="Line 12"/>
          <p:cNvSpPr>
            <a:spLocks noChangeShapeType="1"/>
          </p:cNvSpPr>
          <p:nvPr/>
        </p:nvSpPr>
        <p:spPr bwMode="auto">
          <a:xfrm>
            <a:off x="2373880" y="2734640"/>
            <a:ext cx="0" cy="59904"/>
          </a:xfrm>
          <a:prstGeom prst="line">
            <a:avLst/>
          </a:prstGeom>
          <a:noFill/>
          <a:ln w="12700">
            <a:solidFill>
              <a:srgbClr val="66FFFF"/>
            </a:solidFill>
            <a:round/>
            <a:headEnd/>
            <a:tailEnd/>
          </a:ln>
        </p:spPr>
        <p:txBody>
          <a:bodyPr wrap="none" anchor="ctr"/>
          <a:lstStyle/>
          <a:p>
            <a:endParaRPr lang="ko-KR" altLang="en-US"/>
          </a:p>
        </p:txBody>
      </p:sp>
      <p:sp>
        <p:nvSpPr>
          <p:cNvPr id="14" name="Line 13"/>
          <p:cNvSpPr>
            <a:spLocks noChangeShapeType="1"/>
          </p:cNvSpPr>
          <p:nvPr/>
        </p:nvSpPr>
        <p:spPr bwMode="auto">
          <a:xfrm>
            <a:off x="3163134" y="2734640"/>
            <a:ext cx="0" cy="59904"/>
          </a:xfrm>
          <a:prstGeom prst="line">
            <a:avLst/>
          </a:prstGeom>
          <a:noFill/>
          <a:ln w="12700">
            <a:solidFill>
              <a:srgbClr val="66FFFF"/>
            </a:solidFill>
            <a:round/>
            <a:headEnd/>
            <a:tailEnd/>
          </a:ln>
        </p:spPr>
        <p:txBody>
          <a:bodyPr wrap="none" anchor="ctr"/>
          <a:lstStyle/>
          <a:p>
            <a:endParaRPr lang="ko-KR" altLang="en-US"/>
          </a:p>
        </p:txBody>
      </p:sp>
      <p:sp>
        <p:nvSpPr>
          <p:cNvPr id="15" name="Line 14"/>
          <p:cNvSpPr>
            <a:spLocks noChangeShapeType="1"/>
          </p:cNvSpPr>
          <p:nvPr/>
        </p:nvSpPr>
        <p:spPr bwMode="auto">
          <a:xfrm>
            <a:off x="3950719" y="2734640"/>
            <a:ext cx="0" cy="59904"/>
          </a:xfrm>
          <a:prstGeom prst="line">
            <a:avLst/>
          </a:prstGeom>
          <a:noFill/>
          <a:ln w="12700">
            <a:solidFill>
              <a:srgbClr val="66FFFF"/>
            </a:solidFill>
            <a:round/>
            <a:headEnd/>
            <a:tailEnd/>
          </a:ln>
        </p:spPr>
        <p:txBody>
          <a:bodyPr wrap="none" anchor="ctr"/>
          <a:lstStyle/>
          <a:p>
            <a:endParaRPr lang="ko-KR" altLang="en-US"/>
          </a:p>
        </p:txBody>
      </p:sp>
      <p:sp>
        <p:nvSpPr>
          <p:cNvPr id="16" name="Line 15"/>
          <p:cNvSpPr>
            <a:spLocks noChangeShapeType="1"/>
          </p:cNvSpPr>
          <p:nvPr/>
        </p:nvSpPr>
        <p:spPr bwMode="auto">
          <a:xfrm>
            <a:off x="4346181" y="2734640"/>
            <a:ext cx="0" cy="59904"/>
          </a:xfrm>
          <a:prstGeom prst="line">
            <a:avLst/>
          </a:prstGeom>
          <a:noFill/>
          <a:ln w="12700">
            <a:solidFill>
              <a:srgbClr val="66FFFF"/>
            </a:solidFill>
            <a:round/>
            <a:headEnd/>
            <a:tailEnd/>
          </a:ln>
        </p:spPr>
        <p:txBody>
          <a:bodyPr wrap="none" anchor="ctr"/>
          <a:lstStyle/>
          <a:p>
            <a:endParaRPr lang="ko-KR" altLang="en-US"/>
          </a:p>
        </p:txBody>
      </p:sp>
      <p:sp>
        <p:nvSpPr>
          <p:cNvPr id="17" name="Line 16"/>
          <p:cNvSpPr>
            <a:spLocks noChangeShapeType="1"/>
          </p:cNvSpPr>
          <p:nvPr/>
        </p:nvSpPr>
        <p:spPr bwMode="auto">
          <a:xfrm>
            <a:off x="4739974" y="2734640"/>
            <a:ext cx="0" cy="59904"/>
          </a:xfrm>
          <a:prstGeom prst="line">
            <a:avLst/>
          </a:prstGeom>
          <a:noFill/>
          <a:ln w="12700">
            <a:solidFill>
              <a:srgbClr val="66FFFF"/>
            </a:solidFill>
            <a:round/>
            <a:headEnd/>
            <a:tailEnd/>
          </a:ln>
        </p:spPr>
        <p:txBody>
          <a:bodyPr wrap="none" anchor="ctr"/>
          <a:lstStyle/>
          <a:p>
            <a:endParaRPr lang="ko-KR" altLang="en-US"/>
          </a:p>
        </p:txBody>
      </p:sp>
      <p:sp>
        <p:nvSpPr>
          <p:cNvPr id="18" name="Line 17"/>
          <p:cNvSpPr>
            <a:spLocks noChangeShapeType="1"/>
          </p:cNvSpPr>
          <p:nvPr/>
        </p:nvSpPr>
        <p:spPr bwMode="auto">
          <a:xfrm>
            <a:off x="5135435" y="2734640"/>
            <a:ext cx="0" cy="59904"/>
          </a:xfrm>
          <a:prstGeom prst="line">
            <a:avLst/>
          </a:prstGeom>
          <a:noFill/>
          <a:ln w="12700">
            <a:solidFill>
              <a:srgbClr val="66FFFF"/>
            </a:solidFill>
            <a:round/>
            <a:headEnd/>
            <a:tailEnd/>
          </a:ln>
        </p:spPr>
        <p:txBody>
          <a:bodyPr wrap="none" anchor="ctr"/>
          <a:lstStyle/>
          <a:p>
            <a:endParaRPr lang="ko-KR" altLang="en-US"/>
          </a:p>
        </p:txBody>
      </p:sp>
      <p:sp>
        <p:nvSpPr>
          <p:cNvPr id="19" name="Line 18"/>
          <p:cNvSpPr>
            <a:spLocks noChangeShapeType="1"/>
          </p:cNvSpPr>
          <p:nvPr/>
        </p:nvSpPr>
        <p:spPr bwMode="auto">
          <a:xfrm>
            <a:off x="5529228" y="2734640"/>
            <a:ext cx="0" cy="59904"/>
          </a:xfrm>
          <a:prstGeom prst="line">
            <a:avLst/>
          </a:prstGeom>
          <a:noFill/>
          <a:ln w="12700">
            <a:solidFill>
              <a:srgbClr val="66FFFF"/>
            </a:solidFill>
            <a:round/>
            <a:headEnd/>
            <a:tailEnd/>
          </a:ln>
        </p:spPr>
        <p:txBody>
          <a:bodyPr wrap="none" anchor="ctr"/>
          <a:lstStyle/>
          <a:p>
            <a:endParaRPr lang="ko-KR" altLang="en-US"/>
          </a:p>
        </p:txBody>
      </p:sp>
      <p:sp>
        <p:nvSpPr>
          <p:cNvPr id="20" name="Line 19"/>
          <p:cNvSpPr>
            <a:spLocks noChangeShapeType="1"/>
          </p:cNvSpPr>
          <p:nvPr/>
        </p:nvSpPr>
        <p:spPr bwMode="auto">
          <a:xfrm>
            <a:off x="6712275" y="2734640"/>
            <a:ext cx="0" cy="59904"/>
          </a:xfrm>
          <a:prstGeom prst="line">
            <a:avLst/>
          </a:prstGeom>
          <a:noFill/>
          <a:ln w="12700">
            <a:solidFill>
              <a:srgbClr val="66FFFF"/>
            </a:solidFill>
            <a:round/>
            <a:headEnd/>
            <a:tailEnd/>
          </a:ln>
        </p:spPr>
        <p:txBody>
          <a:bodyPr wrap="none" anchor="ctr"/>
          <a:lstStyle/>
          <a:p>
            <a:endParaRPr lang="ko-KR" altLang="en-US"/>
          </a:p>
        </p:txBody>
      </p:sp>
      <p:sp>
        <p:nvSpPr>
          <p:cNvPr id="21" name="Line 20"/>
          <p:cNvSpPr>
            <a:spLocks noChangeShapeType="1"/>
          </p:cNvSpPr>
          <p:nvPr/>
        </p:nvSpPr>
        <p:spPr bwMode="auto">
          <a:xfrm>
            <a:off x="5923020" y="2734640"/>
            <a:ext cx="0" cy="59904"/>
          </a:xfrm>
          <a:prstGeom prst="line">
            <a:avLst/>
          </a:prstGeom>
          <a:noFill/>
          <a:ln w="12700">
            <a:solidFill>
              <a:srgbClr val="66FFFF"/>
            </a:solidFill>
            <a:round/>
            <a:headEnd/>
            <a:tailEnd/>
          </a:ln>
        </p:spPr>
        <p:txBody>
          <a:bodyPr wrap="none" anchor="ctr"/>
          <a:lstStyle/>
          <a:p>
            <a:endParaRPr lang="ko-KR" altLang="en-US"/>
          </a:p>
        </p:txBody>
      </p:sp>
      <p:sp>
        <p:nvSpPr>
          <p:cNvPr id="22" name="Line 21"/>
          <p:cNvSpPr>
            <a:spLocks noChangeShapeType="1"/>
          </p:cNvSpPr>
          <p:nvPr/>
        </p:nvSpPr>
        <p:spPr bwMode="auto">
          <a:xfrm>
            <a:off x="6318482" y="2734640"/>
            <a:ext cx="0" cy="59904"/>
          </a:xfrm>
          <a:prstGeom prst="line">
            <a:avLst/>
          </a:prstGeom>
          <a:noFill/>
          <a:ln w="12700">
            <a:solidFill>
              <a:srgbClr val="66FFFF"/>
            </a:solidFill>
            <a:round/>
            <a:headEnd/>
            <a:tailEnd/>
          </a:ln>
        </p:spPr>
        <p:txBody>
          <a:bodyPr wrap="none" anchor="ctr"/>
          <a:lstStyle/>
          <a:p>
            <a:endParaRPr lang="ko-KR" altLang="en-US"/>
          </a:p>
        </p:txBody>
      </p:sp>
      <p:sp>
        <p:nvSpPr>
          <p:cNvPr id="23" name="Line 22"/>
          <p:cNvSpPr>
            <a:spLocks noChangeShapeType="1"/>
          </p:cNvSpPr>
          <p:nvPr/>
        </p:nvSpPr>
        <p:spPr bwMode="auto">
          <a:xfrm>
            <a:off x="1190833" y="4175415"/>
            <a:ext cx="0" cy="59904"/>
          </a:xfrm>
          <a:prstGeom prst="line">
            <a:avLst/>
          </a:prstGeom>
          <a:noFill/>
          <a:ln w="12700">
            <a:solidFill>
              <a:schemeClr val="tx1"/>
            </a:solidFill>
            <a:round/>
            <a:headEnd/>
            <a:tailEnd/>
          </a:ln>
        </p:spPr>
        <p:txBody>
          <a:bodyPr wrap="none" anchor="ctr"/>
          <a:lstStyle/>
          <a:p>
            <a:endParaRPr lang="ko-KR" altLang="en-US"/>
          </a:p>
        </p:txBody>
      </p:sp>
      <p:sp>
        <p:nvSpPr>
          <p:cNvPr id="24" name="Line 23"/>
          <p:cNvSpPr>
            <a:spLocks noChangeShapeType="1"/>
          </p:cNvSpPr>
          <p:nvPr/>
        </p:nvSpPr>
        <p:spPr bwMode="auto">
          <a:xfrm>
            <a:off x="1584626" y="4175415"/>
            <a:ext cx="0" cy="59904"/>
          </a:xfrm>
          <a:prstGeom prst="line">
            <a:avLst/>
          </a:prstGeom>
          <a:noFill/>
          <a:ln w="12700">
            <a:solidFill>
              <a:srgbClr val="99CCFF"/>
            </a:solidFill>
            <a:round/>
            <a:headEnd/>
            <a:tailEnd/>
          </a:ln>
        </p:spPr>
        <p:txBody>
          <a:bodyPr wrap="none" anchor="ctr"/>
          <a:lstStyle/>
          <a:p>
            <a:endParaRPr lang="ko-KR" altLang="en-US"/>
          </a:p>
        </p:txBody>
      </p:sp>
      <p:sp>
        <p:nvSpPr>
          <p:cNvPr id="25" name="Line 24"/>
          <p:cNvSpPr>
            <a:spLocks noChangeShapeType="1"/>
          </p:cNvSpPr>
          <p:nvPr/>
        </p:nvSpPr>
        <p:spPr bwMode="auto">
          <a:xfrm>
            <a:off x="3556927" y="4175415"/>
            <a:ext cx="0" cy="59904"/>
          </a:xfrm>
          <a:prstGeom prst="line">
            <a:avLst/>
          </a:prstGeom>
          <a:noFill/>
          <a:ln w="12700">
            <a:solidFill>
              <a:schemeClr val="tx1"/>
            </a:solidFill>
            <a:round/>
            <a:headEnd/>
            <a:tailEnd/>
          </a:ln>
        </p:spPr>
        <p:txBody>
          <a:bodyPr wrap="none" anchor="ctr"/>
          <a:lstStyle/>
          <a:p>
            <a:endParaRPr lang="ko-KR" altLang="en-US"/>
          </a:p>
        </p:txBody>
      </p:sp>
      <p:sp>
        <p:nvSpPr>
          <p:cNvPr id="26" name="Line 25"/>
          <p:cNvSpPr>
            <a:spLocks noChangeShapeType="1"/>
          </p:cNvSpPr>
          <p:nvPr/>
        </p:nvSpPr>
        <p:spPr bwMode="auto">
          <a:xfrm>
            <a:off x="2767673" y="4175415"/>
            <a:ext cx="0" cy="59904"/>
          </a:xfrm>
          <a:prstGeom prst="line">
            <a:avLst/>
          </a:prstGeom>
          <a:noFill/>
          <a:ln w="12700">
            <a:solidFill>
              <a:srgbClr val="99CCFF"/>
            </a:solidFill>
            <a:round/>
            <a:headEnd/>
            <a:tailEnd/>
          </a:ln>
        </p:spPr>
        <p:txBody>
          <a:bodyPr wrap="none" anchor="ctr"/>
          <a:lstStyle/>
          <a:p>
            <a:endParaRPr lang="ko-KR" altLang="en-US"/>
          </a:p>
        </p:txBody>
      </p:sp>
      <p:sp>
        <p:nvSpPr>
          <p:cNvPr id="27" name="Line 26"/>
          <p:cNvSpPr>
            <a:spLocks noChangeShapeType="1"/>
          </p:cNvSpPr>
          <p:nvPr/>
        </p:nvSpPr>
        <p:spPr bwMode="auto">
          <a:xfrm>
            <a:off x="1980088" y="4175415"/>
            <a:ext cx="0" cy="59904"/>
          </a:xfrm>
          <a:prstGeom prst="line">
            <a:avLst/>
          </a:prstGeom>
          <a:noFill/>
          <a:ln w="12700">
            <a:solidFill>
              <a:srgbClr val="99CCFF"/>
            </a:solidFill>
            <a:round/>
            <a:headEnd/>
            <a:tailEnd/>
          </a:ln>
        </p:spPr>
        <p:txBody>
          <a:bodyPr wrap="none" anchor="ctr"/>
          <a:lstStyle/>
          <a:p>
            <a:endParaRPr lang="ko-KR" altLang="en-US"/>
          </a:p>
        </p:txBody>
      </p:sp>
      <p:sp>
        <p:nvSpPr>
          <p:cNvPr id="28" name="Line 27"/>
          <p:cNvSpPr>
            <a:spLocks noChangeShapeType="1"/>
          </p:cNvSpPr>
          <p:nvPr/>
        </p:nvSpPr>
        <p:spPr bwMode="auto">
          <a:xfrm>
            <a:off x="2373880" y="4175415"/>
            <a:ext cx="0" cy="59904"/>
          </a:xfrm>
          <a:prstGeom prst="line">
            <a:avLst/>
          </a:prstGeom>
          <a:noFill/>
          <a:ln w="12700">
            <a:solidFill>
              <a:srgbClr val="99CCFF"/>
            </a:solidFill>
            <a:round/>
            <a:headEnd/>
            <a:tailEnd/>
          </a:ln>
        </p:spPr>
        <p:txBody>
          <a:bodyPr wrap="none" anchor="ctr"/>
          <a:lstStyle/>
          <a:p>
            <a:endParaRPr lang="ko-KR" altLang="en-US"/>
          </a:p>
        </p:txBody>
      </p:sp>
      <p:sp>
        <p:nvSpPr>
          <p:cNvPr id="29" name="Line 28"/>
          <p:cNvSpPr>
            <a:spLocks noChangeShapeType="1"/>
          </p:cNvSpPr>
          <p:nvPr/>
        </p:nvSpPr>
        <p:spPr bwMode="auto">
          <a:xfrm>
            <a:off x="3163134" y="4175415"/>
            <a:ext cx="0" cy="59904"/>
          </a:xfrm>
          <a:prstGeom prst="line">
            <a:avLst/>
          </a:prstGeom>
          <a:noFill/>
          <a:ln w="12700">
            <a:solidFill>
              <a:schemeClr val="tx1"/>
            </a:solidFill>
            <a:round/>
            <a:headEnd/>
            <a:tailEnd/>
          </a:ln>
        </p:spPr>
        <p:txBody>
          <a:bodyPr wrap="none" anchor="ctr"/>
          <a:lstStyle/>
          <a:p>
            <a:endParaRPr lang="ko-KR" altLang="en-US"/>
          </a:p>
        </p:txBody>
      </p:sp>
      <p:sp>
        <p:nvSpPr>
          <p:cNvPr id="30" name="Line 29"/>
          <p:cNvSpPr>
            <a:spLocks noChangeShapeType="1"/>
          </p:cNvSpPr>
          <p:nvPr/>
        </p:nvSpPr>
        <p:spPr bwMode="auto">
          <a:xfrm>
            <a:off x="3950719" y="4175415"/>
            <a:ext cx="0" cy="59904"/>
          </a:xfrm>
          <a:prstGeom prst="line">
            <a:avLst/>
          </a:prstGeom>
          <a:noFill/>
          <a:ln w="12700">
            <a:solidFill>
              <a:srgbClr val="99CCFF"/>
            </a:solidFill>
            <a:round/>
            <a:headEnd/>
            <a:tailEnd/>
          </a:ln>
        </p:spPr>
        <p:txBody>
          <a:bodyPr wrap="none" anchor="ctr"/>
          <a:lstStyle/>
          <a:p>
            <a:endParaRPr lang="ko-KR" altLang="en-US"/>
          </a:p>
        </p:txBody>
      </p:sp>
      <p:sp>
        <p:nvSpPr>
          <p:cNvPr id="31" name="Line 30"/>
          <p:cNvSpPr>
            <a:spLocks noChangeShapeType="1"/>
          </p:cNvSpPr>
          <p:nvPr/>
        </p:nvSpPr>
        <p:spPr bwMode="auto">
          <a:xfrm>
            <a:off x="4346181" y="4175415"/>
            <a:ext cx="0" cy="59904"/>
          </a:xfrm>
          <a:prstGeom prst="line">
            <a:avLst/>
          </a:prstGeom>
          <a:noFill/>
          <a:ln w="12700">
            <a:solidFill>
              <a:srgbClr val="99CCFF"/>
            </a:solidFill>
            <a:round/>
            <a:headEnd/>
            <a:tailEnd/>
          </a:ln>
        </p:spPr>
        <p:txBody>
          <a:bodyPr wrap="none" anchor="ctr"/>
          <a:lstStyle/>
          <a:p>
            <a:endParaRPr lang="ko-KR" altLang="en-US"/>
          </a:p>
        </p:txBody>
      </p:sp>
      <p:sp>
        <p:nvSpPr>
          <p:cNvPr id="32" name="Line 31"/>
          <p:cNvSpPr>
            <a:spLocks noChangeShapeType="1"/>
          </p:cNvSpPr>
          <p:nvPr/>
        </p:nvSpPr>
        <p:spPr bwMode="auto">
          <a:xfrm>
            <a:off x="4758328" y="4170807"/>
            <a:ext cx="0" cy="59905"/>
          </a:xfrm>
          <a:prstGeom prst="line">
            <a:avLst/>
          </a:prstGeom>
          <a:noFill/>
          <a:ln w="12700">
            <a:solidFill>
              <a:srgbClr val="99CCFF"/>
            </a:solidFill>
            <a:round/>
            <a:headEnd/>
            <a:tailEnd/>
          </a:ln>
        </p:spPr>
        <p:txBody>
          <a:bodyPr wrap="none" anchor="ctr"/>
          <a:lstStyle/>
          <a:p>
            <a:endParaRPr lang="ko-KR" altLang="en-US"/>
          </a:p>
        </p:txBody>
      </p:sp>
      <p:sp>
        <p:nvSpPr>
          <p:cNvPr id="33" name="Line 32"/>
          <p:cNvSpPr>
            <a:spLocks noChangeShapeType="1"/>
          </p:cNvSpPr>
          <p:nvPr/>
        </p:nvSpPr>
        <p:spPr bwMode="auto">
          <a:xfrm>
            <a:off x="5153790" y="4175415"/>
            <a:ext cx="0" cy="59904"/>
          </a:xfrm>
          <a:prstGeom prst="line">
            <a:avLst/>
          </a:prstGeom>
          <a:noFill/>
          <a:ln w="12700">
            <a:solidFill>
              <a:srgbClr val="99CCFF"/>
            </a:solidFill>
            <a:round/>
            <a:headEnd/>
            <a:tailEnd/>
          </a:ln>
        </p:spPr>
        <p:txBody>
          <a:bodyPr wrap="none" anchor="ctr"/>
          <a:lstStyle/>
          <a:p>
            <a:endParaRPr lang="ko-KR" altLang="en-US"/>
          </a:p>
        </p:txBody>
      </p:sp>
      <p:sp>
        <p:nvSpPr>
          <p:cNvPr id="34" name="Line 33"/>
          <p:cNvSpPr>
            <a:spLocks noChangeShapeType="1"/>
          </p:cNvSpPr>
          <p:nvPr/>
        </p:nvSpPr>
        <p:spPr bwMode="auto">
          <a:xfrm>
            <a:off x="5547583" y="4175415"/>
            <a:ext cx="0" cy="59904"/>
          </a:xfrm>
          <a:prstGeom prst="line">
            <a:avLst/>
          </a:prstGeom>
          <a:noFill/>
          <a:ln w="12700">
            <a:solidFill>
              <a:srgbClr val="99CCFF"/>
            </a:solidFill>
            <a:round/>
            <a:headEnd/>
            <a:tailEnd/>
          </a:ln>
        </p:spPr>
        <p:txBody>
          <a:bodyPr wrap="none" anchor="ctr"/>
          <a:lstStyle/>
          <a:p>
            <a:endParaRPr lang="ko-KR" altLang="en-US"/>
          </a:p>
        </p:txBody>
      </p:sp>
      <p:sp>
        <p:nvSpPr>
          <p:cNvPr id="35" name="Line 34"/>
          <p:cNvSpPr>
            <a:spLocks noChangeShapeType="1"/>
          </p:cNvSpPr>
          <p:nvPr/>
        </p:nvSpPr>
        <p:spPr bwMode="auto">
          <a:xfrm>
            <a:off x="6730629" y="4175415"/>
            <a:ext cx="0" cy="59904"/>
          </a:xfrm>
          <a:prstGeom prst="line">
            <a:avLst/>
          </a:prstGeom>
          <a:noFill/>
          <a:ln w="12700">
            <a:solidFill>
              <a:srgbClr val="99CCFF"/>
            </a:solidFill>
            <a:round/>
            <a:headEnd/>
            <a:tailEnd/>
          </a:ln>
        </p:spPr>
        <p:txBody>
          <a:bodyPr wrap="none" anchor="ctr"/>
          <a:lstStyle/>
          <a:p>
            <a:endParaRPr lang="ko-KR" altLang="en-US"/>
          </a:p>
        </p:txBody>
      </p:sp>
      <p:sp>
        <p:nvSpPr>
          <p:cNvPr id="36" name="Line 35"/>
          <p:cNvSpPr>
            <a:spLocks noChangeShapeType="1"/>
          </p:cNvSpPr>
          <p:nvPr/>
        </p:nvSpPr>
        <p:spPr bwMode="auto">
          <a:xfrm>
            <a:off x="5941376" y="4175415"/>
            <a:ext cx="0" cy="59904"/>
          </a:xfrm>
          <a:prstGeom prst="line">
            <a:avLst/>
          </a:prstGeom>
          <a:noFill/>
          <a:ln w="12700">
            <a:solidFill>
              <a:srgbClr val="99CCFF"/>
            </a:solidFill>
            <a:round/>
            <a:headEnd/>
            <a:tailEnd/>
          </a:ln>
        </p:spPr>
        <p:txBody>
          <a:bodyPr wrap="none" anchor="ctr"/>
          <a:lstStyle/>
          <a:p>
            <a:endParaRPr lang="ko-KR" altLang="en-US"/>
          </a:p>
        </p:txBody>
      </p:sp>
      <p:sp>
        <p:nvSpPr>
          <p:cNvPr id="37" name="Line 36"/>
          <p:cNvSpPr>
            <a:spLocks noChangeShapeType="1"/>
          </p:cNvSpPr>
          <p:nvPr/>
        </p:nvSpPr>
        <p:spPr bwMode="auto">
          <a:xfrm>
            <a:off x="6318482" y="4175415"/>
            <a:ext cx="0" cy="59904"/>
          </a:xfrm>
          <a:prstGeom prst="line">
            <a:avLst/>
          </a:prstGeom>
          <a:noFill/>
          <a:ln w="12700">
            <a:solidFill>
              <a:srgbClr val="99CCFF"/>
            </a:solidFill>
            <a:round/>
            <a:headEnd/>
            <a:tailEnd/>
          </a:ln>
        </p:spPr>
        <p:txBody>
          <a:bodyPr wrap="none" anchor="ctr"/>
          <a:lstStyle/>
          <a:p>
            <a:endParaRPr lang="ko-KR" altLang="en-US"/>
          </a:p>
        </p:txBody>
      </p:sp>
      <p:sp>
        <p:nvSpPr>
          <p:cNvPr id="38" name="Line 37"/>
          <p:cNvSpPr>
            <a:spLocks noChangeShapeType="1"/>
          </p:cNvSpPr>
          <p:nvPr/>
        </p:nvSpPr>
        <p:spPr bwMode="auto">
          <a:xfrm>
            <a:off x="1190833" y="5542462"/>
            <a:ext cx="0" cy="59904"/>
          </a:xfrm>
          <a:prstGeom prst="line">
            <a:avLst/>
          </a:prstGeom>
          <a:noFill/>
          <a:ln w="12700">
            <a:solidFill>
              <a:srgbClr val="99CCFF"/>
            </a:solidFill>
            <a:round/>
            <a:headEnd/>
            <a:tailEnd/>
          </a:ln>
        </p:spPr>
        <p:txBody>
          <a:bodyPr wrap="none" anchor="ctr"/>
          <a:lstStyle/>
          <a:p>
            <a:endParaRPr lang="ko-KR" altLang="en-US"/>
          </a:p>
        </p:txBody>
      </p:sp>
      <p:sp>
        <p:nvSpPr>
          <p:cNvPr id="39" name="Line 38"/>
          <p:cNvSpPr>
            <a:spLocks noChangeShapeType="1"/>
          </p:cNvSpPr>
          <p:nvPr/>
        </p:nvSpPr>
        <p:spPr bwMode="auto">
          <a:xfrm>
            <a:off x="1584626" y="5542462"/>
            <a:ext cx="0" cy="59904"/>
          </a:xfrm>
          <a:prstGeom prst="line">
            <a:avLst/>
          </a:prstGeom>
          <a:noFill/>
          <a:ln w="12700">
            <a:solidFill>
              <a:schemeClr val="tx1"/>
            </a:solidFill>
            <a:round/>
            <a:headEnd/>
            <a:tailEnd/>
          </a:ln>
        </p:spPr>
        <p:txBody>
          <a:bodyPr wrap="none" anchor="ctr"/>
          <a:lstStyle/>
          <a:p>
            <a:endParaRPr lang="ko-KR" altLang="en-US"/>
          </a:p>
        </p:txBody>
      </p:sp>
      <p:sp>
        <p:nvSpPr>
          <p:cNvPr id="40" name="Line 39"/>
          <p:cNvSpPr>
            <a:spLocks noChangeShapeType="1"/>
          </p:cNvSpPr>
          <p:nvPr/>
        </p:nvSpPr>
        <p:spPr bwMode="auto">
          <a:xfrm>
            <a:off x="3556927" y="5542462"/>
            <a:ext cx="0" cy="59904"/>
          </a:xfrm>
          <a:prstGeom prst="line">
            <a:avLst/>
          </a:prstGeom>
          <a:noFill/>
          <a:ln w="12700">
            <a:solidFill>
              <a:srgbClr val="99CCFF"/>
            </a:solidFill>
            <a:round/>
            <a:headEnd/>
            <a:tailEnd/>
          </a:ln>
        </p:spPr>
        <p:txBody>
          <a:bodyPr wrap="none" anchor="ctr"/>
          <a:lstStyle/>
          <a:p>
            <a:endParaRPr lang="ko-KR" altLang="en-US"/>
          </a:p>
        </p:txBody>
      </p:sp>
      <p:sp>
        <p:nvSpPr>
          <p:cNvPr id="41" name="Line 40"/>
          <p:cNvSpPr>
            <a:spLocks noChangeShapeType="1"/>
          </p:cNvSpPr>
          <p:nvPr/>
        </p:nvSpPr>
        <p:spPr bwMode="auto">
          <a:xfrm>
            <a:off x="2767673" y="5542462"/>
            <a:ext cx="0" cy="59904"/>
          </a:xfrm>
          <a:prstGeom prst="line">
            <a:avLst/>
          </a:prstGeom>
          <a:noFill/>
          <a:ln w="12700">
            <a:solidFill>
              <a:srgbClr val="99CCFF"/>
            </a:solidFill>
            <a:round/>
            <a:headEnd/>
            <a:tailEnd/>
          </a:ln>
        </p:spPr>
        <p:txBody>
          <a:bodyPr wrap="none" anchor="ctr"/>
          <a:lstStyle/>
          <a:p>
            <a:endParaRPr lang="ko-KR" altLang="en-US"/>
          </a:p>
        </p:txBody>
      </p:sp>
      <p:sp>
        <p:nvSpPr>
          <p:cNvPr id="42" name="Line 41"/>
          <p:cNvSpPr>
            <a:spLocks noChangeShapeType="1"/>
          </p:cNvSpPr>
          <p:nvPr/>
        </p:nvSpPr>
        <p:spPr bwMode="auto">
          <a:xfrm>
            <a:off x="1980088" y="5542462"/>
            <a:ext cx="0" cy="59904"/>
          </a:xfrm>
          <a:prstGeom prst="line">
            <a:avLst/>
          </a:prstGeom>
          <a:noFill/>
          <a:ln w="12700">
            <a:solidFill>
              <a:srgbClr val="99CCFF"/>
            </a:solidFill>
            <a:round/>
            <a:headEnd/>
            <a:tailEnd/>
          </a:ln>
        </p:spPr>
        <p:txBody>
          <a:bodyPr wrap="none" anchor="ctr"/>
          <a:lstStyle/>
          <a:p>
            <a:endParaRPr lang="ko-KR" altLang="en-US"/>
          </a:p>
        </p:txBody>
      </p:sp>
      <p:sp>
        <p:nvSpPr>
          <p:cNvPr id="43" name="Line 42"/>
          <p:cNvSpPr>
            <a:spLocks noChangeShapeType="1"/>
          </p:cNvSpPr>
          <p:nvPr/>
        </p:nvSpPr>
        <p:spPr bwMode="auto">
          <a:xfrm>
            <a:off x="2373880" y="5542462"/>
            <a:ext cx="0" cy="59904"/>
          </a:xfrm>
          <a:prstGeom prst="line">
            <a:avLst/>
          </a:prstGeom>
          <a:noFill/>
          <a:ln w="12700">
            <a:solidFill>
              <a:srgbClr val="99CCFF"/>
            </a:solidFill>
            <a:round/>
            <a:headEnd/>
            <a:tailEnd/>
          </a:ln>
        </p:spPr>
        <p:txBody>
          <a:bodyPr wrap="none" anchor="ctr"/>
          <a:lstStyle/>
          <a:p>
            <a:endParaRPr lang="ko-KR" altLang="en-US"/>
          </a:p>
        </p:txBody>
      </p:sp>
      <p:sp>
        <p:nvSpPr>
          <p:cNvPr id="44" name="Line 43"/>
          <p:cNvSpPr>
            <a:spLocks noChangeShapeType="1"/>
          </p:cNvSpPr>
          <p:nvPr/>
        </p:nvSpPr>
        <p:spPr bwMode="auto">
          <a:xfrm>
            <a:off x="3163134" y="5542462"/>
            <a:ext cx="0" cy="59904"/>
          </a:xfrm>
          <a:prstGeom prst="line">
            <a:avLst/>
          </a:prstGeom>
          <a:noFill/>
          <a:ln w="12700">
            <a:solidFill>
              <a:srgbClr val="99CCFF"/>
            </a:solidFill>
            <a:round/>
            <a:headEnd/>
            <a:tailEnd/>
          </a:ln>
        </p:spPr>
        <p:txBody>
          <a:bodyPr wrap="none" anchor="ctr"/>
          <a:lstStyle/>
          <a:p>
            <a:endParaRPr lang="ko-KR" altLang="en-US"/>
          </a:p>
        </p:txBody>
      </p:sp>
      <p:sp>
        <p:nvSpPr>
          <p:cNvPr id="45" name="Line 44"/>
          <p:cNvSpPr>
            <a:spLocks noChangeShapeType="1"/>
          </p:cNvSpPr>
          <p:nvPr/>
        </p:nvSpPr>
        <p:spPr bwMode="auto">
          <a:xfrm>
            <a:off x="3950719" y="5542462"/>
            <a:ext cx="0" cy="59904"/>
          </a:xfrm>
          <a:prstGeom prst="line">
            <a:avLst/>
          </a:prstGeom>
          <a:noFill/>
          <a:ln w="12700">
            <a:solidFill>
              <a:schemeClr val="tx1"/>
            </a:solidFill>
            <a:round/>
            <a:headEnd/>
            <a:tailEnd/>
          </a:ln>
        </p:spPr>
        <p:txBody>
          <a:bodyPr wrap="none" anchor="ctr"/>
          <a:lstStyle/>
          <a:p>
            <a:endParaRPr lang="ko-KR" altLang="en-US"/>
          </a:p>
        </p:txBody>
      </p:sp>
      <p:sp>
        <p:nvSpPr>
          <p:cNvPr id="46" name="Line 45"/>
          <p:cNvSpPr>
            <a:spLocks noChangeShapeType="1"/>
          </p:cNvSpPr>
          <p:nvPr/>
        </p:nvSpPr>
        <p:spPr bwMode="auto">
          <a:xfrm>
            <a:off x="4346181" y="5542462"/>
            <a:ext cx="0" cy="59904"/>
          </a:xfrm>
          <a:prstGeom prst="line">
            <a:avLst/>
          </a:prstGeom>
          <a:noFill/>
          <a:ln w="12700">
            <a:solidFill>
              <a:schemeClr val="tx1"/>
            </a:solidFill>
            <a:round/>
            <a:headEnd/>
            <a:tailEnd/>
          </a:ln>
        </p:spPr>
        <p:txBody>
          <a:bodyPr wrap="none" anchor="ctr"/>
          <a:lstStyle/>
          <a:p>
            <a:endParaRPr lang="ko-KR" altLang="en-US"/>
          </a:p>
        </p:txBody>
      </p:sp>
      <p:sp>
        <p:nvSpPr>
          <p:cNvPr id="47" name="Line 46"/>
          <p:cNvSpPr>
            <a:spLocks noChangeShapeType="1"/>
          </p:cNvSpPr>
          <p:nvPr/>
        </p:nvSpPr>
        <p:spPr bwMode="auto">
          <a:xfrm>
            <a:off x="4739974" y="5542462"/>
            <a:ext cx="0" cy="59904"/>
          </a:xfrm>
          <a:prstGeom prst="line">
            <a:avLst/>
          </a:prstGeom>
          <a:noFill/>
          <a:ln w="12700">
            <a:solidFill>
              <a:schemeClr val="tx2"/>
            </a:solidFill>
            <a:round/>
            <a:headEnd/>
            <a:tailEnd/>
          </a:ln>
        </p:spPr>
        <p:txBody>
          <a:bodyPr wrap="none" anchor="ctr"/>
          <a:lstStyle/>
          <a:p>
            <a:endParaRPr lang="ko-KR" altLang="en-US"/>
          </a:p>
        </p:txBody>
      </p:sp>
      <p:sp>
        <p:nvSpPr>
          <p:cNvPr id="48" name="Line 47"/>
          <p:cNvSpPr>
            <a:spLocks noChangeShapeType="1"/>
          </p:cNvSpPr>
          <p:nvPr/>
        </p:nvSpPr>
        <p:spPr bwMode="auto">
          <a:xfrm>
            <a:off x="5135435" y="5542462"/>
            <a:ext cx="0" cy="59904"/>
          </a:xfrm>
          <a:prstGeom prst="line">
            <a:avLst/>
          </a:prstGeom>
          <a:noFill/>
          <a:ln w="12700">
            <a:solidFill>
              <a:schemeClr val="tx1"/>
            </a:solidFill>
            <a:round/>
            <a:headEnd/>
            <a:tailEnd/>
          </a:ln>
        </p:spPr>
        <p:txBody>
          <a:bodyPr wrap="none" anchor="ctr"/>
          <a:lstStyle/>
          <a:p>
            <a:endParaRPr lang="ko-KR" altLang="en-US"/>
          </a:p>
        </p:txBody>
      </p:sp>
      <p:sp>
        <p:nvSpPr>
          <p:cNvPr id="49" name="Line 48"/>
          <p:cNvSpPr>
            <a:spLocks noChangeShapeType="1"/>
          </p:cNvSpPr>
          <p:nvPr/>
        </p:nvSpPr>
        <p:spPr bwMode="auto">
          <a:xfrm>
            <a:off x="5529228" y="5542462"/>
            <a:ext cx="0" cy="59904"/>
          </a:xfrm>
          <a:prstGeom prst="line">
            <a:avLst/>
          </a:prstGeom>
          <a:noFill/>
          <a:ln w="12700">
            <a:solidFill>
              <a:schemeClr val="tx1"/>
            </a:solidFill>
            <a:round/>
            <a:headEnd/>
            <a:tailEnd/>
          </a:ln>
        </p:spPr>
        <p:txBody>
          <a:bodyPr wrap="none" anchor="ctr"/>
          <a:lstStyle/>
          <a:p>
            <a:endParaRPr lang="ko-KR" altLang="en-US"/>
          </a:p>
        </p:txBody>
      </p:sp>
      <p:sp>
        <p:nvSpPr>
          <p:cNvPr id="50" name="Line 49"/>
          <p:cNvSpPr>
            <a:spLocks noChangeShapeType="1"/>
          </p:cNvSpPr>
          <p:nvPr/>
        </p:nvSpPr>
        <p:spPr bwMode="auto">
          <a:xfrm>
            <a:off x="6712275" y="5542462"/>
            <a:ext cx="0" cy="59904"/>
          </a:xfrm>
          <a:prstGeom prst="line">
            <a:avLst/>
          </a:prstGeom>
          <a:noFill/>
          <a:ln w="12700">
            <a:solidFill>
              <a:srgbClr val="99CCFF"/>
            </a:solidFill>
            <a:round/>
            <a:headEnd/>
            <a:tailEnd/>
          </a:ln>
        </p:spPr>
        <p:txBody>
          <a:bodyPr wrap="none" anchor="ctr"/>
          <a:lstStyle/>
          <a:p>
            <a:endParaRPr lang="ko-KR" altLang="en-US"/>
          </a:p>
        </p:txBody>
      </p:sp>
      <p:sp>
        <p:nvSpPr>
          <p:cNvPr id="51" name="Line 50"/>
          <p:cNvSpPr>
            <a:spLocks noChangeShapeType="1"/>
          </p:cNvSpPr>
          <p:nvPr/>
        </p:nvSpPr>
        <p:spPr bwMode="auto">
          <a:xfrm>
            <a:off x="5923020" y="5542462"/>
            <a:ext cx="0" cy="59904"/>
          </a:xfrm>
          <a:prstGeom prst="line">
            <a:avLst/>
          </a:prstGeom>
          <a:noFill/>
          <a:ln w="12700">
            <a:solidFill>
              <a:srgbClr val="99CCFF"/>
            </a:solidFill>
            <a:round/>
            <a:headEnd/>
            <a:tailEnd/>
          </a:ln>
        </p:spPr>
        <p:txBody>
          <a:bodyPr wrap="none" anchor="ctr"/>
          <a:lstStyle/>
          <a:p>
            <a:endParaRPr lang="ko-KR" altLang="en-US"/>
          </a:p>
        </p:txBody>
      </p:sp>
      <p:sp>
        <p:nvSpPr>
          <p:cNvPr id="52" name="Line 51"/>
          <p:cNvSpPr>
            <a:spLocks noChangeShapeType="1"/>
          </p:cNvSpPr>
          <p:nvPr/>
        </p:nvSpPr>
        <p:spPr bwMode="auto">
          <a:xfrm>
            <a:off x="6318482" y="5542462"/>
            <a:ext cx="0" cy="59904"/>
          </a:xfrm>
          <a:prstGeom prst="line">
            <a:avLst/>
          </a:prstGeom>
          <a:noFill/>
          <a:ln w="12700">
            <a:solidFill>
              <a:srgbClr val="99CCFF"/>
            </a:solidFill>
            <a:round/>
            <a:headEnd/>
            <a:tailEnd/>
          </a:ln>
        </p:spPr>
        <p:txBody>
          <a:bodyPr wrap="none" anchor="ctr"/>
          <a:lstStyle/>
          <a:p>
            <a:endParaRPr lang="ko-KR" altLang="en-US"/>
          </a:p>
        </p:txBody>
      </p:sp>
      <p:sp>
        <p:nvSpPr>
          <p:cNvPr id="53" name="Rectangle 52"/>
          <p:cNvSpPr>
            <a:spLocks noChangeArrowheads="1"/>
          </p:cNvSpPr>
          <p:nvPr/>
        </p:nvSpPr>
        <p:spPr bwMode="auto">
          <a:xfrm>
            <a:off x="1042457" y="2866736"/>
            <a:ext cx="189963" cy="204225"/>
          </a:xfrm>
          <a:prstGeom prst="rect">
            <a:avLst/>
          </a:prstGeom>
          <a:noFill/>
          <a:ln w="12700">
            <a:noFill/>
            <a:miter lim="800000"/>
            <a:headEnd/>
            <a:tailEnd/>
          </a:ln>
        </p:spPr>
        <p:txBody>
          <a:bodyPr wrap="none" lIns="62313" tIns="24925" rIns="62313" bIns="24925">
            <a:spAutoFit/>
          </a:bodyPr>
          <a:lstStyle/>
          <a:p>
            <a:pPr algn="ctr" defTabSz="896938" eaLnBrk="0" latinLnBrk="0" hangingPunct="0"/>
            <a:r>
              <a:rPr kumimoji="0" lang="ko-KR" altLang="en-US" sz="1000">
                <a:cs typeface="Times New Roman" pitchFamily="18" charset="0"/>
              </a:rPr>
              <a:t>1</a:t>
            </a:r>
          </a:p>
        </p:txBody>
      </p:sp>
      <p:sp>
        <p:nvSpPr>
          <p:cNvPr id="54" name="Rectangle 53"/>
          <p:cNvSpPr>
            <a:spLocks noChangeArrowheads="1"/>
          </p:cNvSpPr>
          <p:nvPr/>
        </p:nvSpPr>
        <p:spPr bwMode="auto">
          <a:xfrm>
            <a:off x="1472827" y="2866736"/>
            <a:ext cx="183551" cy="191594"/>
          </a:xfrm>
          <a:prstGeom prst="rect">
            <a:avLst/>
          </a:prstGeom>
          <a:noFill/>
          <a:ln w="12700">
            <a:noFill/>
            <a:miter lim="800000"/>
            <a:headEnd/>
            <a:tailEnd/>
          </a:ln>
        </p:spPr>
        <p:txBody>
          <a:bodyPr wrap="none" lIns="62313" tIns="24925" rIns="62313" bIns="24925">
            <a:spAutoFit/>
          </a:bodyPr>
          <a:lstStyle/>
          <a:p>
            <a:pPr algn="ctr" defTabSz="896938" eaLnBrk="0" latinLnBrk="0" hangingPunct="0">
              <a:lnSpc>
                <a:spcPct val="102000"/>
              </a:lnSpc>
            </a:pPr>
            <a:r>
              <a:rPr kumimoji="0" lang="ko-KR" altLang="en-US" sz="900">
                <a:cs typeface="Times New Roman" pitchFamily="18" charset="0"/>
              </a:rPr>
              <a:t>2</a:t>
            </a:r>
          </a:p>
        </p:txBody>
      </p:sp>
      <p:sp>
        <p:nvSpPr>
          <p:cNvPr id="55" name="Rectangle 54"/>
          <p:cNvSpPr>
            <a:spLocks noChangeArrowheads="1"/>
          </p:cNvSpPr>
          <p:nvPr/>
        </p:nvSpPr>
        <p:spPr bwMode="auto">
          <a:xfrm>
            <a:off x="1868288" y="2866736"/>
            <a:ext cx="183551" cy="191594"/>
          </a:xfrm>
          <a:prstGeom prst="rect">
            <a:avLst/>
          </a:prstGeom>
          <a:noFill/>
          <a:ln w="12700">
            <a:noFill/>
            <a:miter lim="800000"/>
            <a:headEnd/>
            <a:tailEnd/>
          </a:ln>
        </p:spPr>
        <p:txBody>
          <a:bodyPr wrap="none" lIns="62313" tIns="24925" rIns="62313" bIns="24925">
            <a:spAutoFit/>
          </a:bodyPr>
          <a:lstStyle/>
          <a:p>
            <a:pPr algn="ctr" defTabSz="896938" eaLnBrk="0" latinLnBrk="0" hangingPunct="0">
              <a:lnSpc>
                <a:spcPct val="102000"/>
              </a:lnSpc>
            </a:pPr>
            <a:r>
              <a:rPr kumimoji="0" lang="ko-KR" altLang="en-US" sz="900">
                <a:cs typeface="Times New Roman" pitchFamily="18" charset="0"/>
              </a:rPr>
              <a:t>3</a:t>
            </a:r>
          </a:p>
        </p:txBody>
      </p:sp>
      <p:sp>
        <p:nvSpPr>
          <p:cNvPr id="56" name="Rectangle 55"/>
          <p:cNvSpPr>
            <a:spLocks noChangeArrowheads="1"/>
          </p:cNvSpPr>
          <p:nvPr/>
        </p:nvSpPr>
        <p:spPr bwMode="auto">
          <a:xfrm>
            <a:off x="2262080" y="2866736"/>
            <a:ext cx="183551" cy="191594"/>
          </a:xfrm>
          <a:prstGeom prst="rect">
            <a:avLst/>
          </a:prstGeom>
          <a:noFill/>
          <a:ln w="12700">
            <a:noFill/>
            <a:miter lim="800000"/>
            <a:headEnd/>
            <a:tailEnd/>
          </a:ln>
        </p:spPr>
        <p:txBody>
          <a:bodyPr wrap="none" lIns="62313" tIns="24925" rIns="62313" bIns="24925">
            <a:spAutoFit/>
          </a:bodyPr>
          <a:lstStyle/>
          <a:p>
            <a:pPr algn="ctr" defTabSz="896938" eaLnBrk="0" latinLnBrk="0" hangingPunct="0">
              <a:lnSpc>
                <a:spcPct val="102000"/>
              </a:lnSpc>
            </a:pPr>
            <a:r>
              <a:rPr kumimoji="0" lang="ko-KR" altLang="en-US" sz="900">
                <a:cs typeface="Times New Roman" pitchFamily="18" charset="0"/>
              </a:rPr>
              <a:t>4</a:t>
            </a:r>
          </a:p>
        </p:txBody>
      </p:sp>
      <p:sp>
        <p:nvSpPr>
          <p:cNvPr id="57" name="Rectangle 56"/>
          <p:cNvSpPr>
            <a:spLocks noChangeArrowheads="1"/>
          </p:cNvSpPr>
          <p:nvPr/>
        </p:nvSpPr>
        <p:spPr bwMode="auto">
          <a:xfrm>
            <a:off x="2655873" y="2879024"/>
            <a:ext cx="183551" cy="191594"/>
          </a:xfrm>
          <a:prstGeom prst="rect">
            <a:avLst/>
          </a:prstGeom>
          <a:noFill/>
          <a:ln w="12700">
            <a:noFill/>
            <a:miter lim="800000"/>
            <a:headEnd/>
            <a:tailEnd/>
          </a:ln>
        </p:spPr>
        <p:txBody>
          <a:bodyPr wrap="none" lIns="62313" tIns="24925" rIns="62313" bIns="24925">
            <a:spAutoFit/>
          </a:bodyPr>
          <a:lstStyle/>
          <a:p>
            <a:pPr algn="ctr" defTabSz="896938" eaLnBrk="0" latinLnBrk="0" hangingPunct="0">
              <a:lnSpc>
                <a:spcPct val="102000"/>
              </a:lnSpc>
            </a:pPr>
            <a:r>
              <a:rPr kumimoji="0" lang="ko-KR" altLang="en-US" sz="900">
                <a:cs typeface="Times New Roman" pitchFamily="18" charset="0"/>
              </a:rPr>
              <a:t>5</a:t>
            </a:r>
          </a:p>
        </p:txBody>
      </p:sp>
      <p:sp>
        <p:nvSpPr>
          <p:cNvPr id="58" name="Rectangle 57"/>
          <p:cNvSpPr>
            <a:spLocks noChangeArrowheads="1"/>
          </p:cNvSpPr>
          <p:nvPr/>
        </p:nvSpPr>
        <p:spPr bwMode="auto">
          <a:xfrm>
            <a:off x="3051335" y="2879024"/>
            <a:ext cx="183551" cy="191594"/>
          </a:xfrm>
          <a:prstGeom prst="rect">
            <a:avLst/>
          </a:prstGeom>
          <a:noFill/>
          <a:ln w="12700">
            <a:noFill/>
            <a:miter lim="800000"/>
            <a:headEnd/>
            <a:tailEnd/>
          </a:ln>
        </p:spPr>
        <p:txBody>
          <a:bodyPr wrap="none" lIns="62313" tIns="24925" rIns="62313" bIns="24925">
            <a:spAutoFit/>
          </a:bodyPr>
          <a:lstStyle/>
          <a:p>
            <a:pPr algn="ctr" defTabSz="896938" eaLnBrk="0" latinLnBrk="0" hangingPunct="0">
              <a:lnSpc>
                <a:spcPct val="102000"/>
              </a:lnSpc>
            </a:pPr>
            <a:r>
              <a:rPr kumimoji="0" lang="ko-KR" altLang="en-US" sz="900">
                <a:cs typeface="Times New Roman" pitchFamily="18" charset="0"/>
              </a:rPr>
              <a:t>6</a:t>
            </a:r>
          </a:p>
        </p:txBody>
      </p:sp>
      <p:sp>
        <p:nvSpPr>
          <p:cNvPr id="59" name="Rectangle 58"/>
          <p:cNvSpPr>
            <a:spLocks noChangeArrowheads="1"/>
          </p:cNvSpPr>
          <p:nvPr/>
        </p:nvSpPr>
        <p:spPr bwMode="auto">
          <a:xfrm>
            <a:off x="3445128" y="2879024"/>
            <a:ext cx="183551" cy="191594"/>
          </a:xfrm>
          <a:prstGeom prst="rect">
            <a:avLst/>
          </a:prstGeom>
          <a:noFill/>
          <a:ln w="12700">
            <a:noFill/>
            <a:miter lim="800000"/>
            <a:headEnd/>
            <a:tailEnd/>
          </a:ln>
        </p:spPr>
        <p:txBody>
          <a:bodyPr wrap="none" lIns="62313" tIns="24925" rIns="62313" bIns="24925">
            <a:spAutoFit/>
          </a:bodyPr>
          <a:lstStyle/>
          <a:p>
            <a:pPr algn="ctr" defTabSz="896938" eaLnBrk="0" latinLnBrk="0" hangingPunct="0">
              <a:lnSpc>
                <a:spcPct val="102000"/>
              </a:lnSpc>
            </a:pPr>
            <a:r>
              <a:rPr kumimoji="0" lang="ko-KR" altLang="en-US" sz="900">
                <a:cs typeface="Times New Roman" pitchFamily="18" charset="0"/>
              </a:rPr>
              <a:t>7</a:t>
            </a:r>
          </a:p>
        </p:txBody>
      </p:sp>
      <p:sp>
        <p:nvSpPr>
          <p:cNvPr id="60" name="Rectangle 59"/>
          <p:cNvSpPr>
            <a:spLocks noChangeArrowheads="1"/>
          </p:cNvSpPr>
          <p:nvPr/>
        </p:nvSpPr>
        <p:spPr bwMode="auto">
          <a:xfrm>
            <a:off x="3840588" y="2879024"/>
            <a:ext cx="183551" cy="191594"/>
          </a:xfrm>
          <a:prstGeom prst="rect">
            <a:avLst/>
          </a:prstGeom>
          <a:noFill/>
          <a:ln w="12700">
            <a:noFill/>
            <a:miter lim="800000"/>
            <a:headEnd/>
            <a:tailEnd/>
          </a:ln>
        </p:spPr>
        <p:txBody>
          <a:bodyPr wrap="none" lIns="62313" tIns="24925" rIns="62313" bIns="24925">
            <a:spAutoFit/>
          </a:bodyPr>
          <a:lstStyle/>
          <a:p>
            <a:pPr algn="ctr" defTabSz="896938" eaLnBrk="0" latinLnBrk="0" hangingPunct="0">
              <a:lnSpc>
                <a:spcPct val="102000"/>
              </a:lnSpc>
            </a:pPr>
            <a:r>
              <a:rPr kumimoji="0" lang="ko-KR" altLang="en-US" sz="900">
                <a:cs typeface="Times New Roman" pitchFamily="18" charset="0"/>
              </a:rPr>
              <a:t>8</a:t>
            </a:r>
          </a:p>
        </p:txBody>
      </p:sp>
      <p:sp>
        <p:nvSpPr>
          <p:cNvPr id="61" name="Rectangle 60"/>
          <p:cNvSpPr>
            <a:spLocks noChangeArrowheads="1"/>
          </p:cNvSpPr>
          <p:nvPr/>
        </p:nvSpPr>
        <p:spPr bwMode="auto">
          <a:xfrm>
            <a:off x="4234381" y="2879024"/>
            <a:ext cx="183551" cy="191594"/>
          </a:xfrm>
          <a:prstGeom prst="rect">
            <a:avLst/>
          </a:prstGeom>
          <a:noFill/>
          <a:ln w="12700">
            <a:noFill/>
            <a:miter lim="800000"/>
            <a:headEnd/>
            <a:tailEnd/>
          </a:ln>
        </p:spPr>
        <p:txBody>
          <a:bodyPr wrap="none" lIns="62313" tIns="24925" rIns="62313" bIns="24925">
            <a:spAutoFit/>
          </a:bodyPr>
          <a:lstStyle/>
          <a:p>
            <a:pPr algn="ctr" defTabSz="896938" eaLnBrk="0" latinLnBrk="0" hangingPunct="0">
              <a:lnSpc>
                <a:spcPct val="102000"/>
              </a:lnSpc>
            </a:pPr>
            <a:r>
              <a:rPr kumimoji="0" lang="ko-KR" altLang="en-US" sz="900">
                <a:cs typeface="Times New Roman" pitchFamily="18" charset="0"/>
              </a:rPr>
              <a:t>9</a:t>
            </a:r>
          </a:p>
        </p:txBody>
      </p:sp>
      <p:sp>
        <p:nvSpPr>
          <p:cNvPr id="62" name="Rectangle 61"/>
          <p:cNvSpPr>
            <a:spLocks noChangeArrowheads="1"/>
          </p:cNvSpPr>
          <p:nvPr/>
        </p:nvSpPr>
        <p:spPr bwMode="auto">
          <a:xfrm>
            <a:off x="4605995" y="2879024"/>
            <a:ext cx="241259" cy="191594"/>
          </a:xfrm>
          <a:prstGeom prst="rect">
            <a:avLst/>
          </a:prstGeom>
          <a:noFill/>
          <a:ln w="12700">
            <a:noFill/>
            <a:miter lim="800000"/>
            <a:headEnd/>
            <a:tailEnd/>
          </a:ln>
        </p:spPr>
        <p:txBody>
          <a:bodyPr wrap="none" lIns="62313" tIns="24925" rIns="62313" bIns="24925">
            <a:spAutoFit/>
          </a:bodyPr>
          <a:lstStyle/>
          <a:p>
            <a:pPr algn="ctr" defTabSz="896938" eaLnBrk="0" latinLnBrk="0" hangingPunct="0">
              <a:lnSpc>
                <a:spcPct val="102000"/>
              </a:lnSpc>
            </a:pPr>
            <a:r>
              <a:rPr kumimoji="0" lang="ko-KR" altLang="en-US" sz="900">
                <a:cs typeface="Times New Roman" pitchFamily="18" charset="0"/>
              </a:rPr>
              <a:t>10</a:t>
            </a:r>
          </a:p>
        </p:txBody>
      </p:sp>
      <p:sp>
        <p:nvSpPr>
          <p:cNvPr id="63" name="Rectangle 62"/>
          <p:cNvSpPr>
            <a:spLocks noChangeArrowheads="1"/>
          </p:cNvSpPr>
          <p:nvPr/>
        </p:nvSpPr>
        <p:spPr bwMode="auto">
          <a:xfrm>
            <a:off x="4999788" y="2879024"/>
            <a:ext cx="241259" cy="191594"/>
          </a:xfrm>
          <a:prstGeom prst="rect">
            <a:avLst/>
          </a:prstGeom>
          <a:noFill/>
          <a:ln w="12700">
            <a:noFill/>
            <a:miter lim="800000"/>
            <a:headEnd/>
            <a:tailEnd/>
          </a:ln>
        </p:spPr>
        <p:txBody>
          <a:bodyPr wrap="none" lIns="62313" tIns="24925" rIns="62313" bIns="24925">
            <a:spAutoFit/>
          </a:bodyPr>
          <a:lstStyle/>
          <a:p>
            <a:pPr algn="ctr" defTabSz="896938" eaLnBrk="0" latinLnBrk="0" hangingPunct="0">
              <a:lnSpc>
                <a:spcPct val="102000"/>
              </a:lnSpc>
            </a:pPr>
            <a:r>
              <a:rPr kumimoji="0" lang="ko-KR" altLang="en-US" sz="900">
                <a:cs typeface="Times New Roman" pitchFamily="18" charset="0"/>
              </a:rPr>
              <a:t>11</a:t>
            </a:r>
          </a:p>
        </p:txBody>
      </p:sp>
      <p:sp>
        <p:nvSpPr>
          <p:cNvPr id="64" name="Rectangle 63"/>
          <p:cNvSpPr>
            <a:spLocks noChangeArrowheads="1"/>
          </p:cNvSpPr>
          <p:nvPr/>
        </p:nvSpPr>
        <p:spPr bwMode="auto">
          <a:xfrm>
            <a:off x="5395250" y="2879024"/>
            <a:ext cx="241259" cy="191594"/>
          </a:xfrm>
          <a:prstGeom prst="rect">
            <a:avLst/>
          </a:prstGeom>
          <a:noFill/>
          <a:ln w="12700">
            <a:noFill/>
            <a:miter lim="800000"/>
            <a:headEnd/>
            <a:tailEnd/>
          </a:ln>
        </p:spPr>
        <p:txBody>
          <a:bodyPr wrap="none" lIns="62313" tIns="24925" rIns="62313" bIns="24925">
            <a:spAutoFit/>
          </a:bodyPr>
          <a:lstStyle/>
          <a:p>
            <a:pPr algn="ctr" defTabSz="896938" eaLnBrk="0" latinLnBrk="0" hangingPunct="0">
              <a:lnSpc>
                <a:spcPct val="102000"/>
              </a:lnSpc>
            </a:pPr>
            <a:r>
              <a:rPr kumimoji="0" lang="ko-KR" altLang="en-US" sz="900">
                <a:cs typeface="Times New Roman" pitchFamily="18" charset="0"/>
              </a:rPr>
              <a:t>12</a:t>
            </a:r>
          </a:p>
        </p:txBody>
      </p:sp>
      <p:sp>
        <p:nvSpPr>
          <p:cNvPr id="65" name="Rectangle 64"/>
          <p:cNvSpPr>
            <a:spLocks noChangeArrowheads="1"/>
          </p:cNvSpPr>
          <p:nvPr/>
        </p:nvSpPr>
        <p:spPr bwMode="auto">
          <a:xfrm>
            <a:off x="5789042" y="2879024"/>
            <a:ext cx="241259" cy="191594"/>
          </a:xfrm>
          <a:prstGeom prst="rect">
            <a:avLst/>
          </a:prstGeom>
          <a:noFill/>
          <a:ln w="12700">
            <a:noFill/>
            <a:miter lim="800000"/>
            <a:headEnd/>
            <a:tailEnd/>
          </a:ln>
        </p:spPr>
        <p:txBody>
          <a:bodyPr wrap="none" lIns="62313" tIns="24925" rIns="62313" bIns="24925">
            <a:spAutoFit/>
          </a:bodyPr>
          <a:lstStyle/>
          <a:p>
            <a:pPr algn="ctr" defTabSz="896938" eaLnBrk="0" latinLnBrk="0" hangingPunct="0">
              <a:lnSpc>
                <a:spcPct val="102000"/>
              </a:lnSpc>
            </a:pPr>
            <a:r>
              <a:rPr kumimoji="0" lang="ko-KR" altLang="en-US" sz="900">
                <a:cs typeface="Times New Roman" pitchFamily="18" charset="0"/>
              </a:rPr>
              <a:t>13</a:t>
            </a:r>
          </a:p>
        </p:txBody>
      </p:sp>
      <p:sp>
        <p:nvSpPr>
          <p:cNvPr id="66" name="Rectangle 65"/>
          <p:cNvSpPr>
            <a:spLocks noChangeArrowheads="1"/>
          </p:cNvSpPr>
          <p:nvPr/>
        </p:nvSpPr>
        <p:spPr bwMode="auto">
          <a:xfrm>
            <a:off x="6186172" y="2879024"/>
            <a:ext cx="241259" cy="191594"/>
          </a:xfrm>
          <a:prstGeom prst="rect">
            <a:avLst/>
          </a:prstGeom>
          <a:noFill/>
          <a:ln w="12700">
            <a:noFill/>
            <a:miter lim="800000"/>
            <a:headEnd/>
            <a:tailEnd/>
          </a:ln>
        </p:spPr>
        <p:txBody>
          <a:bodyPr wrap="none" lIns="62313" tIns="24925" rIns="62313" bIns="24925">
            <a:spAutoFit/>
          </a:bodyPr>
          <a:lstStyle/>
          <a:p>
            <a:pPr algn="ctr" defTabSz="896938" eaLnBrk="0" latinLnBrk="0" hangingPunct="0">
              <a:lnSpc>
                <a:spcPct val="102000"/>
              </a:lnSpc>
            </a:pPr>
            <a:r>
              <a:rPr kumimoji="0" lang="ko-KR" altLang="en-US" sz="900">
                <a:cs typeface="Times New Roman" pitchFamily="18" charset="0"/>
              </a:rPr>
              <a:t>14</a:t>
            </a:r>
          </a:p>
        </p:txBody>
      </p:sp>
      <p:sp>
        <p:nvSpPr>
          <p:cNvPr id="67" name="Rectangle 66"/>
          <p:cNvSpPr>
            <a:spLocks noChangeArrowheads="1"/>
          </p:cNvSpPr>
          <p:nvPr/>
        </p:nvSpPr>
        <p:spPr bwMode="auto">
          <a:xfrm>
            <a:off x="6578296" y="2879024"/>
            <a:ext cx="241259" cy="191594"/>
          </a:xfrm>
          <a:prstGeom prst="rect">
            <a:avLst/>
          </a:prstGeom>
          <a:noFill/>
          <a:ln w="12700">
            <a:noFill/>
            <a:miter lim="800000"/>
            <a:headEnd/>
            <a:tailEnd/>
          </a:ln>
        </p:spPr>
        <p:txBody>
          <a:bodyPr wrap="none" lIns="62313" tIns="24925" rIns="62313" bIns="24925">
            <a:spAutoFit/>
          </a:bodyPr>
          <a:lstStyle/>
          <a:p>
            <a:pPr algn="ctr" defTabSz="896938" eaLnBrk="0" latinLnBrk="0" hangingPunct="0">
              <a:lnSpc>
                <a:spcPct val="102000"/>
              </a:lnSpc>
            </a:pPr>
            <a:r>
              <a:rPr kumimoji="0" lang="ko-KR" altLang="en-US" sz="900">
                <a:cs typeface="Times New Roman" pitchFamily="18" charset="0"/>
              </a:rPr>
              <a:t>15</a:t>
            </a:r>
          </a:p>
        </p:txBody>
      </p:sp>
      <p:sp>
        <p:nvSpPr>
          <p:cNvPr id="68" name="Rectangle 67"/>
          <p:cNvSpPr>
            <a:spLocks noChangeArrowheads="1"/>
          </p:cNvSpPr>
          <p:nvPr/>
        </p:nvSpPr>
        <p:spPr bwMode="auto">
          <a:xfrm>
            <a:off x="1095852" y="4307512"/>
            <a:ext cx="189963" cy="204225"/>
          </a:xfrm>
          <a:prstGeom prst="rect">
            <a:avLst/>
          </a:prstGeom>
          <a:noFill/>
          <a:ln w="12700">
            <a:noFill/>
            <a:miter lim="800000"/>
            <a:headEnd/>
            <a:tailEnd/>
          </a:ln>
        </p:spPr>
        <p:txBody>
          <a:bodyPr wrap="none" lIns="62313" tIns="24925" rIns="62313" bIns="24925">
            <a:spAutoFit/>
          </a:bodyPr>
          <a:lstStyle/>
          <a:p>
            <a:pPr algn="ctr" defTabSz="896938" eaLnBrk="0" latinLnBrk="0" hangingPunct="0"/>
            <a:r>
              <a:rPr kumimoji="0" lang="ko-KR" altLang="en-US" sz="1000">
                <a:cs typeface="Times New Roman" pitchFamily="18" charset="0"/>
              </a:rPr>
              <a:t>1</a:t>
            </a:r>
          </a:p>
        </p:txBody>
      </p:sp>
      <p:sp>
        <p:nvSpPr>
          <p:cNvPr id="69" name="Rectangle 68"/>
          <p:cNvSpPr>
            <a:spLocks noChangeArrowheads="1"/>
          </p:cNvSpPr>
          <p:nvPr/>
        </p:nvSpPr>
        <p:spPr bwMode="auto">
          <a:xfrm>
            <a:off x="1881637" y="4307512"/>
            <a:ext cx="183551" cy="191594"/>
          </a:xfrm>
          <a:prstGeom prst="rect">
            <a:avLst/>
          </a:prstGeom>
          <a:noFill/>
          <a:ln w="12700">
            <a:noFill/>
            <a:miter lim="800000"/>
            <a:headEnd/>
            <a:tailEnd/>
          </a:ln>
        </p:spPr>
        <p:txBody>
          <a:bodyPr wrap="none" lIns="62313" tIns="24925" rIns="62313" bIns="24925">
            <a:spAutoFit/>
          </a:bodyPr>
          <a:lstStyle/>
          <a:p>
            <a:pPr algn="ctr" defTabSz="896938" eaLnBrk="0" latinLnBrk="0" hangingPunct="0">
              <a:lnSpc>
                <a:spcPct val="102000"/>
              </a:lnSpc>
            </a:pPr>
            <a:r>
              <a:rPr kumimoji="0" lang="ko-KR" altLang="en-US" sz="900">
                <a:cs typeface="Times New Roman" pitchFamily="18" charset="0"/>
              </a:rPr>
              <a:t>3</a:t>
            </a:r>
          </a:p>
        </p:txBody>
      </p:sp>
      <p:sp>
        <p:nvSpPr>
          <p:cNvPr id="70" name="Rectangle 69"/>
          <p:cNvSpPr>
            <a:spLocks noChangeArrowheads="1"/>
          </p:cNvSpPr>
          <p:nvPr/>
        </p:nvSpPr>
        <p:spPr bwMode="auto">
          <a:xfrm>
            <a:off x="2275429" y="4318263"/>
            <a:ext cx="183551" cy="191594"/>
          </a:xfrm>
          <a:prstGeom prst="rect">
            <a:avLst/>
          </a:prstGeom>
          <a:noFill/>
          <a:ln w="12700">
            <a:noFill/>
            <a:miter lim="800000"/>
            <a:headEnd/>
            <a:tailEnd/>
          </a:ln>
        </p:spPr>
        <p:txBody>
          <a:bodyPr wrap="none" lIns="62313" tIns="24925" rIns="62313" bIns="24925">
            <a:spAutoFit/>
          </a:bodyPr>
          <a:lstStyle/>
          <a:p>
            <a:pPr algn="ctr" defTabSz="896938" eaLnBrk="0" latinLnBrk="0" hangingPunct="0">
              <a:lnSpc>
                <a:spcPct val="102000"/>
              </a:lnSpc>
            </a:pPr>
            <a:r>
              <a:rPr kumimoji="0" lang="ko-KR" altLang="en-US" sz="900">
                <a:cs typeface="Times New Roman" pitchFamily="18" charset="0"/>
              </a:rPr>
              <a:t>4</a:t>
            </a:r>
          </a:p>
        </p:txBody>
      </p:sp>
      <p:sp>
        <p:nvSpPr>
          <p:cNvPr id="71" name="Rectangle 70"/>
          <p:cNvSpPr>
            <a:spLocks noChangeArrowheads="1"/>
          </p:cNvSpPr>
          <p:nvPr/>
        </p:nvSpPr>
        <p:spPr bwMode="auto">
          <a:xfrm>
            <a:off x="2669222" y="4318263"/>
            <a:ext cx="183551" cy="191594"/>
          </a:xfrm>
          <a:prstGeom prst="rect">
            <a:avLst/>
          </a:prstGeom>
          <a:noFill/>
          <a:ln w="12700">
            <a:noFill/>
            <a:miter lim="800000"/>
            <a:headEnd/>
            <a:tailEnd/>
          </a:ln>
        </p:spPr>
        <p:txBody>
          <a:bodyPr wrap="none" lIns="62313" tIns="24925" rIns="62313" bIns="24925">
            <a:spAutoFit/>
          </a:bodyPr>
          <a:lstStyle/>
          <a:p>
            <a:pPr algn="ctr" defTabSz="896938" eaLnBrk="0" latinLnBrk="0" hangingPunct="0">
              <a:lnSpc>
                <a:spcPct val="102000"/>
              </a:lnSpc>
            </a:pPr>
            <a:r>
              <a:rPr kumimoji="0" lang="ko-KR" altLang="en-US" sz="900">
                <a:cs typeface="Times New Roman" pitchFamily="18" charset="0"/>
              </a:rPr>
              <a:t>5</a:t>
            </a:r>
          </a:p>
        </p:txBody>
      </p:sp>
      <p:sp>
        <p:nvSpPr>
          <p:cNvPr id="72" name="Rectangle 71"/>
          <p:cNvSpPr>
            <a:spLocks noChangeArrowheads="1"/>
          </p:cNvSpPr>
          <p:nvPr/>
        </p:nvSpPr>
        <p:spPr bwMode="auto">
          <a:xfrm>
            <a:off x="3064684" y="4318263"/>
            <a:ext cx="183551" cy="191594"/>
          </a:xfrm>
          <a:prstGeom prst="rect">
            <a:avLst/>
          </a:prstGeom>
          <a:noFill/>
          <a:ln w="12700">
            <a:noFill/>
            <a:miter lim="800000"/>
            <a:headEnd/>
            <a:tailEnd/>
          </a:ln>
        </p:spPr>
        <p:txBody>
          <a:bodyPr wrap="none" lIns="62313" tIns="24925" rIns="62313" bIns="24925">
            <a:spAutoFit/>
          </a:bodyPr>
          <a:lstStyle/>
          <a:p>
            <a:pPr algn="ctr" defTabSz="896938" eaLnBrk="0" latinLnBrk="0" hangingPunct="0">
              <a:lnSpc>
                <a:spcPct val="102000"/>
              </a:lnSpc>
            </a:pPr>
            <a:r>
              <a:rPr kumimoji="0" lang="ko-KR" altLang="en-US" sz="900">
                <a:cs typeface="Times New Roman" pitchFamily="18" charset="0"/>
              </a:rPr>
              <a:t>6</a:t>
            </a:r>
          </a:p>
        </p:txBody>
      </p:sp>
      <p:sp>
        <p:nvSpPr>
          <p:cNvPr id="73" name="Rectangle 72"/>
          <p:cNvSpPr>
            <a:spLocks noChangeArrowheads="1"/>
          </p:cNvSpPr>
          <p:nvPr/>
        </p:nvSpPr>
        <p:spPr bwMode="auto">
          <a:xfrm>
            <a:off x="3431779" y="4307512"/>
            <a:ext cx="183551" cy="191594"/>
          </a:xfrm>
          <a:prstGeom prst="rect">
            <a:avLst/>
          </a:prstGeom>
          <a:noFill/>
          <a:ln w="12700">
            <a:noFill/>
            <a:miter lim="800000"/>
            <a:headEnd/>
            <a:tailEnd/>
          </a:ln>
        </p:spPr>
        <p:txBody>
          <a:bodyPr wrap="none" lIns="62313" tIns="24925" rIns="62313" bIns="24925">
            <a:spAutoFit/>
          </a:bodyPr>
          <a:lstStyle/>
          <a:p>
            <a:pPr algn="ctr" defTabSz="896938" eaLnBrk="0" latinLnBrk="0" hangingPunct="0">
              <a:lnSpc>
                <a:spcPct val="102000"/>
              </a:lnSpc>
            </a:pPr>
            <a:r>
              <a:rPr kumimoji="0" lang="ko-KR" altLang="en-US" sz="900">
                <a:cs typeface="Times New Roman" pitchFamily="18" charset="0"/>
              </a:rPr>
              <a:t>7</a:t>
            </a:r>
          </a:p>
        </p:txBody>
      </p:sp>
      <p:sp>
        <p:nvSpPr>
          <p:cNvPr id="74" name="Rectangle 73"/>
          <p:cNvSpPr>
            <a:spLocks noChangeArrowheads="1"/>
          </p:cNvSpPr>
          <p:nvPr/>
        </p:nvSpPr>
        <p:spPr bwMode="auto">
          <a:xfrm>
            <a:off x="3852269" y="4318263"/>
            <a:ext cx="183551" cy="191594"/>
          </a:xfrm>
          <a:prstGeom prst="rect">
            <a:avLst/>
          </a:prstGeom>
          <a:noFill/>
          <a:ln w="12700">
            <a:noFill/>
            <a:miter lim="800000"/>
            <a:headEnd/>
            <a:tailEnd/>
          </a:ln>
        </p:spPr>
        <p:txBody>
          <a:bodyPr wrap="none" lIns="62313" tIns="24925" rIns="62313" bIns="24925">
            <a:spAutoFit/>
          </a:bodyPr>
          <a:lstStyle/>
          <a:p>
            <a:pPr algn="ctr" defTabSz="896938" eaLnBrk="0" latinLnBrk="0" hangingPunct="0">
              <a:lnSpc>
                <a:spcPct val="102000"/>
              </a:lnSpc>
            </a:pPr>
            <a:r>
              <a:rPr kumimoji="0" lang="ko-KR" altLang="en-US" sz="900">
                <a:cs typeface="Times New Roman" pitchFamily="18" charset="0"/>
              </a:rPr>
              <a:t>8</a:t>
            </a:r>
          </a:p>
        </p:txBody>
      </p:sp>
      <p:sp>
        <p:nvSpPr>
          <p:cNvPr id="75" name="Rectangle 74"/>
          <p:cNvSpPr>
            <a:spLocks noChangeArrowheads="1"/>
          </p:cNvSpPr>
          <p:nvPr/>
        </p:nvSpPr>
        <p:spPr bwMode="auto">
          <a:xfrm>
            <a:off x="4247730" y="4318263"/>
            <a:ext cx="183551" cy="191594"/>
          </a:xfrm>
          <a:prstGeom prst="rect">
            <a:avLst/>
          </a:prstGeom>
          <a:noFill/>
          <a:ln w="12700">
            <a:noFill/>
            <a:miter lim="800000"/>
            <a:headEnd/>
            <a:tailEnd/>
          </a:ln>
        </p:spPr>
        <p:txBody>
          <a:bodyPr wrap="none" lIns="62313" tIns="24925" rIns="62313" bIns="24925">
            <a:spAutoFit/>
          </a:bodyPr>
          <a:lstStyle/>
          <a:p>
            <a:pPr algn="ctr" defTabSz="896938" eaLnBrk="0" latinLnBrk="0" hangingPunct="0">
              <a:lnSpc>
                <a:spcPct val="102000"/>
              </a:lnSpc>
            </a:pPr>
            <a:r>
              <a:rPr kumimoji="0" lang="ko-KR" altLang="en-US" sz="900">
                <a:cs typeface="Times New Roman" pitchFamily="18" charset="0"/>
              </a:rPr>
              <a:t>9</a:t>
            </a:r>
          </a:p>
        </p:txBody>
      </p:sp>
      <p:sp>
        <p:nvSpPr>
          <p:cNvPr id="76" name="Rectangle 75"/>
          <p:cNvSpPr>
            <a:spLocks noChangeArrowheads="1"/>
          </p:cNvSpPr>
          <p:nvPr/>
        </p:nvSpPr>
        <p:spPr bwMode="auto">
          <a:xfrm>
            <a:off x="4619344" y="4318263"/>
            <a:ext cx="241259" cy="191594"/>
          </a:xfrm>
          <a:prstGeom prst="rect">
            <a:avLst/>
          </a:prstGeom>
          <a:noFill/>
          <a:ln w="12700">
            <a:noFill/>
            <a:miter lim="800000"/>
            <a:headEnd/>
            <a:tailEnd/>
          </a:ln>
        </p:spPr>
        <p:txBody>
          <a:bodyPr wrap="none" lIns="62313" tIns="24925" rIns="62313" bIns="24925">
            <a:spAutoFit/>
          </a:bodyPr>
          <a:lstStyle/>
          <a:p>
            <a:pPr algn="ctr" defTabSz="896938" eaLnBrk="0" latinLnBrk="0" hangingPunct="0">
              <a:lnSpc>
                <a:spcPct val="102000"/>
              </a:lnSpc>
            </a:pPr>
            <a:r>
              <a:rPr kumimoji="0" lang="ko-KR" altLang="en-US" sz="900">
                <a:cs typeface="Times New Roman" pitchFamily="18" charset="0"/>
              </a:rPr>
              <a:t>10</a:t>
            </a:r>
          </a:p>
        </p:txBody>
      </p:sp>
      <p:sp>
        <p:nvSpPr>
          <p:cNvPr id="77" name="Rectangle 76"/>
          <p:cNvSpPr>
            <a:spLocks noChangeArrowheads="1"/>
          </p:cNvSpPr>
          <p:nvPr/>
        </p:nvSpPr>
        <p:spPr bwMode="auto">
          <a:xfrm>
            <a:off x="5013137" y="4318263"/>
            <a:ext cx="241259" cy="191594"/>
          </a:xfrm>
          <a:prstGeom prst="rect">
            <a:avLst/>
          </a:prstGeom>
          <a:noFill/>
          <a:ln w="12700">
            <a:noFill/>
            <a:miter lim="800000"/>
            <a:headEnd/>
            <a:tailEnd/>
          </a:ln>
        </p:spPr>
        <p:txBody>
          <a:bodyPr wrap="none" lIns="62313" tIns="24925" rIns="62313" bIns="24925">
            <a:spAutoFit/>
          </a:bodyPr>
          <a:lstStyle/>
          <a:p>
            <a:pPr algn="ctr" defTabSz="896938" eaLnBrk="0" latinLnBrk="0" hangingPunct="0">
              <a:lnSpc>
                <a:spcPct val="102000"/>
              </a:lnSpc>
            </a:pPr>
            <a:r>
              <a:rPr kumimoji="0" lang="ko-KR" altLang="en-US" sz="900">
                <a:cs typeface="Times New Roman" pitchFamily="18" charset="0"/>
              </a:rPr>
              <a:t>11</a:t>
            </a:r>
          </a:p>
        </p:txBody>
      </p:sp>
      <p:sp>
        <p:nvSpPr>
          <p:cNvPr id="78" name="Rectangle 77"/>
          <p:cNvSpPr>
            <a:spLocks noChangeArrowheads="1"/>
          </p:cNvSpPr>
          <p:nvPr/>
        </p:nvSpPr>
        <p:spPr bwMode="auto">
          <a:xfrm>
            <a:off x="5408599" y="4318263"/>
            <a:ext cx="241259" cy="191594"/>
          </a:xfrm>
          <a:prstGeom prst="rect">
            <a:avLst/>
          </a:prstGeom>
          <a:noFill/>
          <a:ln w="12700">
            <a:noFill/>
            <a:miter lim="800000"/>
            <a:headEnd/>
            <a:tailEnd/>
          </a:ln>
        </p:spPr>
        <p:txBody>
          <a:bodyPr wrap="none" lIns="62313" tIns="24925" rIns="62313" bIns="24925">
            <a:spAutoFit/>
          </a:bodyPr>
          <a:lstStyle/>
          <a:p>
            <a:pPr algn="ctr" defTabSz="896938" eaLnBrk="0" latinLnBrk="0" hangingPunct="0">
              <a:lnSpc>
                <a:spcPct val="102000"/>
              </a:lnSpc>
            </a:pPr>
            <a:r>
              <a:rPr kumimoji="0" lang="ko-KR" altLang="en-US" sz="900">
                <a:cs typeface="Times New Roman" pitchFamily="18" charset="0"/>
              </a:rPr>
              <a:t>12</a:t>
            </a:r>
          </a:p>
        </p:txBody>
      </p:sp>
      <p:sp>
        <p:nvSpPr>
          <p:cNvPr id="79" name="Rectangle 78"/>
          <p:cNvSpPr>
            <a:spLocks noChangeArrowheads="1"/>
          </p:cNvSpPr>
          <p:nvPr/>
        </p:nvSpPr>
        <p:spPr bwMode="auto">
          <a:xfrm>
            <a:off x="5802391" y="4318263"/>
            <a:ext cx="241259" cy="191594"/>
          </a:xfrm>
          <a:prstGeom prst="rect">
            <a:avLst/>
          </a:prstGeom>
          <a:noFill/>
          <a:ln w="12700">
            <a:noFill/>
            <a:miter lim="800000"/>
            <a:headEnd/>
            <a:tailEnd/>
          </a:ln>
        </p:spPr>
        <p:txBody>
          <a:bodyPr wrap="none" lIns="62313" tIns="24925" rIns="62313" bIns="24925">
            <a:spAutoFit/>
          </a:bodyPr>
          <a:lstStyle/>
          <a:p>
            <a:pPr algn="ctr" defTabSz="896938" eaLnBrk="0" latinLnBrk="0" hangingPunct="0">
              <a:lnSpc>
                <a:spcPct val="102000"/>
              </a:lnSpc>
            </a:pPr>
            <a:r>
              <a:rPr kumimoji="0" lang="ko-KR" altLang="en-US" sz="900">
                <a:cs typeface="Times New Roman" pitchFamily="18" charset="0"/>
              </a:rPr>
              <a:t>13</a:t>
            </a:r>
          </a:p>
        </p:txBody>
      </p:sp>
      <p:sp>
        <p:nvSpPr>
          <p:cNvPr id="80" name="Rectangle 79"/>
          <p:cNvSpPr>
            <a:spLocks noChangeArrowheads="1"/>
          </p:cNvSpPr>
          <p:nvPr/>
        </p:nvSpPr>
        <p:spPr bwMode="auto">
          <a:xfrm>
            <a:off x="6197852" y="4318263"/>
            <a:ext cx="241259" cy="191594"/>
          </a:xfrm>
          <a:prstGeom prst="rect">
            <a:avLst/>
          </a:prstGeom>
          <a:noFill/>
          <a:ln w="12700">
            <a:noFill/>
            <a:miter lim="800000"/>
            <a:headEnd/>
            <a:tailEnd/>
          </a:ln>
        </p:spPr>
        <p:txBody>
          <a:bodyPr wrap="none" lIns="62313" tIns="24925" rIns="62313" bIns="24925">
            <a:spAutoFit/>
          </a:bodyPr>
          <a:lstStyle/>
          <a:p>
            <a:pPr algn="ctr" defTabSz="896938" eaLnBrk="0" latinLnBrk="0" hangingPunct="0">
              <a:lnSpc>
                <a:spcPct val="102000"/>
              </a:lnSpc>
            </a:pPr>
            <a:r>
              <a:rPr kumimoji="0" lang="ko-KR" altLang="en-US" sz="900">
                <a:cs typeface="Times New Roman" pitchFamily="18" charset="0"/>
              </a:rPr>
              <a:t>14</a:t>
            </a:r>
          </a:p>
        </p:txBody>
      </p:sp>
      <p:sp>
        <p:nvSpPr>
          <p:cNvPr id="81" name="Rectangle 80"/>
          <p:cNvSpPr>
            <a:spLocks noChangeArrowheads="1"/>
          </p:cNvSpPr>
          <p:nvPr/>
        </p:nvSpPr>
        <p:spPr bwMode="auto">
          <a:xfrm>
            <a:off x="6591645" y="4318263"/>
            <a:ext cx="241259" cy="191594"/>
          </a:xfrm>
          <a:prstGeom prst="rect">
            <a:avLst/>
          </a:prstGeom>
          <a:noFill/>
          <a:ln w="12700">
            <a:noFill/>
            <a:miter lim="800000"/>
            <a:headEnd/>
            <a:tailEnd/>
          </a:ln>
        </p:spPr>
        <p:txBody>
          <a:bodyPr wrap="none" lIns="62313" tIns="24925" rIns="62313" bIns="24925">
            <a:spAutoFit/>
          </a:bodyPr>
          <a:lstStyle/>
          <a:p>
            <a:pPr algn="ctr" defTabSz="896938" eaLnBrk="0" latinLnBrk="0" hangingPunct="0">
              <a:lnSpc>
                <a:spcPct val="102000"/>
              </a:lnSpc>
            </a:pPr>
            <a:r>
              <a:rPr kumimoji="0" lang="ko-KR" altLang="en-US" sz="900">
                <a:cs typeface="Times New Roman" pitchFamily="18" charset="0"/>
              </a:rPr>
              <a:t>15</a:t>
            </a:r>
          </a:p>
        </p:txBody>
      </p:sp>
      <p:sp>
        <p:nvSpPr>
          <p:cNvPr id="82" name="Rectangle 81"/>
          <p:cNvSpPr>
            <a:spLocks noChangeArrowheads="1"/>
          </p:cNvSpPr>
          <p:nvPr/>
        </p:nvSpPr>
        <p:spPr bwMode="auto">
          <a:xfrm>
            <a:off x="1095852" y="5674559"/>
            <a:ext cx="189963" cy="204225"/>
          </a:xfrm>
          <a:prstGeom prst="rect">
            <a:avLst/>
          </a:prstGeom>
          <a:noFill/>
          <a:ln w="12700">
            <a:noFill/>
            <a:miter lim="800000"/>
            <a:headEnd/>
            <a:tailEnd/>
          </a:ln>
        </p:spPr>
        <p:txBody>
          <a:bodyPr wrap="none" lIns="62313" tIns="24925" rIns="62313" bIns="24925">
            <a:spAutoFit/>
          </a:bodyPr>
          <a:lstStyle/>
          <a:p>
            <a:pPr algn="ctr" defTabSz="896938" eaLnBrk="0" latinLnBrk="0" hangingPunct="0"/>
            <a:r>
              <a:rPr kumimoji="0" lang="ko-KR" altLang="en-US" sz="1000">
                <a:cs typeface="Times New Roman" pitchFamily="18" charset="0"/>
              </a:rPr>
              <a:t>1</a:t>
            </a:r>
          </a:p>
        </p:txBody>
      </p:sp>
      <p:sp>
        <p:nvSpPr>
          <p:cNvPr id="83" name="Rectangle 82"/>
          <p:cNvSpPr>
            <a:spLocks noChangeArrowheads="1"/>
          </p:cNvSpPr>
          <p:nvPr/>
        </p:nvSpPr>
        <p:spPr bwMode="auto">
          <a:xfrm>
            <a:off x="1486176" y="5686847"/>
            <a:ext cx="183551" cy="191594"/>
          </a:xfrm>
          <a:prstGeom prst="rect">
            <a:avLst/>
          </a:prstGeom>
          <a:noFill/>
          <a:ln w="12700">
            <a:noFill/>
            <a:miter lim="800000"/>
            <a:headEnd/>
            <a:tailEnd/>
          </a:ln>
        </p:spPr>
        <p:txBody>
          <a:bodyPr wrap="none" lIns="62313" tIns="24925" rIns="62313" bIns="24925">
            <a:spAutoFit/>
          </a:bodyPr>
          <a:lstStyle/>
          <a:p>
            <a:pPr algn="ctr" defTabSz="896938" eaLnBrk="0" latinLnBrk="0" hangingPunct="0">
              <a:lnSpc>
                <a:spcPct val="102000"/>
              </a:lnSpc>
            </a:pPr>
            <a:r>
              <a:rPr kumimoji="0" lang="ko-KR" altLang="en-US" sz="900">
                <a:cs typeface="Times New Roman" pitchFamily="18" charset="0"/>
              </a:rPr>
              <a:t>2</a:t>
            </a:r>
          </a:p>
        </p:txBody>
      </p:sp>
      <p:sp>
        <p:nvSpPr>
          <p:cNvPr id="84" name="Rectangle 83"/>
          <p:cNvSpPr>
            <a:spLocks noChangeArrowheads="1"/>
          </p:cNvSpPr>
          <p:nvPr/>
        </p:nvSpPr>
        <p:spPr bwMode="auto">
          <a:xfrm>
            <a:off x="1881637" y="5686847"/>
            <a:ext cx="183551" cy="191594"/>
          </a:xfrm>
          <a:prstGeom prst="rect">
            <a:avLst/>
          </a:prstGeom>
          <a:noFill/>
          <a:ln w="12700">
            <a:noFill/>
            <a:miter lim="800000"/>
            <a:headEnd/>
            <a:tailEnd/>
          </a:ln>
        </p:spPr>
        <p:txBody>
          <a:bodyPr wrap="none" lIns="62313" tIns="24925" rIns="62313" bIns="24925">
            <a:spAutoFit/>
          </a:bodyPr>
          <a:lstStyle/>
          <a:p>
            <a:pPr algn="ctr" defTabSz="896938" eaLnBrk="0" latinLnBrk="0" hangingPunct="0">
              <a:lnSpc>
                <a:spcPct val="102000"/>
              </a:lnSpc>
            </a:pPr>
            <a:r>
              <a:rPr kumimoji="0" lang="ko-KR" altLang="en-US" sz="900">
                <a:cs typeface="Times New Roman" pitchFamily="18" charset="0"/>
              </a:rPr>
              <a:t>3</a:t>
            </a:r>
          </a:p>
        </p:txBody>
      </p:sp>
      <p:sp>
        <p:nvSpPr>
          <p:cNvPr id="85" name="Rectangle 84"/>
          <p:cNvSpPr>
            <a:spLocks noChangeArrowheads="1"/>
          </p:cNvSpPr>
          <p:nvPr/>
        </p:nvSpPr>
        <p:spPr bwMode="auto">
          <a:xfrm>
            <a:off x="2275429" y="5686847"/>
            <a:ext cx="183551" cy="191594"/>
          </a:xfrm>
          <a:prstGeom prst="rect">
            <a:avLst/>
          </a:prstGeom>
          <a:noFill/>
          <a:ln w="12700">
            <a:noFill/>
            <a:miter lim="800000"/>
            <a:headEnd/>
            <a:tailEnd/>
          </a:ln>
        </p:spPr>
        <p:txBody>
          <a:bodyPr wrap="none" lIns="62313" tIns="24925" rIns="62313" bIns="24925">
            <a:spAutoFit/>
          </a:bodyPr>
          <a:lstStyle/>
          <a:p>
            <a:pPr algn="ctr" defTabSz="896938" eaLnBrk="0" latinLnBrk="0" hangingPunct="0">
              <a:lnSpc>
                <a:spcPct val="102000"/>
              </a:lnSpc>
            </a:pPr>
            <a:r>
              <a:rPr kumimoji="0" lang="ko-KR" altLang="en-US" sz="900">
                <a:cs typeface="Times New Roman" pitchFamily="18" charset="0"/>
              </a:rPr>
              <a:t>4</a:t>
            </a:r>
          </a:p>
        </p:txBody>
      </p:sp>
      <p:sp>
        <p:nvSpPr>
          <p:cNvPr id="86" name="Rectangle 85"/>
          <p:cNvSpPr>
            <a:spLocks noChangeArrowheads="1"/>
          </p:cNvSpPr>
          <p:nvPr/>
        </p:nvSpPr>
        <p:spPr bwMode="auto">
          <a:xfrm>
            <a:off x="2669222" y="5686847"/>
            <a:ext cx="183551" cy="191594"/>
          </a:xfrm>
          <a:prstGeom prst="rect">
            <a:avLst/>
          </a:prstGeom>
          <a:noFill/>
          <a:ln w="12700">
            <a:noFill/>
            <a:miter lim="800000"/>
            <a:headEnd/>
            <a:tailEnd/>
          </a:ln>
        </p:spPr>
        <p:txBody>
          <a:bodyPr wrap="none" lIns="62313" tIns="24925" rIns="62313" bIns="24925">
            <a:spAutoFit/>
          </a:bodyPr>
          <a:lstStyle/>
          <a:p>
            <a:pPr algn="ctr" defTabSz="896938" eaLnBrk="0" latinLnBrk="0" hangingPunct="0">
              <a:lnSpc>
                <a:spcPct val="102000"/>
              </a:lnSpc>
            </a:pPr>
            <a:r>
              <a:rPr kumimoji="0" lang="ko-KR" altLang="en-US" sz="900">
                <a:cs typeface="Times New Roman" pitchFamily="18" charset="0"/>
              </a:rPr>
              <a:t>5</a:t>
            </a:r>
          </a:p>
        </p:txBody>
      </p:sp>
      <p:sp>
        <p:nvSpPr>
          <p:cNvPr id="87" name="Rectangle 86"/>
          <p:cNvSpPr>
            <a:spLocks noChangeArrowheads="1"/>
          </p:cNvSpPr>
          <p:nvPr/>
        </p:nvSpPr>
        <p:spPr bwMode="auto">
          <a:xfrm>
            <a:off x="3064684" y="5686847"/>
            <a:ext cx="183551" cy="191594"/>
          </a:xfrm>
          <a:prstGeom prst="rect">
            <a:avLst/>
          </a:prstGeom>
          <a:noFill/>
          <a:ln w="12700">
            <a:noFill/>
            <a:miter lim="800000"/>
            <a:headEnd/>
            <a:tailEnd/>
          </a:ln>
        </p:spPr>
        <p:txBody>
          <a:bodyPr wrap="none" lIns="62313" tIns="24925" rIns="62313" bIns="24925">
            <a:spAutoFit/>
          </a:bodyPr>
          <a:lstStyle/>
          <a:p>
            <a:pPr algn="ctr" defTabSz="896938" eaLnBrk="0" latinLnBrk="0" hangingPunct="0">
              <a:lnSpc>
                <a:spcPct val="102000"/>
              </a:lnSpc>
            </a:pPr>
            <a:r>
              <a:rPr kumimoji="0" lang="ko-KR" altLang="en-US" sz="900">
                <a:cs typeface="Times New Roman" pitchFamily="18" charset="0"/>
              </a:rPr>
              <a:t>6</a:t>
            </a:r>
          </a:p>
        </p:txBody>
      </p:sp>
      <p:sp>
        <p:nvSpPr>
          <p:cNvPr id="88" name="Rectangle 87"/>
          <p:cNvSpPr>
            <a:spLocks noChangeArrowheads="1"/>
          </p:cNvSpPr>
          <p:nvPr/>
        </p:nvSpPr>
        <p:spPr bwMode="auto">
          <a:xfrm>
            <a:off x="3458477" y="5686847"/>
            <a:ext cx="183551" cy="191594"/>
          </a:xfrm>
          <a:prstGeom prst="rect">
            <a:avLst/>
          </a:prstGeom>
          <a:noFill/>
          <a:ln w="12700">
            <a:noFill/>
            <a:miter lim="800000"/>
            <a:headEnd/>
            <a:tailEnd/>
          </a:ln>
        </p:spPr>
        <p:txBody>
          <a:bodyPr wrap="none" lIns="62313" tIns="24925" rIns="62313" bIns="24925">
            <a:spAutoFit/>
          </a:bodyPr>
          <a:lstStyle/>
          <a:p>
            <a:pPr algn="ctr" defTabSz="896938" eaLnBrk="0" latinLnBrk="0" hangingPunct="0">
              <a:lnSpc>
                <a:spcPct val="102000"/>
              </a:lnSpc>
            </a:pPr>
            <a:r>
              <a:rPr kumimoji="0" lang="ko-KR" altLang="en-US" sz="900">
                <a:cs typeface="Times New Roman" pitchFamily="18" charset="0"/>
              </a:rPr>
              <a:t>7</a:t>
            </a:r>
          </a:p>
        </p:txBody>
      </p:sp>
      <p:sp>
        <p:nvSpPr>
          <p:cNvPr id="89" name="Rectangle 88"/>
          <p:cNvSpPr>
            <a:spLocks noChangeArrowheads="1"/>
          </p:cNvSpPr>
          <p:nvPr/>
        </p:nvSpPr>
        <p:spPr bwMode="auto">
          <a:xfrm>
            <a:off x="3852269" y="5686847"/>
            <a:ext cx="183551" cy="191594"/>
          </a:xfrm>
          <a:prstGeom prst="rect">
            <a:avLst/>
          </a:prstGeom>
          <a:noFill/>
          <a:ln w="12700">
            <a:noFill/>
            <a:miter lim="800000"/>
            <a:headEnd/>
            <a:tailEnd/>
          </a:ln>
        </p:spPr>
        <p:txBody>
          <a:bodyPr wrap="none" lIns="62313" tIns="24925" rIns="62313" bIns="24925">
            <a:spAutoFit/>
          </a:bodyPr>
          <a:lstStyle/>
          <a:p>
            <a:pPr algn="ctr" defTabSz="896938" eaLnBrk="0" latinLnBrk="0" hangingPunct="0">
              <a:lnSpc>
                <a:spcPct val="102000"/>
              </a:lnSpc>
            </a:pPr>
            <a:r>
              <a:rPr kumimoji="0" lang="ko-KR" altLang="en-US" sz="900">
                <a:cs typeface="Times New Roman" pitchFamily="18" charset="0"/>
              </a:rPr>
              <a:t>8</a:t>
            </a:r>
          </a:p>
        </p:txBody>
      </p:sp>
      <p:sp>
        <p:nvSpPr>
          <p:cNvPr id="90" name="Rectangle 89"/>
          <p:cNvSpPr>
            <a:spLocks noChangeArrowheads="1"/>
          </p:cNvSpPr>
          <p:nvPr/>
        </p:nvSpPr>
        <p:spPr bwMode="auto">
          <a:xfrm>
            <a:off x="4247730" y="5686847"/>
            <a:ext cx="183551" cy="191594"/>
          </a:xfrm>
          <a:prstGeom prst="rect">
            <a:avLst/>
          </a:prstGeom>
          <a:noFill/>
          <a:ln w="12700">
            <a:noFill/>
            <a:miter lim="800000"/>
            <a:headEnd/>
            <a:tailEnd/>
          </a:ln>
        </p:spPr>
        <p:txBody>
          <a:bodyPr wrap="none" lIns="62313" tIns="24925" rIns="62313" bIns="24925">
            <a:spAutoFit/>
          </a:bodyPr>
          <a:lstStyle/>
          <a:p>
            <a:pPr algn="ctr" defTabSz="896938" eaLnBrk="0" latinLnBrk="0" hangingPunct="0">
              <a:lnSpc>
                <a:spcPct val="102000"/>
              </a:lnSpc>
            </a:pPr>
            <a:r>
              <a:rPr kumimoji="0" lang="ko-KR" altLang="en-US" sz="900">
                <a:cs typeface="Times New Roman" pitchFamily="18" charset="0"/>
              </a:rPr>
              <a:t>9</a:t>
            </a:r>
          </a:p>
        </p:txBody>
      </p:sp>
      <p:sp>
        <p:nvSpPr>
          <p:cNvPr id="91" name="Rectangle 90"/>
          <p:cNvSpPr>
            <a:spLocks noChangeArrowheads="1"/>
          </p:cNvSpPr>
          <p:nvPr/>
        </p:nvSpPr>
        <p:spPr bwMode="auto">
          <a:xfrm>
            <a:off x="4619344" y="5686847"/>
            <a:ext cx="241259" cy="191594"/>
          </a:xfrm>
          <a:prstGeom prst="rect">
            <a:avLst/>
          </a:prstGeom>
          <a:noFill/>
          <a:ln w="12700">
            <a:noFill/>
            <a:miter lim="800000"/>
            <a:headEnd/>
            <a:tailEnd/>
          </a:ln>
        </p:spPr>
        <p:txBody>
          <a:bodyPr wrap="none" lIns="62313" tIns="24925" rIns="62313" bIns="24925">
            <a:spAutoFit/>
          </a:bodyPr>
          <a:lstStyle/>
          <a:p>
            <a:pPr algn="ctr" defTabSz="896938" eaLnBrk="0" latinLnBrk="0" hangingPunct="0">
              <a:lnSpc>
                <a:spcPct val="102000"/>
              </a:lnSpc>
            </a:pPr>
            <a:r>
              <a:rPr kumimoji="0" lang="ko-KR" altLang="en-US" sz="900">
                <a:cs typeface="Times New Roman" pitchFamily="18" charset="0"/>
              </a:rPr>
              <a:t>10</a:t>
            </a:r>
          </a:p>
        </p:txBody>
      </p:sp>
      <p:sp>
        <p:nvSpPr>
          <p:cNvPr id="92" name="Rectangle 91"/>
          <p:cNvSpPr>
            <a:spLocks noChangeArrowheads="1"/>
          </p:cNvSpPr>
          <p:nvPr/>
        </p:nvSpPr>
        <p:spPr bwMode="auto">
          <a:xfrm>
            <a:off x="5013137" y="5686847"/>
            <a:ext cx="241259" cy="191594"/>
          </a:xfrm>
          <a:prstGeom prst="rect">
            <a:avLst/>
          </a:prstGeom>
          <a:noFill/>
          <a:ln w="12700">
            <a:noFill/>
            <a:miter lim="800000"/>
            <a:headEnd/>
            <a:tailEnd/>
          </a:ln>
        </p:spPr>
        <p:txBody>
          <a:bodyPr wrap="none" lIns="62313" tIns="24925" rIns="62313" bIns="24925">
            <a:spAutoFit/>
          </a:bodyPr>
          <a:lstStyle/>
          <a:p>
            <a:pPr algn="ctr" defTabSz="896938" eaLnBrk="0" latinLnBrk="0" hangingPunct="0">
              <a:lnSpc>
                <a:spcPct val="102000"/>
              </a:lnSpc>
            </a:pPr>
            <a:r>
              <a:rPr kumimoji="0" lang="ko-KR" altLang="en-US" sz="900">
                <a:cs typeface="Times New Roman" pitchFamily="18" charset="0"/>
              </a:rPr>
              <a:t>11</a:t>
            </a:r>
          </a:p>
        </p:txBody>
      </p:sp>
      <p:sp>
        <p:nvSpPr>
          <p:cNvPr id="93" name="Rectangle 92"/>
          <p:cNvSpPr>
            <a:spLocks noChangeArrowheads="1"/>
          </p:cNvSpPr>
          <p:nvPr/>
        </p:nvSpPr>
        <p:spPr bwMode="auto">
          <a:xfrm>
            <a:off x="5408599" y="5686847"/>
            <a:ext cx="241259" cy="191594"/>
          </a:xfrm>
          <a:prstGeom prst="rect">
            <a:avLst/>
          </a:prstGeom>
          <a:noFill/>
          <a:ln w="12700">
            <a:noFill/>
            <a:miter lim="800000"/>
            <a:headEnd/>
            <a:tailEnd/>
          </a:ln>
        </p:spPr>
        <p:txBody>
          <a:bodyPr wrap="none" lIns="62313" tIns="24925" rIns="62313" bIns="24925">
            <a:spAutoFit/>
          </a:bodyPr>
          <a:lstStyle/>
          <a:p>
            <a:pPr algn="ctr" defTabSz="896938" eaLnBrk="0" latinLnBrk="0" hangingPunct="0">
              <a:lnSpc>
                <a:spcPct val="102000"/>
              </a:lnSpc>
            </a:pPr>
            <a:r>
              <a:rPr kumimoji="0" lang="ko-KR" altLang="en-US" sz="900">
                <a:cs typeface="Times New Roman" pitchFamily="18" charset="0"/>
              </a:rPr>
              <a:t>12</a:t>
            </a:r>
          </a:p>
        </p:txBody>
      </p:sp>
      <p:sp>
        <p:nvSpPr>
          <p:cNvPr id="94" name="Rectangle 93"/>
          <p:cNvSpPr>
            <a:spLocks noChangeArrowheads="1"/>
          </p:cNvSpPr>
          <p:nvPr/>
        </p:nvSpPr>
        <p:spPr bwMode="auto">
          <a:xfrm>
            <a:off x="5802391" y="5686847"/>
            <a:ext cx="241259" cy="191594"/>
          </a:xfrm>
          <a:prstGeom prst="rect">
            <a:avLst/>
          </a:prstGeom>
          <a:noFill/>
          <a:ln w="12700">
            <a:noFill/>
            <a:miter lim="800000"/>
            <a:headEnd/>
            <a:tailEnd/>
          </a:ln>
        </p:spPr>
        <p:txBody>
          <a:bodyPr wrap="none" lIns="62313" tIns="24925" rIns="62313" bIns="24925">
            <a:spAutoFit/>
          </a:bodyPr>
          <a:lstStyle/>
          <a:p>
            <a:pPr algn="ctr" defTabSz="896938" eaLnBrk="0" latinLnBrk="0" hangingPunct="0">
              <a:lnSpc>
                <a:spcPct val="102000"/>
              </a:lnSpc>
            </a:pPr>
            <a:r>
              <a:rPr kumimoji="0" lang="ko-KR" altLang="en-US" sz="900">
                <a:cs typeface="Times New Roman" pitchFamily="18" charset="0"/>
              </a:rPr>
              <a:t>13</a:t>
            </a:r>
          </a:p>
        </p:txBody>
      </p:sp>
      <p:sp>
        <p:nvSpPr>
          <p:cNvPr id="95" name="Rectangle 94"/>
          <p:cNvSpPr>
            <a:spLocks noChangeArrowheads="1"/>
          </p:cNvSpPr>
          <p:nvPr/>
        </p:nvSpPr>
        <p:spPr bwMode="auto">
          <a:xfrm>
            <a:off x="6197852" y="5686847"/>
            <a:ext cx="241259" cy="191594"/>
          </a:xfrm>
          <a:prstGeom prst="rect">
            <a:avLst/>
          </a:prstGeom>
          <a:noFill/>
          <a:ln w="12700">
            <a:noFill/>
            <a:miter lim="800000"/>
            <a:headEnd/>
            <a:tailEnd/>
          </a:ln>
        </p:spPr>
        <p:txBody>
          <a:bodyPr wrap="none" lIns="62313" tIns="24925" rIns="62313" bIns="24925">
            <a:spAutoFit/>
          </a:bodyPr>
          <a:lstStyle/>
          <a:p>
            <a:pPr algn="ctr" defTabSz="896938" eaLnBrk="0" latinLnBrk="0" hangingPunct="0">
              <a:lnSpc>
                <a:spcPct val="102000"/>
              </a:lnSpc>
            </a:pPr>
            <a:r>
              <a:rPr kumimoji="0" lang="ko-KR" altLang="en-US" sz="900">
                <a:cs typeface="Times New Roman" pitchFamily="18" charset="0"/>
              </a:rPr>
              <a:t>14</a:t>
            </a:r>
          </a:p>
        </p:txBody>
      </p:sp>
      <p:sp>
        <p:nvSpPr>
          <p:cNvPr id="96" name="Rectangle 95"/>
          <p:cNvSpPr>
            <a:spLocks noChangeArrowheads="1"/>
          </p:cNvSpPr>
          <p:nvPr/>
        </p:nvSpPr>
        <p:spPr bwMode="auto">
          <a:xfrm>
            <a:off x="6591645" y="5686847"/>
            <a:ext cx="241259" cy="191594"/>
          </a:xfrm>
          <a:prstGeom prst="rect">
            <a:avLst/>
          </a:prstGeom>
          <a:noFill/>
          <a:ln w="12700">
            <a:noFill/>
            <a:miter lim="800000"/>
            <a:headEnd/>
            <a:tailEnd/>
          </a:ln>
        </p:spPr>
        <p:txBody>
          <a:bodyPr wrap="none" lIns="62313" tIns="24925" rIns="62313" bIns="24925">
            <a:spAutoFit/>
          </a:bodyPr>
          <a:lstStyle/>
          <a:p>
            <a:pPr algn="ctr" defTabSz="896938" eaLnBrk="0" latinLnBrk="0" hangingPunct="0">
              <a:lnSpc>
                <a:spcPct val="102000"/>
              </a:lnSpc>
            </a:pPr>
            <a:r>
              <a:rPr kumimoji="0" lang="ko-KR" altLang="en-US" sz="900">
                <a:cs typeface="Times New Roman" pitchFamily="18" charset="0"/>
              </a:rPr>
              <a:t>15</a:t>
            </a:r>
          </a:p>
        </p:txBody>
      </p:sp>
      <p:sp>
        <p:nvSpPr>
          <p:cNvPr id="97" name="Rectangle 96"/>
          <p:cNvSpPr>
            <a:spLocks noChangeArrowheads="1"/>
          </p:cNvSpPr>
          <p:nvPr/>
        </p:nvSpPr>
        <p:spPr bwMode="auto">
          <a:xfrm>
            <a:off x="1371288" y="1402921"/>
            <a:ext cx="2687442" cy="348880"/>
          </a:xfrm>
          <a:prstGeom prst="rect">
            <a:avLst/>
          </a:prstGeom>
          <a:noFill/>
          <a:ln w="12700">
            <a:noFill/>
            <a:miter lim="800000"/>
            <a:headEnd/>
            <a:tailEnd/>
          </a:ln>
        </p:spPr>
        <p:txBody>
          <a:bodyPr wrap="none" lIns="62313" tIns="24925" rIns="62313" bIns="24925">
            <a:spAutoFit/>
          </a:bodyPr>
          <a:lstStyle/>
          <a:p>
            <a:pPr algn="ctr" defTabSz="896938" eaLnBrk="0" latinLnBrk="0" hangingPunct="0">
              <a:lnSpc>
                <a:spcPct val="97000"/>
              </a:lnSpc>
            </a:pPr>
            <a:r>
              <a:rPr kumimoji="0" lang="en-US" altLang="ko-KR" sz="2000" b="1" dirty="0">
                <a:cs typeface="Times New Roman" pitchFamily="18" charset="0"/>
              </a:rPr>
              <a:t>High Income Countries</a:t>
            </a:r>
          </a:p>
        </p:txBody>
      </p:sp>
      <p:sp>
        <p:nvSpPr>
          <p:cNvPr id="98" name="Rectangle 97"/>
          <p:cNvSpPr>
            <a:spLocks noChangeArrowheads="1"/>
          </p:cNvSpPr>
          <p:nvPr/>
        </p:nvSpPr>
        <p:spPr bwMode="auto">
          <a:xfrm>
            <a:off x="1373886" y="3276600"/>
            <a:ext cx="3072162" cy="348880"/>
          </a:xfrm>
          <a:prstGeom prst="rect">
            <a:avLst/>
          </a:prstGeom>
          <a:noFill/>
          <a:ln w="12700">
            <a:noFill/>
            <a:miter lim="800000"/>
            <a:headEnd/>
            <a:tailEnd/>
          </a:ln>
        </p:spPr>
        <p:txBody>
          <a:bodyPr wrap="none" lIns="62313" tIns="24925" rIns="62313" bIns="24925">
            <a:spAutoFit/>
          </a:bodyPr>
          <a:lstStyle/>
          <a:p>
            <a:pPr algn="ctr" defTabSz="896938" eaLnBrk="0" latinLnBrk="0" hangingPunct="0">
              <a:lnSpc>
                <a:spcPct val="97000"/>
              </a:lnSpc>
            </a:pPr>
            <a:r>
              <a:rPr kumimoji="0" lang="en-US" altLang="ko-KR" sz="2000" b="1" dirty="0">
                <a:cs typeface="Times New Roman" pitchFamily="18" charset="0"/>
              </a:rPr>
              <a:t>Medium Income Countries</a:t>
            </a:r>
          </a:p>
        </p:txBody>
      </p:sp>
      <p:sp>
        <p:nvSpPr>
          <p:cNvPr id="99" name="Rectangle 98"/>
          <p:cNvSpPr>
            <a:spLocks noChangeArrowheads="1"/>
          </p:cNvSpPr>
          <p:nvPr/>
        </p:nvSpPr>
        <p:spPr bwMode="auto">
          <a:xfrm>
            <a:off x="1383245" y="4876800"/>
            <a:ext cx="2632940" cy="348880"/>
          </a:xfrm>
          <a:prstGeom prst="rect">
            <a:avLst/>
          </a:prstGeom>
          <a:noFill/>
          <a:ln w="12700">
            <a:noFill/>
            <a:miter lim="800000"/>
            <a:headEnd/>
            <a:tailEnd/>
          </a:ln>
        </p:spPr>
        <p:txBody>
          <a:bodyPr wrap="none" lIns="62313" tIns="24925" rIns="62313" bIns="24925">
            <a:spAutoFit/>
          </a:bodyPr>
          <a:lstStyle/>
          <a:p>
            <a:pPr algn="ctr" defTabSz="896938" eaLnBrk="0" latinLnBrk="0" hangingPunct="0">
              <a:lnSpc>
                <a:spcPct val="97000"/>
              </a:lnSpc>
            </a:pPr>
            <a:r>
              <a:rPr kumimoji="0" lang="en-US" altLang="ko-KR" sz="2000" b="1" dirty="0">
                <a:cs typeface="Times New Roman" pitchFamily="18" charset="0"/>
              </a:rPr>
              <a:t>Low Income Countries</a:t>
            </a:r>
          </a:p>
        </p:txBody>
      </p:sp>
      <p:sp>
        <p:nvSpPr>
          <p:cNvPr id="100" name="Rectangle 99"/>
          <p:cNvSpPr>
            <a:spLocks noChangeArrowheads="1"/>
          </p:cNvSpPr>
          <p:nvPr/>
        </p:nvSpPr>
        <p:spPr bwMode="auto">
          <a:xfrm>
            <a:off x="8028384" y="5445224"/>
            <a:ext cx="867264" cy="408576"/>
          </a:xfrm>
          <a:prstGeom prst="rect">
            <a:avLst/>
          </a:prstGeom>
          <a:noFill/>
          <a:ln w="12700">
            <a:noFill/>
            <a:miter lim="800000"/>
            <a:headEnd/>
            <a:tailEnd/>
          </a:ln>
        </p:spPr>
        <p:txBody>
          <a:bodyPr wrap="none" lIns="62313" tIns="24925" rIns="62313" bIns="24925">
            <a:spAutoFit/>
          </a:bodyPr>
          <a:lstStyle/>
          <a:p>
            <a:pPr algn="ctr" defTabSz="896938" eaLnBrk="0" latinLnBrk="0" hangingPunct="0">
              <a:lnSpc>
                <a:spcPct val="97000"/>
              </a:lnSpc>
            </a:pPr>
            <a:r>
              <a:rPr kumimoji="0" lang="en-US" altLang="ko-KR" b="1" dirty="0">
                <a:cs typeface="Times New Roman" pitchFamily="18" charset="0"/>
              </a:rPr>
              <a:t>Time</a:t>
            </a:r>
            <a:r>
              <a:rPr kumimoji="0" lang="en-US" altLang="ko-KR" sz="2000" b="1" dirty="0">
                <a:cs typeface="Times New Roman" pitchFamily="18" charset="0"/>
              </a:rPr>
              <a:t> </a:t>
            </a:r>
          </a:p>
        </p:txBody>
      </p:sp>
      <p:sp>
        <p:nvSpPr>
          <p:cNvPr id="105" name="Rectangle 104"/>
          <p:cNvSpPr>
            <a:spLocks noChangeArrowheads="1"/>
          </p:cNvSpPr>
          <p:nvPr/>
        </p:nvSpPr>
        <p:spPr bwMode="auto">
          <a:xfrm>
            <a:off x="2754324" y="5656126"/>
            <a:ext cx="26698" cy="216577"/>
          </a:xfrm>
          <a:prstGeom prst="rect">
            <a:avLst/>
          </a:prstGeom>
          <a:noFill/>
          <a:ln w="12700">
            <a:noFill/>
            <a:miter lim="800000"/>
            <a:headEnd/>
            <a:tailEnd/>
          </a:ln>
        </p:spPr>
        <p:txBody>
          <a:bodyPr wrap="none" anchor="ctr"/>
          <a:lstStyle/>
          <a:p>
            <a:endParaRPr lang="ko-KR" altLang="ko-KR">
              <a:cs typeface="Times New Roman" pitchFamily="18" charset="0"/>
            </a:endParaRPr>
          </a:p>
        </p:txBody>
      </p:sp>
      <p:sp>
        <p:nvSpPr>
          <p:cNvPr id="101" name="Line 100"/>
          <p:cNvSpPr>
            <a:spLocks noChangeShapeType="1"/>
          </p:cNvSpPr>
          <p:nvPr/>
        </p:nvSpPr>
        <p:spPr bwMode="auto">
          <a:xfrm>
            <a:off x="971600" y="5866559"/>
            <a:ext cx="0" cy="540675"/>
          </a:xfrm>
          <a:prstGeom prst="line">
            <a:avLst/>
          </a:prstGeom>
          <a:noFill/>
          <a:ln w="38100">
            <a:solidFill>
              <a:srgbClr val="FFFF00"/>
            </a:solidFill>
            <a:round/>
            <a:headEnd/>
            <a:tailEnd/>
          </a:ln>
        </p:spPr>
        <p:txBody>
          <a:bodyPr wrap="none" anchor="ctr"/>
          <a:lstStyle/>
          <a:p>
            <a:endParaRPr lang="ko-KR" altLang="en-US"/>
          </a:p>
        </p:txBody>
      </p:sp>
      <p:sp>
        <p:nvSpPr>
          <p:cNvPr id="102" name="Line 101"/>
          <p:cNvSpPr>
            <a:spLocks noChangeShapeType="1"/>
          </p:cNvSpPr>
          <p:nvPr/>
        </p:nvSpPr>
        <p:spPr bwMode="auto">
          <a:xfrm>
            <a:off x="7812360" y="5866559"/>
            <a:ext cx="0" cy="540675"/>
          </a:xfrm>
          <a:prstGeom prst="line">
            <a:avLst/>
          </a:prstGeom>
          <a:noFill/>
          <a:ln w="38100">
            <a:solidFill>
              <a:srgbClr val="FFFF00"/>
            </a:solidFill>
            <a:round/>
            <a:headEnd/>
            <a:tailEnd/>
          </a:ln>
        </p:spPr>
        <p:txBody>
          <a:bodyPr wrap="none" anchor="ctr"/>
          <a:lstStyle/>
          <a:p>
            <a:endParaRPr lang="ko-KR" altLang="en-US"/>
          </a:p>
        </p:txBody>
      </p:sp>
      <p:sp>
        <p:nvSpPr>
          <p:cNvPr id="103" name="Line 102"/>
          <p:cNvSpPr>
            <a:spLocks noChangeShapeType="1"/>
          </p:cNvSpPr>
          <p:nvPr/>
        </p:nvSpPr>
        <p:spPr bwMode="auto">
          <a:xfrm>
            <a:off x="1115616" y="6381328"/>
            <a:ext cx="6656767" cy="15280"/>
          </a:xfrm>
          <a:prstGeom prst="line">
            <a:avLst/>
          </a:prstGeom>
          <a:noFill/>
          <a:ln w="28575">
            <a:solidFill>
              <a:srgbClr val="FFFF00"/>
            </a:solidFill>
            <a:round/>
            <a:headEnd type="triangle" w="med" len="med"/>
            <a:tailEnd type="triangle" w="med" len="med"/>
          </a:ln>
        </p:spPr>
        <p:txBody>
          <a:bodyPr wrap="none" anchor="ctr"/>
          <a:lstStyle/>
          <a:p>
            <a:endParaRPr lang="ko-KR" altLang="en-US"/>
          </a:p>
        </p:txBody>
      </p:sp>
      <p:sp useBgFill="1">
        <p:nvSpPr>
          <p:cNvPr id="104" name="Rectangle 103"/>
          <p:cNvSpPr>
            <a:spLocks noChangeArrowheads="1"/>
          </p:cNvSpPr>
          <p:nvPr/>
        </p:nvSpPr>
        <p:spPr bwMode="auto">
          <a:xfrm>
            <a:off x="2771800" y="6237312"/>
            <a:ext cx="3303762" cy="265780"/>
          </a:xfrm>
          <a:prstGeom prst="rect">
            <a:avLst/>
          </a:prstGeom>
          <a:ln w="12700">
            <a:noFill/>
            <a:miter lim="800000"/>
            <a:headEnd/>
            <a:tailEnd/>
          </a:ln>
        </p:spPr>
        <p:txBody>
          <a:bodyPr wrap="none" lIns="62313" tIns="24925" rIns="62313" bIns="24925">
            <a:spAutoFit/>
          </a:bodyPr>
          <a:lstStyle/>
          <a:p>
            <a:pPr algn="ctr" defTabSz="896938" eaLnBrk="0" latinLnBrk="0" hangingPunct="0"/>
            <a:r>
              <a:rPr kumimoji="0" lang="en-US" altLang="ko-KR" sz="1400" b="1" dirty="0">
                <a:cs typeface="Times New Roman" pitchFamily="18" charset="0"/>
              </a:rPr>
              <a:t>Stages of Production Development</a:t>
            </a:r>
          </a:p>
        </p:txBody>
      </p:sp>
      <p:sp>
        <p:nvSpPr>
          <p:cNvPr id="106" name="Line 105"/>
          <p:cNvSpPr>
            <a:spLocks noChangeShapeType="1"/>
          </p:cNvSpPr>
          <p:nvPr/>
        </p:nvSpPr>
        <p:spPr bwMode="auto">
          <a:xfrm>
            <a:off x="3347864" y="5943107"/>
            <a:ext cx="0" cy="276481"/>
          </a:xfrm>
          <a:prstGeom prst="line">
            <a:avLst/>
          </a:prstGeom>
          <a:noFill/>
          <a:ln w="38100">
            <a:solidFill>
              <a:srgbClr val="FFFF00"/>
            </a:solidFill>
            <a:round/>
            <a:headEnd/>
            <a:tailEnd/>
          </a:ln>
        </p:spPr>
        <p:txBody>
          <a:bodyPr wrap="none" anchor="ctr"/>
          <a:lstStyle/>
          <a:p>
            <a:r>
              <a:rPr lang="en-US" altLang="ko-KR" dirty="0"/>
              <a:t>   </a:t>
            </a:r>
            <a:endParaRPr lang="ko-KR" altLang="en-US" dirty="0"/>
          </a:p>
        </p:txBody>
      </p:sp>
      <p:sp>
        <p:nvSpPr>
          <p:cNvPr id="107" name="Line 106"/>
          <p:cNvSpPr>
            <a:spLocks noChangeShapeType="1"/>
          </p:cNvSpPr>
          <p:nvPr/>
        </p:nvSpPr>
        <p:spPr bwMode="auto">
          <a:xfrm>
            <a:off x="5652120" y="5931556"/>
            <a:ext cx="0" cy="276481"/>
          </a:xfrm>
          <a:prstGeom prst="line">
            <a:avLst/>
          </a:prstGeom>
          <a:noFill/>
          <a:ln w="38100">
            <a:solidFill>
              <a:srgbClr val="FFFF00"/>
            </a:solidFill>
            <a:round/>
            <a:headEnd/>
            <a:tailEnd/>
          </a:ln>
        </p:spPr>
        <p:txBody>
          <a:bodyPr wrap="none" anchor="ctr"/>
          <a:lstStyle/>
          <a:p>
            <a:endParaRPr lang="ko-KR" altLang="en-US"/>
          </a:p>
        </p:txBody>
      </p:sp>
      <p:sp>
        <p:nvSpPr>
          <p:cNvPr id="108" name="Rectangle 107"/>
          <p:cNvSpPr>
            <a:spLocks noChangeArrowheads="1"/>
          </p:cNvSpPr>
          <p:nvPr/>
        </p:nvSpPr>
        <p:spPr bwMode="auto">
          <a:xfrm>
            <a:off x="1547664" y="5971532"/>
            <a:ext cx="1347006" cy="265780"/>
          </a:xfrm>
          <a:prstGeom prst="rect">
            <a:avLst/>
          </a:prstGeom>
          <a:noFill/>
          <a:ln w="12700">
            <a:noFill/>
            <a:miter lim="800000"/>
            <a:headEnd/>
            <a:tailEnd/>
          </a:ln>
        </p:spPr>
        <p:txBody>
          <a:bodyPr wrap="none" lIns="62313" tIns="24925" rIns="62313" bIns="24925">
            <a:spAutoFit/>
          </a:bodyPr>
          <a:lstStyle/>
          <a:p>
            <a:pPr algn="ctr" defTabSz="896938" eaLnBrk="0" latinLnBrk="0" hangingPunct="0"/>
            <a:r>
              <a:rPr kumimoji="0" lang="en-US" altLang="ko-KR" sz="1400" b="1" dirty="0">
                <a:cs typeface="Times New Roman" pitchFamily="18" charset="0"/>
              </a:rPr>
              <a:t>New Product</a:t>
            </a:r>
          </a:p>
        </p:txBody>
      </p:sp>
      <p:sp>
        <p:nvSpPr>
          <p:cNvPr id="109" name="Rectangle 108"/>
          <p:cNvSpPr>
            <a:spLocks noChangeArrowheads="1"/>
          </p:cNvSpPr>
          <p:nvPr/>
        </p:nvSpPr>
        <p:spPr bwMode="auto">
          <a:xfrm>
            <a:off x="5724128" y="5953808"/>
            <a:ext cx="2016224" cy="265780"/>
          </a:xfrm>
          <a:prstGeom prst="rect">
            <a:avLst/>
          </a:prstGeom>
          <a:noFill/>
          <a:ln w="12700">
            <a:noFill/>
            <a:miter lim="800000"/>
            <a:headEnd/>
            <a:tailEnd/>
          </a:ln>
        </p:spPr>
        <p:txBody>
          <a:bodyPr wrap="square" lIns="62313" tIns="24925" rIns="62313" bIns="24925">
            <a:spAutoFit/>
          </a:bodyPr>
          <a:lstStyle/>
          <a:p>
            <a:pPr algn="ctr" defTabSz="896938" eaLnBrk="0" latinLnBrk="0" hangingPunct="0"/>
            <a:r>
              <a:rPr kumimoji="0" lang="en-US" altLang="ko-KR" sz="1400" b="1" dirty="0">
                <a:cs typeface="Times New Roman" pitchFamily="18" charset="0"/>
              </a:rPr>
              <a:t>Standardized Product</a:t>
            </a:r>
          </a:p>
        </p:txBody>
      </p:sp>
      <p:sp>
        <p:nvSpPr>
          <p:cNvPr id="110" name="Rectangle 109"/>
          <p:cNvSpPr>
            <a:spLocks noChangeArrowheads="1"/>
          </p:cNvSpPr>
          <p:nvPr/>
        </p:nvSpPr>
        <p:spPr bwMode="auto">
          <a:xfrm>
            <a:off x="3612863" y="5971532"/>
            <a:ext cx="1823233" cy="265780"/>
          </a:xfrm>
          <a:prstGeom prst="rect">
            <a:avLst/>
          </a:prstGeom>
          <a:noFill/>
          <a:ln w="12700">
            <a:noFill/>
            <a:miter lim="800000"/>
            <a:headEnd/>
            <a:tailEnd/>
          </a:ln>
        </p:spPr>
        <p:txBody>
          <a:bodyPr wrap="none" lIns="62313" tIns="24925" rIns="62313" bIns="24925">
            <a:spAutoFit/>
          </a:bodyPr>
          <a:lstStyle/>
          <a:p>
            <a:pPr algn="ctr" defTabSz="896938" eaLnBrk="0" latinLnBrk="0" hangingPunct="0"/>
            <a:r>
              <a:rPr kumimoji="0" lang="en-US" altLang="ko-KR" sz="1400" b="1" dirty="0">
                <a:cs typeface="Times New Roman" pitchFamily="18" charset="0"/>
              </a:rPr>
              <a:t>Maturing Product</a:t>
            </a:r>
          </a:p>
        </p:txBody>
      </p:sp>
      <p:sp>
        <p:nvSpPr>
          <p:cNvPr id="111" name="Rectangle 110"/>
          <p:cNvSpPr>
            <a:spLocks noChangeArrowheads="1"/>
          </p:cNvSpPr>
          <p:nvPr/>
        </p:nvSpPr>
        <p:spPr bwMode="auto">
          <a:xfrm>
            <a:off x="381000" y="1295400"/>
            <a:ext cx="303688" cy="2916250"/>
          </a:xfrm>
          <a:prstGeom prst="rect">
            <a:avLst/>
          </a:prstGeom>
          <a:noFill/>
          <a:ln w="12700">
            <a:noFill/>
            <a:miter lim="800000"/>
            <a:headEnd/>
            <a:tailEnd/>
          </a:ln>
        </p:spPr>
        <p:txBody>
          <a:bodyPr lIns="62313" tIns="24925" rIns="62313" bIns="24925">
            <a:spAutoFit/>
          </a:bodyPr>
          <a:lstStyle/>
          <a:p>
            <a:pPr algn="ctr" defTabSz="896938" eaLnBrk="0" latinLnBrk="0" hangingPunct="0">
              <a:lnSpc>
                <a:spcPct val="97000"/>
              </a:lnSpc>
            </a:pPr>
            <a:r>
              <a:rPr kumimoji="0" lang="en-US" altLang="ko-KR" b="1" dirty="0">
                <a:cs typeface="Times New Roman" pitchFamily="18" charset="0"/>
              </a:rPr>
              <a:t>Quant</a:t>
            </a:r>
          </a:p>
          <a:p>
            <a:pPr algn="ctr" defTabSz="896938" eaLnBrk="0" latinLnBrk="0" hangingPunct="0">
              <a:lnSpc>
                <a:spcPct val="97000"/>
              </a:lnSpc>
            </a:pPr>
            <a:r>
              <a:rPr kumimoji="0" lang="en-US" altLang="ko-KR" b="1" dirty="0">
                <a:cs typeface="Times New Roman" pitchFamily="18" charset="0"/>
              </a:rPr>
              <a:t>i</a:t>
            </a:r>
          </a:p>
          <a:p>
            <a:pPr algn="ctr" defTabSz="896938" eaLnBrk="0" latinLnBrk="0" hangingPunct="0">
              <a:lnSpc>
                <a:spcPct val="97000"/>
              </a:lnSpc>
            </a:pPr>
            <a:r>
              <a:rPr kumimoji="0" lang="en-US" altLang="ko-KR" b="1" dirty="0" err="1">
                <a:cs typeface="Times New Roman" pitchFamily="18" charset="0"/>
              </a:rPr>
              <a:t>ty</a:t>
            </a:r>
            <a:endParaRPr kumimoji="0" lang="en-US" altLang="ko-KR" b="1" dirty="0">
              <a:cs typeface="Times New Roman" pitchFamily="18" charset="0"/>
            </a:endParaRPr>
          </a:p>
        </p:txBody>
      </p:sp>
      <p:sp>
        <p:nvSpPr>
          <p:cNvPr id="112" name="Rectangle 111"/>
          <p:cNvSpPr>
            <a:spLocks noChangeArrowheads="1"/>
          </p:cNvSpPr>
          <p:nvPr/>
        </p:nvSpPr>
        <p:spPr bwMode="auto">
          <a:xfrm>
            <a:off x="7392387" y="1364521"/>
            <a:ext cx="1211718" cy="319000"/>
          </a:xfrm>
          <a:prstGeom prst="rect">
            <a:avLst/>
          </a:prstGeom>
          <a:noFill/>
          <a:ln w="12700">
            <a:noFill/>
            <a:miter lim="800000"/>
            <a:headEnd/>
            <a:tailEnd/>
          </a:ln>
        </p:spPr>
        <p:txBody>
          <a:bodyPr wrap="none" lIns="62313" tIns="24925" rIns="62313" bIns="24925">
            <a:spAutoFit/>
          </a:bodyPr>
          <a:lstStyle/>
          <a:p>
            <a:pPr algn="ctr" defTabSz="896938" eaLnBrk="0" latinLnBrk="0" hangingPunct="0">
              <a:lnSpc>
                <a:spcPct val="97000"/>
              </a:lnSpc>
            </a:pPr>
            <a:r>
              <a:rPr kumimoji="0" lang="en-US" altLang="ko-KR" sz="1800">
                <a:cs typeface="Times New Roman" pitchFamily="18" charset="0"/>
              </a:rPr>
              <a:t>production</a:t>
            </a:r>
          </a:p>
        </p:txBody>
      </p:sp>
      <p:sp>
        <p:nvSpPr>
          <p:cNvPr id="113" name="Rectangle 112"/>
          <p:cNvSpPr>
            <a:spLocks noChangeArrowheads="1"/>
          </p:cNvSpPr>
          <p:nvPr/>
        </p:nvSpPr>
        <p:spPr bwMode="auto">
          <a:xfrm>
            <a:off x="7318199" y="1988140"/>
            <a:ext cx="1395421" cy="319000"/>
          </a:xfrm>
          <a:prstGeom prst="rect">
            <a:avLst/>
          </a:prstGeom>
          <a:noFill/>
          <a:ln w="12700">
            <a:noFill/>
            <a:miter lim="800000"/>
            <a:headEnd/>
            <a:tailEnd/>
          </a:ln>
        </p:spPr>
        <p:txBody>
          <a:bodyPr wrap="none" lIns="62313" tIns="24925" rIns="62313" bIns="24925">
            <a:spAutoFit/>
          </a:bodyPr>
          <a:lstStyle/>
          <a:p>
            <a:pPr algn="ctr" defTabSz="896938" eaLnBrk="0" latinLnBrk="0" hangingPunct="0">
              <a:lnSpc>
                <a:spcPct val="97000"/>
              </a:lnSpc>
            </a:pPr>
            <a:r>
              <a:rPr kumimoji="0" lang="en-US" altLang="ko-KR" sz="1800">
                <a:cs typeface="Times New Roman" pitchFamily="18" charset="0"/>
              </a:rPr>
              <a:t>consumption</a:t>
            </a:r>
          </a:p>
        </p:txBody>
      </p:sp>
      <p:sp>
        <p:nvSpPr>
          <p:cNvPr id="114" name="Line 113"/>
          <p:cNvSpPr>
            <a:spLocks noChangeShapeType="1"/>
          </p:cNvSpPr>
          <p:nvPr/>
        </p:nvSpPr>
        <p:spPr bwMode="auto">
          <a:xfrm>
            <a:off x="7554367" y="1731166"/>
            <a:ext cx="980033" cy="21434"/>
          </a:xfrm>
          <a:prstGeom prst="line">
            <a:avLst/>
          </a:prstGeom>
          <a:noFill/>
          <a:ln w="38100">
            <a:solidFill>
              <a:srgbClr val="FFFF00"/>
            </a:solidFill>
            <a:round/>
            <a:headEnd/>
            <a:tailEnd/>
          </a:ln>
        </p:spPr>
        <p:txBody>
          <a:bodyPr wrap="none" anchor="ctr"/>
          <a:lstStyle/>
          <a:p>
            <a:endParaRPr lang="ko-KR" altLang="en-US"/>
          </a:p>
        </p:txBody>
      </p:sp>
      <p:sp>
        <p:nvSpPr>
          <p:cNvPr id="115" name="Rectangle 114"/>
          <p:cNvSpPr>
            <a:spLocks noChangeArrowheads="1"/>
          </p:cNvSpPr>
          <p:nvPr/>
        </p:nvSpPr>
        <p:spPr bwMode="auto">
          <a:xfrm>
            <a:off x="7321318" y="1295400"/>
            <a:ext cx="1441682" cy="1176582"/>
          </a:xfrm>
          <a:prstGeom prst="rect">
            <a:avLst/>
          </a:prstGeom>
          <a:noFill/>
          <a:ln w="12700">
            <a:solidFill>
              <a:srgbClr val="FFFF00"/>
            </a:solidFill>
            <a:miter lim="800000"/>
            <a:headEnd/>
            <a:tailEnd/>
          </a:ln>
        </p:spPr>
        <p:txBody>
          <a:bodyPr wrap="none" anchor="ctr"/>
          <a:lstStyle/>
          <a:p>
            <a:pPr algn="ctr" eaLnBrk="0" latinLnBrk="0" hangingPunct="0"/>
            <a:endParaRPr kumimoji="0" lang="ko-KR" altLang="en-US">
              <a:cs typeface="Times New Roman" pitchFamily="18" charset="0"/>
            </a:endParaRPr>
          </a:p>
        </p:txBody>
      </p:sp>
      <p:sp>
        <p:nvSpPr>
          <p:cNvPr id="116" name="Arc 115"/>
          <p:cNvSpPr>
            <a:spLocks/>
          </p:cNvSpPr>
          <p:nvPr/>
        </p:nvSpPr>
        <p:spPr bwMode="auto">
          <a:xfrm>
            <a:off x="935536" y="2040364"/>
            <a:ext cx="5778407" cy="786436"/>
          </a:xfrm>
          <a:custGeom>
            <a:avLst/>
            <a:gdLst>
              <a:gd name="T0" fmla="*/ 0 w 21600"/>
              <a:gd name="T1" fmla="*/ 1150915654 h 21600"/>
              <a:gd name="T2" fmla="*/ 2147483647 w 21600"/>
              <a:gd name="T3" fmla="*/ 0 h 21600"/>
              <a:gd name="T4" fmla="*/ 2147483647 w 21600"/>
              <a:gd name="T5" fmla="*/ 1150915654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21600"/>
                </a:moveTo>
                <a:cubicBezTo>
                  <a:pt x="0" y="9672"/>
                  <a:pt x="9666" y="3"/>
                  <a:pt x="21594" y="0"/>
                </a:cubicBezTo>
              </a:path>
              <a:path w="21600" h="21600" stroke="0" extrusionOk="0">
                <a:moveTo>
                  <a:pt x="0" y="21600"/>
                </a:moveTo>
                <a:cubicBezTo>
                  <a:pt x="0" y="9672"/>
                  <a:pt x="9666" y="3"/>
                  <a:pt x="21594" y="0"/>
                </a:cubicBezTo>
                <a:lnTo>
                  <a:pt x="21600" y="21600"/>
                </a:lnTo>
                <a:close/>
              </a:path>
            </a:pathLst>
          </a:custGeom>
          <a:noFill/>
          <a:ln w="57150" cap="rnd">
            <a:solidFill>
              <a:schemeClr val="tx2">
                <a:lumMod val="75000"/>
              </a:schemeClr>
            </a:solidFill>
            <a:round/>
            <a:headEnd/>
            <a:tailEnd/>
          </a:ln>
        </p:spPr>
        <p:txBody>
          <a:bodyPr wrap="none" anchor="ctr"/>
          <a:lstStyle/>
          <a:p>
            <a:endParaRPr lang="ko-KR" altLang="en-US">
              <a:cs typeface="Times New Roman" pitchFamily="18" charset="0"/>
            </a:endParaRPr>
          </a:p>
        </p:txBody>
      </p:sp>
      <p:sp>
        <p:nvSpPr>
          <p:cNvPr id="117" name="Arc 116"/>
          <p:cNvSpPr>
            <a:spLocks/>
          </p:cNvSpPr>
          <p:nvPr/>
        </p:nvSpPr>
        <p:spPr bwMode="auto">
          <a:xfrm>
            <a:off x="948885" y="1872939"/>
            <a:ext cx="1768730" cy="1049094"/>
          </a:xfrm>
          <a:custGeom>
            <a:avLst/>
            <a:gdLst>
              <a:gd name="T0" fmla="*/ 0 w 21600"/>
              <a:gd name="T1" fmla="*/ 2147483647 h 21600"/>
              <a:gd name="T2" fmla="*/ 2147483647 w 21600"/>
              <a:gd name="T3" fmla="*/ 0 h 21600"/>
              <a:gd name="T4" fmla="*/ 2147483647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21600"/>
                </a:moveTo>
                <a:cubicBezTo>
                  <a:pt x="0" y="9678"/>
                  <a:pt x="9658" y="11"/>
                  <a:pt x="21580" y="0"/>
                </a:cubicBezTo>
              </a:path>
              <a:path w="21600" h="21600" stroke="0" extrusionOk="0">
                <a:moveTo>
                  <a:pt x="0" y="21600"/>
                </a:moveTo>
                <a:cubicBezTo>
                  <a:pt x="0" y="9678"/>
                  <a:pt x="9658" y="11"/>
                  <a:pt x="21580" y="0"/>
                </a:cubicBezTo>
                <a:lnTo>
                  <a:pt x="21600" y="21600"/>
                </a:lnTo>
                <a:close/>
              </a:path>
            </a:pathLst>
          </a:custGeom>
          <a:noFill/>
          <a:ln w="57150" cap="rnd">
            <a:solidFill>
              <a:srgbClr val="FFFF00"/>
            </a:solidFill>
            <a:round/>
            <a:headEnd/>
            <a:tailEnd/>
          </a:ln>
        </p:spPr>
        <p:txBody>
          <a:bodyPr wrap="none" anchor="ctr"/>
          <a:lstStyle/>
          <a:p>
            <a:endParaRPr lang="ko-KR" altLang="en-US">
              <a:cs typeface="Times New Roman" pitchFamily="18" charset="0"/>
            </a:endParaRPr>
          </a:p>
        </p:txBody>
      </p:sp>
      <p:sp>
        <p:nvSpPr>
          <p:cNvPr id="118" name="Arc 117"/>
          <p:cNvSpPr>
            <a:spLocks/>
          </p:cNvSpPr>
          <p:nvPr/>
        </p:nvSpPr>
        <p:spPr bwMode="auto">
          <a:xfrm>
            <a:off x="2675899" y="1860651"/>
            <a:ext cx="3604205" cy="393218"/>
          </a:xfrm>
          <a:custGeom>
            <a:avLst/>
            <a:gdLst>
              <a:gd name="T0" fmla="*/ 0 w 21609"/>
              <a:gd name="T1" fmla="*/ 0 h 21600"/>
              <a:gd name="T2" fmla="*/ 2147483647 w 21609"/>
              <a:gd name="T3" fmla="*/ 143864457 h 21600"/>
              <a:gd name="T4" fmla="*/ 35957923 w 21609"/>
              <a:gd name="T5" fmla="*/ 143864457 h 21600"/>
              <a:gd name="T6" fmla="*/ 0 60000 65536"/>
              <a:gd name="T7" fmla="*/ 0 60000 65536"/>
              <a:gd name="T8" fmla="*/ 0 60000 65536"/>
              <a:gd name="T9" fmla="*/ 0 w 21609"/>
              <a:gd name="T10" fmla="*/ 0 h 21600"/>
              <a:gd name="T11" fmla="*/ 21609 w 21609"/>
              <a:gd name="T12" fmla="*/ 21600 h 21600"/>
            </a:gdLst>
            <a:ahLst/>
            <a:cxnLst>
              <a:cxn ang="T6">
                <a:pos x="T0" y="T1"/>
              </a:cxn>
              <a:cxn ang="T7">
                <a:pos x="T2" y="T3"/>
              </a:cxn>
              <a:cxn ang="T8">
                <a:pos x="T4" y="T5"/>
              </a:cxn>
            </a:cxnLst>
            <a:rect l="T9" t="T10" r="T11" b="T12"/>
            <a:pathLst>
              <a:path w="21609" h="21600" fill="none" extrusionOk="0">
                <a:moveTo>
                  <a:pt x="0" y="0"/>
                </a:moveTo>
                <a:cubicBezTo>
                  <a:pt x="3" y="0"/>
                  <a:pt x="6" y="-1"/>
                  <a:pt x="9" y="0"/>
                </a:cubicBezTo>
                <a:cubicBezTo>
                  <a:pt x="11938" y="0"/>
                  <a:pt x="21609" y="9670"/>
                  <a:pt x="21609" y="21600"/>
                </a:cubicBezTo>
              </a:path>
              <a:path w="21609" h="21600" stroke="0" extrusionOk="0">
                <a:moveTo>
                  <a:pt x="0" y="0"/>
                </a:moveTo>
                <a:cubicBezTo>
                  <a:pt x="3" y="0"/>
                  <a:pt x="6" y="-1"/>
                  <a:pt x="9" y="0"/>
                </a:cubicBezTo>
                <a:cubicBezTo>
                  <a:pt x="11938" y="0"/>
                  <a:pt x="21609" y="9670"/>
                  <a:pt x="21609" y="21600"/>
                </a:cubicBezTo>
                <a:lnTo>
                  <a:pt x="9" y="21600"/>
                </a:lnTo>
                <a:close/>
              </a:path>
            </a:pathLst>
          </a:custGeom>
          <a:noFill/>
          <a:ln w="57150" cap="rnd">
            <a:solidFill>
              <a:srgbClr val="FFFF00"/>
            </a:solidFill>
            <a:round/>
            <a:headEnd/>
            <a:tailEnd/>
          </a:ln>
        </p:spPr>
        <p:txBody>
          <a:bodyPr wrap="none" anchor="ctr"/>
          <a:lstStyle/>
          <a:p>
            <a:endParaRPr lang="ko-KR" altLang="en-US">
              <a:cs typeface="Times New Roman" pitchFamily="18" charset="0"/>
            </a:endParaRPr>
          </a:p>
        </p:txBody>
      </p:sp>
      <p:sp>
        <p:nvSpPr>
          <p:cNvPr id="119" name="Arc 118"/>
          <p:cNvSpPr>
            <a:spLocks/>
          </p:cNvSpPr>
          <p:nvPr/>
        </p:nvSpPr>
        <p:spPr bwMode="auto">
          <a:xfrm>
            <a:off x="1199177" y="3504179"/>
            <a:ext cx="5778407" cy="786436"/>
          </a:xfrm>
          <a:custGeom>
            <a:avLst/>
            <a:gdLst>
              <a:gd name="T0" fmla="*/ 0 w 21600"/>
              <a:gd name="T1" fmla="*/ 1150915654 h 21600"/>
              <a:gd name="T2" fmla="*/ 2147483647 w 21600"/>
              <a:gd name="T3" fmla="*/ 0 h 21600"/>
              <a:gd name="T4" fmla="*/ 2147483647 w 21600"/>
              <a:gd name="T5" fmla="*/ 1150915654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21600"/>
                </a:moveTo>
                <a:cubicBezTo>
                  <a:pt x="0" y="9672"/>
                  <a:pt x="9666" y="3"/>
                  <a:pt x="21594" y="0"/>
                </a:cubicBezTo>
              </a:path>
              <a:path w="21600" h="21600" stroke="0" extrusionOk="0">
                <a:moveTo>
                  <a:pt x="0" y="21600"/>
                </a:moveTo>
                <a:cubicBezTo>
                  <a:pt x="0" y="9672"/>
                  <a:pt x="9666" y="3"/>
                  <a:pt x="21594" y="0"/>
                </a:cubicBezTo>
                <a:lnTo>
                  <a:pt x="21600" y="21600"/>
                </a:lnTo>
                <a:close/>
              </a:path>
            </a:pathLst>
          </a:custGeom>
          <a:noFill/>
          <a:ln w="57150" cap="rnd">
            <a:solidFill>
              <a:schemeClr val="tx2">
                <a:lumMod val="75000"/>
              </a:schemeClr>
            </a:solidFill>
            <a:round/>
            <a:headEnd/>
            <a:tailEnd/>
          </a:ln>
        </p:spPr>
        <p:txBody>
          <a:bodyPr wrap="none" anchor="ctr"/>
          <a:lstStyle/>
          <a:p>
            <a:endParaRPr lang="ko-KR" altLang="en-US">
              <a:cs typeface="Times New Roman" pitchFamily="18" charset="0"/>
            </a:endParaRPr>
          </a:p>
        </p:txBody>
      </p:sp>
      <p:sp>
        <p:nvSpPr>
          <p:cNvPr id="120" name="Arc 119"/>
          <p:cNvSpPr>
            <a:spLocks/>
          </p:cNvSpPr>
          <p:nvPr/>
        </p:nvSpPr>
        <p:spPr bwMode="auto">
          <a:xfrm>
            <a:off x="4766672" y="4732985"/>
            <a:ext cx="2159186" cy="857092"/>
          </a:xfrm>
          <a:custGeom>
            <a:avLst/>
            <a:gdLst>
              <a:gd name="T0" fmla="*/ 2147483647 w 20177"/>
              <a:gd name="T1" fmla="*/ 531854223 h 21600"/>
              <a:gd name="T2" fmla="*/ 0 w 20177"/>
              <a:gd name="T3" fmla="*/ 1489827846 h 21600"/>
              <a:gd name="T4" fmla="*/ 0 w 20177"/>
              <a:gd name="T5" fmla="*/ 0 h 21600"/>
              <a:gd name="T6" fmla="*/ 0 60000 65536"/>
              <a:gd name="T7" fmla="*/ 0 60000 65536"/>
              <a:gd name="T8" fmla="*/ 0 60000 65536"/>
              <a:gd name="T9" fmla="*/ 0 w 20177"/>
              <a:gd name="T10" fmla="*/ 0 h 21600"/>
              <a:gd name="T11" fmla="*/ 20177 w 20177"/>
              <a:gd name="T12" fmla="*/ 21600 h 21600"/>
            </a:gdLst>
            <a:ahLst/>
            <a:cxnLst>
              <a:cxn ang="T6">
                <a:pos x="T0" y="T1"/>
              </a:cxn>
              <a:cxn ang="T7">
                <a:pos x="T2" y="T3"/>
              </a:cxn>
              <a:cxn ang="T8">
                <a:pos x="T4" y="T5"/>
              </a:cxn>
            </a:cxnLst>
            <a:rect l="T9" t="T10" r="T11" b="T12"/>
            <a:pathLst>
              <a:path w="20177" h="21600" fill="none" extrusionOk="0">
                <a:moveTo>
                  <a:pt x="20176" y="7710"/>
                </a:moveTo>
                <a:cubicBezTo>
                  <a:pt x="16980" y="16075"/>
                  <a:pt x="8954" y="21599"/>
                  <a:pt x="0" y="21600"/>
                </a:cubicBezTo>
              </a:path>
              <a:path w="20177" h="21600" stroke="0" extrusionOk="0">
                <a:moveTo>
                  <a:pt x="20176" y="7710"/>
                </a:moveTo>
                <a:cubicBezTo>
                  <a:pt x="16980" y="16075"/>
                  <a:pt x="8954" y="21599"/>
                  <a:pt x="0" y="21600"/>
                </a:cubicBezTo>
                <a:lnTo>
                  <a:pt x="0" y="0"/>
                </a:lnTo>
                <a:close/>
              </a:path>
            </a:pathLst>
          </a:custGeom>
          <a:noFill/>
          <a:ln w="57150" cap="rnd">
            <a:solidFill>
              <a:srgbClr val="FFFF00"/>
            </a:solidFill>
            <a:round/>
            <a:headEnd/>
            <a:tailEnd/>
          </a:ln>
        </p:spPr>
        <p:txBody>
          <a:bodyPr wrap="none" anchor="ctr"/>
          <a:lstStyle/>
          <a:p>
            <a:endParaRPr lang="ko-KR" altLang="en-US">
              <a:cs typeface="Times New Roman" pitchFamily="18" charset="0"/>
            </a:endParaRPr>
          </a:p>
        </p:txBody>
      </p:sp>
      <p:sp>
        <p:nvSpPr>
          <p:cNvPr id="121" name="Arc 120"/>
          <p:cNvSpPr>
            <a:spLocks/>
          </p:cNvSpPr>
          <p:nvPr/>
        </p:nvSpPr>
        <p:spPr bwMode="auto">
          <a:xfrm>
            <a:off x="1606318" y="5304380"/>
            <a:ext cx="5659936" cy="293378"/>
          </a:xfrm>
          <a:custGeom>
            <a:avLst/>
            <a:gdLst>
              <a:gd name="T0" fmla="*/ 0 w 21600"/>
              <a:gd name="T1" fmla="*/ 59749700 h 21600"/>
              <a:gd name="T2" fmla="*/ 2147483647 w 21600"/>
              <a:gd name="T3" fmla="*/ 0 h 21600"/>
              <a:gd name="T4" fmla="*/ 2147483647 w 21600"/>
              <a:gd name="T5" fmla="*/ 5974970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21600"/>
                </a:moveTo>
                <a:cubicBezTo>
                  <a:pt x="0" y="9672"/>
                  <a:pt x="9666" y="3"/>
                  <a:pt x="21594" y="0"/>
                </a:cubicBezTo>
              </a:path>
              <a:path w="21600" h="21600" stroke="0" extrusionOk="0">
                <a:moveTo>
                  <a:pt x="0" y="21600"/>
                </a:moveTo>
                <a:cubicBezTo>
                  <a:pt x="0" y="9672"/>
                  <a:pt x="9666" y="3"/>
                  <a:pt x="21594" y="0"/>
                </a:cubicBezTo>
                <a:lnTo>
                  <a:pt x="21600" y="21600"/>
                </a:lnTo>
                <a:close/>
              </a:path>
            </a:pathLst>
          </a:custGeom>
          <a:noFill/>
          <a:ln w="57150" cap="rnd">
            <a:solidFill>
              <a:schemeClr val="tx2">
                <a:lumMod val="75000"/>
              </a:schemeClr>
            </a:solidFill>
            <a:round/>
            <a:headEnd/>
            <a:tailEnd/>
          </a:ln>
        </p:spPr>
        <p:txBody>
          <a:bodyPr wrap="none" anchor="ctr"/>
          <a:lstStyle/>
          <a:p>
            <a:endParaRPr lang="ko-KR" altLang="en-US">
              <a:cs typeface="Times New Roman" pitchFamily="18" charset="0"/>
            </a:endParaRPr>
          </a:p>
        </p:txBody>
      </p:sp>
      <p:sp>
        <p:nvSpPr>
          <p:cNvPr id="122" name="Arc 121"/>
          <p:cNvSpPr>
            <a:spLocks/>
          </p:cNvSpPr>
          <p:nvPr/>
        </p:nvSpPr>
        <p:spPr bwMode="auto">
          <a:xfrm>
            <a:off x="1557928" y="3112498"/>
            <a:ext cx="4710496" cy="1182726"/>
          </a:xfrm>
          <a:custGeom>
            <a:avLst/>
            <a:gdLst>
              <a:gd name="T0" fmla="*/ 2147483647 w 21439"/>
              <a:gd name="T1" fmla="*/ 477022390 h 21600"/>
              <a:gd name="T2" fmla="*/ 0 w 21439"/>
              <a:gd name="T3" fmla="*/ 2147483647 h 21600"/>
              <a:gd name="T4" fmla="*/ 0 w 21439"/>
              <a:gd name="T5" fmla="*/ 0 h 21600"/>
              <a:gd name="T6" fmla="*/ 0 60000 65536"/>
              <a:gd name="T7" fmla="*/ 0 60000 65536"/>
              <a:gd name="T8" fmla="*/ 0 60000 65536"/>
              <a:gd name="T9" fmla="*/ 0 w 21439"/>
              <a:gd name="T10" fmla="*/ 0 h 21600"/>
              <a:gd name="T11" fmla="*/ 21439 w 21439"/>
              <a:gd name="T12" fmla="*/ 21600 h 21600"/>
            </a:gdLst>
            <a:ahLst/>
            <a:cxnLst>
              <a:cxn ang="T6">
                <a:pos x="T0" y="T1"/>
              </a:cxn>
              <a:cxn ang="T7">
                <a:pos x="T2" y="T3"/>
              </a:cxn>
              <a:cxn ang="T8">
                <a:pos x="T4" y="T5"/>
              </a:cxn>
            </a:cxnLst>
            <a:rect l="T9" t="T10" r="T11" b="T12"/>
            <a:pathLst>
              <a:path w="21439" h="21600" fill="none" extrusionOk="0">
                <a:moveTo>
                  <a:pt x="21439" y="2632"/>
                </a:moveTo>
                <a:cubicBezTo>
                  <a:pt x="20109" y="13462"/>
                  <a:pt x="10911" y="21599"/>
                  <a:pt x="0" y="21600"/>
                </a:cubicBezTo>
              </a:path>
              <a:path w="21439" h="21600" stroke="0" extrusionOk="0">
                <a:moveTo>
                  <a:pt x="21439" y="2632"/>
                </a:moveTo>
                <a:cubicBezTo>
                  <a:pt x="20109" y="13462"/>
                  <a:pt x="10911" y="21599"/>
                  <a:pt x="0" y="21600"/>
                </a:cubicBezTo>
                <a:lnTo>
                  <a:pt x="0" y="0"/>
                </a:lnTo>
                <a:close/>
              </a:path>
            </a:pathLst>
          </a:custGeom>
          <a:noFill/>
          <a:ln w="57150" cap="rnd">
            <a:solidFill>
              <a:srgbClr val="FFFF00"/>
            </a:solidFill>
            <a:round/>
            <a:headEnd/>
            <a:tailEnd/>
          </a:ln>
        </p:spPr>
        <p:txBody>
          <a:bodyPr wrap="none" anchor="ctr"/>
          <a:lstStyle/>
          <a:p>
            <a:endParaRPr lang="ko-KR" altLang="en-US">
              <a:cs typeface="Times New Roman" pitchFamily="18" charset="0"/>
            </a:endParaRPr>
          </a:p>
        </p:txBody>
      </p:sp>
      <p:sp>
        <p:nvSpPr>
          <p:cNvPr id="123" name="Rectangle 122"/>
          <p:cNvSpPr>
            <a:spLocks noChangeArrowheads="1"/>
          </p:cNvSpPr>
          <p:nvPr/>
        </p:nvSpPr>
        <p:spPr bwMode="auto">
          <a:xfrm>
            <a:off x="1472827" y="4307512"/>
            <a:ext cx="183551" cy="191594"/>
          </a:xfrm>
          <a:prstGeom prst="rect">
            <a:avLst/>
          </a:prstGeom>
          <a:noFill/>
          <a:ln w="12700">
            <a:noFill/>
            <a:miter lim="800000"/>
            <a:headEnd/>
            <a:tailEnd/>
          </a:ln>
        </p:spPr>
        <p:txBody>
          <a:bodyPr wrap="none" lIns="62313" tIns="24925" rIns="62313" bIns="24925">
            <a:spAutoFit/>
          </a:bodyPr>
          <a:lstStyle/>
          <a:p>
            <a:pPr algn="ctr" defTabSz="896938" eaLnBrk="0" latinLnBrk="0" hangingPunct="0">
              <a:lnSpc>
                <a:spcPct val="102000"/>
              </a:lnSpc>
            </a:pPr>
            <a:r>
              <a:rPr kumimoji="0" lang="ko-KR" altLang="en-US" sz="900">
                <a:cs typeface="Times New Roman" pitchFamily="18" charset="0"/>
              </a:rPr>
              <a:t>2</a:t>
            </a:r>
          </a:p>
        </p:txBody>
      </p:sp>
      <p:sp>
        <p:nvSpPr>
          <p:cNvPr id="124" name="Line 123"/>
          <p:cNvSpPr>
            <a:spLocks noChangeShapeType="1"/>
          </p:cNvSpPr>
          <p:nvPr/>
        </p:nvSpPr>
        <p:spPr bwMode="auto">
          <a:xfrm flipV="1">
            <a:off x="7554367" y="2344494"/>
            <a:ext cx="980033" cy="17706"/>
          </a:xfrm>
          <a:prstGeom prst="line">
            <a:avLst/>
          </a:prstGeom>
          <a:noFill/>
          <a:ln w="76200" cmpd="tri">
            <a:solidFill>
              <a:schemeClr val="tx2">
                <a:lumMod val="75000"/>
              </a:schemeClr>
            </a:solidFill>
            <a:prstDash val="solid"/>
            <a:round/>
            <a:headEnd/>
            <a:tailEnd/>
          </a:ln>
        </p:spPr>
        <p:txBody>
          <a:bodyPr wrap="none" anchor="ctr"/>
          <a:lstStyle/>
          <a:p>
            <a:endParaRPr lang="ko-KR" altLang="en-US"/>
          </a:p>
        </p:txBody>
      </p:sp>
      <p:sp>
        <p:nvSpPr>
          <p:cNvPr id="125" name="Text Box 125"/>
          <p:cNvSpPr txBox="1">
            <a:spLocks noChangeArrowheads="1"/>
          </p:cNvSpPr>
          <p:nvPr/>
        </p:nvSpPr>
        <p:spPr bwMode="auto">
          <a:xfrm>
            <a:off x="1698092" y="1958955"/>
            <a:ext cx="1137994" cy="369332"/>
          </a:xfrm>
          <a:prstGeom prst="rect">
            <a:avLst/>
          </a:prstGeom>
          <a:noFill/>
          <a:ln w="28575">
            <a:solidFill>
              <a:schemeClr val="bg1"/>
            </a:solidFill>
            <a:miter lim="800000"/>
            <a:headEnd type="none" w="sm" len="sm"/>
            <a:tailEnd type="none" w="sm" len="sm"/>
          </a:ln>
        </p:spPr>
        <p:txBody>
          <a:bodyPr>
            <a:spAutoFit/>
          </a:bodyPr>
          <a:lstStyle/>
          <a:p>
            <a:pPr eaLnBrk="0" latinLnBrk="0" hangingPunct="0"/>
            <a:r>
              <a:rPr kumimoji="0" lang="en-US" altLang="ko-KR" sz="1800">
                <a:cs typeface="Times New Roman" pitchFamily="18" charset="0"/>
              </a:rPr>
              <a:t>Exports</a:t>
            </a:r>
            <a:endParaRPr kumimoji="0" lang="en-US" altLang="ko-KR">
              <a:cs typeface="Times New Roman" pitchFamily="18" charset="0"/>
            </a:endParaRPr>
          </a:p>
        </p:txBody>
      </p:sp>
      <p:sp>
        <p:nvSpPr>
          <p:cNvPr id="126" name="Text Box 126"/>
          <p:cNvSpPr txBox="1">
            <a:spLocks noChangeArrowheads="1"/>
          </p:cNvSpPr>
          <p:nvPr/>
        </p:nvSpPr>
        <p:spPr bwMode="auto">
          <a:xfrm>
            <a:off x="6119917" y="1958955"/>
            <a:ext cx="1164692" cy="369332"/>
          </a:xfrm>
          <a:prstGeom prst="rect">
            <a:avLst/>
          </a:prstGeom>
          <a:noFill/>
          <a:ln w="28575">
            <a:solidFill>
              <a:schemeClr val="bg1"/>
            </a:solidFill>
            <a:miter lim="800000"/>
            <a:headEnd type="none" w="sm" len="sm"/>
            <a:tailEnd type="none" w="sm" len="sm"/>
          </a:ln>
        </p:spPr>
        <p:txBody>
          <a:bodyPr>
            <a:spAutoFit/>
          </a:bodyPr>
          <a:lstStyle/>
          <a:p>
            <a:pPr eaLnBrk="0" latinLnBrk="0" hangingPunct="0"/>
            <a:r>
              <a:rPr kumimoji="0" lang="en-US" altLang="ko-KR" sz="1800">
                <a:cs typeface="Times New Roman" pitchFamily="18" charset="0"/>
              </a:rPr>
              <a:t>Imports</a:t>
            </a:r>
          </a:p>
        </p:txBody>
      </p:sp>
      <p:sp>
        <p:nvSpPr>
          <p:cNvPr id="127" name="Text Box 127"/>
          <p:cNvSpPr txBox="1">
            <a:spLocks noChangeArrowheads="1"/>
          </p:cNvSpPr>
          <p:nvPr/>
        </p:nvSpPr>
        <p:spPr bwMode="auto">
          <a:xfrm>
            <a:off x="2435619" y="3802165"/>
            <a:ext cx="1281495" cy="369332"/>
          </a:xfrm>
          <a:prstGeom prst="rect">
            <a:avLst/>
          </a:prstGeom>
          <a:noFill/>
          <a:ln w="28575">
            <a:solidFill>
              <a:schemeClr val="bg1"/>
            </a:solidFill>
            <a:miter lim="800000"/>
            <a:headEnd type="none" w="sm" len="sm"/>
            <a:tailEnd type="none" w="sm" len="sm"/>
          </a:ln>
        </p:spPr>
        <p:txBody>
          <a:bodyPr>
            <a:spAutoFit/>
          </a:bodyPr>
          <a:lstStyle/>
          <a:p>
            <a:pPr eaLnBrk="0" latinLnBrk="0" hangingPunct="0"/>
            <a:r>
              <a:rPr kumimoji="0" lang="en-US" altLang="ko-KR" sz="1800">
                <a:cs typeface="Times New Roman" pitchFamily="18" charset="0"/>
              </a:rPr>
              <a:t>Imports</a:t>
            </a:r>
          </a:p>
        </p:txBody>
      </p:sp>
      <p:sp>
        <p:nvSpPr>
          <p:cNvPr id="128" name="Text Box 128"/>
          <p:cNvSpPr txBox="1">
            <a:spLocks noChangeArrowheads="1"/>
          </p:cNvSpPr>
          <p:nvPr/>
        </p:nvSpPr>
        <p:spPr bwMode="auto">
          <a:xfrm>
            <a:off x="6360197" y="3138609"/>
            <a:ext cx="966931" cy="369332"/>
          </a:xfrm>
          <a:prstGeom prst="rect">
            <a:avLst/>
          </a:prstGeom>
          <a:noFill/>
          <a:ln w="12700">
            <a:solidFill>
              <a:schemeClr val="bg1"/>
            </a:solidFill>
            <a:miter lim="800000"/>
            <a:headEnd type="none" w="sm" len="sm"/>
            <a:tailEnd type="none" w="sm" len="sm"/>
          </a:ln>
        </p:spPr>
        <p:txBody>
          <a:bodyPr wrap="none">
            <a:spAutoFit/>
          </a:bodyPr>
          <a:lstStyle/>
          <a:p>
            <a:pPr eaLnBrk="0" latinLnBrk="0" hangingPunct="0"/>
            <a:r>
              <a:rPr kumimoji="0" lang="en-US" altLang="ko-KR" sz="1800">
                <a:cs typeface="Times New Roman" pitchFamily="18" charset="0"/>
              </a:rPr>
              <a:t>Exports</a:t>
            </a:r>
          </a:p>
        </p:txBody>
      </p:sp>
      <p:sp>
        <p:nvSpPr>
          <p:cNvPr id="129" name="Text Box 129"/>
          <p:cNvSpPr txBox="1">
            <a:spLocks noChangeArrowheads="1"/>
          </p:cNvSpPr>
          <p:nvPr/>
        </p:nvSpPr>
        <p:spPr bwMode="auto">
          <a:xfrm>
            <a:off x="7161131" y="4908090"/>
            <a:ext cx="966931" cy="369332"/>
          </a:xfrm>
          <a:prstGeom prst="rect">
            <a:avLst/>
          </a:prstGeom>
          <a:noFill/>
          <a:ln w="28575">
            <a:solidFill>
              <a:schemeClr val="bg1"/>
            </a:solidFill>
            <a:miter lim="800000"/>
            <a:headEnd type="none" w="sm" len="sm"/>
            <a:tailEnd type="none" w="sm" len="sm"/>
          </a:ln>
        </p:spPr>
        <p:txBody>
          <a:bodyPr wrap="none">
            <a:spAutoFit/>
          </a:bodyPr>
          <a:lstStyle/>
          <a:p>
            <a:pPr eaLnBrk="0" latinLnBrk="0" hangingPunct="0"/>
            <a:r>
              <a:rPr kumimoji="0" lang="en-US" altLang="ko-KR" sz="1800">
                <a:cs typeface="Times New Roman" pitchFamily="18" charset="0"/>
              </a:rPr>
              <a:t>Exports</a:t>
            </a:r>
          </a:p>
        </p:txBody>
      </p:sp>
      <p:sp>
        <p:nvSpPr>
          <p:cNvPr id="130" name="Text Box 130"/>
          <p:cNvSpPr txBox="1">
            <a:spLocks noChangeArrowheads="1"/>
          </p:cNvSpPr>
          <p:nvPr/>
        </p:nvSpPr>
        <p:spPr bwMode="auto">
          <a:xfrm>
            <a:off x="3700427" y="5316668"/>
            <a:ext cx="979755" cy="369332"/>
          </a:xfrm>
          <a:prstGeom prst="rect">
            <a:avLst/>
          </a:prstGeom>
          <a:noFill/>
          <a:ln w="28575">
            <a:solidFill>
              <a:schemeClr val="bg1"/>
            </a:solidFill>
            <a:miter lim="800000"/>
            <a:headEnd type="none" w="sm" len="sm"/>
            <a:tailEnd type="none" w="sm" len="sm"/>
          </a:ln>
        </p:spPr>
        <p:txBody>
          <a:bodyPr wrap="none">
            <a:spAutoFit/>
          </a:bodyPr>
          <a:lstStyle/>
          <a:p>
            <a:pPr eaLnBrk="0" latinLnBrk="0" hangingPunct="0"/>
            <a:r>
              <a:rPr kumimoji="0" lang="en-US" altLang="ko-KR" sz="1800">
                <a:cs typeface="Times New Roman" pitchFamily="18" charset="0"/>
              </a:rPr>
              <a:t>Imports</a:t>
            </a:r>
          </a:p>
        </p:txBody>
      </p:sp>
      <p:sp>
        <p:nvSpPr>
          <p:cNvPr id="131" name="Freeform 133"/>
          <p:cNvSpPr>
            <a:spLocks/>
          </p:cNvSpPr>
          <p:nvPr/>
        </p:nvSpPr>
        <p:spPr bwMode="auto">
          <a:xfrm>
            <a:off x="1254240" y="3587317"/>
            <a:ext cx="184731" cy="461665"/>
          </a:xfrm>
          <a:custGeom>
            <a:avLst/>
            <a:gdLst>
              <a:gd name="T0" fmla="*/ 1538848 w 2668"/>
              <a:gd name="T1" fmla="*/ 725979164 h 424"/>
              <a:gd name="T2" fmla="*/ 10002478 w 2668"/>
              <a:gd name="T3" fmla="*/ 681037614 h 424"/>
              <a:gd name="T4" fmla="*/ 9013251 w 2668"/>
              <a:gd name="T5" fmla="*/ 651653298 h 424"/>
              <a:gd name="T6" fmla="*/ 7144686 w 2668"/>
              <a:gd name="T7" fmla="*/ 694865783 h 424"/>
              <a:gd name="T8" fmla="*/ 20334744 w 2668"/>
              <a:gd name="T9" fmla="*/ 561770061 h 424"/>
              <a:gd name="T10" fmla="*/ 28798439 w 2668"/>
              <a:gd name="T11" fmla="*/ 518556487 h 424"/>
              <a:gd name="T12" fmla="*/ 57047325 w 2668"/>
              <a:gd name="T13" fmla="*/ 383731836 h 424"/>
              <a:gd name="T14" fmla="*/ 73095323 w 2668"/>
              <a:gd name="T15" fmla="*/ 324962116 h 424"/>
              <a:gd name="T16" fmla="*/ 86285374 w 2668"/>
              <a:gd name="T17" fmla="*/ 266192328 h 424"/>
              <a:gd name="T18" fmla="*/ 114534251 w 2668"/>
              <a:gd name="T19" fmla="*/ 250636182 h 424"/>
              <a:gd name="T20" fmla="*/ 122997947 w 2668"/>
              <a:gd name="T21" fmla="*/ 207422609 h 424"/>
              <a:gd name="T22" fmla="*/ 131571525 w 2668"/>
              <a:gd name="T23" fmla="*/ 266192328 h 424"/>
              <a:gd name="T24" fmla="*/ 129593007 w 2668"/>
              <a:gd name="T25" fmla="*/ 221250778 h 424"/>
              <a:gd name="T26" fmla="*/ 96617636 w 2668"/>
              <a:gd name="T27" fmla="*/ 236808013 h 424"/>
              <a:gd name="T28" fmla="*/ 92880435 w 2668"/>
              <a:gd name="T29" fmla="*/ 250636182 h 424"/>
              <a:gd name="T30" fmla="*/ 132450867 w 2668"/>
              <a:gd name="T31" fmla="*/ 207422609 h 424"/>
              <a:gd name="T32" fmla="*/ 178616186 w 2668"/>
              <a:gd name="T33" fmla="*/ 72597923 h 424"/>
              <a:gd name="T34" fmla="*/ 225770903 w 2668"/>
              <a:gd name="T35" fmla="*/ 58769737 h 424"/>
              <a:gd name="T36" fmla="*/ 261494182 w 2668"/>
              <a:gd name="T37" fmla="*/ 0 h 424"/>
              <a:gd name="T38" fmla="*/ 287874424 w 2668"/>
              <a:gd name="T39" fmla="*/ 13828174 h 424"/>
              <a:gd name="T40" fmla="*/ 292600918 w 2668"/>
              <a:gd name="T41" fmla="*/ 29385413 h 424"/>
              <a:gd name="T42" fmla="*/ 289853011 w 2668"/>
              <a:gd name="T43" fmla="*/ 43213591 h 424"/>
              <a:gd name="T44" fmla="*/ 284137292 w 2668"/>
              <a:gd name="T45" fmla="*/ 58769737 h 424"/>
              <a:gd name="T46" fmla="*/ 272815668 w 2668"/>
              <a:gd name="T47" fmla="*/ 146924912 h 424"/>
              <a:gd name="T48" fmla="*/ 249293355 w 2668"/>
              <a:gd name="T49" fmla="*/ 295577801 h 424"/>
              <a:gd name="T50" fmla="*/ 230497467 w 2668"/>
              <a:gd name="T51" fmla="*/ 399287982 h 424"/>
              <a:gd name="T52" fmla="*/ 192795601 w 2668"/>
              <a:gd name="T53" fmla="*/ 487443106 h 424"/>
              <a:gd name="T54" fmla="*/ 164546724 w 2668"/>
              <a:gd name="T55" fmla="*/ 561770061 h 424"/>
              <a:gd name="T56" fmla="*/ 124976465 w 2668"/>
              <a:gd name="T57" fmla="*/ 636096063 h 424"/>
              <a:gd name="T58" fmla="*/ 101344130 w 2668"/>
              <a:gd name="T59" fmla="*/ 694865783 h 424"/>
              <a:gd name="T60" fmla="*/ 9013251 w 2668"/>
              <a:gd name="T61" fmla="*/ 681037614 h 424"/>
              <a:gd name="T62" fmla="*/ 1538848 w 2668"/>
              <a:gd name="T63" fmla="*/ 725979164 h 424"/>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2668"/>
              <a:gd name="T97" fmla="*/ 0 h 424"/>
              <a:gd name="T98" fmla="*/ 2668 w 2668"/>
              <a:gd name="T99" fmla="*/ 424 h 424"/>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2668" h="424">
                <a:moveTo>
                  <a:pt x="14" y="420"/>
                </a:moveTo>
                <a:cubicBezTo>
                  <a:pt x="40" y="411"/>
                  <a:pt x="68" y="409"/>
                  <a:pt x="91" y="394"/>
                </a:cubicBezTo>
                <a:cubicBezTo>
                  <a:pt x="156" y="352"/>
                  <a:pt x="99" y="373"/>
                  <a:pt x="82" y="377"/>
                </a:cubicBezTo>
                <a:cubicBezTo>
                  <a:pt x="71" y="384"/>
                  <a:pt x="0" y="424"/>
                  <a:pt x="65" y="402"/>
                </a:cubicBezTo>
                <a:cubicBezTo>
                  <a:pt x="120" y="348"/>
                  <a:pt x="114" y="343"/>
                  <a:pt x="185" y="325"/>
                </a:cubicBezTo>
                <a:cubicBezTo>
                  <a:pt x="211" y="319"/>
                  <a:pt x="262" y="300"/>
                  <a:pt x="262" y="300"/>
                </a:cubicBezTo>
                <a:cubicBezTo>
                  <a:pt x="335" y="249"/>
                  <a:pt x="435" y="241"/>
                  <a:pt x="519" y="222"/>
                </a:cubicBezTo>
                <a:cubicBezTo>
                  <a:pt x="568" y="211"/>
                  <a:pt x="616" y="199"/>
                  <a:pt x="665" y="188"/>
                </a:cubicBezTo>
                <a:cubicBezTo>
                  <a:pt x="704" y="179"/>
                  <a:pt x="745" y="156"/>
                  <a:pt x="785" y="154"/>
                </a:cubicBezTo>
                <a:cubicBezTo>
                  <a:pt x="871" y="149"/>
                  <a:pt x="956" y="148"/>
                  <a:pt x="1042" y="145"/>
                </a:cubicBezTo>
                <a:cubicBezTo>
                  <a:pt x="1068" y="137"/>
                  <a:pt x="1119" y="120"/>
                  <a:pt x="1119" y="120"/>
                </a:cubicBezTo>
                <a:cubicBezTo>
                  <a:pt x="1131" y="155"/>
                  <a:pt x="1131" y="176"/>
                  <a:pt x="1197" y="154"/>
                </a:cubicBezTo>
                <a:cubicBezTo>
                  <a:pt x="1207" y="151"/>
                  <a:pt x="1185" y="137"/>
                  <a:pt x="1179" y="128"/>
                </a:cubicBezTo>
                <a:cubicBezTo>
                  <a:pt x="1079" y="131"/>
                  <a:pt x="979" y="132"/>
                  <a:pt x="879" y="137"/>
                </a:cubicBezTo>
                <a:cubicBezTo>
                  <a:pt x="867" y="138"/>
                  <a:pt x="833" y="146"/>
                  <a:pt x="845" y="145"/>
                </a:cubicBezTo>
                <a:cubicBezTo>
                  <a:pt x="965" y="139"/>
                  <a:pt x="1085" y="127"/>
                  <a:pt x="1205" y="120"/>
                </a:cubicBezTo>
                <a:cubicBezTo>
                  <a:pt x="1345" y="91"/>
                  <a:pt x="1481" y="47"/>
                  <a:pt x="1625" y="42"/>
                </a:cubicBezTo>
                <a:cubicBezTo>
                  <a:pt x="1768" y="37"/>
                  <a:pt x="1911" y="37"/>
                  <a:pt x="2054" y="34"/>
                </a:cubicBezTo>
                <a:cubicBezTo>
                  <a:pt x="2162" y="20"/>
                  <a:pt x="2271" y="9"/>
                  <a:pt x="2379" y="0"/>
                </a:cubicBezTo>
                <a:cubicBezTo>
                  <a:pt x="2459" y="3"/>
                  <a:pt x="2539" y="3"/>
                  <a:pt x="2619" y="8"/>
                </a:cubicBezTo>
                <a:cubicBezTo>
                  <a:pt x="2634" y="9"/>
                  <a:pt x="2651" y="7"/>
                  <a:pt x="2662" y="17"/>
                </a:cubicBezTo>
                <a:cubicBezTo>
                  <a:pt x="2668" y="23"/>
                  <a:pt x="2646" y="23"/>
                  <a:pt x="2637" y="25"/>
                </a:cubicBezTo>
                <a:cubicBezTo>
                  <a:pt x="2620" y="29"/>
                  <a:pt x="2602" y="31"/>
                  <a:pt x="2585" y="34"/>
                </a:cubicBezTo>
                <a:cubicBezTo>
                  <a:pt x="2543" y="62"/>
                  <a:pt x="2528" y="71"/>
                  <a:pt x="2482" y="85"/>
                </a:cubicBezTo>
                <a:cubicBezTo>
                  <a:pt x="2414" y="131"/>
                  <a:pt x="2346" y="144"/>
                  <a:pt x="2268" y="171"/>
                </a:cubicBezTo>
                <a:cubicBezTo>
                  <a:pt x="2212" y="190"/>
                  <a:pt x="2155" y="221"/>
                  <a:pt x="2097" y="231"/>
                </a:cubicBezTo>
                <a:cubicBezTo>
                  <a:pt x="1984" y="250"/>
                  <a:pt x="1868" y="270"/>
                  <a:pt x="1754" y="282"/>
                </a:cubicBezTo>
                <a:cubicBezTo>
                  <a:pt x="1672" y="310"/>
                  <a:pt x="1583" y="313"/>
                  <a:pt x="1497" y="325"/>
                </a:cubicBezTo>
                <a:cubicBezTo>
                  <a:pt x="1375" y="342"/>
                  <a:pt x="1261" y="362"/>
                  <a:pt x="1137" y="368"/>
                </a:cubicBezTo>
                <a:cubicBezTo>
                  <a:pt x="1064" y="378"/>
                  <a:pt x="995" y="394"/>
                  <a:pt x="922" y="402"/>
                </a:cubicBezTo>
                <a:cubicBezTo>
                  <a:pt x="642" y="392"/>
                  <a:pt x="362" y="379"/>
                  <a:pt x="82" y="394"/>
                </a:cubicBezTo>
                <a:cubicBezTo>
                  <a:pt x="42" y="407"/>
                  <a:pt x="65" y="399"/>
                  <a:pt x="14" y="420"/>
                </a:cubicBezTo>
                <a:close/>
              </a:path>
            </a:pathLst>
          </a:custGeom>
          <a:noFill/>
          <a:ln w="9525">
            <a:noFill/>
            <a:round/>
            <a:headEnd/>
            <a:tailEnd/>
          </a:ln>
        </p:spPr>
        <p:txBody>
          <a:bodyPr wrap="none" anchor="ctr">
            <a:spAutoFit/>
          </a:bodyPr>
          <a:lstStyle/>
          <a:p>
            <a:endParaRPr lang="ko-KR" altLang="en-US">
              <a:cs typeface="Times New Roman" pitchFamily="18" charset="0"/>
            </a:endParaRPr>
          </a:p>
        </p:txBody>
      </p:sp>
      <p:sp>
        <p:nvSpPr>
          <p:cNvPr id="132" name="Freeform 134"/>
          <p:cNvSpPr>
            <a:spLocks/>
          </p:cNvSpPr>
          <p:nvPr/>
        </p:nvSpPr>
        <p:spPr bwMode="auto">
          <a:xfrm>
            <a:off x="1277601" y="3532021"/>
            <a:ext cx="184731" cy="461665"/>
          </a:xfrm>
          <a:custGeom>
            <a:avLst/>
            <a:gdLst>
              <a:gd name="T0" fmla="*/ 83942448 w 2725"/>
              <a:gd name="T1" fmla="*/ 663461274 h 475"/>
              <a:gd name="T2" fmla="*/ 55315916 w 2725"/>
              <a:gd name="T3" fmla="*/ 703577522 h 475"/>
              <a:gd name="T4" fmla="*/ 16573250 w 2725"/>
              <a:gd name="T5" fmla="*/ 689690643 h 475"/>
              <a:gd name="T6" fmla="*/ 0 w 2725"/>
              <a:gd name="T7" fmla="*/ 703577522 h 475"/>
              <a:gd name="T8" fmla="*/ 6457111 w 2725"/>
              <a:gd name="T9" fmla="*/ 675804735 h 475"/>
              <a:gd name="T10" fmla="*/ 11084742 w 2725"/>
              <a:gd name="T11" fmla="*/ 623345025 h 475"/>
              <a:gd name="T12" fmla="*/ 19371335 w 2725"/>
              <a:gd name="T13" fmla="*/ 556998436 h 475"/>
              <a:gd name="T14" fmla="*/ 33146500 w 2725"/>
              <a:gd name="T15" fmla="*/ 504538605 h 475"/>
              <a:gd name="T16" fmla="*/ 41433166 w 2725"/>
              <a:gd name="T17" fmla="*/ 438192988 h 475"/>
              <a:gd name="T18" fmla="*/ 58113996 w 2725"/>
              <a:gd name="T19" fmla="*/ 425849527 h 475"/>
              <a:gd name="T20" fmla="*/ 70059681 w 2725"/>
              <a:gd name="T21" fmla="*/ 371846399 h 475"/>
              <a:gd name="T22" fmla="*/ 83942448 w 2725"/>
              <a:gd name="T23" fmla="*/ 305500782 h 475"/>
              <a:gd name="T24" fmla="*/ 99547162 w 2725"/>
              <a:gd name="T25" fmla="*/ 279270442 h 475"/>
              <a:gd name="T26" fmla="*/ 103313774 w 2725"/>
              <a:gd name="T27" fmla="*/ 266926980 h 475"/>
              <a:gd name="T28" fmla="*/ 106004270 w 2725"/>
              <a:gd name="T29" fmla="*/ 253041012 h 475"/>
              <a:gd name="T30" fmla="*/ 98686214 w 2725"/>
              <a:gd name="T31" fmla="*/ 266926980 h 475"/>
              <a:gd name="T32" fmla="*/ 95888133 w 2725"/>
              <a:gd name="T33" fmla="*/ 279270442 h 475"/>
              <a:gd name="T34" fmla="*/ 117088940 w 2725"/>
              <a:gd name="T35" fmla="*/ 226810671 h 475"/>
              <a:gd name="T36" fmla="*/ 130003157 w 2725"/>
              <a:gd name="T37" fmla="*/ 212924764 h 475"/>
              <a:gd name="T38" fmla="*/ 146684022 w 2725"/>
              <a:gd name="T39" fmla="*/ 226810671 h 475"/>
              <a:gd name="T40" fmla="*/ 162503904 w 2725"/>
              <a:gd name="T41" fmla="*/ 411962648 h 475"/>
              <a:gd name="T42" fmla="*/ 152172530 w 2725"/>
              <a:gd name="T43" fmla="*/ 337901881 h 475"/>
              <a:gd name="T44" fmla="*/ 157338217 w 2725"/>
              <a:gd name="T45" fmla="*/ 263841115 h 475"/>
              <a:gd name="T46" fmla="*/ 262911980 w 2725"/>
              <a:gd name="T47" fmla="*/ 108005314 h 475"/>
              <a:gd name="T48" fmla="*/ 293260391 w 2725"/>
              <a:gd name="T49" fmla="*/ 41658710 h 475"/>
              <a:gd name="T50" fmla="*/ 264741528 w 2725"/>
              <a:gd name="T51" fmla="*/ 27772795 h 475"/>
              <a:gd name="T52" fmla="*/ 251827310 w 2725"/>
              <a:gd name="T53" fmla="*/ 81774974 h 475"/>
              <a:gd name="T54" fmla="*/ 284973870 w 2725"/>
              <a:gd name="T55" fmla="*/ 94118435 h 475"/>
              <a:gd name="T56" fmla="*/ 282283306 w 2725"/>
              <a:gd name="T57" fmla="*/ 108005314 h 475"/>
              <a:gd name="T58" fmla="*/ 279485294 w 2725"/>
              <a:gd name="T59" fmla="*/ 120348775 h 475"/>
              <a:gd name="T60" fmla="*/ 269369089 w 2725"/>
              <a:gd name="T61" fmla="*/ 160465054 h 475"/>
              <a:gd name="T62" fmla="*/ 241603589 w 2725"/>
              <a:gd name="T63" fmla="*/ 293157321 h 475"/>
              <a:gd name="T64" fmla="*/ 226859823 w 2725"/>
              <a:gd name="T65" fmla="*/ 371846399 h 475"/>
              <a:gd name="T66" fmla="*/ 191883783 w 2725"/>
              <a:gd name="T67" fmla="*/ 518425607 h 475"/>
              <a:gd name="T68" fmla="*/ 178969566 w 2725"/>
              <a:gd name="T69" fmla="*/ 530769068 h 475"/>
              <a:gd name="T70" fmla="*/ 144746957 w 2725"/>
              <a:gd name="T71" fmla="*/ 583228777 h 475"/>
              <a:gd name="T72" fmla="*/ 130003157 w 2725"/>
              <a:gd name="T73" fmla="*/ 611001564 h 475"/>
              <a:gd name="T74" fmla="*/ 79314887 w 2725"/>
              <a:gd name="T75" fmla="*/ 637230933 h 475"/>
              <a:gd name="T76" fmla="*/ 55315916 w 2725"/>
              <a:gd name="T77" fmla="*/ 689690643 h 475"/>
              <a:gd name="T78" fmla="*/ 9147609 w 2725"/>
              <a:gd name="T79" fmla="*/ 675804735 h 475"/>
              <a:gd name="T80" fmla="*/ 48858807 w 2725"/>
              <a:gd name="T81" fmla="*/ 486023414 h 475"/>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2725"/>
              <a:gd name="T124" fmla="*/ 0 h 475"/>
              <a:gd name="T125" fmla="*/ 2725 w 2725"/>
              <a:gd name="T126" fmla="*/ 475 h 475"/>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2725" h="475">
                <a:moveTo>
                  <a:pt x="780" y="430"/>
                </a:moveTo>
                <a:cubicBezTo>
                  <a:pt x="684" y="439"/>
                  <a:pt x="616" y="450"/>
                  <a:pt x="514" y="456"/>
                </a:cubicBezTo>
                <a:cubicBezTo>
                  <a:pt x="389" y="449"/>
                  <a:pt x="278" y="438"/>
                  <a:pt x="154" y="447"/>
                </a:cubicBezTo>
                <a:cubicBezTo>
                  <a:pt x="70" y="475"/>
                  <a:pt x="121" y="465"/>
                  <a:pt x="0" y="456"/>
                </a:cubicBezTo>
                <a:cubicBezTo>
                  <a:pt x="20" y="449"/>
                  <a:pt x="41" y="446"/>
                  <a:pt x="60" y="438"/>
                </a:cubicBezTo>
                <a:cubicBezTo>
                  <a:pt x="83" y="428"/>
                  <a:pt x="85" y="418"/>
                  <a:pt x="103" y="404"/>
                </a:cubicBezTo>
                <a:cubicBezTo>
                  <a:pt x="124" y="387"/>
                  <a:pt x="156" y="372"/>
                  <a:pt x="180" y="361"/>
                </a:cubicBezTo>
                <a:cubicBezTo>
                  <a:pt x="222" y="342"/>
                  <a:pt x="264" y="337"/>
                  <a:pt x="308" y="327"/>
                </a:cubicBezTo>
                <a:cubicBezTo>
                  <a:pt x="337" y="320"/>
                  <a:pt x="356" y="286"/>
                  <a:pt x="385" y="284"/>
                </a:cubicBezTo>
                <a:cubicBezTo>
                  <a:pt x="437" y="281"/>
                  <a:pt x="488" y="279"/>
                  <a:pt x="540" y="276"/>
                </a:cubicBezTo>
                <a:cubicBezTo>
                  <a:pt x="559" y="216"/>
                  <a:pt x="537" y="256"/>
                  <a:pt x="651" y="241"/>
                </a:cubicBezTo>
                <a:cubicBezTo>
                  <a:pt x="694" y="235"/>
                  <a:pt x="739" y="212"/>
                  <a:pt x="780" y="198"/>
                </a:cubicBezTo>
                <a:cubicBezTo>
                  <a:pt x="809" y="188"/>
                  <a:pt x="920" y="181"/>
                  <a:pt x="925" y="181"/>
                </a:cubicBezTo>
                <a:cubicBezTo>
                  <a:pt x="937" y="178"/>
                  <a:pt x="948" y="176"/>
                  <a:pt x="960" y="173"/>
                </a:cubicBezTo>
                <a:cubicBezTo>
                  <a:pt x="969" y="171"/>
                  <a:pt x="994" y="164"/>
                  <a:pt x="985" y="164"/>
                </a:cubicBezTo>
                <a:cubicBezTo>
                  <a:pt x="962" y="164"/>
                  <a:pt x="940" y="170"/>
                  <a:pt x="917" y="173"/>
                </a:cubicBezTo>
                <a:cubicBezTo>
                  <a:pt x="908" y="176"/>
                  <a:pt x="882" y="181"/>
                  <a:pt x="891" y="181"/>
                </a:cubicBezTo>
                <a:cubicBezTo>
                  <a:pt x="971" y="181"/>
                  <a:pt x="1015" y="155"/>
                  <a:pt x="1088" y="147"/>
                </a:cubicBezTo>
                <a:cubicBezTo>
                  <a:pt x="1128" y="142"/>
                  <a:pt x="1168" y="141"/>
                  <a:pt x="1208" y="138"/>
                </a:cubicBezTo>
                <a:cubicBezTo>
                  <a:pt x="1259" y="122"/>
                  <a:pt x="1315" y="123"/>
                  <a:pt x="1363" y="147"/>
                </a:cubicBezTo>
                <a:lnTo>
                  <a:pt x="1510" y="267"/>
                </a:lnTo>
                <a:lnTo>
                  <a:pt x="1414" y="219"/>
                </a:lnTo>
                <a:lnTo>
                  <a:pt x="1462" y="171"/>
                </a:lnTo>
                <a:cubicBezTo>
                  <a:pt x="2006" y="16"/>
                  <a:pt x="1706" y="59"/>
                  <a:pt x="2443" y="70"/>
                </a:cubicBezTo>
                <a:cubicBezTo>
                  <a:pt x="2539" y="59"/>
                  <a:pt x="2629" y="35"/>
                  <a:pt x="2725" y="27"/>
                </a:cubicBezTo>
                <a:cubicBezTo>
                  <a:pt x="2623" y="0"/>
                  <a:pt x="2602" y="12"/>
                  <a:pt x="2460" y="18"/>
                </a:cubicBezTo>
                <a:cubicBezTo>
                  <a:pt x="2418" y="29"/>
                  <a:pt x="2380" y="39"/>
                  <a:pt x="2340" y="53"/>
                </a:cubicBezTo>
                <a:cubicBezTo>
                  <a:pt x="2443" y="56"/>
                  <a:pt x="2545" y="55"/>
                  <a:pt x="2648" y="61"/>
                </a:cubicBezTo>
                <a:cubicBezTo>
                  <a:pt x="2657" y="62"/>
                  <a:pt x="2631" y="67"/>
                  <a:pt x="2623" y="70"/>
                </a:cubicBezTo>
                <a:cubicBezTo>
                  <a:pt x="2614" y="73"/>
                  <a:pt x="2606" y="75"/>
                  <a:pt x="2597" y="78"/>
                </a:cubicBezTo>
                <a:cubicBezTo>
                  <a:pt x="2566" y="88"/>
                  <a:pt x="2535" y="96"/>
                  <a:pt x="2503" y="104"/>
                </a:cubicBezTo>
                <a:cubicBezTo>
                  <a:pt x="2420" y="144"/>
                  <a:pt x="2327" y="150"/>
                  <a:pt x="2245" y="190"/>
                </a:cubicBezTo>
                <a:cubicBezTo>
                  <a:pt x="2225" y="254"/>
                  <a:pt x="2175" y="236"/>
                  <a:pt x="2108" y="241"/>
                </a:cubicBezTo>
                <a:cubicBezTo>
                  <a:pt x="2000" y="264"/>
                  <a:pt x="1887" y="299"/>
                  <a:pt x="1783" y="336"/>
                </a:cubicBezTo>
                <a:cubicBezTo>
                  <a:pt x="1745" y="349"/>
                  <a:pt x="1703" y="341"/>
                  <a:pt x="1663" y="344"/>
                </a:cubicBezTo>
                <a:cubicBezTo>
                  <a:pt x="1557" y="366"/>
                  <a:pt x="1453" y="371"/>
                  <a:pt x="1345" y="378"/>
                </a:cubicBezTo>
                <a:cubicBezTo>
                  <a:pt x="1293" y="387"/>
                  <a:pt x="1265" y="393"/>
                  <a:pt x="1208" y="396"/>
                </a:cubicBezTo>
                <a:cubicBezTo>
                  <a:pt x="1051" y="403"/>
                  <a:pt x="737" y="413"/>
                  <a:pt x="737" y="413"/>
                </a:cubicBezTo>
                <a:cubicBezTo>
                  <a:pt x="653" y="433"/>
                  <a:pt x="613" y="441"/>
                  <a:pt x="514" y="447"/>
                </a:cubicBezTo>
                <a:cubicBezTo>
                  <a:pt x="91" y="438"/>
                  <a:pt x="234" y="438"/>
                  <a:pt x="85" y="438"/>
                </a:cubicBezTo>
                <a:lnTo>
                  <a:pt x="454" y="315"/>
                </a:lnTo>
              </a:path>
            </a:pathLst>
          </a:custGeom>
          <a:noFill/>
          <a:ln w="9525">
            <a:noFill/>
            <a:round/>
            <a:headEnd/>
            <a:tailEnd/>
          </a:ln>
        </p:spPr>
        <p:txBody>
          <a:bodyPr wrap="none" anchor="ctr">
            <a:spAutoFit/>
          </a:bodyPr>
          <a:lstStyle/>
          <a:p>
            <a:endParaRPr lang="ko-KR" altLang="en-US">
              <a:cs typeface="Times New Roman" pitchFamily="18" charset="0"/>
            </a:endParaRPr>
          </a:p>
        </p:txBody>
      </p:sp>
      <p:sp>
        <p:nvSpPr>
          <p:cNvPr id="133" name="Arc 140"/>
          <p:cNvSpPr>
            <a:spLocks/>
          </p:cNvSpPr>
          <p:nvPr/>
        </p:nvSpPr>
        <p:spPr bwMode="auto">
          <a:xfrm rot="12590251" flipV="1">
            <a:off x="6325160" y="2930849"/>
            <a:ext cx="269664" cy="461665"/>
          </a:xfrm>
          <a:custGeom>
            <a:avLst/>
            <a:gdLst>
              <a:gd name="T0" fmla="*/ 0 w 21600"/>
              <a:gd name="T1" fmla="*/ 0 h 21600"/>
              <a:gd name="T2" fmla="*/ 278180907 w 21600"/>
              <a:gd name="T3" fmla="*/ 51709689 h 21600"/>
              <a:gd name="T4" fmla="*/ 0 w 21600"/>
              <a:gd name="T5" fmla="*/ 51709689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rgbClr val="FFFF00"/>
            </a:solidFill>
            <a:round/>
            <a:headEnd/>
            <a:tailEnd/>
          </a:ln>
        </p:spPr>
        <p:txBody>
          <a:bodyPr wrap="square" anchor="ctr">
            <a:spAutoFit/>
          </a:bodyPr>
          <a:lstStyle/>
          <a:p>
            <a:endParaRPr lang="ko-KR" altLang="en-US">
              <a:cs typeface="Times New Roman" pitchFamily="18" charset="0"/>
            </a:endParaRPr>
          </a:p>
        </p:txBody>
      </p:sp>
      <p:sp>
        <p:nvSpPr>
          <p:cNvPr id="134" name="Arc 141"/>
          <p:cNvSpPr>
            <a:spLocks/>
          </p:cNvSpPr>
          <p:nvPr/>
        </p:nvSpPr>
        <p:spPr bwMode="auto">
          <a:xfrm rot="18957568">
            <a:off x="6994270" y="4736477"/>
            <a:ext cx="644085" cy="461665"/>
          </a:xfrm>
          <a:custGeom>
            <a:avLst/>
            <a:gdLst>
              <a:gd name="T0" fmla="*/ 0 w 18181"/>
              <a:gd name="T1" fmla="*/ 0 h 21600"/>
              <a:gd name="T2" fmla="*/ 696092957 w 18181"/>
              <a:gd name="T3" fmla="*/ 129517205 h 21600"/>
              <a:gd name="T4" fmla="*/ 0 w 18181"/>
              <a:gd name="T5" fmla="*/ 281530482 h 21600"/>
              <a:gd name="T6" fmla="*/ 0 60000 65536"/>
              <a:gd name="T7" fmla="*/ 0 60000 65536"/>
              <a:gd name="T8" fmla="*/ 0 60000 65536"/>
              <a:gd name="T9" fmla="*/ 0 w 18181"/>
              <a:gd name="T10" fmla="*/ 0 h 21600"/>
              <a:gd name="T11" fmla="*/ 18181 w 18181"/>
              <a:gd name="T12" fmla="*/ 21600 h 21600"/>
            </a:gdLst>
            <a:ahLst/>
            <a:cxnLst>
              <a:cxn ang="T6">
                <a:pos x="T0" y="T1"/>
              </a:cxn>
              <a:cxn ang="T7">
                <a:pos x="T2" y="T3"/>
              </a:cxn>
              <a:cxn ang="T8">
                <a:pos x="T4" y="T5"/>
              </a:cxn>
            </a:cxnLst>
            <a:rect l="T9" t="T10" r="T11" b="T12"/>
            <a:pathLst>
              <a:path w="18181" h="21600" fill="none" extrusionOk="0">
                <a:moveTo>
                  <a:pt x="-1" y="0"/>
                </a:moveTo>
                <a:cubicBezTo>
                  <a:pt x="7357" y="0"/>
                  <a:pt x="14208" y="3744"/>
                  <a:pt x="18180" y="9937"/>
                </a:cubicBezTo>
              </a:path>
              <a:path w="18181" h="21600" stroke="0" extrusionOk="0">
                <a:moveTo>
                  <a:pt x="-1" y="0"/>
                </a:moveTo>
                <a:cubicBezTo>
                  <a:pt x="7357" y="0"/>
                  <a:pt x="14208" y="3744"/>
                  <a:pt x="18180" y="9937"/>
                </a:cubicBezTo>
                <a:lnTo>
                  <a:pt x="0" y="21600"/>
                </a:lnTo>
                <a:close/>
              </a:path>
            </a:pathLst>
          </a:custGeom>
          <a:noFill/>
          <a:ln w="38100">
            <a:solidFill>
              <a:srgbClr val="FFFF00"/>
            </a:solidFill>
            <a:round/>
            <a:headEnd/>
            <a:tailEnd/>
          </a:ln>
        </p:spPr>
        <p:txBody>
          <a:bodyPr anchor="ctr">
            <a:spAutoFit/>
          </a:bodyPr>
          <a:lstStyle/>
          <a:p>
            <a:endParaRPr lang="ko-KR" altLang="en-US">
              <a:cs typeface="Times New Roman" pitchFamily="18" charset="0"/>
            </a:endParaRPr>
          </a:p>
        </p:txBody>
      </p:sp>
      <p:sp>
        <p:nvSpPr>
          <p:cNvPr id="136" name="Arc 143"/>
          <p:cNvSpPr>
            <a:spLocks/>
          </p:cNvSpPr>
          <p:nvPr/>
        </p:nvSpPr>
        <p:spPr bwMode="auto">
          <a:xfrm rot="8603042">
            <a:off x="6443370" y="2146951"/>
            <a:ext cx="247633" cy="461665"/>
          </a:xfrm>
          <a:custGeom>
            <a:avLst/>
            <a:gdLst>
              <a:gd name="T0" fmla="*/ 0 w 21600"/>
              <a:gd name="T1" fmla="*/ 0 h 21600"/>
              <a:gd name="T2" fmla="*/ 325275598 w 21600"/>
              <a:gd name="T3" fmla="*/ 281530482 h 21600"/>
              <a:gd name="T4" fmla="*/ 0 w 21600"/>
              <a:gd name="T5" fmla="*/ 281530482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rgbClr val="FFFF00"/>
            </a:solidFill>
            <a:round/>
            <a:headEnd/>
            <a:tailEnd/>
          </a:ln>
        </p:spPr>
        <p:txBody>
          <a:bodyPr wrap="square" anchor="ctr">
            <a:spAutoFit/>
          </a:bodyPr>
          <a:lstStyle/>
          <a:p>
            <a:endParaRPr lang="ko-KR" altLang="en-US">
              <a:cs typeface="Times New Roman" pitchFamily="18" charset="0"/>
            </a:endParaRPr>
          </a:p>
        </p:txBody>
      </p:sp>
      <p:sp>
        <p:nvSpPr>
          <p:cNvPr id="138" name="Rectangle 2" descr="Large confetti"/>
          <p:cNvSpPr>
            <a:spLocks noGrp="1" noChangeArrowheads="1"/>
          </p:cNvSpPr>
          <p:nvPr>
            <p:ph type="title"/>
          </p:nvPr>
        </p:nvSpPr>
        <p:spPr>
          <a:xfrm>
            <a:off x="0" y="44624"/>
            <a:ext cx="9144000" cy="990600"/>
          </a:xfrm>
        </p:spPr>
        <p:txBody>
          <a:bodyPr lIns="90488" tIns="44450" rIns="90488" bIns="44450" anchor="ctr"/>
          <a:lstStyle/>
          <a:p>
            <a:pPr algn="ctr" eaLnBrk="1" hangingPunct="1">
              <a:defRPr/>
            </a:pPr>
            <a:r>
              <a:rPr kumimoji="0" lang="en-US" altLang="ko-KR" sz="3200" b="1" kern="1200" dirty="0">
                <a:solidFill>
                  <a:srgbClr val="FFCC00"/>
                </a:solidFill>
                <a:latin typeface="Times New Roman" pitchFamily="18" charset="0"/>
                <a:cs typeface="Times New Roman" pitchFamily="18" charset="0"/>
              </a:rPr>
              <a:t>Product Life Cycle Theory</a:t>
            </a: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362" name="Rectangle 2" descr="Large confetti"/>
          <p:cNvSpPr>
            <a:spLocks noGrp="1" noChangeArrowheads="1"/>
          </p:cNvSpPr>
          <p:nvPr>
            <p:ph type="title"/>
          </p:nvPr>
        </p:nvSpPr>
        <p:spPr>
          <a:xfrm>
            <a:off x="0" y="0"/>
            <a:ext cx="9144000" cy="1143000"/>
          </a:xfrm>
        </p:spPr>
        <p:txBody>
          <a:bodyPr lIns="90488" tIns="44450" rIns="90488" bIns="44450" anchor="ctr"/>
          <a:lstStyle/>
          <a:p>
            <a:pPr algn="ctr" eaLnBrk="1" hangingPunct="1">
              <a:defRPr/>
            </a:pPr>
            <a:r>
              <a:rPr kumimoji="0" lang="en-US" altLang="ko-KR" sz="3200" b="1" kern="1200" dirty="0">
                <a:solidFill>
                  <a:srgbClr val="FFCC00"/>
                </a:solidFill>
                <a:latin typeface="Times New Roman" pitchFamily="18" charset="0"/>
                <a:cs typeface="Times New Roman" pitchFamily="18" charset="0"/>
              </a:rPr>
              <a:t>Strategic Trade Theory</a:t>
            </a:r>
          </a:p>
        </p:txBody>
      </p:sp>
      <p:sp>
        <p:nvSpPr>
          <p:cNvPr id="22531" name="Rectangle 3"/>
          <p:cNvSpPr>
            <a:spLocks noGrp="1" noChangeArrowheads="1"/>
          </p:cNvSpPr>
          <p:nvPr>
            <p:ph type="body" idx="1"/>
          </p:nvPr>
        </p:nvSpPr>
        <p:spPr>
          <a:xfrm>
            <a:off x="395536" y="1196752"/>
            <a:ext cx="8496944" cy="5184576"/>
          </a:xfrm>
          <a:noFill/>
        </p:spPr>
        <p:txBody>
          <a:bodyPr lIns="90488" tIns="44450" rIns="90488" bIns="44450"/>
          <a:lstStyle/>
          <a:p>
            <a:pPr eaLnBrk="1" hangingPunct="1">
              <a:lnSpc>
                <a:spcPts val="3600"/>
              </a:lnSpc>
              <a:buFontTx/>
              <a:buChar char="•"/>
            </a:pPr>
            <a:r>
              <a:rPr lang="en-US" altLang="ko-KR" sz="2400" b="0" dirty="0" err="1">
                <a:latin typeface="Times New Roman" pitchFamily="18" charset="0"/>
                <a:cs typeface="Times New Roman" pitchFamily="18" charset="0"/>
              </a:rPr>
              <a:t>Krugman</a:t>
            </a:r>
            <a:r>
              <a:rPr lang="en-US" altLang="ko-KR" sz="2400" b="0" dirty="0">
                <a:latin typeface="Times New Roman" pitchFamily="18" charset="0"/>
                <a:cs typeface="Times New Roman" pitchFamily="18" charset="0"/>
              </a:rPr>
              <a:t> in the 1970s.</a:t>
            </a:r>
          </a:p>
          <a:p>
            <a:pPr eaLnBrk="1" hangingPunct="1">
              <a:lnSpc>
                <a:spcPts val="3600"/>
              </a:lnSpc>
              <a:buFontTx/>
              <a:buChar char="•"/>
            </a:pPr>
            <a:r>
              <a:rPr lang="en-US" sz="2400" b="0" dirty="0">
                <a:latin typeface="Times New Roman" pitchFamily="18" charset="0"/>
                <a:cs typeface="Times New Roman" pitchFamily="18" charset="0"/>
              </a:rPr>
              <a:t>Firms that establish a first-mover advantage in the production of a new product may later dominate global trade in that product.   </a:t>
            </a:r>
            <a:endParaRPr lang="en-US" altLang="ko-KR" sz="2400" b="0" dirty="0">
              <a:latin typeface="Times New Roman" pitchFamily="18" charset="0"/>
              <a:cs typeface="Times New Roman" pitchFamily="18" charset="0"/>
            </a:endParaRPr>
          </a:p>
          <a:p>
            <a:pPr eaLnBrk="1" hangingPunct="1">
              <a:lnSpc>
                <a:spcPts val="3600"/>
              </a:lnSpc>
              <a:buFontTx/>
              <a:buChar char="•"/>
            </a:pPr>
            <a:r>
              <a:rPr lang="en-US" altLang="ko-KR" sz="2400" b="0" dirty="0">
                <a:latin typeface="Times New Roman" pitchFamily="18" charset="0"/>
                <a:cs typeface="Times New Roman" pitchFamily="18" charset="0"/>
              </a:rPr>
              <a:t>This kind of industries has substantial economies of scale with high fixed costs.</a:t>
            </a:r>
          </a:p>
          <a:p>
            <a:pPr eaLnBrk="1" hangingPunct="1">
              <a:lnSpc>
                <a:spcPts val="3600"/>
              </a:lnSpc>
              <a:buFontTx/>
              <a:buChar char="•"/>
            </a:pPr>
            <a:r>
              <a:rPr lang="en-US" altLang="ko-KR" sz="2400" b="0" dirty="0">
                <a:latin typeface="Times New Roman" pitchFamily="18" charset="0"/>
                <a:cs typeface="Times New Roman" pitchFamily="18" charset="0"/>
              </a:rPr>
              <a:t>World demand will support few competitors. Hence, first mover advantages are great. “Getting there first” is critical.</a:t>
            </a:r>
          </a:p>
          <a:p>
            <a:pPr eaLnBrk="1" hangingPunct="1">
              <a:lnSpc>
                <a:spcPts val="3600"/>
              </a:lnSpc>
              <a:buFontTx/>
              <a:buChar char="•"/>
            </a:pPr>
            <a:r>
              <a:rPr lang="en-US" altLang="ko-KR" sz="2400" b="0" dirty="0">
                <a:latin typeface="Times New Roman" pitchFamily="18" charset="0"/>
                <a:cs typeface="Times New Roman" pitchFamily="18" charset="0"/>
              </a:rPr>
              <a:t>This promotes government intervention and strategic trade policy.</a:t>
            </a:r>
          </a:p>
          <a:p>
            <a:pPr eaLnBrk="1" hangingPunct="1">
              <a:lnSpc>
                <a:spcPts val="3600"/>
              </a:lnSpc>
              <a:buFontTx/>
              <a:buChar char="•"/>
            </a:pPr>
            <a:r>
              <a:rPr lang="en-US" altLang="ko-KR" sz="2400" b="0" dirty="0">
                <a:latin typeface="Times New Roman" pitchFamily="18" charset="0"/>
                <a:cs typeface="Times New Roman" pitchFamily="18" charset="0"/>
              </a:rPr>
              <a:t>Example: Boeing &amp; Airbus</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2531">
                                            <p:txEl>
                                              <p:pRg st="0" end="0"/>
                                            </p:txEl>
                                          </p:spTgt>
                                        </p:tgtEl>
                                        <p:attrNameLst>
                                          <p:attrName>style.visibility</p:attrName>
                                        </p:attrNameLst>
                                      </p:cBhvr>
                                      <p:to>
                                        <p:strVal val="visible"/>
                                      </p:to>
                                    </p:set>
                                    <p:anim calcmode="lin" valueType="num">
                                      <p:cBhvr additive="base">
                                        <p:cTn id="7" dur="500" fill="hold"/>
                                        <p:tgtEl>
                                          <p:spTgt spid="2253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253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2531">
                                            <p:txEl>
                                              <p:pRg st="1" end="1"/>
                                            </p:txEl>
                                          </p:spTgt>
                                        </p:tgtEl>
                                        <p:attrNameLst>
                                          <p:attrName>style.visibility</p:attrName>
                                        </p:attrNameLst>
                                      </p:cBhvr>
                                      <p:to>
                                        <p:strVal val="visible"/>
                                      </p:to>
                                    </p:set>
                                    <p:anim calcmode="lin" valueType="num">
                                      <p:cBhvr additive="base">
                                        <p:cTn id="13" dur="500" fill="hold"/>
                                        <p:tgtEl>
                                          <p:spTgt spid="22531">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253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2531">
                                            <p:txEl>
                                              <p:pRg st="2" end="2"/>
                                            </p:txEl>
                                          </p:spTgt>
                                        </p:tgtEl>
                                        <p:attrNameLst>
                                          <p:attrName>style.visibility</p:attrName>
                                        </p:attrNameLst>
                                      </p:cBhvr>
                                      <p:to>
                                        <p:strVal val="visible"/>
                                      </p:to>
                                    </p:set>
                                    <p:anim calcmode="lin" valueType="num">
                                      <p:cBhvr additive="base">
                                        <p:cTn id="19" dur="500" fill="hold"/>
                                        <p:tgtEl>
                                          <p:spTgt spid="22531">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2531">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2531">
                                            <p:txEl>
                                              <p:pRg st="3" end="3"/>
                                            </p:txEl>
                                          </p:spTgt>
                                        </p:tgtEl>
                                        <p:attrNameLst>
                                          <p:attrName>style.visibility</p:attrName>
                                        </p:attrNameLst>
                                      </p:cBhvr>
                                      <p:to>
                                        <p:strVal val="visible"/>
                                      </p:to>
                                    </p:set>
                                    <p:anim calcmode="lin" valueType="num">
                                      <p:cBhvr additive="base">
                                        <p:cTn id="25" dur="500" fill="hold"/>
                                        <p:tgtEl>
                                          <p:spTgt spid="22531">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2531">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2531">
                                            <p:txEl>
                                              <p:pRg st="4" end="4"/>
                                            </p:txEl>
                                          </p:spTgt>
                                        </p:tgtEl>
                                        <p:attrNameLst>
                                          <p:attrName>style.visibility</p:attrName>
                                        </p:attrNameLst>
                                      </p:cBhvr>
                                      <p:to>
                                        <p:strVal val="visible"/>
                                      </p:to>
                                    </p:set>
                                    <p:anim calcmode="lin" valueType="num">
                                      <p:cBhvr additive="base">
                                        <p:cTn id="31" dur="500" fill="hold"/>
                                        <p:tgtEl>
                                          <p:spTgt spid="22531">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22531">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22531">
                                            <p:txEl>
                                              <p:pRg st="5" end="5"/>
                                            </p:txEl>
                                          </p:spTgt>
                                        </p:tgtEl>
                                        <p:attrNameLst>
                                          <p:attrName>style.visibility</p:attrName>
                                        </p:attrNameLst>
                                      </p:cBhvr>
                                      <p:to>
                                        <p:strVal val="visible"/>
                                      </p:to>
                                    </p:set>
                                    <p:anim calcmode="lin" valueType="num">
                                      <p:cBhvr additive="base">
                                        <p:cTn id="37" dur="500" fill="hold"/>
                                        <p:tgtEl>
                                          <p:spTgt spid="22531">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22531">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1" grpId="0" build="p"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2" descr="Large confetti"/>
          <p:cNvSpPr>
            <a:spLocks noGrp="1" noChangeArrowheads="1"/>
          </p:cNvSpPr>
          <p:nvPr>
            <p:ph type="title"/>
          </p:nvPr>
        </p:nvSpPr>
        <p:spPr>
          <a:xfrm>
            <a:off x="0" y="0"/>
            <a:ext cx="9144000" cy="1143000"/>
          </a:xfrm>
        </p:spPr>
        <p:txBody>
          <a:bodyPr lIns="90488" tIns="44450" rIns="90488" bIns="44450" anchor="ctr"/>
          <a:lstStyle/>
          <a:p>
            <a:pPr algn="ctr" eaLnBrk="1" hangingPunct="1">
              <a:defRPr/>
            </a:pPr>
            <a:r>
              <a:rPr kumimoji="0" lang="en-US" altLang="ko-KR" sz="3200" b="1" kern="1200" dirty="0">
                <a:solidFill>
                  <a:srgbClr val="FFCC00"/>
                </a:solidFill>
                <a:latin typeface="Times New Roman" pitchFamily="18" charset="0"/>
                <a:cs typeface="Times New Roman" pitchFamily="18" charset="0"/>
              </a:rPr>
              <a:t>Strategic Trade Theory</a:t>
            </a:r>
          </a:p>
        </p:txBody>
      </p:sp>
      <p:pic>
        <p:nvPicPr>
          <p:cNvPr id="3" name="Picture 4" descr="Figure 5"/>
          <p:cNvPicPr>
            <a:picLocks noChangeAspect="1" noChangeArrowheads="1"/>
          </p:cNvPicPr>
          <p:nvPr/>
        </p:nvPicPr>
        <p:blipFill>
          <a:blip r:embed="rId2" cstate="print"/>
          <a:srcRect/>
          <a:stretch>
            <a:fillRect/>
          </a:stretch>
        </p:blipFill>
        <p:spPr bwMode="auto">
          <a:xfrm>
            <a:off x="0" y="1052736"/>
            <a:ext cx="9144000" cy="5805264"/>
          </a:xfrm>
          <a:prstGeom prst="rect">
            <a:avLst/>
          </a:prstGeom>
          <a:noFill/>
          <a:ln w="9525">
            <a:noFill/>
            <a:miter lim="800000"/>
            <a:headEnd/>
            <a:tailEnd/>
          </a:ln>
        </p:spPr>
      </p:pic>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descr="Large confetti"/>
          <p:cNvSpPr>
            <a:spLocks noGrp="1" noChangeArrowheads="1"/>
          </p:cNvSpPr>
          <p:nvPr>
            <p:ph type="ctrTitle"/>
          </p:nvPr>
        </p:nvSpPr>
        <p:spPr>
          <a:xfrm>
            <a:off x="0" y="116632"/>
            <a:ext cx="9144000" cy="936733"/>
          </a:xfrm>
          <a:noFill/>
        </p:spPr>
        <p:txBody>
          <a:bodyPr lIns="62313" tIns="24925" rIns="62313" bIns="24925" anchor="t">
            <a:spAutoFit/>
          </a:bodyPr>
          <a:lstStyle/>
          <a:p>
            <a:pPr algn="ctr" eaLnBrk="1" hangingPunct="1">
              <a:lnSpc>
                <a:spcPct val="90000"/>
              </a:lnSpc>
              <a:defRPr/>
            </a:pPr>
            <a:r>
              <a:rPr kumimoji="0" lang="en-US" altLang="ko-KR" sz="3200" b="1" kern="1200" dirty="0">
                <a:solidFill>
                  <a:schemeClr val="accent1"/>
                </a:solidFill>
                <a:latin typeface="Times New Roman" pitchFamily="18" charset="0"/>
                <a:cs typeface="Times New Roman" pitchFamily="18" charset="0"/>
              </a:rPr>
              <a:t>Theory of Competitive Advantage</a:t>
            </a:r>
            <a:br>
              <a:rPr kumimoji="0" lang="en-US" altLang="ko-KR" sz="3200" b="1" kern="1200" dirty="0">
                <a:solidFill>
                  <a:schemeClr val="accent1"/>
                </a:solidFill>
                <a:latin typeface="Times New Roman" pitchFamily="18" charset="0"/>
                <a:cs typeface="Times New Roman" pitchFamily="18" charset="0"/>
              </a:rPr>
            </a:br>
            <a:r>
              <a:rPr kumimoji="0" lang="en-US" altLang="ko-KR" sz="3200" b="1" kern="1200" dirty="0">
                <a:solidFill>
                  <a:schemeClr val="accent1"/>
                </a:solidFill>
                <a:latin typeface="Times New Roman" pitchFamily="18" charset="0"/>
                <a:cs typeface="Times New Roman" pitchFamily="18" charset="0"/>
              </a:rPr>
              <a:t>(Porter’s Diamond)</a:t>
            </a:r>
          </a:p>
        </p:txBody>
      </p:sp>
      <p:sp>
        <p:nvSpPr>
          <p:cNvPr id="22" name="Rectangle 21"/>
          <p:cNvSpPr/>
          <p:nvPr/>
        </p:nvSpPr>
        <p:spPr>
          <a:xfrm>
            <a:off x="323528" y="1264692"/>
            <a:ext cx="8640960" cy="5452775"/>
          </a:xfrm>
          <a:prstGeom prst="rect">
            <a:avLst/>
          </a:prstGeom>
        </p:spPr>
        <p:txBody>
          <a:bodyPr wrap="square">
            <a:spAutoFit/>
          </a:bodyPr>
          <a:lstStyle/>
          <a:p>
            <a:pPr>
              <a:lnSpc>
                <a:spcPts val="3800"/>
              </a:lnSpc>
              <a:buFont typeface="Arial" pitchFamily="34" charset="0"/>
              <a:buChar char="•"/>
            </a:pPr>
            <a:r>
              <a:rPr lang="en-US" altLang="ko-KR" b="0" dirty="0">
                <a:cs typeface="Times New Roman" pitchFamily="18" charset="0"/>
              </a:rPr>
              <a:t>  Porter: </a:t>
            </a:r>
            <a:r>
              <a:rPr lang="en-US" altLang="ko-KR" b="0" i="1" dirty="0">
                <a:cs typeface="Times New Roman" pitchFamily="18" charset="0"/>
              </a:rPr>
              <a:t>The Competitive Advantage of Nations </a:t>
            </a:r>
            <a:r>
              <a:rPr lang="en-US" altLang="ko-KR" b="0" dirty="0">
                <a:cs typeface="Times New Roman" pitchFamily="18" charset="0"/>
              </a:rPr>
              <a:t>(1990)</a:t>
            </a:r>
          </a:p>
          <a:p>
            <a:pPr>
              <a:lnSpc>
                <a:spcPts val="3800"/>
              </a:lnSpc>
              <a:buFont typeface="Arial" pitchFamily="34" charset="0"/>
              <a:buChar char="•"/>
            </a:pPr>
            <a:r>
              <a:rPr lang="en-US" altLang="ko-KR" b="0" dirty="0">
                <a:cs typeface="Times New Roman" pitchFamily="18" charset="0"/>
              </a:rPr>
              <a:t>  Addresses the question of </a:t>
            </a:r>
            <a:r>
              <a:rPr lang="en-US" altLang="ko-KR" b="0" i="1" dirty="0">
                <a:cs typeface="Times New Roman" pitchFamily="18" charset="0"/>
              </a:rPr>
              <a:t>why a nation achieves international </a:t>
            </a:r>
          </a:p>
          <a:p>
            <a:pPr>
              <a:lnSpc>
                <a:spcPts val="3800"/>
              </a:lnSpc>
            </a:pPr>
            <a:r>
              <a:rPr lang="en-US" altLang="ko-KR" b="0" i="1" dirty="0">
                <a:cs typeface="Times New Roman" pitchFamily="18" charset="0"/>
              </a:rPr>
              <a:t>    competitiveness </a:t>
            </a:r>
            <a:r>
              <a:rPr lang="en-US" altLang="ko-KR" b="0" i="1" u="sng" dirty="0">
                <a:cs typeface="Times New Roman" pitchFamily="18" charset="0"/>
              </a:rPr>
              <a:t>in a particular industry</a:t>
            </a:r>
            <a:r>
              <a:rPr lang="en-US" altLang="ko-KR" b="0" i="1" dirty="0">
                <a:cs typeface="Times New Roman" pitchFamily="18" charset="0"/>
              </a:rPr>
              <a:t>.</a:t>
            </a:r>
          </a:p>
          <a:p>
            <a:pPr>
              <a:lnSpc>
                <a:spcPts val="3800"/>
              </a:lnSpc>
              <a:buFont typeface="Arial" pitchFamily="34" charset="0"/>
              <a:buChar char="•"/>
            </a:pPr>
            <a:r>
              <a:rPr lang="en-US" b="0" dirty="0">
                <a:cs typeface="Times New Roman" pitchFamily="18" charset="0"/>
              </a:rPr>
              <a:t>  Argues that an industry of a nation with the following four</a:t>
            </a:r>
          </a:p>
          <a:p>
            <a:pPr>
              <a:lnSpc>
                <a:spcPts val="3800"/>
              </a:lnSpc>
            </a:pPr>
            <a:r>
              <a:rPr lang="en-US" b="0" dirty="0">
                <a:cs typeface="Times New Roman" pitchFamily="18" charset="0"/>
              </a:rPr>
              <a:t>   conditions met tends to have international competitive advantage: </a:t>
            </a:r>
          </a:p>
          <a:p>
            <a:pPr>
              <a:lnSpc>
                <a:spcPts val="3800"/>
              </a:lnSpc>
            </a:pPr>
            <a:r>
              <a:rPr lang="en-US" b="0" dirty="0">
                <a:cs typeface="Times New Roman" pitchFamily="18" charset="0"/>
              </a:rPr>
              <a:t>       - Factor conditions </a:t>
            </a:r>
          </a:p>
          <a:p>
            <a:pPr>
              <a:lnSpc>
                <a:spcPts val="3800"/>
              </a:lnSpc>
            </a:pPr>
            <a:r>
              <a:rPr lang="en-US" b="0" dirty="0">
                <a:cs typeface="Times New Roman" pitchFamily="18" charset="0"/>
              </a:rPr>
              <a:t>       - Market conditions</a:t>
            </a:r>
          </a:p>
          <a:p>
            <a:pPr>
              <a:lnSpc>
                <a:spcPts val="3800"/>
              </a:lnSpc>
            </a:pPr>
            <a:r>
              <a:rPr lang="en-US" b="0" dirty="0">
                <a:cs typeface="Times New Roman" pitchFamily="18" charset="0"/>
              </a:rPr>
              <a:t>       - Related and supporting industries</a:t>
            </a:r>
          </a:p>
          <a:p>
            <a:pPr>
              <a:lnSpc>
                <a:spcPts val="3800"/>
              </a:lnSpc>
            </a:pPr>
            <a:r>
              <a:rPr lang="en-US" b="0" dirty="0">
                <a:cs typeface="Times New Roman" pitchFamily="18" charset="0"/>
              </a:rPr>
              <a:t>       - Company strategy, structure, and rivalry</a:t>
            </a:r>
          </a:p>
          <a:p>
            <a:pPr>
              <a:lnSpc>
                <a:spcPts val="3800"/>
              </a:lnSpc>
              <a:buFont typeface="Arial" pitchFamily="34" charset="0"/>
              <a:buChar char="•"/>
            </a:pPr>
            <a:r>
              <a:rPr lang="en-US" b="0" dirty="0">
                <a:cs typeface="Times New Roman" pitchFamily="18" charset="0"/>
              </a:rPr>
              <a:t>  </a:t>
            </a:r>
            <a:r>
              <a:rPr lang="en-US" b="0" i="1" dirty="0">
                <a:cs typeface="Times New Roman" pitchFamily="18" charset="0"/>
              </a:rPr>
              <a:t>Sources of Advantage</a:t>
            </a:r>
            <a:r>
              <a:rPr lang="en-US" b="0" dirty="0">
                <a:cs typeface="Times New Roman" pitchFamily="18" charset="0"/>
              </a:rPr>
              <a:t>:</a:t>
            </a:r>
          </a:p>
          <a:p>
            <a:pPr>
              <a:lnSpc>
                <a:spcPts val="3800"/>
              </a:lnSpc>
            </a:pPr>
            <a:r>
              <a:rPr lang="en-US" b="0" dirty="0">
                <a:cs typeface="Times New Roman" pitchFamily="18" charset="0"/>
              </a:rPr>
              <a:t>   Competitive Advantage = Man-made comparative advantage</a:t>
            </a:r>
            <a:endParaRPr lang="en-US" b="0" dirty="0"/>
          </a:p>
        </p:txBody>
      </p:sp>
    </p:spTree>
  </p:cSld>
  <p:clrMapOvr>
    <a:masterClrMapping/>
  </p:clrMapOvr>
  <p:transition>
    <p:random/>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descr="Large confetti"/>
          <p:cNvSpPr>
            <a:spLocks noGrp="1" noChangeArrowheads="1"/>
          </p:cNvSpPr>
          <p:nvPr>
            <p:ph type="ctrTitle"/>
          </p:nvPr>
        </p:nvSpPr>
        <p:spPr>
          <a:xfrm>
            <a:off x="0" y="116632"/>
            <a:ext cx="9144000" cy="936733"/>
          </a:xfrm>
          <a:noFill/>
        </p:spPr>
        <p:txBody>
          <a:bodyPr lIns="62313" tIns="24925" rIns="62313" bIns="24925" anchor="t">
            <a:spAutoFit/>
          </a:bodyPr>
          <a:lstStyle/>
          <a:p>
            <a:pPr algn="ctr" eaLnBrk="1" hangingPunct="1">
              <a:lnSpc>
                <a:spcPct val="90000"/>
              </a:lnSpc>
              <a:defRPr/>
            </a:pPr>
            <a:r>
              <a:rPr kumimoji="0" lang="en-US" altLang="ko-KR" sz="3200" b="1" kern="1200" dirty="0">
                <a:solidFill>
                  <a:schemeClr val="accent1"/>
                </a:solidFill>
                <a:latin typeface="Times New Roman" pitchFamily="18" charset="0"/>
                <a:cs typeface="Times New Roman" pitchFamily="18" charset="0"/>
              </a:rPr>
              <a:t>Theory of Competitive Advantage</a:t>
            </a:r>
            <a:br>
              <a:rPr kumimoji="0" lang="en-US" altLang="ko-KR" sz="3200" b="1" kern="1200" dirty="0">
                <a:solidFill>
                  <a:schemeClr val="accent1"/>
                </a:solidFill>
                <a:latin typeface="Times New Roman" pitchFamily="18" charset="0"/>
                <a:cs typeface="Times New Roman" pitchFamily="18" charset="0"/>
              </a:rPr>
            </a:br>
            <a:r>
              <a:rPr kumimoji="0" lang="en-US" altLang="ko-KR" sz="3200" b="1" kern="1200" dirty="0">
                <a:solidFill>
                  <a:schemeClr val="accent1"/>
                </a:solidFill>
                <a:latin typeface="Times New Roman" pitchFamily="18" charset="0"/>
                <a:cs typeface="Times New Roman" pitchFamily="18" charset="0"/>
              </a:rPr>
              <a:t>(Porter’s Diamond)</a:t>
            </a:r>
          </a:p>
        </p:txBody>
      </p:sp>
      <p:sp>
        <p:nvSpPr>
          <p:cNvPr id="29699" name="Oval 3"/>
          <p:cNvSpPr>
            <a:spLocks noChangeArrowheads="1"/>
          </p:cNvSpPr>
          <p:nvPr/>
        </p:nvSpPr>
        <p:spPr bwMode="auto">
          <a:xfrm>
            <a:off x="1645100" y="1700808"/>
            <a:ext cx="6599308" cy="4752528"/>
          </a:xfrm>
          <a:prstGeom prst="ellipse">
            <a:avLst/>
          </a:prstGeom>
          <a:noFill/>
          <a:ln w="57150">
            <a:solidFill>
              <a:schemeClr val="accent2">
                <a:lumMod val="20000"/>
                <a:lumOff val="80000"/>
              </a:schemeClr>
            </a:solidFill>
            <a:round/>
            <a:headEnd/>
            <a:tailEnd/>
          </a:ln>
        </p:spPr>
        <p:txBody>
          <a:bodyPr wrap="none" anchor="ctr"/>
          <a:lstStyle/>
          <a:p>
            <a:endParaRPr lang="ko-KR" altLang="ko-KR" sz="2000" b="0">
              <a:solidFill>
                <a:schemeClr val="bg1"/>
              </a:solidFill>
              <a:cs typeface="Times New Roman" pitchFamily="18" charset="0"/>
            </a:endParaRPr>
          </a:p>
        </p:txBody>
      </p:sp>
      <p:sp>
        <p:nvSpPr>
          <p:cNvPr id="29700" name="Rectangle 4"/>
          <p:cNvSpPr>
            <a:spLocks noChangeArrowheads="1"/>
          </p:cNvSpPr>
          <p:nvPr/>
        </p:nvSpPr>
        <p:spPr bwMode="auto">
          <a:xfrm>
            <a:off x="3829743" y="2313176"/>
            <a:ext cx="2182417" cy="899800"/>
          </a:xfrm>
          <a:prstGeom prst="rect">
            <a:avLst/>
          </a:prstGeom>
          <a:solidFill>
            <a:schemeClr val="tx1">
              <a:lumMod val="50000"/>
            </a:schemeClr>
          </a:solidFill>
          <a:ln w="25400">
            <a:solidFill>
              <a:srgbClr val="00FFFF"/>
            </a:solidFill>
            <a:miter lim="800000"/>
            <a:headEnd/>
            <a:tailEnd/>
          </a:ln>
        </p:spPr>
        <p:txBody>
          <a:bodyPr wrap="square" lIns="62313" tIns="24925" rIns="62313" bIns="24925">
            <a:spAutoFit/>
          </a:bodyPr>
          <a:lstStyle/>
          <a:p>
            <a:pPr algn="ctr" defTabSz="896938" eaLnBrk="0" latinLnBrk="0" hangingPunct="0">
              <a:lnSpc>
                <a:spcPct val="92000"/>
              </a:lnSpc>
            </a:pPr>
            <a:r>
              <a:rPr kumimoji="0" lang="en-US" altLang="ko-KR" sz="2000" b="0" dirty="0">
                <a:solidFill>
                  <a:schemeClr val="tx2"/>
                </a:solidFill>
                <a:cs typeface="Times New Roman" pitchFamily="18" charset="0"/>
              </a:rPr>
              <a:t>Company  Strategy,</a:t>
            </a:r>
          </a:p>
          <a:p>
            <a:pPr algn="ctr" defTabSz="896938" eaLnBrk="0" latinLnBrk="0" hangingPunct="0">
              <a:lnSpc>
                <a:spcPct val="92000"/>
              </a:lnSpc>
            </a:pPr>
            <a:r>
              <a:rPr kumimoji="0" lang="en-US" altLang="ko-KR" sz="2000" b="0" dirty="0">
                <a:solidFill>
                  <a:schemeClr val="tx2"/>
                </a:solidFill>
                <a:cs typeface="Times New Roman" pitchFamily="18" charset="0"/>
              </a:rPr>
              <a:t>Structure,</a:t>
            </a:r>
          </a:p>
          <a:p>
            <a:pPr algn="ctr" defTabSz="896938" eaLnBrk="0" latinLnBrk="0" hangingPunct="0">
              <a:lnSpc>
                <a:spcPct val="92000"/>
              </a:lnSpc>
            </a:pPr>
            <a:r>
              <a:rPr kumimoji="0" lang="en-US" altLang="ko-KR" sz="2000" b="0" dirty="0">
                <a:solidFill>
                  <a:schemeClr val="tx2"/>
                </a:solidFill>
                <a:cs typeface="Times New Roman" pitchFamily="18" charset="0"/>
              </a:rPr>
              <a:t>and Rivalry </a:t>
            </a:r>
          </a:p>
        </p:txBody>
      </p:sp>
      <p:sp>
        <p:nvSpPr>
          <p:cNvPr id="29701" name="Rectangle 5"/>
          <p:cNvSpPr>
            <a:spLocks noChangeArrowheads="1"/>
          </p:cNvSpPr>
          <p:nvPr/>
        </p:nvSpPr>
        <p:spPr bwMode="auto">
          <a:xfrm>
            <a:off x="6527845" y="3749035"/>
            <a:ext cx="1267564" cy="744629"/>
          </a:xfrm>
          <a:prstGeom prst="rect">
            <a:avLst/>
          </a:prstGeom>
          <a:solidFill>
            <a:schemeClr val="tx1">
              <a:lumMod val="50000"/>
            </a:schemeClr>
          </a:solidFill>
          <a:ln w="25400">
            <a:solidFill>
              <a:schemeClr val="tx1"/>
            </a:solidFill>
            <a:miter lim="800000"/>
            <a:headEnd/>
            <a:tailEnd/>
          </a:ln>
        </p:spPr>
        <p:txBody>
          <a:bodyPr wrap="none" lIns="62313" tIns="24925" rIns="62313" bIns="24925">
            <a:spAutoFit/>
          </a:bodyPr>
          <a:lstStyle/>
          <a:p>
            <a:pPr algn="ctr" defTabSz="896938" eaLnBrk="0" latinLnBrk="0" hangingPunct="0">
              <a:lnSpc>
                <a:spcPct val="92000"/>
              </a:lnSpc>
            </a:pPr>
            <a:r>
              <a:rPr kumimoji="0" lang="en-US" altLang="ko-KR" sz="2000" b="0" dirty="0">
                <a:solidFill>
                  <a:schemeClr val="tx2"/>
                </a:solidFill>
                <a:cs typeface="Times New Roman" pitchFamily="18" charset="0"/>
              </a:rPr>
              <a:t>Demand</a:t>
            </a:r>
          </a:p>
          <a:p>
            <a:pPr algn="ctr" defTabSz="896938" eaLnBrk="0" latinLnBrk="0" hangingPunct="0">
              <a:lnSpc>
                <a:spcPct val="92000"/>
              </a:lnSpc>
            </a:pPr>
            <a:r>
              <a:rPr kumimoji="0" lang="en-US" altLang="ko-KR" sz="2000" b="0" dirty="0">
                <a:solidFill>
                  <a:schemeClr val="tx2"/>
                </a:solidFill>
                <a:cs typeface="Times New Roman" pitchFamily="18" charset="0"/>
              </a:rPr>
              <a:t>Conditions</a:t>
            </a:r>
          </a:p>
        </p:txBody>
      </p:sp>
      <p:sp>
        <p:nvSpPr>
          <p:cNvPr id="29702" name="Rectangle 6"/>
          <p:cNvSpPr>
            <a:spLocks noChangeArrowheads="1"/>
          </p:cNvSpPr>
          <p:nvPr/>
        </p:nvSpPr>
        <p:spPr bwMode="auto">
          <a:xfrm>
            <a:off x="3995936" y="5013176"/>
            <a:ext cx="1722876" cy="899800"/>
          </a:xfrm>
          <a:prstGeom prst="rect">
            <a:avLst/>
          </a:prstGeom>
          <a:solidFill>
            <a:schemeClr val="tx1">
              <a:lumMod val="50000"/>
            </a:schemeClr>
          </a:solidFill>
          <a:ln w="25400">
            <a:solidFill>
              <a:schemeClr val="tx1"/>
            </a:solidFill>
            <a:miter lim="800000"/>
            <a:headEnd/>
            <a:tailEnd/>
          </a:ln>
        </p:spPr>
        <p:txBody>
          <a:bodyPr wrap="square" lIns="62313" tIns="24925" rIns="62313" bIns="24925">
            <a:spAutoFit/>
          </a:bodyPr>
          <a:lstStyle/>
          <a:p>
            <a:pPr algn="ctr" defTabSz="896938" eaLnBrk="0" latinLnBrk="0" hangingPunct="0">
              <a:lnSpc>
                <a:spcPct val="92000"/>
              </a:lnSpc>
            </a:pPr>
            <a:r>
              <a:rPr kumimoji="0" lang="en-US" altLang="ko-KR" sz="2000" b="0" dirty="0">
                <a:solidFill>
                  <a:schemeClr val="tx2"/>
                </a:solidFill>
                <a:cs typeface="Times New Roman" pitchFamily="18" charset="0"/>
              </a:rPr>
              <a:t>Related</a:t>
            </a:r>
          </a:p>
          <a:p>
            <a:pPr algn="ctr" defTabSz="896938" eaLnBrk="0" latinLnBrk="0" hangingPunct="0">
              <a:lnSpc>
                <a:spcPct val="92000"/>
              </a:lnSpc>
            </a:pPr>
            <a:r>
              <a:rPr kumimoji="0" lang="en-US" altLang="ko-KR" sz="2000" b="0" dirty="0">
                <a:solidFill>
                  <a:schemeClr val="tx2"/>
                </a:solidFill>
                <a:cs typeface="Times New Roman" pitchFamily="18" charset="0"/>
              </a:rPr>
              <a:t>and Supporting</a:t>
            </a:r>
          </a:p>
          <a:p>
            <a:pPr algn="ctr" defTabSz="896938" eaLnBrk="0" latinLnBrk="0" hangingPunct="0">
              <a:lnSpc>
                <a:spcPct val="92000"/>
              </a:lnSpc>
            </a:pPr>
            <a:r>
              <a:rPr kumimoji="0" lang="en-US" altLang="ko-KR" sz="2000" b="0" dirty="0">
                <a:solidFill>
                  <a:schemeClr val="tx2"/>
                </a:solidFill>
                <a:cs typeface="Times New Roman" pitchFamily="18" charset="0"/>
              </a:rPr>
              <a:t>Industries</a:t>
            </a:r>
          </a:p>
        </p:txBody>
      </p:sp>
      <p:sp>
        <p:nvSpPr>
          <p:cNvPr id="29703" name="Rectangle 7"/>
          <p:cNvSpPr>
            <a:spLocks noChangeArrowheads="1"/>
          </p:cNvSpPr>
          <p:nvPr/>
        </p:nvSpPr>
        <p:spPr bwMode="auto">
          <a:xfrm>
            <a:off x="2062864" y="3735197"/>
            <a:ext cx="1267564" cy="744629"/>
          </a:xfrm>
          <a:prstGeom prst="rect">
            <a:avLst/>
          </a:prstGeom>
          <a:solidFill>
            <a:schemeClr val="tx1">
              <a:lumMod val="50000"/>
            </a:schemeClr>
          </a:solidFill>
          <a:ln w="25400">
            <a:solidFill>
              <a:schemeClr val="tx1"/>
            </a:solidFill>
            <a:miter lim="800000"/>
            <a:headEnd/>
            <a:tailEnd/>
          </a:ln>
        </p:spPr>
        <p:txBody>
          <a:bodyPr wrap="none" lIns="62313" tIns="24925" rIns="62313" bIns="24925">
            <a:spAutoFit/>
          </a:bodyPr>
          <a:lstStyle/>
          <a:p>
            <a:pPr algn="ctr" defTabSz="896938" eaLnBrk="0" latinLnBrk="0" hangingPunct="0">
              <a:lnSpc>
                <a:spcPct val="92000"/>
              </a:lnSpc>
            </a:pPr>
            <a:r>
              <a:rPr kumimoji="0" lang="en-US" altLang="ko-KR" sz="2000" b="0" dirty="0">
                <a:solidFill>
                  <a:schemeClr val="tx2"/>
                </a:solidFill>
                <a:cs typeface="Times New Roman" pitchFamily="18" charset="0"/>
              </a:rPr>
              <a:t>Factor</a:t>
            </a:r>
          </a:p>
          <a:p>
            <a:pPr algn="ctr" defTabSz="896938" eaLnBrk="0" latinLnBrk="0" hangingPunct="0">
              <a:lnSpc>
                <a:spcPct val="92000"/>
              </a:lnSpc>
            </a:pPr>
            <a:r>
              <a:rPr kumimoji="0" lang="en-US" altLang="ko-KR" sz="2000" b="0" dirty="0">
                <a:solidFill>
                  <a:schemeClr val="tx2"/>
                </a:solidFill>
                <a:cs typeface="Times New Roman" pitchFamily="18" charset="0"/>
              </a:rPr>
              <a:t>Conditions</a:t>
            </a:r>
          </a:p>
        </p:txBody>
      </p:sp>
      <p:sp>
        <p:nvSpPr>
          <p:cNvPr id="29704" name="Oval 8"/>
          <p:cNvSpPr>
            <a:spLocks noChangeArrowheads="1"/>
          </p:cNvSpPr>
          <p:nvPr/>
        </p:nvSpPr>
        <p:spPr bwMode="auto">
          <a:xfrm>
            <a:off x="1979713" y="2012192"/>
            <a:ext cx="5924096" cy="4081103"/>
          </a:xfrm>
          <a:prstGeom prst="ellipse">
            <a:avLst/>
          </a:prstGeom>
          <a:noFill/>
          <a:ln w="76200">
            <a:solidFill>
              <a:schemeClr val="tx1">
                <a:lumMod val="90000"/>
              </a:schemeClr>
            </a:solidFill>
            <a:round/>
            <a:headEnd/>
            <a:tailEnd/>
          </a:ln>
        </p:spPr>
        <p:txBody>
          <a:bodyPr wrap="none" anchor="ctr"/>
          <a:lstStyle/>
          <a:p>
            <a:endParaRPr lang="ko-KR" altLang="ko-KR" sz="2000" b="0">
              <a:solidFill>
                <a:schemeClr val="bg1"/>
              </a:solidFill>
              <a:cs typeface="Times New Roman" pitchFamily="18" charset="0"/>
            </a:endParaRPr>
          </a:p>
        </p:txBody>
      </p:sp>
      <p:sp>
        <p:nvSpPr>
          <p:cNvPr id="6153" name="Rectangle 9"/>
          <p:cNvSpPr>
            <a:spLocks noChangeArrowheads="1"/>
          </p:cNvSpPr>
          <p:nvPr/>
        </p:nvSpPr>
        <p:spPr bwMode="auto">
          <a:xfrm>
            <a:off x="550139" y="5864730"/>
            <a:ext cx="1426924" cy="391867"/>
          </a:xfrm>
          <a:prstGeom prst="rect">
            <a:avLst/>
          </a:prstGeom>
          <a:solidFill>
            <a:schemeClr val="bg1"/>
          </a:solidFill>
          <a:ln w="25400">
            <a:solidFill>
              <a:schemeClr val="tx2"/>
            </a:solidFill>
            <a:miter lim="800000"/>
            <a:headEnd/>
            <a:tailEnd/>
          </a:ln>
          <a:effectLst/>
        </p:spPr>
        <p:txBody>
          <a:bodyPr wrap="none" lIns="62313" tIns="24925" rIns="62313" bIns="24925">
            <a:spAutoFit/>
          </a:bodyPr>
          <a:lstStyle/>
          <a:p>
            <a:pPr algn="ctr" defTabSz="896938" eaLnBrk="0" latinLnBrk="0" hangingPunct="0">
              <a:lnSpc>
                <a:spcPct val="97000"/>
              </a:lnSpc>
              <a:defRPr/>
            </a:pPr>
            <a:r>
              <a:rPr kumimoji="0" lang="en-US" altLang="ko-KR" sz="2000" b="0" dirty="0">
                <a:solidFill>
                  <a:srgbClr val="00FFFF"/>
                </a:solidFill>
                <a:effectLst>
                  <a:outerShdw blurRad="38100" dist="38100" dir="2700000" algn="tl">
                    <a:srgbClr val="000000"/>
                  </a:outerShdw>
                </a:effectLst>
                <a:cs typeface="Times New Roman" pitchFamily="18" charset="0"/>
              </a:rPr>
              <a:t>Government</a:t>
            </a:r>
          </a:p>
        </p:txBody>
      </p:sp>
      <p:sp>
        <p:nvSpPr>
          <p:cNvPr id="29706" name="Line 10"/>
          <p:cNvSpPr>
            <a:spLocks noChangeShapeType="1"/>
          </p:cNvSpPr>
          <p:nvPr/>
        </p:nvSpPr>
        <p:spPr bwMode="auto">
          <a:xfrm flipV="1">
            <a:off x="1375893" y="4918462"/>
            <a:ext cx="867116" cy="932428"/>
          </a:xfrm>
          <a:prstGeom prst="line">
            <a:avLst/>
          </a:prstGeom>
          <a:noFill/>
          <a:ln w="25400">
            <a:solidFill>
              <a:schemeClr val="bg2">
                <a:lumMod val="20000"/>
                <a:lumOff val="80000"/>
              </a:schemeClr>
            </a:solidFill>
            <a:round/>
            <a:headEnd/>
            <a:tailEnd type="triangle" w="med" len="med"/>
          </a:ln>
        </p:spPr>
        <p:txBody>
          <a:bodyPr wrap="none" anchor="ctr"/>
          <a:lstStyle/>
          <a:p>
            <a:endParaRPr lang="ko-KR" altLang="en-US" sz="2000" b="0"/>
          </a:p>
        </p:txBody>
      </p:sp>
      <p:sp>
        <p:nvSpPr>
          <p:cNvPr id="29707" name="Line 11"/>
          <p:cNvSpPr>
            <a:spLocks noChangeShapeType="1"/>
          </p:cNvSpPr>
          <p:nvPr/>
        </p:nvSpPr>
        <p:spPr bwMode="auto">
          <a:xfrm flipV="1">
            <a:off x="3114588" y="2977491"/>
            <a:ext cx="571137" cy="627962"/>
          </a:xfrm>
          <a:prstGeom prst="line">
            <a:avLst/>
          </a:prstGeom>
          <a:noFill/>
          <a:ln w="25400">
            <a:solidFill>
              <a:schemeClr val="bg2">
                <a:lumMod val="20000"/>
                <a:lumOff val="80000"/>
              </a:schemeClr>
            </a:solidFill>
            <a:round/>
            <a:headEnd type="triangle" w="med" len="med"/>
            <a:tailEnd type="triangle" w="med" len="med"/>
          </a:ln>
        </p:spPr>
        <p:txBody>
          <a:bodyPr wrap="none" anchor="ctr"/>
          <a:lstStyle/>
          <a:p>
            <a:endParaRPr lang="ko-KR" altLang="en-US" sz="2000" b="0"/>
          </a:p>
        </p:txBody>
      </p:sp>
      <p:sp>
        <p:nvSpPr>
          <p:cNvPr id="29708" name="Line 12"/>
          <p:cNvSpPr>
            <a:spLocks noChangeShapeType="1"/>
          </p:cNvSpPr>
          <p:nvPr/>
        </p:nvSpPr>
        <p:spPr bwMode="auto">
          <a:xfrm>
            <a:off x="6113056" y="2977491"/>
            <a:ext cx="594934" cy="501678"/>
          </a:xfrm>
          <a:prstGeom prst="line">
            <a:avLst/>
          </a:prstGeom>
          <a:noFill/>
          <a:ln w="25400">
            <a:solidFill>
              <a:schemeClr val="bg2">
                <a:lumMod val="20000"/>
                <a:lumOff val="80000"/>
              </a:schemeClr>
            </a:solidFill>
            <a:round/>
            <a:headEnd type="triangle" w="med" len="med"/>
            <a:tailEnd type="triangle" w="med" len="med"/>
          </a:ln>
        </p:spPr>
        <p:txBody>
          <a:bodyPr wrap="none" anchor="ctr"/>
          <a:lstStyle/>
          <a:p>
            <a:endParaRPr lang="ko-KR" altLang="en-US" sz="2000" b="0"/>
          </a:p>
        </p:txBody>
      </p:sp>
      <p:sp>
        <p:nvSpPr>
          <p:cNvPr id="29709" name="Line 13"/>
          <p:cNvSpPr>
            <a:spLocks noChangeShapeType="1"/>
          </p:cNvSpPr>
          <p:nvPr/>
        </p:nvSpPr>
        <p:spPr bwMode="auto">
          <a:xfrm flipH="1">
            <a:off x="5898879" y="4648595"/>
            <a:ext cx="746642" cy="617583"/>
          </a:xfrm>
          <a:prstGeom prst="line">
            <a:avLst/>
          </a:prstGeom>
          <a:noFill/>
          <a:ln w="25400">
            <a:solidFill>
              <a:schemeClr val="bg2">
                <a:lumMod val="20000"/>
                <a:lumOff val="80000"/>
              </a:schemeClr>
            </a:solidFill>
            <a:round/>
            <a:headEnd type="triangle" w="med" len="med"/>
            <a:tailEnd type="triangle" w="med" len="med"/>
          </a:ln>
        </p:spPr>
        <p:txBody>
          <a:bodyPr wrap="none" anchor="ctr"/>
          <a:lstStyle/>
          <a:p>
            <a:endParaRPr lang="ko-KR" altLang="en-US" sz="2000" b="0"/>
          </a:p>
        </p:txBody>
      </p:sp>
      <p:sp>
        <p:nvSpPr>
          <p:cNvPr id="29710" name="Line 14"/>
          <p:cNvSpPr>
            <a:spLocks noChangeShapeType="1"/>
          </p:cNvSpPr>
          <p:nvPr/>
        </p:nvSpPr>
        <p:spPr bwMode="auto">
          <a:xfrm flipH="1" flipV="1">
            <a:off x="3185980" y="4555179"/>
            <a:ext cx="681200" cy="716188"/>
          </a:xfrm>
          <a:prstGeom prst="line">
            <a:avLst/>
          </a:prstGeom>
          <a:noFill/>
          <a:ln w="25400">
            <a:solidFill>
              <a:schemeClr val="bg2">
                <a:lumMod val="20000"/>
                <a:lumOff val="80000"/>
              </a:schemeClr>
            </a:solidFill>
            <a:round/>
            <a:headEnd type="triangle" w="med" len="med"/>
            <a:tailEnd type="triangle" w="med" len="med"/>
          </a:ln>
        </p:spPr>
        <p:txBody>
          <a:bodyPr wrap="none" anchor="ctr"/>
          <a:lstStyle/>
          <a:p>
            <a:endParaRPr lang="ko-KR" altLang="en-US" sz="2000" b="0"/>
          </a:p>
        </p:txBody>
      </p:sp>
      <p:sp>
        <p:nvSpPr>
          <p:cNvPr id="29711" name="Line 15"/>
          <p:cNvSpPr>
            <a:spLocks noChangeShapeType="1"/>
          </p:cNvSpPr>
          <p:nvPr/>
        </p:nvSpPr>
        <p:spPr bwMode="auto">
          <a:xfrm flipV="1">
            <a:off x="3685724" y="4135494"/>
            <a:ext cx="2284547" cy="0"/>
          </a:xfrm>
          <a:prstGeom prst="line">
            <a:avLst/>
          </a:prstGeom>
          <a:noFill/>
          <a:ln w="25400">
            <a:solidFill>
              <a:schemeClr val="bg2">
                <a:lumMod val="20000"/>
                <a:lumOff val="80000"/>
              </a:schemeClr>
            </a:solidFill>
            <a:round/>
            <a:headEnd type="triangle" w="med" len="med"/>
            <a:tailEnd type="triangle" w="med" len="med"/>
          </a:ln>
        </p:spPr>
        <p:txBody>
          <a:bodyPr wrap="none" anchor="ctr"/>
          <a:lstStyle/>
          <a:p>
            <a:endParaRPr lang="ko-KR" altLang="en-US" sz="2000" b="0"/>
          </a:p>
        </p:txBody>
      </p:sp>
      <p:sp>
        <p:nvSpPr>
          <p:cNvPr id="29712" name="Line 16"/>
          <p:cNvSpPr>
            <a:spLocks noChangeShapeType="1"/>
          </p:cNvSpPr>
          <p:nvPr/>
        </p:nvSpPr>
        <p:spPr bwMode="auto">
          <a:xfrm>
            <a:off x="4849279" y="3526822"/>
            <a:ext cx="0" cy="1245544"/>
          </a:xfrm>
          <a:prstGeom prst="line">
            <a:avLst/>
          </a:prstGeom>
          <a:noFill/>
          <a:ln w="25400">
            <a:solidFill>
              <a:schemeClr val="bg2">
                <a:lumMod val="20000"/>
                <a:lumOff val="80000"/>
              </a:schemeClr>
            </a:solidFill>
            <a:round/>
            <a:headEnd type="triangle" w="med" len="med"/>
            <a:tailEnd type="triangle" w="med" len="med"/>
          </a:ln>
        </p:spPr>
        <p:txBody>
          <a:bodyPr wrap="none" anchor="ctr"/>
          <a:lstStyle/>
          <a:p>
            <a:endParaRPr lang="ko-KR" altLang="en-US" sz="2000" b="0"/>
          </a:p>
        </p:txBody>
      </p:sp>
      <p:sp>
        <p:nvSpPr>
          <p:cNvPr id="6163" name="Rectangle 19"/>
          <p:cNvSpPr>
            <a:spLocks noChangeArrowheads="1"/>
          </p:cNvSpPr>
          <p:nvPr/>
        </p:nvSpPr>
        <p:spPr bwMode="auto">
          <a:xfrm>
            <a:off x="539552" y="1863421"/>
            <a:ext cx="908192" cy="391867"/>
          </a:xfrm>
          <a:prstGeom prst="rect">
            <a:avLst/>
          </a:prstGeom>
          <a:solidFill>
            <a:schemeClr val="bg1"/>
          </a:solidFill>
          <a:ln w="25400">
            <a:solidFill>
              <a:schemeClr val="tx2"/>
            </a:solidFill>
            <a:miter lim="800000"/>
            <a:headEnd/>
            <a:tailEnd/>
          </a:ln>
          <a:effectLst/>
        </p:spPr>
        <p:txBody>
          <a:bodyPr wrap="none" lIns="62313" tIns="24925" rIns="62313" bIns="24925">
            <a:spAutoFit/>
          </a:bodyPr>
          <a:lstStyle/>
          <a:p>
            <a:pPr algn="ctr" defTabSz="896938" eaLnBrk="0" latinLnBrk="0" hangingPunct="0">
              <a:lnSpc>
                <a:spcPct val="97000"/>
              </a:lnSpc>
              <a:defRPr/>
            </a:pPr>
            <a:r>
              <a:rPr kumimoji="0" lang="en-US" altLang="ko-KR" sz="2000" b="0" dirty="0">
                <a:solidFill>
                  <a:srgbClr val="00FFFF"/>
                </a:solidFill>
                <a:effectLst>
                  <a:outerShdw blurRad="38100" dist="38100" dir="2700000" algn="tl">
                    <a:srgbClr val="000000"/>
                  </a:outerShdw>
                </a:effectLst>
                <a:cs typeface="Times New Roman" pitchFamily="18" charset="0"/>
              </a:rPr>
              <a:t>Chance</a:t>
            </a:r>
          </a:p>
        </p:txBody>
      </p:sp>
      <p:sp>
        <p:nvSpPr>
          <p:cNvPr id="29716" name="Line 20"/>
          <p:cNvSpPr>
            <a:spLocks noChangeShapeType="1"/>
          </p:cNvSpPr>
          <p:nvPr/>
        </p:nvSpPr>
        <p:spPr bwMode="auto">
          <a:xfrm>
            <a:off x="1148331" y="2330499"/>
            <a:ext cx="672275" cy="681589"/>
          </a:xfrm>
          <a:prstGeom prst="line">
            <a:avLst/>
          </a:prstGeom>
          <a:noFill/>
          <a:ln w="25400">
            <a:solidFill>
              <a:schemeClr val="bg2">
                <a:lumMod val="20000"/>
                <a:lumOff val="80000"/>
              </a:schemeClr>
            </a:solidFill>
            <a:round/>
            <a:headEnd/>
            <a:tailEnd type="triangle" w="med" len="med"/>
          </a:ln>
        </p:spPr>
        <p:txBody>
          <a:bodyPr wrap="none" anchor="ctr"/>
          <a:lstStyle/>
          <a:p>
            <a:endParaRPr lang="ko-KR" altLang="en-US" sz="2000" b="0"/>
          </a:p>
        </p:txBody>
      </p:sp>
    </p:spTree>
  </p:cSld>
  <p:clrMapOvr>
    <a:masterClrMapping/>
  </p:clrMapOvr>
  <p:transition>
    <p:random/>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5602" name="Object 2">
            <a:hlinkClick r:id="" action="ppaction://ole?verb=0"/>
          </p:cNvPr>
          <p:cNvGraphicFramePr>
            <a:graphicFrameLocks/>
          </p:cNvGraphicFramePr>
          <p:nvPr/>
        </p:nvGraphicFramePr>
        <p:xfrm>
          <a:off x="381000" y="4208463"/>
          <a:ext cx="8382000" cy="2049462"/>
        </p:xfrm>
        <a:graphic>
          <a:graphicData uri="http://schemas.openxmlformats.org/presentationml/2006/ole">
            <mc:AlternateContent xmlns:mc="http://schemas.openxmlformats.org/markup-compatibility/2006">
              <mc:Choice xmlns:v="urn:schemas-microsoft-com:vml" Requires="v">
                <p:oleObj name="Clip" r:id="rId2" imgW="3657600" imgH="2338200" progId="">
                  <p:embed/>
                </p:oleObj>
              </mc:Choice>
              <mc:Fallback>
                <p:oleObj name="Clip" r:id="rId2" imgW="3657600" imgH="2338200" progId="">
                  <p:embed/>
                  <p:pic>
                    <p:nvPicPr>
                      <p:cNvPr id="0" name="Object 2"/>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4208463"/>
                        <a:ext cx="8382000" cy="2049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5603" name="WordArt 3"/>
          <p:cNvSpPr>
            <a:spLocks noChangeArrowheads="1" noChangeShapeType="1" noTextEdit="1"/>
          </p:cNvSpPr>
          <p:nvPr/>
        </p:nvSpPr>
        <p:spPr bwMode="auto">
          <a:xfrm>
            <a:off x="857250" y="1484784"/>
            <a:ext cx="7286625" cy="2376264"/>
          </a:xfrm>
          <a:prstGeom prst="rect">
            <a:avLst/>
          </a:prstGeom>
        </p:spPr>
        <p:txBody>
          <a:bodyPr wrap="none" fromWordArt="1">
            <a:prstTxWarp prst="textSlantUp">
              <a:avLst>
                <a:gd name="adj" fmla="val 32056"/>
              </a:avLst>
            </a:prstTxWarp>
          </a:bodyPr>
          <a:lstStyle/>
          <a:p>
            <a:pPr algn="ctr"/>
            <a:r>
              <a:rPr lang="en-US" altLang="ko-KR" sz="4800" kern="10" dirty="0">
                <a:ln w="9525">
                  <a:solidFill>
                    <a:srgbClr val="CC99FF"/>
                  </a:solidFill>
                  <a:round/>
                  <a:headEnd/>
                  <a:tailEnd/>
                </a:ln>
                <a:gradFill rotWithShape="1">
                  <a:gsLst>
                    <a:gs pos="0">
                      <a:srgbClr val="333399"/>
                    </a:gs>
                    <a:gs pos="100000">
                      <a:schemeClr val="accent2"/>
                    </a:gs>
                  </a:gsLst>
                  <a:lin ang="5400000" scaled="1"/>
                </a:gradFill>
                <a:effectLst>
                  <a:outerShdw dist="53882" dir="2700000" algn="ctr" rotWithShape="0">
                    <a:srgbClr val="9999FF"/>
                  </a:outerShdw>
                </a:effectLst>
                <a:latin typeface="Impact"/>
              </a:rPr>
              <a:t>Trade Policy</a:t>
            </a:r>
            <a:endParaRPr lang="ko-KR" altLang="en-US" sz="4800" kern="10" dirty="0">
              <a:ln w="9525">
                <a:solidFill>
                  <a:srgbClr val="CC99FF"/>
                </a:solidFill>
                <a:round/>
                <a:headEnd/>
                <a:tailEnd/>
              </a:ln>
              <a:gradFill rotWithShape="1">
                <a:gsLst>
                  <a:gs pos="0">
                    <a:srgbClr val="333399"/>
                  </a:gs>
                  <a:gs pos="100000">
                    <a:schemeClr val="accent2"/>
                  </a:gs>
                </a:gsLst>
                <a:lin ang="5400000" scaled="1"/>
              </a:gradFill>
              <a:effectLst>
                <a:outerShdw dist="53882" dir="2700000" algn="ctr" rotWithShape="0">
                  <a:srgbClr val="9999FF"/>
                </a:outerShdw>
              </a:effectLst>
              <a:latin typeface="Impact"/>
            </a:endParaRP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itle 3"/>
          <p:cNvSpPr>
            <a:spLocks noGrp="1"/>
          </p:cNvSpPr>
          <p:nvPr>
            <p:ph type="title" idx="4294967295"/>
          </p:nvPr>
        </p:nvSpPr>
        <p:spPr>
          <a:xfrm>
            <a:off x="0" y="319088"/>
            <a:ext cx="9144000" cy="563562"/>
          </a:xfrm>
        </p:spPr>
        <p:txBody>
          <a:bodyPr/>
          <a:lstStyle/>
          <a:p>
            <a:pPr algn="ctr"/>
            <a:r>
              <a:rPr lang="en-US" altLang="zh-CN" sz="3200" b="1" dirty="0">
                <a:solidFill>
                  <a:srgbClr val="FDC52B"/>
                </a:solidFill>
                <a:latin typeface="Times New Roman" pitchFamily="18" charset="0"/>
                <a:ea typeface="SimSun" pitchFamily="2" charset="-122"/>
              </a:rPr>
              <a:t>INSTRUMENTS OF TRADE POLICY</a:t>
            </a:r>
          </a:p>
        </p:txBody>
      </p:sp>
      <p:sp>
        <p:nvSpPr>
          <p:cNvPr id="8195" name="Rectangle 1028"/>
          <p:cNvSpPr>
            <a:spLocks noGrp="1" noChangeArrowheads="1"/>
          </p:cNvSpPr>
          <p:nvPr>
            <p:ph type="body" idx="4294967295"/>
          </p:nvPr>
        </p:nvSpPr>
        <p:spPr>
          <a:xfrm>
            <a:off x="683568" y="1240681"/>
            <a:ext cx="7381453" cy="5500687"/>
          </a:xfrm>
          <a:ln>
            <a:noFill/>
          </a:ln>
        </p:spPr>
        <p:txBody>
          <a:bodyPr/>
          <a:lstStyle/>
          <a:p>
            <a:pPr lvl="1" eaLnBrk="1" hangingPunct="1">
              <a:lnSpc>
                <a:spcPts val="3000"/>
              </a:lnSpc>
              <a:spcBef>
                <a:spcPct val="50000"/>
              </a:spcBef>
              <a:buFont typeface="Wingdings" pitchFamily="2" charset="2"/>
              <a:buNone/>
            </a:pPr>
            <a:r>
              <a:rPr lang="en-US" altLang="zh-TW" dirty="0">
                <a:solidFill>
                  <a:srgbClr val="B1E2FB"/>
                </a:solidFill>
                <a:latin typeface="Times New Roman" pitchFamily="18" charset="0"/>
                <a:ea typeface="PMingLiU" pitchFamily="18" charset="-120"/>
              </a:rPr>
              <a:t>Instruments for restricting international trade </a:t>
            </a:r>
          </a:p>
          <a:p>
            <a:pPr lvl="1" eaLnBrk="1" hangingPunct="1">
              <a:lnSpc>
                <a:spcPts val="3000"/>
              </a:lnSpc>
              <a:spcBef>
                <a:spcPct val="50000"/>
              </a:spcBef>
              <a:buFont typeface="Wingdings" pitchFamily="2" charset="2"/>
              <a:buNone/>
            </a:pPr>
            <a:r>
              <a:rPr lang="en-US" altLang="zh-TW" dirty="0">
                <a:solidFill>
                  <a:srgbClr val="B1E2FB"/>
                </a:solidFill>
                <a:latin typeface="Times New Roman" pitchFamily="18" charset="0"/>
                <a:ea typeface="PMingLiU" pitchFamily="18" charset="-120"/>
              </a:rPr>
              <a:t>(Instruments for protection)</a:t>
            </a:r>
          </a:p>
          <a:p>
            <a:pPr lvl="1" eaLnBrk="1" hangingPunct="1">
              <a:lnSpc>
                <a:spcPts val="3000"/>
              </a:lnSpc>
              <a:spcBef>
                <a:spcPct val="50000"/>
              </a:spcBef>
              <a:buClr>
                <a:schemeClr val="tx1">
                  <a:lumMod val="75000"/>
                </a:schemeClr>
              </a:buClr>
              <a:buFont typeface="Arial" pitchFamily="34" charset="0"/>
              <a:buChar char="•"/>
            </a:pPr>
            <a:r>
              <a:rPr lang="en-US" altLang="zh-TW" dirty="0">
                <a:solidFill>
                  <a:srgbClr val="B1E2FB"/>
                </a:solidFill>
                <a:latin typeface="Times New Roman" pitchFamily="18" charset="0"/>
                <a:ea typeface="PMingLiU" pitchFamily="18" charset="-120"/>
                <a:cs typeface="Times New Roman" pitchFamily="18" charset="0"/>
              </a:rPr>
              <a:t>Tariffs</a:t>
            </a:r>
          </a:p>
          <a:p>
            <a:pPr lvl="1" eaLnBrk="1" hangingPunct="1">
              <a:lnSpc>
                <a:spcPts val="3000"/>
              </a:lnSpc>
              <a:spcBef>
                <a:spcPct val="50000"/>
              </a:spcBef>
              <a:buClr>
                <a:schemeClr val="tx1">
                  <a:lumMod val="75000"/>
                </a:schemeClr>
              </a:buClr>
              <a:buFont typeface="Arial" pitchFamily="34" charset="0"/>
              <a:buChar char="•"/>
            </a:pPr>
            <a:r>
              <a:rPr lang="en-US" altLang="zh-TW" dirty="0">
                <a:solidFill>
                  <a:srgbClr val="B1E2FB"/>
                </a:solidFill>
                <a:latin typeface="Times New Roman" pitchFamily="18" charset="0"/>
                <a:ea typeface="PMingLiU" pitchFamily="18" charset="-120"/>
                <a:cs typeface="Times New Roman" pitchFamily="18" charset="0"/>
              </a:rPr>
              <a:t>Import Quotas</a:t>
            </a:r>
          </a:p>
          <a:p>
            <a:pPr lvl="1" eaLnBrk="1" hangingPunct="1">
              <a:lnSpc>
                <a:spcPts val="3000"/>
              </a:lnSpc>
              <a:spcBef>
                <a:spcPct val="50000"/>
              </a:spcBef>
              <a:buClr>
                <a:schemeClr val="tx1">
                  <a:lumMod val="75000"/>
                </a:schemeClr>
              </a:buClr>
              <a:buFont typeface="Arial" pitchFamily="34" charset="0"/>
              <a:buChar char="•"/>
            </a:pPr>
            <a:r>
              <a:rPr lang="en-US" altLang="zh-TW" dirty="0">
                <a:solidFill>
                  <a:srgbClr val="B1E2FB"/>
                </a:solidFill>
                <a:latin typeface="Times New Roman" pitchFamily="18" charset="0"/>
                <a:ea typeface="PMingLiU" pitchFamily="18" charset="-120"/>
                <a:cs typeface="Times New Roman" pitchFamily="18" charset="0"/>
              </a:rPr>
              <a:t>Voluntary Export Restraints</a:t>
            </a:r>
          </a:p>
          <a:p>
            <a:pPr lvl="1" eaLnBrk="1" hangingPunct="1">
              <a:lnSpc>
                <a:spcPts val="3000"/>
              </a:lnSpc>
              <a:spcBef>
                <a:spcPct val="50000"/>
              </a:spcBef>
              <a:buClr>
                <a:schemeClr val="tx1">
                  <a:lumMod val="75000"/>
                </a:schemeClr>
              </a:buClr>
              <a:buFont typeface="Arial" pitchFamily="34" charset="0"/>
              <a:buChar char="•"/>
            </a:pPr>
            <a:r>
              <a:rPr lang="en-US" altLang="zh-TW" dirty="0">
                <a:solidFill>
                  <a:srgbClr val="B1E2FB"/>
                </a:solidFill>
                <a:latin typeface="Times New Roman" pitchFamily="18" charset="0"/>
                <a:ea typeface="PMingLiU" pitchFamily="18" charset="-120"/>
                <a:cs typeface="Times New Roman" pitchFamily="18" charset="0"/>
              </a:rPr>
              <a:t>Subsidies</a:t>
            </a:r>
          </a:p>
          <a:p>
            <a:pPr lvl="1" eaLnBrk="1" hangingPunct="1">
              <a:lnSpc>
                <a:spcPts val="3000"/>
              </a:lnSpc>
              <a:spcBef>
                <a:spcPct val="50000"/>
              </a:spcBef>
              <a:buClr>
                <a:schemeClr val="tx1">
                  <a:lumMod val="75000"/>
                </a:schemeClr>
              </a:buClr>
              <a:buFont typeface="Arial" pitchFamily="34" charset="0"/>
              <a:buChar char="•"/>
            </a:pPr>
            <a:r>
              <a:rPr lang="en-US" altLang="zh-TW" dirty="0">
                <a:solidFill>
                  <a:srgbClr val="B1E2FB"/>
                </a:solidFill>
                <a:latin typeface="Times New Roman" pitchFamily="18" charset="0"/>
                <a:ea typeface="PMingLiU" pitchFamily="18" charset="-120"/>
                <a:cs typeface="Times New Roman" pitchFamily="18" charset="0"/>
              </a:rPr>
              <a:t>Domestic Content Requirements</a:t>
            </a:r>
          </a:p>
          <a:p>
            <a:pPr lvl="1" eaLnBrk="1" hangingPunct="1">
              <a:lnSpc>
                <a:spcPts val="3000"/>
              </a:lnSpc>
              <a:spcBef>
                <a:spcPct val="50000"/>
              </a:spcBef>
              <a:buClr>
                <a:schemeClr val="tx1">
                  <a:lumMod val="75000"/>
                </a:schemeClr>
              </a:buClr>
              <a:buFont typeface="Arial" pitchFamily="34" charset="0"/>
              <a:buChar char="•"/>
            </a:pPr>
            <a:r>
              <a:rPr lang="en-US" altLang="zh-TW" dirty="0">
                <a:solidFill>
                  <a:srgbClr val="B1E2FB"/>
                </a:solidFill>
                <a:latin typeface="Times New Roman" pitchFamily="18" charset="0"/>
                <a:ea typeface="PMingLiU" pitchFamily="18" charset="-120"/>
                <a:cs typeface="Times New Roman" pitchFamily="18" charset="0"/>
              </a:rPr>
              <a:t>Antidumping Policies</a:t>
            </a:r>
          </a:p>
          <a:p>
            <a:pPr lvl="1" eaLnBrk="1" hangingPunct="1">
              <a:lnSpc>
                <a:spcPts val="3000"/>
              </a:lnSpc>
              <a:spcBef>
                <a:spcPct val="50000"/>
              </a:spcBef>
              <a:buClr>
                <a:schemeClr val="tx1">
                  <a:lumMod val="75000"/>
                </a:schemeClr>
              </a:buClr>
              <a:buFont typeface="Arial" pitchFamily="34" charset="0"/>
              <a:buChar char="•"/>
            </a:pPr>
            <a:r>
              <a:rPr lang="en-US" altLang="zh-TW" dirty="0">
                <a:solidFill>
                  <a:srgbClr val="B1E2FB"/>
                </a:solidFill>
                <a:latin typeface="Times New Roman" pitchFamily="18" charset="0"/>
                <a:ea typeface="PMingLiU" pitchFamily="18" charset="-120"/>
                <a:cs typeface="Times New Roman" pitchFamily="18" charset="0"/>
              </a:rPr>
              <a:t>Administrative Policies, etc.</a:t>
            </a:r>
            <a:endParaRPr lang="en-US" altLang="ko-KR" dirty="0">
              <a:solidFill>
                <a:schemeClr val="tx1"/>
              </a:solidFill>
              <a:latin typeface="Times New Roman" pitchFamily="18" charset="0"/>
              <a:ea typeface="굴림" pitchFamily="50" charset="-127"/>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animEffect transition="in" filter="box(in)">
                                      <p:cBhvr>
                                        <p:cTn id="7" dur="500"/>
                                        <p:tgtEl>
                                          <p:spTgt spid="819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8195">
                                            <p:txEl>
                                              <p:pRg st="1" end="1"/>
                                            </p:txEl>
                                          </p:spTgt>
                                        </p:tgtEl>
                                        <p:attrNameLst>
                                          <p:attrName>style.visibility</p:attrName>
                                        </p:attrNameLst>
                                      </p:cBhvr>
                                      <p:to>
                                        <p:strVal val="visible"/>
                                      </p:to>
                                    </p:set>
                                    <p:animEffect transition="in" filter="box(in)">
                                      <p:cBhvr>
                                        <p:cTn id="12" dur="500"/>
                                        <p:tgtEl>
                                          <p:spTgt spid="8195">
                                            <p:txEl>
                                              <p:pRg st="1" end="1"/>
                                            </p:txEl>
                                          </p:spTgt>
                                        </p:tgtEl>
                                      </p:cBhvr>
                                    </p:animEffect>
                                  </p:childTnLst>
                                </p:cTn>
                              </p:par>
                              <p:par>
                                <p:cTn id="13" presetID="4" presetClass="entr" presetSubtype="16" fill="hold" grpId="0" nodeType="withEffect">
                                  <p:stCondLst>
                                    <p:cond delay="0"/>
                                  </p:stCondLst>
                                  <p:childTnLst>
                                    <p:set>
                                      <p:cBhvr>
                                        <p:cTn id="14" dur="1" fill="hold">
                                          <p:stCondLst>
                                            <p:cond delay="0"/>
                                          </p:stCondLst>
                                        </p:cTn>
                                        <p:tgtEl>
                                          <p:spTgt spid="8195">
                                            <p:txEl>
                                              <p:pRg st="2" end="2"/>
                                            </p:txEl>
                                          </p:spTgt>
                                        </p:tgtEl>
                                        <p:attrNameLst>
                                          <p:attrName>style.visibility</p:attrName>
                                        </p:attrNameLst>
                                      </p:cBhvr>
                                      <p:to>
                                        <p:strVal val="visible"/>
                                      </p:to>
                                    </p:set>
                                    <p:animEffect transition="in" filter="box(in)">
                                      <p:cBhvr>
                                        <p:cTn id="15" dur="500"/>
                                        <p:tgtEl>
                                          <p:spTgt spid="8195">
                                            <p:txEl>
                                              <p:pRg st="2" end="2"/>
                                            </p:txEl>
                                          </p:spTgt>
                                        </p:tgtEl>
                                      </p:cBhvr>
                                    </p:animEffect>
                                  </p:childTnLst>
                                </p:cTn>
                              </p:par>
                              <p:par>
                                <p:cTn id="16" presetID="4" presetClass="entr" presetSubtype="16" fill="hold" grpId="0" nodeType="withEffect">
                                  <p:stCondLst>
                                    <p:cond delay="0"/>
                                  </p:stCondLst>
                                  <p:childTnLst>
                                    <p:set>
                                      <p:cBhvr>
                                        <p:cTn id="17" dur="1" fill="hold">
                                          <p:stCondLst>
                                            <p:cond delay="0"/>
                                          </p:stCondLst>
                                        </p:cTn>
                                        <p:tgtEl>
                                          <p:spTgt spid="8195">
                                            <p:txEl>
                                              <p:pRg st="3" end="3"/>
                                            </p:txEl>
                                          </p:spTgt>
                                        </p:tgtEl>
                                        <p:attrNameLst>
                                          <p:attrName>style.visibility</p:attrName>
                                        </p:attrNameLst>
                                      </p:cBhvr>
                                      <p:to>
                                        <p:strVal val="visible"/>
                                      </p:to>
                                    </p:set>
                                    <p:animEffect transition="in" filter="box(in)">
                                      <p:cBhvr>
                                        <p:cTn id="18" dur="500"/>
                                        <p:tgtEl>
                                          <p:spTgt spid="8195">
                                            <p:txEl>
                                              <p:pRg st="3" end="3"/>
                                            </p:txEl>
                                          </p:spTgt>
                                        </p:tgtEl>
                                      </p:cBhvr>
                                    </p:animEffect>
                                  </p:childTnLst>
                                </p:cTn>
                              </p:par>
                              <p:par>
                                <p:cTn id="19" presetID="4" presetClass="entr" presetSubtype="16" fill="hold" grpId="0" nodeType="withEffect">
                                  <p:stCondLst>
                                    <p:cond delay="0"/>
                                  </p:stCondLst>
                                  <p:childTnLst>
                                    <p:set>
                                      <p:cBhvr>
                                        <p:cTn id="20" dur="1" fill="hold">
                                          <p:stCondLst>
                                            <p:cond delay="0"/>
                                          </p:stCondLst>
                                        </p:cTn>
                                        <p:tgtEl>
                                          <p:spTgt spid="8195">
                                            <p:txEl>
                                              <p:pRg st="4" end="4"/>
                                            </p:txEl>
                                          </p:spTgt>
                                        </p:tgtEl>
                                        <p:attrNameLst>
                                          <p:attrName>style.visibility</p:attrName>
                                        </p:attrNameLst>
                                      </p:cBhvr>
                                      <p:to>
                                        <p:strVal val="visible"/>
                                      </p:to>
                                    </p:set>
                                    <p:animEffect transition="in" filter="box(in)">
                                      <p:cBhvr>
                                        <p:cTn id="21" dur="500"/>
                                        <p:tgtEl>
                                          <p:spTgt spid="8195">
                                            <p:txEl>
                                              <p:pRg st="4" end="4"/>
                                            </p:txEl>
                                          </p:spTgt>
                                        </p:tgtEl>
                                      </p:cBhvr>
                                    </p:animEffect>
                                  </p:childTnLst>
                                </p:cTn>
                              </p:par>
                              <p:par>
                                <p:cTn id="22" presetID="4" presetClass="entr" presetSubtype="16" fill="hold" grpId="0" nodeType="withEffect">
                                  <p:stCondLst>
                                    <p:cond delay="0"/>
                                  </p:stCondLst>
                                  <p:childTnLst>
                                    <p:set>
                                      <p:cBhvr>
                                        <p:cTn id="23" dur="1" fill="hold">
                                          <p:stCondLst>
                                            <p:cond delay="0"/>
                                          </p:stCondLst>
                                        </p:cTn>
                                        <p:tgtEl>
                                          <p:spTgt spid="8195">
                                            <p:txEl>
                                              <p:pRg st="5" end="5"/>
                                            </p:txEl>
                                          </p:spTgt>
                                        </p:tgtEl>
                                        <p:attrNameLst>
                                          <p:attrName>style.visibility</p:attrName>
                                        </p:attrNameLst>
                                      </p:cBhvr>
                                      <p:to>
                                        <p:strVal val="visible"/>
                                      </p:to>
                                    </p:set>
                                    <p:animEffect transition="in" filter="box(in)">
                                      <p:cBhvr>
                                        <p:cTn id="24" dur="500"/>
                                        <p:tgtEl>
                                          <p:spTgt spid="8195">
                                            <p:txEl>
                                              <p:pRg st="5" end="5"/>
                                            </p:txEl>
                                          </p:spTgt>
                                        </p:tgtEl>
                                      </p:cBhvr>
                                    </p:animEffect>
                                  </p:childTnLst>
                                </p:cTn>
                              </p:par>
                              <p:par>
                                <p:cTn id="25" presetID="4" presetClass="entr" presetSubtype="16" fill="hold" grpId="0" nodeType="withEffect">
                                  <p:stCondLst>
                                    <p:cond delay="0"/>
                                  </p:stCondLst>
                                  <p:childTnLst>
                                    <p:set>
                                      <p:cBhvr>
                                        <p:cTn id="26" dur="1" fill="hold">
                                          <p:stCondLst>
                                            <p:cond delay="0"/>
                                          </p:stCondLst>
                                        </p:cTn>
                                        <p:tgtEl>
                                          <p:spTgt spid="8195">
                                            <p:txEl>
                                              <p:pRg st="6" end="6"/>
                                            </p:txEl>
                                          </p:spTgt>
                                        </p:tgtEl>
                                        <p:attrNameLst>
                                          <p:attrName>style.visibility</p:attrName>
                                        </p:attrNameLst>
                                      </p:cBhvr>
                                      <p:to>
                                        <p:strVal val="visible"/>
                                      </p:to>
                                    </p:set>
                                    <p:animEffect transition="in" filter="box(in)">
                                      <p:cBhvr>
                                        <p:cTn id="27" dur="500"/>
                                        <p:tgtEl>
                                          <p:spTgt spid="8195">
                                            <p:txEl>
                                              <p:pRg st="6" end="6"/>
                                            </p:txEl>
                                          </p:spTgt>
                                        </p:tgtEl>
                                      </p:cBhvr>
                                    </p:animEffect>
                                  </p:childTnLst>
                                </p:cTn>
                              </p:par>
                              <p:par>
                                <p:cTn id="28" presetID="4" presetClass="entr" presetSubtype="16" fill="hold" grpId="0" nodeType="withEffect">
                                  <p:stCondLst>
                                    <p:cond delay="0"/>
                                  </p:stCondLst>
                                  <p:childTnLst>
                                    <p:set>
                                      <p:cBhvr>
                                        <p:cTn id="29" dur="1" fill="hold">
                                          <p:stCondLst>
                                            <p:cond delay="0"/>
                                          </p:stCondLst>
                                        </p:cTn>
                                        <p:tgtEl>
                                          <p:spTgt spid="8195">
                                            <p:txEl>
                                              <p:pRg st="7" end="7"/>
                                            </p:txEl>
                                          </p:spTgt>
                                        </p:tgtEl>
                                        <p:attrNameLst>
                                          <p:attrName>style.visibility</p:attrName>
                                        </p:attrNameLst>
                                      </p:cBhvr>
                                      <p:to>
                                        <p:strVal val="visible"/>
                                      </p:to>
                                    </p:set>
                                    <p:animEffect transition="in" filter="box(in)">
                                      <p:cBhvr>
                                        <p:cTn id="30" dur="500"/>
                                        <p:tgtEl>
                                          <p:spTgt spid="8195">
                                            <p:txEl>
                                              <p:pRg st="7" end="7"/>
                                            </p:txEl>
                                          </p:spTgt>
                                        </p:tgtEl>
                                      </p:cBhvr>
                                    </p:animEffect>
                                  </p:childTnLst>
                                </p:cTn>
                              </p:par>
                              <p:par>
                                <p:cTn id="31" presetID="4" presetClass="entr" presetSubtype="16" fill="hold" grpId="0" nodeType="withEffect">
                                  <p:stCondLst>
                                    <p:cond delay="0"/>
                                  </p:stCondLst>
                                  <p:childTnLst>
                                    <p:set>
                                      <p:cBhvr>
                                        <p:cTn id="32" dur="1" fill="hold">
                                          <p:stCondLst>
                                            <p:cond delay="0"/>
                                          </p:stCondLst>
                                        </p:cTn>
                                        <p:tgtEl>
                                          <p:spTgt spid="8195">
                                            <p:txEl>
                                              <p:pRg st="8" end="8"/>
                                            </p:txEl>
                                          </p:spTgt>
                                        </p:tgtEl>
                                        <p:attrNameLst>
                                          <p:attrName>style.visibility</p:attrName>
                                        </p:attrNameLst>
                                      </p:cBhvr>
                                      <p:to>
                                        <p:strVal val="visible"/>
                                      </p:to>
                                    </p:set>
                                    <p:animEffect transition="in" filter="box(in)">
                                      <p:cBhvr>
                                        <p:cTn id="33" dur="500"/>
                                        <p:tgtEl>
                                          <p:spTgt spid="819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itle 3"/>
          <p:cNvSpPr>
            <a:spLocks noGrp="1"/>
          </p:cNvSpPr>
          <p:nvPr>
            <p:ph type="title" idx="4294967295"/>
          </p:nvPr>
        </p:nvSpPr>
        <p:spPr>
          <a:xfrm>
            <a:off x="0" y="319088"/>
            <a:ext cx="9144000" cy="563562"/>
          </a:xfrm>
        </p:spPr>
        <p:txBody>
          <a:bodyPr/>
          <a:lstStyle/>
          <a:p>
            <a:pPr algn="ctr"/>
            <a:r>
              <a:rPr lang="en-US" altLang="zh-CN" sz="3200" b="1" dirty="0">
                <a:solidFill>
                  <a:srgbClr val="FDC52B"/>
                </a:solidFill>
                <a:latin typeface="Times New Roman" pitchFamily="18" charset="0"/>
                <a:ea typeface="SimSun" pitchFamily="2" charset="-122"/>
              </a:rPr>
              <a:t>INSTRUMENTS OF TRADE POLICY</a:t>
            </a:r>
          </a:p>
        </p:txBody>
      </p:sp>
      <p:sp>
        <p:nvSpPr>
          <p:cNvPr id="8195" name="Rectangle 1028"/>
          <p:cNvSpPr>
            <a:spLocks noGrp="1" noChangeArrowheads="1"/>
          </p:cNvSpPr>
          <p:nvPr>
            <p:ph type="body" idx="4294967295"/>
          </p:nvPr>
        </p:nvSpPr>
        <p:spPr>
          <a:xfrm>
            <a:off x="0" y="1196752"/>
            <a:ext cx="9036496" cy="5500687"/>
          </a:xfrm>
          <a:ln>
            <a:noFill/>
          </a:ln>
        </p:spPr>
        <p:txBody>
          <a:bodyPr/>
          <a:lstStyle/>
          <a:p>
            <a:pPr lvl="1" eaLnBrk="1" hangingPunct="1">
              <a:spcBef>
                <a:spcPct val="50000"/>
              </a:spcBef>
              <a:buClr>
                <a:schemeClr val="tx1">
                  <a:lumMod val="75000"/>
                </a:schemeClr>
              </a:buClr>
              <a:buFont typeface="Arial" pitchFamily="34" charset="0"/>
              <a:buChar char="•"/>
            </a:pPr>
            <a:r>
              <a:rPr lang="en-US" altLang="zh-TW" sz="2400" i="1" dirty="0">
                <a:solidFill>
                  <a:srgbClr val="B1E2FB"/>
                </a:solidFill>
                <a:latin typeface="Times New Roman" pitchFamily="18" charset="0"/>
                <a:ea typeface="PMingLiU" pitchFamily="18" charset="-120"/>
                <a:cs typeface="Times New Roman" pitchFamily="18" charset="0"/>
              </a:rPr>
              <a:t>Tariffs</a:t>
            </a:r>
            <a:r>
              <a:rPr lang="en-US" altLang="zh-TW" sz="2400" dirty="0">
                <a:solidFill>
                  <a:srgbClr val="B1E2FB"/>
                </a:solidFill>
                <a:latin typeface="Times New Roman" pitchFamily="18" charset="0"/>
                <a:ea typeface="PMingLiU" pitchFamily="18" charset="-120"/>
                <a:cs typeface="Times New Roman" pitchFamily="18" charset="0"/>
              </a:rPr>
              <a:t> – oldest form of trade policy</a:t>
            </a:r>
          </a:p>
          <a:p>
            <a:pPr marL="457200" lvl="1" indent="0" eaLnBrk="1" hangingPunct="1">
              <a:spcBef>
                <a:spcPct val="50000"/>
              </a:spcBef>
              <a:buClr>
                <a:schemeClr val="tx1">
                  <a:lumMod val="75000"/>
                </a:schemeClr>
              </a:buClr>
              <a:buNone/>
            </a:pPr>
            <a:r>
              <a:rPr lang="en-US" altLang="zh-TW" sz="2400" dirty="0">
                <a:solidFill>
                  <a:srgbClr val="B1E2FB"/>
                </a:solidFill>
                <a:latin typeface="Times New Roman" pitchFamily="18" charset="0"/>
                <a:ea typeface="PMingLiU" pitchFamily="18" charset="-120"/>
                <a:cs typeface="Times New Roman" pitchFamily="18" charset="0"/>
              </a:rPr>
              <a:t>    - Specific: US$10 per unit imported</a:t>
            </a:r>
          </a:p>
          <a:p>
            <a:pPr marL="457200" lvl="1" indent="0" eaLnBrk="1" hangingPunct="1">
              <a:spcBef>
                <a:spcPct val="50000"/>
              </a:spcBef>
              <a:buClr>
                <a:schemeClr val="tx1">
                  <a:lumMod val="75000"/>
                </a:schemeClr>
              </a:buClr>
              <a:buNone/>
            </a:pPr>
            <a:r>
              <a:rPr lang="en-US" altLang="zh-TW" sz="2400" dirty="0">
                <a:solidFill>
                  <a:srgbClr val="B1E2FB"/>
                </a:solidFill>
                <a:latin typeface="Times New Roman" pitchFamily="18" charset="0"/>
                <a:ea typeface="PMingLiU" pitchFamily="18" charset="-120"/>
                <a:cs typeface="Times New Roman" pitchFamily="18" charset="0"/>
              </a:rPr>
              <a:t>    - </a:t>
            </a:r>
            <a:r>
              <a:rPr lang="en-US" altLang="zh-TW" sz="2400" i="1" dirty="0">
                <a:solidFill>
                  <a:srgbClr val="B1E2FB"/>
                </a:solidFill>
                <a:latin typeface="Times New Roman" pitchFamily="18" charset="0"/>
                <a:ea typeface="PMingLiU" pitchFamily="18" charset="-120"/>
                <a:cs typeface="Times New Roman" pitchFamily="18" charset="0"/>
              </a:rPr>
              <a:t>Ad valorem</a:t>
            </a:r>
            <a:r>
              <a:rPr lang="en-US" altLang="zh-TW" sz="2400" dirty="0">
                <a:solidFill>
                  <a:srgbClr val="B1E2FB"/>
                </a:solidFill>
                <a:latin typeface="Times New Roman" pitchFamily="18" charset="0"/>
                <a:ea typeface="PMingLiU" pitchFamily="18" charset="-120"/>
                <a:cs typeface="Times New Roman" pitchFamily="18" charset="0"/>
              </a:rPr>
              <a:t>: percentage per unit imported</a:t>
            </a:r>
          </a:p>
          <a:p>
            <a:pPr lvl="1" eaLnBrk="1" hangingPunct="1">
              <a:spcBef>
                <a:spcPct val="50000"/>
              </a:spcBef>
              <a:buClr>
                <a:schemeClr val="tx1">
                  <a:lumMod val="75000"/>
                </a:schemeClr>
              </a:buClr>
              <a:buFont typeface="Arial" pitchFamily="34" charset="0"/>
              <a:buChar char="•"/>
            </a:pPr>
            <a:r>
              <a:rPr lang="en-US" altLang="zh-TW" sz="2400" i="1" dirty="0">
                <a:solidFill>
                  <a:srgbClr val="B1E2FB"/>
                </a:solidFill>
                <a:latin typeface="Times New Roman" pitchFamily="18" charset="0"/>
                <a:ea typeface="PMingLiU" pitchFamily="18" charset="-120"/>
                <a:cs typeface="Times New Roman" pitchFamily="18" charset="0"/>
              </a:rPr>
              <a:t>Import Quotas</a:t>
            </a:r>
            <a:r>
              <a:rPr lang="en-US" altLang="zh-TW" sz="2400" dirty="0">
                <a:solidFill>
                  <a:srgbClr val="B1E2FB"/>
                </a:solidFill>
                <a:latin typeface="Times New Roman" pitchFamily="18" charset="0"/>
                <a:ea typeface="PMingLiU" pitchFamily="18" charset="-120"/>
                <a:cs typeface="Times New Roman" pitchFamily="18" charset="0"/>
              </a:rPr>
              <a:t>: </a:t>
            </a:r>
          </a:p>
          <a:p>
            <a:pPr marL="457200" lvl="1" indent="0" eaLnBrk="1" hangingPunct="1">
              <a:spcBef>
                <a:spcPct val="50000"/>
              </a:spcBef>
              <a:buClr>
                <a:schemeClr val="tx1">
                  <a:lumMod val="75000"/>
                </a:schemeClr>
              </a:buClr>
              <a:buNone/>
            </a:pPr>
            <a:r>
              <a:rPr lang="en-US" altLang="zh-TW" sz="2400" dirty="0">
                <a:solidFill>
                  <a:srgbClr val="B1E2FB"/>
                </a:solidFill>
                <a:latin typeface="Times New Roman" pitchFamily="18" charset="0"/>
                <a:ea typeface="PMingLiU" pitchFamily="18" charset="-120"/>
                <a:cs typeface="Times New Roman" pitchFamily="18" charset="0"/>
              </a:rPr>
              <a:t>	- Restriction on the quantity of goods imported into a country.</a:t>
            </a:r>
          </a:p>
          <a:p>
            <a:pPr lvl="1" eaLnBrk="1" hangingPunct="1">
              <a:spcBef>
                <a:spcPct val="50000"/>
              </a:spcBef>
              <a:buClr>
                <a:schemeClr val="tx1">
                  <a:lumMod val="75000"/>
                </a:schemeClr>
              </a:buClr>
              <a:buFont typeface="Arial" pitchFamily="34" charset="0"/>
              <a:buChar char="•"/>
            </a:pPr>
            <a:r>
              <a:rPr lang="en-US" altLang="zh-TW" sz="2400" i="1" dirty="0">
                <a:solidFill>
                  <a:srgbClr val="B1E2FB"/>
                </a:solidFill>
                <a:latin typeface="Times New Roman" pitchFamily="18" charset="0"/>
                <a:ea typeface="PMingLiU" pitchFamily="18" charset="-120"/>
                <a:cs typeface="Times New Roman" pitchFamily="18" charset="0"/>
              </a:rPr>
              <a:t>Voluntary Export Restraints</a:t>
            </a:r>
            <a:r>
              <a:rPr lang="en-US" altLang="zh-TW" sz="2400" dirty="0">
                <a:solidFill>
                  <a:srgbClr val="B1E2FB"/>
                </a:solidFill>
                <a:latin typeface="Times New Roman" pitchFamily="18" charset="0"/>
                <a:ea typeface="PMingLiU" pitchFamily="18" charset="-120"/>
                <a:cs typeface="Times New Roman" pitchFamily="18" charset="0"/>
              </a:rPr>
              <a:t>: </a:t>
            </a:r>
          </a:p>
          <a:p>
            <a:pPr marL="457200" lvl="1" indent="0" eaLnBrk="1" hangingPunct="1">
              <a:spcBef>
                <a:spcPct val="50000"/>
              </a:spcBef>
              <a:buClr>
                <a:schemeClr val="tx1">
                  <a:lumMod val="75000"/>
                </a:schemeClr>
              </a:buClr>
              <a:buNone/>
            </a:pPr>
            <a:r>
              <a:rPr lang="en-US" altLang="zh-TW" sz="2400" dirty="0">
                <a:solidFill>
                  <a:srgbClr val="B1E2FB"/>
                </a:solidFill>
                <a:latin typeface="Times New Roman" pitchFamily="18" charset="0"/>
                <a:ea typeface="PMingLiU" pitchFamily="18" charset="-120"/>
                <a:cs typeface="Times New Roman" pitchFamily="18" charset="0"/>
              </a:rPr>
              <a:t> 	- Quota on trade imposed by exporting country, typically at the    	   request of the importing country. </a:t>
            </a:r>
          </a:p>
          <a:p>
            <a:pPr marL="457200" lvl="1" indent="0" eaLnBrk="1" hangingPunct="1">
              <a:spcBef>
                <a:spcPct val="50000"/>
              </a:spcBef>
              <a:buClr>
                <a:schemeClr val="tx1">
                  <a:lumMod val="75000"/>
                </a:schemeClr>
              </a:buClr>
              <a:buNone/>
            </a:pPr>
            <a:r>
              <a:rPr lang="en-US" altLang="zh-TW" sz="2400" dirty="0">
                <a:solidFill>
                  <a:srgbClr val="B1E2FB"/>
                </a:solidFill>
                <a:latin typeface="Times New Roman" pitchFamily="18" charset="0"/>
                <a:ea typeface="PMingLiU" pitchFamily="18" charset="-120"/>
                <a:cs typeface="Times New Roman" pitchFamily="18" charset="0"/>
              </a:rPr>
              <a:t>   	- Effects are the same as those of tariffs; tighter restriction.</a:t>
            </a:r>
          </a:p>
        </p:txBody>
      </p:sp>
    </p:spTree>
    <p:extLst>
      <p:ext uri="{BB962C8B-B14F-4D97-AF65-F5344CB8AC3E}">
        <p14:creationId xmlns:p14="http://schemas.microsoft.com/office/powerpoint/2010/main" val="10145615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animEffect transition="in" filter="box(in)">
                                      <p:cBhvr>
                                        <p:cTn id="7" dur="500"/>
                                        <p:tgtEl>
                                          <p:spTgt spid="8195">
                                            <p:txEl>
                                              <p:pRg st="0" end="0"/>
                                            </p:txEl>
                                          </p:spTgt>
                                        </p:tgtEl>
                                      </p:cBhvr>
                                    </p:animEffect>
                                  </p:childTnLst>
                                </p:cTn>
                              </p:par>
                              <p:par>
                                <p:cTn id="8" presetID="4" presetClass="entr" presetSubtype="16" fill="hold" grpId="0" nodeType="withEffect">
                                  <p:stCondLst>
                                    <p:cond delay="0"/>
                                  </p:stCondLst>
                                  <p:childTnLst>
                                    <p:set>
                                      <p:cBhvr>
                                        <p:cTn id="9" dur="1" fill="hold">
                                          <p:stCondLst>
                                            <p:cond delay="0"/>
                                          </p:stCondLst>
                                        </p:cTn>
                                        <p:tgtEl>
                                          <p:spTgt spid="8195">
                                            <p:txEl>
                                              <p:pRg st="1" end="1"/>
                                            </p:txEl>
                                          </p:spTgt>
                                        </p:tgtEl>
                                        <p:attrNameLst>
                                          <p:attrName>style.visibility</p:attrName>
                                        </p:attrNameLst>
                                      </p:cBhvr>
                                      <p:to>
                                        <p:strVal val="visible"/>
                                      </p:to>
                                    </p:set>
                                    <p:animEffect transition="in" filter="box(in)">
                                      <p:cBhvr>
                                        <p:cTn id="10" dur="500"/>
                                        <p:tgtEl>
                                          <p:spTgt spid="8195">
                                            <p:txEl>
                                              <p:pRg st="1" end="1"/>
                                            </p:txEl>
                                          </p:spTgt>
                                        </p:tgtEl>
                                      </p:cBhvr>
                                    </p:animEffect>
                                  </p:childTnLst>
                                </p:cTn>
                              </p:par>
                              <p:par>
                                <p:cTn id="11" presetID="4" presetClass="entr" presetSubtype="16" fill="hold" grpId="0" nodeType="withEffect">
                                  <p:stCondLst>
                                    <p:cond delay="0"/>
                                  </p:stCondLst>
                                  <p:childTnLst>
                                    <p:set>
                                      <p:cBhvr>
                                        <p:cTn id="12" dur="1" fill="hold">
                                          <p:stCondLst>
                                            <p:cond delay="0"/>
                                          </p:stCondLst>
                                        </p:cTn>
                                        <p:tgtEl>
                                          <p:spTgt spid="8195">
                                            <p:txEl>
                                              <p:pRg st="2" end="2"/>
                                            </p:txEl>
                                          </p:spTgt>
                                        </p:tgtEl>
                                        <p:attrNameLst>
                                          <p:attrName>style.visibility</p:attrName>
                                        </p:attrNameLst>
                                      </p:cBhvr>
                                      <p:to>
                                        <p:strVal val="visible"/>
                                      </p:to>
                                    </p:set>
                                    <p:animEffect transition="in" filter="box(in)">
                                      <p:cBhvr>
                                        <p:cTn id="13" dur="500"/>
                                        <p:tgtEl>
                                          <p:spTgt spid="8195">
                                            <p:txEl>
                                              <p:pRg st="2" end="2"/>
                                            </p:txEl>
                                          </p:spTgt>
                                        </p:tgtEl>
                                      </p:cBhvr>
                                    </p:animEffect>
                                  </p:childTnLst>
                                </p:cTn>
                              </p:par>
                              <p:par>
                                <p:cTn id="14" presetID="4" presetClass="entr" presetSubtype="16" fill="hold" grpId="0" nodeType="withEffect">
                                  <p:stCondLst>
                                    <p:cond delay="0"/>
                                  </p:stCondLst>
                                  <p:childTnLst>
                                    <p:set>
                                      <p:cBhvr>
                                        <p:cTn id="15" dur="1" fill="hold">
                                          <p:stCondLst>
                                            <p:cond delay="0"/>
                                          </p:stCondLst>
                                        </p:cTn>
                                        <p:tgtEl>
                                          <p:spTgt spid="8195">
                                            <p:txEl>
                                              <p:pRg st="3" end="3"/>
                                            </p:txEl>
                                          </p:spTgt>
                                        </p:tgtEl>
                                        <p:attrNameLst>
                                          <p:attrName>style.visibility</p:attrName>
                                        </p:attrNameLst>
                                      </p:cBhvr>
                                      <p:to>
                                        <p:strVal val="visible"/>
                                      </p:to>
                                    </p:set>
                                    <p:animEffect transition="in" filter="box(in)">
                                      <p:cBhvr>
                                        <p:cTn id="16" dur="500"/>
                                        <p:tgtEl>
                                          <p:spTgt spid="8195">
                                            <p:txEl>
                                              <p:pRg st="3" end="3"/>
                                            </p:txEl>
                                          </p:spTgt>
                                        </p:tgtEl>
                                      </p:cBhvr>
                                    </p:animEffect>
                                  </p:childTnLst>
                                </p:cTn>
                              </p:par>
                              <p:par>
                                <p:cTn id="17" presetID="4" presetClass="entr" presetSubtype="16" fill="hold" grpId="0" nodeType="withEffect">
                                  <p:stCondLst>
                                    <p:cond delay="0"/>
                                  </p:stCondLst>
                                  <p:childTnLst>
                                    <p:set>
                                      <p:cBhvr>
                                        <p:cTn id="18" dur="1" fill="hold">
                                          <p:stCondLst>
                                            <p:cond delay="0"/>
                                          </p:stCondLst>
                                        </p:cTn>
                                        <p:tgtEl>
                                          <p:spTgt spid="8195">
                                            <p:txEl>
                                              <p:pRg st="4" end="4"/>
                                            </p:txEl>
                                          </p:spTgt>
                                        </p:tgtEl>
                                        <p:attrNameLst>
                                          <p:attrName>style.visibility</p:attrName>
                                        </p:attrNameLst>
                                      </p:cBhvr>
                                      <p:to>
                                        <p:strVal val="visible"/>
                                      </p:to>
                                    </p:set>
                                    <p:animEffect transition="in" filter="box(in)">
                                      <p:cBhvr>
                                        <p:cTn id="19" dur="500"/>
                                        <p:tgtEl>
                                          <p:spTgt spid="8195">
                                            <p:txEl>
                                              <p:pRg st="4" end="4"/>
                                            </p:txEl>
                                          </p:spTgt>
                                        </p:tgtEl>
                                      </p:cBhvr>
                                    </p:animEffect>
                                  </p:childTnLst>
                                </p:cTn>
                              </p:par>
                              <p:par>
                                <p:cTn id="20" presetID="4" presetClass="entr" presetSubtype="16" fill="hold" grpId="0" nodeType="withEffect">
                                  <p:stCondLst>
                                    <p:cond delay="0"/>
                                  </p:stCondLst>
                                  <p:childTnLst>
                                    <p:set>
                                      <p:cBhvr>
                                        <p:cTn id="21" dur="1" fill="hold">
                                          <p:stCondLst>
                                            <p:cond delay="0"/>
                                          </p:stCondLst>
                                        </p:cTn>
                                        <p:tgtEl>
                                          <p:spTgt spid="8195">
                                            <p:txEl>
                                              <p:pRg st="5" end="5"/>
                                            </p:txEl>
                                          </p:spTgt>
                                        </p:tgtEl>
                                        <p:attrNameLst>
                                          <p:attrName>style.visibility</p:attrName>
                                        </p:attrNameLst>
                                      </p:cBhvr>
                                      <p:to>
                                        <p:strVal val="visible"/>
                                      </p:to>
                                    </p:set>
                                    <p:animEffect transition="in" filter="box(in)">
                                      <p:cBhvr>
                                        <p:cTn id="22" dur="500"/>
                                        <p:tgtEl>
                                          <p:spTgt spid="8195">
                                            <p:txEl>
                                              <p:pRg st="5" end="5"/>
                                            </p:txEl>
                                          </p:spTgt>
                                        </p:tgtEl>
                                      </p:cBhvr>
                                    </p:animEffect>
                                  </p:childTnLst>
                                </p:cTn>
                              </p:par>
                              <p:par>
                                <p:cTn id="23" presetID="4" presetClass="entr" presetSubtype="16" fill="hold" grpId="0" nodeType="withEffect">
                                  <p:stCondLst>
                                    <p:cond delay="0"/>
                                  </p:stCondLst>
                                  <p:childTnLst>
                                    <p:set>
                                      <p:cBhvr>
                                        <p:cTn id="24" dur="1" fill="hold">
                                          <p:stCondLst>
                                            <p:cond delay="0"/>
                                          </p:stCondLst>
                                        </p:cTn>
                                        <p:tgtEl>
                                          <p:spTgt spid="8195">
                                            <p:txEl>
                                              <p:pRg st="6" end="6"/>
                                            </p:txEl>
                                          </p:spTgt>
                                        </p:tgtEl>
                                        <p:attrNameLst>
                                          <p:attrName>style.visibility</p:attrName>
                                        </p:attrNameLst>
                                      </p:cBhvr>
                                      <p:to>
                                        <p:strVal val="visible"/>
                                      </p:to>
                                    </p:set>
                                    <p:animEffect transition="in" filter="box(in)">
                                      <p:cBhvr>
                                        <p:cTn id="25" dur="500"/>
                                        <p:tgtEl>
                                          <p:spTgt spid="8195">
                                            <p:txEl>
                                              <p:pRg st="6" end="6"/>
                                            </p:txEl>
                                          </p:spTgt>
                                        </p:tgtEl>
                                      </p:cBhvr>
                                    </p:animEffect>
                                  </p:childTnLst>
                                </p:cTn>
                              </p:par>
                              <p:par>
                                <p:cTn id="26" presetID="4" presetClass="entr" presetSubtype="16" fill="hold" grpId="0" nodeType="withEffect">
                                  <p:stCondLst>
                                    <p:cond delay="0"/>
                                  </p:stCondLst>
                                  <p:childTnLst>
                                    <p:set>
                                      <p:cBhvr>
                                        <p:cTn id="27" dur="1" fill="hold">
                                          <p:stCondLst>
                                            <p:cond delay="0"/>
                                          </p:stCondLst>
                                        </p:cTn>
                                        <p:tgtEl>
                                          <p:spTgt spid="8195">
                                            <p:txEl>
                                              <p:pRg st="7" end="7"/>
                                            </p:txEl>
                                          </p:spTgt>
                                        </p:tgtEl>
                                        <p:attrNameLst>
                                          <p:attrName>style.visibility</p:attrName>
                                        </p:attrNameLst>
                                      </p:cBhvr>
                                      <p:to>
                                        <p:strVal val="visible"/>
                                      </p:to>
                                    </p:set>
                                    <p:animEffect transition="in" filter="box(in)">
                                      <p:cBhvr>
                                        <p:cTn id="28" dur="500"/>
                                        <p:tgtEl>
                                          <p:spTgt spid="819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itle 3"/>
          <p:cNvSpPr>
            <a:spLocks noGrp="1"/>
          </p:cNvSpPr>
          <p:nvPr>
            <p:ph type="title" idx="4294967295"/>
          </p:nvPr>
        </p:nvSpPr>
        <p:spPr>
          <a:xfrm>
            <a:off x="0" y="319088"/>
            <a:ext cx="9144000" cy="563562"/>
          </a:xfrm>
        </p:spPr>
        <p:txBody>
          <a:bodyPr/>
          <a:lstStyle/>
          <a:p>
            <a:pPr algn="ctr"/>
            <a:r>
              <a:rPr lang="en-US" altLang="zh-CN" sz="3200" b="1" dirty="0">
                <a:solidFill>
                  <a:srgbClr val="FDC52B"/>
                </a:solidFill>
                <a:latin typeface="Times New Roman" pitchFamily="18" charset="0"/>
                <a:ea typeface="SimSun" pitchFamily="2" charset="-122"/>
              </a:rPr>
              <a:t>INSTRUMENTS OF TRADE POLICY</a:t>
            </a:r>
          </a:p>
        </p:txBody>
      </p:sp>
      <p:sp>
        <p:nvSpPr>
          <p:cNvPr id="8195" name="Rectangle 1028"/>
          <p:cNvSpPr>
            <a:spLocks noGrp="1" noChangeArrowheads="1"/>
          </p:cNvSpPr>
          <p:nvPr>
            <p:ph type="body" idx="4294967295"/>
          </p:nvPr>
        </p:nvSpPr>
        <p:spPr>
          <a:xfrm>
            <a:off x="0" y="1052736"/>
            <a:ext cx="9144000" cy="5733256"/>
          </a:xfrm>
          <a:ln>
            <a:noFill/>
          </a:ln>
        </p:spPr>
        <p:txBody>
          <a:bodyPr/>
          <a:lstStyle/>
          <a:p>
            <a:pPr lvl="1" eaLnBrk="1" hangingPunct="1">
              <a:spcBef>
                <a:spcPct val="50000"/>
              </a:spcBef>
              <a:buClr>
                <a:schemeClr val="tx1">
                  <a:lumMod val="75000"/>
                </a:schemeClr>
              </a:buClr>
              <a:buFont typeface="Arial" pitchFamily="34" charset="0"/>
              <a:buChar char="•"/>
            </a:pPr>
            <a:r>
              <a:rPr lang="en-US" altLang="zh-TW" sz="2400" i="1" dirty="0">
                <a:solidFill>
                  <a:srgbClr val="B1E2FB"/>
                </a:solidFill>
                <a:latin typeface="Times New Roman" pitchFamily="18" charset="0"/>
                <a:ea typeface="PMingLiU" pitchFamily="18" charset="-120"/>
                <a:cs typeface="Times New Roman" pitchFamily="18" charset="0"/>
              </a:rPr>
              <a:t>Subsidies</a:t>
            </a:r>
          </a:p>
          <a:p>
            <a:pPr marL="457200" lvl="1" indent="0" eaLnBrk="1" hangingPunct="1">
              <a:spcBef>
                <a:spcPct val="50000"/>
              </a:spcBef>
              <a:buClr>
                <a:schemeClr val="tx1">
                  <a:lumMod val="75000"/>
                </a:schemeClr>
              </a:buClr>
              <a:buNone/>
            </a:pPr>
            <a:r>
              <a:rPr lang="en-US" altLang="zh-TW" sz="2400" dirty="0">
                <a:solidFill>
                  <a:srgbClr val="B1E2FB"/>
                </a:solidFill>
                <a:latin typeface="Times New Roman" pitchFamily="18" charset="0"/>
                <a:ea typeface="PMingLiU" pitchFamily="18" charset="-120"/>
                <a:cs typeface="Times New Roman" pitchFamily="18" charset="0"/>
              </a:rPr>
              <a:t>    - Payment to domestic producers: cash grants, tax breaks, 	          	low-interest loans, gov’t equity participation(Airbus), etc.</a:t>
            </a:r>
          </a:p>
          <a:p>
            <a:pPr lvl="1" eaLnBrk="1" hangingPunct="1">
              <a:spcBef>
                <a:spcPct val="50000"/>
              </a:spcBef>
              <a:buClr>
                <a:schemeClr val="tx1">
                  <a:lumMod val="75000"/>
                </a:schemeClr>
              </a:buClr>
              <a:buFont typeface="Arial" pitchFamily="34" charset="0"/>
              <a:buChar char="•"/>
            </a:pPr>
            <a:r>
              <a:rPr lang="en-US" altLang="zh-TW" sz="2400" i="1" dirty="0">
                <a:solidFill>
                  <a:srgbClr val="B1E2FB"/>
                </a:solidFill>
                <a:latin typeface="Times New Roman" pitchFamily="18" charset="0"/>
                <a:ea typeface="PMingLiU" pitchFamily="18" charset="-120"/>
                <a:cs typeface="Times New Roman" pitchFamily="18" charset="0"/>
              </a:rPr>
              <a:t>Domestic(Local) Content Requirements</a:t>
            </a:r>
          </a:p>
          <a:p>
            <a:pPr marL="457200" lvl="1" indent="0" eaLnBrk="1" hangingPunct="1">
              <a:spcBef>
                <a:spcPct val="50000"/>
              </a:spcBef>
              <a:buClr>
                <a:schemeClr val="tx1">
                  <a:lumMod val="75000"/>
                </a:schemeClr>
              </a:buClr>
              <a:buNone/>
            </a:pPr>
            <a:r>
              <a:rPr lang="en-US" altLang="zh-TW" sz="2400" dirty="0">
                <a:solidFill>
                  <a:srgbClr val="B1E2FB"/>
                </a:solidFill>
                <a:latin typeface="Times New Roman" pitchFamily="18" charset="0"/>
                <a:ea typeface="PMingLiU" pitchFamily="18" charset="-120"/>
                <a:cs typeface="Times New Roman" pitchFamily="18" charset="0"/>
              </a:rPr>
              <a:t>    - Requires some specific percentage of goods to be produced        	domestically to be able to sell them in the local market</a:t>
            </a:r>
          </a:p>
          <a:p>
            <a:pPr lvl="1" eaLnBrk="1" hangingPunct="1">
              <a:spcBef>
                <a:spcPct val="50000"/>
              </a:spcBef>
              <a:buClr>
                <a:schemeClr val="tx1">
                  <a:lumMod val="75000"/>
                </a:schemeClr>
              </a:buClr>
              <a:buFont typeface="Arial" pitchFamily="34" charset="0"/>
              <a:buChar char="•"/>
            </a:pPr>
            <a:r>
              <a:rPr lang="en-US" altLang="zh-TW" sz="2400" i="1" dirty="0">
                <a:solidFill>
                  <a:srgbClr val="B1E2FB"/>
                </a:solidFill>
                <a:latin typeface="Times New Roman" pitchFamily="18" charset="0"/>
                <a:ea typeface="PMingLiU" pitchFamily="18" charset="-120"/>
                <a:cs typeface="Times New Roman" pitchFamily="18" charset="0"/>
              </a:rPr>
              <a:t>Antidumping Policies</a:t>
            </a:r>
          </a:p>
          <a:p>
            <a:pPr marL="457200" lvl="1" indent="0" eaLnBrk="1" hangingPunct="1">
              <a:spcBef>
                <a:spcPct val="50000"/>
              </a:spcBef>
              <a:buClr>
                <a:schemeClr val="tx1">
                  <a:lumMod val="75000"/>
                </a:schemeClr>
              </a:buClr>
              <a:buNone/>
            </a:pPr>
            <a:r>
              <a:rPr lang="en-US" altLang="zh-TW" sz="2400" dirty="0">
                <a:solidFill>
                  <a:srgbClr val="B1E2FB"/>
                </a:solidFill>
                <a:latin typeface="Times New Roman" pitchFamily="18" charset="0"/>
                <a:ea typeface="PMingLiU" pitchFamily="18" charset="-120"/>
                <a:cs typeface="Times New Roman" pitchFamily="18" charset="0"/>
              </a:rPr>
              <a:t>     - Selling goods in a foreign market below production costs or fair 	 market value -&gt; seek imposition of tariffs (countervailing duties)</a:t>
            </a:r>
          </a:p>
          <a:p>
            <a:pPr lvl="1" eaLnBrk="1" hangingPunct="1">
              <a:spcBef>
                <a:spcPct val="50000"/>
              </a:spcBef>
              <a:buClr>
                <a:schemeClr val="tx1">
                  <a:lumMod val="75000"/>
                </a:schemeClr>
              </a:buClr>
              <a:buFont typeface="Arial" pitchFamily="34" charset="0"/>
              <a:buChar char="•"/>
            </a:pPr>
            <a:r>
              <a:rPr lang="en-US" altLang="zh-TW" sz="2400" i="1" dirty="0">
                <a:solidFill>
                  <a:srgbClr val="B1E2FB"/>
                </a:solidFill>
                <a:latin typeface="Times New Roman" pitchFamily="18" charset="0"/>
                <a:ea typeface="PMingLiU" pitchFamily="18" charset="-120"/>
                <a:cs typeface="Times New Roman" pitchFamily="18" charset="0"/>
              </a:rPr>
              <a:t>Administrative Policies</a:t>
            </a:r>
          </a:p>
          <a:p>
            <a:pPr marL="457200" lvl="1" indent="0" eaLnBrk="1" hangingPunct="1">
              <a:spcBef>
                <a:spcPct val="50000"/>
              </a:spcBef>
              <a:buClr>
                <a:schemeClr val="tx1">
                  <a:lumMod val="75000"/>
                </a:schemeClr>
              </a:buClr>
              <a:buNone/>
            </a:pPr>
            <a:r>
              <a:rPr lang="en-US" altLang="ko-KR" sz="2400" dirty="0">
                <a:solidFill>
                  <a:srgbClr val="B1E2FB"/>
                </a:solidFill>
                <a:latin typeface="Times New Roman" pitchFamily="18" charset="0"/>
                <a:ea typeface="PMingLiU" pitchFamily="18" charset="-120"/>
                <a:cs typeface="Times New Roman" pitchFamily="18" charset="0"/>
              </a:rPr>
              <a:t>     - Bureaucratic rules to make it difficult for imports to enter a 	 country (e.g., Tulip bulbs, Federal Express)</a:t>
            </a:r>
            <a:endParaRPr lang="en-US" altLang="ko-KR" sz="2400" dirty="0">
              <a:solidFill>
                <a:schemeClr val="tx1"/>
              </a:solidFill>
              <a:latin typeface="Times New Roman" pitchFamily="18" charset="0"/>
              <a:ea typeface="굴림" pitchFamily="50" charset="-127"/>
            </a:endParaRPr>
          </a:p>
        </p:txBody>
      </p:sp>
    </p:spTree>
    <p:extLst>
      <p:ext uri="{BB962C8B-B14F-4D97-AF65-F5344CB8AC3E}">
        <p14:creationId xmlns:p14="http://schemas.microsoft.com/office/powerpoint/2010/main" val="256214450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animEffect transition="in" filter="box(in)">
                                      <p:cBhvr>
                                        <p:cTn id="7" dur="500"/>
                                        <p:tgtEl>
                                          <p:spTgt spid="8195">
                                            <p:txEl>
                                              <p:pRg st="0" end="0"/>
                                            </p:txEl>
                                          </p:spTgt>
                                        </p:tgtEl>
                                      </p:cBhvr>
                                    </p:animEffect>
                                  </p:childTnLst>
                                </p:cTn>
                              </p:par>
                              <p:par>
                                <p:cTn id="8" presetID="4" presetClass="entr" presetSubtype="16" fill="hold" grpId="0" nodeType="withEffect">
                                  <p:stCondLst>
                                    <p:cond delay="0"/>
                                  </p:stCondLst>
                                  <p:childTnLst>
                                    <p:set>
                                      <p:cBhvr>
                                        <p:cTn id="9" dur="1" fill="hold">
                                          <p:stCondLst>
                                            <p:cond delay="0"/>
                                          </p:stCondLst>
                                        </p:cTn>
                                        <p:tgtEl>
                                          <p:spTgt spid="8195">
                                            <p:txEl>
                                              <p:pRg st="1" end="1"/>
                                            </p:txEl>
                                          </p:spTgt>
                                        </p:tgtEl>
                                        <p:attrNameLst>
                                          <p:attrName>style.visibility</p:attrName>
                                        </p:attrNameLst>
                                      </p:cBhvr>
                                      <p:to>
                                        <p:strVal val="visible"/>
                                      </p:to>
                                    </p:set>
                                    <p:animEffect transition="in" filter="box(in)">
                                      <p:cBhvr>
                                        <p:cTn id="10" dur="500"/>
                                        <p:tgtEl>
                                          <p:spTgt spid="8195">
                                            <p:txEl>
                                              <p:pRg st="1" end="1"/>
                                            </p:txEl>
                                          </p:spTgt>
                                        </p:tgtEl>
                                      </p:cBhvr>
                                    </p:animEffect>
                                  </p:childTnLst>
                                </p:cTn>
                              </p:par>
                              <p:par>
                                <p:cTn id="11" presetID="4" presetClass="entr" presetSubtype="16" fill="hold" grpId="0" nodeType="withEffect">
                                  <p:stCondLst>
                                    <p:cond delay="0"/>
                                  </p:stCondLst>
                                  <p:childTnLst>
                                    <p:set>
                                      <p:cBhvr>
                                        <p:cTn id="12" dur="1" fill="hold">
                                          <p:stCondLst>
                                            <p:cond delay="0"/>
                                          </p:stCondLst>
                                        </p:cTn>
                                        <p:tgtEl>
                                          <p:spTgt spid="8195">
                                            <p:txEl>
                                              <p:pRg st="2" end="2"/>
                                            </p:txEl>
                                          </p:spTgt>
                                        </p:tgtEl>
                                        <p:attrNameLst>
                                          <p:attrName>style.visibility</p:attrName>
                                        </p:attrNameLst>
                                      </p:cBhvr>
                                      <p:to>
                                        <p:strVal val="visible"/>
                                      </p:to>
                                    </p:set>
                                    <p:animEffect transition="in" filter="box(in)">
                                      <p:cBhvr>
                                        <p:cTn id="13" dur="500"/>
                                        <p:tgtEl>
                                          <p:spTgt spid="8195">
                                            <p:txEl>
                                              <p:pRg st="2" end="2"/>
                                            </p:txEl>
                                          </p:spTgt>
                                        </p:tgtEl>
                                      </p:cBhvr>
                                    </p:animEffect>
                                  </p:childTnLst>
                                </p:cTn>
                              </p:par>
                              <p:par>
                                <p:cTn id="14" presetID="4" presetClass="entr" presetSubtype="16" fill="hold" grpId="0" nodeType="withEffect">
                                  <p:stCondLst>
                                    <p:cond delay="0"/>
                                  </p:stCondLst>
                                  <p:childTnLst>
                                    <p:set>
                                      <p:cBhvr>
                                        <p:cTn id="15" dur="1" fill="hold">
                                          <p:stCondLst>
                                            <p:cond delay="0"/>
                                          </p:stCondLst>
                                        </p:cTn>
                                        <p:tgtEl>
                                          <p:spTgt spid="8195">
                                            <p:txEl>
                                              <p:pRg st="3" end="3"/>
                                            </p:txEl>
                                          </p:spTgt>
                                        </p:tgtEl>
                                        <p:attrNameLst>
                                          <p:attrName>style.visibility</p:attrName>
                                        </p:attrNameLst>
                                      </p:cBhvr>
                                      <p:to>
                                        <p:strVal val="visible"/>
                                      </p:to>
                                    </p:set>
                                    <p:animEffect transition="in" filter="box(in)">
                                      <p:cBhvr>
                                        <p:cTn id="16" dur="500"/>
                                        <p:tgtEl>
                                          <p:spTgt spid="8195">
                                            <p:txEl>
                                              <p:pRg st="3" end="3"/>
                                            </p:txEl>
                                          </p:spTgt>
                                        </p:tgtEl>
                                      </p:cBhvr>
                                    </p:animEffect>
                                  </p:childTnLst>
                                </p:cTn>
                              </p:par>
                              <p:par>
                                <p:cTn id="17" presetID="4" presetClass="entr" presetSubtype="16" fill="hold" grpId="0" nodeType="withEffect">
                                  <p:stCondLst>
                                    <p:cond delay="0"/>
                                  </p:stCondLst>
                                  <p:childTnLst>
                                    <p:set>
                                      <p:cBhvr>
                                        <p:cTn id="18" dur="1" fill="hold">
                                          <p:stCondLst>
                                            <p:cond delay="0"/>
                                          </p:stCondLst>
                                        </p:cTn>
                                        <p:tgtEl>
                                          <p:spTgt spid="8195">
                                            <p:txEl>
                                              <p:pRg st="4" end="4"/>
                                            </p:txEl>
                                          </p:spTgt>
                                        </p:tgtEl>
                                        <p:attrNameLst>
                                          <p:attrName>style.visibility</p:attrName>
                                        </p:attrNameLst>
                                      </p:cBhvr>
                                      <p:to>
                                        <p:strVal val="visible"/>
                                      </p:to>
                                    </p:set>
                                    <p:animEffect transition="in" filter="box(in)">
                                      <p:cBhvr>
                                        <p:cTn id="19" dur="500"/>
                                        <p:tgtEl>
                                          <p:spTgt spid="8195">
                                            <p:txEl>
                                              <p:pRg st="4" end="4"/>
                                            </p:txEl>
                                          </p:spTgt>
                                        </p:tgtEl>
                                      </p:cBhvr>
                                    </p:animEffect>
                                  </p:childTnLst>
                                </p:cTn>
                              </p:par>
                              <p:par>
                                <p:cTn id="20" presetID="4" presetClass="entr" presetSubtype="16" fill="hold" grpId="0" nodeType="withEffect">
                                  <p:stCondLst>
                                    <p:cond delay="0"/>
                                  </p:stCondLst>
                                  <p:childTnLst>
                                    <p:set>
                                      <p:cBhvr>
                                        <p:cTn id="21" dur="1" fill="hold">
                                          <p:stCondLst>
                                            <p:cond delay="0"/>
                                          </p:stCondLst>
                                        </p:cTn>
                                        <p:tgtEl>
                                          <p:spTgt spid="8195">
                                            <p:txEl>
                                              <p:pRg st="5" end="5"/>
                                            </p:txEl>
                                          </p:spTgt>
                                        </p:tgtEl>
                                        <p:attrNameLst>
                                          <p:attrName>style.visibility</p:attrName>
                                        </p:attrNameLst>
                                      </p:cBhvr>
                                      <p:to>
                                        <p:strVal val="visible"/>
                                      </p:to>
                                    </p:set>
                                    <p:animEffect transition="in" filter="box(in)">
                                      <p:cBhvr>
                                        <p:cTn id="22" dur="500"/>
                                        <p:tgtEl>
                                          <p:spTgt spid="8195">
                                            <p:txEl>
                                              <p:pRg st="5" end="5"/>
                                            </p:txEl>
                                          </p:spTgt>
                                        </p:tgtEl>
                                      </p:cBhvr>
                                    </p:animEffect>
                                  </p:childTnLst>
                                </p:cTn>
                              </p:par>
                              <p:par>
                                <p:cTn id="23" presetID="4" presetClass="entr" presetSubtype="16" fill="hold" grpId="0" nodeType="withEffect">
                                  <p:stCondLst>
                                    <p:cond delay="0"/>
                                  </p:stCondLst>
                                  <p:childTnLst>
                                    <p:set>
                                      <p:cBhvr>
                                        <p:cTn id="24" dur="1" fill="hold">
                                          <p:stCondLst>
                                            <p:cond delay="0"/>
                                          </p:stCondLst>
                                        </p:cTn>
                                        <p:tgtEl>
                                          <p:spTgt spid="8195">
                                            <p:txEl>
                                              <p:pRg st="6" end="6"/>
                                            </p:txEl>
                                          </p:spTgt>
                                        </p:tgtEl>
                                        <p:attrNameLst>
                                          <p:attrName>style.visibility</p:attrName>
                                        </p:attrNameLst>
                                      </p:cBhvr>
                                      <p:to>
                                        <p:strVal val="visible"/>
                                      </p:to>
                                    </p:set>
                                    <p:animEffect transition="in" filter="box(in)">
                                      <p:cBhvr>
                                        <p:cTn id="25" dur="500"/>
                                        <p:tgtEl>
                                          <p:spTgt spid="8195">
                                            <p:txEl>
                                              <p:pRg st="6" end="6"/>
                                            </p:txEl>
                                          </p:spTgt>
                                        </p:tgtEl>
                                      </p:cBhvr>
                                    </p:animEffect>
                                  </p:childTnLst>
                                </p:cTn>
                              </p:par>
                              <p:par>
                                <p:cTn id="26" presetID="4" presetClass="entr" presetSubtype="16" fill="hold" grpId="0" nodeType="withEffect">
                                  <p:stCondLst>
                                    <p:cond delay="0"/>
                                  </p:stCondLst>
                                  <p:childTnLst>
                                    <p:set>
                                      <p:cBhvr>
                                        <p:cTn id="27" dur="1" fill="hold">
                                          <p:stCondLst>
                                            <p:cond delay="0"/>
                                          </p:stCondLst>
                                        </p:cTn>
                                        <p:tgtEl>
                                          <p:spTgt spid="8195">
                                            <p:txEl>
                                              <p:pRg st="7" end="7"/>
                                            </p:txEl>
                                          </p:spTgt>
                                        </p:tgtEl>
                                        <p:attrNameLst>
                                          <p:attrName>style.visibility</p:attrName>
                                        </p:attrNameLst>
                                      </p:cBhvr>
                                      <p:to>
                                        <p:strVal val="visible"/>
                                      </p:to>
                                    </p:set>
                                    <p:animEffect transition="in" filter="box(in)">
                                      <p:cBhvr>
                                        <p:cTn id="28" dur="500"/>
                                        <p:tgtEl>
                                          <p:spTgt spid="819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itle 3"/>
          <p:cNvSpPr>
            <a:spLocks noGrp="1"/>
          </p:cNvSpPr>
          <p:nvPr>
            <p:ph type="title" idx="4294967295"/>
          </p:nvPr>
        </p:nvSpPr>
        <p:spPr>
          <a:xfrm>
            <a:off x="0" y="319088"/>
            <a:ext cx="9144000" cy="563562"/>
          </a:xfrm>
        </p:spPr>
        <p:txBody>
          <a:bodyPr/>
          <a:lstStyle/>
          <a:p>
            <a:pPr algn="ctr"/>
            <a:r>
              <a:rPr lang="en-US" altLang="zh-CN" sz="3200" b="1" dirty="0">
                <a:solidFill>
                  <a:srgbClr val="FDC52B"/>
                </a:solidFill>
                <a:latin typeface="Times New Roman" pitchFamily="18" charset="0"/>
                <a:ea typeface="SimSun" pitchFamily="2" charset="-122"/>
              </a:rPr>
              <a:t>IMPACT OF TRADE POLICY</a:t>
            </a:r>
          </a:p>
        </p:txBody>
      </p:sp>
      <p:sp>
        <p:nvSpPr>
          <p:cNvPr id="8195" name="Rectangle 1028"/>
          <p:cNvSpPr>
            <a:spLocks noGrp="1" noChangeArrowheads="1"/>
          </p:cNvSpPr>
          <p:nvPr>
            <p:ph type="body" idx="4294967295"/>
          </p:nvPr>
        </p:nvSpPr>
        <p:spPr>
          <a:xfrm>
            <a:off x="683568" y="1240681"/>
            <a:ext cx="7848872" cy="4708599"/>
          </a:xfrm>
          <a:ln>
            <a:noFill/>
          </a:ln>
        </p:spPr>
        <p:txBody>
          <a:bodyPr/>
          <a:lstStyle/>
          <a:p>
            <a:pPr lvl="1" eaLnBrk="1" hangingPunct="1">
              <a:lnSpc>
                <a:spcPct val="150000"/>
              </a:lnSpc>
              <a:spcBef>
                <a:spcPct val="50000"/>
              </a:spcBef>
              <a:buFont typeface="Wingdings" pitchFamily="2" charset="2"/>
              <a:buNone/>
            </a:pPr>
            <a:r>
              <a:rPr lang="en-US" altLang="zh-TW" dirty="0">
                <a:solidFill>
                  <a:srgbClr val="B1E2FB"/>
                </a:solidFill>
                <a:latin typeface="Times New Roman" pitchFamily="18" charset="0"/>
                <a:ea typeface="PMingLiU" pitchFamily="18" charset="-120"/>
              </a:rPr>
              <a:t>Impact of a government’s restricting international trade (Impact of protection)</a:t>
            </a:r>
          </a:p>
          <a:p>
            <a:pPr lvl="1" eaLnBrk="1" hangingPunct="1">
              <a:lnSpc>
                <a:spcPct val="150000"/>
              </a:lnSpc>
              <a:spcBef>
                <a:spcPct val="50000"/>
              </a:spcBef>
              <a:buClr>
                <a:schemeClr val="tx1">
                  <a:lumMod val="75000"/>
                </a:schemeClr>
              </a:buClr>
              <a:buFont typeface="Arial" pitchFamily="34" charset="0"/>
              <a:buChar char="•"/>
            </a:pPr>
            <a:r>
              <a:rPr lang="en-US" altLang="zh-TW" dirty="0">
                <a:solidFill>
                  <a:srgbClr val="B1E2FB"/>
                </a:solidFill>
                <a:latin typeface="Times New Roman" pitchFamily="18" charset="0"/>
                <a:ea typeface="PMingLiU" pitchFamily="18" charset="-120"/>
                <a:cs typeface="Times New Roman" pitchFamily="18" charset="0"/>
              </a:rPr>
              <a:t>Good for domestic producers</a:t>
            </a:r>
          </a:p>
          <a:p>
            <a:pPr lvl="1" eaLnBrk="1" hangingPunct="1">
              <a:lnSpc>
                <a:spcPct val="150000"/>
              </a:lnSpc>
              <a:spcBef>
                <a:spcPct val="50000"/>
              </a:spcBef>
              <a:buClr>
                <a:schemeClr val="tx1">
                  <a:lumMod val="75000"/>
                </a:schemeClr>
              </a:buClr>
              <a:buFont typeface="Arial" pitchFamily="34" charset="0"/>
              <a:buChar char="•"/>
            </a:pPr>
            <a:r>
              <a:rPr lang="en-US" altLang="zh-TW" dirty="0">
                <a:solidFill>
                  <a:srgbClr val="B1E2FB"/>
                </a:solidFill>
                <a:latin typeface="Times New Roman" pitchFamily="18" charset="0"/>
                <a:ea typeface="PMingLiU" pitchFamily="18" charset="-120"/>
                <a:cs typeface="Times New Roman" pitchFamily="18" charset="0"/>
              </a:rPr>
              <a:t>Good for the government</a:t>
            </a:r>
          </a:p>
          <a:p>
            <a:pPr lvl="1" eaLnBrk="1" hangingPunct="1">
              <a:lnSpc>
                <a:spcPct val="150000"/>
              </a:lnSpc>
              <a:spcBef>
                <a:spcPct val="50000"/>
              </a:spcBef>
              <a:buClr>
                <a:schemeClr val="tx1">
                  <a:lumMod val="75000"/>
                </a:schemeClr>
              </a:buClr>
              <a:buFont typeface="Arial" pitchFamily="34" charset="0"/>
              <a:buChar char="•"/>
            </a:pPr>
            <a:r>
              <a:rPr lang="en-US" altLang="zh-TW" dirty="0">
                <a:solidFill>
                  <a:srgbClr val="B1E2FB"/>
                </a:solidFill>
                <a:latin typeface="Times New Roman" pitchFamily="18" charset="0"/>
                <a:ea typeface="PMingLiU" pitchFamily="18" charset="-120"/>
                <a:cs typeface="Times New Roman" pitchFamily="18" charset="0"/>
              </a:rPr>
              <a:t>Bad for domestic consumers</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animEffect transition="in" filter="box(in)">
                                      <p:cBhvr>
                                        <p:cTn id="7" dur="500"/>
                                        <p:tgtEl>
                                          <p:spTgt spid="8195">
                                            <p:txEl>
                                              <p:pRg st="0" end="0"/>
                                            </p:txEl>
                                          </p:spTgt>
                                        </p:tgtEl>
                                      </p:cBhvr>
                                    </p:animEffect>
                                  </p:childTnLst>
                                </p:cTn>
                              </p:par>
                              <p:par>
                                <p:cTn id="8" presetID="4" presetClass="entr" presetSubtype="16" fill="hold" grpId="0" nodeType="withEffect">
                                  <p:stCondLst>
                                    <p:cond delay="0"/>
                                  </p:stCondLst>
                                  <p:childTnLst>
                                    <p:set>
                                      <p:cBhvr>
                                        <p:cTn id="9" dur="1" fill="hold">
                                          <p:stCondLst>
                                            <p:cond delay="0"/>
                                          </p:stCondLst>
                                        </p:cTn>
                                        <p:tgtEl>
                                          <p:spTgt spid="8195">
                                            <p:txEl>
                                              <p:pRg st="1" end="1"/>
                                            </p:txEl>
                                          </p:spTgt>
                                        </p:tgtEl>
                                        <p:attrNameLst>
                                          <p:attrName>style.visibility</p:attrName>
                                        </p:attrNameLst>
                                      </p:cBhvr>
                                      <p:to>
                                        <p:strVal val="visible"/>
                                      </p:to>
                                    </p:set>
                                    <p:animEffect transition="in" filter="box(in)">
                                      <p:cBhvr>
                                        <p:cTn id="10" dur="500"/>
                                        <p:tgtEl>
                                          <p:spTgt spid="8195">
                                            <p:txEl>
                                              <p:pRg st="1" end="1"/>
                                            </p:txEl>
                                          </p:spTgt>
                                        </p:tgtEl>
                                      </p:cBhvr>
                                    </p:animEffect>
                                  </p:childTnLst>
                                </p:cTn>
                              </p:par>
                              <p:par>
                                <p:cTn id="11" presetID="4" presetClass="entr" presetSubtype="16" fill="hold" grpId="0" nodeType="withEffect">
                                  <p:stCondLst>
                                    <p:cond delay="0"/>
                                  </p:stCondLst>
                                  <p:childTnLst>
                                    <p:set>
                                      <p:cBhvr>
                                        <p:cTn id="12" dur="1" fill="hold">
                                          <p:stCondLst>
                                            <p:cond delay="0"/>
                                          </p:stCondLst>
                                        </p:cTn>
                                        <p:tgtEl>
                                          <p:spTgt spid="8195">
                                            <p:txEl>
                                              <p:pRg st="2" end="2"/>
                                            </p:txEl>
                                          </p:spTgt>
                                        </p:tgtEl>
                                        <p:attrNameLst>
                                          <p:attrName>style.visibility</p:attrName>
                                        </p:attrNameLst>
                                      </p:cBhvr>
                                      <p:to>
                                        <p:strVal val="visible"/>
                                      </p:to>
                                    </p:set>
                                    <p:animEffect transition="in" filter="box(in)">
                                      <p:cBhvr>
                                        <p:cTn id="13" dur="500"/>
                                        <p:tgtEl>
                                          <p:spTgt spid="8195">
                                            <p:txEl>
                                              <p:pRg st="2" end="2"/>
                                            </p:txEl>
                                          </p:spTgt>
                                        </p:tgtEl>
                                      </p:cBhvr>
                                    </p:animEffect>
                                  </p:childTnLst>
                                </p:cTn>
                              </p:par>
                              <p:par>
                                <p:cTn id="14" presetID="4" presetClass="entr" presetSubtype="16" fill="hold" grpId="0" nodeType="withEffect">
                                  <p:stCondLst>
                                    <p:cond delay="0"/>
                                  </p:stCondLst>
                                  <p:childTnLst>
                                    <p:set>
                                      <p:cBhvr>
                                        <p:cTn id="15" dur="1" fill="hold">
                                          <p:stCondLst>
                                            <p:cond delay="0"/>
                                          </p:stCondLst>
                                        </p:cTn>
                                        <p:tgtEl>
                                          <p:spTgt spid="8195">
                                            <p:txEl>
                                              <p:pRg st="3" end="3"/>
                                            </p:txEl>
                                          </p:spTgt>
                                        </p:tgtEl>
                                        <p:attrNameLst>
                                          <p:attrName>style.visibility</p:attrName>
                                        </p:attrNameLst>
                                      </p:cBhvr>
                                      <p:to>
                                        <p:strVal val="visible"/>
                                      </p:to>
                                    </p:set>
                                    <p:animEffect transition="in" filter="box(in)">
                                      <p:cBhvr>
                                        <p:cTn id="16" dur="500"/>
                                        <p:tgtEl>
                                          <p:spTgt spid="819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Title 3"/>
          <p:cNvSpPr>
            <a:spLocks noGrp="1"/>
          </p:cNvSpPr>
          <p:nvPr>
            <p:ph type="title" idx="4294967295"/>
          </p:nvPr>
        </p:nvSpPr>
        <p:spPr>
          <a:xfrm>
            <a:off x="0" y="319088"/>
            <a:ext cx="9144000" cy="563562"/>
          </a:xfrm>
        </p:spPr>
        <p:txBody>
          <a:bodyPr/>
          <a:lstStyle/>
          <a:p>
            <a:pPr algn="ctr"/>
            <a:r>
              <a:rPr lang="en-US" altLang="zh-CN" sz="3200" b="1" dirty="0">
                <a:solidFill>
                  <a:srgbClr val="FDC52B"/>
                </a:solidFill>
                <a:latin typeface="Times New Roman" pitchFamily="18" charset="0"/>
                <a:ea typeface="SimSun" pitchFamily="2" charset="-122"/>
              </a:rPr>
              <a:t>IMPACT OF TRADE POLICY</a:t>
            </a:r>
          </a:p>
        </p:txBody>
      </p:sp>
      <p:grpSp>
        <p:nvGrpSpPr>
          <p:cNvPr id="33" name="Group 32"/>
          <p:cNvGrpSpPr/>
          <p:nvPr/>
        </p:nvGrpSpPr>
        <p:grpSpPr>
          <a:xfrm>
            <a:off x="467544" y="1092379"/>
            <a:ext cx="8676456" cy="5765621"/>
            <a:chOff x="467544" y="1268760"/>
            <a:chExt cx="8676456" cy="5621605"/>
          </a:xfrm>
        </p:grpSpPr>
        <p:sp>
          <p:nvSpPr>
            <p:cNvPr id="28" name="Rectangle 1026"/>
            <p:cNvSpPr>
              <a:spLocks noChangeArrowheads="1"/>
            </p:cNvSpPr>
            <p:nvPr/>
          </p:nvSpPr>
          <p:spPr bwMode="auto">
            <a:xfrm>
              <a:off x="971195" y="1340768"/>
              <a:ext cx="8172805" cy="5017127"/>
            </a:xfrm>
            <a:prstGeom prst="rect">
              <a:avLst/>
            </a:prstGeom>
            <a:solidFill>
              <a:schemeClr val="bg2">
                <a:lumMod val="75000"/>
              </a:schemeClr>
            </a:solidFill>
            <a:ln w="12700">
              <a:noFill/>
              <a:miter lim="800000"/>
              <a:headEnd type="none" w="sm" len="sm"/>
              <a:tailEnd type="none" w="sm" len="sm"/>
            </a:ln>
          </p:spPr>
          <p:txBody>
            <a:bodyPr wrap="none" anchor="ctr"/>
            <a:lstStyle/>
            <a:p>
              <a:endParaRPr lang="en-US"/>
            </a:p>
          </p:txBody>
        </p:sp>
        <p:sp>
          <p:nvSpPr>
            <p:cNvPr id="29" name="Rectangle 1028"/>
            <p:cNvSpPr>
              <a:spLocks noChangeArrowheads="1"/>
            </p:cNvSpPr>
            <p:nvPr/>
          </p:nvSpPr>
          <p:spPr bwMode="auto">
            <a:xfrm>
              <a:off x="647791" y="6328038"/>
              <a:ext cx="388085" cy="373213"/>
            </a:xfrm>
            <a:prstGeom prst="rect">
              <a:avLst/>
            </a:prstGeom>
            <a:solidFill>
              <a:schemeClr val="bg2">
                <a:lumMod val="75000"/>
              </a:schemeClr>
            </a:solidFill>
            <a:ln w="9525">
              <a:noFill/>
              <a:miter lim="800000"/>
              <a:headEnd/>
              <a:tailEnd/>
            </a:ln>
          </p:spPr>
          <p:txBody>
            <a:bodyPr wrap="none" lIns="92075" tIns="46038" rIns="92075" bIns="46038">
              <a:spAutoFit/>
            </a:bodyPr>
            <a:lstStyle/>
            <a:p>
              <a:pPr defTabSz="762000"/>
              <a:r>
                <a:rPr lang="en-GB" sz="2000" b="0">
                  <a:latin typeface="Arial" charset="0"/>
                </a:rPr>
                <a:t>O</a:t>
              </a:r>
            </a:p>
          </p:txBody>
        </p:sp>
        <p:sp>
          <p:nvSpPr>
            <p:cNvPr id="30" name="Rectangle 1029"/>
            <p:cNvSpPr>
              <a:spLocks noChangeArrowheads="1"/>
            </p:cNvSpPr>
            <p:nvPr/>
          </p:nvSpPr>
          <p:spPr bwMode="auto">
            <a:xfrm>
              <a:off x="492557" y="1268760"/>
              <a:ext cx="394553" cy="429942"/>
            </a:xfrm>
            <a:prstGeom prst="rect">
              <a:avLst/>
            </a:prstGeom>
            <a:solidFill>
              <a:schemeClr val="bg2">
                <a:lumMod val="75000"/>
              </a:schemeClr>
            </a:solidFill>
            <a:ln w="9525">
              <a:noFill/>
              <a:miter lim="800000"/>
              <a:headEnd/>
              <a:tailEnd/>
            </a:ln>
          </p:spPr>
          <p:txBody>
            <a:bodyPr wrap="none" lIns="92075" tIns="46038" rIns="92075" bIns="46038">
              <a:spAutoFit/>
            </a:bodyPr>
            <a:lstStyle/>
            <a:p>
              <a:pPr defTabSz="762000"/>
              <a:r>
                <a:rPr lang="en-GB" b="0" i="1" dirty="0">
                  <a:latin typeface="Arial" charset="0"/>
                </a:rPr>
                <a:t>P</a:t>
              </a:r>
            </a:p>
          </p:txBody>
        </p:sp>
        <p:sp>
          <p:nvSpPr>
            <p:cNvPr id="31" name="Rectangle 1030"/>
            <p:cNvSpPr>
              <a:spLocks noChangeArrowheads="1"/>
            </p:cNvSpPr>
            <p:nvPr/>
          </p:nvSpPr>
          <p:spPr bwMode="auto">
            <a:xfrm>
              <a:off x="7788557" y="6428058"/>
              <a:ext cx="428511" cy="429942"/>
            </a:xfrm>
            <a:prstGeom prst="rect">
              <a:avLst/>
            </a:prstGeom>
            <a:solidFill>
              <a:schemeClr val="bg2">
                <a:lumMod val="75000"/>
              </a:schemeClr>
            </a:solidFill>
            <a:ln w="9525">
              <a:noFill/>
              <a:miter lim="800000"/>
              <a:headEnd/>
              <a:tailEnd/>
            </a:ln>
          </p:spPr>
          <p:txBody>
            <a:bodyPr wrap="none" lIns="92075" tIns="46038" rIns="92075" bIns="46038">
              <a:spAutoFit/>
            </a:bodyPr>
            <a:lstStyle/>
            <a:p>
              <a:pPr defTabSz="762000"/>
              <a:r>
                <a:rPr lang="en-GB" b="0" i="1" dirty="0">
                  <a:latin typeface="Arial" charset="0"/>
                </a:rPr>
                <a:t>Q</a:t>
              </a:r>
            </a:p>
          </p:txBody>
        </p:sp>
        <p:sp>
          <p:nvSpPr>
            <p:cNvPr id="32" name="Line 1031"/>
            <p:cNvSpPr>
              <a:spLocks noChangeShapeType="1"/>
            </p:cNvSpPr>
            <p:nvPr/>
          </p:nvSpPr>
          <p:spPr bwMode="auto">
            <a:xfrm>
              <a:off x="974430" y="1355345"/>
              <a:ext cx="0" cy="5015984"/>
            </a:xfrm>
            <a:prstGeom prst="line">
              <a:avLst/>
            </a:prstGeom>
            <a:solidFill>
              <a:schemeClr val="bg2">
                <a:lumMod val="75000"/>
              </a:schemeClr>
            </a:solidFill>
            <a:ln w="25400">
              <a:solidFill>
                <a:schemeClr val="tx1"/>
              </a:solidFill>
              <a:round/>
              <a:headEnd type="stealth" w="med" len="lg"/>
              <a:tailEnd type="none" w="sm" len="sm"/>
            </a:ln>
          </p:spPr>
          <p:txBody>
            <a:bodyPr wrap="none" anchor="ctr"/>
            <a:lstStyle/>
            <a:p>
              <a:endParaRPr lang="en-US"/>
            </a:p>
          </p:txBody>
        </p:sp>
        <p:grpSp>
          <p:nvGrpSpPr>
            <p:cNvPr id="3" name="Group 1032"/>
            <p:cNvGrpSpPr>
              <a:grpSpLocks/>
            </p:cNvGrpSpPr>
            <p:nvPr/>
          </p:nvGrpSpPr>
          <p:grpSpPr bwMode="auto">
            <a:xfrm>
              <a:off x="974430" y="1627044"/>
              <a:ext cx="6219065" cy="3597775"/>
              <a:chOff x="672" y="566"/>
              <a:chExt cx="3846" cy="2410"/>
            </a:xfrm>
            <a:solidFill>
              <a:schemeClr val="bg2">
                <a:lumMod val="75000"/>
              </a:schemeClr>
            </a:solidFill>
          </p:grpSpPr>
          <p:sp>
            <p:nvSpPr>
              <p:cNvPr id="49" name="Line 1033"/>
              <p:cNvSpPr>
                <a:spLocks noChangeShapeType="1"/>
              </p:cNvSpPr>
              <p:nvPr/>
            </p:nvSpPr>
            <p:spPr bwMode="auto">
              <a:xfrm flipV="1">
                <a:off x="672" y="816"/>
                <a:ext cx="3456" cy="2160"/>
              </a:xfrm>
              <a:prstGeom prst="line">
                <a:avLst/>
              </a:prstGeom>
              <a:grpFill/>
              <a:ln w="38100">
                <a:solidFill>
                  <a:schemeClr val="tx2"/>
                </a:solidFill>
                <a:round/>
                <a:headEnd type="none" w="sm" len="sm"/>
                <a:tailEnd type="none" w="sm" len="sm"/>
              </a:ln>
            </p:spPr>
            <p:txBody>
              <a:bodyPr wrap="none" anchor="ctr"/>
              <a:lstStyle/>
              <a:p>
                <a:endParaRPr lang="en-US"/>
              </a:p>
            </p:txBody>
          </p:sp>
          <p:sp>
            <p:nvSpPr>
              <p:cNvPr id="50" name="Rectangle 1034"/>
              <p:cNvSpPr>
                <a:spLocks noChangeArrowheads="1"/>
              </p:cNvSpPr>
              <p:nvPr/>
            </p:nvSpPr>
            <p:spPr bwMode="auto">
              <a:xfrm>
                <a:off x="4070" y="566"/>
                <a:ext cx="448" cy="298"/>
              </a:xfrm>
              <a:prstGeom prst="rect">
                <a:avLst/>
              </a:prstGeom>
              <a:grpFill/>
              <a:ln w="9525">
                <a:noFill/>
                <a:miter lim="800000"/>
                <a:headEnd/>
                <a:tailEnd/>
              </a:ln>
            </p:spPr>
            <p:txBody>
              <a:bodyPr wrap="none" lIns="92075" tIns="46038" rIns="92075" bIns="46038">
                <a:spAutoFit/>
              </a:bodyPr>
              <a:lstStyle/>
              <a:p>
                <a:pPr defTabSz="762000"/>
                <a:r>
                  <a:rPr lang="en-GB" sz="2000" b="0" i="1" dirty="0" err="1">
                    <a:solidFill>
                      <a:schemeClr val="tx2"/>
                    </a:solidFill>
                    <a:latin typeface="Arial" charset="0"/>
                  </a:rPr>
                  <a:t>S</a:t>
                </a:r>
                <a:r>
                  <a:rPr lang="en-GB" b="0" baseline="-25000" dirty="0" err="1">
                    <a:solidFill>
                      <a:schemeClr val="tx2"/>
                    </a:solidFill>
                    <a:latin typeface="Arial" charset="0"/>
                  </a:rPr>
                  <a:t>dom</a:t>
                </a:r>
                <a:endParaRPr lang="en-GB" sz="2000" b="0" dirty="0">
                  <a:solidFill>
                    <a:schemeClr val="tx2"/>
                  </a:solidFill>
                  <a:latin typeface="Arial" charset="0"/>
                </a:endParaRPr>
              </a:p>
            </p:txBody>
          </p:sp>
        </p:grpSp>
        <p:grpSp>
          <p:nvGrpSpPr>
            <p:cNvPr id="6" name="Group 1046"/>
            <p:cNvGrpSpPr>
              <a:grpSpLocks/>
            </p:cNvGrpSpPr>
            <p:nvPr/>
          </p:nvGrpSpPr>
          <p:grpSpPr bwMode="auto">
            <a:xfrm>
              <a:off x="974430" y="2215229"/>
              <a:ext cx="7207065" cy="4081459"/>
              <a:chOff x="672" y="960"/>
              <a:chExt cx="4457" cy="2734"/>
            </a:xfrm>
            <a:solidFill>
              <a:schemeClr val="bg2">
                <a:lumMod val="75000"/>
              </a:schemeClr>
            </a:solidFill>
          </p:grpSpPr>
          <p:sp>
            <p:nvSpPr>
              <p:cNvPr id="39" name="Line 1047"/>
              <p:cNvSpPr>
                <a:spLocks noChangeShapeType="1"/>
              </p:cNvSpPr>
              <p:nvPr/>
            </p:nvSpPr>
            <p:spPr bwMode="auto">
              <a:xfrm>
                <a:off x="672" y="960"/>
                <a:ext cx="3984" cy="2592"/>
              </a:xfrm>
              <a:prstGeom prst="line">
                <a:avLst/>
              </a:prstGeom>
              <a:grpFill/>
              <a:ln w="38100">
                <a:solidFill>
                  <a:schemeClr val="tx2"/>
                </a:solidFill>
                <a:round/>
                <a:headEnd type="none" w="sm" len="sm"/>
                <a:tailEnd type="none" w="sm" len="sm"/>
              </a:ln>
            </p:spPr>
            <p:txBody>
              <a:bodyPr wrap="none" anchor="ctr"/>
              <a:lstStyle/>
              <a:p>
                <a:endParaRPr lang="en-US"/>
              </a:p>
            </p:txBody>
          </p:sp>
          <p:sp>
            <p:nvSpPr>
              <p:cNvPr id="40" name="Rectangle 1048"/>
              <p:cNvSpPr>
                <a:spLocks noChangeArrowheads="1"/>
              </p:cNvSpPr>
              <p:nvPr/>
            </p:nvSpPr>
            <p:spPr bwMode="auto">
              <a:xfrm>
                <a:off x="4648" y="3444"/>
                <a:ext cx="481" cy="250"/>
              </a:xfrm>
              <a:prstGeom prst="rect">
                <a:avLst/>
              </a:prstGeom>
              <a:grpFill/>
              <a:ln w="9525">
                <a:noFill/>
                <a:miter lim="800000"/>
                <a:headEnd/>
                <a:tailEnd/>
              </a:ln>
            </p:spPr>
            <p:txBody>
              <a:bodyPr wrap="none" lIns="92075" tIns="46038" rIns="92075" bIns="46038">
                <a:spAutoFit/>
              </a:bodyPr>
              <a:lstStyle/>
              <a:p>
                <a:pPr defTabSz="762000"/>
                <a:r>
                  <a:rPr lang="en-GB" sz="2000" b="0" i="1">
                    <a:solidFill>
                      <a:schemeClr val="tx2"/>
                    </a:solidFill>
                    <a:latin typeface="Arial" charset="0"/>
                  </a:rPr>
                  <a:t>D</a:t>
                </a:r>
                <a:r>
                  <a:rPr lang="en-GB" b="0" baseline="-25000">
                    <a:solidFill>
                      <a:schemeClr val="tx2"/>
                    </a:solidFill>
                    <a:latin typeface="Arial" charset="0"/>
                  </a:rPr>
                  <a:t>dom</a:t>
                </a:r>
              </a:p>
            </p:txBody>
          </p:sp>
        </p:grpSp>
        <p:sp>
          <p:nvSpPr>
            <p:cNvPr id="38" name="Line 1049"/>
            <p:cNvSpPr>
              <a:spLocks noChangeShapeType="1"/>
            </p:cNvSpPr>
            <p:nvPr/>
          </p:nvSpPr>
          <p:spPr bwMode="auto">
            <a:xfrm>
              <a:off x="974430" y="6371330"/>
              <a:ext cx="7258809" cy="0"/>
            </a:xfrm>
            <a:prstGeom prst="line">
              <a:avLst/>
            </a:prstGeom>
            <a:solidFill>
              <a:schemeClr val="bg2">
                <a:lumMod val="75000"/>
              </a:schemeClr>
            </a:solidFill>
            <a:ln w="25400">
              <a:solidFill>
                <a:schemeClr val="tx1"/>
              </a:solidFill>
              <a:round/>
              <a:headEnd type="none" w="sm" len="sm"/>
              <a:tailEnd type="stealth" w="med" len="lg"/>
            </a:ln>
          </p:spPr>
          <p:txBody>
            <a:bodyPr wrap="none" anchor="ctr"/>
            <a:lstStyle/>
            <a:p>
              <a:endParaRPr lang="en-US"/>
            </a:p>
          </p:txBody>
        </p:sp>
        <p:cxnSp>
          <p:nvCxnSpPr>
            <p:cNvPr id="22" name="Straight Connector 21"/>
            <p:cNvCxnSpPr/>
            <p:nvPr/>
          </p:nvCxnSpPr>
          <p:spPr bwMode="auto">
            <a:xfrm>
              <a:off x="971600" y="3726087"/>
              <a:ext cx="2520280" cy="0"/>
            </a:xfrm>
            <a:prstGeom prst="line">
              <a:avLst/>
            </a:prstGeom>
            <a:solidFill>
              <a:schemeClr val="accent1"/>
            </a:solidFill>
            <a:ln w="9525" cap="flat" cmpd="sng" algn="ctr">
              <a:solidFill>
                <a:schemeClr val="tx1"/>
              </a:solidFill>
              <a:prstDash val="dash"/>
              <a:round/>
              <a:headEnd type="none" w="med" len="med"/>
              <a:tailEnd type="none" w="med" len="med"/>
            </a:ln>
            <a:effectLst/>
          </p:spPr>
        </p:cxnSp>
        <p:cxnSp>
          <p:nvCxnSpPr>
            <p:cNvPr id="25" name="Straight Connector 24"/>
            <p:cNvCxnSpPr/>
            <p:nvPr/>
          </p:nvCxnSpPr>
          <p:spPr bwMode="auto">
            <a:xfrm rot="5400000">
              <a:off x="2195736" y="5085184"/>
              <a:ext cx="2592288" cy="0"/>
            </a:xfrm>
            <a:prstGeom prst="line">
              <a:avLst/>
            </a:prstGeom>
            <a:solidFill>
              <a:schemeClr val="accent1"/>
            </a:solidFill>
            <a:ln w="9525" cap="flat" cmpd="sng" algn="ctr">
              <a:solidFill>
                <a:schemeClr val="tx1"/>
              </a:solidFill>
              <a:prstDash val="dash"/>
              <a:round/>
              <a:headEnd type="none" w="med" len="med"/>
              <a:tailEnd type="none" w="med" len="med"/>
            </a:ln>
            <a:effectLst/>
          </p:spPr>
        </p:cxnSp>
        <p:sp>
          <p:nvSpPr>
            <p:cNvPr id="26" name="Rectangle 1030"/>
            <p:cNvSpPr>
              <a:spLocks noChangeArrowheads="1"/>
            </p:cNvSpPr>
            <p:nvPr/>
          </p:nvSpPr>
          <p:spPr bwMode="auto">
            <a:xfrm>
              <a:off x="3275856" y="6428058"/>
              <a:ext cx="493725" cy="462307"/>
            </a:xfrm>
            <a:prstGeom prst="rect">
              <a:avLst/>
            </a:prstGeom>
            <a:solidFill>
              <a:schemeClr val="bg2">
                <a:lumMod val="75000"/>
              </a:schemeClr>
            </a:solidFill>
            <a:ln w="9525">
              <a:noFill/>
              <a:miter lim="800000"/>
              <a:headEnd/>
              <a:tailEnd/>
            </a:ln>
          </p:spPr>
          <p:txBody>
            <a:bodyPr wrap="none" lIns="92075" tIns="46038" rIns="92075" bIns="46038">
              <a:spAutoFit/>
            </a:bodyPr>
            <a:lstStyle/>
            <a:p>
              <a:pPr defTabSz="762000"/>
              <a:r>
                <a:rPr lang="en-GB" b="0" i="1" dirty="0">
                  <a:latin typeface="Arial" charset="0"/>
                </a:rPr>
                <a:t>Q’</a:t>
              </a:r>
            </a:p>
          </p:txBody>
        </p:sp>
        <p:sp>
          <p:nvSpPr>
            <p:cNvPr id="27" name="Rectangle 1029"/>
            <p:cNvSpPr>
              <a:spLocks noChangeArrowheads="1"/>
            </p:cNvSpPr>
            <p:nvPr/>
          </p:nvSpPr>
          <p:spPr bwMode="auto">
            <a:xfrm>
              <a:off x="467544" y="3573016"/>
              <a:ext cx="460062" cy="462307"/>
            </a:xfrm>
            <a:prstGeom prst="rect">
              <a:avLst/>
            </a:prstGeom>
            <a:solidFill>
              <a:schemeClr val="bg2">
                <a:lumMod val="75000"/>
              </a:schemeClr>
            </a:solidFill>
            <a:ln w="9525">
              <a:noFill/>
              <a:miter lim="800000"/>
              <a:headEnd/>
              <a:tailEnd/>
            </a:ln>
          </p:spPr>
          <p:txBody>
            <a:bodyPr wrap="none" lIns="92075" tIns="46038" rIns="92075" bIns="46038">
              <a:spAutoFit/>
            </a:bodyPr>
            <a:lstStyle/>
            <a:p>
              <a:pPr defTabSz="762000"/>
              <a:r>
                <a:rPr lang="en-GB" b="0" i="1" dirty="0">
                  <a:latin typeface="Arial" charset="0"/>
                </a:rPr>
                <a:t>P’</a:t>
              </a:r>
            </a:p>
          </p:txBody>
        </p:sp>
      </p:grpSp>
      <p:sp>
        <p:nvSpPr>
          <p:cNvPr id="37" name="TextBox 36"/>
          <p:cNvSpPr txBox="1"/>
          <p:nvPr/>
        </p:nvSpPr>
        <p:spPr>
          <a:xfrm>
            <a:off x="6444208" y="3356992"/>
            <a:ext cx="2040943" cy="830997"/>
          </a:xfrm>
          <a:prstGeom prst="rect">
            <a:avLst/>
          </a:prstGeom>
          <a:noFill/>
        </p:spPr>
        <p:txBody>
          <a:bodyPr wrap="none" rtlCol="0">
            <a:spAutoFit/>
          </a:bodyPr>
          <a:lstStyle/>
          <a:p>
            <a:pPr algn="ctr"/>
            <a:r>
              <a:rPr lang="en-US" dirty="0"/>
              <a:t>Nation 1</a:t>
            </a:r>
          </a:p>
          <a:p>
            <a:r>
              <a:rPr lang="en-US" dirty="0"/>
              <a:t>Commodity X</a:t>
            </a:r>
          </a:p>
        </p:txBody>
      </p:sp>
      <p:sp>
        <p:nvSpPr>
          <p:cNvPr id="41" name="TextBox 40"/>
          <p:cNvSpPr txBox="1"/>
          <p:nvPr/>
        </p:nvSpPr>
        <p:spPr>
          <a:xfrm>
            <a:off x="1027855" y="2780928"/>
            <a:ext cx="1383905" cy="707886"/>
          </a:xfrm>
          <a:prstGeom prst="rect">
            <a:avLst/>
          </a:prstGeom>
          <a:noFill/>
        </p:spPr>
        <p:txBody>
          <a:bodyPr wrap="none" rtlCol="0">
            <a:spAutoFit/>
          </a:bodyPr>
          <a:lstStyle/>
          <a:p>
            <a:pPr algn="ctr"/>
            <a:r>
              <a:rPr lang="en-US" sz="2000" dirty="0"/>
              <a:t>Consumer </a:t>
            </a:r>
          </a:p>
          <a:p>
            <a:pPr algn="ctr"/>
            <a:r>
              <a:rPr lang="en-US" sz="2000" dirty="0"/>
              <a:t>surplus</a:t>
            </a:r>
          </a:p>
        </p:txBody>
      </p:sp>
      <p:sp>
        <p:nvSpPr>
          <p:cNvPr id="45" name="TextBox 44"/>
          <p:cNvSpPr txBox="1"/>
          <p:nvPr/>
        </p:nvSpPr>
        <p:spPr>
          <a:xfrm>
            <a:off x="1061773" y="3729226"/>
            <a:ext cx="1205971" cy="707886"/>
          </a:xfrm>
          <a:prstGeom prst="rect">
            <a:avLst/>
          </a:prstGeom>
          <a:noFill/>
        </p:spPr>
        <p:txBody>
          <a:bodyPr wrap="none" rtlCol="0">
            <a:spAutoFit/>
          </a:bodyPr>
          <a:lstStyle/>
          <a:p>
            <a:pPr algn="ctr"/>
            <a:r>
              <a:rPr lang="en-US" sz="2000" dirty="0"/>
              <a:t>Producer</a:t>
            </a:r>
          </a:p>
          <a:p>
            <a:pPr algn="ctr"/>
            <a:r>
              <a:rPr lang="en-US" sz="2000" dirty="0"/>
              <a:t> surplus</a:t>
            </a:r>
          </a:p>
        </p:txBody>
      </p:sp>
    </p:spTree>
  </p:cSld>
  <p:clrMapOvr>
    <a:masterClrMapping/>
  </p:clrMapOvr>
  <p:transition spd="slow">
    <p:zoom/>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2" name="Group 51"/>
          <p:cNvGrpSpPr/>
          <p:nvPr/>
        </p:nvGrpSpPr>
        <p:grpSpPr>
          <a:xfrm>
            <a:off x="395536" y="1124744"/>
            <a:ext cx="8748464" cy="5733256"/>
            <a:chOff x="0" y="1052736"/>
            <a:chExt cx="9144000" cy="5805264"/>
          </a:xfrm>
          <a:solidFill>
            <a:schemeClr val="bg2">
              <a:lumMod val="75000"/>
            </a:schemeClr>
          </a:solidFill>
        </p:grpSpPr>
        <p:sp>
          <p:nvSpPr>
            <p:cNvPr id="28" name="Rectangle 1026"/>
            <p:cNvSpPr>
              <a:spLocks noChangeArrowheads="1"/>
            </p:cNvSpPr>
            <p:nvPr/>
          </p:nvSpPr>
          <p:spPr bwMode="auto">
            <a:xfrm>
              <a:off x="601686" y="1159725"/>
              <a:ext cx="8542314" cy="5178841"/>
            </a:xfrm>
            <a:prstGeom prst="rect">
              <a:avLst/>
            </a:prstGeom>
            <a:grpFill/>
            <a:ln w="12700">
              <a:noFill/>
              <a:miter lim="800000"/>
              <a:headEnd type="none" w="sm" len="sm"/>
              <a:tailEnd type="none" w="sm" len="sm"/>
            </a:ln>
          </p:spPr>
          <p:txBody>
            <a:bodyPr wrap="none" anchor="ctr"/>
            <a:lstStyle/>
            <a:p>
              <a:endParaRPr lang="en-US"/>
            </a:p>
          </p:txBody>
        </p:sp>
        <p:sp>
          <p:nvSpPr>
            <p:cNvPr id="29" name="Rectangle 1028"/>
            <p:cNvSpPr>
              <a:spLocks noChangeArrowheads="1"/>
            </p:cNvSpPr>
            <p:nvPr/>
          </p:nvSpPr>
          <p:spPr bwMode="auto">
            <a:xfrm>
              <a:off x="263660" y="6307555"/>
              <a:ext cx="405631" cy="387638"/>
            </a:xfrm>
            <a:prstGeom prst="rect">
              <a:avLst/>
            </a:prstGeom>
            <a:grpFill/>
            <a:ln w="9525">
              <a:noFill/>
              <a:miter lim="800000"/>
              <a:headEnd/>
              <a:tailEnd/>
            </a:ln>
          </p:spPr>
          <p:txBody>
            <a:bodyPr wrap="none" lIns="92075" tIns="46038" rIns="92075" bIns="46038">
              <a:spAutoFit/>
            </a:bodyPr>
            <a:lstStyle/>
            <a:p>
              <a:pPr defTabSz="762000"/>
              <a:r>
                <a:rPr lang="en-GB" sz="2000" b="0">
                  <a:latin typeface="Arial" charset="0"/>
                </a:rPr>
                <a:t>O</a:t>
              </a:r>
            </a:p>
          </p:txBody>
        </p:sp>
        <p:sp>
          <p:nvSpPr>
            <p:cNvPr id="30" name="Rectangle 1029"/>
            <p:cNvSpPr>
              <a:spLocks noChangeArrowheads="1"/>
            </p:cNvSpPr>
            <p:nvPr/>
          </p:nvSpPr>
          <p:spPr bwMode="auto">
            <a:xfrm>
              <a:off x="101408" y="1052736"/>
              <a:ext cx="412392" cy="446559"/>
            </a:xfrm>
            <a:prstGeom prst="rect">
              <a:avLst/>
            </a:prstGeom>
            <a:grpFill/>
            <a:ln w="9525">
              <a:noFill/>
              <a:miter lim="800000"/>
              <a:headEnd/>
              <a:tailEnd/>
            </a:ln>
          </p:spPr>
          <p:txBody>
            <a:bodyPr wrap="none" lIns="92075" tIns="46038" rIns="92075" bIns="46038">
              <a:spAutoFit/>
            </a:bodyPr>
            <a:lstStyle/>
            <a:p>
              <a:pPr defTabSz="762000"/>
              <a:r>
                <a:rPr lang="en-GB" b="0" i="1">
                  <a:latin typeface="Arial" charset="0"/>
                </a:rPr>
                <a:t>P</a:t>
              </a:r>
            </a:p>
          </p:txBody>
        </p:sp>
        <p:sp>
          <p:nvSpPr>
            <p:cNvPr id="31" name="Rectangle 1030"/>
            <p:cNvSpPr>
              <a:spLocks noChangeArrowheads="1"/>
            </p:cNvSpPr>
            <p:nvPr/>
          </p:nvSpPr>
          <p:spPr bwMode="auto">
            <a:xfrm>
              <a:off x="7727275" y="6411441"/>
              <a:ext cx="447885" cy="446559"/>
            </a:xfrm>
            <a:prstGeom prst="rect">
              <a:avLst/>
            </a:prstGeom>
            <a:grpFill/>
            <a:ln w="9525">
              <a:noFill/>
              <a:miter lim="800000"/>
              <a:headEnd/>
              <a:tailEnd/>
            </a:ln>
          </p:spPr>
          <p:txBody>
            <a:bodyPr wrap="none" lIns="92075" tIns="46038" rIns="92075" bIns="46038">
              <a:spAutoFit/>
            </a:bodyPr>
            <a:lstStyle/>
            <a:p>
              <a:pPr defTabSz="762000"/>
              <a:r>
                <a:rPr lang="en-GB" b="0" i="1">
                  <a:latin typeface="Arial" charset="0"/>
                </a:rPr>
                <a:t>Q</a:t>
              </a:r>
            </a:p>
          </p:txBody>
        </p:sp>
        <p:sp>
          <p:nvSpPr>
            <p:cNvPr id="32" name="Line 1031"/>
            <p:cNvSpPr>
              <a:spLocks noChangeShapeType="1"/>
            </p:cNvSpPr>
            <p:nvPr/>
          </p:nvSpPr>
          <p:spPr bwMode="auto">
            <a:xfrm>
              <a:off x="605067" y="1142668"/>
              <a:ext cx="0" cy="5209852"/>
            </a:xfrm>
            <a:prstGeom prst="line">
              <a:avLst/>
            </a:prstGeom>
            <a:grpFill/>
            <a:ln w="25400">
              <a:solidFill>
                <a:schemeClr val="tx1"/>
              </a:solidFill>
              <a:round/>
              <a:headEnd type="stealth" w="med" len="lg"/>
              <a:tailEnd type="none" w="sm" len="sm"/>
            </a:ln>
          </p:spPr>
          <p:txBody>
            <a:bodyPr wrap="none" anchor="ctr"/>
            <a:lstStyle/>
            <a:p>
              <a:endParaRPr lang="en-US"/>
            </a:p>
          </p:txBody>
        </p:sp>
        <p:grpSp>
          <p:nvGrpSpPr>
            <p:cNvPr id="33" name="Group 1032"/>
            <p:cNvGrpSpPr>
              <a:grpSpLocks/>
            </p:cNvGrpSpPr>
            <p:nvPr/>
          </p:nvGrpSpPr>
          <p:grpSpPr bwMode="auto">
            <a:xfrm>
              <a:off x="605067" y="1424868"/>
              <a:ext cx="6500242" cy="3736829"/>
              <a:chOff x="672" y="566"/>
              <a:chExt cx="3846" cy="2410"/>
            </a:xfrm>
            <a:grpFill/>
          </p:grpSpPr>
          <p:sp>
            <p:nvSpPr>
              <p:cNvPr id="49" name="Line 1033"/>
              <p:cNvSpPr>
                <a:spLocks noChangeShapeType="1"/>
              </p:cNvSpPr>
              <p:nvPr/>
            </p:nvSpPr>
            <p:spPr bwMode="auto">
              <a:xfrm flipV="1">
                <a:off x="672" y="816"/>
                <a:ext cx="3456" cy="2160"/>
              </a:xfrm>
              <a:prstGeom prst="line">
                <a:avLst/>
              </a:prstGeom>
              <a:grpFill/>
              <a:ln w="38100">
                <a:solidFill>
                  <a:schemeClr val="tx2"/>
                </a:solidFill>
                <a:round/>
                <a:headEnd type="none" w="sm" len="sm"/>
                <a:tailEnd type="none" w="sm" len="sm"/>
              </a:ln>
            </p:spPr>
            <p:txBody>
              <a:bodyPr wrap="none" anchor="ctr"/>
              <a:lstStyle/>
              <a:p>
                <a:endParaRPr lang="en-US"/>
              </a:p>
            </p:txBody>
          </p:sp>
          <p:sp>
            <p:nvSpPr>
              <p:cNvPr id="50" name="Rectangle 1034"/>
              <p:cNvSpPr>
                <a:spLocks noChangeArrowheads="1"/>
              </p:cNvSpPr>
              <p:nvPr/>
            </p:nvSpPr>
            <p:spPr bwMode="auto">
              <a:xfrm>
                <a:off x="4070" y="566"/>
                <a:ext cx="448" cy="298"/>
              </a:xfrm>
              <a:prstGeom prst="rect">
                <a:avLst/>
              </a:prstGeom>
              <a:grpFill/>
              <a:ln w="9525">
                <a:noFill/>
                <a:miter lim="800000"/>
                <a:headEnd/>
                <a:tailEnd/>
              </a:ln>
            </p:spPr>
            <p:txBody>
              <a:bodyPr wrap="none" lIns="92075" tIns="46038" rIns="92075" bIns="46038">
                <a:spAutoFit/>
              </a:bodyPr>
              <a:lstStyle/>
              <a:p>
                <a:pPr defTabSz="762000"/>
                <a:r>
                  <a:rPr lang="en-GB" sz="2000" b="0" i="1" dirty="0" err="1">
                    <a:solidFill>
                      <a:schemeClr val="tx2"/>
                    </a:solidFill>
                    <a:latin typeface="Arial" charset="0"/>
                  </a:rPr>
                  <a:t>S</a:t>
                </a:r>
                <a:r>
                  <a:rPr lang="en-GB" b="0" baseline="-25000" dirty="0" err="1">
                    <a:solidFill>
                      <a:schemeClr val="tx2"/>
                    </a:solidFill>
                    <a:latin typeface="Arial" charset="0"/>
                  </a:rPr>
                  <a:t>dom</a:t>
                </a:r>
                <a:endParaRPr lang="en-GB" sz="2000" b="0" dirty="0">
                  <a:solidFill>
                    <a:schemeClr val="tx2"/>
                  </a:solidFill>
                  <a:latin typeface="Arial" charset="0"/>
                </a:endParaRPr>
              </a:p>
            </p:txBody>
          </p:sp>
        </p:grpSp>
        <p:grpSp>
          <p:nvGrpSpPr>
            <p:cNvPr id="36" name="Group 1041"/>
            <p:cNvGrpSpPr>
              <a:grpSpLocks/>
            </p:cNvGrpSpPr>
            <p:nvPr/>
          </p:nvGrpSpPr>
          <p:grpSpPr bwMode="auto">
            <a:xfrm>
              <a:off x="0" y="4521320"/>
              <a:ext cx="7478827" cy="406244"/>
              <a:chOff x="314" y="2563"/>
              <a:chExt cx="4425" cy="262"/>
            </a:xfrm>
            <a:grpFill/>
          </p:grpSpPr>
          <p:grpSp>
            <p:nvGrpSpPr>
              <p:cNvPr id="41" name="Group 1042"/>
              <p:cNvGrpSpPr>
                <a:grpSpLocks/>
              </p:cNvGrpSpPr>
              <p:nvPr/>
            </p:nvGrpSpPr>
            <p:grpSpPr bwMode="auto">
              <a:xfrm>
                <a:off x="672" y="2563"/>
                <a:ext cx="4067" cy="250"/>
                <a:chOff x="672" y="2563"/>
                <a:chExt cx="4067" cy="250"/>
              </a:xfrm>
              <a:grpFill/>
            </p:grpSpPr>
            <p:sp>
              <p:nvSpPr>
                <p:cNvPr id="43" name="Line 1043"/>
                <p:cNvSpPr>
                  <a:spLocks noChangeShapeType="1"/>
                </p:cNvSpPr>
                <p:nvPr/>
              </p:nvSpPr>
              <p:spPr bwMode="auto">
                <a:xfrm>
                  <a:off x="672" y="2688"/>
                  <a:ext cx="3504" cy="0"/>
                </a:xfrm>
                <a:prstGeom prst="line">
                  <a:avLst/>
                </a:prstGeom>
                <a:grpFill/>
                <a:ln w="38100">
                  <a:solidFill>
                    <a:schemeClr val="folHlink"/>
                  </a:solidFill>
                  <a:round/>
                  <a:headEnd type="none" w="sm" len="sm"/>
                  <a:tailEnd type="none" w="sm" len="sm"/>
                </a:ln>
              </p:spPr>
              <p:txBody>
                <a:bodyPr wrap="none" anchor="ctr"/>
                <a:lstStyle/>
                <a:p>
                  <a:endParaRPr lang="en-US"/>
                </a:p>
              </p:txBody>
            </p:sp>
            <p:sp>
              <p:nvSpPr>
                <p:cNvPr id="44" name="Rectangle 1044"/>
                <p:cNvSpPr>
                  <a:spLocks noChangeArrowheads="1"/>
                </p:cNvSpPr>
                <p:nvPr/>
              </p:nvSpPr>
              <p:spPr bwMode="auto">
                <a:xfrm>
                  <a:off x="4166" y="2563"/>
                  <a:ext cx="573" cy="250"/>
                </a:xfrm>
                <a:prstGeom prst="rect">
                  <a:avLst/>
                </a:prstGeom>
                <a:grpFill/>
                <a:ln w="9525">
                  <a:noFill/>
                  <a:miter lim="800000"/>
                  <a:headEnd/>
                  <a:tailEnd/>
                </a:ln>
              </p:spPr>
              <p:txBody>
                <a:bodyPr wrap="none" lIns="92075" tIns="46038" rIns="92075" bIns="46038">
                  <a:spAutoFit/>
                </a:bodyPr>
                <a:lstStyle/>
                <a:p>
                  <a:pPr defTabSz="762000"/>
                  <a:r>
                    <a:rPr lang="en-GB" sz="2000" b="0" i="1">
                      <a:solidFill>
                        <a:schemeClr val="folHlink"/>
                      </a:solidFill>
                      <a:latin typeface="Arial" charset="0"/>
                    </a:rPr>
                    <a:t>S </a:t>
                  </a:r>
                  <a:r>
                    <a:rPr lang="en-GB" b="0" baseline="-25000">
                      <a:solidFill>
                        <a:schemeClr val="folHlink"/>
                      </a:solidFill>
                      <a:latin typeface="Arial" charset="0"/>
                    </a:rPr>
                    <a:t>world</a:t>
                  </a:r>
                </a:p>
              </p:txBody>
            </p:sp>
          </p:grpSp>
          <p:sp>
            <p:nvSpPr>
              <p:cNvPr id="42" name="Rectangle 1045"/>
              <p:cNvSpPr>
                <a:spLocks noChangeArrowheads="1"/>
              </p:cNvSpPr>
              <p:nvPr/>
            </p:nvSpPr>
            <p:spPr bwMode="auto">
              <a:xfrm>
                <a:off x="314" y="2575"/>
                <a:ext cx="321" cy="250"/>
              </a:xfrm>
              <a:prstGeom prst="rect">
                <a:avLst/>
              </a:prstGeom>
              <a:grpFill/>
              <a:ln w="9525">
                <a:noFill/>
                <a:miter lim="800000"/>
                <a:headEnd/>
                <a:tailEnd/>
              </a:ln>
            </p:spPr>
            <p:txBody>
              <a:bodyPr wrap="none" lIns="92075" tIns="46038" rIns="92075" bIns="46038">
                <a:spAutoFit/>
              </a:bodyPr>
              <a:lstStyle/>
              <a:p>
                <a:pPr algn="r" defTabSz="762000"/>
                <a:r>
                  <a:rPr lang="en-GB" sz="2000" b="0" i="1" dirty="0">
                    <a:solidFill>
                      <a:schemeClr val="folHlink"/>
                    </a:solidFill>
                    <a:latin typeface="Arial" charset="0"/>
                  </a:rPr>
                  <a:t>P</a:t>
                </a:r>
                <a:r>
                  <a:rPr lang="en-GB" sz="2000" b="0" baseline="-25000" dirty="0">
                    <a:solidFill>
                      <a:schemeClr val="folHlink"/>
                    </a:solidFill>
                    <a:latin typeface="Arial" charset="0"/>
                  </a:rPr>
                  <a:t>W</a:t>
                </a:r>
              </a:p>
            </p:txBody>
          </p:sp>
        </p:grpSp>
        <p:grpSp>
          <p:nvGrpSpPr>
            <p:cNvPr id="37" name="Group 1046"/>
            <p:cNvGrpSpPr>
              <a:grpSpLocks/>
            </p:cNvGrpSpPr>
            <p:nvPr/>
          </p:nvGrpSpPr>
          <p:grpSpPr bwMode="auto">
            <a:xfrm>
              <a:off x="605067" y="2035786"/>
              <a:ext cx="7532911" cy="4239207"/>
              <a:chOff x="672" y="960"/>
              <a:chExt cx="4457" cy="2734"/>
            </a:xfrm>
            <a:grpFill/>
          </p:grpSpPr>
          <p:sp>
            <p:nvSpPr>
              <p:cNvPr id="39" name="Line 1047"/>
              <p:cNvSpPr>
                <a:spLocks noChangeShapeType="1"/>
              </p:cNvSpPr>
              <p:nvPr/>
            </p:nvSpPr>
            <p:spPr bwMode="auto">
              <a:xfrm>
                <a:off x="672" y="960"/>
                <a:ext cx="3984" cy="2592"/>
              </a:xfrm>
              <a:prstGeom prst="line">
                <a:avLst/>
              </a:prstGeom>
              <a:grpFill/>
              <a:ln w="38100">
                <a:solidFill>
                  <a:schemeClr val="tx2"/>
                </a:solidFill>
                <a:round/>
                <a:headEnd type="none" w="sm" len="sm"/>
                <a:tailEnd type="none" w="sm" len="sm"/>
              </a:ln>
            </p:spPr>
            <p:txBody>
              <a:bodyPr wrap="none" anchor="ctr"/>
              <a:lstStyle/>
              <a:p>
                <a:endParaRPr lang="en-US"/>
              </a:p>
            </p:txBody>
          </p:sp>
          <p:sp>
            <p:nvSpPr>
              <p:cNvPr id="40" name="Rectangle 1048"/>
              <p:cNvSpPr>
                <a:spLocks noChangeArrowheads="1"/>
              </p:cNvSpPr>
              <p:nvPr/>
            </p:nvSpPr>
            <p:spPr bwMode="auto">
              <a:xfrm>
                <a:off x="4648" y="3444"/>
                <a:ext cx="481" cy="250"/>
              </a:xfrm>
              <a:prstGeom prst="rect">
                <a:avLst/>
              </a:prstGeom>
              <a:grpFill/>
              <a:ln w="9525">
                <a:noFill/>
                <a:miter lim="800000"/>
                <a:headEnd/>
                <a:tailEnd/>
              </a:ln>
            </p:spPr>
            <p:txBody>
              <a:bodyPr wrap="none" lIns="92075" tIns="46038" rIns="92075" bIns="46038">
                <a:spAutoFit/>
              </a:bodyPr>
              <a:lstStyle/>
              <a:p>
                <a:pPr defTabSz="762000"/>
                <a:r>
                  <a:rPr lang="en-GB" sz="2000" b="0" i="1">
                    <a:solidFill>
                      <a:schemeClr val="tx2"/>
                    </a:solidFill>
                    <a:latin typeface="Arial" charset="0"/>
                  </a:rPr>
                  <a:t>D</a:t>
                </a:r>
                <a:r>
                  <a:rPr lang="en-GB" b="0" baseline="-25000">
                    <a:solidFill>
                      <a:schemeClr val="tx2"/>
                    </a:solidFill>
                    <a:latin typeface="Arial" charset="0"/>
                  </a:rPr>
                  <a:t>dom</a:t>
                </a:r>
              </a:p>
            </p:txBody>
          </p:sp>
        </p:grpSp>
        <p:sp>
          <p:nvSpPr>
            <p:cNvPr id="38" name="Line 1049"/>
            <p:cNvSpPr>
              <a:spLocks noChangeShapeType="1"/>
            </p:cNvSpPr>
            <p:nvPr/>
          </p:nvSpPr>
          <p:spPr bwMode="auto">
            <a:xfrm>
              <a:off x="605067" y="6352520"/>
              <a:ext cx="7586995" cy="0"/>
            </a:xfrm>
            <a:prstGeom prst="line">
              <a:avLst/>
            </a:prstGeom>
            <a:grpFill/>
            <a:ln w="25400">
              <a:solidFill>
                <a:schemeClr val="tx1"/>
              </a:solidFill>
              <a:round/>
              <a:headEnd type="none" w="sm" len="sm"/>
              <a:tailEnd type="stealth" w="med" len="lg"/>
            </a:ln>
          </p:spPr>
          <p:txBody>
            <a:bodyPr wrap="none" anchor="ctr"/>
            <a:lstStyle/>
            <a:p>
              <a:endParaRPr lang="en-US"/>
            </a:p>
          </p:txBody>
        </p:sp>
      </p:grpSp>
      <p:sp>
        <p:nvSpPr>
          <p:cNvPr id="51" name="Title 3"/>
          <p:cNvSpPr>
            <a:spLocks noGrp="1"/>
          </p:cNvSpPr>
          <p:nvPr>
            <p:ph type="title" idx="4294967295"/>
          </p:nvPr>
        </p:nvSpPr>
        <p:spPr>
          <a:xfrm>
            <a:off x="0" y="319088"/>
            <a:ext cx="9144000" cy="563562"/>
          </a:xfrm>
        </p:spPr>
        <p:txBody>
          <a:bodyPr/>
          <a:lstStyle/>
          <a:p>
            <a:pPr algn="ctr"/>
            <a:r>
              <a:rPr lang="en-US" altLang="zh-CN" sz="3200" b="1" dirty="0">
                <a:solidFill>
                  <a:srgbClr val="FDC52B"/>
                </a:solidFill>
                <a:latin typeface="Times New Roman" pitchFamily="18" charset="0"/>
                <a:ea typeface="SimSun" pitchFamily="2" charset="-122"/>
              </a:rPr>
              <a:t>IMPACT OF TRADE POLICY</a:t>
            </a:r>
          </a:p>
        </p:txBody>
      </p:sp>
      <p:sp>
        <p:nvSpPr>
          <p:cNvPr id="87" name="Line 1046"/>
          <p:cNvSpPr>
            <a:spLocks noChangeShapeType="1"/>
          </p:cNvSpPr>
          <p:nvPr/>
        </p:nvSpPr>
        <p:spPr bwMode="auto">
          <a:xfrm>
            <a:off x="1763688" y="4741717"/>
            <a:ext cx="0" cy="1617072"/>
          </a:xfrm>
          <a:prstGeom prst="line">
            <a:avLst/>
          </a:prstGeom>
          <a:noFill/>
          <a:ln w="19050">
            <a:solidFill>
              <a:schemeClr val="folHlink"/>
            </a:solidFill>
            <a:prstDash val="dash"/>
            <a:round/>
            <a:headEnd type="none" w="sm" len="sm"/>
            <a:tailEnd type="none" w="sm" len="sm"/>
          </a:ln>
        </p:spPr>
        <p:txBody>
          <a:bodyPr wrap="none" anchor="ctr"/>
          <a:lstStyle/>
          <a:p>
            <a:endParaRPr lang="en-US"/>
          </a:p>
        </p:txBody>
      </p:sp>
      <p:sp>
        <p:nvSpPr>
          <p:cNvPr id="88" name="Line 1047"/>
          <p:cNvSpPr>
            <a:spLocks noChangeShapeType="1"/>
          </p:cNvSpPr>
          <p:nvPr/>
        </p:nvSpPr>
        <p:spPr bwMode="auto">
          <a:xfrm>
            <a:off x="5292080" y="4737124"/>
            <a:ext cx="0" cy="1606352"/>
          </a:xfrm>
          <a:prstGeom prst="line">
            <a:avLst/>
          </a:prstGeom>
          <a:noFill/>
          <a:ln w="19050">
            <a:solidFill>
              <a:schemeClr val="folHlink"/>
            </a:solidFill>
            <a:prstDash val="dash"/>
            <a:round/>
            <a:headEnd type="none" w="sm" len="sm"/>
            <a:tailEnd type="none" w="sm" len="sm"/>
          </a:ln>
        </p:spPr>
        <p:txBody>
          <a:bodyPr wrap="none" anchor="ctr"/>
          <a:lstStyle/>
          <a:p>
            <a:endParaRPr lang="en-US"/>
          </a:p>
        </p:txBody>
      </p:sp>
      <p:sp>
        <p:nvSpPr>
          <p:cNvPr id="89" name="Rectangle 1048"/>
          <p:cNvSpPr>
            <a:spLocks noChangeArrowheads="1"/>
          </p:cNvSpPr>
          <p:nvPr/>
        </p:nvSpPr>
        <p:spPr bwMode="auto">
          <a:xfrm>
            <a:off x="1564535" y="6374102"/>
            <a:ext cx="540872" cy="382830"/>
          </a:xfrm>
          <a:prstGeom prst="rect">
            <a:avLst/>
          </a:prstGeom>
          <a:noFill/>
          <a:ln w="9525">
            <a:noFill/>
            <a:miter lim="800000"/>
            <a:headEnd/>
            <a:tailEnd/>
          </a:ln>
        </p:spPr>
        <p:txBody>
          <a:bodyPr wrap="none" lIns="92075" tIns="46038" rIns="92075" bIns="46038">
            <a:spAutoFit/>
          </a:bodyPr>
          <a:lstStyle/>
          <a:p>
            <a:pPr algn="ctr" defTabSz="762000"/>
            <a:r>
              <a:rPr lang="en-GB" sz="2000" b="0" i="1" dirty="0">
                <a:solidFill>
                  <a:schemeClr val="folHlink"/>
                </a:solidFill>
                <a:latin typeface="Arial" charset="0"/>
              </a:rPr>
              <a:t>Q</a:t>
            </a:r>
            <a:r>
              <a:rPr lang="en-GB" sz="2000" b="0" baseline="-25000" dirty="0">
                <a:solidFill>
                  <a:schemeClr val="folHlink"/>
                </a:solidFill>
                <a:latin typeface="Arial" charset="0"/>
              </a:rPr>
              <a:t>1</a:t>
            </a:r>
          </a:p>
        </p:txBody>
      </p:sp>
      <p:sp>
        <p:nvSpPr>
          <p:cNvPr id="90" name="Rectangle 1049"/>
          <p:cNvSpPr>
            <a:spLocks noChangeArrowheads="1"/>
          </p:cNvSpPr>
          <p:nvPr/>
        </p:nvSpPr>
        <p:spPr bwMode="auto">
          <a:xfrm>
            <a:off x="5039240" y="6357258"/>
            <a:ext cx="540872" cy="382830"/>
          </a:xfrm>
          <a:prstGeom prst="rect">
            <a:avLst/>
          </a:prstGeom>
          <a:noFill/>
          <a:ln w="9525">
            <a:noFill/>
            <a:miter lim="800000"/>
            <a:headEnd/>
            <a:tailEnd/>
          </a:ln>
        </p:spPr>
        <p:txBody>
          <a:bodyPr wrap="none" lIns="92075" tIns="46038" rIns="92075" bIns="46038">
            <a:spAutoFit/>
          </a:bodyPr>
          <a:lstStyle/>
          <a:p>
            <a:pPr algn="ctr" defTabSz="762000"/>
            <a:r>
              <a:rPr lang="en-GB" sz="2000" b="0" i="1" dirty="0">
                <a:solidFill>
                  <a:schemeClr val="folHlink"/>
                </a:solidFill>
                <a:latin typeface="Arial" charset="0"/>
              </a:rPr>
              <a:t>Q</a:t>
            </a:r>
            <a:r>
              <a:rPr lang="en-GB" sz="2000" b="0" baseline="-25000" dirty="0">
                <a:solidFill>
                  <a:schemeClr val="folHlink"/>
                </a:solidFill>
                <a:latin typeface="Arial" charset="0"/>
              </a:rPr>
              <a:t>2</a:t>
            </a:r>
          </a:p>
        </p:txBody>
      </p:sp>
      <p:cxnSp>
        <p:nvCxnSpPr>
          <p:cNvPr id="91" name="Straight Connector 90"/>
          <p:cNvCxnSpPr/>
          <p:nvPr/>
        </p:nvCxnSpPr>
        <p:spPr bwMode="auto">
          <a:xfrm>
            <a:off x="971600" y="3645024"/>
            <a:ext cx="2520280" cy="0"/>
          </a:xfrm>
          <a:prstGeom prst="line">
            <a:avLst/>
          </a:prstGeom>
          <a:solidFill>
            <a:schemeClr val="accent1"/>
          </a:solidFill>
          <a:ln w="9525" cap="flat" cmpd="sng" algn="ctr">
            <a:solidFill>
              <a:schemeClr val="tx1"/>
            </a:solidFill>
            <a:prstDash val="dash"/>
            <a:round/>
            <a:headEnd type="none" w="med" len="med"/>
            <a:tailEnd type="none" w="med" len="med"/>
          </a:ln>
          <a:effectLst/>
        </p:spPr>
      </p:cxnSp>
      <p:cxnSp>
        <p:nvCxnSpPr>
          <p:cNvPr id="92" name="Straight Connector 91"/>
          <p:cNvCxnSpPr/>
          <p:nvPr/>
        </p:nvCxnSpPr>
        <p:spPr bwMode="auto">
          <a:xfrm rot="5400000">
            <a:off x="2162531" y="5038938"/>
            <a:ext cx="2658698" cy="0"/>
          </a:xfrm>
          <a:prstGeom prst="line">
            <a:avLst/>
          </a:prstGeom>
          <a:solidFill>
            <a:schemeClr val="accent1"/>
          </a:solidFill>
          <a:ln w="9525" cap="flat" cmpd="sng" algn="ctr">
            <a:solidFill>
              <a:schemeClr val="tx1"/>
            </a:solidFill>
            <a:prstDash val="dash"/>
            <a:round/>
            <a:headEnd type="none" w="med" len="med"/>
            <a:tailEnd type="none" w="med" len="med"/>
          </a:ln>
          <a:effectLst/>
        </p:spPr>
      </p:cxnSp>
      <p:sp>
        <p:nvSpPr>
          <p:cNvPr id="93" name="Rectangle 1029"/>
          <p:cNvSpPr>
            <a:spLocks noChangeArrowheads="1"/>
          </p:cNvSpPr>
          <p:nvPr/>
        </p:nvSpPr>
        <p:spPr bwMode="auto">
          <a:xfrm>
            <a:off x="467544" y="3488031"/>
            <a:ext cx="460062" cy="474151"/>
          </a:xfrm>
          <a:prstGeom prst="rect">
            <a:avLst/>
          </a:prstGeom>
          <a:solidFill>
            <a:schemeClr val="bg2">
              <a:lumMod val="75000"/>
            </a:schemeClr>
          </a:solidFill>
          <a:ln w="9525">
            <a:noFill/>
            <a:miter lim="800000"/>
            <a:headEnd/>
            <a:tailEnd/>
          </a:ln>
        </p:spPr>
        <p:txBody>
          <a:bodyPr wrap="none" lIns="92075" tIns="46038" rIns="92075" bIns="46038">
            <a:spAutoFit/>
          </a:bodyPr>
          <a:lstStyle/>
          <a:p>
            <a:pPr defTabSz="762000"/>
            <a:r>
              <a:rPr lang="en-GB" b="0" i="1" dirty="0">
                <a:latin typeface="Arial" charset="0"/>
              </a:rPr>
              <a:t>P’</a:t>
            </a:r>
          </a:p>
        </p:txBody>
      </p:sp>
      <p:sp>
        <p:nvSpPr>
          <p:cNvPr id="94" name="Rectangle 1030"/>
          <p:cNvSpPr>
            <a:spLocks noChangeArrowheads="1"/>
          </p:cNvSpPr>
          <p:nvPr/>
        </p:nvSpPr>
        <p:spPr bwMode="auto">
          <a:xfrm>
            <a:off x="3275856" y="6416214"/>
            <a:ext cx="493725" cy="474151"/>
          </a:xfrm>
          <a:prstGeom prst="rect">
            <a:avLst/>
          </a:prstGeom>
          <a:solidFill>
            <a:schemeClr val="bg2">
              <a:lumMod val="75000"/>
            </a:schemeClr>
          </a:solidFill>
          <a:ln w="9525">
            <a:noFill/>
            <a:miter lim="800000"/>
            <a:headEnd/>
            <a:tailEnd/>
          </a:ln>
        </p:spPr>
        <p:txBody>
          <a:bodyPr wrap="none" lIns="92075" tIns="46038" rIns="92075" bIns="46038">
            <a:spAutoFit/>
          </a:bodyPr>
          <a:lstStyle/>
          <a:p>
            <a:pPr defTabSz="762000"/>
            <a:r>
              <a:rPr lang="en-GB" b="0" i="1" dirty="0">
                <a:latin typeface="Arial" charset="0"/>
              </a:rPr>
              <a:t>Q’</a:t>
            </a:r>
          </a:p>
        </p:txBody>
      </p:sp>
    </p:spTree>
  </p:cSld>
  <p:clrMapOvr>
    <a:masterClrMapping/>
  </p:clrMapOvr>
  <p:transition spd="slow">
    <p:zoom/>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Title 3"/>
          <p:cNvSpPr>
            <a:spLocks noGrp="1"/>
          </p:cNvSpPr>
          <p:nvPr>
            <p:ph type="title" idx="4294967295"/>
          </p:nvPr>
        </p:nvSpPr>
        <p:spPr>
          <a:xfrm>
            <a:off x="0" y="319088"/>
            <a:ext cx="9144000" cy="563562"/>
          </a:xfrm>
        </p:spPr>
        <p:txBody>
          <a:bodyPr/>
          <a:lstStyle/>
          <a:p>
            <a:pPr algn="ctr"/>
            <a:r>
              <a:rPr lang="en-US" altLang="zh-CN" sz="3200" b="1" dirty="0">
                <a:solidFill>
                  <a:srgbClr val="FDC52B"/>
                </a:solidFill>
                <a:latin typeface="Times New Roman" pitchFamily="18" charset="0"/>
                <a:ea typeface="SimSun" pitchFamily="2" charset="-122"/>
              </a:rPr>
              <a:t>IMPACT OF TRADE POLICY</a:t>
            </a:r>
          </a:p>
        </p:txBody>
      </p:sp>
      <p:grpSp>
        <p:nvGrpSpPr>
          <p:cNvPr id="69" name="Group 68"/>
          <p:cNvGrpSpPr/>
          <p:nvPr/>
        </p:nvGrpSpPr>
        <p:grpSpPr>
          <a:xfrm>
            <a:off x="0" y="1124744"/>
            <a:ext cx="9144000" cy="5733255"/>
            <a:chOff x="211138" y="517525"/>
            <a:chExt cx="7997825" cy="5943600"/>
          </a:xfrm>
        </p:grpSpPr>
        <p:sp>
          <p:nvSpPr>
            <p:cNvPr id="70" name="Rectangle 1026"/>
            <p:cNvSpPr>
              <a:spLocks noChangeArrowheads="1"/>
            </p:cNvSpPr>
            <p:nvPr/>
          </p:nvSpPr>
          <p:spPr bwMode="auto">
            <a:xfrm>
              <a:off x="1063625" y="627063"/>
              <a:ext cx="7145338" cy="5302250"/>
            </a:xfrm>
            <a:prstGeom prst="rect">
              <a:avLst/>
            </a:prstGeom>
            <a:solidFill>
              <a:schemeClr val="bg1">
                <a:lumMod val="75000"/>
              </a:schemeClr>
            </a:solidFill>
            <a:ln w="12700">
              <a:noFill/>
              <a:miter lim="800000"/>
              <a:headEnd type="none" w="sm" len="sm"/>
              <a:tailEnd type="none" w="sm" len="sm"/>
            </a:ln>
          </p:spPr>
          <p:txBody>
            <a:bodyPr wrap="none" anchor="ctr"/>
            <a:lstStyle/>
            <a:p>
              <a:endParaRPr lang="en-US"/>
            </a:p>
          </p:txBody>
        </p:sp>
        <p:sp>
          <p:nvSpPr>
            <p:cNvPr id="71" name="Freeform 1027" descr="Pink tissue paper"/>
            <p:cNvSpPr>
              <a:spLocks/>
            </p:cNvSpPr>
            <p:nvPr/>
          </p:nvSpPr>
          <p:spPr bwMode="auto">
            <a:xfrm>
              <a:off x="1076325" y="3803650"/>
              <a:ext cx="4200525" cy="447675"/>
            </a:xfrm>
            <a:custGeom>
              <a:avLst/>
              <a:gdLst>
                <a:gd name="T0" fmla="*/ 0 w 2646"/>
                <a:gd name="T1" fmla="*/ 0 h 282"/>
                <a:gd name="T2" fmla="*/ 2202 w 2646"/>
                <a:gd name="T3" fmla="*/ 0 h 282"/>
                <a:gd name="T4" fmla="*/ 2646 w 2646"/>
                <a:gd name="T5" fmla="*/ 282 h 282"/>
                <a:gd name="T6" fmla="*/ 0 w 2646"/>
                <a:gd name="T7" fmla="*/ 282 h 282"/>
                <a:gd name="T8" fmla="*/ 0 w 2646"/>
                <a:gd name="T9" fmla="*/ 0 h 282"/>
                <a:gd name="T10" fmla="*/ 0 60000 65536"/>
                <a:gd name="T11" fmla="*/ 0 60000 65536"/>
                <a:gd name="T12" fmla="*/ 0 60000 65536"/>
                <a:gd name="T13" fmla="*/ 0 60000 65536"/>
                <a:gd name="T14" fmla="*/ 0 60000 65536"/>
                <a:gd name="T15" fmla="*/ 0 w 2646"/>
                <a:gd name="T16" fmla="*/ 0 h 282"/>
                <a:gd name="T17" fmla="*/ 2646 w 2646"/>
                <a:gd name="T18" fmla="*/ 282 h 282"/>
              </a:gdLst>
              <a:ahLst/>
              <a:cxnLst>
                <a:cxn ang="T10">
                  <a:pos x="T0" y="T1"/>
                </a:cxn>
                <a:cxn ang="T11">
                  <a:pos x="T2" y="T3"/>
                </a:cxn>
                <a:cxn ang="T12">
                  <a:pos x="T4" y="T5"/>
                </a:cxn>
                <a:cxn ang="T13">
                  <a:pos x="T6" y="T7"/>
                </a:cxn>
                <a:cxn ang="T14">
                  <a:pos x="T8" y="T9"/>
                </a:cxn>
              </a:cxnLst>
              <a:rect l="T15" t="T16" r="T17" b="T18"/>
              <a:pathLst>
                <a:path w="2646" h="282">
                  <a:moveTo>
                    <a:pt x="0" y="0"/>
                  </a:moveTo>
                  <a:lnTo>
                    <a:pt x="2202" y="0"/>
                  </a:lnTo>
                  <a:lnTo>
                    <a:pt x="2646" y="282"/>
                  </a:lnTo>
                  <a:lnTo>
                    <a:pt x="0" y="282"/>
                  </a:lnTo>
                  <a:lnTo>
                    <a:pt x="0" y="0"/>
                  </a:lnTo>
                  <a:close/>
                </a:path>
              </a:pathLst>
            </a:custGeom>
            <a:blipFill dpi="0" rotWithShape="0">
              <a:blip r:embed="rId3" cstate="print"/>
              <a:srcRect/>
              <a:tile tx="0" ty="0" sx="100000" sy="100000" flip="none" algn="tl"/>
            </a:blipFill>
            <a:ln w="12700" cap="flat" cmpd="sng">
              <a:noFill/>
              <a:prstDash val="solid"/>
              <a:round/>
              <a:headEnd type="none" w="sm" len="sm"/>
              <a:tailEnd type="none" w="sm" len="sm"/>
            </a:ln>
          </p:spPr>
          <p:txBody>
            <a:bodyPr wrap="none" anchor="ctr"/>
            <a:lstStyle/>
            <a:p>
              <a:endParaRPr lang="en-US"/>
            </a:p>
          </p:txBody>
        </p:sp>
        <p:sp>
          <p:nvSpPr>
            <p:cNvPr id="72" name="Line 1028"/>
            <p:cNvSpPr>
              <a:spLocks noChangeShapeType="1"/>
            </p:cNvSpPr>
            <p:nvPr/>
          </p:nvSpPr>
          <p:spPr bwMode="auto">
            <a:xfrm>
              <a:off x="1066800" y="5943600"/>
              <a:ext cx="7126288" cy="0"/>
            </a:xfrm>
            <a:prstGeom prst="line">
              <a:avLst/>
            </a:prstGeom>
            <a:noFill/>
            <a:ln w="25400">
              <a:solidFill>
                <a:schemeClr val="tx1"/>
              </a:solidFill>
              <a:round/>
              <a:headEnd type="none" w="sm" len="sm"/>
              <a:tailEnd type="stealth" w="med" len="lg"/>
            </a:ln>
          </p:spPr>
          <p:txBody>
            <a:bodyPr wrap="none" anchor="ctr"/>
            <a:lstStyle/>
            <a:p>
              <a:endParaRPr lang="en-US"/>
            </a:p>
          </p:txBody>
        </p:sp>
        <p:sp>
          <p:nvSpPr>
            <p:cNvPr id="73" name="Rectangle 1029"/>
            <p:cNvSpPr>
              <a:spLocks noChangeArrowheads="1"/>
            </p:cNvSpPr>
            <p:nvPr/>
          </p:nvSpPr>
          <p:spPr bwMode="auto">
            <a:xfrm>
              <a:off x="746125" y="5897563"/>
              <a:ext cx="381000" cy="396875"/>
            </a:xfrm>
            <a:prstGeom prst="rect">
              <a:avLst/>
            </a:prstGeom>
            <a:noFill/>
            <a:ln w="9525">
              <a:noFill/>
              <a:miter lim="800000"/>
              <a:headEnd/>
              <a:tailEnd/>
            </a:ln>
          </p:spPr>
          <p:txBody>
            <a:bodyPr wrap="none" lIns="92075" tIns="46038" rIns="92075" bIns="46038">
              <a:spAutoFit/>
            </a:bodyPr>
            <a:lstStyle/>
            <a:p>
              <a:pPr defTabSz="762000"/>
              <a:r>
                <a:rPr lang="en-GB" sz="2000" b="0">
                  <a:latin typeface="Arial" charset="0"/>
                </a:rPr>
                <a:t>O</a:t>
              </a:r>
            </a:p>
          </p:txBody>
        </p:sp>
        <p:sp>
          <p:nvSpPr>
            <p:cNvPr id="74" name="Rectangle 1030"/>
            <p:cNvSpPr>
              <a:spLocks noChangeArrowheads="1"/>
            </p:cNvSpPr>
            <p:nvPr/>
          </p:nvSpPr>
          <p:spPr bwMode="auto">
            <a:xfrm>
              <a:off x="593725" y="517525"/>
              <a:ext cx="387350" cy="457200"/>
            </a:xfrm>
            <a:prstGeom prst="rect">
              <a:avLst/>
            </a:prstGeom>
            <a:noFill/>
            <a:ln w="9525">
              <a:noFill/>
              <a:miter lim="800000"/>
              <a:headEnd/>
              <a:tailEnd/>
            </a:ln>
          </p:spPr>
          <p:txBody>
            <a:bodyPr wrap="none" lIns="92075" tIns="46038" rIns="92075" bIns="46038">
              <a:spAutoFit/>
            </a:bodyPr>
            <a:lstStyle/>
            <a:p>
              <a:pPr defTabSz="762000"/>
              <a:r>
                <a:rPr lang="en-GB" b="0" i="1">
                  <a:latin typeface="Arial" charset="0"/>
                </a:rPr>
                <a:t>P</a:t>
              </a:r>
            </a:p>
          </p:txBody>
        </p:sp>
        <p:sp>
          <p:nvSpPr>
            <p:cNvPr id="75" name="Rectangle 1031"/>
            <p:cNvSpPr>
              <a:spLocks noChangeArrowheads="1"/>
            </p:cNvSpPr>
            <p:nvPr/>
          </p:nvSpPr>
          <p:spPr bwMode="auto">
            <a:xfrm>
              <a:off x="7756525" y="6003925"/>
              <a:ext cx="420688" cy="457200"/>
            </a:xfrm>
            <a:prstGeom prst="rect">
              <a:avLst/>
            </a:prstGeom>
            <a:noFill/>
            <a:ln w="9525">
              <a:noFill/>
              <a:miter lim="800000"/>
              <a:headEnd/>
              <a:tailEnd/>
            </a:ln>
          </p:spPr>
          <p:txBody>
            <a:bodyPr wrap="none" lIns="92075" tIns="46038" rIns="92075" bIns="46038">
              <a:spAutoFit/>
            </a:bodyPr>
            <a:lstStyle/>
            <a:p>
              <a:pPr defTabSz="762000"/>
              <a:r>
                <a:rPr lang="en-GB" b="0" i="1">
                  <a:latin typeface="Arial" charset="0"/>
                </a:rPr>
                <a:t>Q</a:t>
              </a:r>
            </a:p>
          </p:txBody>
        </p:sp>
        <p:sp>
          <p:nvSpPr>
            <p:cNvPr id="76" name="Line 1032"/>
            <p:cNvSpPr>
              <a:spLocks noChangeShapeType="1"/>
            </p:cNvSpPr>
            <p:nvPr/>
          </p:nvSpPr>
          <p:spPr bwMode="auto">
            <a:xfrm>
              <a:off x="1066800" y="1524000"/>
              <a:ext cx="6324600" cy="4114800"/>
            </a:xfrm>
            <a:prstGeom prst="line">
              <a:avLst/>
            </a:prstGeom>
            <a:noFill/>
            <a:ln w="38100">
              <a:solidFill>
                <a:schemeClr val="tx2"/>
              </a:solidFill>
              <a:round/>
              <a:headEnd type="none" w="sm" len="sm"/>
              <a:tailEnd type="none" w="sm" len="sm"/>
            </a:ln>
          </p:spPr>
          <p:txBody>
            <a:bodyPr wrap="none" anchor="ctr"/>
            <a:lstStyle/>
            <a:p>
              <a:endParaRPr lang="en-US"/>
            </a:p>
          </p:txBody>
        </p:sp>
        <p:sp>
          <p:nvSpPr>
            <p:cNvPr id="77" name="Line 1033"/>
            <p:cNvSpPr>
              <a:spLocks noChangeShapeType="1"/>
            </p:cNvSpPr>
            <p:nvPr/>
          </p:nvSpPr>
          <p:spPr bwMode="auto">
            <a:xfrm flipV="1">
              <a:off x="1066800" y="1295400"/>
              <a:ext cx="5486400" cy="3429000"/>
            </a:xfrm>
            <a:prstGeom prst="line">
              <a:avLst/>
            </a:prstGeom>
            <a:noFill/>
            <a:ln w="38100">
              <a:solidFill>
                <a:schemeClr val="tx2"/>
              </a:solidFill>
              <a:round/>
              <a:headEnd type="none" w="sm" len="sm"/>
              <a:tailEnd type="none" w="sm" len="sm"/>
            </a:ln>
          </p:spPr>
          <p:txBody>
            <a:bodyPr wrap="none" anchor="ctr"/>
            <a:lstStyle/>
            <a:p>
              <a:endParaRPr lang="en-US"/>
            </a:p>
          </p:txBody>
        </p:sp>
        <p:sp>
          <p:nvSpPr>
            <p:cNvPr id="78" name="Line 1034"/>
            <p:cNvSpPr>
              <a:spLocks noChangeShapeType="1"/>
            </p:cNvSpPr>
            <p:nvPr/>
          </p:nvSpPr>
          <p:spPr bwMode="auto">
            <a:xfrm flipH="1">
              <a:off x="1066800" y="3810000"/>
              <a:ext cx="5562600" cy="0"/>
            </a:xfrm>
            <a:prstGeom prst="line">
              <a:avLst/>
            </a:prstGeom>
            <a:noFill/>
            <a:ln w="38100">
              <a:solidFill>
                <a:schemeClr val="accent2"/>
              </a:solidFill>
              <a:round/>
              <a:headEnd type="none" w="sm" len="sm"/>
              <a:tailEnd type="none" w="sm" len="sm"/>
            </a:ln>
          </p:spPr>
          <p:txBody>
            <a:bodyPr wrap="none" anchor="ctr"/>
            <a:lstStyle/>
            <a:p>
              <a:endParaRPr lang="en-US"/>
            </a:p>
          </p:txBody>
        </p:sp>
        <p:sp>
          <p:nvSpPr>
            <p:cNvPr id="79" name="Line 1035"/>
            <p:cNvSpPr>
              <a:spLocks noChangeShapeType="1"/>
            </p:cNvSpPr>
            <p:nvPr/>
          </p:nvSpPr>
          <p:spPr bwMode="auto">
            <a:xfrm>
              <a:off x="1066800" y="4267200"/>
              <a:ext cx="5562600" cy="0"/>
            </a:xfrm>
            <a:prstGeom prst="line">
              <a:avLst/>
            </a:prstGeom>
            <a:noFill/>
            <a:ln w="38100">
              <a:solidFill>
                <a:schemeClr val="folHlink"/>
              </a:solidFill>
              <a:round/>
              <a:headEnd type="none" w="sm" len="sm"/>
              <a:tailEnd type="none" w="sm" len="sm"/>
            </a:ln>
          </p:spPr>
          <p:txBody>
            <a:bodyPr wrap="none" anchor="ctr"/>
            <a:lstStyle/>
            <a:p>
              <a:endParaRPr lang="en-US"/>
            </a:p>
          </p:txBody>
        </p:sp>
        <p:sp>
          <p:nvSpPr>
            <p:cNvPr id="80" name="Line 1036"/>
            <p:cNvSpPr>
              <a:spLocks noChangeShapeType="1"/>
            </p:cNvSpPr>
            <p:nvPr/>
          </p:nvSpPr>
          <p:spPr bwMode="auto">
            <a:xfrm>
              <a:off x="1066800" y="609600"/>
              <a:ext cx="0" cy="5334000"/>
            </a:xfrm>
            <a:prstGeom prst="line">
              <a:avLst/>
            </a:prstGeom>
            <a:noFill/>
            <a:ln w="25400">
              <a:solidFill>
                <a:schemeClr val="tx1"/>
              </a:solidFill>
              <a:round/>
              <a:headEnd type="stealth" w="med" len="lg"/>
              <a:tailEnd type="none" w="sm" len="sm"/>
            </a:ln>
          </p:spPr>
          <p:txBody>
            <a:bodyPr wrap="none" anchor="ctr"/>
            <a:lstStyle/>
            <a:p>
              <a:endParaRPr lang="en-US"/>
            </a:p>
          </p:txBody>
        </p:sp>
        <p:sp>
          <p:nvSpPr>
            <p:cNvPr id="81" name="Rectangle 1037"/>
            <p:cNvSpPr>
              <a:spLocks noChangeArrowheads="1"/>
            </p:cNvSpPr>
            <p:nvPr/>
          </p:nvSpPr>
          <p:spPr bwMode="auto">
            <a:xfrm>
              <a:off x="6461125" y="898525"/>
              <a:ext cx="661777" cy="479268"/>
            </a:xfrm>
            <a:prstGeom prst="rect">
              <a:avLst/>
            </a:prstGeom>
            <a:noFill/>
            <a:ln w="9525">
              <a:noFill/>
              <a:miter lim="800000"/>
              <a:headEnd/>
              <a:tailEnd/>
            </a:ln>
          </p:spPr>
          <p:txBody>
            <a:bodyPr wrap="none" lIns="92075" tIns="46038" rIns="92075" bIns="46038">
              <a:spAutoFit/>
            </a:bodyPr>
            <a:lstStyle/>
            <a:p>
              <a:pPr defTabSz="762000"/>
              <a:r>
                <a:rPr lang="en-GB" sz="2000" b="0" i="1" dirty="0" err="1">
                  <a:solidFill>
                    <a:schemeClr val="tx2"/>
                  </a:solidFill>
                  <a:latin typeface="Arial" charset="0"/>
                </a:rPr>
                <a:t>S</a:t>
              </a:r>
              <a:r>
                <a:rPr lang="en-GB" b="0" baseline="-25000" dirty="0" err="1">
                  <a:solidFill>
                    <a:schemeClr val="tx2"/>
                  </a:solidFill>
                  <a:latin typeface="Arial" charset="0"/>
                </a:rPr>
                <a:t>dom</a:t>
              </a:r>
              <a:endParaRPr lang="en-GB" sz="2000" b="0" dirty="0">
                <a:solidFill>
                  <a:schemeClr val="tx2"/>
                </a:solidFill>
                <a:latin typeface="Arial" charset="0"/>
              </a:endParaRPr>
            </a:p>
          </p:txBody>
        </p:sp>
        <p:sp>
          <p:nvSpPr>
            <p:cNvPr id="82" name="Rectangle 1038"/>
            <p:cNvSpPr>
              <a:spLocks noChangeArrowheads="1"/>
            </p:cNvSpPr>
            <p:nvPr/>
          </p:nvSpPr>
          <p:spPr bwMode="auto">
            <a:xfrm>
              <a:off x="6613525" y="3565525"/>
              <a:ext cx="1563688" cy="457200"/>
            </a:xfrm>
            <a:prstGeom prst="rect">
              <a:avLst/>
            </a:prstGeom>
            <a:noFill/>
            <a:ln w="9525">
              <a:noFill/>
              <a:miter lim="800000"/>
              <a:headEnd/>
              <a:tailEnd/>
            </a:ln>
          </p:spPr>
          <p:txBody>
            <a:bodyPr wrap="none" lIns="92075" tIns="46038" rIns="92075" bIns="46038">
              <a:spAutoFit/>
            </a:bodyPr>
            <a:lstStyle/>
            <a:p>
              <a:pPr defTabSz="762000"/>
              <a:r>
                <a:rPr lang="en-GB" sz="2000" b="0" i="1">
                  <a:solidFill>
                    <a:schemeClr val="accent2"/>
                  </a:solidFill>
                  <a:latin typeface="Arial" charset="0"/>
                </a:rPr>
                <a:t>S </a:t>
              </a:r>
              <a:r>
                <a:rPr lang="en-GB" b="0" baseline="-25000">
                  <a:solidFill>
                    <a:schemeClr val="accent2"/>
                  </a:solidFill>
                  <a:latin typeface="Arial" charset="0"/>
                </a:rPr>
                <a:t>world</a:t>
              </a:r>
              <a:r>
                <a:rPr lang="en-GB" b="0" i="1">
                  <a:solidFill>
                    <a:schemeClr val="accent2"/>
                  </a:solidFill>
                  <a:latin typeface="Arial" charset="0"/>
                </a:rPr>
                <a:t> </a:t>
              </a:r>
              <a:r>
                <a:rPr lang="en-GB" b="0" baseline="-25000">
                  <a:solidFill>
                    <a:schemeClr val="accent2"/>
                  </a:solidFill>
                  <a:latin typeface="Arial" charset="0"/>
                </a:rPr>
                <a:t>+ tariff</a:t>
              </a:r>
            </a:p>
          </p:txBody>
        </p:sp>
        <p:sp>
          <p:nvSpPr>
            <p:cNvPr id="83" name="Rectangle 1039"/>
            <p:cNvSpPr>
              <a:spLocks noChangeArrowheads="1"/>
            </p:cNvSpPr>
            <p:nvPr/>
          </p:nvSpPr>
          <p:spPr bwMode="auto">
            <a:xfrm>
              <a:off x="6613525" y="4068763"/>
              <a:ext cx="909638" cy="396875"/>
            </a:xfrm>
            <a:prstGeom prst="rect">
              <a:avLst/>
            </a:prstGeom>
            <a:noFill/>
            <a:ln w="9525">
              <a:noFill/>
              <a:miter lim="800000"/>
              <a:headEnd/>
              <a:tailEnd/>
            </a:ln>
          </p:spPr>
          <p:txBody>
            <a:bodyPr wrap="none" lIns="92075" tIns="46038" rIns="92075" bIns="46038">
              <a:spAutoFit/>
            </a:bodyPr>
            <a:lstStyle/>
            <a:p>
              <a:pPr defTabSz="762000"/>
              <a:r>
                <a:rPr lang="en-GB" sz="2000" b="0" i="1">
                  <a:solidFill>
                    <a:schemeClr val="folHlink"/>
                  </a:solidFill>
                  <a:latin typeface="Arial" charset="0"/>
                </a:rPr>
                <a:t>S </a:t>
              </a:r>
              <a:r>
                <a:rPr lang="en-GB" b="0" baseline="-25000">
                  <a:solidFill>
                    <a:schemeClr val="folHlink"/>
                  </a:solidFill>
                  <a:latin typeface="Arial" charset="0"/>
                </a:rPr>
                <a:t>world</a:t>
              </a:r>
            </a:p>
          </p:txBody>
        </p:sp>
        <p:sp>
          <p:nvSpPr>
            <p:cNvPr id="84" name="Rectangle 1040"/>
            <p:cNvSpPr>
              <a:spLocks noChangeArrowheads="1"/>
            </p:cNvSpPr>
            <p:nvPr/>
          </p:nvSpPr>
          <p:spPr bwMode="auto">
            <a:xfrm>
              <a:off x="1050925" y="1173163"/>
              <a:ext cx="325438" cy="396875"/>
            </a:xfrm>
            <a:prstGeom prst="rect">
              <a:avLst/>
            </a:prstGeom>
            <a:noFill/>
            <a:ln w="9525">
              <a:noFill/>
              <a:miter lim="800000"/>
              <a:headEnd/>
              <a:tailEnd/>
            </a:ln>
          </p:spPr>
          <p:txBody>
            <a:bodyPr wrap="none" lIns="92075" tIns="46038" rIns="92075" bIns="46038">
              <a:spAutoFit/>
            </a:bodyPr>
            <a:lstStyle/>
            <a:p>
              <a:pPr defTabSz="762000"/>
              <a:r>
                <a:rPr lang="en-GB" sz="2000" b="0" i="1">
                  <a:solidFill>
                    <a:schemeClr val="hlink"/>
                  </a:solidFill>
                  <a:latin typeface="Arial" charset="0"/>
                </a:rPr>
                <a:t>a</a:t>
              </a:r>
            </a:p>
          </p:txBody>
        </p:sp>
        <p:sp>
          <p:nvSpPr>
            <p:cNvPr id="85" name="Rectangle 1042"/>
            <p:cNvSpPr>
              <a:spLocks noChangeArrowheads="1"/>
            </p:cNvSpPr>
            <p:nvPr/>
          </p:nvSpPr>
          <p:spPr bwMode="auto">
            <a:xfrm>
              <a:off x="4556125" y="3459163"/>
              <a:ext cx="339725" cy="396875"/>
            </a:xfrm>
            <a:prstGeom prst="rect">
              <a:avLst/>
            </a:prstGeom>
            <a:noFill/>
            <a:ln w="9525">
              <a:noFill/>
              <a:miter lim="800000"/>
              <a:headEnd/>
              <a:tailEnd/>
            </a:ln>
          </p:spPr>
          <p:txBody>
            <a:bodyPr wrap="none" lIns="92075" tIns="46038" rIns="92075" bIns="46038">
              <a:spAutoFit/>
            </a:bodyPr>
            <a:lstStyle/>
            <a:p>
              <a:pPr defTabSz="762000"/>
              <a:r>
                <a:rPr lang="en-GB" sz="2000" i="1" dirty="0">
                  <a:solidFill>
                    <a:schemeClr val="hlink"/>
                  </a:solidFill>
                  <a:latin typeface="Arial" charset="0"/>
                </a:rPr>
                <a:t>d</a:t>
              </a:r>
            </a:p>
          </p:txBody>
        </p:sp>
        <p:sp>
          <p:nvSpPr>
            <p:cNvPr id="86" name="Rectangle 1043"/>
            <p:cNvSpPr>
              <a:spLocks noChangeArrowheads="1"/>
            </p:cNvSpPr>
            <p:nvPr/>
          </p:nvSpPr>
          <p:spPr bwMode="auto">
            <a:xfrm>
              <a:off x="1050925" y="3382963"/>
              <a:ext cx="325438" cy="396875"/>
            </a:xfrm>
            <a:prstGeom prst="rect">
              <a:avLst/>
            </a:prstGeom>
            <a:noFill/>
            <a:ln w="9525">
              <a:noFill/>
              <a:miter lim="800000"/>
              <a:headEnd/>
              <a:tailEnd/>
            </a:ln>
          </p:spPr>
          <p:txBody>
            <a:bodyPr wrap="none" lIns="92075" tIns="46038" rIns="92075" bIns="46038">
              <a:spAutoFit/>
            </a:bodyPr>
            <a:lstStyle/>
            <a:p>
              <a:pPr defTabSz="762000"/>
              <a:r>
                <a:rPr lang="en-GB" sz="2000" i="1">
                  <a:solidFill>
                    <a:schemeClr val="hlink"/>
                  </a:solidFill>
                  <a:latin typeface="Arial" charset="0"/>
                </a:rPr>
                <a:t>e</a:t>
              </a:r>
            </a:p>
          </p:txBody>
        </p:sp>
        <p:sp>
          <p:nvSpPr>
            <p:cNvPr id="87" name="Rectangle 1044"/>
            <p:cNvSpPr>
              <a:spLocks noChangeArrowheads="1"/>
            </p:cNvSpPr>
            <p:nvPr/>
          </p:nvSpPr>
          <p:spPr bwMode="auto">
            <a:xfrm>
              <a:off x="1050925" y="3916363"/>
              <a:ext cx="325438" cy="396875"/>
            </a:xfrm>
            <a:prstGeom prst="rect">
              <a:avLst/>
            </a:prstGeom>
            <a:noFill/>
            <a:ln w="9525">
              <a:noFill/>
              <a:miter lim="800000"/>
              <a:headEnd/>
              <a:tailEnd/>
            </a:ln>
          </p:spPr>
          <p:txBody>
            <a:bodyPr wrap="none" lIns="92075" tIns="46038" rIns="92075" bIns="46038">
              <a:spAutoFit/>
            </a:bodyPr>
            <a:lstStyle/>
            <a:p>
              <a:pPr defTabSz="762000"/>
              <a:r>
                <a:rPr lang="en-GB" sz="2000" i="1" dirty="0">
                  <a:solidFill>
                    <a:schemeClr val="hlink"/>
                  </a:solidFill>
                  <a:latin typeface="Arial" charset="0"/>
                </a:rPr>
                <a:t>c</a:t>
              </a:r>
            </a:p>
          </p:txBody>
        </p:sp>
        <p:sp>
          <p:nvSpPr>
            <p:cNvPr id="88" name="Rectangle 1045"/>
            <p:cNvSpPr>
              <a:spLocks noChangeArrowheads="1"/>
            </p:cNvSpPr>
            <p:nvPr/>
          </p:nvSpPr>
          <p:spPr bwMode="auto">
            <a:xfrm>
              <a:off x="5241925" y="3916363"/>
              <a:ext cx="339725" cy="396875"/>
            </a:xfrm>
            <a:prstGeom prst="rect">
              <a:avLst/>
            </a:prstGeom>
            <a:noFill/>
            <a:ln w="9525">
              <a:noFill/>
              <a:miter lim="800000"/>
              <a:headEnd/>
              <a:tailEnd/>
            </a:ln>
          </p:spPr>
          <p:txBody>
            <a:bodyPr wrap="none" lIns="92075" tIns="46038" rIns="92075" bIns="46038">
              <a:spAutoFit/>
            </a:bodyPr>
            <a:lstStyle/>
            <a:p>
              <a:pPr defTabSz="762000"/>
              <a:r>
                <a:rPr lang="en-GB" sz="2000" i="1" dirty="0">
                  <a:solidFill>
                    <a:schemeClr val="hlink"/>
                  </a:solidFill>
                  <a:latin typeface="Arial" charset="0"/>
                </a:rPr>
                <a:t>b</a:t>
              </a:r>
            </a:p>
          </p:txBody>
        </p:sp>
        <p:sp>
          <p:nvSpPr>
            <p:cNvPr id="89" name="Line 1046"/>
            <p:cNvSpPr>
              <a:spLocks noChangeShapeType="1"/>
            </p:cNvSpPr>
            <p:nvPr/>
          </p:nvSpPr>
          <p:spPr bwMode="auto">
            <a:xfrm>
              <a:off x="1787525" y="4267200"/>
              <a:ext cx="0" cy="1676400"/>
            </a:xfrm>
            <a:prstGeom prst="line">
              <a:avLst/>
            </a:prstGeom>
            <a:noFill/>
            <a:ln w="19050">
              <a:solidFill>
                <a:schemeClr val="folHlink"/>
              </a:solidFill>
              <a:prstDash val="dash"/>
              <a:round/>
              <a:headEnd type="none" w="sm" len="sm"/>
              <a:tailEnd type="none" w="sm" len="sm"/>
            </a:ln>
          </p:spPr>
          <p:txBody>
            <a:bodyPr wrap="none" anchor="ctr"/>
            <a:lstStyle/>
            <a:p>
              <a:endParaRPr lang="en-US"/>
            </a:p>
          </p:txBody>
        </p:sp>
        <p:sp>
          <p:nvSpPr>
            <p:cNvPr id="90" name="Line 1047"/>
            <p:cNvSpPr>
              <a:spLocks noChangeShapeType="1"/>
            </p:cNvSpPr>
            <p:nvPr/>
          </p:nvSpPr>
          <p:spPr bwMode="auto">
            <a:xfrm>
              <a:off x="5281613" y="4262438"/>
              <a:ext cx="0" cy="1665287"/>
            </a:xfrm>
            <a:prstGeom prst="line">
              <a:avLst/>
            </a:prstGeom>
            <a:noFill/>
            <a:ln w="19050">
              <a:solidFill>
                <a:schemeClr val="folHlink"/>
              </a:solidFill>
              <a:prstDash val="dash"/>
              <a:round/>
              <a:headEnd type="none" w="sm" len="sm"/>
              <a:tailEnd type="none" w="sm" len="sm"/>
            </a:ln>
          </p:spPr>
          <p:txBody>
            <a:bodyPr wrap="none" anchor="ctr"/>
            <a:lstStyle/>
            <a:p>
              <a:endParaRPr lang="en-US"/>
            </a:p>
          </p:txBody>
        </p:sp>
        <p:sp>
          <p:nvSpPr>
            <p:cNvPr id="91" name="Rectangle 1048"/>
            <p:cNvSpPr>
              <a:spLocks noChangeArrowheads="1"/>
            </p:cNvSpPr>
            <p:nvPr/>
          </p:nvSpPr>
          <p:spPr bwMode="auto">
            <a:xfrm>
              <a:off x="1579563" y="5959475"/>
              <a:ext cx="473075" cy="396875"/>
            </a:xfrm>
            <a:prstGeom prst="rect">
              <a:avLst/>
            </a:prstGeom>
            <a:noFill/>
            <a:ln w="9525">
              <a:noFill/>
              <a:miter lim="800000"/>
              <a:headEnd/>
              <a:tailEnd/>
            </a:ln>
          </p:spPr>
          <p:txBody>
            <a:bodyPr wrap="none" lIns="92075" tIns="46038" rIns="92075" bIns="46038">
              <a:spAutoFit/>
            </a:bodyPr>
            <a:lstStyle/>
            <a:p>
              <a:pPr algn="ctr" defTabSz="762000"/>
              <a:r>
                <a:rPr lang="en-GB" sz="2000" b="0" i="1" dirty="0">
                  <a:solidFill>
                    <a:schemeClr val="folHlink"/>
                  </a:solidFill>
                  <a:latin typeface="Arial" charset="0"/>
                </a:rPr>
                <a:t>Q</a:t>
              </a:r>
              <a:r>
                <a:rPr lang="en-GB" sz="2000" b="0" baseline="-25000" dirty="0">
                  <a:solidFill>
                    <a:schemeClr val="folHlink"/>
                  </a:solidFill>
                  <a:latin typeface="Arial" charset="0"/>
                </a:rPr>
                <a:t>1</a:t>
              </a:r>
            </a:p>
          </p:txBody>
        </p:sp>
        <p:sp>
          <p:nvSpPr>
            <p:cNvPr id="92" name="Rectangle 1049"/>
            <p:cNvSpPr>
              <a:spLocks noChangeArrowheads="1"/>
            </p:cNvSpPr>
            <p:nvPr/>
          </p:nvSpPr>
          <p:spPr bwMode="auto">
            <a:xfrm>
              <a:off x="5048250" y="5942013"/>
              <a:ext cx="473075" cy="396875"/>
            </a:xfrm>
            <a:prstGeom prst="rect">
              <a:avLst/>
            </a:prstGeom>
            <a:noFill/>
            <a:ln w="9525">
              <a:noFill/>
              <a:miter lim="800000"/>
              <a:headEnd/>
              <a:tailEnd/>
            </a:ln>
          </p:spPr>
          <p:txBody>
            <a:bodyPr wrap="none" lIns="92075" tIns="46038" rIns="92075" bIns="46038">
              <a:spAutoFit/>
            </a:bodyPr>
            <a:lstStyle/>
            <a:p>
              <a:pPr algn="ctr" defTabSz="762000"/>
              <a:r>
                <a:rPr lang="en-GB" sz="2000" b="0" i="1" dirty="0">
                  <a:solidFill>
                    <a:schemeClr val="folHlink"/>
                  </a:solidFill>
                  <a:latin typeface="Arial" charset="0"/>
                </a:rPr>
                <a:t>Q</a:t>
              </a:r>
              <a:r>
                <a:rPr lang="en-GB" sz="2000" b="0" baseline="-25000" dirty="0">
                  <a:solidFill>
                    <a:schemeClr val="folHlink"/>
                  </a:solidFill>
                  <a:latin typeface="Arial" charset="0"/>
                </a:rPr>
                <a:t>2</a:t>
              </a:r>
            </a:p>
          </p:txBody>
        </p:sp>
        <p:sp>
          <p:nvSpPr>
            <p:cNvPr id="93" name="Line 1051"/>
            <p:cNvSpPr>
              <a:spLocks noChangeShapeType="1"/>
            </p:cNvSpPr>
            <p:nvPr/>
          </p:nvSpPr>
          <p:spPr bwMode="auto">
            <a:xfrm>
              <a:off x="2530475" y="3819525"/>
              <a:ext cx="0" cy="2092325"/>
            </a:xfrm>
            <a:prstGeom prst="line">
              <a:avLst/>
            </a:prstGeom>
            <a:noFill/>
            <a:ln w="19050">
              <a:solidFill>
                <a:schemeClr val="accent2"/>
              </a:solidFill>
              <a:prstDash val="dash"/>
              <a:round/>
              <a:headEnd type="none" w="sm" len="sm"/>
              <a:tailEnd type="none" w="sm" len="sm"/>
            </a:ln>
          </p:spPr>
          <p:txBody>
            <a:bodyPr wrap="none" anchor="ctr"/>
            <a:lstStyle/>
            <a:p>
              <a:endParaRPr lang="en-US"/>
            </a:p>
          </p:txBody>
        </p:sp>
        <p:sp>
          <p:nvSpPr>
            <p:cNvPr id="94" name="Rectangle 1052"/>
            <p:cNvSpPr>
              <a:spLocks noChangeArrowheads="1"/>
            </p:cNvSpPr>
            <p:nvPr/>
          </p:nvSpPr>
          <p:spPr bwMode="auto">
            <a:xfrm>
              <a:off x="2311400" y="5943600"/>
              <a:ext cx="473075" cy="396875"/>
            </a:xfrm>
            <a:prstGeom prst="rect">
              <a:avLst/>
            </a:prstGeom>
            <a:noFill/>
            <a:ln w="9525">
              <a:noFill/>
              <a:miter lim="800000"/>
              <a:headEnd/>
              <a:tailEnd/>
            </a:ln>
          </p:spPr>
          <p:txBody>
            <a:bodyPr wrap="none" lIns="92075" tIns="46038" rIns="92075" bIns="46038">
              <a:spAutoFit/>
            </a:bodyPr>
            <a:lstStyle/>
            <a:p>
              <a:pPr algn="ctr" defTabSz="762000"/>
              <a:r>
                <a:rPr lang="en-GB" sz="2000" b="0" i="1">
                  <a:solidFill>
                    <a:schemeClr val="accent2"/>
                  </a:solidFill>
                  <a:latin typeface="Arial" charset="0"/>
                </a:rPr>
                <a:t>Q</a:t>
              </a:r>
              <a:r>
                <a:rPr lang="en-GB" sz="2000" b="0" baseline="-25000">
                  <a:solidFill>
                    <a:schemeClr val="accent2"/>
                  </a:solidFill>
                  <a:latin typeface="Arial" charset="0"/>
                </a:rPr>
                <a:t>3</a:t>
              </a:r>
            </a:p>
          </p:txBody>
        </p:sp>
        <p:sp>
          <p:nvSpPr>
            <p:cNvPr id="95" name="Line 1054"/>
            <p:cNvSpPr>
              <a:spLocks noChangeShapeType="1"/>
            </p:cNvSpPr>
            <p:nvPr/>
          </p:nvSpPr>
          <p:spPr bwMode="auto">
            <a:xfrm>
              <a:off x="4554538" y="3819525"/>
              <a:ext cx="0" cy="2108200"/>
            </a:xfrm>
            <a:prstGeom prst="line">
              <a:avLst/>
            </a:prstGeom>
            <a:noFill/>
            <a:ln w="19050">
              <a:solidFill>
                <a:schemeClr val="accent2"/>
              </a:solidFill>
              <a:prstDash val="dash"/>
              <a:round/>
              <a:headEnd type="none" w="sm" len="sm"/>
              <a:tailEnd type="none" w="sm" len="sm"/>
            </a:ln>
          </p:spPr>
          <p:txBody>
            <a:bodyPr wrap="none" anchor="ctr"/>
            <a:lstStyle/>
            <a:p>
              <a:endParaRPr lang="en-US"/>
            </a:p>
          </p:txBody>
        </p:sp>
        <p:sp>
          <p:nvSpPr>
            <p:cNvPr id="96" name="Rectangle 1055"/>
            <p:cNvSpPr>
              <a:spLocks noChangeArrowheads="1"/>
            </p:cNvSpPr>
            <p:nvPr/>
          </p:nvSpPr>
          <p:spPr bwMode="auto">
            <a:xfrm>
              <a:off x="4335463" y="5942013"/>
              <a:ext cx="473075" cy="396875"/>
            </a:xfrm>
            <a:prstGeom prst="rect">
              <a:avLst/>
            </a:prstGeom>
            <a:noFill/>
            <a:ln w="9525">
              <a:noFill/>
              <a:miter lim="800000"/>
              <a:headEnd/>
              <a:tailEnd/>
            </a:ln>
          </p:spPr>
          <p:txBody>
            <a:bodyPr wrap="none" lIns="92075" tIns="46038" rIns="92075" bIns="46038">
              <a:spAutoFit/>
            </a:bodyPr>
            <a:lstStyle/>
            <a:p>
              <a:pPr algn="ctr" defTabSz="762000"/>
              <a:r>
                <a:rPr lang="en-GB" sz="2000" b="0" i="1">
                  <a:solidFill>
                    <a:schemeClr val="accent2"/>
                  </a:solidFill>
                  <a:latin typeface="Arial" charset="0"/>
                </a:rPr>
                <a:t>Q</a:t>
              </a:r>
              <a:r>
                <a:rPr lang="en-GB" sz="2000" b="0" baseline="-25000">
                  <a:solidFill>
                    <a:schemeClr val="accent2"/>
                  </a:solidFill>
                  <a:latin typeface="Arial" charset="0"/>
                </a:rPr>
                <a:t>4</a:t>
              </a:r>
            </a:p>
          </p:txBody>
        </p:sp>
        <p:sp>
          <p:nvSpPr>
            <p:cNvPr id="97" name="Line 1057"/>
            <p:cNvSpPr>
              <a:spLocks noChangeShapeType="1"/>
            </p:cNvSpPr>
            <p:nvPr/>
          </p:nvSpPr>
          <p:spPr bwMode="auto">
            <a:xfrm>
              <a:off x="982663" y="3819525"/>
              <a:ext cx="0" cy="442913"/>
            </a:xfrm>
            <a:prstGeom prst="line">
              <a:avLst/>
            </a:prstGeom>
            <a:noFill/>
            <a:ln w="12700">
              <a:solidFill>
                <a:schemeClr val="accent1"/>
              </a:solidFill>
              <a:round/>
              <a:headEnd type="stealth" w="med" len="med"/>
              <a:tailEnd type="stealth" w="med" len="med"/>
            </a:ln>
          </p:spPr>
          <p:txBody>
            <a:bodyPr wrap="none" anchor="ctr"/>
            <a:lstStyle/>
            <a:p>
              <a:endParaRPr lang="en-US"/>
            </a:p>
          </p:txBody>
        </p:sp>
        <p:sp>
          <p:nvSpPr>
            <p:cNvPr id="98" name="Rectangle 1058"/>
            <p:cNvSpPr>
              <a:spLocks noChangeArrowheads="1"/>
            </p:cNvSpPr>
            <p:nvPr/>
          </p:nvSpPr>
          <p:spPr bwMode="auto">
            <a:xfrm>
              <a:off x="211138" y="3800475"/>
              <a:ext cx="762000" cy="396875"/>
            </a:xfrm>
            <a:prstGeom prst="rect">
              <a:avLst/>
            </a:prstGeom>
            <a:noFill/>
            <a:ln w="9525">
              <a:noFill/>
              <a:miter lim="800000"/>
              <a:headEnd/>
              <a:tailEnd/>
            </a:ln>
          </p:spPr>
          <p:txBody>
            <a:bodyPr wrap="none" lIns="92075" tIns="46038" rIns="92075" bIns="46038">
              <a:spAutoFit/>
            </a:bodyPr>
            <a:lstStyle/>
            <a:p>
              <a:pPr algn="r" defTabSz="762000"/>
              <a:r>
                <a:rPr lang="en-GB" sz="2000" b="0" dirty="0">
                  <a:solidFill>
                    <a:schemeClr val="accent1"/>
                  </a:solidFill>
                  <a:latin typeface="Arial" charset="0"/>
                </a:rPr>
                <a:t>Tariff</a:t>
              </a:r>
            </a:p>
          </p:txBody>
        </p:sp>
        <p:sp>
          <p:nvSpPr>
            <p:cNvPr id="99" name="Rectangle 1059"/>
            <p:cNvSpPr>
              <a:spLocks noChangeArrowheads="1"/>
            </p:cNvSpPr>
            <p:nvPr/>
          </p:nvSpPr>
          <p:spPr bwMode="auto">
            <a:xfrm>
              <a:off x="339926" y="3460750"/>
              <a:ext cx="769736" cy="415455"/>
            </a:xfrm>
            <a:prstGeom prst="rect">
              <a:avLst/>
            </a:prstGeom>
            <a:noFill/>
            <a:ln w="9525">
              <a:noFill/>
              <a:miter lim="800000"/>
              <a:headEnd/>
              <a:tailEnd/>
            </a:ln>
          </p:spPr>
          <p:txBody>
            <a:bodyPr wrap="none" lIns="92075" tIns="46038" rIns="92075" bIns="46038">
              <a:spAutoFit/>
            </a:bodyPr>
            <a:lstStyle/>
            <a:p>
              <a:pPr algn="r" defTabSz="762000"/>
              <a:r>
                <a:rPr lang="en-GB" sz="2000" b="0" i="1" dirty="0">
                  <a:solidFill>
                    <a:schemeClr val="accent2"/>
                  </a:solidFill>
                  <a:latin typeface="Arial" charset="0"/>
                </a:rPr>
                <a:t>P</a:t>
              </a:r>
              <a:r>
                <a:rPr lang="en-GB" sz="2000" b="0" baseline="-25000" dirty="0">
                  <a:solidFill>
                    <a:schemeClr val="accent2"/>
                  </a:solidFill>
                  <a:latin typeface="Arial" charset="0"/>
                </a:rPr>
                <a:t>W</a:t>
              </a:r>
              <a:r>
                <a:rPr lang="en-GB" sz="2000" b="0" dirty="0">
                  <a:solidFill>
                    <a:schemeClr val="accent2"/>
                  </a:solidFill>
                  <a:latin typeface="Arial" charset="0"/>
                </a:rPr>
                <a:t> + t</a:t>
              </a:r>
            </a:p>
          </p:txBody>
        </p:sp>
        <p:sp>
          <p:nvSpPr>
            <p:cNvPr id="100" name="Rectangle 1060"/>
            <p:cNvSpPr>
              <a:spLocks noChangeArrowheads="1"/>
            </p:cNvSpPr>
            <p:nvPr/>
          </p:nvSpPr>
          <p:spPr bwMode="auto">
            <a:xfrm>
              <a:off x="498475" y="4087813"/>
              <a:ext cx="509588" cy="396875"/>
            </a:xfrm>
            <a:prstGeom prst="rect">
              <a:avLst/>
            </a:prstGeom>
            <a:noFill/>
            <a:ln w="9525">
              <a:noFill/>
              <a:miter lim="800000"/>
              <a:headEnd/>
              <a:tailEnd/>
            </a:ln>
          </p:spPr>
          <p:txBody>
            <a:bodyPr wrap="none" lIns="92075" tIns="46038" rIns="92075" bIns="46038">
              <a:spAutoFit/>
            </a:bodyPr>
            <a:lstStyle/>
            <a:p>
              <a:pPr algn="r" defTabSz="762000"/>
              <a:r>
                <a:rPr lang="en-GB" sz="2000" b="0" i="1" dirty="0">
                  <a:solidFill>
                    <a:schemeClr val="folHlink"/>
                  </a:solidFill>
                  <a:latin typeface="Arial" charset="0"/>
                </a:rPr>
                <a:t>P</a:t>
              </a:r>
              <a:r>
                <a:rPr lang="en-GB" sz="2000" b="0" baseline="-25000" dirty="0">
                  <a:solidFill>
                    <a:schemeClr val="folHlink"/>
                  </a:solidFill>
                  <a:latin typeface="Arial" charset="0"/>
                </a:rPr>
                <a:t>W</a:t>
              </a:r>
            </a:p>
          </p:txBody>
        </p:sp>
        <p:sp>
          <p:nvSpPr>
            <p:cNvPr id="101" name="Rectangle 1061"/>
            <p:cNvSpPr>
              <a:spLocks noChangeArrowheads="1"/>
            </p:cNvSpPr>
            <p:nvPr/>
          </p:nvSpPr>
          <p:spPr bwMode="auto">
            <a:xfrm>
              <a:off x="7378700" y="5467350"/>
              <a:ext cx="763588" cy="396875"/>
            </a:xfrm>
            <a:prstGeom prst="rect">
              <a:avLst/>
            </a:prstGeom>
            <a:noFill/>
            <a:ln w="9525">
              <a:noFill/>
              <a:miter lim="800000"/>
              <a:headEnd/>
              <a:tailEnd/>
            </a:ln>
          </p:spPr>
          <p:txBody>
            <a:bodyPr wrap="none" lIns="92075" tIns="46038" rIns="92075" bIns="46038">
              <a:spAutoFit/>
            </a:bodyPr>
            <a:lstStyle/>
            <a:p>
              <a:pPr defTabSz="762000"/>
              <a:r>
                <a:rPr lang="en-GB" sz="2000" b="0" i="1">
                  <a:solidFill>
                    <a:schemeClr val="tx2"/>
                  </a:solidFill>
                  <a:latin typeface="Arial" charset="0"/>
                </a:rPr>
                <a:t>D</a:t>
              </a:r>
              <a:r>
                <a:rPr lang="en-GB" b="0" baseline="-25000">
                  <a:solidFill>
                    <a:schemeClr val="tx2"/>
                  </a:solidFill>
                  <a:latin typeface="Arial" charset="0"/>
                </a:rPr>
                <a:t>dom</a:t>
              </a:r>
            </a:p>
          </p:txBody>
        </p:sp>
        <p:sp>
          <p:nvSpPr>
            <p:cNvPr id="102" name="AutoShape 1063" descr="Parchment"/>
            <p:cNvSpPr>
              <a:spLocks noChangeArrowheads="1"/>
            </p:cNvSpPr>
            <p:nvPr/>
          </p:nvSpPr>
          <p:spPr bwMode="auto">
            <a:xfrm>
              <a:off x="1895475" y="922338"/>
              <a:ext cx="2944813" cy="857250"/>
            </a:xfrm>
            <a:prstGeom prst="roundRect">
              <a:avLst>
                <a:gd name="adj" fmla="val 16667"/>
              </a:avLst>
            </a:prstGeom>
            <a:blipFill dpi="0" rotWithShape="0">
              <a:blip r:embed="rId4" cstate="print"/>
              <a:srcRect/>
              <a:tile tx="0" ty="0" sx="100000" sy="100000" flip="none" algn="tl"/>
            </a:blipFill>
            <a:ln w="28575">
              <a:solidFill>
                <a:schemeClr val="accent1"/>
              </a:solidFill>
              <a:round/>
              <a:headEnd type="none" w="sm" len="sm"/>
              <a:tailEnd type="none" w="sm" len="sm"/>
            </a:ln>
          </p:spPr>
          <p:txBody>
            <a:bodyPr wrap="none" anchor="ctr"/>
            <a:lstStyle/>
            <a:p>
              <a:pPr algn="ctr" defTabSz="762000"/>
              <a:r>
                <a:rPr lang="en-GB" sz="2000">
                  <a:solidFill>
                    <a:schemeClr val="accent2"/>
                  </a:solidFill>
                  <a:latin typeface="Arial" charset="0"/>
                </a:rPr>
                <a:t>Area </a:t>
              </a:r>
              <a:r>
                <a:rPr lang="en-GB" sz="2000" i="1">
                  <a:solidFill>
                    <a:schemeClr val="accent2"/>
                  </a:solidFill>
                  <a:latin typeface="Arial" charset="0"/>
                </a:rPr>
                <a:t>edbc</a:t>
              </a:r>
              <a:r>
                <a:rPr lang="en-GB" sz="2000">
                  <a:solidFill>
                    <a:schemeClr val="accent2"/>
                  </a:solidFill>
                  <a:latin typeface="Arial" charset="0"/>
                </a:rPr>
                <a:t> equals loss</a:t>
              </a:r>
            </a:p>
            <a:p>
              <a:pPr algn="ctr" defTabSz="762000"/>
              <a:r>
                <a:rPr lang="en-GB" sz="2000">
                  <a:solidFill>
                    <a:schemeClr val="accent2"/>
                  </a:solidFill>
                  <a:latin typeface="Arial" charset="0"/>
                </a:rPr>
                <a:t>of consumer surplus</a:t>
              </a:r>
            </a:p>
          </p:txBody>
        </p:sp>
      </p:grpSp>
    </p:spTree>
  </p:cSld>
  <p:clrMapOvr>
    <a:masterClrMapping/>
  </p:clrMapOvr>
  <p:transition spd="slow">
    <p:zoom/>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itle 3"/>
          <p:cNvSpPr>
            <a:spLocks noGrp="1"/>
          </p:cNvSpPr>
          <p:nvPr>
            <p:ph type="title" idx="4294967295"/>
          </p:nvPr>
        </p:nvSpPr>
        <p:spPr>
          <a:xfrm>
            <a:off x="0" y="319088"/>
            <a:ext cx="9144000" cy="563562"/>
          </a:xfrm>
        </p:spPr>
        <p:txBody>
          <a:bodyPr/>
          <a:lstStyle/>
          <a:p>
            <a:pPr algn="ctr"/>
            <a:r>
              <a:rPr lang="en-US" altLang="zh-CN" sz="3200" b="1" dirty="0">
                <a:solidFill>
                  <a:srgbClr val="FDC52B"/>
                </a:solidFill>
                <a:latin typeface="Times New Roman" pitchFamily="18" charset="0"/>
                <a:ea typeface="SimSun" pitchFamily="2" charset="-122"/>
              </a:rPr>
              <a:t>IMPACT OF TRADE POLICY</a:t>
            </a:r>
          </a:p>
        </p:txBody>
      </p:sp>
      <p:sp>
        <p:nvSpPr>
          <p:cNvPr id="8195" name="Rectangle 1028"/>
          <p:cNvSpPr>
            <a:spLocks noGrp="1" noChangeArrowheads="1"/>
          </p:cNvSpPr>
          <p:nvPr>
            <p:ph type="body" idx="4294967295"/>
          </p:nvPr>
        </p:nvSpPr>
        <p:spPr>
          <a:xfrm>
            <a:off x="683568" y="1240681"/>
            <a:ext cx="7848872" cy="4708599"/>
          </a:xfrm>
          <a:ln>
            <a:noFill/>
          </a:ln>
        </p:spPr>
        <p:txBody>
          <a:bodyPr/>
          <a:lstStyle/>
          <a:p>
            <a:pPr lvl="1" eaLnBrk="1" hangingPunct="1">
              <a:lnSpc>
                <a:spcPct val="150000"/>
              </a:lnSpc>
              <a:spcBef>
                <a:spcPct val="50000"/>
              </a:spcBef>
              <a:buFont typeface="Wingdings" pitchFamily="2" charset="2"/>
              <a:buNone/>
            </a:pPr>
            <a:r>
              <a:rPr lang="en-US" altLang="zh-TW" dirty="0">
                <a:solidFill>
                  <a:srgbClr val="B1E2FB"/>
                </a:solidFill>
                <a:latin typeface="Times New Roman" pitchFamily="18" charset="0"/>
                <a:ea typeface="PMingLiU" pitchFamily="18" charset="-120"/>
              </a:rPr>
              <a:t>Impact of a government’s restricting international trade (protection)</a:t>
            </a:r>
          </a:p>
          <a:p>
            <a:pPr lvl="1" eaLnBrk="1" hangingPunct="1">
              <a:lnSpc>
                <a:spcPct val="150000"/>
              </a:lnSpc>
              <a:spcBef>
                <a:spcPct val="50000"/>
              </a:spcBef>
              <a:buClr>
                <a:schemeClr val="tx1">
                  <a:lumMod val="75000"/>
                </a:schemeClr>
              </a:buClr>
              <a:buFont typeface="Arial" pitchFamily="34" charset="0"/>
              <a:buChar char="•"/>
            </a:pPr>
            <a:r>
              <a:rPr lang="en-US" altLang="zh-TW" dirty="0">
                <a:solidFill>
                  <a:srgbClr val="B1E2FB"/>
                </a:solidFill>
                <a:latin typeface="Times New Roman" pitchFamily="18" charset="0"/>
                <a:ea typeface="PMingLiU" pitchFamily="18" charset="-120"/>
                <a:cs typeface="Times New Roman" pitchFamily="18" charset="0"/>
              </a:rPr>
              <a:t>Good for domestic producers</a:t>
            </a:r>
          </a:p>
          <a:p>
            <a:pPr lvl="1" eaLnBrk="1" hangingPunct="1">
              <a:lnSpc>
                <a:spcPct val="150000"/>
              </a:lnSpc>
              <a:spcBef>
                <a:spcPct val="50000"/>
              </a:spcBef>
              <a:buClr>
                <a:schemeClr val="tx1">
                  <a:lumMod val="75000"/>
                </a:schemeClr>
              </a:buClr>
              <a:buFont typeface="Arial" pitchFamily="34" charset="0"/>
              <a:buChar char="•"/>
            </a:pPr>
            <a:r>
              <a:rPr lang="en-US" altLang="zh-TW" dirty="0">
                <a:solidFill>
                  <a:srgbClr val="B1E2FB"/>
                </a:solidFill>
                <a:latin typeface="Times New Roman" pitchFamily="18" charset="0"/>
                <a:ea typeface="PMingLiU" pitchFamily="18" charset="-120"/>
                <a:cs typeface="Times New Roman" pitchFamily="18" charset="0"/>
              </a:rPr>
              <a:t>Good for the government</a:t>
            </a:r>
          </a:p>
          <a:p>
            <a:pPr lvl="1" eaLnBrk="1" hangingPunct="1">
              <a:lnSpc>
                <a:spcPct val="150000"/>
              </a:lnSpc>
              <a:spcBef>
                <a:spcPct val="50000"/>
              </a:spcBef>
              <a:buClr>
                <a:schemeClr val="tx1">
                  <a:lumMod val="75000"/>
                </a:schemeClr>
              </a:buClr>
              <a:buFont typeface="Arial" pitchFamily="34" charset="0"/>
              <a:buChar char="•"/>
            </a:pPr>
            <a:r>
              <a:rPr lang="en-US" altLang="zh-TW" dirty="0">
                <a:solidFill>
                  <a:srgbClr val="B1E2FB"/>
                </a:solidFill>
                <a:latin typeface="Times New Roman" pitchFamily="18" charset="0"/>
                <a:ea typeface="PMingLiU" pitchFamily="18" charset="-120"/>
                <a:cs typeface="Times New Roman" pitchFamily="18" charset="0"/>
              </a:rPr>
              <a:t>Bad for domestic consumers</a:t>
            </a:r>
          </a:p>
        </p:txBody>
      </p:sp>
      <p:grpSp>
        <p:nvGrpSpPr>
          <p:cNvPr id="4" name="Group 3"/>
          <p:cNvGrpSpPr/>
          <p:nvPr/>
        </p:nvGrpSpPr>
        <p:grpSpPr>
          <a:xfrm>
            <a:off x="32671" y="1124744"/>
            <a:ext cx="9111329" cy="5733255"/>
            <a:chOff x="239713" y="517525"/>
            <a:chExt cx="7969250" cy="5943600"/>
          </a:xfrm>
        </p:grpSpPr>
        <p:sp>
          <p:nvSpPr>
            <p:cNvPr id="5" name="Rectangle 1026"/>
            <p:cNvSpPr>
              <a:spLocks noChangeArrowheads="1"/>
            </p:cNvSpPr>
            <p:nvPr/>
          </p:nvSpPr>
          <p:spPr bwMode="auto">
            <a:xfrm>
              <a:off x="1063625" y="627063"/>
              <a:ext cx="7145338" cy="5302250"/>
            </a:xfrm>
            <a:prstGeom prst="rect">
              <a:avLst/>
            </a:prstGeom>
            <a:solidFill>
              <a:schemeClr val="bg1"/>
            </a:solidFill>
            <a:ln w="12700">
              <a:noFill/>
              <a:miter lim="800000"/>
              <a:headEnd type="none" w="sm" len="sm"/>
              <a:tailEnd type="none" w="sm" len="sm"/>
            </a:ln>
          </p:spPr>
          <p:txBody>
            <a:bodyPr wrap="none" anchor="ctr"/>
            <a:lstStyle/>
            <a:p>
              <a:endParaRPr lang="en-US"/>
            </a:p>
          </p:txBody>
        </p:sp>
        <p:sp>
          <p:nvSpPr>
            <p:cNvPr id="6" name="Rectangle 1027" descr="Blue tissue paper"/>
            <p:cNvSpPr>
              <a:spLocks noChangeArrowheads="1"/>
            </p:cNvSpPr>
            <p:nvPr/>
          </p:nvSpPr>
          <p:spPr bwMode="auto">
            <a:xfrm>
              <a:off x="2535238" y="3841750"/>
              <a:ext cx="2024062" cy="434975"/>
            </a:xfrm>
            <a:prstGeom prst="rect">
              <a:avLst/>
            </a:prstGeom>
            <a:blipFill dpi="0" rotWithShape="0">
              <a:blip r:embed="rId2" cstate="print"/>
              <a:srcRect/>
              <a:tile tx="0" ty="0" sx="100000" sy="100000" flip="none" algn="tl"/>
            </a:blipFill>
            <a:ln w="12700">
              <a:noFill/>
              <a:miter lim="800000"/>
              <a:headEnd type="none" w="sm" len="sm"/>
              <a:tailEnd type="none" w="sm" len="sm"/>
            </a:ln>
          </p:spPr>
          <p:txBody>
            <a:bodyPr wrap="none" anchor="ctr"/>
            <a:lstStyle/>
            <a:p>
              <a:endParaRPr lang="en-US"/>
            </a:p>
          </p:txBody>
        </p:sp>
        <p:sp>
          <p:nvSpPr>
            <p:cNvPr id="7" name="Freeform 1028" descr="Blue tissue paper"/>
            <p:cNvSpPr>
              <a:spLocks/>
            </p:cNvSpPr>
            <p:nvPr/>
          </p:nvSpPr>
          <p:spPr bwMode="auto">
            <a:xfrm>
              <a:off x="1076325" y="3803650"/>
              <a:ext cx="1446213" cy="447675"/>
            </a:xfrm>
            <a:custGeom>
              <a:avLst/>
              <a:gdLst>
                <a:gd name="T0" fmla="*/ 0 w 911"/>
                <a:gd name="T1" fmla="*/ 0 h 282"/>
                <a:gd name="T2" fmla="*/ 911 w 911"/>
                <a:gd name="T3" fmla="*/ 0 h 282"/>
                <a:gd name="T4" fmla="*/ 484 w 911"/>
                <a:gd name="T5" fmla="*/ 282 h 282"/>
                <a:gd name="T6" fmla="*/ 0 w 911"/>
                <a:gd name="T7" fmla="*/ 282 h 282"/>
                <a:gd name="T8" fmla="*/ 0 w 911"/>
                <a:gd name="T9" fmla="*/ 0 h 282"/>
                <a:gd name="T10" fmla="*/ 0 60000 65536"/>
                <a:gd name="T11" fmla="*/ 0 60000 65536"/>
                <a:gd name="T12" fmla="*/ 0 60000 65536"/>
                <a:gd name="T13" fmla="*/ 0 60000 65536"/>
                <a:gd name="T14" fmla="*/ 0 60000 65536"/>
                <a:gd name="T15" fmla="*/ 0 w 911"/>
                <a:gd name="T16" fmla="*/ 0 h 282"/>
                <a:gd name="T17" fmla="*/ 911 w 911"/>
                <a:gd name="T18" fmla="*/ 282 h 282"/>
              </a:gdLst>
              <a:ahLst/>
              <a:cxnLst>
                <a:cxn ang="T10">
                  <a:pos x="T0" y="T1"/>
                </a:cxn>
                <a:cxn ang="T11">
                  <a:pos x="T2" y="T3"/>
                </a:cxn>
                <a:cxn ang="T12">
                  <a:pos x="T4" y="T5"/>
                </a:cxn>
                <a:cxn ang="T13">
                  <a:pos x="T6" y="T7"/>
                </a:cxn>
                <a:cxn ang="T14">
                  <a:pos x="T8" y="T9"/>
                </a:cxn>
              </a:cxnLst>
              <a:rect l="T15" t="T16" r="T17" b="T18"/>
              <a:pathLst>
                <a:path w="911" h="282">
                  <a:moveTo>
                    <a:pt x="0" y="0"/>
                  </a:moveTo>
                  <a:lnTo>
                    <a:pt x="911" y="0"/>
                  </a:lnTo>
                  <a:lnTo>
                    <a:pt x="484" y="282"/>
                  </a:lnTo>
                  <a:lnTo>
                    <a:pt x="0" y="282"/>
                  </a:lnTo>
                  <a:lnTo>
                    <a:pt x="0" y="0"/>
                  </a:lnTo>
                  <a:close/>
                </a:path>
              </a:pathLst>
            </a:custGeom>
            <a:blipFill dpi="0" rotWithShape="0">
              <a:blip r:embed="rId2" cstate="print"/>
              <a:srcRect/>
              <a:tile tx="0" ty="0" sx="100000" sy="100000" flip="none" algn="tl"/>
            </a:blipFill>
            <a:ln w="12700" cap="flat" cmpd="sng">
              <a:solidFill>
                <a:schemeClr val="tx1"/>
              </a:solidFill>
              <a:prstDash val="solid"/>
              <a:round/>
              <a:headEnd type="none" w="sm" len="sm"/>
              <a:tailEnd type="none" w="sm" len="sm"/>
            </a:ln>
          </p:spPr>
          <p:txBody>
            <a:bodyPr wrap="none" anchor="ctr"/>
            <a:lstStyle/>
            <a:p>
              <a:endParaRPr lang="en-US"/>
            </a:p>
          </p:txBody>
        </p:sp>
        <p:sp>
          <p:nvSpPr>
            <p:cNvPr id="8" name="Line 1029"/>
            <p:cNvSpPr>
              <a:spLocks noChangeShapeType="1"/>
            </p:cNvSpPr>
            <p:nvPr/>
          </p:nvSpPr>
          <p:spPr bwMode="auto">
            <a:xfrm>
              <a:off x="1066800" y="5943600"/>
              <a:ext cx="7126288" cy="0"/>
            </a:xfrm>
            <a:prstGeom prst="line">
              <a:avLst/>
            </a:prstGeom>
            <a:noFill/>
            <a:ln w="25400">
              <a:solidFill>
                <a:schemeClr val="tx1"/>
              </a:solidFill>
              <a:round/>
              <a:headEnd type="none" w="sm" len="sm"/>
              <a:tailEnd type="stealth" w="med" len="lg"/>
            </a:ln>
          </p:spPr>
          <p:txBody>
            <a:bodyPr wrap="none" anchor="ctr"/>
            <a:lstStyle/>
            <a:p>
              <a:endParaRPr lang="en-US"/>
            </a:p>
          </p:txBody>
        </p:sp>
        <p:sp>
          <p:nvSpPr>
            <p:cNvPr id="9" name="Rectangle 1030"/>
            <p:cNvSpPr>
              <a:spLocks noChangeArrowheads="1"/>
            </p:cNvSpPr>
            <p:nvPr/>
          </p:nvSpPr>
          <p:spPr bwMode="auto">
            <a:xfrm>
              <a:off x="746125" y="5897563"/>
              <a:ext cx="381000" cy="396875"/>
            </a:xfrm>
            <a:prstGeom prst="rect">
              <a:avLst/>
            </a:prstGeom>
            <a:noFill/>
            <a:ln w="9525">
              <a:noFill/>
              <a:miter lim="800000"/>
              <a:headEnd/>
              <a:tailEnd/>
            </a:ln>
          </p:spPr>
          <p:txBody>
            <a:bodyPr wrap="none" lIns="92075" tIns="46038" rIns="92075" bIns="46038">
              <a:spAutoFit/>
            </a:bodyPr>
            <a:lstStyle/>
            <a:p>
              <a:pPr defTabSz="762000"/>
              <a:r>
                <a:rPr lang="en-GB" sz="2000" b="0">
                  <a:latin typeface="Arial" charset="0"/>
                </a:rPr>
                <a:t>O</a:t>
              </a:r>
            </a:p>
          </p:txBody>
        </p:sp>
        <p:sp>
          <p:nvSpPr>
            <p:cNvPr id="10" name="Rectangle 1031"/>
            <p:cNvSpPr>
              <a:spLocks noChangeArrowheads="1"/>
            </p:cNvSpPr>
            <p:nvPr/>
          </p:nvSpPr>
          <p:spPr bwMode="auto">
            <a:xfrm>
              <a:off x="593725" y="517525"/>
              <a:ext cx="387350" cy="457200"/>
            </a:xfrm>
            <a:prstGeom prst="rect">
              <a:avLst/>
            </a:prstGeom>
            <a:noFill/>
            <a:ln w="9525">
              <a:noFill/>
              <a:miter lim="800000"/>
              <a:headEnd/>
              <a:tailEnd/>
            </a:ln>
          </p:spPr>
          <p:txBody>
            <a:bodyPr wrap="none" lIns="92075" tIns="46038" rIns="92075" bIns="46038">
              <a:spAutoFit/>
            </a:bodyPr>
            <a:lstStyle/>
            <a:p>
              <a:pPr defTabSz="762000"/>
              <a:r>
                <a:rPr lang="en-GB" b="0" i="1">
                  <a:latin typeface="Arial" charset="0"/>
                </a:rPr>
                <a:t>P</a:t>
              </a:r>
            </a:p>
          </p:txBody>
        </p:sp>
        <p:sp>
          <p:nvSpPr>
            <p:cNvPr id="11" name="Rectangle 1032"/>
            <p:cNvSpPr>
              <a:spLocks noChangeArrowheads="1"/>
            </p:cNvSpPr>
            <p:nvPr/>
          </p:nvSpPr>
          <p:spPr bwMode="auto">
            <a:xfrm>
              <a:off x="7756525" y="6003925"/>
              <a:ext cx="420688" cy="457200"/>
            </a:xfrm>
            <a:prstGeom prst="rect">
              <a:avLst/>
            </a:prstGeom>
            <a:noFill/>
            <a:ln w="9525">
              <a:noFill/>
              <a:miter lim="800000"/>
              <a:headEnd/>
              <a:tailEnd/>
            </a:ln>
          </p:spPr>
          <p:txBody>
            <a:bodyPr wrap="none" lIns="92075" tIns="46038" rIns="92075" bIns="46038">
              <a:spAutoFit/>
            </a:bodyPr>
            <a:lstStyle/>
            <a:p>
              <a:pPr defTabSz="762000"/>
              <a:r>
                <a:rPr lang="en-GB" b="0" i="1">
                  <a:latin typeface="Arial" charset="0"/>
                </a:rPr>
                <a:t>Q</a:t>
              </a:r>
            </a:p>
          </p:txBody>
        </p:sp>
        <p:sp>
          <p:nvSpPr>
            <p:cNvPr id="12" name="Line 1033"/>
            <p:cNvSpPr>
              <a:spLocks noChangeShapeType="1"/>
            </p:cNvSpPr>
            <p:nvPr/>
          </p:nvSpPr>
          <p:spPr bwMode="auto">
            <a:xfrm>
              <a:off x="1066800" y="1524000"/>
              <a:ext cx="6324600" cy="4114800"/>
            </a:xfrm>
            <a:prstGeom prst="line">
              <a:avLst/>
            </a:prstGeom>
            <a:noFill/>
            <a:ln w="38100">
              <a:solidFill>
                <a:schemeClr val="tx2"/>
              </a:solidFill>
              <a:round/>
              <a:headEnd type="none" w="sm" len="sm"/>
              <a:tailEnd type="none" w="sm" len="sm"/>
            </a:ln>
          </p:spPr>
          <p:txBody>
            <a:bodyPr wrap="none" anchor="ctr"/>
            <a:lstStyle/>
            <a:p>
              <a:endParaRPr lang="en-US"/>
            </a:p>
          </p:txBody>
        </p:sp>
        <p:sp>
          <p:nvSpPr>
            <p:cNvPr id="13" name="Line 1034"/>
            <p:cNvSpPr>
              <a:spLocks noChangeShapeType="1"/>
            </p:cNvSpPr>
            <p:nvPr/>
          </p:nvSpPr>
          <p:spPr bwMode="auto">
            <a:xfrm flipV="1">
              <a:off x="1066800" y="1295400"/>
              <a:ext cx="5486400" cy="3429000"/>
            </a:xfrm>
            <a:prstGeom prst="line">
              <a:avLst/>
            </a:prstGeom>
            <a:noFill/>
            <a:ln w="38100">
              <a:solidFill>
                <a:schemeClr val="tx2"/>
              </a:solidFill>
              <a:round/>
              <a:headEnd type="none" w="sm" len="sm"/>
              <a:tailEnd type="none" w="sm" len="sm"/>
            </a:ln>
          </p:spPr>
          <p:txBody>
            <a:bodyPr wrap="none" anchor="ctr"/>
            <a:lstStyle/>
            <a:p>
              <a:endParaRPr lang="en-US"/>
            </a:p>
          </p:txBody>
        </p:sp>
        <p:sp>
          <p:nvSpPr>
            <p:cNvPr id="14" name="Line 1035"/>
            <p:cNvSpPr>
              <a:spLocks noChangeShapeType="1"/>
            </p:cNvSpPr>
            <p:nvPr/>
          </p:nvSpPr>
          <p:spPr bwMode="auto">
            <a:xfrm flipH="1">
              <a:off x="1066800" y="3810000"/>
              <a:ext cx="5562600" cy="0"/>
            </a:xfrm>
            <a:prstGeom prst="line">
              <a:avLst/>
            </a:prstGeom>
            <a:noFill/>
            <a:ln w="38100">
              <a:solidFill>
                <a:schemeClr val="accent2"/>
              </a:solidFill>
              <a:round/>
              <a:headEnd type="none" w="sm" len="sm"/>
              <a:tailEnd type="none" w="sm" len="sm"/>
            </a:ln>
          </p:spPr>
          <p:txBody>
            <a:bodyPr wrap="none" anchor="ctr"/>
            <a:lstStyle/>
            <a:p>
              <a:endParaRPr lang="en-US"/>
            </a:p>
          </p:txBody>
        </p:sp>
        <p:sp>
          <p:nvSpPr>
            <p:cNvPr id="15" name="Line 1036"/>
            <p:cNvSpPr>
              <a:spLocks noChangeShapeType="1"/>
            </p:cNvSpPr>
            <p:nvPr/>
          </p:nvSpPr>
          <p:spPr bwMode="auto">
            <a:xfrm>
              <a:off x="1066800" y="4267200"/>
              <a:ext cx="5562600" cy="0"/>
            </a:xfrm>
            <a:prstGeom prst="line">
              <a:avLst/>
            </a:prstGeom>
            <a:noFill/>
            <a:ln w="38100">
              <a:solidFill>
                <a:schemeClr val="folHlink"/>
              </a:solidFill>
              <a:round/>
              <a:headEnd type="none" w="sm" len="sm"/>
              <a:tailEnd type="none" w="sm" len="sm"/>
            </a:ln>
          </p:spPr>
          <p:txBody>
            <a:bodyPr wrap="none" anchor="ctr"/>
            <a:lstStyle/>
            <a:p>
              <a:endParaRPr lang="en-US"/>
            </a:p>
          </p:txBody>
        </p:sp>
        <p:sp>
          <p:nvSpPr>
            <p:cNvPr id="16" name="Line 1037"/>
            <p:cNvSpPr>
              <a:spLocks noChangeShapeType="1"/>
            </p:cNvSpPr>
            <p:nvPr/>
          </p:nvSpPr>
          <p:spPr bwMode="auto">
            <a:xfrm>
              <a:off x="1066800" y="609600"/>
              <a:ext cx="0" cy="5334000"/>
            </a:xfrm>
            <a:prstGeom prst="line">
              <a:avLst/>
            </a:prstGeom>
            <a:noFill/>
            <a:ln w="25400">
              <a:solidFill>
                <a:schemeClr val="tx1"/>
              </a:solidFill>
              <a:round/>
              <a:headEnd type="stealth" w="med" len="lg"/>
              <a:tailEnd type="none" w="sm" len="sm"/>
            </a:ln>
          </p:spPr>
          <p:txBody>
            <a:bodyPr wrap="none" anchor="ctr"/>
            <a:lstStyle/>
            <a:p>
              <a:endParaRPr lang="en-US"/>
            </a:p>
          </p:txBody>
        </p:sp>
        <p:sp>
          <p:nvSpPr>
            <p:cNvPr id="17" name="Rectangle 1038"/>
            <p:cNvSpPr>
              <a:spLocks noChangeArrowheads="1"/>
            </p:cNvSpPr>
            <p:nvPr/>
          </p:nvSpPr>
          <p:spPr bwMode="auto">
            <a:xfrm>
              <a:off x="6461125" y="898525"/>
              <a:ext cx="661777" cy="479268"/>
            </a:xfrm>
            <a:prstGeom prst="rect">
              <a:avLst/>
            </a:prstGeom>
            <a:noFill/>
            <a:ln w="9525">
              <a:noFill/>
              <a:miter lim="800000"/>
              <a:headEnd/>
              <a:tailEnd/>
            </a:ln>
          </p:spPr>
          <p:txBody>
            <a:bodyPr wrap="none" lIns="92075" tIns="46038" rIns="92075" bIns="46038">
              <a:spAutoFit/>
            </a:bodyPr>
            <a:lstStyle/>
            <a:p>
              <a:pPr defTabSz="762000"/>
              <a:r>
                <a:rPr lang="en-GB" sz="2000" b="0" i="1" dirty="0" err="1">
                  <a:solidFill>
                    <a:schemeClr val="tx2"/>
                  </a:solidFill>
                  <a:latin typeface="Arial" charset="0"/>
                </a:rPr>
                <a:t>S</a:t>
              </a:r>
              <a:r>
                <a:rPr lang="en-GB" b="0" baseline="-25000" dirty="0" err="1">
                  <a:solidFill>
                    <a:schemeClr val="tx2"/>
                  </a:solidFill>
                  <a:latin typeface="Arial" charset="0"/>
                </a:rPr>
                <a:t>dom</a:t>
              </a:r>
              <a:endParaRPr lang="en-GB" sz="2000" b="0" dirty="0">
                <a:solidFill>
                  <a:schemeClr val="tx2"/>
                </a:solidFill>
                <a:latin typeface="Arial" charset="0"/>
              </a:endParaRPr>
            </a:p>
          </p:txBody>
        </p:sp>
        <p:sp>
          <p:nvSpPr>
            <p:cNvPr id="18" name="Rectangle 1039"/>
            <p:cNvSpPr>
              <a:spLocks noChangeArrowheads="1"/>
            </p:cNvSpPr>
            <p:nvPr/>
          </p:nvSpPr>
          <p:spPr bwMode="auto">
            <a:xfrm>
              <a:off x="6613525" y="3565525"/>
              <a:ext cx="1563688" cy="457200"/>
            </a:xfrm>
            <a:prstGeom prst="rect">
              <a:avLst/>
            </a:prstGeom>
            <a:noFill/>
            <a:ln w="9525">
              <a:noFill/>
              <a:miter lim="800000"/>
              <a:headEnd/>
              <a:tailEnd/>
            </a:ln>
          </p:spPr>
          <p:txBody>
            <a:bodyPr wrap="none" lIns="92075" tIns="46038" rIns="92075" bIns="46038">
              <a:spAutoFit/>
            </a:bodyPr>
            <a:lstStyle/>
            <a:p>
              <a:pPr defTabSz="762000"/>
              <a:r>
                <a:rPr lang="en-GB" sz="2000" b="0" i="1">
                  <a:solidFill>
                    <a:schemeClr val="accent2"/>
                  </a:solidFill>
                  <a:latin typeface="Arial" charset="0"/>
                </a:rPr>
                <a:t>S </a:t>
              </a:r>
              <a:r>
                <a:rPr lang="en-GB" b="0" baseline="-25000">
                  <a:solidFill>
                    <a:schemeClr val="accent2"/>
                  </a:solidFill>
                  <a:latin typeface="Arial" charset="0"/>
                </a:rPr>
                <a:t>world</a:t>
              </a:r>
              <a:r>
                <a:rPr lang="en-GB" b="0" i="1">
                  <a:solidFill>
                    <a:schemeClr val="accent2"/>
                  </a:solidFill>
                  <a:latin typeface="Arial" charset="0"/>
                </a:rPr>
                <a:t> </a:t>
              </a:r>
              <a:r>
                <a:rPr lang="en-GB" b="0" baseline="-25000">
                  <a:solidFill>
                    <a:schemeClr val="accent2"/>
                  </a:solidFill>
                  <a:latin typeface="Arial" charset="0"/>
                </a:rPr>
                <a:t>+ tariff</a:t>
              </a:r>
            </a:p>
          </p:txBody>
        </p:sp>
        <p:sp>
          <p:nvSpPr>
            <p:cNvPr id="19" name="Rectangle 1040"/>
            <p:cNvSpPr>
              <a:spLocks noChangeArrowheads="1"/>
            </p:cNvSpPr>
            <p:nvPr/>
          </p:nvSpPr>
          <p:spPr bwMode="auto">
            <a:xfrm>
              <a:off x="6613525" y="4068763"/>
              <a:ext cx="909638" cy="396875"/>
            </a:xfrm>
            <a:prstGeom prst="rect">
              <a:avLst/>
            </a:prstGeom>
            <a:noFill/>
            <a:ln w="9525">
              <a:noFill/>
              <a:miter lim="800000"/>
              <a:headEnd/>
              <a:tailEnd/>
            </a:ln>
          </p:spPr>
          <p:txBody>
            <a:bodyPr wrap="none" lIns="92075" tIns="46038" rIns="92075" bIns="46038">
              <a:spAutoFit/>
            </a:bodyPr>
            <a:lstStyle/>
            <a:p>
              <a:pPr defTabSz="762000"/>
              <a:r>
                <a:rPr lang="en-GB" sz="2000" b="0" i="1">
                  <a:solidFill>
                    <a:schemeClr val="folHlink"/>
                  </a:solidFill>
                  <a:latin typeface="Arial" charset="0"/>
                </a:rPr>
                <a:t>S </a:t>
              </a:r>
              <a:r>
                <a:rPr lang="en-GB" b="0" baseline="-25000">
                  <a:solidFill>
                    <a:schemeClr val="folHlink"/>
                  </a:solidFill>
                  <a:latin typeface="Arial" charset="0"/>
                </a:rPr>
                <a:t>world</a:t>
              </a:r>
            </a:p>
          </p:txBody>
        </p:sp>
        <p:sp>
          <p:nvSpPr>
            <p:cNvPr id="20" name="Rectangle 1041"/>
            <p:cNvSpPr>
              <a:spLocks noChangeArrowheads="1"/>
            </p:cNvSpPr>
            <p:nvPr/>
          </p:nvSpPr>
          <p:spPr bwMode="auto">
            <a:xfrm>
              <a:off x="1050925" y="1173163"/>
              <a:ext cx="325438" cy="396875"/>
            </a:xfrm>
            <a:prstGeom prst="rect">
              <a:avLst/>
            </a:prstGeom>
            <a:noFill/>
            <a:ln w="9525">
              <a:noFill/>
              <a:miter lim="800000"/>
              <a:headEnd/>
              <a:tailEnd/>
            </a:ln>
          </p:spPr>
          <p:txBody>
            <a:bodyPr wrap="none" lIns="92075" tIns="46038" rIns="92075" bIns="46038">
              <a:spAutoFit/>
            </a:bodyPr>
            <a:lstStyle/>
            <a:p>
              <a:pPr defTabSz="762000"/>
              <a:r>
                <a:rPr lang="en-GB" sz="2000" b="0" i="1">
                  <a:solidFill>
                    <a:schemeClr val="hlink"/>
                  </a:solidFill>
                  <a:latin typeface="Arial" charset="0"/>
                </a:rPr>
                <a:t>a</a:t>
              </a:r>
            </a:p>
          </p:txBody>
        </p:sp>
        <p:grpSp>
          <p:nvGrpSpPr>
            <p:cNvPr id="21" name="Group 1042"/>
            <p:cNvGrpSpPr>
              <a:grpSpLocks/>
            </p:cNvGrpSpPr>
            <p:nvPr/>
          </p:nvGrpSpPr>
          <p:grpSpPr bwMode="auto">
            <a:xfrm>
              <a:off x="1050925" y="3382963"/>
              <a:ext cx="4530725" cy="930275"/>
              <a:chOff x="662" y="2131"/>
              <a:chExt cx="2854" cy="586"/>
            </a:xfrm>
          </p:grpSpPr>
          <p:sp>
            <p:nvSpPr>
              <p:cNvPr id="43" name="Rectangle 1043"/>
              <p:cNvSpPr>
                <a:spLocks noChangeArrowheads="1"/>
              </p:cNvSpPr>
              <p:nvPr/>
            </p:nvSpPr>
            <p:spPr bwMode="auto">
              <a:xfrm>
                <a:off x="2870" y="2179"/>
                <a:ext cx="214" cy="250"/>
              </a:xfrm>
              <a:prstGeom prst="rect">
                <a:avLst/>
              </a:prstGeom>
              <a:noFill/>
              <a:ln w="9525">
                <a:noFill/>
                <a:miter lim="800000"/>
                <a:headEnd/>
                <a:tailEnd/>
              </a:ln>
            </p:spPr>
            <p:txBody>
              <a:bodyPr wrap="none" lIns="92075" tIns="46038" rIns="92075" bIns="46038">
                <a:spAutoFit/>
              </a:bodyPr>
              <a:lstStyle/>
              <a:p>
                <a:pPr defTabSz="762000"/>
                <a:r>
                  <a:rPr lang="en-GB" sz="2000" i="1">
                    <a:solidFill>
                      <a:schemeClr val="hlink"/>
                    </a:solidFill>
                    <a:latin typeface="Arial" charset="0"/>
                  </a:rPr>
                  <a:t>d</a:t>
                </a:r>
              </a:p>
            </p:txBody>
          </p:sp>
          <p:sp>
            <p:nvSpPr>
              <p:cNvPr id="44" name="Rectangle 1044"/>
              <p:cNvSpPr>
                <a:spLocks noChangeArrowheads="1"/>
              </p:cNvSpPr>
              <p:nvPr/>
            </p:nvSpPr>
            <p:spPr bwMode="auto">
              <a:xfrm>
                <a:off x="662" y="2131"/>
                <a:ext cx="205" cy="250"/>
              </a:xfrm>
              <a:prstGeom prst="rect">
                <a:avLst/>
              </a:prstGeom>
              <a:noFill/>
              <a:ln w="9525">
                <a:noFill/>
                <a:miter lim="800000"/>
                <a:headEnd/>
                <a:tailEnd/>
              </a:ln>
            </p:spPr>
            <p:txBody>
              <a:bodyPr wrap="none" lIns="92075" tIns="46038" rIns="92075" bIns="46038">
                <a:spAutoFit/>
              </a:bodyPr>
              <a:lstStyle/>
              <a:p>
                <a:pPr defTabSz="762000"/>
                <a:r>
                  <a:rPr lang="en-GB" sz="2000" i="1">
                    <a:solidFill>
                      <a:schemeClr val="hlink"/>
                    </a:solidFill>
                    <a:latin typeface="Arial" charset="0"/>
                  </a:rPr>
                  <a:t>e</a:t>
                </a:r>
              </a:p>
            </p:txBody>
          </p:sp>
          <p:sp>
            <p:nvSpPr>
              <p:cNvPr id="45" name="Rectangle 1045"/>
              <p:cNvSpPr>
                <a:spLocks noChangeArrowheads="1"/>
              </p:cNvSpPr>
              <p:nvPr/>
            </p:nvSpPr>
            <p:spPr bwMode="auto">
              <a:xfrm>
                <a:off x="662" y="2467"/>
                <a:ext cx="205" cy="250"/>
              </a:xfrm>
              <a:prstGeom prst="rect">
                <a:avLst/>
              </a:prstGeom>
              <a:noFill/>
              <a:ln w="9525">
                <a:noFill/>
                <a:miter lim="800000"/>
                <a:headEnd/>
                <a:tailEnd/>
              </a:ln>
            </p:spPr>
            <p:txBody>
              <a:bodyPr wrap="none" lIns="92075" tIns="46038" rIns="92075" bIns="46038">
                <a:spAutoFit/>
              </a:bodyPr>
              <a:lstStyle/>
              <a:p>
                <a:pPr defTabSz="762000"/>
                <a:r>
                  <a:rPr lang="en-GB" sz="2000" i="1">
                    <a:solidFill>
                      <a:schemeClr val="hlink"/>
                    </a:solidFill>
                    <a:latin typeface="Arial" charset="0"/>
                  </a:rPr>
                  <a:t>c</a:t>
                </a:r>
              </a:p>
            </p:txBody>
          </p:sp>
          <p:sp>
            <p:nvSpPr>
              <p:cNvPr id="46" name="Rectangle 1046"/>
              <p:cNvSpPr>
                <a:spLocks noChangeArrowheads="1"/>
              </p:cNvSpPr>
              <p:nvPr/>
            </p:nvSpPr>
            <p:spPr bwMode="auto">
              <a:xfrm>
                <a:off x="3302" y="2467"/>
                <a:ext cx="214" cy="250"/>
              </a:xfrm>
              <a:prstGeom prst="rect">
                <a:avLst/>
              </a:prstGeom>
              <a:noFill/>
              <a:ln w="9525">
                <a:noFill/>
                <a:miter lim="800000"/>
                <a:headEnd/>
                <a:tailEnd/>
              </a:ln>
            </p:spPr>
            <p:txBody>
              <a:bodyPr wrap="none" lIns="92075" tIns="46038" rIns="92075" bIns="46038">
                <a:spAutoFit/>
              </a:bodyPr>
              <a:lstStyle/>
              <a:p>
                <a:pPr defTabSz="762000"/>
                <a:r>
                  <a:rPr lang="en-GB" sz="2000" i="1">
                    <a:solidFill>
                      <a:schemeClr val="hlink"/>
                    </a:solidFill>
                    <a:latin typeface="Arial" charset="0"/>
                  </a:rPr>
                  <a:t>b</a:t>
                </a:r>
              </a:p>
            </p:txBody>
          </p:sp>
        </p:grpSp>
        <p:sp>
          <p:nvSpPr>
            <p:cNvPr id="22" name="Line 1047"/>
            <p:cNvSpPr>
              <a:spLocks noChangeShapeType="1"/>
            </p:cNvSpPr>
            <p:nvPr/>
          </p:nvSpPr>
          <p:spPr bwMode="auto">
            <a:xfrm>
              <a:off x="1787525" y="4267200"/>
              <a:ext cx="0" cy="1676400"/>
            </a:xfrm>
            <a:prstGeom prst="line">
              <a:avLst/>
            </a:prstGeom>
            <a:noFill/>
            <a:ln w="19050">
              <a:solidFill>
                <a:schemeClr val="folHlink"/>
              </a:solidFill>
              <a:prstDash val="dash"/>
              <a:round/>
              <a:headEnd type="none" w="sm" len="sm"/>
              <a:tailEnd type="none" w="sm" len="sm"/>
            </a:ln>
          </p:spPr>
          <p:txBody>
            <a:bodyPr wrap="none" anchor="ctr"/>
            <a:lstStyle/>
            <a:p>
              <a:endParaRPr lang="en-US"/>
            </a:p>
          </p:txBody>
        </p:sp>
        <p:sp>
          <p:nvSpPr>
            <p:cNvPr id="23" name="Line 1048"/>
            <p:cNvSpPr>
              <a:spLocks noChangeShapeType="1"/>
            </p:cNvSpPr>
            <p:nvPr/>
          </p:nvSpPr>
          <p:spPr bwMode="auto">
            <a:xfrm>
              <a:off x="5281613" y="4262438"/>
              <a:ext cx="0" cy="1665287"/>
            </a:xfrm>
            <a:prstGeom prst="line">
              <a:avLst/>
            </a:prstGeom>
            <a:noFill/>
            <a:ln w="19050">
              <a:solidFill>
                <a:schemeClr val="folHlink"/>
              </a:solidFill>
              <a:prstDash val="dash"/>
              <a:round/>
              <a:headEnd type="none" w="sm" len="sm"/>
              <a:tailEnd type="none" w="sm" len="sm"/>
            </a:ln>
          </p:spPr>
          <p:txBody>
            <a:bodyPr wrap="none" anchor="ctr"/>
            <a:lstStyle/>
            <a:p>
              <a:endParaRPr lang="en-US"/>
            </a:p>
          </p:txBody>
        </p:sp>
        <p:sp>
          <p:nvSpPr>
            <p:cNvPr id="24" name="Line 1049"/>
            <p:cNvSpPr>
              <a:spLocks noChangeShapeType="1"/>
            </p:cNvSpPr>
            <p:nvPr/>
          </p:nvSpPr>
          <p:spPr bwMode="auto">
            <a:xfrm>
              <a:off x="2530475" y="3819525"/>
              <a:ext cx="0" cy="2092325"/>
            </a:xfrm>
            <a:prstGeom prst="line">
              <a:avLst/>
            </a:prstGeom>
            <a:noFill/>
            <a:ln w="19050">
              <a:solidFill>
                <a:schemeClr val="accent2"/>
              </a:solidFill>
              <a:prstDash val="dash"/>
              <a:round/>
              <a:headEnd type="none" w="sm" len="sm"/>
              <a:tailEnd type="none" w="sm" len="sm"/>
            </a:ln>
          </p:spPr>
          <p:txBody>
            <a:bodyPr wrap="none" anchor="ctr"/>
            <a:lstStyle/>
            <a:p>
              <a:endParaRPr lang="en-US"/>
            </a:p>
          </p:txBody>
        </p:sp>
        <p:sp>
          <p:nvSpPr>
            <p:cNvPr id="25" name="Line 1050"/>
            <p:cNvSpPr>
              <a:spLocks noChangeShapeType="1"/>
            </p:cNvSpPr>
            <p:nvPr/>
          </p:nvSpPr>
          <p:spPr bwMode="auto">
            <a:xfrm>
              <a:off x="4554538" y="3819525"/>
              <a:ext cx="0" cy="2108200"/>
            </a:xfrm>
            <a:prstGeom prst="line">
              <a:avLst/>
            </a:prstGeom>
            <a:noFill/>
            <a:ln w="19050">
              <a:solidFill>
                <a:schemeClr val="accent2"/>
              </a:solidFill>
              <a:prstDash val="dash"/>
              <a:round/>
              <a:headEnd type="none" w="sm" len="sm"/>
              <a:tailEnd type="none" w="sm" len="sm"/>
            </a:ln>
          </p:spPr>
          <p:txBody>
            <a:bodyPr wrap="none" anchor="ctr"/>
            <a:lstStyle/>
            <a:p>
              <a:endParaRPr lang="en-US"/>
            </a:p>
          </p:txBody>
        </p:sp>
        <p:grpSp>
          <p:nvGrpSpPr>
            <p:cNvPr id="26" name="Group 1051"/>
            <p:cNvGrpSpPr>
              <a:grpSpLocks/>
            </p:cNvGrpSpPr>
            <p:nvPr/>
          </p:nvGrpSpPr>
          <p:grpSpPr bwMode="auto">
            <a:xfrm>
              <a:off x="1466852" y="3902080"/>
              <a:ext cx="3473455" cy="415926"/>
              <a:chOff x="924" y="2458"/>
              <a:chExt cx="2188" cy="262"/>
            </a:xfrm>
          </p:grpSpPr>
          <p:sp>
            <p:nvSpPr>
              <p:cNvPr id="39" name="Rectangle 1052"/>
              <p:cNvSpPr>
                <a:spLocks noChangeArrowheads="1"/>
              </p:cNvSpPr>
              <p:nvPr/>
            </p:nvSpPr>
            <p:spPr bwMode="auto">
              <a:xfrm>
                <a:off x="924" y="2458"/>
                <a:ext cx="181" cy="262"/>
              </a:xfrm>
              <a:prstGeom prst="rect">
                <a:avLst/>
              </a:prstGeom>
              <a:noFill/>
              <a:ln w="9525">
                <a:noFill/>
                <a:miter lim="800000"/>
                <a:headEnd/>
                <a:tailEnd/>
              </a:ln>
            </p:spPr>
            <p:txBody>
              <a:bodyPr wrap="none" lIns="92075" tIns="46038" rIns="92075" bIns="46038">
                <a:spAutoFit/>
              </a:bodyPr>
              <a:lstStyle/>
              <a:p>
                <a:pPr defTabSz="762000"/>
                <a:r>
                  <a:rPr lang="en-GB" sz="2000" dirty="0">
                    <a:solidFill>
                      <a:schemeClr val="bg1"/>
                    </a:solidFill>
                    <a:latin typeface="Arial" charset="0"/>
                  </a:rPr>
                  <a:t>1</a:t>
                </a:r>
              </a:p>
            </p:txBody>
          </p:sp>
          <p:sp>
            <p:nvSpPr>
              <p:cNvPr id="40" name="Rectangle 1053"/>
              <p:cNvSpPr>
                <a:spLocks noChangeArrowheads="1"/>
              </p:cNvSpPr>
              <p:nvPr/>
            </p:nvSpPr>
            <p:spPr bwMode="auto">
              <a:xfrm>
                <a:off x="1386" y="2469"/>
                <a:ext cx="205" cy="250"/>
              </a:xfrm>
              <a:prstGeom prst="rect">
                <a:avLst/>
              </a:prstGeom>
              <a:noFill/>
              <a:ln w="9525">
                <a:noFill/>
                <a:miter lim="800000"/>
                <a:headEnd/>
                <a:tailEnd/>
              </a:ln>
            </p:spPr>
            <p:txBody>
              <a:bodyPr wrap="none" lIns="92075" tIns="46038" rIns="92075" bIns="46038">
                <a:spAutoFit/>
              </a:bodyPr>
              <a:lstStyle/>
              <a:p>
                <a:pPr defTabSz="762000"/>
                <a:r>
                  <a:rPr lang="en-GB" sz="2000">
                    <a:latin typeface="Arial" charset="0"/>
                  </a:rPr>
                  <a:t>2</a:t>
                </a:r>
              </a:p>
            </p:txBody>
          </p:sp>
          <p:sp>
            <p:nvSpPr>
              <p:cNvPr id="41" name="Rectangle 1054"/>
              <p:cNvSpPr>
                <a:spLocks noChangeArrowheads="1"/>
              </p:cNvSpPr>
              <p:nvPr/>
            </p:nvSpPr>
            <p:spPr bwMode="auto">
              <a:xfrm>
                <a:off x="2180" y="2458"/>
                <a:ext cx="181" cy="262"/>
              </a:xfrm>
              <a:prstGeom prst="rect">
                <a:avLst/>
              </a:prstGeom>
              <a:noFill/>
              <a:ln w="9525">
                <a:noFill/>
                <a:miter lim="800000"/>
                <a:headEnd/>
                <a:tailEnd/>
              </a:ln>
            </p:spPr>
            <p:txBody>
              <a:bodyPr wrap="none" lIns="92075" tIns="46038" rIns="92075" bIns="46038">
                <a:spAutoFit/>
              </a:bodyPr>
              <a:lstStyle/>
              <a:p>
                <a:pPr defTabSz="762000"/>
                <a:r>
                  <a:rPr lang="en-GB" sz="2000" dirty="0">
                    <a:solidFill>
                      <a:schemeClr val="bg1"/>
                    </a:solidFill>
                    <a:latin typeface="Arial" charset="0"/>
                  </a:rPr>
                  <a:t>3</a:t>
                </a:r>
              </a:p>
            </p:txBody>
          </p:sp>
          <p:sp>
            <p:nvSpPr>
              <p:cNvPr id="42" name="Rectangle 1055"/>
              <p:cNvSpPr>
                <a:spLocks noChangeArrowheads="1"/>
              </p:cNvSpPr>
              <p:nvPr/>
            </p:nvSpPr>
            <p:spPr bwMode="auto">
              <a:xfrm>
                <a:off x="2907" y="2459"/>
                <a:ext cx="205" cy="250"/>
              </a:xfrm>
              <a:prstGeom prst="rect">
                <a:avLst/>
              </a:prstGeom>
              <a:noFill/>
              <a:ln w="9525">
                <a:noFill/>
                <a:miter lim="800000"/>
                <a:headEnd/>
                <a:tailEnd/>
              </a:ln>
            </p:spPr>
            <p:txBody>
              <a:bodyPr wrap="none" lIns="92075" tIns="46038" rIns="92075" bIns="46038">
                <a:spAutoFit/>
              </a:bodyPr>
              <a:lstStyle/>
              <a:p>
                <a:pPr defTabSz="762000"/>
                <a:r>
                  <a:rPr lang="en-GB" sz="2000">
                    <a:latin typeface="Arial" charset="0"/>
                  </a:rPr>
                  <a:t>4</a:t>
                </a:r>
              </a:p>
            </p:txBody>
          </p:sp>
        </p:grpSp>
        <p:sp>
          <p:nvSpPr>
            <p:cNvPr id="27" name="Rectangle 1056"/>
            <p:cNvSpPr>
              <a:spLocks noChangeArrowheads="1"/>
            </p:cNvSpPr>
            <p:nvPr/>
          </p:nvSpPr>
          <p:spPr bwMode="auto">
            <a:xfrm>
              <a:off x="1579563" y="5959475"/>
              <a:ext cx="473075" cy="396875"/>
            </a:xfrm>
            <a:prstGeom prst="rect">
              <a:avLst/>
            </a:prstGeom>
            <a:noFill/>
            <a:ln w="9525">
              <a:noFill/>
              <a:miter lim="800000"/>
              <a:headEnd/>
              <a:tailEnd/>
            </a:ln>
          </p:spPr>
          <p:txBody>
            <a:bodyPr wrap="none" lIns="92075" tIns="46038" rIns="92075" bIns="46038">
              <a:spAutoFit/>
            </a:bodyPr>
            <a:lstStyle/>
            <a:p>
              <a:pPr algn="ctr" defTabSz="762000"/>
              <a:r>
                <a:rPr lang="en-GB" sz="2000" b="0" i="1">
                  <a:solidFill>
                    <a:schemeClr val="folHlink"/>
                  </a:solidFill>
                  <a:latin typeface="Arial" charset="0"/>
                </a:rPr>
                <a:t>Q</a:t>
              </a:r>
              <a:r>
                <a:rPr lang="en-GB" sz="2000" b="0" baseline="-25000">
                  <a:solidFill>
                    <a:schemeClr val="folHlink"/>
                  </a:solidFill>
                  <a:latin typeface="Arial" charset="0"/>
                </a:rPr>
                <a:t>1</a:t>
              </a:r>
            </a:p>
          </p:txBody>
        </p:sp>
        <p:sp>
          <p:nvSpPr>
            <p:cNvPr id="28" name="Rectangle 1057"/>
            <p:cNvSpPr>
              <a:spLocks noChangeArrowheads="1"/>
            </p:cNvSpPr>
            <p:nvPr/>
          </p:nvSpPr>
          <p:spPr bwMode="auto">
            <a:xfrm>
              <a:off x="5048250" y="5942013"/>
              <a:ext cx="473075" cy="396875"/>
            </a:xfrm>
            <a:prstGeom prst="rect">
              <a:avLst/>
            </a:prstGeom>
            <a:noFill/>
            <a:ln w="9525">
              <a:noFill/>
              <a:miter lim="800000"/>
              <a:headEnd/>
              <a:tailEnd/>
            </a:ln>
          </p:spPr>
          <p:txBody>
            <a:bodyPr wrap="none" lIns="92075" tIns="46038" rIns="92075" bIns="46038">
              <a:spAutoFit/>
            </a:bodyPr>
            <a:lstStyle/>
            <a:p>
              <a:pPr algn="ctr" defTabSz="762000"/>
              <a:r>
                <a:rPr lang="en-GB" sz="2000" b="0" i="1">
                  <a:solidFill>
                    <a:schemeClr val="folHlink"/>
                  </a:solidFill>
                  <a:latin typeface="Arial" charset="0"/>
                </a:rPr>
                <a:t>Q</a:t>
              </a:r>
              <a:r>
                <a:rPr lang="en-GB" sz="2000" b="0" baseline="-25000">
                  <a:solidFill>
                    <a:schemeClr val="folHlink"/>
                  </a:solidFill>
                  <a:latin typeface="Arial" charset="0"/>
                </a:rPr>
                <a:t>2</a:t>
              </a:r>
            </a:p>
          </p:txBody>
        </p:sp>
        <p:sp>
          <p:nvSpPr>
            <p:cNvPr id="29" name="Rectangle 1058"/>
            <p:cNvSpPr>
              <a:spLocks noChangeArrowheads="1"/>
            </p:cNvSpPr>
            <p:nvPr/>
          </p:nvSpPr>
          <p:spPr bwMode="auto">
            <a:xfrm>
              <a:off x="2311400" y="5943600"/>
              <a:ext cx="473075" cy="396875"/>
            </a:xfrm>
            <a:prstGeom prst="rect">
              <a:avLst/>
            </a:prstGeom>
            <a:noFill/>
            <a:ln w="9525">
              <a:noFill/>
              <a:miter lim="800000"/>
              <a:headEnd/>
              <a:tailEnd/>
            </a:ln>
          </p:spPr>
          <p:txBody>
            <a:bodyPr wrap="none" lIns="92075" tIns="46038" rIns="92075" bIns="46038">
              <a:spAutoFit/>
            </a:bodyPr>
            <a:lstStyle/>
            <a:p>
              <a:pPr algn="ctr" defTabSz="762000"/>
              <a:r>
                <a:rPr lang="en-GB" sz="2000" b="0" i="1">
                  <a:solidFill>
                    <a:schemeClr val="accent2"/>
                  </a:solidFill>
                  <a:latin typeface="Arial" charset="0"/>
                </a:rPr>
                <a:t>Q</a:t>
              </a:r>
              <a:r>
                <a:rPr lang="en-GB" sz="2000" b="0" baseline="-25000">
                  <a:solidFill>
                    <a:schemeClr val="accent2"/>
                  </a:solidFill>
                  <a:latin typeface="Arial" charset="0"/>
                </a:rPr>
                <a:t>3</a:t>
              </a:r>
            </a:p>
          </p:txBody>
        </p:sp>
        <p:sp>
          <p:nvSpPr>
            <p:cNvPr id="30" name="Rectangle 1059"/>
            <p:cNvSpPr>
              <a:spLocks noChangeArrowheads="1"/>
            </p:cNvSpPr>
            <p:nvPr/>
          </p:nvSpPr>
          <p:spPr bwMode="auto">
            <a:xfrm>
              <a:off x="4335463" y="5942013"/>
              <a:ext cx="473075" cy="396875"/>
            </a:xfrm>
            <a:prstGeom prst="rect">
              <a:avLst/>
            </a:prstGeom>
            <a:noFill/>
            <a:ln w="9525">
              <a:noFill/>
              <a:miter lim="800000"/>
              <a:headEnd/>
              <a:tailEnd/>
            </a:ln>
          </p:spPr>
          <p:txBody>
            <a:bodyPr wrap="none" lIns="92075" tIns="46038" rIns="92075" bIns="46038">
              <a:spAutoFit/>
            </a:bodyPr>
            <a:lstStyle/>
            <a:p>
              <a:pPr algn="ctr" defTabSz="762000"/>
              <a:r>
                <a:rPr lang="en-GB" sz="2000" b="0" i="1">
                  <a:solidFill>
                    <a:schemeClr val="accent2"/>
                  </a:solidFill>
                  <a:latin typeface="Arial" charset="0"/>
                </a:rPr>
                <a:t>Q</a:t>
              </a:r>
              <a:r>
                <a:rPr lang="en-GB" sz="2000" b="0" baseline="-25000">
                  <a:solidFill>
                    <a:schemeClr val="accent2"/>
                  </a:solidFill>
                  <a:latin typeface="Arial" charset="0"/>
                </a:rPr>
                <a:t>4</a:t>
              </a:r>
            </a:p>
          </p:txBody>
        </p:sp>
        <p:grpSp>
          <p:nvGrpSpPr>
            <p:cNvPr id="31" name="Group 1060"/>
            <p:cNvGrpSpPr>
              <a:grpSpLocks/>
            </p:cNvGrpSpPr>
            <p:nvPr/>
          </p:nvGrpSpPr>
          <p:grpSpPr bwMode="auto">
            <a:xfrm>
              <a:off x="353856" y="3800475"/>
              <a:ext cx="644112" cy="461963"/>
              <a:chOff x="353855" y="2394"/>
              <a:chExt cx="644112" cy="291"/>
            </a:xfrm>
          </p:grpSpPr>
          <p:sp>
            <p:nvSpPr>
              <p:cNvPr id="37" name="Line 1061"/>
              <p:cNvSpPr>
                <a:spLocks noChangeShapeType="1"/>
              </p:cNvSpPr>
              <p:nvPr/>
            </p:nvSpPr>
            <p:spPr bwMode="auto">
              <a:xfrm>
                <a:off x="997967" y="2406"/>
                <a:ext cx="0" cy="279"/>
              </a:xfrm>
              <a:prstGeom prst="line">
                <a:avLst/>
              </a:prstGeom>
              <a:noFill/>
              <a:ln w="12700">
                <a:solidFill>
                  <a:schemeClr val="accent1"/>
                </a:solidFill>
                <a:round/>
                <a:headEnd type="stealth" w="med" len="med"/>
                <a:tailEnd type="stealth" w="med" len="med"/>
              </a:ln>
            </p:spPr>
            <p:txBody>
              <a:bodyPr wrap="none" anchor="ctr"/>
              <a:lstStyle/>
              <a:p>
                <a:endParaRPr lang="en-US"/>
              </a:p>
            </p:txBody>
          </p:sp>
          <p:sp>
            <p:nvSpPr>
              <p:cNvPr id="38" name="Rectangle 1062"/>
              <p:cNvSpPr>
                <a:spLocks noChangeArrowheads="1"/>
              </p:cNvSpPr>
              <p:nvPr/>
            </p:nvSpPr>
            <p:spPr bwMode="auto">
              <a:xfrm>
                <a:off x="353855" y="2394"/>
                <a:ext cx="644112" cy="262"/>
              </a:xfrm>
              <a:prstGeom prst="rect">
                <a:avLst/>
              </a:prstGeom>
              <a:noFill/>
              <a:ln w="9525">
                <a:noFill/>
                <a:miter lim="800000"/>
                <a:headEnd/>
                <a:tailEnd/>
              </a:ln>
            </p:spPr>
            <p:txBody>
              <a:bodyPr wrap="none" lIns="92075" tIns="46038" rIns="92075" bIns="46038">
                <a:spAutoFit/>
              </a:bodyPr>
              <a:lstStyle/>
              <a:p>
                <a:pPr algn="r" defTabSz="762000"/>
                <a:r>
                  <a:rPr lang="en-GB" sz="2000" b="0" dirty="0">
                    <a:solidFill>
                      <a:schemeClr val="accent1"/>
                    </a:solidFill>
                    <a:latin typeface="Arial" charset="0"/>
                  </a:rPr>
                  <a:t>Tariff</a:t>
                </a:r>
              </a:p>
            </p:txBody>
          </p:sp>
        </p:grpSp>
        <p:sp>
          <p:nvSpPr>
            <p:cNvPr id="32" name="Rectangle 1063"/>
            <p:cNvSpPr>
              <a:spLocks noChangeArrowheads="1"/>
            </p:cNvSpPr>
            <p:nvPr/>
          </p:nvSpPr>
          <p:spPr bwMode="auto">
            <a:xfrm>
              <a:off x="239713" y="3460750"/>
              <a:ext cx="869950" cy="396875"/>
            </a:xfrm>
            <a:prstGeom prst="rect">
              <a:avLst/>
            </a:prstGeom>
            <a:noFill/>
            <a:ln w="9525">
              <a:noFill/>
              <a:miter lim="800000"/>
              <a:headEnd/>
              <a:tailEnd/>
            </a:ln>
          </p:spPr>
          <p:txBody>
            <a:bodyPr wrap="none" lIns="92075" tIns="46038" rIns="92075" bIns="46038">
              <a:spAutoFit/>
            </a:bodyPr>
            <a:lstStyle/>
            <a:p>
              <a:pPr algn="r" defTabSz="762000"/>
              <a:r>
                <a:rPr lang="en-GB" sz="2000" b="0" i="1" dirty="0">
                  <a:solidFill>
                    <a:schemeClr val="accent2"/>
                  </a:solidFill>
                  <a:latin typeface="Arial" charset="0"/>
                </a:rPr>
                <a:t>P</a:t>
              </a:r>
              <a:r>
                <a:rPr lang="en-GB" sz="2000" b="0" baseline="-25000" dirty="0">
                  <a:solidFill>
                    <a:schemeClr val="accent2"/>
                  </a:solidFill>
                  <a:latin typeface="Arial" charset="0"/>
                </a:rPr>
                <a:t>W</a:t>
              </a:r>
              <a:r>
                <a:rPr lang="en-GB" sz="2000" b="0" dirty="0">
                  <a:solidFill>
                    <a:schemeClr val="accent2"/>
                  </a:solidFill>
                  <a:latin typeface="Arial" charset="0"/>
                </a:rPr>
                <a:t> + t</a:t>
              </a:r>
            </a:p>
          </p:txBody>
        </p:sp>
        <p:sp>
          <p:nvSpPr>
            <p:cNvPr id="33" name="Rectangle 1064"/>
            <p:cNvSpPr>
              <a:spLocks noChangeArrowheads="1"/>
            </p:cNvSpPr>
            <p:nvPr/>
          </p:nvSpPr>
          <p:spPr bwMode="auto">
            <a:xfrm>
              <a:off x="494112" y="4100719"/>
              <a:ext cx="509588" cy="396875"/>
            </a:xfrm>
            <a:prstGeom prst="rect">
              <a:avLst/>
            </a:prstGeom>
            <a:noFill/>
            <a:ln w="9525">
              <a:noFill/>
              <a:miter lim="800000"/>
              <a:headEnd/>
              <a:tailEnd/>
            </a:ln>
          </p:spPr>
          <p:txBody>
            <a:bodyPr wrap="none" lIns="92075" tIns="46038" rIns="92075" bIns="46038">
              <a:spAutoFit/>
            </a:bodyPr>
            <a:lstStyle/>
            <a:p>
              <a:pPr algn="r" defTabSz="762000"/>
              <a:r>
                <a:rPr lang="en-GB" sz="2000" b="0" i="1" dirty="0">
                  <a:solidFill>
                    <a:schemeClr val="folHlink"/>
                  </a:solidFill>
                  <a:latin typeface="Arial" charset="0"/>
                </a:rPr>
                <a:t>P</a:t>
              </a:r>
              <a:r>
                <a:rPr lang="en-GB" sz="2000" b="0" baseline="-25000" dirty="0">
                  <a:solidFill>
                    <a:schemeClr val="folHlink"/>
                  </a:solidFill>
                  <a:latin typeface="Arial" charset="0"/>
                </a:rPr>
                <a:t>W</a:t>
              </a:r>
            </a:p>
          </p:txBody>
        </p:sp>
        <p:sp>
          <p:nvSpPr>
            <p:cNvPr id="34" name="Rectangle 1065"/>
            <p:cNvSpPr>
              <a:spLocks noChangeArrowheads="1"/>
            </p:cNvSpPr>
            <p:nvPr/>
          </p:nvSpPr>
          <p:spPr bwMode="auto">
            <a:xfrm>
              <a:off x="7378700" y="5467350"/>
              <a:ext cx="763588" cy="396875"/>
            </a:xfrm>
            <a:prstGeom prst="rect">
              <a:avLst/>
            </a:prstGeom>
            <a:noFill/>
            <a:ln w="9525">
              <a:noFill/>
              <a:miter lim="800000"/>
              <a:headEnd/>
              <a:tailEnd/>
            </a:ln>
          </p:spPr>
          <p:txBody>
            <a:bodyPr wrap="none" lIns="92075" tIns="46038" rIns="92075" bIns="46038">
              <a:spAutoFit/>
            </a:bodyPr>
            <a:lstStyle/>
            <a:p>
              <a:pPr defTabSz="762000"/>
              <a:r>
                <a:rPr lang="en-GB" sz="2000" b="0" i="1">
                  <a:solidFill>
                    <a:schemeClr val="tx2"/>
                  </a:solidFill>
                  <a:latin typeface="Arial" charset="0"/>
                </a:rPr>
                <a:t>D</a:t>
              </a:r>
              <a:r>
                <a:rPr lang="en-GB" b="0" baseline="-25000">
                  <a:solidFill>
                    <a:schemeClr val="tx2"/>
                  </a:solidFill>
                  <a:latin typeface="Arial" charset="0"/>
                </a:rPr>
                <a:t>dom</a:t>
              </a:r>
            </a:p>
          </p:txBody>
        </p:sp>
        <p:sp>
          <p:nvSpPr>
            <p:cNvPr id="35" name="AutoShape 1067" descr="Parchment"/>
            <p:cNvSpPr>
              <a:spLocks noChangeArrowheads="1"/>
            </p:cNvSpPr>
            <p:nvPr/>
          </p:nvSpPr>
          <p:spPr bwMode="auto">
            <a:xfrm>
              <a:off x="5162550" y="2536825"/>
              <a:ext cx="2420938" cy="857250"/>
            </a:xfrm>
            <a:prstGeom prst="roundRect">
              <a:avLst>
                <a:gd name="adj" fmla="val 16667"/>
              </a:avLst>
            </a:prstGeom>
            <a:blipFill dpi="0" rotWithShape="0">
              <a:blip r:embed="rId3" cstate="print"/>
              <a:srcRect/>
              <a:tile tx="0" ty="0" sx="100000" sy="100000" flip="none" algn="tl"/>
            </a:blipFill>
            <a:ln w="28575">
              <a:solidFill>
                <a:schemeClr val="accent1"/>
              </a:solidFill>
              <a:round/>
              <a:headEnd type="none" w="sm" len="sm"/>
              <a:tailEnd type="none" w="sm" len="sm"/>
            </a:ln>
          </p:spPr>
          <p:txBody>
            <a:bodyPr wrap="none" anchor="ctr"/>
            <a:lstStyle/>
            <a:p>
              <a:pPr algn="ctr" defTabSz="762000"/>
              <a:r>
                <a:rPr lang="en-GB" sz="2000">
                  <a:solidFill>
                    <a:schemeClr val="folHlink"/>
                  </a:solidFill>
                  <a:latin typeface="Arial" charset="0"/>
                </a:rPr>
                <a:t>Area 3 equals gain</a:t>
              </a:r>
            </a:p>
            <a:p>
              <a:pPr algn="ctr" defTabSz="762000"/>
              <a:r>
                <a:rPr lang="en-GB" sz="2000">
                  <a:solidFill>
                    <a:schemeClr val="folHlink"/>
                  </a:solidFill>
                  <a:latin typeface="Arial" charset="0"/>
                </a:rPr>
                <a:t>in tariff revenue</a:t>
              </a:r>
            </a:p>
          </p:txBody>
        </p:sp>
        <p:sp>
          <p:nvSpPr>
            <p:cNvPr id="36" name="AutoShape 1068" descr="Parchment"/>
            <p:cNvSpPr>
              <a:spLocks noChangeArrowheads="1"/>
            </p:cNvSpPr>
            <p:nvPr/>
          </p:nvSpPr>
          <p:spPr bwMode="auto">
            <a:xfrm>
              <a:off x="2098675" y="1087438"/>
              <a:ext cx="2944813" cy="857250"/>
            </a:xfrm>
            <a:prstGeom prst="roundRect">
              <a:avLst>
                <a:gd name="adj" fmla="val 16667"/>
              </a:avLst>
            </a:prstGeom>
            <a:blipFill dpi="0" rotWithShape="0">
              <a:blip r:embed="rId3" cstate="print"/>
              <a:srcRect/>
              <a:tile tx="0" ty="0" sx="100000" sy="100000" flip="none" algn="tl"/>
            </a:blipFill>
            <a:ln w="28575">
              <a:solidFill>
                <a:schemeClr val="accent1"/>
              </a:solidFill>
              <a:round/>
              <a:headEnd type="none" w="sm" len="sm"/>
              <a:tailEnd type="none" w="sm" len="sm"/>
            </a:ln>
          </p:spPr>
          <p:txBody>
            <a:bodyPr wrap="none" anchor="ctr"/>
            <a:lstStyle/>
            <a:p>
              <a:pPr algn="ctr" defTabSz="762000"/>
              <a:r>
                <a:rPr lang="en-GB" sz="2000">
                  <a:solidFill>
                    <a:schemeClr val="folHlink"/>
                  </a:solidFill>
                  <a:latin typeface="Arial" charset="0"/>
                </a:rPr>
                <a:t>Area 1 equals gain in</a:t>
              </a:r>
            </a:p>
            <a:p>
              <a:pPr algn="ctr" defTabSz="762000"/>
              <a:r>
                <a:rPr lang="en-GB" sz="2000">
                  <a:solidFill>
                    <a:schemeClr val="folHlink"/>
                  </a:solidFill>
                  <a:latin typeface="Arial" charset="0"/>
                </a:rPr>
                <a:t>producer surplus</a:t>
              </a:r>
              <a:endParaRPr lang="en-GB" sz="2000">
                <a:solidFill>
                  <a:schemeClr val="accent2"/>
                </a:solidFill>
                <a:latin typeface="Arial"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animEffect transition="in" filter="box(in)">
                                      <p:cBhvr>
                                        <p:cTn id="7" dur="500"/>
                                        <p:tgtEl>
                                          <p:spTgt spid="8195">
                                            <p:txEl>
                                              <p:pRg st="0" end="0"/>
                                            </p:txEl>
                                          </p:spTgt>
                                        </p:tgtEl>
                                      </p:cBhvr>
                                    </p:animEffect>
                                  </p:childTnLst>
                                </p:cTn>
                              </p:par>
                              <p:par>
                                <p:cTn id="8" presetID="4" presetClass="entr" presetSubtype="16" fill="hold" grpId="0" nodeType="withEffect">
                                  <p:stCondLst>
                                    <p:cond delay="0"/>
                                  </p:stCondLst>
                                  <p:childTnLst>
                                    <p:set>
                                      <p:cBhvr>
                                        <p:cTn id="9" dur="1" fill="hold">
                                          <p:stCondLst>
                                            <p:cond delay="0"/>
                                          </p:stCondLst>
                                        </p:cTn>
                                        <p:tgtEl>
                                          <p:spTgt spid="8195">
                                            <p:txEl>
                                              <p:pRg st="1" end="1"/>
                                            </p:txEl>
                                          </p:spTgt>
                                        </p:tgtEl>
                                        <p:attrNameLst>
                                          <p:attrName>style.visibility</p:attrName>
                                        </p:attrNameLst>
                                      </p:cBhvr>
                                      <p:to>
                                        <p:strVal val="visible"/>
                                      </p:to>
                                    </p:set>
                                    <p:animEffect transition="in" filter="box(in)">
                                      <p:cBhvr>
                                        <p:cTn id="10" dur="500"/>
                                        <p:tgtEl>
                                          <p:spTgt spid="8195">
                                            <p:txEl>
                                              <p:pRg st="1" end="1"/>
                                            </p:txEl>
                                          </p:spTgt>
                                        </p:tgtEl>
                                      </p:cBhvr>
                                    </p:animEffect>
                                  </p:childTnLst>
                                </p:cTn>
                              </p:par>
                              <p:par>
                                <p:cTn id="11" presetID="4" presetClass="entr" presetSubtype="16" fill="hold" grpId="0" nodeType="withEffect">
                                  <p:stCondLst>
                                    <p:cond delay="0"/>
                                  </p:stCondLst>
                                  <p:childTnLst>
                                    <p:set>
                                      <p:cBhvr>
                                        <p:cTn id="12" dur="1" fill="hold">
                                          <p:stCondLst>
                                            <p:cond delay="0"/>
                                          </p:stCondLst>
                                        </p:cTn>
                                        <p:tgtEl>
                                          <p:spTgt spid="8195">
                                            <p:txEl>
                                              <p:pRg st="2" end="2"/>
                                            </p:txEl>
                                          </p:spTgt>
                                        </p:tgtEl>
                                        <p:attrNameLst>
                                          <p:attrName>style.visibility</p:attrName>
                                        </p:attrNameLst>
                                      </p:cBhvr>
                                      <p:to>
                                        <p:strVal val="visible"/>
                                      </p:to>
                                    </p:set>
                                    <p:animEffect transition="in" filter="box(in)">
                                      <p:cBhvr>
                                        <p:cTn id="13" dur="500"/>
                                        <p:tgtEl>
                                          <p:spTgt spid="8195">
                                            <p:txEl>
                                              <p:pRg st="2" end="2"/>
                                            </p:txEl>
                                          </p:spTgt>
                                        </p:tgtEl>
                                      </p:cBhvr>
                                    </p:animEffect>
                                  </p:childTnLst>
                                </p:cTn>
                              </p:par>
                              <p:par>
                                <p:cTn id="14" presetID="4" presetClass="entr" presetSubtype="16" fill="hold" grpId="0" nodeType="withEffect">
                                  <p:stCondLst>
                                    <p:cond delay="0"/>
                                  </p:stCondLst>
                                  <p:childTnLst>
                                    <p:set>
                                      <p:cBhvr>
                                        <p:cTn id="15" dur="1" fill="hold">
                                          <p:stCondLst>
                                            <p:cond delay="0"/>
                                          </p:stCondLst>
                                        </p:cTn>
                                        <p:tgtEl>
                                          <p:spTgt spid="8195">
                                            <p:txEl>
                                              <p:pRg st="3" end="3"/>
                                            </p:txEl>
                                          </p:spTgt>
                                        </p:tgtEl>
                                        <p:attrNameLst>
                                          <p:attrName>style.visibility</p:attrName>
                                        </p:attrNameLst>
                                      </p:cBhvr>
                                      <p:to>
                                        <p:strVal val="visible"/>
                                      </p:to>
                                    </p:set>
                                    <p:animEffect transition="in" filter="box(in)">
                                      <p:cBhvr>
                                        <p:cTn id="16" dur="500"/>
                                        <p:tgtEl>
                                          <p:spTgt spid="819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itle 3"/>
          <p:cNvSpPr>
            <a:spLocks noGrp="1"/>
          </p:cNvSpPr>
          <p:nvPr>
            <p:ph type="title" idx="4294967295"/>
          </p:nvPr>
        </p:nvSpPr>
        <p:spPr>
          <a:xfrm>
            <a:off x="0" y="319088"/>
            <a:ext cx="9144000" cy="563562"/>
          </a:xfrm>
        </p:spPr>
        <p:txBody>
          <a:bodyPr/>
          <a:lstStyle/>
          <a:p>
            <a:pPr algn="ctr"/>
            <a:r>
              <a:rPr lang="en-US" altLang="zh-CN" sz="3200" b="1" dirty="0">
                <a:solidFill>
                  <a:srgbClr val="FDC52B"/>
                </a:solidFill>
                <a:latin typeface="Times New Roman" pitchFamily="18" charset="0"/>
                <a:ea typeface="SimSun" pitchFamily="2" charset="-122"/>
              </a:rPr>
              <a:t>IMPACT OF TRADE POLICY</a:t>
            </a:r>
          </a:p>
        </p:txBody>
      </p:sp>
      <p:sp>
        <p:nvSpPr>
          <p:cNvPr id="8195" name="Rectangle 1028"/>
          <p:cNvSpPr>
            <a:spLocks noGrp="1" noChangeArrowheads="1"/>
          </p:cNvSpPr>
          <p:nvPr>
            <p:ph type="body" idx="4294967295"/>
          </p:nvPr>
        </p:nvSpPr>
        <p:spPr>
          <a:xfrm>
            <a:off x="683568" y="1240681"/>
            <a:ext cx="7848872" cy="4708599"/>
          </a:xfrm>
          <a:ln>
            <a:noFill/>
          </a:ln>
        </p:spPr>
        <p:txBody>
          <a:bodyPr/>
          <a:lstStyle/>
          <a:p>
            <a:pPr lvl="1" eaLnBrk="1" hangingPunct="1">
              <a:lnSpc>
                <a:spcPct val="150000"/>
              </a:lnSpc>
              <a:spcBef>
                <a:spcPct val="50000"/>
              </a:spcBef>
              <a:buFont typeface="Wingdings" pitchFamily="2" charset="2"/>
              <a:buNone/>
            </a:pPr>
            <a:r>
              <a:rPr lang="en-US" altLang="zh-TW" dirty="0">
                <a:solidFill>
                  <a:srgbClr val="B1E2FB"/>
                </a:solidFill>
                <a:latin typeface="Times New Roman" pitchFamily="18" charset="0"/>
                <a:ea typeface="PMingLiU" pitchFamily="18" charset="-120"/>
              </a:rPr>
              <a:t>Impact of a government’s restricting international trade (protection)</a:t>
            </a:r>
          </a:p>
          <a:p>
            <a:pPr lvl="1" eaLnBrk="1" hangingPunct="1">
              <a:lnSpc>
                <a:spcPct val="150000"/>
              </a:lnSpc>
              <a:spcBef>
                <a:spcPct val="50000"/>
              </a:spcBef>
              <a:buClr>
                <a:schemeClr val="tx1">
                  <a:lumMod val="75000"/>
                </a:schemeClr>
              </a:buClr>
              <a:buFont typeface="Arial" pitchFamily="34" charset="0"/>
              <a:buChar char="•"/>
            </a:pPr>
            <a:r>
              <a:rPr lang="en-US" altLang="zh-TW" dirty="0">
                <a:solidFill>
                  <a:srgbClr val="B1E2FB"/>
                </a:solidFill>
                <a:latin typeface="Times New Roman" pitchFamily="18" charset="0"/>
                <a:ea typeface="PMingLiU" pitchFamily="18" charset="-120"/>
                <a:cs typeface="Times New Roman" pitchFamily="18" charset="0"/>
              </a:rPr>
              <a:t>Good for domestic producers</a:t>
            </a:r>
          </a:p>
          <a:p>
            <a:pPr lvl="1" eaLnBrk="1" hangingPunct="1">
              <a:lnSpc>
                <a:spcPct val="150000"/>
              </a:lnSpc>
              <a:spcBef>
                <a:spcPct val="50000"/>
              </a:spcBef>
              <a:buClr>
                <a:schemeClr val="tx1">
                  <a:lumMod val="75000"/>
                </a:schemeClr>
              </a:buClr>
              <a:buFont typeface="Arial" pitchFamily="34" charset="0"/>
              <a:buChar char="•"/>
            </a:pPr>
            <a:r>
              <a:rPr lang="en-US" altLang="zh-TW" dirty="0">
                <a:solidFill>
                  <a:srgbClr val="B1E2FB"/>
                </a:solidFill>
                <a:latin typeface="Times New Roman" pitchFamily="18" charset="0"/>
                <a:ea typeface="PMingLiU" pitchFamily="18" charset="-120"/>
                <a:cs typeface="Times New Roman" pitchFamily="18" charset="0"/>
              </a:rPr>
              <a:t>Good for the government</a:t>
            </a:r>
          </a:p>
          <a:p>
            <a:pPr lvl="1" eaLnBrk="1" hangingPunct="1">
              <a:lnSpc>
                <a:spcPct val="150000"/>
              </a:lnSpc>
              <a:spcBef>
                <a:spcPct val="50000"/>
              </a:spcBef>
              <a:buClr>
                <a:schemeClr val="tx1">
                  <a:lumMod val="75000"/>
                </a:schemeClr>
              </a:buClr>
              <a:buFont typeface="Arial" pitchFamily="34" charset="0"/>
              <a:buChar char="•"/>
            </a:pPr>
            <a:r>
              <a:rPr lang="en-US" altLang="zh-TW" dirty="0">
                <a:solidFill>
                  <a:srgbClr val="B1E2FB"/>
                </a:solidFill>
                <a:latin typeface="Times New Roman" pitchFamily="18" charset="0"/>
                <a:ea typeface="PMingLiU" pitchFamily="18" charset="-120"/>
                <a:cs typeface="Times New Roman" pitchFamily="18" charset="0"/>
              </a:rPr>
              <a:t>Bad for domestic consumers</a:t>
            </a:r>
          </a:p>
        </p:txBody>
      </p:sp>
      <p:grpSp>
        <p:nvGrpSpPr>
          <p:cNvPr id="4" name="Group 3"/>
          <p:cNvGrpSpPr/>
          <p:nvPr/>
        </p:nvGrpSpPr>
        <p:grpSpPr>
          <a:xfrm>
            <a:off x="32671" y="1124744"/>
            <a:ext cx="9111329" cy="5733255"/>
            <a:chOff x="239713" y="517525"/>
            <a:chExt cx="7969250" cy="5943600"/>
          </a:xfrm>
        </p:grpSpPr>
        <p:sp>
          <p:nvSpPr>
            <p:cNvPr id="5" name="Rectangle 1026"/>
            <p:cNvSpPr>
              <a:spLocks noChangeArrowheads="1"/>
            </p:cNvSpPr>
            <p:nvPr/>
          </p:nvSpPr>
          <p:spPr bwMode="auto">
            <a:xfrm>
              <a:off x="1063625" y="627063"/>
              <a:ext cx="7145338" cy="5302250"/>
            </a:xfrm>
            <a:prstGeom prst="rect">
              <a:avLst/>
            </a:prstGeom>
            <a:solidFill>
              <a:schemeClr val="bg1"/>
            </a:solidFill>
            <a:ln w="12700">
              <a:noFill/>
              <a:miter lim="800000"/>
              <a:headEnd type="none" w="sm" len="sm"/>
              <a:tailEnd type="none" w="sm" len="sm"/>
            </a:ln>
          </p:spPr>
          <p:txBody>
            <a:bodyPr wrap="none" anchor="ctr"/>
            <a:lstStyle/>
            <a:p>
              <a:endParaRPr lang="en-US"/>
            </a:p>
          </p:txBody>
        </p:sp>
        <p:grpSp>
          <p:nvGrpSpPr>
            <p:cNvPr id="6" name="Group 1027"/>
            <p:cNvGrpSpPr>
              <a:grpSpLocks/>
            </p:cNvGrpSpPr>
            <p:nvPr/>
          </p:nvGrpSpPr>
          <p:grpSpPr bwMode="auto">
            <a:xfrm>
              <a:off x="1800226" y="3803650"/>
              <a:ext cx="3505202" cy="461963"/>
              <a:chOff x="1134" y="2396"/>
              <a:chExt cx="2208" cy="291"/>
            </a:xfrm>
          </p:grpSpPr>
          <p:sp>
            <p:nvSpPr>
              <p:cNvPr id="44" name="Freeform 1028"/>
              <p:cNvSpPr>
                <a:spLocks/>
              </p:cNvSpPr>
              <p:nvPr/>
            </p:nvSpPr>
            <p:spPr bwMode="auto">
              <a:xfrm>
                <a:off x="2869" y="2396"/>
                <a:ext cx="473" cy="291"/>
              </a:xfrm>
              <a:custGeom>
                <a:avLst/>
                <a:gdLst>
                  <a:gd name="T0" fmla="*/ 0 w 473"/>
                  <a:gd name="T1" fmla="*/ 0 h 279"/>
                  <a:gd name="T2" fmla="*/ 11 w 473"/>
                  <a:gd name="T3" fmla="*/ 278 h 279"/>
                  <a:gd name="T4" fmla="*/ 472 w 473"/>
                  <a:gd name="T5" fmla="*/ 278 h 279"/>
                  <a:gd name="T6" fmla="*/ 0 w 473"/>
                  <a:gd name="T7" fmla="*/ 0 h 279"/>
                  <a:gd name="T8" fmla="*/ 0 60000 65536"/>
                  <a:gd name="T9" fmla="*/ 0 60000 65536"/>
                  <a:gd name="T10" fmla="*/ 0 60000 65536"/>
                  <a:gd name="T11" fmla="*/ 0 60000 65536"/>
                  <a:gd name="T12" fmla="*/ 0 w 473"/>
                  <a:gd name="T13" fmla="*/ 0 h 279"/>
                  <a:gd name="T14" fmla="*/ 473 w 473"/>
                  <a:gd name="T15" fmla="*/ 279 h 279"/>
                </a:gdLst>
                <a:ahLst/>
                <a:cxnLst>
                  <a:cxn ang="T8">
                    <a:pos x="T0" y="T1"/>
                  </a:cxn>
                  <a:cxn ang="T9">
                    <a:pos x="T2" y="T3"/>
                  </a:cxn>
                  <a:cxn ang="T10">
                    <a:pos x="T4" y="T5"/>
                  </a:cxn>
                  <a:cxn ang="T11">
                    <a:pos x="T6" y="T7"/>
                  </a:cxn>
                </a:cxnLst>
                <a:rect l="T12" t="T13" r="T14" b="T15"/>
                <a:pathLst>
                  <a:path w="473" h="279">
                    <a:moveTo>
                      <a:pt x="0" y="0"/>
                    </a:moveTo>
                    <a:lnTo>
                      <a:pt x="11" y="278"/>
                    </a:lnTo>
                    <a:lnTo>
                      <a:pt x="472" y="278"/>
                    </a:lnTo>
                    <a:lnTo>
                      <a:pt x="0" y="0"/>
                    </a:lnTo>
                  </a:path>
                </a:pathLst>
              </a:custGeom>
              <a:solidFill>
                <a:srgbClr val="FFCCCC"/>
              </a:solidFill>
              <a:ln w="9525" cap="rnd">
                <a:noFill/>
                <a:round/>
                <a:headEnd/>
                <a:tailEnd/>
              </a:ln>
            </p:spPr>
            <p:txBody>
              <a:bodyPr/>
              <a:lstStyle/>
              <a:p>
                <a:endParaRPr lang="en-US"/>
              </a:p>
            </p:txBody>
          </p:sp>
          <p:sp>
            <p:nvSpPr>
              <p:cNvPr id="45" name="Freeform 1029"/>
              <p:cNvSpPr>
                <a:spLocks/>
              </p:cNvSpPr>
              <p:nvPr/>
            </p:nvSpPr>
            <p:spPr bwMode="auto">
              <a:xfrm>
                <a:off x="1134" y="2396"/>
                <a:ext cx="461" cy="290"/>
              </a:xfrm>
              <a:custGeom>
                <a:avLst/>
                <a:gdLst>
                  <a:gd name="T0" fmla="*/ 460 w 461"/>
                  <a:gd name="T1" fmla="*/ 0 h 290"/>
                  <a:gd name="T2" fmla="*/ 460 w 461"/>
                  <a:gd name="T3" fmla="*/ 289 h 290"/>
                  <a:gd name="T4" fmla="*/ 0 w 461"/>
                  <a:gd name="T5" fmla="*/ 289 h 290"/>
                  <a:gd name="T6" fmla="*/ 460 w 461"/>
                  <a:gd name="T7" fmla="*/ 0 h 290"/>
                  <a:gd name="T8" fmla="*/ 0 60000 65536"/>
                  <a:gd name="T9" fmla="*/ 0 60000 65536"/>
                  <a:gd name="T10" fmla="*/ 0 60000 65536"/>
                  <a:gd name="T11" fmla="*/ 0 60000 65536"/>
                  <a:gd name="T12" fmla="*/ 0 w 461"/>
                  <a:gd name="T13" fmla="*/ 0 h 290"/>
                  <a:gd name="T14" fmla="*/ 461 w 461"/>
                  <a:gd name="T15" fmla="*/ 290 h 290"/>
                </a:gdLst>
                <a:ahLst/>
                <a:cxnLst>
                  <a:cxn ang="T8">
                    <a:pos x="T0" y="T1"/>
                  </a:cxn>
                  <a:cxn ang="T9">
                    <a:pos x="T2" y="T3"/>
                  </a:cxn>
                  <a:cxn ang="T10">
                    <a:pos x="T4" y="T5"/>
                  </a:cxn>
                  <a:cxn ang="T11">
                    <a:pos x="T6" y="T7"/>
                  </a:cxn>
                </a:cxnLst>
                <a:rect l="T12" t="T13" r="T14" b="T15"/>
                <a:pathLst>
                  <a:path w="461" h="290">
                    <a:moveTo>
                      <a:pt x="460" y="0"/>
                    </a:moveTo>
                    <a:lnTo>
                      <a:pt x="460" y="289"/>
                    </a:lnTo>
                    <a:lnTo>
                      <a:pt x="0" y="289"/>
                    </a:lnTo>
                    <a:lnTo>
                      <a:pt x="460" y="0"/>
                    </a:lnTo>
                  </a:path>
                </a:pathLst>
              </a:custGeom>
              <a:solidFill>
                <a:srgbClr val="FFCCCC"/>
              </a:solidFill>
              <a:ln w="9525" cap="rnd">
                <a:noFill/>
                <a:round/>
                <a:headEnd/>
                <a:tailEnd/>
              </a:ln>
            </p:spPr>
            <p:txBody>
              <a:bodyPr/>
              <a:lstStyle/>
              <a:p>
                <a:endParaRPr lang="en-US"/>
              </a:p>
            </p:txBody>
          </p:sp>
        </p:grpSp>
        <p:sp>
          <p:nvSpPr>
            <p:cNvPr id="7" name="Line 1030"/>
            <p:cNvSpPr>
              <a:spLocks noChangeShapeType="1"/>
            </p:cNvSpPr>
            <p:nvPr/>
          </p:nvSpPr>
          <p:spPr bwMode="auto">
            <a:xfrm>
              <a:off x="1066800" y="5943600"/>
              <a:ext cx="7126288" cy="0"/>
            </a:xfrm>
            <a:prstGeom prst="line">
              <a:avLst/>
            </a:prstGeom>
            <a:noFill/>
            <a:ln w="25400">
              <a:solidFill>
                <a:schemeClr val="tx1"/>
              </a:solidFill>
              <a:round/>
              <a:headEnd type="none" w="sm" len="sm"/>
              <a:tailEnd type="stealth" w="med" len="lg"/>
            </a:ln>
          </p:spPr>
          <p:txBody>
            <a:bodyPr wrap="none" anchor="ctr"/>
            <a:lstStyle/>
            <a:p>
              <a:endParaRPr lang="en-US"/>
            </a:p>
          </p:txBody>
        </p:sp>
        <p:sp>
          <p:nvSpPr>
            <p:cNvPr id="8" name="Rectangle 1031"/>
            <p:cNvSpPr>
              <a:spLocks noChangeArrowheads="1"/>
            </p:cNvSpPr>
            <p:nvPr/>
          </p:nvSpPr>
          <p:spPr bwMode="auto">
            <a:xfrm>
              <a:off x="746125" y="5897563"/>
              <a:ext cx="381000" cy="396875"/>
            </a:xfrm>
            <a:prstGeom prst="rect">
              <a:avLst/>
            </a:prstGeom>
            <a:noFill/>
            <a:ln w="9525">
              <a:noFill/>
              <a:miter lim="800000"/>
              <a:headEnd/>
              <a:tailEnd/>
            </a:ln>
          </p:spPr>
          <p:txBody>
            <a:bodyPr wrap="none" lIns="92075" tIns="46038" rIns="92075" bIns="46038">
              <a:spAutoFit/>
            </a:bodyPr>
            <a:lstStyle/>
            <a:p>
              <a:pPr defTabSz="762000"/>
              <a:r>
                <a:rPr lang="en-GB" sz="2000" b="0">
                  <a:latin typeface="Arial" charset="0"/>
                </a:rPr>
                <a:t>O</a:t>
              </a:r>
            </a:p>
          </p:txBody>
        </p:sp>
        <p:sp>
          <p:nvSpPr>
            <p:cNvPr id="9" name="Rectangle 1032"/>
            <p:cNvSpPr>
              <a:spLocks noChangeArrowheads="1"/>
            </p:cNvSpPr>
            <p:nvPr/>
          </p:nvSpPr>
          <p:spPr bwMode="auto">
            <a:xfrm>
              <a:off x="593725" y="517525"/>
              <a:ext cx="387350" cy="457200"/>
            </a:xfrm>
            <a:prstGeom prst="rect">
              <a:avLst/>
            </a:prstGeom>
            <a:noFill/>
            <a:ln w="9525">
              <a:noFill/>
              <a:miter lim="800000"/>
              <a:headEnd/>
              <a:tailEnd/>
            </a:ln>
          </p:spPr>
          <p:txBody>
            <a:bodyPr wrap="none" lIns="92075" tIns="46038" rIns="92075" bIns="46038">
              <a:spAutoFit/>
            </a:bodyPr>
            <a:lstStyle/>
            <a:p>
              <a:pPr defTabSz="762000"/>
              <a:r>
                <a:rPr lang="en-GB" b="0" i="1">
                  <a:latin typeface="Arial" charset="0"/>
                </a:rPr>
                <a:t>P</a:t>
              </a:r>
            </a:p>
          </p:txBody>
        </p:sp>
        <p:sp>
          <p:nvSpPr>
            <p:cNvPr id="10" name="Rectangle 1033"/>
            <p:cNvSpPr>
              <a:spLocks noChangeArrowheads="1"/>
            </p:cNvSpPr>
            <p:nvPr/>
          </p:nvSpPr>
          <p:spPr bwMode="auto">
            <a:xfrm>
              <a:off x="7756525" y="6003925"/>
              <a:ext cx="420688" cy="457200"/>
            </a:xfrm>
            <a:prstGeom prst="rect">
              <a:avLst/>
            </a:prstGeom>
            <a:noFill/>
            <a:ln w="9525">
              <a:noFill/>
              <a:miter lim="800000"/>
              <a:headEnd/>
              <a:tailEnd/>
            </a:ln>
          </p:spPr>
          <p:txBody>
            <a:bodyPr wrap="none" lIns="92075" tIns="46038" rIns="92075" bIns="46038">
              <a:spAutoFit/>
            </a:bodyPr>
            <a:lstStyle/>
            <a:p>
              <a:pPr defTabSz="762000"/>
              <a:r>
                <a:rPr lang="en-GB" b="0" i="1">
                  <a:latin typeface="Arial" charset="0"/>
                </a:rPr>
                <a:t>Q</a:t>
              </a:r>
            </a:p>
          </p:txBody>
        </p:sp>
        <p:sp>
          <p:nvSpPr>
            <p:cNvPr id="11" name="Line 1034"/>
            <p:cNvSpPr>
              <a:spLocks noChangeShapeType="1"/>
            </p:cNvSpPr>
            <p:nvPr/>
          </p:nvSpPr>
          <p:spPr bwMode="auto">
            <a:xfrm>
              <a:off x="1066800" y="1524000"/>
              <a:ext cx="6324600" cy="4114800"/>
            </a:xfrm>
            <a:prstGeom prst="line">
              <a:avLst/>
            </a:prstGeom>
            <a:noFill/>
            <a:ln w="38100">
              <a:solidFill>
                <a:schemeClr val="tx2"/>
              </a:solidFill>
              <a:round/>
              <a:headEnd type="none" w="sm" len="sm"/>
              <a:tailEnd type="none" w="sm" len="sm"/>
            </a:ln>
          </p:spPr>
          <p:txBody>
            <a:bodyPr wrap="none" anchor="ctr"/>
            <a:lstStyle/>
            <a:p>
              <a:endParaRPr lang="en-US"/>
            </a:p>
          </p:txBody>
        </p:sp>
        <p:sp>
          <p:nvSpPr>
            <p:cNvPr id="12" name="Line 1035"/>
            <p:cNvSpPr>
              <a:spLocks noChangeShapeType="1"/>
            </p:cNvSpPr>
            <p:nvPr/>
          </p:nvSpPr>
          <p:spPr bwMode="auto">
            <a:xfrm flipV="1">
              <a:off x="1066800" y="1295400"/>
              <a:ext cx="5486400" cy="3429000"/>
            </a:xfrm>
            <a:prstGeom prst="line">
              <a:avLst/>
            </a:prstGeom>
            <a:noFill/>
            <a:ln w="38100">
              <a:solidFill>
                <a:schemeClr val="tx2"/>
              </a:solidFill>
              <a:round/>
              <a:headEnd type="none" w="sm" len="sm"/>
              <a:tailEnd type="none" w="sm" len="sm"/>
            </a:ln>
          </p:spPr>
          <p:txBody>
            <a:bodyPr wrap="none" anchor="ctr"/>
            <a:lstStyle/>
            <a:p>
              <a:endParaRPr lang="en-US"/>
            </a:p>
          </p:txBody>
        </p:sp>
        <p:sp>
          <p:nvSpPr>
            <p:cNvPr id="13" name="Line 1036"/>
            <p:cNvSpPr>
              <a:spLocks noChangeShapeType="1"/>
            </p:cNvSpPr>
            <p:nvPr/>
          </p:nvSpPr>
          <p:spPr bwMode="auto">
            <a:xfrm flipH="1">
              <a:off x="1066800" y="3810000"/>
              <a:ext cx="5562600" cy="0"/>
            </a:xfrm>
            <a:prstGeom prst="line">
              <a:avLst/>
            </a:prstGeom>
            <a:noFill/>
            <a:ln w="38100">
              <a:solidFill>
                <a:schemeClr val="accent2"/>
              </a:solidFill>
              <a:round/>
              <a:headEnd type="none" w="sm" len="sm"/>
              <a:tailEnd type="none" w="sm" len="sm"/>
            </a:ln>
          </p:spPr>
          <p:txBody>
            <a:bodyPr wrap="none" anchor="ctr"/>
            <a:lstStyle/>
            <a:p>
              <a:endParaRPr lang="en-US"/>
            </a:p>
          </p:txBody>
        </p:sp>
        <p:sp>
          <p:nvSpPr>
            <p:cNvPr id="14" name="Line 1037"/>
            <p:cNvSpPr>
              <a:spLocks noChangeShapeType="1"/>
            </p:cNvSpPr>
            <p:nvPr/>
          </p:nvSpPr>
          <p:spPr bwMode="auto">
            <a:xfrm>
              <a:off x="1066800" y="4267200"/>
              <a:ext cx="5562600" cy="0"/>
            </a:xfrm>
            <a:prstGeom prst="line">
              <a:avLst/>
            </a:prstGeom>
            <a:noFill/>
            <a:ln w="38100">
              <a:solidFill>
                <a:schemeClr val="folHlink"/>
              </a:solidFill>
              <a:round/>
              <a:headEnd type="none" w="sm" len="sm"/>
              <a:tailEnd type="none" w="sm" len="sm"/>
            </a:ln>
          </p:spPr>
          <p:txBody>
            <a:bodyPr wrap="none" anchor="ctr"/>
            <a:lstStyle/>
            <a:p>
              <a:endParaRPr lang="en-US"/>
            </a:p>
          </p:txBody>
        </p:sp>
        <p:sp>
          <p:nvSpPr>
            <p:cNvPr id="15" name="Line 1038"/>
            <p:cNvSpPr>
              <a:spLocks noChangeShapeType="1"/>
            </p:cNvSpPr>
            <p:nvPr/>
          </p:nvSpPr>
          <p:spPr bwMode="auto">
            <a:xfrm>
              <a:off x="1066800" y="609600"/>
              <a:ext cx="0" cy="5334000"/>
            </a:xfrm>
            <a:prstGeom prst="line">
              <a:avLst/>
            </a:prstGeom>
            <a:noFill/>
            <a:ln w="25400">
              <a:solidFill>
                <a:schemeClr val="tx1"/>
              </a:solidFill>
              <a:round/>
              <a:headEnd type="stealth" w="med" len="lg"/>
              <a:tailEnd type="none" w="sm" len="sm"/>
            </a:ln>
          </p:spPr>
          <p:txBody>
            <a:bodyPr wrap="none" anchor="ctr"/>
            <a:lstStyle/>
            <a:p>
              <a:endParaRPr lang="en-US"/>
            </a:p>
          </p:txBody>
        </p:sp>
        <p:sp>
          <p:nvSpPr>
            <p:cNvPr id="16" name="Rectangle 1039"/>
            <p:cNvSpPr>
              <a:spLocks noChangeArrowheads="1"/>
            </p:cNvSpPr>
            <p:nvPr/>
          </p:nvSpPr>
          <p:spPr bwMode="auto">
            <a:xfrm>
              <a:off x="6461125" y="898525"/>
              <a:ext cx="661777" cy="479268"/>
            </a:xfrm>
            <a:prstGeom prst="rect">
              <a:avLst/>
            </a:prstGeom>
            <a:noFill/>
            <a:ln w="9525">
              <a:noFill/>
              <a:miter lim="800000"/>
              <a:headEnd/>
              <a:tailEnd/>
            </a:ln>
          </p:spPr>
          <p:txBody>
            <a:bodyPr wrap="none" lIns="92075" tIns="46038" rIns="92075" bIns="46038">
              <a:spAutoFit/>
            </a:bodyPr>
            <a:lstStyle/>
            <a:p>
              <a:pPr defTabSz="762000"/>
              <a:r>
                <a:rPr lang="en-GB" sz="2000" b="0" i="1" dirty="0" err="1">
                  <a:solidFill>
                    <a:schemeClr val="tx2"/>
                  </a:solidFill>
                  <a:latin typeface="Arial" charset="0"/>
                </a:rPr>
                <a:t>S</a:t>
              </a:r>
              <a:r>
                <a:rPr lang="en-GB" b="0" baseline="-25000" dirty="0" err="1">
                  <a:solidFill>
                    <a:schemeClr val="tx2"/>
                  </a:solidFill>
                  <a:latin typeface="Arial" charset="0"/>
                </a:rPr>
                <a:t>dom</a:t>
              </a:r>
              <a:endParaRPr lang="en-GB" sz="2000" b="0" dirty="0">
                <a:solidFill>
                  <a:schemeClr val="tx2"/>
                </a:solidFill>
                <a:latin typeface="Arial" charset="0"/>
              </a:endParaRPr>
            </a:p>
          </p:txBody>
        </p:sp>
        <p:sp>
          <p:nvSpPr>
            <p:cNvPr id="17" name="Rectangle 1040"/>
            <p:cNvSpPr>
              <a:spLocks noChangeArrowheads="1"/>
            </p:cNvSpPr>
            <p:nvPr/>
          </p:nvSpPr>
          <p:spPr bwMode="auto">
            <a:xfrm>
              <a:off x="6613525" y="3565525"/>
              <a:ext cx="1563688" cy="457200"/>
            </a:xfrm>
            <a:prstGeom prst="rect">
              <a:avLst/>
            </a:prstGeom>
            <a:noFill/>
            <a:ln w="9525">
              <a:noFill/>
              <a:miter lim="800000"/>
              <a:headEnd/>
              <a:tailEnd/>
            </a:ln>
          </p:spPr>
          <p:txBody>
            <a:bodyPr wrap="none" lIns="92075" tIns="46038" rIns="92075" bIns="46038">
              <a:spAutoFit/>
            </a:bodyPr>
            <a:lstStyle/>
            <a:p>
              <a:pPr defTabSz="762000"/>
              <a:r>
                <a:rPr lang="en-GB" sz="2000" b="0" i="1">
                  <a:solidFill>
                    <a:schemeClr val="accent2"/>
                  </a:solidFill>
                  <a:latin typeface="Arial" charset="0"/>
                </a:rPr>
                <a:t>S </a:t>
              </a:r>
              <a:r>
                <a:rPr lang="en-GB" b="0" baseline="-25000">
                  <a:solidFill>
                    <a:schemeClr val="accent2"/>
                  </a:solidFill>
                  <a:latin typeface="Arial" charset="0"/>
                </a:rPr>
                <a:t>world</a:t>
              </a:r>
              <a:r>
                <a:rPr lang="en-GB" b="0" i="1">
                  <a:solidFill>
                    <a:schemeClr val="accent2"/>
                  </a:solidFill>
                  <a:latin typeface="Arial" charset="0"/>
                </a:rPr>
                <a:t> </a:t>
              </a:r>
              <a:r>
                <a:rPr lang="en-GB" b="0" baseline="-25000">
                  <a:solidFill>
                    <a:schemeClr val="accent2"/>
                  </a:solidFill>
                  <a:latin typeface="Arial" charset="0"/>
                </a:rPr>
                <a:t>+ tariff</a:t>
              </a:r>
            </a:p>
          </p:txBody>
        </p:sp>
        <p:sp>
          <p:nvSpPr>
            <p:cNvPr id="18" name="Rectangle 1041"/>
            <p:cNvSpPr>
              <a:spLocks noChangeArrowheads="1"/>
            </p:cNvSpPr>
            <p:nvPr/>
          </p:nvSpPr>
          <p:spPr bwMode="auto">
            <a:xfrm>
              <a:off x="6613525" y="4068763"/>
              <a:ext cx="909638" cy="396875"/>
            </a:xfrm>
            <a:prstGeom prst="rect">
              <a:avLst/>
            </a:prstGeom>
            <a:noFill/>
            <a:ln w="9525">
              <a:noFill/>
              <a:miter lim="800000"/>
              <a:headEnd/>
              <a:tailEnd/>
            </a:ln>
          </p:spPr>
          <p:txBody>
            <a:bodyPr wrap="none" lIns="92075" tIns="46038" rIns="92075" bIns="46038">
              <a:spAutoFit/>
            </a:bodyPr>
            <a:lstStyle/>
            <a:p>
              <a:pPr defTabSz="762000"/>
              <a:r>
                <a:rPr lang="en-GB" sz="2000" b="0" i="1">
                  <a:solidFill>
                    <a:schemeClr val="folHlink"/>
                  </a:solidFill>
                  <a:latin typeface="Arial" charset="0"/>
                </a:rPr>
                <a:t>S </a:t>
              </a:r>
              <a:r>
                <a:rPr lang="en-GB" b="0" baseline="-25000">
                  <a:solidFill>
                    <a:schemeClr val="folHlink"/>
                  </a:solidFill>
                  <a:latin typeface="Arial" charset="0"/>
                </a:rPr>
                <a:t>world</a:t>
              </a:r>
            </a:p>
          </p:txBody>
        </p:sp>
        <p:sp>
          <p:nvSpPr>
            <p:cNvPr id="19" name="Rectangle 1042"/>
            <p:cNvSpPr>
              <a:spLocks noChangeArrowheads="1"/>
            </p:cNvSpPr>
            <p:nvPr/>
          </p:nvSpPr>
          <p:spPr bwMode="auto">
            <a:xfrm>
              <a:off x="1050925" y="1173163"/>
              <a:ext cx="325438" cy="396875"/>
            </a:xfrm>
            <a:prstGeom prst="rect">
              <a:avLst/>
            </a:prstGeom>
            <a:noFill/>
            <a:ln w="9525">
              <a:noFill/>
              <a:miter lim="800000"/>
              <a:headEnd/>
              <a:tailEnd/>
            </a:ln>
          </p:spPr>
          <p:txBody>
            <a:bodyPr wrap="none" lIns="92075" tIns="46038" rIns="92075" bIns="46038">
              <a:spAutoFit/>
            </a:bodyPr>
            <a:lstStyle/>
            <a:p>
              <a:pPr defTabSz="762000"/>
              <a:r>
                <a:rPr lang="en-GB" sz="2000" b="0" i="1">
                  <a:solidFill>
                    <a:schemeClr val="hlink"/>
                  </a:solidFill>
                  <a:latin typeface="Arial" charset="0"/>
                </a:rPr>
                <a:t>a</a:t>
              </a:r>
            </a:p>
          </p:txBody>
        </p:sp>
        <p:grpSp>
          <p:nvGrpSpPr>
            <p:cNvPr id="20" name="Group 1043"/>
            <p:cNvGrpSpPr>
              <a:grpSpLocks/>
            </p:cNvGrpSpPr>
            <p:nvPr/>
          </p:nvGrpSpPr>
          <p:grpSpPr bwMode="auto">
            <a:xfrm>
              <a:off x="1050925" y="3382963"/>
              <a:ext cx="4530725" cy="930275"/>
              <a:chOff x="662" y="2131"/>
              <a:chExt cx="2854" cy="586"/>
            </a:xfrm>
          </p:grpSpPr>
          <p:sp>
            <p:nvSpPr>
              <p:cNvPr id="40" name="Rectangle 1044"/>
              <p:cNvSpPr>
                <a:spLocks noChangeArrowheads="1"/>
              </p:cNvSpPr>
              <p:nvPr/>
            </p:nvSpPr>
            <p:spPr bwMode="auto">
              <a:xfrm>
                <a:off x="2870" y="2179"/>
                <a:ext cx="214" cy="250"/>
              </a:xfrm>
              <a:prstGeom prst="rect">
                <a:avLst/>
              </a:prstGeom>
              <a:noFill/>
              <a:ln w="9525">
                <a:noFill/>
                <a:miter lim="800000"/>
                <a:headEnd/>
                <a:tailEnd/>
              </a:ln>
            </p:spPr>
            <p:txBody>
              <a:bodyPr wrap="none" lIns="92075" tIns="46038" rIns="92075" bIns="46038">
                <a:spAutoFit/>
              </a:bodyPr>
              <a:lstStyle/>
              <a:p>
                <a:pPr defTabSz="762000"/>
                <a:r>
                  <a:rPr lang="en-GB" sz="2000" i="1">
                    <a:solidFill>
                      <a:schemeClr val="hlink"/>
                    </a:solidFill>
                    <a:latin typeface="Arial" charset="0"/>
                  </a:rPr>
                  <a:t>d</a:t>
                </a:r>
              </a:p>
            </p:txBody>
          </p:sp>
          <p:sp>
            <p:nvSpPr>
              <p:cNvPr id="41" name="Rectangle 1045"/>
              <p:cNvSpPr>
                <a:spLocks noChangeArrowheads="1"/>
              </p:cNvSpPr>
              <p:nvPr/>
            </p:nvSpPr>
            <p:spPr bwMode="auto">
              <a:xfrm>
                <a:off x="662" y="2131"/>
                <a:ext cx="205" cy="250"/>
              </a:xfrm>
              <a:prstGeom prst="rect">
                <a:avLst/>
              </a:prstGeom>
              <a:noFill/>
              <a:ln w="9525">
                <a:noFill/>
                <a:miter lim="800000"/>
                <a:headEnd/>
                <a:tailEnd/>
              </a:ln>
            </p:spPr>
            <p:txBody>
              <a:bodyPr wrap="none" lIns="92075" tIns="46038" rIns="92075" bIns="46038">
                <a:spAutoFit/>
              </a:bodyPr>
              <a:lstStyle/>
              <a:p>
                <a:pPr defTabSz="762000"/>
                <a:r>
                  <a:rPr lang="en-GB" sz="2000" i="1">
                    <a:solidFill>
                      <a:schemeClr val="hlink"/>
                    </a:solidFill>
                    <a:latin typeface="Arial" charset="0"/>
                  </a:rPr>
                  <a:t>e</a:t>
                </a:r>
              </a:p>
            </p:txBody>
          </p:sp>
          <p:sp>
            <p:nvSpPr>
              <p:cNvPr id="42" name="Rectangle 1046"/>
              <p:cNvSpPr>
                <a:spLocks noChangeArrowheads="1"/>
              </p:cNvSpPr>
              <p:nvPr/>
            </p:nvSpPr>
            <p:spPr bwMode="auto">
              <a:xfrm>
                <a:off x="662" y="2467"/>
                <a:ext cx="205" cy="250"/>
              </a:xfrm>
              <a:prstGeom prst="rect">
                <a:avLst/>
              </a:prstGeom>
              <a:noFill/>
              <a:ln w="9525">
                <a:noFill/>
                <a:miter lim="800000"/>
                <a:headEnd/>
                <a:tailEnd/>
              </a:ln>
            </p:spPr>
            <p:txBody>
              <a:bodyPr wrap="none" lIns="92075" tIns="46038" rIns="92075" bIns="46038">
                <a:spAutoFit/>
              </a:bodyPr>
              <a:lstStyle/>
              <a:p>
                <a:pPr defTabSz="762000"/>
                <a:r>
                  <a:rPr lang="en-GB" sz="2000" i="1">
                    <a:solidFill>
                      <a:schemeClr val="hlink"/>
                    </a:solidFill>
                    <a:latin typeface="Arial" charset="0"/>
                  </a:rPr>
                  <a:t>c</a:t>
                </a:r>
              </a:p>
            </p:txBody>
          </p:sp>
          <p:sp>
            <p:nvSpPr>
              <p:cNvPr id="43" name="Rectangle 1047"/>
              <p:cNvSpPr>
                <a:spLocks noChangeArrowheads="1"/>
              </p:cNvSpPr>
              <p:nvPr/>
            </p:nvSpPr>
            <p:spPr bwMode="auto">
              <a:xfrm>
                <a:off x="3302" y="2467"/>
                <a:ext cx="214" cy="250"/>
              </a:xfrm>
              <a:prstGeom prst="rect">
                <a:avLst/>
              </a:prstGeom>
              <a:noFill/>
              <a:ln w="9525">
                <a:noFill/>
                <a:miter lim="800000"/>
                <a:headEnd/>
                <a:tailEnd/>
              </a:ln>
            </p:spPr>
            <p:txBody>
              <a:bodyPr wrap="none" lIns="92075" tIns="46038" rIns="92075" bIns="46038">
                <a:spAutoFit/>
              </a:bodyPr>
              <a:lstStyle/>
              <a:p>
                <a:pPr defTabSz="762000"/>
                <a:r>
                  <a:rPr lang="en-GB" sz="2000" i="1">
                    <a:solidFill>
                      <a:schemeClr val="hlink"/>
                    </a:solidFill>
                    <a:latin typeface="Arial" charset="0"/>
                  </a:rPr>
                  <a:t>b</a:t>
                </a:r>
              </a:p>
            </p:txBody>
          </p:sp>
        </p:grpSp>
        <p:sp>
          <p:nvSpPr>
            <p:cNvPr id="21" name="Line 1048"/>
            <p:cNvSpPr>
              <a:spLocks noChangeShapeType="1"/>
            </p:cNvSpPr>
            <p:nvPr/>
          </p:nvSpPr>
          <p:spPr bwMode="auto">
            <a:xfrm>
              <a:off x="1787525" y="4267200"/>
              <a:ext cx="0" cy="1676400"/>
            </a:xfrm>
            <a:prstGeom prst="line">
              <a:avLst/>
            </a:prstGeom>
            <a:noFill/>
            <a:ln w="19050">
              <a:solidFill>
                <a:schemeClr val="folHlink"/>
              </a:solidFill>
              <a:prstDash val="dash"/>
              <a:round/>
              <a:headEnd type="none" w="sm" len="sm"/>
              <a:tailEnd type="none" w="sm" len="sm"/>
            </a:ln>
          </p:spPr>
          <p:txBody>
            <a:bodyPr wrap="none" anchor="ctr"/>
            <a:lstStyle/>
            <a:p>
              <a:endParaRPr lang="en-US"/>
            </a:p>
          </p:txBody>
        </p:sp>
        <p:sp>
          <p:nvSpPr>
            <p:cNvPr id="22" name="Line 1049"/>
            <p:cNvSpPr>
              <a:spLocks noChangeShapeType="1"/>
            </p:cNvSpPr>
            <p:nvPr/>
          </p:nvSpPr>
          <p:spPr bwMode="auto">
            <a:xfrm>
              <a:off x="5281613" y="4262438"/>
              <a:ext cx="0" cy="1665287"/>
            </a:xfrm>
            <a:prstGeom prst="line">
              <a:avLst/>
            </a:prstGeom>
            <a:noFill/>
            <a:ln w="19050">
              <a:solidFill>
                <a:schemeClr val="folHlink"/>
              </a:solidFill>
              <a:prstDash val="dash"/>
              <a:round/>
              <a:headEnd type="none" w="sm" len="sm"/>
              <a:tailEnd type="none" w="sm" len="sm"/>
            </a:ln>
          </p:spPr>
          <p:txBody>
            <a:bodyPr wrap="none" anchor="ctr"/>
            <a:lstStyle/>
            <a:p>
              <a:endParaRPr lang="en-US"/>
            </a:p>
          </p:txBody>
        </p:sp>
        <p:sp>
          <p:nvSpPr>
            <p:cNvPr id="23" name="Line 1050"/>
            <p:cNvSpPr>
              <a:spLocks noChangeShapeType="1"/>
            </p:cNvSpPr>
            <p:nvPr/>
          </p:nvSpPr>
          <p:spPr bwMode="auto">
            <a:xfrm>
              <a:off x="2530475" y="3819525"/>
              <a:ext cx="0" cy="2092325"/>
            </a:xfrm>
            <a:prstGeom prst="line">
              <a:avLst/>
            </a:prstGeom>
            <a:noFill/>
            <a:ln w="19050">
              <a:solidFill>
                <a:schemeClr val="accent2"/>
              </a:solidFill>
              <a:prstDash val="dash"/>
              <a:round/>
              <a:headEnd type="none" w="sm" len="sm"/>
              <a:tailEnd type="none" w="sm" len="sm"/>
            </a:ln>
          </p:spPr>
          <p:txBody>
            <a:bodyPr wrap="none" anchor="ctr"/>
            <a:lstStyle/>
            <a:p>
              <a:endParaRPr lang="en-US"/>
            </a:p>
          </p:txBody>
        </p:sp>
        <p:sp>
          <p:nvSpPr>
            <p:cNvPr id="24" name="Line 1051"/>
            <p:cNvSpPr>
              <a:spLocks noChangeShapeType="1"/>
            </p:cNvSpPr>
            <p:nvPr/>
          </p:nvSpPr>
          <p:spPr bwMode="auto">
            <a:xfrm>
              <a:off x="4554538" y="3819525"/>
              <a:ext cx="0" cy="2108200"/>
            </a:xfrm>
            <a:prstGeom prst="line">
              <a:avLst/>
            </a:prstGeom>
            <a:noFill/>
            <a:ln w="19050">
              <a:solidFill>
                <a:schemeClr val="accent2"/>
              </a:solidFill>
              <a:prstDash val="dash"/>
              <a:round/>
              <a:headEnd type="none" w="sm" len="sm"/>
              <a:tailEnd type="none" w="sm" len="sm"/>
            </a:ln>
          </p:spPr>
          <p:txBody>
            <a:bodyPr wrap="none" anchor="ctr"/>
            <a:lstStyle/>
            <a:p>
              <a:endParaRPr lang="en-US"/>
            </a:p>
          </p:txBody>
        </p:sp>
        <p:sp>
          <p:nvSpPr>
            <p:cNvPr id="25" name="Rectangle 1052"/>
            <p:cNvSpPr>
              <a:spLocks noChangeArrowheads="1"/>
            </p:cNvSpPr>
            <p:nvPr/>
          </p:nvSpPr>
          <p:spPr bwMode="auto">
            <a:xfrm>
              <a:off x="1466850" y="3902075"/>
              <a:ext cx="325438" cy="396875"/>
            </a:xfrm>
            <a:prstGeom prst="rect">
              <a:avLst/>
            </a:prstGeom>
            <a:noFill/>
            <a:ln w="9525">
              <a:noFill/>
              <a:miter lim="800000"/>
              <a:headEnd/>
              <a:tailEnd/>
            </a:ln>
          </p:spPr>
          <p:txBody>
            <a:bodyPr wrap="none" lIns="92075" tIns="46038" rIns="92075" bIns="46038">
              <a:spAutoFit/>
            </a:bodyPr>
            <a:lstStyle/>
            <a:p>
              <a:pPr defTabSz="762000"/>
              <a:r>
                <a:rPr lang="en-GB" sz="2000">
                  <a:latin typeface="Arial" charset="0"/>
                </a:rPr>
                <a:t>1</a:t>
              </a:r>
            </a:p>
          </p:txBody>
        </p:sp>
        <p:sp>
          <p:nvSpPr>
            <p:cNvPr id="26" name="Rectangle 1053"/>
            <p:cNvSpPr>
              <a:spLocks noChangeArrowheads="1"/>
            </p:cNvSpPr>
            <p:nvPr/>
          </p:nvSpPr>
          <p:spPr bwMode="auto">
            <a:xfrm>
              <a:off x="2200275" y="3919538"/>
              <a:ext cx="287425" cy="415455"/>
            </a:xfrm>
            <a:prstGeom prst="rect">
              <a:avLst/>
            </a:prstGeom>
            <a:noFill/>
            <a:ln w="9525">
              <a:noFill/>
              <a:miter lim="800000"/>
              <a:headEnd/>
              <a:tailEnd/>
            </a:ln>
          </p:spPr>
          <p:txBody>
            <a:bodyPr wrap="none" lIns="92075" tIns="46038" rIns="92075" bIns="46038">
              <a:spAutoFit/>
            </a:bodyPr>
            <a:lstStyle/>
            <a:p>
              <a:pPr defTabSz="762000"/>
              <a:r>
                <a:rPr lang="en-GB" sz="2000" dirty="0">
                  <a:solidFill>
                    <a:schemeClr val="bg1"/>
                  </a:solidFill>
                  <a:latin typeface="Arial" charset="0"/>
                </a:rPr>
                <a:t>2</a:t>
              </a:r>
            </a:p>
          </p:txBody>
        </p:sp>
        <p:sp>
          <p:nvSpPr>
            <p:cNvPr id="27" name="Rectangle 1054"/>
            <p:cNvSpPr>
              <a:spLocks noChangeArrowheads="1"/>
            </p:cNvSpPr>
            <p:nvPr/>
          </p:nvSpPr>
          <p:spPr bwMode="auto">
            <a:xfrm>
              <a:off x="3460750" y="3902075"/>
              <a:ext cx="325438" cy="396875"/>
            </a:xfrm>
            <a:prstGeom prst="rect">
              <a:avLst/>
            </a:prstGeom>
            <a:noFill/>
            <a:ln w="9525">
              <a:noFill/>
              <a:miter lim="800000"/>
              <a:headEnd/>
              <a:tailEnd/>
            </a:ln>
          </p:spPr>
          <p:txBody>
            <a:bodyPr wrap="none" lIns="92075" tIns="46038" rIns="92075" bIns="46038">
              <a:spAutoFit/>
            </a:bodyPr>
            <a:lstStyle/>
            <a:p>
              <a:pPr defTabSz="762000"/>
              <a:r>
                <a:rPr lang="en-GB" sz="2000">
                  <a:latin typeface="Arial" charset="0"/>
                </a:rPr>
                <a:t>3</a:t>
              </a:r>
            </a:p>
          </p:txBody>
        </p:sp>
        <p:sp>
          <p:nvSpPr>
            <p:cNvPr id="28" name="Rectangle 1055"/>
            <p:cNvSpPr>
              <a:spLocks noChangeArrowheads="1"/>
            </p:cNvSpPr>
            <p:nvPr/>
          </p:nvSpPr>
          <p:spPr bwMode="auto">
            <a:xfrm>
              <a:off x="4614863" y="3903663"/>
              <a:ext cx="287425" cy="415455"/>
            </a:xfrm>
            <a:prstGeom prst="rect">
              <a:avLst/>
            </a:prstGeom>
            <a:noFill/>
            <a:ln w="9525">
              <a:noFill/>
              <a:miter lim="800000"/>
              <a:headEnd/>
              <a:tailEnd/>
            </a:ln>
          </p:spPr>
          <p:txBody>
            <a:bodyPr wrap="none" lIns="92075" tIns="46038" rIns="92075" bIns="46038">
              <a:spAutoFit/>
            </a:bodyPr>
            <a:lstStyle/>
            <a:p>
              <a:pPr defTabSz="762000"/>
              <a:r>
                <a:rPr lang="en-GB" sz="2000" dirty="0">
                  <a:solidFill>
                    <a:schemeClr val="bg1"/>
                  </a:solidFill>
                  <a:latin typeface="Arial" charset="0"/>
                </a:rPr>
                <a:t>4</a:t>
              </a:r>
            </a:p>
          </p:txBody>
        </p:sp>
        <p:sp>
          <p:nvSpPr>
            <p:cNvPr id="29" name="Rectangle 1056"/>
            <p:cNvSpPr>
              <a:spLocks noChangeArrowheads="1"/>
            </p:cNvSpPr>
            <p:nvPr/>
          </p:nvSpPr>
          <p:spPr bwMode="auto">
            <a:xfrm>
              <a:off x="1579563" y="5959475"/>
              <a:ext cx="473075" cy="396875"/>
            </a:xfrm>
            <a:prstGeom prst="rect">
              <a:avLst/>
            </a:prstGeom>
            <a:noFill/>
            <a:ln w="9525">
              <a:noFill/>
              <a:miter lim="800000"/>
              <a:headEnd/>
              <a:tailEnd/>
            </a:ln>
          </p:spPr>
          <p:txBody>
            <a:bodyPr wrap="none" lIns="92075" tIns="46038" rIns="92075" bIns="46038">
              <a:spAutoFit/>
            </a:bodyPr>
            <a:lstStyle/>
            <a:p>
              <a:pPr algn="ctr" defTabSz="762000"/>
              <a:r>
                <a:rPr lang="en-GB" sz="2000" b="0" i="1">
                  <a:solidFill>
                    <a:schemeClr val="folHlink"/>
                  </a:solidFill>
                  <a:latin typeface="Arial" charset="0"/>
                </a:rPr>
                <a:t>Q</a:t>
              </a:r>
              <a:r>
                <a:rPr lang="en-GB" sz="2000" b="0" baseline="-25000">
                  <a:solidFill>
                    <a:schemeClr val="folHlink"/>
                  </a:solidFill>
                  <a:latin typeface="Arial" charset="0"/>
                </a:rPr>
                <a:t>1</a:t>
              </a:r>
            </a:p>
          </p:txBody>
        </p:sp>
        <p:sp>
          <p:nvSpPr>
            <p:cNvPr id="30" name="Rectangle 1057"/>
            <p:cNvSpPr>
              <a:spLocks noChangeArrowheads="1"/>
            </p:cNvSpPr>
            <p:nvPr/>
          </p:nvSpPr>
          <p:spPr bwMode="auto">
            <a:xfrm>
              <a:off x="5048250" y="5942013"/>
              <a:ext cx="473075" cy="396875"/>
            </a:xfrm>
            <a:prstGeom prst="rect">
              <a:avLst/>
            </a:prstGeom>
            <a:noFill/>
            <a:ln w="9525">
              <a:noFill/>
              <a:miter lim="800000"/>
              <a:headEnd/>
              <a:tailEnd/>
            </a:ln>
          </p:spPr>
          <p:txBody>
            <a:bodyPr wrap="none" lIns="92075" tIns="46038" rIns="92075" bIns="46038">
              <a:spAutoFit/>
            </a:bodyPr>
            <a:lstStyle/>
            <a:p>
              <a:pPr algn="ctr" defTabSz="762000"/>
              <a:r>
                <a:rPr lang="en-GB" sz="2000" b="0" i="1">
                  <a:solidFill>
                    <a:schemeClr val="folHlink"/>
                  </a:solidFill>
                  <a:latin typeface="Arial" charset="0"/>
                </a:rPr>
                <a:t>Q</a:t>
              </a:r>
              <a:r>
                <a:rPr lang="en-GB" sz="2000" b="0" baseline="-25000">
                  <a:solidFill>
                    <a:schemeClr val="folHlink"/>
                  </a:solidFill>
                  <a:latin typeface="Arial" charset="0"/>
                </a:rPr>
                <a:t>2</a:t>
              </a:r>
            </a:p>
          </p:txBody>
        </p:sp>
        <p:sp>
          <p:nvSpPr>
            <p:cNvPr id="31" name="Rectangle 1058"/>
            <p:cNvSpPr>
              <a:spLocks noChangeArrowheads="1"/>
            </p:cNvSpPr>
            <p:nvPr/>
          </p:nvSpPr>
          <p:spPr bwMode="auto">
            <a:xfrm>
              <a:off x="2311400" y="5943600"/>
              <a:ext cx="473075" cy="396875"/>
            </a:xfrm>
            <a:prstGeom prst="rect">
              <a:avLst/>
            </a:prstGeom>
            <a:noFill/>
            <a:ln w="9525">
              <a:noFill/>
              <a:miter lim="800000"/>
              <a:headEnd/>
              <a:tailEnd/>
            </a:ln>
          </p:spPr>
          <p:txBody>
            <a:bodyPr wrap="none" lIns="92075" tIns="46038" rIns="92075" bIns="46038">
              <a:spAutoFit/>
            </a:bodyPr>
            <a:lstStyle/>
            <a:p>
              <a:pPr algn="ctr" defTabSz="762000"/>
              <a:r>
                <a:rPr lang="en-GB" sz="2000" b="0" i="1">
                  <a:solidFill>
                    <a:schemeClr val="accent2"/>
                  </a:solidFill>
                  <a:latin typeface="Arial" charset="0"/>
                </a:rPr>
                <a:t>Q</a:t>
              </a:r>
              <a:r>
                <a:rPr lang="en-GB" sz="2000" b="0" baseline="-25000">
                  <a:solidFill>
                    <a:schemeClr val="accent2"/>
                  </a:solidFill>
                  <a:latin typeface="Arial" charset="0"/>
                </a:rPr>
                <a:t>3</a:t>
              </a:r>
            </a:p>
          </p:txBody>
        </p:sp>
        <p:sp>
          <p:nvSpPr>
            <p:cNvPr id="32" name="Rectangle 1059"/>
            <p:cNvSpPr>
              <a:spLocks noChangeArrowheads="1"/>
            </p:cNvSpPr>
            <p:nvPr/>
          </p:nvSpPr>
          <p:spPr bwMode="auto">
            <a:xfrm>
              <a:off x="4335463" y="5942013"/>
              <a:ext cx="473075" cy="396875"/>
            </a:xfrm>
            <a:prstGeom prst="rect">
              <a:avLst/>
            </a:prstGeom>
            <a:noFill/>
            <a:ln w="9525">
              <a:noFill/>
              <a:miter lim="800000"/>
              <a:headEnd/>
              <a:tailEnd/>
            </a:ln>
          </p:spPr>
          <p:txBody>
            <a:bodyPr wrap="none" lIns="92075" tIns="46038" rIns="92075" bIns="46038">
              <a:spAutoFit/>
            </a:bodyPr>
            <a:lstStyle/>
            <a:p>
              <a:pPr algn="ctr" defTabSz="762000"/>
              <a:r>
                <a:rPr lang="en-GB" sz="2000" b="0" i="1">
                  <a:solidFill>
                    <a:schemeClr val="accent2"/>
                  </a:solidFill>
                  <a:latin typeface="Arial" charset="0"/>
                </a:rPr>
                <a:t>Q</a:t>
              </a:r>
              <a:r>
                <a:rPr lang="en-GB" sz="2000" b="0" baseline="-25000">
                  <a:solidFill>
                    <a:schemeClr val="accent2"/>
                  </a:solidFill>
                  <a:latin typeface="Arial" charset="0"/>
                </a:rPr>
                <a:t>4</a:t>
              </a:r>
            </a:p>
          </p:txBody>
        </p:sp>
        <p:grpSp>
          <p:nvGrpSpPr>
            <p:cNvPr id="33" name="Group 1060"/>
            <p:cNvGrpSpPr>
              <a:grpSpLocks/>
            </p:cNvGrpSpPr>
            <p:nvPr/>
          </p:nvGrpSpPr>
          <p:grpSpPr bwMode="auto">
            <a:xfrm>
              <a:off x="934506" y="3800475"/>
              <a:ext cx="63462" cy="461963"/>
              <a:chOff x="934505" y="2394"/>
              <a:chExt cx="63462" cy="291"/>
            </a:xfrm>
          </p:grpSpPr>
          <p:sp>
            <p:nvSpPr>
              <p:cNvPr id="38" name="Line 1061"/>
              <p:cNvSpPr>
                <a:spLocks noChangeShapeType="1"/>
              </p:cNvSpPr>
              <p:nvPr/>
            </p:nvSpPr>
            <p:spPr bwMode="auto">
              <a:xfrm>
                <a:off x="997967" y="2406"/>
                <a:ext cx="0" cy="279"/>
              </a:xfrm>
              <a:prstGeom prst="line">
                <a:avLst/>
              </a:prstGeom>
              <a:noFill/>
              <a:ln w="12700">
                <a:solidFill>
                  <a:schemeClr val="accent1"/>
                </a:solidFill>
                <a:round/>
                <a:headEnd type="stealth" w="med" len="med"/>
                <a:tailEnd type="stealth" w="med" len="med"/>
              </a:ln>
            </p:spPr>
            <p:txBody>
              <a:bodyPr wrap="none" anchor="ctr"/>
              <a:lstStyle/>
              <a:p>
                <a:endParaRPr lang="en-US"/>
              </a:p>
            </p:txBody>
          </p:sp>
          <p:sp>
            <p:nvSpPr>
              <p:cNvPr id="39" name="Rectangle 1062"/>
              <p:cNvSpPr>
                <a:spLocks noChangeArrowheads="1"/>
              </p:cNvSpPr>
              <p:nvPr/>
            </p:nvSpPr>
            <p:spPr bwMode="auto">
              <a:xfrm>
                <a:off x="934505" y="2394"/>
                <a:ext cx="480" cy="250"/>
              </a:xfrm>
              <a:prstGeom prst="rect">
                <a:avLst/>
              </a:prstGeom>
              <a:noFill/>
              <a:ln w="9525">
                <a:noFill/>
                <a:miter lim="800000"/>
                <a:headEnd/>
                <a:tailEnd/>
              </a:ln>
            </p:spPr>
            <p:txBody>
              <a:bodyPr wrap="none" lIns="92075" tIns="46038" rIns="92075" bIns="46038">
                <a:spAutoFit/>
              </a:bodyPr>
              <a:lstStyle/>
              <a:p>
                <a:pPr algn="r" defTabSz="762000"/>
                <a:r>
                  <a:rPr lang="en-GB" sz="2000" b="0" dirty="0">
                    <a:solidFill>
                      <a:schemeClr val="accent1"/>
                    </a:solidFill>
                    <a:latin typeface="Arial" charset="0"/>
                  </a:rPr>
                  <a:t>Tariff</a:t>
                </a:r>
              </a:p>
            </p:txBody>
          </p:sp>
        </p:grpSp>
        <p:sp>
          <p:nvSpPr>
            <p:cNvPr id="34" name="Rectangle 1063"/>
            <p:cNvSpPr>
              <a:spLocks noChangeArrowheads="1"/>
            </p:cNvSpPr>
            <p:nvPr/>
          </p:nvSpPr>
          <p:spPr bwMode="auto">
            <a:xfrm>
              <a:off x="239713" y="3460750"/>
              <a:ext cx="869950" cy="396875"/>
            </a:xfrm>
            <a:prstGeom prst="rect">
              <a:avLst/>
            </a:prstGeom>
            <a:noFill/>
            <a:ln w="9525">
              <a:noFill/>
              <a:miter lim="800000"/>
              <a:headEnd/>
              <a:tailEnd/>
            </a:ln>
          </p:spPr>
          <p:txBody>
            <a:bodyPr wrap="none" lIns="92075" tIns="46038" rIns="92075" bIns="46038">
              <a:spAutoFit/>
            </a:bodyPr>
            <a:lstStyle/>
            <a:p>
              <a:pPr algn="r" defTabSz="762000"/>
              <a:r>
                <a:rPr lang="en-GB" sz="2000" b="0" i="1">
                  <a:solidFill>
                    <a:schemeClr val="accent2"/>
                  </a:solidFill>
                  <a:latin typeface="Arial" charset="0"/>
                </a:rPr>
                <a:t>P</a:t>
              </a:r>
              <a:r>
                <a:rPr lang="en-GB" sz="2000" b="0" baseline="-25000">
                  <a:solidFill>
                    <a:schemeClr val="accent2"/>
                  </a:solidFill>
                  <a:latin typeface="Arial" charset="0"/>
                </a:rPr>
                <a:t>W</a:t>
              </a:r>
              <a:r>
                <a:rPr lang="en-GB" sz="2000" b="0">
                  <a:solidFill>
                    <a:schemeClr val="accent2"/>
                  </a:solidFill>
                  <a:latin typeface="Arial" charset="0"/>
                </a:rPr>
                <a:t> + t</a:t>
              </a:r>
            </a:p>
          </p:txBody>
        </p:sp>
        <p:sp>
          <p:nvSpPr>
            <p:cNvPr id="35" name="Rectangle 1064"/>
            <p:cNvSpPr>
              <a:spLocks noChangeArrowheads="1"/>
            </p:cNvSpPr>
            <p:nvPr/>
          </p:nvSpPr>
          <p:spPr bwMode="auto">
            <a:xfrm>
              <a:off x="498475" y="4087813"/>
              <a:ext cx="509588" cy="396875"/>
            </a:xfrm>
            <a:prstGeom prst="rect">
              <a:avLst/>
            </a:prstGeom>
            <a:noFill/>
            <a:ln w="9525">
              <a:noFill/>
              <a:miter lim="800000"/>
              <a:headEnd/>
              <a:tailEnd/>
            </a:ln>
          </p:spPr>
          <p:txBody>
            <a:bodyPr wrap="none" lIns="92075" tIns="46038" rIns="92075" bIns="46038">
              <a:spAutoFit/>
            </a:bodyPr>
            <a:lstStyle/>
            <a:p>
              <a:pPr algn="r" defTabSz="762000"/>
              <a:r>
                <a:rPr lang="en-GB" sz="2000" b="0" i="1">
                  <a:solidFill>
                    <a:schemeClr val="folHlink"/>
                  </a:solidFill>
                  <a:latin typeface="Arial" charset="0"/>
                </a:rPr>
                <a:t>P</a:t>
              </a:r>
              <a:r>
                <a:rPr lang="en-GB" sz="2000" b="0" baseline="-25000">
                  <a:solidFill>
                    <a:schemeClr val="folHlink"/>
                  </a:solidFill>
                  <a:latin typeface="Arial" charset="0"/>
                </a:rPr>
                <a:t>W</a:t>
              </a:r>
            </a:p>
          </p:txBody>
        </p:sp>
        <p:sp>
          <p:nvSpPr>
            <p:cNvPr id="36" name="Rectangle 1065"/>
            <p:cNvSpPr>
              <a:spLocks noChangeArrowheads="1"/>
            </p:cNvSpPr>
            <p:nvPr/>
          </p:nvSpPr>
          <p:spPr bwMode="auto">
            <a:xfrm>
              <a:off x="7378700" y="5467350"/>
              <a:ext cx="763588" cy="396875"/>
            </a:xfrm>
            <a:prstGeom prst="rect">
              <a:avLst/>
            </a:prstGeom>
            <a:noFill/>
            <a:ln w="9525">
              <a:noFill/>
              <a:miter lim="800000"/>
              <a:headEnd/>
              <a:tailEnd/>
            </a:ln>
          </p:spPr>
          <p:txBody>
            <a:bodyPr wrap="none" lIns="92075" tIns="46038" rIns="92075" bIns="46038">
              <a:spAutoFit/>
            </a:bodyPr>
            <a:lstStyle/>
            <a:p>
              <a:pPr defTabSz="762000"/>
              <a:r>
                <a:rPr lang="en-GB" sz="2000" b="0" i="1">
                  <a:solidFill>
                    <a:schemeClr val="tx2"/>
                  </a:solidFill>
                  <a:latin typeface="Arial" charset="0"/>
                </a:rPr>
                <a:t>D</a:t>
              </a:r>
              <a:r>
                <a:rPr lang="en-GB" b="0" baseline="-25000">
                  <a:solidFill>
                    <a:schemeClr val="tx2"/>
                  </a:solidFill>
                  <a:latin typeface="Arial" charset="0"/>
                </a:rPr>
                <a:t>dom</a:t>
              </a:r>
            </a:p>
          </p:txBody>
        </p:sp>
        <p:sp>
          <p:nvSpPr>
            <p:cNvPr id="37" name="AutoShape 1067" descr="Parchment"/>
            <p:cNvSpPr>
              <a:spLocks noChangeArrowheads="1"/>
            </p:cNvSpPr>
            <p:nvPr/>
          </p:nvSpPr>
          <p:spPr bwMode="auto">
            <a:xfrm>
              <a:off x="2738438" y="1087438"/>
              <a:ext cx="1663700" cy="1063625"/>
            </a:xfrm>
            <a:prstGeom prst="roundRect">
              <a:avLst>
                <a:gd name="adj" fmla="val 16667"/>
              </a:avLst>
            </a:prstGeom>
            <a:blipFill dpi="0" rotWithShape="0">
              <a:blip r:embed="rId2" cstate="print"/>
              <a:srcRect/>
              <a:tile tx="0" ty="0" sx="100000" sy="100000" flip="none" algn="tl"/>
            </a:blipFill>
            <a:ln w="28575">
              <a:solidFill>
                <a:schemeClr val="accent1"/>
              </a:solidFill>
              <a:round/>
              <a:headEnd type="none" w="sm" len="sm"/>
              <a:tailEnd type="none" w="sm" len="sm"/>
            </a:ln>
          </p:spPr>
          <p:txBody>
            <a:bodyPr wrap="none" anchor="ctr"/>
            <a:lstStyle/>
            <a:p>
              <a:pPr algn="ctr" defTabSz="762000"/>
              <a:r>
                <a:rPr lang="en-GB" sz="2000">
                  <a:solidFill>
                    <a:schemeClr val="accent2"/>
                  </a:solidFill>
                  <a:latin typeface="Arial" charset="0"/>
                </a:rPr>
                <a:t>Areas 2 + 4</a:t>
              </a:r>
            </a:p>
            <a:p>
              <a:pPr algn="ctr" defTabSz="762000"/>
              <a:r>
                <a:rPr lang="en-GB" sz="2000">
                  <a:solidFill>
                    <a:schemeClr val="accent2"/>
                  </a:solidFill>
                  <a:latin typeface="Arial" charset="0"/>
                </a:rPr>
                <a:t>equals</a:t>
              </a:r>
            </a:p>
            <a:p>
              <a:pPr algn="ctr" defTabSz="762000"/>
              <a:r>
                <a:rPr lang="en-GB" sz="2000">
                  <a:solidFill>
                    <a:schemeClr val="accent2"/>
                  </a:solidFill>
                  <a:latin typeface="Arial" charset="0"/>
                </a:rPr>
                <a:t>net loss</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animEffect transition="in" filter="box(in)">
                                      <p:cBhvr>
                                        <p:cTn id="7" dur="500"/>
                                        <p:tgtEl>
                                          <p:spTgt spid="8195">
                                            <p:txEl>
                                              <p:pRg st="0" end="0"/>
                                            </p:txEl>
                                          </p:spTgt>
                                        </p:tgtEl>
                                      </p:cBhvr>
                                    </p:animEffect>
                                  </p:childTnLst>
                                </p:cTn>
                              </p:par>
                              <p:par>
                                <p:cTn id="8" presetID="4" presetClass="entr" presetSubtype="16" fill="hold" grpId="0" nodeType="withEffect">
                                  <p:stCondLst>
                                    <p:cond delay="0"/>
                                  </p:stCondLst>
                                  <p:childTnLst>
                                    <p:set>
                                      <p:cBhvr>
                                        <p:cTn id="9" dur="1" fill="hold">
                                          <p:stCondLst>
                                            <p:cond delay="0"/>
                                          </p:stCondLst>
                                        </p:cTn>
                                        <p:tgtEl>
                                          <p:spTgt spid="8195">
                                            <p:txEl>
                                              <p:pRg st="1" end="1"/>
                                            </p:txEl>
                                          </p:spTgt>
                                        </p:tgtEl>
                                        <p:attrNameLst>
                                          <p:attrName>style.visibility</p:attrName>
                                        </p:attrNameLst>
                                      </p:cBhvr>
                                      <p:to>
                                        <p:strVal val="visible"/>
                                      </p:to>
                                    </p:set>
                                    <p:animEffect transition="in" filter="box(in)">
                                      <p:cBhvr>
                                        <p:cTn id="10" dur="500"/>
                                        <p:tgtEl>
                                          <p:spTgt spid="8195">
                                            <p:txEl>
                                              <p:pRg st="1" end="1"/>
                                            </p:txEl>
                                          </p:spTgt>
                                        </p:tgtEl>
                                      </p:cBhvr>
                                    </p:animEffect>
                                  </p:childTnLst>
                                </p:cTn>
                              </p:par>
                              <p:par>
                                <p:cTn id="11" presetID="4" presetClass="entr" presetSubtype="16" fill="hold" grpId="0" nodeType="withEffect">
                                  <p:stCondLst>
                                    <p:cond delay="0"/>
                                  </p:stCondLst>
                                  <p:childTnLst>
                                    <p:set>
                                      <p:cBhvr>
                                        <p:cTn id="12" dur="1" fill="hold">
                                          <p:stCondLst>
                                            <p:cond delay="0"/>
                                          </p:stCondLst>
                                        </p:cTn>
                                        <p:tgtEl>
                                          <p:spTgt spid="8195">
                                            <p:txEl>
                                              <p:pRg st="2" end="2"/>
                                            </p:txEl>
                                          </p:spTgt>
                                        </p:tgtEl>
                                        <p:attrNameLst>
                                          <p:attrName>style.visibility</p:attrName>
                                        </p:attrNameLst>
                                      </p:cBhvr>
                                      <p:to>
                                        <p:strVal val="visible"/>
                                      </p:to>
                                    </p:set>
                                    <p:animEffect transition="in" filter="box(in)">
                                      <p:cBhvr>
                                        <p:cTn id="13" dur="500"/>
                                        <p:tgtEl>
                                          <p:spTgt spid="8195">
                                            <p:txEl>
                                              <p:pRg st="2" end="2"/>
                                            </p:txEl>
                                          </p:spTgt>
                                        </p:tgtEl>
                                      </p:cBhvr>
                                    </p:animEffect>
                                  </p:childTnLst>
                                </p:cTn>
                              </p:par>
                              <p:par>
                                <p:cTn id="14" presetID="4" presetClass="entr" presetSubtype="16" fill="hold" grpId="0" nodeType="withEffect">
                                  <p:stCondLst>
                                    <p:cond delay="0"/>
                                  </p:stCondLst>
                                  <p:childTnLst>
                                    <p:set>
                                      <p:cBhvr>
                                        <p:cTn id="15" dur="1" fill="hold">
                                          <p:stCondLst>
                                            <p:cond delay="0"/>
                                          </p:stCondLst>
                                        </p:cTn>
                                        <p:tgtEl>
                                          <p:spTgt spid="8195">
                                            <p:txEl>
                                              <p:pRg st="3" end="3"/>
                                            </p:txEl>
                                          </p:spTgt>
                                        </p:tgtEl>
                                        <p:attrNameLst>
                                          <p:attrName>style.visibility</p:attrName>
                                        </p:attrNameLst>
                                      </p:cBhvr>
                                      <p:to>
                                        <p:strVal val="visible"/>
                                      </p:to>
                                    </p:set>
                                    <p:animEffect transition="in" filter="box(in)">
                                      <p:cBhvr>
                                        <p:cTn id="16" dur="500"/>
                                        <p:tgtEl>
                                          <p:spTgt spid="819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build="p"/>
    </p:bldLst>
  </p:timing>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602" name="Rectangle 2" descr="Large confetti"/>
          <p:cNvSpPr>
            <a:spLocks noGrp="1" noChangeArrowheads="1"/>
          </p:cNvSpPr>
          <p:nvPr>
            <p:ph type="title"/>
          </p:nvPr>
        </p:nvSpPr>
        <p:spPr>
          <a:xfrm>
            <a:off x="0" y="-18256"/>
            <a:ext cx="9144000" cy="1143000"/>
          </a:xfrm>
        </p:spPr>
        <p:txBody>
          <a:bodyPr/>
          <a:lstStyle/>
          <a:p>
            <a:pPr algn="ctr">
              <a:defRPr/>
            </a:pPr>
            <a:r>
              <a:rPr lang="en-US" altLang="ko-KR" sz="3200" b="1" kern="1200" dirty="0">
                <a:solidFill>
                  <a:srgbClr val="FFCC00"/>
                </a:solidFill>
                <a:latin typeface="Times New Roman" pitchFamily="18" charset="0"/>
                <a:cs typeface="Times New Roman" pitchFamily="18" charset="0"/>
              </a:rPr>
              <a:t>POLITICAL ARGUMENTS FOR PROTECTION</a:t>
            </a:r>
            <a:endParaRPr kumimoji="0" lang="en-US" altLang="ko-KR" sz="3200" b="1" kern="1200" dirty="0">
              <a:solidFill>
                <a:srgbClr val="FFCC00"/>
              </a:solidFill>
              <a:latin typeface="Times New Roman" pitchFamily="18" charset="0"/>
              <a:cs typeface="Times New Roman" pitchFamily="18" charset="0"/>
            </a:endParaRPr>
          </a:p>
        </p:txBody>
      </p:sp>
      <p:sp>
        <p:nvSpPr>
          <p:cNvPr id="25603" name="Rectangle 3"/>
          <p:cNvSpPr>
            <a:spLocks noGrp="1" noChangeArrowheads="1"/>
          </p:cNvSpPr>
          <p:nvPr>
            <p:ph type="body" idx="1"/>
          </p:nvPr>
        </p:nvSpPr>
        <p:spPr>
          <a:xfrm>
            <a:off x="1187624" y="1267544"/>
            <a:ext cx="6858000" cy="5185792"/>
          </a:xfrm>
        </p:spPr>
        <p:txBody>
          <a:bodyPr/>
          <a:lstStyle/>
          <a:p>
            <a:pPr>
              <a:lnSpc>
                <a:spcPts val="4000"/>
              </a:lnSpc>
              <a:buFontTx/>
              <a:buChar char="•"/>
            </a:pPr>
            <a:r>
              <a:rPr lang="en-US" altLang="ko-KR" sz="2800" b="0" dirty="0">
                <a:latin typeface="Times New Roman" pitchFamily="18" charset="0"/>
              </a:rPr>
              <a:t>Protecting domestic jobs and industries.</a:t>
            </a:r>
          </a:p>
          <a:p>
            <a:pPr>
              <a:lnSpc>
                <a:spcPts val="4000"/>
              </a:lnSpc>
              <a:buFontTx/>
              <a:buChar char="•"/>
            </a:pPr>
            <a:r>
              <a:rPr lang="en-US" altLang="ko-KR" sz="2800" b="0" dirty="0">
                <a:latin typeface="Times New Roman" pitchFamily="18" charset="0"/>
              </a:rPr>
              <a:t>National security.</a:t>
            </a:r>
          </a:p>
          <a:p>
            <a:pPr lvl="1">
              <a:lnSpc>
                <a:spcPts val="4000"/>
              </a:lnSpc>
              <a:buClr>
                <a:schemeClr val="tx1"/>
              </a:buClr>
              <a:buNone/>
            </a:pPr>
            <a:r>
              <a:rPr lang="en-US" altLang="ko-KR" dirty="0">
                <a:solidFill>
                  <a:schemeClr val="tx1"/>
                </a:solidFill>
                <a:latin typeface="Times New Roman" pitchFamily="18" charset="0"/>
              </a:rPr>
              <a:t>- Defense industries - semiconductors.</a:t>
            </a:r>
          </a:p>
          <a:p>
            <a:pPr>
              <a:lnSpc>
                <a:spcPts val="4000"/>
              </a:lnSpc>
              <a:buFontTx/>
              <a:buChar char="•"/>
            </a:pPr>
            <a:r>
              <a:rPr lang="en-US" altLang="ko-KR" sz="2800" b="0" dirty="0">
                <a:latin typeface="Times New Roman" pitchFamily="18" charset="0"/>
              </a:rPr>
              <a:t>Retaliation.</a:t>
            </a:r>
          </a:p>
          <a:p>
            <a:pPr>
              <a:lnSpc>
                <a:spcPts val="4000"/>
              </a:lnSpc>
              <a:buFontTx/>
              <a:buChar char="•"/>
            </a:pPr>
            <a:r>
              <a:rPr lang="en-US" altLang="ko-KR" sz="2800" b="0" dirty="0">
                <a:latin typeface="Times New Roman" pitchFamily="18" charset="0"/>
              </a:rPr>
              <a:t>Protecting consumers.</a:t>
            </a:r>
          </a:p>
          <a:p>
            <a:pPr>
              <a:lnSpc>
                <a:spcPts val="4000"/>
              </a:lnSpc>
              <a:buFontTx/>
              <a:buChar char="•"/>
            </a:pPr>
            <a:r>
              <a:rPr lang="en-US" altLang="ko-KR" sz="2800" b="0" dirty="0">
                <a:latin typeface="Times New Roman" pitchFamily="18" charset="0"/>
              </a:rPr>
              <a:t>Furthering foreign policy objectives.</a:t>
            </a:r>
          </a:p>
          <a:p>
            <a:pPr>
              <a:lnSpc>
                <a:spcPts val="4000"/>
              </a:lnSpc>
              <a:buFontTx/>
              <a:buChar char="•"/>
            </a:pPr>
            <a:r>
              <a:rPr lang="en-US" altLang="ko-KR" sz="2800" b="0" dirty="0">
                <a:latin typeface="Times New Roman" pitchFamily="18" charset="0"/>
              </a:rPr>
              <a:t>Protecting human rights.</a:t>
            </a:r>
          </a:p>
          <a:p>
            <a:pPr lvl="1">
              <a:lnSpc>
                <a:spcPts val="4000"/>
              </a:lnSpc>
              <a:buClr>
                <a:schemeClr val="tx1"/>
              </a:buClr>
              <a:buNone/>
            </a:pPr>
            <a:r>
              <a:rPr lang="en-US" altLang="ko-KR" dirty="0">
                <a:solidFill>
                  <a:schemeClr val="tx1"/>
                </a:solidFill>
                <a:latin typeface="Times New Roman" pitchFamily="18" charset="0"/>
              </a:rPr>
              <a:t>- MFN (most favored nation)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5603">
                                            <p:txEl>
                                              <p:pRg st="0" end="0"/>
                                            </p:txEl>
                                          </p:spTgt>
                                        </p:tgtEl>
                                        <p:attrNameLst>
                                          <p:attrName>style.visibility</p:attrName>
                                        </p:attrNameLst>
                                      </p:cBhvr>
                                      <p:to>
                                        <p:strVal val="visible"/>
                                      </p:to>
                                    </p:set>
                                    <p:anim calcmode="lin" valueType="num">
                                      <p:cBhvr additive="base">
                                        <p:cTn id="7" dur="500" fill="hold"/>
                                        <p:tgtEl>
                                          <p:spTgt spid="2560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560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5603">
                                            <p:txEl>
                                              <p:pRg st="1" end="1"/>
                                            </p:txEl>
                                          </p:spTgt>
                                        </p:tgtEl>
                                        <p:attrNameLst>
                                          <p:attrName>style.visibility</p:attrName>
                                        </p:attrNameLst>
                                      </p:cBhvr>
                                      <p:to>
                                        <p:strVal val="visible"/>
                                      </p:to>
                                    </p:set>
                                    <p:anim calcmode="lin" valueType="num">
                                      <p:cBhvr additive="base">
                                        <p:cTn id="13" dur="500" fill="hold"/>
                                        <p:tgtEl>
                                          <p:spTgt spid="2560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5603">
                                            <p:txEl>
                                              <p:pRg st="1" end="1"/>
                                            </p:txEl>
                                          </p:spTgt>
                                        </p:tgtEl>
                                        <p:attrNameLst>
                                          <p:attrName>ppt_y</p:attrName>
                                        </p:attrNameLst>
                                      </p:cBhvr>
                                      <p:tavLst>
                                        <p:tav tm="0">
                                          <p:val>
                                            <p:strVal val="#ppt_y"/>
                                          </p:val>
                                        </p:tav>
                                        <p:tav tm="100000">
                                          <p:val>
                                            <p:strVal val="#ppt_y"/>
                                          </p:val>
                                        </p:tav>
                                      </p:tavLst>
                                    </p:anim>
                                  </p:childTnLst>
                                </p:cTn>
                              </p:par>
                              <p:par>
                                <p:cTn id="15" presetID="2" presetClass="entr" presetSubtype="8" fill="hold" grpId="0" nodeType="withEffect">
                                  <p:stCondLst>
                                    <p:cond delay="0"/>
                                  </p:stCondLst>
                                  <p:childTnLst>
                                    <p:set>
                                      <p:cBhvr>
                                        <p:cTn id="16" dur="1" fill="hold">
                                          <p:stCondLst>
                                            <p:cond delay="0"/>
                                          </p:stCondLst>
                                        </p:cTn>
                                        <p:tgtEl>
                                          <p:spTgt spid="25603">
                                            <p:txEl>
                                              <p:pRg st="2" end="2"/>
                                            </p:txEl>
                                          </p:spTgt>
                                        </p:tgtEl>
                                        <p:attrNameLst>
                                          <p:attrName>style.visibility</p:attrName>
                                        </p:attrNameLst>
                                      </p:cBhvr>
                                      <p:to>
                                        <p:strVal val="visible"/>
                                      </p:to>
                                    </p:set>
                                    <p:anim calcmode="lin" valueType="num">
                                      <p:cBhvr additive="base">
                                        <p:cTn id="17" dur="500" fill="hold"/>
                                        <p:tgtEl>
                                          <p:spTgt spid="25603">
                                            <p:txEl>
                                              <p:pRg st="2" end="2"/>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2560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25603">
                                            <p:txEl>
                                              <p:pRg st="3" end="3"/>
                                            </p:txEl>
                                          </p:spTgt>
                                        </p:tgtEl>
                                        <p:attrNameLst>
                                          <p:attrName>style.visibility</p:attrName>
                                        </p:attrNameLst>
                                      </p:cBhvr>
                                      <p:to>
                                        <p:strVal val="visible"/>
                                      </p:to>
                                    </p:set>
                                    <p:anim calcmode="lin" valueType="num">
                                      <p:cBhvr additive="base">
                                        <p:cTn id="23" dur="500" fill="hold"/>
                                        <p:tgtEl>
                                          <p:spTgt spid="25603">
                                            <p:txEl>
                                              <p:pRg st="3" end="3"/>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2560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8" fill="hold" grpId="0" nodeType="clickEffect">
                                  <p:stCondLst>
                                    <p:cond delay="0"/>
                                  </p:stCondLst>
                                  <p:childTnLst>
                                    <p:set>
                                      <p:cBhvr>
                                        <p:cTn id="28" dur="1" fill="hold">
                                          <p:stCondLst>
                                            <p:cond delay="0"/>
                                          </p:stCondLst>
                                        </p:cTn>
                                        <p:tgtEl>
                                          <p:spTgt spid="25603">
                                            <p:txEl>
                                              <p:pRg st="4" end="4"/>
                                            </p:txEl>
                                          </p:spTgt>
                                        </p:tgtEl>
                                        <p:attrNameLst>
                                          <p:attrName>style.visibility</p:attrName>
                                        </p:attrNameLst>
                                      </p:cBhvr>
                                      <p:to>
                                        <p:strVal val="visible"/>
                                      </p:to>
                                    </p:set>
                                    <p:anim calcmode="lin" valueType="num">
                                      <p:cBhvr additive="base">
                                        <p:cTn id="29" dur="500" fill="hold"/>
                                        <p:tgtEl>
                                          <p:spTgt spid="25603">
                                            <p:txEl>
                                              <p:pRg st="4" end="4"/>
                                            </p:txEl>
                                          </p:spTgt>
                                        </p:tgtEl>
                                        <p:attrNameLst>
                                          <p:attrName>ppt_x</p:attrName>
                                        </p:attrNameLst>
                                      </p:cBhvr>
                                      <p:tavLst>
                                        <p:tav tm="0">
                                          <p:val>
                                            <p:strVal val="0-#ppt_w/2"/>
                                          </p:val>
                                        </p:tav>
                                        <p:tav tm="100000">
                                          <p:val>
                                            <p:strVal val="#ppt_x"/>
                                          </p:val>
                                        </p:tav>
                                      </p:tavLst>
                                    </p:anim>
                                    <p:anim calcmode="lin" valueType="num">
                                      <p:cBhvr additive="base">
                                        <p:cTn id="30" dur="500" fill="hold"/>
                                        <p:tgtEl>
                                          <p:spTgt spid="25603">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8" fill="hold" grpId="0" nodeType="clickEffect">
                                  <p:stCondLst>
                                    <p:cond delay="0"/>
                                  </p:stCondLst>
                                  <p:childTnLst>
                                    <p:set>
                                      <p:cBhvr>
                                        <p:cTn id="34" dur="1" fill="hold">
                                          <p:stCondLst>
                                            <p:cond delay="0"/>
                                          </p:stCondLst>
                                        </p:cTn>
                                        <p:tgtEl>
                                          <p:spTgt spid="25603">
                                            <p:txEl>
                                              <p:pRg st="5" end="5"/>
                                            </p:txEl>
                                          </p:spTgt>
                                        </p:tgtEl>
                                        <p:attrNameLst>
                                          <p:attrName>style.visibility</p:attrName>
                                        </p:attrNameLst>
                                      </p:cBhvr>
                                      <p:to>
                                        <p:strVal val="visible"/>
                                      </p:to>
                                    </p:set>
                                    <p:anim calcmode="lin" valueType="num">
                                      <p:cBhvr additive="base">
                                        <p:cTn id="35" dur="500" fill="hold"/>
                                        <p:tgtEl>
                                          <p:spTgt spid="25603">
                                            <p:txEl>
                                              <p:pRg st="5" end="5"/>
                                            </p:txEl>
                                          </p:spTgt>
                                        </p:tgtEl>
                                        <p:attrNameLst>
                                          <p:attrName>ppt_x</p:attrName>
                                        </p:attrNameLst>
                                      </p:cBhvr>
                                      <p:tavLst>
                                        <p:tav tm="0">
                                          <p:val>
                                            <p:strVal val="0-#ppt_w/2"/>
                                          </p:val>
                                        </p:tav>
                                        <p:tav tm="100000">
                                          <p:val>
                                            <p:strVal val="#ppt_x"/>
                                          </p:val>
                                        </p:tav>
                                      </p:tavLst>
                                    </p:anim>
                                    <p:anim calcmode="lin" valueType="num">
                                      <p:cBhvr additive="base">
                                        <p:cTn id="36" dur="500" fill="hold"/>
                                        <p:tgtEl>
                                          <p:spTgt spid="25603">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8" fill="hold" grpId="0" nodeType="clickEffect">
                                  <p:stCondLst>
                                    <p:cond delay="0"/>
                                  </p:stCondLst>
                                  <p:childTnLst>
                                    <p:set>
                                      <p:cBhvr>
                                        <p:cTn id="40" dur="1" fill="hold">
                                          <p:stCondLst>
                                            <p:cond delay="0"/>
                                          </p:stCondLst>
                                        </p:cTn>
                                        <p:tgtEl>
                                          <p:spTgt spid="25603">
                                            <p:txEl>
                                              <p:pRg st="6" end="6"/>
                                            </p:txEl>
                                          </p:spTgt>
                                        </p:tgtEl>
                                        <p:attrNameLst>
                                          <p:attrName>style.visibility</p:attrName>
                                        </p:attrNameLst>
                                      </p:cBhvr>
                                      <p:to>
                                        <p:strVal val="visible"/>
                                      </p:to>
                                    </p:set>
                                    <p:anim calcmode="lin" valueType="num">
                                      <p:cBhvr additive="base">
                                        <p:cTn id="41" dur="500" fill="hold"/>
                                        <p:tgtEl>
                                          <p:spTgt spid="25603">
                                            <p:txEl>
                                              <p:pRg st="6" end="6"/>
                                            </p:txEl>
                                          </p:spTgt>
                                        </p:tgtEl>
                                        <p:attrNameLst>
                                          <p:attrName>ppt_x</p:attrName>
                                        </p:attrNameLst>
                                      </p:cBhvr>
                                      <p:tavLst>
                                        <p:tav tm="0">
                                          <p:val>
                                            <p:strVal val="0-#ppt_w/2"/>
                                          </p:val>
                                        </p:tav>
                                        <p:tav tm="100000">
                                          <p:val>
                                            <p:strVal val="#ppt_x"/>
                                          </p:val>
                                        </p:tav>
                                      </p:tavLst>
                                    </p:anim>
                                    <p:anim calcmode="lin" valueType="num">
                                      <p:cBhvr additive="base">
                                        <p:cTn id="42" dur="500" fill="hold"/>
                                        <p:tgtEl>
                                          <p:spTgt spid="25603">
                                            <p:txEl>
                                              <p:pRg st="6" end="6"/>
                                            </p:txEl>
                                          </p:spTgt>
                                        </p:tgtEl>
                                        <p:attrNameLst>
                                          <p:attrName>ppt_y</p:attrName>
                                        </p:attrNameLst>
                                      </p:cBhvr>
                                      <p:tavLst>
                                        <p:tav tm="0">
                                          <p:val>
                                            <p:strVal val="#ppt_y"/>
                                          </p:val>
                                        </p:tav>
                                        <p:tav tm="100000">
                                          <p:val>
                                            <p:strVal val="#ppt_y"/>
                                          </p:val>
                                        </p:tav>
                                      </p:tavLst>
                                    </p:anim>
                                  </p:childTnLst>
                                </p:cTn>
                              </p:par>
                              <p:par>
                                <p:cTn id="43" presetID="2" presetClass="entr" presetSubtype="8" fill="hold" grpId="0" nodeType="withEffect">
                                  <p:stCondLst>
                                    <p:cond delay="0"/>
                                  </p:stCondLst>
                                  <p:childTnLst>
                                    <p:set>
                                      <p:cBhvr>
                                        <p:cTn id="44" dur="1" fill="hold">
                                          <p:stCondLst>
                                            <p:cond delay="0"/>
                                          </p:stCondLst>
                                        </p:cTn>
                                        <p:tgtEl>
                                          <p:spTgt spid="25603">
                                            <p:txEl>
                                              <p:pRg st="7" end="7"/>
                                            </p:txEl>
                                          </p:spTgt>
                                        </p:tgtEl>
                                        <p:attrNameLst>
                                          <p:attrName>style.visibility</p:attrName>
                                        </p:attrNameLst>
                                      </p:cBhvr>
                                      <p:to>
                                        <p:strVal val="visible"/>
                                      </p:to>
                                    </p:set>
                                    <p:anim calcmode="lin" valueType="num">
                                      <p:cBhvr additive="base">
                                        <p:cTn id="45" dur="500" fill="hold"/>
                                        <p:tgtEl>
                                          <p:spTgt spid="25603">
                                            <p:txEl>
                                              <p:pRg st="7" end="7"/>
                                            </p:txEl>
                                          </p:spTgt>
                                        </p:tgtEl>
                                        <p:attrNameLst>
                                          <p:attrName>ppt_x</p:attrName>
                                        </p:attrNameLst>
                                      </p:cBhvr>
                                      <p:tavLst>
                                        <p:tav tm="0">
                                          <p:val>
                                            <p:strVal val="0-#ppt_w/2"/>
                                          </p:val>
                                        </p:tav>
                                        <p:tav tm="100000">
                                          <p:val>
                                            <p:strVal val="#ppt_x"/>
                                          </p:val>
                                        </p:tav>
                                      </p:tavLst>
                                    </p:anim>
                                    <p:anim calcmode="lin" valueType="num">
                                      <p:cBhvr additive="base">
                                        <p:cTn id="46" dur="500" fill="hold"/>
                                        <p:tgtEl>
                                          <p:spTgt spid="25603">
                                            <p:txEl>
                                              <p:pRg st="7" end="7"/>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3" grpId="0" build="p"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483" name="Rectangle 3"/>
          <p:cNvSpPr>
            <a:spLocks noGrp="1" noChangeArrowheads="1"/>
          </p:cNvSpPr>
          <p:nvPr>
            <p:ph type="body" idx="1"/>
          </p:nvPr>
        </p:nvSpPr>
        <p:spPr>
          <a:xfrm>
            <a:off x="755576" y="1268760"/>
            <a:ext cx="8001000" cy="5105400"/>
          </a:xfrm>
        </p:spPr>
        <p:txBody>
          <a:bodyPr/>
          <a:lstStyle/>
          <a:p>
            <a:pPr>
              <a:lnSpc>
                <a:spcPts val="3800"/>
              </a:lnSpc>
              <a:buFontTx/>
              <a:buChar char="•"/>
            </a:pPr>
            <a:r>
              <a:rPr lang="en-US" altLang="ko-KR" b="0" dirty="0">
                <a:latin typeface="Times New Roman" pitchFamily="18" charset="0"/>
              </a:rPr>
              <a:t>Infant industry.</a:t>
            </a:r>
          </a:p>
          <a:p>
            <a:pPr lvl="1">
              <a:lnSpc>
                <a:spcPts val="3800"/>
              </a:lnSpc>
              <a:buClr>
                <a:schemeClr val="tx1"/>
              </a:buClr>
              <a:buNone/>
            </a:pPr>
            <a:r>
              <a:rPr lang="en-US" altLang="ko-KR" sz="2400" dirty="0">
                <a:solidFill>
                  <a:schemeClr val="tx1"/>
                </a:solidFill>
                <a:latin typeface="Times New Roman" pitchFamily="18" charset="0"/>
              </a:rPr>
              <a:t>- Oldest argument - Alexander Hamilton, 1792.</a:t>
            </a:r>
          </a:p>
          <a:p>
            <a:pPr lvl="1">
              <a:lnSpc>
                <a:spcPts val="3800"/>
              </a:lnSpc>
              <a:buClr>
                <a:schemeClr val="tx1"/>
              </a:buClr>
              <a:buNone/>
            </a:pPr>
            <a:r>
              <a:rPr lang="en-US" altLang="ko-KR" sz="2400" dirty="0">
                <a:solidFill>
                  <a:schemeClr val="tx1"/>
                </a:solidFill>
                <a:latin typeface="Times New Roman" pitchFamily="18" charset="0"/>
              </a:rPr>
              <a:t>- Protected under the WTO.</a:t>
            </a:r>
          </a:p>
          <a:p>
            <a:pPr lvl="1">
              <a:lnSpc>
                <a:spcPts val="3800"/>
              </a:lnSpc>
              <a:buClr>
                <a:schemeClr val="tx1"/>
              </a:buClr>
              <a:buNone/>
            </a:pPr>
            <a:r>
              <a:rPr lang="en-US" altLang="ko-KR" sz="2400" dirty="0">
                <a:solidFill>
                  <a:schemeClr val="tx1"/>
                </a:solidFill>
                <a:latin typeface="Times New Roman" pitchFamily="18" charset="0"/>
              </a:rPr>
              <a:t>- Only good if it makes the industry efficient.</a:t>
            </a:r>
          </a:p>
          <a:p>
            <a:pPr>
              <a:lnSpc>
                <a:spcPts val="3800"/>
              </a:lnSpc>
              <a:buFontTx/>
              <a:buChar char="•"/>
            </a:pPr>
            <a:r>
              <a:rPr lang="en-US" altLang="ko-KR" b="0" dirty="0">
                <a:latin typeface="Times New Roman" pitchFamily="18" charset="0"/>
              </a:rPr>
              <a:t>Strategic trade policy.</a:t>
            </a:r>
          </a:p>
          <a:p>
            <a:pPr lvl="1">
              <a:lnSpc>
                <a:spcPts val="3800"/>
              </a:lnSpc>
              <a:buClr>
                <a:schemeClr val="tx1"/>
              </a:buClr>
              <a:buNone/>
            </a:pPr>
            <a:r>
              <a:rPr lang="en-US" altLang="ko-KR" sz="2400" dirty="0">
                <a:solidFill>
                  <a:schemeClr val="tx1"/>
                </a:solidFill>
                <a:latin typeface="Times New Roman" pitchFamily="18" charset="0"/>
              </a:rPr>
              <a:t>- Government helps raise national income if the first-mover advantage is achieved.</a:t>
            </a:r>
          </a:p>
          <a:p>
            <a:pPr lvl="1">
              <a:lnSpc>
                <a:spcPts val="3800"/>
              </a:lnSpc>
              <a:buClr>
                <a:schemeClr val="tx1"/>
              </a:buClr>
              <a:buNone/>
            </a:pPr>
            <a:r>
              <a:rPr lang="en-US" altLang="ko-KR" sz="2400" dirty="0">
                <a:solidFill>
                  <a:schemeClr val="tx1"/>
                </a:solidFill>
                <a:latin typeface="Times New Roman" pitchFamily="18" charset="0"/>
              </a:rPr>
              <a:t>- Government intervention may help domestic firms overcome the first-mover advantage of foreign firms.</a:t>
            </a:r>
          </a:p>
        </p:txBody>
      </p:sp>
      <p:sp>
        <p:nvSpPr>
          <p:cNvPr id="5" name="Rectangle 2" descr="Large confetti"/>
          <p:cNvSpPr>
            <a:spLocks noGrp="1" noChangeArrowheads="1"/>
          </p:cNvSpPr>
          <p:nvPr>
            <p:ph type="title"/>
          </p:nvPr>
        </p:nvSpPr>
        <p:spPr>
          <a:xfrm>
            <a:off x="0" y="-18256"/>
            <a:ext cx="9144000" cy="1143000"/>
          </a:xfrm>
        </p:spPr>
        <p:txBody>
          <a:bodyPr/>
          <a:lstStyle/>
          <a:p>
            <a:pPr algn="ctr">
              <a:defRPr/>
            </a:pPr>
            <a:r>
              <a:rPr lang="en-US" altLang="ko-KR" sz="3200" b="1" kern="1200" dirty="0">
                <a:solidFill>
                  <a:srgbClr val="FFCC00"/>
                </a:solidFill>
                <a:latin typeface="Times New Roman" pitchFamily="18" charset="0"/>
                <a:cs typeface="Times New Roman" pitchFamily="18" charset="0"/>
              </a:rPr>
              <a:t>ECONOMIC ARGUMENTS FOR PROTECTION</a:t>
            </a:r>
            <a:endParaRPr kumimoji="0" lang="en-US" altLang="ko-KR" sz="3200" b="1" kern="1200" dirty="0">
              <a:solidFill>
                <a:srgbClr val="FFCC00"/>
              </a:solidFill>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0483">
                                            <p:txEl>
                                              <p:pRg st="0" end="0"/>
                                            </p:txEl>
                                          </p:spTgt>
                                        </p:tgtEl>
                                        <p:attrNameLst>
                                          <p:attrName>style.visibility</p:attrName>
                                        </p:attrNameLst>
                                      </p:cBhvr>
                                      <p:to>
                                        <p:strVal val="visible"/>
                                      </p:to>
                                    </p:set>
                                    <p:anim calcmode="lin" valueType="num">
                                      <p:cBhvr additive="base">
                                        <p:cTn id="7" dur="500" fill="hold"/>
                                        <p:tgtEl>
                                          <p:spTgt spid="2048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0483">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20483">
                                            <p:txEl>
                                              <p:pRg st="1" end="1"/>
                                            </p:txEl>
                                          </p:spTgt>
                                        </p:tgtEl>
                                        <p:attrNameLst>
                                          <p:attrName>style.visibility</p:attrName>
                                        </p:attrNameLst>
                                      </p:cBhvr>
                                      <p:to>
                                        <p:strVal val="visible"/>
                                      </p:to>
                                    </p:set>
                                    <p:anim calcmode="lin" valueType="num">
                                      <p:cBhvr additive="base">
                                        <p:cTn id="11" dur="500" fill="hold"/>
                                        <p:tgtEl>
                                          <p:spTgt spid="20483">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20483">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20483">
                                            <p:txEl>
                                              <p:pRg st="2" end="2"/>
                                            </p:txEl>
                                          </p:spTgt>
                                        </p:tgtEl>
                                        <p:attrNameLst>
                                          <p:attrName>style.visibility</p:attrName>
                                        </p:attrNameLst>
                                      </p:cBhvr>
                                      <p:to>
                                        <p:strVal val="visible"/>
                                      </p:to>
                                    </p:set>
                                    <p:anim calcmode="lin" valueType="num">
                                      <p:cBhvr additive="base">
                                        <p:cTn id="15" dur="500" fill="hold"/>
                                        <p:tgtEl>
                                          <p:spTgt spid="20483">
                                            <p:txEl>
                                              <p:pRg st="2" end="2"/>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20483">
                                            <p:txEl>
                                              <p:pRg st="2" end="2"/>
                                            </p:txEl>
                                          </p:spTgt>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20483">
                                            <p:txEl>
                                              <p:pRg st="3" end="3"/>
                                            </p:txEl>
                                          </p:spTgt>
                                        </p:tgtEl>
                                        <p:attrNameLst>
                                          <p:attrName>style.visibility</p:attrName>
                                        </p:attrNameLst>
                                      </p:cBhvr>
                                      <p:to>
                                        <p:strVal val="visible"/>
                                      </p:to>
                                    </p:set>
                                    <p:anim calcmode="lin" valueType="num">
                                      <p:cBhvr additive="base">
                                        <p:cTn id="19" dur="500" fill="hold"/>
                                        <p:tgtEl>
                                          <p:spTgt spid="20483">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048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0483">
                                            <p:txEl>
                                              <p:pRg st="4" end="4"/>
                                            </p:txEl>
                                          </p:spTgt>
                                        </p:tgtEl>
                                        <p:attrNameLst>
                                          <p:attrName>style.visibility</p:attrName>
                                        </p:attrNameLst>
                                      </p:cBhvr>
                                      <p:to>
                                        <p:strVal val="visible"/>
                                      </p:to>
                                    </p:set>
                                    <p:anim calcmode="lin" valueType="num">
                                      <p:cBhvr additive="base">
                                        <p:cTn id="25" dur="500" fill="hold"/>
                                        <p:tgtEl>
                                          <p:spTgt spid="20483">
                                            <p:txEl>
                                              <p:pRg st="4" end="4"/>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0483">
                                            <p:txEl>
                                              <p:pRg st="4" end="4"/>
                                            </p:txEl>
                                          </p:spTgt>
                                        </p:tgtEl>
                                        <p:attrNameLst>
                                          <p:attrName>ppt_y</p:attrName>
                                        </p:attrNameLst>
                                      </p:cBhvr>
                                      <p:tavLst>
                                        <p:tav tm="0">
                                          <p:val>
                                            <p:strVal val="#ppt_y"/>
                                          </p:val>
                                        </p:tav>
                                        <p:tav tm="100000">
                                          <p:val>
                                            <p:strVal val="#ppt_y"/>
                                          </p:val>
                                        </p:tav>
                                      </p:tavLst>
                                    </p:anim>
                                  </p:childTnLst>
                                </p:cTn>
                              </p:par>
                              <p:par>
                                <p:cTn id="27" presetID="2" presetClass="entr" presetSubtype="8" fill="hold" grpId="0" nodeType="withEffect">
                                  <p:stCondLst>
                                    <p:cond delay="0"/>
                                  </p:stCondLst>
                                  <p:childTnLst>
                                    <p:set>
                                      <p:cBhvr>
                                        <p:cTn id="28" dur="1" fill="hold">
                                          <p:stCondLst>
                                            <p:cond delay="0"/>
                                          </p:stCondLst>
                                        </p:cTn>
                                        <p:tgtEl>
                                          <p:spTgt spid="20483">
                                            <p:txEl>
                                              <p:pRg st="5" end="5"/>
                                            </p:txEl>
                                          </p:spTgt>
                                        </p:tgtEl>
                                        <p:attrNameLst>
                                          <p:attrName>style.visibility</p:attrName>
                                        </p:attrNameLst>
                                      </p:cBhvr>
                                      <p:to>
                                        <p:strVal val="visible"/>
                                      </p:to>
                                    </p:set>
                                    <p:anim calcmode="lin" valueType="num">
                                      <p:cBhvr additive="base">
                                        <p:cTn id="29" dur="500" fill="hold"/>
                                        <p:tgtEl>
                                          <p:spTgt spid="20483">
                                            <p:txEl>
                                              <p:pRg st="5" end="5"/>
                                            </p:txEl>
                                          </p:spTgt>
                                        </p:tgtEl>
                                        <p:attrNameLst>
                                          <p:attrName>ppt_x</p:attrName>
                                        </p:attrNameLst>
                                      </p:cBhvr>
                                      <p:tavLst>
                                        <p:tav tm="0">
                                          <p:val>
                                            <p:strVal val="0-#ppt_w/2"/>
                                          </p:val>
                                        </p:tav>
                                        <p:tav tm="100000">
                                          <p:val>
                                            <p:strVal val="#ppt_x"/>
                                          </p:val>
                                        </p:tav>
                                      </p:tavLst>
                                    </p:anim>
                                    <p:anim calcmode="lin" valueType="num">
                                      <p:cBhvr additive="base">
                                        <p:cTn id="30" dur="500" fill="hold"/>
                                        <p:tgtEl>
                                          <p:spTgt spid="20483">
                                            <p:txEl>
                                              <p:pRg st="5" end="5"/>
                                            </p:txEl>
                                          </p:spTgt>
                                        </p:tgtEl>
                                        <p:attrNameLst>
                                          <p:attrName>ppt_y</p:attrName>
                                        </p:attrNameLst>
                                      </p:cBhvr>
                                      <p:tavLst>
                                        <p:tav tm="0">
                                          <p:val>
                                            <p:strVal val="#ppt_y"/>
                                          </p:val>
                                        </p:tav>
                                        <p:tav tm="100000">
                                          <p:val>
                                            <p:strVal val="#ppt_y"/>
                                          </p:val>
                                        </p:tav>
                                      </p:tavLst>
                                    </p:anim>
                                  </p:childTnLst>
                                </p:cTn>
                              </p:par>
                              <p:par>
                                <p:cTn id="31" presetID="2" presetClass="entr" presetSubtype="8" fill="hold" grpId="0" nodeType="withEffect">
                                  <p:stCondLst>
                                    <p:cond delay="0"/>
                                  </p:stCondLst>
                                  <p:childTnLst>
                                    <p:set>
                                      <p:cBhvr>
                                        <p:cTn id="32" dur="1" fill="hold">
                                          <p:stCondLst>
                                            <p:cond delay="0"/>
                                          </p:stCondLst>
                                        </p:cTn>
                                        <p:tgtEl>
                                          <p:spTgt spid="20483">
                                            <p:txEl>
                                              <p:pRg st="6" end="6"/>
                                            </p:txEl>
                                          </p:spTgt>
                                        </p:tgtEl>
                                        <p:attrNameLst>
                                          <p:attrName>style.visibility</p:attrName>
                                        </p:attrNameLst>
                                      </p:cBhvr>
                                      <p:to>
                                        <p:strVal val="visible"/>
                                      </p:to>
                                    </p:set>
                                    <p:anim calcmode="lin" valueType="num">
                                      <p:cBhvr additive="base">
                                        <p:cTn id="33" dur="500" fill="hold"/>
                                        <p:tgtEl>
                                          <p:spTgt spid="20483">
                                            <p:txEl>
                                              <p:pRg st="6" end="6"/>
                                            </p:txEl>
                                          </p:spTgt>
                                        </p:tgtEl>
                                        <p:attrNameLst>
                                          <p:attrName>ppt_x</p:attrName>
                                        </p:attrNameLst>
                                      </p:cBhvr>
                                      <p:tavLst>
                                        <p:tav tm="0">
                                          <p:val>
                                            <p:strVal val="0-#ppt_w/2"/>
                                          </p:val>
                                        </p:tav>
                                        <p:tav tm="100000">
                                          <p:val>
                                            <p:strVal val="#ppt_x"/>
                                          </p:val>
                                        </p:tav>
                                      </p:tavLst>
                                    </p:anim>
                                    <p:anim calcmode="lin" valueType="num">
                                      <p:cBhvr additive="base">
                                        <p:cTn id="34" dur="500" fill="hold"/>
                                        <p:tgtEl>
                                          <p:spTgt spid="20483">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3" grpId="0" build="p"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6626" name="Object 2">
            <a:hlinkClick r:id="" action="ppaction://ole?verb=0"/>
          </p:cNvPr>
          <p:cNvGraphicFramePr>
            <a:graphicFrameLocks/>
          </p:cNvGraphicFramePr>
          <p:nvPr/>
        </p:nvGraphicFramePr>
        <p:xfrm>
          <a:off x="381000" y="4208463"/>
          <a:ext cx="8382000" cy="2049462"/>
        </p:xfrm>
        <a:graphic>
          <a:graphicData uri="http://schemas.openxmlformats.org/presentationml/2006/ole">
            <mc:AlternateContent xmlns:mc="http://schemas.openxmlformats.org/markup-compatibility/2006">
              <mc:Choice xmlns:v="urn:schemas-microsoft-com:vml" Requires="v">
                <p:oleObj name="Clip" r:id="rId2" imgW="3657600" imgH="2338200" progId="">
                  <p:embed/>
                </p:oleObj>
              </mc:Choice>
              <mc:Fallback>
                <p:oleObj name="Clip" r:id="rId2" imgW="3657600" imgH="2338200" progId="">
                  <p:embed/>
                  <p:pic>
                    <p:nvPicPr>
                      <p:cNvPr id="0" name="Object 2"/>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4208463"/>
                        <a:ext cx="8382000" cy="2049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6627" name="WordArt 3"/>
          <p:cNvSpPr>
            <a:spLocks noChangeArrowheads="1" noChangeShapeType="1" noTextEdit="1"/>
          </p:cNvSpPr>
          <p:nvPr/>
        </p:nvSpPr>
        <p:spPr bwMode="auto">
          <a:xfrm>
            <a:off x="611560" y="1484785"/>
            <a:ext cx="7532315" cy="2448271"/>
          </a:xfrm>
          <a:prstGeom prst="rect">
            <a:avLst/>
          </a:prstGeom>
        </p:spPr>
        <p:txBody>
          <a:bodyPr wrap="none" fromWordArt="1">
            <a:prstTxWarp prst="textSlantUp">
              <a:avLst>
                <a:gd name="adj" fmla="val 32056"/>
              </a:avLst>
            </a:prstTxWarp>
          </a:bodyPr>
          <a:lstStyle/>
          <a:p>
            <a:pPr algn="ctr"/>
            <a:r>
              <a:rPr lang="en-US" altLang="ko-KR" sz="4800" kern="10" dirty="0">
                <a:ln w="9525">
                  <a:solidFill>
                    <a:srgbClr val="CC99FF"/>
                  </a:solidFill>
                  <a:round/>
                  <a:headEnd/>
                  <a:tailEnd/>
                </a:ln>
                <a:gradFill rotWithShape="1">
                  <a:gsLst>
                    <a:gs pos="0">
                      <a:srgbClr val="333399"/>
                    </a:gs>
                    <a:gs pos="100000">
                      <a:schemeClr val="accent2"/>
                    </a:gs>
                  </a:gsLst>
                  <a:lin ang="5400000" scaled="1"/>
                </a:gradFill>
                <a:effectLst>
                  <a:outerShdw dist="53882" dir="2700000" algn="ctr" rotWithShape="0">
                    <a:srgbClr val="9999FF"/>
                  </a:outerShdw>
                </a:effectLst>
                <a:latin typeface="Impact"/>
              </a:rPr>
              <a:t>World Trading System</a:t>
            </a:r>
            <a:endParaRPr lang="ko-KR" altLang="en-US" sz="4800" kern="10" dirty="0">
              <a:ln w="9525">
                <a:solidFill>
                  <a:srgbClr val="CC99FF"/>
                </a:solidFill>
                <a:round/>
                <a:headEnd/>
                <a:tailEnd/>
              </a:ln>
              <a:gradFill rotWithShape="1">
                <a:gsLst>
                  <a:gs pos="0">
                    <a:srgbClr val="333399"/>
                  </a:gs>
                  <a:gs pos="100000">
                    <a:schemeClr val="accent2"/>
                  </a:gs>
                </a:gsLst>
                <a:lin ang="5400000" scaled="1"/>
              </a:gradFill>
              <a:effectLst>
                <a:outerShdw dist="53882" dir="2700000" algn="ctr" rotWithShape="0">
                  <a:srgbClr val="9999FF"/>
                </a:outerShdw>
              </a:effectLst>
              <a:latin typeface="Impact"/>
            </a:endParaRP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6082" name="Rectangle 2" descr="Large confetti"/>
          <p:cNvSpPr>
            <a:spLocks noGrp="1" noChangeArrowheads="1"/>
          </p:cNvSpPr>
          <p:nvPr>
            <p:ph type="title"/>
          </p:nvPr>
        </p:nvSpPr>
        <p:spPr>
          <a:xfrm>
            <a:off x="0" y="142528"/>
            <a:ext cx="9144000" cy="838200"/>
          </a:xfrm>
        </p:spPr>
        <p:txBody>
          <a:bodyPr/>
          <a:lstStyle/>
          <a:p>
            <a:pPr algn="ctr">
              <a:defRPr/>
            </a:pPr>
            <a:r>
              <a:rPr kumimoji="0" lang="en-US" altLang="ko-KR" sz="3200" b="1" kern="1200" dirty="0">
                <a:solidFill>
                  <a:srgbClr val="FFCC00"/>
                </a:solidFill>
                <a:latin typeface="Times New Roman" pitchFamily="18" charset="0"/>
                <a:cs typeface="Times New Roman" pitchFamily="18" charset="0"/>
              </a:rPr>
              <a:t>WORLD TRADING SYSTEM</a:t>
            </a:r>
          </a:p>
        </p:txBody>
      </p:sp>
      <p:sp>
        <p:nvSpPr>
          <p:cNvPr id="46083" name="Rectangle 3"/>
          <p:cNvSpPr>
            <a:spLocks noGrp="1" noChangeArrowheads="1"/>
          </p:cNvSpPr>
          <p:nvPr>
            <p:ph type="body" idx="1"/>
          </p:nvPr>
        </p:nvSpPr>
        <p:spPr>
          <a:xfrm>
            <a:off x="685800" y="1268760"/>
            <a:ext cx="8134672" cy="5256584"/>
          </a:xfrm>
        </p:spPr>
        <p:txBody>
          <a:bodyPr/>
          <a:lstStyle/>
          <a:p>
            <a:pPr>
              <a:lnSpc>
                <a:spcPts val="3800"/>
              </a:lnSpc>
              <a:buFontTx/>
              <a:buChar char="•"/>
            </a:pPr>
            <a:r>
              <a:rPr lang="en-US" altLang="ko-KR" sz="2800" b="0" dirty="0">
                <a:latin typeface="Times New Roman" pitchFamily="18" charset="0"/>
              </a:rPr>
              <a:t>Prior to 1947</a:t>
            </a:r>
          </a:p>
          <a:p>
            <a:pPr>
              <a:lnSpc>
                <a:spcPts val="3800"/>
              </a:lnSpc>
              <a:buFontTx/>
              <a:buNone/>
            </a:pPr>
            <a:r>
              <a:rPr lang="en-US" altLang="ko-KR" sz="2800" b="0" dirty="0">
                <a:latin typeface="Times New Roman" pitchFamily="18" charset="0"/>
              </a:rPr>
              <a:t>	    </a:t>
            </a:r>
            <a:r>
              <a:rPr lang="en-US" altLang="ko-KR" sz="2400" b="0" dirty="0">
                <a:latin typeface="Times New Roman" pitchFamily="18" charset="0"/>
              </a:rPr>
              <a:t>From Smith to the Great Depression (England to US)</a:t>
            </a:r>
          </a:p>
          <a:p>
            <a:pPr>
              <a:lnSpc>
                <a:spcPts val="3800"/>
              </a:lnSpc>
              <a:buFontTx/>
              <a:buChar char="•"/>
            </a:pPr>
            <a:r>
              <a:rPr lang="en-US" altLang="ko-KR" sz="2800" b="0" dirty="0">
                <a:latin typeface="Times New Roman" pitchFamily="18" charset="0"/>
              </a:rPr>
              <a:t>1947-1979</a:t>
            </a:r>
          </a:p>
          <a:p>
            <a:pPr>
              <a:lnSpc>
                <a:spcPts val="3800"/>
              </a:lnSpc>
              <a:buFontTx/>
              <a:buNone/>
            </a:pPr>
            <a:r>
              <a:rPr lang="en-US" altLang="ko-KR" sz="2800" b="0" dirty="0">
                <a:latin typeface="Times New Roman" pitchFamily="18" charset="0"/>
              </a:rPr>
              <a:t>	    </a:t>
            </a:r>
            <a:r>
              <a:rPr lang="en-US" altLang="ko-KR" sz="2400" b="0" dirty="0">
                <a:latin typeface="Times New Roman" pitchFamily="18" charset="0"/>
              </a:rPr>
              <a:t>GATT, trade liberalization, &amp; economic growth</a:t>
            </a:r>
          </a:p>
          <a:p>
            <a:pPr>
              <a:lnSpc>
                <a:spcPts val="3800"/>
              </a:lnSpc>
              <a:buFontTx/>
              <a:buChar char="•"/>
            </a:pPr>
            <a:r>
              <a:rPr lang="en-US" altLang="ko-KR" sz="2800" b="0" dirty="0">
                <a:latin typeface="Times New Roman" pitchFamily="18" charset="0"/>
              </a:rPr>
              <a:t>1980-1994</a:t>
            </a:r>
          </a:p>
          <a:p>
            <a:pPr lvl="1">
              <a:lnSpc>
                <a:spcPts val="3800"/>
              </a:lnSpc>
              <a:buClr>
                <a:schemeClr val="tx1"/>
              </a:buClr>
              <a:buFontTx/>
              <a:buNone/>
            </a:pPr>
            <a:r>
              <a:rPr lang="en-US" altLang="ko-KR" sz="2400" dirty="0">
                <a:solidFill>
                  <a:schemeClr val="tx1"/>
                </a:solidFill>
                <a:latin typeface="Times New Roman" pitchFamily="18" charset="0"/>
              </a:rPr>
              <a:t>   Rise of Japan, US trade deficit, Ineffective GATT</a:t>
            </a:r>
          </a:p>
          <a:p>
            <a:pPr>
              <a:lnSpc>
                <a:spcPts val="3800"/>
              </a:lnSpc>
              <a:buFontTx/>
              <a:buChar char="•"/>
            </a:pPr>
            <a:r>
              <a:rPr lang="en-US" altLang="ko-KR" sz="2800" b="0" dirty="0">
                <a:latin typeface="Times New Roman" pitchFamily="18" charset="0"/>
              </a:rPr>
              <a:t>1995-</a:t>
            </a:r>
          </a:p>
          <a:p>
            <a:pPr>
              <a:lnSpc>
                <a:spcPts val="3800"/>
              </a:lnSpc>
              <a:buFontTx/>
              <a:buNone/>
            </a:pPr>
            <a:r>
              <a:rPr lang="en-US" altLang="ko-KR" sz="2800" b="0" dirty="0">
                <a:latin typeface="Times New Roman" pitchFamily="18" charset="0"/>
              </a:rPr>
              <a:t>	    </a:t>
            </a:r>
            <a:r>
              <a:rPr lang="en-US" altLang="ko-KR" sz="2400" b="0" dirty="0">
                <a:latin typeface="Times New Roman" pitchFamily="18" charset="0"/>
              </a:rPr>
              <a:t>World Trade Organization; Uruguay Round (1986-1994)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6083">
                                            <p:txEl>
                                              <p:pRg st="0" end="0"/>
                                            </p:txEl>
                                          </p:spTgt>
                                        </p:tgtEl>
                                        <p:attrNameLst>
                                          <p:attrName>style.visibility</p:attrName>
                                        </p:attrNameLst>
                                      </p:cBhvr>
                                      <p:to>
                                        <p:strVal val="visible"/>
                                      </p:to>
                                    </p:set>
                                    <p:anim calcmode="lin" valueType="num">
                                      <p:cBhvr additive="base">
                                        <p:cTn id="7" dur="500" fill="hold"/>
                                        <p:tgtEl>
                                          <p:spTgt spid="4608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4608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6083">
                                            <p:txEl>
                                              <p:pRg st="1" end="1"/>
                                            </p:txEl>
                                          </p:spTgt>
                                        </p:tgtEl>
                                        <p:attrNameLst>
                                          <p:attrName>style.visibility</p:attrName>
                                        </p:attrNameLst>
                                      </p:cBhvr>
                                      <p:to>
                                        <p:strVal val="visible"/>
                                      </p:to>
                                    </p:set>
                                    <p:anim calcmode="lin" valueType="num">
                                      <p:cBhvr additive="base">
                                        <p:cTn id="13" dur="500" fill="hold"/>
                                        <p:tgtEl>
                                          <p:spTgt spid="4608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4608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46083">
                                            <p:txEl>
                                              <p:pRg st="2" end="2"/>
                                            </p:txEl>
                                          </p:spTgt>
                                        </p:tgtEl>
                                        <p:attrNameLst>
                                          <p:attrName>style.visibility</p:attrName>
                                        </p:attrNameLst>
                                      </p:cBhvr>
                                      <p:to>
                                        <p:strVal val="visible"/>
                                      </p:to>
                                    </p:set>
                                    <p:anim calcmode="lin" valueType="num">
                                      <p:cBhvr additive="base">
                                        <p:cTn id="19" dur="500" fill="hold"/>
                                        <p:tgtEl>
                                          <p:spTgt spid="4608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4608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46083">
                                            <p:txEl>
                                              <p:pRg st="3" end="3"/>
                                            </p:txEl>
                                          </p:spTgt>
                                        </p:tgtEl>
                                        <p:attrNameLst>
                                          <p:attrName>style.visibility</p:attrName>
                                        </p:attrNameLst>
                                      </p:cBhvr>
                                      <p:to>
                                        <p:strVal val="visible"/>
                                      </p:to>
                                    </p:set>
                                    <p:anim calcmode="lin" valueType="num">
                                      <p:cBhvr additive="base">
                                        <p:cTn id="25" dur="500" fill="hold"/>
                                        <p:tgtEl>
                                          <p:spTgt spid="46083">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4608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46083">
                                            <p:txEl>
                                              <p:pRg st="4" end="4"/>
                                            </p:txEl>
                                          </p:spTgt>
                                        </p:tgtEl>
                                        <p:attrNameLst>
                                          <p:attrName>style.visibility</p:attrName>
                                        </p:attrNameLst>
                                      </p:cBhvr>
                                      <p:to>
                                        <p:strVal val="visible"/>
                                      </p:to>
                                    </p:set>
                                    <p:anim calcmode="lin" valueType="num">
                                      <p:cBhvr additive="base">
                                        <p:cTn id="31" dur="500" fill="hold"/>
                                        <p:tgtEl>
                                          <p:spTgt spid="46083">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46083">
                                            <p:txEl>
                                              <p:pRg st="4" end="4"/>
                                            </p:txEl>
                                          </p:spTgt>
                                        </p:tgtEl>
                                        <p:attrNameLst>
                                          <p:attrName>ppt_y</p:attrName>
                                        </p:attrNameLst>
                                      </p:cBhvr>
                                      <p:tavLst>
                                        <p:tav tm="0">
                                          <p:val>
                                            <p:strVal val="#ppt_y"/>
                                          </p:val>
                                        </p:tav>
                                        <p:tav tm="100000">
                                          <p:val>
                                            <p:strVal val="#ppt_y"/>
                                          </p:val>
                                        </p:tav>
                                      </p:tavLst>
                                    </p:anim>
                                  </p:childTnLst>
                                </p:cTn>
                              </p:par>
                              <p:par>
                                <p:cTn id="33" presetID="2" presetClass="entr" presetSubtype="8" fill="hold" grpId="0" nodeType="withEffect">
                                  <p:stCondLst>
                                    <p:cond delay="0"/>
                                  </p:stCondLst>
                                  <p:childTnLst>
                                    <p:set>
                                      <p:cBhvr>
                                        <p:cTn id="34" dur="1" fill="hold">
                                          <p:stCondLst>
                                            <p:cond delay="0"/>
                                          </p:stCondLst>
                                        </p:cTn>
                                        <p:tgtEl>
                                          <p:spTgt spid="46083">
                                            <p:txEl>
                                              <p:pRg st="5" end="5"/>
                                            </p:txEl>
                                          </p:spTgt>
                                        </p:tgtEl>
                                        <p:attrNameLst>
                                          <p:attrName>style.visibility</p:attrName>
                                        </p:attrNameLst>
                                      </p:cBhvr>
                                      <p:to>
                                        <p:strVal val="visible"/>
                                      </p:to>
                                    </p:set>
                                    <p:anim calcmode="lin" valueType="num">
                                      <p:cBhvr additive="base">
                                        <p:cTn id="35" dur="500" fill="hold"/>
                                        <p:tgtEl>
                                          <p:spTgt spid="46083">
                                            <p:txEl>
                                              <p:pRg st="5" end="5"/>
                                            </p:txEl>
                                          </p:spTgt>
                                        </p:tgtEl>
                                        <p:attrNameLst>
                                          <p:attrName>ppt_x</p:attrName>
                                        </p:attrNameLst>
                                      </p:cBhvr>
                                      <p:tavLst>
                                        <p:tav tm="0">
                                          <p:val>
                                            <p:strVal val="0-#ppt_w/2"/>
                                          </p:val>
                                        </p:tav>
                                        <p:tav tm="100000">
                                          <p:val>
                                            <p:strVal val="#ppt_x"/>
                                          </p:val>
                                        </p:tav>
                                      </p:tavLst>
                                    </p:anim>
                                    <p:anim calcmode="lin" valueType="num">
                                      <p:cBhvr additive="base">
                                        <p:cTn id="36" dur="500" fill="hold"/>
                                        <p:tgtEl>
                                          <p:spTgt spid="46083">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8" fill="hold" grpId="0" nodeType="clickEffect">
                                  <p:stCondLst>
                                    <p:cond delay="0"/>
                                  </p:stCondLst>
                                  <p:childTnLst>
                                    <p:set>
                                      <p:cBhvr>
                                        <p:cTn id="40" dur="1" fill="hold">
                                          <p:stCondLst>
                                            <p:cond delay="0"/>
                                          </p:stCondLst>
                                        </p:cTn>
                                        <p:tgtEl>
                                          <p:spTgt spid="46083">
                                            <p:txEl>
                                              <p:pRg st="6" end="6"/>
                                            </p:txEl>
                                          </p:spTgt>
                                        </p:tgtEl>
                                        <p:attrNameLst>
                                          <p:attrName>style.visibility</p:attrName>
                                        </p:attrNameLst>
                                      </p:cBhvr>
                                      <p:to>
                                        <p:strVal val="visible"/>
                                      </p:to>
                                    </p:set>
                                    <p:anim calcmode="lin" valueType="num">
                                      <p:cBhvr additive="base">
                                        <p:cTn id="41" dur="500" fill="hold"/>
                                        <p:tgtEl>
                                          <p:spTgt spid="46083">
                                            <p:txEl>
                                              <p:pRg st="6" end="6"/>
                                            </p:txEl>
                                          </p:spTgt>
                                        </p:tgtEl>
                                        <p:attrNameLst>
                                          <p:attrName>ppt_x</p:attrName>
                                        </p:attrNameLst>
                                      </p:cBhvr>
                                      <p:tavLst>
                                        <p:tav tm="0">
                                          <p:val>
                                            <p:strVal val="0-#ppt_w/2"/>
                                          </p:val>
                                        </p:tav>
                                        <p:tav tm="100000">
                                          <p:val>
                                            <p:strVal val="#ppt_x"/>
                                          </p:val>
                                        </p:tav>
                                      </p:tavLst>
                                    </p:anim>
                                    <p:anim calcmode="lin" valueType="num">
                                      <p:cBhvr additive="base">
                                        <p:cTn id="42" dur="500" fill="hold"/>
                                        <p:tgtEl>
                                          <p:spTgt spid="46083">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8" fill="hold" grpId="0" nodeType="clickEffect">
                                  <p:stCondLst>
                                    <p:cond delay="0"/>
                                  </p:stCondLst>
                                  <p:childTnLst>
                                    <p:set>
                                      <p:cBhvr>
                                        <p:cTn id="46" dur="1" fill="hold">
                                          <p:stCondLst>
                                            <p:cond delay="0"/>
                                          </p:stCondLst>
                                        </p:cTn>
                                        <p:tgtEl>
                                          <p:spTgt spid="46083">
                                            <p:txEl>
                                              <p:pRg st="7" end="7"/>
                                            </p:txEl>
                                          </p:spTgt>
                                        </p:tgtEl>
                                        <p:attrNameLst>
                                          <p:attrName>style.visibility</p:attrName>
                                        </p:attrNameLst>
                                      </p:cBhvr>
                                      <p:to>
                                        <p:strVal val="visible"/>
                                      </p:to>
                                    </p:set>
                                    <p:anim calcmode="lin" valueType="num">
                                      <p:cBhvr additive="base">
                                        <p:cTn id="47" dur="500" fill="hold"/>
                                        <p:tgtEl>
                                          <p:spTgt spid="46083">
                                            <p:txEl>
                                              <p:pRg st="7" end="7"/>
                                            </p:txEl>
                                          </p:spTgt>
                                        </p:tgtEl>
                                        <p:attrNameLst>
                                          <p:attrName>ppt_x</p:attrName>
                                        </p:attrNameLst>
                                      </p:cBhvr>
                                      <p:tavLst>
                                        <p:tav tm="0">
                                          <p:val>
                                            <p:strVal val="0-#ppt_w/2"/>
                                          </p:val>
                                        </p:tav>
                                        <p:tav tm="100000">
                                          <p:val>
                                            <p:strVal val="#ppt_x"/>
                                          </p:val>
                                        </p:tav>
                                      </p:tavLst>
                                    </p:anim>
                                    <p:anim calcmode="lin" valueType="num">
                                      <p:cBhvr additive="base">
                                        <p:cTn id="48" dur="500" fill="hold"/>
                                        <p:tgtEl>
                                          <p:spTgt spid="46083">
                                            <p:txEl>
                                              <p:pRg st="7" end="7"/>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3" grpId="0" build="p"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34" name="Rectangle 2" descr="Large confetti"/>
          <p:cNvSpPr>
            <a:spLocks noGrp="1" noChangeArrowheads="1"/>
          </p:cNvSpPr>
          <p:nvPr>
            <p:ph type="title"/>
          </p:nvPr>
        </p:nvSpPr>
        <p:spPr>
          <a:xfrm>
            <a:off x="0" y="222920"/>
            <a:ext cx="9144000" cy="685800"/>
          </a:xfrm>
        </p:spPr>
        <p:txBody>
          <a:bodyPr/>
          <a:lstStyle/>
          <a:p>
            <a:pPr algn="ctr">
              <a:defRPr/>
            </a:pPr>
            <a:r>
              <a:rPr kumimoji="0" lang="en-US" altLang="ko-KR" sz="3200" b="1" kern="1200" dirty="0">
                <a:solidFill>
                  <a:srgbClr val="FFCC00"/>
                </a:solidFill>
                <a:latin typeface="Times New Roman" pitchFamily="18" charset="0"/>
                <a:cs typeface="Times New Roman" pitchFamily="18" charset="0"/>
              </a:rPr>
              <a:t>General Agreement on Tariffs and Trade (GATT)</a:t>
            </a:r>
          </a:p>
        </p:txBody>
      </p:sp>
      <p:sp>
        <p:nvSpPr>
          <p:cNvPr id="18435" name="Rectangle 3"/>
          <p:cNvSpPr>
            <a:spLocks noGrp="1" noChangeArrowheads="1"/>
          </p:cNvSpPr>
          <p:nvPr>
            <p:ph type="body" idx="1"/>
          </p:nvPr>
        </p:nvSpPr>
        <p:spPr>
          <a:xfrm>
            <a:off x="353888" y="1258416"/>
            <a:ext cx="8790112" cy="4690864"/>
          </a:xfrm>
          <a:noFill/>
        </p:spPr>
        <p:txBody>
          <a:bodyPr/>
          <a:lstStyle/>
          <a:p>
            <a:pPr>
              <a:lnSpc>
                <a:spcPts val="4400"/>
              </a:lnSpc>
              <a:buFontTx/>
              <a:buChar char="•"/>
            </a:pPr>
            <a:r>
              <a:rPr lang="en-US" altLang="ko-KR" b="0" dirty="0">
                <a:latin typeface="Times New Roman" pitchFamily="18" charset="0"/>
                <a:cs typeface="Times New Roman" pitchFamily="18" charset="0"/>
              </a:rPr>
              <a:t>An international organization in a trade arena similar to UN in a political arena</a:t>
            </a:r>
          </a:p>
          <a:p>
            <a:pPr>
              <a:lnSpc>
                <a:spcPts val="4400"/>
              </a:lnSpc>
              <a:buFontTx/>
              <a:buChar char="•"/>
            </a:pPr>
            <a:r>
              <a:rPr lang="en-US" altLang="ko-KR" b="0" dirty="0">
                <a:latin typeface="Times New Roman" pitchFamily="18" charset="0"/>
                <a:cs typeface="Times New Roman" pitchFamily="18" charset="0"/>
              </a:rPr>
              <a:t>GATT proposed by US in 1947 – 19 members</a:t>
            </a:r>
          </a:p>
          <a:p>
            <a:pPr>
              <a:lnSpc>
                <a:spcPts val="4400"/>
              </a:lnSpc>
              <a:buFontTx/>
              <a:buChar char="•"/>
            </a:pPr>
            <a:r>
              <a:rPr lang="en-US" altLang="ko-KR" b="0" dirty="0">
                <a:latin typeface="Times New Roman" pitchFamily="18" charset="0"/>
                <a:cs typeface="Times New Roman" pitchFamily="18" charset="0"/>
              </a:rPr>
              <a:t>Multilateral agreements to liberalize trade by eliminating tariffs, subsidies, import quotas, etc. </a:t>
            </a:r>
          </a:p>
          <a:p>
            <a:pPr>
              <a:lnSpc>
                <a:spcPts val="4400"/>
              </a:lnSpc>
              <a:buFontTx/>
              <a:buChar char="•"/>
            </a:pPr>
            <a:r>
              <a:rPr lang="en-US" altLang="ko-KR" b="0" dirty="0">
                <a:latin typeface="Times New Roman" pitchFamily="18" charset="0"/>
                <a:cs typeface="Times New Roman" pitchFamily="18" charset="0"/>
              </a:rPr>
              <a:t>Covers trade in manufacturing goods/commodities only</a:t>
            </a:r>
          </a:p>
          <a:p>
            <a:pPr>
              <a:lnSpc>
                <a:spcPts val="4400"/>
              </a:lnSpc>
              <a:buFontTx/>
              <a:buChar char="•"/>
            </a:pPr>
            <a:r>
              <a:rPr lang="en-US" altLang="ko-KR" b="0" dirty="0">
                <a:latin typeface="Times New Roman" pitchFamily="18" charset="0"/>
                <a:cs typeface="Times New Roman" pitchFamily="18" charset="0"/>
              </a:rPr>
              <a:t>Used ‘rounds’ to gradually reduce trade barriers.</a:t>
            </a:r>
          </a:p>
          <a:p>
            <a:pPr>
              <a:lnSpc>
                <a:spcPts val="4400"/>
              </a:lnSpc>
              <a:buFontTx/>
              <a:buNone/>
            </a:pPr>
            <a:endParaRPr lang="en-US" altLang="ko-KR" sz="4000" b="0" dirty="0">
              <a:latin typeface="Times New Roman" pitchFamily="18" charset="0"/>
              <a:cs typeface="Times New Roman" pitchFamily="18" charset="0"/>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8435">
                                            <p:txEl>
                                              <p:pRg st="0" end="0"/>
                                            </p:txEl>
                                          </p:spTgt>
                                        </p:tgtEl>
                                        <p:attrNameLst>
                                          <p:attrName>style.visibility</p:attrName>
                                        </p:attrNameLst>
                                      </p:cBhvr>
                                      <p:to>
                                        <p:strVal val="visible"/>
                                      </p:to>
                                    </p:set>
                                    <p:anim calcmode="lin" valueType="num">
                                      <p:cBhvr additive="base">
                                        <p:cTn id="7" dur="500" fill="hold"/>
                                        <p:tgtEl>
                                          <p:spTgt spid="1843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843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8435">
                                            <p:txEl>
                                              <p:pRg st="1" end="1"/>
                                            </p:txEl>
                                          </p:spTgt>
                                        </p:tgtEl>
                                        <p:attrNameLst>
                                          <p:attrName>style.visibility</p:attrName>
                                        </p:attrNameLst>
                                      </p:cBhvr>
                                      <p:to>
                                        <p:strVal val="visible"/>
                                      </p:to>
                                    </p:set>
                                    <p:anim calcmode="lin" valueType="num">
                                      <p:cBhvr additive="base">
                                        <p:cTn id="13" dur="500" fill="hold"/>
                                        <p:tgtEl>
                                          <p:spTgt spid="18435">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843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8435">
                                            <p:txEl>
                                              <p:pRg st="2" end="2"/>
                                            </p:txEl>
                                          </p:spTgt>
                                        </p:tgtEl>
                                        <p:attrNameLst>
                                          <p:attrName>style.visibility</p:attrName>
                                        </p:attrNameLst>
                                      </p:cBhvr>
                                      <p:to>
                                        <p:strVal val="visible"/>
                                      </p:to>
                                    </p:set>
                                    <p:anim calcmode="lin" valueType="num">
                                      <p:cBhvr additive="base">
                                        <p:cTn id="19" dur="500" fill="hold"/>
                                        <p:tgtEl>
                                          <p:spTgt spid="18435">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843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8435">
                                            <p:txEl>
                                              <p:pRg st="3" end="3"/>
                                            </p:txEl>
                                          </p:spTgt>
                                        </p:tgtEl>
                                        <p:attrNameLst>
                                          <p:attrName>style.visibility</p:attrName>
                                        </p:attrNameLst>
                                      </p:cBhvr>
                                      <p:to>
                                        <p:strVal val="visible"/>
                                      </p:to>
                                    </p:set>
                                    <p:anim calcmode="lin" valueType="num">
                                      <p:cBhvr additive="base">
                                        <p:cTn id="25" dur="500" fill="hold"/>
                                        <p:tgtEl>
                                          <p:spTgt spid="18435">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8435">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8435">
                                            <p:txEl>
                                              <p:pRg st="4" end="4"/>
                                            </p:txEl>
                                          </p:spTgt>
                                        </p:tgtEl>
                                        <p:attrNameLst>
                                          <p:attrName>style.visibility</p:attrName>
                                        </p:attrNameLst>
                                      </p:cBhvr>
                                      <p:to>
                                        <p:strVal val="visible"/>
                                      </p:to>
                                    </p:set>
                                    <p:anim calcmode="lin" valueType="num">
                                      <p:cBhvr additive="base">
                                        <p:cTn id="31" dur="500" fill="hold"/>
                                        <p:tgtEl>
                                          <p:spTgt spid="18435">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8435">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build="p"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descr="Large confetti"/>
          <p:cNvSpPr>
            <a:spLocks noGrp="1" noChangeArrowheads="1"/>
          </p:cNvSpPr>
          <p:nvPr>
            <p:ph type="title"/>
          </p:nvPr>
        </p:nvSpPr>
        <p:spPr>
          <a:xfrm>
            <a:off x="0" y="62136"/>
            <a:ext cx="9144000" cy="990600"/>
          </a:xfrm>
        </p:spPr>
        <p:txBody>
          <a:bodyPr/>
          <a:lstStyle/>
          <a:p>
            <a:pPr algn="ctr">
              <a:defRPr/>
            </a:pPr>
            <a:r>
              <a:rPr kumimoji="0" lang="en-US" altLang="ko-KR" sz="3200" b="1" kern="1200" dirty="0">
                <a:solidFill>
                  <a:srgbClr val="FFCC00"/>
                </a:solidFill>
                <a:latin typeface="Times New Roman" pitchFamily="18" charset="0"/>
                <a:cs typeface="Times New Roman" pitchFamily="18" charset="0"/>
              </a:rPr>
              <a:t>GATT Negotiating Rounds</a:t>
            </a:r>
          </a:p>
        </p:txBody>
      </p:sp>
      <p:sp>
        <p:nvSpPr>
          <p:cNvPr id="28675" name="Rectangle 3"/>
          <p:cNvSpPr>
            <a:spLocks noGrp="1" noChangeArrowheads="1"/>
          </p:cNvSpPr>
          <p:nvPr>
            <p:ph type="body" idx="1"/>
          </p:nvPr>
        </p:nvSpPr>
        <p:spPr>
          <a:xfrm>
            <a:off x="609600" y="1584325"/>
            <a:ext cx="5410200" cy="4724400"/>
          </a:xfrm>
        </p:spPr>
        <p:txBody>
          <a:bodyPr/>
          <a:lstStyle/>
          <a:p>
            <a:pPr>
              <a:buFontTx/>
              <a:buNone/>
            </a:pPr>
            <a:r>
              <a:rPr lang="en-US" altLang="ko-KR" sz="2800" b="0" dirty="0">
                <a:latin typeface="Times New Roman" pitchFamily="18" charset="0"/>
                <a:cs typeface="Times New Roman" pitchFamily="18" charset="0"/>
              </a:rPr>
              <a:t>	Geneva   1947             </a:t>
            </a:r>
            <a:r>
              <a:rPr lang="en-US" altLang="ko-KR" b="0" dirty="0">
                <a:latin typeface="Times New Roman" pitchFamily="18" charset="0"/>
                <a:cs typeface="Times New Roman" pitchFamily="18" charset="0"/>
              </a:rPr>
              <a:t>19</a:t>
            </a:r>
            <a:endParaRPr lang="en-US" altLang="ko-KR" sz="2800" b="0" dirty="0">
              <a:latin typeface="Times New Roman" pitchFamily="18" charset="0"/>
              <a:cs typeface="Times New Roman" pitchFamily="18" charset="0"/>
            </a:endParaRPr>
          </a:p>
          <a:p>
            <a:pPr>
              <a:buFontTx/>
              <a:buNone/>
            </a:pPr>
            <a:r>
              <a:rPr lang="en-US" altLang="ko-KR" sz="2800" b="0" dirty="0">
                <a:latin typeface="Times New Roman" pitchFamily="18" charset="0"/>
                <a:cs typeface="Times New Roman" pitchFamily="18" charset="0"/>
              </a:rPr>
              <a:t>	Annecy   1949             13</a:t>
            </a:r>
          </a:p>
          <a:p>
            <a:pPr>
              <a:buFontTx/>
              <a:buNone/>
            </a:pPr>
            <a:r>
              <a:rPr lang="en-US" altLang="ko-KR" sz="2800" b="0" dirty="0">
                <a:latin typeface="Times New Roman" pitchFamily="18" charset="0"/>
                <a:cs typeface="Times New Roman" pitchFamily="18" charset="0"/>
              </a:rPr>
              <a:t>	</a:t>
            </a:r>
            <a:r>
              <a:rPr lang="en-US" altLang="ko-KR" sz="2800" b="0" dirty="0" err="1">
                <a:latin typeface="Times New Roman" pitchFamily="18" charset="0"/>
                <a:cs typeface="Times New Roman" pitchFamily="18" charset="0"/>
              </a:rPr>
              <a:t>Torquay</a:t>
            </a:r>
            <a:r>
              <a:rPr lang="en-US" altLang="ko-KR" sz="2800" b="0" dirty="0">
                <a:latin typeface="Times New Roman" pitchFamily="18" charset="0"/>
                <a:cs typeface="Times New Roman" pitchFamily="18" charset="0"/>
              </a:rPr>
              <a:t>  1950-51        38 </a:t>
            </a:r>
          </a:p>
          <a:p>
            <a:pPr>
              <a:buFontTx/>
              <a:buNone/>
            </a:pPr>
            <a:r>
              <a:rPr lang="en-US" altLang="ko-KR" sz="2800" b="0" dirty="0">
                <a:latin typeface="Times New Roman" pitchFamily="18" charset="0"/>
                <a:cs typeface="Times New Roman" pitchFamily="18" charset="0"/>
              </a:rPr>
              <a:t>	Geneva   1956              26</a:t>
            </a:r>
          </a:p>
          <a:p>
            <a:pPr>
              <a:buFontTx/>
              <a:buNone/>
            </a:pPr>
            <a:r>
              <a:rPr lang="en-US" altLang="ko-KR" sz="2800" b="0" dirty="0">
                <a:latin typeface="Times New Roman" pitchFamily="18" charset="0"/>
                <a:cs typeface="Times New Roman" pitchFamily="18" charset="0"/>
              </a:rPr>
              <a:t>	Dillon     1960-62         45</a:t>
            </a:r>
          </a:p>
          <a:p>
            <a:pPr>
              <a:buFontTx/>
              <a:buNone/>
            </a:pPr>
            <a:r>
              <a:rPr lang="en-US" altLang="ko-KR" sz="2800" b="0" dirty="0">
                <a:latin typeface="Times New Roman" pitchFamily="18" charset="0"/>
                <a:cs typeface="Times New Roman" pitchFamily="18" charset="0"/>
              </a:rPr>
              <a:t>	Kennedy 1964-67         62</a:t>
            </a:r>
          </a:p>
          <a:p>
            <a:pPr>
              <a:buFontTx/>
              <a:buNone/>
            </a:pPr>
            <a:r>
              <a:rPr lang="en-US" altLang="ko-KR" sz="2800" b="0" dirty="0">
                <a:latin typeface="Times New Roman" pitchFamily="18" charset="0"/>
                <a:cs typeface="Times New Roman" pitchFamily="18" charset="0"/>
              </a:rPr>
              <a:t>	Tokyo     1973-79         99</a:t>
            </a:r>
          </a:p>
          <a:p>
            <a:pPr>
              <a:buFontTx/>
              <a:buNone/>
            </a:pPr>
            <a:r>
              <a:rPr lang="en-US" altLang="ko-KR" sz="2800" b="0" dirty="0">
                <a:latin typeface="Times New Roman" pitchFamily="18" charset="0"/>
                <a:cs typeface="Times New Roman" pitchFamily="18" charset="0"/>
              </a:rPr>
              <a:t>	Uruguay 1986-94       117</a:t>
            </a:r>
          </a:p>
          <a:p>
            <a:pPr>
              <a:buFontTx/>
              <a:buNone/>
            </a:pPr>
            <a:r>
              <a:rPr lang="en-US" altLang="ko-KR" b="0" dirty="0">
                <a:latin typeface="Times New Roman" pitchFamily="18" charset="0"/>
                <a:cs typeface="Times New Roman" pitchFamily="18" charset="0"/>
              </a:rPr>
              <a:t>    Doha</a:t>
            </a:r>
            <a:r>
              <a:rPr lang="en-US" altLang="ko-KR" sz="2800" b="0" dirty="0">
                <a:latin typeface="Times New Roman" pitchFamily="18" charset="0"/>
                <a:cs typeface="Times New Roman" pitchFamily="18" charset="0"/>
              </a:rPr>
              <a:t> </a:t>
            </a:r>
            <a:r>
              <a:rPr lang="en-US" altLang="ko-KR" b="0" dirty="0">
                <a:latin typeface="Times New Roman" pitchFamily="18" charset="0"/>
                <a:cs typeface="Times New Roman" pitchFamily="18" charset="0"/>
              </a:rPr>
              <a:t>      2001-	        157</a:t>
            </a:r>
            <a:endParaRPr lang="en-US" altLang="ko-KR" sz="2800" b="0" dirty="0">
              <a:latin typeface="Times New Roman" pitchFamily="18" charset="0"/>
              <a:cs typeface="Times New Roman" pitchFamily="18" charset="0"/>
            </a:endParaRPr>
          </a:p>
        </p:txBody>
      </p:sp>
      <p:sp>
        <p:nvSpPr>
          <p:cNvPr id="28676" name="Line 4"/>
          <p:cNvSpPr>
            <a:spLocks noChangeShapeType="1"/>
          </p:cNvSpPr>
          <p:nvPr/>
        </p:nvSpPr>
        <p:spPr bwMode="auto">
          <a:xfrm>
            <a:off x="6705600" y="1736725"/>
            <a:ext cx="0" cy="3962400"/>
          </a:xfrm>
          <a:prstGeom prst="line">
            <a:avLst/>
          </a:prstGeom>
          <a:noFill/>
          <a:ln w="38100">
            <a:solidFill>
              <a:srgbClr val="FF6600"/>
            </a:solidFill>
            <a:round/>
            <a:headEnd/>
            <a:tailEnd/>
          </a:ln>
        </p:spPr>
        <p:txBody>
          <a:bodyPr wrap="none" anchor="ctr"/>
          <a:lstStyle/>
          <a:p>
            <a:endParaRPr lang="ko-KR" altLang="en-US" b="0"/>
          </a:p>
        </p:txBody>
      </p:sp>
      <p:sp>
        <p:nvSpPr>
          <p:cNvPr id="28677" name="Line 5"/>
          <p:cNvSpPr>
            <a:spLocks noChangeShapeType="1"/>
          </p:cNvSpPr>
          <p:nvPr/>
        </p:nvSpPr>
        <p:spPr bwMode="auto">
          <a:xfrm>
            <a:off x="6705600" y="5699125"/>
            <a:ext cx="1676400" cy="0"/>
          </a:xfrm>
          <a:prstGeom prst="line">
            <a:avLst/>
          </a:prstGeom>
          <a:noFill/>
          <a:ln w="38100">
            <a:solidFill>
              <a:srgbClr val="FF6600"/>
            </a:solidFill>
            <a:round/>
            <a:headEnd/>
            <a:tailEnd/>
          </a:ln>
        </p:spPr>
        <p:txBody>
          <a:bodyPr wrap="none" anchor="ctr"/>
          <a:lstStyle/>
          <a:p>
            <a:endParaRPr lang="ko-KR" altLang="en-US" b="0"/>
          </a:p>
        </p:txBody>
      </p:sp>
      <p:sp>
        <p:nvSpPr>
          <p:cNvPr id="28678" name="Rectangle 6"/>
          <p:cNvSpPr>
            <a:spLocks noChangeArrowheads="1"/>
          </p:cNvSpPr>
          <p:nvPr/>
        </p:nvSpPr>
        <p:spPr bwMode="auto">
          <a:xfrm>
            <a:off x="6858000" y="3946525"/>
            <a:ext cx="152400" cy="1752600"/>
          </a:xfrm>
          <a:prstGeom prst="rect">
            <a:avLst/>
          </a:prstGeom>
          <a:solidFill>
            <a:srgbClr val="33CC33"/>
          </a:solidFill>
          <a:ln w="9525">
            <a:solidFill>
              <a:schemeClr val="tx1"/>
            </a:solidFill>
            <a:miter lim="800000"/>
            <a:headEnd/>
            <a:tailEnd/>
          </a:ln>
        </p:spPr>
        <p:txBody>
          <a:bodyPr wrap="none" anchor="ctr"/>
          <a:lstStyle/>
          <a:p>
            <a:endParaRPr lang="ko-KR" altLang="en-US" b="0">
              <a:cs typeface="Times New Roman" pitchFamily="18" charset="0"/>
            </a:endParaRPr>
          </a:p>
        </p:txBody>
      </p:sp>
      <p:sp>
        <p:nvSpPr>
          <p:cNvPr id="28679" name="Rectangle 7"/>
          <p:cNvSpPr>
            <a:spLocks noChangeArrowheads="1"/>
          </p:cNvSpPr>
          <p:nvPr/>
        </p:nvSpPr>
        <p:spPr bwMode="auto">
          <a:xfrm>
            <a:off x="7162800" y="5165725"/>
            <a:ext cx="152400" cy="533400"/>
          </a:xfrm>
          <a:prstGeom prst="rect">
            <a:avLst/>
          </a:prstGeom>
          <a:solidFill>
            <a:srgbClr val="FF5050"/>
          </a:solidFill>
          <a:ln w="9525">
            <a:solidFill>
              <a:schemeClr val="tx1"/>
            </a:solidFill>
            <a:miter lim="800000"/>
            <a:headEnd/>
            <a:tailEnd/>
          </a:ln>
        </p:spPr>
        <p:txBody>
          <a:bodyPr wrap="none" anchor="ctr"/>
          <a:lstStyle/>
          <a:p>
            <a:endParaRPr lang="ko-KR" altLang="en-US" b="0">
              <a:cs typeface="Times New Roman" pitchFamily="18" charset="0"/>
            </a:endParaRPr>
          </a:p>
        </p:txBody>
      </p:sp>
      <p:sp>
        <p:nvSpPr>
          <p:cNvPr id="28680" name="Rectangle 8"/>
          <p:cNvSpPr>
            <a:spLocks noChangeArrowheads="1"/>
          </p:cNvSpPr>
          <p:nvPr/>
        </p:nvSpPr>
        <p:spPr bwMode="auto">
          <a:xfrm>
            <a:off x="7848600" y="1889125"/>
            <a:ext cx="152400" cy="3810000"/>
          </a:xfrm>
          <a:prstGeom prst="rect">
            <a:avLst/>
          </a:prstGeom>
          <a:solidFill>
            <a:srgbClr val="33CC33"/>
          </a:solidFill>
          <a:ln w="9525">
            <a:solidFill>
              <a:schemeClr val="tx1"/>
            </a:solidFill>
            <a:miter lim="800000"/>
            <a:headEnd/>
            <a:tailEnd/>
          </a:ln>
        </p:spPr>
        <p:txBody>
          <a:bodyPr wrap="none" anchor="ctr"/>
          <a:lstStyle/>
          <a:p>
            <a:endParaRPr lang="ko-KR" altLang="en-US" b="0">
              <a:cs typeface="Times New Roman" pitchFamily="18" charset="0"/>
            </a:endParaRPr>
          </a:p>
        </p:txBody>
      </p:sp>
      <p:sp>
        <p:nvSpPr>
          <p:cNvPr id="28681" name="Rectangle 9"/>
          <p:cNvSpPr>
            <a:spLocks noChangeArrowheads="1"/>
          </p:cNvSpPr>
          <p:nvPr/>
        </p:nvSpPr>
        <p:spPr bwMode="auto">
          <a:xfrm>
            <a:off x="8153400" y="4632325"/>
            <a:ext cx="152400" cy="1066800"/>
          </a:xfrm>
          <a:prstGeom prst="rect">
            <a:avLst/>
          </a:prstGeom>
          <a:solidFill>
            <a:srgbClr val="FF5050"/>
          </a:solidFill>
          <a:ln w="9525">
            <a:solidFill>
              <a:schemeClr val="tx1"/>
            </a:solidFill>
            <a:miter lim="800000"/>
            <a:headEnd/>
            <a:tailEnd/>
          </a:ln>
        </p:spPr>
        <p:txBody>
          <a:bodyPr wrap="none" anchor="ctr"/>
          <a:lstStyle/>
          <a:p>
            <a:endParaRPr lang="ko-KR" altLang="en-US" b="0">
              <a:cs typeface="Times New Roman" pitchFamily="18" charset="0"/>
            </a:endParaRPr>
          </a:p>
        </p:txBody>
      </p:sp>
      <p:sp>
        <p:nvSpPr>
          <p:cNvPr id="28682" name="Text Box 10"/>
          <p:cNvSpPr txBox="1">
            <a:spLocks noChangeArrowheads="1"/>
          </p:cNvSpPr>
          <p:nvPr/>
        </p:nvSpPr>
        <p:spPr bwMode="auto">
          <a:xfrm>
            <a:off x="6096000" y="1660525"/>
            <a:ext cx="609600" cy="4154488"/>
          </a:xfrm>
          <a:prstGeom prst="rect">
            <a:avLst/>
          </a:prstGeom>
          <a:noFill/>
          <a:ln w="9525">
            <a:noFill/>
            <a:miter lim="800000"/>
            <a:headEnd/>
            <a:tailEnd/>
          </a:ln>
        </p:spPr>
        <p:txBody>
          <a:bodyPr>
            <a:spAutoFit/>
          </a:bodyPr>
          <a:lstStyle/>
          <a:p>
            <a:pPr eaLnBrk="0" latinLnBrk="0" hangingPunct="0">
              <a:spcBef>
                <a:spcPct val="50000"/>
              </a:spcBef>
            </a:pPr>
            <a:r>
              <a:rPr kumimoji="0" lang="ko-KR" altLang="en-US" b="0">
                <a:cs typeface="Times New Roman" pitchFamily="18" charset="0"/>
              </a:rPr>
              <a:t>9.0 8.5 8.0 7.5 7.0 6.5 6.0 5.5 5.0 4.5 4.0</a:t>
            </a:r>
          </a:p>
        </p:txBody>
      </p:sp>
      <p:sp>
        <p:nvSpPr>
          <p:cNvPr id="28683" name="Rectangle 11"/>
          <p:cNvSpPr>
            <a:spLocks noChangeArrowheads="1"/>
          </p:cNvSpPr>
          <p:nvPr/>
        </p:nvSpPr>
        <p:spPr bwMode="auto">
          <a:xfrm>
            <a:off x="6553200" y="6003925"/>
            <a:ext cx="457200" cy="228600"/>
          </a:xfrm>
          <a:prstGeom prst="rect">
            <a:avLst/>
          </a:prstGeom>
          <a:solidFill>
            <a:srgbClr val="33CC33"/>
          </a:solidFill>
          <a:ln w="9525">
            <a:solidFill>
              <a:schemeClr val="tx1"/>
            </a:solidFill>
            <a:miter lim="800000"/>
            <a:headEnd/>
            <a:tailEnd/>
          </a:ln>
        </p:spPr>
        <p:txBody>
          <a:bodyPr wrap="none" anchor="ctr"/>
          <a:lstStyle/>
          <a:p>
            <a:endParaRPr lang="ko-KR" altLang="en-US" b="0">
              <a:cs typeface="Times New Roman" pitchFamily="18" charset="0"/>
            </a:endParaRPr>
          </a:p>
        </p:txBody>
      </p:sp>
      <p:sp>
        <p:nvSpPr>
          <p:cNvPr id="28684" name="Rectangle 12"/>
          <p:cNvSpPr>
            <a:spLocks noChangeArrowheads="1"/>
          </p:cNvSpPr>
          <p:nvPr/>
        </p:nvSpPr>
        <p:spPr bwMode="auto">
          <a:xfrm>
            <a:off x="6553200" y="6384925"/>
            <a:ext cx="457200" cy="228600"/>
          </a:xfrm>
          <a:prstGeom prst="rect">
            <a:avLst/>
          </a:prstGeom>
          <a:solidFill>
            <a:srgbClr val="FF5050"/>
          </a:solidFill>
          <a:ln w="9525">
            <a:solidFill>
              <a:schemeClr val="tx1"/>
            </a:solidFill>
            <a:miter lim="800000"/>
            <a:headEnd/>
            <a:tailEnd/>
          </a:ln>
        </p:spPr>
        <p:txBody>
          <a:bodyPr wrap="none" anchor="ctr"/>
          <a:lstStyle/>
          <a:p>
            <a:endParaRPr lang="ko-KR" altLang="en-US" b="0">
              <a:cs typeface="Times New Roman" pitchFamily="18" charset="0"/>
            </a:endParaRPr>
          </a:p>
        </p:txBody>
      </p:sp>
      <p:sp>
        <p:nvSpPr>
          <p:cNvPr id="28685" name="Text Box 13"/>
          <p:cNvSpPr txBox="1">
            <a:spLocks noChangeArrowheads="1"/>
          </p:cNvSpPr>
          <p:nvPr/>
        </p:nvSpPr>
        <p:spPr bwMode="auto">
          <a:xfrm>
            <a:off x="7086600" y="5927725"/>
            <a:ext cx="2133600" cy="396875"/>
          </a:xfrm>
          <a:prstGeom prst="rect">
            <a:avLst/>
          </a:prstGeom>
          <a:noFill/>
          <a:ln w="9525">
            <a:noFill/>
            <a:miter lim="800000"/>
            <a:headEnd/>
            <a:tailEnd/>
          </a:ln>
        </p:spPr>
        <p:txBody>
          <a:bodyPr>
            <a:spAutoFit/>
          </a:bodyPr>
          <a:lstStyle/>
          <a:p>
            <a:pPr eaLnBrk="0" latinLnBrk="0" hangingPunct="0">
              <a:spcBef>
                <a:spcPct val="50000"/>
              </a:spcBef>
            </a:pPr>
            <a:r>
              <a:rPr kumimoji="0" lang="en-US" altLang="ko-KR" sz="2000" b="0" dirty="0">
                <a:cs typeface="Times New Roman" pitchFamily="18" charset="0"/>
              </a:rPr>
              <a:t>World Trade</a:t>
            </a:r>
          </a:p>
        </p:txBody>
      </p:sp>
      <p:sp>
        <p:nvSpPr>
          <p:cNvPr id="28686" name="Text Box 15"/>
          <p:cNvSpPr txBox="1">
            <a:spLocks noChangeArrowheads="1"/>
          </p:cNvSpPr>
          <p:nvPr/>
        </p:nvSpPr>
        <p:spPr bwMode="auto">
          <a:xfrm>
            <a:off x="7086600" y="6308725"/>
            <a:ext cx="2133600" cy="396875"/>
          </a:xfrm>
          <a:prstGeom prst="rect">
            <a:avLst/>
          </a:prstGeom>
          <a:noFill/>
          <a:ln w="9525">
            <a:noFill/>
            <a:miter lim="800000"/>
            <a:headEnd/>
            <a:tailEnd/>
          </a:ln>
        </p:spPr>
        <p:txBody>
          <a:bodyPr>
            <a:spAutoFit/>
          </a:bodyPr>
          <a:lstStyle/>
          <a:p>
            <a:pPr eaLnBrk="0" latinLnBrk="0" hangingPunct="0">
              <a:spcBef>
                <a:spcPct val="50000"/>
              </a:spcBef>
            </a:pPr>
            <a:r>
              <a:rPr kumimoji="0" lang="en-US" altLang="ko-KR" sz="2000" b="0" dirty="0">
                <a:cs typeface="Times New Roman" pitchFamily="18" charset="0"/>
              </a:rPr>
              <a:t>World Income</a:t>
            </a:r>
          </a:p>
        </p:txBody>
      </p:sp>
      <p:sp>
        <p:nvSpPr>
          <p:cNvPr id="28687" name="Text Box 16"/>
          <p:cNvSpPr txBox="1">
            <a:spLocks noChangeArrowheads="1"/>
          </p:cNvSpPr>
          <p:nvPr/>
        </p:nvSpPr>
        <p:spPr bwMode="auto">
          <a:xfrm>
            <a:off x="6629400" y="5699125"/>
            <a:ext cx="990600" cy="304800"/>
          </a:xfrm>
          <a:prstGeom prst="rect">
            <a:avLst/>
          </a:prstGeom>
          <a:noFill/>
          <a:ln w="9525">
            <a:noFill/>
            <a:miter lim="800000"/>
            <a:headEnd/>
            <a:tailEnd/>
          </a:ln>
        </p:spPr>
        <p:txBody>
          <a:bodyPr>
            <a:spAutoFit/>
          </a:bodyPr>
          <a:lstStyle/>
          <a:p>
            <a:pPr eaLnBrk="0" latinLnBrk="0" hangingPunct="0">
              <a:spcBef>
                <a:spcPct val="50000"/>
              </a:spcBef>
            </a:pPr>
            <a:r>
              <a:rPr kumimoji="0" lang="ko-KR" altLang="en-US" sz="1400" b="0">
                <a:cs typeface="Times New Roman" pitchFamily="18" charset="0"/>
              </a:rPr>
              <a:t>1953-63</a:t>
            </a:r>
          </a:p>
        </p:txBody>
      </p:sp>
      <p:sp>
        <p:nvSpPr>
          <p:cNvPr id="28688" name="Text Box 17"/>
          <p:cNvSpPr txBox="1">
            <a:spLocks noChangeArrowheads="1"/>
          </p:cNvSpPr>
          <p:nvPr/>
        </p:nvSpPr>
        <p:spPr bwMode="auto">
          <a:xfrm>
            <a:off x="7696200" y="5699125"/>
            <a:ext cx="990600" cy="304800"/>
          </a:xfrm>
          <a:prstGeom prst="rect">
            <a:avLst/>
          </a:prstGeom>
          <a:noFill/>
          <a:ln w="9525">
            <a:noFill/>
            <a:miter lim="800000"/>
            <a:headEnd/>
            <a:tailEnd/>
          </a:ln>
        </p:spPr>
        <p:txBody>
          <a:bodyPr>
            <a:spAutoFit/>
          </a:bodyPr>
          <a:lstStyle/>
          <a:p>
            <a:pPr eaLnBrk="0" latinLnBrk="0" hangingPunct="0">
              <a:spcBef>
                <a:spcPct val="50000"/>
              </a:spcBef>
            </a:pPr>
            <a:r>
              <a:rPr kumimoji="0" lang="ko-KR" altLang="en-US" sz="1400" b="0">
                <a:cs typeface="Times New Roman" pitchFamily="18" charset="0"/>
              </a:rPr>
              <a:t>1963-73</a:t>
            </a:r>
          </a:p>
        </p:txBody>
      </p:sp>
      <p:sp>
        <p:nvSpPr>
          <p:cNvPr id="28689" name="Text Box 18"/>
          <p:cNvSpPr txBox="1">
            <a:spLocks noChangeArrowheads="1"/>
          </p:cNvSpPr>
          <p:nvPr/>
        </p:nvSpPr>
        <p:spPr bwMode="auto">
          <a:xfrm>
            <a:off x="6096000" y="1295400"/>
            <a:ext cx="2667000" cy="396875"/>
          </a:xfrm>
          <a:prstGeom prst="rect">
            <a:avLst/>
          </a:prstGeom>
          <a:noFill/>
          <a:ln w="9525">
            <a:noFill/>
            <a:miter lim="800000"/>
            <a:headEnd/>
            <a:tailEnd/>
          </a:ln>
        </p:spPr>
        <p:txBody>
          <a:bodyPr>
            <a:spAutoFit/>
          </a:bodyPr>
          <a:lstStyle/>
          <a:p>
            <a:pPr eaLnBrk="0" latinLnBrk="0" hangingPunct="0">
              <a:spcBef>
                <a:spcPct val="50000"/>
              </a:spcBef>
            </a:pPr>
            <a:r>
              <a:rPr kumimoji="0" lang="en-US" altLang="ko-KR" sz="2000" b="0" dirty="0">
                <a:cs typeface="Times New Roman" pitchFamily="18" charset="0"/>
              </a:rPr>
              <a:t>Growth Under GATT</a:t>
            </a:r>
          </a:p>
        </p:txBody>
      </p:sp>
      <p:sp>
        <p:nvSpPr>
          <p:cNvPr id="28690" name="Text Box 19"/>
          <p:cNvSpPr txBox="1">
            <a:spLocks noChangeArrowheads="1"/>
          </p:cNvSpPr>
          <p:nvPr/>
        </p:nvSpPr>
        <p:spPr bwMode="auto">
          <a:xfrm>
            <a:off x="6705600" y="1676400"/>
            <a:ext cx="457200" cy="396875"/>
          </a:xfrm>
          <a:prstGeom prst="rect">
            <a:avLst/>
          </a:prstGeom>
          <a:noFill/>
          <a:ln w="9525">
            <a:noFill/>
            <a:miter lim="800000"/>
            <a:headEnd/>
            <a:tailEnd/>
          </a:ln>
        </p:spPr>
        <p:txBody>
          <a:bodyPr wrap="square">
            <a:spAutoFit/>
          </a:bodyPr>
          <a:lstStyle/>
          <a:p>
            <a:pPr eaLnBrk="0" latinLnBrk="0" hangingPunct="0">
              <a:spcBef>
                <a:spcPct val="50000"/>
              </a:spcBef>
            </a:pPr>
            <a:r>
              <a:rPr kumimoji="0" lang="ko-KR" altLang="en-US" sz="2000" b="0" dirty="0">
                <a:cs typeface="Times New Roman" pitchFamily="18" charset="0"/>
              </a:rPr>
              <a:t>%</a:t>
            </a:r>
          </a:p>
        </p:txBody>
      </p:sp>
    </p:spTree>
  </p:cSld>
  <p:clrMapOvr>
    <a:masterClrMapping/>
  </p:clrMapOvr>
  <p:transition>
    <p:random/>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descr="Large confetti"/>
          <p:cNvSpPr txBox="1">
            <a:spLocks noChangeArrowheads="1"/>
          </p:cNvSpPr>
          <p:nvPr/>
        </p:nvSpPr>
        <p:spPr bwMode="auto">
          <a:xfrm>
            <a:off x="0" y="260648"/>
            <a:ext cx="8915400" cy="533400"/>
          </a:xfrm>
          <a:prstGeom prst="rect">
            <a:avLst/>
          </a:prstGeom>
          <a:noFill/>
          <a:ln w="9525">
            <a:noFill/>
            <a:miter lim="800000"/>
            <a:headEnd/>
            <a:tailEnd/>
          </a:ln>
        </p:spPr>
        <p:txBody>
          <a:bodyPr anchor="b"/>
          <a:lstStyle/>
          <a:p>
            <a:pPr algn="ctr" eaLnBrk="0" hangingPunct="0">
              <a:defRPr/>
            </a:pPr>
            <a:r>
              <a:rPr kumimoji="0" lang="en-US" altLang="ko-KR" sz="3200" b="1" dirty="0">
                <a:solidFill>
                  <a:srgbClr val="FFCC00"/>
                </a:solidFill>
                <a:ea typeface="+mj-ea"/>
                <a:cs typeface="Times New Roman" pitchFamily="18" charset="0"/>
              </a:rPr>
              <a:t>Average Reduction in US Tariff Rates</a:t>
            </a:r>
          </a:p>
        </p:txBody>
      </p:sp>
      <p:graphicFrame>
        <p:nvGraphicFramePr>
          <p:cNvPr id="5" name="Object 2"/>
          <p:cNvGraphicFramePr>
            <a:graphicFrameLocks noChangeAspect="1"/>
          </p:cNvGraphicFramePr>
          <p:nvPr/>
        </p:nvGraphicFramePr>
        <p:xfrm>
          <a:off x="736600" y="1530350"/>
          <a:ext cx="7700963" cy="4667250"/>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314" name="Rectangle 2"/>
          <p:cNvSpPr>
            <a:spLocks noGrp="1" noChangeArrowheads="1"/>
          </p:cNvSpPr>
          <p:nvPr>
            <p:ph type="body" idx="1"/>
          </p:nvPr>
        </p:nvSpPr>
        <p:spPr>
          <a:xfrm>
            <a:off x="395536" y="1268760"/>
            <a:ext cx="8424936" cy="5589240"/>
          </a:xfrm>
        </p:spPr>
        <p:txBody>
          <a:bodyPr/>
          <a:lstStyle/>
          <a:p>
            <a:pPr>
              <a:lnSpc>
                <a:spcPts val="3500"/>
              </a:lnSpc>
              <a:buFontTx/>
              <a:buChar char="•"/>
            </a:pPr>
            <a:r>
              <a:rPr lang="en-US" altLang="ko-KR" sz="2400" b="0" dirty="0">
                <a:latin typeface="Times New Roman" pitchFamily="18" charset="0"/>
              </a:rPr>
              <a:t>Produced the most comprehensive trade agreement in history.</a:t>
            </a:r>
          </a:p>
          <a:p>
            <a:pPr>
              <a:lnSpc>
                <a:spcPts val="3500"/>
              </a:lnSpc>
              <a:buFontTx/>
              <a:buChar char="•"/>
            </a:pPr>
            <a:r>
              <a:rPr lang="en-US" altLang="ko-KR" sz="2400" b="0" dirty="0">
                <a:latin typeface="Times New Roman" pitchFamily="18" charset="0"/>
              </a:rPr>
              <a:t>Created the World Trade Organization (WTO) in January 1995.</a:t>
            </a:r>
          </a:p>
          <a:p>
            <a:pPr>
              <a:lnSpc>
                <a:spcPts val="3500"/>
              </a:lnSpc>
              <a:buFontTx/>
              <a:buChar char="•"/>
            </a:pPr>
            <a:r>
              <a:rPr lang="en-US" altLang="ko-KR" sz="2400" b="0" dirty="0">
                <a:latin typeface="Times New Roman" pitchFamily="18" charset="0"/>
              </a:rPr>
              <a:t>Impacted:</a:t>
            </a:r>
          </a:p>
          <a:p>
            <a:pPr lvl="1">
              <a:lnSpc>
                <a:spcPts val="3500"/>
              </a:lnSpc>
              <a:buClr>
                <a:schemeClr val="tx1"/>
              </a:buClr>
              <a:buNone/>
            </a:pPr>
            <a:r>
              <a:rPr lang="en-US" altLang="ko-KR" sz="2400" dirty="0">
                <a:solidFill>
                  <a:schemeClr val="tx1"/>
                </a:solidFill>
                <a:latin typeface="Times New Roman" pitchFamily="18" charset="0"/>
              </a:rPr>
              <a:t>-  Applied GATT rules to cover trade in services in addition to trade in goods &amp; commodities</a:t>
            </a:r>
          </a:p>
          <a:p>
            <a:pPr lvl="1">
              <a:lnSpc>
                <a:spcPts val="3500"/>
              </a:lnSpc>
              <a:buClr>
                <a:schemeClr val="tx1"/>
              </a:buClr>
              <a:buNone/>
            </a:pPr>
            <a:r>
              <a:rPr lang="en-US" altLang="ko-KR" sz="2400" dirty="0">
                <a:solidFill>
                  <a:schemeClr val="tx1"/>
                </a:solidFill>
                <a:latin typeface="Times New Roman" pitchFamily="18" charset="0"/>
              </a:rPr>
              <a:t>-  Sought to write rules governing the protection of intellectual property (patents, copyrights, and trademarks)</a:t>
            </a:r>
          </a:p>
          <a:p>
            <a:pPr lvl="1">
              <a:lnSpc>
                <a:spcPts val="3500"/>
              </a:lnSpc>
              <a:buClr>
                <a:schemeClr val="tx1"/>
              </a:buClr>
              <a:buNone/>
            </a:pPr>
            <a:r>
              <a:rPr lang="en-US" altLang="ko-KR" sz="2400" dirty="0">
                <a:solidFill>
                  <a:schemeClr val="tx1"/>
                </a:solidFill>
                <a:latin typeface="Times New Roman" pitchFamily="18" charset="0"/>
              </a:rPr>
              <a:t>-  Sought to reduce agriculture subsidies (US/EU).</a:t>
            </a:r>
          </a:p>
          <a:p>
            <a:pPr lvl="1">
              <a:lnSpc>
                <a:spcPts val="3500"/>
              </a:lnSpc>
              <a:buClr>
                <a:schemeClr val="tx1"/>
              </a:buClr>
              <a:buFontTx/>
              <a:buChar char="-"/>
            </a:pPr>
            <a:r>
              <a:rPr lang="en-US" altLang="ko-KR" sz="2400" dirty="0">
                <a:solidFill>
                  <a:schemeClr val="tx1"/>
                </a:solidFill>
                <a:latin typeface="Times New Roman" pitchFamily="18" charset="0"/>
              </a:rPr>
              <a:t>Strengthened the GATT’s monitoring and enforcement mechanisms</a:t>
            </a:r>
            <a:endParaRPr lang="en-US" altLang="ko-KR" sz="2200" dirty="0">
              <a:solidFill>
                <a:schemeClr val="tx1"/>
              </a:solidFill>
              <a:latin typeface="Times New Roman" pitchFamily="18" charset="0"/>
            </a:endParaRPr>
          </a:p>
          <a:p>
            <a:pPr lvl="1">
              <a:lnSpc>
                <a:spcPts val="3400"/>
              </a:lnSpc>
              <a:buClr>
                <a:schemeClr val="tx1"/>
              </a:buClr>
              <a:buNone/>
            </a:pPr>
            <a:endParaRPr lang="en-US" altLang="ko-KR" sz="2400" dirty="0">
              <a:solidFill>
                <a:schemeClr val="tx1"/>
              </a:solidFill>
              <a:latin typeface="Times New Roman" pitchFamily="18" charset="0"/>
            </a:endParaRPr>
          </a:p>
          <a:p>
            <a:pPr lvl="1">
              <a:buClr>
                <a:schemeClr val="tx1"/>
              </a:buClr>
              <a:buFontTx/>
              <a:buNone/>
            </a:pPr>
            <a:endParaRPr lang="en-US" altLang="ko-KR" sz="2000" dirty="0">
              <a:solidFill>
                <a:schemeClr val="bg1"/>
              </a:solidFill>
              <a:latin typeface="Times New Roman" pitchFamily="18" charset="0"/>
            </a:endParaRPr>
          </a:p>
        </p:txBody>
      </p:sp>
      <p:sp>
        <p:nvSpPr>
          <p:cNvPr id="13315" name="Text Box 3"/>
          <p:cNvSpPr txBox="1">
            <a:spLocks noChangeArrowheads="1"/>
          </p:cNvSpPr>
          <p:nvPr/>
        </p:nvSpPr>
        <p:spPr bwMode="auto">
          <a:xfrm>
            <a:off x="0" y="252512"/>
            <a:ext cx="9144000" cy="584200"/>
          </a:xfrm>
          <a:prstGeom prst="rect">
            <a:avLst/>
          </a:prstGeom>
          <a:noFill/>
          <a:ln w="9525">
            <a:noFill/>
            <a:miter lim="800000"/>
            <a:headEnd/>
            <a:tailEnd/>
          </a:ln>
          <a:effectLst/>
        </p:spPr>
        <p:txBody>
          <a:bodyPr>
            <a:spAutoFit/>
          </a:bodyPr>
          <a:lstStyle/>
          <a:p>
            <a:pPr algn="ctr" eaLnBrk="0" latinLnBrk="0" hangingPunct="0">
              <a:spcBef>
                <a:spcPct val="50000"/>
              </a:spcBef>
              <a:defRPr/>
            </a:pPr>
            <a:r>
              <a:rPr kumimoji="0" lang="en-US" altLang="ko-KR" sz="3200" b="1" dirty="0">
                <a:solidFill>
                  <a:srgbClr val="FFCC00"/>
                </a:solidFill>
                <a:ea typeface="+mj-ea"/>
                <a:cs typeface="Times New Roman" pitchFamily="18" charset="0"/>
              </a:rPr>
              <a:t>Uruguay Round</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3314">
                                            <p:txEl>
                                              <p:pRg st="0" end="0"/>
                                            </p:txEl>
                                          </p:spTgt>
                                        </p:tgtEl>
                                        <p:attrNameLst>
                                          <p:attrName>style.visibility</p:attrName>
                                        </p:attrNameLst>
                                      </p:cBhvr>
                                      <p:to>
                                        <p:strVal val="visible"/>
                                      </p:to>
                                    </p:set>
                                    <p:anim calcmode="lin" valueType="num">
                                      <p:cBhvr additive="base">
                                        <p:cTn id="7" dur="500" fill="hold"/>
                                        <p:tgtEl>
                                          <p:spTgt spid="13314">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3314">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3314">
                                            <p:txEl>
                                              <p:pRg st="1" end="1"/>
                                            </p:txEl>
                                          </p:spTgt>
                                        </p:tgtEl>
                                        <p:attrNameLst>
                                          <p:attrName>style.visibility</p:attrName>
                                        </p:attrNameLst>
                                      </p:cBhvr>
                                      <p:to>
                                        <p:strVal val="visible"/>
                                      </p:to>
                                    </p:set>
                                    <p:anim calcmode="lin" valueType="num">
                                      <p:cBhvr additive="base">
                                        <p:cTn id="13" dur="500" fill="hold"/>
                                        <p:tgtEl>
                                          <p:spTgt spid="13314">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3314">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3314">
                                            <p:txEl>
                                              <p:pRg st="2" end="2"/>
                                            </p:txEl>
                                          </p:spTgt>
                                        </p:tgtEl>
                                        <p:attrNameLst>
                                          <p:attrName>style.visibility</p:attrName>
                                        </p:attrNameLst>
                                      </p:cBhvr>
                                      <p:to>
                                        <p:strVal val="visible"/>
                                      </p:to>
                                    </p:set>
                                    <p:anim calcmode="lin" valueType="num">
                                      <p:cBhvr additive="base">
                                        <p:cTn id="19" dur="500" fill="hold"/>
                                        <p:tgtEl>
                                          <p:spTgt spid="13314">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3314">
                                            <p:txEl>
                                              <p:pRg st="2" end="2"/>
                                            </p:txEl>
                                          </p:spTgt>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13314">
                                            <p:txEl>
                                              <p:pRg st="3" end="3"/>
                                            </p:txEl>
                                          </p:spTgt>
                                        </p:tgtEl>
                                        <p:attrNameLst>
                                          <p:attrName>style.visibility</p:attrName>
                                        </p:attrNameLst>
                                      </p:cBhvr>
                                      <p:to>
                                        <p:strVal val="visible"/>
                                      </p:to>
                                    </p:set>
                                    <p:anim calcmode="lin" valueType="num">
                                      <p:cBhvr additive="base">
                                        <p:cTn id="23" dur="500" fill="hold"/>
                                        <p:tgtEl>
                                          <p:spTgt spid="13314">
                                            <p:txEl>
                                              <p:pRg st="3" end="3"/>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13314">
                                            <p:txEl>
                                              <p:pRg st="3" end="3"/>
                                            </p:txEl>
                                          </p:spTgt>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p:stCondLst>
                                    <p:cond delay="0"/>
                                  </p:stCondLst>
                                  <p:childTnLst>
                                    <p:set>
                                      <p:cBhvr>
                                        <p:cTn id="26" dur="1" fill="hold">
                                          <p:stCondLst>
                                            <p:cond delay="0"/>
                                          </p:stCondLst>
                                        </p:cTn>
                                        <p:tgtEl>
                                          <p:spTgt spid="13314">
                                            <p:txEl>
                                              <p:pRg st="4" end="4"/>
                                            </p:txEl>
                                          </p:spTgt>
                                        </p:tgtEl>
                                        <p:attrNameLst>
                                          <p:attrName>style.visibility</p:attrName>
                                        </p:attrNameLst>
                                      </p:cBhvr>
                                      <p:to>
                                        <p:strVal val="visible"/>
                                      </p:to>
                                    </p:set>
                                    <p:anim calcmode="lin" valueType="num">
                                      <p:cBhvr additive="base">
                                        <p:cTn id="27" dur="500" fill="hold"/>
                                        <p:tgtEl>
                                          <p:spTgt spid="13314">
                                            <p:txEl>
                                              <p:pRg st="4" end="4"/>
                                            </p:tx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13314">
                                            <p:txEl>
                                              <p:pRg st="4" end="4"/>
                                            </p:txEl>
                                          </p:spTgt>
                                        </p:tgtEl>
                                        <p:attrNameLst>
                                          <p:attrName>ppt_y</p:attrName>
                                        </p:attrNameLst>
                                      </p:cBhvr>
                                      <p:tavLst>
                                        <p:tav tm="0">
                                          <p:val>
                                            <p:strVal val="#ppt_y"/>
                                          </p:val>
                                        </p:tav>
                                        <p:tav tm="100000">
                                          <p:val>
                                            <p:strVal val="#ppt_y"/>
                                          </p:val>
                                        </p:tav>
                                      </p:tavLst>
                                    </p:anim>
                                  </p:childTnLst>
                                </p:cTn>
                              </p:par>
                              <p:par>
                                <p:cTn id="29" presetID="2" presetClass="entr" presetSubtype="8" fill="hold" grpId="0" nodeType="withEffect">
                                  <p:stCondLst>
                                    <p:cond delay="0"/>
                                  </p:stCondLst>
                                  <p:childTnLst>
                                    <p:set>
                                      <p:cBhvr>
                                        <p:cTn id="30" dur="1" fill="hold">
                                          <p:stCondLst>
                                            <p:cond delay="0"/>
                                          </p:stCondLst>
                                        </p:cTn>
                                        <p:tgtEl>
                                          <p:spTgt spid="13314">
                                            <p:txEl>
                                              <p:pRg st="5" end="5"/>
                                            </p:txEl>
                                          </p:spTgt>
                                        </p:tgtEl>
                                        <p:attrNameLst>
                                          <p:attrName>style.visibility</p:attrName>
                                        </p:attrNameLst>
                                      </p:cBhvr>
                                      <p:to>
                                        <p:strVal val="visible"/>
                                      </p:to>
                                    </p:set>
                                    <p:anim calcmode="lin" valueType="num">
                                      <p:cBhvr additive="base">
                                        <p:cTn id="31" dur="500" fill="hold"/>
                                        <p:tgtEl>
                                          <p:spTgt spid="13314">
                                            <p:txEl>
                                              <p:pRg st="5" end="5"/>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3314">
                                            <p:txEl>
                                              <p:pRg st="5" end="5"/>
                                            </p:txEl>
                                          </p:spTgt>
                                        </p:tgtEl>
                                        <p:attrNameLst>
                                          <p:attrName>ppt_y</p:attrName>
                                        </p:attrNameLst>
                                      </p:cBhvr>
                                      <p:tavLst>
                                        <p:tav tm="0">
                                          <p:val>
                                            <p:strVal val="#ppt_y"/>
                                          </p:val>
                                        </p:tav>
                                        <p:tav tm="100000">
                                          <p:val>
                                            <p:strVal val="#ppt_y"/>
                                          </p:val>
                                        </p:tav>
                                      </p:tavLst>
                                    </p:anim>
                                  </p:childTnLst>
                                </p:cTn>
                              </p:par>
                              <p:par>
                                <p:cTn id="33" presetID="2" presetClass="entr" presetSubtype="8" fill="hold" grpId="0" nodeType="withEffect">
                                  <p:stCondLst>
                                    <p:cond delay="0"/>
                                  </p:stCondLst>
                                  <p:childTnLst>
                                    <p:set>
                                      <p:cBhvr>
                                        <p:cTn id="34" dur="1" fill="hold">
                                          <p:stCondLst>
                                            <p:cond delay="0"/>
                                          </p:stCondLst>
                                        </p:cTn>
                                        <p:tgtEl>
                                          <p:spTgt spid="13314">
                                            <p:txEl>
                                              <p:pRg st="6" end="6"/>
                                            </p:txEl>
                                          </p:spTgt>
                                        </p:tgtEl>
                                        <p:attrNameLst>
                                          <p:attrName>style.visibility</p:attrName>
                                        </p:attrNameLst>
                                      </p:cBhvr>
                                      <p:to>
                                        <p:strVal val="visible"/>
                                      </p:to>
                                    </p:set>
                                    <p:anim calcmode="lin" valueType="num">
                                      <p:cBhvr additive="base">
                                        <p:cTn id="35" dur="500" fill="hold"/>
                                        <p:tgtEl>
                                          <p:spTgt spid="13314">
                                            <p:txEl>
                                              <p:pRg st="6" end="6"/>
                                            </p:txEl>
                                          </p:spTgt>
                                        </p:tgtEl>
                                        <p:attrNameLst>
                                          <p:attrName>ppt_x</p:attrName>
                                        </p:attrNameLst>
                                      </p:cBhvr>
                                      <p:tavLst>
                                        <p:tav tm="0">
                                          <p:val>
                                            <p:strVal val="0-#ppt_w/2"/>
                                          </p:val>
                                        </p:tav>
                                        <p:tav tm="100000">
                                          <p:val>
                                            <p:strVal val="#ppt_x"/>
                                          </p:val>
                                        </p:tav>
                                      </p:tavLst>
                                    </p:anim>
                                    <p:anim calcmode="lin" valueType="num">
                                      <p:cBhvr additive="base">
                                        <p:cTn id="36" dur="500" fill="hold"/>
                                        <p:tgtEl>
                                          <p:spTgt spid="13314">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4" grpId="0" build="p"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18" name="Rectangle 2"/>
          <p:cNvSpPr>
            <a:spLocks noGrp="1" noChangeArrowheads="1"/>
          </p:cNvSpPr>
          <p:nvPr>
            <p:ph type="body" idx="1"/>
          </p:nvPr>
        </p:nvSpPr>
        <p:spPr>
          <a:xfrm>
            <a:off x="288032" y="1268760"/>
            <a:ext cx="8748464" cy="5328592"/>
          </a:xfrm>
        </p:spPr>
        <p:txBody>
          <a:bodyPr/>
          <a:lstStyle/>
          <a:p>
            <a:pPr>
              <a:lnSpc>
                <a:spcPts val="2600"/>
              </a:lnSpc>
              <a:buFontTx/>
              <a:buChar char="•"/>
            </a:pPr>
            <a:r>
              <a:rPr lang="en-US" altLang="ko-KR" b="0" dirty="0">
                <a:latin typeface="Times New Roman" pitchFamily="18" charset="0"/>
              </a:rPr>
              <a:t>Became an umbrella organization that encompasses:</a:t>
            </a:r>
          </a:p>
          <a:p>
            <a:pPr lvl="1">
              <a:lnSpc>
                <a:spcPts val="2600"/>
              </a:lnSpc>
              <a:buClr>
                <a:schemeClr val="tx1"/>
              </a:buClr>
              <a:buNone/>
            </a:pPr>
            <a:r>
              <a:rPr lang="en-US" altLang="ko-KR" sz="2400" dirty="0">
                <a:solidFill>
                  <a:schemeClr val="tx1"/>
                </a:solidFill>
                <a:latin typeface="Times New Roman" pitchFamily="18" charset="0"/>
              </a:rPr>
              <a:t>- GATT</a:t>
            </a:r>
          </a:p>
          <a:p>
            <a:pPr lvl="1">
              <a:lnSpc>
                <a:spcPts val="2600"/>
              </a:lnSpc>
              <a:buClr>
                <a:schemeClr val="tx1"/>
              </a:buClr>
              <a:buNone/>
            </a:pPr>
            <a:r>
              <a:rPr lang="en-US" altLang="ko-KR" sz="2400" dirty="0">
                <a:solidFill>
                  <a:schemeClr val="tx1"/>
                </a:solidFill>
                <a:latin typeface="Times New Roman" pitchFamily="18" charset="0"/>
              </a:rPr>
              <a:t>- General Agreement on Trade in Services (GATS)</a:t>
            </a:r>
          </a:p>
          <a:p>
            <a:pPr lvl="1">
              <a:lnSpc>
                <a:spcPts val="2600"/>
              </a:lnSpc>
              <a:buClr>
                <a:schemeClr val="tx1"/>
              </a:buClr>
              <a:buNone/>
            </a:pPr>
            <a:r>
              <a:rPr lang="en-US" altLang="ko-KR" sz="2400" dirty="0">
                <a:solidFill>
                  <a:schemeClr val="tx1"/>
                </a:solidFill>
                <a:latin typeface="Times New Roman" pitchFamily="18" charset="0"/>
              </a:rPr>
              <a:t>- Agreement on Trade-Related Aspects of IP Rights(TRIPS), etc</a:t>
            </a:r>
          </a:p>
          <a:p>
            <a:pPr lvl="1">
              <a:lnSpc>
                <a:spcPts val="2000"/>
              </a:lnSpc>
              <a:buClr>
                <a:schemeClr val="tx1"/>
              </a:buClr>
              <a:buFontTx/>
              <a:buChar char="-"/>
            </a:pPr>
            <a:endParaRPr lang="en-US" altLang="ko-KR" sz="800" b="0" dirty="0">
              <a:latin typeface="Times New Roman" pitchFamily="18" charset="0"/>
            </a:endParaRPr>
          </a:p>
          <a:p>
            <a:pPr>
              <a:lnSpc>
                <a:spcPts val="2000"/>
              </a:lnSpc>
              <a:buFontTx/>
              <a:buChar char="•"/>
            </a:pPr>
            <a:r>
              <a:rPr lang="en-US" altLang="ko-KR" sz="2800" b="0" dirty="0">
                <a:latin typeface="Times New Roman" pitchFamily="18" charset="0"/>
              </a:rPr>
              <a:t>WTO’s Main Function:</a:t>
            </a:r>
          </a:p>
          <a:p>
            <a:pPr eaLnBrk="1" hangingPunct="1">
              <a:spcAft>
                <a:spcPts val="1200"/>
              </a:spcAft>
              <a:buClr>
                <a:schemeClr val="tx1"/>
              </a:buClr>
              <a:buNone/>
            </a:pPr>
            <a:r>
              <a:rPr lang="en-GB" sz="2400" b="0" dirty="0">
                <a:latin typeface="Times New Roman" pitchFamily="18" charset="0"/>
                <a:cs typeface="Times New Roman" pitchFamily="18" charset="0"/>
              </a:rPr>
              <a:t>	  - Implementation, administration and operation of the covered         	agreements</a:t>
            </a:r>
          </a:p>
          <a:p>
            <a:pPr eaLnBrk="1" hangingPunct="1">
              <a:lnSpc>
                <a:spcPts val="2000"/>
              </a:lnSpc>
              <a:spcAft>
                <a:spcPts val="1200"/>
              </a:spcAft>
              <a:buClr>
                <a:schemeClr val="tx1"/>
              </a:buClr>
              <a:buNone/>
            </a:pPr>
            <a:r>
              <a:rPr lang="en-GB" sz="2400" b="0" dirty="0">
                <a:latin typeface="Times New Roman" pitchFamily="18" charset="0"/>
                <a:cs typeface="Times New Roman" pitchFamily="18" charset="0"/>
              </a:rPr>
              <a:t>	  - Forum for negotiations / new agreements(Telecommunications / 	financial services agreements in 1997)</a:t>
            </a:r>
          </a:p>
          <a:p>
            <a:pPr lvl="1">
              <a:buClr>
                <a:schemeClr val="tx1"/>
              </a:buClr>
              <a:buNone/>
            </a:pPr>
            <a:r>
              <a:rPr lang="en-GB" sz="2400" b="0" dirty="0">
                <a:solidFill>
                  <a:schemeClr val="tx1"/>
                </a:solidFill>
                <a:latin typeface="Times New Roman" pitchFamily="18" charset="0"/>
                <a:cs typeface="Times New Roman" pitchFamily="18" charset="0"/>
              </a:rPr>
              <a:t>- Dispute settlement (</a:t>
            </a:r>
            <a:r>
              <a:rPr lang="ko-KR" altLang="en-US" sz="2400" dirty="0">
                <a:solidFill>
                  <a:schemeClr val="tx1"/>
                </a:solidFill>
                <a:latin typeface="Times New Roman" pitchFamily="18" charset="0"/>
              </a:rPr>
              <a:t>104 </a:t>
            </a:r>
            <a:r>
              <a:rPr lang="en-US" altLang="ko-KR" sz="2400" dirty="0">
                <a:solidFill>
                  <a:schemeClr val="tx1"/>
                </a:solidFill>
                <a:latin typeface="Times New Roman" pitchFamily="18" charset="0"/>
              </a:rPr>
              <a:t>disputes brought to WTO in the first 3 years, while 196 handled by GATT during its 50-year history).</a:t>
            </a:r>
          </a:p>
          <a:p>
            <a:pPr eaLnBrk="1" hangingPunct="1">
              <a:lnSpc>
                <a:spcPct val="150000"/>
              </a:lnSpc>
              <a:spcAft>
                <a:spcPts val="1200"/>
              </a:spcAft>
              <a:buClr>
                <a:schemeClr val="tx1"/>
              </a:buClr>
              <a:buNone/>
            </a:pPr>
            <a:r>
              <a:rPr lang="en-GB" sz="2400" b="0" dirty="0">
                <a:latin typeface="Times New Roman" pitchFamily="18" charset="0"/>
                <a:cs typeface="Times New Roman" pitchFamily="18" charset="0"/>
              </a:rPr>
              <a:t>	  - Review of national trade policies</a:t>
            </a:r>
            <a:endParaRPr lang="en-US" altLang="ko-KR" sz="2400" dirty="0">
              <a:latin typeface="Times New Roman" pitchFamily="18" charset="0"/>
            </a:endParaRPr>
          </a:p>
          <a:p>
            <a:pPr>
              <a:lnSpc>
                <a:spcPts val="3600"/>
              </a:lnSpc>
              <a:buNone/>
            </a:pPr>
            <a:endParaRPr lang="en-US" altLang="ko-KR" sz="2400" b="0" dirty="0">
              <a:latin typeface="Times New Roman" pitchFamily="18" charset="0"/>
            </a:endParaRPr>
          </a:p>
          <a:p>
            <a:pPr>
              <a:lnSpc>
                <a:spcPts val="3600"/>
              </a:lnSpc>
              <a:buFontTx/>
              <a:buChar char="•"/>
            </a:pPr>
            <a:endParaRPr lang="en-US" altLang="ko-KR" sz="2400" dirty="0">
              <a:solidFill>
                <a:schemeClr val="tx1"/>
              </a:solidFill>
              <a:latin typeface="Times New Roman" pitchFamily="18" charset="0"/>
            </a:endParaRPr>
          </a:p>
          <a:p>
            <a:pPr>
              <a:buNone/>
            </a:pPr>
            <a:endParaRPr lang="en-US" altLang="ko-KR" sz="2800" dirty="0">
              <a:solidFill>
                <a:schemeClr val="bg1"/>
              </a:solidFill>
              <a:latin typeface="Times New Roman" pitchFamily="18" charset="0"/>
            </a:endParaRPr>
          </a:p>
        </p:txBody>
      </p:sp>
      <p:sp>
        <p:nvSpPr>
          <p:cNvPr id="9219" name="Text Box 3"/>
          <p:cNvSpPr txBox="1">
            <a:spLocks noChangeArrowheads="1"/>
          </p:cNvSpPr>
          <p:nvPr/>
        </p:nvSpPr>
        <p:spPr bwMode="auto">
          <a:xfrm>
            <a:off x="0" y="304800"/>
            <a:ext cx="9144000" cy="579438"/>
          </a:xfrm>
          <a:prstGeom prst="rect">
            <a:avLst/>
          </a:prstGeom>
          <a:noFill/>
          <a:ln w="9525">
            <a:noFill/>
            <a:miter lim="800000"/>
            <a:headEnd/>
            <a:tailEnd/>
          </a:ln>
          <a:effectLst/>
        </p:spPr>
        <p:txBody>
          <a:bodyPr>
            <a:spAutoFit/>
          </a:bodyPr>
          <a:lstStyle/>
          <a:p>
            <a:pPr algn="ctr" eaLnBrk="0" latinLnBrk="0" hangingPunct="0">
              <a:spcBef>
                <a:spcPct val="50000"/>
              </a:spcBef>
              <a:defRPr/>
            </a:pPr>
            <a:r>
              <a:rPr kumimoji="0" lang="en-US" altLang="ko-KR" sz="3200" b="1" dirty="0">
                <a:solidFill>
                  <a:srgbClr val="FFCC00"/>
                </a:solidFill>
                <a:ea typeface="+mj-ea"/>
                <a:cs typeface="Times New Roman" pitchFamily="18" charset="0"/>
              </a:rPr>
              <a:t>World Trade Organization</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218">
                                            <p:txEl>
                                              <p:pRg st="0" end="0"/>
                                            </p:txEl>
                                          </p:spTgt>
                                        </p:tgtEl>
                                        <p:attrNameLst>
                                          <p:attrName>style.visibility</p:attrName>
                                        </p:attrNameLst>
                                      </p:cBhvr>
                                      <p:to>
                                        <p:strVal val="visible"/>
                                      </p:to>
                                    </p:set>
                                    <p:anim calcmode="lin" valueType="num">
                                      <p:cBhvr additive="base">
                                        <p:cTn id="7" dur="500" fill="hold"/>
                                        <p:tgtEl>
                                          <p:spTgt spid="9218">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9218">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9218">
                                            <p:txEl>
                                              <p:pRg st="1" end="1"/>
                                            </p:txEl>
                                          </p:spTgt>
                                        </p:tgtEl>
                                        <p:attrNameLst>
                                          <p:attrName>style.visibility</p:attrName>
                                        </p:attrNameLst>
                                      </p:cBhvr>
                                      <p:to>
                                        <p:strVal val="visible"/>
                                      </p:to>
                                    </p:set>
                                    <p:anim calcmode="lin" valueType="num">
                                      <p:cBhvr additive="base">
                                        <p:cTn id="11" dur="500" fill="hold"/>
                                        <p:tgtEl>
                                          <p:spTgt spid="9218">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9218">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9218">
                                            <p:txEl>
                                              <p:pRg st="2" end="2"/>
                                            </p:txEl>
                                          </p:spTgt>
                                        </p:tgtEl>
                                        <p:attrNameLst>
                                          <p:attrName>style.visibility</p:attrName>
                                        </p:attrNameLst>
                                      </p:cBhvr>
                                      <p:to>
                                        <p:strVal val="visible"/>
                                      </p:to>
                                    </p:set>
                                    <p:anim calcmode="lin" valueType="num">
                                      <p:cBhvr additive="base">
                                        <p:cTn id="15" dur="500" fill="hold"/>
                                        <p:tgtEl>
                                          <p:spTgt spid="9218">
                                            <p:txEl>
                                              <p:pRg st="2" end="2"/>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9218">
                                            <p:txEl>
                                              <p:pRg st="2" end="2"/>
                                            </p:txEl>
                                          </p:spTgt>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9218">
                                            <p:txEl>
                                              <p:pRg st="3" end="3"/>
                                            </p:txEl>
                                          </p:spTgt>
                                        </p:tgtEl>
                                        <p:attrNameLst>
                                          <p:attrName>style.visibility</p:attrName>
                                        </p:attrNameLst>
                                      </p:cBhvr>
                                      <p:to>
                                        <p:strVal val="visible"/>
                                      </p:to>
                                    </p:set>
                                    <p:anim calcmode="lin" valueType="num">
                                      <p:cBhvr additive="base">
                                        <p:cTn id="19" dur="500" fill="hold"/>
                                        <p:tgtEl>
                                          <p:spTgt spid="9218">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9218">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9218">
                                            <p:txEl>
                                              <p:pRg st="5" end="5"/>
                                            </p:txEl>
                                          </p:spTgt>
                                        </p:tgtEl>
                                        <p:attrNameLst>
                                          <p:attrName>style.visibility</p:attrName>
                                        </p:attrNameLst>
                                      </p:cBhvr>
                                      <p:to>
                                        <p:strVal val="visible"/>
                                      </p:to>
                                    </p:set>
                                    <p:anim calcmode="lin" valueType="num">
                                      <p:cBhvr additive="base">
                                        <p:cTn id="25" dur="500" fill="hold"/>
                                        <p:tgtEl>
                                          <p:spTgt spid="9218">
                                            <p:txEl>
                                              <p:pRg st="5" end="5"/>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9218">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9218">
                                            <p:txEl>
                                              <p:pRg st="6" end="6"/>
                                            </p:txEl>
                                          </p:spTgt>
                                        </p:tgtEl>
                                        <p:attrNameLst>
                                          <p:attrName>style.visibility</p:attrName>
                                        </p:attrNameLst>
                                      </p:cBhvr>
                                      <p:to>
                                        <p:strVal val="visible"/>
                                      </p:to>
                                    </p:set>
                                    <p:anim calcmode="lin" valueType="num">
                                      <p:cBhvr additive="base">
                                        <p:cTn id="31" dur="500" fill="hold"/>
                                        <p:tgtEl>
                                          <p:spTgt spid="9218">
                                            <p:txEl>
                                              <p:pRg st="6" end="6"/>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9218">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9218">
                                            <p:txEl>
                                              <p:pRg st="7" end="7"/>
                                            </p:txEl>
                                          </p:spTgt>
                                        </p:tgtEl>
                                        <p:attrNameLst>
                                          <p:attrName>style.visibility</p:attrName>
                                        </p:attrNameLst>
                                      </p:cBhvr>
                                      <p:to>
                                        <p:strVal val="visible"/>
                                      </p:to>
                                    </p:set>
                                    <p:anim calcmode="lin" valueType="num">
                                      <p:cBhvr additive="base">
                                        <p:cTn id="37" dur="500" fill="hold"/>
                                        <p:tgtEl>
                                          <p:spTgt spid="9218">
                                            <p:txEl>
                                              <p:pRg st="7" end="7"/>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9218">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9218">
                                            <p:txEl>
                                              <p:pRg st="8" end="8"/>
                                            </p:txEl>
                                          </p:spTgt>
                                        </p:tgtEl>
                                        <p:attrNameLst>
                                          <p:attrName>style.visibility</p:attrName>
                                        </p:attrNameLst>
                                      </p:cBhvr>
                                      <p:to>
                                        <p:strVal val="visible"/>
                                      </p:to>
                                    </p:set>
                                    <p:anim calcmode="lin" valueType="num">
                                      <p:cBhvr additive="base">
                                        <p:cTn id="43" dur="500" fill="hold"/>
                                        <p:tgtEl>
                                          <p:spTgt spid="9218">
                                            <p:txEl>
                                              <p:pRg st="8" end="8"/>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9218">
                                            <p:txEl>
                                              <p:pRg st="8" end="8"/>
                                            </p:tx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9218">
                                            <p:txEl>
                                              <p:pRg st="9" end="9"/>
                                            </p:txEl>
                                          </p:spTgt>
                                        </p:tgtEl>
                                        <p:attrNameLst>
                                          <p:attrName>style.visibility</p:attrName>
                                        </p:attrNameLst>
                                      </p:cBhvr>
                                      <p:to>
                                        <p:strVal val="visible"/>
                                      </p:to>
                                    </p:set>
                                    <p:anim calcmode="lin" valueType="num">
                                      <p:cBhvr additive="base">
                                        <p:cTn id="49" dur="500" fill="hold"/>
                                        <p:tgtEl>
                                          <p:spTgt spid="9218">
                                            <p:txEl>
                                              <p:pRg st="9" end="9"/>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9218">
                                            <p:txEl>
                                              <p:pRg st="9" end="9"/>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8" grpId="0" build="p"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idx="1"/>
          </p:nvPr>
        </p:nvSpPr>
        <p:spPr>
          <a:xfrm>
            <a:off x="467544" y="1268760"/>
            <a:ext cx="8229600" cy="5256584"/>
          </a:xfrm>
        </p:spPr>
        <p:txBody>
          <a:bodyPr/>
          <a:lstStyle/>
          <a:p>
            <a:pPr eaLnBrk="1" hangingPunct="1">
              <a:buClr>
                <a:schemeClr val="tx1"/>
              </a:buClr>
              <a:buFont typeface="Arial" pitchFamily="34" charset="0"/>
              <a:buChar char="•"/>
            </a:pPr>
            <a:r>
              <a:rPr lang="en-US" altLang="ko-KR" b="0" dirty="0">
                <a:latin typeface="Times New Roman" pitchFamily="18" charset="0"/>
                <a:ea typeface="굴림" charset="-127"/>
                <a:cs typeface="Times New Roman" pitchFamily="18" charset="0"/>
              </a:rPr>
              <a:t>To further reduce barriers to trade and investment:</a:t>
            </a:r>
          </a:p>
          <a:p>
            <a:pPr eaLnBrk="1" hangingPunct="1">
              <a:buClr>
                <a:schemeClr val="tx1"/>
              </a:buClr>
              <a:buNone/>
            </a:pPr>
            <a:r>
              <a:rPr lang="en-US" altLang="ko-KR" sz="2400" b="0" dirty="0">
                <a:latin typeface="Times New Roman" pitchFamily="18" charset="0"/>
                <a:ea typeface="굴림" charset="-127"/>
                <a:cs typeface="Times New Roman" pitchFamily="18" charset="0"/>
              </a:rPr>
              <a:t>	 - Reducing antidumping actions</a:t>
            </a:r>
          </a:p>
          <a:p>
            <a:pPr eaLnBrk="1" hangingPunct="1">
              <a:buClr>
                <a:schemeClr val="tx1"/>
              </a:buClr>
              <a:buNone/>
            </a:pPr>
            <a:r>
              <a:rPr lang="en-US" altLang="ko-KR" sz="2400" b="0" dirty="0">
                <a:latin typeface="Times New Roman" pitchFamily="18" charset="0"/>
                <a:ea typeface="굴림" charset="-127"/>
                <a:cs typeface="Times New Roman" pitchFamily="18" charset="0"/>
              </a:rPr>
              <a:t>	 - Reducing protectionism in agriculture</a:t>
            </a:r>
          </a:p>
          <a:p>
            <a:pPr eaLnBrk="1" hangingPunct="1">
              <a:buClr>
                <a:schemeClr val="tx1"/>
              </a:buClr>
              <a:buNone/>
            </a:pPr>
            <a:r>
              <a:rPr lang="en-US" altLang="ko-KR" sz="2400" b="0" dirty="0">
                <a:latin typeface="Times New Roman" pitchFamily="18" charset="0"/>
                <a:ea typeface="굴림" charset="-127"/>
                <a:cs typeface="Times New Roman" pitchFamily="18" charset="0"/>
              </a:rPr>
              <a:t>	 - Protecting intellectual property</a:t>
            </a:r>
          </a:p>
          <a:p>
            <a:pPr eaLnBrk="1" hangingPunct="1">
              <a:buClr>
                <a:schemeClr val="tx1"/>
              </a:buClr>
              <a:buNone/>
            </a:pPr>
            <a:r>
              <a:rPr lang="en-US" altLang="ko-KR" sz="2400" b="0" dirty="0">
                <a:latin typeface="Times New Roman" pitchFamily="18" charset="0"/>
                <a:ea typeface="굴림" charset="-127"/>
                <a:cs typeface="Times New Roman" pitchFamily="18" charset="0"/>
              </a:rPr>
              <a:t>	 - Greater market access for industrial goods and services</a:t>
            </a:r>
          </a:p>
          <a:p>
            <a:pPr eaLnBrk="1" hangingPunct="1">
              <a:buClr>
                <a:schemeClr val="tx1"/>
              </a:buClr>
              <a:buFont typeface="Arial" pitchFamily="34" charset="0"/>
              <a:buChar char="•"/>
            </a:pPr>
            <a:r>
              <a:rPr lang="en-US" altLang="ko-KR" b="0" dirty="0">
                <a:latin typeface="Times New Roman" pitchFamily="18" charset="0"/>
                <a:ea typeface="굴림" charset="-127"/>
                <a:cs typeface="Times New Roman" pitchFamily="18" charset="0"/>
              </a:rPr>
              <a:t>But failed primarily because of the issues of:</a:t>
            </a:r>
          </a:p>
          <a:p>
            <a:pPr eaLnBrk="1" hangingPunct="1">
              <a:buClr>
                <a:schemeClr val="tx1"/>
              </a:buClr>
              <a:buNone/>
            </a:pPr>
            <a:r>
              <a:rPr lang="en-US" altLang="ko-KR" b="0" dirty="0">
                <a:latin typeface="Times New Roman" pitchFamily="18" charset="0"/>
                <a:ea typeface="굴림" charset="-127"/>
                <a:cs typeface="Times New Roman" pitchFamily="18" charset="0"/>
              </a:rPr>
              <a:t>	 </a:t>
            </a:r>
            <a:r>
              <a:rPr lang="en-US" altLang="ko-KR" sz="2400" b="0" dirty="0">
                <a:latin typeface="Times New Roman" pitchFamily="18" charset="0"/>
                <a:ea typeface="굴림" charset="-127"/>
                <a:cs typeface="Times New Roman" pitchFamily="18" charset="0"/>
              </a:rPr>
              <a:t>- Eliminating subsidies to agricultural exporters (US vs. EU)</a:t>
            </a:r>
          </a:p>
          <a:p>
            <a:pPr eaLnBrk="1" hangingPunct="1">
              <a:buClr>
                <a:schemeClr val="tx1"/>
              </a:buClr>
              <a:buNone/>
            </a:pPr>
            <a:r>
              <a:rPr lang="en-US" altLang="ko-KR" sz="2400" b="0" dirty="0">
                <a:latin typeface="Times New Roman" pitchFamily="18" charset="0"/>
                <a:ea typeface="굴림" charset="-127"/>
                <a:cs typeface="Times New Roman" pitchFamily="18" charset="0"/>
              </a:rPr>
              <a:t>	 - Writing “basic labor rights” into the law of the world trading  	system (US vs. Developing countries)</a:t>
            </a:r>
          </a:p>
          <a:p>
            <a:pPr eaLnBrk="1" hangingPunct="1">
              <a:buClr>
                <a:schemeClr val="tx1"/>
              </a:buClr>
              <a:buNone/>
            </a:pPr>
            <a:r>
              <a:rPr lang="en-US" altLang="ko-KR" sz="2400" b="0" dirty="0">
                <a:latin typeface="Times New Roman" pitchFamily="18" charset="0"/>
                <a:ea typeface="굴림" charset="-127"/>
                <a:cs typeface="Times New Roman" pitchFamily="18" charset="0"/>
              </a:rPr>
              <a:t>	 - Environmental concerns, human rights, and labor-related 	issues (Developed vs. Developing countries)</a:t>
            </a:r>
          </a:p>
        </p:txBody>
      </p:sp>
      <p:sp>
        <p:nvSpPr>
          <p:cNvPr id="6" name="Text Box 3"/>
          <p:cNvSpPr txBox="1">
            <a:spLocks noChangeArrowheads="1"/>
          </p:cNvSpPr>
          <p:nvPr/>
        </p:nvSpPr>
        <p:spPr bwMode="auto">
          <a:xfrm>
            <a:off x="0" y="304800"/>
            <a:ext cx="9144000" cy="579438"/>
          </a:xfrm>
          <a:prstGeom prst="rect">
            <a:avLst/>
          </a:prstGeom>
          <a:noFill/>
          <a:ln w="9525">
            <a:noFill/>
            <a:miter lim="800000"/>
            <a:headEnd/>
            <a:tailEnd/>
          </a:ln>
          <a:effectLst/>
        </p:spPr>
        <p:txBody>
          <a:bodyPr>
            <a:spAutoFit/>
          </a:bodyPr>
          <a:lstStyle/>
          <a:p>
            <a:pPr algn="ctr" eaLnBrk="0" latinLnBrk="0" hangingPunct="0">
              <a:spcBef>
                <a:spcPct val="50000"/>
              </a:spcBef>
              <a:defRPr/>
            </a:pPr>
            <a:r>
              <a:rPr kumimoji="0" lang="en-US" altLang="ko-KR" sz="3200" b="1" dirty="0">
                <a:solidFill>
                  <a:srgbClr val="FFCC00"/>
                </a:solidFill>
                <a:ea typeface="+mj-ea"/>
                <a:cs typeface="Times New Roman" pitchFamily="18" charset="0"/>
              </a:rPr>
              <a:t>WTO in Seattle (Millennium Round)</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Text Box 3"/>
          <p:cNvSpPr txBox="1">
            <a:spLocks noChangeArrowheads="1"/>
          </p:cNvSpPr>
          <p:nvPr/>
        </p:nvSpPr>
        <p:spPr bwMode="auto">
          <a:xfrm>
            <a:off x="-36512" y="260648"/>
            <a:ext cx="9144000" cy="579438"/>
          </a:xfrm>
          <a:prstGeom prst="rect">
            <a:avLst/>
          </a:prstGeom>
          <a:noFill/>
          <a:ln w="9525">
            <a:noFill/>
            <a:miter lim="800000"/>
            <a:headEnd/>
            <a:tailEnd/>
          </a:ln>
          <a:effectLst/>
        </p:spPr>
        <p:txBody>
          <a:bodyPr>
            <a:spAutoFit/>
          </a:bodyPr>
          <a:lstStyle/>
          <a:p>
            <a:pPr algn="ctr" eaLnBrk="0" latinLnBrk="0" hangingPunct="0">
              <a:spcBef>
                <a:spcPct val="50000"/>
              </a:spcBef>
              <a:defRPr/>
            </a:pPr>
            <a:r>
              <a:rPr kumimoji="0" lang="en-US" altLang="ko-KR" sz="3200" b="1" dirty="0">
                <a:solidFill>
                  <a:srgbClr val="FFCC00"/>
                </a:solidFill>
                <a:ea typeface="+mj-ea"/>
                <a:cs typeface="Times New Roman" pitchFamily="18" charset="0"/>
              </a:rPr>
              <a:t>Doha Round</a:t>
            </a:r>
          </a:p>
        </p:txBody>
      </p:sp>
      <p:sp>
        <p:nvSpPr>
          <p:cNvPr id="6" name="Rectangle 3"/>
          <p:cNvSpPr>
            <a:spLocks noGrp="1" noChangeArrowheads="1"/>
          </p:cNvSpPr>
          <p:nvPr>
            <p:ph idx="1"/>
          </p:nvPr>
        </p:nvSpPr>
        <p:spPr>
          <a:xfrm>
            <a:off x="467544" y="1268760"/>
            <a:ext cx="8229600" cy="5256584"/>
          </a:xfrm>
        </p:spPr>
        <p:txBody>
          <a:bodyPr/>
          <a:lstStyle/>
          <a:p>
            <a:pPr eaLnBrk="1" hangingPunct="1">
              <a:lnSpc>
                <a:spcPts val="3600"/>
              </a:lnSpc>
              <a:buClr>
                <a:schemeClr val="tx1"/>
              </a:buClr>
              <a:buFont typeface="Arial" pitchFamily="34" charset="0"/>
              <a:buChar char="•"/>
            </a:pPr>
            <a:r>
              <a:rPr lang="en-US" altLang="ko-KR" b="0" dirty="0">
                <a:latin typeface="Times New Roman" pitchFamily="18" charset="0"/>
                <a:ea typeface="굴림" charset="-127"/>
                <a:cs typeface="Times New Roman" pitchFamily="18" charset="0"/>
              </a:rPr>
              <a:t>The agreed agenda for the talk includes:</a:t>
            </a:r>
          </a:p>
          <a:p>
            <a:pPr eaLnBrk="1" hangingPunct="1">
              <a:lnSpc>
                <a:spcPts val="3600"/>
              </a:lnSpc>
              <a:buClr>
                <a:schemeClr val="tx1"/>
              </a:buClr>
              <a:buNone/>
            </a:pPr>
            <a:r>
              <a:rPr lang="en-US" altLang="ko-KR" sz="2400" b="0" dirty="0">
                <a:latin typeface="Times New Roman" pitchFamily="18" charset="0"/>
                <a:ea typeface="굴림" charset="-127"/>
                <a:cs typeface="Times New Roman" pitchFamily="18" charset="0"/>
              </a:rPr>
              <a:t>	 - Cutting tariffs on industrial goods and services</a:t>
            </a:r>
          </a:p>
          <a:p>
            <a:pPr eaLnBrk="1" hangingPunct="1">
              <a:lnSpc>
                <a:spcPts val="3600"/>
              </a:lnSpc>
              <a:buClr>
                <a:schemeClr val="tx1"/>
              </a:buClr>
              <a:buNone/>
            </a:pPr>
            <a:r>
              <a:rPr lang="en-US" altLang="ko-KR" sz="2400" b="0" dirty="0">
                <a:latin typeface="Times New Roman" pitchFamily="18" charset="0"/>
                <a:ea typeface="굴림" charset="-127"/>
                <a:cs typeface="Times New Roman" pitchFamily="18" charset="0"/>
              </a:rPr>
              <a:t>	 - Phasing out subsidies to agricultural producers</a:t>
            </a:r>
          </a:p>
          <a:p>
            <a:pPr eaLnBrk="1" hangingPunct="1">
              <a:lnSpc>
                <a:spcPts val="3600"/>
              </a:lnSpc>
              <a:buClr>
                <a:schemeClr val="tx1"/>
              </a:buClr>
              <a:buNone/>
            </a:pPr>
            <a:r>
              <a:rPr lang="en-US" altLang="ko-KR" sz="2400" b="0" dirty="0">
                <a:latin typeface="Times New Roman" pitchFamily="18" charset="0"/>
                <a:ea typeface="굴림" charset="-127"/>
                <a:cs typeface="Times New Roman" pitchFamily="18" charset="0"/>
              </a:rPr>
              <a:t>	 - Reducing barriers to cross-border investment</a:t>
            </a:r>
          </a:p>
          <a:p>
            <a:pPr eaLnBrk="1" hangingPunct="1">
              <a:lnSpc>
                <a:spcPts val="3600"/>
              </a:lnSpc>
              <a:buClr>
                <a:schemeClr val="tx1"/>
              </a:buClr>
              <a:buNone/>
            </a:pPr>
            <a:r>
              <a:rPr lang="en-US" altLang="ko-KR" sz="2400" b="0" dirty="0">
                <a:latin typeface="Times New Roman" pitchFamily="18" charset="0"/>
                <a:ea typeface="굴림" charset="-127"/>
                <a:cs typeface="Times New Roman" pitchFamily="18" charset="0"/>
              </a:rPr>
              <a:t>	 - Limiting the use of antidumping laws</a:t>
            </a:r>
          </a:p>
          <a:p>
            <a:pPr eaLnBrk="1" hangingPunct="1">
              <a:lnSpc>
                <a:spcPts val="3600"/>
              </a:lnSpc>
              <a:buClr>
                <a:schemeClr val="tx1"/>
              </a:buClr>
              <a:buFont typeface="Arial" pitchFamily="34" charset="0"/>
              <a:buChar char="•"/>
            </a:pPr>
            <a:r>
              <a:rPr lang="en-US" altLang="ko-KR" b="0" dirty="0">
                <a:latin typeface="Times New Roman" pitchFamily="18" charset="0"/>
                <a:ea typeface="굴림" charset="-127"/>
                <a:cs typeface="Times New Roman" pitchFamily="18" charset="0"/>
              </a:rPr>
              <a:t>To be successful, members have to give in something.</a:t>
            </a:r>
          </a:p>
          <a:p>
            <a:pPr eaLnBrk="1" hangingPunct="1">
              <a:lnSpc>
                <a:spcPts val="3600"/>
              </a:lnSpc>
              <a:buClr>
                <a:schemeClr val="tx1"/>
              </a:buClr>
              <a:buNone/>
            </a:pPr>
            <a:r>
              <a:rPr lang="en-US" altLang="ko-KR" b="0" dirty="0">
                <a:latin typeface="Times New Roman" pitchFamily="18" charset="0"/>
                <a:ea typeface="굴림" charset="-127"/>
                <a:cs typeface="Times New Roman" pitchFamily="18" charset="0"/>
              </a:rPr>
              <a:t>	 </a:t>
            </a:r>
            <a:r>
              <a:rPr lang="en-US" altLang="ko-KR" sz="2400" b="0" dirty="0">
                <a:latin typeface="Times New Roman" pitchFamily="18" charset="0"/>
                <a:ea typeface="굴림" charset="-127"/>
                <a:cs typeface="Times New Roman" pitchFamily="18" charset="0"/>
              </a:rPr>
              <a:t>- EU &amp; Japan – subsidy to farmers</a:t>
            </a:r>
          </a:p>
          <a:p>
            <a:pPr eaLnBrk="1" hangingPunct="1">
              <a:lnSpc>
                <a:spcPts val="3600"/>
              </a:lnSpc>
              <a:buClr>
                <a:schemeClr val="tx1"/>
              </a:buClr>
              <a:buNone/>
            </a:pPr>
            <a:r>
              <a:rPr lang="en-US" altLang="ko-KR" sz="2400" b="0" dirty="0">
                <a:latin typeface="Times New Roman" pitchFamily="18" charset="0"/>
                <a:ea typeface="굴림" charset="-127"/>
                <a:cs typeface="Times New Roman" pitchFamily="18" charset="0"/>
              </a:rPr>
              <a:t>	 - US – antidumping practices – steel producers for example</a:t>
            </a:r>
          </a:p>
          <a:p>
            <a:pPr eaLnBrk="1" hangingPunct="1">
              <a:lnSpc>
                <a:spcPts val="3600"/>
              </a:lnSpc>
              <a:buClr>
                <a:schemeClr val="tx1"/>
              </a:buClr>
              <a:buNone/>
            </a:pPr>
            <a:r>
              <a:rPr lang="en-US" altLang="ko-KR" sz="2400" b="0" dirty="0">
                <a:latin typeface="Times New Roman" pitchFamily="18" charset="0"/>
                <a:ea typeface="굴림" charset="-127"/>
                <a:cs typeface="Times New Roman" pitchFamily="18" charset="0"/>
              </a:rPr>
              <a:t>    	 - Developing countries – opening up their market, etc.</a:t>
            </a:r>
          </a:p>
        </p:txBody>
      </p:sp>
    </p:spTree>
  </p:cSld>
  <p:clrMapOvr>
    <a:masterClrMapping/>
  </p:clrMapOvr>
  <p:transition>
    <p:random/>
  </p:transition>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18" name="Rectangle 2"/>
          <p:cNvSpPr>
            <a:spLocks noGrp="1" noChangeArrowheads="1"/>
          </p:cNvSpPr>
          <p:nvPr>
            <p:ph type="body" idx="1"/>
          </p:nvPr>
        </p:nvSpPr>
        <p:spPr>
          <a:xfrm>
            <a:off x="288032" y="1268760"/>
            <a:ext cx="8748464" cy="5328592"/>
          </a:xfrm>
        </p:spPr>
        <p:txBody>
          <a:bodyPr/>
          <a:lstStyle/>
          <a:p>
            <a:pPr>
              <a:buFontTx/>
              <a:buChar char="•"/>
            </a:pPr>
            <a:r>
              <a:rPr lang="en-US" altLang="ko-KR" sz="2400" b="0" dirty="0">
                <a:latin typeface="Times New Roman" pitchFamily="18" charset="0"/>
              </a:rPr>
              <a:t>WTO: 164 members, including China(2001) and Russia(2012)</a:t>
            </a:r>
          </a:p>
          <a:p>
            <a:pPr>
              <a:buFontTx/>
              <a:buChar char="•"/>
            </a:pPr>
            <a:r>
              <a:rPr lang="en-US" altLang="ko-KR" sz="2400" b="0" dirty="0">
                <a:latin typeface="Times New Roman" pitchFamily="18" charset="0"/>
              </a:rPr>
              <a:t>WTO: Experience to date</a:t>
            </a:r>
          </a:p>
          <a:p>
            <a:pPr>
              <a:buNone/>
            </a:pPr>
            <a:r>
              <a:rPr lang="en-US" altLang="ko-KR" sz="2200" b="0" dirty="0">
                <a:latin typeface="Times New Roman" pitchFamily="18" charset="0"/>
              </a:rPr>
              <a:t>     - WTO as global police</a:t>
            </a:r>
          </a:p>
          <a:p>
            <a:pPr>
              <a:buNone/>
            </a:pPr>
            <a:r>
              <a:rPr lang="en-US" altLang="ko-KR" sz="2200" b="0" dirty="0">
                <a:latin typeface="Times New Roman" pitchFamily="18" charset="0"/>
              </a:rPr>
              <a:t>     - Expanded trade agreements: goods + services &amp; investment</a:t>
            </a:r>
          </a:p>
          <a:p>
            <a:pPr>
              <a:buFont typeface="Arial" panose="020B0604020202020204" pitchFamily="34" charset="0"/>
              <a:buChar char="•"/>
            </a:pPr>
            <a:r>
              <a:rPr lang="en-US" altLang="ko-KR" sz="2400" b="0" dirty="0">
                <a:latin typeface="Times New Roman" pitchFamily="18" charset="0"/>
              </a:rPr>
              <a:t>WTO Unresolved issues</a:t>
            </a:r>
          </a:p>
          <a:p>
            <a:pPr marL="0" indent="0">
              <a:buNone/>
            </a:pPr>
            <a:r>
              <a:rPr lang="en-US" altLang="ko-KR" sz="2200" b="0" dirty="0">
                <a:latin typeface="Times New Roman" pitchFamily="18" charset="0"/>
              </a:rPr>
              <a:t>     - Antidumping actions</a:t>
            </a:r>
          </a:p>
          <a:p>
            <a:pPr marL="0" indent="0">
              <a:buNone/>
            </a:pPr>
            <a:r>
              <a:rPr lang="en-US" altLang="ko-KR" sz="2200" b="0" dirty="0">
                <a:latin typeface="Times New Roman" pitchFamily="18" charset="0"/>
              </a:rPr>
              <a:t>     - Protectionism in agriculture</a:t>
            </a:r>
          </a:p>
          <a:p>
            <a:pPr marL="0" indent="0">
              <a:buNone/>
            </a:pPr>
            <a:r>
              <a:rPr lang="en-US" altLang="ko-KR" sz="2200" b="0" dirty="0">
                <a:latin typeface="Times New Roman" pitchFamily="18" charset="0"/>
              </a:rPr>
              <a:t>     - Protection of intellectual property</a:t>
            </a:r>
          </a:p>
          <a:p>
            <a:pPr marL="0" indent="0">
              <a:buNone/>
            </a:pPr>
            <a:r>
              <a:rPr lang="en-US" altLang="ko-KR" sz="2200" b="0" dirty="0">
                <a:latin typeface="Times New Roman" pitchFamily="18" charset="0"/>
              </a:rPr>
              <a:t>     - Market access for nonagricultural goods and services</a:t>
            </a:r>
          </a:p>
          <a:p>
            <a:pPr>
              <a:buFont typeface="Arial" panose="020B0604020202020204" pitchFamily="34" charset="0"/>
              <a:buChar char="•"/>
            </a:pPr>
            <a:r>
              <a:rPr lang="en-US" altLang="ko-KR" sz="2400" b="0" dirty="0">
                <a:latin typeface="Times New Roman" pitchFamily="18" charset="0"/>
              </a:rPr>
              <a:t>WTO does not function properly.</a:t>
            </a:r>
          </a:p>
          <a:p>
            <a:pPr>
              <a:buFont typeface="Arial" panose="020B0604020202020204" pitchFamily="34" charset="0"/>
              <a:buChar char="•"/>
            </a:pPr>
            <a:r>
              <a:rPr lang="en-US" altLang="ko-KR" sz="2400" b="0" dirty="0">
                <a:latin typeface="Times New Roman" pitchFamily="18" charset="0"/>
              </a:rPr>
              <a:t>Emergence of bilateral and regional trade agreements</a:t>
            </a:r>
          </a:p>
          <a:p>
            <a:pPr>
              <a:buFont typeface="Arial" panose="020B0604020202020204" pitchFamily="34" charset="0"/>
              <a:buChar char="•"/>
            </a:pPr>
            <a:r>
              <a:rPr lang="en-US" altLang="ko-KR" sz="2400" b="0" dirty="0">
                <a:latin typeface="Times New Roman" pitchFamily="18" charset="0"/>
              </a:rPr>
              <a:t>The world trading system is under threat.</a:t>
            </a:r>
          </a:p>
          <a:p>
            <a:pPr>
              <a:buFontTx/>
              <a:buChar char="•"/>
            </a:pPr>
            <a:endParaRPr lang="en-US" altLang="ko-KR" sz="2400" dirty="0">
              <a:solidFill>
                <a:schemeClr val="tx1"/>
              </a:solidFill>
              <a:latin typeface="Times New Roman" pitchFamily="18" charset="0"/>
            </a:endParaRPr>
          </a:p>
          <a:p>
            <a:pPr>
              <a:buNone/>
            </a:pPr>
            <a:endParaRPr lang="en-US" altLang="ko-KR" sz="2400" dirty="0">
              <a:solidFill>
                <a:schemeClr val="bg1"/>
              </a:solidFill>
              <a:latin typeface="Times New Roman" pitchFamily="18" charset="0"/>
            </a:endParaRPr>
          </a:p>
        </p:txBody>
      </p:sp>
      <p:sp>
        <p:nvSpPr>
          <p:cNvPr id="9219" name="Text Box 3"/>
          <p:cNvSpPr txBox="1">
            <a:spLocks noChangeArrowheads="1"/>
          </p:cNvSpPr>
          <p:nvPr/>
        </p:nvSpPr>
        <p:spPr bwMode="auto">
          <a:xfrm>
            <a:off x="0" y="304800"/>
            <a:ext cx="9144000" cy="579438"/>
          </a:xfrm>
          <a:prstGeom prst="rect">
            <a:avLst/>
          </a:prstGeom>
          <a:noFill/>
          <a:ln w="9525">
            <a:noFill/>
            <a:miter lim="800000"/>
            <a:headEnd/>
            <a:tailEnd/>
          </a:ln>
          <a:effectLst/>
        </p:spPr>
        <p:txBody>
          <a:bodyPr>
            <a:spAutoFit/>
          </a:bodyPr>
          <a:lstStyle/>
          <a:p>
            <a:pPr algn="ctr" eaLnBrk="0" latinLnBrk="0" hangingPunct="0">
              <a:spcBef>
                <a:spcPct val="50000"/>
              </a:spcBef>
              <a:defRPr/>
            </a:pPr>
            <a:r>
              <a:rPr kumimoji="0" lang="en-US" altLang="ko-KR" sz="3200" b="1" dirty="0">
                <a:solidFill>
                  <a:srgbClr val="FFCC00"/>
                </a:solidFill>
                <a:ea typeface="+mj-ea"/>
                <a:cs typeface="Times New Roman" pitchFamily="18" charset="0"/>
              </a:rPr>
              <a:t>World Trade Organization as of 2022</a:t>
            </a:r>
          </a:p>
        </p:txBody>
      </p:sp>
    </p:spTree>
    <p:extLst>
      <p:ext uri="{BB962C8B-B14F-4D97-AF65-F5344CB8AC3E}">
        <p14:creationId xmlns:p14="http://schemas.microsoft.com/office/powerpoint/2010/main" val="1554038938"/>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218">
                                            <p:txEl>
                                              <p:pRg st="0" end="0"/>
                                            </p:txEl>
                                          </p:spTgt>
                                        </p:tgtEl>
                                        <p:attrNameLst>
                                          <p:attrName>style.visibility</p:attrName>
                                        </p:attrNameLst>
                                      </p:cBhvr>
                                      <p:to>
                                        <p:strVal val="visible"/>
                                      </p:to>
                                    </p:set>
                                    <p:anim calcmode="lin" valueType="num">
                                      <p:cBhvr additive="base">
                                        <p:cTn id="7" dur="500" fill="hold"/>
                                        <p:tgtEl>
                                          <p:spTgt spid="9218">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9218">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9218">
                                            <p:txEl>
                                              <p:pRg st="1" end="1"/>
                                            </p:txEl>
                                          </p:spTgt>
                                        </p:tgtEl>
                                        <p:attrNameLst>
                                          <p:attrName>style.visibility</p:attrName>
                                        </p:attrNameLst>
                                      </p:cBhvr>
                                      <p:to>
                                        <p:strVal val="visible"/>
                                      </p:to>
                                    </p:set>
                                    <p:anim calcmode="lin" valueType="num">
                                      <p:cBhvr additive="base">
                                        <p:cTn id="13" dur="500" fill="hold"/>
                                        <p:tgtEl>
                                          <p:spTgt spid="9218">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9218">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9218">
                                            <p:txEl>
                                              <p:pRg st="2" end="2"/>
                                            </p:txEl>
                                          </p:spTgt>
                                        </p:tgtEl>
                                        <p:attrNameLst>
                                          <p:attrName>style.visibility</p:attrName>
                                        </p:attrNameLst>
                                      </p:cBhvr>
                                      <p:to>
                                        <p:strVal val="visible"/>
                                      </p:to>
                                    </p:set>
                                    <p:anim calcmode="lin" valueType="num">
                                      <p:cBhvr additive="base">
                                        <p:cTn id="19" dur="500" fill="hold"/>
                                        <p:tgtEl>
                                          <p:spTgt spid="9218">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9218">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9218">
                                            <p:txEl>
                                              <p:pRg st="3" end="3"/>
                                            </p:txEl>
                                          </p:spTgt>
                                        </p:tgtEl>
                                        <p:attrNameLst>
                                          <p:attrName>style.visibility</p:attrName>
                                        </p:attrNameLst>
                                      </p:cBhvr>
                                      <p:to>
                                        <p:strVal val="visible"/>
                                      </p:to>
                                    </p:set>
                                    <p:anim calcmode="lin" valueType="num">
                                      <p:cBhvr additive="base">
                                        <p:cTn id="25" dur="500" fill="hold"/>
                                        <p:tgtEl>
                                          <p:spTgt spid="9218">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9218">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9218">
                                            <p:txEl>
                                              <p:pRg st="4" end="4"/>
                                            </p:txEl>
                                          </p:spTgt>
                                        </p:tgtEl>
                                        <p:attrNameLst>
                                          <p:attrName>style.visibility</p:attrName>
                                        </p:attrNameLst>
                                      </p:cBhvr>
                                      <p:to>
                                        <p:strVal val="visible"/>
                                      </p:to>
                                    </p:set>
                                    <p:anim calcmode="lin" valueType="num">
                                      <p:cBhvr additive="base">
                                        <p:cTn id="31" dur="500" fill="hold"/>
                                        <p:tgtEl>
                                          <p:spTgt spid="9218">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9218">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9218">
                                            <p:txEl>
                                              <p:pRg st="5" end="5"/>
                                            </p:txEl>
                                          </p:spTgt>
                                        </p:tgtEl>
                                        <p:attrNameLst>
                                          <p:attrName>style.visibility</p:attrName>
                                        </p:attrNameLst>
                                      </p:cBhvr>
                                      <p:to>
                                        <p:strVal val="visible"/>
                                      </p:to>
                                    </p:set>
                                    <p:anim calcmode="lin" valueType="num">
                                      <p:cBhvr additive="base">
                                        <p:cTn id="37" dur="500" fill="hold"/>
                                        <p:tgtEl>
                                          <p:spTgt spid="9218">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9218">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9218">
                                            <p:txEl>
                                              <p:pRg st="6" end="6"/>
                                            </p:txEl>
                                          </p:spTgt>
                                        </p:tgtEl>
                                        <p:attrNameLst>
                                          <p:attrName>style.visibility</p:attrName>
                                        </p:attrNameLst>
                                      </p:cBhvr>
                                      <p:to>
                                        <p:strVal val="visible"/>
                                      </p:to>
                                    </p:set>
                                    <p:anim calcmode="lin" valueType="num">
                                      <p:cBhvr additive="base">
                                        <p:cTn id="43" dur="500" fill="hold"/>
                                        <p:tgtEl>
                                          <p:spTgt spid="9218">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9218">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9218">
                                            <p:txEl>
                                              <p:pRg st="7" end="7"/>
                                            </p:txEl>
                                          </p:spTgt>
                                        </p:tgtEl>
                                        <p:attrNameLst>
                                          <p:attrName>style.visibility</p:attrName>
                                        </p:attrNameLst>
                                      </p:cBhvr>
                                      <p:to>
                                        <p:strVal val="visible"/>
                                      </p:to>
                                    </p:set>
                                    <p:anim calcmode="lin" valueType="num">
                                      <p:cBhvr additive="base">
                                        <p:cTn id="49" dur="500" fill="hold"/>
                                        <p:tgtEl>
                                          <p:spTgt spid="9218">
                                            <p:txEl>
                                              <p:pRg st="7" end="7"/>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9218">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9218">
                                            <p:txEl>
                                              <p:pRg st="8" end="8"/>
                                            </p:txEl>
                                          </p:spTgt>
                                        </p:tgtEl>
                                        <p:attrNameLst>
                                          <p:attrName>style.visibility</p:attrName>
                                        </p:attrNameLst>
                                      </p:cBhvr>
                                      <p:to>
                                        <p:strVal val="visible"/>
                                      </p:to>
                                    </p:set>
                                    <p:anim calcmode="lin" valueType="num">
                                      <p:cBhvr additive="base">
                                        <p:cTn id="55" dur="500" fill="hold"/>
                                        <p:tgtEl>
                                          <p:spTgt spid="9218">
                                            <p:txEl>
                                              <p:pRg st="8" end="8"/>
                                            </p:txEl>
                                          </p:spTgt>
                                        </p:tgtEl>
                                        <p:attrNameLst>
                                          <p:attrName>ppt_x</p:attrName>
                                        </p:attrNameLst>
                                      </p:cBhvr>
                                      <p:tavLst>
                                        <p:tav tm="0">
                                          <p:val>
                                            <p:strVal val="0-#ppt_w/2"/>
                                          </p:val>
                                        </p:tav>
                                        <p:tav tm="100000">
                                          <p:val>
                                            <p:strVal val="#ppt_x"/>
                                          </p:val>
                                        </p:tav>
                                      </p:tavLst>
                                    </p:anim>
                                    <p:anim calcmode="lin" valueType="num">
                                      <p:cBhvr additive="base">
                                        <p:cTn id="56" dur="500" fill="hold"/>
                                        <p:tgtEl>
                                          <p:spTgt spid="9218">
                                            <p:txEl>
                                              <p:pRg st="8" end="8"/>
                                            </p:txEl>
                                          </p:spTgt>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8" fill="hold" grpId="0" nodeType="clickEffect">
                                  <p:stCondLst>
                                    <p:cond delay="0"/>
                                  </p:stCondLst>
                                  <p:childTnLst>
                                    <p:set>
                                      <p:cBhvr>
                                        <p:cTn id="60" dur="1" fill="hold">
                                          <p:stCondLst>
                                            <p:cond delay="0"/>
                                          </p:stCondLst>
                                        </p:cTn>
                                        <p:tgtEl>
                                          <p:spTgt spid="9218">
                                            <p:txEl>
                                              <p:pRg st="9" end="9"/>
                                            </p:txEl>
                                          </p:spTgt>
                                        </p:tgtEl>
                                        <p:attrNameLst>
                                          <p:attrName>style.visibility</p:attrName>
                                        </p:attrNameLst>
                                      </p:cBhvr>
                                      <p:to>
                                        <p:strVal val="visible"/>
                                      </p:to>
                                    </p:set>
                                    <p:anim calcmode="lin" valueType="num">
                                      <p:cBhvr additive="base">
                                        <p:cTn id="61" dur="500" fill="hold"/>
                                        <p:tgtEl>
                                          <p:spTgt spid="9218">
                                            <p:txEl>
                                              <p:pRg st="9" end="9"/>
                                            </p:txEl>
                                          </p:spTgt>
                                        </p:tgtEl>
                                        <p:attrNameLst>
                                          <p:attrName>ppt_x</p:attrName>
                                        </p:attrNameLst>
                                      </p:cBhvr>
                                      <p:tavLst>
                                        <p:tav tm="0">
                                          <p:val>
                                            <p:strVal val="0-#ppt_w/2"/>
                                          </p:val>
                                        </p:tav>
                                        <p:tav tm="100000">
                                          <p:val>
                                            <p:strVal val="#ppt_x"/>
                                          </p:val>
                                        </p:tav>
                                      </p:tavLst>
                                    </p:anim>
                                    <p:anim calcmode="lin" valueType="num">
                                      <p:cBhvr additive="base">
                                        <p:cTn id="62" dur="500" fill="hold"/>
                                        <p:tgtEl>
                                          <p:spTgt spid="9218">
                                            <p:txEl>
                                              <p:pRg st="9" end="9"/>
                                            </p:txEl>
                                          </p:spTgt>
                                        </p:tgtEl>
                                        <p:attrNameLst>
                                          <p:attrName>ppt_y</p:attrName>
                                        </p:attrNameLst>
                                      </p:cBhvr>
                                      <p:tavLst>
                                        <p:tav tm="0">
                                          <p:val>
                                            <p:strVal val="#ppt_y"/>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8" fill="hold" grpId="0" nodeType="clickEffect">
                                  <p:stCondLst>
                                    <p:cond delay="0"/>
                                  </p:stCondLst>
                                  <p:childTnLst>
                                    <p:set>
                                      <p:cBhvr>
                                        <p:cTn id="66" dur="1" fill="hold">
                                          <p:stCondLst>
                                            <p:cond delay="0"/>
                                          </p:stCondLst>
                                        </p:cTn>
                                        <p:tgtEl>
                                          <p:spTgt spid="9218">
                                            <p:txEl>
                                              <p:pRg st="10" end="10"/>
                                            </p:txEl>
                                          </p:spTgt>
                                        </p:tgtEl>
                                        <p:attrNameLst>
                                          <p:attrName>style.visibility</p:attrName>
                                        </p:attrNameLst>
                                      </p:cBhvr>
                                      <p:to>
                                        <p:strVal val="visible"/>
                                      </p:to>
                                    </p:set>
                                    <p:anim calcmode="lin" valueType="num">
                                      <p:cBhvr additive="base">
                                        <p:cTn id="67" dur="500" fill="hold"/>
                                        <p:tgtEl>
                                          <p:spTgt spid="9218">
                                            <p:txEl>
                                              <p:pRg st="10" end="10"/>
                                            </p:txEl>
                                          </p:spTgt>
                                        </p:tgtEl>
                                        <p:attrNameLst>
                                          <p:attrName>ppt_x</p:attrName>
                                        </p:attrNameLst>
                                      </p:cBhvr>
                                      <p:tavLst>
                                        <p:tav tm="0">
                                          <p:val>
                                            <p:strVal val="0-#ppt_w/2"/>
                                          </p:val>
                                        </p:tav>
                                        <p:tav tm="100000">
                                          <p:val>
                                            <p:strVal val="#ppt_x"/>
                                          </p:val>
                                        </p:tav>
                                      </p:tavLst>
                                    </p:anim>
                                    <p:anim calcmode="lin" valueType="num">
                                      <p:cBhvr additive="base">
                                        <p:cTn id="68" dur="500" fill="hold"/>
                                        <p:tgtEl>
                                          <p:spTgt spid="9218">
                                            <p:txEl>
                                              <p:pRg st="10" end="10"/>
                                            </p:txEl>
                                          </p:spTgt>
                                        </p:tgtEl>
                                        <p:attrNameLst>
                                          <p:attrName>ppt_y</p:attrName>
                                        </p:attrNameLst>
                                      </p:cBhvr>
                                      <p:tavLst>
                                        <p:tav tm="0">
                                          <p:val>
                                            <p:strVal val="#ppt_y"/>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8" fill="hold" grpId="0" nodeType="clickEffect">
                                  <p:stCondLst>
                                    <p:cond delay="0"/>
                                  </p:stCondLst>
                                  <p:childTnLst>
                                    <p:set>
                                      <p:cBhvr>
                                        <p:cTn id="72" dur="1" fill="hold">
                                          <p:stCondLst>
                                            <p:cond delay="0"/>
                                          </p:stCondLst>
                                        </p:cTn>
                                        <p:tgtEl>
                                          <p:spTgt spid="9218">
                                            <p:txEl>
                                              <p:pRg st="11" end="11"/>
                                            </p:txEl>
                                          </p:spTgt>
                                        </p:tgtEl>
                                        <p:attrNameLst>
                                          <p:attrName>style.visibility</p:attrName>
                                        </p:attrNameLst>
                                      </p:cBhvr>
                                      <p:to>
                                        <p:strVal val="visible"/>
                                      </p:to>
                                    </p:set>
                                    <p:anim calcmode="lin" valueType="num">
                                      <p:cBhvr additive="base">
                                        <p:cTn id="73" dur="500" fill="hold"/>
                                        <p:tgtEl>
                                          <p:spTgt spid="9218">
                                            <p:txEl>
                                              <p:pRg st="11" end="11"/>
                                            </p:txEl>
                                          </p:spTgt>
                                        </p:tgtEl>
                                        <p:attrNameLst>
                                          <p:attrName>ppt_x</p:attrName>
                                        </p:attrNameLst>
                                      </p:cBhvr>
                                      <p:tavLst>
                                        <p:tav tm="0">
                                          <p:val>
                                            <p:strVal val="0-#ppt_w/2"/>
                                          </p:val>
                                        </p:tav>
                                        <p:tav tm="100000">
                                          <p:val>
                                            <p:strVal val="#ppt_x"/>
                                          </p:val>
                                        </p:tav>
                                      </p:tavLst>
                                    </p:anim>
                                    <p:anim calcmode="lin" valueType="num">
                                      <p:cBhvr additive="base">
                                        <p:cTn id="74" dur="500" fill="hold"/>
                                        <p:tgtEl>
                                          <p:spTgt spid="9218">
                                            <p:txEl>
                                              <p:pRg st="11" end="1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8" grpId="0" build="p" autoUpdateAnimBg="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8674" name="Object 2">
            <a:hlinkClick r:id="" action="ppaction://ole?verb=0"/>
          </p:cNvPr>
          <p:cNvGraphicFramePr>
            <a:graphicFrameLocks/>
          </p:cNvGraphicFramePr>
          <p:nvPr/>
        </p:nvGraphicFramePr>
        <p:xfrm>
          <a:off x="381000" y="4208463"/>
          <a:ext cx="8382000" cy="2049462"/>
        </p:xfrm>
        <a:graphic>
          <a:graphicData uri="http://schemas.openxmlformats.org/presentationml/2006/ole">
            <mc:AlternateContent xmlns:mc="http://schemas.openxmlformats.org/markup-compatibility/2006">
              <mc:Choice xmlns:v="urn:schemas-microsoft-com:vml" Requires="v">
                <p:oleObj name="Clip" r:id="rId2" imgW="3657600" imgH="2338200" progId="">
                  <p:embed/>
                </p:oleObj>
              </mc:Choice>
              <mc:Fallback>
                <p:oleObj name="Clip" r:id="rId2" imgW="3657600" imgH="2338200" progId="">
                  <p:embed/>
                  <p:pic>
                    <p:nvPicPr>
                      <p:cNvPr id="0" name="Object 2"/>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4208463"/>
                        <a:ext cx="8382000" cy="2049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8675" name="WordArt 3"/>
          <p:cNvSpPr>
            <a:spLocks noChangeArrowheads="1" noChangeShapeType="1" noTextEdit="1"/>
          </p:cNvSpPr>
          <p:nvPr/>
        </p:nvSpPr>
        <p:spPr bwMode="auto">
          <a:xfrm>
            <a:off x="714375" y="1484785"/>
            <a:ext cx="7572375" cy="2448272"/>
          </a:xfrm>
          <a:prstGeom prst="rect">
            <a:avLst/>
          </a:prstGeom>
        </p:spPr>
        <p:txBody>
          <a:bodyPr wrap="none" fromWordArt="1">
            <a:prstTxWarp prst="textSlantUp">
              <a:avLst>
                <a:gd name="adj" fmla="val 32056"/>
              </a:avLst>
            </a:prstTxWarp>
          </a:bodyPr>
          <a:lstStyle/>
          <a:p>
            <a:pPr algn="ctr"/>
            <a:r>
              <a:rPr lang="en-US" altLang="ko-KR" sz="4800" kern="10" dirty="0">
                <a:ln w="9525">
                  <a:solidFill>
                    <a:srgbClr val="CC99FF"/>
                  </a:solidFill>
                  <a:round/>
                  <a:headEnd/>
                  <a:tailEnd/>
                </a:ln>
                <a:gradFill rotWithShape="1">
                  <a:gsLst>
                    <a:gs pos="0">
                      <a:srgbClr val="333399"/>
                    </a:gs>
                    <a:gs pos="100000">
                      <a:schemeClr val="accent2"/>
                    </a:gs>
                  </a:gsLst>
                  <a:lin ang="5400000" scaled="1"/>
                </a:gradFill>
                <a:effectLst>
                  <a:outerShdw dist="53882" dir="2700000" algn="ctr" rotWithShape="0">
                    <a:srgbClr val="9999FF"/>
                  </a:outerShdw>
                </a:effectLst>
                <a:latin typeface="Impact"/>
              </a:rPr>
              <a:t>Implications for Businesses</a:t>
            </a:r>
            <a:endParaRPr lang="ko-KR" altLang="en-US" sz="4800" kern="10" dirty="0">
              <a:ln w="9525">
                <a:solidFill>
                  <a:srgbClr val="CC99FF"/>
                </a:solidFill>
                <a:round/>
                <a:headEnd/>
                <a:tailEnd/>
              </a:ln>
              <a:gradFill rotWithShape="1">
                <a:gsLst>
                  <a:gs pos="0">
                    <a:srgbClr val="333399"/>
                  </a:gs>
                  <a:gs pos="100000">
                    <a:schemeClr val="accent2"/>
                  </a:gs>
                </a:gsLst>
                <a:lin ang="5400000" scaled="1"/>
              </a:gradFill>
              <a:effectLst>
                <a:outerShdw dist="53882" dir="2700000" algn="ctr" rotWithShape="0">
                  <a:srgbClr val="9999FF"/>
                </a:outerShdw>
              </a:effectLst>
              <a:latin typeface="Impact"/>
            </a:endParaRPr>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title" idx="4294967295"/>
          </p:nvPr>
        </p:nvSpPr>
        <p:spPr>
          <a:xfrm>
            <a:off x="0" y="260350"/>
            <a:ext cx="9144000" cy="563563"/>
          </a:xfrm>
        </p:spPr>
        <p:txBody>
          <a:bodyPr/>
          <a:lstStyle/>
          <a:p>
            <a:pPr algn="ctr" eaLnBrk="1" hangingPunct="1"/>
            <a:r>
              <a:rPr lang="en-US" altLang="ko-KR" sz="3200" b="1" dirty="0">
                <a:solidFill>
                  <a:srgbClr val="FDC52B"/>
                </a:solidFill>
                <a:latin typeface="Times New Roman" pitchFamily="18" charset="0"/>
                <a:ea typeface="굴림" pitchFamily="50" charset="-127"/>
              </a:rPr>
              <a:t>IMPLICATIONS FOR BUSINESSES</a:t>
            </a:r>
          </a:p>
        </p:txBody>
      </p:sp>
      <p:sp>
        <p:nvSpPr>
          <p:cNvPr id="4" name="Rectangle 3"/>
          <p:cNvSpPr txBox="1">
            <a:spLocks noChangeArrowheads="1"/>
          </p:cNvSpPr>
          <p:nvPr/>
        </p:nvSpPr>
        <p:spPr>
          <a:xfrm>
            <a:off x="395536" y="1196752"/>
            <a:ext cx="8568952" cy="5472608"/>
          </a:xfrm>
          <a:prstGeom prst="rect">
            <a:avLst/>
          </a:prstGeom>
        </p:spPr>
        <p:txBody>
          <a:bodyPr/>
          <a:lstStyle/>
          <a:p>
            <a:pPr marL="342900" marR="0" lvl="0" indent="-342900" algn="l" defTabSz="914400" rtl="0" eaLnBrk="1" fontAlgn="base" latinLnBrk="1" hangingPunct="1">
              <a:lnSpc>
                <a:spcPts val="3400"/>
              </a:lnSpc>
              <a:spcBef>
                <a:spcPct val="20000"/>
              </a:spcBef>
              <a:spcAft>
                <a:spcPct val="0"/>
              </a:spcAft>
              <a:buClr>
                <a:schemeClr val="hlink"/>
              </a:buClr>
              <a:buSzTx/>
              <a:buFont typeface="Wingdings" pitchFamily="2" charset="2"/>
              <a:buChar char="q"/>
              <a:tabLst/>
              <a:defRPr/>
            </a:pPr>
            <a:r>
              <a:rPr kumimoji="0" lang="en-US" altLang="ko-KR" b="0" i="0" u="none" strike="noStrike" kern="0" cap="none" spc="0" normalizeH="0" baseline="0" noProof="0" dirty="0">
                <a:ln>
                  <a:noFill/>
                </a:ln>
                <a:effectLst/>
                <a:uLnTx/>
                <a:uFillTx/>
                <a:latin typeface="Times New Roman" pitchFamily="18" charset="0"/>
                <a:ea typeface="+mn-ea"/>
                <a:cs typeface="Times New Roman" pitchFamily="18" charset="0"/>
              </a:rPr>
              <a:t>Firms operate globally within</a:t>
            </a:r>
            <a:r>
              <a:rPr kumimoji="0" lang="en-US" altLang="ko-KR" b="0" i="0" u="none" strike="noStrike" kern="0" cap="none" spc="0" normalizeH="0" noProof="0" dirty="0">
                <a:ln>
                  <a:noFill/>
                </a:ln>
                <a:effectLst/>
                <a:uLnTx/>
                <a:uFillTx/>
                <a:latin typeface="Times New Roman" pitchFamily="18" charset="0"/>
                <a:ea typeface="+mn-ea"/>
                <a:cs typeface="Times New Roman" pitchFamily="18" charset="0"/>
              </a:rPr>
              <a:t> the context of trade environment, </a:t>
            </a:r>
            <a:r>
              <a:rPr lang="en-US" altLang="ko-KR" b="0" kern="0" dirty="0">
                <a:cs typeface="Times New Roman" pitchFamily="18" charset="0"/>
              </a:rPr>
              <a:t> and </a:t>
            </a:r>
            <a:r>
              <a:rPr kumimoji="0" lang="en-US" altLang="ko-KR" b="0" i="0" u="none" strike="noStrike" kern="0" cap="none" spc="0" normalizeH="0" noProof="0" dirty="0">
                <a:ln>
                  <a:noFill/>
                </a:ln>
                <a:effectLst/>
                <a:uLnTx/>
                <a:uFillTx/>
                <a:latin typeface="Times New Roman" pitchFamily="18" charset="0"/>
                <a:ea typeface="+mn-ea"/>
                <a:cs typeface="Times New Roman" pitchFamily="18" charset="0"/>
              </a:rPr>
              <a:t>they have room for influencing and maneuvering the context:</a:t>
            </a:r>
            <a:endParaRPr kumimoji="0" lang="en-US" altLang="ko-KR" b="0" i="0" u="none" strike="noStrike" kern="0" cap="none" spc="0" normalizeH="0" baseline="0" noProof="0" dirty="0">
              <a:ln>
                <a:noFill/>
              </a:ln>
              <a:effectLst/>
              <a:uLnTx/>
              <a:uFillTx/>
              <a:latin typeface="Times New Roman" pitchFamily="18" charset="0"/>
              <a:ea typeface="+mn-ea"/>
              <a:cs typeface="Times New Roman" pitchFamily="18" charset="0"/>
            </a:endParaRPr>
          </a:p>
          <a:p>
            <a:pPr marL="342900" marR="0" lvl="0" indent="-342900" algn="l" defTabSz="914400" rtl="0" eaLnBrk="1" fontAlgn="base" latinLnBrk="1" hangingPunct="1">
              <a:lnSpc>
                <a:spcPts val="3400"/>
              </a:lnSpc>
              <a:spcBef>
                <a:spcPct val="20000"/>
              </a:spcBef>
              <a:spcAft>
                <a:spcPct val="0"/>
              </a:spcAft>
              <a:buClr>
                <a:schemeClr val="hlink"/>
              </a:buClr>
              <a:buSzTx/>
              <a:buFontTx/>
              <a:buChar char="•"/>
              <a:tabLst/>
              <a:defRPr/>
            </a:pPr>
            <a:r>
              <a:rPr kumimoji="0" lang="en-US" altLang="ko-KR" sz="2800" b="0" i="0" u="none" strike="noStrike" kern="0" cap="none" spc="0" normalizeH="0" baseline="0" noProof="0" dirty="0">
                <a:ln>
                  <a:noFill/>
                </a:ln>
                <a:effectLst/>
                <a:uLnTx/>
                <a:uFillTx/>
                <a:latin typeface="Times New Roman" pitchFamily="18" charset="0"/>
                <a:ea typeface="+mn-ea"/>
                <a:cs typeface="Times New Roman" pitchFamily="18" charset="0"/>
              </a:rPr>
              <a:t>Location implications</a:t>
            </a:r>
            <a:r>
              <a:rPr kumimoji="0" lang="en-US" altLang="ko-KR" sz="2400" b="0" i="0" u="none" strike="noStrike" kern="0" cap="none" spc="0" normalizeH="0" baseline="0" noProof="0" dirty="0">
                <a:ln>
                  <a:noFill/>
                </a:ln>
                <a:effectLst/>
                <a:uLnTx/>
                <a:uFillTx/>
                <a:latin typeface="Times New Roman" pitchFamily="18" charset="0"/>
                <a:ea typeface="+mn-ea"/>
                <a:cs typeface="Times New Roman" pitchFamily="18" charset="0"/>
              </a:rPr>
              <a:t>: </a:t>
            </a:r>
            <a:r>
              <a:rPr kumimoji="0" lang="en-US" altLang="ko-KR" sz="2400" b="0" i="0" u="none" strike="noStrike" kern="0" cap="none" spc="0" normalizeH="0" noProof="0" dirty="0">
                <a:ln>
                  <a:noFill/>
                </a:ln>
                <a:effectLst/>
                <a:uLnTx/>
                <a:uFillTx/>
                <a:latin typeface="Times New Roman" pitchFamily="18" charset="0"/>
                <a:ea typeface="+mn-ea"/>
                <a:cs typeface="Times New Roman" pitchFamily="18" charset="0"/>
              </a:rPr>
              <a:t> </a:t>
            </a:r>
          </a:p>
          <a:p>
            <a:pPr marL="342900" marR="0" lvl="0" indent="-342900" algn="l" defTabSz="914400" rtl="0" eaLnBrk="1" fontAlgn="base" latinLnBrk="1" hangingPunct="1">
              <a:lnSpc>
                <a:spcPts val="3400"/>
              </a:lnSpc>
              <a:spcBef>
                <a:spcPct val="20000"/>
              </a:spcBef>
              <a:spcAft>
                <a:spcPct val="0"/>
              </a:spcAft>
              <a:buClr>
                <a:schemeClr val="hlink"/>
              </a:buClr>
              <a:buSzTx/>
              <a:tabLst/>
              <a:defRPr/>
            </a:pPr>
            <a:r>
              <a:rPr lang="en-US" altLang="ko-KR" b="0" kern="0" dirty="0">
                <a:cs typeface="Times New Roman" pitchFamily="18" charset="0"/>
              </a:rPr>
              <a:t>	Firms need to exploit location advantages. Different countries have advantages in different productive activities, and it</a:t>
            </a:r>
            <a:r>
              <a:rPr kumimoji="0" lang="en-US" altLang="ko-KR" sz="2400" b="0" i="0" u="none" strike="noStrike" kern="0" cap="none" spc="0" normalizeH="0" noProof="0" dirty="0">
                <a:ln>
                  <a:noFill/>
                </a:ln>
                <a:effectLst/>
                <a:uLnTx/>
                <a:uFillTx/>
                <a:latin typeface="Times New Roman" pitchFamily="18" charset="0"/>
                <a:ea typeface="+mn-ea"/>
                <a:cs typeface="Times New Roman" pitchFamily="18" charset="0"/>
              </a:rPr>
              <a:t> </a:t>
            </a:r>
            <a:r>
              <a:rPr kumimoji="0" lang="en-US" altLang="ko-KR" sz="2400" b="0" i="0" u="none" strike="noStrike" kern="0" cap="none" spc="0" normalizeH="0" baseline="0" noProof="0" dirty="0">
                <a:ln>
                  <a:noFill/>
                </a:ln>
                <a:effectLst/>
                <a:uLnTx/>
                <a:uFillTx/>
                <a:latin typeface="Times New Roman" pitchFamily="18" charset="0"/>
                <a:ea typeface="+mn-ea"/>
                <a:cs typeface="Times New Roman" pitchFamily="18" charset="0"/>
              </a:rPr>
              <a:t>makes sense to disperse</a:t>
            </a:r>
            <a:r>
              <a:rPr kumimoji="0" lang="en-US" altLang="ko-KR" sz="2400" b="0" i="0" u="none" strike="noStrike" kern="0" cap="none" spc="0" normalizeH="0" noProof="0" dirty="0">
                <a:ln>
                  <a:noFill/>
                </a:ln>
                <a:effectLst/>
                <a:uLnTx/>
                <a:uFillTx/>
                <a:latin typeface="Times New Roman" pitchFamily="18" charset="0"/>
                <a:ea typeface="+mn-ea"/>
                <a:cs typeface="Times New Roman" pitchFamily="18" charset="0"/>
              </a:rPr>
              <a:t> business activities</a:t>
            </a:r>
            <a:r>
              <a:rPr kumimoji="0" lang="en-US" altLang="ko-KR" sz="2400" b="0" i="0" u="none" strike="noStrike" kern="0" cap="none" spc="0" normalizeH="0" baseline="0" noProof="0" dirty="0">
                <a:ln>
                  <a:noFill/>
                </a:ln>
                <a:effectLst/>
                <a:uLnTx/>
                <a:uFillTx/>
                <a:latin typeface="Times New Roman" pitchFamily="18" charset="0"/>
                <a:ea typeface="+mn-ea"/>
                <a:cs typeface="Times New Roman" pitchFamily="18" charset="0"/>
              </a:rPr>
              <a:t> to countries where they can be performed most efficiently.</a:t>
            </a:r>
          </a:p>
          <a:p>
            <a:pPr marL="342900" marR="0" lvl="0" indent="-342900" algn="l" defTabSz="914400" rtl="0" eaLnBrk="1" fontAlgn="base" latinLnBrk="1" hangingPunct="1">
              <a:lnSpc>
                <a:spcPts val="3400"/>
              </a:lnSpc>
              <a:spcBef>
                <a:spcPct val="20000"/>
              </a:spcBef>
              <a:spcAft>
                <a:spcPct val="0"/>
              </a:spcAft>
              <a:buClr>
                <a:schemeClr val="hlink"/>
              </a:buClr>
              <a:buSzTx/>
              <a:buFontTx/>
              <a:buChar char="•"/>
              <a:tabLst/>
              <a:defRPr/>
            </a:pPr>
            <a:r>
              <a:rPr kumimoji="0" lang="en-US" altLang="ko-KR" sz="2800" b="0" i="0" u="none" strike="noStrike" kern="0" cap="none" spc="0" normalizeH="0" baseline="0" noProof="0" dirty="0">
                <a:ln>
                  <a:noFill/>
                </a:ln>
                <a:effectLst/>
                <a:uLnTx/>
                <a:uFillTx/>
                <a:latin typeface="Times New Roman" pitchFamily="18" charset="0"/>
                <a:ea typeface="+mn-ea"/>
                <a:cs typeface="Times New Roman" pitchFamily="18" charset="0"/>
              </a:rPr>
              <a:t>First-mover implications</a:t>
            </a:r>
            <a:r>
              <a:rPr kumimoji="0" lang="en-US" altLang="ko-KR" sz="2400" b="0" i="0" u="none" strike="noStrike" kern="0" cap="none" spc="0" normalizeH="0" baseline="0" noProof="0" dirty="0">
                <a:ln>
                  <a:noFill/>
                </a:ln>
                <a:effectLst/>
                <a:uLnTx/>
                <a:uFillTx/>
                <a:latin typeface="Times New Roman" pitchFamily="18" charset="0"/>
                <a:ea typeface="+mn-ea"/>
                <a:cs typeface="Times New Roman" pitchFamily="18" charset="0"/>
              </a:rPr>
              <a:t>: </a:t>
            </a:r>
          </a:p>
          <a:p>
            <a:pPr marL="342900" indent="-342900" latinLnBrk="1">
              <a:lnSpc>
                <a:spcPts val="3400"/>
              </a:lnSpc>
              <a:spcBef>
                <a:spcPct val="20000"/>
              </a:spcBef>
              <a:buClr>
                <a:schemeClr val="hlink"/>
              </a:buClr>
            </a:pPr>
            <a:r>
              <a:rPr lang="en-US" altLang="ko-KR" b="0" kern="0" dirty="0">
                <a:cs typeface="Times New Roman" pitchFamily="18" charset="0"/>
              </a:rPr>
              <a:t>	</a:t>
            </a:r>
            <a:r>
              <a:rPr lang="en-US" b="0" dirty="0"/>
              <a:t>Firms that establish a first-mover advantage in the production of a new product may later dominate global trade in that product. </a:t>
            </a:r>
            <a:r>
              <a:rPr kumimoji="0" lang="en-US" altLang="ko-KR" sz="2400" b="0" i="0" u="none" strike="noStrike" kern="0" cap="none" spc="0" normalizeH="0" baseline="0" noProof="0" dirty="0">
                <a:ln>
                  <a:noFill/>
                </a:ln>
                <a:effectLst/>
                <a:uLnTx/>
                <a:uFillTx/>
                <a:latin typeface="Times New Roman" pitchFamily="18" charset="0"/>
                <a:ea typeface="+mn-ea"/>
                <a:cs typeface="Times New Roman" pitchFamily="18" charset="0"/>
              </a:rPr>
              <a:t>It pays to invest substantial financial resources in building a first-mover or early-mover advantage.</a:t>
            </a:r>
          </a:p>
          <a:p>
            <a:pPr marL="342900" marR="0" lvl="0" indent="-342900" algn="l" defTabSz="914400" rtl="0" eaLnBrk="1" fontAlgn="base" latinLnBrk="1" hangingPunct="1">
              <a:lnSpc>
                <a:spcPts val="3600"/>
              </a:lnSpc>
              <a:spcBef>
                <a:spcPct val="20000"/>
              </a:spcBef>
              <a:spcAft>
                <a:spcPct val="0"/>
              </a:spcAft>
              <a:buClr>
                <a:schemeClr val="hlink"/>
              </a:buClr>
              <a:buSzTx/>
              <a:tabLst/>
              <a:defRPr/>
            </a:pPr>
            <a:endParaRPr kumimoji="0" lang="en-US" altLang="ko-KR" sz="2400" b="0" i="0" u="none" strike="noStrike" kern="0" cap="none" spc="0" normalizeH="0" baseline="0" noProof="0" dirty="0">
              <a:ln>
                <a:noFill/>
              </a:ln>
              <a:effectLst/>
              <a:uLnTx/>
              <a:uFillTx/>
              <a:latin typeface="Times New Roman" pitchFamily="18" charset="0"/>
              <a:ea typeface="+mn-ea"/>
              <a:cs typeface="Times New Roman" pitchFamily="18" charset="0"/>
            </a:endParaRPr>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title" idx="4294967295"/>
          </p:nvPr>
        </p:nvSpPr>
        <p:spPr>
          <a:xfrm>
            <a:off x="0" y="260350"/>
            <a:ext cx="9144000" cy="563563"/>
          </a:xfrm>
        </p:spPr>
        <p:txBody>
          <a:bodyPr/>
          <a:lstStyle/>
          <a:p>
            <a:pPr algn="ctr" eaLnBrk="1" hangingPunct="1"/>
            <a:r>
              <a:rPr lang="en-US" altLang="ko-KR" sz="3200" b="1" dirty="0">
                <a:solidFill>
                  <a:srgbClr val="FDC52B"/>
                </a:solidFill>
                <a:latin typeface="Times New Roman" pitchFamily="18" charset="0"/>
                <a:ea typeface="굴림" pitchFamily="50" charset="-127"/>
              </a:rPr>
              <a:t>IMPLICATIONS FOR BUSINESSES</a:t>
            </a:r>
          </a:p>
        </p:txBody>
      </p:sp>
      <p:sp>
        <p:nvSpPr>
          <p:cNvPr id="5" name="Text Box 5"/>
          <p:cNvSpPr txBox="1">
            <a:spLocks noChangeArrowheads="1"/>
          </p:cNvSpPr>
          <p:nvPr/>
        </p:nvSpPr>
        <p:spPr bwMode="auto">
          <a:xfrm>
            <a:off x="467544" y="1340768"/>
            <a:ext cx="8352928" cy="4496616"/>
          </a:xfrm>
          <a:prstGeom prst="rect">
            <a:avLst/>
          </a:prstGeom>
          <a:noFill/>
          <a:ln w="9525">
            <a:noFill/>
            <a:miter lim="800000"/>
            <a:headEnd/>
            <a:tailEnd/>
          </a:ln>
        </p:spPr>
        <p:txBody>
          <a:bodyPr wrap="square">
            <a:spAutoFit/>
          </a:bodyPr>
          <a:lstStyle/>
          <a:p>
            <a:pPr marL="342900" lvl="0" indent="-342900" latinLnBrk="1">
              <a:lnSpc>
                <a:spcPts val="4000"/>
              </a:lnSpc>
              <a:spcBef>
                <a:spcPct val="20000"/>
              </a:spcBef>
              <a:buClr>
                <a:schemeClr val="hlink"/>
              </a:buClr>
              <a:buFontTx/>
              <a:buChar char="•"/>
              <a:defRPr/>
            </a:pPr>
            <a:r>
              <a:rPr lang="en-US" altLang="ko-KR" sz="2800" b="0" kern="0" dirty="0">
                <a:cs typeface="Times New Roman" pitchFamily="18" charset="0"/>
              </a:rPr>
              <a:t>Policy implications: </a:t>
            </a:r>
          </a:p>
          <a:p>
            <a:pPr marL="342900" indent="-342900" latinLnBrk="1">
              <a:lnSpc>
                <a:spcPts val="4000"/>
              </a:lnSpc>
              <a:spcBef>
                <a:spcPct val="20000"/>
              </a:spcBef>
              <a:buClr>
                <a:schemeClr val="hlink"/>
              </a:buClr>
            </a:pPr>
            <a:r>
              <a:rPr lang="en-US" altLang="ko-KR" sz="2800" b="0" kern="0" dirty="0">
                <a:cs typeface="Times New Roman" pitchFamily="18" charset="0"/>
              </a:rPr>
              <a:t>	</a:t>
            </a:r>
            <a:r>
              <a:rPr lang="en-US" altLang="ko-KR" b="0" dirty="0"/>
              <a:t>Firms can exert a strong influence on government policy toward trade. </a:t>
            </a:r>
            <a:r>
              <a:rPr lang="en-US" altLang="ko-KR" b="0" kern="0" dirty="0">
                <a:cs typeface="Times New Roman" pitchFamily="18" charset="0"/>
              </a:rPr>
              <a:t>Firms may lobby for free trade or for protection. </a:t>
            </a:r>
            <a:endParaRPr lang="en-US" altLang="ko-KR" b="0" dirty="0"/>
          </a:p>
          <a:p>
            <a:pPr marL="342900" indent="-342900" latinLnBrk="1">
              <a:lnSpc>
                <a:spcPts val="4200"/>
              </a:lnSpc>
              <a:spcBef>
                <a:spcPct val="20000"/>
              </a:spcBef>
              <a:buClr>
                <a:schemeClr val="hlink"/>
              </a:buClr>
              <a:buFont typeface="Arial" pitchFamily="34" charset="0"/>
              <a:buChar char="•"/>
            </a:pPr>
            <a:r>
              <a:rPr lang="en-US" altLang="ko-KR" sz="2800" b="0" dirty="0"/>
              <a:t>Trade barriers impact firm strategy:</a:t>
            </a:r>
          </a:p>
          <a:p>
            <a:pPr eaLnBrk="0" latinLnBrk="0" hangingPunct="0">
              <a:lnSpc>
                <a:spcPts val="4200"/>
              </a:lnSpc>
            </a:pPr>
            <a:r>
              <a:rPr kumimoji="0" lang="en-US" altLang="ko-KR" b="0" dirty="0"/>
              <a:t>     Trade barriers can be both threats and opportunities for firms </a:t>
            </a:r>
          </a:p>
          <a:p>
            <a:pPr eaLnBrk="0" latinLnBrk="0" hangingPunct="0">
              <a:lnSpc>
                <a:spcPts val="4200"/>
              </a:lnSpc>
            </a:pPr>
            <a:r>
              <a:rPr lang="en-US" altLang="ko-KR" b="0" dirty="0"/>
              <a:t>      - raising the cost of doing business and </a:t>
            </a:r>
            <a:r>
              <a:rPr kumimoji="0" lang="en-US" altLang="ko-KR" b="0" dirty="0"/>
              <a:t>pushing firms to</a:t>
            </a:r>
          </a:p>
          <a:p>
            <a:pPr eaLnBrk="0" latinLnBrk="0" hangingPunct="0">
              <a:lnSpc>
                <a:spcPts val="4200"/>
              </a:lnSpc>
            </a:pPr>
            <a:r>
              <a:rPr lang="en-US" altLang="ko-KR" b="0" dirty="0"/>
              <a:t>       </a:t>
            </a:r>
            <a:r>
              <a:rPr kumimoji="0" lang="en-US" altLang="ko-KR" b="0" dirty="0"/>
              <a:t> disperse their productive activities globally.</a:t>
            </a:r>
          </a:p>
          <a:p>
            <a:pPr eaLnBrk="0" latinLnBrk="0" hangingPunct="0">
              <a:lnSpc>
                <a:spcPts val="4200"/>
              </a:lnSpc>
              <a:buClr>
                <a:schemeClr val="bg1">
                  <a:lumMod val="60000"/>
                  <a:lumOff val="40000"/>
                </a:schemeClr>
              </a:buClr>
              <a:buFont typeface="Arial" pitchFamily="34" charset="0"/>
              <a:buChar char="•"/>
            </a:pPr>
            <a:r>
              <a:rPr kumimoji="0" lang="en-US" altLang="ko-KR" sz="2800" b="0" dirty="0"/>
              <a:t>  These are likely to eventually facilitate globalization.</a:t>
            </a:r>
          </a:p>
        </p:txBody>
      </p:sp>
    </p:spTree>
  </p:cSld>
  <p:clrMapOvr>
    <a:masterClrMapping/>
  </p:clrMapOvr>
  <p:transition/>
</p:sld>
</file>

<file path=ppt/theme/theme1.xml><?xml version="1.0" encoding="utf-8"?>
<a:theme xmlns:a="http://schemas.openxmlformats.org/drawingml/2006/main" name="1_1">
  <a:themeElements>
    <a:clrScheme name="1_1 3">
      <a:dk1>
        <a:srgbClr val="0066CC"/>
      </a:dk1>
      <a:lt1>
        <a:srgbClr val="B1E2FB"/>
      </a:lt1>
      <a:dk2>
        <a:srgbClr val="003399"/>
      </a:dk2>
      <a:lt2>
        <a:srgbClr val="FFFFFF"/>
      </a:lt2>
      <a:accent1>
        <a:srgbClr val="FDC529"/>
      </a:accent1>
      <a:accent2>
        <a:srgbClr val="52C828"/>
      </a:accent2>
      <a:accent3>
        <a:srgbClr val="AAADCA"/>
      </a:accent3>
      <a:accent4>
        <a:srgbClr val="97C1D6"/>
      </a:accent4>
      <a:accent5>
        <a:srgbClr val="FEDFAC"/>
      </a:accent5>
      <a:accent6>
        <a:srgbClr val="49B523"/>
      </a:accent6>
      <a:hlink>
        <a:srgbClr val="72A7F6"/>
      </a:hlink>
      <a:folHlink>
        <a:srgbClr val="A5A5FF"/>
      </a:folHlink>
    </a:clrScheme>
    <a:fontScheme name="1_1">
      <a:majorFont>
        <a:latin typeface="Arial"/>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400" b="1"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400" b="1"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1_1 1">
        <a:dk1>
          <a:srgbClr val="7E25CF"/>
        </a:dk1>
        <a:lt1>
          <a:srgbClr val="C6D3FE"/>
        </a:lt1>
        <a:dk2>
          <a:srgbClr val="512175"/>
        </a:dk2>
        <a:lt2>
          <a:srgbClr val="FFFFFF"/>
        </a:lt2>
        <a:accent1>
          <a:srgbClr val="FFCC66"/>
        </a:accent1>
        <a:accent2>
          <a:srgbClr val="6ABA42"/>
        </a:accent2>
        <a:accent3>
          <a:srgbClr val="B3ABBD"/>
        </a:accent3>
        <a:accent4>
          <a:srgbClr val="A9B4D9"/>
        </a:accent4>
        <a:accent5>
          <a:srgbClr val="FFE2B8"/>
        </a:accent5>
        <a:accent6>
          <a:srgbClr val="5FA83B"/>
        </a:accent6>
        <a:hlink>
          <a:srgbClr val="3399FF"/>
        </a:hlink>
        <a:folHlink>
          <a:srgbClr val="43A8C7"/>
        </a:folHlink>
      </a:clrScheme>
      <a:clrMap bg1="dk2" tx1="lt1" bg2="dk1" tx2="lt2" accent1="accent1" accent2="accent2" accent3="accent3" accent4="accent4" accent5="accent5" accent6="accent6" hlink="hlink" folHlink="folHlink"/>
    </a:extraClrScheme>
    <a:extraClrScheme>
      <a:clrScheme name="1_1 2">
        <a:dk1>
          <a:srgbClr val="009999"/>
        </a:dk1>
        <a:lt1>
          <a:srgbClr val="E2E2D6"/>
        </a:lt1>
        <a:dk2>
          <a:srgbClr val="005986"/>
        </a:dk2>
        <a:lt2>
          <a:srgbClr val="FFFFFF"/>
        </a:lt2>
        <a:accent1>
          <a:srgbClr val="12D2C9"/>
        </a:accent1>
        <a:accent2>
          <a:srgbClr val="3574C7"/>
        </a:accent2>
        <a:accent3>
          <a:srgbClr val="AAB5C3"/>
        </a:accent3>
        <a:accent4>
          <a:srgbClr val="C1C1B7"/>
        </a:accent4>
        <a:accent5>
          <a:srgbClr val="AAE5E1"/>
        </a:accent5>
        <a:accent6>
          <a:srgbClr val="2F68B4"/>
        </a:accent6>
        <a:hlink>
          <a:srgbClr val="1EBABA"/>
        </a:hlink>
        <a:folHlink>
          <a:srgbClr val="33CC33"/>
        </a:folHlink>
      </a:clrScheme>
      <a:clrMap bg1="dk2" tx1="lt1" bg2="dk1" tx2="lt2" accent1="accent1" accent2="accent2" accent3="accent3" accent4="accent4" accent5="accent5" accent6="accent6" hlink="hlink" folHlink="folHlink"/>
    </a:extraClrScheme>
    <a:extraClrScheme>
      <a:clrScheme name="1_1 3">
        <a:dk1>
          <a:srgbClr val="0066CC"/>
        </a:dk1>
        <a:lt1>
          <a:srgbClr val="B1E2FB"/>
        </a:lt1>
        <a:dk2>
          <a:srgbClr val="003399"/>
        </a:dk2>
        <a:lt2>
          <a:srgbClr val="FFFFFF"/>
        </a:lt2>
        <a:accent1>
          <a:srgbClr val="FDC529"/>
        </a:accent1>
        <a:accent2>
          <a:srgbClr val="52C828"/>
        </a:accent2>
        <a:accent3>
          <a:srgbClr val="AAADCA"/>
        </a:accent3>
        <a:accent4>
          <a:srgbClr val="97C1D6"/>
        </a:accent4>
        <a:accent5>
          <a:srgbClr val="FEDFAC"/>
        </a:accent5>
        <a:accent6>
          <a:srgbClr val="49B523"/>
        </a:accent6>
        <a:hlink>
          <a:srgbClr val="72A7F6"/>
        </a:hlink>
        <a:folHlink>
          <a:srgbClr val="A5A5FF"/>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
  <a:themeElements>
    <a:clrScheme name="1 3">
      <a:dk1>
        <a:srgbClr val="0066CC"/>
      </a:dk1>
      <a:lt1>
        <a:srgbClr val="B1E2FB"/>
      </a:lt1>
      <a:dk2>
        <a:srgbClr val="003399"/>
      </a:dk2>
      <a:lt2>
        <a:srgbClr val="FFFFFF"/>
      </a:lt2>
      <a:accent1>
        <a:srgbClr val="FDC529"/>
      </a:accent1>
      <a:accent2>
        <a:srgbClr val="52C828"/>
      </a:accent2>
      <a:accent3>
        <a:srgbClr val="AAADCA"/>
      </a:accent3>
      <a:accent4>
        <a:srgbClr val="97C1D6"/>
      </a:accent4>
      <a:accent5>
        <a:srgbClr val="FEDFAC"/>
      </a:accent5>
      <a:accent6>
        <a:srgbClr val="49B523"/>
      </a:accent6>
      <a:hlink>
        <a:srgbClr val="72A7F6"/>
      </a:hlink>
      <a:folHlink>
        <a:srgbClr val="A5A5FF"/>
      </a:folHlink>
    </a:clrScheme>
    <a:fontScheme name="1">
      <a:majorFont>
        <a:latin typeface="Arial"/>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400" b="1"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400" b="1"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1 1">
        <a:dk1>
          <a:srgbClr val="7E25CF"/>
        </a:dk1>
        <a:lt1>
          <a:srgbClr val="C6D3FE"/>
        </a:lt1>
        <a:dk2>
          <a:srgbClr val="512175"/>
        </a:dk2>
        <a:lt2>
          <a:srgbClr val="FFFFFF"/>
        </a:lt2>
        <a:accent1>
          <a:srgbClr val="FFCC66"/>
        </a:accent1>
        <a:accent2>
          <a:srgbClr val="6ABA42"/>
        </a:accent2>
        <a:accent3>
          <a:srgbClr val="B3ABBD"/>
        </a:accent3>
        <a:accent4>
          <a:srgbClr val="A9B4D9"/>
        </a:accent4>
        <a:accent5>
          <a:srgbClr val="FFE2B8"/>
        </a:accent5>
        <a:accent6>
          <a:srgbClr val="5FA83B"/>
        </a:accent6>
        <a:hlink>
          <a:srgbClr val="3399FF"/>
        </a:hlink>
        <a:folHlink>
          <a:srgbClr val="43A8C7"/>
        </a:folHlink>
      </a:clrScheme>
      <a:clrMap bg1="dk2" tx1="lt1" bg2="dk1" tx2="lt2" accent1="accent1" accent2="accent2" accent3="accent3" accent4="accent4" accent5="accent5" accent6="accent6" hlink="hlink" folHlink="folHlink"/>
    </a:extraClrScheme>
    <a:extraClrScheme>
      <a:clrScheme name="1 2">
        <a:dk1>
          <a:srgbClr val="009999"/>
        </a:dk1>
        <a:lt1>
          <a:srgbClr val="E2E2D6"/>
        </a:lt1>
        <a:dk2>
          <a:srgbClr val="005986"/>
        </a:dk2>
        <a:lt2>
          <a:srgbClr val="FFFFFF"/>
        </a:lt2>
        <a:accent1>
          <a:srgbClr val="12D2C9"/>
        </a:accent1>
        <a:accent2>
          <a:srgbClr val="3574C7"/>
        </a:accent2>
        <a:accent3>
          <a:srgbClr val="AAB5C3"/>
        </a:accent3>
        <a:accent4>
          <a:srgbClr val="C1C1B7"/>
        </a:accent4>
        <a:accent5>
          <a:srgbClr val="AAE5E1"/>
        </a:accent5>
        <a:accent6>
          <a:srgbClr val="2F68B4"/>
        </a:accent6>
        <a:hlink>
          <a:srgbClr val="1EBABA"/>
        </a:hlink>
        <a:folHlink>
          <a:srgbClr val="33CC33"/>
        </a:folHlink>
      </a:clrScheme>
      <a:clrMap bg1="dk2" tx1="lt1" bg2="dk1" tx2="lt2" accent1="accent1" accent2="accent2" accent3="accent3" accent4="accent4" accent5="accent5" accent6="accent6" hlink="hlink" folHlink="folHlink"/>
    </a:extraClrScheme>
    <a:extraClrScheme>
      <a:clrScheme name="1 3">
        <a:dk1>
          <a:srgbClr val="0066CC"/>
        </a:dk1>
        <a:lt1>
          <a:srgbClr val="B1E2FB"/>
        </a:lt1>
        <a:dk2>
          <a:srgbClr val="003399"/>
        </a:dk2>
        <a:lt2>
          <a:srgbClr val="FFFFFF"/>
        </a:lt2>
        <a:accent1>
          <a:srgbClr val="FDC529"/>
        </a:accent1>
        <a:accent2>
          <a:srgbClr val="52C828"/>
        </a:accent2>
        <a:accent3>
          <a:srgbClr val="AAADCA"/>
        </a:accent3>
        <a:accent4>
          <a:srgbClr val="97C1D6"/>
        </a:accent4>
        <a:accent5>
          <a:srgbClr val="FEDFAC"/>
        </a:accent5>
        <a:accent6>
          <a:srgbClr val="49B523"/>
        </a:accent6>
        <a:hlink>
          <a:srgbClr val="72A7F6"/>
        </a:hlink>
        <a:folHlink>
          <a:srgbClr val="A5A5FF"/>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7110</TotalTime>
  <Words>2697</Words>
  <Application>Microsoft Office PowerPoint</Application>
  <PresentationFormat>화면 슬라이드 쇼(4:3)</PresentationFormat>
  <Paragraphs>532</Paragraphs>
  <Slides>45</Slides>
  <Notes>5</Notes>
  <HiddenSlides>0</HiddenSlides>
  <MMClips>0</MMClips>
  <ScaleCrop>false</ScaleCrop>
  <HeadingPairs>
    <vt:vector size="8" baseType="variant">
      <vt:variant>
        <vt:lpstr>사용한 글꼴</vt:lpstr>
      </vt:variant>
      <vt:variant>
        <vt:i4>11</vt:i4>
      </vt:variant>
      <vt:variant>
        <vt:lpstr>테마</vt:lpstr>
      </vt:variant>
      <vt:variant>
        <vt:i4>2</vt:i4>
      </vt:variant>
      <vt:variant>
        <vt:lpstr>포함된 OLE 서버</vt:lpstr>
      </vt:variant>
      <vt:variant>
        <vt:i4>2</vt:i4>
      </vt:variant>
      <vt:variant>
        <vt:lpstr>슬라이드 제목</vt:lpstr>
      </vt:variant>
      <vt:variant>
        <vt:i4>45</vt:i4>
      </vt:variant>
    </vt:vector>
  </HeadingPairs>
  <TitlesOfParts>
    <vt:vector size="60" baseType="lpstr">
      <vt:lpstr>HY견고딕</vt:lpstr>
      <vt:lpstr>HY헤드라인M</vt:lpstr>
      <vt:lpstr>PMingLiU</vt:lpstr>
      <vt:lpstr>굴림</vt:lpstr>
      <vt:lpstr>Arial</vt:lpstr>
      <vt:lpstr>Calibri</vt:lpstr>
      <vt:lpstr>Franklin Gothic Heavy</vt:lpstr>
      <vt:lpstr>Impact</vt:lpstr>
      <vt:lpstr>Times New Roman</vt:lpstr>
      <vt:lpstr>Verdana</vt:lpstr>
      <vt:lpstr>Wingdings</vt:lpstr>
      <vt:lpstr>1_1</vt:lpstr>
      <vt:lpstr>1</vt:lpstr>
      <vt:lpstr>Image</vt:lpstr>
      <vt:lpstr>Clip</vt:lpstr>
      <vt:lpstr>CROSS-BORDER TRADE ENVIRONMENT</vt:lpstr>
      <vt:lpstr>PowerPoint 프레젠테이션</vt:lpstr>
      <vt:lpstr>COMPONENTS OF GLOBAL BUSINESS ENVIRONMENT</vt:lpstr>
      <vt:lpstr>PowerPoint 프레젠테이션</vt:lpstr>
      <vt:lpstr>INTERNATIONAL TRADE THEORY</vt:lpstr>
      <vt:lpstr>Mercantilism</vt:lpstr>
      <vt:lpstr>Theory of Absolute Advantage</vt:lpstr>
      <vt:lpstr>Theory of Absolute Advantage</vt:lpstr>
      <vt:lpstr>PowerPoint 프레젠테이션</vt:lpstr>
      <vt:lpstr>Theory of Comparative Advantage</vt:lpstr>
      <vt:lpstr>Theory of Comparative Advantage</vt:lpstr>
      <vt:lpstr>Comparative Advantage and Gains from Trade</vt:lpstr>
      <vt:lpstr>Heckscher-Olin Theory:  Comparative advantage based on factor endowments</vt:lpstr>
      <vt:lpstr>    </vt:lpstr>
      <vt:lpstr>Product Life Cycle Theory</vt:lpstr>
      <vt:lpstr>Product Life Cycle Theory</vt:lpstr>
      <vt:lpstr>Strategic Trade Theory</vt:lpstr>
      <vt:lpstr>Strategic Trade Theory</vt:lpstr>
      <vt:lpstr>Theory of Competitive Advantage (Porter’s Diamond)</vt:lpstr>
      <vt:lpstr>Theory of Competitive Advantage (Porter’s Diamond)</vt:lpstr>
      <vt:lpstr>PowerPoint 프레젠테이션</vt:lpstr>
      <vt:lpstr>INSTRUMENTS OF TRADE POLICY</vt:lpstr>
      <vt:lpstr>INSTRUMENTS OF TRADE POLICY</vt:lpstr>
      <vt:lpstr>INSTRUMENTS OF TRADE POLICY</vt:lpstr>
      <vt:lpstr>IMPACT OF TRADE POLICY</vt:lpstr>
      <vt:lpstr>IMPACT OF TRADE POLICY</vt:lpstr>
      <vt:lpstr>IMPACT OF TRADE POLICY</vt:lpstr>
      <vt:lpstr>IMPACT OF TRADE POLICY</vt:lpstr>
      <vt:lpstr>IMPACT OF TRADE POLICY</vt:lpstr>
      <vt:lpstr>IMPACT OF TRADE POLICY</vt:lpstr>
      <vt:lpstr>POLITICAL ARGUMENTS FOR PROTECTION</vt:lpstr>
      <vt:lpstr>ECONOMIC ARGUMENTS FOR PROTECTION</vt:lpstr>
      <vt:lpstr>PowerPoint 프레젠테이션</vt:lpstr>
      <vt:lpstr>WORLD TRADING SYSTEM</vt:lpstr>
      <vt:lpstr>General Agreement on Tariffs and Trade (GATT)</vt:lpstr>
      <vt:lpstr>GATT Negotiating Rounds</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IMPLICATIONS FOR BUSINESSES</vt:lpstr>
      <vt:lpstr>IMPLICATIONS FOR BUSINESSES</vt:lpstr>
    </vt:vector>
  </TitlesOfParts>
  <Company>City University of Hong Kong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CityU</dc:creator>
  <cp:lastModifiedBy>김광수</cp:lastModifiedBy>
  <cp:revision>1067</cp:revision>
  <dcterms:created xsi:type="dcterms:W3CDTF">2000-12-20T03:57:58Z</dcterms:created>
  <dcterms:modified xsi:type="dcterms:W3CDTF">2025-09-09T08:13:55Z</dcterms:modified>
</cp:coreProperties>
</file>