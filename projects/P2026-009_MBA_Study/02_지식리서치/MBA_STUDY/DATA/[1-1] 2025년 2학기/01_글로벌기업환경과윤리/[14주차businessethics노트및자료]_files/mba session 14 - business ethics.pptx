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277" r:id="rId2"/>
    <p:sldId id="312" r:id="rId3"/>
    <p:sldId id="344" r:id="rId4"/>
    <p:sldId id="346" r:id="rId5"/>
    <p:sldId id="347" r:id="rId6"/>
    <p:sldId id="348" r:id="rId7"/>
    <p:sldId id="349" r:id="rId8"/>
    <p:sldId id="313" r:id="rId9"/>
    <p:sldId id="314" r:id="rId10"/>
    <p:sldId id="316" r:id="rId11"/>
    <p:sldId id="351" r:id="rId12"/>
    <p:sldId id="318" r:id="rId13"/>
    <p:sldId id="319" r:id="rId14"/>
    <p:sldId id="321" r:id="rId15"/>
    <p:sldId id="324" r:id="rId16"/>
    <p:sldId id="325" r:id="rId17"/>
    <p:sldId id="326" r:id="rId18"/>
    <p:sldId id="327" r:id="rId19"/>
    <p:sldId id="328" r:id="rId20"/>
    <p:sldId id="329" r:id="rId21"/>
    <p:sldId id="331" r:id="rId22"/>
    <p:sldId id="332" r:id="rId23"/>
  </p:sldIdLst>
  <p:sldSz cx="9144000" cy="6858000" type="screen4x3"/>
  <p:notesSz cx="6669088" cy="9928225"/>
  <p:defaultTextStyle>
    <a:defPPr>
      <a:defRPr lang="en-US"/>
    </a:defPPr>
    <a:lvl1pPr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1pPr>
    <a:lvl2pPr marL="457200"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2pPr>
    <a:lvl3pPr marL="914400"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3pPr>
    <a:lvl4pPr marL="1371600"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4pPr>
    <a:lvl5pPr marL="1828800"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5pPr>
    <a:lvl6pPr marL="2286000" algn="l" defTabSz="914400" rtl="0" eaLnBrk="1" latinLnBrk="1" hangingPunct="1">
      <a:defRPr kumimoji="1" kern="1200">
        <a:solidFill>
          <a:schemeClr val="tx1"/>
        </a:solidFill>
        <a:latin typeface="Franklin Gothic Heavy" pitchFamily="34" charset="0"/>
        <a:ea typeface="굴림" pitchFamily="50" charset="-127"/>
        <a:cs typeface="+mn-cs"/>
      </a:defRPr>
    </a:lvl6pPr>
    <a:lvl7pPr marL="2743200" algn="l" defTabSz="914400" rtl="0" eaLnBrk="1" latinLnBrk="1" hangingPunct="1">
      <a:defRPr kumimoji="1" kern="1200">
        <a:solidFill>
          <a:schemeClr val="tx1"/>
        </a:solidFill>
        <a:latin typeface="Franklin Gothic Heavy" pitchFamily="34" charset="0"/>
        <a:ea typeface="굴림" pitchFamily="50" charset="-127"/>
        <a:cs typeface="+mn-cs"/>
      </a:defRPr>
    </a:lvl7pPr>
    <a:lvl8pPr marL="3200400" algn="l" defTabSz="914400" rtl="0" eaLnBrk="1" latinLnBrk="1" hangingPunct="1">
      <a:defRPr kumimoji="1" kern="1200">
        <a:solidFill>
          <a:schemeClr val="tx1"/>
        </a:solidFill>
        <a:latin typeface="Franklin Gothic Heavy" pitchFamily="34" charset="0"/>
        <a:ea typeface="굴림" pitchFamily="50" charset="-127"/>
        <a:cs typeface="+mn-cs"/>
      </a:defRPr>
    </a:lvl8pPr>
    <a:lvl9pPr marL="3657600" algn="l" defTabSz="914400" rtl="0" eaLnBrk="1" latinLnBrk="1" hangingPunct="1">
      <a:defRPr kumimoji="1" kern="1200">
        <a:solidFill>
          <a:schemeClr val="tx1"/>
        </a:solidFill>
        <a:latin typeface="Franklin Gothic Heavy" pitchFamily="34" charset="0"/>
        <a:ea typeface="굴림" pitchFamily="50" charset="-127"/>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DB8"/>
    <a:srgbClr val="69E30D"/>
    <a:srgbClr val="99FF33"/>
    <a:srgbClr val="52C828"/>
    <a:srgbClr val="CCFF33"/>
    <a:srgbClr val="0037A4"/>
    <a:srgbClr val="00329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34" autoAdjust="0"/>
    <p:restoredTop sz="84034" autoAdjust="0"/>
  </p:normalViewPr>
  <p:slideViewPr>
    <p:cSldViewPr>
      <p:cViewPr varScale="1">
        <p:scale>
          <a:sx n="83" d="100"/>
          <a:sy n="83" d="100"/>
        </p:scale>
        <p:origin x="1068"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1" y="1"/>
            <a:ext cx="2890336" cy="49606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latinLnBrk="0">
              <a:defRPr kumimoji="0" sz="1200">
                <a:latin typeface="Arial" charset="0"/>
                <a:ea typeface="굴림" charset="-127"/>
              </a:defRPr>
            </a:lvl1pPr>
          </a:lstStyle>
          <a:p>
            <a:pPr>
              <a:defRPr/>
            </a:pPr>
            <a:endParaRPr lang="en-US" altLang="ko-KR"/>
          </a:p>
        </p:txBody>
      </p:sp>
      <p:sp>
        <p:nvSpPr>
          <p:cNvPr id="88067" name="Rectangle 3"/>
          <p:cNvSpPr>
            <a:spLocks noGrp="1" noChangeArrowheads="1"/>
          </p:cNvSpPr>
          <p:nvPr>
            <p:ph type="dt" sz="quarter" idx="1"/>
          </p:nvPr>
        </p:nvSpPr>
        <p:spPr bwMode="auto">
          <a:xfrm>
            <a:off x="3777262" y="1"/>
            <a:ext cx="2890336" cy="49606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latinLnBrk="0">
              <a:defRPr kumimoji="0" sz="1200">
                <a:latin typeface="Arial" charset="0"/>
                <a:ea typeface="굴림" charset="-127"/>
              </a:defRPr>
            </a:lvl1pPr>
          </a:lstStyle>
          <a:p>
            <a:pPr>
              <a:defRPr/>
            </a:pPr>
            <a:endParaRPr lang="en-US" altLang="ko-KR"/>
          </a:p>
        </p:txBody>
      </p:sp>
      <p:sp>
        <p:nvSpPr>
          <p:cNvPr id="88068" name="Rectangle 4"/>
          <p:cNvSpPr>
            <a:spLocks noGrp="1" noChangeArrowheads="1"/>
          </p:cNvSpPr>
          <p:nvPr>
            <p:ph type="ftr" sz="quarter" idx="2"/>
          </p:nvPr>
        </p:nvSpPr>
        <p:spPr bwMode="auto">
          <a:xfrm>
            <a:off x="1" y="9430412"/>
            <a:ext cx="2890336" cy="49606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latinLnBrk="0">
              <a:defRPr kumimoji="0" sz="1200">
                <a:latin typeface="Arial" charset="0"/>
                <a:ea typeface="굴림" charset="-127"/>
              </a:defRPr>
            </a:lvl1pPr>
          </a:lstStyle>
          <a:p>
            <a:pPr>
              <a:defRPr/>
            </a:pPr>
            <a:endParaRPr lang="en-US" altLang="ko-KR"/>
          </a:p>
        </p:txBody>
      </p:sp>
      <p:sp>
        <p:nvSpPr>
          <p:cNvPr id="88069" name="Rectangle 5"/>
          <p:cNvSpPr>
            <a:spLocks noGrp="1" noChangeArrowheads="1"/>
          </p:cNvSpPr>
          <p:nvPr>
            <p:ph type="sldNum" sz="quarter" idx="3"/>
          </p:nvPr>
        </p:nvSpPr>
        <p:spPr bwMode="auto">
          <a:xfrm>
            <a:off x="3777262" y="9430412"/>
            <a:ext cx="2890336" cy="49606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latinLnBrk="0">
              <a:defRPr kumimoji="0" sz="1200">
                <a:latin typeface="Arial" charset="0"/>
                <a:ea typeface="굴림" charset="-127"/>
              </a:defRPr>
            </a:lvl1pPr>
          </a:lstStyle>
          <a:p>
            <a:pPr>
              <a:defRPr/>
            </a:pPr>
            <a:fld id="{DC955A5E-49A5-4E81-AE8D-D63B1CE3F4E0}" type="slidenum">
              <a:rPr lang="en-US" altLang="ko-KR"/>
              <a:pPr>
                <a:defRPr/>
              </a:pPr>
              <a:t>‹#›</a:t>
            </a:fld>
            <a:endParaRPr lang="en-US" altLang="ko-KR"/>
          </a:p>
        </p:txBody>
      </p:sp>
    </p:spTree>
    <p:extLst>
      <p:ext uri="{BB962C8B-B14F-4D97-AF65-F5344CB8AC3E}">
        <p14:creationId xmlns:p14="http://schemas.microsoft.com/office/powerpoint/2010/main" val="1083552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1"/>
            <a:ext cx="2890336" cy="496061"/>
          </a:xfrm>
          <a:prstGeom prst="rect">
            <a:avLst/>
          </a:prstGeom>
        </p:spPr>
        <p:txBody>
          <a:bodyPr vert="horz" lIns="91440" tIns="45720" rIns="91440" bIns="45720" rtlCol="0"/>
          <a:lstStyle>
            <a:lvl1pPr algn="l" latinLnBrk="0">
              <a:defRPr kumimoji="0" sz="1200">
                <a:latin typeface="Arial" charset="0"/>
                <a:ea typeface="+mn-ea"/>
              </a:defRPr>
            </a:lvl1pPr>
          </a:lstStyle>
          <a:p>
            <a:pPr>
              <a:defRPr/>
            </a:pPr>
            <a:endParaRPr lang="ko-KR" altLang="en-US"/>
          </a:p>
        </p:txBody>
      </p:sp>
      <p:sp>
        <p:nvSpPr>
          <p:cNvPr id="3" name="날짜 개체 틀 2"/>
          <p:cNvSpPr>
            <a:spLocks noGrp="1"/>
          </p:cNvSpPr>
          <p:nvPr>
            <p:ph type="dt" idx="1"/>
          </p:nvPr>
        </p:nvSpPr>
        <p:spPr>
          <a:xfrm>
            <a:off x="3777262" y="1"/>
            <a:ext cx="2890336" cy="496061"/>
          </a:xfrm>
          <a:prstGeom prst="rect">
            <a:avLst/>
          </a:prstGeom>
        </p:spPr>
        <p:txBody>
          <a:bodyPr vert="horz" lIns="91440" tIns="45720" rIns="91440" bIns="45720" rtlCol="0"/>
          <a:lstStyle>
            <a:lvl1pPr algn="r" latinLnBrk="0">
              <a:defRPr kumimoji="0" sz="1200">
                <a:latin typeface="Arial" charset="0"/>
                <a:ea typeface="+mn-ea"/>
              </a:defRPr>
            </a:lvl1pPr>
          </a:lstStyle>
          <a:p>
            <a:pPr>
              <a:defRPr/>
            </a:pPr>
            <a:fld id="{67C64689-8BED-4124-AA29-C3A74BD3216B}" type="datetimeFigureOut">
              <a:rPr lang="ko-KR" altLang="en-US"/>
              <a:pPr>
                <a:defRPr/>
              </a:pPr>
              <a:t>2025-09-04</a:t>
            </a:fld>
            <a:endParaRPr lang="ko-KR" altLang="en-US"/>
          </a:p>
        </p:txBody>
      </p:sp>
      <p:sp>
        <p:nvSpPr>
          <p:cNvPr id="4" name="슬라이드 이미지 개체 틀 3"/>
          <p:cNvSpPr>
            <a:spLocks noGrp="1" noRot="1" noChangeAspect="1"/>
          </p:cNvSpPr>
          <p:nvPr>
            <p:ph type="sldImg" idx="2"/>
          </p:nvPr>
        </p:nvSpPr>
        <p:spPr>
          <a:xfrm>
            <a:off x="852488" y="744538"/>
            <a:ext cx="4964112" cy="3724275"/>
          </a:xfrm>
          <a:prstGeom prst="rect">
            <a:avLst/>
          </a:prstGeom>
          <a:noFill/>
          <a:ln w="12700">
            <a:solidFill>
              <a:prstClr val="black"/>
            </a:solidFill>
          </a:ln>
        </p:spPr>
        <p:txBody>
          <a:bodyPr vert="horz" lIns="91440" tIns="45720" rIns="91440" bIns="45720" rtlCol="0" anchor="ctr"/>
          <a:lstStyle/>
          <a:p>
            <a:pPr lvl="0"/>
            <a:endParaRPr lang="ko-KR" altLang="en-US" noProof="0"/>
          </a:p>
        </p:txBody>
      </p:sp>
      <p:sp>
        <p:nvSpPr>
          <p:cNvPr id="5" name="슬라이드 노트 개체 틀 4"/>
          <p:cNvSpPr>
            <a:spLocks noGrp="1"/>
          </p:cNvSpPr>
          <p:nvPr>
            <p:ph type="body" sz="quarter" idx="3"/>
          </p:nvPr>
        </p:nvSpPr>
        <p:spPr>
          <a:xfrm>
            <a:off x="666313" y="4715206"/>
            <a:ext cx="5336463" cy="4468052"/>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1" y="9430412"/>
            <a:ext cx="2890336" cy="496061"/>
          </a:xfrm>
          <a:prstGeom prst="rect">
            <a:avLst/>
          </a:prstGeom>
        </p:spPr>
        <p:txBody>
          <a:bodyPr vert="horz" lIns="91440" tIns="45720" rIns="91440" bIns="45720" rtlCol="0" anchor="b"/>
          <a:lstStyle>
            <a:lvl1pPr algn="l" latinLnBrk="0">
              <a:defRPr kumimoji="0" sz="1200">
                <a:latin typeface="Arial" charset="0"/>
                <a:ea typeface="+mn-ea"/>
              </a:defRPr>
            </a:lvl1pPr>
          </a:lstStyle>
          <a:p>
            <a:pPr>
              <a:defRPr/>
            </a:pPr>
            <a:endParaRPr lang="ko-KR" altLang="en-US"/>
          </a:p>
        </p:txBody>
      </p:sp>
      <p:sp>
        <p:nvSpPr>
          <p:cNvPr id="7" name="슬라이드 번호 개체 틀 6"/>
          <p:cNvSpPr>
            <a:spLocks noGrp="1"/>
          </p:cNvSpPr>
          <p:nvPr>
            <p:ph type="sldNum" sz="quarter" idx="5"/>
          </p:nvPr>
        </p:nvSpPr>
        <p:spPr>
          <a:xfrm>
            <a:off x="3777262" y="9430412"/>
            <a:ext cx="2890336" cy="496061"/>
          </a:xfrm>
          <a:prstGeom prst="rect">
            <a:avLst/>
          </a:prstGeom>
        </p:spPr>
        <p:txBody>
          <a:bodyPr vert="horz" lIns="91440" tIns="45720" rIns="91440" bIns="45720" rtlCol="0" anchor="b"/>
          <a:lstStyle>
            <a:lvl1pPr algn="r" latinLnBrk="0">
              <a:defRPr kumimoji="0" sz="1200">
                <a:latin typeface="Arial" charset="0"/>
                <a:ea typeface="+mn-ea"/>
              </a:defRPr>
            </a:lvl1pPr>
          </a:lstStyle>
          <a:p>
            <a:pPr>
              <a:defRPr/>
            </a:pPr>
            <a:fld id="{3E122B4D-8E94-4223-95EB-97BD74721ECD}" type="slidenum">
              <a:rPr lang="ko-KR" altLang="en-US"/>
              <a:pPr>
                <a:defRPr/>
              </a:pPr>
              <a:t>‹#›</a:t>
            </a:fld>
            <a:endParaRPr lang="ko-KR" altLang="en-US"/>
          </a:p>
        </p:txBody>
      </p:sp>
    </p:spTree>
    <p:extLst>
      <p:ext uri="{BB962C8B-B14F-4D97-AF65-F5344CB8AC3E}">
        <p14:creationId xmlns:p14="http://schemas.microsoft.com/office/powerpoint/2010/main" val="742739302"/>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D93F011E-3558-40BA-AAE5-7CC4E596AC09}" type="slidenum">
              <a:rPr lang="en-US" altLang="ko-KR"/>
              <a:pPr/>
              <a:t>2</a:t>
            </a:fld>
            <a:endParaRPr lang="en-US" altLang="ko-K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r>
              <a:rPr lang="en-US" altLang="ko-KR" dirty="0">
                <a:solidFill>
                  <a:srgbClr val="336699"/>
                </a:solidFill>
                <a:ea typeface="굴림" pitchFamily="50" charset="-127"/>
              </a:rPr>
              <a:t>Internet Extra:</a:t>
            </a:r>
            <a:r>
              <a:rPr lang="en-US" altLang="ko-KR" dirty="0">
                <a:ea typeface="굴림" pitchFamily="50" charset="-127"/>
              </a:rPr>
              <a:t> Consumers International {http://www.consumersinternational.org/}is an organization dedicated to protecting the rights of consumers worldwide.  In doing so, it promotes ethical behavior on the part of companies.  </a:t>
            </a:r>
          </a:p>
          <a:p>
            <a:r>
              <a:rPr lang="en-US" altLang="ko-KR" dirty="0">
                <a:ea typeface="굴림" pitchFamily="50" charset="-127"/>
              </a:rPr>
              <a:t>Go to the site and click on one of the organization’s current efforts.  What are the issues that are being raised?  </a:t>
            </a:r>
          </a:p>
          <a:p>
            <a:r>
              <a:rPr lang="en-US" altLang="ko-KR" dirty="0">
                <a:ea typeface="굴림" pitchFamily="50" charset="-127"/>
              </a:rPr>
              <a:t>How do they affect companies?  Do you agree with the organization’s position?  Why or why not?</a:t>
            </a:r>
          </a:p>
          <a:p>
            <a:endParaRPr lang="en-US" altLang="ko-KR" dirty="0">
              <a:ea typeface="굴림" pitchFamily="50" charset="-127"/>
            </a:endParaRPr>
          </a:p>
        </p:txBody>
      </p:sp>
    </p:spTree>
    <p:extLst>
      <p:ext uri="{BB962C8B-B14F-4D97-AF65-F5344CB8AC3E}">
        <p14:creationId xmlns:p14="http://schemas.microsoft.com/office/powerpoint/2010/main" val="2757193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D93F011E-3558-40BA-AAE5-7CC4E596AC09}" type="slidenum">
              <a:rPr lang="en-US" altLang="ko-KR"/>
              <a:pPr/>
              <a:t>3</a:t>
            </a:fld>
            <a:endParaRPr lang="en-US" altLang="ko-K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r>
              <a:rPr lang="en-US" altLang="ko-KR">
                <a:solidFill>
                  <a:srgbClr val="336699"/>
                </a:solidFill>
                <a:ea typeface="굴림" pitchFamily="50" charset="-127"/>
              </a:rPr>
              <a:t>Internet Extra:</a:t>
            </a:r>
            <a:r>
              <a:rPr lang="en-US" altLang="ko-KR">
                <a:ea typeface="굴림" pitchFamily="50" charset="-127"/>
              </a:rPr>
              <a:t> Consumers International {http://www.consumersinternational.org/}is an organization dedicated to protecting the rights of consumers worldwide.  In doing so, it promotes ethical behavior on the part of companies.  </a:t>
            </a:r>
          </a:p>
          <a:p>
            <a:r>
              <a:rPr lang="en-US" altLang="ko-KR">
                <a:ea typeface="굴림" pitchFamily="50" charset="-127"/>
              </a:rPr>
              <a:t>Go to the site and click on one of the organization’s current efforts.  What are the issues that are being raised?  </a:t>
            </a:r>
          </a:p>
          <a:p>
            <a:r>
              <a:rPr lang="en-US" altLang="ko-KR">
                <a:ea typeface="굴림" pitchFamily="50" charset="-127"/>
              </a:rPr>
              <a:t>How do they affect companies?  Do you agree with the organization’s position?  Why or why not?</a:t>
            </a:r>
          </a:p>
          <a:p>
            <a:endParaRPr lang="en-US" altLang="ko-KR">
              <a:ea typeface="굴림" pitchFamily="50" charset="-127"/>
            </a:endParaRPr>
          </a:p>
        </p:txBody>
      </p:sp>
    </p:spTree>
    <p:extLst>
      <p:ext uri="{BB962C8B-B14F-4D97-AF65-F5344CB8AC3E}">
        <p14:creationId xmlns:p14="http://schemas.microsoft.com/office/powerpoint/2010/main" val="4106679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D93F011E-3558-40BA-AAE5-7CC4E596AC09}" type="slidenum">
              <a:rPr lang="en-US" altLang="ko-KR"/>
              <a:pPr/>
              <a:t>4</a:t>
            </a:fld>
            <a:endParaRPr lang="en-US" altLang="ko-K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r>
              <a:rPr lang="en-US" altLang="ko-KR">
                <a:solidFill>
                  <a:srgbClr val="336699"/>
                </a:solidFill>
                <a:ea typeface="굴림" pitchFamily="50" charset="-127"/>
              </a:rPr>
              <a:t>Internet Extra:</a:t>
            </a:r>
            <a:r>
              <a:rPr lang="en-US" altLang="ko-KR">
                <a:ea typeface="굴림" pitchFamily="50" charset="-127"/>
              </a:rPr>
              <a:t> Consumers International {http://www.consumersinternational.org/}is an organization dedicated to protecting the rights of consumers worldwide.  In doing so, it promotes ethical behavior on the part of companies.  </a:t>
            </a:r>
          </a:p>
          <a:p>
            <a:r>
              <a:rPr lang="en-US" altLang="ko-KR">
                <a:ea typeface="굴림" pitchFamily="50" charset="-127"/>
              </a:rPr>
              <a:t>Go to the site and click on one of the organization’s current efforts.  What are the issues that are being raised?  </a:t>
            </a:r>
          </a:p>
          <a:p>
            <a:r>
              <a:rPr lang="en-US" altLang="ko-KR">
                <a:ea typeface="굴림" pitchFamily="50" charset="-127"/>
              </a:rPr>
              <a:t>How do they affect companies?  Do you agree with the organization’s position?  Why or why not?</a:t>
            </a:r>
          </a:p>
          <a:p>
            <a:endParaRPr lang="en-US" altLang="ko-KR">
              <a:ea typeface="굴림" pitchFamily="50" charset="-127"/>
            </a:endParaRPr>
          </a:p>
        </p:txBody>
      </p:sp>
    </p:spTree>
    <p:extLst>
      <p:ext uri="{BB962C8B-B14F-4D97-AF65-F5344CB8AC3E}">
        <p14:creationId xmlns:p14="http://schemas.microsoft.com/office/powerpoint/2010/main" val="1265288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D93F011E-3558-40BA-AAE5-7CC4E596AC09}" type="slidenum">
              <a:rPr lang="en-US" altLang="ko-KR"/>
              <a:pPr/>
              <a:t>5</a:t>
            </a:fld>
            <a:endParaRPr lang="en-US" altLang="ko-K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r>
              <a:rPr lang="en-US" altLang="ko-KR">
                <a:solidFill>
                  <a:srgbClr val="336699"/>
                </a:solidFill>
                <a:ea typeface="굴림" pitchFamily="50" charset="-127"/>
              </a:rPr>
              <a:t>Internet Extra:</a:t>
            </a:r>
            <a:r>
              <a:rPr lang="en-US" altLang="ko-KR">
                <a:ea typeface="굴림" pitchFamily="50" charset="-127"/>
              </a:rPr>
              <a:t> Consumers International {http://www.consumersinternational.org/}is an organization dedicated to protecting the rights of consumers worldwide.  In doing so, it promotes ethical behavior on the part of companies.  </a:t>
            </a:r>
          </a:p>
          <a:p>
            <a:r>
              <a:rPr lang="en-US" altLang="ko-KR">
                <a:ea typeface="굴림" pitchFamily="50" charset="-127"/>
              </a:rPr>
              <a:t>Go to the site and click on one of the organization’s current efforts.  What are the issues that are being raised?  </a:t>
            </a:r>
          </a:p>
          <a:p>
            <a:r>
              <a:rPr lang="en-US" altLang="ko-KR">
                <a:ea typeface="굴림" pitchFamily="50" charset="-127"/>
              </a:rPr>
              <a:t>How do they affect companies?  Do you agree with the organization’s position?  Why or why not?</a:t>
            </a:r>
          </a:p>
          <a:p>
            <a:endParaRPr lang="en-US" altLang="ko-KR">
              <a:ea typeface="굴림" pitchFamily="50" charset="-127"/>
            </a:endParaRPr>
          </a:p>
        </p:txBody>
      </p:sp>
    </p:spTree>
    <p:extLst>
      <p:ext uri="{BB962C8B-B14F-4D97-AF65-F5344CB8AC3E}">
        <p14:creationId xmlns:p14="http://schemas.microsoft.com/office/powerpoint/2010/main" val="60535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D93F011E-3558-40BA-AAE5-7CC4E596AC09}" type="slidenum">
              <a:rPr lang="en-US" altLang="ko-KR"/>
              <a:pPr/>
              <a:t>6</a:t>
            </a:fld>
            <a:endParaRPr lang="en-US" altLang="ko-K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r>
              <a:rPr lang="en-US" altLang="ko-KR">
                <a:solidFill>
                  <a:srgbClr val="336699"/>
                </a:solidFill>
                <a:ea typeface="굴림" pitchFamily="50" charset="-127"/>
              </a:rPr>
              <a:t>Internet Extra:</a:t>
            </a:r>
            <a:r>
              <a:rPr lang="en-US" altLang="ko-KR">
                <a:ea typeface="굴림" pitchFamily="50" charset="-127"/>
              </a:rPr>
              <a:t> Consumers International {http://www.consumersinternational.org/}is an organization dedicated to protecting the rights of consumers worldwide.  In doing so, it promotes ethical behavior on the part of companies.  </a:t>
            </a:r>
          </a:p>
          <a:p>
            <a:r>
              <a:rPr lang="en-US" altLang="ko-KR">
                <a:ea typeface="굴림" pitchFamily="50" charset="-127"/>
              </a:rPr>
              <a:t>Go to the site and click on one of the organization’s current efforts.  What are the issues that are being raised?  </a:t>
            </a:r>
          </a:p>
          <a:p>
            <a:r>
              <a:rPr lang="en-US" altLang="ko-KR">
                <a:ea typeface="굴림" pitchFamily="50" charset="-127"/>
              </a:rPr>
              <a:t>How do they affect companies?  Do you agree with the organization’s position?  Why or why not?</a:t>
            </a:r>
          </a:p>
          <a:p>
            <a:endParaRPr lang="en-US" altLang="ko-KR">
              <a:ea typeface="굴림" pitchFamily="50" charset="-127"/>
            </a:endParaRPr>
          </a:p>
        </p:txBody>
      </p:sp>
    </p:spTree>
    <p:extLst>
      <p:ext uri="{BB962C8B-B14F-4D97-AF65-F5344CB8AC3E}">
        <p14:creationId xmlns:p14="http://schemas.microsoft.com/office/powerpoint/2010/main" val="2219324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D93F011E-3558-40BA-AAE5-7CC4E596AC09}" type="slidenum">
              <a:rPr lang="en-US" altLang="ko-KR"/>
              <a:pPr/>
              <a:t>7</a:t>
            </a:fld>
            <a:endParaRPr lang="en-US" altLang="ko-K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r>
              <a:rPr lang="en-US" altLang="ko-KR">
                <a:solidFill>
                  <a:srgbClr val="336699"/>
                </a:solidFill>
                <a:ea typeface="굴림" pitchFamily="50" charset="-127"/>
              </a:rPr>
              <a:t>Internet Extra:</a:t>
            </a:r>
            <a:r>
              <a:rPr lang="en-US" altLang="ko-KR">
                <a:ea typeface="굴림" pitchFamily="50" charset="-127"/>
              </a:rPr>
              <a:t> Consumers International {http://www.consumersinternational.org/}is an organization dedicated to protecting the rights of consumers worldwide.  In doing so, it promotes ethical behavior on the part of companies.  </a:t>
            </a:r>
          </a:p>
          <a:p>
            <a:r>
              <a:rPr lang="en-US" altLang="ko-KR">
                <a:ea typeface="굴림" pitchFamily="50" charset="-127"/>
              </a:rPr>
              <a:t>Go to the site and click on one of the organization’s current efforts.  What are the issues that are being raised?  </a:t>
            </a:r>
          </a:p>
          <a:p>
            <a:r>
              <a:rPr lang="en-US" altLang="ko-KR">
                <a:ea typeface="굴림" pitchFamily="50" charset="-127"/>
              </a:rPr>
              <a:t>How do they affect companies?  Do you agree with the organization’s position?  Why or why not?</a:t>
            </a:r>
          </a:p>
          <a:p>
            <a:endParaRPr lang="en-US" altLang="ko-KR">
              <a:ea typeface="굴림" pitchFamily="50" charset="-127"/>
            </a:endParaRPr>
          </a:p>
        </p:txBody>
      </p:sp>
    </p:spTree>
    <p:extLst>
      <p:ext uri="{BB962C8B-B14F-4D97-AF65-F5344CB8AC3E}">
        <p14:creationId xmlns:p14="http://schemas.microsoft.com/office/powerpoint/2010/main" val="2739463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9C81116C-77F3-4BFB-ADA5-B8FF384CF2A2}" type="slidenum">
              <a:rPr lang="en-US" altLang="ko-KR"/>
              <a:pPr/>
              <a:t>9</a:t>
            </a:fld>
            <a:endParaRPr lang="en-US" altLang="ko-K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a:lnSpc>
                <a:spcPct val="80000"/>
              </a:lnSpc>
            </a:pPr>
            <a:r>
              <a:rPr lang="en-US" altLang="ko-KR" sz="800" b="1">
                <a:solidFill>
                  <a:srgbClr val="336699"/>
                </a:solidFill>
                <a:ea typeface="굴림" pitchFamily="50" charset="-127"/>
              </a:rPr>
              <a:t>Management Focus: Making Apple’s iPOD</a:t>
            </a:r>
          </a:p>
          <a:p>
            <a:pPr>
              <a:lnSpc>
                <a:spcPct val="80000"/>
              </a:lnSpc>
            </a:pPr>
            <a:r>
              <a:rPr lang="en-US" altLang="ko-KR" sz="800" u="sng">
                <a:ea typeface="굴림" pitchFamily="50" charset="-127"/>
              </a:rPr>
              <a:t>Summary</a:t>
            </a:r>
            <a:endParaRPr lang="en-US" altLang="ko-KR" sz="800">
              <a:ea typeface="굴림" pitchFamily="50" charset="-127"/>
            </a:endParaRPr>
          </a:p>
          <a:p>
            <a:pPr>
              <a:lnSpc>
                <a:spcPct val="80000"/>
              </a:lnSpc>
            </a:pPr>
            <a:r>
              <a:rPr lang="en-US" altLang="ko-KR" sz="800">
                <a:ea typeface="굴림" pitchFamily="50" charset="-127"/>
              </a:rPr>
              <a:t>This feature explores Apple’s experiences with employment practices at the Chinese factory that produces its iPOD.  In 2006, two Chinese journalists reported that the working conditions at Hongfujin Precision Industries where Apple’s iPODs are produced, were substandard.  According to the report, not only were workers at the plant poorly paid, but they were also forced to work overtime.  Apple immediately responded to the allegations and audited the factory in question.  However, managers at the factory filed a defamation lawsuit against the two journalists.  Despite the fact that Apple’s audit did indeed show substandard working conditions at the factory, Hongfujin did not withdraw the lawsuit.  Eventually the Reporters Without Borders group took up the case for the two reporters and the lawsuit was dropped.</a:t>
            </a:r>
            <a:endParaRPr lang="en-US" altLang="ko-KR" sz="800" u="sng">
              <a:ea typeface="굴림" pitchFamily="50" charset="-127"/>
            </a:endParaRPr>
          </a:p>
          <a:p>
            <a:pPr>
              <a:lnSpc>
                <a:spcPct val="80000"/>
              </a:lnSpc>
            </a:pPr>
            <a:r>
              <a:rPr lang="en-US" altLang="ko-KR" sz="800" u="sng">
                <a:ea typeface="굴림" pitchFamily="50" charset="-127"/>
              </a:rPr>
              <a:t>Suggested Discussion Questions</a:t>
            </a:r>
            <a:endParaRPr lang="en-US" altLang="ko-KR" sz="800">
              <a:ea typeface="굴림" pitchFamily="50" charset="-127"/>
            </a:endParaRPr>
          </a:p>
          <a:p>
            <a:pPr>
              <a:lnSpc>
                <a:spcPct val="80000"/>
              </a:lnSpc>
            </a:pPr>
            <a:r>
              <a:rPr lang="en-US" altLang="ko-KR" sz="800">
                <a:ea typeface="굴림" pitchFamily="50" charset="-127"/>
              </a:rPr>
              <a:t>1. Should Apple be responsible for ensuring that its suppliers are safeguarding the basic rights and dignity of their employees?  How can Apple be sure that its suppliers do not employ sweatshop labor?</a:t>
            </a:r>
          </a:p>
          <a:p>
            <a:pPr>
              <a:lnSpc>
                <a:spcPct val="80000"/>
              </a:lnSpc>
            </a:pPr>
            <a:r>
              <a:rPr lang="en-US" altLang="ko-KR" sz="800">
                <a:ea typeface="굴림" pitchFamily="50" charset="-127"/>
              </a:rPr>
              <a:t>Discussion Points: Many students will probably agree that Apple should be responsible at least to some degree for ensuring that the factories where it sources its products are safe.  Some students may suggest that to knowingly buy products from a company with substandard working conditions is a violation of basic human ethics.  Other students however, may argue that Nike cannot force suppliers to adopt specific practices and policies toward labor.  Students taking this perspective might further suggest that pushing American practices on Chinese companies is ethnocentric, and that for many Chinese the prospect of having a job, even in poor working conditions, is better than having no job at all.  Many students may be surprised that Apple did not already have an audit policy in place prior to the accusations by the Chinese reporters, but will probably agree that the company handled the situation appropriately. </a:t>
            </a:r>
          </a:p>
          <a:p>
            <a:pPr>
              <a:lnSpc>
                <a:spcPct val="80000"/>
              </a:lnSpc>
            </a:pPr>
            <a:r>
              <a:rPr lang="en-US" altLang="ko-KR" sz="800">
                <a:ea typeface="굴림" pitchFamily="50" charset="-127"/>
              </a:rPr>
              <a:t>2. The allegations against Hongfujin Precision Industries were made by two Chinese reporters.  Discuss the implications of this for other Chinese companies.  </a:t>
            </a:r>
          </a:p>
          <a:p>
            <a:pPr>
              <a:lnSpc>
                <a:spcPct val="80000"/>
              </a:lnSpc>
            </a:pPr>
            <a:r>
              <a:rPr lang="en-US" altLang="ko-KR" sz="800">
                <a:ea typeface="굴림" pitchFamily="50" charset="-127"/>
              </a:rPr>
              <a:t>Discussion Points: Most students will probably agree that the fact that the allegations against Hongfujin Precision Industries were made by Chinese reporters who work for China Business News, a state run newspaper, could have interesting implications for other companies.  Some students will probably suggest that it should serve as a signal to other companies that poor working conditions are unacceptable, and that while in the past, it may have been possible to hide them, it is no longer the case.  Other students may suggest that the allegations may force companies to rethink their production and look for new ways to increase productivity.  Some students may note that the very fact that the report was published is startling in some regards, and that companies should anticipate further scrutiny. </a:t>
            </a:r>
          </a:p>
          <a:p>
            <a:pPr>
              <a:lnSpc>
                <a:spcPct val="80000"/>
              </a:lnSpc>
            </a:pPr>
            <a:r>
              <a:rPr lang="en-US" altLang="ko-KR" sz="800">
                <a:ea typeface="굴림" pitchFamily="50" charset="-127"/>
              </a:rPr>
              <a:t>Lecture Note: Apple maintains that it requires its suppliers to practice responsible manufacturing. To learn more about Apple’s policies go to {http://www.apple.com/environment/}.</a:t>
            </a:r>
          </a:p>
        </p:txBody>
      </p:sp>
    </p:spTree>
    <p:extLst>
      <p:ext uri="{BB962C8B-B14F-4D97-AF65-F5344CB8AC3E}">
        <p14:creationId xmlns:p14="http://schemas.microsoft.com/office/powerpoint/2010/main" val="1328442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EFEFBEEE-6BBC-4AB3-BA9E-E93B414DE90F}" type="slidenum">
              <a:rPr lang="en-US" altLang="ko-KR"/>
              <a:pPr/>
              <a:t>10</a:t>
            </a:fld>
            <a:endParaRPr lang="en-US" altLang="ko-K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a:lnSpc>
                <a:spcPct val="80000"/>
              </a:lnSpc>
            </a:pPr>
            <a:r>
              <a:rPr lang="en-US" altLang="ko-KR" sz="900" b="1">
                <a:solidFill>
                  <a:srgbClr val="336699"/>
                </a:solidFill>
                <a:ea typeface="굴림" pitchFamily="50" charset="-127"/>
              </a:rPr>
              <a:t>Management Focus: Unocal in Myanmar</a:t>
            </a:r>
            <a:endParaRPr lang="en-US" altLang="ko-KR" sz="900" u="sng">
              <a:solidFill>
                <a:srgbClr val="336699"/>
              </a:solidFill>
              <a:ea typeface="굴림" pitchFamily="50" charset="-127"/>
            </a:endParaRPr>
          </a:p>
          <a:p>
            <a:pPr>
              <a:lnSpc>
                <a:spcPct val="80000"/>
              </a:lnSpc>
            </a:pPr>
            <a:r>
              <a:rPr lang="en-US" altLang="ko-KR" sz="900" u="sng">
                <a:ea typeface="굴림" pitchFamily="50" charset="-127"/>
              </a:rPr>
              <a:t>Summary</a:t>
            </a:r>
            <a:endParaRPr lang="en-US" altLang="ko-KR" sz="900">
              <a:ea typeface="굴림" pitchFamily="50" charset="-127"/>
            </a:endParaRPr>
          </a:p>
          <a:p>
            <a:pPr>
              <a:lnSpc>
                <a:spcPct val="80000"/>
              </a:lnSpc>
            </a:pPr>
            <a:r>
              <a:rPr lang="en-US" altLang="ko-KR" sz="900">
                <a:ea typeface="굴림" pitchFamily="50" charset="-127"/>
              </a:rPr>
              <a:t>This feature explores Unocal’s actions in Myanmar.  Unocal, an American, oil and gas enterprise, formed a joint venture with a French company to build a pipeline from Myanmar to Thailand.  Unocal made that investment at a time when many other American companies were exiting the country in protest of the local government’s policy of brutally suppressing internal dissent.  </a:t>
            </a:r>
            <a:endParaRPr lang="en-US" altLang="ko-KR" sz="900" u="sng">
              <a:ea typeface="굴림" pitchFamily="50" charset="-127"/>
            </a:endParaRPr>
          </a:p>
          <a:p>
            <a:pPr>
              <a:lnSpc>
                <a:spcPct val="80000"/>
              </a:lnSpc>
            </a:pPr>
            <a:r>
              <a:rPr lang="en-US" altLang="ko-KR" sz="900" u="sng">
                <a:ea typeface="굴림" pitchFamily="50" charset="-127"/>
              </a:rPr>
              <a:t>Suggested Discussion Questions</a:t>
            </a:r>
            <a:endParaRPr lang="en-US" altLang="ko-KR" sz="900">
              <a:ea typeface="굴림" pitchFamily="50" charset="-127"/>
            </a:endParaRPr>
          </a:p>
          <a:p>
            <a:pPr>
              <a:lnSpc>
                <a:spcPct val="80000"/>
              </a:lnSpc>
            </a:pPr>
            <a:r>
              <a:rPr lang="en-US" altLang="ko-KR" sz="900">
                <a:ea typeface="굴림" pitchFamily="50" charset="-127"/>
              </a:rPr>
              <a:t>1. Why did Unocal’s investment become so controversial?  Did Unocal behave in an ethical manner?  </a:t>
            </a:r>
          </a:p>
          <a:p>
            <a:pPr>
              <a:lnSpc>
                <a:spcPct val="80000"/>
              </a:lnSpc>
            </a:pPr>
            <a:r>
              <a:rPr lang="en-US" altLang="ko-KR" sz="900">
                <a:ea typeface="굴림" pitchFamily="50" charset="-127"/>
              </a:rPr>
              <a:t>Discussion Points: Unocal made its investment in Myanmar just as many other companies were leaving the country in protest of the nation’s brutal military dictatorship.  The company had formed an agreement with the government that involved clearing a path for a new pipeline.  The investment became controversial when, in order to fulfill the agreement, Myanmar’s army forcibly moved villagers and then forced them to work under slave-like conditions.  Unocal claims it had no knowledge of what was occurring, but this claim was rejected by a judge who heard the case that was filed against Unocal on behalf of Myanmar villagers.  Students will probably agree that the company failed to act in an ethical manner, and that while it may not have directly participated in the brutality, Unocal did have a responsibility to oversee what was going on and ensure that people were treated fairly.</a:t>
            </a:r>
          </a:p>
          <a:p>
            <a:pPr>
              <a:lnSpc>
                <a:spcPct val="80000"/>
              </a:lnSpc>
            </a:pPr>
            <a:r>
              <a:rPr lang="en-US" altLang="ko-KR" sz="900">
                <a:ea typeface="굴림" pitchFamily="50" charset="-127"/>
              </a:rPr>
              <a:t>2. A 1996 law suit against Unocal was dismissed on the grounds that the Unocal could not be held liable for the actions of a foreign government against its own people, although the judge noted that the company was aware of what was going on in the country.  Discuss the difference between acting in an ethical manner and acting according to the law.</a:t>
            </a:r>
          </a:p>
          <a:p>
            <a:pPr>
              <a:lnSpc>
                <a:spcPct val="80000"/>
              </a:lnSpc>
            </a:pPr>
            <a:r>
              <a:rPr lang="en-US" altLang="ko-KR" sz="900">
                <a:ea typeface="굴림" pitchFamily="50" charset="-127"/>
              </a:rPr>
              <a:t>Discussion Points: Students will probably be familiar with the notion that even if something is not explicitly forbidden, it does not mean it is right.  This concept would certainly seem to apply in this case.  Ethical responsibility goes beyond the letter of the law to encompass the idea of behaving in a certain way simply because it is the right thing to do.  It is worth noting that an appeal by the plaintiffs resulted in an out-of-court settlement in 2005, which would imply that Unocal was guilty at least to some extent.</a:t>
            </a:r>
          </a:p>
          <a:p>
            <a:pPr>
              <a:lnSpc>
                <a:spcPct val="80000"/>
              </a:lnSpc>
            </a:pPr>
            <a:r>
              <a:rPr lang="en-US" altLang="ko-KR" sz="900">
                <a:ea typeface="굴림" pitchFamily="50" charset="-127"/>
              </a:rPr>
              <a:t>Teaching Tip:</a:t>
            </a:r>
            <a:r>
              <a:rPr lang="en-US" altLang="ko-KR" sz="900" b="1" i="1">
                <a:ea typeface="굴림" pitchFamily="50" charset="-127"/>
              </a:rPr>
              <a:t> </a:t>
            </a:r>
            <a:r>
              <a:rPr lang="en-US" altLang="ko-KR" sz="900">
                <a:ea typeface="굴림" pitchFamily="50" charset="-127"/>
              </a:rPr>
              <a:t> Unocal is now part of Chevron.  The company’s web page is {http://www.chevron.com/}.</a:t>
            </a:r>
          </a:p>
        </p:txBody>
      </p:sp>
    </p:spTree>
    <p:extLst>
      <p:ext uri="{BB962C8B-B14F-4D97-AF65-F5344CB8AC3E}">
        <p14:creationId xmlns:p14="http://schemas.microsoft.com/office/powerpoint/2010/main" val="716785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9C81116C-77F3-4BFB-ADA5-B8FF384CF2A2}" type="slidenum">
              <a:rPr lang="en-US" altLang="ko-KR"/>
              <a:pPr/>
              <a:t>11</a:t>
            </a:fld>
            <a:endParaRPr lang="en-US" altLang="ko-K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a:lnSpc>
                <a:spcPct val="80000"/>
              </a:lnSpc>
            </a:pPr>
            <a:r>
              <a:rPr lang="en-US" altLang="ko-KR" sz="800" b="1">
                <a:solidFill>
                  <a:srgbClr val="336699"/>
                </a:solidFill>
                <a:ea typeface="굴림" pitchFamily="50" charset="-127"/>
              </a:rPr>
              <a:t>Management Focus: Making Apple’s iPOD</a:t>
            </a:r>
          </a:p>
          <a:p>
            <a:pPr>
              <a:lnSpc>
                <a:spcPct val="80000"/>
              </a:lnSpc>
            </a:pPr>
            <a:r>
              <a:rPr lang="en-US" altLang="ko-KR" sz="800" u="sng">
                <a:ea typeface="굴림" pitchFamily="50" charset="-127"/>
              </a:rPr>
              <a:t>Summary</a:t>
            </a:r>
            <a:endParaRPr lang="en-US" altLang="ko-KR" sz="800">
              <a:ea typeface="굴림" pitchFamily="50" charset="-127"/>
            </a:endParaRPr>
          </a:p>
          <a:p>
            <a:pPr>
              <a:lnSpc>
                <a:spcPct val="80000"/>
              </a:lnSpc>
            </a:pPr>
            <a:r>
              <a:rPr lang="en-US" altLang="ko-KR" sz="800">
                <a:ea typeface="굴림" pitchFamily="50" charset="-127"/>
              </a:rPr>
              <a:t>This feature explores Apple’s experiences with employment practices at the Chinese factory that produces its iPOD.  In 2006, two Chinese journalists reported that the working conditions at Hongfujin Precision Industries where Apple’s iPODs are produced, were substandard.  According to the report, not only were workers at the plant poorly paid, but they were also forced to work overtime.  Apple immediately responded to the allegations and audited the factory in question.  However, managers at the factory filed a defamation lawsuit against the two journalists.  Despite the fact that Apple’s audit did indeed show substandard working conditions at the factory, Hongfujin did not withdraw the lawsuit.  Eventually the Reporters Without Borders group took up the case for the two reporters and the lawsuit was dropped.</a:t>
            </a:r>
            <a:endParaRPr lang="en-US" altLang="ko-KR" sz="800" u="sng">
              <a:ea typeface="굴림" pitchFamily="50" charset="-127"/>
            </a:endParaRPr>
          </a:p>
          <a:p>
            <a:pPr>
              <a:lnSpc>
                <a:spcPct val="80000"/>
              </a:lnSpc>
            </a:pPr>
            <a:r>
              <a:rPr lang="en-US" altLang="ko-KR" sz="800" u="sng">
                <a:ea typeface="굴림" pitchFamily="50" charset="-127"/>
              </a:rPr>
              <a:t>Suggested Discussion Questions</a:t>
            </a:r>
            <a:endParaRPr lang="en-US" altLang="ko-KR" sz="800">
              <a:ea typeface="굴림" pitchFamily="50" charset="-127"/>
            </a:endParaRPr>
          </a:p>
          <a:p>
            <a:pPr>
              <a:lnSpc>
                <a:spcPct val="80000"/>
              </a:lnSpc>
            </a:pPr>
            <a:r>
              <a:rPr lang="en-US" altLang="ko-KR" sz="800">
                <a:ea typeface="굴림" pitchFamily="50" charset="-127"/>
              </a:rPr>
              <a:t>1. Should Apple be responsible for ensuring that its suppliers are safeguarding the basic rights and dignity of their employees?  How can Apple be sure that its suppliers do not employ sweatshop labor?</a:t>
            </a:r>
          </a:p>
          <a:p>
            <a:pPr>
              <a:lnSpc>
                <a:spcPct val="80000"/>
              </a:lnSpc>
            </a:pPr>
            <a:r>
              <a:rPr lang="en-US" altLang="ko-KR" sz="800">
                <a:ea typeface="굴림" pitchFamily="50" charset="-127"/>
              </a:rPr>
              <a:t>Discussion Points: Many students will probably agree that Apple should be responsible at least to some degree for ensuring that the factories where it sources its products are safe.  Some students may suggest that to knowingly buy products from a company with substandard working conditions is a violation of basic human ethics.  Other students however, may argue that Nike cannot force suppliers to adopt specific practices and policies toward labor.  Students taking this perspective might further suggest that pushing American practices on Chinese companies is ethnocentric, and that for many Chinese the prospect of having a job, even in poor working conditions, is better than having no job at all.  Many students may be surprised that Apple did not already have an audit policy in place prior to the accusations by the Chinese reporters, but will probably agree that the company handled the situation appropriately. </a:t>
            </a:r>
          </a:p>
          <a:p>
            <a:pPr>
              <a:lnSpc>
                <a:spcPct val="80000"/>
              </a:lnSpc>
            </a:pPr>
            <a:r>
              <a:rPr lang="en-US" altLang="ko-KR" sz="800">
                <a:ea typeface="굴림" pitchFamily="50" charset="-127"/>
              </a:rPr>
              <a:t>2. The allegations against Hongfujin Precision Industries were made by two Chinese reporters.  Discuss the implications of this for other Chinese companies.  </a:t>
            </a:r>
          </a:p>
          <a:p>
            <a:pPr>
              <a:lnSpc>
                <a:spcPct val="80000"/>
              </a:lnSpc>
            </a:pPr>
            <a:r>
              <a:rPr lang="en-US" altLang="ko-KR" sz="800">
                <a:ea typeface="굴림" pitchFamily="50" charset="-127"/>
              </a:rPr>
              <a:t>Discussion Points: Most students will probably agree that the fact that the allegations against Hongfujin Precision Industries were made by Chinese reporters who work for China Business News, a state run newspaper, could have interesting implications for other companies.  Some students will probably suggest that it should serve as a signal to other companies that poor working conditions are unacceptable, and that while in the past, it may have been possible to hide them, it is no longer the case.  Other students may suggest that the allegations may force companies to rethink their production and look for new ways to increase productivity.  Some students may note that the very fact that the report was published is startling in some regards, and that companies should anticipate further scrutiny. </a:t>
            </a:r>
          </a:p>
          <a:p>
            <a:pPr>
              <a:lnSpc>
                <a:spcPct val="80000"/>
              </a:lnSpc>
            </a:pPr>
            <a:r>
              <a:rPr lang="en-US" altLang="ko-KR" sz="800">
                <a:ea typeface="굴림" pitchFamily="50" charset="-127"/>
              </a:rPr>
              <a:t>Lecture Note: Apple maintains that it requires its suppliers to practice responsible manufacturing. To learn more about Apple’s policies go to {http://www.apple.com/environment/}.</a:t>
            </a:r>
          </a:p>
        </p:txBody>
      </p:sp>
    </p:spTree>
    <p:extLst>
      <p:ext uri="{BB962C8B-B14F-4D97-AF65-F5344CB8AC3E}">
        <p14:creationId xmlns:p14="http://schemas.microsoft.com/office/powerpoint/2010/main" val="3185341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oleObject" Target="../embeddings/oleObject3.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제목 슬라이드">
    <p:spTree>
      <p:nvGrpSpPr>
        <p:cNvPr id="1" name=""/>
        <p:cNvGrpSpPr/>
        <p:nvPr/>
      </p:nvGrpSpPr>
      <p:grpSpPr>
        <a:xfrm>
          <a:off x="0" y="0"/>
          <a:ext cx="0" cy="0"/>
          <a:chOff x="0" y="0"/>
          <a:chExt cx="0" cy="0"/>
        </a:xfrm>
      </p:grpSpPr>
      <p:graphicFrame>
        <p:nvGraphicFramePr>
          <p:cNvPr id="3"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4"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latinLnBrk="0">
              <a:defRPr/>
            </a:pPr>
            <a:endParaRPr kumimoji="0" lang="ko-KR" altLang="en-US">
              <a:latin typeface="Arial" charset="0"/>
              <a:ea typeface="+mn-ea"/>
            </a:endParaRPr>
          </a:p>
        </p:txBody>
      </p:sp>
      <p:graphicFrame>
        <p:nvGraphicFramePr>
          <p:cNvPr id="5"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4" imgW="10438095" imgH="5980952" progId="">
                  <p:embed/>
                </p:oleObj>
              </mc:Choice>
              <mc:Fallback>
                <p:oleObj name="Image" r:id="rId4" imgW="10438095" imgH="5980952"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latinLnBrk="0">
              <a:defRPr/>
            </a:pPr>
            <a:endParaRPr kumimoji="0" lang="ko-KR" altLang="en-US">
              <a:latin typeface="Arial" charset="0"/>
              <a:ea typeface="+mn-ea"/>
            </a:endParaRPr>
          </a:p>
        </p:txBody>
      </p:sp>
      <p:sp>
        <p:nvSpPr>
          <p:cNvPr id="3075" name="Rectangle 3"/>
          <p:cNvSpPr>
            <a:spLocks noGrp="1" noChangeArrowheads="1"/>
          </p:cNvSpPr>
          <p:nvPr>
            <p:ph type="subTitle" idx="1"/>
          </p:nvPr>
        </p:nvSpPr>
        <p:spPr>
          <a:xfrm>
            <a:off x="990600" y="6324600"/>
            <a:ext cx="7086600" cy="533400"/>
          </a:xfrm>
        </p:spPr>
        <p:txBody>
          <a:bodyPr/>
          <a:lstStyle>
            <a:lvl1pPr marL="0" indent="0" algn="ctr">
              <a:buFont typeface="Wingdings" pitchFamily="2" charset="2"/>
              <a:buNone/>
              <a:defRPr sz="1800" b="0">
                <a:solidFill>
                  <a:schemeClr val="tx2"/>
                </a:solidFill>
              </a:defRPr>
            </a:lvl1pPr>
          </a:lstStyle>
          <a:p>
            <a:r>
              <a:rPr lang="ko-KR" altLang="en-US"/>
              <a:t>마스터 부제목 스타일 편집</a:t>
            </a:r>
            <a:endParaRPr lang="en-US" altLang="ko-K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DBCEE699-D639-4207-979B-EFF22D985E06}" type="slidenum">
              <a:rPr lang="en-US" altLang="ko-KR"/>
              <a:pPr>
                <a:defRPr/>
              </a:pPr>
              <a:t>‹#›</a:t>
            </a:fld>
            <a:endParaRPr lang="en-US" altLang="ko-K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CAA0982E-BCED-4A9B-B7E1-1DF92DA4E1B0}" type="slidenum">
              <a:rPr lang="en-US" altLang="ko-KR"/>
              <a:pPr>
                <a:defRPr/>
              </a:pPr>
              <a:t>‹#›</a:t>
            </a:fld>
            <a:endParaRPr lang="en-US" altLang="ko-K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FF7F742F-7B36-4663-A3D4-61870DAACAAC}" type="slidenum">
              <a:rPr lang="en-US" altLang="ko-KR"/>
              <a:pPr>
                <a:defRPr/>
              </a:pPr>
              <a:t>‹#›</a:t>
            </a:fld>
            <a:endParaRPr lang="en-US" altLang="ko-K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p:cNvSpPr>
            <a:spLocks noGrp="1" noChangeArrowheads="1"/>
          </p:cNvSpPr>
          <p:nvPr>
            <p:ph type="sldNum" sz="quarter" idx="12"/>
          </p:nvPr>
        </p:nvSpPr>
        <p:spPr>
          <a:ln/>
        </p:spPr>
        <p:txBody>
          <a:bodyPr/>
          <a:lstStyle>
            <a:lvl1pPr>
              <a:defRPr/>
            </a:lvl1pPr>
          </a:lstStyle>
          <a:p>
            <a:pPr>
              <a:defRPr/>
            </a:pPr>
            <a:fld id="{AE964680-22E8-4DB6-B67E-F60E1436DCB0}" type="slidenum">
              <a:rPr lang="en-US" altLang="ko-KR"/>
              <a:pPr>
                <a:defRPr/>
              </a:pPr>
              <a:t>‹#›</a:t>
            </a:fld>
            <a:endParaRPr lang="en-US" altLang="ko-K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p:cNvSpPr>
            <a:spLocks noGrp="1" noChangeArrowheads="1"/>
          </p:cNvSpPr>
          <p:nvPr>
            <p:ph type="sldNum" sz="quarter" idx="12"/>
          </p:nvPr>
        </p:nvSpPr>
        <p:spPr>
          <a:ln/>
        </p:spPr>
        <p:txBody>
          <a:bodyPr/>
          <a:lstStyle>
            <a:lvl1pPr>
              <a:defRPr/>
            </a:lvl1pPr>
          </a:lstStyle>
          <a:p>
            <a:pPr>
              <a:defRPr/>
            </a:pPr>
            <a:fld id="{E6393D91-2AA8-4222-B0D3-08777C988B37}" type="slidenum">
              <a:rPr lang="en-US" altLang="ko-KR"/>
              <a:pPr>
                <a:defRPr/>
              </a:pPr>
              <a:t>‹#›</a:t>
            </a:fld>
            <a:endParaRPr lang="en-US" altLang="ko-K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p:cNvSpPr>
            <a:spLocks noGrp="1" noChangeArrowheads="1"/>
          </p:cNvSpPr>
          <p:nvPr>
            <p:ph type="sldNum" sz="quarter" idx="12"/>
          </p:nvPr>
        </p:nvSpPr>
        <p:spPr>
          <a:ln/>
        </p:spPr>
        <p:txBody>
          <a:bodyPr/>
          <a:lstStyle>
            <a:lvl1pPr>
              <a:defRPr/>
            </a:lvl1pPr>
          </a:lstStyle>
          <a:p>
            <a:pPr>
              <a:defRPr/>
            </a:pPr>
            <a:fld id="{07D271E6-9BF7-48F4-A797-0B00001AA4A6}" type="slidenum">
              <a:rPr lang="en-US" altLang="ko-KR"/>
              <a:pPr>
                <a:defRPr/>
              </a:pPr>
              <a:t>‹#›</a:t>
            </a:fld>
            <a:endParaRPr lang="en-US" altLang="ko-K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B3B3BA63-8553-4392-840A-872D73E86C03}" type="slidenum">
              <a:rPr lang="en-US" altLang="ko-KR"/>
              <a:pPr>
                <a:defRPr/>
              </a:pPr>
              <a:t>‹#›</a:t>
            </a:fld>
            <a:endParaRPr lang="en-US" altLang="ko-K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ko-KR" altLang="en-US" noProof="0"/>
              <a:t>그림을 추가하려면 아이콘을 클릭하십시오</a:t>
            </a:r>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38A0EF7B-C81A-4D36-B09D-CAB33D40165E}" type="slidenum">
              <a:rPr lang="en-US" altLang="ko-KR"/>
              <a:pPr>
                <a:defRPr/>
              </a:pPr>
              <a:t>‹#›</a:t>
            </a:fld>
            <a:endParaRPr lang="en-US" altLang="ko-K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96678431-D9C7-46F6-AB44-0407FE9C1E78}" type="slidenum">
              <a:rPr lang="en-US" altLang="ko-KR"/>
              <a:pPr>
                <a:defRPr/>
              </a:pPr>
              <a:t>‹#›</a:t>
            </a:fld>
            <a:endParaRPr lang="en-US" altLang="ko-K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319088"/>
            <a:ext cx="2057400" cy="6300787"/>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319088"/>
            <a:ext cx="6019800" cy="6300787"/>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40BF76C9-BA84-43C0-A6F8-39BC57028A72}" type="slidenum">
              <a:rPr lang="en-US" altLang="ko-KR"/>
              <a:pPr>
                <a:defRPr/>
              </a:pPr>
              <a:t>‹#›</a:t>
            </a:fld>
            <a:endParaRPr lang="en-US" altLang="ko-K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제목 및 표">
    <p:spTree>
      <p:nvGrpSpPr>
        <p:cNvPr id="1" name=""/>
        <p:cNvGrpSpPr/>
        <p:nvPr/>
      </p:nvGrpSpPr>
      <p:grpSpPr>
        <a:xfrm>
          <a:off x="0" y="0"/>
          <a:ext cx="0" cy="0"/>
          <a:chOff x="0" y="0"/>
          <a:chExt cx="0" cy="0"/>
        </a:xfrm>
      </p:grpSpPr>
      <p:sp>
        <p:nvSpPr>
          <p:cNvPr id="2" name="제목 1"/>
          <p:cNvSpPr>
            <a:spLocks noGrp="1"/>
          </p:cNvSpPr>
          <p:nvPr>
            <p:ph type="title"/>
          </p:nvPr>
        </p:nvSpPr>
        <p:spPr>
          <a:xfrm>
            <a:off x="990600" y="319088"/>
            <a:ext cx="7543800" cy="563562"/>
          </a:xfrm>
        </p:spPr>
        <p:txBody>
          <a:bodyPr/>
          <a:lstStyle/>
          <a:p>
            <a:r>
              <a:rPr lang="ko-KR" altLang="en-US"/>
              <a:t>마스터 제목 스타일 편집</a:t>
            </a:r>
          </a:p>
        </p:txBody>
      </p:sp>
      <p:sp>
        <p:nvSpPr>
          <p:cNvPr id="3" name="표 개체 틀 2"/>
          <p:cNvSpPr>
            <a:spLocks noGrp="1"/>
          </p:cNvSpPr>
          <p:nvPr>
            <p:ph type="tbl" idx="1"/>
          </p:nvPr>
        </p:nvSpPr>
        <p:spPr>
          <a:xfrm>
            <a:off x="457200" y="1371600"/>
            <a:ext cx="8229600" cy="5248275"/>
          </a:xfrm>
        </p:spPr>
        <p:txBody>
          <a:bodyPr/>
          <a:lstStyle/>
          <a:p>
            <a:pPr lvl="0"/>
            <a:r>
              <a:rPr lang="ko-KR" altLang="en-US" noProof="0"/>
              <a:t>표를 추가하려면 아이콘을 클릭하십시오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515DEBC6-EF61-47A0-816A-A14FD7AFBB22}" type="slidenum">
              <a:rPr lang="en-US" altLang="ko-KR"/>
              <a:pPr>
                <a:defRPr/>
              </a:pPr>
              <a:t>‹#›</a:t>
            </a:fld>
            <a:endParaRPr lang="en-US" altLang="ko-K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46275"/>
                <a:invGamma/>
              </a:schemeClr>
            </a:gs>
            <a:gs pos="100000">
              <a:schemeClr val="bg1"/>
            </a:gs>
          </a:gsLst>
          <a:lin ang="2700000" scaled="1"/>
        </a:gradFill>
        <a:effectLst/>
      </p:bgPr>
    </p:bg>
    <p:spTree>
      <p:nvGrpSpPr>
        <p:cNvPr id="1" name=""/>
        <p:cNvGrpSpPr/>
        <p:nvPr/>
      </p:nvGrpSpPr>
      <p:grpSpPr>
        <a:xfrm>
          <a:off x="0" y="0"/>
          <a:ext cx="0" cy="0"/>
          <a:chOff x="0" y="0"/>
          <a:chExt cx="0" cy="0"/>
        </a:xfrm>
      </p:grpSpPr>
      <p:graphicFrame>
        <p:nvGraphicFramePr>
          <p:cNvPr id="1026"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14" imgW="10387302" imgH="1205924" progId="">
                  <p:embed/>
                </p:oleObj>
              </mc:Choice>
              <mc:Fallback>
                <p:oleObj name="Image" r:id="rId14" imgW="10387302" imgH="1205924" progId="">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1028" name="Rectangle 3"/>
          <p:cNvSpPr>
            <a:spLocks noGrp="1" noChangeArrowheads="1"/>
          </p:cNvSpPr>
          <p:nvPr>
            <p:ph type="body" idx="1"/>
          </p:nvPr>
        </p:nvSpPr>
        <p:spPr bwMode="auto">
          <a:xfrm>
            <a:off x="457200" y="1371600"/>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ltLang="ko-K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latinLnBrk="0">
              <a:defRPr kumimoji="0" sz="1400">
                <a:latin typeface="Arial" charset="0"/>
                <a:ea typeface="굴림" charset="-127"/>
              </a:defRPr>
            </a:lvl1pPr>
          </a:lstStyle>
          <a:p>
            <a:pPr>
              <a:defRPr/>
            </a:pPr>
            <a:endParaRPr lang="en-US" altLang="ko-K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latinLnBrk="0">
              <a:defRPr kumimoji="0" sz="1400">
                <a:latin typeface="Arial" charset="0"/>
                <a:ea typeface="굴림" charset="-127"/>
              </a:defRPr>
            </a:lvl1pPr>
          </a:lstStyle>
          <a:p>
            <a:pPr>
              <a:defRPr/>
            </a:pPr>
            <a:endParaRPr lang="en-US" altLang="ko-KR"/>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latinLnBrk="0">
              <a:defRPr kumimoji="0" sz="1400">
                <a:latin typeface="Arial" charset="0"/>
                <a:ea typeface="굴림" charset="-127"/>
              </a:defRPr>
            </a:lvl1pPr>
          </a:lstStyle>
          <a:p>
            <a:pPr>
              <a:defRPr/>
            </a:pPr>
            <a:fld id="{51AEFA36-DB78-4B33-A399-3C66194D2B99}" type="slidenum">
              <a:rPr lang="en-US" altLang="ko-KR"/>
              <a:pPr>
                <a:defRPr/>
              </a:pPr>
              <a:t>‹#›</a:t>
            </a:fld>
            <a:endParaRPr lang="en-US" altLang="ko-KR"/>
          </a:p>
        </p:txBody>
      </p:sp>
      <p:sp>
        <p:nvSpPr>
          <p:cNvPr id="1032" name="Rectangle 2"/>
          <p:cNvSpPr>
            <a:spLocks noGrp="1" noChangeArrowheads="1"/>
          </p:cNvSpPr>
          <p:nvPr>
            <p:ph type="title"/>
          </p:nvPr>
        </p:nvSpPr>
        <p:spPr bwMode="auto">
          <a:xfrm>
            <a:off x="990600" y="319088"/>
            <a:ext cx="75438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ko-KR"/>
          </a:p>
        </p:txBody>
      </p:sp>
      <p:sp>
        <p:nvSpPr>
          <p:cNvPr id="1040"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latinLnBrk="0">
              <a:defRPr/>
            </a:pPr>
            <a:endParaRPr kumimoji="0" lang="ko-KR" altLang="en-US">
              <a:latin typeface="Arial" charset="0"/>
              <a:ea typeface="+mn-ea"/>
            </a:endParaRPr>
          </a:p>
        </p:txBody>
      </p:sp>
    </p:spTree>
  </p:cSld>
  <p:clrMap bg1="dk2" tx1="lt1" bg2="dk1" tx2="lt2" accent1="accent1" accent2="accent2" accent3="accent3" accent4="accent4" accent5="accent5" accent6="accent6" hlink="hlink" folHlink="folHlink"/>
  <p:sldLayoutIdLst>
    <p:sldLayoutId id="2147483791"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Lst>
  <p:txStyles>
    <p:titleStyle>
      <a:lvl1pPr algn="r" rtl="0" eaLnBrk="0" fontAlgn="base" latinLnBrk="1" hangingPunct="0">
        <a:spcBef>
          <a:spcPct val="0"/>
        </a:spcBef>
        <a:spcAft>
          <a:spcPct val="0"/>
        </a:spcAft>
        <a:defRPr sz="3600">
          <a:solidFill>
            <a:schemeClr val="tx2"/>
          </a:solidFill>
          <a:latin typeface="+mj-lt"/>
          <a:ea typeface="+mj-ea"/>
          <a:cs typeface="+mj-cs"/>
        </a:defRPr>
      </a:lvl1pPr>
      <a:lvl2pPr algn="r" rtl="0" eaLnBrk="0" fontAlgn="base" latinLnBrk="1" hangingPunct="0">
        <a:spcBef>
          <a:spcPct val="0"/>
        </a:spcBef>
        <a:spcAft>
          <a:spcPct val="0"/>
        </a:spcAft>
        <a:defRPr sz="3600">
          <a:solidFill>
            <a:schemeClr val="tx2"/>
          </a:solidFill>
          <a:latin typeface="Arial" charset="0"/>
        </a:defRPr>
      </a:lvl2pPr>
      <a:lvl3pPr algn="r" rtl="0" eaLnBrk="0" fontAlgn="base" latinLnBrk="1" hangingPunct="0">
        <a:spcBef>
          <a:spcPct val="0"/>
        </a:spcBef>
        <a:spcAft>
          <a:spcPct val="0"/>
        </a:spcAft>
        <a:defRPr sz="3600">
          <a:solidFill>
            <a:schemeClr val="tx2"/>
          </a:solidFill>
          <a:latin typeface="Arial" charset="0"/>
        </a:defRPr>
      </a:lvl3pPr>
      <a:lvl4pPr algn="r" rtl="0" eaLnBrk="0" fontAlgn="base" latinLnBrk="1" hangingPunct="0">
        <a:spcBef>
          <a:spcPct val="0"/>
        </a:spcBef>
        <a:spcAft>
          <a:spcPct val="0"/>
        </a:spcAft>
        <a:defRPr sz="3600">
          <a:solidFill>
            <a:schemeClr val="tx2"/>
          </a:solidFill>
          <a:latin typeface="Arial" charset="0"/>
        </a:defRPr>
      </a:lvl4pPr>
      <a:lvl5pPr algn="r" rtl="0" eaLnBrk="0" fontAlgn="base" latinLnBrk="1" hangingPunct="0">
        <a:spcBef>
          <a:spcPct val="0"/>
        </a:spcBef>
        <a:spcAft>
          <a:spcPct val="0"/>
        </a:spcAft>
        <a:defRPr sz="3600">
          <a:solidFill>
            <a:schemeClr val="tx2"/>
          </a:solidFill>
          <a:latin typeface="Arial" charset="0"/>
        </a:defRPr>
      </a:lvl5pPr>
      <a:lvl6pPr marL="457200" algn="r" rtl="0" eaLnBrk="1" fontAlgn="base" latinLnBrk="1" hangingPunct="1">
        <a:spcBef>
          <a:spcPct val="0"/>
        </a:spcBef>
        <a:spcAft>
          <a:spcPct val="0"/>
        </a:spcAft>
        <a:defRPr sz="3600">
          <a:solidFill>
            <a:schemeClr val="tx2"/>
          </a:solidFill>
          <a:latin typeface="Arial" charset="0"/>
        </a:defRPr>
      </a:lvl6pPr>
      <a:lvl7pPr marL="914400" algn="r" rtl="0" eaLnBrk="1" fontAlgn="base" latinLnBrk="1" hangingPunct="1">
        <a:spcBef>
          <a:spcPct val="0"/>
        </a:spcBef>
        <a:spcAft>
          <a:spcPct val="0"/>
        </a:spcAft>
        <a:defRPr sz="3600">
          <a:solidFill>
            <a:schemeClr val="tx2"/>
          </a:solidFill>
          <a:latin typeface="Arial" charset="0"/>
        </a:defRPr>
      </a:lvl7pPr>
      <a:lvl8pPr marL="1371600" algn="r" rtl="0" eaLnBrk="1" fontAlgn="base" latinLnBrk="1" hangingPunct="1">
        <a:spcBef>
          <a:spcPct val="0"/>
        </a:spcBef>
        <a:spcAft>
          <a:spcPct val="0"/>
        </a:spcAft>
        <a:defRPr sz="3600">
          <a:solidFill>
            <a:schemeClr val="tx2"/>
          </a:solidFill>
          <a:latin typeface="Arial" charset="0"/>
        </a:defRPr>
      </a:lvl8pPr>
      <a:lvl9pPr marL="1828800" algn="r" rtl="0" eaLnBrk="1" fontAlgn="base" latinLnBrk="1" hangingPunct="1">
        <a:spcBef>
          <a:spcPct val="0"/>
        </a:spcBef>
        <a:spcAft>
          <a:spcPct val="0"/>
        </a:spcAft>
        <a:defRPr sz="3600">
          <a:solidFill>
            <a:schemeClr val="tx2"/>
          </a:solidFill>
          <a:latin typeface="Arial" charset="0"/>
        </a:defRPr>
      </a:lvl9pPr>
    </p:titleStyle>
    <p:bodyStyle>
      <a:lvl1pPr marL="342900" indent="-342900" algn="l" rtl="0" eaLnBrk="0" fontAlgn="base" latinLnBrk="1"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latinLnBrk="1" hangingPunct="0">
        <a:spcBef>
          <a:spcPct val="20000"/>
        </a:spcBef>
        <a:spcAft>
          <a:spcPct val="0"/>
        </a:spcAft>
        <a:buClr>
          <a:schemeClr val="accent1"/>
        </a:buClr>
        <a:buFont typeface="Wingdings" pitchFamily="2" charset="2"/>
        <a:buChar char="§"/>
        <a:defRPr sz="2800">
          <a:solidFill>
            <a:schemeClr val="tx2"/>
          </a:solidFill>
          <a:latin typeface="+mj-lt"/>
        </a:defRPr>
      </a:lvl2pPr>
      <a:lvl3pPr marL="1143000" indent="-228600" algn="l" rtl="0" eaLnBrk="0" fontAlgn="base" latinLnBrk="1" hangingPunct="0">
        <a:spcBef>
          <a:spcPct val="20000"/>
        </a:spcBef>
        <a:spcAft>
          <a:spcPct val="0"/>
        </a:spcAft>
        <a:buClr>
          <a:schemeClr val="tx1"/>
        </a:buClr>
        <a:buChar char="•"/>
        <a:defRPr sz="2400">
          <a:solidFill>
            <a:schemeClr val="tx2"/>
          </a:solidFill>
          <a:latin typeface="+mj-lt"/>
        </a:defRPr>
      </a:lvl3pPr>
      <a:lvl4pPr marL="1600200" indent="-228600" algn="l" rtl="0" eaLnBrk="0" fontAlgn="base" latinLnBrk="1" hangingPunct="0">
        <a:spcBef>
          <a:spcPct val="20000"/>
        </a:spcBef>
        <a:spcAft>
          <a:spcPct val="0"/>
        </a:spcAft>
        <a:buChar char="–"/>
        <a:defRPr sz="2000">
          <a:solidFill>
            <a:schemeClr val="tx2"/>
          </a:solidFill>
          <a:latin typeface="+mj-lt"/>
        </a:defRPr>
      </a:lvl4pPr>
      <a:lvl5pPr marL="2057400" indent="-228600" algn="l" rtl="0" eaLnBrk="0" fontAlgn="base" latinLnBrk="1" hangingPunct="0">
        <a:spcBef>
          <a:spcPct val="20000"/>
        </a:spcBef>
        <a:spcAft>
          <a:spcPct val="0"/>
        </a:spcAft>
        <a:buChar char="»"/>
        <a:defRPr sz="2000">
          <a:solidFill>
            <a:schemeClr val="tx2"/>
          </a:solidFill>
          <a:latin typeface="+mj-lt"/>
        </a:defRPr>
      </a:lvl5pPr>
      <a:lvl6pPr marL="2514600" indent="-228600" algn="l" rtl="0" eaLnBrk="1" fontAlgn="base" latinLnBrk="1" hangingPunct="1">
        <a:spcBef>
          <a:spcPct val="20000"/>
        </a:spcBef>
        <a:spcAft>
          <a:spcPct val="0"/>
        </a:spcAft>
        <a:buChar char="»"/>
        <a:defRPr sz="2000">
          <a:solidFill>
            <a:schemeClr val="tx2"/>
          </a:solidFill>
          <a:latin typeface="+mj-lt"/>
        </a:defRPr>
      </a:lvl6pPr>
      <a:lvl7pPr marL="2971800" indent="-228600" algn="l" rtl="0" eaLnBrk="1" fontAlgn="base" latinLnBrk="1" hangingPunct="1">
        <a:spcBef>
          <a:spcPct val="20000"/>
        </a:spcBef>
        <a:spcAft>
          <a:spcPct val="0"/>
        </a:spcAft>
        <a:buChar char="»"/>
        <a:defRPr sz="2000">
          <a:solidFill>
            <a:schemeClr val="tx2"/>
          </a:solidFill>
          <a:latin typeface="+mj-lt"/>
        </a:defRPr>
      </a:lvl7pPr>
      <a:lvl8pPr marL="3429000" indent="-228600" algn="l" rtl="0" eaLnBrk="1" fontAlgn="base" latinLnBrk="1" hangingPunct="1">
        <a:spcBef>
          <a:spcPct val="20000"/>
        </a:spcBef>
        <a:spcAft>
          <a:spcPct val="0"/>
        </a:spcAft>
        <a:buChar char="»"/>
        <a:defRPr sz="2000">
          <a:solidFill>
            <a:schemeClr val="tx2"/>
          </a:solidFill>
          <a:latin typeface="+mj-lt"/>
        </a:defRPr>
      </a:lvl8pPr>
      <a:lvl9pPr marL="3886200" indent="-228600" algn="l" rtl="0" eaLnBrk="1" fontAlgn="base" latinLnBrk="1" hangingPunct="1">
        <a:spcBef>
          <a:spcPct val="20000"/>
        </a:spcBef>
        <a:spcAft>
          <a:spcPct val="0"/>
        </a:spcAft>
        <a:buChar char="»"/>
        <a:defRPr sz="2000">
          <a:solidFill>
            <a:schemeClr val="tx2"/>
          </a:solidFill>
          <a:latin typeface="+mj-lt"/>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ctrTitle" idx="4294967295"/>
          </p:nvPr>
        </p:nvSpPr>
        <p:spPr>
          <a:xfrm>
            <a:off x="0" y="0"/>
            <a:ext cx="9144000" cy="2133600"/>
          </a:xfrm>
          <a:solidFill>
            <a:srgbClr val="003296"/>
          </a:solidFill>
        </p:spPr>
        <p:txBody>
          <a:bodyPr/>
          <a:lstStyle/>
          <a:p>
            <a:pPr algn="ctr" eaLnBrk="1" hangingPunct="1"/>
            <a:r>
              <a:rPr lang="en-US" altLang="ko-KR" sz="4000" b="1" dirty="0">
                <a:solidFill>
                  <a:srgbClr val="FFC000"/>
                </a:solidFill>
                <a:latin typeface="Times New Roman" pitchFamily="18" charset="0"/>
                <a:ea typeface="굴림" pitchFamily="50" charset="-127"/>
              </a:rPr>
              <a:t>BUSINESS ETHICS</a:t>
            </a:r>
            <a:endParaRPr lang="en-US" altLang="ko-KR" sz="4000" dirty="0">
              <a:latin typeface="Franklin Gothic Heavy" pitchFamily="34" charset="0"/>
              <a:ea typeface="굴림" pitchFamily="50" charset="-127"/>
            </a:endParaRPr>
          </a:p>
        </p:txBody>
      </p:sp>
      <p:grpSp>
        <p:nvGrpSpPr>
          <p:cNvPr id="27651" name="Group 3"/>
          <p:cNvGrpSpPr>
            <a:grpSpLocks/>
          </p:cNvGrpSpPr>
          <p:nvPr/>
        </p:nvGrpSpPr>
        <p:grpSpPr bwMode="auto">
          <a:xfrm>
            <a:off x="0" y="2924175"/>
            <a:ext cx="9144000" cy="123825"/>
            <a:chOff x="432" y="912"/>
            <a:chExt cx="5808" cy="48"/>
          </a:xfrm>
        </p:grpSpPr>
        <p:sp>
          <p:nvSpPr>
            <p:cNvPr id="27654" name="Line 4"/>
            <p:cNvSpPr>
              <a:spLocks noChangeShapeType="1"/>
            </p:cNvSpPr>
            <p:nvPr/>
          </p:nvSpPr>
          <p:spPr bwMode="auto">
            <a:xfrm>
              <a:off x="432" y="912"/>
              <a:ext cx="5808" cy="0"/>
            </a:xfrm>
            <a:prstGeom prst="line">
              <a:avLst/>
            </a:prstGeom>
            <a:noFill/>
            <a:ln w="76200">
              <a:solidFill>
                <a:schemeClr val="bg2"/>
              </a:solidFill>
              <a:round/>
              <a:headEnd/>
              <a:tailEnd/>
            </a:ln>
          </p:spPr>
          <p:txBody>
            <a:bodyPr wrap="none" anchor="ctr"/>
            <a:lstStyle/>
            <a:p>
              <a:endParaRPr lang="ko-KR" altLang="en-US"/>
            </a:p>
          </p:txBody>
        </p:sp>
        <p:sp>
          <p:nvSpPr>
            <p:cNvPr id="27655" name="Line 5"/>
            <p:cNvSpPr>
              <a:spLocks noChangeShapeType="1"/>
            </p:cNvSpPr>
            <p:nvPr/>
          </p:nvSpPr>
          <p:spPr bwMode="auto">
            <a:xfrm>
              <a:off x="432" y="960"/>
              <a:ext cx="5808" cy="0"/>
            </a:xfrm>
            <a:prstGeom prst="line">
              <a:avLst/>
            </a:prstGeom>
            <a:noFill/>
            <a:ln w="3175">
              <a:solidFill>
                <a:schemeClr val="bg2"/>
              </a:solidFill>
              <a:round/>
              <a:headEnd/>
              <a:tailEnd/>
            </a:ln>
          </p:spPr>
          <p:txBody>
            <a:bodyPr wrap="none" anchor="ctr"/>
            <a:lstStyle/>
            <a:p>
              <a:endParaRPr lang="ko-KR" altLang="en-US"/>
            </a:p>
          </p:txBody>
        </p:sp>
      </p:grpSp>
      <p:sp>
        <p:nvSpPr>
          <p:cNvPr id="27652" name="Text Box 9"/>
          <p:cNvSpPr txBox="1">
            <a:spLocks noChangeArrowheads="1"/>
          </p:cNvSpPr>
          <p:nvPr/>
        </p:nvSpPr>
        <p:spPr bwMode="auto">
          <a:xfrm>
            <a:off x="5795251" y="4259952"/>
            <a:ext cx="2803075" cy="861774"/>
          </a:xfrm>
          <a:prstGeom prst="rect">
            <a:avLst/>
          </a:prstGeom>
          <a:noFill/>
          <a:ln w="12700">
            <a:noFill/>
            <a:miter lim="800000"/>
            <a:headEnd/>
            <a:tailEnd/>
          </a:ln>
        </p:spPr>
        <p:txBody>
          <a:bodyPr wrap="none" lIns="0" tIns="0" rIns="0" bIns="0">
            <a:spAutoFit/>
          </a:bodyPr>
          <a:lstStyle/>
          <a:p>
            <a:pPr algn="ctr" latinLnBrk="0"/>
            <a:r>
              <a:rPr kumimoji="0" lang="en-US" altLang="ko-KR" sz="2800" dirty="0">
                <a:solidFill>
                  <a:srgbClr val="99FF33"/>
                </a:solidFill>
                <a:latin typeface="Times New Roman" pitchFamily="18" charset="0"/>
              </a:rPr>
              <a:t>Dr. </a:t>
            </a:r>
            <a:r>
              <a:rPr kumimoji="0" lang="en-US" altLang="ko-KR" sz="2800" dirty="0" err="1">
                <a:solidFill>
                  <a:srgbClr val="99FF33"/>
                </a:solidFill>
                <a:latin typeface="Times New Roman" pitchFamily="18" charset="0"/>
              </a:rPr>
              <a:t>Kwangsoo</a:t>
            </a:r>
            <a:r>
              <a:rPr kumimoji="0" lang="en-US" altLang="ko-KR" sz="2800" dirty="0">
                <a:solidFill>
                  <a:srgbClr val="99FF33"/>
                </a:solidFill>
                <a:latin typeface="Times New Roman" pitchFamily="18" charset="0"/>
              </a:rPr>
              <a:t> Kim</a:t>
            </a:r>
          </a:p>
          <a:p>
            <a:pPr algn="ctr" latinLnBrk="0"/>
            <a:r>
              <a:rPr kumimoji="0" lang="en-US" altLang="ko-KR" sz="2800" dirty="0" err="1">
                <a:solidFill>
                  <a:srgbClr val="99FF33"/>
                </a:solidFill>
                <a:latin typeface="Times New Roman" pitchFamily="18" charset="0"/>
              </a:rPr>
              <a:t>Konkuk</a:t>
            </a:r>
            <a:r>
              <a:rPr kumimoji="0" lang="en-US" altLang="ko-KR" sz="2800" dirty="0">
                <a:solidFill>
                  <a:srgbClr val="99FF33"/>
                </a:solidFill>
                <a:latin typeface="Times New Roman" pitchFamily="18" charset="0"/>
              </a:rPr>
              <a:t> University</a:t>
            </a:r>
          </a:p>
        </p:txBody>
      </p:sp>
      <p:sp>
        <p:nvSpPr>
          <p:cNvPr id="27653" name="Rectangle 8"/>
          <p:cNvSpPr>
            <a:spLocks noChangeArrowheads="1"/>
          </p:cNvSpPr>
          <p:nvPr/>
        </p:nvSpPr>
        <p:spPr bwMode="auto">
          <a:xfrm>
            <a:off x="5507484" y="3933056"/>
            <a:ext cx="3529012" cy="1582738"/>
          </a:xfrm>
          <a:prstGeom prst="rect">
            <a:avLst/>
          </a:prstGeom>
          <a:noFill/>
          <a:ln w="38100">
            <a:solidFill>
              <a:schemeClr val="bg2"/>
            </a:solidFill>
            <a:miter lim="800000"/>
            <a:headEnd/>
            <a:tailEnd/>
          </a:ln>
        </p:spPr>
        <p:txBody>
          <a:bodyPr wrap="none" anchor="ctr"/>
          <a:lstStyle/>
          <a:p>
            <a:endParaRPr lang="ko-KR" altLang="en-US">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Grp="1" noChangeArrowheads="1"/>
          </p:cNvSpPr>
          <p:nvPr>
            <p:ph type="title"/>
          </p:nvPr>
        </p:nvSpPr>
        <p:spPr>
          <a:xfrm>
            <a:off x="772616" y="319088"/>
            <a:ext cx="7543800" cy="563562"/>
          </a:xfrm>
          <a:noFill/>
        </p:spPr>
        <p:txBody>
          <a:bodyPr/>
          <a:lstStyle/>
          <a:p>
            <a:pPr algn="ctr"/>
            <a:r>
              <a:rPr lang="en-US" altLang="ko-KR" dirty="0">
                <a:solidFill>
                  <a:srgbClr val="FFC000"/>
                </a:solidFill>
                <a:latin typeface="Times New Roman" pitchFamily="18" charset="0"/>
                <a:ea typeface="굴림" pitchFamily="50" charset="-127"/>
                <a:cs typeface="Times New Roman" pitchFamily="18" charset="0"/>
              </a:rPr>
              <a:t>DEFINITION &amp; DIFFERENT VIEWS</a:t>
            </a:r>
          </a:p>
        </p:txBody>
      </p:sp>
      <p:sp>
        <p:nvSpPr>
          <p:cNvPr id="38915" name="Rectangle 5"/>
          <p:cNvSpPr>
            <a:spLocks noGrp="1" noChangeArrowheads="1"/>
          </p:cNvSpPr>
          <p:nvPr>
            <p:ph type="body" idx="1"/>
          </p:nvPr>
        </p:nvSpPr>
        <p:spPr>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Ethics refers to the accepted principles of right or wrong that govern the conduct of a person, a group, or an organization  </a:t>
            </a:r>
          </a:p>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Business ethics are the accepted principles of right or wrong governing the conduct of business people</a:t>
            </a:r>
          </a:p>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Two extreme views of business ethics:</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1. Cultural relativism:</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No culture’s ethics are better than any other’s. There is no 	international rights or wrongs. “When in Rome, do as the 	Romans do”</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2. Cultural absolutism (ethical imperialism):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Directs people to do everything exactly as they do at 	home. Ignores different cultural traditions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Grp="1" noChangeArrowheads="1"/>
          </p:cNvSpPr>
          <p:nvPr>
            <p:ph type="title"/>
          </p:nvPr>
        </p:nvSpPr>
        <p:spPr>
          <a:xfrm>
            <a:off x="772616" y="319088"/>
            <a:ext cx="7543800" cy="563562"/>
          </a:xfrm>
          <a:noFill/>
        </p:spPr>
        <p:txBody>
          <a:bodyPr/>
          <a:lstStyle/>
          <a:p>
            <a:pPr algn="ctr"/>
            <a:r>
              <a:rPr lang="en-US" altLang="ko-KR" dirty="0">
                <a:solidFill>
                  <a:srgbClr val="FFC000"/>
                </a:solidFill>
                <a:latin typeface="Times New Roman" pitchFamily="18" charset="0"/>
                <a:ea typeface="굴림" pitchFamily="50" charset="-127"/>
                <a:cs typeface="Times New Roman" pitchFamily="18" charset="0"/>
              </a:rPr>
              <a:t>GUIDING PRINCIPLES</a:t>
            </a:r>
          </a:p>
        </p:txBody>
      </p:sp>
      <p:sp>
        <p:nvSpPr>
          <p:cNvPr id="38915" name="Rectangle 5"/>
          <p:cNvSpPr>
            <a:spLocks noGrp="1" noChangeArrowheads="1"/>
          </p:cNvSpPr>
          <p:nvPr>
            <p:ph type="body" idx="1"/>
          </p:nvPr>
        </p:nvSpPr>
        <p:spPr>
          <a:xfrm>
            <a:off x="395536" y="1277069"/>
            <a:ext cx="8424936" cy="5248275"/>
          </a:xfrm>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ts val="32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Companies must help managers distinguish between practices that are simply different and those that are wrong. For relativists, nothing is sacred or wrong, while for absolutists, many things that are different are wrong.</a:t>
            </a:r>
          </a:p>
          <a:p>
            <a:pPr eaLnBrk="1" hangingPunct="1">
              <a:lnSpc>
                <a:spcPts val="32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Three guiding principles shaping ethical behavior</a:t>
            </a:r>
          </a:p>
          <a:p>
            <a:pPr eaLnBrk="1" hangingPunct="1">
              <a:lnSpc>
                <a:spcPts val="3200"/>
              </a:lnSpc>
              <a:buClr>
                <a:srgbClr val="B1E2FB"/>
              </a:buClr>
              <a:buNone/>
            </a:pPr>
            <a:r>
              <a:rPr lang="en-US" altLang="ko-KR" sz="2400" b="0" dirty="0">
                <a:solidFill>
                  <a:srgbClr val="B1E2FB"/>
                </a:solidFill>
                <a:latin typeface="Times New Roman" pitchFamily="18" charset="0"/>
                <a:ea typeface="굴림" pitchFamily="50" charset="-127"/>
              </a:rPr>
              <a:t>	1. Respect for core human values, which determine the absolute</a:t>
            </a:r>
          </a:p>
          <a:p>
            <a:pPr eaLnBrk="1" hangingPunct="1">
              <a:lnSpc>
                <a:spcPts val="3200"/>
              </a:lnSpc>
              <a:buClr>
                <a:srgbClr val="B1E2FB"/>
              </a:buClr>
              <a:buNone/>
            </a:pPr>
            <a:r>
              <a:rPr lang="en-US" altLang="ko-KR" sz="2400" b="0" dirty="0">
                <a:solidFill>
                  <a:srgbClr val="B1E2FB"/>
                </a:solidFill>
                <a:latin typeface="Times New Roman" pitchFamily="18" charset="0"/>
                <a:ea typeface="굴림" pitchFamily="50" charset="-127"/>
              </a:rPr>
              <a:t>	    moral threshold for all business activities</a:t>
            </a:r>
          </a:p>
          <a:p>
            <a:pPr eaLnBrk="1" hangingPunct="1">
              <a:lnSpc>
                <a:spcPts val="3200"/>
              </a:lnSpc>
              <a:buClr>
                <a:srgbClr val="B1E2FB"/>
              </a:buClr>
              <a:buNone/>
            </a:pPr>
            <a:r>
              <a:rPr lang="en-US" altLang="ko-KR" sz="2400" b="0" dirty="0">
                <a:solidFill>
                  <a:srgbClr val="B1E2FB"/>
                </a:solidFill>
                <a:latin typeface="Times New Roman" pitchFamily="18" charset="0"/>
                <a:ea typeface="굴림" pitchFamily="50" charset="-127"/>
              </a:rPr>
              <a:t>	2. Respect for local traditions, which should be practiced</a:t>
            </a:r>
          </a:p>
          <a:p>
            <a:pPr eaLnBrk="1" hangingPunct="1">
              <a:lnSpc>
                <a:spcPts val="3200"/>
              </a:lnSpc>
              <a:buClr>
                <a:srgbClr val="B1E2FB"/>
              </a:buClr>
              <a:buNone/>
            </a:pPr>
            <a:r>
              <a:rPr lang="en-US" altLang="ko-KR" sz="2400" b="0" dirty="0">
                <a:solidFill>
                  <a:srgbClr val="B1E2FB"/>
                </a:solidFill>
                <a:latin typeface="Times New Roman" pitchFamily="18" charset="0"/>
                <a:ea typeface="굴림" pitchFamily="50" charset="-127"/>
              </a:rPr>
              <a:t>	    differently from the viewpoint of cultural relativism. </a:t>
            </a:r>
          </a:p>
          <a:p>
            <a:pPr eaLnBrk="1" hangingPunct="1">
              <a:lnSpc>
                <a:spcPts val="3200"/>
              </a:lnSpc>
              <a:buClr>
                <a:srgbClr val="B1E2FB"/>
              </a:buClr>
              <a:buNone/>
            </a:pPr>
            <a:r>
              <a:rPr lang="en-US" altLang="ko-KR" sz="2400" b="0" dirty="0">
                <a:solidFill>
                  <a:srgbClr val="B1E2FB"/>
                </a:solidFill>
                <a:latin typeface="Times New Roman" pitchFamily="18" charset="0"/>
                <a:ea typeface="굴림" pitchFamily="50" charset="-127"/>
              </a:rPr>
              <a:t>	3. The belief that context matters when deciding what is right</a:t>
            </a:r>
          </a:p>
          <a:p>
            <a:pPr eaLnBrk="1" hangingPunct="1">
              <a:lnSpc>
                <a:spcPts val="3200"/>
              </a:lnSpc>
              <a:buClr>
                <a:srgbClr val="B1E2FB"/>
              </a:buClr>
              <a:buNone/>
            </a:pPr>
            <a:r>
              <a:rPr lang="en-US" altLang="ko-KR" sz="2400" b="0" dirty="0">
                <a:solidFill>
                  <a:srgbClr val="B1E2FB"/>
                </a:solidFill>
                <a:latin typeface="Times New Roman" pitchFamily="18" charset="0"/>
                <a:ea typeface="굴림" pitchFamily="50" charset="-127"/>
              </a:rPr>
              <a:t>	    and what is wrong.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Grp="1" noChangeArrowheads="1"/>
          </p:cNvSpPr>
          <p:nvPr>
            <p:ph type="title"/>
          </p:nvPr>
        </p:nvSpPr>
        <p:spPr>
          <a:xfrm>
            <a:off x="772616" y="260648"/>
            <a:ext cx="7543800" cy="563562"/>
          </a:xfrm>
          <a:noFill/>
        </p:spPr>
        <p:txBody>
          <a:bodyPr/>
          <a:lstStyle/>
          <a:p>
            <a:pPr algn="ctr"/>
            <a:r>
              <a:rPr lang="en-US" altLang="ko-KR" dirty="0">
                <a:solidFill>
                  <a:srgbClr val="FFC000"/>
                </a:solidFill>
                <a:latin typeface="Times New Roman" pitchFamily="18" charset="0"/>
                <a:ea typeface="굴림" pitchFamily="50" charset="-127"/>
                <a:cs typeface="Times New Roman" pitchFamily="18" charset="0"/>
              </a:rPr>
              <a:t>Core Human Values</a:t>
            </a:r>
          </a:p>
        </p:txBody>
      </p:sp>
      <p:sp>
        <p:nvSpPr>
          <p:cNvPr id="38915" name="Rectangle 5"/>
          <p:cNvSpPr>
            <a:spLocks noGrp="1" noChangeArrowheads="1"/>
          </p:cNvSpPr>
          <p:nvPr>
            <p:ph type="body" idx="1"/>
          </p:nvPr>
        </p:nvSpPr>
        <p:spPr>
          <a:xfrm>
            <a:off x="395536" y="1124744"/>
            <a:ext cx="8568952" cy="5733256"/>
          </a:xfrm>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Three core human values (that must guide managers’ actions and that define the ethical threshold)</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1. Respect for human dignity:</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Individuals must not treat others simply as tools. They must  	recognize a person’s value as a human being.</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2. Respect for basic rights:</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Individuals and communities must treat people in ways that 	respect people’s basic rights.</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3. Good citizenship:</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Members of a community must work together to improve 	the institutions on which the community depends</a:t>
            </a:r>
          </a:p>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Companies can pursue these core human values by creating and sustaining a corporate culture (e.g., code of conduct) in which employees, customers, and suppliers are treated not as means to an end.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Grp="1" noChangeArrowheads="1"/>
          </p:cNvSpPr>
          <p:nvPr>
            <p:ph type="title"/>
          </p:nvPr>
        </p:nvSpPr>
        <p:spPr>
          <a:xfrm>
            <a:off x="772616" y="260648"/>
            <a:ext cx="7543800" cy="563562"/>
          </a:xfrm>
          <a:noFill/>
        </p:spPr>
        <p:txBody>
          <a:bodyPr/>
          <a:lstStyle/>
          <a:p>
            <a:pPr algn="ctr"/>
            <a:r>
              <a:rPr lang="en-US" altLang="ko-KR" dirty="0">
                <a:solidFill>
                  <a:srgbClr val="FFC000"/>
                </a:solidFill>
                <a:latin typeface="Times New Roman" pitchFamily="18" charset="0"/>
                <a:ea typeface="굴림" pitchFamily="50" charset="-127"/>
                <a:cs typeface="Times New Roman" pitchFamily="18" charset="0"/>
              </a:rPr>
              <a:t>Codes of Ethics/Conduct</a:t>
            </a:r>
          </a:p>
        </p:txBody>
      </p:sp>
      <p:sp>
        <p:nvSpPr>
          <p:cNvPr id="38915" name="Rectangle 5"/>
          <p:cNvSpPr>
            <a:spLocks noGrp="1" noChangeArrowheads="1"/>
          </p:cNvSpPr>
          <p:nvPr>
            <p:ph type="body" idx="1"/>
          </p:nvPr>
        </p:nvSpPr>
        <p:spPr>
          <a:xfrm>
            <a:off x="251520" y="1268760"/>
            <a:ext cx="8712968" cy="4653136"/>
          </a:xfrm>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Codes of ethics/conduct can be developed to provide a guideline for ethical actions and decisions. </a:t>
            </a:r>
          </a:p>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Codes of ethics/conduct must provide clear direction about ethical behavior when the temptation to behave unethically is strongest</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“Bribery is unacceptable” is not meaningful unless accompanied</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by specific guidelines for gift giving, payments to get goods</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through customs, and request from intermediaries who are</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hired to ask for bribes.</a:t>
            </a:r>
          </a:p>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For example, Motorola’s code of conduct:</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With respect to bribery, “funds and assets of Motorola shall not</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be used, directly or indirectly, for illegal payments of any kind”</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It sends a clear message to managers.</a:t>
            </a:r>
          </a:p>
          <a:p>
            <a:pPr eaLnBrk="1" hangingPunct="1">
              <a:lnSpc>
                <a:spcPct val="90000"/>
              </a:lnSpc>
              <a:buClr>
                <a:srgbClr val="B1E2FB"/>
              </a:buClr>
              <a:buFont typeface="Arial" pitchFamily="34" charset="0"/>
              <a:buChar char="•"/>
            </a:pPr>
            <a:endParaRPr lang="en-US" altLang="ko-KR" sz="2400" b="0" dirty="0">
              <a:solidFill>
                <a:srgbClr val="B1E2FB"/>
              </a:solidFill>
              <a:latin typeface="Times New Roman" pitchFamily="18" charset="0"/>
              <a:ea typeface="굴림" pitchFamily="50" charset="-12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Grp="1" noChangeArrowheads="1"/>
          </p:cNvSpPr>
          <p:nvPr>
            <p:ph type="title"/>
          </p:nvPr>
        </p:nvSpPr>
        <p:spPr>
          <a:xfrm>
            <a:off x="0" y="260648"/>
            <a:ext cx="9144000" cy="563562"/>
          </a:xfrm>
          <a:noFill/>
        </p:spPr>
        <p:txBody>
          <a:bodyPr/>
          <a:lstStyle/>
          <a:p>
            <a:pPr algn="ctr"/>
            <a:r>
              <a:rPr lang="en-US" altLang="ko-KR" dirty="0">
                <a:solidFill>
                  <a:srgbClr val="FFC000"/>
                </a:solidFill>
                <a:latin typeface="Times New Roman" pitchFamily="18" charset="0"/>
                <a:ea typeface="굴림" pitchFamily="50" charset="-127"/>
                <a:cs typeface="Times New Roman" pitchFamily="18" charset="0"/>
              </a:rPr>
              <a:t>CONFLICTS IN ETHICAL STANDARDS</a:t>
            </a:r>
          </a:p>
        </p:txBody>
      </p:sp>
      <p:sp>
        <p:nvSpPr>
          <p:cNvPr id="38915" name="Rectangle 5"/>
          <p:cNvSpPr>
            <a:spLocks noGrp="1" noChangeArrowheads="1"/>
          </p:cNvSpPr>
          <p:nvPr>
            <p:ph type="body" idx="1"/>
          </p:nvPr>
        </p:nvSpPr>
        <p:spPr>
          <a:xfrm>
            <a:off x="251520" y="1124744"/>
            <a:ext cx="8712968" cy="5733256"/>
          </a:xfrm>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Conflicts of Relative Development</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Conflicts in ethical standards stemming from the countries’</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different levels of economic development</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For example, wage rate in some developing countries</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To resolve this conflict, a manager must ask the question: Would</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the practice be acceptable at home if the home country were in a</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similar stage of economic development? </a:t>
            </a:r>
          </a:p>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Conflicts of Cultural Tradition</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Conflicts in ethical standards stemming from cultural tradition</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For example, Japanese gift giving</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Is it possible to conduct business successfully in the host country</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without undertaking the practice? Is the practice a violation of a</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core human value? If no to both, allow the practice in the host</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country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5"/>
          <p:cNvSpPr>
            <a:spLocks noGrp="1" noChangeArrowheads="1"/>
          </p:cNvSpPr>
          <p:nvPr>
            <p:ph type="body" idx="1"/>
          </p:nvPr>
        </p:nvSpPr>
        <p:spPr>
          <a:xfrm>
            <a:off x="251520" y="1196752"/>
            <a:ext cx="8712968" cy="5328592"/>
          </a:xfrm>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ts val="34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Treat corporate values and formal standards of conduct as absolutes</a:t>
            </a:r>
          </a:p>
          <a:p>
            <a:pPr eaLnBrk="1" hangingPunct="1">
              <a:lnSpc>
                <a:spcPts val="34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Design and implement conditions of engagement for suppliers and customers</a:t>
            </a:r>
          </a:p>
          <a:p>
            <a:pPr eaLnBrk="1" hangingPunct="1">
              <a:lnSpc>
                <a:spcPts val="34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Allow foreign business units to help formulate ethical standards and interpret ethical issues</a:t>
            </a:r>
          </a:p>
          <a:p>
            <a:pPr eaLnBrk="1" hangingPunct="1">
              <a:lnSpc>
                <a:spcPts val="34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In host countries, support efforts to decrease institutional corruption</a:t>
            </a:r>
          </a:p>
          <a:p>
            <a:pPr eaLnBrk="1" hangingPunct="1">
              <a:lnSpc>
                <a:spcPts val="34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Exercise moral imagination. Using moral imagination means resolving tensions responsively and creatively. (ex. Coca-Cola in Egypt)</a:t>
            </a:r>
          </a:p>
        </p:txBody>
      </p:sp>
      <p:sp>
        <p:nvSpPr>
          <p:cNvPr id="5" name="Rectangle 4"/>
          <p:cNvSpPr>
            <a:spLocks noGrp="1" noChangeArrowheads="1"/>
          </p:cNvSpPr>
          <p:nvPr>
            <p:ph type="title"/>
          </p:nvPr>
        </p:nvSpPr>
        <p:spPr>
          <a:xfrm>
            <a:off x="0" y="260648"/>
            <a:ext cx="9144000" cy="563562"/>
          </a:xfrm>
          <a:noFill/>
        </p:spPr>
        <p:txBody>
          <a:bodyPr/>
          <a:lstStyle/>
          <a:p>
            <a:pPr algn="ctr"/>
            <a:r>
              <a:rPr lang="en-US" altLang="ko-KR" dirty="0">
                <a:solidFill>
                  <a:srgbClr val="FFC000"/>
                </a:solidFill>
                <a:latin typeface="Times New Roman" pitchFamily="18" charset="0"/>
                <a:ea typeface="굴림" pitchFamily="50" charset="-127"/>
                <a:cs typeface="Times New Roman" pitchFamily="18" charset="0"/>
              </a:rPr>
              <a:t>GUIDELINES FOR ETHICAL LEADERSHIP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0" y="319088"/>
            <a:ext cx="9144000" cy="563562"/>
          </a:xfrm>
          <a:noFill/>
        </p:spPr>
        <p:txBody>
          <a:bodyPr/>
          <a:lstStyle/>
          <a:p>
            <a:pPr algn="ctr"/>
            <a:r>
              <a:rPr lang="en-US" altLang="ko-KR" sz="3200" dirty="0">
                <a:solidFill>
                  <a:srgbClr val="FFC000"/>
                </a:solidFill>
                <a:latin typeface="Times New Roman" pitchFamily="18" charset="0"/>
                <a:ea typeface="굴림" pitchFamily="50" charset="-127"/>
                <a:cs typeface="Times New Roman" pitchFamily="18" charset="0"/>
              </a:rPr>
              <a:t>ETHICAL ISSUES IN INTERNATIONAL BUSINESS</a:t>
            </a:r>
          </a:p>
        </p:txBody>
      </p:sp>
      <p:sp>
        <p:nvSpPr>
          <p:cNvPr id="39939" name="Rectangle 3"/>
          <p:cNvSpPr>
            <a:spLocks noGrp="1" noChangeArrowheads="1"/>
          </p:cNvSpPr>
          <p:nvPr>
            <p:ph type="body" idx="1"/>
          </p:nvPr>
        </p:nvSpPr>
        <p:spPr>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ts val="4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The most common ethical issues in business involve </a:t>
            </a:r>
          </a:p>
          <a:p>
            <a:pPr marL="342900" lvl="1" indent="-342900" eaLnBrk="1" hangingPunct="1">
              <a:lnSpc>
                <a:spcPts val="4000"/>
              </a:lnSpc>
              <a:buClr>
                <a:srgbClr val="B1E2FB"/>
              </a:buClr>
              <a:buNone/>
            </a:pPr>
            <a:r>
              <a:rPr lang="en-US" altLang="ko-KR" sz="2400" dirty="0">
                <a:solidFill>
                  <a:srgbClr val="B1E2FB"/>
                </a:solidFill>
                <a:latin typeface="Times New Roman" pitchFamily="18" charset="0"/>
                <a:ea typeface="굴림" pitchFamily="50" charset="-127"/>
                <a:cs typeface="+mn-cs"/>
              </a:rPr>
              <a:t>     - employment practices</a:t>
            </a:r>
          </a:p>
          <a:p>
            <a:pPr marL="342900" lvl="1" indent="-342900" eaLnBrk="1" hangingPunct="1">
              <a:lnSpc>
                <a:spcPts val="4000"/>
              </a:lnSpc>
              <a:buClr>
                <a:srgbClr val="B1E2FB"/>
              </a:buClr>
              <a:buNone/>
            </a:pPr>
            <a:r>
              <a:rPr lang="en-US" altLang="ko-KR" sz="2400" dirty="0">
                <a:solidFill>
                  <a:srgbClr val="B1E2FB"/>
                </a:solidFill>
                <a:latin typeface="Times New Roman" pitchFamily="18" charset="0"/>
                <a:ea typeface="굴림" pitchFamily="50" charset="-127"/>
                <a:cs typeface="+mn-cs"/>
              </a:rPr>
              <a:t>     - human rights</a:t>
            </a:r>
          </a:p>
          <a:p>
            <a:pPr marL="342900" lvl="1" indent="-342900" eaLnBrk="1" hangingPunct="1">
              <a:lnSpc>
                <a:spcPts val="4000"/>
              </a:lnSpc>
              <a:buClr>
                <a:srgbClr val="B1E2FB"/>
              </a:buClr>
              <a:buNone/>
            </a:pPr>
            <a:r>
              <a:rPr lang="en-US" altLang="ko-KR" sz="2400" dirty="0">
                <a:solidFill>
                  <a:srgbClr val="B1E2FB"/>
                </a:solidFill>
                <a:latin typeface="Times New Roman" pitchFamily="18" charset="0"/>
                <a:ea typeface="굴림" pitchFamily="50" charset="-127"/>
                <a:cs typeface="+mn-cs"/>
              </a:rPr>
              <a:t>     - environmental regulations</a:t>
            </a:r>
          </a:p>
          <a:p>
            <a:pPr marL="342900" lvl="1" indent="-342900" eaLnBrk="1" hangingPunct="1">
              <a:lnSpc>
                <a:spcPts val="4000"/>
              </a:lnSpc>
              <a:buClr>
                <a:srgbClr val="B1E2FB"/>
              </a:buClr>
              <a:buNone/>
            </a:pPr>
            <a:r>
              <a:rPr lang="en-US" altLang="ko-KR" sz="2400" dirty="0">
                <a:solidFill>
                  <a:srgbClr val="B1E2FB"/>
                </a:solidFill>
                <a:latin typeface="Times New Roman" pitchFamily="18" charset="0"/>
                <a:ea typeface="굴림" pitchFamily="50" charset="-127"/>
                <a:cs typeface="+mn-cs"/>
              </a:rPr>
              <a:t>     - corruption</a:t>
            </a:r>
          </a:p>
          <a:p>
            <a:pPr marL="342900" lvl="1" indent="-342900" eaLnBrk="1" hangingPunct="1">
              <a:lnSpc>
                <a:spcPts val="4000"/>
              </a:lnSpc>
              <a:buClr>
                <a:srgbClr val="B1E2FB"/>
              </a:buClr>
              <a:buNone/>
            </a:pPr>
            <a:r>
              <a:rPr lang="en-US" altLang="ko-KR" sz="2400" dirty="0">
                <a:solidFill>
                  <a:srgbClr val="B1E2FB"/>
                </a:solidFill>
                <a:latin typeface="Times New Roman" pitchFamily="18" charset="0"/>
                <a:ea typeface="굴림" pitchFamily="50" charset="-127"/>
                <a:cs typeface="+mn-cs"/>
              </a:rPr>
              <a:t>     - the moral obligation of multinational companies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1"/>
          </p:nvPr>
        </p:nvSpPr>
        <p:spPr>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ts val="26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Employment Practices</a:t>
            </a:r>
          </a:p>
          <a:p>
            <a:pPr eaLnBrk="1" hangingPunct="1">
              <a:lnSpc>
                <a:spcPts val="2600"/>
              </a:lnSpc>
              <a:buClr>
                <a:srgbClr val="B1E2FB"/>
              </a:buClr>
              <a:buNone/>
            </a:pPr>
            <a:r>
              <a:rPr lang="en-US" altLang="ko-KR" sz="2400" b="0" dirty="0">
                <a:solidFill>
                  <a:srgbClr val="B1E2FB"/>
                </a:solidFill>
                <a:latin typeface="Times New Roman" pitchFamily="18" charset="0"/>
                <a:ea typeface="굴림" pitchFamily="50" charset="-127"/>
              </a:rPr>
              <a:t>	When work conditions in a host nations are clearly inferior to those in a multinational’s home nation, what standards should be applied?</a:t>
            </a:r>
          </a:p>
          <a:p>
            <a:pPr eaLnBrk="1" hangingPunct="1">
              <a:lnSpc>
                <a:spcPts val="2600"/>
              </a:lnSpc>
              <a:buClr>
                <a:srgbClr val="B1E2FB"/>
              </a:buClr>
              <a:buNone/>
            </a:pPr>
            <a:r>
              <a:rPr lang="en-US" altLang="ko-KR" sz="2400" b="0" dirty="0">
                <a:solidFill>
                  <a:srgbClr val="B1E2FB"/>
                </a:solidFill>
                <a:latin typeface="Times New Roman" pitchFamily="18" charset="0"/>
                <a:ea typeface="굴림" pitchFamily="50" charset="-127"/>
              </a:rPr>
              <a:t>    - The standards of the home nation?</a:t>
            </a:r>
          </a:p>
          <a:p>
            <a:pPr eaLnBrk="1" hangingPunct="1">
              <a:lnSpc>
                <a:spcPts val="2600"/>
              </a:lnSpc>
              <a:buClr>
                <a:srgbClr val="B1E2FB"/>
              </a:buClr>
              <a:buNone/>
            </a:pPr>
            <a:r>
              <a:rPr lang="en-US" altLang="ko-KR" sz="2400" b="0" dirty="0">
                <a:solidFill>
                  <a:srgbClr val="B1E2FB"/>
                </a:solidFill>
                <a:latin typeface="Times New Roman" pitchFamily="18" charset="0"/>
                <a:ea typeface="굴림" pitchFamily="50" charset="-127"/>
              </a:rPr>
              <a:t>    - The standards of the host nation?</a:t>
            </a:r>
          </a:p>
          <a:p>
            <a:pPr eaLnBrk="1" hangingPunct="1">
              <a:lnSpc>
                <a:spcPts val="2600"/>
              </a:lnSpc>
              <a:buClr>
                <a:srgbClr val="B1E2FB"/>
              </a:buClr>
              <a:buNone/>
            </a:pPr>
            <a:r>
              <a:rPr lang="en-US" altLang="ko-KR" sz="2400" b="0" dirty="0">
                <a:solidFill>
                  <a:srgbClr val="B1E2FB"/>
                </a:solidFill>
                <a:latin typeface="Times New Roman" pitchFamily="18" charset="0"/>
                <a:ea typeface="굴림" pitchFamily="50" charset="-127"/>
              </a:rPr>
              <a:t>    - Something in between? </a:t>
            </a:r>
          </a:p>
          <a:p>
            <a:pPr eaLnBrk="1" hangingPunct="1">
              <a:lnSpc>
                <a:spcPts val="2600"/>
              </a:lnSpc>
              <a:buClr>
                <a:srgbClr val="B1E2FB"/>
              </a:buClr>
              <a:buNone/>
            </a:pPr>
            <a:endParaRPr lang="en-US" altLang="ko-KR" sz="1200" b="0" dirty="0">
              <a:solidFill>
                <a:srgbClr val="B1E2FB"/>
              </a:solidFill>
              <a:latin typeface="Times New Roman" pitchFamily="18" charset="0"/>
              <a:ea typeface="굴림" pitchFamily="50" charset="-127"/>
            </a:endParaRPr>
          </a:p>
          <a:p>
            <a:pPr eaLnBrk="1" hangingPunct="1">
              <a:lnSpc>
                <a:spcPts val="26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Human Rights</a:t>
            </a:r>
          </a:p>
          <a:p>
            <a:pPr eaLnBrk="1" hangingPunct="1">
              <a:lnSpc>
                <a:spcPts val="2600"/>
              </a:lnSpc>
              <a:buClr>
                <a:srgbClr val="B1E2FB"/>
              </a:buClr>
              <a:buNone/>
            </a:pPr>
            <a:r>
              <a:rPr lang="en-US" altLang="ko-KR" sz="2400" b="0" dirty="0">
                <a:solidFill>
                  <a:srgbClr val="B1E2FB"/>
                </a:solidFill>
                <a:latin typeface="Times New Roman" pitchFamily="18" charset="0"/>
                <a:ea typeface="굴림" pitchFamily="50" charset="-127"/>
              </a:rPr>
              <a:t>	What is the responsibility of a foreign multinational when operating in a country where basic human rights are not respected?</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a:t>
            </a:r>
          </a:p>
        </p:txBody>
      </p:sp>
      <p:sp>
        <p:nvSpPr>
          <p:cNvPr id="5" name="Rectangle 2"/>
          <p:cNvSpPr>
            <a:spLocks noGrp="1" noChangeArrowheads="1"/>
          </p:cNvSpPr>
          <p:nvPr>
            <p:ph type="title"/>
          </p:nvPr>
        </p:nvSpPr>
        <p:spPr>
          <a:xfrm>
            <a:off x="0" y="319088"/>
            <a:ext cx="9144000" cy="563562"/>
          </a:xfrm>
          <a:noFill/>
        </p:spPr>
        <p:txBody>
          <a:bodyPr/>
          <a:lstStyle/>
          <a:p>
            <a:pPr algn="ctr"/>
            <a:r>
              <a:rPr lang="en-US" altLang="ko-KR" sz="3200" dirty="0">
                <a:solidFill>
                  <a:srgbClr val="FFC000"/>
                </a:solidFill>
                <a:latin typeface="Times New Roman" pitchFamily="18" charset="0"/>
                <a:ea typeface="굴림" pitchFamily="50" charset="-127"/>
                <a:cs typeface="Times New Roman" pitchFamily="18" charset="0"/>
              </a:rPr>
              <a:t>ETHICAL ISSUES IN INTERNATIONAL BUSINESS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body" idx="1"/>
          </p:nvPr>
        </p:nvSpPr>
        <p:spPr>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Environmental Regulations</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Should a multinational feel free to pollute in a developing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nation if doing so does not violate laws?</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When environmental regulations in host nations are far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inferior to those in the home nation, ethical issues arise</a:t>
            </a:r>
          </a:p>
          <a:p>
            <a:pPr eaLnBrk="1" hangingPunct="1">
              <a:lnSpc>
                <a:spcPct val="90000"/>
              </a:lnSpc>
              <a:buClr>
                <a:srgbClr val="B1E2FB"/>
              </a:buClr>
              <a:buNone/>
            </a:pPr>
            <a:endParaRPr lang="en-US" altLang="ko-KR" sz="1200" b="0" dirty="0">
              <a:solidFill>
                <a:srgbClr val="B1E2FB"/>
              </a:solidFill>
              <a:latin typeface="Times New Roman" pitchFamily="18" charset="0"/>
              <a:ea typeface="굴림" pitchFamily="50" charset="-127"/>
            </a:endParaRPr>
          </a:p>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Corruption</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Government officers may ask for bribes for an MNE to “get things done”</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Is an MNE’s manager who agree a corrupt manager?</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Should an MNE ever accede to bribery demand?</a:t>
            </a:r>
            <a:endParaRPr lang="en-US" sz="2400" dirty="0"/>
          </a:p>
          <a:p>
            <a:pPr eaLnBrk="1" hangingPunct="1">
              <a:lnSpc>
                <a:spcPct val="90000"/>
              </a:lnSpc>
              <a:buClr>
                <a:srgbClr val="B1E2FB"/>
              </a:buClr>
              <a:buNone/>
            </a:pPr>
            <a:endParaRPr lang="en-US" altLang="ko-KR" sz="2400" b="0" dirty="0">
              <a:solidFill>
                <a:srgbClr val="B1E2FB"/>
              </a:solidFill>
              <a:latin typeface="Times New Roman" pitchFamily="18" charset="0"/>
              <a:ea typeface="굴림" pitchFamily="50" charset="-127"/>
            </a:endParaRPr>
          </a:p>
        </p:txBody>
      </p:sp>
      <p:sp>
        <p:nvSpPr>
          <p:cNvPr id="5" name="Rectangle 2"/>
          <p:cNvSpPr>
            <a:spLocks noGrp="1" noChangeArrowheads="1"/>
          </p:cNvSpPr>
          <p:nvPr>
            <p:ph type="title"/>
          </p:nvPr>
        </p:nvSpPr>
        <p:spPr>
          <a:xfrm>
            <a:off x="0" y="319088"/>
            <a:ext cx="9144000" cy="563562"/>
          </a:xfrm>
          <a:noFill/>
        </p:spPr>
        <p:txBody>
          <a:bodyPr/>
          <a:lstStyle/>
          <a:p>
            <a:pPr algn="ctr"/>
            <a:r>
              <a:rPr lang="en-US" altLang="ko-KR" sz="3200" dirty="0">
                <a:solidFill>
                  <a:srgbClr val="FFC000"/>
                </a:solidFill>
                <a:latin typeface="Times New Roman" pitchFamily="18" charset="0"/>
                <a:ea typeface="굴림" pitchFamily="50" charset="-127"/>
                <a:cs typeface="Times New Roman" pitchFamily="18" charset="0"/>
              </a:rPr>
              <a:t>ETHICAL ISSUES IN INTERNATIONAL BUSINESS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1"/>
          </p:nvPr>
        </p:nvSpPr>
        <p:spPr>
          <a:xfrm>
            <a:off x="457200" y="1371600"/>
            <a:ext cx="8363272" cy="5248275"/>
          </a:xfrm>
          <a:noFill/>
          <a:ln w="9525">
            <a:noFill/>
            <a:miter lim="800000"/>
            <a:headEnd/>
            <a:tailEnd/>
          </a:ln>
        </p:spPr>
        <p:txBody>
          <a:bodyPr vert="horz" wrap="square" lIns="91440" tIns="45720" rIns="91440" bIns="45720" numCol="1" anchor="t" anchorCtr="0" compatLnSpc="1">
            <a:prstTxWarp prst="textNoShape">
              <a:avLst/>
            </a:prstTxWarp>
          </a:bodyPr>
          <a:lstStyle/>
          <a:p>
            <a:pPr>
              <a:buFont typeface="Arial" pitchFamily="34" charset="0"/>
              <a:buChar char="•"/>
            </a:pPr>
            <a:r>
              <a:rPr lang="en-US" sz="2400" b="0" dirty="0">
                <a:latin typeface="Times New Roman" pitchFamily="18" charset="0"/>
                <a:cs typeface="Times New Roman" pitchFamily="18" charset="0"/>
              </a:rPr>
              <a:t>Moral Obligation of Multinational Companies</a:t>
            </a:r>
          </a:p>
          <a:p>
            <a:pPr>
              <a:buNone/>
            </a:pPr>
            <a:r>
              <a:rPr lang="en-US" sz="2400" b="0" dirty="0">
                <a:latin typeface="Times New Roman" pitchFamily="18" charset="0"/>
                <a:cs typeface="Times New Roman" pitchFamily="18" charset="0"/>
              </a:rPr>
              <a:t>	- Do multinationals have a responsibility to give back to the         societies that enable them to grow and prosper?</a:t>
            </a:r>
          </a:p>
          <a:p>
            <a:pPr>
              <a:buNone/>
            </a:pPr>
            <a:r>
              <a:rPr lang="en-US" sz="2400" b="0" dirty="0">
                <a:latin typeface="Times New Roman" pitchFamily="18" charset="0"/>
                <a:cs typeface="Times New Roman" pitchFamily="18" charset="0"/>
              </a:rPr>
              <a:t>	- The concept of social responsibility refers to the idea that          business people should take the social consequences of              economic actions into account when making business decisions, and that there should be a presumption in favor of decisions that have both good economic and good social consequences</a:t>
            </a:r>
            <a:endParaRPr lang="en-US" altLang="ko-KR" sz="2400" b="0" dirty="0">
              <a:solidFill>
                <a:srgbClr val="B1E2FB"/>
              </a:solidFill>
              <a:latin typeface="Times New Roman" pitchFamily="18" charset="0"/>
              <a:ea typeface="굴림" pitchFamily="50" charset="-127"/>
              <a:cs typeface="Times New Roman" pitchFamily="18" charset="0"/>
            </a:endParaRPr>
          </a:p>
        </p:txBody>
      </p:sp>
      <p:sp>
        <p:nvSpPr>
          <p:cNvPr id="5" name="Rectangle 2"/>
          <p:cNvSpPr>
            <a:spLocks noGrp="1" noChangeArrowheads="1"/>
          </p:cNvSpPr>
          <p:nvPr>
            <p:ph type="title"/>
          </p:nvPr>
        </p:nvSpPr>
        <p:spPr>
          <a:xfrm>
            <a:off x="0" y="319088"/>
            <a:ext cx="9144000" cy="563562"/>
          </a:xfrm>
          <a:noFill/>
        </p:spPr>
        <p:txBody>
          <a:bodyPr/>
          <a:lstStyle/>
          <a:p>
            <a:pPr algn="ctr"/>
            <a:r>
              <a:rPr lang="en-US" altLang="ko-KR" sz="3200" dirty="0">
                <a:solidFill>
                  <a:srgbClr val="FFC000"/>
                </a:solidFill>
                <a:latin typeface="Times New Roman" pitchFamily="18" charset="0"/>
                <a:ea typeface="굴림" pitchFamily="50" charset="-127"/>
                <a:cs typeface="Times New Roman" pitchFamily="18" charset="0"/>
              </a:rPr>
              <a:t>ETHICAL ISSUES IN INTERNATIONAL BUSINESS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0" y="260648"/>
            <a:ext cx="9144000" cy="563562"/>
          </a:xfrm>
          <a:noFill/>
          <a:ln w="9525">
            <a:noFill/>
            <a:miter lim="800000"/>
            <a:headEnd/>
            <a:tailEnd/>
          </a:ln>
        </p:spPr>
        <p:txBody>
          <a:bodyPr vert="horz" wrap="square" lIns="91440" tIns="45720" rIns="91440" bIns="45720" numCol="1" anchor="ctr" anchorCtr="0" compatLnSpc="1">
            <a:prstTxWarp prst="textNoShape">
              <a:avLst/>
            </a:prstTxWarp>
          </a:bodyPr>
          <a:lstStyle/>
          <a:p>
            <a:pPr algn="ctr"/>
            <a:r>
              <a:rPr lang="en-US" altLang="ko-KR" dirty="0">
                <a:solidFill>
                  <a:srgbClr val="FFC000"/>
                </a:solidFill>
                <a:latin typeface="Times New Roman" pitchFamily="18" charset="0"/>
                <a:ea typeface="굴림" pitchFamily="50" charset="-127"/>
                <a:cs typeface="Times New Roman" pitchFamily="18" charset="0"/>
              </a:rPr>
              <a:t>DETERMINANTS OF (UN)ETHICAL BEHAVIOR</a:t>
            </a:r>
          </a:p>
        </p:txBody>
      </p:sp>
      <p:pic>
        <p:nvPicPr>
          <p:cNvPr id="45060" name="Picture 4" descr="hiL8139X_0401"/>
          <p:cNvPicPr>
            <a:picLocks noChangeAspect="1" noChangeArrowheads="1"/>
          </p:cNvPicPr>
          <p:nvPr/>
        </p:nvPicPr>
        <p:blipFill>
          <a:blip r:embed="rId2" cstate="print"/>
          <a:srcRect/>
          <a:stretch>
            <a:fillRect/>
          </a:stretch>
        </p:blipFill>
        <p:spPr bwMode="auto">
          <a:xfrm>
            <a:off x="539552" y="1124744"/>
            <a:ext cx="8136904" cy="5733256"/>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body" idx="1"/>
          </p:nvPr>
        </p:nvSpPr>
        <p:spPr>
          <a:xfrm>
            <a:off x="457200" y="1196752"/>
            <a:ext cx="8229600" cy="5248275"/>
          </a:xfrm>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Personal Ethics</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Business ethics reflect personal ethics (the generally accepted principles of right and wrong governing the conduct of individuals)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Expatriates may face pressure to violate their personal ethics because they are away from their ordinary social context and supporting culture, and they are psychologically and geographically distant from the parent company</a:t>
            </a:r>
          </a:p>
          <a:p>
            <a:pPr eaLnBrk="1" hangingPunct="1">
              <a:lnSpc>
                <a:spcPct val="90000"/>
              </a:lnSpc>
              <a:buClr>
                <a:srgbClr val="B1E2FB"/>
              </a:buClr>
              <a:buNone/>
            </a:pPr>
            <a:endParaRPr lang="en-US" altLang="ko-KR" sz="800" b="0" dirty="0">
              <a:solidFill>
                <a:srgbClr val="B1E2FB"/>
              </a:solidFill>
              <a:latin typeface="Times New Roman" pitchFamily="18" charset="0"/>
              <a:ea typeface="굴림" pitchFamily="50" charset="-127"/>
            </a:endParaRPr>
          </a:p>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Decision Making Process</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Studies show that business people may behave unethically  because they fail to ask the relevant question - is this decision or action ethical?</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rPr>
              <a:t>    - Decisions are made based on economic logic without serious</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rPr>
              <a:t>      consideration for ethics </a:t>
            </a:r>
          </a:p>
          <a:p>
            <a:pPr eaLnBrk="1" hangingPunct="1">
              <a:lnSpc>
                <a:spcPct val="90000"/>
              </a:lnSpc>
              <a:buClr>
                <a:srgbClr val="B1E2FB"/>
              </a:buClr>
              <a:buFont typeface="Arial" pitchFamily="34" charset="0"/>
              <a:buChar char="•"/>
            </a:pPr>
            <a:endParaRPr lang="en-US" altLang="ko-KR" sz="2400" b="0" dirty="0">
              <a:solidFill>
                <a:srgbClr val="B1E2FB"/>
              </a:solidFill>
              <a:latin typeface="Times New Roman" pitchFamily="18" charset="0"/>
              <a:ea typeface="굴림" pitchFamily="50" charset="-127"/>
            </a:endParaRPr>
          </a:p>
        </p:txBody>
      </p:sp>
      <p:sp>
        <p:nvSpPr>
          <p:cNvPr id="5" name="Rectangle 2"/>
          <p:cNvSpPr>
            <a:spLocks noGrp="1" noChangeArrowheads="1"/>
          </p:cNvSpPr>
          <p:nvPr>
            <p:ph type="title"/>
          </p:nvPr>
        </p:nvSpPr>
        <p:spPr>
          <a:xfrm>
            <a:off x="0" y="260648"/>
            <a:ext cx="9144000" cy="563562"/>
          </a:xfrm>
          <a:noFill/>
          <a:ln w="9525">
            <a:noFill/>
            <a:miter lim="800000"/>
            <a:headEnd/>
            <a:tailEnd/>
          </a:ln>
        </p:spPr>
        <p:txBody>
          <a:bodyPr vert="horz" wrap="square" lIns="91440" tIns="45720" rIns="91440" bIns="45720" numCol="1" anchor="ctr" anchorCtr="0" compatLnSpc="1">
            <a:prstTxWarp prst="textNoShape">
              <a:avLst/>
            </a:prstTxWarp>
          </a:bodyPr>
          <a:lstStyle/>
          <a:p>
            <a:pPr algn="ctr"/>
            <a:r>
              <a:rPr lang="en-US" altLang="ko-KR" dirty="0">
                <a:solidFill>
                  <a:srgbClr val="FFC000"/>
                </a:solidFill>
                <a:latin typeface="Times New Roman" pitchFamily="18" charset="0"/>
                <a:ea typeface="굴림" pitchFamily="50" charset="-127"/>
                <a:cs typeface="Times New Roman" pitchFamily="18" charset="0"/>
              </a:rPr>
              <a:t>DETERMINANTS OF (UN)ETHICAL BEHAVIOR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body" idx="1"/>
          </p:nvPr>
        </p:nvSpPr>
        <p:spPr>
          <a:xfrm>
            <a:off x="446856" y="1124744"/>
            <a:ext cx="8229600" cy="5733256"/>
          </a:xfrm>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Organizational Culture</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Unethical behavior may exist in firms with an organization culture (the values and norms that are shared among employees of an organization) that does not emphasize business ethics</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 Values and norms shape the culture of a firm, and that culture influences decision making</a:t>
            </a:r>
          </a:p>
          <a:p>
            <a:pPr marL="342900" lvl="1" indent="-342900" eaLnBrk="1" hangingPunct="1">
              <a:lnSpc>
                <a:spcPct val="90000"/>
              </a:lnSpc>
              <a:buClr>
                <a:srgbClr val="B1E2FB"/>
              </a:buClr>
              <a:buFont typeface="Arial" pitchFamily="34" charset="0"/>
              <a:buChar char="•"/>
            </a:pPr>
            <a:r>
              <a:rPr lang="en-US" altLang="ko-KR" sz="2400" dirty="0">
                <a:solidFill>
                  <a:srgbClr val="B1E2FB"/>
                </a:solidFill>
                <a:latin typeface="Times New Roman" pitchFamily="18" charset="0"/>
                <a:ea typeface="굴림" pitchFamily="50" charset="-127"/>
                <a:cs typeface="+mn-cs"/>
              </a:rPr>
              <a:t>Unrealistic Performance Expectation</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rPr>
              <a:t>	- Pressure from the parent company to meet performance goals that are unrealistic, and can only be attained by cutting corners or acting in an unethical manner can cause unethical behavior  </a:t>
            </a:r>
          </a:p>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Leadership</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If a firm’s leaders fail to act in an ethical manner, other employees may not act ethically</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rPr>
              <a:t>	- Actions speak louder than words</a:t>
            </a:r>
          </a:p>
          <a:p>
            <a:pPr marL="342900" lvl="1" indent="-342900" eaLnBrk="1" hangingPunct="1">
              <a:lnSpc>
                <a:spcPct val="90000"/>
              </a:lnSpc>
              <a:buClr>
                <a:srgbClr val="B1E2FB"/>
              </a:buClr>
              <a:buNone/>
            </a:pPr>
            <a:endParaRPr lang="en-US" altLang="ko-KR" sz="2400" dirty="0">
              <a:solidFill>
                <a:srgbClr val="B1E2FB"/>
              </a:solidFill>
              <a:latin typeface="Times New Roman" pitchFamily="18" charset="0"/>
              <a:ea typeface="굴림" pitchFamily="50" charset="-127"/>
            </a:endParaRPr>
          </a:p>
          <a:p>
            <a:pPr marL="342900" lvl="1" indent="-342900" eaLnBrk="1" hangingPunct="1">
              <a:lnSpc>
                <a:spcPct val="90000"/>
              </a:lnSpc>
              <a:buClr>
                <a:srgbClr val="B1E2FB"/>
              </a:buClr>
              <a:buNone/>
            </a:pPr>
            <a:endParaRPr lang="en-US" altLang="ko-KR" sz="2400" dirty="0">
              <a:solidFill>
                <a:srgbClr val="B1E2FB"/>
              </a:solidFill>
              <a:latin typeface="Times New Roman" pitchFamily="18" charset="0"/>
              <a:ea typeface="굴림" pitchFamily="50" charset="-127"/>
              <a:cs typeface="+mn-cs"/>
            </a:endParaRPr>
          </a:p>
          <a:p>
            <a:pPr eaLnBrk="1" hangingPunct="1">
              <a:lnSpc>
                <a:spcPct val="90000"/>
              </a:lnSpc>
              <a:buClr>
                <a:srgbClr val="B1E2FB"/>
              </a:buClr>
            </a:pPr>
            <a:endParaRPr lang="en-US" altLang="ko-KR" sz="2400" b="0" dirty="0">
              <a:solidFill>
                <a:srgbClr val="B1E2FB"/>
              </a:solidFill>
              <a:latin typeface="Times New Roman" pitchFamily="18" charset="0"/>
              <a:ea typeface="굴림" pitchFamily="50" charset="-127"/>
            </a:endParaRPr>
          </a:p>
          <a:p>
            <a:pPr eaLnBrk="1" hangingPunct="1">
              <a:lnSpc>
                <a:spcPct val="90000"/>
              </a:lnSpc>
              <a:buClr>
                <a:srgbClr val="B1E2FB"/>
              </a:buClr>
            </a:pPr>
            <a:endParaRPr lang="en-US" altLang="ko-KR" sz="2400" b="0" dirty="0">
              <a:solidFill>
                <a:srgbClr val="B1E2FB"/>
              </a:solidFill>
              <a:latin typeface="Times New Roman" pitchFamily="18" charset="0"/>
              <a:ea typeface="굴림" pitchFamily="50" charset="-127"/>
            </a:endParaRPr>
          </a:p>
        </p:txBody>
      </p:sp>
      <p:sp>
        <p:nvSpPr>
          <p:cNvPr id="5" name="Rectangle 2"/>
          <p:cNvSpPr>
            <a:spLocks noGrp="1" noChangeArrowheads="1"/>
          </p:cNvSpPr>
          <p:nvPr>
            <p:ph type="title"/>
          </p:nvPr>
        </p:nvSpPr>
        <p:spPr>
          <a:xfrm>
            <a:off x="0" y="260648"/>
            <a:ext cx="9144000" cy="563562"/>
          </a:xfrm>
          <a:noFill/>
          <a:ln w="9525">
            <a:noFill/>
            <a:miter lim="800000"/>
            <a:headEnd/>
            <a:tailEnd/>
          </a:ln>
        </p:spPr>
        <p:txBody>
          <a:bodyPr vert="horz" wrap="square" lIns="91440" tIns="45720" rIns="91440" bIns="45720" numCol="1" anchor="ctr" anchorCtr="0" compatLnSpc="1">
            <a:prstTxWarp prst="textNoShape">
              <a:avLst/>
            </a:prstTxWarp>
          </a:bodyPr>
          <a:lstStyle/>
          <a:p>
            <a:pPr algn="ctr"/>
            <a:r>
              <a:rPr lang="en-US" altLang="ko-KR" dirty="0">
                <a:solidFill>
                  <a:srgbClr val="FFC000"/>
                </a:solidFill>
                <a:latin typeface="Times New Roman" pitchFamily="18" charset="0"/>
                <a:ea typeface="굴림" pitchFamily="50" charset="-127"/>
                <a:cs typeface="Times New Roman" pitchFamily="18" charset="0"/>
              </a:rPr>
              <a:t>DETERMINANTS OF (UN)ETHICAL BEHAVIOR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5" name="WordArt 3"/>
          <p:cNvSpPr>
            <a:spLocks noChangeArrowheads="1" noChangeShapeType="1" noTextEdit="1"/>
          </p:cNvSpPr>
          <p:nvPr/>
        </p:nvSpPr>
        <p:spPr bwMode="auto">
          <a:xfrm>
            <a:off x="468313" y="1128713"/>
            <a:ext cx="8280400" cy="3021012"/>
          </a:xfrm>
          <a:prstGeom prst="rect">
            <a:avLst/>
          </a:prstGeom>
        </p:spPr>
        <p:txBody>
          <a:bodyPr wrap="none" fromWordArt="1">
            <a:prstTxWarp prst="textSlantUp">
              <a:avLst>
                <a:gd name="adj" fmla="val 32056"/>
              </a:avLst>
            </a:prstTxWarp>
          </a:bodyPr>
          <a:lstStyle/>
          <a:p>
            <a:r>
              <a:rPr lang="en-US" altLang="ko-KR" sz="4800" kern="1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Implications for Businesses</a:t>
            </a:r>
            <a:endParaRPr lang="ko-KR" altLang="en-US" sz="4800" kern="1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pPr algn="ctr"/>
            <a:r>
              <a:rPr lang="en-US" altLang="ko-KR" dirty="0">
                <a:solidFill>
                  <a:srgbClr val="FFC000"/>
                </a:solidFill>
                <a:latin typeface="Times New Roman" pitchFamily="18" charset="0"/>
                <a:ea typeface="굴림" pitchFamily="50" charset="-127"/>
                <a:cs typeface="Times New Roman" pitchFamily="18" charset="0"/>
              </a:rPr>
              <a:t>IMPLICATIONS FOR BUSINESSES</a:t>
            </a:r>
          </a:p>
        </p:txBody>
      </p:sp>
      <p:sp>
        <p:nvSpPr>
          <p:cNvPr id="51203" name="Rectangle 3"/>
          <p:cNvSpPr>
            <a:spLocks noGrp="1" noChangeArrowheads="1"/>
          </p:cNvSpPr>
          <p:nvPr>
            <p:ph idx="1"/>
          </p:nvPr>
        </p:nvSpPr>
        <p:spPr>
          <a:xfrm>
            <a:off x="457200" y="1268760"/>
            <a:ext cx="8229600" cy="5589240"/>
          </a:xfrm>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How can managers ensure that ethical issues are considered in business decisions?</a:t>
            </a:r>
          </a:p>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Managers should: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favor hiring and promoting people with a well grounded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sense of personal ethics</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build an organizational culture that places a high value on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ethical behavior</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makes sure that leaders within the business not only articulate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the rhetoric of ethical behavior but also act in manner that is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consistent with that rhetoric</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put decision making processes in place that require people to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consider the ethical dimension of business decisions</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    - develop moral courage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pPr algn="ctr"/>
            <a:r>
              <a:rPr lang="en-US" altLang="ko-KR">
                <a:solidFill>
                  <a:srgbClr val="FFC000"/>
                </a:solidFill>
                <a:latin typeface="Times New Roman" pitchFamily="18" charset="0"/>
                <a:ea typeface="굴림" pitchFamily="50" charset="-127"/>
                <a:cs typeface="Times New Roman" pitchFamily="18" charset="0"/>
              </a:rPr>
              <a:t>Hiring and Promotion</a:t>
            </a:r>
          </a:p>
        </p:txBody>
      </p:sp>
      <p:sp>
        <p:nvSpPr>
          <p:cNvPr id="52227" name="Rectangle 3"/>
          <p:cNvSpPr>
            <a:spLocks noGrp="1" noChangeArrowheads="1"/>
          </p:cNvSpPr>
          <p:nvPr>
            <p:ph type="body" idx="1"/>
          </p:nvPr>
        </p:nvSpPr>
        <p:spPr>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Businesses should strive to identify and hire people with a strong sense of personal ethics</a:t>
            </a:r>
          </a:p>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Prospective employees should find out as much as they can about the ethical climate in an organization </a:t>
            </a:r>
          </a:p>
          <a:p>
            <a:pPr eaLnBrk="1" hangingPunct="1">
              <a:lnSpc>
                <a:spcPct val="90000"/>
              </a:lnSpc>
              <a:buClr>
                <a:srgbClr val="B1E2FB"/>
              </a:buClr>
              <a:buFont typeface="Arial" pitchFamily="34" charset="0"/>
              <a:buChar char="•"/>
            </a:pPr>
            <a:endParaRPr lang="en-US" altLang="ko-KR" sz="2400" b="0" dirty="0">
              <a:solidFill>
                <a:srgbClr val="B1E2FB"/>
              </a:solidFill>
              <a:latin typeface="Times New Roman" pitchFamily="18" charset="0"/>
              <a:ea typeface="굴림" pitchFamily="50" charset="-127"/>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0" y="319088"/>
            <a:ext cx="9144000" cy="563562"/>
          </a:xfrm>
          <a:noFill/>
          <a:ln w="9525">
            <a:noFill/>
            <a:miter lim="800000"/>
            <a:headEnd/>
            <a:tailEnd/>
          </a:ln>
        </p:spPr>
        <p:txBody>
          <a:bodyPr vert="horz" wrap="square" lIns="91440" tIns="45720" rIns="91440" bIns="45720" numCol="1" anchor="ctr" anchorCtr="0" compatLnSpc="1">
            <a:prstTxWarp prst="textNoShape">
              <a:avLst/>
            </a:prstTxWarp>
          </a:bodyPr>
          <a:lstStyle/>
          <a:p>
            <a:pPr algn="ctr"/>
            <a:r>
              <a:rPr lang="en-US" altLang="ko-KR" dirty="0">
                <a:solidFill>
                  <a:srgbClr val="FFC000"/>
                </a:solidFill>
                <a:latin typeface="Times New Roman" pitchFamily="18" charset="0"/>
                <a:ea typeface="굴림" pitchFamily="50" charset="-127"/>
                <a:cs typeface="Times New Roman" pitchFamily="18" charset="0"/>
              </a:rPr>
              <a:t>Organization Culture and Leadership</a:t>
            </a:r>
          </a:p>
        </p:txBody>
      </p:sp>
      <p:sp>
        <p:nvSpPr>
          <p:cNvPr id="53251" name="Rectangle 3"/>
          <p:cNvSpPr>
            <a:spLocks noGrp="1" noChangeArrowheads="1"/>
          </p:cNvSpPr>
          <p:nvPr>
            <p:ph type="body" idx="1"/>
          </p:nvPr>
        </p:nvSpPr>
        <p:spPr>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Businesses need to build an organization culture that places a high value on ethical behavior</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 the business must explicitly articulate values that place a    </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strong emphasis on ethical behavior, perhaps using a code of </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ethics/conduct (a formal statement of the ethical priorities a</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business adheres to)</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 leaders in the business should give life and meaning to the </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code of ethics/conduct by repeatedly emphasizing their</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importance, and then acting on them</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 the business should put in place a system of incentives and </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rewards that recognize people who engage in ethical </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behavior and sanction those who do not</a:t>
            </a:r>
          </a:p>
          <a:p>
            <a:pPr eaLnBrk="1" hangingPunct="1">
              <a:lnSpc>
                <a:spcPct val="90000"/>
              </a:lnSpc>
              <a:buClr>
                <a:srgbClr val="B1E2FB"/>
              </a:buClr>
              <a:buNone/>
            </a:pPr>
            <a:endParaRPr lang="en-US" altLang="ko-KR" sz="2400" b="0" dirty="0">
              <a:solidFill>
                <a:srgbClr val="B1E2FB"/>
              </a:solidFill>
              <a:latin typeface="Times New Roman" pitchFamily="18" charset="0"/>
              <a:ea typeface="굴림" pitchFamily="50" charset="-127"/>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pPr algn="ctr"/>
            <a:r>
              <a:rPr lang="en-US" altLang="ko-KR">
                <a:solidFill>
                  <a:srgbClr val="FFC000"/>
                </a:solidFill>
                <a:latin typeface="Times New Roman" pitchFamily="18" charset="0"/>
                <a:ea typeface="굴림" pitchFamily="50" charset="-127"/>
                <a:cs typeface="Times New Roman" pitchFamily="18" charset="0"/>
              </a:rPr>
              <a:t>Decision-Making Processes </a:t>
            </a:r>
          </a:p>
        </p:txBody>
      </p:sp>
      <p:sp>
        <p:nvSpPr>
          <p:cNvPr id="54275" name="Rectangle 3"/>
          <p:cNvSpPr>
            <a:spLocks noGrp="1" noChangeArrowheads="1"/>
          </p:cNvSpPr>
          <p:nvPr>
            <p:ph type="body" idx="1"/>
          </p:nvPr>
        </p:nvSpPr>
        <p:spPr>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A moral compass can help determine whether a decision is ethical.  If a manager can answer “yes” to the following questions, the decision is ethically acceptable. </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 does my decision fall within the accepted values of standards </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that typically apply in the organizational environment? </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 am I willing to see the decision communicated to all </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stakeholders affected by it? </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 would the people with whom I have significant personal </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relationships approve of the decision?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pPr algn="ctr"/>
            <a:r>
              <a:rPr lang="en-US" altLang="ko-KR">
                <a:solidFill>
                  <a:srgbClr val="FFC000"/>
                </a:solidFill>
                <a:latin typeface="Times New Roman" pitchFamily="18" charset="0"/>
                <a:ea typeface="굴림" pitchFamily="50" charset="-127"/>
                <a:cs typeface="Times New Roman" pitchFamily="18" charset="0"/>
              </a:rPr>
              <a:t>Decision-Making Processes </a:t>
            </a:r>
          </a:p>
        </p:txBody>
      </p:sp>
      <p:sp>
        <p:nvSpPr>
          <p:cNvPr id="55299" name="Rectangle 3"/>
          <p:cNvSpPr>
            <a:spLocks noGrp="1" noChangeArrowheads="1"/>
          </p:cNvSpPr>
          <p:nvPr>
            <p:ph type="body" idx="1"/>
          </p:nvPr>
        </p:nvSpPr>
        <p:spPr>
          <a:xfrm>
            <a:off x="446856" y="1205061"/>
            <a:ext cx="8373616" cy="5248275"/>
          </a:xfrm>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A five-step process can help managers think through ethical issues</a:t>
            </a:r>
          </a:p>
          <a:p>
            <a:pPr eaLnBrk="1" hangingPunct="1">
              <a:lnSpc>
                <a:spcPct val="90000"/>
              </a:lnSpc>
              <a:buClr>
                <a:srgbClr val="B1E2FB"/>
              </a:buClr>
              <a:buFont typeface="Wingdings" pitchFamily="2" charset="2"/>
              <a:buNone/>
            </a:pPr>
            <a:r>
              <a:rPr lang="en-US" altLang="ko-KR" sz="2400" b="0" dirty="0">
                <a:solidFill>
                  <a:srgbClr val="B1E2FB"/>
                </a:solidFill>
                <a:latin typeface="Times New Roman" pitchFamily="18" charset="0"/>
                <a:ea typeface="굴림" pitchFamily="50" charset="-127"/>
              </a:rPr>
              <a:t>1. How would a decision affect internal and external  stakeholders (the individuals or groups who have an interest, stake, or claim in the actions and overall performance of a company)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2. Managers need to determine whether a proposed decision would violate the fundamental rights of any stakeholders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3. Managers need to establish moral intent (the business must resolve to place moral concerns ahead of other concerns in cases where either the fundamental rights of stakeholders or key moral principles have been violated)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4.  The company should then engage in ethical behavior  </a:t>
            </a:r>
          </a:p>
          <a:p>
            <a:pPr eaLnBrk="1" hangingPunct="1">
              <a:lnSpc>
                <a:spcPct val="90000"/>
              </a:lnSpc>
              <a:buClr>
                <a:srgbClr val="B1E2FB"/>
              </a:buClr>
              <a:buNone/>
            </a:pPr>
            <a:r>
              <a:rPr lang="en-US" altLang="ko-KR" sz="2400" b="0" dirty="0">
                <a:solidFill>
                  <a:srgbClr val="B1E2FB"/>
                </a:solidFill>
                <a:latin typeface="Times New Roman" pitchFamily="18" charset="0"/>
                <a:ea typeface="굴림" pitchFamily="50" charset="-127"/>
              </a:rPr>
              <a:t>5.  The business must audit its decisions, reviewing them to make sure that they were consistent with ethical principles</a:t>
            </a:r>
          </a:p>
          <a:p>
            <a:pPr eaLnBrk="1" hangingPunct="1">
              <a:lnSpc>
                <a:spcPct val="90000"/>
              </a:lnSpc>
              <a:buClr>
                <a:srgbClr val="B1E2FB"/>
              </a:buClr>
              <a:buFont typeface="Wingdings" pitchFamily="2" charset="2"/>
              <a:buNone/>
            </a:pPr>
            <a:endParaRPr lang="en-US" altLang="ko-KR" sz="2400" b="0" dirty="0">
              <a:solidFill>
                <a:srgbClr val="B1E2FB"/>
              </a:solidFill>
              <a:latin typeface="Times New Roman" pitchFamily="18" charset="0"/>
              <a:ea typeface="굴림" pitchFamily="50" charset="-127"/>
            </a:endParaRPr>
          </a:p>
          <a:p>
            <a:pPr eaLnBrk="1" hangingPunct="1">
              <a:lnSpc>
                <a:spcPct val="90000"/>
              </a:lnSpc>
              <a:buClr>
                <a:srgbClr val="B1E2FB"/>
              </a:buClr>
              <a:buNone/>
            </a:pPr>
            <a:endParaRPr lang="en-US" altLang="ko-KR" sz="2400" b="0" dirty="0">
              <a:solidFill>
                <a:srgbClr val="B1E2FB"/>
              </a:solidFill>
              <a:latin typeface="Times New Roman" pitchFamily="18" charset="0"/>
              <a:ea typeface="굴림" pitchFamily="50" charset="-127"/>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pPr algn="ctr"/>
            <a:r>
              <a:rPr lang="en-US" altLang="ko-KR">
                <a:solidFill>
                  <a:srgbClr val="FFC000"/>
                </a:solidFill>
                <a:latin typeface="Times New Roman" pitchFamily="18" charset="0"/>
                <a:ea typeface="굴림" pitchFamily="50" charset="-127"/>
                <a:cs typeface="Times New Roman" pitchFamily="18" charset="0"/>
              </a:rPr>
              <a:t>Ethics Officers</a:t>
            </a:r>
          </a:p>
        </p:txBody>
      </p:sp>
      <p:sp>
        <p:nvSpPr>
          <p:cNvPr id="57347" name="Rectangle 3"/>
          <p:cNvSpPr>
            <a:spLocks noGrp="1" noChangeArrowheads="1"/>
          </p:cNvSpPr>
          <p:nvPr>
            <p:ph type="body" idx="1"/>
          </p:nvPr>
        </p:nvSpPr>
        <p:spPr>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To encourage ethical behavior in a business, many firms in the states now have ethics officers</a:t>
            </a:r>
          </a:p>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Ethics officers ensure that:</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 employees are trained to be ethically aware</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 ethical considerations enter decision-making</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 the company’s code of ethics is followed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pPr algn="ctr"/>
            <a:r>
              <a:rPr lang="en-US" altLang="ko-KR">
                <a:solidFill>
                  <a:srgbClr val="FFC000"/>
                </a:solidFill>
                <a:latin typeface="Times New Roman" pitchFamily="18" charset="0"/>
                <a:ea typeface="굴림" pitchFamily="50" charset="-127"/>
                <a:cs typeface="Times New Roman" pitchFamily="18" charset="0"/>
              </a:rPr>
              <a:t>Moral Courage</a:t>
            </a:r>
          </a:p>
        </p:txBody>
      </p:sp>
      <p:sp>
        <p:nvSpPr>
          <p:cNvPr id="58371" name="Rectangle 3"/>
          <p:cNvSpPr>
            <a:spLocks noGrp="1" noChangeArrowheads="1"/>
          </p:cNvSpPr>
          <p:nvPr>
            <p:ph type="body" idx="1"/>
          </p:nvPr>
        </p:nvSpPr>
        <p:spPr>
          <a:noFill/>
          <a:ln w="9525">
            <a:no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buClr>
                <a:srgbClr val="B1E2FB"/>
              </a:buClr>
              <a:buFont typeface="Arial" pitchFamily="34" charset="0"/>
              <a:buChar char="•"/>
            </a:pPr>
            <a:r>
              <a:rPr lang="en-US" altLang="ko-KR" sz="2400" b="0" dirty="0">
                <a:solidFill>
                  <a:srgbClr val="B1E2FB"/>
                </a:solidFill>
                <a:latin typeface="Times New Roman" pitchFamily="18" charset="0"/>
                <a:ea typeface="굴림" pitchFamily="50" charset="-127"/>
              </a:rPr>
              <a:t>Employees in an international business may need significant moral courage</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 Managers need to be able to walk away from decisions that </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are profitable but unethical</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 Employees need to be able to say no to actions that are  </a:t>
            </a:r>
          </a:p>
          <a:p>
            <a:pPr marL="342900" lvl="1" indent="-342900" eaLnBrk="1" hangingPunct="1">
              <a:lnSpc>
                <a:spcPct val="90000"/>
              </a:lnSpc>
              <a:buClr>
                <a:srgbClr val="B1E2FB"/>
              </a:buClr>
              <a:buNone/>
            </a:pPr>
            <a:r>
              <a:rPr lang="en-US" altLang="ko-KR" sz="2400" dirty="0">
                <a:solidFill>
                  <a:srgbClr val="B1E2FB"/>
                </a:solidFill>
                <a:latin typeface="Times New Roman" pitchFamily="18" charset="0"/>
                <a:ea typeface="굴림" pitchFamily="50" charset="-127"/>
                <a:cs typeface="+mn-cs"/>
              </a:rPr>
              <a:t>       unethical </a:t>
            </a:r>
          </a:p>
        </p:txBody>
      </p:sp>
    </p:spTree>
  </p:cSld>
  <p:clrMapOvr>
    <a:masterClrMapping/>
  </p:clrMapOvr>
</p:sld>
</file>

<file path=ppt/theme/theme1.xml><?xml version="1.0" encoding="utf-8"?>
<a:theme xmlns:a="http://schemas.openxmlformats.org/drawingml/2006/main" name="1">
  <a:themeElements>
    <a:clrScheme name="sample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fontScheme name="sampl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sample 1">
        <a:dk1>
          <a:srgbClr val="7E25CF"/>
        </a:dk1>
        <a:lt1>
          <a:srgbClr val="C6D3FE"/>
        </a:lt1>
        <a:dk2>
          <a:srgbClr val="512175"/>
        </a:dk2>
        <a:lt2>
          <a:srgbClr val="FFFFFF"/>
        </a:lt2>
        <a:accent1>
          <a:srgbClr val="FFCC66"/>
        </a:accent1>
        <a:accent2>
          <a:srgbClr val="6ABA42"/>
        </a:accent2>
        <a:accent3>
          <a:srgbClr val="B3ABBD"/>
        </a:accent3>
        <a:accent4>
          <a:srgbClr val="A9B4D9"/>
        </a:accent4>
        <a:accent5>
          <a:srgbClr val="FFE2B8"/>
        </a:accent5>
        <a:accent6>
          <a:srgbClr val="5FA83B"/>
        </a:accent6>
        <a:hlink>
          <a:srgbClr val="3399FF"/>
        </a:hlink>
        <a:folHlink>
          <a:srgbClr val="43A8C7"/>
        </a:folHlink>
      </a:clrScheme>
      <a:clrMap bg1="dk2" tx1="lt1" bg2="dk1" tx2="lt2" accent1="accent1" accent2="accent2" accent3="accent3" accent4="accent4" accent5="accent5" accent6="accent6" hlink="hlink" folHlink="folHlink"/>
    </a:extraClrScheme>
    <a:extraClrScheme>
      <a:clrScheme name="sample 2">
        <a:dk1>
          <a:srgbClr val="009999"/>
        </a:dk1>
        <a:lt1>
          <a:srgbClr val="E2E2D6"/>
        </a:lt1>
        <a:dk2>
          <a:srgbClr val="005986"/>
        </a:dk2>
        <a:lt2>
          <a:srgbClr val="FFFFFF"/>
        </a:lt2>
        <a:accent1>
          <a:srgbClr val="12D2C9"/>
        </a:accent1>
        <a:accent2>
          <a:srgbClr val="3574C7"/>
        </a:accent2>
        <a:accent3>
          <a:srgbClr val="AAB5C3"/>
        </a:accent3>
        <a:accent4>
          <a:srgbClr val="C1C1B7"/>
        </a:accent4>
        <a:accent5>
          <a:srgbClr val="AAE5E1"/>
        </a:accent5>
        <a:accent6>
          <a:srgbClr val="2F68B4"/>
        </a:accent6>
        <a:hlink>
          <a:srgbClr val="1EBABA"/>
        </a:hlink>
        <a:folHlink>
          <a:srgbClr val="33CC33"/>
        </a:folHlink>
      </a:clrScheme>
      <a:clrMap bg1="dk2" tx1="lt1" bg2="dk1" tx2="lt2" accent1="accent1" accent2="accent2" accent3="accent3" accent4="accent4" accent5="accent5" accent6="accent6" hlink="hlink" folHlink="folHlink"/>
    </a:extraClrScheme>
    <a:extraClrScheme>
      <a:clrScheme name="sample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Template>
  <TotalTime>7962</TotalTime>
  <Words>3934</Words>
  <Application>Microsoft Office PowerPoint</Application>
  <PresentationFormat>화면 슬라이드 쇼(4:3)</PresentationFormat>
  <Paragraphs>233</Paragraphs>
  <Slides>22</Slides>
  <Notes>9</Notes>
  <HiddenSlides>0</HiddenSlides>
  <MMClips>0</MMClips>
  <ScaleCrop>false</ScaleCrop>
  <HeadingPairs>
    <vt:vector size="8" baseType="variant">
      <vt:variant>
        <vt:lpstr>사용한 글꼴</vt:lpstr>
      </vt:variant>
      <vt:variant>
        <vt:i4>8</vt:i4>
      </vt:variant>
      <vt:variant>
        <vt:lpstr>테마</vt:lpstr>
      </vt:variant>
      <vt:variant>
        <vt:i4>1</vt:i4>
      </vt:variant>
      <vt:variant>
        <vt:lpstr>포함된 OLE 서버</vt:lpstr>
      </vt:variant>
      <vt:variant>
        <vt:i4>2</vt:i4>
      </vt:variant>
      <vt:variant>
        <vt:lpstr>슬라이드 제목</vt:lpstr>
      </vt:variant>
      <vt:variant>
        <vt:i4>22</vt:i4>
      </vt:variant>
    </vt:vector>
  </HeadingPairs>
  <TitlesOfParts>
    <vt:vector size="33" baseType="lpstr">
      <vt:lpstr>굴림</vt:lpstr>
      <vt:lpstr>맑은 고딕</vt:lpstr>
      <vt:lpstr>Arial</vt:lpstr>
      <vt:lpstr>Franklin Gothic Heavy</vt:lpstr>
      <vt:lpstr>Impact</vt:lpstr>
      <vt:lpstr>Times New Roman</vt:lpstr>
      <vt:lpstr>Verdana</vt:lpstr>
      <vt:lpstr>Wingdings</vt:lpstr>
      <vt:lpstr>1</vt:lpstr>
      <vt:lpstr>Image</vt:lpstr>
      <vt:lpstr>Clip</vt:lpstr>
      <vt:lpstr>BUSINESS ETHICS</vt:lpstr>
      <vt:lpstr>DEFINITION &amp; DIFFERENT VIEWS</vt:lpstr>
      <vt:lpstr>GUIDING PRINCIPLES</vt:lpstr>
      <vt:lpstr>Core Human Values</vt:lpstr>
      <vt:lpstr>Codes of Ethics/Conduct</vt:lpstr>
      <vt:lpstr>CONFLICTS IN ETHICAL STANDARDS</vt:lpstr>
      <vt:lpstr>GUIDELINES FOR ETHICAL LEADERSHIP</vt:lpstr>
      <vt:lpstr>ETHICAL ISSUES IN INTERNATIONAL BUSINESS</vt:lpstr>
      <vt:lpstr>ETHICAL ISSUES IN INTERNATIONAL BUSINESS</vt:lpstr>
      <vt:lpstr>ETHICAL ISSUES IN INTERNATIONAL BUSINESS</vt:lpstr>
      <vt:lpstr>ETHICAL ISSUES IN INTERNATIONAL BUSINESS</vt:lpstr>
      <vt:lpstr>DETERMINANTS OF (UN)ETHICAL BEHAVIOR</vt:lpstr>
      <vt:lpstr>DETERMINANTS OF (UN)ETHICAL BEHAVIOR</vt:lpstr>
      <vt:lpstr>DETERMINANTS OF (UN)ETHICAL BEHAVIOR</vt:lpstr>
      <vt:lpstr>PowerPoint 프레젠테이션</vt:lpstr>
      <vt:lpstr>IMPLICATIONS FOR BUSINESSES</vt:lpstr>
      <vt:lpstr>Hiring and Promotion</vt:lpstr>
      <vt:lpstr>Organization Culture and Leadership</vt:lpstr>
      <vt:lpstr>Decision-Making Processes </vt:lpstr>
      <vt:lpstr>Decision-Making Processes </vt:lpstr>
      <vt:lpstr>Ethics Officers</vt:lpstr>
      <vt:lpstr>Moral Courage</vt:lpstr>
    </vt:vector>
  </TitlesOfParts>
  <Company>건국대학교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엄기룡</dc:creator>
  <cp:lastModifiedBy>김광수</cp:lastModifiedBy>
  <cp:revision>760</cp:revision>
  <dcterms:created xsi:type="dcterms:W3CDTF">2007-10-09T12:42:30Z</dcterms:created>
  <dcterms:modified xsi:type="dcterms:W3CDTF">2025-09-04T05:33:15Z</dcterms:modified>
</cp:coreProperties>
</file>