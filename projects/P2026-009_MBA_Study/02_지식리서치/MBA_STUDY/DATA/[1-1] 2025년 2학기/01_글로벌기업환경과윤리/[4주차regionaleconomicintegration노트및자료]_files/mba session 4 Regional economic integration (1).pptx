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 id="2147483676" r:id="rId2"/>
    <p:sldMasterId id="2147484007" r:id="rId3"/>
  </p:sldMasterIdLst>
  <p:notesMasterIdLst>
    <p:notesMasterId r:id="rId39"/>
  </p:notesMasterIdLst>
  <p:handoutMasterIdLst>
    <p:handoutMasterId r:id="rId40"/>
  </p:handoutMasterIdLst>
  <p:sldIdLst>
    <p:sldId id="360" r:id="rId4"/>
    <p:sldId id="408" r:id="rId5"/>
    <p:sldId id="564" r:id="rId6"/>
    <p:sldId id="406" r:id="rId7"/>
    <p:sldId id="520" r:id="rId8"/>
    <p:sldId id="524" r:id="rId9"/>
    <p:sldId id="552" r:id="rId10"/>
    <p:sldId id="525" r:id="rId11"/>
    <p:sldId id="526" r:id="rId12"/>
    <p:sldId id="551" r:id="rId13"/>
    <p:sldId id="527" r:id="rId14"/>
    <p:sldId id="528" r:id="rId15"/>
    <p:sldId id="529" r:id="rId16"/>
    <p:sldId id="555" r:id="rId17"/>
    <p:sldId id="556" r:id="rId18"/>
    <p:sldId id="530" r:id="rId19"/>
    <p:sldId id="559" r:id="rId20"/>
    <p:sldId id="533" r:id="rId21"/>
    <p:sldId id="534" r:id="rId22"/>
    <p:sldId id="558" r:id="rId23"/>
    <p:sldId id="562" r:id="rId24"/>
    <p:sldId id="538" r:id="rId25"/>
    <p:sldId id="539" r:id="rId26"/>
    <p:sldId id="540" r:id="rId27"/>
    <p:sldId id="542" r:id="rId28"/>
    <p:sldId id="736" r:id="rId29"/>
    <p:sldId id="560" r:id="rId30"/>
    <p:sldId id="543" r:id="rId31"/>
    <p:sldId id="544" r:id="rId32"/>
    <p:sldId id="737" r:id="rId33"/>
    <p:sldId id="561" r:id="rId34"/>
    <p:sldId id="545" r:id="rId35"/>
    <p:sldId id="547" r:id="rId36"/>
    <p:sldId id="548" r:id="rId37"/>
    <p:sldId id="550" r:id="rId38"/>
  </p:sldIdLst>
  <p:sldSz cx="9144000" cy="6858000" type="screen4x3"/>
  <p:notesSz cx="9928225" cy="6669088"/>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1" hangingPunct="1">
      <a:defRPr sz="2400" b="1" kern="1200">
        <a:solidFill>
          <a:schemeClr val="tx1"/>
        </a:solidFill>
        <a:latin typeface="Times New Roman" pitchFamily="18" charset="0"/>
        <a:ea typeface="+mn-ea"/>
        <a:cs typeface="+mn-cs"/>
      </a:defRPr>
    </a:lvl6pPr>
    <a:lvl7pPr marL="2743200" algn="l" defTabSz="914400" rtl="0" eaLnBrk="1" latinLnBrk="1" hangingPunct="1">
      <a:defRPr sz="2400" b="1" kern="1200">
        <a:solidFill>
          <a:schemeClr val="tx1"/>
        </a:solidFill>
        <a:latin typeface="Times New Roman" pitchFamily="18" charset="0"/>
        <a:ea typeface="+mn-ea"/>
        <a:cs typeface="+mn-cs"/>
      </a:defRPr>
    </a:lvl7pPr>
    <a:lvl8pPr marL="3200400" algn="l" defTabSz="914400" rtl="0" eaLnBrk="1" latinLnBrk="1" hangingPunct="1">
      <a:defRPr sz="2400" b="1" kern="1200">
        <a:solidFill>
          <a:schemeClr val="tx1"/>
        </a:solidFill>
        <a:latin typeface="Times New Roman" pitchFamily="18" charset="0"/>
        <a:ea typeface="+mn-ea"/>
        <a:cs typeface="+mn-cs"/>
      </a:defRPr>
    </a:lvl8pPr>
    <a:lvl9pPr marL="3657600" algn="l" defTabSz="914400" rtl="0" eaLnBrk="1" latinLnBrk="1" hangingPunct="1">
      <a:defRPr sz="24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FF00FF"/>
    <a:srgbClr val="1C1C1C"/>
    <a:srgbClr val="00FFFF"/>
    <a:srgbClr val="B1E2FB"/>
    <a:srgbClr val="009900"/>
    <a:srgbClr val="FFFF00"/>
    <a:srgbClr val="3AEA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75298" autoAdjust="0"/>
  </p:normalViewPr>
  <p:slideViewPr>
    <p:cSldViewPr>
      <p:cViewPr varScale="1">
        <p:scale>
          <a:sx n="62" d="100"/>
          <a:sy n="62" d="100"/>
        </p:scale>
        <p:origin x="1488" y="56"/>
      </p:cViewPr>
      <p:guideLst>
        <p:guide orient="horz" pos="2160"/>
        <p:guide pos="2880"/>
      </p:guideLst>
    </p:cSldViewPr>
  </p:slideViewPr>
  <p:outlineViewPr>
    <p:cViewPr>
      <p:scale>
        <a:sx n="33" d="100"/>
        <a:sy n="33" d="100"/>
      </p:scale>
      <p:origin x="0" y="1069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bwMode="auto">
          <a:xfrm>
            <a:off x="0"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1" name="Rectangle 3"/>
          <p:cNvSpPr>
            <a:spLocks noGrp="1" noChangeArrowheads="1"/>
          </p:cNvSpPr>
          <p:nvPr>
            <p:ph type="dt" sz="quarter" idx="1"/>
          </p:nvPr>
        </p:nvSpPr>
        <p:spPr bwMode="auto">
          <a:xfrm>
            <a:off x="5625994" y="0"/>
            <a:ext cx="4302231" cy="3334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굴림" pitchFamily="50" charset="-127"/>
              </a:defRPr>
            </a:lvl1pPr>
          </a:lstStyle>
          <a:p>
            <a:pPr>
              <a:defRPr/>
            </a:pPr>
            <a:endParaRPr lang="ko-KR" altLang="en-US"/>
          </a:p>
        </p:txBody>
      </p:sp>
      <p:sp>
        <p:nvSpPr>
          <p:cNvPr id="68612" name="Rectangle 4"/>
          <p:cNvSpPr>
            <a:spLocks noGrp="1" noChangeArrowheads="1"/>
          </p:cNvSpPr>
          <p:nvPr>
            <p:ph type="ftr" sz="quarter" idx="2"/>
          </p:nvPr>
        </p:nvSpPr>
        <p:spPr bwMode="auto">
          <a:xfrm>
            <a:off x="0"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ea typeface="굴림" pitchFamily="50" charset="-127"/>
              </a:defRPr>
            </a:lvl1pPr>
          </a:lstStyle>
          <a:p>
            <a:pPr>
              <a:defRPr/>
            </a:pPr>
            <a:endParaRPr lang="ko-KR" altLang="en-US"/>
          </a:p>
        </p:txBody>
      </p:sp>
      <p:sp>
        <p:nvSpPr>
          <p:cNvPr id="68613" name="Rectangle 5"/>
          <p:cNvSpPr>
            <a:spLocks noGrp="1" noChangeArrowheads="1"/>
          </p:cNvSpPr>
          <p:nvPr>
            <p:ph type="sldNum" sz="quarter" idx="3"/>
          </p:nvPr>
        </p:nvSpPr>
        <p:spPr bwMode="auto">
          <a:xfrm>
            <a:off x="5625994" y="6335634"/>
            <a:ext cx="4302231" cy="3334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굴림" pitchFamily="50" charset="-127"/>
              </a:defRPr>
            </a:lvl1pPr>
          </a:lstStyle>
          <a:p>
            <a:pPr>
              <a:defRPr/>
            </a:pPr>
            <a:fld id="{3A8CDFD5-8FEE-4B6C-B337-5A582A951B37}" type="slidenum">
              <a:rPr lang="ko-KR" altLang="en-US"/>
              <a:pPr>
                <a:defRPr/>
              </a:pPr>
              <a:t>‹#›</a:t>
            </a:fld>
            <a:endParaRPr lang="ko-KR" altLang="en-US"/>
          </a:p>
        </p:txBody>
      </p:sp>
    </p:spTree>
    <p:extLst>
      <p:ext uri="{BB962C8B-B14F-4D97-AF65-F5344CB8AC3E}">
        <p14:creationId xmlns:p14="http://schemas.microsoft.com/office/powerpoint/2010/main" val="3053360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125" cy="333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22925" y="0"/>
            <a:ext cx="4303713" cy="333375"/>
          </a:xfrm>
          <a:prstGeom prst="rect">
            <a:avLst/>
          </a:prstGeom>
        </p:spPr>
        <p:txBody>
          <a:bodyPr vert="horz" lIns="91440" tIns="45720" rIns="91440" bIns="45720" rtlCol="0"/>
          <a:lstStyle>
            <a:lvl1pPr algn="r">
              <a:defRPr sz="1200"/>
            </a:lvl1pPr>
          </a:lstStyle>
          <a:p>
            <a:fld id="{8EDC00E7-662E-424B-9D6A-416C830FA6D2}" type="datetimeFigureOut">
              <a:rPr lang="en-US" smtClean="0"/>
              <a:pPr/>
              <a:t>3/26/2024</a:t>
            </a:fld>
            <a:endParaRPr lang="en-US"/>
          </a:p>
        </p:txBody>
      </p:sp>
      <p:sp>
        <p:nvSpPr>
          <p:cNvPr id="4" name="Slide Image Placeholder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92188" y="3167063"/>
            <a:ext cx="7943850" cy="300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334125"/>
            <a:ext cx="4302125" cy="333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22925" y="6334125"/>
            <a:ext cx="4303713" cy="333375"/>
          </a:xfrm>
          <a:prstGeom prst="rect">
            <a:avLst/>
          </a:prstGeom>
        </p:spPr>
        <p:txBody>
          <a:bodyPr vert="horz" lIns="91440" tIns="45720" rIns="91440" bIns="45720" rtlCol="0" anchor="b"/>
          <a:lstStyle>
            <a:lvl1pPr algn="r">
              <a:defRPr sz="1200"/>
            </a:lvl1pPr>
          </a:lstStyle>
          <a:p>
            <a:fld id="{B4D28D73-C76D-4D0D-85D6-790F2BACC5ED}" type="slidenum">
              <a:rPr lang="en-US" smtClean="0"/>
              <a:pPr/>
              <a:t>‹#›</a:t>
            </a:fld>
            <a:endParaRPr lang="en-US"/>
          </a:p>
        </p:txBody>
      </p:sp>
    </p:spTree>
    <p:extLst>
      <p:ext uri="{BB962C8B-B14F-4D97-AF65-F5344CB8AC3E}">
        <p14:creationId xmlns:p14="http://schemas.microsoft.com/office/powerpoint/2010/main" val="3657719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5</a:t>
            </a:fld>
            <a:endParaRPr lang="en-US"/>
          </a:p>
        </p:txBody>
      </p:sp>
    </p:spTree>
    <p:extLst>
      <p:ext uri="{BB962C8B-B14F-4D97-AF65-F5344CB8AC3E}">
        <p14:creationId xmlns:p14="http://schemas.microsoft.com/office/powerpoint/2010/main" val="1693776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D28D73-C76D-4D0D-85D6-790F2BACC5ED}" type="slidenum">
              <a:rPr lang="en-US" smtClean="0"/>
              <a:pPr/>
              <a:t>16</a:t>
            </a:fld>
            <a:endParaRPr lang="en-US"/>
          </a:p>
        </p:txBody>
      </p:sp>
    </p:spTree>
    <p:extLst>
      <p:ext uri="{BB962C8B-B14F-4D97-AF65-F5344CB8AC3E}">
        <p14:creationId xmlns:p14="http://schemas.microsoft.com/office/powerpoint/2010/main" val="1302059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D28D73-C76D-4D0D-85D6-790F2BACC5ED}" type="slidenum">
              <a:rPr lang="en-US" smtClean="0"/>
              <a:pPr/>
              <a:t>17</a:t>
            </a:fld>
            <a:endParaRPr lang="en-US"/>
          </a:p>
        </p:txBody>
      </p:sp>
    </p:spTree>
    <p:extLst>
      <p:ext uri="{BB962C8B-B14F-4D97-AF65-F5344CB8AC3E}">
        <p14:creationId xmlns:p14="http://schemas.microsoft.com/office/powerpoint/2010/main" val="383540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13EA82B8-0432-4546-9457-47EE6B6CD040}" type="slidenum">
              <a:rPr lang="en-US" altLang="ko-KR"/>
              <a:pPr/>
              <a:t>18</a:t>
            </a:fld>
            <a:endParaRPr lang="en-US" altLang="ko-K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lnSpc>
                <a:spcPct val="80000"/>
              </a:lnSpc>
            </a:pPr>
            <a:endParaRPr lang="en-US" altLang="ko-KR" sz="900" dirty="0">
              <a:ea typeface="굴림" pitchFamily="50" charset="-127"/>
            </a:endParaRPr>
          </a:p>
        </p:txBody>
      </p:sp>
    </p:spTree>
    <p:extLst>
      <p:ext uri="{BB962C8B-B14F-4D97-AF65-F5344CB8AC3E}">
        <p14:creationId xmlns:p14="http://schemas.microsoft.com/office/powerpoint/2010/main" val="2360334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22</a:t>
            </a:fld>
            <a:endParaRPr lang="en-US"/>
          </a:p>
        </p:txBody>
      </p:sp>
    </p:spTree>
    <p:extLst>
      <p:ext uri="{BB962C8B-B14F-4D97-AF65-F5344CB8AC3E}">
        <p14:creationId xmlns:p14="http://schemas.microsoft.com/office/powerpoint/2010/main" val="217963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24</a:t>
            </a:fld>
            <a:endParaRPr lang="en-US"/>
          </a:p>
        </p:txBody>
      </p:sp>
    </p:spTree>
    <p:extLst>
      <p:ext uri="{BB962C8B-B14F-4D97-AF65-F5344CB8AC3E}">
        <p14:creationId xmlns:p14="http://schemas.microsoft.com/office/powerpoint/2010/main" val="845839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26</a:t>
            </a:fld>
            <a:endParaRPr lang="en-US"/>
          </a:p>
        </p:txBody>
      </p:sp>
    </p:spTree>
    <p:extLst>
      <p:ext uri="{BB962C8B-B14F-4D97-AF65-F5344CB8AC3E}">
        <p14:creationId xmlns:p14="http://schemas.microsoft.com/office/powerpoint/2010/main" val="1139208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4D28D73-C76D-4D0D-85D6-790F2BACC5ED}" type="slidenum">
              <a:rPr lang="en-US" smtClean="0"/>
              <a:pPr/>
              <a:t>28</a:t>
            </a:fld>
            <a:endParaRPr lang="en-US"/>
          </a:p>
        </p:txBody>
      </p:sp>
    </p:spTree>
    <p:extLst>
      <p:ext uri="{BB962C8B-B14F-4D97-AF65-F5344CB8AC3E}">
        <p14:creationId xmlns:p14="http://schemas.microsoft.com/office/powerpoint/2010/main" val="2515082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D28D73-C76D-4D0D-85D6-790F2BACC5ED}" type="slidenum">
              <a:rPr lang="en-US" smtClean="0"/>
              <a:pPr/>
              <a:t>29</a:t>
            </a:fld>
            <a:endParaRPr lang="en-US"/>
          </a:p>
        </p:txBody>
      </p:sp>
    </p:spTree>
    <p:extLst>
      <p:ext uri="{BB962C8B-B14F-4D97-AF65-F5344CB8AC3E}">
        <p14:creationId xmlns:p14="http://schemas.microsoft.com/office/powerpoint/2010/main" val="2139279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D28D73-C76D-4D0D-85D6-790F2BACC5ED}" type="slidenum">
              <a:rPr lang="en-US" smtClean="0"/>
              <a:pPr/>
              <a:t>30</a:t>
            </a:fld>
            <a:endParaRPr lang="en-US"/>
          </a:p>
        </p:txBody>
      </p:sp>
    </p:spTree>
    <p:extLst>
      <p:ext uri="{BB962C8B-B14F-4D97-AF65-F5344CB8AC3E}">
        <p14:creationId xmlns:p14="http://schemas.microsoft.com/office/powerpoint/2010/main" val="26767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4.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5.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6.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7.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8.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9.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0.bin"/><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2.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4.bin"/><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5.bin"/><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6.bin"/><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7.bin"/><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8.bin"/><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9.bin"/><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0.bin"/><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1.bin"/><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2.bin"/><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3.bin"/><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4.bin"/><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7"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9"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5"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4"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7"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2" imgW="10438095" imgH="5980952" progId="">
                  <p:embed/>
                </p:oleObj>
              </mc:Choice>
              <mc:Fallback>
                <p:oleObj name="Image" r:id="rId2" imgW="10438095" imgH="5980952"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AC19050A-58C5-43A3-A3A0-AC5C4FC06C60}" type="slidenum">
              <a:rPr lang="en-US" altLang="ko-KR"/>
              <a:pPr>
                <a:defRPr/>
              </a:pPr>
              <a:t>‹#›</a:t>
            </a:fld>
            <a:endParaRPr lang="en-US" altLang="ko-K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CBF6FA59-E777-4A5B-8351-EE8432691672}" type="slidenum">
              <a:rPr lang="en-US" altLang="ko-KR"/>
              <a:pPr>
                <a:defRPr/>
              </a:pPr>
              <a:t>‹#›</a:t>
            </a:fld>
            <a:endParaRPr lang="en-US" altLang="ko-K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D2EA33A2-A139-4A51-B2DC-BF1D88450462}" type="slidenum">
              <a:rPr lang="en-US" altLang="ko-KR"/>
              <a:pPr>
                <a:defRPr/>
              </a:pPr>
              <a:t>‹#›</a:t>
            </a:fld>
            <a:endParaRPr lang="en-US" altLang="ko-K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D7113BB3-2F8B-425B-B2A5-080DAE82A45C}" type="slidenum">
              <a:rPr lang="en-US" altLang="ko-KR"/>
              <a:pPr>
                <a:defRPr/>
              </a:pPr>
              <a:t>‹#›</a:t>
            </a:fld>
            <a:endParaRPr lang="en-US" altLang="ko-K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7"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8"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4"/>
          <p:cNvSpPr>
            <a:spLocks noGrp="1" noChangeArrowheads="1"/>
          </p:cNvSpPr>
          <p:nvPr>
            <p:ph type="dt" sz="half" idx="10"/>
          </p:nvPr>
        </p:nvSpPr>
        <p:spPr/>
        <p:txBody>
          <a:bodyPr/>
          <a:lstStyle>
            <a:lvl1pPr>
              <a:defRPr/>
            </a:lvl1pPr>
          </a:lstStyle>
          <a:p>
            <a:pPr>
              <a:defRPr/>
            </a:pPr>
            <a:endParaRPr lang="en-US" altLang="ko-KR"/>
          </a:p>
        </p:txBody>
      </p:sp>
      <p:sp>
        <p:nvSpPr>
          <p:cNvPr id="10" name="Rectangle 5"/>
          <p:cNvSpPr>
            <a:spLocks noGrp="1" noChangeArrowheads="1"/>
          </p:cNvSpPr>
          <p:nvPr>
            <p:ph type="ftr" sz="quarter" idx="11"/>
          </p:nvPr>
        </p:nvSpPr>
        <p:spPr/>
        <p:txBody>
          <a:bodyPr/>
          <a:lstStyle>
            <a:lvl1pPr>
              <a:defRPr/>
            </a:lvl1pPr>
          </a:lstStyle>
          <a:p>
            <a:pPr>
              <a:defRPr/>
            </a:pPr>
            <a:endParaRPr lang="en-US" altLang="ko-KR"/>
          </a:p>
        </p:txBody>
      </p:sp>
      <p:sp>
        <p:nvSpPr>
          <p:cNvPr id="11" name="Rectangle 6"/>
          <p:cNvSpPr>
            <a:spLocks noGrp="1" noChangeArrowheads="1"/>
          </p:cNvSpPr>
          <p:nvPr>
            <p:ph type="sldNum" sz="quarter" idx="12"/>
          </p:nvPr>
        </p:nvSpPr>
        <p:spPr/>
        <p:txBody>
          <a:bodyPr/>
          <a:lstStyle>
            <a:lvl1pPr>
              <a:defRPr/>
            </a:lvl1pPr>
          </a:lstStyle>
          <a:p>
            <a:pPr>
              <a:defRPr/>
            </a:pPr>
            <a:fld id="{83457861-1353-4590-B80D-0C42A897DF07}" type="slidenum">
              <a:rPr lang="en-US" altLang="ko-KR"/>
              <a:pPr>
                <a:defRPr/>
              </a:pPr>
              <a:t>‹#›</a:t>
            </a:fld>
            <a:endParaRPr lang="en-US" altLang="ko-K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5" name="Rectangle 10"/>
          <p:cNvSpPr>
            <a:spLocks noGrp="1" noChangeArrowheads="1"/>
          </p:cNvSpPr>
          <p:nvPr>
            <p:ph type="dt" sz="half" idx="10"/>
          </p:nvPr>
        </p:nvSpPr>
        <p:spPr/>
        <p:txBody>
          <a:bodyPr/>
          <a:lstStyle>
            <a:lvl1pPr>
              <a:defRPr/>
            </a:lvl1pPr>
          </a:lstStyle>
          <a:p>
            <a:pPr>
              <a:defRPr/>
            </a:pPr>
            <a:endParaRPr lang="en-US" altLang="ko-KR"/>
          </a:p>
        </p:txBody>
      </p:sp>
      <p:sp>
        <p:nvSpPr>
          <p:cNvPr id="6" name="Rectangle 11"/>
          <p:cNvSpPr>
            <a:spLocks noGrp="1" noChangeArrowheads="1"/>
          </p:cNvSpPr>
          <p:nvPr>
            <p:ph type="ftr" sz="quarter" idx="11"/>
          </p:nvPr>
        </p:nvSpPr>
        <p:spPr/>
        <p:txBody>
          <a:bodyPr/>
          <a:lstStyle>
            <a:lvl1pPr>
              <a:defRPr/>
            </a:lvl1pPr>
          </a:lstStyle>
          <a:p>
            <a:pPr>
              <a:defRPr/>
            </a:pPr>
            <a:endParaRPr lang="en-US" altLang="ko-KR"/>
          </a:p>
        </p:txBody>
      </p:sp>
      <p:sp>
        <p:nvSpPr>
          <p:cNvPr id="7" name="Rectangle 12"/>
          <p:cNvSpPr>
            <a:spLocks noGrp="1" noChangeArrowheads="1"/>
          </p:cNvSpPr>
          <p:nvPr>
            <p:ph type="sldNum" sz="quarter" idx="12"/>
          </p:nvPr>
        </p:nvSpPr>
        <p:spPr/>
        <p:txBody>
          <a:bodyPr/>
          <a:lstStyle>
            <a:lvl1pPr>
              <a:defRPr/>
            </a:lvl1pPr>
          </a:lstStyle>
          <a:p>
            <a:pPr>
              <a:defRPr/>
            </a:pPr>
            <a:fld id="{242D896A-D6B2-415D-BF4C-BD3DEE8C6032}" type="slidenum">
              <a:rPr lang="en-US" altLang="ko-KR"/>
              <a:pPr>
                <a:defRPr/>
              </a:pPr>
              <a:t>‹#›</a:t>
            </a:fld>
            <a:endParaRPr lang="en-US" altLang="ko-K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aphicFrame>
        <p:nvGraphicFramePr>
          <p:cNvPr id="2"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3"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4" name="Rectangle 4"/>
          <p:cNvSpPr>
            <a:spLocks noGrp="1" noChangeArrowheads="1"/>
          </p:cNvSpPr>
          <p:nvPr>
            <p:ph type="dt" sz="half" idx="10"/>
          </p:nvPr>
        </p:nvSpPr>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p:txBody>
          <a:bodyPr/>
          <a:lstStyle>
            <a:lvl1pPr>
              <a:defRPr/>
            </a:lvl1pPr>
          </a:lstStyle>
          <a:p>
            <a:pPr>
              <a:defRPr/>
            </a:pPr>
            <a:fld id="{84FA9CAB-5207-4F51-9E54-59E315A09411}" type="slidenum">
              <a:rPr lang="en-US" altLang="ko-KR"/>
              <a:pPr>
                <a:defRPr/>
              </a:pPr>
              <a:t>‹#›</a:t>
            </a:fld>
            <a:endParaRPr lang="en-US" altLang="ko-K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3AD34DA-0E5E-4578-BC28-9B8D116DE3B3}" type="slidenum">
              <a:rPr lang="en-US" altLang="ko-KR"/>
              <a:pPr>
                <a:defRPr/>
              </a:pPr>
              <a:t>‹#›</a:t>
            </a:fld>
            <a:endParaRPr lang="en-US" altLang="ko-K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5"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6"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10"/>
          <p:cNvSpPr>
            <a:spLocks noGrp="1" noChangeArrowheads="1"/>
          </p:cNvSpPr>
          <p:nvPr>
            <p:ph type="dt" sz="half" idx="10"/>
          </p:nvPr>
        </p:nvSpPr>
        <p:spPr/>
        <p:txBody>
          <a:bodyPr/>
          <a:lstStyle>
            <a:lvl1pPr>
              <a:defRPr/>
            </a:lvl1pPr>
          </a:lstStyle>
          <a:p>
            <a:pPr>
              <a:defRPr/>
            </a:pPr>
            <a:endParaRPr lang="en-US" altLang="ko-KR"/>
          </a:p>
        </p:txBody>
      </p:sp>
      <p:sp>
        <p:nvSpPr>
          <p:cNvPr id="8" name="Rectangle 11"/>
          <p:cNvSpPr>
            <a:spLocks noGrp="1" noChangeArrowheads="1"/>
          </p:cNvSpPr>
          <p:nvPr>
            <p:ph type="ftr" sz="quarter" idx="11"/>
          </p:nvPr>
        </p:nvSpPr>
        <p:spPr/>
        <p:txBody>
          <a:bodyPr/>
          <a:lstStyle>
            <a:lvl1pPr>
              <a:defRPr/>
            </a:lvl1pPr>
          </a:lstStyle>
          <a:p>
            <a:pPr>
              <a:defRPr/>
            </a:pPr>
            <a:endParaRPr lang="en-US" altLang="ko-KR"/>
          </a:p>
        </p:txBody>
      </p:sp>
      <p:sp>
        <p:nvSpPr>
          <p:cNvPr id="9" name="Rectangle 12"/>
          <p:cNvSpPr>
            <a:spLocks noGrp="1" noChangeArrowheads="1"/>
          </p:cNvSpPr>
          <p:nvPr>
            <p:ph type="sldNum" sz="quarter" idx="12"/>
          </p:nvPr>
        </p:nvSpPr>
        <p:spPr/>
        <p:txBody>
          <a:bodyPr/>
          <a:lstStyle>
            <a:lvl1pPr>
              <a:defRPr/>
            </a:lvl1pPr>
          </a:lstStyle>
          <a:p>
            <a:pPr>
              <a:defRPr/>
            </a:pPr>
            <a:fld id="{2D726163-8FE6-490C-BBC5-6A494A7B1B64}" type="slidenum">
              <a:rPr lang="en-US" altLang="ko-KR"/>
              <a:pPr>
                <a:defRPr/>
              </a:pPr>
              <a:t>‹#›</a:t>
            </a:fld>
            <a:endParaRPr lang="en-US" altLang="ko-K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23477CFA-29B4-45FB-B98B-93BEA3C92D53}" type="slidenum">
              <a:rPr lang="en-US" altLang="ko-KR"/>
              <a:pPr>
                <a:defRPr/>
              </a:pPr>
              <a:t>‹#›</a:t>
            </a:fld>
            <a:endParaRPr lang="en-US" altLang="ko-K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5"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2" name="Vertical Title 1"/>
          <p:cNvSpPr>
            <a:spLocks noGrp="1"/>
          </p:cNvSpPr>
          <p:nvPr>
            <p:ph type="title" orient="vert"/>
          </p:nvPr>
        </p:nvSpPr>
        <p:spPr>
          <a:xfrm>
            <a:off x="6629400" y="319088"/>
            <a:ext cx="2057400" cy="63007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63007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p:txBody>
          <a:bodyPr/>
          <a:lstStyle>
            <a:lvl1pPr>
              <a:defRPr/>
            </a:lvl1pPr>
          </a:lstStyle>
          <a:p>
            <a:pPr>
              <a:defRPr/>
            </a:pPr>
            <a:endParaRPr lang="en-US" altLang="ko-KR"/>
          </a:p>
        </p:txBody>
      </p:sp>
      <p:sp>
        <p:nvSpPr>
          <p:cNvPr id="7" name="Rectangle 5"/>
          <p:cNvSpPr>
            <a:spLocks noGrp="1" noChangeArrowheads="1"/>
          </p:cNvSpPr>
          <p:nvPr>
            <p:ph type="ftr" sz="quarter" idx="11"/>
          </p:nvPr>
        </p:nvSpPr>
        <p:spPr/>
        <p:txBody>
          <a:bodyPr/>
          <a:lstStyle>
            <a:lvl1pPr>
              <a:defRPr/>
            </a:lvl1pPr>
          </a:lstStyle>
          <a:p>
            <a:pPr>
              <a:defRPr/>
            </a:pPr>
            <a:endParaRPr lang="en-US" altLang="ko-KR"/>
          </a:p>
        </p:txBody>
      </p:sp>
      <p:sp>
        <p:nvSpPr>
          <p:cNvPr id="8" name="Rectangle 6"/>
          <p:cNvSpPr>
            <a:spLocks noGrp="1" noChangeArrowheads="1"/>
          </p:cNvSpPr>
          <p:nvPr>
            <p:ph type="sldNum" sz="quarter" idx="12"/>
          </p:nvPr>
        </p:nvSpPr>
        <p:spPr/>
        <p:txBody>
          <a:bodyPr/>
          <a:lstStyle>
            <a:lvl1pPr>
              <a:defRPr/>
            </a:lvl1pPr>
          </a:lstStyle>
          <a:p>
            <a:pPr>
              <a:defRPr/>
            </a:pPr>
            <a:fld id="{F9EBD73D-BB22-4754-99D3-F3C4723D91E4}" type="slidenum">
              <a:rPr lang="en-US" altLang="ko-KR"/>
              <a:pPr>
                <a:defRPr/>
              </a:pPr>
              <a:t>‹#›</a:t>
            </a:fld>
            <a:endParaRPr lang="en-US" altLang="ko-K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878028"/>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36876250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4878028"/>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a:extLst>
              <a:ext uri="{FF2B5EF4-FFF2-40B4-BE49-F238E27FC236}">
                <a16:creationId xmlns:a16="http://schemas.microsoft.com/office/drawing/2014/main" id="{DF02F542-A0AC-4B04-BC5D-14501114FF6F}"/>
              </a:ext>
            </a:extLst>
          </p:cNvPr>
          <p:cNvPicPr>
            <a:picLocks noChangeAspect="1"/>
          </p:cNvPicPr>
          <p:nvPr userDrawn="1"/>
        </p:nvPicPr>
        <p:blipFill>
          <a:blip r:embed="rId2"/>
          <a:stretch>
            <a:fillRect/>
          </a:stretch>
        </p:blipFill>
        <p:spPr>
          <a:xfrm>
            <a:off x="3554103" y="543129"/>
            <a:ext cx="5253187" cy="289292"/>
          </a:xfrm>
          <a:prstGeom prst="rect">
            <a:avLst/>
          </a:prstGeom>
        </p:spPr>
      </p:pic>
    </p:spTree>
    <p:extLst>
      <p:ext uri="{BB962C8B-B14F-4D97-AF65-F5344CB8AC3E}">
        <p14:creationId xmlns:p14="http://schemas.microsoft.com/office/powerpoint/2010/main" val="157504940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0E8983CA-7565-4832-AEB6-43019C690817}"/>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sz="2400"/>
            </a:lvl1pPr>
            <a:lvl2pPr marL="291600" indent="-291600">
              <a:spcBef>
                <a:spcPts val="1000"/>
              </a:spcBef>
              <a:spcAft>
                <a:spcPts val="0"/>
              </a:spcAft>
              <a:defRPr sz="2200"/>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660358"/>
          </a:xfrm>
        </p:spPr>
        <p:txBody>
          <a:bodyPr/>
          <a:lstStyle>
            <a:lvl1pPr>
              <a:spcBef>
                <a:spcPts val="1000"/>
              </a:spcBef>
              <a:spcAft>
                <a:spcPts val="0"/>
              </a:spcAft>
              <a:defRPr sz="2400"/>
            </a:lvl1pPr>
            <a:lvl2pPr marL="291600" indent="-291600">
              <a:spcBef>
                <a:spcPts val="1000"/>
              </a:spcBef>
              <a:spcAft>
                <a:spcPts val="0"/>
              </a:spcAft>
              <a:defRPr sz="2200"/>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Appendix Link">
            <a:extLst>
              <a:ext uri="{FF2B5EF4-FFF2-40B4-BE49-F238E27FC236}">
                <a16:creationId xmlns:a16="http://schemas.microsoft.com/office/drawing/2014/main" id="{C5EF4C7E-E3EA-4A51-AD02-0D44BC45482F}"/>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4D1E5D3D-B35C-4CCC-8033-D6BFD87670D4}"/>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239205657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48FD5FD3-075E-4CEF-88D4-58326FA57E7D}"/>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4076700" cy="4594702"/>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612639"/>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Appendix Link">
            <a:extLst>
              <a:ext uri="{FF2B5EF4-FFF2-40B4-BE49-F238E27FC236}">
                <a16:creationId xmlns:a16="http://schemas.microsoft.com/office/drawing/2014/main" id="{7E930E35-B6A4-4F9E-84BF-898BF0B102B5}"/>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8F1429F0-0067-4606-9215-B313A14C5024}"/>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39464649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685B7D10-C617-41CF-A7CD-B95C01F469B6}"/>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727049"/>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745503"/>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Appendix Link">
            <a:extLst>
              <a:ext uri="{FF2B5EF4-FFF2-40B4-BE49-F238E27FC236}">
                <a16:creationId xmlns:a16="http://schemas.microsoft.com/office/drawing/2014/main" id="{2C05CBB5-542D-485E-BF27-8F0EC98A2C80}"/>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0" name="Image Credit">
            <a:extLst>
              <a:ext uri="{FF2B5EF4-FFF2-40B4-BE49-F238E27FC236}">
                <a16:creationId xmlns:a16="http://schemas.microsoft.com/office/drawing/2014/main" id="{9E83341F-F763-4070-A42C-3DFE82E669E8}"/>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336991786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BB7A7B45-8A6F-4051-9680-215D1BD8529C}"/>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1979254"/>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899" y="3599450"/>
            <a:ext cx="8548437" cy="1309434"/>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342899" y="5293892"/>
            <a:ext cx="8458201" cy="822158"/>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10" name="Appendix Link">
            <a:extLst>
              <a:ext uri="{FF2B5EF4-FFF2-40B4-BE49-F238E27FC236}">
                <a16:creationId xmlns:a16="http://schemas.microsoft.com/office/drawing/2014/main" id="{06D96B1E-9D79-4ED9-967D-10BA257CF30B}"/>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1" name="Image Credit">
            <a:extLst>
              <a:ext uri="{FF2B5EF4-FFF2-40B4-BE49-F238E27FC236}">
                <a16:creationId xmlns:a16="http://schemas.microsoft.com/office/drawing/2014/main" id="{22D3DFF2-A432-439E-808E-198EFC11B359}"/>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Tree>
    <p:extLst>
      <p:ext uri="{BB962C8B-B14F-4D97-AF65-F5344CB8AC3E}">
        <p14:creationId xmlns:p14="http://schemas.microsoft.com/office/powerpoint/2010/main" val="103491259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16" name="Slide Title">
            <a:extLst>
              <a:ext uri="{FF2B5EF4-FFF2-40B4-BE49-F238E27FC236}">
                <a16:creationId xmlns:a16="http://schemas.microsoft.com/office/drawing/2014/main" id="{0AEF76B8-09D8-4437-B6C6-86E80F0B5D99}"/>
              </a:ext>
            </a:extLst>
          </p:cNvPr>
          <p:cNvSpPr>
            <a:spLocks noGrp="1"/>
          </p:cNvSpPr>
          <p:nvPr>
            <p:ph type="title" hasCustomPrompt="1"/>
          </p:nvPr>
        </p:nvSpPr>
        <p:spPr>
          <a:xfrm>
            <a:off x="342900" y="147328"/>
            <a:ext cx="8458200" cy="993554"/>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53710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12" name="Appendix Link">
            <a:extLst>
              <a:ext uri="{FF2B5EF4-FFF2-40B4-BE49-F238E27FC236}">
                <a16:creationId xmlns:a16="http://schemas.microsoft.com/office/drawing/2014/main" id="{AF95AD97-07DA-4F61-A6D6-FA93CAFE059F}"/>
              </a:ext>
            </a:extLst>
          </p:cNvPr>
          <p:cNvSpPr>
            <a:spLocks noGrp="1"/>
          </p:cNvSpPr>
          <p:nvPr>
            <p:ph type="body" sz="quarter" idx="12" hasCustomPrompt="1"/>
          </p:nvPr>
        </p:nvSpPr>
        <p:spPr>
          <a:xfrm>
            <a:off x="2971268" y="6266449"/>
            <a:ext cx="3201464" cy="306803"/>
          </a:xfrm>
        </p:spPr>
        <p:txBody>
          <a:bodyPr anchor="b">
            <a:noAutofit/>
          </a:bodyPr>
          <a:lstStyle>
            <a:lvl1pPr algn="ctr">
              <a:defRPr sz="1200"/>
            </a:lvl1pPr>
          </a:lstStyle>
          <a:p>
            <a:pPr lvl="0"/>
            <a:r>
              <a:rPr lang="en-US" dirty="0"/>
              <a:t>Add text alternative link, if needed.</a:t>
            </a:r>
          </a:p>
        </p:txBody>
      </p:sp>
      <p:sp>
        <p:nvSpPr>
          <p:cNvPr id="14" name="Image Credit">
            <a:extLst>
              <a:ext uri="{FF2B5EF4-FFF2-40B4-BE49-F238E27FC236}">
                <a16:creationId xmlns:a16="http://schemas.microsoft.com/office/drawing/2014/main" id="{2378B41D-4109-4622-8529-FD51F6960526}"/>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17" name="Content Placeholder 1">
            <a:extLst>
              <a:ext uri="{FF2B5EF4-FFF2-40B4-BE49-F238E27FC236}">
                <a16:creationId xmlns:a16="http://schemas.microsoft.com/office/drawing/2014/main" id="{7DDD7A36-42B8-41F0-AA6A-4A5F0C04D20B}"/>
              </a:ext>
            </a:extLst>
          </p:cNvPr>
          <p:cNvSpPr>
            <a:spLocks noGrp="1"/>
          </p:cNvSpPr>
          <p:nvPr>
            <p:ph sz="quarter" idx="19" hasCustomPrompt="1"/>
          </p:nvPr>
        </p:nvSpPr>
        <p:spPr>
          <a:xfrm>
            <a:off x="5745018" y="1429110"/>
            <a:ext cx="3208482"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8" name="Content Placeholder 2">
            <a:extLst>
              <a:ext uri="{FF2B5EF4-FFF2-40B4-BE49-F238E27FC236}">
                <a16:creationId xmlns:a16="http://schemas.microsoft.com/office/drawing/2014/main" id="{C9C88938-CC0D-449E-8A4A-2D221941436C}"/>
              </a:ext>
            </a:extLst>
          </p:cNvPr>
          <p:cNvSpPr>
            <a:spLocks noGrp="1"/>
          </p:cNvSpPr>
          <p:nvPr>
            <p:ph sz="quarter" idx="20" hasCustomPrompt="1"/>
          </p:nvPr>
        </p:nvSpPr>
        <p:spPr>
          <a:xfrm>
            <a:off x="5745018" y="2222896"/>
            <a:ext cx="3208482"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13BEA462-0627-4D3D-8811-6E504C56E37F}"/>
              </a:ext>
            </a:extLst>
          </p:cNvPr>
          <p:cNvSpPr>
            <a:spLocks noGrp="1"/>
          </p:cNvSpPr>
          <p:nvPr>
            <p:ph sz="quarter" idx="21" hasCustomPrompt="1"/>
          </p:nvPr>
        </p:nvSpPr>
        <p:spPr>
          <a:xfrm>
            <a:off x="5745018" y="3053344"/>
            <a:ext cx="3208482"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20" name="Content Placeholder 4">
            <a:extLst>
              <a:ext uri="{FF2B5EF4-FFF2-40B4-BE49-F238E27FC236}">
                <a16:creationId xmlns:a16="http://schemas.microsoft.com/office/drawing/2014/main" id="{F57C9484-BFB6-4C85-A92A-62C821553D9D}"/>
              </a:ext>
            </a:extLst>
          </p:cNvPr>
          <p:cNvSpPr>
            <a:spLocks noGrp="1"/>
          </p:cNvSpPr>
          <p:nvPr>
            <p:ph sz="quarter" idx="22" hasCustomPrompt="1"/>
          </p:nvPr>
        </p:nvSpPr>
        <p:spPr>
          <a:xfrm>
            <a:off x="5745018" y="3907754"/>
            <a:ext cx="3208482"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21" name="Content Placeholder 5">
            <a:extLst>
              <a:ext uri="{FF2B5EF4-FFF2-40B4-BE49-F238E27FC236}">
                <a16:creationId xmlns:a16="http://schemas.microsoft.com/office/drawing/2014/main" id="{48A7BABE-83B2-40C6-AF01-D4FACED73C9C}"/>
              </a:ext>
            </a:extLst>
          </p:cNvPr>
          <p:cNvSpPr>
            <a:spLocks noGrp="1"/>
          </p:cNvSpPr>
          <p:nvPr>
            <p:ph sz="quarter" idx="23" hasCustomPrompt="1"/>
          </p:nvPr>
        </p:nvSpPr>
        <p:spPr>
          <a:xfrm>
            <a:off x="5745018" y="4787564"/>
            <a:ext cx="3208482"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22" name="Content Placeholder 6">
            <a:extLst>
              <a:ext uri="{FF2B5EF4-FFF2-40B4-BE49-F238E27FC236}">
                <a16:creationId xmlns:a16="http://schemas.microsoft.com/office/drawing/2014/main" id="{07A09D0D-557D-45D4-B594-32807A4AAC90}"/>
              </a:ext>
            </a:extLst>
          </p:cNvPr>
          <p:cNvSpPr>
            <a:spLocks noGrp="1"/>
          </p:cNvSpPr>
          <p:nvPr>
            <p:ph sz="quarter" idx="24" hasCustomPrompt="1"/>
          </p:nvPr>
        </p:nvSpPr>
        <p:spPr>
          <a:xfrm>
            <a:off x="5745018" y="5667375"/>
            <a:ext cx="3208482" cy="537105"/>
          </a:xfrm>
        </p:spPr>
        <p:txBody>
          <a:bodyPr/>
          <a:lstStyle>
            <a:lvl1pPr>
              <a:defRPr/>
            </a:lvl1pPr>
          </a:lstStyle>
          <a:p>
            <a:pPr lvl="0"/>
            <a:r>
              <a:rPr lang="en-US" dirty="0"/>
              <a:t>Slide Content 6</a:t>
            </a:r>
          </a:p>
          <a:p>
            <a:pPr lvl="1"/>
            <a:r>
              <a:rPr lang="en-US" dirty="0"/>
              <a:t>Second level</a:t>
            </a:r>
          </a:p>
          <a:p>
            <a:pPr lvl="2"/>
            <a:r>
              <a:rPr lang="en-US" dirty="0"/>
              <a:t>Third level</a:t>
            </a:r>
          </a:p>
        </p:txBody>
      </p:sp>
    </p:spTree>
    <p:extLst>
      <p:ext uri="{BB962C8B-B14F-4D97-AF65-F5344CB8AC3E}">
        <p14:creationId xmlns:p14="http://schemas.microsoft.com/office/powerpoint/2010/main" val="161623767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13.bin"/></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srcRect/>
          <a:stretch>
            <a:fillRect t="-1000" b="-1000"/>
          </a:stretch>
        </a:blipFill>
        <a:effectLst/>
      </p:bgPr>
    </p:bg>
    <p:spTree>
      <p:nvGrpSpPr>
        <p:cNvPr id="1" name=""/>
        <p:cNvGrpSpPr/>
        <p:nvPr/>
      </p:nvGrpSpPr>
      <p:grpSpPr>
        <a:xfrm>
          <a:off x="0" y="0"/>
          <a:ext cx="0" cy="0"/>
          <a:chOff x="0" y="0"/>
          <a:chExt cx="0" cy="0"/>
        </a:xfrm>
      </p:grpSpPr>
      <p:graphicFrame>
        <p:nvGraphicFramePr>
          <p:cNvPr id="1026"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14" imgW="10438095" imgH="5980952" progId="">
                  <p:embed/>
                </p:oleObj>
              </mc:Choice>
              <mc:Fallback>
                <p:oleObj name="Image" r:id="rId14" imgW="10438095" imgH="5980952" progId="">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 name="Text Box 14"/>
          <p:cNvSpPr txBox="1">
            <a:spLocks noChangeArrowheads="1"/>
          </p:cNvSpPr>
          <p:nvPr/>
        </p:nvSpPr>
        <p:spPr bwMode="auto">
          <a:xfrm>
            <a:off x="381000" y="304800"/>
            <a:ext cx="1079500" cy="396875"/>
          </a:xfrm>
          <a:prstGeom prst="rect">
            <a:avLst/>
          </a:prstGeom>
          <a:noFill/>
          <a:ln w="9525">
            <a:noFill/>
            <a:miter lim="800000"/>
            <a:headEnd/>
            <a:tailEnd/>
          </a:ln>
          <a:effectLst/>
        </p:spPr>
        <p:txBody>
          <a:bodyPr>
            <a:spAutoFit/>
          </a:bodyPr>
          <a:lstStyle/>
          <a:p>
            <a:pPr>
              <a:defRPr/>
            </a:pPr>
            <a:r>
              <a:rPr lang="en-US" altLang="ko-KR" sz="2000">
                <a:latin typeface="Verdana" pitchFamily="34" charset="0"/>
                <a:ea typeface="굴림" charset="-127"/>
              </a:rPr>
              <a:t>LOGO</a:t>
            </a:r>
          </a:p>
        </p:txBody>
      </p:sp>
      <p:sp>
        <p:nvSpPr>
          <p:cNvPr id="11"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
        <p:nvSpPr>
          <p:cNvPr id="1030"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1031"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Tree>
  </p:cSld>
  <p:clrMap bg1="dk2" tx1="lt1" bg2="dk1" tx2="lt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srcRect/>
          <a:stretch>
            <a:fillRect t="-1000" b="-1000"/>
          </a:stretch>
        </a:blipFill>
        <a:effectLst/>
      </p:bgPr>
    </p:bg>
    <p:spTree>
      <p:nvGrpSpPr>
        <p:cNvPr id="1" name=""/>
        <p:cNvGrpSpPr/>
        <p:nvPr/>
      </p:nvGrpSpPr>
      <p:grpSpPr>
        <a:xfrm>
          <a:off x="0" y="0"/>
          <a:ext cx="0" cy="0"/>
          <a:chOff x="0" y="0"/>
          <a:chExt cx="0" cy="0"/>
        </a:xfrm>
      </p:grpSpPr>
      <p:graphicFrame>
        <p:nvGraphicFramePr>
          <p:cNvPr id="13314"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4" imgW="10387302" imgH="1205924" progId="">
                  <p:embed/>
                </p:oleObj>
              </mc:Choice>
              <mc:Fallback>
                <p:oleObj name="Image" r:id="rId14" imgW="10387302" imgH="1205924"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3316"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b="0">
                <a:latin typeface="+mj-lt"/>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b="0">
                <a:latin typeface="+mj-lt"/>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b="0">
                <a:latin typeface="+mj-lt"/>
                <a:ea typeface="굴림" charset="-127"/>
              </a:defRPr>
            </a:lvl1pPr>
          </a:lstStyle>
          <a:p>
            <a:pPr>
              <a:defRPr/>
            </a:pPr>
            <a:fld id="{2F609E19-2604-492B-B8BC-5AFF768B4CA3}" type="slidenum">
              <a:rPr lang="en-US" altLang="ko-KR"/>
              <a:pPr>
                <a:defRPr/>
              </a:pPr>
              <a:t>‹#›</a:t>
            </a:fld>
            <a:endParaRPr lang="en-US" altLang="ko-KR"/>
          </a:p>
        </p:txBody>
      </p:sp>
      <p:sp>
        <p:nvSpPr>
          <p:cNvPr id="13320"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a:defRPr/>
            </a:pPr>
            <a:endParaRPr lang="ko-KR" altLang="en-US" sz="1800" b="0">
              <a:latin typeface="Arial" pitchFamily="34" charset="0"/>
              <a:ea typeface="굴림" pitchFamily="50" charset="-127"/>
            </a:endParaRPr>
          </a:p>
        </p:txBody>
      </p:sp>
    </p:spTree>
  </p:cSld>
  <p:clrMap bg1="dk2" tx1="lt1" bg2="dk1" tx2="lt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ransition spd="med"/>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pitchFamily="34" charset="0"/>
        </a:defRPr>
      </a:lvl2pPr>
      <a:lvl3pPr algn="r" rtl="0" eaLnBrk="0" fontAlgn="base" latinLnBrk="1" hangingPunct="0">
        <a:spcBef>
          <a:spcPct val="0"/>
        </a:spcBef>
        <a:spcAft>
          <a:spcPct val="0"/>
        </a:spcAft>
        <a:defRPr sz="3600">
          <a:solidFill>
            <a:schemeClr val="tx2"/>
          </a:solidFill>
          <a:latin typeface="Arial" pitchFamily="34" charset="0"/>
        </a:defRPr>
      </a:lvl3pPr>
      <a:lvl4pPr algn="r" rtl="0" eaLnBrk="0" fontAlgn="base" latinLnBrk="1" hangingPunct="0">
        <a:spcBef>
          <a:spcPct val="0"/>
        </a:spcBef>
        <a:spcAft>
          <a:spcPct val="0"/>
        </a:spcAft>
        <a:defRPr sz="3600">
          <a:solidFill>
            <a:schemeClr val="tx2"/>
          </a:solidFill>
          <a:latin typeface="Arial" pitchFamily="34" charset="0"/>
        </a:defRPr>
      </a:lvl4pPr>
      <a:lvl5pPr algn="r" rtl="0" eaLnBrk="0" fontAlgn="base" latinLnBrk="1" hangingPunct="0">
        <a:spcBef>
          <a:spcPct val="0"/>
        </a:spcBef>
        <a:spcAft>
          <a:spcPct val="0"/>
        </a:spcAft>
        <a:defRPr sz="3600">
          <a:solidFill>
            <a:schemeClr val="tx2"/>
          </a:solidFill>
          <a:latin typeface="Arial" pitchFamily="34" charset="0"/>
        </a:defRPr>
      </a:lvl5pPr>
      <a:lvl6pPr marL="457200" algn="r" rtl="0" eaLnBrk="0" fontAlgn="base" latinLnBrk="1" hangingPunct="0">
        <a:spcBef>
          <a:spcPct val="0"/>
        </a:spcBef>
        <a:spcAft>
          <a:spcPct val="0"/>
        </a:spcAft>
        <a:defRPr sz="3600">
          <a:solidFill>
            <a:schemeClr val="tx2"/>
          </a:solidFill>
          <a:latin typeface="Arial" pitchFamily="34" charset="0"/>
        </a:defRPr>
      </a:lvl6pPr>
      <a:lvl7pPr marL="914400" algn="r" rtl="0" eaLnBrk="0" fontAlgn="base" latinLnBrk="1" hangingPunct="0">
        <a:spcBef>
          <a:spcPct val="0"/>
        </a:spcBef>
        <a:spcAft>
          <a:spcPct val="0"/>
        </a:spcAft>
        <a:defRPr sz="3600">
          <a:solidFill>
            <a:schemeClr val="tx2"/>
          </a:solidFill>
          <a:latin typeface="Arial" pitchFamily="34" charset="0"/>
        </a:defRPr>
      </a:lvl7pPr>
      <a:lvl8pPr marL="1371600" algn="r" rtl="0" eaLnBrk="0" fontAlgn="base" latinLnBrk="1" hangingPunct="0">
        <a:spcBef>
          <a:spcPct val="0"/>
        </a:spcBef>
        <a:spcAft>
          <a:spcPct val="0"/>
        </a:spcAft>
        <a:defRPr sz="3600">
          <a:solidFill>
            <a:schemeClr val="tx2"/>
          </a:solidFill>
          <a:latin typeface="Arial" pitchFamily="34" charset="0"/>
        </a:defRPr>
      </a:lvl8pPr>
      <a:lvl9pPr marL="1828800" algn="r" rtl="0" eaLnBrk="0" fontAlgn="base" latinLnBrk="1" hangingPunct="0">
        <a:spcBef>
          <a:spcPct val="0"/>
        </a:spcBef>
        <a:spcAft>
          <a:spcPct val="0"/>
        </a:spcAft>
        <a:defRPr sz="3600">
          <a:solidFill>
            <a:schemeClr val="tx2"/>
          </a:solidFill>
          <a:latin typeface="Arial" pitchFamily="34"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0" fontAlgn="base" latinLnBrk="1" hangingPunct="0">
        <a:spcBef>
          <a:spcPct val="20000"/>
        </a:spcBef>
        <a:spcAft>
          <a:spcPct val="0"/>
        </a:spcAft>
        <a:buChar char="»"/>
        <a:defRPr sz="2000">
          <a:solidFill>
            <a:schemeClr val="tx2"/>
          </a:solidFill>
          <a:latin typeface="+mj-lt"/>
        </a:defRPr>
      </a:lvl6pPr>
      <a:lvl7pPr marL="2971800" indent="-228600" algn="l" rtl="0" eaLnBrk="0" fontAlgn="base" latinLnBrk="1" hangingPunct="0">
        <a:spcBef>
          <a:spcPct val="20000"/>
        </a:spcBef>
        <a:spcAft>
          <a:spcPct val="0"/>
        </a:spcAft>
        <a:buChar char="»"/>
        <a:defRPr sz="2000">
          <a:solidFill>
            <a:schemeClr val="tx2"/>
          </a:solidFill>
          <a:latin typeface="+mj-lt"/>
        </a:defRPr>
      </a:lvl7pPr>
      <a:lvl8pPr marL="3429000" indent="-228600" algn="l" rtl="0" eaLnBrk="0" fontAlgn="base" latinLnBrk="1" hangingPunct="0">
        <a:spcBef>
          <a:spcPct val="20000"/>
        </a:spcBef>
        <a:spcAft>
          <a:spcPct val="0"/>
        </a:spcAft>
        <a:buChar char="»"/>
        <a:defRPr sz="2000">
          <a:solidFill>
            <a:schemeClr val="tx2"/>
          </a:solidFill>
          <a:latin typeface="+mj-lt"/>
        </a:defRPr>
      </a:lvl8pPr>
      <a:lvl9pPr marL="3886200" indent="-228600" algn="l" rtl="0" eaLnBrk="0" fontAlgn="base" latinLnBrk="1" hangingPunct="0">
        <a:spcBef>
          <a:spcPct val="20000"/>
        </a:spcBef>
        <a:spcAft>
          <a:spcPct val="0"/>
        </a:spcAft>
        <a:buChar char="»"/>
        <a:defRPr sz="2000">
          <a:solidFill>
            <a:schemeClr val="tx2"/>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1045"/>
            <a:ext cx="8458200" cy="912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solidFill>
              </a:rPr>
              <a:t>© McGraw Hill</a:t>
            </a:r>
          </a:p>
        </p:txBody>
      </p:sp>
      <p:sp>
        <p:nvSpPr>
          <p:cNvPr id="7" name="TextBox 6">
            <a:extLst>
              <a:ext uri="{FF2B5EF4-FFF2-40B4-BE49-F238E27FC236}">
                <a16:creationId xmlns:a16="http://schemas.microsoft.com/office/drawing/2014/main" id="{BC1B2337-34C2-471F-9832-A0DE81FAB6F3}"/>
              </a:ext>
            </a:extLst>
          </p:cNvPr>
          <p:cNvSpPr txBox="1"/>
          <p:nvPr userDrawn="1"/>
        </p:nvSpPr>
        <p:spPr>
          <a:xfrm>
            <a:off x="8631382" y="6648883"/>
            <a:ext cx="360218" cy="215444"/>
          </a:xfrm>
          <a:prstGeom prst="rect">
            <a:avLst/>
          </a:prstGeom>
          <a:noFill/>
        </p:spPr>
        <p:txBody>
          <a:bodyPr wrap="square">
            <a:spAutoFit/>
          </a:bodyPr>
          <a:lstStyle/>
          <a:p>
            <a:pPr algn="r" fontAlgn="base">
              <a:spcBef>
                <a:spcPct val="0"/>
              </a:spcBef>
              <a:spcAft>
                <a:spcPct val="0"/>
              </a:spcAft>
              <a:defRPr/>
            </a:pPr>
            <a:fld id="{53864CA9-ADCA-4554-9432-EA4A2FB55A34}" type="slidenum">
              <a:rPr lang="en-US" sz="800" smtClean="0">
                <a:solidFill>
                  <a:schemeClr val="tx1"/>
                </a:solidFill>
                <a:latin typeface="+mn-lt"/>
                <a:ea typeface="MS PGothic" pitchFamily="34" charset="-128"/>
              </a:rPr>
              <a:pPr algn="r" fontAlgn="base">
                <a:spcBef>
                  <a:spcPct val="0"/>
                </a:spcBef>
                <a:spcAft>
                  <a:spcPct val="0"/>
                </a:spcAft>
                <a:defRPr/>
              </a:pPr>
              <a:t>‹#›</a:t>
            </a:fld>
            <a:endParaRPr lang="en-US" sz="800" dirty="0">
              <a:solidFill>
                <a:schemeClr val="tx1"/>
              </a:solidFill>
              <a:latin typeface="+mn-lt"/>
              <a:ea typeface="MS PGothic" pitchFamily="34" charset="-128"/>
            </a:endParaRPr>
          </a:p>
        </p:txBody>
      </p:sp>
    </p:spTree>
    <p:extLst>
      <p:ext uri="{BB962C8B-B14F-4D97-AF65-F5344CB8AC3E}">
        <p14:creationId xmlns:p14="http://schemas.microsoft.com/office/powerpoint/2010/main" val="654963590"/>
      </p:ext>
    </p:extLst>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1000"/>
        </a:spcBef>
        <a:spcAft>
          <a:spcPts val="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1000"/>
        </a:spcBef>
        <a:spcAft>
          <a:spcPts val="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5.bin"/><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hyperlink" Target="http://www.wto.org/"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6.bin"/><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7.bin"/><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8.bin"/><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ctrTitle" idx="4294967295"/>
          </p:nvPr>
        </p:nvSpPr>
        <p:spPr>
          <a:xfrm>
            <a:off x="0" y="0"/>
            <a:ext cx="9144000" cy="2357430"/>
          </a:xfrm>
          <a:solidFill>
            <a:srgbClr val="003296"/>
          </a:solidFill>
          <a:effectLst>
            <a:outerShdw dist="28398" dir="3806097" algn="ctr" rotWithShape="0">
              <a:srgbClr val="000066">
                <a:alpha val="50000"/>
              </a:srgbClr>
            </a:outerShdw>
          </a:effectLst>
        </p:spPr>
        <p:txBody>
          <a:bodyPr/>
          <a:lstStyle/>
          <a:p>
            <a:pPr algn="ctr" eaLnBrk="1" hangingPunct="1">
              <a:defRPr/>
            </a:pPr>
            <a:r>
              <a:rPr lang="en-US" altLang="ko-KR" b="1" dirty="0">
                <a:solidFill>
                  <a:schemeClr val="accent1"/>
                </a:solidFill>
                <a:latin typeface="Times New Roman" pitchFamily="18" charset="0"/>
                <a:ea typeface="굴림" pitchFamily="50" charset="-127"/>
              </a:rPr>
              <a:t>Regional Economic Integration</a:t>
            </a:r>
          </a:p>
        </p:txBody>
      </p:sp>
      <p:grpSp>
        <p:nvGrpSpPr>
          <p:cNvPr id="57347" name="Group 3"/>
          <p:cNvGrpSpPr>
            <a:grpSpLocks/>
          </p:cNvGrpSpPr>
          <p:nvPr/>
        </p:nvGrpSpPr>
        <p:grpSpPr bwMode="auto">
          <a:xfrm>
            <a:off x="0" y="2924175"/>
            <a:ext cx="9144000" cy="123825"/>
            <a:chOff x="432" y="912"/>
            <a:chExt cx="5808" cy="48"/>
          </a:xfrm>
        </p:grpSpPr>
        <p:sp>
          <p:nvSpPr>
            <p:cNvPr id="57350"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57351"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57348" name="Text Box 9"/>
          <p:cNvSpPr txBox="1">
            <a:spLocks noChangeArrowheads="1"/>
          </p:cNvSpPr>
          <p:nvPr/>
        </p:nvSpPr>
        <p:spPr bwMode="auto">
          <a:xfrm>
            <a:off x="5490405" y="4393680"/>
            <a:ext cx="2803075" cy="800219"/>
          </a:xfrm>
          <a:prstGeom prst="rect">
            <a:avLst/>
          </a:prstGeom>
          <a:noFill/>
          <a:ln w="12700">
            <a:noFill/>
            <a:miter lim="800000"/>
            <a:headEnd/>
            <a:tailEnd/>
          </a:ln>
        </p:spPr>
        <p:txBody>
          <a:bodyPr wrap="none" lIns="0" tIns="0" rIns="0" bIns="0">
            <a:spAutoFit/>
          </a:bodyPr>
          <a:lstStyle/>
          <a:p>
            <a:pPr algn="r"/>
            <a:r>
              <a:rPr lang="en-US" altLang="ko-KR" sz="2800" b="0" dirty="0">
                <a:solidFill>
                  <a:srgbClr val="99FF33"/>
                </a:solidFill>
                <a:ea typeface="굴림" pitchFamily="50" charset="-127"/>
              </a:rPr>
              <a:t>Dr. </a:t>
            </a:r>
            <a:r>
              <a:rPr lang="en-US" altLang="ko-KR" sz="2800" b="0" dirty="0" err="1">
                <a:solidFill>
                  <a:srgbClr val="99FF33"/>
                </a:solidFill>
                <a:ea typeface="굴림" pitchFamily="50" charset="-127"/>
              </a:rPr>
              <a:t>Kwangsoo</a:t>
            </a:r>
            <a:r>
              <a:rPr lang="en-US" altLang="ko-KR" sz="2800" b="0" dirty="0">
                <a:solidFill>
                  <a:srgbClr val="99FF33"/>
                </a:solidFill>
                <a:ea typeface="굴림" pitchFamily="50" charset="-127"/>
              </a:rPr>
              <a:t> Kim</a:t>
            </a:r>
          </a:p>
          <a:p>
            <a:pPr algn="r"/>
            <a:r>
              <a:rPr lang="en-US" altLang="ko-KR" b="0" dirty="0" err="1">
                <a:solidFill>
                  <a:srgbClr val="99FF33"/>
                </a:solidFill>
                <a:ea typeface="굴림" pitchFamily="50" charset="-127"/>
              </a:rPr>
              <a:t>Konkuk</a:t>
            </a:r>
            <a:r>
              <a:rPr lang="en-US" altLang="ko-KR" b="0" dirty="0">
                <a:solidFill>
                  <a:srgbClr val="99FF33"/>
                </a:solidFill>
                <a:ea typeface="굴림" pitchFamily="50" charset="-127"/>
              </a:rPr>
              <a:t> University</a:t>
            </a:r>
          </a:p>
        </p:txBody>
      </p:sp>
      <p:sp>
        <p:nvSpPr>
          <p:cNvPr id="57349" name="Rectangle 8"/>
          <p:cNvSpPr>
            <a:spLocks noChangeArrowheads="1"/>
          </p:cNvSpPr>
          <p:nvPr/>
        </p:nvSpPr>
        <p:spPr bwMode="auto">
          <a:xfrm>
            <a:off x="5214938" y="4078510"/>
            <a:ext cx="3240087" cy="1582738"/>
          </a:xfrm>
          <a:prstGeom prst="rect">
            <a:avLst/>
          </a:prstGeom>
          <a:noFill/>
          <a:ln w="38100">
            <a:solidFill>
              <a:schemeClr val="bg2"/>
            </a:solidFill>
            <a:miter lim="800000"/>
            <a:headEnd/>
            <a:tailEnd/>
          </a:ln>
        </p:spPr>
        <p:txBody>
          <a:bodyPr wrap="none" anchor="ctr"/>
          <a:lstStyle/>
          <a:p>
            <a:pPr latinLnBrk="1"/>
            <a:endParaRPr kumimoji="1" lang="ko-KR" altLang="en-US" sz="1800" b="0">
              <a:solidFill>
                <a:schemeClr val="bg1"/>
              </a:solidFill>
              <a:latin typeface="Franklin Gothic Heavy" pitchFamily="34" charset="0"/>
              <a:ea typeface="굴림" pitchFamily="50" charset="-127"/>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23"/>
          <p:cNvSpPr txBox="1">
            <a:spLocks noChangeArrowheads="1"/>
          </p:cNvSpPr>
          <p:nvPr/>
        </p:nvSpPr>
        <p:spPr bwMode="auto">
          <a:xfrm>
            <a:off x="3059113" y="260350"/>
            <a:ext cx="2789237" cy="641350"/>
          </a:xfrm>
          <a:prstGeom prst="rect">
            <a:avLst/>
          </a:prstGeom>
          <a:noFill/>
          <a:ln w="9525">
            <a:noFill/>
            <a:miter lim="800000"/>
            <a:headEnd/>
            <a:tailEnd/>
          </a:ln>
          <a:effectLst>
            <a:outerShdw dist="17961" dir="2700000" algn="ctr" rotWithShape="0">
              <a:schemeClr val="tx2"/>
            </a:outerShdw>
          </a:effectLst>
        </p:spPr>
        <p:txBody>
          <a:bodyPr>
            <a:spAutoFit/>
          </a:bodyPr>
          <a:lstStyle/>
          <a:p>
            <a:pPr algn="ctr" latinLnBrk="0">
              <a:defRPr/>
            </a:pPr>
            <a:r>
              <a:rPr kumimoji="0" lang="en-US" altLang="ko-KR" sz="3600" b="1" dirty="0">
                <a:solidFill>
                  <a:srgbClr val="FFCC00"/>
                </a:solidFill>
                <a:effectLst>
                  <a:outerShdw blurRad="38100" dist="38100" dir="2700000" algn="tl">
                    <a:srgbClr val="000000"/>
                  </a:outerShdw>
                </a:effectLst>
                <a:ea typeface="HY헤드라인M" pitchFamily="18" charset="-127"/>
                <a:cs typeface="Times New Roman" pitchFamily="18" charset="0"/>
              </a:rPr>
              <a:t>AGENDA</a:t>
            </a:r>
            <a:endParaRPr kumimoji="0" lang="ko-KR" altLang="en-US" sz="3600" b="1" dirty="0">
              <a:solidFill>
                <a:srgbClr val="FFCC00"/>
              </a:solidFill>
              <a:effectLst>
                <a:outerShdw blurRad="38100" dist="38100" dir="2700000" algn="tl">
                  <a:srgbClr val="000000"/>
                </a:outerShdw>
              </a:effectLst>
              <a:ea typeface="HY헤드라인M" pitchFamily="18" charset="-127"/>
              <a:cs typeface="Times New Roman" pitchFamily="18" charset="0"/>
            </a:endParaRPr>
          </a:p>
        </p:txBody>
      </p:sp>
      <p:grpSp>
        <p:nvGrpSpPr>
          <p:cNvPr id="25" name="Group 24"/>
          <p:cNvGrpSpPr/>
          <p:nvPr/>
        </p:nvGrpSpPr>
        <p:grpSpPr>
          <a:xfrm>
            <a:off x="285750" y="1500188"/>
            <a:ext cx="8572500" cy="4809132"/>
            <a:chOff x="285750" y="1500188"/>
            <a:chExt cx="8572500" cy="4071937"/>
          </a:xfrm>
        </p:grpSpPr>
        <p:grpSp>
          <p:nvGrpSpPr>
            <p:cNvPr id="2" name="Group 18"/>
            <p:cNvGrpSpPr>
              <a:grpSpLocks/>
            </p:cNvGrpSpPr>
            <p:nvPr/>
          </p:nvGrpSpPr>
          <p:grpSpPr bwMode="auto">
            <a:xfrm>
              <a:off x="285750" y="1500188"/>
              <a:ext cx="8572500" cy="4071937"/>
              <a:chOff x="285750" y="1500188"/>
              <a:chExt cx="8572500" cy="3929062"/>
            </a:xfrm>
          </p:grpSpPr>
          <p:grpSp>
            <p:nvGrpSpPr>
              <p:cNvPr id="3" name="Group 173"/>
              <p:cNvGrpSpPr>
                <a:grpSpLocks/>
              </p:cNvGrpSpPr>
              <p:nvPr/>
            </p:nvGrpSpPr>
            <p:grpSpPr bwMode="auto">
              <a:xfrm>
                <a:off x="285750" y="1500188"/>
                <a:ext cx="8572500" cy="842962"/>
                <a:chOff x="1248" y="1350"/>
                <a:chExt cx="3060" cy="348"/>
              </a:xfrm>
            </p:grpSpPr>
            <p:sp>
              <p:nvSpPr>
                <p:cNvPr id="15380" name="AutoShape 95"/>
                <p:cNvSpPr>
                  <a:spLocks noChangeArrowheads="1"/>
                </p:cNvSpPr>
                <p:nvPr/>
              </p:nvSpPr>
              <p:spPr bwMode="gray">
                <a:xfrm>
                  <a:off x="1248" y="1350"/>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81" name="AutoShape 94"/>
                <p:cNvSpPr>
                  <a:spLocks noChangeArrowheads="1"/>
                </p:cNvSpPr>
                <p:nvPr/>
              </p:nvSpPr>
              <p:spPr bwMode="gray">
                <a:xfrm>
                  <a:off x="1303" y="1380"/>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0" name="Text Box 42"/>
                <p:cNvSpPr txBox="1">
                  <a:spLocks noChangeArrowheads="1"/>
                </p:cNvSpPr>
                <p:nvPr/>
              </p:nvSpPr>
              <p:spPr bwMode="gray">
                <a:xfrm>
                  <a:off x="1358" y="1380"/>
                  <a:ext cx="2839" cy="233"/>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endParaRPr kumimoji="0" lang="en-US" altLang="ko-KR" sz="3200" dirty="0">
                    <a:latin typeface="Arial" charset="0"/>
                    <a:ea typeface="HY견고딕" pitchFamily="18" charset="-127"/>
                    <a:cs typeface="Times New Roman" pitchFamily="18" charset="0"/>
                  </a:endParaRPr>
                </a:p>
              </p:txBody>
            </p:sp>
          </p:grpSp>
          <p:grpSp>
            <p:nvGrpSpPr>
              <p:cNvPr id="4" name="Group 174"/>
              <p:cNvGrpSpPr>
                <a:grpSpLocks/>
              </p:cNvGrpSpPr>
              <p:nvPr/>
            </p:nvGrpSpPr>
            <p:grpSpPr bwMode="auto">
              <a:xfrm>
                <a:off x="285750" y="2563818"/>
                <a:ext cx="8501063" cy="842963"/>
                <a:chOff x="1260" y="1794"/>
                <a:chExt cx="3060" cy="348"/>
              </a:xfrm>
            </p:grpSpPr>
            <p:sp>
              <p:nvSpPr>
                <p:cNvPr id="15377" name="AutoShape 109"/>
                <p:cNvSpPr>
                  <a:spLocks noChangeArrowheads="1"/>
                </p:cNvSpPr>
                <p:nvPr/>
              </p:nvSpPr>
              <p:spPr bwMode="gray">
                <a:xfrm>
                  <a:off x="1260" y="179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5378" name="AutoShape 110"/>
                <p:cNvSpPr>
                  <a:spLocks noChangeArrowheads="1"/>
                </p:cNvSpPr>
                <p:nvPr/>
              </p:nvSpPr>
              <p:spPr bwMode="gray">
                <a:xfrm>
                  <a:off x="1315" y="182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Arial" pitchFamily="34" charset="0"/>
                  </a:endParaRPr>
                </a:p>
              </p:txBody>
            </p:sp>
            <p:sp>
              <p:nvSpPr>
                <p:cNvPr id="104" name="Text Box 111"/>
                <p:cNvSpPr txBox="1">
                  <a:spLocks noChangeArrowheads="1"/>
                </p:cNvSpPr>
                <p:nvPr/>
              </p:nvSpPr>
              <p:spPr bwMode="gray">
                <a:xfrm>
                  <a:off x="1311" y="1860"/>
                  <a:ext cx="2931"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lang="en-US" altLang="ko-KR" sz="3200" dirty="0">
                      <a:ea typeface="HY견고딕" pitchFamily="18" charset="-127"/>
                      <a:cs typeface="Times New Roman" pitchFamily="18" charset="0"/>
                    </a:rPr>
                    <a:t>Economic and Political Arguments for REI</a:t>
                  </a:r>
                  <a:endParaRPr kumimoji="0" lang="en-US" altLang="ko-KR" sz="3200" dirty="0">
                    <a:latin typeface="Arial" charset="0"/>
                    <a:ea typeface="HY견고딕" pitchFamily="18" charset="-127"/>
                    <a:cs typeface="Times New Roman" pitchFamily="18" charset="0"/>
                  </a:endParaRPr>
                </a:p>
              </p:txBody>
            </p:sp>
          </p:grpSp>
          <p:grpSp>
            <p:nvGrpSpPr>
              <p:cNvPr id="5" name="Group 175"/>
              <p:cNvGrpSpPr>
                <a:grpSpLocks/>
              </p:cNvGrpSpPr>
              <p:nvPr/>
            </p:nvGrpSpPr>
            <p:grpSpPr bwMode="auto">
              <a:xfrm>
                <a:off x="285750" y="3571875"/>
                <a:ext cx="8501063" cy="842963"/>
                <a:chOff x="1248" y="2244"/>
                <a:chExt cx="3060" cy="348"/>
              </a:xfrm>
            </p:grpSpPr>
            <p:sp>
              <p:nvSpPr>
                <p:cNvPr id="15374" name="AutoShape 125"/>
                <p:cNvSpPr>
                  <a:spLocks noChangeArrowheads="1"/>
                </p:cNvSpPr>
                <p:nvPr/>
              </p:nvSpPr>
              <p:spPr bwMode="gray">
                <a:xfrm>
                  <a:off x="1248" y="2244"/>
                  <a:ext cx="3060" cy="348"/>
                </a:xfrm>
                <a:prstGeom prst="roundRect">
                  <a:avLst>
                    <a:gd name="adj" fmla="val 50000"/>
                  </a:avLst>
                </a:prstGeom>
                <a:solidFill>
                  <a:schemeClr val="bg1"/>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5375" name="AutoShape 126"/>
                <p:cNvSpPr>
                  <a:spLocks noChangeArrowheads="1"/>
                </p:cNvSpPr>
                <p:nvPr/>
              </p:nvSpPr>
              <p:spPr bwMode="gray">
                <a:xfrm>
                  <a:off x="1303" y="227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algn="ctr" latinLnBrk="0"/>
                  <a:endParaRPr kumimoji="0" lang="ko-KR" altLang="en-US" sz="3200">
                    <a:latin typeface="Arial" pitchFamily="34" charset="0"/>
                  </a:endParaRPr>
                </a:p>
              </p:txBody>
            </p:sp>
            <p:sp>
              <p:nvSpPr>
                <p:cNvPr id="108" name="Text Box 127"/>
                <p:cNvSpPr txBox="1">
                  <a:spLocks noChangeArrowheads="1"/>
                </p:cNvSpPr>
                <p:nvPr/>
              </p:nvSpPr>
              <p:spPr bwMode="gray">
                <a:xfrm>
                  <a:off x="1325" y="2274"/>
                  <a:ext cx="2906" cy="19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kumimoji="0" lang="en-US" altLang="ko-KR" sz="3200" dirty="0">
                      <a:latin typeface="Times New Roman" pitchFamily="18" charset="0"/>
                      <a:ea typeface="HY견고딕" pitchFamily="18" charset="-127"/>
                      <a:cs typeface="Times New Roman" pitchFamily="18" charset="0"/>
                    </a:rPr>
                    <a:t>Examples of REI</a:t>
                  </a:r>
                </a:p>
              </p:txBody>
            </p:sp>
          </p:grpSp>
          <p:grpSp>
            <p:nvGrpSpPr>
              <p:cNvPr id="6" name="Group 176"/>
              <p:cNvGrpSpPr>
                <a:grpSpLocks/>
              </p:cNvGrpSpPr>
              <p:nvPr/>
            </p:nvGrpSpPr>
            <p:grpSpPr bwMode="auto">
              <a:xfrm>
                <a:off x="285750" y="4586288"/>
                <a:ext cx="8501063" cy="842962"/>
                <a:chOff x="1248" y="2724"/>
                <a:chExt cx="3060" cy="348"/>
              </a:xfrm>
            </p:grpSpPr>
            <p:sp>
              <p:nvSpPr>
                <p:cNvPr id="15371" name="AutoShape 141"/>
                <p:cNvSpPr>
                  <a:spLocks noChangeArrowheads="1"/>
                </p:cNvSpPr>
                <p:nvPr/>
              </p:nvSpPr>
              <p:spPr bwMode="gray">
                <a:xfrm>
                  <a:off x="1248" y="2724"/>
                  <a:ext cx="3060" cy="348"/>
                </a:xfrm>
                <a:prstGeom prst="roundRect">
                  <a:avLst>
                    <a:gd name="adj" fmla="val 50000"/>
                  </a:avLst>
                </a:prstGeom>
                <a:solidFill>
                  <a:schemeClr val="bg1"/>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5372" name="AutoShape 142"/>
                <p:cNvSpPr>
                  <a:spLocks noChangeArrowheads="1"/>
                </p:cNvSpPr>
                <p:nvPr/>
              </p:nvSpPr>
              <p:spPr bwMode="gray">
                <a:xfrm>
                  <a:off x="1303" y="2754"/>
                  <a:ext cx="2969" cy="288"/>
                </a:xfrm>
                <a:prstGeom prst="roundRect">
                  <a:avLst>
                    <a:gd name="adj" fmla="val 50000"/>
                  </a:avLst>
                </a:prstGeom>
                <a:solidFill>
                  <a:schemeClr val="bg1">
                    <a:alpha val="50195"/>
                  </a:schemeClr>
                </a:solidFill>
                <a:ln w="9525" algn="ctr">
                  <a:noFill/>
                  <a:round/>
                  <a:headEnd/>
                  <a:tailEnd/>
                </a:ln>
              </p:spPr>
              <p:txBody>
                <a:bodyPr wrap="none" anchor="ctr"/>
                <a:lstStyle/>
                <a:p>
                  <a:pPr latinLnBrk="0"/>
                  <a:endParaRPr kumimoji="0" lang="ko-KR" altLang="en-US" sz="3200">
                    <a:latin typeface="Times New Roman" pitchFamily="18" charset="0"/>
                    <a:cs typeface="Times New Roman" pitchFamily="18" charset="0"/>
                  </a:endParaRPr>
                </a:p>
              </p:txBody>
            </p:sp>
            <p:sp>
              <p:nvSpPr>
                <p:cNvPr id="112" name="Text Box 143"/>
                <p:cNvSpPr txBox="1">
                  <a:spLocks noChangeArrowheads="1"/>
                </p:cNvSpPr>
                <p:nvPr/>
              </p:nvSpPr>
              <p:spPr bwMode="gray">
                <a:xfrm>
                  <a:off x="1447" y="2777"/>
                  <a:ext cx="2784" cy="212"/>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endParaRPr kumimoji="0" lang="ko-KR" altLang="en-US" sz="3200" dirty="0">
                    <a:latin typeface="Times New Roman" pitchFamily="18" charset="0"/>
                    <a:ea typeface="HY견고딕" pitchFamily="18" charset="-127"/>
                    <a:cs typeface="Times New Roman" pitchFamily="18" charset="0"/>
                  </a:endParaRPr>
                </a:p>
              </p:txBody>
            </p:sp>
          </p:grpSp>
        </p:grpSp>
        <p:sp>
          <p:nvSpPr>
            <p:cNvPr id="23" name="Text Box 143"/>
            <p:cNvSpPr txBox="1">
              <a:spLocks noChangeArrowheads="1"/>
            </p:cNvSpPr>
            <p:nvPr/>
          </p:nvSpPr>
          <p:spPr bwMode="gray">
            <a:xfrm>
              <a:off x="571500" y="4881563"/>
              <a:ext cx="8001000" cy="534987"/>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lnSpc>
                  <a:spcPct val="90000"/>
                </a:lnSpc>
                <a:spcBef>
                  <a:spcPct val="170000"/>
                </a:spcBef>
                <a:defRPr/>
              </a:pPr>
              <a:r>
                <a:rPr kumimoji="0" lang="en-US" altLang="ko-KR" sz="3200" dirty="0">
                  <a:latin typeface="Times New Roman" pitchFamily="18" charset="0"/>
                  <a:ea typeface="HY견고딕" pitchFamily="18" charset="-127"/>
                  <a:cs typeface="Times New Roman" pitchFamily="18" charset="0"/>
                </a:rPr>
                <a:t>Implications for Businesses</a:t>
              </a:r>
              <a:endParaRPr kumimoji="0" lang="ko-KR" altLang="en-US" sz="3200" dirty="0">
                <a:latin typeface="Times New Roman" pitchFamily="18" charset="0"/>
                <a:ea typeface="HY견고딕" pitchFamily="18" charset="-127"/>
                <a:cs typeface="Times New Roman" pitchFamily="18" charset="0"/>
              </a:endParaRPr>
            </a:p>
          </p:txBody>
        </p:sp>
      </p:grpSp>
      <p:sp>
        <p:nvSpPr>
          <p:cNvPr id="26" name="Text Box 111"/>
          <p:cNvSpPr txBox="1">
            <a:spLocks noChangeArrowheads="1"/>
          </p:cNvSpPr>
          <p:nvPr/>
        </p:nvSpPr>
        <p:spPr bwMode="gray">
          <a:xfrm>
            <a:off x="461763" y="1692791"/>
            <a:ext cx="8142685" cy="584081"/>
          </a:xfrm>
          <a:prstGeom prst="rect">
            <a:avLst/>
          </a:prstGeom>
          <a:solidFill>
            <a:schemeClr val="bg1"/>
          </a:solidFill>
          <a:ln w="9525" algn="ctr">
            <a:noFill/>
            <a:miter lim="800000"/>
            <a:headEnd/>
            <a:tailEnd/>
          </a:ln>
          <a:effectLst>
            <a:outerShdw dist="35921" dir="2700000" algn="ctr" rotWithShape="0">
              <a:schemeClr val="bg2">
                <a:alpha val="50000"/>
              </a:schemeClr>
            </a:outerShdw>
          </a:effectLst>
        </p:spPr>
        <p:txBody>
          <a:bodyPr>
            <a:spAutoFit/>
          </a:bodyPr>
          <a:lstStyle/>
          <a:p>
            <a:pPr algn="ctr" latinLnBrk="0">
              <a:defRPr/>
            </a:pPr>
            <a:r>
              <a:rPr lang="en-US" altLang="ko-KR" sz="3200" dirty="0">
                <a:ea typeface="HY견고딕" pitchFamily="18" charset="-127"/>
                <a:cs typeface="Times New Roman" pitchFamily="18" charset="0"/>
              </a:rPr>
              <a:t>Concept of Economic Integration</a:t>
            </a:r>
            <a:endParaRPr kumimoji="0" lang="en-US" altLang="ko-KR" sz="3200" dirty="0">
              <a:latin typeface="Arial" charset="0"/>
              <a:ea typeface="HY견고딕" pitchFamily="18" charset="-127"/>
              <a:cs typeface="Times New Roman"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772616" y="319088"/>
            <a:ext cx="7543800" cy="563562"/>
          </a:xfrm>
        </p:spPr>
        <p:txBody>
          <a:bodyPr/>
          <a:lstStyle/>
          <a:p>
            <a:pPr algn="ctr"/>
            <a:r>
              <a:rPr lang="en-US" altLang="ko-KR" sz="3200" b="1" dirty="0">
                <a:solidFill>
                  <a:srgbClr val="FFC000"/>
                </a:solidFill>
                <a:latin typeface="Times New Roman" pitchFamily="18" charset="0"/>
                <a:ea typeface="굴림" pitchFamily="50" charset="-127"/>
                <a:cs typeface="Times New Roman" pitchFamily="18" charset="0"/>
              </a:rPr>
              <a:t>COMPONENTS OF GLOBAL BUSINESS ENVIRONMENT</a:t>
            </a:r>
            <a:endParaRPr lang="ko-KR" altLang="en-US" sz="3200" dirty="0">
              <a:latin typeface="Times New Roman" pitchFamily="18" charset="0"/>
              <a:ea typeface="굴림" pitchFamily="50" charset="-127"/>
              <a:cs typeface="Times New Roman" pitchFamily="18" charset="0"/>
            </a:endParaRPr>
          </a:p>
        </p:txBody>
      </p:sp>
      <p:sp>
        <p:nvSpPr>
          <p:cNvPr id="18435" name="Oval 3"/>
          <p:cNvSpPr>
            <a:spLocks noChangeArrowheads="1"/>
          </p:cNvSpPr>
          <p:nvPr/>
        </p:nvSpPr>
        <p:spPr bwMode="auto">
          <a:xfrm>
            <a:off x="3661656" y="3455474"/>
            <a:ext cx="1595223" cy="1215717"/>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6" name="Oval 4"/>
          <p:cNvSpPr>
            <a:spLocks noChangeArrowheads="1"/>
          </p:cNvSpPr>
          <p:nvPr/>
        </p:nvSpPr>
        <p:spPr bwMode="auto">
          <a:xfrm>
            <a:off x="2516600" y="2490498"/>
            <a:ext cx="3915548" cy="3039293"/>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7" name="Oval 5"/>
          <p:cNvSpPr>
            <a:spLocks noChangeArrowheads="1"/>
          </p:cNvSpPr>
          <p:nvPr/>
        </p:nvSpPr>
        <p:spPr bwMode="auto">
          <a:xfrm>
            <a:off x="1214438" y="1916832"/>
            <a:ext cx="6525914" cy="4194224"/>
          </a:xfrm>
          <a:prstGeom prst="ellipse">
            <a:avLst/>
          </a:prstGeom>
          <a:noFill/>
          <a:ln w="25400">
            <a:solidFill>
              <a:schemeClr val="tx1"/>
            </a:solidFill>
            <a:round/>
            <a:headEnd/>
            <a:tailEnd/>
          </a:ln>
        </p:spPr>
        <p:txBody>
          <a:bodyPr wrap="none" anchor="ctr"/>
          <a:lstStyle/>
          <a:p>
            <a:endParaRPr lang="ko-KR" altLang="en-US" sz="1600">
              <a:latin typeface="Times New Roman" pitchFamily="18" charset="0"/>
              <a:cs typeface="Times New Roman" pitchFamily="18" charset="0"/>
            </a:endParaRPr>
          </a:p>
        </p:txBody>
      </p:sp>
      <p:sp>
        <p:nvSpPr>
          <p:cNvPr id="18438" name="Text Box 6"/>
          <p:cNvSpPr txBox="1">
            <a:spLocks noChangeArrowheads="1"/>
          </p:cNvSpPr>
          <p:nvPr/>
        </p:nvSpPr>
        <p:spPr bwMode="auto">
          <a:xfrm>
            <a:off x="4069525" y="3901653"/>
            <a:ext cx="738697" cy="338554"/>
          </a:xfrm>
          <a:prstGeom prst="rect">
            <a:avLst/>
          </a:prstGeom>
          <a:noFill/>
          <a:ln w="9525">
            <a:noFill/>
            <a:miter lim="800000"/>
            <a:headEnd/>
            <a:tailEnd/>
          </a:ln>
        </p:spPr>
        <p:txBody>
          <a:bodyPr anchor="ctr">
            <a:spAutoFit/>
          </a:bodyPr>
          <a:lstStyle/>
          <a:p>
            <a:pPr algn="ctr">
              <a:spcBef>
                <a:spcPct val="50000"/>
              </a:spcBef>
            </a:pPr>
            <a:r>
              <a:rPr lang="en-US" altLang="zh-TW" sz="1600">
                <a:solidFill>
                  <a:schemeClr val="tx2"/>
                </a:solidFill>
                <a:latin typeface="Times New Roman" pitchFamily="18" charset="0"/>
                <a:ea typeface="PMingLiU" pitchFamily="18" charset="-120"/>
                <a:cs typeface="Times New Roman" pitchFamily="18" charset="0"/>
              </a:rPr>
              <a:t>Firm</a:t>
            </a:r>
          </a:p>
        </p:txBody>
      </p:sp>
      <p:sp>
        <p:nvSpPr>
          <p:cNvPr id="18439" name="Text Box 7"/>
          <p:cNvSpPr txBox="1">
            <a:spLocks noChangeArrowheads="1"/>
          </p:cNvSpPr>
          <p:nvPr/>
        </p:nvSpPr>
        <p:spPr bwMode="auto">
          <a:xfrm>
            <a:off x="3368831" y="2684240"/>
            <a:ext cx="2222082" cy="430887"/>
          </a:xfrm>
          <a:prstGeom prst="rect">
            <a:avLst/>
          </a:prstGeom>
          <a:noFill/>
          <a:ln w="9525">
            <a:noFill/>
            <a:miter lim="800000"/>
            <a:headEnd/>
            <a:tailEnd/>
          </a:ln>
        </p:spPr>
        <p:txBody>
          <a:bodyPr wrap="none" anchor="ctr">
            <a:spAutoFit/>
          </a:bodyPr>
          <a:lstStyle/>
          <a:p>
            <a:pPr algn="ctr">
              <a:spcBef>
                <a:spcPct val="50000"/>
              </a:spcBef>
            </a:pPr>
            <a:r>
              <a:rPr lang="en-US" altLang="zh-TW" sz="2200" dirty="0">
                <a:solidFill>
                  <a:srgbClr val="FFFF00"/>
                </a:solidFill>
                <a:ea typeface="PMingLiU" pitchFamily="18" charset="-120"/>
                <a:cs typeface="Times New Roman" pitchFamily="18" charset="0"/>
              </a:rPr>
              <a:t>Market/Industry</a:t>
            </a:r>
            <a:endParaRPr lang="en-US" altLang="zh-TW" sz="2200" b="1" dirty="0">
              <a:solidFill>
                <a:srgbClr val="FFFF00"/>
              </a:solidFill>
              <a:latin typeface="Times New Roman" pitchFamily="18" charset="0"/>
              <a:ea typeface="PMingLiU" pitchFamily="18" charset="-120"/>
              <a:cs typeface="Times New Roman" pitchFamily="18" charset="0"/>
            </a:endParaRPr>
          </a:p>
        </p:txBody>
      </p:sp>
      <p:sp>
        <p:nvSpPr>
          <p:cNvPr id="18440" name="Text Box 8"/>
          <p:cNvSpPr txBox="1">
            <a:spLocks noChangeArrowheads="1"/>
          </p:cNvSpPr>
          <p:nvPr/>
        </p:nvSpPr>
        <p:spPr bwMode="auto">
          <a:xfrm>
            <a:off x="2759001" y="3217813"/>
            <a:ext cx="128112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Competitors</a:t>
            </a:r>
          </a:p>
        </p:txBody>
      </p:sp>
      <p:sp>
        <p:nvSpPr>
          <p:cNvPr id="18441" name="Text Box 9"/>
          <p:cNvSpPr txBox="1">
            <a:spLocks noChangeArrowheads="1"/>
          </p:cNvSpPr>
          <p:nvPr/>
        </p:nvSpPr>
        <p:spPr bwMode="auto">
          <a:xfrm>
            <a:off x="2548787" y="3738518"/>
            <a:ext cx="1132041"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Customers</a:t>
            </a:r>
          </a:p>
        </p:txBody>
      </p:sp>
      <p:sp>
        <p:nvSpPr>
          <p:cNvPr id="18442" name="Text Box 10"/>
          <p:cNvSpPr txBox="1">
            <a:spLocks noChangeArrowheads="1"/>
          </p:cNvSpPr>
          <p:nvPr/>
        </p:nvSpPr>
        <p:spPr bwMode="auto">
          <a:xfrm>
            <a:off x="5331623" y="3789040"/>
            <a:ext cx="101822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Suppliers</a:t>
            </a:r>
          </a:p>
        </p:txBody>
      </p:sp>
      <p:sp>
        <p:nvSpPr>
          <p:cNvPr id="18443" name="Text Box 11"/>
          <p:cNvSpPr txBox="1">
            <a:spLocks noChangeArrowheads="1"/>
          </p:cNvSpPr>
          <p:nvPr/>
        </p:nvSpPr>
        <p:spPr bwMode="auto">
          <a:xfrm>
            <a:off x="2699792" y="4314582"/>
            <a:ext cx="102573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Creditors</a:t>
            </a:r>
          </a:p>
        </p:txBody>
      </p:sp>
      <p:sp>
        <p:nvSpPr>
          <p:cNvPr id="18444" name="Text Box 12"/>
          <p:cNvSpPr txBox="1">
            <a:spLocks noChangeArrowheads="1"/>
          </p:cNvSpPr>
          <p:nvPr/>
        </p:nvSpPr>
        <p:spPr bwMode="auto">
          <a:xfrm>
            <a:off x="3269444" y="2036168"/>
            <a:ext cx="2395206" cy="430887"/>
          </a:xfrm>
          <a:prstGeom prst="rect">
            <a:avLst/>
          </a:prstGeom>
          <a:noFill/>
          <a:ln w="9525">
            <a:noFill/>
            <a:miter lim="800000"/>
            <a:headEnd/>
            <a:tailEnd/>
          </a:ln>
        </p:spPr>
        <p:txBody>
          <a:bodyPr wrap="none" anchor="ctr">
            <a:spAutoFit/>
          </a:bodyPr>
          <a:lstStyle/>
          <a:p>
            <a:pPr algn="ctr">
              <a:spcBef>
                <a:spcPct val="50000"/>
              </a:spcBef>
            </a:pPr>
            <a:r>
              <a:rPr lang="en-US" altLang="zh-TW" sz="2200" b="1" dirty="0">
                <a:latin typeface="Times New Roman" pitchFamily="18" charset="0"/>
                <a:ea typeface="PMingLiU" pitchFamily="18" charset="-120"/>
                <a:cs typeface="Times New Roman" pitchFamily="18" charset="0"/>
              </a:rPr>
              <a:t> </a:t>
            </a:r>
            <a:r>
              <a:rPr lang="en-US" altLang="zh-TW" sz="2200" dirty="0">
                <a:solidFill>
                  <a:srgbClr val="FFFF00"/>
                </a:solidFill>
                <a:ea typeface="PMingLiU" pitchFamily="18" charset="-120"/>
                <a:cs typeface="Times New Roman" pitchFamily="18" charset="0"/>
              </a:rPr>
              <a:t>Country/General</a:t>
            </a:r>
            <a:r>
              <a:rPr lang="en-US" altLang="zh-TW" sz="2200" b="1" dirty="0">
                <a:solidFill>
                  <a:srgbClr val="FFFF00"/>
                </a:solidFill>
                <a:latin typeface="Times New Roman" pitchFamily="18" charset="0"/>
                <a:ea typeface="PMingLiU" pitchFamily="18" charset="-120"/>
                <a:cs typeface="Times New Roman" pitchFamily="18" charset="0"/>
              </a:rPr>
              <a:t> </a:t>
            </a:r>
          </a:p>
        </p:txBody>
      </p:sp>
      <p:sp>
        <p:nvSpPr>
          <p:cNvPr id="18445" name="Text Box 13"/>
          <p:cNvSpPr txBox="1">
            <a:spLocks noChangeArrowheads="1"/>
          </p:cNvSpPr>
          <p:nvPr/>
        </p:nvSpPr>
        <p:spPr bwMode="auto">
          <a:xfrm>
            <a:off x="1887175" y="2768251"/>
            <a:ext cx="1051891"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Economic</a:t>
            </a:r>
          </a:p>
        </p:txBody>
      </p:sp>
      <p:sp>
        <p:nvSpPr>
          <p:cNvPr id="18446" name="Text Box 14"/>
          <p:cNvSpPr txBox="1">
            <a:spLocks noChangeArrowheads="1"/>
          </p:cNvSpPr>
          <p:nvPr/>
        </p:nvSpPr>
        <p:spPr bwMode="auto">
          <a:xfrm>
            <a:off x="5903053" y="2772050"/>
            <a:ext cx="1370888"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Demographic</a:t>
            </a:r>
          </a:p>
        </p:txBody>
      </p:sp>
      <p:sp>
        <p:nvSpPr>
          <p:cNvPr id="18447" name="Text Box 15"/>
          <p:cNvSpPr txBox="1">
            <a:spLocks noChangeArrowheads="1"/>
          </p:cNvSpPr>
          <p:nvPr/>
        </p:nvSpPr>
        <p:spPr bwMode="auto">
          <a:xfrm>
            <a:off x="1571473" y="3926981"/>
            <a:ext cx="710451" cy="338554"/>
          </a:xfrm>
          <a:prstGeom prst="rect">
            <a:avLst/>
          </a:prstGeom>
          <a:noFill/>
          <a:ln w="9525">
            <a:noFill/>
            <a:miter lim="800000"/>
            <a:headEnd/>
            <a:tailEnd/>
          </a:ln>
        </p:spPr>
        <p:txBody>
          <a:bodyPr wrap="none" anchor="ctr">
            <a:spAutoFit/>
          </a:bodyPr>
          <a:lstStyle/>
          <a:p>
            <a:pPr algn="ctr">
              <a:spcBef>
                <a:spcPct val="50000"/>
              </a:spcBef>
            </a:pPr>
            <a:r>
              <a:rPr lang="en-US" altLang="zh-TW" sz="1600">
                <a:latin typeface="Times New Roman" pitchFamily="18" charset="0"/>
                <a:ea typeface="PMingLiU" pitchFamily="18" charset="-120"/>
                <a:cs typeface="Times New Roman" pitchFamily="18" charset="0"/>
              </a:rPr>
              <a:t>Social</a:t>
            </a:r>
          </a:p>
        </p:txBody>
      </p:sp>
      <p:sp>
        <p:nvSpPr>
          <p:cNvPr id="18448" name="Text Box 16"/>
          <p:cNvSpPr txBox="1">
            <a:spLocks noChangeArrowheads="1"/>
          </p:cNvSpPr>
          <p:nvPr/>
        </p:nvSpPr>
        <p:spPr bwMode="auto">
          <a:xfrm>
            <a:off x="5294127" y="5250686"/>
            <a:ext cx="1654137" cy="338554"/>
          </a:xfrm>
          <a:prstGeom prst="rect">
            <a:avLst/>
          </a:prstGeom>
          <a:noFill/>
          <a:ln w="9525">
            <a:noFill/>
            <a:miter lim="800000"/>
            <a:headEnd/>
            <a:tailEnd/>
          </a:ln>
        </p:spPr>
        <p:txBody>
          <a:bodyPr anchor="ctr">
            <a:spAutoFit/>
          </a:bodyPr>
          <a:lstStyle/>
          <a:p>
            <a:pPr algn="ctr"/>
            <a:r>
              <a:rPr lang="en-US" altLang="zh-TW" sz="1600" dirty="0">
                <a:latin typeface="Times New Roman" pitchFamily="18" charset="0"/>
                <a:ea typeface="PMingLiU" pitchFamily="18" charset="-120"/>
                <a:cs typeface="Times New Roman" pitchFamily="18" charset="0"/>
              </a:rPr>
              <a:t>Technological</a:t>
            </a:r>
          </a:p>
        </p:txBody>
      </p:sp>
      <p:sp>
        <p:nvSpPr>
          <p:cNvPr id="18449" name="Text Box 17"/>
          <p:cNvSpPr txBox="1">
            <a:spLocks noChangeArrowheads="1"/>
          </p:cNvSpPr>
          <p:nvPr/>
        </p:nvSpPr>
        <p:spPr bwMode="auto">
          <a:xfrm>
            <a:off x="6692763" y="3926981"/>
            <a:ext cx="675185"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Legal</a:t>
            </a:r>
          </a:p>
        </p:txBody>
      </p:sp>
      <p:sp>
        <p:nvSpPr>
          <p:cNvPr id="18450" name="Text Box 18"/>
          <p:cNvSpPr txBox="1">
            <a:spLocks noChangeArrowheads="1"/>
          </p:cNvSpPr>
          <p:nvPr/>
        </p:nvSpPr>
        <p:spPr bwMode="auto">
          <a:xfrm>
            <a:off x="2483768" y="5301208"/>
            <a:ext cx="721351" cy="246221"/>
          </a:xfrm>
          <a:prstGeom prst="rect">
            <a:avLst/>
          </a:prstGeom>
          <a:noFill/>
          <a:ln w="12700">
            <a:noFill/>
            <a:miter lim="800000"/>
            <a:headEnd/>
            <a:tailEnd/>
          </a:ln>
        </p:spPr>
        <p:txBody>
          <a:bodyPr wrap="none" lIns="0" tIns="0" rIns="0" bIns="0">
            <a:spAutoFit/>
          </a:bodyPr>
          <a:lstStyle/>
          <a:p>
            <a:r>
              <a:rPr lang="en-US" altLang="zh-TW" sz="1600" dirty="0">
                <a:latin typeface="Times New Roman" pitchFamily="18" charset="0"/>
                <a:ea typeface="PMingLiU" pitchFamily="18" charset="-120"/>
                <a:cs typeface="Times New Roman" pitchFamily="18" charset="0"/>
              </a:rPr>
              <a:t>Political</a:t>
            </a:r>
            <a:endParaRPr lang="en-GB" altLang="ko-KR" sz="1600" dirty="0">
              <a:latin typeface="Times New Roman" pitchFamily="18" charset="0"/>
              <a:ea typeface="PMingLiU" pitchFamily="18" charset="-120"/>
              <a:cs typeface="Times New Roman" pitchFamily="18" charset="0"/>
            </a:endParaRPr>
          </a:p>
        </p:txBody>
      </p:sp>
      <p:sp>
        <p:nvSpPr>
          <p:cNvPr id="18451" name="Text Box 19"/>
          <p:cNvSpPr txBox="1">
            <a:spLocks noChangeArrowheads="1"/>
          </p:cNvSpPr>
          <p:nvPr/>
        </p:nvSpPr>
        <p:spPr bwMode="auto">
          <a:xfrm>
            <a:off x="5091593" y="4314582"/>
            <a:ext cx="128060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Labor union</a:t>
            </a:r>
          </a:p>
        </p:txBody>
      </p:sp>
      <p:sp>
        <p:nvSpPr>
          <p:cNvPr id="18452" name="Text Box 20"/>
          <p:cNvSpPr txBox="1">
            <a:spLocks noChangeArrowheads="1"/>
          </p:cNvSpPr>
          <p:nvPr/>
        </p:nvSpPr>
        <p:spPr bwMode="auto">
          <a:xfrm>
            <a:off x="4490844" y="4869160"/>
            <a:ext cx="1377300"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Stock holders</a:t>
            </a:r>
          </a:p>
        </p:txBody>
      </p:sp>
      <p:sp>
        <p:nvSpPr>
          <p:cNvPr id="18453" name="Text Box 8"/>
          <p:cNvSpPr txBox="1">
            <a:spLocks noChangeArrowheads="1"/>
          </p:cNvSpPr>
          <p:nvPr/>
        </p:nvSpPr>
        <p:spPr bwMode="auto">
          <a:xfrm>
            <a:off x="4967364" y="3274800"/>
            <a:ext cx="1307153"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Technologies</a:t>
            </a:r>
          </a:p>
        </p:txBody>
      </p:sp>
      <p:sp>
        <p:nvSpPr>
          <p:cNvPr id="62" name="Oval 61"/>
          <p:cNvSpPr/>
          <p:nvPr/>
        </p:nvSpPr>
        <p:spPr bwMode="auto">
          <a:xfrm>
            <a:off x="179512" y="1340768"/>
            <a:ext cx="8604448" cy="5256584"/>
          </a:xfrm>
          <a:prstGeom prst="ellipse">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Times New Roman" pitchFamily="18" charset="0"/>
            </a:endParaRPr>
          </a:p>
        </p:txBody>
      </p:sp>
      <p:sp>
        <p:nvSpPr>
          <p:cNvPr id="63" name="Text Box 12"/>
          <p:cNvSpPr txBox="1">
            <a:spLocks noChangeArrowheads="1"/>
          </p:cNvSpPr>
          <p:nvPr/>
        </p:nvSpPr>
        <p:spPr bwMode="auto">
          <a:xfrm>
            <a:off x="3370984" y="1460104"/>
            <a:ext cx="2138919" cy="430887"/>
          </a:xfrm>
          <a:prstGeom prst="rect">
            <a:avLst/>
          </a:prstGeom>
          <a:noFill/>
          <a:ln w="9525">
            <a:noFill/>
            <a:miter lim="800000"/>
            <a:headEnd/>
            <a:tailEnd/>
          </a:ln>
        </p:spPr>
        <p:txBody>
          <a:bodyPr wrap="none" anchor="ctr">
            <a:spAutoFit/>
          </a:bodyPr>
          <a:lstStyle/>
          <a:p>
            <a:pPr algn="ctr">
              <a:spcBef>
                <a:spcPct val="50000"/>
              </a:spcBef>
            </a:pPr>
            <a:r>
              <a:rPr lang="en-US" altLang="zh-TW" sz="2200" b="1" dirty="0">
                <a:latin typeface="Times New Roman" pitchFamily="18" charset="0"/>
                <a:ea typeface="PMingLiU" pitchFamily="18" charset="-120"/>
                <a:cs typeface="Times New Roman" pitchFamily="18" charset="0"/>
              </a:rPr>
              <a:t> </a:t>
            </a:r>
            <a:r>
              <a:rPr lang="en-US" altLang="zh-TW" sz="2200" dirty="0">
                <a:solidFill>
                  <a:srgbClr val="FFFF00"/>
                </a:solidFill>
                <a:ea typeface="PMingLiU" pitchFamily="18" charset="-120"/>
                <a:cs typeface="Times New Roman" pitchFamily="18" charset="0"/>
              </a:rPr>
              <a:t>World/General</a:t>
            </a:r>
            <a:r>
              <a:rPr lang="en-US" altLang="zh-TW" sz="2200" b="1" dirty="0">
                <a:solidFill>
                  <a:srgbClr val="FFFF00"/>
                </a:solidFill>
                <a:latin typeface="Times New Roman" pitchFamily="18" charset="0"/>
                <a:ea typeface="PMingLiU" pitchFamily="18" charset="-120"/>
                <a:cs typeface="Times New Roman" pitchFamily="18" charset="0"/>
              </a:rPr>
              <a:t> </a:t>
            </a:r>
          </a:p>
        </p:txBody>
      </p:sp>
      <p:sp>
        <p:nvSpPr>
          <p:cNvPr id="64" name="Text Box 13"/>
          <p:cNvSpPr txBox="1">
            <a:spLocks noChangeArrowheads="1"/>
          </p:cNvSpPr>
          <p:nvPr/>
        </p:nvSpPr>
        <p:spPr bwMode="auto">
          <a:xfrm>
            <a:off x="755576" y="5013176"/>
            <a:ext cx="1039066" cy="443070"/>
          </a:xfrm>
          <a:prstGeom prst="rect">
            <a:avLst/>
          </a:prstGeom>
          <a:noFill/>
          <a:ln w="9525">
            <a:noFill/>
            <a:miter lim="800000"/>
            <a:headEnd/>
            <a:tailEnd/>
          </a:ln>
        </p:spPr>
        <p:txBody>
          <a:bodyPr wrap="none" anchor="ctr">
            <a:spAutoFit/>
          </a:bodyPr>
          <a:lstStyle/>
          <a:p>
            <a:pPr algn="ctr">
              <a:lnSpc>
                <a:spcPts val="800"/>
              </a:lnSpc>
              <a:spcBef>
                <a:spcPct val="50000"/>
              </a:spcBef>
            </a:pPr>
            <a:r>
              <a:rPr lang="en-US" altLang="zh-TW" sz="1600" dirty="0">
                <a:latin typeface="Times New Roman" pitchFamily="18" charset="0"/>
                <a:ea typeface="PMingLiU" pitchFamily="18" charset="-120"/>
                <a:cs typeface="Times New Roman" pitchFamily="18" charset="0"/>
              </a:rPr>
              <a:t>Foreign</a:t>
            </a:r>
          </a:p>
          <a:p>
            <a:pPr algn="ctr">
              <a:lnSpc>
                <a:spcPts val="800"/>
              </a:lnSpc>
              <a:spcBef>
                <a:spcPct val="50000"/>
              </a:spcBef>
            </a:pPr>
            <a:r>
              <a:rPr lang="en-US" altLang="zh-TW" sz="1600" dirty="0">
                <a:ea typeface="PMingLiU" pitchFamily="18" charset="-120"/>
                <a:cs typeface="Times New Roman" pitchFamily="18" charset="0"/>
              </a:rPr>
              <a:t>Exchange</a:t>
            </a:r>
            <a:endParaRPr lang="en-US" altLang="zh-TW" sz="1600" dirty="0">
              <a:latin typeface="Times New Roman" pitchFamily="18" charset="0"/>
              <a:ea typeface="PMingLiU" pitchFamily="18" charset="-120"/>
              <a:cs typeface="Times New Roman" pitchFamily="18" charset="0"/>
            </a:endParaRPr>
          </a:p>
        </p:txBody>
      </p:sp>
      <p:sp>
        <p:nvSpPr>
          <p:cNvPr id="65" name="Text Box 13"/>
          <p:cNvSpPr txBox="1">
            <a:spLocks noChangeArrowheads="1"/>
          </p:cNvSpPr>
          <p:nvPr/>
        </p:nvSpPr>
        <p:spPr bwMode="auto">
          <a:xfrm>
            <a:off x="7164288" y="2298358"/>
            <a:ext cx="537327"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FDI</a:t>
            </a:r>
          </a:p>
        </p:txBody>
      </p:sp>
      <p:sp>
        <p:nvSpPr>
          <p:cNvPr id="66" name="Text Box 13"/>
          <p:cNvSpPr txBox="1">
            <a:spLocks noChangeArrowheads="1"/>
          </p:cNvSpPr>
          <p:nvPr/>
        </p:nvSpPr>
        <p:spPr bwMode="auto">
          <a:xfrm>
            <a:off x="1130888" y="2298358"/>
            <a:ext cx="704808"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latin typeface="Times New Roman" pitchFamily="18" charset="0"/>
                <a:ea typeface="PMingLiU" pitchFamily="18" charset="-120"/>
                <a:cs typeface="Times New Roman" pitchFamily="18" charset="0"/>
              </a:rPr>
              <a:t>Trade</a:t>
            </a:r>
          </a:p>
        </p:txBody>
      </p:sp>
      <p:sp>
        <p:nvSpPr>
          <p:cNvPr id="67" name="Text Box 13"/>
          <p:cNvSpPr txBox="1">
            <a:spLocks noChangeArrowheads="1"/>
          </p:cNvSpPr>
          <p:nvPr/>
        </p:nvSpPr>
        <p:spPr bwMode="auto">
          <a:xfrm>
            <a:off x="7355897" y="4941168"/>
            <a:ext cx="960519" cy="532838"/>
          </a:xfrm>
          <a:prstGeom prst="rect">
            <a:avLst/>
          </a:prstGeom>
          <a:noFill/>
          <a:ln w="9525">
            <a:noFill/>
            <a:miter lim="800000"/>
            <a:headEnd/>
            <a:tailEnd/>
          </a:ln>
        </p:spPr>
        <p:txBody>
          <a:bodyPr wrap="none" anchor="ctr">
            <a:spAutoFit/>
          </a:bodyPr>
          <a:lstStyle/>
          <a:p>
            <a:pPr algn="ctr">
              <a:lnSpc>
                <a:spcPts val="1200"/>
              </a:lnSpc>
              <a:spcBef>
                <a:spcPct val="50000"/>
              </a:spcBef>
            </a:pPr>
            <a:r>
              <a:rPr lang="en-US" altLang="zh-TW" sz="1600" dirty="0">
                <a:latin typeface="Times New Roman" pitchFamily="18" charset="0"/>
                <a:ea typeface="PMingLiU" pitchFamily="18" charset="-120"/>
                <a:cs typeface="Times New Roman" pitchFamily="18" charset="0"/>
              </a:rPr>
              <a:t>Regional</a:t>
            </a:r>
          </a:p>
          <a:p>
            <a:pPr algn="ctr">
              <a:lnSpc>
                <a:spcPts val="1200"/>
              </a:lnSpc>
              <a:spcBef>
                <a:spcPct val="50000"/>
              </a:spcBef>
            </a:pPr>
            <a:r>
              <a:rPr lang="en-US" altLang="zh-TW" sz="1600" dirty="0">
                <a:ea typeface="PMingLiU" pitchFamily="18" charset="-120"/>
                <a:cs typeface="Times New Roman" pitchFamily="18" charset="0"/>
              </a:rPr>
              <a:t>EI</a:t>
            </a:r>
            <a:endParaRPr lang="en-US" altLang="zh-TW" sz="1600" dirty="0">
              <a:latin typeface="Times New Roman" pitchFamily="18" charset="0"/>
              <a:ea typeface="PMingLiU" pitchFamily="18" charset="-120"/>
              <a:cs typeface="Times New Roman" pitchFamily="18" charset="0"/>
            </a:endParaRPr>
          </a:p>
        </p:txBody>
      </p:sp>
      <p:sp>
        <p:nvSpPr>
          <p:cNvPr id="68" name="Text Box 13"/>
          <p:cNvSpPr txBox="1">
            <a:spLocks noChangeArrowheads="1"/>
          </p:cNvSpPr>
          <p:nvPr/>
        </p:nvSpPr>
        <p:spPr bwMode="auto">
          <a:xfrm>
            <a:off x="3801171" y="6165304"/>
            <a:ext cx="1350050" cy="443070"/>
          </a:xfrm>
          <a:prstGeom prst="rect">
            <a:avLst/>
          </a:prstGeom>
          <a:noFill/>
          <a:ln w="9525">
            <a:noFill/>
            <a:miter lim="800000"/>
            <a:headEnd/>
            <a:tailEnd/>
          </a:ln>
        </p:spPr>
        <p:txBody>
          <a:bodyPr wrap="none" anchor="ctr">
            <a:spAutoFit/>
          </a:bodyPr>
          <a:lstStyle/>
          <a:p>
            <a:pPr algn="ctr">
              <a:lnSpc>
                <a:spcPts val="800"/>
              </a:lnSpc>
              <a:spcBef>
                <a:spcPct val="50000"/>
              </a:spcBef>
            </a:pPr>
            <a:r>
              <a:rPr lang="en-US" altLang="zh-TW" sz="1600" dirty="0">
                <a:ea typeface="PMingLiU" pitchFamily="18" charset="-120"/>
                <a:cs typeface="Times New Roman" pitchFamily="18" charset="0"/>
              </a:rPr>
              <a:t>International</a:t>
            </a:r>
          </a:p>
          <a:p>
            <a:pPr algn="ctr">
              <a:lnSpc>
                <a:spcPts val="800"/>
              </a:lnSpc>
              <a:spcBef>
                <a:spcPct val="50000"/>
              </a:spcBef>
            </a:pPr>
            <a:r>
              <a:rPr lang="en-US" altLang="zh-TW" sz="1600" dirty="0">
                <a:latin typeface="Times New Roman" pitchFamily="18" charset="0"/>
                <a:ea typeface="PMingLiU" pitchFamily="18" charset="-120"/>
                <a:cs typeface="Times New Roman" pitchFamily="18" charset="0"/>
              </a:rPr>
              <a:t>Institutions</a:t>
            </a:r>
          </a:p>
        </p:txBody>
      </p:sp>
      <p:sp>
        <p:nvSpPr>
          <p:cNvPr id="69" name="Text Box 11"/>
          <p:cNvSpPr txBox="1">
            <a:spLocks noChangeArrowheads="1"/>
          </p:cNvSpPr>
          <p:nvPr/>
        </p:nvSpPr>
        <p:spPr bwMode="auto">
          <a:xfrm>
            <a:off x="3169305" y="4890646"/>
            <a:ext cx="1258679" cy="338554"/>
          </a:xfrm>
          <a:prstGeom prst="rect">
            <a:avLst/>
          </a:prstGeom>
          <a:noFill/>
          <a:ln w="9525">
            <a:noFill/>
            <a:miter lim="800000"/>
            <a:headEnd/>
            <a:tailEnd/>
          </a:ln>
        </p:spPr>
        <p:txBody>
          <a:bodyPr wrap="none" anchor="ctr">
            <a:spAutoFit/>
          </a:bodyPr>
          <a:lstStyle/>
          <a:p>
            <a:pPr algn="ctr">
              <a:spcBef>
                <a:spcPct val="50000"/>
              </a:spcBef>
            </a:pPr>
            <a:r>
              <a:rPr lang="en-US" altLang="zh-TW" sz="1600" dirty="0">
                <a:ea typeface="PMingLiU" pitchFamily="18" charset="-120"/>
                <a:cs typeface="Times New Roman" pitchFamily="18" charset="0"/>
              </a:rPr>
              <a:t>Distributors</a:t>
            </a:r>
            <a:endParaRPr lang="en-US" altLang="zh-TW" sz="1600" dirty="0">
              <a:latin typeface="Times New Roman" pitchFamily="18" charset="0"/>
              <a:ea typeface="PMingLiU" pitchFamily="18" charset="-120"/>
              <a:cs typeface="Times New Roman"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467544" y="1124744"/>
            <a:ext cx="8280920" cy="3096344"/>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Concept of </a:t>
            </a:r>
          </a:p>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Economic Integration</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Economic Integration</a:t>
            </a:r>
          </a:p>
        </p:txBody>
      </p:sp>
      <p:sp>
        <p:nvSpPr>
          <p:cNvPr id="4" name="Rectangle 5"/>
          <p:cNvSpPr>
            <a:spLocks noGrp="1" noChangeArrowheads="1"/>
          </p:cNvSpPr>
          <p:nvPr>
            <p:ph idx="1"/>
          </p:nvPr>
        </p:nvSpPr>
        <p:spPr>
          <a:xfrm>
            <a:off x="323528" y="1371600"/>
            <a:ext cx="8363272" cy="5248275"/>
          </a:xfrm>
        </p:spPr>
        <p:txBody>
          <a:bodyPr/>
          <a:lstStyle/>
          <a:p>
            <a:pPr eaLnBrk="1" hangingPunct="1">
              <a:lnSpc>
                <a:spcPts val="4200"/>
              </a:lnSpc>
              <a:buFont typeface="Arial" pitchFamily="34" charset="0"/>
              <a:buChar char="•"/>
            </a:pPr>
            <a:r>
              <a:rPr lang="en-US" altLang="ko-KR" sz="2800" b="0" dirty="0">
                <a:latin typeface="Times New Roman" pitchFamily="18" charset="0"/>
                <a:cs typeface="Times New Roman" pitchFamily="18" charset="0"/>
              </a:rPr>
              <a:t>Agreements between/among countries to reduce and ultimately remove tariff and non-tariff barriers to the free flow of goods, services, and factors of production between member countries</a:t>
            </a:r>
            <a:endParaRPr lang="en-US" altLang="ko-KR" sz="800" b="0" dirty="0">
              <a:latin typeface="Times New Roman" pitchFamily="18" charset="0"/>
              <a:cs typeface="Times New Roman" pitchFamily="18" charset="0"/>
            </a:endParaRPr>
          </a:p>
          <a:p>
            <a:pPr eaLnBrk="1" hangingPunct="1">
              <a:lnSpc>
                <a:spcPts val="4200"/>
              </a:lnSpc>
              <a:buFont typeface="Arial" pitchFamily="34" charset="0"/>
              <a:buChar char="•"/>
            </a:pPr>
            <a:r>
              <a:rPr lang="en-US" altLang="ko-KR" sz="2800" b="0" dirty="0">
                <a:latin typeface="Times New Roman" pitchFamily="18" charset="0"/>
                <a:cs typeface="Times New Roman" pitchFamily="18" charset="0"/>
              </a:rPr>
              <a:t>In theory, economic integration benefits all members.</a:t>
            </a:r>
          </a:p>
          <a:p>
            <a:pPr eaLnBrk="1" hangingPunct="1">
              <a:lnSpc>
                <a:spcPts val="4200"/>
              </a:lnSpc>
              <a:buFont typeface="Arial" pitchFamily="34" charset="0"/>
              <a:buChar char="•"/>
            </a:pPr>
            <a:r>
              <a:rPr lang="en-US" altLang="ko-KR" sz="2800" b="0" dirty="0">
                <a:latin typeface="Times New Roman" pitchFamily="18" charset="0"/>
                <a:cs typeface="Times New Roman" pitchFamily="18" charset="0"/>
              </a:rPr>
              <a:t>Over the last two decades, the number of bilateral / regional trade agreements has been on the rise</a:t>
            </a:r>
          </a:p>
          <a:p>
            <a:pPr eaLnBrk="1" hangingPunct="1">
              <a:lnSpc>
                <a:spcPts val="4000"/>
              </a:lnSpc>
              <a:buFont typeface="Wingdings" pitchFamily="2" charset="2"/>
              <a:buNone/>
            </a:pPr>
            <a:endParaRPr lang="en-US" altLang="ko-KR" sz="2800" dirty="0">
              <a:ea typeface="굴림" pitchFamily="50" charset="-127"/>
            </a:endParaRPr>
          </a:p>
          <a:p>
            <a:pPr eaLnBrk="1" hangingPunct="1">
              <a:lnSpc>
                <a:spcPts val="4000"/>
              </a:lnSpc>
            </a:pPr>
            <a:endParaRPr lang="en-US" altLang="ko-KR" sz="2800" dirty="0">
              <a:ea typeface="굴림"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Economic Integration</a:t>
            </a:r>
          </a:p>
        </p:txBody>
      </p:sp>
      <p:sp>
        <p:nvSpPr>
          <p:cNvPr id="8" name="Rectangle 3"/>
          <p:cNvSpPr txBox="1">
            <a:spLocks noChangeArrowheads="1"/>
          </p:cNvSpPr>
          <p:nvPr/>
        </p:nvSpPr>
        <p:spPr bwMode="auto">
          <a:xfrm>
            <a:off x="323528" y="1326232"/>
            <a:ext cx="8424936" cy="48390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ts val="4000"/>
              </a:lnSpc>
              <a:spcBef>
                <a:spcPct val="20000"/>
              </a:spcBef>
              <a:spcAft>
                <a:spcPct val="0"/>
              </a:spcAft>
              <a:buClr>
                <a:schemeClr val="hlink"/>
              </a:buClr>
              <a:buSzTx/>
              <a:buFont typeface="Arial" pitchFamily="34" charset="0"/>
              <a:buChar char="•"/>
              <a:tabLst/>
              <a:defRPr/>
            </a:pPr>
            <a:r>
              <a:rPr kumimoji="0" lang="en-US" b="0" i="0" u="none" strike="noStrike" kern="0" cap="none" spc="0" normalizeH="0" baseline="0" noProof="0" dirty="0">
                <a:ln>
                  <a:noFill/>
                </a:ln>
                <a:solidFill>
                  <a:schemeClr val="tx1"/>
                </a:solidFill>
                <a:effectLst/>
                <a:uLnTx/>
                <a:uFillTx/>
                <a:cs typeface="Times New Roman" pitchFamily="18" charset="0"/>
              </a:rPr>
              <a:t>Three levels of economic integration</a:t>
            </a:r>
          </a:p>
          <a:p>
            <a:pPr marL="742950" marR="0" lvl="1" indent="-285750" algn="l" defTabSz="914400" rtl="0" eaLnBrk="1" fontAlgn="base" latinLnBrk="1" hangingPunct="1">
              <a:lnSpc>
                <a:spcPts val="4000"/>
              </a:lnSpc>
              <a:spcBef>
                <a:spcPct val="20000"/>
              </a:spcBef>
              <a:spcAft>
                <a:spcPct val="0"/>
              </a:spcAft>
              <a:buClr>
                <a:schemeClr val="accent1"/>
              </a:buClr>
              <a:buSzTx/>
              <a:tabLst/>
              <a:defRPr/>
            </a:pPr>
            <a:r>
              <a:rPr kumimoji="0" lang="en-US" b="0" i="0" u="none" strike="noStrike" kern="0" cap="none" spc="0" normalizeH="0" baseline="0" noProof="0" dirty="0">
                <a:ln>
                  <a:noFill/>
                </a:ln>
                <a:effectLst/>
                <a:uLnTx/>
                <a:uFillTx/>
                <a:cs typeface="Times New Roman" pitchFamily="18" charset="0"/>
              </a:rPr>
              <a:t>- Global: trade liberalization worldwide by WTO</a:t>
            </a:r>
          </a:p>
          <a:p>
            <a:pPr marL="742950" marR="0" lvl="1" indent="-285750" algn="l" defTabSz="914400" rtl="0" eaLnBrk="1" fontAlgn="base" latinLnBrk="1" hangingPunct="1">
              <a:lnSpc>
                <a:spcPts val="4000"/>
              </a:lnSpc>
              <a:spcBef>
                <a:spcPct val="20000"/>
              </a:spcBef>
              <a:spcAft>
                <a:spcPct val="0"/>
              </a:spcAft>
              <a:buClr>
                <a:schemeClr val="accent1"/>
              </a:buClr>
              <a:buSzTx/>
              <a:tabLst/>
              <a:defRPr/>
            </a:pPr>
            <a:r>
              <a:rPr kumimoji="0" lang="en-US" b="0" i="0" u="none" strike="noStrike" kern="0" cap="none" spc="0" normalizeH="0" baseline="0" noProof="0" dirty="0">
                <a:ln>
                  <a:noFill/>
                </a:ln>
                <a:effectLst/>
                <a:uLnTx/>
                <a:uFillTx/>
                <a:cs typeface="Times New Roman" pitchFamily="18" charset="0"/>
              </a:rPr>
              <a:t>- Regional: preferential treatment of member countries in the</a:t>
            </a:r>
            <a:r>
              <a:rPr kumimoji="0" lang="en-US" b="0" i="0" u="none" strike="noStrike" kern="0" cap="none" spc="0" normalizeH="0" noProof="0" dirty="0">
                <a:ln>
                  <a:noFill/>
                </a:ln>
                <a:effectLst/>
                <a:uLnTx/>
                <a:uFillTx/>
                <a:cs typeface="Times New Roman" pitchFamily="18" charset="0"/>
              </a:rPr>
              <a:t>  </a:t>
            </a:r>
            <a:r>
              <a:rPr kumimoji="0" lang="en-US" b="0" i="0" u="none" strike="noStrike" kern="0" cap="none" spc="0" normalizeH="0" baseline="0" noProof="0" dirty="0">
                <a:ln>
                  <a:noFill/>
                </a:ln>
                <a:effectLst/>
                <a:uLnTx/>
                <a:uFillTx/>
                <a:cs typeface="Times New Roman" pitchFamily="18" charset="0"/>
              </a:rPr>
              <a:t>  region/group</a:t>
            </a:r>
          </a:p>
          <a:p>
            <a:pPr marL="742950" marR="0" lvl="1" indent="-285750" algn="l" defTabSz="914400" rtl="0" eaLnBrk="1" fontAlgn="base" latinLnBrk="1" hangingPunct="1">
              <a:lnSpc>
                <a:spcPts val="4000"/>
              </a:lnSpc>
              <a:spcBef>
                <a:spcPct val="20000"/>
              </a:spcBef>
              <a:spcAft>
                <a:spcPct val="0"/>
              </a:spcAft>
              <a:buClr>
                <a:schemeClr val="accent1"/>
              </a:buClr>
              <a:buSzTx/>
              <a:tabLst/>
              <a:defRPr/>
            </a:pPr>
            <a:r>
              <a:rPr kumimoji="0" lang="en-US" b="0" i="0" u="none" strike="noStrike" kern="0" cap="none" spc="0" normalizeH="0" baseline="0" noProof="0" dirty="0">
                <a:ln>
                  <a:noFill/>
                </a:ln>
                <a:effectLst/>
                <a:uLnTx/>
                <a:uFillTx/>
                <a:cs typeface="Times New Roman" pitchFamily="18" charset="0"/>
              </a:rPr>
              <a:t>- Bilateral: preferential treatment between two countries</a:t>
            </a:r>
          </a:p>
          <a:p>
            <a:pPr marL="342900" marR="0" lvl="0" indent="-342900" algn="l" defTabSz="914400" rtl="0" eaLnBrk="1" fontAlgn="base" latinLnBrk="1" hangingPunct="1">
              <a:lnSpc>
                <a:spcPts val="4000"/>
              </a:lnSpc>
              <a:spcBef>
                <a:spcPct val="20000"/>
              </a:spcBef>
              <a:spcAft>
                <a:spcPct val="0"/>
              </a:spcAft>
              <a:buClr>
                <a:schemeClr val="hlink"/>
              </a:buClr>
              <a:buSzTx/>
              <a:buFont typeface="Arial" pitchFamily="34" charset="0"/>
              <a:buChar char="•"/>
              <a:tabLst/>
              <a:defRPr/>
            </a:pPr>
            <a:r>
              <a:rPr kumimoji="0" lang="en-US" b="0" i="0" u="none" strike="noStrike" kern="0" cap="none" spc="0" normalizeH="0" baseline="0" noProof="0" dirty="0">
                <a:ln>
                  <a:noFill/>
                </a:ln>
                <a:solidFill>
                  <a:schemeClr val="tx1"/>
                </a:solidFill>
                <a:effectLst/>
                <a:uLnTx/>
                <a:uFillTx/>
                <a:cs typeface="Times New Roman" pitchFamily="18" charset="0"/>
              </a:rPr>
              <a:t>Regional and bilateral agreements are against the MFN clause    but allowed under WTO.</a:t>
            </a:r>
          </a:p>
          <a:p>
            <a:pPr marL="342900" marR="0" lvl="0" indent="-342900" algn="l" defTabSz="914400" rtl="0" eaLnBrk="1" fontAlgn="base" latinLnBrk="1" hangingPunct="1">
              <a:lnSpc>
                <a:spcPts val="4000"/>
              </a:lnSpc>
              <a:spcBef>
                <a:spcPct val="20000"/>
              </a:spcBef>
              <a:spcAft>
                <a:spcPct val="0"/>
              </a:spcAft>
              <a:buClr>
                <a:schemeClr val="hlink"/>
              </a:buClr>
              <a:buSzTx/>
              <a:buFont typeface="Arial" pitchFamily="34" charset="0"/>
              <a:buChar char="•"/>
              <a:tabLst/>
              <a:defRPr/>
            </a:pPr>
            <a:r>
              <a:rPr kumimoji="0" lang="en-US" b="0" i="0" u="none" strike="noStrike" kern="0" cap="none" spc="0" normalizeH="0" baseline="0" noProof="0" dirty="0">
                <a:ln>
                  <a:noFill/>
                </a:ln>
                <a:solidFill>
                  <a:schemeClr val="tx1"/>
                </a:solidFill>
                <a:effectLst/>
                <a:uLnTx/>
                <a:uFillTx/>
                <a:cs typeface="Times New Roman" pitchFamily="18" charset="0"/>
              </a:rPr>
              <a:t>Visit </a:t>
            </a:r>
            <a:r>
              <a:rPr kumimoji="0" lang="en-US" b="0" i="0" u="none" strike="noStrike" kern="0" cap="none" spc="0" normalizeH="0" baseline="0" noProof="0" dirty="0">
                <a:ln>
                  <a:noFill/>
                </a:ln>
                <a:solidFill>
                  <a:schemeClr val="tx1"/>
                </a:solidFill>
                <a:effectLst/>
                <a:uLnTx/>
                <a:uFillTx/>
                <a:cs typeface="Times New Roman" pitchFamily="18" charset="0"/>
                <a:hlinkClick r:id="rId2"/>
              </a:rPr>
              <a:t>www.wto.org</a:t>
            </a:r>
            <a:r>
              <a:rPr kumimoji="0" lang="en-US" b="0" i="0" u="none" strike="noStrike" kern="0" cap="none" spc="0" normalizeH="0" baseline="0" noProof="0" dirty="0">
                <a:ln>
                  <a:noFill/>
                </a:ln>
                <a:solidFill>
                  <a:schemeClr val="tx1"/>
                </a:solidFill>
                <a:effectLst/>
                <a:uLnTx/>
                <a:uFillTx/>
                <a:cs typeface="Times New Roman" pitchFamily="18" charset="0"/>
              </a:rPr>
              <a:t> for regional trade agreements</a:t>
            </a:r>
          </a:p>
          <a:p>
            <a:pPr marL="342900" marR="0" lvl="0" indent="-342900" algn="l" defTabSz="914400" rtl="0" eaLnBrk="1" fontAlgn="base" latinLnBrk="1" hangingPunct="1">
              <a:lnSpc>
                <a:spcPts val="4000"/>
              </a:lnSpc>
              <a:spcBef>
                <a:spcPct val="20000"/>
              </a:spcBef>
              <a:spcAft>
                <a:spcPct val="0"/>
              </a:spcAft>
              <a:buClr>
                <a:schemeClr val="hlink"/>
              </a:buClr>
              <a:buSzTx/>
              <a:buFont typeface="Wingdings" pitchFamily="2" charset="2"/>
              <a:buChar char="v"/>
              <a:tabLst/>
              <a:defRPr/>
            </a:pPr>
            <a:endParaRPr kumimoji="0" lang="en-US" sz="28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Types of Regional Economic Integration</a:t>
            </a:r>
          </a:p>
        </p:txBody>
      </p:sp>
      <p:pic>
        <p:nvPicPr>
          <p:cNvPr id="4" name="Picture 9" descr="1rotunda"/>
          <p:cNvPicPr>
            <a:picLocks noChangeAspect="1" noChangeArrowheads="1"/>
          </p:cNvPicPr>
          <p:nvPr/>
        </p:nvPicPr>
        <p:blipFill>
          <a:blip r:embed="rId2" cstate="print"/>
          <a:srcRect/>
          <a:stretch>
            <a:fillRect/>
          </a:stretch>
        </p:blipFill>
        <p:spPr bwMode="auto">
          <a:xfrm>
            <a:off x="0" y="1124744"/>
            <a:ext cx="9144000" cy="5733256"/>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323528" y="1556792"/>
            <a:ext cx="8663880" cy="4680520"/>
          </a:xfrm>
          <a:prstGeom prst="rect">
            <a:avLst/>
          </a:prstGeom>
          <a:ln>
            <a:solidFill>
              <a:schemeClr val="bg2">
                <a:lumMod val="40000"/>
                <a:lumOff val="60000"/>
              </a:schemeClr>
            </a:solidFill>
          </a:ln>
        </p:spPr>
        <p:txBody>
          <a:bodyPr>
            <a:normAutofit/>
          </a:bodyPr>
          <a:lstStyle/>
          <a:p>
            <a:pPr marL="274320" indent="-274320" fontAlgn="auto">
              <a:lnSpc>
                <a:spcPts val="16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No trade      </a:t>
            </a:r>
            <a:r>
              <a:rPr lang="en-US" altLang="ko-KR" sz="1800" b="0" dirty="0">
                <a:cs typeface="Times New Roman" pitchFamily="18" charset="0"/>
              </a:rPr>
              <a:t>  </a:t>
            </a:r>
            <a:r>
              <a:rPr lang="en-US" altLang="ko-KR" sz="1800" b="0" dirty="0">
                <a:effectLst/>
                <a:latin typeface="Times New Roman" pitchFamily="18" charset="0"/>
                <a:cs typeface="Times New Roman" pitchFamily="18" charset="0"/>
              </a:rPr>
              <a:t> Common          Free flow        Common          </a:t>
            </a:r>
            <a:r>
              <a:rPr lang="en-US" altLang="ko-KR" sz="1800" b="0" dirty="0" err="1">
                <a:effectLst/>
                <a:latin typeface="Times New Roman" pitchFamily="18" charset="0"/>
                <a:cs typeface="Times New Roman" pitchFamily="18" charset="0"/>
              </a:rPr>
              <a:t>Common</a:t>
            </a:r>
            <a:r>
              <a:rPr lang="en-US" altLang="ko-KR" sz="1800" b="0" dirty="0">
                <a:effectLst/>
                <a:latin typeface="Times New Roman" pitchFamily="18" charset="0"/>
                <a:cs typeface="Times New Roman" pitchFamily="18" charset="0"/>
              </a:rPr>
              <a:t>	    	          barriers:           external          of labor &amp;       monetary &amp;       political</a:t>
            </a:r>
          </a:p>
          <a:p>
            <a:pPr marL="274320" indent="-274320" fontAlgn="auto">
              <a:lnSpc>
                <a:spcPts val="16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members      trade policies        capital          fiscal policy       systems</a:t>
            </a:r>
          </a:p>
          <a:p>
            <a:pPr marL="274320" indent="-274320" algn="l" fontAlgn="auto">
              <a:lnSpc>
                <a:spcPct val="60000"/>
              </a:lnSpc>
              <a:spcBef>
                <a:spcPct val="20000"/>
              </a:spcBef>
              <a:spcAft>
                <a:spcPts val="0"/>
              </a:spcAft>
              <a:buClr>
                <a:schemeClr val="accent3"/>
              </a:buClr>
              <a:buSzPct val="95000"/>
              <a:defRPr/>
            </a:pP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Free Trade	O</a:t>
            </a:r>
            <a:r>
              <a:rPr lang="en-US" altLang="ko-KR" sz="2400" b="0" dirty="0">
                <a:effectLst/>
                <a:latin typeface="Times New Roman" pitchFamily="18" charset="0"/>
                <a:cs typeface="Times New Roman" pitchFamily="18" charset="0"/>
              </a:rPr>
              <a:t>	      </a:t>
            </a:r>
            <a:r>
              <a:rPr lang="en-US" altLang="ko-KR" sz="1800" b="0" dirty="0">
                <a:effectLst/>
                <a:latin typeface="Times New Roman" pitchFamily="18" charset="0"/>
                <a:cs typeface="Times New Roman" pitchFamily="18" charset="0"/>
              </a:rPr>
              <a:t>X</a:t>
            </a:r>
            <a:r>
              <a:rPr lang="en-US" altLang="ko-KR" sz="24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X</a:t>
            </a:r>
            <a:r>
              <a:rPr lang="en-US" altLang="ko-KR" sz="24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X</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X</a:t>
            </a: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Area</a:t>
            </a:r>
          </a:p>
          <a:p>
            <a:pPr marL="274320" indent="-274320" algn="l" fontAlgn="auto">
              <a:lnSpc>
                <a:spcPct val="60000"/>
              </a:lnSpc>
              <a:spcBef>
                <a:spcPct val="20000"/>
              </a:spcBef>
              <a:spcAft>
                <a:spcPts val="0"/>
              </a:spcAft>
              <a:buClr>
                <a:schemeClr val="accent3"/>
              </a:buClr>
              <a:buSzPct val="95000"/>
              <a:defRPr/>
            </a:pP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Customs	O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X	         </a:t>
            </a:r>
            <a:r>
              <a:rPr lang="en-US" altLang="ko-KR" sz="1800" b="0" dirty="0" err="1">
                <a:effectLst/>
                <a:latin typeface="Times New Roman" pitchFamily="18" charset="0"/>
                <a:cs typeface="Times New Roman" pitchFamily="18" charset="0"/>
              </a:rPr>
              <a:t>X</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X</a:t>
            </a: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Union	</a:t>
            </a:r>
          </a:p>
          <a:p>
            <a:pPr marL="274320" indent="-274320" algn="l" fontAlgn="auto">
              <a:lnSpc>
                <a:spcPct val="60000"/>
              </a:lnSpc>
              <a:spcBef>
                <a:spcPct val="20000"/>
              </a:spcBef>
              <a:spcAft>
                <a:spcPts val="0"/>
              </a:spcAft>
              <a:buClr>
                <a:schemeClr val="accent3"/>
              </a:buClr>
              <a:buSzPct val="95000"/>
              <a:defRPr/>
            </a:pP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Common	O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X		 </a:t>
            </a:r>
            <a:r>
              <a:rPr lang="en-US" altLang="ko-KR" sz="1800" b="0" dirty="0" err="1">
                <a:effectLst/>
                <a:latin typeface="Times New Roman" pitchFamily="18" charset="0"/>
                <a:cs typeface="Times New Roman" pitchFamily="18" charset="0"/>
              </a:rPr>
              <a:t>X</a:t>
            </a: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Market</a:t>
            </a:r>
          </a:p>
          <a:p>
            <a:pPr marL="274320" indent="-274320" algn="l" fontAlgn="auto">
              <a:lnSpc>
                <a:spcPct val="60000"/>
              </a:lnSpc>
              <a:spcBef>
                <a:spcPct val="20000"/>
              </a:spcBef>
              <a:spcAft>
                <a:spcPts val="0"/>
              </a:spcAft>
              <a:buClr>
                <a:schemeClr val="accent3"/>
              </a:buClr>
              <a:buSzPct val="95000"/>
              <a:defRPr/>
            </a:pP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Economic 	O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X</a:t>
            </a: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Union</a:t>
            </a:r>
          </a:p>
          <a:p>
            <a:pPr marL="274320" indent="-274320" algn="l" fontAlgn="auto">
              <a:lnSpc>
                <a:spcPct val="60000"/>
              </a:lnSpc>
              <a:spcBef>
                <a:spcPct val="20000"/>
              </a:spcBef>
              <a:spcAft>
                <a:spcPts val="0"/>
              </a:spcAft>
              <a:buClr>
                <a:schemeClr val="accent3"/>
              </a:buClr>
              <a:buSzPct val="95000"/>
              <a:defRPr/>
            </a:pP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Political	O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r>
              <a:rPr lang="en-US" altLang="ko-KR" sz="1800" b="0" dirty="0">
                <a:effectLst/>
                <a:latin typeface="Times New Roman" pitchFamily="18" charset="0"/>
                <a:cs typeface="Times New Roman" pitchFamily="18" charset="0"/>
              </a:rPr>
              <a:t>		 </a:t>
            </a:r>
            <a:r>
              <a:rPr lang="en-US" altLang="ko-KR" sz="1800" b="0" dirty="0" err="1">
                <a:effectLst/>
                <a:latin typeface="Times New Roman" pitchFamily="18" charset="0"/>
                <a:cs typeface="Times New Roman" pitchFamily="18" charset="0"/>
              </a:rPr>
              <a:t>O</a:t>
            </a:r>
            <a:endParaRPr lang="en-US" altLang="ko-KR" sz="1800" b="0" dirty="0">
              <a:effectLst/>
              <a:latin typeface="Times New Roman" pitchFamily="18" charset="0"/>
              <a:cs typeface="Times New Roman" pitchFamily="18" charset="0"/>
            </a:endParaRPr>
          </a:p>
          <a:p>
            <a:pPr marL="274320" indent="-274320" algn="l" fontAlgn="auto">
              <a:lnSpc>
                <a:spcPct val="60000"/>
              </a:lnSpc>
              <a:spcBef>
                <a:spcPct val="20000"/>
              </a:spcBef>
              <a:spcAft>
                <a:spcPts val="0"/>
              </a:spcAft>
              <a:buClr>
                <a:schemeClr val="accent3"/>
              </a:buClr>
              <a:buSzPct val="95000"/>
              <a:defRPr/>
            </a:pPr>
            <a:r>
              <a:rPr lang="en-US" altLang="ko-KR" sz="1800" b="0" dirty="0">
                <a:effectLst/>
                <a:latin typeface="Times New Roman" pitchFamily="18" charset="0"/>
                <a:cs typeface="Times New Roman" pitchFamily="18" charset="0"/>
              </a:rPr>
              <a:t>   Union</a:t>
            </a:r>
          </a:p>
        </p:txBody>
      </p:sp>
      <p:sp>
        <p:nvSpPr>
          <p:cNvPr id="7"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Types of Regional Economic Integration</a:t>
            </a:r>
          </a:p>
        </p:txBody>
      </p:sp>
      <p:cxnSp>
        <p:nvCxnSpPr>
          <p:cNvPr id="6" name="Straight Connector 5"/>
          <p:cNvCxnSpPr/>
          <p:nvPr/>
        </p:nvCxnSpPr>
        <p:spPr bwMode="auto">
          <a:xfrm>
            <a:off x="323528" y="2420888"/>
            <a:ext cx="864096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rot="5400000">
            <a:off x="-576572" y="3897052"/>
            <a:ext cx="468052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27"/>
          <p:cNvSpPr txBox="1">
            <a:spLocks noChangeArrowheads="1"/>
          </p:cNvSpPr>
          <p:nvPr/>
        </p:nvSpPr>
        <p:spPr>
          <a:xfrm>
            <a:off x="971600" y="1311746"/>
            <a:ext cx="7848872" cy="5357614"/>
          </a:xfrm>
          <a:prstGeom prst="rect">
            <a:avLst/>
          </a:prstGeom>
        </p:spPr>
        <p:txBody>
          <a:bodyPr>
            <a:noAutofit/>
          </a:bodyPr>
          <a:lstStyle/>
          <a:p>
            <a:pPr marL="274320" indent="-274320" algn="l" fontAlgn="auto">
              <a:lnSpc>
                <a:spcPts val="3200"/>
              </a:lnSpc>
              <a:spcBef>
                <a:spcPct val="20000"/>
              </a:spcBef>
              <a:spcAft>
                <a:spcPts val="0"/>
              </a:spcAft>
              <a:buClr>
                <a:schemeClr val="accent3"/>
              </a:buClr>
              <a:buSzPct val="95000"/>
              <a:defRPr/>
            </a:pPr>
            <a:r>
              <a:rPr lang="en-US" altLang="ko-KR" b="0" u="sng" dirty="0">
                <a:effectLst/>
                <a:latin typeface="Times New Roman" pitchFamily="18" charset="0"/>
                <a:cs typeface="Times New Roman" pitchFamily="18" charset="0"/>
              </a:rPr>
              <a:t>Free trade area</a:t>
            </a:r>
            <a:r>
              <a:rPr lang="en-US" altLang="ko-KR" b="0" dirty="0">
                <a:effectLst/>
                <a:latin typeface="Times New Roman" pitchFamily="18" charset="0"/>
                <a:cs typeface="Times New Roman" pitchFamily="18" charset="0"/>
              </a:rPr>
              <a:t>:</a:t>
            </a:r>
          </a:p>
          <a:p>
            <a:pPr marL="274320" indent="-274320" algn="l" fontAlgn="auto">
              <a:lnSpc>
                <a:spcPts val="3200"/>
              </a:lnSpc>
              <a:spcBef>
                <a:spcPct val="20000"/>
              </a:spcBef>
              <a:spcAft>
                <a:spcPts val="0"/>
              </a:spcAft>
              <a:buClr>
                <a:schemeClr val="accent3"/>
              </a:buClr>
              <a:buSzPct val="95000"/>
              <a:defRPr/>
            </a:pPr>
            <a:r>
              <a:rPr lang="en-US" altLang="ko-KR" b="0" dirty="0">
                <a:effectLst/>
                <a:latin typeface="Times New Roman" pitchFamily="18" charset="0"/>
                <a:cs typeface="Times New Roman" pitchFamily="18" charset="0"/>
              </a:rPr>
              <a:t>	- </a:t>
            </a:r>
            <a:r>
              <a:rPr lang="en-US" altLang="ko-KR" b="0" dirty="0">
                <a:effectLst/>
                <a:latin typeface="Times New Roman" pitchFamily="18" charset="0"/>
                <a:ea typeface="바탕" pitchFamily="18" charset="-127"/>
                <a:cs typeface="Times New Roman" pitchFamily="18" charset="0"/>
              </a:rPr>
              <a:t>North American Free Trade Agreement (NAFTA)/USMCA </a:t>
            </a:r>
          </a:p>
          <a:p>
            <a:pPr marL="274320" indent="-274320" algn="l" fontAlgn="auto">
              <a:lnSpc>
                <a:spcPts val="3200"/>
              </a:lnSpc>
              <a:spcBef>
                <a:spcPct val="20000"/>
              </a:spcBef>
              <a:spcAft>
                <a:spcPts val="0"/>
              </a:spcAft>
              <a:buClr>
                <a:schemeClr val="accent3"/>
              </a:buClr>
              <a:buSzPct val="95000"/>
              <a:defRPr/>
            </a:pPr>
            <a:r>
              <a:rPr lang="en-US" altLang="ko-KR" b="0" u="sng" dirty="0">
                <a:effectLst/>
                <a:latin typeface="Times New Roman" pitchFamily="18" charset="0"/>
                <a:cs typeface="Times New Roman" pitchFamily="18" charset="0"/>
              </a:rPr>
              <a:t>Customs union</a:t>
            </a:r>
            <a:r>
              <a:rPr lang="en-US" altLang="ko-KR" b="0" dirty="0">
                <a:effectLst/>
                <a:latin typeface="Times New Roman" pitchFamily="18" charset="0"/>
                <a:cs typeface="Times New Roman" pitchFamily="18" charset="0"/>
              </a:rPr>
              <a:t>:</a:t>
            </a:r>
          </a:p>
          <a:p>
            <a:pPr marL="274320" indent="-274320" algn="l" fontAlgn="auto">
              <a:lnSpc>
                <a:spcPts val="3200"/>
              </a:lnSpc>
              <a:spcBef>
                <a:spcPct val="20000"/>
              </a:spcBef>
              <a:spcAft>
                <a:spcPts val="0"/>
              </a:spcAft>
              <a:buClr>
                <a:schemeClr val="accent3"/>
              </a:buClr>
              <a:buSzPct val="95000"/>
              <a:defRPr/>
            </a:pPr>
            <a:r>
              <a:rPr lang="en-US" altLang="ko-KR" b="0" dirty="0">
                <a:effectLst/>
                <a:latin typeface="Times New Roman" pitchFamily="18" charset="0"/>
                <a:cs typeface="Times New Roman" pitchFamily="18" charset="0"/>
              </a:rPr>
              <a:t>	- Andean Pact (Bolivia, Columbia, Ecuador &amp; Peru)</a:t>
            </a:r>
          </a:p>
          <a:p>
            <a:pPr marL="274320" indent="-274320" algn="l" fontAlgn="auto">
              <a:lnSpc>
                <a:spcPts val="3200"/>
              </a:lnSpc>
              <a:spcBef>
                <a:spcPct val="20000"/>
              </a:spcBef>
              <a:spcAft>
                <a:spcPts val="0"/>
              </a:spcAft>
              <a:buClr>
                <a:schemeClr val="accent3"/>
              </a:buClr>
              <a:buSzPct val="95000"/>
              <a:defRPr/>
            </a:pPr>
            <a:r>
              <a:rPr lang="en-US" altLang="ko-KR" b="0" u="sng" dirty="0">
                <a:effectLst/>
                <a:latin typeface="Times New Roman" pitchFamily="18" charset="0"/>
                <a:cs typeface="Times New Roman" pitchFamily="18" charset="0"/>
              </a:rPr>
              <a:t>Common market</a:t>
            </a:r>
            <a:r>
              <a:rPr lang="en-US" altLang="ko-KR" b="0" dirty="0">
                <a:effectLst/>
                <a:latin typeface="Times New Roman" pitchFamily="18" charset="0"/>
                <a:cs typeface="Times New Roman" pitchFamily="18" charset="0"/>
              </a:rPr>
              <a:t>:</a:t>
            </a:r>
          </a:p>
          <a:p>
            <a:pPr marL="274320" indent="-274320" algn="l" fontAlgn="auto">
              <a:lnSpc>
                <a:spcPts val="3200"/>
              </a:lnSpc>
              <a:spcBef>
                <a:spcPct val="20000"/>
              </a:spcBef>
              <a:spcAft>
                <a:spcPts val="0"/>
              </a:spcAft>
              <a:buClr>
                <a:schemeClr val="accent3"/>
              </a:buClr>
              <a:buSzPct val="95000"/>
              <a:defRPr/>
            </a:pPr>
            <a:r>
              <a:rPr lang="en-US" altLang="ko-KR" b="0" dirty="0">
                <a:effectLst/>
                <a:latin typeface="Times New Roman" pitchFamily="18" charset="0"/>
                <a:cs typeface="Times New Roman" pitchFamily="18" charset="0"/>
              </a:rPr>
              <a:t>	- Old European Union(EEC/EC)</a:t>
            </a:r>
          </a:p>
          <a:p>
            <a:pPr marL="274320" indent="-274320" algn="l" fontAlgn="auto">
              <a:lnSpc>
                <a:spcPts val="3200"/>
              </a:lnSpc>
              <a:spcBef>
                <a:spcPct val="20000"/>
              </a:spcBef>
              <a:spcAft>
                <a:spcPts val="0"/>
              </a:spcAft>
              <a:buClr>
                <a:schemeClr val="accent3"/>
              </a:buClr>
              <a:buSzPct val="95000"/>
              <a:defRPr/>
            </a:pPr>
            <a:r>
              <a:rPr lang="en-US" altLang="ko-KR" b="0" u="sng" dirty="0">
                <a:effectLst/>
                <a:latin typeface="Times New Roman" pitchFamily="18" charset="0"/>
                <a:cs typeface="Times New Roman" pitchFamily="18" charset="0"/>
              </a:rPr>
              <a:t>Economic union</a:t>
            </a:r>
            <a:r>
              <a:rPr lang="en-US" altLang="ko-KR" b="0" dirty="0">
                <a:effectLst/>
                <a:latin typeface="Times New Roman" pitchFamily="18" charset="0"/>
                <a:cs typeface="Times New Roman" pitchFamily="18" charset="0"/>
              </a:rPr>
              <a:t>:</a:t>
            </a:r>
          </a:p>
          <a:p>
            <a:pPr marL="274320" indent="-274320" algn="l" fontAlgn="auto">
              <a:lnSpc>
                <a:spcPts val="3200"/>
              </a:lnSpc>
              <a:spcBef>
                <a:spcPct val="20000"/>
              </a:spcBef>
              <a:spcAft>
                <a:spcPts val="0"/>
              </a:spcAft>
              <a:buClr>
                <a:schemeClr val="accent3"/>
              </a:buClr>
              <a:buSzPct val="95000"/>
              <a:defRPr/>
            </a:pPr>
            <a:r>
              <a:rPr lang="en-US" altLang="ko-KR" b="0" dirty="0">
                <a:effectLst/>
                <a:latin typeface="Times New Roman" pitchFamily="18" charset="0"/>
                <a:cs typeface="Times New Roman" pitchFamily="18" charset="0"/>
              </a:rPr>
              <a:t>	- Current European Union</a:t>
            </a:r>
          </a:p>
          <a:p>
            <a:pPr marL="274320" indent="-274320" algn="l" fontAlgn="auto">
              <a:lnSpc>
                <a:spcPts val="3200"/>
              </a:lnSpc>
              <a:spcBef>
                <a:spcPct val="20000"/>
              </a:spcBef>
              <a:spcAft>
                <a:spcPts val="0"/>
              </a:spcAft>
              <a:buClr>
                <a:schemeClr val="accent3"/>
              </a:buClr>
              <a:buSzPct val="95000"/>
              <a:defRPr/>
            </a:pPr>
            <a:r>
              <a:rPr lang="en-US" altLang="ko-KR" b="0" u="sng" dirty="0">
                <a:effectLst/>
                <a:latin typeface="Times New Roman" pitchFamily="18" charset="0"/>
                <a:cs typeface="Times New Roman" pitchFamily="18" charset="0"/>
              </a:rPr>
              <a:t>Political union</a:t>
            </a:r>
            <a:r>
              <a:rPr lang="en-US" altLang="ko-KR" b="0" dirty="0">
                <a:effectLst/>
                <a:latin typeface="Times New Roman" pitchFamily="18" charset="0"/>
                <a:cs typeface="Times New Roman" pitchFamily="18" charset="0"/>
              </a:rPr>
              <a:t>:</a:t>
            </a:r>
          </a:p>
          <a:p>
            <a:pPr marL="274320" indent="-274320" algn="l" fontAlgn="auto">
              <a:lnSpc>
                <a:spcPts val="3200"/>
              </a:lnSpc>
              <a:spcBef>
                <a:spcPct val="20000"/>
              </a:spcBef>
              <a:spcAft>
                <a:spcPts val="0"/>
              </a:spcAft>
              <a:buClr>
                <a:schemeClr val="accent3"/>
              </a:buClr>
              <a:buSzPct val="95000"/>
              <a:defRPr/>
            </a:pPr>
            <a:r>
              <a:rPr lang="en-US" altLang="ko-KR" b="0" dirty="0">
                <a:effectLst/>
                <a:latin typeface="Times New Roman" pitchFamily="18" charset="0"/>
                <a:cs typeface="Times New Roman" pitchFamily="18" charset="0"/>
              </a:rPr>
              <a:t>	- USA</a:t>
            </a:r>
          </a:p>
        </p:txBody>
      </p:sp>
      <p:sp>
        <p:nvSpPr>
          <p:cNvPr id="7"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Types of Regional Economic Integration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395536" y="1124744"/>
            <a:ext cx="8280920" cy="3096344"/>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Economic and Political Arguments for </a:t>
            </a:r>
          </a:p>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Regional Economic Integration</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Economic Arguments for                              Regional Economic Integration</a:t>
            </a:r>
          </a:p>
        </p:txBody>
      </p:sp>
      <p:sp>
        <p:nvSpPr>
          <p:cNvPr id="10243" name="Rectangle 3"/>
          <p:cNvSpPr>
            <a:spLocks noGrp="1" noChangeArrowheads="1"/>
          </p:cNvSpPr>
          <p:nvPr>
            <p:ph idx="1"/>
          </p:nvPr>
        </p:nvSpPr>
        <p:spPr/>
        <p:txBody>
          <a:bodyPr/>
          <a:lstStyle/>
          <a:p>
            <a:pPr eaLnBrk="1" hangingPunct="1">
              <a:lnSpc>
                <a:spcPts val="4000"/>
              </a:lnSpc>
              <a:buFont typeface="Arial" pitchFamily="34" charset="0"/>
              <a:buChar char="•"/>
            </a:pPr>
            <a:r>
              <a:rPr lang="en-US" altLang="ko-KR" sz="2800" b="0" dirty="0">
                <a:latin typeface="Times New Roman" pitchFamily="18" charset="0"/>
                <a:ea typeface="굴림" pitchFamily="50" charset="-127"/>
                <a:cs typeface="Times New Roman" pitchFamily="18" charset="0"/>
              </a:rPr>
              <a:t>Regional economic integration is an attempt to achieve additional gains from the free flow of trade and investment between countries beyond those attainable under international agreements such as the WTO</a:t>
            </a:r>
          </a:p>
          <a:p>
            <a:pPr eaLnBrk="1" hangingPunct="1">
              <a:lnSpc>
                <a:spcPts val="4000"/>
              </a:lnSpc>
              <a:buFont typeface="Arial" pitchFamily="34" charset="0"/>
              <a:buChar char="•"/>
            </a:pPr>
            <a:r>
              <a:rPr lang="en-US" altLang="ko-KR" sz="2800" b="0" dirty="0">
                <a:latin typeface="Times New Roman" pitchFamily="18" charset="0"/>
                <a:ea typeface="굴림" pitchFamily="50" charset="-127"/>
                <a:cs typeface="Times New Roman" pitchFamily="18" charset="0"/>
              </a:rPr>
              <a:t>Since it is easier to form an agreement with a few countries than across all nations, there has been a push toward regional economic integration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p:txBody>
          <a:bodyPr/>
          <a:lstStyle/>
          <a:p>
            <a:pPr eaLnBrk="1" hangingPunct="1">
              <a:lnSpc>
                <a:spcPts val="4000"/>
              </a:lnSpc>
              <a:buFont typeface="Arial" pitchFamily="34" charset="0"/>
              <a:buChar char="•"/>
            </a:pPr>
            <a:r>
              <a:rPr lang="en-US" altLang="ko-KR" sz="2800" b="0" dirty="0">
                <a:latin typeface="Times New Roman" pitchFamily="18" charset="0"/>
                <a:ea typeface="굴림" pitchFamily="50" charset="-127"/>
                <a:cs typeface="Times New Roman" pitchFamily="18" charset="0"/>
              </a:rPr>
              <a:t>Politically, integration is attractive because </a:t>
            </a:r>
          </a:p>
          <a:p>
            <a:pPr lvl="1" eaLnBrk="1" hangingPunct="1">
              <a:lnSpc>
                <a:spcPts val="4000"/>
              </a:lnSpc>
              <a:buNone/>
            </a:pPr>
            <a:r>
              <a:rPr lang="en-US" altLang="ko-KR" sz="2800" dirty="0">
                <a:solidFill>
                  <a:schemeClr val="tx1"/>
                </a:solidFill>
                <a:latin typeface="Times New Roman" pitchFamily="18" charset="0"/>
                <a:ea typeface="굴림" pitchFamily="50" charset="-127"/>
                <a:cs typeface="Times New Roman" pitchFamily="18" charset="0"/>
              </a:rPr>
              <a:t>-  by linking countries together, making them more dependent on each other, and forming a structure where they regularly have to interact, the likelihood of violent conflict and war will decrease</a:t>
            </a:r>
          </a:p>
          <a:p>
            <a:pPr lvl="1" eaLnBrk="1" hangingPunct="1">
              <a:lnSpc>
                <a:spcPts val="4000"/>
              </a:lnSpc>
              <a:buNone/>
            </a:pPr>
            <a:r>
              <a:rPr lang="en-US" altLang="ko-KR" sz="2800" dirty="0">
                <a:solidFill>
                  <a:schemeClr val="tx1"/>
                </a:solidFill>
                <a:latin typeface="Times New Roman" pitchFamily="18" charset="0"/>
                <a:ea typeface="굴림" pitchFamily="50" charset="-127"/>
                <a:cs typeface="Times New Roman" pitchFamily="18" charset="0"/>
              </a:rPr>
              <a:t>- by linking countries together, they have greater clout and are politically much stronger in dealing with other nations</a:t>
            </a:r>
          </a:p>
          <a:p>
            <a:pPr eaLnBrk="1" hangingPunct="1"/>
            <a:endParaRPr lang="en-US" altLang="ko-KR" sz="2800" dirty="0">
              <a:solidFill>
                <a:schemeClr val="accent2">
                  <a:lumMod val="20000"/>
                  <a:lumOff val="80000"/>
                </a:schemeClr>
              </a:solidFill>
              <a:latin typeface="Times New Roman" pitchFamily="18" charset="0"/>
              <a:ea typeface="굴림" pitchFamily="50" charset="-127"/>
              <a:cs typeface="Times New Roman" pitchFamily="18" charset="0"/>
            </a:endParaRPr>
          </a:p>
        </p:txBody>
      </p:sp>
      <p:sp>
        <p:nvSpPr>
          <p:cNvPr id="5"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Political Arguments for                                   Regional Economic Integration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Case against Regional Economic Integration</a:t>
            </a:r>
          </a:p>
        </p:txBody>
      </p:sp>
      <p:sp>
        <p:nvSpPr>
          <p:cNvPr id="12291" name="Rectangle 3"/>
          <p:cNvSpPr>
            <a:spLocks noGrp="1" noChangeArrowheads="1"/>
          </p:cNvSpPr>
          <p:nvPr>
            <p:ph idx="1"/>
          </p:nvPr>
        </p:nvSpPr>
        <p:spPr/>
        <p:txBody>
          <a:bodyPr/>
          <a:lstStyle/>
          <a:p>
            <a:pPr eaLnBrk="1" hangingPunct="1">
              <a:lnSpc>
                <a:spcPts val="4000"/>
              </a:lnSpc>
              <a:buFont typeface="Arial" pitchFamily="34" charset="0"/>
              <a:buChar char="•"/>
            </a:pPr>
            <a:r>
              <a:rPr lang="en-US" altLang="ko-KR" sz="2800" b="0" dirty="0">
                <a:latin typeface="Times New Roman" pitchFamily="18" charset="0"/>
                <a:ea typeface="굴림" pitchFamily="50" charset="-127"/>
                <a:cs typeface="Times New Roman" pitchFamily="18" charset="0"/>
              </a:rPr>
              <a:t>Regional economic integration makes sense only when the amount of trade it creates exceeds the amount it diverts (trade creation &gt; trade diversion)</a:t>
            </a:r>
          </a:p>
          <a:p>
            <a:pPr eaLnBrk="1" hangingPunct="1">
              <a:lnSpc>
                <a:spcPts val="4000"/>
              </a:lnSpc>
              <a:buFont typeface="Arial" pitchFamily="34" charset="0"/>
              <a:buChar char="•"/>
            </a:pPr>
            <a:r>
              <a:rPr lang="en-US" altLang="ko-KR" sz="2800" b="0" u="sng" dirty="0">
                <a:latin typeface="Times New Roman" pitchFamily="18" charset="0"/>
                <a:ea typeface="굴림" pitchFamily="50" charset="-127"/>
                <a:cs typeface="Times New Roman" pitchFamily="18" charset="0"/>
              </a:rPr>
              <a:t>Trade creation</a:t>
            </a:r>
            <a:r>
              <a:rPr lang="en-US" altLang="ko-KR" sz="2800" b="0" dirty="0">
                <a:latin typeface="Times New Roman" pitchFamily="18" charset="0"/>
                <a:ea typeface="굴림" pitchFamily="50" charset="-127"/>
                <a:cs typeface="Times New Roman" pitchFamily="18" charset="0"/>
              </a:rPr>
              <a:t> occurs when low cost producers within the free trade area replace high cost domestic producers</a:t>
            </a:r>
          </a:p>
          <a:p>
            <a:pPr eaLnBrk="1" hangingPunct="1">
              <a:lnSpc>
                <a:spcPts val="4000"/>
              </a:lnSpc>
              <a:buFont typeface="Arial" pitchFamily="34" charset="0"/>
              <a:buChar char="•"/>
            </a:pPr>
            <a:r>
              <a:rPr lang="en-US" altLang="ko-KR" sz="2800" b="0" u="sng" dirty="0">
                <a:latin typeface="Times New Roman" pitchFamily="18" charset="0"/>
                <a:ea typeface="굴림" pitchFamily="50" charset="-127"/>
                <a:cs typeface="Times New Roman" pitchFamily="18" charset="0"/>
              </a:rPr>
              <a:t>Trade diversion</a:t>
            </a:r>
            <a:r>
              <a:rPr lang="en-US" altLang="ko-KR" sz="2800" b="0" dirty="0">
                <a:latin typeface="Times New Roman" pitchFamily="18" charset="0"/>
                <a:ea typeface="굴림" pitchFamily="50" charset="-127"/>
                <a:cs typeface="Times New Roman" pitchFamily="18" charset="0"/>
              </a:rPr>
              <a:t> occurs when higher cost suppliers within the free trade area replace lower cost external suppliers</a:t>
            </a:r>
          </a:p>
          <a:p>
            <a:pPr eaLnBrk="1" hangingPunct="1"/>
            <a:endParaRPr lang="en-US" altLang="ko-KR" sz="2800" dirty="0">
              <a:solidFill>
                <a:schemeClr val="accent2">
                  <a:lumMod val="20000"/>
                  <a:lumOff val="80000"/>
                </a:schemeClr>
              </a:solidFill>
              <a:latin typeface="Times New Roman" pitchFamily="18" charset="0"/>
              <a:ea typeface="굴림" pitchFamily="50" charset="-127"/>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457200" y="1371600"/>
            <a:ext cx="8291264" cy="5248275"/>
          </a:xfrm>
        </p:spPr>
        <p:txBody>
          <a:bodyPr/>
          <a:lstStyle/>
          <a:p>
            <a:pPr eaLnBrk="1" hangingPunct="1">
              <a:lnSpc>
                <a:spcPts val="3500"/>
              </a:lnSpc>
              <a:buFont typeface="Arial" pitchFamily="34" charset="0"/>
              <a:buChar char="•"/>
            </a:pPr>
            <a:r>
              <a:rPr lang="en-US" altLang="ko-KR" sz="2800" b="0" dirty="0">
                <a:latin typeface="Times New Roman" pitchFamily="18" charset="0"/>
                <a:ea typeface="굴림" pitchFamily="50" charset="-127"/>
                <a:cs typeface="Times New Roman" pitchFamily="18" charset="0"/>
              </a:rPr>
              <a:t>While regional trade agreements are designed to promote free trade, there is some concern that the world is moving toward a situation in which a number of regional economic blocks compete against each other.</a:t>
            </a:r>
          </a:p>
          <a:p>
            <a:pPr eaLnBrk="1" hangingPunct="1">
              <a:lnSpc>
                <a:spcPts val="3500"/>
              </a:lnSpc>
              <a:buFont typeface="Arial" pitchFamily="34" charset="0"/>
              <a:buChar char="•"/>
            </a:pPr>
            <a:r>
              <a:rPr lang="en-US" altLang="ko-KR" sz="2800" b="0" dirty="0">
                <a:latin typeface="Times New Roman" pitchFamily="18" charset="0"/>
                <a:ea typeface="굴림" pitchFamily="50" charset="-127"/>
                <a:cs typeface="Times New Roman" pitchFamily="18" charset="0"/>
              </a:rPr>
              <a:t>If this scenario materializes, the gains from free trade within blocs could be offset by a decline in trade between blocs</a:t>
            </a:r>
          </a:p>
          <a:p>
            <a:pPr eaLnBrk="1" hangingPunct="1">
              <a:lnSpc>
                <a:spcPts val="3500"/>
              </a:lnSpc>
              <a:buFont typeface="Arial" pitchFamily="34" charset="0"/>
              <a:buChar char="•"/>
            </a:pPr>
            <a:r>
              <a:rPr lang="en-US" altLang="ko-KR" b="0" dirty="0">
                <a:latin typeface="Times New Roman" pitchFamily="18" charset="0"/>
                <a:ea typeface="굴림" pitchFamily="50" charset="-127"/>
                <a:cs typeface="Times New Roman" pitchFamily="18" charset="0"/>
              </a:rPr>
              <a:t>Is this scenario plausible?</a:t>
            </a:r>
          </a:p>
          <a:p>
            <a:pPr eaLnBrk="1" hangingPunct="1">
              <a:lnSpc>
                <a:spcPts val="3500"/>
              </a:lnSpc>
              <a:buFont typeface="Arial" pitchFamily="34" charset="0"/>
              <a:buChar char="•"/>
            </a:pPr>
            <a:r>
              <a:rPr lang="en-US" altLang="ko-KR" b="0" dirty="0">
                <a:latin typeface="Times New Roman" pitchFamily="18" charset="0"/>
                <a:ea typeface="굴림" pitchFamily="50" charset="-127"/>
                <a:cs typeface="Times New Roman" pitchFamily="18" charset="0"/>
              </a:rPr>
              <a:t>Does regionalization facilitate or hamper globalization?</a:t>
            </a:r>
          </a:p>
          <a:p>
            <a:pPr eaLnBrk="1" hangingPunct="1">
              <a:lnSpc>
                <a:spcPts val="3500"/>
              </a:lnSpc>
              <a:buNone/>
            </a:pPr>
            <a:endParaRPr lang="en-US" altLang="ko-KR" sz="2800" b="0" dirty="0">
              <a:latin typeface="Times New Roman" pitchFamily="18" charset="0"/>
              <a:ea typeface="굴림" pitchFamily="50" charset="-127"/>
              <a:cs typeface="Times New Roman" pitchFamily="18" charset="0"/>
            </a:endParaRPr>
          </a:p>
          <a:p>
            <a:pPr eaLnBrk="1" hangingPunct="1">
              <a:lnSpc>
                <a:spcPts val="3500"/>
              </a:lnSpc>
            </a:pPr>
            <a:endParaRPr lang="en-US" altLang="ko-KR" sz="2800" dirty="0">
              <a:solidFill>
                <a:schemeClr val="accent2">
                  <a:lumMod val="20000"/>
                  <a:lumOff val="80000"/>
                </a:schemeClr>
              </a:solidFill>
              <a:latin typeface="Times New Roman" pitchFamily="18" charset="0"/>
              <a:ea typeface="굴림" pitchFamily="50" charset="-127"/>
              <a:cs typeface="Times New Roman" pitchFamily="18" charset="0"/>
            </a:endParaRPr>
          </a:p>
        </p:txBody>
      </p:sp>
      <p:sp>
        <p:nvSpPr>
          <p:cNvPr id="7"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Regionalization vs. Globalization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395536" y="1124744"/>
            <a:ext cx="8280920" cy="3024336"/>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Examples of  </a:t>
            </a:r>
          </a:p>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Regional Economic Integration</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Regional Economic Integration in Europe:</a:t>
            </a:r>
            <a:br>
              <a:rPr lang="en-US" altLang="ko-KR" sz="3200" b="1" dirty="0">
                <a:solidFill>
                  <a:srgbClr val="FFC000"/>
                </a:solidFill>
                <a:latin typeface="Times New Roman" pitchFamily="18" charset="0"/>
                <a:ea typeface="굴림" pitchFamily="50" charset="-127"/>
                <a:cs typeface="Times New Roman" pitchFamily="18" charset="0"/>
              </a:rPr>
            </a:br>
            <a:r>
              <a:rPr lang="en-US" altLang="ko-KR" sz="3200" b="1" dirty="0">
                <a:solidFill>
                  <a:srgbClr val="FFC000"/>
                </a:solidFill>
                <a:latin typeface="Times New Roman" pitchFamily="18" charset="0"/>
                <a:ea typeface="굴림" pitchFamily="50" charset="-127"/>
                <a:cs typeface="Times New Roman" pitchFamily="18" charset="0"/>
              </a:rPr>
              <a:t>European Union (EU)</a:t>
            </a:r>
          </a:p>
        </p:txBody>
      </p:sp>
      <p:pic>
        <p:nvPicPr>
          <p:cNvPr id="2" name="Picture 2" descr="A map indicates Member states of the European Union.">
            <a:extLst>
              <a:ext uri="{FF2B5EF4-FFF2-40B4-BE49-F238E27FC236}">
                <a16:creationId xmlns:a16="http://schemas.microsoft.com/office/drawing/2014/main" id="{91B2D619-7E9D-D692-F36C-820DE3CBD764}"/>
              </a:ext>
            </a:extLst>
          </p:cNvPr>
          <p:cNvPicPr>
            <a:picLocks noChangeAspect="1"/>
          </p:cNvPicPr>
          <p:nvPr/>
        </p:nvPicPr>
        <p:blipFill>
          <a:blip r:embed="rId3"/>
          <a:stretch>
            <a:fillRect/>
          </a:stretch>
        </p:blipFill>
        <p:spPr>
          <a:xfrm>
            <a:off x="0" y="1124744"/>
            <a:ext cx="9144000" cy="573325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72616" y="332656"/>
            <a:ext cx="7543800" cy="563562"/>
          </a:xfrm>
          <a:noFill/>
        </p:spPr>
        <p:txBody>
          <a:bodyPr/>
          <a:lstStyle/>
          <a:p>
            <a:pPr algn="ctr" eaLnBrk="1" hangingPunct="1"/>
            <a:r>
              <a:rPr lang="en-US" altLang="ko-KR" sz="3200" b="1" dirty="0">
                <a:solidFill>
                  <a:schemeClr val="accent1"/>
                </a:solidFill>
                <a:latin typeface="Times New Roman" pitchFamily="18" charset="0"/>
                <a:ea typeface="굴림" pitchFamily="50" charset="-127"/>
                <a:cs typeface="Times New Roman" pitchFamily="18" charset="0"/>
              </a:rPr>
              <a:t>EU Formation</a:t>
            </a:r>
            <a:endParaRPr lang="en-US" altLang="ko-KR" sz="3200" b="1" dirty="0">
              <a:solidFill>
                <a:srgbClr val="FFC000"/>
              </a:solidFill>
              <a:latin typeface="Times New Roman" pitchFamily="18" charset="0"/>
              <a:ea typeface="굴림" pitchFamily="50" charset="-127"/>
              <a:cs typeface="Times New Roman" pitchFamily="18" charset="0"/>
            </a:endParaRPr>
          </a:p>
        </p:txBody>
      </p:sp>
      <p:sp>
        <p:nvSpPr>
          <p:cNvPr id="5" name="Rectangle 3"/>
          <p:cNvSpPr txBox="1">
            <a:spLocks noChangeArrowheads="1"/>
          </p:cNvSpPr>
          <p:nvPr/>
        </p:nvSpPr>
        <p:spPr bwMode="auto">
          <a:xfrm>
            <a:off x="133672" y="1268760"/>
            <a:ext cx="86868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1" hangingPunct="1">
              <a:lnSpc>
                <a:spcPts val="24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The European Union (EU) is the result of:</a:t>
            </a:r>
          </a:p>
          <a:p>
            <a:pPr marL="342900" marR="0" lvl="0" indent="-342900" algn="l" defTabSz="914400" rtl="0" eaLnBrk="1" fontAlgn="base" latinLnBrk="1" hangingPunct="1">
              <a:lnSpc>
                <a:spcPts val="2400"/>
              </a:lnSpc>
              <a:spcBef>
                <a:spcPct val="20000"/>
              </a:spcBef>
              <a:spcAft>
                <a:spcPct val="0"/>
              </a:spcAft>
              <a:buClr>
                <a:schemeClr val="hlink"/>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 the devastation of two world wars on Western</a:t>
            </a:r>
          </a:p>
          <a:p>
            <a:pPr marL="342900" marR="0" lvl="0" indent="-342900" algn="l" defTabSz="914400" rtl="0" eaLnBrk="1" fontAlgn="base" latinLnBrk="1" hangingPunct="1">
              <a:lnSpc>
                <a:spcPts val="2400"/>
              </a:lnSpc>
              <a:spcBef>
                <a:spcPct val="20000"/>
              </a:spcBef>
              <a:spcAft>
                <a:spcPct val="0"/>
              </a:spcAft>
              <a:buClr>
                <a:schemeClr val="hlink"/>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Europe and the desire for a lasting peace</a:t>
            </a:r>
          </a:p>
          <a:p>
            <a:pPr marL="342900" marR="0" lvl="0" indent="-342900" algn="l" defTabSz="914400" rtl="0" eaLnBrk="1" fontAlgn="base" latinLnBrk="1" hangingPunct="1">
              <a:lnSpc>
                <a:spcPts val="2400"/>
              </a:lnSpc>
              <a:spcBef>
                <a:spcPct val="20000"/>
              </a:spcBef>
              <a:spcAft>
                <a:spcPct val="0"/>
              </a:spcAft>
              <a:buClr>
                <a:schemeClr val="hlink"/>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a:t>
            </a:r>
            <a:r>
              <a:rPr kumimoji="0" lang="en-US" altLang="ko-KR" b="1"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the desire by the European nations to have a greater</a:t>
            </a:r>
          </a:p>
          <a:p>
            <a:pPr marL="342900" marR="0" lvl="0" indent="-342900" algn="l" defTabSz="914400" rtl="0" eaLnBrk="1" fontAlgn="base" latinLnBrk="1" hangingPunct="1">
              <a:lnSpc>
                <a:spcPts val="2400"/>
              </a:lnSpc>
              <a:spcBef>
                <a:spcPct val="20000"/>
              </a:spcBef>
              <a:spcAft>
                <a:spcPct val="0"/>
              </a:spcAft>
              <a:buClr>
                <a:schemeClr val="hlink"/>
              </a:buClr>
              <a:buSzTx/>
              <a:buFont typeface="Wingdings" pitchFamily="2" charset="2"/>
              <a:buNone/>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influence on the world’s political and economic areas</a:t>
            </a: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1951: Treaty of</a:t>
            </a:r>
            <a:r>
              <a:rPr kumimoji="0" lang="en-US" altLang="ko-KR" b="0" i="0" u="none" strike="noStrike" kern="0" cap="none" spc="0" normalizeH="0" noProof="0" dirty="0">
                <a:ln>
                  <a:noFill/>
                </a:ln>
                <a:solidFill>
                  <a:schemeClr val="tx1"/>
                </a:solidFill>
                <a:effectLst/>
                <a:uLnTx/>
                <a:uFillTx/>
                <a:latin typeface="Times New Roman" pitchFamily="18" charset="0"/>
                <a:ea typeface="굴림" pitchFamily="50" charset="-127"/>
                <a:cs typeface="Times New Roman" pitchFamily="18" charset="0"/>
              </a:rPr>
              <a:t> Paris -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European Coal and Steel Community (6)</a:t>
            </a: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1957: Treaty of Rome – European Economic Community (which</a:t>
            </a:r>
          </a:p>
          <a:p>
            <a:pPr marL="342900" marR="0" lvl="0" indent="-342900" algn="l" defTabSz="914400" rtl="0" eaLnBrk="1" fontAlgn="base" latinLnBrk="1" hangingPunct="1">
              <a:lnSpc>
                <a:spcPts val="2800"/>
              </a:lnSpc>
              <a:spcBef>
                <a:spcPct val="20000"/>
              </a:spcBef>
              <a:spcAft>
                <a:spcPct val="0"/>
              </a:spcAft>
              <a:buClr>
                <a:schemeClr val="hlink"/>
              </a:buClr>
              <a:buSzTx/>
              <a:tabLst/>
              <a:defRPr/>
            </a:pPr>
            <a:r>
              <a:rPr lang="en-US" altLang="ko-KR" b="0" kern="0" dirty="0">
                <a:ea typeface="굴림" pitchFamily="50" charset="-127"/>
                <a:cs typeface="Times New Roman" pitchFamily="18" charset="0"/>
              </a:rPr>
              <a:t>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   became EC in 1965 merged</a:t>
            </a:r>
            <a:r>
              <a:rPr kumimoji="0" lang="en-US" altLang="ko-KR" b="0" i="0" u="none" strike="noStrike" kern="0" cap="none" spc="0" normalizeH="0" noProof="0" dirty="0">
                <a:ln>
                  <a:noFill/>
                </a:ln>
                <a:solidFill>
                  <a:schemeClr val="tx1"/>
                </a:solidFill>
                <a:effectLst/>
                <a:uLnTx/>
                <a:uFillTx/>
                <a:latin typeface="Times New Roman" pitchFamily="18" charset="0"/>
                <a:ea typeface="굴림" pitchFamily="50" charset="-127"/>
                <a:cs typeface="Times New Roman" pitchFamily="18" charset="0"/>
              </a:rPr>
              <a:t> with ECSC &amp; Euratom &amp; CAP</a:t>
            </a:r>
            <a:r>
              <a:rPr lang="en-US" altLang="ko-KR" b="0" kern="0" noProof="0" dirty="0">
                <a:ea typeface="굴림" pitchFamily="50" charset="-127"/>
                <a:cs typeface="Times New Roman" pitchFamily="18" charset="0"/>
              </a:rPr>
              <a:t>)</a:t>
            </a:r>
            <a:endPar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endParaRP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1986: Single European Act:</a:t>
            </a:r>
            <a:r>
              <a:rPr kumimoji="0" lang="en-US" altLang="ko-KR" b="0" i="0" u="none" strike="noStrike" kern="0" cap="none" spc="0" normalizeH="0" noProof="0" dirty="0">
                <a:ln>
                  <a:noFill/>
                </a:ln>
                <a:solidFill>
                  <a:schemeClr val="tx1"/>
                </a:solidFill>
                <a:effectLst/>
                <a:uLnTx/>
                <a:uFillTx/>
                <a:latin typeface="Times New Roman" pitchFamily="18" charset="0"/>
                <a:ea typeface="굴림" pitchFamily="50" charset="-127"/>
                <a:cs typeface="Times New Roman" pitchFamily="18" charset="0"/>
              </a:rPr>
              <a:t> </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A</a:t>
            </a:r>
            <a:r>
              <a:rPr kumimoji="0" lang="en-US" altLang="ko-KR" b="0" i="0" u="none" strike="noStrike" kern="0" cap="none" spc="0" normalizeH="0" noProof="0" dirty="0">
                <a:ln>
                  <a:noFill/>
                </a:ln>
                <a:solidFill>
                  <a:schemeClr val="tx1"/>
                </a:solidFill>
                <a:effectLst/>
                <a:uLnTx/>
                <a:uFillTx/>
                <a:latin typeface="Times New Roman" pitchFamily="18" charset="0"/>
                <a:ea typeface="굴림" pitchFamily="50" charset="-127"/>
                <a:cs typeface="Times New Roman" pitchFamily="18" charset="0"/>
              </a:rPr>
              <a:t> s</a:t>
            </a: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ingle market by 1992</a:t>
            </a: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kumimoji="0" lang="en-US" altLang="ko-KR" b="0" i="0" u="none" strike="noStrike" kern="0" cap="none" spc="0" normalizeH="0" baseline="0" noProof="0" dirty="0">
                <a:ln>
                  <a:noFill/>
                </a:ln>
                <a:solidFill>
                  <a:schemeClr val="tx1"/>
                </a:solidFill>
                <a:effectLst/>
                <a:uLnTx/>
                <a:uFillTx/>
                <a:latin typeface="Times New Roman" pitchFamily="18" charset="0"/>
                <a:ea typeface="굴림" pitchFamily="50" charset="-127"/>
                <a:cs typeface="Times New Roman" pitchFamily="18" charset="0"/>
              </a:rPr>
              <a:t>1992: Treaty of Maastricht - Single currency (the Euro) by 1999</a:t>
            </a: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lang="en-US" altLang="ko-KR" b="0" kern="0" dirty="0">
                <a:ea typeface="굴림" pitchFamily="50" charset="-127"/>
                <a:cs typeface="Times New Roman" pitchFamily="18" charset="0"/>
              </a:rPr>
              <a:t>1994:  EC became European Union</a:t>
            </a:r>
          </a:p>
          <a:p>
            <a:pPr marL="342900" marR="0" lvl="0" indent="-342900" algn="l" defTabSz="914400" rtl="0" eaLnBrk="1" fontAlgn="base" latinLnBrk="1" hangingPunct="1">
              <a:lnSpc>
                <a:spcPts val="2800"/>
              </a:lnSpc>
              <a:spcBef>
                <a:spcPct val="20000"/>
              </a:spcBef>
              <a:spcAft>
                <a:spcPct val="0"/>
              </a:spcAft>
              <a:buClr>
                <a:schemeClr val="hlink"/>
              </a:buClr>
              <a:buSzTx/>
              <a:buFont typeface="Arial" pitchFamily="34" charset="0"/>
              <a:buChar char="•"/>
              <a:tabLst/>
              <a:defRPr/>
            </a:pPr>
            <a:r>
              <a:rPr lang="en-US" altLang="ko-KR" b="0" kern="0" dirty="0">
                <a:ea typeface="굴림" pitchFamily="50" charset="-127"/>
                <a:cs typeface="Times New Roman" pitchFamily="18" charset="0"/>
              </a:rPr>
              <a:t>EU has over 500 million people and 28% of gross world product as of 2009.</a:t>
            </a:r>
          </a:p>
          <a:p>
            <a:pPr marL="342900" marR="0" lvl="0" indent="-342900" algn="l" defTabSz="914400" rtl="0" eaLnBrk="1" fontAlgn="base" latinLnBrk="1" hangingPunct="1">
              <a:lnSpc>
                <a:spcPts val="3100"/>
              </a:lnSpc>
              <a:spcBef>
                <a:spcPct val="20000"/>
              </a:spcBef>
              <a:spcAft>
                <a:spcPct val="0"/>
              </a:spcAft>
              <a:buClr>
                <a:schemeClr val="hlink"/>
              </a:buClr>
              <a:buSzTx/>
              <a:buFont typeface="Arial" pitchFamily="34" charset="0"/>
              <a:buChar char="•"/>
              <a:tabLst/>
              <a:defRPr/>
            </a:pPr>
            <a:endParaRPr kumimoji="0" lang="en-US" altLang="ko-KR" sz="2800" b="1" i="1" u="none" strike="noStrike" kern="0" cap="none" spc="0" normalizeH="0" baseline="0" noProof="0" dirty="0">
              <a:ln>
                <a:noFill/>
              </a:ln>
              <a:solidFill>
                <a:schemeClr val="accent2">
                  <a:lumMod val="20000"/>
                  <a:lumOff val="80000"/>
                </a:schemeClr>
              </a:solidFill>
              <a:effectLst/>
              <a:uLnTx/>
              <a:uFillTx/>
              <a:latin typeface="Times New Roman" pitchFamily="18" charset="0"/>
              <a:ea typeface="굴림" pitchFamily="50" charset="-127"/>
              <a:cs typeface="Times New Roman" pitchFamily="18" charset="0"/>
            </a:endParaRPr>
          </a:p>
          <a:p>
            <a:pPr marL="342900" marR="0" lvl="0" indent="-342900" algn="l" defTabSz="914400" rtl="0" eaLnBrk="1" fontAlgn="base" latinLnBrk="1" hangingPunct="1">
              <a:lnSpc>
                <a:spcPct val="90000"/>
              </a:lnSpc>
              <a:spcBef>
                <a:spcPct val="20000"/>
              </a:spcBef>
              <a:spcAft>
                <a:spcPct val="0"/>
              </a:spcAft>
              <a:buClr>
                <a:schemeClr val="hlink"/>
              </a:buClr>
              <a:buSzTx/>
              <a:buFont typeface="Wingdings" pitchFamily="2" charset="2"/>
              <a:buChar char="v"/>
              <a:tabLst/>
              <a:defRPr/>
            </a:pPr>
            <a:endParaRPr kumimoji="0" lang="en-US" altLang="ko-KR" sz="2800" b="1" i="0" u="none" strike="noStrike" kern="0" cap="none" spc="0" normalizeH="0" baseline="0" noProof="0" dirty="0">
              <a:ln>
                <a:noFill/>
              </a:ln>
              <a:solidFill>
                <a:schemeClr val="accent2">
                  <a:lumMod val="20000"/>
                  <a:lumOff val="80000"/>
                </a:schemeClr>
              </a:solidFill>
              <a:effectLst/>
              <a:uLnTx/>
              <a:uFillTx/>
              <a:latin typeface="Times New Roman" pitchFamily="18" charset="0"/>
              <a:ea typeface="굴림" pitchFamily="50" charset="-127"/>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7261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The Single European Act</a:t>
            </a:r>
          </a:p>
        </p:txBody>
      </p:sp>
      <p:sp>
        <p:nvSpPr>
          <p:cNvPr id="16387" name="Rectangle 3"/>
          <p:cNvSpPr>
            <a:spLocks noGrp="1" noChangeArrowheads="1"/>
          </p:cNvSpPr>
          <p:nvPr>
            <p:ph idx="1"/>
          </p:nvPr>
        </p:nvSpPr>
        <p:spPr>
          <a:xfrm>
            <a:off x="323528" y="1277069"/>
            <a:ext cx="8568952" cy="5248275"/>
          </a:xfrm>
        </p:spPr>
        <p:txBody>
          <a:bodyPr/>
          <a:lstStyle/>
          <a:p>
            <a:pPr eaLnBrk="1" hangingPunct="1">
              <a:lnSpc>
                <a:spcPts val="2800"/>
              </a:lnSpc>
              <a:buFont typeface="Arial" pitchFamily="34" charset="0"/>
              <a:buChar char="•"/>
            </a:pPr>
            <a:r>
              <a:rPr lang="en-US" altLang="ko-KR" sz="2400" b="0" dirty="0">
                <a:latin typeface="Times New Roman" pitchFamily="18" charset="0"/>
                <a:ea typeface="굴림" pitchFamily="50" charset="-127"/>
                <a:cs typeface="Times New Roman" pitchFamily="18" charset="0"/>
              </a:rPr>
              <a:t>The Single European Act (1986) committed EC countries to work toward establishment of a single market by 1992 by removing </a:t>
            </a:r>
            <a:r>
              <a:rPr lang="en-US" altLang="ko-KR" sz="2400" b="0" i="1" dirty="0">
                <a:latin typeface="Times New Roman" pitchFamily="18" charset="0"/>
                <a:ea typeface="굴림" pitchFamily="50" charset="-127"/>
                <a:cs typeface="Times New Roman" pitchFamily="18" charset="0"/>
              </a:rPr>
              <a:t>non-tariff barriers </a:t>
            </a:r>
            <a:r>
              <a:rPr lang="en-US" altLang="ko-KR" sz="2400" b="0" dirty="0">
                <a:latin typeface="Times New Roman" pitchFamily="18" charset="0"/>
                <a:ea typeface="굴림" pitchFamily="50" charset="-127"/>
                <a:cs typeface="Times New Roman" pitchFamily="18" charset="0"/>
              </a:rPr>
              <a:t>in particular.</a:t>
            </a:r>
          </a:p>
          <a:p>
            <a:pPr eaLnBrk="1" hangingPunct="1">
              <a:lnSpc>
                <a:spcPts val="2800"/>
              </a:lnSpc>
              <a:buFont typeface="Arial" pitchFamily="34" charset="0"/>
              <a:buChar char="•"/>
            </a:pPr>
            <a:r>
              <a:rPr lang="en-US" altLang="ko-KR" sz="2400" b="0" dirty="0">
                <a:latin typeface="Times New Roman" pitchFamily="18" charset="0"/>
                <a:ea typeface="굴림" pitchFamily="50" charset="-127"/>
                <a:cs typeface="Times New Roman" pitchFamily="18" charset="0"/>
              </a:rPr>
              <a:t>The Act proposed to</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remove all frontier controls between EC countries</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apply the principle of mutual recognition to product standards</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open procurement to non-national suppliers</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lift barriers to competition in retail banking and insurance </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remove all restrictions on foreign exchange transactions between member countries</a:t>
            </a:r>
          </a:p>
          <a:p>
            <a:pPr lvl="1" eaLnBrk="1" hangingPunct="1">
              <a:lnSpc>
                <a:spcPts val="2800"/>
              </a:lnSpc>
              <a:buNone/>
            </a:pPr>
            <a:r>
              <a:rPr lang="en-US" altLang="ko-KR" sz="2400" dirty="0">
                <a:solidFill>
                  <a:schemeClr val="tx1"/>
                </a:solidFill>
                <a:latin typeface="Times New Roman" pitchFamily="18" charset="0"/>
                <a:ea typeface="굴림" pitchFamily="50" charset="-127"/>
                <a:cs typeface="Times New Roman" pitchFamily="18" charset="0"/>
              </a:rPr>
              <a:t>-  abolish restrictions on cabotage (trucking)</a:t>
            </a:r>
          </a:p>
          <a:p>
            <a:pPr eaLnBrk="1" hangingPunct="1">
              <a:lnSpc>
                <a:spcPts val="2800"/>
              </a:lnSpc>
              <a:buFont typeface="Arial" pitchFamily="34" charset="0"/>
              <a:buChar char="•"/>
            </a:pPr>
            <a:r>
              <a:rPr lang="en-US" altLang="ko-KR" sz="2400" b="0" dirty="0">
                <a:latin typeface="Times New Roman" pitchFamily="18" charset="0"/>
                <a:ea typeface="굴림" pitchFamily="50" charset="-127"/>
                <a:cs typeface="Times New Roman" pitchFamily="18" charset="0"/>
              </a:rPr>
              <a:t>The Act prompted the restructuring of substantial sectors of European Industry</a:t>
            </a:r>
          </a:p>
          <a:p>
            <a:pPr eaLnBrk="1" hangingPunct="1">
              <a:lnSpc>
                <a:spcPct val="80000"/>
              </a:lnSpc>
            </a:pPr>
            <a:endParaRPr lang="en-US" altLang="ko-KR" sz="2000" dirty="0">
              <a:solidFill>
                <a:schemeClr val="accent2">
                  <a:lumMod val="20000"/>
                  <a:lumOff val="80000"/>
                </a:schemeClr>
              </a:solidFill>
              <a:latin typeface="Times New Roman" pitchFamily="18" charset="0"/>
              <a:ea typeface="굴림" pitchFamily="50" charset="-127"/>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72616" y="332656"/>
            <a:ext cx="7543800" cy="563562"/>
          </a:xfrm>
          <a:noFill/>
        </p:spPr>
        <p:txBody>
          <a:bodyPr/>
          <a:lstStyle/>
          <a:p>
            <a:pPr algn="ctr" eaLnBrk="1" hangingPunct="1"/>
            <a:r>
              <a:rPr lang="en-US" altLang="ko-KR" sz="3200" b="1" dirty="0">
                <a:solidFill>
                  <a:schemeClr val="accent1"/>
                </a:solidFill>
                <a:latin typeface="Times New Roman" pitchFamily="18" charset="0"/>
                <a:ea typeface="굴림" pitchFamily="50" charset="-127"/>
                <a:cs typeface="Times New Roman" pitchFamily="18" charset="0"/>
              </a:rPr>
              <a:t>The Maastricht Treaty: </a:t>
            </a:r>
            <a:r>
              <a:rPr lang="en-US" altLang="ko-KR" sz="3200" b="1" dirty="0">
                <a:solidFill>
                  <a:srgbClr val="FFC000"/>
                </a:solidFill>
                <a:latin typeface="Times New Roman" pitchFamily="18" charset="0"/>
                <a:ea typeface="굴림" pitchFamily="50" charset="-127"/>
                <a:cs typeface="Times New Roman" pitchFamily="18" charset="0"/>
              </a:rPr>
              <a:t>The Euro</a:t>
            </a:r>
          </a:p>
        </p:txBody>
      </p:sp>
      <p:sp>
        <p:nvSpPr>
          <p:cNvPr id="17411" name="Rectangle 3"/>
          <p:cNvSpPr>
            <a:spLocks noGrp="1" noChangeArrowheads="1"/>
          </p:cNvSpPr>
          <p:nvPr>
            <p:ph idx="1"/>
          </p:nvPr>
        </p:nvSpPr>
        <p:spPr>
          <a:xfrm>
            <a:off x="323528" y="1196752"/>
            <a:ext cx="8229600" cy="5472608"/>
          </a:xfrm>
        </p:spPr>
        <p:txBody>
          <a:bodyPr/>
          <a:lstStyle/>
          <a:p>
            <a:pPr eaLnBrk="1" hangingPunct="1">
              <a:lnSpc>
                <a:spcPts val="2600"/>
              </a:lnSpc>
              <a:buFont typeface="Arial" pitchFamily="34" charset="0"/>
              <a:buChar char="•"/>
            </a:pPr>
            <a:r>
              <a:rPr lang="en-US" altLang="ko-KR" sz="2400" b="0" dirty="0">
                <a:latin typeface="Times New Roman" pitchFamily="18" charset="0"/>
                <a:ea typeface="굴림" pitchFamily="50" charset="-127"/>
                <a:cs typeface="Times New Roman" pitchFamily="18" charset="0"/>
              </a:rPr>
              <a:t>The Maastricht Treaty (1992) committed EU members to adopt a single currency, the euro, and lock their exchange rates against each other by January 1, 1999. Euro notes and coins were actually issued and local currencies were taken out of circulation from January 1, 2002.</a:t>
            </a:r>
          </a:p>
          <a:p>
            <a:pPr lvl="1" eaLnBrk="1" hangingPunct="1">
              <a:lnSpc>
                <a:spcPts val="2600"/>
              </a:lnSpc>
              <a:buNone/>
            </a:pPr>
            <a:r>
              <a:rPr lang="en-US" altLang="ko-KR" sz="2400" dirty="0">
                <a:solidFill>
                  <a:schemeClr val="tx1"/>
                </a:solidFill>
                <a:latin typeface="Times New Roman" pitchFamily="18" charset="0"/>
                <a:ea typeface="굴림" pitchFamily="50" charset="-127"/>
                <a:cs typeface="Times New Roman" pitchFamily="18" charset="0"/>
              </a:rPr>
              <a:t>-  The euro is currently used by 20 of the 27 member states.</a:t>
            </a:r>
          </a:p>
          <a:p>
            <a:pPr lvl="1" eaLnBrk="1" hangingPunct="1">
              <a:lnSpc>
                <a:spcPts val="2600"/>
              </a:lnSpc>
              <a:buNone/>
            </a:pPr>
            <a:r>
              <a:rPr lang="en-US" altLang="ko-KR" sz="2400" dirty="0">
                <a:solidFill>
                  <a:schemeClr val="tx1"/>
                </a:solidFill>
                <a:latin typeface="Times New Roman" pitchFamily="18" charset="0"/>
                <a:ea typeface="굴림" pitchFamily="50" charset="-127"/>
                <a:cs typeface="Times New Roman" pitchFamily="18" charset="0"/>
              </a:rPr>
              <a:t>-  This has created the euro zone, the second largest currency zone in the world after that of the U.S. dollar.</a:t>
            </a:r>
          </a:p>
          <a:p>
            <a:pPr lvl="1" eaLnBrk="1" hangingPunct="1">
              <a:lnSpc>
                <a:spcPts val="2600"/>
              </a:lnSpc>
              <a:buNone/>
            </a:pPr>
            <a:r>
              <a:rPr lang="en-US" altLang="ko-KR" sz="2400" dirty="0">
                <a:solidFill>
                  <a:schemeClr val="tx1"/>
                </a:solidFill>
                <a:latin typeface="Times New Roman" pitchFamily="18" charset="0"/>
                <a:ea typeface="굴림" pitchFamily="50" charset="-127"/>
                <a:cs typeface="Times New Roman" pitchFamily="18" charset="0"/>
              </a:rPr>
              <a:t>-  Countries that participate have agreed to give up control of their monetary policy. The European Central Bank does it.</a:t>
            </a:r>
          </a:p>
          <a:p>
            <a:pPr lvl="1" eaLnBrk="1" hangingPunct="1">
              <a:lnSpc>
                <a:spcPts val="2600"/>
              </a:lnSpc>
              <a:buClr>
                <a:schemeClr val="tx1"/>
              </a:buClr>
              <a:buFontTx/>
              <a:buChar char="-"/>
            </a:pPr>
            <a:r>
              <a:rPr lang="en-US" altLang="ko-KR" sz="2400" dirty="0">
                <a:solidFill>
                  <a:schemeClr val="tx1"/>
                </a:solidFill>
                <a:latin typeface="Times New Roman" pitchFamily="18" charset="0"/>
                <a:ea typeface="굴림" pitchFamily="50" charset="-127"/>
                <a:cs typeface="Times New Roman" pitchFamily="18" charset="0"/>
              </a:rPr>
              <a:t>So far, Denmark and Sweden have opted out of the euro zone. </a:t>
            </a:r>
          </a:p>
          <a:p>
            <a:pPr lvl="1" eaLnBrk="1" hangingPunct="1">
              <a:lnSpc>
                <a:spcPts val="2600"/>
              </a:lnSpc>
              <a:buClr>
                <a:schemeClr val="tx1"/>
              </a:buClr>
              <a:buFontTx/>
              <a:buChar char="-"/>
            </a:pPr>
            <a:r>
              <a:rPr lang="en-US" altLang="ko-KR" sz="2400" dirty="0">
                <a:solidFill>
                  <a:schemeClr val="tx1"/>
                </a:solidFill>
                <a:latin typeface="Times New Roman" pitchFamily="18" charset="0"/>
                <a:ea typeface="굴림" pitchFamily="50" charset="-127"/>
                <a:cs typeface="Times New Roman" pitchFamily="18" charset="0"/>
              </a:rPr>
              <a:t>To adopt the euro, members should fulfill such economic criteria as price stability, stable exchange rates, a sound fiscal situation, and so forth.</a:t>
            </a:r>
          </a:p>
          <a:p>
            <a:pPr lvl="1" eaLnBrk="1" hangingPunct="1">
              <a:buFontTx/>
              <a:buChar char="-"/>
            </a:pPr>
            <a:endParaRPr lang="en-US" altLang="ko-KR" dirty="0">
              <a:solidFill>
                <a:schemeClr val="accent2">
                  <a:lumMod val="20000"/>
                  <a:lumOff val="80000"/>
                </a:schemeClr>
              </a:solidFill>
              <a:latin typeface="Times New Roman" pitchFamily="18" charset="0"/>
              <a:ea typeface="굴림" pitchFamily="50" charset="-127"/>
              <a:cs typeface="Times New Roman" pitchFamily="18" charset="0"/>
            </a:endParaRPr>
          </a:p>
          <a:p>
            <a:pPr eaLnBrk="1" hangingPunct="1"/>
            <a:endParaRPr lang="en-US" altLang="ko-KR" sz="2400" dirty="0">
              <a:solidFill>
                <a:schemeClr val="accent2">
                  <a:lumMod val="20000"/>
                  <a:lumOff val="80000"/>
                </a:schemeClr>
              </a:solidFill>
              <a:latin typeface="Times New Roman" pitchFamily="18" charset="0"/>
              <a:ea typeface="굴림" pitchFamily="50" charset="-127"/>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72616" y="332656"/>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To Be a Member in the EU</a:t>
            </a:r>
          </a:p>
        </p:txBody>
      </p:sp>
      <p:sp>
        <p:nvSpPr>
          <p:cNvPr id="5" name="Rectangle 2"/>
          <p:cNvSpPr txBox="1">
            <a:spLocks noChangeArrowheads="1"/>
          </p:cNvSpPr>
          <p:nvPr/>
        </p:nvSpPr>
        <p:spPr bwMode="auto">
          <a:xfrm>
            <a:off x="408112" y="1340768"/>
            <a:ext cx="8412360" cy="511256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1" hangingPunct="0">
              <a:lnSpc>
                <a:spcPts val="3400"/>
              </a:lnSpc>
              <a:spcBef>
                <a:spcPct val="0"/>
              </a:spcBef>
              <a:spcAft>
                <a:spcPct val="0"/>
              </a:spcAft>
              <a:buClrTx/>
              <a:buSzTx/>
              <a:buFont typeface="Arial" pitchFamily="34" charset="0"/>
              <a:buChar char="•"/>
              <a:tabLst/>
              <a:defRPr/>
            </a:pPr>
            <a:r>
              <a:rPr lang="en-US" kern="0" dirty="0">
                <a:latin typeface="+mj-lt"/>
                <a:ea typeface="+mj-ea"/>
                <a:cs typeface="+mj-cs"/>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A candidate</a:t>
            </a:r>
            <a:r>
              <a:rPr kumimoji="0" lang="en-US" b="0" i="0" u="none" strike="noStrike" kern="0" cap="none" spc="0" normalizeH="0" noProof="0" dirty="0">
                <a:ln>
                  <a:noFill/>
                </a:ln>
                <a:solidFill>
                  <a:schemeClr val="tx1"/>
                </a:solidFill>
                <a:effectLst/>
                <a:uLnTx/>
                <a:uFillTx/>
                <a:ea typeface="+mj-ea"/>
                <a:cs typeface="Times New Roman" pitchFamily="18" charset="0"/>
              </a:rPr>
              <a:t> nation should achieve</a:t>
            </a:r>
            <a:r>
              <a:rPr kumimoji="0" lang="en-US" b="0" i="0" u="none" strike="noStrike" kern="0" cap="none" spc="0" normalizeH="0" baseline="0" noProof="0" dirty="0">
                <a:ln>
                  <a:noFill/>
                </a:ln>
                <a:solidFill>
                  <a:schemeClr val="tx1"/>
                </a:solidFill>
                <a:effectLst/>
                <a:uLnTx/>
                <a:uFillTx/>
                <a:ea typeface="+mj-ea"/>
                <a:cs typeface="Times New Roman" pitchFamily="18" charset="0"/>
              </a:rPr>
              <a:t> stability of institutions</a:t>
            </a:r>
          </a:p>
          <a:p>
            <a:pPr marL="0" marR="0" lvl="0" indent="0" algn="l" defTabSz="914400" rtl="0" eaLnBrk="0" fontAlgn="base" latinLnBrk="1" hangingPunct="0">
              <a:lnSpc>
                <a:spcPts val="3400"/>
              </a:lnSpc>
              <a:spcBef>
                <a:spcPct val="0"/>
              </a:spcBef>
              <a:spcAft>
                <a:spcPct val="0"/>
              </a:spcAft>
              <a:buClrTx/>
              <a:buSzTx/>
              <a:tabLst/>
              <a:defRPr/>
            </a:pPr>
            <a:r>
              <a:rPr kumimoji="0" lang="en-US" b="0" i="0" u="none" strike="noStrike" kern="0" cap="none" spc="0" normalizeH="0" noProof="0" dirty="0">
                <a:ln>
                  <a:noFill/>
                </a:ln>
                <a:solidFill>
                  <a:schemeClr val="tx1"/>
                </a:solidFill>
                <a:effectLst/>
                <a:uLnTx/>
                <a:uFillTx/>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guaranteeing democracy, the rule of law, human rights and</a:t>
            </a:r>
          </a:p>
          <a:p>
            <a:pPr marL="0" marR="0" lvl="0" indent="0" algn="l" defTabSz="914400" rtl="0" eaLnBrk="0" fontAlgn="base" latinLnBrk="1" hangingPunct="0">
              <a:lnSpc>
                <a:spcPts val="3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respect for and protection of minorities.</a:t>
            </a:r>
          </a:p>
          <a:p>
            <a:pPr marL="0" marR="0" lvl="0" indent="0" algn="l" defTabSz="914400" rtl="0" eaLnBrk="0" fontAlgn="base" latinLnBrk="1" hangingPunct="0">
              <a:lnSpc>
                <a:spcPts val="3400"/>
              </a:lnSpc>
              <a:spcBef>
                <a:spcPct val="0"/>
              </a:spcBef>
              <a:spcAft>
                <a:spcPct val="0"/>
              </a:spcAft>
              <a:buClrTx/>
              <a:buSzTx/>
              <a:tabLst/>
              <a:defRPr/>
            </a:pPr>
            <a:endParaRPr lang="en-US" sz="800" b="0" kern="0" dirty="0">
              <a:ea typeface="+mj-ea"/>
              <a:cs typeface="Times New Roman" pitchFamily="18" charset="0"/>
            </a:endParaRPr>
          </a:p>
          <a:p>
            <a:pPr marL="0" marR="0" lvl="0" indent="0" algn="l" defTabSz="914400" rtl="0" eaLnBrk="0" fontAlgn="base" latinLnBrk="1" hangingPunct="0">
              <a:lnSpc>
                <a:spcPts val="3400"/>
              </a:lnSpc>
              <a:spcBef>
                <a:spcPct val="0"/>
              </a:spcBef>
              <a:spcAft>
                <a:spcPct val="0"/>
              </a:spcAft>
              <a:buClrTx/>
              <a:buSzTx/>
              <a:buFont typeface="Arial" pitchFamily="34" charset="0"/>
              <a:buChar char="•"/>
              <a:tabLst/>
              <a:defRPr/>
            </a:pPr>
            <a:r>
              <a:rPr kumimoji="0" lang="en-US" b="0" i="0" u="none" strike="noStrike" kern="0" cap="none" spc="0" normalizeH="0" noProof="0" dirty="0">
                <a:ln>
                  <a:noFill/>
                </a:ln>
                <a:solidFill>
                  <a:schemeClr val="tx1"/>
                </a:solidFill>
                <a:effectLst/>
                <a:uLnTx/>
                <a:uFillTx/>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The candidate country should have</a:t>
            </a:r>
            <a:r>
              <a:rPr kumimoji="0" lang="en-US" b="0" i="0" u="none" strike="noStrike" kern="0" cap="none" spc="0" normalizeH="0" noProof="0" dirty="0">
                <a:ln>
                  <a:noFill/>
                </a:ln>
                <a:solidFill>
                  <a:schemeClr val="tx1"/>
                </a:solidFill>
                <a:effectLst/>
                <a:uLnTx/>
                <a:uFillTx/>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the existence of a functioning</a:t>
            </a:r>
          </a:p>
          <a:p>
            <a:pPr marL="0" marR="0" lvl="0" indent="0" algn="l" defTabSz="914400" rtl="0" eaLnBrk="0" fontAlgn="base" latinLnBrk="1" hangingPunct="0">
              <a:lnSpc>
                <a:spcPts val="3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 market economy as well as the capacity to cope with </a:t>
            </a:r>
          </a:p>
          <a:p>
            <a:pPr marL="0" marR="0" lvl="0" indent="0" algn="l" defTabSz="914400" rtl="0" eaLnBrk="0" fontAlgn="base" latinLnBrk="1" hangingPunct="0">
              <a:lnSpc>
                <a:spcPts val="3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competitive pressure and market forces within the Union.</a:t>
            </a:r>
          </a:p>
          <a:p>
            <a:pPr marL="0" marR="0" lvl="0" indent="0" algn="l" defTabSz="914400" rtl="0" eaLnBrk="0" fontAlgn="base" latinLnBrk="1" hangingPunct="0">
              <a:lnSpc>
                <a:spcPts val="3400"/>
              </a:lnSpc>
              <a:spcBef>
                <a:spcPct val="0"/>
              </a:spcBef>
              <a:spcAft>
                <a:spcPct val="0"/>
              </a:spcAft>
              <a:buClrTx/>
              <a:buSzTx/>
              <a:tabLst/>
              <a:defRPr/>
            </a:pPr>
            <a:endParaRPr lang="en-US" sz="800" b="0" kern="0" dirty="0">
              <a:ea typeface="+mj-ea"/>
              <a:cs typeface="Times New Roman" pitchFamily="18" charset="0"/>
            </a:endParaRPr>
          </a:p>
          <a:p>
            <a:pPr marL="0" marR="0" lvl="0" indent="0" algn="l" defTabSz="914400" rtl="0" eaLnBrk="0" fontAlgn="base" latinLnBrk="1" hangingPunct="0">
              <a:lnSpc>
                <a:spcPts val="3400"/>
              </a:lnSpc>
              <a:spcBef>
                <a:spcPct val="0"/>
              </a:spcBef>
              <a:spcAft>
                <a:spcPct val="0"/>
              </a:spcAft>
              <a:buClrTx/>
              <a:buSzTx/>
              <a:buFont typeface="Arial" pitchFamily="34" charset="0"/>
              <a:buChar char="•"/>
              <a:tabLst/>
              <a:defRPr/>
            </a:pPr>
            <a:r>
              <a:rPr lang="en-US" b="0" kern="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The candidate country should</a:t>
            </a:r>
            <a:r>
              <a:rPr kumimoji="0" lang="en-US" b="0" i="0" u="none" strike="noStrike" kern="0" cap="none" spc="0" normalizeH="0" noProof="0" dirty="0">
                <a:ln>
                  <a:noFill/>
                </a:ln>
                <a:solidFill>
                  <a:schemeClr val="tx1"/>
                </a:solidFill>
                <a:effectLst/>
                <a:uLnTx/>
                <a:uFillTx/>
                <a:ea typeface="+mj-ea"/>
                <a:cs typeface="Times New Roman" pitchFamily="18" charset="0"/>
              </a:rPr>
              <a:t> have</a:t>
            </a:r>
            <a:r>
              <a:rPr kumimoji="0" lang="en-US" b="0" i="0" u="none" strike="noStrike" kern="0" cap="none" spc="0" normalizeH="0" baseline="0" noProof="0" dirty="0">
                <a:ln>
                  <a:noFill/>
                </a:ln>
                <a:solidFill>
                  <a:schemeClr val="tx1"/>
                </a:solidFill>
                <a:effectLst/>
                <a:uLnTx/>
                <a:uFillTx/>
                <a:ea typeface="+mj-ea"/>
                <a:cs typeface="Times New Roman" pitchFamily="18" charset="0"/>
              </a:rPr>
              <a:t> the ability to take on the </a:t>
            </a:r>
          </a:p>
          <a:p>
            <a:pPr marL="0" marR="0" lvl="0" indent="0" algn="l" defTabSz="914400" rtl="0" eaLnBrk="0" fontAlgn="base" latinLnBrk="1" hangingPunct="0">
              <a:lnSpc>
                <a:spcPts val="3400"/>
              </a:lnSpc>
              <a:spcBef>
                <a:spcPct val="0"/>
              </a:spcBef>
              <a:spcAft>
                <a:spcPct val="0"/>
              </a:spcAft>
              <a:buClrTx/>
              <a:buSzTx/>
              <a:tabLst/>
              <a:defRPr/>
            </a:pPr>
            <a:r>
              <a:rPr lang="en-US" b="0" kern="0" noProof="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obligations of membership, including adherence to the aims of </a:t>
            </a:r>
          </a:p>
          <a:p>
            <a:pPr marL="0" marR="0" lvl="0" indent="0" algn="l" defTabSz="914400" rtl="0" eaLnBrk="0" fontAlgn="base" latinLnBrk="1" hangingPunct="0">
              <a:lnSpc>
                <a:spcPts val="3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baseline="0" noProof="0" dirty="0">
                <a:ln>
                  <a:noFill/>
                </a:ln>
                <a:solidFill>
                  <a:schemeClr val="tx1"/>
                </a:solidFill>
                <a:effectLst/>
                <a:uLnTx/>
                <a:uFillTx/>
                <a:ea typeface="+mj-ea"/>
                <a:cs typeface="Times New Roman" pitchFamily="18" charset="0"/>
              </a:rPr>
              <a:t>political, economic and monetary union.</a:t>
            </a:r>
            <a:br>
              <a:rPr kumimoji="0" lang="en-US" b="0" i="0" u="none" strike="noStrike" kern="0" cap="none" spc="0" normalizeH="0" baseline="0" noProof="0" dirty="0">
                <a:ln>
                  <a:noFill/>
                </a:ln>
                <a:solidFill>
                  <a:schemeClr val="tx1"/>
                </a:solidFill>
                <a:effectLst/>
                <a:uLnTx/>
                <a:uFillTx/>
                <a:ea typeface="+mj-ea"/>
                <a:cs typeface="Times New Roman" pitchFamily="18" charset="0"/>
              </a:rPr>
            </a:br>
            <a:endParaRPr kumimoji="0" lang="en-US" b="0" i="0" u="none" strike="noStrike" kern="0" cap="none" spc="0" normalizeH="0" baseline="0" noProof="0" dirty="0">
              <a:ln>
                <a:noFill/>
              </a:ln>
              <a:solidFill>
                <a:schemeClr val="tx1"/>
              </a:solidFill>
              <a:effectLst/>
              <a:uLnTx/>
              <a:uFillTx/>
              <a:ea typeface="+mj-ea"/>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72616" y="332656"/>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New Challenges for the EU</a:t>
            </a:r>
          </a:p>
        </p:txBody>
      </p:sp>
      <p:sp>
        <p:nvSpPr>
          <p:cNvPr id="5" name="Rectangle 2"/>
          <p:cNvSpPr txBox="1">
            <a:spLocks noChangeArrowheads="1"/>
          </p:cNvSpPr>
          <p:nvPr/>
        </p:nvSpPr>
        <p:spPr bwMode="auto">
          <a:xfrm>
            <a:off x="408112" y="1628800"/>
            <a:ext cx="8412360" cy="475252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1" hangingPunct="0">
              <a:lnSpc>
                <a:spcPts val="4400"/>
              </a:lnSpc>
              <a:spcBef>
                <a:spcPct val="0"/>
              </a:spcBef>
              <a:spcAft>
                <a:spcPct val="0"/>
              </a:spcAft>
              <a:buClrTx/>
              <a:buSzTx/>
              <a:buFont typeface="Arial" pitchFamily="34" charset="0"/>
              <a:buChar char="•"/>
              <a:tabLst/>
              <a:defRPr/>
            </a:pPr>
            <a:r>
              <a:rPr lang="en-US" kern="0" dirty="0">
                <a:latin typeface="+mj-lt"/>
                <a:ea typeface="+mj-ea"/>
                <a:cs typeface="+mj-cs"/>
              </a:rPr>
              <a:t>  </a:t>
            </a:r>
            <a:r>
              <a:rPr lang="en-US" b="0" kern="0" dirty="0">
                <a:ea typeface="+mj-ea"/>
                <a:cs typeface="Times New Roman" pitchFamily="18" charset="0"/>
              </a:rPr>
              <a:t>The future of Turkey within the European Union</a:t>
            </a:r>
          </a:p>
          <a:p>
            <a:pPr marL="0" marR="0" lvl="0" indent="0" algn="l" defTabSz="914400" rtl="0" eaLnBrk="0" fontAlgn="base" latinLnBrk="1" hangingPunct="0">
              <a:lnSpc>
                <a:spcPts val="4400"/>
              </a:lnSpc>
              <a:spcBef>
                <a:spcPct val="0"/>
              </a:spcBef>
              <a:spcAft>
                <a:spcPct val="0"/>
              </a:spcAft>
              <a:buClrTx/>
              <a:buSzTx/>
              <a:buFont typeface="Arial" pitchFamily="34" charset="0"/>
              <a:buChar char="•"/>
              <a:tabLst/>
              <a:defRPr/>
            </a:pPr>
            <a:r>
              <a:rPr kumimoji="0" lang="en-US" b="0" i="0" u="none" strike="noStrike" kern="0" cap="none" spc="0" normalizeH="0" baseline="0" noProof="0" dirty="0">
                <a:ln>
                  <a:noFill/>
                </a:ln>
                <a:solidFill>
                  <a:schemeClr val="tx1"/>
                </a:solidFill>
                <a:effectLst/>
                <a:uLnTx/>
                <a:uFillTx/>
                <a:ea typeface="+mj-ea"/>
                <a:cs typeface="Times New Roman" pitchFamily="18" charset="0"/>
              </a:rPr>
              <a:t>  Financial</a:t>
            </a:r>
            <a:r>
              <a:rPr kumimoji="0" lang="en-US" b="0" i="0" u="none" strike="noStrike" kern="0" cap="none" spc="0" normalizeH="0" noProof="0" dirty="0">
                <a:ln>
                  <a:noFill/>
                </a:ln>
                <a:solidFill>
                  <a:schemeClr val="tx1"/>
                </a:solidFill>
                <a:effectLst/>
                <a:uLnTx/>
                <a:uFillTx/>
                <a:ea typeface="+mj-ea"/>
                <a:cs typeface="Times New Roman" pitchFamily="18" charset="0"/>
              </a:rPr>
              <a:t> - </a:t>
            </a:r>
            <a:r>
              <a:rPr kumimoji="0" lang="en-US" b="0" i="0" u="none" strike="noStrike" kern="0" cap="none" spc="0" normalizeH="0" baseline="0" noProof="0" dirty="0">
                <a:ln>
                  <a:noFill/>
                </a:ln>
                <a:solidFill>
                  <a:schemeClr val="tx1"/>
                </a:solidFill>
                <a:effectLst/>
                <a:uLnTx/>
                <a:uFillTx/>
                <a:ea typeface="+mj-ea"/>
                <a:cs typeface="Times New Roman" pitchFamily="18" charset="0"/>
              </a:rPr>
              <a:t>2/3 budgets going to agricultural</a:t>
            </a:r>
            <a:r>
              <a:rPr kumimoji="0" lang="en-US" b="0" i="0" u="none" strike="noStrike" kern="0" cap="none" spc="0" normalizeH="0" noProof="0" dirty="0">
                <a:ln>
                  <a:noFill/>
                </a:ln>
                <a:solidFill>
                  <a:schemeClr val="tx1"/>
                </a:solidFill>
                <a:effectLst/>
                <a:uLnTx/>
                <a:uFillTx/>
                <a:ea typeface="+mj-ea"/>
                <a:cs typeface="Times New Roman" pitchFamily="18" charset="0"/>
              </a:rPr>
              <a:t> supports and </a:t>
            </a:r>
          </a:p>
          <a:p>
            <a:pPr marL="0" marR="0" lvl="0" indent="0" algn="l" defTabSz="914400" rtl="0" eaLnBrk="0" fontAlgn="base" latinLnBrk="1" hangingPunct="0">
              <a:lnSpc>
                <a:spcPts val="4400"/>
              </a:lnSpc>
              <a:spcBef>
                <a:spcPct val="0"/>
              </a:spcBef>
              <a:spcAft>
                <a:spcPct val="0"/>
              </a:spcAft>
              <a:buClrTx/>
              <a:buSzTx/>
              <a:tabLst/>
              <a:defRPr/>
            </a:pPr>
            <a:r>
              <a:rPr lang="en-US" b="0" kern="0" noProof="0" dirty="0">
                <a:ea typeface="+mj-ea"/>
                <a:cs typeface="Times New Roman" pitchFamily="18" charset="0"/>
              </a:rPr>
              <a:t>      </a:t>
            </a:r>
            <a:r>
              <a:rPr kumimoji="0" lang="en-US" b="0" i="0" u="none" strike="noStrike" kern="0" cap="none" spc="0" normalizeH="0" noProof="0" dirty="0">
                <a:ln>
                  <a:noFill/>
                </a:ln>
                <a:solidFill>
                  <a:schemeClr val="tx1"/>
                </a:solidFill>
                <a:effectLst/>
                <a:uLnTx/>
                <a:uFillTx/>
                <a:ea typeface="+mj-ea"/>
                <a:cs typeface="Times New Roman" pitchFamily="18" charset="0"/>
              </a:rPr>
              <a:t>regional/structural funds to help poorer regions within Europe</a:t>
            </a:r>
          </a:p>
          <a:p>
            <a:pPr marL="0" marR="0" lvl="0" indent="0" algn="l" defTabSz="914400" rtl="0" eaLnBrk="0" fontAlgn="base" latinLnBrk="1" hangingPunct="0">
              <a:lnSpc>
                <a:spcPts val="4400"/>
              </a:lnSpc>
              <a:spcBef>
                <a:spcPct val="0"/>
              </a:spcBef>
              <a:spcAft>
                <a:spcPct val="0"/>
              </a:spcAft>
              <a:buClrTx/>
              <a:buSzTx/>
              <a:buFont typeface="Arial" pitchFamily="34" charset="0"/>
              <a:buChar char="•"/>
              <a:tabLst/>
              <a:defRPr/>
            </a:pPr>
            <a:r>
              <a:rPr kumimoji="0" lang="en-US" b="0" i="0" u="none" strike="noStrike" kern="0" cap="none" spc="0" normalizeH="0" noProof="0" dirty="0">
                <a:ln>
                  <a:noFill/>
                </a:ln>
                <a:solidFill>
                  <a:schemeClr val="tx1"/>
                </a:solidFill>
                <a:effectLst/>
                <a:uLnTx/>
                <a:uFillTx/>
                <a:ea typeface="+mj-ea"/>
                <a:cs typeface="Times New Roman" pitchFamily="18" charset="0"/>
              </a:rPr>
              <a:t>  Foreign policy - Forming an EU military force operating without</a:t>
            </a:r>
          </a:p>
          <a:p>
            <a:pPr marL="0" marR="0" lvl="0" indent="0" algn="l" defTabSz="914400" rtl="0" eaLnBrk="0" fontAlgn="base" latinLnBrk="1" hangingPunct="0">
              <a:lnSpc>
                <a:spcPts val="4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noProof="0" dirty="0">
                <a:ln>
                  <a:noFill/>
                </a:ln>
                <a:solidFill>
                  <a:schemeClr val="tx1"/>
                </a:solidFill>
                <a:effectLst/>
                <a:uLnTx/>
                <a:uFillTx/>
                <a:ea typeface="+mj-ea"/>
                <a:cs typeface="Times New Roman" pitchFamily="18" charset="0"/>
              </a:rPr>
              <a:t> US consent as opposed to NATO </a:t>
            </a:r>
            <a:endParaRPr lang="en-US" sz="800" b="0" kern="0" dirty="0">
              <a:ea typeface="+mj-ea"/>
              <a:cs typeface="Times New Roman" pitchFamily="18" charset="0"/>
            </a:endParaRPr>
          </a:p>
          <a:p>
            <a:pPr marL="0" marR="0" lvl="0" indent="0" algn="l" defTabSz="914400" rtl="0" eaLnBrk="0" fontAlgn="base" latinLnBrk="1" hangingPunct="0">
              <a:lnSpc>
                <a:spcPts val="4400"/>
              </a:lnSpc>
              <a:spcBef>
                <a:spcPct val="0"/>
              </a:spcBef>
              <a:spcAft>
                <a:spcPct val="0"/>
              </a:spcAft>
              <a:buClrTx/>
              <a:buSzTx/>
              <a:buFont typeface="Arial" pitchFamily="34" charset="0"/>
              <a:buChar char="•"/>
              <a:tabLst/>
              <a:defRPr/>
            </a:pPr>
            <a:r>
              <a:rPr kumimoji="0" lang="en-US" b="0" i="0" u="none" strike="noStrike" kern="0" cap="none" spc="0" normalizeH="0" noProof="0" dirty="0">
                <a:ln>
                  <a:noFill/>
                </a:ln>
                <a:solidFill>
                  <a:schemeClr val="tx1"/>
                </a:solidFill>
                <a:effectLst/>
                <a:uLnTx/>
                <a:uFillTx/>
                <a:ea typeface="+mj-ea"/>
                <a:cs typeface="Times New Roman" pitchFamily="18" charset="0"/>
              </a:rPr>
              <a:t>  Legitimacy – Lack of formal democratic institutions within </a:t>
            </a:r>
          </a:p>
          <a:p>
            <a:pPr marL="0" marR="0" lvl="0" indent="0" algn="l" defTabSz="914400" rtl="0" eaLnBrk="0" fontAlgn="base" latinLnBrk="1" hangingPunct="0">
              <a:lnSpc>
                <a:spcPts val="4400"/>
              </a:lnSpc>
              <a:spcBef>
                <a:spcPct val="0"/>
              </a:spcBef>
              <a:spcAft>
                <a:spcPct val="0"/>
              </a:spcAft>
              <a:buClrTx/>
              <a:buSzTx/>
              <a:tabLst/>
              <a:defRPr/>
            </a:pPr>
            <a:r>
              <a:rPr lang="en-US" b="0" kern="0" dirty="0">
                <a:ea typeface="+mj-ea"/>
                <a:cs typeface="Times New Roman" pitchFamily="18" charset="0"/>
              </a:rPr>
              <a:t>      </a:t>
            </a:r>
            <a:r>
              <a:rPr kumimoji="0" lang="en-US" b="0" i="0" u="none" strike="noStrike" kern="0" cap="none" spc="0" normalizeH="0" noProof="0" dirty="0">
                <a:ln>
                  <a:noFill/>
                </a:ln>
                <a:solidFill>
                  <a:schemeClr val="tx1"/>
                </a:solidFill>
                <a:effectLst/>
                <a:uLnTx/>
                <a:uFillTx/>
                <a:ea typeface="+mj-ea"/>
                <a:cs typeface="Times New Roman" pitchFamily="18" charset="0"/>
              </a:rPr>
              <a:t>the EU and Lack of transparency in decision-makings; </a:t>
            </a:r>
          </a:p>
          <a:p>
            <a:pPr marL="0" marR="0" lvl="0" indent="0" algn="l" defTabSz="914400" rtl="0" eaLnBrk="0" fontAlgn="base" latinLnBrk="1" hangingPunct="0">
              <a:lnSpc>
                <a:spcPts val="4400"/>
              </a:lnSpc>
              <a:spcBef>
                <a:spcPct val="0"/>
              </a:spcBef>
              <a:spcAft>
                <a:spcPct val="0"/>
              </a:spcAft>
              <a:buClrTx/>
              <a:buSzTx/>
              <a:tabLst/>
              <a:defRPr/>
            </a:pPr>
            <a:r>
              <a:rPr lang="en-US" b="0" kern="0" noProof="0" dirty="0">
                <a:ea typeface="+mj-ea"/>
                <a:cs typeface="Times New Roman" pitchFamily="18" charset="0"/>
              </a:rPr>
              <a:t>      </a:t>
            </a:r>
            <a:r>
              <a:rPr kumimoji="0" lang="en-US" b="0" i="0" u="none" strike="noStrike" kern="0" cap="none" spc="0" normalizeH="0" noProof="0" dirty="0">
                <a:ln>
                  <a:noFill/>
                </a:ln>
                <a:solidFill>
                  <a:schemeClr val="tx1"/>
                </a:solidFill>
                <a:effectLst/>
                <a:uLnTx/>
                <a:uFillTx/>
                <a:ea typeface="+mj-ea"/>
                <a:cs typeface="Times New Roman" pitchFamily="18" charset="0"/>
              </a:rPr>
              <a:t>a major reason for the French and the Dutch to reject the draft</a:t>
            </a:r>
          </a:p>
          <a:p>
            <a:pPr marL="0" marR="0" lvl="0" indent="0" algn="l" defTabSz="914400" rtl="0" eaLnBrk="0" fontAlgn="base" latinLnBrk="1" hangingPunct="0">
              <a:lnSpc>
                <a:spcPts val="4400"/>
              </a:lnSpc>
              <a:spcBef>
                <a:spcPct val="0"/>
              </a:spcBef>
              <a:spcAft>
                <a:spcPct val="0"/>
              </a:spcAft>
              <a:buClrTx/>
              <a:buSzTx/>
              <a:tabLst/>
              <a:defRPr/>
            </a:pPr>
            <a:r>
              <a:rPr lang="en-US" b="0" kern="0" noProof="0" dirty="0">
                <a:ea typeface="+mj-ea"/>
                <a:cs typeface="Times New Roman" pitchFamily="18" charset="0"/>
              </a:rPr>
              <a:t>     </a:t>
            </a:r>
            <a:r>
              <a:rPr kumimoji="0" lang="en-US" b="0" i="0" u="none" strike="noStrike" kern="0" cap="none" spc="0" normalizeH="0" noProof="0" dirty="0">
                <a:ln>
                  <a:noFill/>
                </a:ln>
                <a:solidFill>
                  <a:schemeClr val="tx1"/>
                </a:solidFill>
                <a:effectLst/>
                <a:uLnTx/>
                <a:uFillTx/>
                <a:ea typeface="+mj-ea"/>
                <a:cs typeface="Times New Roman" pitchFamily="18" charset="0"/>
              </a:rPr>
              <a:t> EU constitution in 2005.</a:t>
            </a:r>
            <a:br>
              <a:rPr kumimoji="0" lang="en-US" b="0" i="0" u="none" strike="noStrike" kern="0" cap="none" spc="0" normalizeH="0" baseline="0" noProof="0" dirty="0">
                <a:ln>
                  <a:noFill/>
                </a:ln>
                <a:solidFill>
                  <a:schemeClr val="tx1"/>
                </a:solidFill>
                <a:effectLst/>
                <a:uLnTx/>
                <a:uFillTx/>
                <a:ea typeface="+mj-ea"/>
                <a:cs typeface="Times New Roman" pitchFamily="18" charset="0"/>
              </a:rPr>
            </a:br>
            <a:endParaRPr kumimoji="0" lang="en-US" b="0" i="0" u="none" strike="noStrike" kern="0" cap="none" spc="0" normalizeH="0" baseline="0" noProof="0" dirty="0">
              <a:ln>
                <a:noFill/>
              </a:ln>
              <a:solidFill>
                <a:schemeClr val="tx1"/>
              </a:solidFill>
              <a:effectLst/>
              <a:uLnTx/>
              <a:uFillTx/>
              <a:ea typeface="+mj-ea"/>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27584"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Regional Economic Integration </a:t>
            </a:r>
            <a:br>
              <a:rPr lang="en-US" altLang="ko-KR" sz="3200" b="1" dirty="0">
                <a:solidFill>
                  <a:srgbClr val="FFC000"/>
                </a:solidFill>
                <a:latin typeface="Times New Roman" pitchFamily="18" charset="0"/>
                <a:ea typeface="굴림" pitchFamily="50" charset="-127"/>
                <a:cs typeface="Times New Roman" pitchFamily="18" charset="0"/>
              </a:rPr>
            </a:br>
            <a:r>
              <a:rPr lang="en-US" altLang="ko-KR" sz="3200" b="1" dirty="0">
                <a:solidFill>
                  <a:srgbClr val="FFC000"/>
                </a:solidFill>
                <a:latin typeface="Times New Roman" pitchFamily="18" charset="0"/>
                <a:ea typeface="굴림" pitchFamily="50" charset="-127"/>
                <a:cs typeface="Times New Roman" pitchFamily="18" charset="0"/>
              </a:rPr>
              <a:t>in Americas</a:t>
            </a:r>
          </a:p>
        </p:txBody>
      </p:sp>
      <p:grpSp>
        <p:nvGrpSpPr>
          <p:cNvPr id="227331" name="Group 3"/>
          <p:cNvGrpSpPr>
            <a:grpSpLocks noChangeAspect="1"/>
          </p:cNvGrpSpPr>
          <p:nvPr/>
        </p:nvGrpSpPr>
        <p:grpSpPr bwMode="auto">
          <a:xfrm>
            <a:off x="0" y="1109663"/>
            <a:ext cx="9144000" cy="5748337"/>
            <a:chOff x="0" y="699"/>
            <a:chExt cx="5844" cy="3636"/>
          </a:xfrm>
        </p:grpSpPr>
        <p:sp>
          <p:nvSpPr>
            <p:cNvPr id="227330" name="AutoShape 2"/>
            <p:cNvSpPr>
              <a:spLocks noChangeAspect="1" noChangeArrowheads="1" noTextEdit="1"/>
            </p:cNvSpPr>
            <p:nvPr/>
          </p:nvSpPr>
          <p:spPr bwMode="auto">
            <a:xfrm>
              <a:off x="0" y="718"/>
              <a:ext cx="5760" cy="3602"/>
            </a:xfrm>
            <a:prstGeom prst="rect">
              <a:avLst/>
            </a:prstGeom>
            <a:solidFill>
              <a:schemeClr val="bg2">
                <a:lumMod val="20000"/>
                <a:lumOff val="8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332" name="Freeform 4"/>
            <p:cNvSpPr>
              <a:spLocks/>
            </p:cNvSpPr>
            <p:nvPr/>
          </p:nvSpPr>
          <p:spPr bwMode="auto">
            <a:xfrm>
              <a:off x="5830" y="2465"/>
              <a:ext cx="14" cy="14"/>
            </a:xfrm>
            <a:custGeom>
              <a:avLst/>
              <a:gdLst/>
              <a:ahLst/>
              <a:cxnLst>
                <a:cxn ang="0">
                  <a:pos x="6" y="6"/>
                </a:cxn>
                <a:cxn ang="0">
                  <a:pos x="0" y="30"/>
                </a:cxn>
                <a:cxn ang="0">
                  <a:pos x="14" y="24"/>
                </a:cxn>
                <a:cxn ang="0">
                  <a:pos x="14" y="0"/>
                </a:cxn>
                <a:cxn ang="0">
                  <a:pos x="9" y="0"/>
                </a:cxn>
                <a:cxn ang="0">
                  <a:pos x="9" y="6"/>
                </a:cxn>
                <a:cxn ang="0">
                  <a:pos x="14" y="6"/>
                </a:cxn>
                <a:cxn ang="0">
                  <a:pos x="14" y="11"/>
                </a:cxn>
                <a:cxn ang="0">
                  <a:pos x="6" y="6"/>
                </a:cxn>
              </a:cxnLst>
              <a:rect l="0" t="0" r="r" b="b"/>
              <a:pathLst>
                <a:path w="14" h="30">
                  <a:moveTo>
                    <a:pt x="6" y="6"/>
                  </a:moveTo>
                  <a:lnTo>
                    <a:pt x="0" y="30"/>
                  </a:lnTo>
                  <a:lnTo>
                    <a:pt x="14" y="24"/>
                  </a:lnTo>
                  <a:lnTo>
                    <a:pt x="14" y="0"/>
                  </a:lnTo>
                  <a:lnTo>
                    <a:pt x="9" y="0"/>
                  </a:lnTo>
                  <a:lnTo>
                    <a:pt x="9" y="6"/>
                  </a:lnTo>
                  <a:lnTo>
                    <a:pt x="14" y="6"/>
                  </a:lnTo>
                  <a:lnTo>
                    <a:pt x="14" y="11"/>
                  </a:lnTo>
                  <a:lnTo>
                    <a:pt x="6" y="6"/>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3" name="Freeform 5"/>
            <p:cNvSpPr>
              <a:spLocks/>
            </p:cNvSpPr>
            <p:nvPr/>
          </p:nvSpPr>
          <p:spPr bwMode="auto">
            <a:xfrm>
              <a:off x="5831" y="2498"/>
              <a:ext cx="13" cy="2"/>
            </a:xfrm>
            <a:custGeom>
              <a:avLst/>
              <a:gdLst/>
              <a:ahLst/>
              <a:cxnLst>
                <a:cxn ang="0">
                  <a:pos x="13" y="0"/>
                </a:cxn>
                <a:cxn ang="0">
                  <a:pos x="0" y="2"/>
                </a:cxn>
                <a:cxn ang="0">
                  <a:pos x="13" y="3"/>
                </a:cxn>
                <a:cxn ang="0">
                  <a:pos x="13" y="0"/>
                </a:cxn>
              </a:cxnLst>
              <a:rect l="0" t="0" r="r" b="b"/>
              <a:pathLst>
                <a:path w="13" h="3">
                  <a:moveTo>
                    <a:pt x="13" y="0"/>
                  </a:moveTo>
                  <a:lnTo>
                    <a:pt x="0" y="2"/>
                  </a:lnTo>
                  <a:lnTo>
                    <a:pt x="13" y="3"/>
                  </a:lnTo>
                  <a:lnTo>
                    <a:pt x="13"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4" name="Freeform 6"/>
            <p:cNvSpPr>
              <a:spLocks/>
            </p:cNvSpPr>
            <p:nvPr/>
          </p:nvSpPr>
          <p:spPr bwMode="auto">
            <a:xfrm>
              <a:off x="5492" y="2381"/>
              <a:ext cx="11" cy="2"/>
            </a:xfrm>
            <a:custGeom>
              <a:avLst/>
              <a:gdLst/>
              <a:ahLst/>
              <a:cxnLst>
                <a:cxn ang="0">
                  <a:pos x="11" y="5"/>
                </a:cxn>
                <a:cxn ang="0">
                  <a:pos x="3" y="4"/>
                </a:cxn>
                <a:cxn ang="0">
                  <a:pos x="0" y="0"/>
                </a:cxn>
                <a:cxn ang="0">
                  <a:pos x="11" y="5"/>
                </a:cxn>
              </a:cxnLst>
              <a:rect l="0" t="0" r="r" b="b"/>
              <a:pathLst>
                <a:path w="11" h="5">
                  <a:moveTo>
                    <a:pt x="11" y="5"/>
                  </a:moveTo>
                  <a:lnTo>
                    <a:pt x="3" y="4"/>
                  </a:lnTo>
                  <a:lnTo>
                    <a:pt x="0" y="0"/>
                  </a:lnTo>
                  <a:lnTo>
                    <a:pt x="11" y="5"/>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5" name="Freeform 7"/>
            <p:cNvSpPr>
              <a:spLocks/>
            </p:cNvSpPr>
            <p:nvPr/>
          </p:nvSpPr>
          <p:spPr bwMode="auto">
            <a:xfrm>
              <a:off x="5825" y="2252"/>
              <a:ext cx="19" cy="145"/>
            </a:xfrm>
            <a:custGeom>
              <a:avLst/>
              <a:gdLst/>
              <a:ahLst/>
              <a:cxnLst>
                <a:cxn ang="0">
                  <a:pos x="19" y="287"/>
                </a:cxn>
                <a:cxn ang="0">
                  <a:pos x="18" y="290"/>
                </a:cxn>
                <a:cxn ang="0">
                  <a:pos x="19" y="284"/>
                </a:cxn>
                <a:cxn ang="0">
                  <a:pos x="19" y="35"/>
                </a:cxn>
                <a:cxn ang="0">
                  <a:pos x="4" y="18"/>
                </a:cxn>
                <a:cxn ang="0">
                  <a:pos x="0" y="30"/>
                </a:cxn>
                <a:cxn ang="0">
                  <a:pos x="6" y="0"/>
                </a:cxn>
                <a:cxn ang="0">
                  <a:pos x="19" y="0"/>
                </a:cxn>
                <a:cxn ang="0">
                  <a:pos x="19" y="287"/>
                </a:cxn>
              </a:cxnLst>
              <a:rect l="0" t="0" r="r" b="b"/>
              <a:pathLst>
                <a:path w="19" h="290">
                  <a:moveTo>
                    <a:pt x="19" y="287"/>
                  </a:moveTo>
                  <a:lnTo>
                    <a:pt x="18" y="290"/>
                  </a:lnTo>
                  <a:lnTo>
                    <a:pt x="19" y="284"/>
                  </a:lnTo>
                  <a:lnTo>
                    <a:pt x="19" y="35"/>
                  </a:lnTo>
                  <a:lnTo>
                    <a:pt x="4" y="18"/>
                  </a:lnTo>
                  <a:lnTo>
                    <a:pt x="0" y="30"/>
                  </a:lnTo>
                  <a:lnTo>
                    <a:pt x="6" y="0"/>
                  </a:lnTo>
                  <a:lnTo>
                    <a:pt x="19" y="0"/>
                  </a:lnTo>
                  <a:lnTo>
                    <a:pt x="19" y="287"/>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6" name="Freeform 8"/>
            <p:cNvSpPr>
              <a:spLocks/>
            </p:cNvSpPr>
            <p:nvPr/>
          </p:nvSpPr>
          <p:spPr bwMode="auto">
            <a:xfrm>
              <a:off x="5801" y="2396"/>
              <a:ext cx="43" cy="104"/>
            </a:xfrm>
            <a:custGeom>
              <a:avLst/>
              <a:gdLst/>
              <a:ahLst/>
              <a:cxnLst>
                <a:cxn ang="0">
                  <a:pos x="43" y="0"/>
                </a:cxn>
                <a:cxn ang="0">
                  <a:pos x="42" y="3"/>
                </a:cxn>
                <a:cxn ang="0">
                  <a:pos x="20" y="41"/>
                </a:cxn>
                <a:cxn ang="0">
                  <a:pos x="0" y="79"/>
                </a:cxn>
                <a:cxn ang="0">
                  <a:pos x="29" y="118"/>
                </a:cxn>
                <a:cxn ang="0">
                  <a:pos x="41" y="108"/>
                </a:cxn>
                <a:cxn ang="0">
                  <a:pos x="31" y="117"/>
                </a:cxn>
                <a:cxn ang="0">
                  <a:pos x="40" y="123"/>
                </a:cxn>
                <a:cxn ang="0">
                  <a:pos x="38" y="138"/>
                </a:cxn>
                <a:cxn ang="0">
                  <a:pos x="43" y="138"/>
                </a:cxn>
                <a:cxn ang="0">
                  <a:pos x="43" y="162"/>
                </a:cxn>
                <a:cxn ang="0">
                  <a:pos x="29" y="168"/>
                </a:cxn>
                <a:cxn ang="0">
                  <a:pos x="34" y="190"/>
                </a:cxn>
                <a:cxn ang="0">
                  <a:pos x="43" y="189"/>
                </a:cxn>
                <a:cxn ang="0">
                  <a:pos x="43" y="193"/>
                </a:cxn>
                <a:cxn ang="0">
                  <a:pos x="41" y="193"/>
                </a:cxn>
                <a:cxn ang="0">
                  <a:pos x="30" y="208"/>
                </a:cxn>
                <a:cxn ang="0">
                  <a:pos x="43" y="206"/>
                </a:cxn>
                <a:cxn ang="0">
                  <a:pos x="43" y="0"/>
                </a:cxn>
              </a:cxnLst>
              <a:rect l="0" t="0" r="r" b="b"/>
              <a:pathLst>
                <a:path w="43" h="208">
                  <a:moveTo>
                    <a:pt x="43" y="0"/>
                  </a:moveTo>
                  <a:lnTo>
                    <a:pt x="42" y="3"/>
                  </a:lnTo>
                  <a:lnTo>
                    <a:pt x="20" y="41"/>
                  </a:lnTo>
                  <a:lnTo>
                    <a:pt x="0" y="79"/>
                  </a:lnTo>
                  <a:lnTo>
                    <a:pt x="29" y="118"/>
                  </a:lnTo>
                  <a:lnTo>
                    <a:pt x="41" y="108"/>
                  </a:lnTo>
                  <a:lnTo>
                    <a:pt x="31" y="117"/>
                  </a:lnTo>
                  <a:lnTo>
                    <a:pt x="40" y="123"/>
                  </a:lnTo>
                  <a:lnTo>
                    <a:pt x="38" y="138"/>
                  </a:lnTo>
                  <a:lnTo>
                    <a:pt x="43" y="138"/>
                  </a:lnTo>
                  <a:lnTo>
                    <a:pt x="43" y="162"/>
                  </a:lnTo>
                  <a:lnTo>
                    <a:pt x="29" y="168"/>
                  </a:lnTo>
                  <a:lnTo>
                    <a:pt x="34" y="190"/>
                  </a:lnTo>
                  <a:lnTo>
                    <a:pt x="43" y="189"/>
                  </a:lnTo>
                  <a:lnTo>
                    <a:pt x="43" y="193"/>
                  </a:lnTo>
                  <a:lnTo>
                    <a:pt x="41" y="193"/>
                  </a:lnTo>
                  <a:lnTo>
                    <a:pt x="30" y="208"/>
                  </a:lnTo>
                  <a:lnTo>
                    <a:pt x="43" y="206"/>
                  </a:lnTo>
                  <a:lnTo>
                    <a:pt x="43"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7" name="Freeform 9"/>
            <p:cNvSpPr>
              <a:spLocks/>
            </p:cNvSpPr>
            <p:nvPr/>
          </p:nvSpPr>
          <p:spPr bwMode="auto">
            <a:xfrm>
              <a:off x="2787" y="2575"/>
              <a:ext cx="147" cy="65"/>
            </a:xfrm>
            <a:custGeom>
              <a:avLst/>
              <a:gdLst/>
              <a:ahLst/>
              <a:cxnLst>
                <a:cxn ang="0">
                  <a:pos x="0" y="85"/>
                </a:cxn>
                <a:cxn ang="0">
                  <a:pos x="4" y="43"/>
                </a:cxn>
                <a:cxn ang="0">
                  <a:pos x="3" y="6"/>
                </a:cxn>
                <a:cxn ang="0">
                  <a:pos x="20" y="0"/>
                </a:cxn>
                <a:cxn ang="0">
                  <a:pos x="33" y="24"/>
                </a:cxn>
                <a:cxn ang="0">
                  <a:pos x="52" y="30"/>
                </a:cxn>
                <a:cxn ang="0">
                  <a:pos x="67" y="43"/>
                </a:cxn>
                <a:cxn ang="0">
                  <a:pos x="130" y="20"/>
                </a:cxn>
                <a:cxn ang="0">
                  <a:pos x="139" y="26"/>
                </a:cxn>
                <a:cxn ang="0">
                  <a:pos x="147" y="43"/>
                </a:cxn>
                <a:cxn ang="0">
                  <a:pos x="112" y="74"/>
                </a:cxn>
                <a:cxn ang="0">
                  <a:pos x="133" y="112"/>
                </a:cxn>
                <a:cxn ang="0">
                  <a:pos x="92" y="130"/>
                </a:cxn>
                <a:cxn ang="0">
                  <a:pos x="85" y="96"/>
                </a:cxn>
                <a:cxn ang="0">
                  <a:pos x="79" y="106"/>
                </a:cxn>
                <a:cxn ang="0">
                  <a:pos x="57" y="83"/>
                </a:cxn>
                <a:cxn ang="0">
                  <a:pos x="12" y="69"/>
                </a:cxn>
                <a:cxn ang="0">
                  <a:pos x="0" y="85"/>
                </a:cxn>
              </a:cxnLst>
              <a:rect l="0" t="0" r="r" b="b"/>
              <a:pathLst>
                <a:path w="147" h="130">
                  <a:moveTo>
                    <a:pt x="0" y="85"/>
                  </a:moveTo>
                  <a:lnTo>
                    <a:pt x="4" y="43"/>
                  </a:lnTo>
                  <a:lnTo>
                    <a:pt x="3" y="6"/>
                  </a:lnTo>
                  <a:lnTo>
                    <a:pt x="20" y="0"/>
                  </a:lnTo>
                  <a:lnTo>
                    <a:pt x="33" y="24"/>
                  </a:lnTo>
                  <a:lnTo>
                    <a:pt x="52" y="30"/>
                  </a:lnTo>
                  <a:lnTo>
                    <a:pt x="67" y="43"/>
                  </a:lnTo>
                  <a:lnTo>
                    <a:pt x="130" y="20"/>
                  </a:lnTo>
                  <a:lnTo>
                    <a:pt x="139" y="26"/>
                  </a:lnTo>
                  <a:lnTo>
                    <a:pt x="147" y="43"/>
                  </a:lnTo>
                  <a:lnTo>
                    <a:pt x="112" y="74"/>
                  </a:lnTo>
                  <a:lnTo>
                    <a:pt x="133" y="112"/>
                  </a:lnTo>
                  <a:lnTo>
                    <a:pt x="92" y="130"/>
                  </a:lnTo>
                  <a:lnTo>
                    <a:pt x="85" y="96"/>
                  </a:lnTo>
                  <a:lnTo>
                    <a:pt x="79" y="106"/>
                  </a:lnTo>
                  <a:lnTo>
                    <a:pt x="57" y="83"/>
                  </a:lnTo>
                  <a:lnTo>
                    <a:pt x="12" y="69"/>
                  </a:lnTo>
                  <a:lnTo>
                    <a:pt x="0" y="85"/>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8" name="Freeform 10"/>
            <p:cNvSpPr>
              <a:spLocks/>
            </p:cNvSpPr>
            <p:nvPr/>
          </p:nvSpPr>
          <p:spPr bwMode="auto">
            <a:xfrm>
              <a:off x="2937" y="2578"/>
              <a:ext cx="108" cy="61"/>
            </a:xfrm>
            <a:custGeom>
              <a:avLst/>
              <a:gdLst/>
              <a:ahLst/>
              <a:cxnLst>
                <a:cxn ang="0">
                  <a:pos x="62" y="67"/>
                </a:cxn>
                <a:cxn ang="0">
                  <a:pos x="80" y="70"/>
                </a:cxn>
                <a:cxn ang="0">
                  <a:pos x="73" y="58"/>
                </a:cxn>
                <a:cxn ang="0">
                  <a:pos x="58" y="55"/>
                </a:cxn>
                <a:cxn ang="0">
                  <a:pos x="46" y="41"/>
                </a:cxn>
                <a:cxn ang="0">
                  <a:pos x="14" y="24"/>
                </a:cxn>
                <a:cxn ang="0">
                  <a:pos x="3" y="14"/>
                </a:cxn>
                <a:cxn ang="0">
                  <a:pos x="0" y="0"/>
                </a:cxn>
                <a:cxn ang="0">
                  <a:pos x="44" y="1"/>
                </a:cxn>
                <a:cxn ang="0">
                  <a:pos x="75" y="23"/>
                </a:cxn>
                <a:cxn ang="0">
                  <a:pos x="107" y="43"/>
                </a:cxn>
                <a:cxn ang="0">
                  <a:pos x="108" y="86"/>
                </a:cxn>
                <a:cxn ang="0">
                  <a:pos x="90" y="100"/>
                </a:cxn>
                <a:cxn ang="0">
                  <a:pos x="79" y="123"/>
                </a:cxn>
                <a:cxn ang="0">
                  <a:pos x="68" y="106"/>
                </a:cxn>
                <a:cxn ang="0">
                  <a:pos x="62" y="67"/>
                </a:cxn>
              </a:cxnLst>
              <a:rect l="0" t="0" r="r" b="b"/>
              <a:pathLst>
                <a:path w="108" h="123">
                  <a:moveTo>
                    <a:pt x="62" y="67"/>
                  </a:moveTo>
                  <a:lnTo>
                    <a:pt x="80" y="70"/>
                  </a:lnTo>
                  <a:lnTo>
                    <a:pt x="73" y="58"/>
                  </a:lnTo>
                  <a:lnTo>
                    <a:pt x="58" y="55"/>
                  </a:lnTo>
                  <a:lnTo>
                    <a:pt x="46" y="41"/>
                  </a:lnTo>
                  <a:lnTo>
                    <a:pt x="14" y="24"/>
                  </a:lnTo>
                  <a:lnTo>
                    <a:pt x="3" y="14"/>
                  </a:lnTo>
                  <a:lnTo>
                    <a:pt x="0" y="0"/>
                  </a:lnTo>
                  <a:lnTo>
                    <a:pt x="44" y="1"/>
                  </a:lnTo>
                  <a:lnTo>
                    <a:pt x="75" y="23"/>
                  </a:lnTo>
                  <a:lnTo>
                    <a:pt x="107" y="43"/>
                  </a:lnTo>
                  <a:lnTo>
                    <a:pt x="108" y="86"/>
                  </a:lnTo>
                  <a:lnTo>
                    <a:pt x="90" y="100"/>
                  </a:lnTo>
                  <a:lnTo>
                    <a:pt x="79" y="123"/>
                  </a:lnTo>
                  <a:lnTo>
                    <a:pt x="68" y="106"/>
                  </a:lnTo>
                  <a:lnTo>
                    <a:pt x="62" y="67"/>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39" name="Freeform 11"/>
            <p:cNvSpPr>
              <a:spLocks/>
            </p:cNvSpPr>
            <p:nvPr/>
          </p:nvSpPr>
          <p:spPr bwMode="auto">
            <a:xfrm>
              <a:off x="4081" y="2681"/>
              <a:ext cx="135" cy="98"/>
            </a:xfrm>
            <a:custGeom>
              <a:avLst/>
              <a:gdLst/>
              <a:ahLst/>
              <a:cxnLst>
                <a:cxn ang="0">
                  <a:pos x="107" y="52"/>
                </a:cxn>
                <a:cxn ang="0">
                  <a:pos x="64" y="9"/>
                </a:cxn>
                <a:cxn ang="0">
                  <a:pos x="32" y="0"/>
                </a:cxn>
                <a:cxn ang="0">
                  <a:pos x="22" y="19"/>
                </a:cxn>
                <a:cxn ang="0">
                  <a:pos x="9" y="66"/>
                </a:cxn>
                <a:cxn ang="0">
                  <a:pos x="26" y="132"/>
                </a:cxn>
                <a:cxn ang="0">
                  <a:pos x="0" y="185"/>
                </a:cxn>
                <a:cxn ang="0">
                  <a:pos x="30" y="192"/>
                </a:cxn>
                <a:cxn ang="0">
                  <a:pos x="75" y="195"/>
                </a:cxn>
                <a:cxn ang="0">
                  <a:pos x="105" y="144"/>
                </a:cxn>
                <a:cxn ang="0">
                  <a:pos x="135" y="93"/>
                </a:cxn>
                <a:cxn ang="0">
                  <a:pos x="124" y="61"/>
                </a:cxn>
                <a:cxn ang="0">
                  <a:pos x="123" y="71"/>
                </a:cxn>
                <a:cxn ang="0">
                  <a:pos x="107" y="52"/>
                </a:cxn>
              </a:cxnLst>
              <a:rect l="0" t="0" r="r" b="b"/>
              <a:pathLst>
                <a:path w="135" h="195">
                  <a:moveTo>
                    <a:pt x="107" y="52"/>
                  </a:moveTo>
                  <a:lnTo>
                    <a:pt x="64" y="9"/>
                  </a:lnTo>
                  <a:lnTo>
                    <a:pt x="32" y="0"/>
                  </a:lnTo>
                  <a:lnTo>
                    <a:pt x="22" y="19"/>
                  </a:lnTo>
                  <a:lnTo>
                    <a:pt x="9" y="66"/>
                  </a:lnTo>
                  <a:lnTo>
                    <a:pt x="26" y="132"/>
                  </a:lnTo>
                  <a:lnTo>
                    <a:pt x="0" y="185"/>
                  </a:lnTo>
                  <a:lnTo>
                    <a:pt x="30" y="192"/>
                  </a:lnTo>
                  <a:lnTo>
                    <a:pt x="75" y="195"/>
                  </a:lnTo>
                  <a:lnTo>
                    <a:pt x="105" y="144"/>
                  </a:lnTo>
                  <a:lnTo>
                    <a:pt x="135" y="93"/>
                  </a:lnTo>
                  <a:lnTo>
                    <a:pt x="124" y="61"/>
                  </a:lnTo>
                  <a:lnTo>
                    <a:pt x="123" y="71"/>
                  </a:lnTo>
                  <a:lnTo>
                    <a:pt x="107" y="5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0" name="Freeform 12"/>
            <p:cNvSpPr>
              <a:spLocks/>
            </p:cNvSpPr>
            <p:nvPr/>
          </p:nvSpPr>
          <p:spPr bwMode="auto">
            <a:xfrm>
              <a:off x="2961" y="2499"/>
              <a:ext cx="554" cy="455"/>
            </a:xfrm>
            <a:custGeom>
              <a:avLst/>
              <a:gdLst/>
              <a:ahLst/>
              <a:cxnLst>
                <a:cxn ang="0">
                  <a:pos x="217" y="85"/>
                </a:cxn>
                <a:cxn ang="0">
                  <a:pos x="197" y="76"/>
                </a:cxn>
                <a:cxn ang="0">
                  <a:pos x="157" y="161"/>
                </a:cxn>
                <a:cxn ang="0">
                  <a:pos x="101" y="242"/>
                </a:cxn>
                <a:cxn ang="0">
                  <a:pos x="83" y="201"/>
                </a:cxn>
                <a:cxn ang="0">
                  <a:pos x="66" y="258"/>
                </a:cxn>
                <a:cxn ang="0">
                  <a:pos x="68" y="304"/>
                </a:cxn>
                <a:cxn ang="0">
                  <a:pos x="68" y="377"/>
                </a:cxn>
                <a:cxn ang="0">
                  <a:pos x="75" y="459"/>
                </a:cxn>
                <a:cxn ang="0">
                  <a:pos x="51" y="528"/>
                </a:cxn>
                <a:cxn ang="0">
                  <a:pos x="14" y="571"/>
                </a:cxn>
                <a:cxn ang="0">
                  <a:pos x="3" y="599"/>
                </a:cxn>
                <a:cxn ang="0">
                  <a:pos x="69" y="657"/>
                </a:cxn>
                <a:cxn ang="0">
                  <a:pos x="166" y="684"/>
                </a:cxn>
                <a:cxn ang="0">
                  <a:pos x="194" y="708"/>
                </a:cxn>
                <a:cxn ang="0">
                  <a:pos x="256" y="777"/>
                </a:cxn>
                <a:cxn ang="0">
                  <a:pos x="322" y="804"/>
                </a:cxn>
                <a:cxn ang="0">
                  <a:pos x="404" y="822"/>
                </a:cxn>
                <a:cxn ang="0">
                  <a:pos x="414" y="910"/>
                </a:cxn>
                <a:cxn ang="0">
                  <a:pos x="436" y="756"/>
                </a:cxn>
                <a:cxn ang="0">
                  <a:pos x="406" y="646"/>
                </a:cxn>
                <a:cxn ang="0">
                  <a:pos x="448" y="632"/>
                </a:cxn>
                <a:cxn ang="0">
                  <a:pos x="417" y="584"/>
                </a:cxn>
                <a:cxn ang="0">
                  <a:pos x="495" y="584"/>
                </a:cxn>
                <a:cxn ang="0">
                  <a:pos x="502" y="581"/>
                </a:cxn>
                <a:cxn ang="0">
                  <a:pos x="544" y="608"/>
                </a:cxn>
                <a:cxn ang="0">
                  <a:pos x="543" y="566"/>
                </a:cxn>
                <a:cxn ang="0">
                  <a:pos x="532" y="499"/>
                </a:cxn>
                <a:cxn ang="0">
                  <a:pos x="521" y="383"/>
                </a:cxn>
                <a:cxn ang="0">
                  <a:pos x="493" y="340"/>
                </a:cxn>
                <a:cxn ang="0">
                  <a:pos x="412" y="295"/>
                </a:cxn>
                <a:cxn ang="0">
                  <a:pos x="341" y="291"/>
                </a:cxn>
                <a:cxn ang="0">
                  <a:pos x="309" y="237"/>
                </a:cxn>
                <a:cxn ang="0">
                  <a:pos x="267" y="175"/>
                </a:cxn>
                <a:cxn ang="0">
                  <a:pos x="312" y="82"/>
                </a:cxn>
                <a:cxn ang="0">
                  <a:pos x="370" y="26"/>
                </a:cxn>
                <a:cxn ang="0">
                  <a:pos x="345" y="4"/>
                </a:cxn>
                <a:cxn ang="0">
                  <a:pos x="259" y="59"/>
                </a:cxn>
              </a:cxnLst>
              <a:rect l="0" t="0" r="r" b="b"/>
              <a:pathLst>
                <a:path w="554" h="910">
                  <a:moveTo>
                    <a:pt x="234" y="61"/>
                  </a:moveTo>
                  <a:lnTo>
                    <a:pt x="217" y="85"/>
                  </a:lnTo>
                  <a:lnTo>
                    <a:pt x="223" y="75"/>
                  </a:lnTo>
                  <a:lnTo>
                    <a:pt x="197" y="76"/>
                  </a:lnTo>
                  <a:lnTo>
                    <a:pt x="164" y="120"/>
                  </a:lnTo>
                  <a:lnTo>
                    <a:pt x="157" y="161"/>
                  </a:lnTo>
                  <a:lnTo>
                    <a:pt x="107" y="211"/>
                  </a:lnTo>
                  <a:lnTo>
                    <a:pt x="101" y="242"/>
                  </a:lnTo>
                  <a:lnTo>
                    <a:pt x="92" y="215"/>
                  </a:lnTo>
                  <a:lnTo>
                    <a:pt x="83" y="201"/>
                  </a:lnTo>
                  <a:lnTo>
                    <a:pt x="84" y="244"/>
                  </a:lnTo>
                  <a:lnTo>
                    <a:pt x="66" y="258"/>
                  </a:lnTo>
                  <a:lnTo>
                    <a:pt x="55" y="281"/>
                  </a:lnTo>
                  <a:lnTo>
                    <a:pt x="68" y="304"/>
                  </a:lnTo>
                  <a:lnTo>
                    <a:pt x="79" y="354"/>
                  </a:lnTo>
                  <a:lnTo>
                    <a:pt x="68" y="377"/>
                  </a:lnTo>
                  <a:lnTo>
                    <a:pt x="72" y="418"/>
                  </a:lnTo>
                  <a:lnTo>
                    <a:pt x="75" y="459"/>
                  </a:lnTo>
                  <a:lnTo>
                    <a:pt x="81" y="467"/>
                  </a:lnTo>
                  <a:lnTo>
                    <a:pt x="51" y="528"/>
                  </a:lnTo>
                  <a:lnTo>
                    <a:pt x="22" y="540"/>
                  </a:lnTo>
                  <a:lnTo>
                    <a:pt x="14" y="571"/>
                  </a:lnTo>
                  <a:lnTo>
                    <a:pt x="0" y="580"/>
                  </a:lnTo>
                  <a:lnTo>
                    <a:pt x="3" y="599"/>
                  </a:lnTo>
                  <a:lnTo>
                    <a:pt x="40" y="629"/>
                  </a:lnTo>
                  <a:lnTo>
                    <a:pt x="69" y="657"/>
                  </a:lnTo>
                  <a:lnTo>
                    <a:pt x="114" y="656"/>
                  </a:lnTo>
                  <a:lnTo>
                    <a:pt x="166" y="684"/>
                  </a:lnTo>
                  <a:lnTo>
                    <a:pt x="168" y="680"/>
                  </a:lnTo>
                  <a:lnTo>
                    <a:pt x="194" y="708"/>
                  </a:lnTo>
                  <a:lnTo>
                    <a:pt x="221" y="734"/>
                  </a:lnTo>
                  <a:lnTo>
                    <a:pt x="256" y="777"/>
                  </a:lnTo>
                  <a:lnTo>
                    <a:pt x="264" y="803"/>
                  </a:lnTo>
                  <a:lnTo>
                    <a:pt x="322" y="804"/>
                  </a:lnTo>
                  <a:lnTo>
                    <a:pt x="357" y="805"/>
                  </a:lnTo>
                  <a:lnTo>
                    <a:pt x="404" y="822"/>
                  </a:lnTo>
                  <a:lnTo>
                    <a:pt x="386" y="889"/>
                  </a:lnTo>
                  <a:lnTo>
                    <a:pt x="414" y="910"/>
                  </a:lnTo>
                  <a:lnTo>
                    <a:pt x="425" y="833"/>
                  </a:lnTo>
                  <a:lnTo>
                    <a:pt x="436" y="756"/>
                  </a:lnTo>
                  <a:lnTo>
                    <a:pt x="417" y="699"/>
                  </a:lnTo>
                  <a:lnTo>
                    <a:pt x="406" y="646"/>
                  </a:lnTo>
                  <a:lnTo>
                    <a:pt x="438" y="643"/>
                  </a:lnTo>
                  <a:lnTo>
                    <a:pt x="448" y="632"/>
                  </a:lnTo>
                  <a:lnTo>
                    <a:pt x="423" y="619"/>
                  </a:lnTo>
                  <a:lnTo>
                    <a:pt x="417" y="584"/>
                  </a:lnTo>
                  <a:lnTo>
                    <a:pt x="457" y="584"/>
                  </a:lnTo>
                  <a:lnTo>
                    <a:pt x="495" y="584"/>
                  </a:lnTo>
                  <a:lnTo>
                    <a:pt x="490" y="576"/>
                  </a:lnTo>
                  <a:lnTo>
                    <a:pt x="502" y="581"/>
                  </a:lnTo>
                  <a:lnTo>
                    <a:pt x="527" y="562"/>
                  </a:lnTo>
                  <a:lnTo>
                    <a:pt x="544" y="608"/>
                  </a:lnTo>
                  <a:lnTo>
                    <a:pt x="554" y="611"/>
                  </a:lnTo>
                  <a:lnTo>
                    <a:pt x="543" y="566"/>
                  </a:lnTo>
                  <a:lnTo>
                    <a:pt x="517" y="524"/>
                  </a:lnTo>
                  <a:lnTo>
                    <a:pt x="532" y="499"/>
                  </a:lnTo>
                  <a:lnTo>
                    <a:pt x="511" y="430"/>
                  </a:lnTo>
                  <a:lnTo>
                    <a:pt x="521" y="383"/>
                  </a:lnTo>
                  <a:lnTo>
                    <a:pt x="532" y="338"/>
                  </a:lnTo>
                  <a:lnTo>
                    <a:pt x="493" y="340"/>
                  </a:lnTo>
                  <a:lnTo>
                    <a:pt x="453" y="343"/>
                  </a:lnTo>
                  <a:lnTo>
                    <a:pt x="412" y="295"/>
                  </a:lnTo>
                  <a:lnTo>
                    <a:pt x="376" y="292"/>
                  </a:lnTo>
                  <a:lnTo>
                    <a:pt x="341" y="291"/>
                  </a:lnTo>
                  <a:lnTo>
                    <a:pt x="307" y="271"/>
                  </a:lnTo>
                  <a:lnTo>
                    <a:pt x="309" y="237"/>
                  </a:lnTo>
                  <a:lnTo>
                    <a:pt x="286" y="176"/>
                  </a:lnTo>
                  <a:lnTo>
                    <a:pt x="267" y="175"/>
                  </a:lnTo>
                  <a:lnTo>
                    <a:pt x="286" y="129"/>
                  </a:lnTo>
                  <a:lnTo>
                    <a:pt x="312" y="82"/>
                  </a:lnTo>
                  <a:lnTo>
                    <a:pt x="339" y="37"/>
                  </a:lnTo>
                  <a:lnTo>
                    <a:pt x="370" y="26"/>
                  </a:lnTo>
                  <a:lnTo>
                    <a:pt x="374" y="0"/>
                  </a:lnTo>
                  <a:lnTo>
                    <a:pt x="345" y="4"/>
                  </a:lnTo>
                  <a:lnTo>
                    <a:pt x="303" y="31"/>
                  </a:lnTo>
                  <a:lnTo>
                    <a:pt x="259" y="59"/>
                  </a:lnTo>
                  <a:lnTo>
                    <a:pt x="234" y="61"/>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1" name="Freeform 13"/>
            <p:cNvSpPr>
              <a:spLocks/>
            </p:cNvSpPr>
            <p:nvPr/>
          </p:nvSpPr>
          <p:spPr bwMode="auto">
            <a:xfrm>
              <a:off x="3775" y="2603"/>
              <a:ext cx="220" cy="199"/>
            </a:xfrm>
            <a:custGeom>
              <a:avLst/>
              <a:gdLst/>
              <a:ahLst/>
              <a:cxnLst>
                <a:cxn ang="0">
                  <a:pos x="176" y="285"/>
                </a:cxn>
                <a:cxn ang="0">
                  <a:pos x="152" y="254"/>
                </a:cxn>
                <a:cxn ang="0">
                  <a:pos x="156" y="207"/>
                </a:cxn>
                <a:cxn ang="0">
                  <a:pos x="178" y="195"/>
                </a:cxn>
                <a:cxn ang="0">
                  <a:pos x="186" y="168"/>
                </a:cxn>
                <a:cxn ang="0">
                  <a:pos x="184" y="125"/>
                </a:cxn>
                <a:cxn ang="0">
                  <a:pos x="136" y="92"/>
                </a:cxn>
                <a:cxn ang="0">
                  <a:pos x="126" y="112"/>
                </a:cxn>
                <a:cxn ang="0">
                  <a:pos x="128" y="58"/>
                </a:cxn>
                <a:cxn ang="0">
                  <a:pos x="102" y="34"/>
                </a:cxn>
                <a:cxn ang="0">
                  <a:pos x="75" y="10"/>
                </a:cxn>
                <a:cxn ang="0">
                  <a:pos x="86" y="17"/>
                </a:cxn>
                <a:cxn ang="0">
                  <a:pos x="66" y="0"/>
                </a:cxn>
                <a:cxn ang="0">
                  <a:pos x="73" y="12"/>
                </a:cxn>
                <a:cxn ang="0">
                  <a:pos x="31" y="55"/>
                </a:cxn>
                <a:cxn ang="0">
                  <a:pos x="50" y="78"/>
                </a:cxn>
                <a:cxn ang="0">
                  <a:pos x="17" y="98"/>
                </a:cxn>
                <a:cxn ang="0">
                  <a:pos x="0" y="140"/>
                </a:cxn>
                <a:cxn ang="0">
                  <a:pos x="26" y="183"/>
                </a:cxn>
                <a:cxn ang="0">
                  <a:pos x="53" y="181"/>
                </a:cxn>
                <a:cxn ang="0">
                  <a:pos x="56" y="212"/>
                </a:cxn>
                <a:cxn ang="0">
                  <a:pos x="75" y="242"/>
                </a:cxn>
                <a:cxn ang="0">
                  <a:pos x="63" y="291"/>
                </a:cxn>
                <a:cxn ang="0">
                  <a:pos x="68" y="356"/>
                </a:cxn>
                <a:cxn ang="0">
                  <a:pos x="98" y="396"/>
                </a:cxn>
                <a:cxn ang="0">
                  <a:pos x="127" y="395"/>
                </a:cxn>
                <a:cxn ang="0">
                  <a:pos x="173" y="371"/>
                </a:cxn>
                <a:cxn ang="0">
                  <a:pos x="220" y="362"/>
                </a:cxn>
                <a:cxn ang="0">
                  <a:pos x="198" y="324"/>
                </a:cxn>
                <a:cxn ang="0">
                  <a:pos x="176" y="285"/>
                </a:cxn>
              </a:cxnLst>
              <a:rect l="0" t="0" r="r" b="b"/>
              <a:pathLst>
                <a:path w="220" h="396">
                  <a:moveTo>
                    <a:pt x="176" y="285"/>
                  </a:moveTo>
                  <a:lnTo>
                    <a:pt x="152" y="254"/>
                  </a:lnTo>
                  <a:lnTo>
                    <a:pt x="156" y="207"/>
                  </a:lnTo>
                  <a:lnTo>
                    <a:pt x="178" y="195"/>
                  </a:lnTo>
                  <a:lnTo>
                    <a:pt x="186" y="168"/>
                  </a:lnTo>
                  <a:lnTo>
                    <a:pt x="184" y="125"/>
                  </a:lnTo>
                  <a:lnTo>
                    <a:pt x="136" y="92"/>
                  </a:lnTo>
                  <a:lnTo>
                    <a:pt x="126" y="112"/>
                  </a:lnTo>
                  <a:lnTo>
                    <a:pt x="128" y="58"/>
                  </a:lnTo>
                  <a:lnTo>
                    <a:pt x="102" y="34"/>
                  </a:lnTo>
                  <a:lnTo>
                    <a:pt x="75" y="10"/>
                  </a:lnTo>
                  <a:lnTo>
                    <a:pt x="86" y="17"/>
                  </a:lnTo>
                  <a:lnTo>
                    <a:pt x="66" y="0"/>
                  </a:lnTo>
                  <a:lnTo>
                    <a:pt x="73" y="12"/>
                  </a:lnTo>
                  <a:lnTo>
                    <a:pt x="31" y="55"/>
                  </a:lnTo>
                  <a:lnTo>
                    <a:pt x="50" y="78"/>
                  </a:lnTo>
                  <a:lnTo>
                    <a:pt x="17" y="98"/>
                  </a:lnTo>
                  <a:lnTo>
                    <a:pt x="0" y="140"/>
                  </a:lnTo>
                  <a:lnTo>
                    <a:pt x="26" y="183"/>
                  </a:lnTo>
                  <a:lnTo>
                    <a:pt x="53" y="181"/>
                  </a:lnTo>
                  <a:lnTo>
                    <a:pt x="56" y="212"/>
                  </a:lnTo>
                  <a:lnTo>
                    <a:pt x="75" y="242"/>
                  </a:lnTo>
                  <a:lnTo>
                    <a:pt x="63" y="291"/>
                  </a:lnTo>
                  <a:lnTo>
                    <a:pt x="68" y="356"/>
                  </a:lnTo>
                  <a:lnTo>
                    <a:pt x="98" y="396"/>
                  </a:lnTo>
                  <a:lnTo>
                    <a:pt x="127" y="395"/>
                  </a:lnTo>
                  <a:lnTo>
                    <a:pt x="173" y="371"/>
                  </a:lnTo>
                  <a:lnTo>
                    <a:pt x="220" y="362"/>
                  </a:lnTo>
                  <a:lnTo>
                    <a:pt x="198" y="324"/>
                  </a:lnTo>
                  <a:lnTo>
                    <a:pt x="176" y="285"/>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2" name="Freeform 14"/>
            <p:cNvSpPr>
              <a:spLocks/>
            </p:cNvSpPr>
            <p:nvPr/>
          </p:nvSpPr>
          <p:spPr bwMode="auto">
            <a:xfrm>
              <a:off x="3927" y="2676"/>
              <a:ext cx="180" cy="112"/>
            </a:xfrm>
            <a:custGeom>
              <a:avLst/>
              <a:gdLst/>
              <a:ahLst/>
              <a:cxnLst>
                <a:cxn ang="0">
                  <a:pos x="24" y="140"/>
                </a:cxn>
                <a:cxn ang="0">
                  <a:pos x="0" y="109"/>
                </a:cxn>
                <a:cxn ang="0">
                  <a:pos x="4" y="62"/>
                </a:cxn>
                <a:cxn ang="0">
                  <a:pos x="26" y="50"/>
                </a:cxn>
                <a:cxn ang="0">
                  <a:pos x="34" y="23"/>
                </a:cxn>
                <a:cxn ang="0">
                  <a:pos x="42" y="0"/>
                </a:cxn>
                <a:cxn ang="0">
                  <a:pos x="98" y="5"/>
                </a:cxn>
                <a:cxn ang="0">
                  <a:pos x="137" y="3"/>
                </a:cxn>
                <a:cxn ang="0">
                  <a:pos x="136" y="0"/>
                </a:cxn>
                <a:cxn ang="0">
                  <a:pos x="180" y="3"/>
                </a:cxn>
                <a:cxn ang="0">
                  <a:pos x="176" y="29"/>
                </a:cxn>
                <a:cxn ang="0">
                  <a:pos x="163" y="76"/>
                </a:cxn>
                <a:cxn ang="0">
                  <a:pos x="180" y="142"/>
                </a:cxn>
                <a:cxn ang="0">
                  <a:pos x="154" y="195"/>
                </a:cxn>
                <a:cxn ang="0">
                  <a:pos x="127" y="185"/>
                </a:cxn>
                <a:cxn ang="0">
                  <a:pos x="86" y="195"/>
                </a:cxn>
                <a:cxn ang="0">
                  <a:pos x="88" y="223"/>
                </a:cxn>
                <a:cxn ang="0">
                  <a:pos x="68" y="217"/>
                </a:cxn>
                <a:cxn ang="0">
                  <a:pos x="46" y="179"/>
                </a:cxn>
                <a:cxn ang="0">
                  <a:pos x="24" y="140"/>
                </a:cxn>
              </a:cxnLst>
              <a:rect l="0" t="0" r="r" b="b"/>
              <a:pathLst>
                <a:path w="180" h="223">
                  <a:moveTo>
                    <a:pt x="24" y="140"/>
                  </a:moveTo>
                  <a:lnTo>
                    <a:pt x="0" y="109"/>
                  </a:lnTo>
                  <a:lnTo>
                    <a:pt x="4" y="62"/>
                  </a:lnTo>
                  <a:lnTo>
                    <a:pt x="26" y="50"/>
                  </a:lnTo>
                  <a:lnTo>
                    <a:pt x="34" y="23"/>
                  </a:lnTo>
                  <a:lnTo>
                    <a:pt x="42" y="0"/>
                  </a:lnTo>
                  <a:lnTo>
                    <a:pt x="98" y="5"/>
                  </a:lnTo>
                  <a:lnTo>
                    <a:pt x="137" y="3"/>
                  </a:lnTo>
                  <a:lnTo>
                    <a:pt x="136" y="0"/>
                  </a:lnTo>
                  <a:lnTo>
                    <a:pt x="180" y="3"/>
                  </a:lnTo>
                  <a:lnTo>
                    <a:pt x="176" y="29"/>
                  </a:lnTo>
                  <a:lnTo>
                    <a:pt x="163" y="76"/>
                  </a:lnTo>
                  <a:lnTo>
                    <a:pt x="180" y="142"/>
                  </a:lnTo>
                  <a:lnTo>
                    <a:pt x="154" y="195"/>
                  </a:lnTo>
                  <a:lnTo>
                    <a:pt x="127" y="185"/>
                  </a:lnTo>
                  <a:lnTo>
                    <a:pt x="86" y="195"/>
                  </a:lnTo>
                  <a:lnTo>
                    <a:pt x="88" y="223"/>
                  </a:lnTo>
                  <a:lnTo>
                    <a:pt x="68" y="217"/>
                  </a:lnTo>
                  <a:lnTo>
                    <a:pt x="46" y="179"/>
                  </a:lnTo>
                  <a:lnTo>
                    <a:pt x="24" y="14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3" name="Freeform 15"/>
            <p:cNvSpPr>
              <a:spLocks/>
            </p:cNvSpPr>
            <p:nvPr/>
          </p:nvSpPr>
          <p:spPr bwMode="auto">
            <a:xfrm>
              <a:off x="3760" y="2543"/>
              <a:ext cx="42" cy="19"/>
            </a:xfrm>
            <a:custGeom>
              <a:avLst/>
              <a:gdLst/>
              <a:ahLst/>
              <a:cxnLst>
                <a:cxn ang="0">
                  <a:pos x="12" y="1"/>
                </a:cxn>
                <a:cxn ang="0">
                  <a:pos x="42" y="0"/>
                </a:cxn>
                <a:cxn ang="0">
                  <a:pos x="28" y="38"/>
                </a:cxn>
                <a:cxn ang="0">
                  <a:pos x="0" y="34"/>
                </a:cxn>
                <a:cxn ang="0">
                  <a:pos x="18" y="12"/>
                </a:cxn>
                <a:cxn ang="0">
                  <a:pos x="12" y="1"/>
                </a:cxn>
              </a:cxnLst>
              <a:rect l="0" t="0" r="r" b="b"/>
              <a:pathLst>
                <a:path w="42" h="38">
                  <a:moveTo>
                    <a:pt x="12" y="1"/>
                  </a:moveTo>
                  <a:lnTo>
                    <a:pt x="42" y="0"/>
                  </a:lnTo>
                  <a:lnTo>
                    <a:pt x="28" y="38"/>
                  </a:lnTo>
                  <a:lnTo>
                    <a:pt x="0" y="34"/>
                  </a:lnTo>
                  <a:lnTo>
                    <a:pt x="18" y="12"/>
                  </a:lnTo>
                  <a:lnTo>
                    <a:pt x="12" y="1"/>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4" name="Freeform 16"/>
            <p:cNvSpPr>
              <a:spLocks/>
            </p:cNvSpPr>
            <p:nvPr/>
          </p:nvSpPr>
          <p:spPr bwMode="auto">
            <a:xfrm>
              <a:off x="3228" y="2503"/>
              <a:ext cx="620" cy="314"/>
            </a:xfrm>
            <a:custGeom>
              <a:avLst/>
              <a:gdLst/>
              <a:ahLst/>
              <a:cxnLst>
                <a:cxn ang="0">
                  <a:pos x="512" y="128"/>
                </a:cxn>
                <a:cxn ang="0">
                  <a:pos x="484" y="116"/>
                </a:cxn>
                <a:cxn ang="0">
                  <a:pos x="481" y="100"/>
                </a:cxn>
                <a:cxn ang="0">
                  <a:pos x="477" y="85"/>
                </a:cxn>
                <a:cxn ang="0">
                  <a:pos x="446" y="92"/>
                </a:cxn>
                <a:cxn ang="0">
                  <a:pos x="336" y="92"/>
                </a:cxn>
                <a:cxn ang="0">
                  <a:pos x="250" y="93"/>
                </a:cxn>
                <a:cxn ang="0">
                  <a:pos x="184" y="38"/>
                </a:cxn>
                <a:cxn ang="0">
                  <a:pos x="152" y="22"/>
                </a:cxn>
                <a:cxn ang="0">
                  <a:pos x="163" y="38"/>
                </a:cxn>
                <a:cxn ang="0">
                  <a:pos x="93" y="76"/>
                </a:cxn>
                <a:cxn ang="0">
                  <a:pos x="85" y="172"/>
                </a:cxn>
                <a:cxn ang="0">
                  <a:pos x="85" y="87"/>
                </a:cxn>
                <a:cxn ang="0">
                  <a:pos x="103" y="17"/>
                </a:cxn>
                <a:cxn ang="0">
                  <a:pos x="45" y="73"/>
                </a:cxn>
                <a:cxn ang="0">
                  <a:pos x="0" y="166"/>
                </a:cxn>
                <a:cxn ang="0">
                  <a:pos x="42" y="228"/>
                </a:cxn>
                <a:cxn ang="0">
                  <a:pos x="74" y="282"/>
                </a:cxn>
                <a:cxn ang="0">
                  <a:pos x="145" y="286"/>
                </a:cxn>
                <a:cxn ang="0">
                  <a:pos x="226" y="331"/>
                </a:cxn>
                <a:cxn ang="0">
                  <a:pos x="254" y="374"/>
                </a:cxn>
                <a:cxn ang="0">
                  <a:pos x="265" y="490"/>
                </a:cxn>
                <a:cxn ang="0">
                  <a:pos x="276" y="557"/>
                </a:cxn>
                <a:cxn ang="0">
                  <a:pos x="323" y="626"/>
                </a:cxn>
                <a:cxn ang="0">
                  <a:pos x="354" y="628"/>
                </a:cxn>
                <a:cxn ang="0">
                  <a:pos x="441" y="552"/>
                </a:cxn>
                <a:cxn ang="0">
                  <a:pos x="420" y="525"/>
                </a:cxn>
                <a:cxn ang="0">
                  <a:pos x="392" y="435"/>
                </a:cxn>
                <a:cxn ang="0">
                  <a:pos x="479" y="467"/>
                </a:cxn>
                <a:cxn ang="0">
                  <a:pos x="525" y="430"/>
                </a:cxn>
                <a:cxn ang="0">
                  <a:pos x="577" y="385"/>
                </a:cxn>
                <a:cxn ang="0">
                  <a:pos x="547" y="340"/>
                </a:cxn>
                <a:cxn ang="0">
                  <a:pos x="597" y="278"/>
                </a:cxn>
                <a:cxn ang="0">
                  <a:pos x="620" y="212"/>
                </a:cxn>
                <a:cxn ang="0">
                  <a:pos x="567" y="198"/>
                </a:cxn>
                <a:cxn ang="0">
                  <a:pos x="549" y="196"/>
                </a:cxn>
                <a:cxn ang="0">
                  <a:pos x="577" y="159"/>
                </a:cxn>
                <a:cxn ang="0">
                  <a:pos x="531" y="134"/>
                </a:cxn>
                <a:cxn ang="0">
                  <a:pos x="515" y="136"/>
                </a:cxn>
              </a:cxnLst>
              <a:rect l="0" t="0" r="r" b="b"/>
              <a:pathLst>
                <a:path w="620" h="628">
                  <a:moveTo>
                    <a:pt x="515" y="136"/>
                  </a:moveTo>
                  <a:lnTo>
                    <a:pt x="512" y="128"/>
                  </a:lnTo>
                  <a:lnTo>
                    <a:pt x="502" y="116"/>
                  </a:lnTo>
                  <a:lnTo>
                    <a:pt x="484" y="116"/>
                  </a:lnTo>
                  <a:lnTo>
                    <a:pt x="494" y="115"/>
                  </a:lnTo>
                  <a:lnTo>
                    <a:pt x="481" y="100"/>
                  </a:lnTo>
                  <a:lnTo>
                    <a:pt x="527" y="83"/>
                  </a:lnTo>
                  <a:lnTo>
                    <a:pt x="477" y="85"/>
                  </a:lnTo>
                  <a:lnTo>
                    <a:pt x="428" y="86"/>
                  </a:lnTo>
                  <a:lnTo>
                    <a:pt x="446" y="92"/>
                  </a:lnTo>
                  <a:lnTo>
                    <a:pt x="399" y="114"/>
                  </a:lnTo>
                  <a:lnTo>
                    <a:pt x="336" y="92"/>
                  </a:lnTo>
                  <a:lnTo>
                    <a:pt x="293" y="92"/>
                  </a:lnTo>
                  <a:lnTo>
                    <a:pt x="250" y="93"/>
                  </a:lnTo>
                  <a:lnTo>
                    <a:pt x="234" y="58"/>
                  </a:lnTo>
                  <a:lnTo>
                    <a:pt x="184" y="38"/>
                  </a:lnTo>
                  <a:lnTo>
                    <a:pt x="164" y="0"/>
                  </a:lnTo>
                  <a:lnTo>
                    <a:pt x="152" y="22"/>
                  </a:lnTo>
                  <a:lnTo>
                    <a:pt x="174" y="38"/>
                  </a:lnTo>
                  <a:lnTo>
                    <a:pt x="163" y="38"/>
                  </a:lnTo>
                  <a:lnTo>
                    <a:pt x="103" y="64"/>
                  </a:lnTo>
                  <a:lnTo>
                    <a:pt x="93" y="76"/>
                  </a:lnTo>
                  <a:lnTo>
                    <a:pt x="105" y="145"/>
                  </a:lnTo>
                  <a:lnTo>
                    <a:pt x="85" y="172"/>
                  </a:lnTo>
                  <a:lnTo>
                    <a:pt x="60" y="134"/>
                  </a:lnTo>
                  <a:lnTo>
                    <a:pt x="85" y="87"/>
                  </a:lnTo>
                  <a:lnTo>
                    <a:pt x="72" y="43"/>
                  </a:lnTo>
                  <a:lnTo>
                    <a:pt x="103" y="17"/>
                  </a:lnTo>
                  <a:lnTo>
                    <a:pt x="72" y="28"/>
                  </a:lnTo>
                  <a:lnTo>
                    <a:pt x="45" y="73"/>
                  </a:lnTo>
                  <a:lnTo>
                    <a:pt x="19" y="120"/>
                  </a:lnTo>
                  <a:lnTo>
                    <a:pt x="0" y="166"/>
                  </a:lnTo>
                  <a:lnTo>
                    <a:pt x="19" y="167"/>
                  </a:lnTo>
                  <a:lnTo>
                    <a:pt x="42" y="228"/>
                  </a:lnTo>
                  <a:lnTo>
                    <a:pt x="40" y="262"/>
                  </a:lnTo>
                  <a:lnTo>
                    <a:pt x="74" y="282"/>
                  </a:lnTo>
                  <a:lnTo>
                    <a:pt x="109" y="283"/>
                  </a:lnTo>
                  <a:lnTo>
                    <a:pt x="145" y="286"/>
                  </a:lnTo>
                  <a:lnTo>
                    <a:pt x="186" y="334"/>
                  </a:lnTo>
                  <a:lnTo>
                    <a:pt x="226" y="331"/>
                  </a:lnTo>
                  <a:lnTo>
                    <a:pt x="265" y="329"/>
                  </a:lnTo>
                  <a:lnTo>
                    <a:pt x="254" y="374"/>
                  </a:lnTo>
                  <a:lnTo>
                    <a:pt x="244" y="421"/>
                  </a:lnTo>
                  <a:lnTo>
                    <a:pt x="265" y="490"/>
                  </a:lnTo>
                  <a:lnTo>
                    <a:pt x="250" y="515"/>
                  </a:lnTo>
                  <a:lnTo>
                    <a:pt x="276" y="557"/>
                  </a:lnTo>
                  <a:lnTo>
                    <a:pt x="287" y="602"/>
                  </a:lnTo>
                  <a:lnTo>
                    <a:pt x="323" y="626"/>
                  </a:lnTo>
                  <a:lnTo>
                    <a:pt x="348" y="623"/>
                  </a:lnTo>
                  <a:lnTo>
                    <a:pt x="354" y="628"/>
                  </a:lnTo>
                  <a:lnTo>
                    <a:pt x="401" y="590"/>
                  </a:lnTo>
                  <a:lnTo>
                    <a:pt x="441" y="552"/>
                  </a:lnTo>
                  <a:lnTo>
                    <a:pt x="449" y="537"/>
                  </a:lnTo>
                  <a:lnTo>
                    <a:pt x="420" y="525"/>
                  </a:lnTo>
                  <a:lnTo>
                    <a:pt x="406" y="464"/>
                  </a:lnTo>
                  <a:lnTo>
                    <a:pt x="392" y="435"/>
                  </a:lnTo>
                  <a:lnTo>
                    <a:pt x="437" y="452"/>
                  </a:lnTo>
                  <a:lnTo>
                    <a:pt x="479" y="467"/>
                  </a:lnTo>
                  <a:lnTo>
                    <a:pt x="488" y="448"/>
                  </a:lnTo>
                  <a:lnTo>
                    <a:pt x="525" y="430"/>
                  </a:lnTo>
                  <a:lnTo>
                    <a:pt x="564" y="414"/>
                  </a:lnTo>
                  <a:lnTo>
                    <a:pt x="577" y="385"/>
                  </a:lnTo>
                  <a:lnTo>
                    <a:pt x="573" y="383"/>
                  </a:lnTo>
                  <a:lnTo>
                    <a:pt x="547" y="340"/>
                  </a:lnTo>
                  <a:lnTo>
                    <a:pt x="564" y="298"/>
                  </a:lnTo>
                  <a:lnTo>
                    <a:pt x="597" y="278"/>
                  </a:lnTo>
                  <a:lnTo>
                    <a:pt x="578" y="255"/>
                  </a:lnTo>
                  <a:lnTo>
                    <a:pt x="620" y="212"/>
                  </a:lnTo>
                  <a:lnTo>
                    <a:pt x="613" y="200"/>
                  </a:lnTo>
                  <a:lnTo>
                    <a:pt x="567" y="198"/>
                  </a:lnTo>
                  <a:lnTo>
                    <a:pt x="538" y="198"/>
                  </a:lnTo>
                  <a:lnTo>
                    <a:pt x="549" y="196"/>
                  </a:lnTo>
                  <a:lnTo>
                    <a:pt x="565" y="169"/>
                  </a:lnTo>
                  <a:lnTo>
                    <a:pt x="577" y="159"/>
                  </a:lnTo>
                  <a:lnTo>
                    <a:pt x="548" y="131"/>
                  </a:lnTo>
                  <a:lnTo>
                    <a:pt x="531" y="134"/>
                  </a:lnTo>
                  <a:lnTo>
                    <a:pt x="514" y="124"/>
                  </a:lnTo>
                  <a:lnTo>
                    <a:pt x="515" y="136"/>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5" name="Freeform 17"/>
            <p:cNvSpPr>
              <a:spLocks/>
            </p:cNvSpPr>
            <p:nvPr/>
          </p:nvSpPr>
          <p:spPr bwMode="auto">
            <a:xfrm>
              <a:off x="3651" y="2534"/>
              <a:ext cx="21" cy="2"/>
            </a:xfrm>
            <a:custGeom>
              <a:avLst/>
              <a:gdLst/>
              <a:ahLst/>
              <a:cxnLst>
                <a:cxn ang="0">
                  <a:pos x="21" y="6"/>
                </a:cxn>
                <a:cxn ang="0">
                  <a:pos x="0" y="0"/>
                </a:cxn>
                <a:cxn ang="0">
                  <a:pos x="21" y="6"/>
                </a:cxn>
              </a:cxnLst>
              <a:rect l="0" t="0" r="r" b="b"/>
              <a:pathLst>
                <a:path w="21" h="6">
                  <a:moveTo>
                    <a:pt x="21" y="6"/>
                  </a:moveTo>
                  <a:lnTo>
                    <a:pt x="0" y="0"/>
                  </a:lnTo>
                  <a:lnTo>
                    <a:pt x="21" y="6"/>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6" name="Freeform 18"/>
            <p:cNvSpPr>
              <a:spLocks/>
            </p:cNvSpPr>
            <p:nvPr/>
          </p:nvSpPr>
          <p:spPr bwMode="auto">
            <a:xfrm>
              <a:off x="2769" y="2202"/>
              <a:ext cx="472" cy="89"/>
            </a:xfrm>
            <a:custGeom>
              <a:avLst/>
              <a:gdLst/>
              <a:ahLst/>
              <a:cxnLst>
                <a:cxn ang="0">
                  <a:pos x="332" y="72"/>
                </a:cxn>
                <a:cxn ang="0">
                  <a:pos x="332" y="76"/>
                </a:cxn>
                <a:cxn ang="0">
                  <a:pos x="287" y="52"/>
                </a:cxn>
                <a:cxn ang="0">
                  <a:pos x="241" y="28"/>
                </a:cxn>
                <a:cxn ang="0">
                  <a:pos x="206" y="11"/>
                </a:cxn>
                <a:cxn ang="0">
                  <a:pos x="171" y="2"/>
                </a:cxn>
                <a:cxn ang="0">
                  <a:pos x="156" y="0"/>
                </a:cxn>
                <a:cxn ang="0">
                  <a:pos x="101" y="11"/>
                </a:cxn>
                <a:cxn ang="0">
                  <a:pos x="47" y="23"/>
                </a:cxn>
                <a:cxn ang="0">
                  <a:pos x="24" y="57"/>
                </a:cxn>
                <a:cxn ang="0">
                  <a:pos x="0" y="73"/>
                </a:cxn>
                <a:cxn ang="0">
                  <a:pos x="16" y="67"/>
                </a:cxn>
                <a:cxn ang="0">
                  <a:pos x="53" y="51"/>
                </a:cxn>
                <a:cxn ang="0">
                  <a:pos x="89" y="33"/>
                </a:cxn>
                <a:cxn ang="0">
                  <a:pos x="148" y="32"/>
                </a:cxn>
                <a:cxn ang="0">
                  <a:pos x="127" y="39"/>
                </a:cxn>
                <a:cxn ang="0">
                  <a:pos x="166" y="52"/>
                </a:cxn>
                <a:cxn ang="0">
                  <a:pos x="192" y="61"/>
                </a:cxn>
                <a:cxn ang="0">
                  <a:pos x="205" y="68"/>
                </a:cxn>
                <a:cxn ang="0">
                  <a:pos x="267" y="85"/>
                </a:cxn>
                <a:cxn ang="0">
                  <a:pos x="279" y="116"/>
                </a:cxn>
                <a:cxn ang="0">
                  <a:pos x="336" y="144"/>
                </a:cxn>
                <a:cxn ang="0">
                  <a:pos x="309" y="177"/>
                </a:cxn>
                <a:cxn ang="0">
                  <a:pos x="354" y="177"/>
                </a:cxn>
                <a:cxn ang="0">
                  <a:pos x="398" y="176"/>
                </a:cxn>
                <a:cxn ang="0">
                  <a:pos x="436" y="170"/>
                </a:cxn>
                <a:cxn ang="0">
                  <a:pos x="472" y="163"/>
                </a:cxn>
                <a:cxn ang="0">
                  <a:pos x="438" y="146"/>
                </a:cxn>
                <a:cxn ang="0">
                  <a:pos x="404" y="128"/>
                </a:cxn>
                <a:cxn ang="0">
                  <a:pos x="403" y="111"/>
                </a:cxn>
                <a:cxn ang="0">
                  <a:pos x="371" y="99"/>
                </a:cxn>
                <a:cxn ang="0">
                  <a:pos x="338" y="85"/>
                </a:cxn>
                <a:cxn ang="0">
                  <a:pos x="332" y="72"/>
                </a:cxn>
              </a:cxnLst>
              <a:rect l="0" t="0" r="r" b="b"/>
              <a:pathLst>
                <a:path w="472" h="177">
                  <a:moveTo>
                    <a:pt x="332" y="72"/>
                  </a:moveTo>
                  <a:lnTo>
                    <a:pt x="332" y="76"/>
                  </a:lnTo>
                  <a:lnTo>
                    <a:pt x="287" y="52"/>
                  </a:lnTo>
                  <a:lnTo>
                    <a:pt x="241" y="28"/>
                  </a:lnTo>
                  <a:lnTo>
                    <a:pt x="206" y="11"/>
                  </a:lnTo>
                  <a:lnTo>
                    <a:pt x="171" y="2"/>
                  </a:lnTo>
                  <a:lnTo>
                    <a:pt x="156" y="0"/>
                  </a:lnTo>
                  <a:lnTo>
                    <a:pt x="101" y="11"/>
                  </a:lnTo>
                  <a:lnTo>
                    <a:pt x="47" y="23"/>
                  </a:lnTo>
                  <a:lnTo>
                    <a:pt x="24" y="57"/>
                  </a:lnTo>
                  <a:lnTo>
                    <a:pt x="0" y="73"/>
                  </a:lnTo>
                  <a:lnTo>
                    <a:pt x="16" y="67"/>
                  </a:lnTo>
                  <a:lnTo>
                    <a:pt x="53" y="51"/>
                  </a:lnTo>
                  <a:lnTo>
                    <a:pt x="89" y="33"/>
                  </a:lnTo>
                  <a:lnTo>
                    <a:pt x="148" y="32"/>
                  </a:lnTo>
                  <a:lnTo>
                    <a:pt x="127" y="39"/>
                  </a:lnTo>
                  <a:lnTo>
                    <a:pt x="166" y="52"/>
                  </a:lnTo>
                  <a:lnTo>
                    <a:pt x="192" y="61"/>
                  </a:lnTo>
                  <a:lnTo>
                    <a:pt x="205" y="68"/>
                  </a:lnTo>
                  <a:lnTo>
                    <a:pt x="267" y="85"/>
                  </a:lnTo>
                  <a:lnTo>
                    <a:pt x="279" y="116"/>
                  </a:lnTo>
                  <a:lnTo>
                    <a:pt x="336" y="144"/>
                  </a:lnTo>
                  <a:lnTo>
                    <a:pt x="309" y="177"/>
                  </a:lnTo>
                  <a:lnTo>
                    <a:pt x="354" y="177"/>
                  </a:lnTo>
                  <a:lnTo>
                    <a:pt x="398" y="176"/>
                  </a:lnTo>
                  <a:lnTo>
                    <a:pt x="436" y="170"/>
                  </a:lnTo>
                  <a:lnTo>
                    <a:pt x="472" y="163"/>
                  </a:lnTo>
                  <a:lnTo>
                    <a:pt x="438" y="146"/>
                  </a:lnTo>
                  <a:lnTo>
                    <a:pt x="404" y="128"/>
                  </a:lnTo>
                  <a:lnTo>
                    <a:pt x="403" y="111"/>
                  </a:lnTo>
                  <a:lnTo>
                    <a:pt x="371" y="99"/>
                  </a:lnTo>
                  <a:lnTo>
                    <a:pt x="338" y="85"/>
                  </a:lnTo>
                  <a:lnTo>
                    <a:pt x="332" y="7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7" name="Freeform 19"/>
            <p:cNvSpPr>
              <a:spLocks/>
            </p:cNvSpPr>
            <p:nvPr/>
          </p:nvSpPr>
          <p:spPr bwMode="auto">
            <a:xfrm>
              <a:off x="2846" y="2235"/>
              <a:ext cx="23" cy="11"/>
            </a:xfrm>
            <a:custGeom>
              <a:avLst/>
              <a:gdLst/>
              <a:ahLst/>
              <a:cxnLst>
                <a:cxn ang="0">
                  <a:pos x="0" y="23"/>
                </a:cxn>
                <a:cxn ang="0">
                  <a:pos x="23" y="21"/>
                </a:cxn>
                <a:cxn ang="0">
                  <a:pos x="6" y="0"/>
                </a:cxn>
                <a:cxn ang="0">
                  <a:pos x="0" y="23"/>
                </a:cxn>
              </a:cxnLst>
              <a:rect l="0" t="0" r="r" b="b"/>
              <a:pathLst>
                <a:path w="23" h="23">
                  <a:moveTo>
                    <a:pt x="0" y="23"/>
                  </a:moveTo>
                  <a:lnTo>
                    <a:pt x="23" y="21"/>
                  </a:lnTo>
                  <a:lnTo>
                    <a:pt x="6" y="0"/>
                  </a:lnTo>
                  <a:lnTo>
                    <a:pt x="0" y="23"/>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8" name="Freeform 20"/>
            <p:cNvSpPr>
              <a:spLocks/>
            </p:cNvSpPr>
            <p:nvPr/>
          </p:nvSpPr>
          <p:spPr bwMode="auto">
            <a:xfrm>
              <a:off x="2905" y="2305"/>
              <a:ext cx="16" cy="4"/>
            </a:xfrm>
            <a:custGeom>
              <a:avLst/>
              <a:gdLst/>
              <a:ahLst/>
              <a:cxnLst>
                <a:cxn ang="0">
                  <a:pos x="16" y="4"/>
                </a:cxn>
                <a:cxn ang="0">
                  <a:pos x="16" y="3"/>
                </a:cxn>
                <a:cxn ang="0">
                  <a:pos x="15" y="3"/>
                </a:cxn>
                <a:cxn ang="0">
                  <a:pos x="13" y="3"/>
                </a:cxn>
                <a:cxn ang="0">
                  <a:pos x="12" y="3"/>
                </a:cxn>
                <a:cxn ang="0">
                  <a:pos x="11" y="3"/>
                </a:cxn>
                <a:cxn ang="0">
                  <a:pos x="10" y="3"/>
                </a:cxn>
                <a:cxn ang="0">
                  <a:pos x="9" y="3"/>
                </a:cxn>
                <a:cxn ang="0">
                  <a:pos x="9" y="2"/>
                </a:cxn>
                <a:cxn ang="0">
                  <a:pos x="7" y="2"/>
                </a:cxn>
                <a:cxn ang="0">
                  <a:pos x="7" y="3"/>
                </a:cxn>
                <a:cxn ang="0">
                  <a:pos x="7" y="4"/>
                </a:cxn>
                <a:cxn ang="0">
                  <a:pos x="6" y="4"/>
                </a:cxn>
                <a:cxn ang="0">
                  <a:pos x="6" y="5"/>
                </a:cxn>
                <a:cxn ang="0">
                  <a:pos x="5" y="5"/>
                </a:cxn>
                <a:cxn ang="0">
                  <a:pos x="4" y="5"/>
                </a:cxn>
                <a:cxn ang="0">
                  <a:pos x="3" y="5"/>
                </a:cxn>
                <a:cxn ang="0">
                  <a:pos x="3" y="4"/>
                </a:cxn>
                <a:cxn ang="0">
                  <a:pos x="3" y="3"/>
                </a:cxn>
                <a:cxn ang="0">
                  <a:pos x="3" y="2"/>
                </a:cxn>
                <a:cxn ang="0">
                  <a:pos x="3" y="0"/>
                </a:cxn>
                <a:cxn ang="0">
                  <a:pos x="1" y="0"/>
                </a:cxn>
                <a:cxn ang="0">
                  <a:pos x="0" y="0"/>
                </a:cxn>
                <a:cxn ang="0">
                  <a:pos x="0" y="2"/>
                </a:cxn>
                <a:cxn ang="0">
                  <a:pos x="1" y="2"/>
                </a:cxn>
                <a:cxn ang="0">
                  <a:pos x="1" y="3"/>
                </a:cxn>
                <a:cxn ang="0">
                  <a:pos x="1" y="4"/>
                </a:cxn>
                <a:cxn ang="0">
                  <a:pos x="1" y="5"/>
                </a:cxn>
                <a:cxn ang="0">
                  <a:pos x="1" y="7"/>
                </a:cxn>
                <a:cxn ang="0">
                  <a:pos x="1" y="8"/>
                </a:cxn>
                <a:cxn ang="0">
                  <a:pos x="3" y="8"/>
                </a:cxn>
                <a:cxn ang="0">
                  <a:pos x="3" y="7"/>
                </a:cxn>
                <a:cxn ang="0">
                  <a:pos x="4" y="7"/>
                </a:cxn>
                <a:cxn ang="0">
                  <a:pos x="5" y="7"/>
                </a:cxn>
                <a:cxn ang="0">
                  <a:pos x="6" y="7"/>
                </a:cxn>
                <a:cxn ang="0">
                  <a:pos x="6" y="8"/>
                </a:cxn>
                <a:cxn ang="0">
                  <a:pos x="7" y="8"/>
                </a:cxn>
                <a:cxn ang="0">
                  <a:pos x="7" y="7"/>
                </a:cxn>
                <a:cxn ang="0">
                  <a:pos x="9" y="7"/>
                </a:cxn>
                <a:cxn ang="0">
                  <a:pos x="9" y="5"/>
                </a:cxn>
                <a:cxn ang="0">
                  <a:pos x="10" y="5"/>
                </a:cxn>
                <a:cxn ang="0">
                  <a:pos x="11" y="5"/>
                </a:cxn>
                <a:cxn ang="0">
                  <a:pos x="12" y="5"/>
                </a:cxn>
                <a:cxn ang="0">
                  <a:pos x="13" y="5"/>
                </a:cxn>
                <a:cxn ang="0">
                  <a:pos x="15" y="5"/>
                </a:cxn>
                <a:cxn ang="0">
                  <a:pos x="16" y="5"/>
                </a:cxn>
                <a:cxn ang="0">
                  <a:pos x="16" y="4"/>
                </a:cxn>
              </a:cxnLst>
              <a:rect l="0" t="0" r="r" b="b"/>
              <a:pathLst>
                <a:path w="16" h="8">
                  <a:moveTo>
                    <a:pt x="16" y="4"/>
                  </a:moveTo>
                  <a:lnTo>
                    <a:pt x="16" y="3"/>
                  </a:lnTo>
                  <a:lnTo>
                    <a:pt x="15" y="3"/>
                  </a:lnTo>
                  <a:lnTo>
                    <a:pt x="13" y="3"/>
                  </a:lnTo>
                  <a:lnTo>
                    <a:pt x="12" y="3"/>
                  </a:lnTo>
                  <a:lnTo>
                    <a:pt x="11" y="3"/>
                  </a:lnTo>
                  <a:lnTo>
                    <a:pt x="10" y="3"/>
                  </a:lnTo>
                  <a:lnTo>
                    <a:pt x="9" y="3"/>
                  </a:lnTo>
                  <a:lnTo>
                    <a:pt x="9" y="2"/>
                  </a:lnTo>
                  <a:lnTo>
                    <a:pt x="7" y="2"/>
                  </a:lnTo>
                  <a:lnTo>
                    <a:pt x="7" y="3"/>
                  </a:lnTo>
                  <a:lnTo>
                    <a:pt x="7" y="4"/>
                  </a:lnTo>
                  <a:lnTo>
                    <a:pt x="6" y="4"/>
                  </a:lnTo>
                  <a:lnTo>
                    <a:pt x="6" y="5"/>
                  </a:lnTo>
                  <a:lnTo>
                    <a:pt x="5" y="5"/>
                  </a:lnTo>
                  <a:lnTo>
                    <a:pt x="4" y="5"/>
                  </a:lnTo>
                  <a:lnTo>
                    <a:pt x="3" y="5"/>
                  </a:lnTo>
                  <a:lnTo>
                    <a:pt x="3" y="4"/>
                  </a:lnTo>
                  <a:lnTo>
                    <a:pt x="3" y="3"/>
                  </a:lnTo>
                  <a:lnTo>
                    <a:pt x="3" y="2"/>
                  </a:lnTo>
                  <a:lnTo>
                    <a:pt x="3" y="0"/>
                  </a:lnTo>
                  <a:lnTo>
                    <a:pt x="1" y="0"/>
                  </a:lnTo>
                  <a:lnTo>
                    <a:pt x="0" y="0"/>
                  </a:lnTo>
                  <a:lnTo>
                    <a:pt x="0" y="2"/>
                  </a:lnTo>
                  <a:lnTo>
                    <a:pt x="1" y="2"/>
                  </a:lnTo>
                  <a:lnTo>
                    <a:pt x="1" y="3"/>
                  </a:lnTo>
                  <a:lnTo>
                    <a:pt x="1" y="4"/>
                  </a:lnTo>
                  <a:lnTo>
                    <a:pt x="1" y="5"/>
                  </a:lnTo>
                  <a:lnTo>
                    <a:pt x="1" y="7"/>
                  </a:lnTo>
                  <a:lnTo>
                    <a:pt x="1" y="8"/>
                  </a:lnTo>
                  <a:lnTo>
                    <a:pt x="3" y="8"/>
                  </a:lnTo>
                  <a:lnTo>
                    <a:pt x="3" y="7"/>
                  </a:lnTo>
                  <a:lnTo>
                    <a:pt x="4" y="7"/>
                  </a:lnTo>
                  <a:lnTo>
                    <a:pt x="5" y="7"/>
                  </a:lnTo>
                  <a:lnTo>
                    <a:pt x="6" y="7"/>
                  </a:lnTo>
                  <a:lnTo>
                    <a:pt x="6" y="8"/>
                  </a:lnTo>
                  <a:lnTo>
                    <a:pt x="7" y="8"/>
                  </a:lnTo>
                  <a:lnTo>
                    <a:pt x="7" y="7"/>
                  </a:lnTo>
                  <a:lnTo>
                    <a:pt x="9" y="7"/>
                  </a:lnTo>
                  <a:lnTo>
                    <a:pt x="9" y="5"/>
                  </a:lnTo>
                  <a:lnTo>
                    <a:pt x="10" y="5"/>
                  </a:lnTo>
                  <a:lnTo>
                    <a:pt x="11" y="5"/>
                  </a:lnTo>
                  <a:lnTo>
                    <a:pt x="12" y="5"/>
                  </a:lnTo>
                  <a:lnTo>
                    <a:pt x="13" y="5"/>
                  </a:lnTo>
                  <a:lnTo>
                    <a:pt x="15" y="5"/>
                  </a:lnTo>
                  <a:lnTo>
                    <a:pt x="16" y="5"/>
                  </a:lnTo>
                  <a:lnTo>
                    <a:pt x="16" y="4"/>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49" name="Freeform 21"/>
            <p:cNvSpPr>
              <a:spLocks/>
            </p:cNvSpPr>
            <p:nvPr/>
          </p:nvSpPr>
          <p:spPr bwMode="auto">
            <a:xfrm>
              <a:off x="2977" y="2295"/>
              <a:ext cx="8" cy="2"/>
            </a:xfrm>
            <a:custGeom>
              <a:avLst/>
              <a:gdLst/>
              <a:ahLst/>
              <a:cxnLst>
                <a:cxn ang="0">
                  <a:pos x="8" y="1"/>
                </a:cxn>
                <a:cxn ang="0">
                  <a:pos x="8" y="0"/>
                </a:cxn>
                <a:cxn ang="0">
                  <a:pos x="6" y="0"/>
                </a:cxn>
                <a:cxn ang="0">
                  <a:pos x="5" y="0"/>
                </a:cxn>
                <a:cxn ang="0">
                  <a:pos x="5" y="1"/>
                </a:cxn>
                <a:cxn ang="0">
                  <a:pos x="4" y="1"/>
                </a:cxn>
                <a:cxn ang="0">
                  <a:pos x="3" y="3"/>
                </a:cxn>
                <a:cxn ang="0">
                  <a:pos x="2" y="3"/>
                </a:cxn>
                <a:cxn ang="0">
                  <a:pos x="2" y="4"/>
                </a:cxn>
                <a:cxn ang="0">
                  <a:pos x="0" y="4"/>
                </a:cxn>
                <a:cxn ang="0">
                  <a:pos x="2" y="4"/>
                </a:cxn>
                <a:cxn ang="0">
                  <a:pos x="3" y="4"/>
                </a:cxn>
                <a:cxn ang="0">
                  <a:pos x="4" y="3"/>
                </a:cxn>
                <a:cxn ang="0">
                  <a:pos x="5" y="3"/>
                </a:cxn>
                <a:cxn ang="0">
                  <a:pos x="6" y="3"/>
                </a:cxn>
                <a:cxn ang="0">
                  <a:pos x="6" y="1"/>
                </a:cxn>
                <a:cxn ang="0">
                  <a:pos x="8" y="1"/>
                </a:cxn>
              </a:cxnLst>
              <a:rect l="0" t="0" r="r" b="b"/>
              <a:pathLst>
                <a:path w="8" h="4">
                  <a:moveTo>
                    <a:pt x="8" y="1"/>
                  </a:moveTo>
                  <a:lnTo>
                    <a:pt x="8" y="0"/>
                  </a:lnTo>
                  <a:lnTo>
                    <a:pt x="6" y="0"/>
                  </a:lnTo>
                  <a:lnTo>
                    <a:pt x="5" y="0"/>
                  </a:lnTo>
                  <a:lnTo>
                    <a:pt x="5" y="1"/>
                  </a:lnTo>
                  <a:lnTo>
                    <a:pt x="4" y="1"/>
                  </a:lnTo>
                  <a:lnTo>
                    <a:pt x="3" y="3"/>
                  </a:lnTo>
                  <a:lnTo>
                    <a:pt x="2" y="3"/>
                  </a:lnTo>
                  <a:lnTo>
                    <a:pt x="2" y="4"/>
                  </a:lnTo>
                  <a:lnTo>
                    <a:pt x="0" y="4"/>
                  </a:lnTo>
                  <a:lnTo>
                    <a:pt x="2" y="4"/>
                  </a:lnTo>
                  <a:lnTo>
                    <a:pt x="3" y="4"/>
                  </a:lnTo>
                  <a:lnTo>
                    <a:pt x="4" y="3"/>
                  </a:lnTo>
                  <a:lnTo>
                    <a:pt x="5" y="3"/>
                  </a:lnTo>
                  <a:lnTo>
                    <a:pt x="6" y="3"/>
                  </a:lnTo>
                  <a:lnTo>
                    <a:pt x="6" y="1"/>
                  </a:lnTo>
                  <a:lnTo>
                    <a:pt x="8" y="1"/>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0" name="Freeform 22"/>
            <p:cNvSpPr>
              <a:spLocks/>
            </p:cNvSpPr>
            <p:nvPr/>
          </p:nvSpPr>
          <p:spPr bwMode="auto">
            <a:xfrm>
              <a:off x="2967" y="2296"/>
              <a:ext cx="7" cy="2"/>
            </a:xfrm>
            <a:custGeom>
              <a:avLst/>
              <a:gdLst/>
              <a:ahLst/>
              <a:cxnLst>
                <a:cxn ang="0">
                  <a:pos x="7" y="1"/>
                </a:cxn>
                <a:cxn ang="0">
                  <a:pos x="7" y="0"/>
                </a:cxn>
                <a:cxn ang="0">
                  <a:pos x="6" y="0"/>
                </a:cxn>
                <a:cxn ang="0">
                  <a:pos x="4" y="0"/>
                </a:cxn>
                <a:cxn ang="0">
                  <a:pos x="4" y="1"/>
                </a:cxn>
                <a:cxn ang="0">
                  <a:pos x="3" y="1"/>
                </a:cxn>
                <a:cxn ang="0">
                  <a:pos x="2" y="1"/>
                </a:cxn>
                <a:cxn ang="0">
                  <a:pos x="1" y="1"/>
                </a:cxn>
                <a:cxn ang="0">
                  <a:pos x="1" y="2"/>
                </a:cxn>
                <a:cxn ang="0">
                  <a:pos x="0" y="2"/>
                </a:cxn>
                <a:cxn ang="0">
                  <a:pos x="0" y="3"/>
                </a:cxn>
                <a:cxn ang="0">
                  <a:pos x="1" y="3"/>
                </a:cxn>
                <a:cxn ang="0">
                  <a:pos x="1" y="2"/>
                </a:cxn>
                <a:cxn ang="0">
                  <a:pos x="2" y="2"/>
                </a:cxn>
                <a:cxn ang="0">
                  <a:pos x="3" y="2"/>
                </a:cxn>
                <a:cxn ang="0">
                  <a:pos x="3" y="1"/>
                </a:cxn>
                <a:cxn ang="0">
                  <a:pos x="4" y="1"/>
                </a:cxn>
                <a:cxn ang="0">
                  <a:pos x="6" y="1"/>
                </a:cxn>
                <a:cxn ang="0">
                  <a:pos x="7" y="1"/>
                </a:cxn>
              </a:cxnLst>
              <a:rect l="0" t="0" r="r" b="b"/>
              <a:pathLst>
                <a:path w="7" h="3">
                  <a:moveTo>
                    <a:pt x="7" y="1"/>
                  </a:moveTo>
                  <a:lnTo>
                    <a:pt x="7" y="0"/>
                  </a:lnTo>
                  <a:lnTo>
                    <a:pt x="6" y="0"/>
                  </a:lnTo>
                  <a:lnTo>
                    <a:pt x="4" y="0"/>
                  </a:lnTo>
                  <a:lnTo>
                    <a:pt x="4" y="1"/>
                  </a:lnTo>
                  <a:lnTo>
                    <a:pt x="3" y="1"/>
                  </a:lnTo>
                  <a:lnTo>
                    <a:pt x="2" y="1"/>
                  </a:lnTo>
                  <a:lnTo>
                    <a:pt x="1" y="1"/>
                  </a:lnTo>
                  <a:lnTo>
                    <a:pt x="1" y="2"/>
                  </a:lnTo>
                  <a:lnTo>
                    <a:pt x="0" y="2"/>
                  </a:lnTo>
                  <a:lnTo>
                    <a:pt x="0" y="3"/>
                  </a:lnTo>
                  <a:lnTo>
                    <a:pt x="1" y="3"/>
                  </a:lnTo>
                  <a:lnTo>
                    <a:pt x="1" y="2"/>
                  </a:lnTo>
                  <a:lnTo>
                    <a:pt x="2" y="2"/>
                  </a:lnTo>
                  <a:lnTo>
                    <a:pt x="3" y="2"/>
                  </a:lnTo>
                  <a:lnTo>
                    <a:pt x="3" y="1"/>
                  </a:lnTo>
                  <a:lnTo>
                    <a:pt x="4" y="1"/>
                  </a:lnTo>
                  <a:lnTo>
                    <a:pt x="6" y="1"/>
                  </a:lnTo>
                  <a:lnTo>
                    <a:pt x="7" y="1"/>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1" name="Freeform 23"/>
            <p:cNvSpPr>
              <a:spLocks/>
            </p:cNvSpPr>
            <p:nvPr/>
          </p:nvSpPr>
          <p:spPr bwMode="auto">
            <a:xfrm>
              <a:off x="3659" y="2331"/>
              <a:ext cx="7" cy="2"/>
            </a:xfrm>
            <a:custGeom>
              <a:avLst/>
              <a:gdLst/>
              <a:ahLst/>
              <a:cxnLst>
                <a:cxn ang="0">
                  <a:pos x="7" y="0"/>
                </a:cxn>
                <a:cxn ang="0">
                  <a:pos x="6" y="0"/>
                </a:cxn>
                <a:cxn ang="0">
                  <a:pos x="5" y="0"/>
                </a:cxn>
                <a:cxn ang="0">
                  <a:pos x="4" y="0"/>
                </a:cxn>
                <a:cxn ang="0">
                  <a:pos x="3" y="0"/>
                </a:cxn>
                <a:cxn ang="0">
                  <a:pos x="3" y="2"/>
                </a:cxn>
                <a:cxn ang="0">
                  <a:pos x="1" y="2"/>
                </a:cxn>
                <a:cxn ang="0">
                  <a:pos x="1" y="3"/>
                </a:cxn>
                <a:cxn ang="0">
                  <a:pos x="0" y="3"/>
                </a:cxn>
                <a:cxn ang="0">
                  <a:pos x="0" y="4"/>
                </a:cxn>
                <a:cxn ang="0">
                  <a:pos x="1" y="4"/>
                </a:cxn>
                <a:cxn ang="0">
                  <a:pos x="3" y="4"/>
                </a:cxn>
                <a:cxn ang="0">
                  <a:pos x="3" y="3"/>
                </a:cxn>
                <a:cxn ang="0">
                  <a:pos x="4" y="3"/>
                </a:cxn>
                <a:cxn ang="0">
                  <a:pos x="5" y="3"/>
                </a:cxn>
                <a:cxn ang="0">
                  <a:pos x="5" y="2"/>
                </a:cxn>
                <a:cxn ang="0">
                  <a:pos x="4" y="2"/>
                </a:cxn>
                <a:cxn ang="0">
                  <a:pos x="5" y="2"/>
                </a:cxn>
                <a:cxn ang="0">
                  <a:pos x="6" y="2"/>
                </a:cxn>
                <a:cxn ang="0">
                  <a:pos x="6" y="3"/>
                </a:cxn>
                <a:cxn ang="0">
                  <a:pos x="6" y="2"/>
                </a:cxn>
                <a:cxn ang="0">
                  <a:pos x="7" y="2"/>
                </a:cxn>
                <a:cxn ang="0">
                  <a:pos x="7" y="0"/>
                </a:cxn>
              </a:cxnLst>
              <a:rect l="0" t="0" r="r" b="b"/>
              <a:pathLst>
                <a:path w="7" h="4">
                  <a:moveTo>
                    <a:pt x="7" y="0"/>
                  </a:moveTo>
                  <a:lnTo>
                    <a:pt x="6" y="0"/>
                  </a:lnTo>
                  <a:lnTo>
                    <a:pt x="5" y="0"/>
                  </a:lnTo>
                  <a:lnTo>
                    <a:pt x="4" y="0"/>
                  </a:lnTo>
                  <a:lnTo>
                    <a:pt x="3" y="0"/>
                  </a:lnTo>
                  <a:lnTo>
                    <a:pt x="3" y="2"/>
                  </a:lnTo>
                  <a:lnTo>
                    <a:pt x="1" y="2"/>
                  </a:lnTo>
                  <a:lnTo>
                    <a:pt x="1" y="3"/>
                  </a:lnTo>
                  <a:lnTo>
                    <a:pt x="0" y="3"/>
                  </a:lnTo>
                  <a:lnTo>
                    <a:pt x="0" y="4"/>
                  </a:lnTo>
                  <a:lnTo>
                    <a:pt x="1" y="4"/>
                  </a:lnTo>
                  <a:lnTo>
                    <a:pt x="3" y="4"/>
                  </a:lnTo>
                  <a:lnTo>
                    <a:pt x="3" y="3"/>
                  </a:lnTo>
                  <a:lnTo>
                    <a:pt x="4" y="3"/>
                  </a:lnTo>
                  <a:lnTo>
                    <a:pt x="5" y="3"/>
                  </a:lnTo>
                  <a:lnTo>
                    <a:pt x="5" y="2"/>
                  </a:lnTo>
                  <a:lnTo>
                    <a:pt x="4" y="2"/>
                  </a:lnTo>
                  <a:lnTo>
                    <a:pt x="5" y="2"/>
                  </a:lnTo>
                  <a:lnTo>
                    <a:pt x="6" y="2"/>
                  </a:lnTo>
                  <a:lnTo>
                    <a:pt x="6" y="3"/>
                  </a:lnTo>
                  <a:lnTo>
                    <a:pt x="6" y="2"/>
                  </a:lnTo>
                  <a:lnTo>
                    <a:pt x="7" y="2"/>
                  </a:lnTo>
                  <a:lnTo>
                    <a:pt x="7"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2" name="Freeform 24"/>
            <p:cNvSpPr>
              <a:spLocks/>
            </p:cNvSpPr>
            <p:nvPr/>
          </p:nvSpPr>
          <p:spPr bwMode="auto">
            <a:xfrm>
              <a:off x="3674" y="2323"/>
              <a:ext cx="7" cy="1"/>
            </a:xfrm>
            <a:custGeom>
              <a:avLst/>
              <a:gdLst/>
              <a:ahLst/>
              <a:cxnLst>
                <a:cxn ang="0">
                  <a:pos x="7" y="2"/>
                </a:cxn>
                <a:cxn ang="0">
                  <a:pos x="6" y="2"/>
                </a:cxn>
                <a:cxn ang="0">
                  <a:pos x="6" y="1"/>
                </a:cxn>
                <a:cxn ang="0">
                  <a:pos x="4" y="1"/>
                </a:cxn>
                <a:cxn ang="0">
                  <a:pos x="4" y="0"/>
                </a:cxn>
                <a:cxn ang="0">
                  <a:pos x="3" y="0"/>
                </a:cxn>
                <a:cxn ang="0">
                  <a:pos x="2" y="0"/>
                </a:cxn>
                <a:cxn ang="0">
                  <a:pos x="1" y="0"/>
                </a:cxn>
                <a:cxn ang="0">
                  <a:pos x="0" y="0"/>
                </a:cxn>
                <a:cxn ang="0">
                  <a:pos x="0" y="1"/>
                </a:cxn>
                <a:cxn ang="0">
                  <a:pos x="1" y="1"/>
                </a:cxn>
                <a:cxn ang="0">
                  <a:pos x="2" y="1"/>
                </a:cxn>
                <a:cxn ang="0">
                  <a:pos x="3" y="1"/>
                </a:cxn>
                <a:cxn ang="0">
                  <a:pos x="4" y="1"/>
                </a:cxn>
                <a:cxn ang="0">
                  <a:pos x="4" y="2"/>
                </a:cxn>
                <a:cxn ang="0">
                  <a:pos x="6" y="2"/>
                </a:cxn>
                <a:cxn ang="0">
                  <a:pos x="7" y="2"/>
                </a:cxn>
              </a:cxnLst>
              <a:rect l="0" t="0" r="r" b="b"/>
              <a:pathLst>
                <a:path w="7" h="2">
                  <a:moveTo>
                    <a:pt x="7" y="2"/>
                  </a:moveTo>
                  <a:lnTo>
                    <a:pt x="6" y="2"/>
                  </a:lnTo>
                  <a:lnTo>
                    <a:pt x="6" y="1"/>
                  </a:lnTo>
                  <a:lnTo>
                    <a:pt x="4" y="1"/>
                  </a:lnTo>
                  <a:lnTo>
                    <a:pt x="4" y="0"/>
                  </a:lnTo>
                  <a:lnTo>
                    <a:pt x="3" y="0"/>
                  </a:lnTo>
                  <a:lnTo>
                    <a:pt x="2" y="0"/>
                  </a:lnTo>
                  <a:lnTo>
                    <a:pt x="1" y="0"/>
                  </a:lnTo>
                  <a:lnTo>
                    <a:pt x="0" y="0"/>
                  </a:lnTo>
                  <a:lnTo>
                    <a:pt x="0" y="1"/>
                  </a:lnTo>
                  <a:lnTo>
                    <a:pt x="1" y="1"/>
                  </a:lnTo>
                  <a:lnTo>
                    <a:pt x="2" y="1"/>
                  </a:lnTo>
                  <a:lnTo>
                    <a:pt x="3" y="1"/>
                  </a:lnTo>
                  <a:lnTo>
                    <a:pt x="4" y="1"/>
                  </a:lnTo>
                  <a:lnTo>
                    <a:pt x="4" y="2"/>
                  </a:lnTo>
                  <a:lnTo>
                    <a:pt x="6" y="2"/>
                  </a:lnTo>
                  <a:lnTo>
                    <a:pt x="7" y="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3" name="Freeform 25"/>
            <p:cNvSpPr>
              <a:spLocks/>
            </p:cNvSpPr>
            <p:nvPr/>
          </p:nvSpPr>
          <p:spPr bwMode="auto">
            <a:xfrm>
              <a:off x="3671" y="2329"/>
              <a:ext cx="6" cy="3"/>
            </a:xfrm>
            <a:custGeom>
              <a:avLst/>
              <a:gdLst/>
              <a:ahLst/>
              <a:cxnLst>
                <a:cxn ang="0">
                  <a:pos x="6" y="0"/>
                </a:cxn>
                <a:cxn ang="0">
                  <a:pos x="6" y="2"/>
                </a:cxn>
                <a:cxn ang="0">
                  <a:pos x="5" y="2"/>
                </a:cxn>
                <a:cxn ang="0">
                  <a:pos x="4" y="2"/>
                </a:cxn>
                <a:cxn ang="0">
                  <a:pos x="4" y="3"/>
                </a:cxn>
                <a:cxn ang="0">
                  <a:pos x="3" y="3"/>
                </a:cxn>
                <a:cxn ang="0">
                  <a:pos x="1" y="3"/>
                </a:cxn>
                <a:cxn ang="0">
                  <a:pos x="1" y="4"/>
                </a:cxn>
                <a:cxn ang="0">
                  <a:pos x="1" y="6"/>
                </a:cxn>
                <a:cxn ang="0">
                  <a:pos x="0" y="6"/>
                </a:cxn>
                <a:cxn ang="0">
                  <a:pos x="0" y="4"/>
                </a:cxn>
                <a:cxn ang="0">
                  <a:pos x="0" y="3"/>
                </a:cxn>
                <a:cxn ang="0">
                  <a:pos x="1" y="3"/>
                </a:cxn>
                <a:cxn ang="0">
                  <a:pos x="1" y="2"/>
                </a:cxn>
                <a:cxn ang="0">
                  <a:pos x="1" y="0"/>
                </a:cxn>
                <a:cxn ang="0">
                  <a:pos x="3" y="2"/>
                </a:cxn>
                <a:cxn ang="0">
                  <a:pos x="4" y="2"/>
                </a:cxn>
                <a:cxn ang="0">
                  <a:pos x="5" y="0"/>
                </a:cxn>
                <a:cxn ang="0">
                  <a:pos x="5" y="2"/>
                </a:cxn>
                <a:cxn ang="0">
                  <a:pos x="5" y="0"/>
                </a:cxn>
                <a:cxn ang="0">
                  <a:pos x="6" y="0"/>
                </a:cxn>
              </a:cxnLst>
              <a:rect l="0" t="0" r="r" b="b"/>
              <a:pathLst>
                <a:path w="6" h="6">
                  <a:moveTo>
                    <a:pt x="6" y="0"/>
                  </a:moveTo>
                  <a:lnTo>
                    <a:pt x="6" y="2"/>
                  </a:lnTo>
                  <a:lnTo>
                    <a:pt x="5" y="2"/>
                  </a:lnTo>
                  <a:lnTo>
                    <a:pt x="4" y="2"/>
                  </a:lnTo>
                  <a:lnTo>
                    <a:pt x="4" y="3"/>
                  </a:lnTo>
                  <a:lnTo>
                    <a:pt x="3" y="3"/>
                  </a:lnTo>
                  <a:lnTo>
                    <a:pt x="1" y="3"/>
                  </a:lnTo>
                  <a:lnTo>
                    <a:pt x="1" y="4"/>
                  </a:lnTo>
                  <a:lnTo>
                    <a:pt x="1" y="6"/>
                  </a:lnTo>
                  <a:lnTo>
                    <a:pt x="0" y="6"/>
                  </a:lnTo>
                  <a:lnTo>
                    <a:pt x="0" y="4"/>
                  </a:lnTo>
                  <a:lnTo>
                    <a:pt x="0" y="3"/>
                  </a:lnTo>
                  <a:lnTo>
                    <a:pt x="1" y="3"/>
                  </a:lnTo>
                  <a:lnTo>
                    <a:pt x="1" y="2"/>
                  </a:lnTo>
                  <a:lnTo>
                    <a:pt x="1" y="0"/>
                  </a:lnTo>
                  <a:lnTo>
                    <a:pt x="3" y="2"/>
                  </a:lnTo>
                  <a:lnTo>
                    <a:pt x="4" y="2"/>
                  </a:lnTo>
                  <a:lnTo>
                    <a:pt x="5" y="0"/>
                  </a:lnTo>
                  <a:lnTo>
                    <a:pt x="5" y="2"/>
                  </a:lnTo>
                  <a:lnTo>
                    <a:pt x="5" y="0"/>
                  </a:lnTo>
                  <a:lnTo>
                    <a:pt x="6"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4" name="Freeform 26"/>
            <p:cNvSpPr>
              <a:spLocks/>
            </p:cNvSpPr>
            <p:nvPr/>
          </p:nvSpPr>
          <p:spPr bwMode="auto">
            <a:xfrm>
              <a:off x="3656" y="2331"/>
              <a:ext cx="2" cy="1"/>
            </a:xfrm>
            <a:custGeom>
              <a:avLst/>
              <a:gdLst/>
              <a:ahLst/>
              <a:cxnLst>
                <a:cxn ang="0">
                  <a:pos x="2" y="0"/>
                </a:cxn>
                <a:cxn ang="0">
                  <a:pos x="2" y="2"/>
                </a:cxn>
                <a:cxn ang="0">
                  <a:pos x="1" y="0"/>
                </a:cxn>
                <a:cxn ang="0">
                  <a:pos x="0" y="0"/>
                </a:cxn>
                <a:cxn ang="0">
                  <a:pos x="1" y="0"/>
                </a:cxn>
                <a:cxn ang="0">
                  <a:pos x="2" y="0"/>
                </a:cxn>
              </a:cxnLst>
              <a:rect l="0" t="0" r="r" b="b"/>
              <a:pathLst>
                <a:path w="2" h="2">
                  <a:moveTo>
                    <a:pt x="2" y="0"/>
                  </a:moveTo>
                  <a:lnTo>
                    <a:pt x="2" y="2"/>
                  </a:lnTo>
                  <a:lnTo>
                    <a:pt x="1" y="0"/>
                  </a:lnTo>
                  <a:lnTo>
                    <a:pt x="0" y="0"/>
                  </a:lnTo>
                  <a:lnTo>
                    <a:pt x="1" y="0"/>
                  </a:lnTo>
                  <a:lnTo>
                    <a:pt x="2"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5" name="Freeform 27"/>
            <p:cNvSpPr>
              <a:spLocks/>
            </p:cNvSpPr>
            <p:nvPr/>
          </p:nvSpPr>
          <p:spPr bwMode="auto">
            <a:xfrm>
              <a:off x="3663" y="2334"/>
              <a:ext cx="2" cy="1"/>
            </a:xfrm>
            <a:custGeom>
              <a:avLst/>
              <a:gdLst/>
              <a:ahLst/>
              <a:cxnLst>
                <a:cxn ang="0">
                  <a:pos x="2" y="0"/>
                </a:cxn>
                <a:cxn ang="0">
                  <a:pos x="2" y="2"/>
                </a:cxn>
                <a:cxn ang="0">
                  <a:pos x="2" y="0"/>
                </a:cxn>
                <a:cxn ang="0">
                  <a:pos x="1" y="0"/>
                </a:cxn>
                <a:cxn ang="0">
                  <a:pos x="1" y="2"/>
                </a:cxn>
                <a:cxn ang="0">
                  <a:pos x="1" y="0"/>
                </a:cxn>
                <a:cxn ang="0">
                  <a:pos x="0" y="0"/>
                </a:cxn>
                <a:cxn ang="0">
                  <a:pos x="1" y="0"/>
                </a:cxn>
                <a:cxn ang="0">
                  <a:pos x="2" y="0"/>
                </a:cxn>
              </a:cxnLst>
              <a:rect l="0" t="0" r="r" b="b"/>
              <a:pathLst>
                <a:path w="2" h="2">
                  <a:moveTo>
                    <a:pt x="2" y="0"/>
                  </a:moveTo>
                  <a:lnTo>
                    <a:pt x="2" y="2"/>
                  </a:lnTo>
                  <a:lnTo>
                    <a:pt x="2" y="0"/>
                  </a:lnTo>
                  <a:lnTo>
                    <a:pt x="1" y="0"/>
                  </a:lnTo>
                  <a:lnTo>
                    <a:pt x="1" y="2"/>
                  </a:lnTo>
                  <a:lnTo>
                    <a:pt x="1" y="0"/>
                  </a:lnTo>
                  <a:lnTo>
                    <a:pt x="0" y="0"/>
                  </a:lnTo>
                  <a:lnTo>
                    <a:pt x="1" y="0"/>
                  </a:lnTo>
                  <a:lnTo>
                    <a:pt x="2"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6" name="Rectangle 28"/>
            <p:cNvSpPr>
              <a:spLocks noChangeArrowheads="1"/>
            </p:cNvSpPr>
            <p:nvPr/>
          </p:nvSpPr>
          <p:spPr bwMode="auto">
            <a:xfrm>
              <a:off x="3663" y="2334"/>
              <a:ext cx="1" cy="1"/>
            </a:xfrm>
            <a:prstGeom prst="rect">
              <a:avLst/>
            </a:prstGeom>
            <a:blipFill dpi="0" rotWithShape="0">
              <a:blip r:embed="rId3" cstate="print"/>
              <a:srcRect/>
              <a:tile tx="0" ty="0" sx="100000" sy="100000" flip="none" algn="tl"/>
            </a:blip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357" name="Freeform 29"/>
            <p:cNvSpPr>
              <a:spLocks/>
            </p:cNvSpPr>
            <p:nvPr/>
          </p:nvSpPr>
          <p:spPr bwMode="auto">
            <a:xfrm>
              <a:off x="3332" y="2293"/>
              <a:ext cx="162" cy="62"/>
            </a:xfrm>
            <a:custGeom>
              <a:avLst/>
              <a:gdLst/>
              <a:ahLst/>
              <a:cxnLst>
                <a:cxn ang="0">
                  <a:pos x="15" y="9"/>
                </a:cxn>
                <a:cxn ang="0">
                  <a:pos x="6" y="48"/>
                </a:cxn>
                <a:cxn ang="0">
                  <a:pos x="0" y="67"/>
                </a:cxn>
                <a:cxn ang="0">
                  <a:pos x="4" y="99"/>
                </a:cxn>
                <a:cxn ang="0">
                  <a:pos x="18" y="124"/>
                </a:cxn>
                <a:cxn ang="0">
                  <a:pos x="37" y="94"/>
                </a:cxn>
                <a:cxn ang="0">
                  <a:pos x="60" y="82"/>
                </a:cxn>
                <a:cxn ang="0">
                  <a:pos x="83" y="84"/>
                </a:cxn>
                <a:cxn ang="0">
                  <a:pos x="142" y="87"/>
                </a:cxn>
                <a:cxn ang="0">
                  <a:pos x="162" y="66"/>
                </a:cxn>
                <a:cxn ang="0">
                  <a:pos x="112" y="42"/>
                </a:cxn>
                <a:cxn ang="0">
                  <a:pos x="122" y="30"/>
                </a:cxn>
                <a:cxn ang="0">
                  <a:pos x="99" y="19"/>
                </a:cxn>
                <a:cxn ang="0">
                  <a:pos x="35" y="0"/>
                </a:cxn>
                <a:cxn ang="0">
                  <a:pos x="15" y="9"/>
                </a:cxn>
              </a:cxnLst>
              <a:rect l="0" t="0" r="r" b="b"/>
              <a:pathLst>
                <a:path w="162" h="124">
                  <a:moveTo>
                    <a:pt x="15" y="9"/>
                  </a:moveTo>
                  <a:lnTo>
                    <a:pt x="6" y="48"/>
                  </a:lnTo>
                  <a:lnTo>
                    <a:pt x="0" y="67"/>
                  </a:lnTo>
                  <a:lnTo>
                    <a:pt x="4" y="99"/>
                  </a:lnTo>
                  <a:lnTo>
                    <a:pt x="18" y="124"/>
                  </a:lnTo>
                  <a:lnTo>
                    <a:pt x="37" y="94"/>
                  </a:lnTo>
                  <a:lnTo>
                    <a:pt x="60" y="82"/>
                  </a:lnTo>
                  <a:lnTo>
                    <a:pt x="83" y="84"/>
                  </a:lnTo>
                  <a:lnTo>
                    <a:pt x="142" y="87"/>
                  </a:lnTo>
                  <a:lnTo>
                    <a:pt x="162" y="66"/>
                  </a:lnTo>
                  <a:lnTo>
                    <a:pt x="112" y="42"/>
                  </a:lnTo>
                  <a:lnTo>
                    <a:pt x="122" y="30"/>
                  </a:lnTo>
                  <a:lnTo>
                    <a:pt x="99" y="19"/>
                  </a:lnTo>
                  <a:lnTo>
                    <a:pt x="35" y="0"/>
                  </a:lnTo>
                  <a:lnTo>
                    <a:pt x="15" y="9"/>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8" name="Freeform 30"/>
            <p:cNvSpPr>
              <a:spLocks/>
            </p:cNvSpPr>
            <p:nvPr/>
          </p:nvSpPr>
          <p:spPr bwMode="auto">
            <a:xfrm>
              <a:off x="3216" y="2293"/>
              <a:ext cx="131" cy="49"/>
            </a:xfrm>
            <a:custGeom>
              <a:avLst/>
              <a:gdLst/>
              <a:ahLst/>
              <a:cxnLst>
                <a:cxn ang="0">
                  <a:pos x="131" y="8"/>
                </a:cxn>
                <a:cxn ang="0">
                  <a:pos x="122" y="47"/>
                </a:cxn>
                <a:cxn ang="0">
                  <a:pos x="116" y="66"/>
                </a:cxn>
                <a:cxn ang="0">
                  <a:pos x="120" y="98"/>
                </a:cxn>
                <a:cxn ang="0">
                  <a:pos x="74" y="95"/>
                </a:cxn>
                <a:cxn ang="0">
                  <a:pos x="27" y="94"/>
                </a:cxn>
                <a:cxn ang="0">
                  <a:pos x="0" y="78"/>
                </a:cxn>
                <a:cxn ang="0">
                  <a:pos x="24" y="67"/>
                </a:cxn>
                <a:cxn ang="0">
                  <a:pos x="61" y="70"/>
                </a:cxn>
                <a:cxn ang="0">
                  <a:pos x="97" y="71"/>
                </a:cxn>
                <a:cxn ang="0">
                  <a:pos x="81" y="31"/>
                </a:cxn>
                <a:cxn ang="0">
                  <a:pos x="62" y="12"/>
                </a:cxn>
                <a:cxn ang="0">
                  <a:pos x="58" y="0"/>
                </a:cxn>
                <a:cxn ang="0">
                  <a:pos x="103" y="5"/>
                </a:cxn>
                <a:cxn ang="0">
                  <a:pos x="131" y="8"/>
                </a:cxn>
              </a:cxnLst>
              <a:rect l="0" t="0" r="r" b="b"/>
              <a:pathLst>
                <a:path w="131" h="98">
                  <a:moveTo>
                    <a:pt x="131" y="8"/>
                  </a:moveTo>
                  <a:lnTo>
                    <a:pt x="122" y="47"/>
                  </a:lnTo>
                  <a:lnTo>
                    <a:pt x="116" y="66"/>
                  </a:lnTo>
                  <a:lnTo>
                    <a:pt x="120" y="98"/>
                  </a:lnTo>
                  <a:lnTo>
                    <a:pt x="74" y="95"/>
                  </a:lnTo>
                  <a:lnTo>
                    <a:pt x="27" y="94"/>
                  </a:lnTo>
                  <a:lnTo>
                    <a:pt x="0" y="78"/>
                  </a:lnTo>
                  <a:lnTo>
                    <a:pt x="24" y="67"/>
                  </a:lnTo>
                  <a:lnTo>
                    <a:pt x="61" y="70"/>
                  </a:lnTo>
                  <a:lnTo>
                    <a:pt x="97" y="71"/>
                  </a:lnTo>
                  <a:lnTo>
                    <a:pt x="81" y="31"/>
                  </a:lnTo>
                  <a:lnTo>
                    <a:pt x="62" y="12"/>
                  </a:lnTo>
                  <a:lnTo>
                    <a:pt x="58" y="0"/>
                  </a:lnTo>
                  <a:lnTo>
                    <a:pt x="103" y="5"/>
                  </a:lnTo>
                  <a:lnTo>
                    <a:pt x="131" y="8"/>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59" name="Freeform 31"/>
            <p:cNvSpPr>
              <a:spLocks/>
            </p:cNvSpPr>
            <p:nvPr/>
          </p:nvSpPr>
          <p:spPr bwMode="auto">
            <a:xfrm>
              <a:off x="3333" y="2237"/>
              <a:ext cx="9" cy="3"/>
            </a:xfrm>
            <a:custGeom>
              <a:avLst/>
              <a:gdLst/>
              <a:ahLst/>
              <a:cxnLst>
                <a:cxn ang="0">
                  <a:pos x="5" y="5"/>
                </a:cxn>
                <a:cxn ang="0">
                  <a:pos x="0" y="4"/>
                </a:cxn>
                <a:cxn ang="0">
                  <a:pos x="0" y="0"/>
                </a:cxn>
                <a:cxn ang="0">
                  <a:pos x="9" y="2"/>
                </a:cxn>
                <a:cxn ang="0">
                  <a:pos x="5" y="5"/>
                </a:cxn>
              </a:cxnLst>
              <a:rect l="0" t="0" r="r" b="b"/>
              <a:pathLst>
                <a:path w="9" h="5">
                  <a:moveTo>
                    <a:pt x="5" y="5"/>
                  </a:moveTo>
                  <a:lnTo>
                    <a:pt x="0" y="4"/>
                  </a:lnTo>
                  <a:lnTo>
                    <a:pt x="0" y="0"/>
                  </a:lnTo>
                  <a:lnTo>
                    <a:pt x="9" y="2"/>
                  </a:lnTo>
                  <a:lnTo>
                    <a:pt x="5" y="5"/>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0" name="Freeform 32"/>
            <p:cNvSpPr>
              <a:spLocks/>
            </p:cNvSpPr>
            <p:nvPr/>
          </p:nvSpPr>
          <p:spPr bwMode="auto">
            <a:xfrm>
              <a:off x="3355" y="2239"/>
              <a:ext cx="8" cy="1"/>
            </a:xfrm>
            <a:custGeom>
              <a:avLst/>
              <a:gdLst/>
              <a:ahLst/>
              <a:cxnLst>
                <a:cxn ang="0">
                  <a:pos x="8" y="3"/>
                </a:cxn>
                <a:cxn ang="0">
                  <a:pos x="8" y="2"/>
                </a:cxn>
                <a:cxn ang="0">
                  <a:pos x="0" y="0"/>
                </a:cxn>
                <a:cxn ang="0">
                  <a:pos x="7" y="3"/>
                </a:cxn>
                <a:cxn ang="0">
                  <a:pos x="8" y="3"/>
                </a:cxn>
              </a:cxnLst>
              <a:rect l="0" t="0" r="r" b="b"/>
              <a:pathLst>
                <a:path w="8" h="3">
                  <a:moveTo>
                    <a:pt x="8" y="3"/>
                  </a:moveTo>
                  <a:lnTo>
                    <a:pt x="8" y="2"/>
                  </a:lnTo>
                  <a:lnTo>
                    <a:pt x="0" y="0"/>
                  </a:lnTo>
                  <a:lnTo>
                    <a:pt x="7" y="3"/>
                  </a:lnTo>
                  <a:lnTo>
                    <a:pt x="8" y="3"/>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1" name="Freeform 33"/>
            <p:cNvSpPr>
              <a:spLocks/>
            </p:cNvSpPr>
            <p:nvPr/>
          </p:nvSpPr>
          <p:spPr bwMode="auto">
            <a:xfrm>
              <a:off x="3806" y="2452"/>
              <a:ext cx="8" cy="9"/>
            </a:xfrm>
            <a:custGeom>
              <a:avLst/>
              <a:gdLst/>
              <a:ahLst/>
              <a:cxnLst>
                <a:cxn ang="0">
                  <a:pos x="5" y="18"/>
                </a:cxn>
                <a:cxn ang="0">
                  <a:pos x="0" y="9"/>
                </a:cxn>
                <a:cxn ang="0">
                  <a:pos x="8" y="0"/>
                </a:cxn>
                <a:cxn ang="0">
                  <a:pos x="5" y="18"/>
                </a:cxn>
              </a:cxnLst>
              <a:rect l="0" t="0" r="r" b="b"/>
              <a:pathLst>
                <a:path w="8" h="18">
                  <a:moveTo>
                    <a:pt x="5" y="18"/>
                  </a:moveTo>
                  <a:lnTo>
                    <a:pt x="0" y="9"/>
                  </a:lnTo>
                  <a:lnTo>
                    <a:pt x="8" y="0"/>
                  </a:lnTo>
                  <a:lnTo>
                    <a:pt x="5" y="18"/>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2" name="Freeform 34"/>
            <p:cNvSpPr>
              <a:spLocks/>
            </p:cNvSpPr>
            <p:nvPr/>
          </p:nvSpPr>
          <p:spPr bwMode="auto">
            <a:xfrm>
              <a:off x="2658" y="2534"/>
              <a:ext cx="149" cy="83"/>
            </a:xfrm>
            <a:custGeom>
              <a:avLst/>
              <a:gdLst/>
              <a:ahLst/>
              <a:cxnLst>
                <a:cxn ang="0">
                  <a:pos x="32" y="84"/>
                </a:cxn>
                <a:cxn ang="0">
                  <a:pos x="0" y="40"/>
                </a:cxn>
                <a:cxn ang="0">
                  <a:pos x="6" y="16"/>
                </a:cxn>
                <a:cxn ang="0">
                  <a:pos x="6" y="8"/>
                </a:cxn>
                <a:cxn ang="0">
                  <a:pos x="12" y="0"/>
                </a:cxn>
                <a:cxn ang="0">
                  <a:pos x="77" y="14"/>
                </a:cxn>
                <a:cxn ang="0">
                  <a:pos x="104" y="9"/>
                </a:cxn>
                <a:cxn ang="0">
                  <a:pos x="126" y="46"/>
                </a:cxn>
                <a:cxn ang="0">
                  <a:pos x="149" y="83"/>
                </a:cxn>
                <a:cxn ang="0">
                  <a:pos x="132" y="89"/>
                </a:cxn>
                <a:cxn ang="0">
                  <a:pos x="133" y="126"/>
                </a:cxn>
                <a:cxn ang="0">
                  <a:pos x="129" y="168"/>
                </a:cxn>
                <a:cxn ang="0">
                  <a:pos x="108" y="131"/>
                </a:cxn>
                <a:cxn ang="0">
                  <a:pos x="108" y="146"/>
                </a:cxn>
                <a:cxn ang="0">
                  <a:pos x="97" y="130"/>
                </a:cxn>
                <a:cxn ang="0">
                  <a:pos x="85" y="98"/>
                </a:cxn>
                <a:cxn ang="0">
                  <a:pos x="54" y="73"/>
                </a:cxn>
                <a:cxn ang="0">
                  <a:pos x="27" y="47"/>
                </a:cxn>
                <a:cxn ang="0">
                  <a:pos x="37" y="74"/>
                </a:cxn>
                <a:cxn ang="0">
                  <a:pos x="32" y="84"/>
                </a:cxn>
              </a:cxnLst>
              <a:rect l="0" t="0" r="r" b="b"/>
              <a:pathLst>
                <a:path w="149" h="168">
                  <a:moveTo>
                    <a:pt x="32" y="84"/>
                  </a:moveTo>
                  <a:lnTo>
                    <a:pt x="0" y="40"/>
                  </a:lnTo>
                  <a:lnTo>
                    <a:pt x="6" y="16"/>
                  </a:lnTo>
                  <a:lnTo>
                    <a:pt x="6" y="8"/>
                  </a:lnTo>
                  <a:lnTo>
                    <a:pt x="12" y="0"/>
                  </a:lnTo>
                  <a:lnTo>
                    <a:pt x="77" y="14"/>
                  </a:lnTo>
                  <a:lnTo>
                    <a:pt x="104" y="9"/>
                  </a:lnTo>
                  <a:lnTo>
                    <a:pt x="126" y="46"/>
                  </a:lnTo>
                  <a:lnTo>
                    <a:pt x="149" y="83"/>
                  </a:lnTo>
                  <a:lnTo>
                    <a:pt x="132" y="89"/>
                  </a:lnTo>
                  <a:lnTo>
                    <a:pt x="133" y="126"/>
                  </a:lnTo>
                  <a:lnTo>
                    <a:pt x="129" y="168"/>
                  </a:lnTo>
                  <a:lnTo>
                    <a:pt x="108" y="131"/>
                  </a:lnTo>
                  <a:lnTo>
                    <a:pt x="108" y="146"/>
                  </a:lnTo>
                  <a:lnTo>
                    <a:pt x="97" y="130"/>
                  </a:lnTo>
                  <a:lnTo>
                    <a:pt x="85" y="98"/>
                  </a:lnTo>
                  <a:lnTo>
                    <a:pt x="54" y="73"/>
                  </a:lnTo>
                  <a:lnTo>
                    <a:pt x="27" y="47"/>
                  </a:lnTo>
                  <a:lnTo>
                    <a:pt x="37" y="74"/>
                  </a:lnTo>
                  <a:lnTo>
                    <a:pt x="32" y="84"/>
                  </a:lnTo>
                  <a:close/>
                </a:path>
              </a:pathLst>
            </a:custGeom>
            <a:solidFill>
              <a:srgbClr val="008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3" name="Freeform 35"/>
            <p:cNvSpPr>
              <a:spLocks/>
            </p:cNvSpPr>
            <p:nvPr/>
          </p:nvSpPr>
          <p:spPr bwMode="auto">
            <a:xfrm>
              <a:off x="3391" y="2491"/>
              <a:ext cx="7" cy="6"/>
            </a:xfrm>
            <a:custGeom>
              <a:avLst/>
              <a:gdLst/>
              <a:ahLst/>
              <a:cxnLst>
                <a:cxn ang="0">
                  <a:pos x="1" y="0"/>
                </a:cxn>
                <a:cxn ang="0">
                  <a:pos x="0" y="1"/>
                </a:cxn>
                <a:cxn ang="0">
                  <a:pos x="7" y="11"/>
                </a:cxn>
                <a:cxn ang="0">
                  <a:pos x="1" y="0"/>
                </a:cxn>
              </a:cxnLst>
              <a:rect l="0" t="0" r="r" b="b"/>
              <a:pathLst>
                <a:path w="7" h="11">
                  <a:moveTo>
                    <a:pt x="1" y="0"/>
                  </a:moveTo>
                  <a:lnTo>
                    <a:pt x="0" y="1"/>
                  </a:lnTo>
                  <a:lnTo>
                    <a:pt x="7" y="11"/>
                  </a:lnTo>
                  <a:lnTo>
                    <a:pt x="1"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4" name="Freeform 36"/>
            <p:cNvSpPr>
              <a:spLocks/>
            </p:cNvSpPr>
            <p:nvPr/>
          </p:nvSpPr>
          <p:spPr bwMode="auto">
            <a:xfrm>
              <a:off x="3868" y="2472"/>
              <a:ext cx="11" cy="7"/>
            </a:xfrm>
            <a:custGeom>
              <a:avLst/>
              <a:gdLst/>
              <a:ahLst/>
              <a:cxnLst>
                <a:cxn ang="0">
                  <a:pos x="10" y="10"/>
                </a:cxn>
                <a:cxn ang="0">
                  <a:pos x="4" y="12"/>
                </a:cxn>
                <a:cxn ang="0">
                  <a:pos x="0" y="0"/>
                </a:cxn>
                <a:cxn ang="0">
                  <a:pos x="11" y="8"/>
                </a:cxn>
                <a:cxn ang="0">
                  <a:pos x="10" y="10"/>
                </a:cxn>
              </a:cxnLst>
              <a:rect l="0" t="0" r="r" b="b"/>
              <a:pathLst>
                <a:path w="11" h="12">
                  <a:moveTo>
                    <a:pt x="10" y="10"/>
                  </a:moveTo>
                  <a:lnTo>
                    <a:pt x="4" y="12"/>
                  </a:lnTo>
                  <a:lnTo>
                    <a:pt x="0" y="0"/>
                  </a:lnTo>
                  <a:lnTo>
                    <a:pt x="11" y="8"/>
                  </a:lnTo>
                  <a:lnTo>
                    <a:pt x="10" y="1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5" name="Freeform 37"/>
            <p:cNvSpPr>
              <a:spLocks/>
            </p:cNvSpPr>
            <p:nvPr/>
          </p:nvSpPr>
          <p:spPr bwMode="auto">
            <a:xfrm>
              <a:off x="3794" y="2410"/>
              <a:ext cx="8" cy="10"/>
            </a:xfrm>
            <a:custGeom>
              <a:avLst/>
              <a:gdLst/>
              <a:ahLst/>
              <a:cxnLst>
                <a:cxn ang="0">
                  <a:pos x="8" y="15"/>
                </a:cxn>
                <a:cxn ang="0">
                  <a:pos x="2" y="22"/>
                </a:cxn>
                <a:cxn ang="0">
                  <a:pos x="0" y="2"/>
                </a:cxn>
                <a:cxn ang="0">
                  <a:pos x="6" y="0"/>
                </a:cxn>
                <a:cxn ang="0">
                  <a:pos x="8" y="15"/>
                </a:cxn>
              </a:cxnLst>
              <a:rect l="0" t="0" r="r" b="b"/>
              <a:pathLst>
                <a:path w="8" h="22">
                  <a:moveTo>
                    <a:pt x="8" y="15"/>
                  </a:moveTo>
                  <a:lnTo>
                    <a:pt x="2" y="22"/>
                  </a:lnTo>
                  <a:lnTo>
                    <a:pt x="0" y="2"/>
                  </a:lnTo>
                  <a:lnTo>
                    <a:pt x="6" y="0"/>
                  </a:lnTo>
                  <a:lnTo>
                    <a:pt x="8" y="15"/>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6" name="Freeform 38"/>
            <p:cNvSpPr>
              <a:spLocks/>
            </p:cNvSpPr>
            <p:nvPr/>
          </p:nvSpPr>
          <p:spPr bwMode="auto">
            <a:xfrm>
              <a:off x="2478" y="2441"/>
              <a:ext cx="104" cy="35"/>
            </a:xfrm>
            <a:custGeom>
              <a:avLst/>
              <a:gdLst/>
              <a:ahLst/>
              <a:cxnLst>
                <a:cxn ang="0">
                  <a:pos x="103" y="55"/>
                </a:cxn>
                <a:cxn ang="0">
                  <a:pos x="92" y="69"/>
                </a:cxn>
                <a:cxn ang="0">
                  <a:pos x="68" y="64"/>
                </a:cxn>
                <a:cxn ang="0">
                  <a:pos x="34" y="50"/>
                </a:cxn>
                <a:cxn ang="0">
                  <a:pos x="0" y="38"/>
                </a:cxn>
                <a:cxn ang="0">
                  <a:pos x="38" y="0"/>
                </a:cxn>
                <a:cxn ang="0">
                  <a:pos x="67" y="22"/>
                </a:cxn>
                <a:cxn ang="0">
                  <a:pos x="104" y="29"/>
                </a:cxn>
                <a:cxn ang="0">
                  <a:pos x="103" y="55"/>
                </a:cxn>
              </a:cxnLst>
              <a:rect l="0" t="0" r="r" b="b"/>
              <a:pathLst>
                <a:path w="104" h="69">
                  <a:moveTo>
                    <a:pt x="103" y="55"/>
                  </a:moveTo>
                  <a:lnTo>
                    <a:pt x="92" y="69"/>
                  </a:lnTo>
                  <a:lnTo>
                    <a:pt x="68" y="64"/>
                  </a:lnTo>
                  <a:lnTo>
                    <a:pt x="34" y="50"/>
                  </a:lnTo>
                  <a:lnTo>
                    <a:pt x="0" y="38"/>
                  </a:lnTo>
                  <a:lnTo>
                    <a:pt x="38" y="0"/>
                  </a:lnTo>
                  <a:lnTo>
                    <a:pt x="67" y="22"/>
                  </a:lnTo>
                  <a:lnTo>
                    <a:pt x="104" y="29"/>
                  </a:lnTo>
                  <a:lnTo>
                    <a:pt x="103" y="55"/>
                  </a:lnTo>
                  <a:close/>
                </a:path>
              </a:pathLst>
            </a:custGeom>
            <a:solidFill>
              <a:srgbClr val="008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7" name="Freeform 39"/>
            <p:cNvSpPr>
              <a:spLocks/>
            </p:cNvSpPr>
            <p:nvPr/>
          </p:nvSpPr>
          <p:spPr bwMode="auto">
            <a:xfrm>
              <a:off x="3767" y="2502"/>
              <a:ext cx="9" cy="6"/>
            </a:xfrm>
            <a:custGeom>
              <a:avLst/>
              <a:gdLst/>
              <a:ahLst/>
              <a:cxnLst>
                <a:cxn ang="0">
                  <a:pos x="9" y="5"/>
                </a:cxn>
                <a:cxn ang="0">
                  <a:pos x="9" y="4"/>
                </a:cxn>
                <a:cxn ang="0">
                  <a:pos x="9" y="3"/>
                </a:cxn>
                <a:cxn ang="0">
                  <a:pos x="9" y="1"/>
                </a:cxn>
                <a:cxn ang="0">
                  <a:pos x="9" y="0"/>
                </a:cxn>
                <a:cxn ang="0">
                  <a:pos x="8" y="0"/>
                </a:cxn>
                <a:cxn ang="0">
                  <a:pos x="6" y="0"/>
                </a:cxn>
                <a:cxn ang="0">
                  <a:pos x="5" y="0"/>
                </a:cxn>
                <a:cxn ang="0">
                  <a:pos x="5" y="1"/>
                </a:cxn>
                <a:cxn ang="0">
                  <a:pos x="4" y="1"/>
                </a:cxn>
                <a:cxn ang="0">
                  <a:pos x="4" y="3"/>
                </a:cxn>
                <a:cxn ang="0">
                  <a:pos x="4" y="4"/>
                </a:cxn>
                <a:cxn ang="0">
                  <a:pos x="3" y="4"/>
                </a:cxn>
                <a:cxn ang="0">
                  <a:pos x="3" y="5"/>
                </a:cxn>
                <a:cxn ang="0">
                  <a:pos x="3" y="6"/>
                </a:cxn>
                <a:cxn ang="0">
                  <a:pos x="2" y="8"/>
                </a:cxn>
                <a:cxn ang="0">
                  <a:pos x="2" y="9"/>
                </a:cxn>
                <a:cxn ang="0">
                  <a:pos x="3" y="9"/>
                </a:cxn>
                <a:cxn ang="0">
                  <a:pos x="3" y="10"/>
                </a:cxn>
                <a:cxn ang="0">
                  <a:pos x="2" y="10"/>
                </a:cxn>
                <a:cxn ang="0">
                  <a:pos x="2" y="12"/>
                </a:cxn>
                <a:cxn ang="0">
                  <a:pos x="0" y="12"/>
                </a:cxn>
                <a:cxn ang="0">
                  <a:pos x="0" y="13"/>
                </a:cxn>
                <a:cxn ang="0">
                  <a:pos x="2" y="13"/>
                </a:cxn>
                <a:cxn ang="0">
                  <a:pos x="2" y="12"/>
                </a:cxn>
                <a:cxn ang="0">
                  <a:pos x="2" y="13"/>
                </a:cxn>
                <a:cxn ang="0">
                  <a:pos x="3" y="13"/>
                </a:cxn>
                <a:cxn ang="0">
                  <a:pos x="3" y="12"/>
                </a:cxn>
                <a:cxn ang="0">
                  <a:pos x="3" y="13"/>
                </a:cxn>
                <a:cxn ang="0">
                  <a:pos x="4" y="13"/>
                </a:cxn>
                <a:cxn ang="0">
                  <a:pos x="4" y="12"/>
                </a:cxn>
                <a:cxn ang="0">
                  <a:pos x="5" y="12"/>
                </a:cxn>
                <a:cxn ang="0">
                  <a:pos x="6" y="12"/>
                </a:cxn>
                <a:cxn ang="0">
                  <a:pos x="6" y="10"/>
                </a:cxn>
                <a:cxn ang="0">
                  <a:pos x="8" y="10"/>
                </a:cxn>
                <a:cxn ang="0">
                  <a:pos x="8" y="9"/>
                </a:cxn>
                <a:cxn ang="0">
                  <a:pos x="9" y="9"/>
                </a:cxn>
                <a:cxn ang="0">
                  <a:pos x="9" y="8"/>
                </a:cxn>
                <a:cxn ang="0">
                  <a:pos x="8" y="8"/>
                </a:cxn>
                <a:cxn ang="0">
                  <a:pos x="8" y="6"/>
                </a:cxn>
                <a:cxn ang="0">
                  <a:pos x="9" y="6"/>
                </a:cxn>
                <a:cxn ang="0">
                  <a:pos x="9" y="5"/>
                </a:cxn>
              </a:cxnLst>
              <a:rect l="0" t="0" r="r" b="b"/>
              <a:pathLst>
                <a:path w="9" h="13">
                  <a:moveTo>
                    <a:pt x="9" y="5"/>
                  </a:moveTo>
                  <a:lnTo>
                    <a:pt x="9" y="4"/>
                  </a:lnTo>
                  <a:lnTo>
                    <a:pt x="9" y="3"/>
                  </a:lnTo>
                  <a:lnTo>
                    <a:pt x="9" y="1"/>
                  </a:lnTo>
                  <a:lnTo>
                    <a:pt x="9" y="0"/>
                  </a:lnTo>
                  <a:lnTo>
                    <a:pt x="8" y="0"/>
                  </a:lnTo>
                  <a:lnTo>
                    <a:pt x="6" y="0"/>
                  </a:lnTo>
                  <a:lnTo>
                    <a:pt x="5" y="0"/>
                  </a:lnTo>
                  <a:lnTo>
                    <a:pt x="5" y="1"/>
                  </a:lnTo>
                  <a:lnTo>
                    <a:pt x="4" y="1"/>
                  </a:lnTo>
                  <a:lnTo>
                    <a:pt x="4" y="3"/>
                  </a:lnTo>
                  <a:lnTo>
                    <a:pt x="4" y="4"/>
                  </a:lnTo>
                  <a:lnTo>
                    <a:pt x="3" y="4"/>
                  </a:lnTo>
                  <a:lnTo>
                    <a:pt x="3" y="5"/>
                  </a:lnTo>
                  <a:lnTo>
                    <a:pt x="3" y="6"/>
                  </a:lnTo>
                  <a:lnTo>
                    <a:pt x="2" y="8"/>
                  </a:lnTo>
                  <a:lnTo>
                    <a:pt x="2" y="9"/>
                  </a:lnTo>
                  <a:lnTo>
                    <a:pt x="3" y="9"/>
                  </a:lnTo>
                  <a:lnTo>
                    <a:pt x="3" y="10"/>
                  </a:lnTo>
                  <a:lnTo>
                    <a:pt x="2" y="10"/>
                  </a:lnTo>
                  <a:lnTo>
                    <a:pt x="2" y="12"/>
                  </a:lnTo>
                  <a:lnTo>
                    <a:pt x="0" y="12"/>
                  </a:lnTo>
                  <a:lnTo>
                    <a:pt x="0" y="13"/>
                  </a:lnTo>
                  <a:lnTo>
                    <a:pt x="2" y="13"/>
                  </a:lnTo>
                  <a:lnTo>
                    <a:pt x="2" y="12"/>
                  </a:lnTo>
                  <a:lnTo>
                    <a:pt x="2" y="13"/>
                  </a:lnTo>
                  <a:lnTo>
                    <a:pt x="3" y="13"/>
                  </a:lnTo>
                  <a:lnTo>
                    <a:pt x="3" y="12"/>
                  </a:lnTo>
                  <a:lnTo>
                    <a:pt x="3" y="13"/>
                  </a:lnTo>
                  <a:lnTo>
                    <a:pt x="4" y="13"/>
                  </a:lnTo>
                  <a:lnTo>
                    <a:pt x="4" y="12"/>
                  </a:lnTo>
                  <a:lnTo>
                    <a:pt x="5" y="12"/>
                  </a:lnTo>
                  <a:lnTo>
                    <a:pt x="6" y="12"/>
                  </a:lnTo>
                  <a:lnTo>
                    <a:pt x="6" y="10"/>
                  </a:lnTo>
                  <a:lnTo>
                    <a:pt x="8" y="10"/>
                  </a:lnTo>
                  <a:lnTo>
                    <a:pt x="8" y="9"/>
                  </a:lnTo>
                  <a:lnTo>
                    <a:pt x="9" y="9"/>
                  </a:lnTo>
                  <a:lnTo>
                    <a:pt x="9" y="8"/>
                  </a:lnTo>
                  <a:lnTo>
                    <a:pt x="8" y="8"/>
                  </a:lnTo>
                  <a:lnTo>
                    <a:pt x="8" y="6"/>
                  </a:lnTo>
                  <a:lnTo>
                    <a:pt x="9" y="6"/>
                  </a:lnTo>
                  <a:lnTo>
                    <a:pt x="9" y="5"/>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68" name="Rectangle 40"/>
            <p:cNvSpPr>
              <a:spLocks noChangeArrowheads="1"/>
            </p:cNvSpPr>
            <p:nvPr/>
          </p:nvSpPr>
          <p:spPr bwMode="auto">
            <a:xfrm>
              <a:off x="3777" y="2500"/>
              <a:ext cx="1" cy="1"/>
            </a:xfrm>
            <a:prstGeom prst="rect">
              <a:avLst/>
            </a:prstGeom>
            <a:solidFill>
              <a:srgbClr val="FF0000"/>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369" name="Freeform 41"/>
            <p:cNvSpPr>
              <a:spLocks/>
            </p:cNvSpPr>
            <p:nvPr/>
          </p:nvSpPr>
          <p:spPr bwMode="auto">
            <a:xfrm>
              <a:off x="2516" y="2401"/>
              <a:ext cx="286" cy="80"/>
            </a:xfrm>
            <a:custGeom>
              <a:avLst/>
              <a:gdLst/>
              <a:ahLst/>
              <a:cxnLst>
                <a:cxn ang="0">
                  <a:pos x="155" y="109"/>
                </a:cxn>
                <a:cxn ang="0">
                  <a:pos x="138" y="115"/>
                </a:cxn>
                <a:cxn ang="0">
                  <a:pos x="115" y="126"/>
                </a:cxn>
                <a:cxn ang="0">
                  <a:pos x="98" y="159"/>
                </a:cxn>
                <a:cxn ang="0">
                  <a:pos x="87" y="159"/>
                </a:cxn>
                <a:cxn ang="0">
                  <a:pos x="83" y="139"/>
                </a:cxn>
                <a:cxn ang="0">
                  <a:pos x="65" y="135"/>
                </a:cxn>
                <a:cxn ang="0">
                  <a:pos x="66" y="109"/>
                </a:cxn>
                <a:cxn ang="0">
                  <a:pos x="29" y="102"/>
                </a:cxn>
                <a:cxn ang="0">
                  <a:pos x="0" y="80"/>
                </a:cxn>
                <a:cxn ang="0">
                  <a:pos x="27" y="35"/>
                </a:cxn>
                <a:cxn ang="0">
                  <a:pos x="59" y="10"/>
                </a:cxn>
                <a:cxn ang="0">
                  <a:pos x="65" y="9"/>
                </a:cxn>
                <a:cxn ang="0">
                  <a:pos x="109" y="5"/>
                </a:cxn>
                <a:cxn ang="0">
                  <a:pos x="152" y="0"/>
                </a:cxn>
                <a:cxn ang="0">
                  <a:pos x="190" y="1"/>
                </a:cxn>
                <a:cxn ang="0">
                  <a:pos x="226" y="2"/>
                </a:cxn>
                <a:cxn ang="0">
                  <a:pos x="256" y="24"/>
                </a:cxn>
                <a:cxn ang="0">
                  <a:pos x="247" y="20"/>
                </a:cxn>
                <a:cxn ang="0">
                  <a:pos x="253" y="31"/>
                </a:cxn>
                <a:cxn ang="0">
                  <a:pos x="268" y="31"/>
                </a:cxn>
                <a:cxn ang="0">
                  <a:pos x="286" y="49"/>
                </a:cxn>
                <a:cxn ang="0">
                  <a:pos x="249" y="56"/>
                </a:cxn>
                <a:cxn ang="0">
                  <a:pos x="211" y="63"/>
                </a:cxn>
                <a:cxn ang="0">
                  <a:pos x="155" y="109"/>
                </a:cxn>
              </a:cxnLst>
              <a:rect l="0" t="0" r="r" b="b"/>
              <a:pathLst>
                <a:path w="286" h="159">
                  <a:moveTo>
                    <a:pt x="155" y="109"/>
                  </a:moveTo>
                  <a:lnTo>
                    <a:pt x="138" y="115"/>
                  </a:lnTo>
                  <a:lnTo>
                    <a:pt x="115" y="126"/>
                  </a:lnTo>
                  <a:lnTo>
                    <a:pt x="98" y="159"/>
                  </a:lnTo>
                  <a:lnTo>
                    <a:pt x="87" y="159"/>
                  </a:lnTo>
                  <a:lnTo>
                    <a:pt x="83" y="139"/>
                  </a:lnTo>
                  <a:lnTo>
                    <a:pt x="65" y="135"/>
                  </a:lnTo>
                  <a:lnTo>
                    <a:pt x="66" y="109"/>
                  </a:lnTo>
                  <a:lnTo>
                    <a:pt x="29" y="102"/>
                  </a:lnTo>
                  <a:lnTo>
                    <a:pt x="0" y="80"/>
                  </a:lnTo>
                  <a:lnTo>
                    <a:pt x="27" y="35"/>
                  </a:lnTo>
                  <a:lnTo>
                    <a:pt x="59" y="10"/>
                  </a:lnTo>
                  <a:lnTo>
                    <a:pt x="65" y="9"/>
                  </a:lnTo>
                  <a:lnTo>
                    <a:pt x="109" y="5"/>
                  </a:lnTo>
                  <a:lnTo>
                    <a:pt x="152" y="0"/>
                  </a:lnTo>
                  <a:lnTo>
                    <a:pt x="190" y="1"/>
                  </a:lnTo>
                  <a:lnTo>
                    <a:pt x="226" y="2"/>
                  </a:lnTo>
                  <a:lnTo>
                    <a:pt x="256" y="24"/>
                  </a:lnTo>
                  <a:lnTo>
                    <a:pt x="247" y="20"/>
                  </a:lnTo>
                  <a:lnTo>
                    <a:pt x="253" y="31"/>
                  </a:lnTo>
                  <a:lnTo>
                    <a:pt x="268" y="31"/>
                  </a:lnTo>
                  <a:lnTo>
                    <a:pt x="286" y="49"/>
                  </a:lnTo>
                  <a:lnTo>
                    <a:pt x="249" y="56"/>
                  </a:lnTo>
                  <a:lnTo>
                    <a:pt x="211" y="63"/>
                  </a:lnTo>
                  <a:lnTo>
                    <a:pt x="155" y="109"/>
                  </a:lnTo>
                  <a:close/>
                </a:path>
              </a:pathLst>
            </a:custGeom>
            <a:solidFill>
              <a:srgbClr val="008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0" name="Freeform 42"/>
            <p:cNvSpPr>
              <a:spLocks/>
            </p:cNvSpPr>
            <p:nvPr/>
          </p:nvSpPr>
          <p:spPr bwMode="auto">
            <a:xfrm>
              <a:off x="3801" y="2431"/>
              <a:ext cx="18" cy="10"/>
            </a:xfrm>
            <a:custGeom>
              <a:avLst/>
              <a:gdLst/>
              <a:ahLst/>
              <a:cxnLst>
                <a:cxn ang="0">
                  <a:pos x="17" y="17"/>
                </a:cxn>
                <a:cxn ang="0">
                  <a:pos x="0" y="0"/>
                </a:cxn>
                <a:cxn ang="0">
                  <a:pos x="18" y="19"/>
                </a:cxn>
                <a:cxn ang="0">
                  <a:pos x="17" y="17"/>
                </a:cxn>
              </a:cxnLst>
              <a:rect l="0" t="0" r="r" b="b"/>
              <a:pathLst>
                <a:path w="18" h="19">
                  <a:moveTo>
                    <a:pt x="17" y="17"/>
                  </a:moveTo>
                  <a:lnTo>
                    <a:pt x="0" y="0"/>
                  </a:lnTo>
                  <a:lnTo>
                    <a:pt x="18" y="19"/>
                  </a:lnTo>
                  <a:lnTo>
                    <a:pt x="17" y="17"/>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1" name="Freeform 43"/>
            <p:cNvSpPr>
              <a:spLocks/>
            </p:cNvSpPr>
            <p:nvPr/>
          </p:nvSpPr>
          <p:spPr bwMode="auto">
            <a:xfrm>
              <a:off x="2585" y="2426"/>
              <a:ext cx="217" cy="115"/>
            </a:xfrm>
            <a:custGeom>
              <a:avLst/>
              <a:gdLst/>
              <a:ahLst/>
              <a:cxnLst>
                <a:cxn ang="0">
                  <a:pos x="86" y="60"/>
                </a:cxn>
                <a:cxn ang="0">
                  <a:pos x="69" y="66"/>
                </a:cxn>
                <a:cxn ang="0">
                  <a:pos x="46" y="77"/>
                </a:cxn>
                <a:cxn ang="0">
                  <a:pos x="29" y="110"/>
                </a:cxn>
                <a:cxn ang="0">
                  <a:pos x="18" y="110"/>
                </a:cxn>
                <a:cxn ang="0">
                  <a:pos x="0" y="115"/>
                </a:cxn>
                <a:cxn ang="0">
                  <a:pos x="42" y="166"/>
                </a:cxn>
                <a:cxn ang="0">
                  <a:pos x="85" y="215"/>
                </a:cxn>
                <a:cxn ang="0">
                  <a:pos x="150" y="229"/>
                </a:cxn>
                <a:cxn ang="0">
                  <a:pos x="177" y="224"/>
                </a:cxn>
                <a:cxn ang="0">
                  <a:pos x="176" y="189"/>
                </a:cxn>
                <a:cxn ang="0">
                  <a:pos x="178" y="161"/>
                </a:cxn>
                <a:cxn ang="0">
                  <a:pos x="188" y="128"/>
                </a:cxn>
                <a:cxn ang="0">
                  <a:pos x="190" y="139"/>
                </a:cxn>
                <a:cxn ang="0">
                  <a:pos x="198" y="95"/>
                </a:cxn>
                <a:cxn ang="0">
                  <a:pos x="204" y="52"/>
                </a:cxn>
                <a:cxn ang="0">
                  <a:pos x="205" y="10"/>
                </a:cxn>
                <a:cxn ang="0">
                  <a:pos x="217" y="0"/>
                </a:cxn>
                <a:cxn ang="0">
                  <a:pos x="180" y="7"/>
                </a:cxn>
                <a:cxn ang="0">
                  <a:pos x="142" y="14"/>
                </a:cxn>
                <a:cxn ang="0">
                  <a:pos x="86" y="60"/>
                </a:cxn>
              </a:cxnLst>
              <a:rect l="0" t="0" r="r" b="b"/>
              <a:pathLst>
                <a:path w="217" h="229">
                  <a:moveTo>
                    <a:pt x="86" y="60"/>
                  </a:moveTo>
                  <a:lnTo>
                    <a:pt x="69" y="66"/>
                  </a:lnTo>
                  <a:lnTo>
                    <a:pt x="46" y="77"/>
                  </a:lnTo>
                  <a:lnTo>
                    <a:pt x="29" y="110"/>
                  </a:lnTo>
                  <a:lnTo>
                    <a:pt x="18" y="110"/>
                  </a:lnTo>
                  <a:lnTo>
                    <a:pt x="0" y="115"/>
                  </a:lnTo>
                  <a:lnTo>
                    <a:pt x="42" y="166"/>
                  </a:lnTo>
                  <a:lnTo>
                    <a:pt x="85" y="215"/>
                  </a:lnTo>
                  <a:lnTo>
                    <a:pt x="150" y="229"/>
                  </a:lnTo>
                  <a:lnTo>
                    <a:pt x="177" y="224"/>
                  </a:lnTo>
                  <a:lnTo>
                    <a:pt x="176" y="189"/>
                  </a:lnTo>
                  <a:lnTo>
                    <a:pt x="178" y="161"/>
                  </a:lnTo>
                  <a:lnTo>
                    <a:pt x="188" y="128"/>
                  </a:lnTo>
                  <a:lnTo>
                    <a:pt x="190" y="139"/>
                  </a:lnTo>
                  <a:lnTo>
                    <a:pt x="198" y="95"/>
                  </a:lnTo>
                  <a:lnTo>
                    <a:pt x="204" y="52"/>
                  </a:lnTo>
                  <a:lnTo>
                    <a:pt x="205" y="10"/>
                  </a:lnTo>
                  <a:lnTo>
                    <a:pt x="217" y="0"/>
                  </a:lnTo>
                  <a:lnTo>
                    <a:pt x="180" y="7"/>
                  </a:lnTo>
                  <a:lnTo>
                    <a:pt x="142" y="14"/>
                  </a:lnTo>
                  <a:lnTo>
                    <a:pt x="86" y="60"/>
                  </a:lnTo>
                  <a:close/>
                </a:path>
              </a:pathLst>
            </a:custGeom>
            <a:solidFill>
              <a:srgbClr val="008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2" name="Freeform 44"/>
            <p:cNvSpPr>
              <a:spLocks/>
            </p:cNvSpPr>
            <p:nvPr/>
          </p:nvSpPr>
          <p:spPr bwMode="auto">
            <a:xfrm>
              <a:off x="3795" y="2470"/>
              <a:ext cx="6" cy="7"/>
            </a:xfrm>
            <a:custGeom>
              <a:avLst/>
              <a:gdLst/>
              <a:ahLst/>
              <a:cxnLst>
                <a:cxn ang="0">
                  <a:pos x="4" y="12"/>
                </a:cxn>
                <a:cxn ang="0">
                  <a:pos x="6" y="0"/>
                </a:cxn>
                <a:cxn ang="0">
                  <a:pos x="0" y="6"/>
                </a:cxn>
                <a:cxn ang="0">
                  <a:pos x="4" y="12"/>
                </a:cxn>
              </a:cxnLst>
              <a:rect l="0" t="0" r="r" b="b"/>
              <a:pathLst>
                <a:path w="6" h="12">
                  <a:moveTo>
                    <a:pt x="4" y="12"/>
                  </a:moveTo>
                  <a:lnTo>
                    <a:pt x="6" y="0"/>
                  </a:lnTo>
                  <a:lnTo>
                    <a:pt x="0" y="6"/>
                  </a:lnTo>
                  <a:lnTo>
                    <a:pt x="4" y="12"/>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3" name="Freeform 45"/>
            <p:cNvSpPr>
              <a:spLocks/>
            </p:cNvSpPr>
            <p:nvPr/>
          </p:nvSpPr>
          <p:spPr bwMode="auto">
            <a:xfrm>
              <a:off x="3748" y="2366"/>
              <a:ext cx="4" cy="2"/>
            </a:xfrm>
            <a:custGeom>
              <a:avLst/>
              <a:gdLst/>
              <a:ahLst/>
              <a:cxnLst>
                <a:cxn ang="0">
                  <a:pos x="3" y="5"/>
                </a:cxn>
                <a:cxn ang="0">
                  <a:pos x="0" y="0"/>
                </a:cxn>
                <a:cxn ang="0">
                  <a:pos x="4" y="2"/>
                </a:cxn>
                <a:cxn ang="0">
                  <a:pos x="3" y="5"/>
                </a:cxn>
              </a:cxnLst>
              <a:rect l="0" t="0" r="r" b="b"/>
              <a:pathLst>
                <a:path w="4" h="5">
                  <a:moveTo>
                    <a:pt x="3" y="5"/>
                  </a:moveTo>
                  <a:lnTo>
                    <a:pt x="0" y="0"/>
                  </a:lnTo>
                  <a:lnTo>
                    <a:pt x="4" y="2"/>
                  </a:lnTo>
                  <a:lnTo>
                    <a:pt x="3" y="5"/>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4" name="Freeform 46"/>
            <p:cNvSpPr>
              <a:spLocks/>
            </p:cNvSpPr>
            <p:nvPr/>
          </p:nvSpPr>
          <p:spPr bwMode="auto">
            <a:xfrm>
              <a:off x="3739" y="2360"/>
              <a:ext cx="9" cy="5"/>
            </a:xfrm>
            <a:custGeom>
              <a:avLst/>
              <a:gdLst/>
              <a:ahLst/>
              <a:cxnLst>
                <a:cxn ang="0">
                  <a:pos x="9" y="8"/>
                </a:cxn>
                <a:cxn ang="0">
                  <a:pos x="0" y="0"/>
                </a:cxn>
                <a:cxn ang="0">
                  <a:pos x="8" y="6"/>
                </a:cxn>
                <a:cxn ang="0">
                  <a:pos x="9" y="8"/>
                </a:cxn>
              </a:cxnLst>
              <a:rect l="0" t="0" r="r" b="b"/>
              <a:pathLst>
                <a:path w="9" h="8">
                  <a:moveTo>
                    <a:pt x="9" y="8"/>
                  </a:moveTo>
                  <a:lnTo>
                    <a:pt x="0" y="0"/>
                  </a:lnTo>
                  <a:lnTo>
                    <a:pt x="8" y="6"/>
                  </a:lnTo>
                  <a:lnTo>
                    <a:pt x="9" y="8"/>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5" name="Freeform 47"/>
            <p:cNvSpPr>
              <a:spLocks/>
            </p:cNvSpPr>
            <p:nvPr/>
          </p:nvSpPr>
          <p:spPr bwMode="auto">
            <a:xfrm>
              <a:off x="3783" y="2390"/>
              <a:ext cx="9" cy="7"/>
            </a:xfrm>
            <a:custGeom>
              <a:avLst/>
              <a:gdLst/>
              <a:ahLst/>
              <a:cxnLst>
                <a:cxn ang="0">
                  <a:pos x="7" y="0"/>
                </a:cxn>
                <a:cxn ang="0">
                  <a:pos x="9" y="4"/>
                </a:cxn>
                <a:cxn ang="0">
                  <a:pos x="0" y="14"/>
                </a:cxn>
                <a:cxn ang="0">
                  <a:pos x="7" y="0"/>
                </a:cxn>
              </a:cxnLst>
              <a:rect l="0" t="0" r="r" b="b"/>
              <a:pathLst>
                <a:path w="9" h="14">
                  <a:moveTo>
                    <a:pt x="7" y="0"/>
                  </a:moveTo>
                  <a:lnTo>
                    <a:pt x="9" y="4"/>
                  </a:lnTo>
                  <a:lnTo>
                    <a:pt x="0" y="14"/>
                  </a:lnTo>
                  <a:lnTo>
                    <a:pt x="7"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6" name="Freeform 48"/>
            <p:cNvSpPr>
              <a:spLocks/>
            </p:cNvSpPr>
            <p:nvPr/>
          </p:nvSpPr>
          <p:spPr bwMode="auto">
            <a:xfrm>
              <a:off x="3728" y="2336"/>
              <a:ext cx="9" cy="3"/>
            </a:xfrm>
            <a:custGeom>
              <a:avLst/>
              <a:gdLst/>
              <a:ahLst/>
              <a:cxnLst>
                <a:cxn ang="0">
                  <a:pos x="9" y="1"/>
                </a:cxn>
                <a:cxn ang="0">
                  <a:pos x="9" y="0"/>
                </a:cxn>
                <a:cxn ang="0">
                  <a:pos x="8" y="1"/>
                </a:cxn>
                <a:cxn ang="0">
                  <a:pos x="7" y="1"/>
                </a:cxn>
                <a:cxn ang="0">
                  <a:pos x="6" y="1"/>
                </a:cxn>
                <a:cxn ang="0">
                  <a:pos x="5" y="3"/>
                </a:cxn>
                <a:cxn ang="0">
                  <a:pos x="5" y="4"/>
                </a:cxn>
                <a:cxn ang="0">
                  <a:pos x="3" y="4"/>
                </a:cxn>
                <a:cxn ang="0">
                  <a:pos x="3" y="5"/>
                </a:cxn>
                <a:cxn ang="0">
                  <a:pos x="2" y="5"/>
                </a:cxn>
                <a:cxn ang="0">
                  <a:pos x="1" y="5"/>
                </a:cxn>
                <a:cxn ang="0">
                  <a:pos x="1" y="6"/>
                </a:cxn>
                <a:cxn ang="0">
                  <a:pos x="0" y="6"/>
                </a:cxn>
                <a:cxn ang="0">
                  <a:pos x="1" y="6"/>
                </a:cxn>
                <a:cxn ang="0">
                  <a:pos x="2" y="6"/>
                </a:cxn>
                <a:cxn ang="0">
                  <a:pos x="2" y="5"/>
                </a:cxn>
                <a:cxn ang="0">
                  <a:pos x="2" y="6"/>
                </a:cxn>
                <a:cxn ang="0">
                  <a:pos x="3" y="6"/>
                </a:cxn>
                <a:cxn ang="0">
                  <a:pos x="3" y="5"/>
                </a:cxn>
                <a:cxn ang="0">
                  <a:pos x="5" y="5"/>
                </a:cxn>
                <a:cxn ang="0">
                  <a:pos x="6" y="5"/>
                </a:cxn>
                <a:cxn ang="0">
                  <a:pos x="6" y="4"/>
                </a:cxn>
                <a:cxn ang="0">
                  <a:pos x="7" y="4"/>
                </a:cxn>
                <a:cxn ang="0">
                  <a:pos x="8" y="4"/>
                </a:cxn>
                <a:cxn ang="0">
                  <a:pos x="8" y="3"/>
                </a:cxn>
                <a:cxn ang="0">
                  <a:pos x="8" y="1"/>
                </a:cxn>
                <a:cxn ang="0">
                  <a:pos x="9" y="1"/>
                </a:cxn>
              </a:cxnLst>
              <a:rect l="0" t="0" r="r" b="b"/>
              <a:pathLst>
                <a:path w="9" h="6">
                  <a:moveTo>
                    <a:pt x="9" y="1"/>
                  </a:moveTo>
                  <a:lnTo>
                    <a:pt x="9" y="0"/>
                  </a:lnTo>
                  <a:lnTo>
                    <a:pt x="8" y="1"/>
                  </a:lnTo>
                  <a:lnTo>
                    <a:pt x="7" y="1"/>
                  </a:lnTo>
                  <a:lnTo>
                    <a:pt x="6" y="1"/>
                  </a:lnTo>
                  <a:lnTo>
                    <a:pt x="5" y="3"/>
                  </a:lnTo>
                  <a:lnTo>
                    <a:pt x="5" y="4"/>
                  </a:lnTo>
                  <a:lnTo>
                    <a:pt x="3" y="4"/>
                  </a:lnTo>
                  <a:lnTo>
                    <a:pt x="3" y="5"/>
                  </a:lnTo>
                  <a:lnTo>
                    <a:pt x="2" y="5"/>
                  </a:lnTo>
                  <a:lnTo>
                    <a:pt x="1" y="5"/>
                  </a:lnTo>
                  <a:lnTo>
                    <a:pt x="1" y="6"/>
                  </a:lnTo>
                  <a:lnTo>
                    <a:pt x="0" y="6"/>
                  </a:lnTo>
                  <a:lnTo>
                    <a:pt x="1" y="6"/>
                  </a:lnTo>
                  <a:lnTo>
                    <a:pt x="2" y="6"/>
                  </a:lnTo>
                  <a:lnTo>
                    <a:pt x="2" y="5"/>
                  </a:lnTo>
                  <a:lnTo>
                    <a:pt x="2" y="6"/>
                  </a:lnTo>
                  <a:lnTo>
                    <a:pt x="3" y="6"/>
                  </a:lnTo>
                  <a:lnTo>
                    <a:pt x="3" y="5"/>
                  </a:lnTo>
                  <a:lnTo>
                    <a:pt x="5" y="5"/>
                  </a:lnTo>
                  <a:lnTo>
                    <a:pt x="6" y="5"/>
                  </a:lnTo>
                  <a:lnTo>
                    <a:pt x="6" y="4"/>
                  </a:lnTo>
                  <a:lnTo>
                    <a:pt x="7" y="4"/>
                  </a:lnTo>
                  <a:lnTo>
                    <a:pt x="8" y="4"/>
                  </a:lnTo>
                  <a:lnTo>
                    <a:pt x="8" y="3"/>
                  </a:lnTo>
                  <a:lnTo>
                    <a:pt x="8" y="1"/>
                  </a:lnTo>
                  <a:lnTo>
                    <a:pt x="9" y="1"/>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7" name="Freeform 49"/>
            <p:cNvSpPr>
              <a:spLocks/>
            </p:cNvSpPr>
            <p:nvPr/>
          </p:nvSpPr>
          <p:spPr bwMode="auto">
            <a:xfrm>
              <a:off x="3782" y="2367"/>
              <a:ext cx="10" cy="3"/>
            </a:xfrm>
            <a:custGeom>
              <a:avLst/>
              <a:gdLst/>
              <a:ahLst/>
              <a:cxnLst>
                <a:cxn ang="0">
                  <a:pos x="5" y="0"/>
                </a:cxn>
                <a:cxn ang="0">
                  <a:pos x="1" y="2"/>
                </a:cxn>
                <a:cxn ang="0">
                  <a:pos x="0" y="7"/>
                </a:cxn>
                <a:cxn ang="0">
                  <a:pos x="10" y="6"/>
                </a:cxn>
                <a:cxn ang="0">
                  <a:pos x="5" y="0"/>
                </a:cxn>
              </a:cxnLst>
              <a:rect l="0" t="0" r="r" b="b"/>
              <a:pathLst>
                <a:path w="10" h="7">
                  <a:moveTo>
                    <a:pt x="5" y="0"/>
                  </a:moveTo>
                  <a:lnTo>
                    <a:pt x="1" y="2"/>
                  </a:lnTo>
                  <a:lnTo>
                    <a:pt x="0" y="7"/>
                  </a:lnTo>
                  <a:lnTo>
                    <a:pt x="10" y="6"/>
                  </a:lnTo>
                  <a:lnTo>
                    <a:pt x="5" y="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8" name="Freeform 50"/>
            <p:cNvSpPr>
              <a:spLocks/>
            </p:cNvSpPr>
            <p:nvPr/>
          </p:nvSpPr>
          <p:spPr bwMode="auto">
            <a:xfrm>
              <a:off x="3784" y="2352"/>
              <a:ext cx="6" cy="3"/>
            </a:xfrm>
            <a:custGeom>
              <a:avLst/>
              <a:gdLst/>
              <a:ahLst/>
              <a:cxnLst>
                <a:cxn ang="0">
                  <a:pos x="6" y="5"/>
                </a:cxn>
                <a:cxn ang="0">
                  <a:pos x="4" y="6"/>
                </a:cxn>
                <a:cxn ang="0">
                  <a:pos x="0" y="1"/>
                </a:cxn>
                <a:cxn ang="0">
                  <a:pos x="2" y="3"/>
                </a:cxn>
                <a:cxn ang="0">
                  <a:pos x="2" y="0"/>
                </a:cxn>
                <a:cxn ang="0">
                  <a:pos x="6" y="4"/>
                </a:cxn>
                <a:cxn ang="0">
                  <a:pos x="6" y="5"/>
                </a:cxn>
              </a:cxnLst>
              <a:rect l="0" t="0" r="r" b="b"/>
              <a:pathLst>
                <a:path w="6" h="6">
                  <a:moveTo>
                    <a:pt x="6" y="5"/>
                  </a:moveTo>
                  <a:lnTo>
                    <a:pt x="4" y="6"/>
                  </a:lnTo>
                  <a:lnTo>
                    <a:pt x="0" y="1"/>
                  </a:lnTo>
                  <a:lnTo>
                    <a:pt x="2" y="3"/>
                  </a:lnTo>
                  <a:lnTo>
                    <a:pt x="2" y="0"/>
                  </a:lnTo>
                  <a:lnTo>
                    <a:pt x="6" y="4"/>
                  </a:lnTo>
                  <a:lnTo>
                    <a:pt x="6" y="5"/>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79" name="Freeform 51"/>
            <p:cNvSpPr>
              <a:spLocks/>
            </p:cNvSpPr>
            <p:nvPr/>
          </p:nvSpPr>
          <p:spPr bwMode="auto">
            <a:xfrm>
              <a:off x="2530" y="2330"/>
              <a:ext cx="63" cy="71"/>
            </a:xfrm>
            <a:custGeom>
              <a:avLst/>
              <a:gdLst/>
              <a:ahLst/>
              <a:cxnLst>
                <a:cxn ang="0">
                  <a:pos x="37" y="116"/>
                </a:cxn>
                <a:cxn ang="0">
                  <a:pos x="15" y="143"/>
                </a:cxn>
                <a:cxn ang="0">
                  <a:pos x="0" y="143"/>
                </a:cxn>
                <a:cxn ang="0">
                  <a:pos x="8" y="90"/>
                </a:cxn>
                <a:cxn ang="0">
                  <a:pos x="17" y="36"/>
                </a:cxn>
                <a:cxn ang="0">
                  <a:pos x="59" y="0"/>
                </a:cxn>
                <a:cxn ang="0">
                  <a:pos x="63" y="9"/>
                </a:cxn>
                <a:cxn ang="0">
                  <a:pos x="51" y="62"/>
                </a:cxn>
                <a:cxn ang="0">
                  <a:pos x="37" y="116"/>
                </a:cxn>
              </a:cxnLst>
              <a:rect l="0" t="0" r="r" b="b"/>
              <a:pathLst>
                <a:path w="63" h="143">
                  <a:moveTo>
                    <a:pt x="37" y="116"/>
                  </a:moveTo>
                  <a:lnTo>
                    <a:pt x="15" y="143"/>
                  </a:lnTo>
                  <a:lnTo>
                    <a:pt x="0" y="143"/>
                  </a:lnTo>
                  <a:lnTo>
                    <a:pt x="8" y="90"/>
                  </a:lnTo>
                  <a:lnTo>
                    <a:pt x="17" y="36"/>
                  </a:lnTo>
                  <a:lnTo>
                    <a:pt x="59" y="0"/>
                  </a:lnTo>
                  <a:lnTo>
                    <a:pt x="63" y="9"/>
                  </a:lnTo>
                  <a:lnTo>
                    <a:pt x="51" y="62"/>
                  </a:lnTo>
                  <a:lnTo>
                    <a:pt x="37" y="116"/>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0" name="Freeform 52"/>
            <p:cNvSpPr>
              <a:spLocks/>
            </p:cNvSpPr>
            <p:nvPr/>
          </p:nvSpPr>
          <p:spPr bwMode="auto">
            <a:xfrm>
              <a:off x="2385" y="2348"/>
              <a:ext cx="190" cy="112"/>
            </a:xfrm>
            <a:custGeom>
              <a:avLst/>
              <a:gdLst/>
              <a:ahLst/>
              <a:cxnLst>
                <a:cxn ang="0">
                  <a:pos x="18" y="199"/>
                </a:cxn>
                <a:cxn ang="0">
                  <a:pos x="0" y="180"/>
                </a:cxn>
                <a:cxn ang="0">
                  <a:pos x="4" y="141"/>
                </a:cxn>
                <a:cxn ang="0">
                  <a:pos x="32" y="97"/>
                </a:cxn>
                <a:cxn ang="0">
                  <a:pos x="92" y="88"/>
                </a:cxn>
                <a:cxn ang="0">
                  <a:pos x="60" y="36"/>
                </a:cxn>
                <a:cxn ang="0">
                  <a:pos x="74" y="32"/>
                </a:cxn>
                <a:cxn ang="0">
                  <a:pos x="78" y="0"/>
                </a:cxn>
                <a:cxn ang="0">
                  <a:pos x="120" y="0"/>
                </a:cxn>
                <a:cxn ang="0">
                  <a:pos x="162" y="0"/>
                </a:cxn>
                <a:cxn ang="0">
                  <a:pos x="153" y="54"/>
                </a:cxn>
                <a:cxn ang="0">
                  <a:pos x="145" y="107"/>
                </a:cxn>
                <a:cxn ang="0">
                  <a:pos x="160" y="107"/>
                </a:cxn>
                <a:cxn ang="0">
                  <a:pos x="175" y="109"/>
                </a:cxn>
                <a:cxn ang="0">
                  <a:pos x="190" y="117"/>
                </a:cxn>
                <a:cxn ang="0">
                  <a:pos x="158" y="142"/>
                </a:cxn>
                <a:cxn ang="0">
                  <a:pos x="131" y="187"/>
                </a:cxn>
                <a:cxn ang="0">
                  <a:pos x="93" y="225"/>
                </a:cxn>
                <a:cxn ang="0">
                  <a:pos x="56" y="212"/>
                </a:cxn>
                <a:cxn ang="0">
                  <a:pos x="18" y="199"/>
                </a:cxn>
              </a:cxnLst>
              <a:rect l="0" t="0" r="r" b="b"/>
              <a:pathLst>
                <a:path w="190" h="225">
                  <a:moveTo>
                    <a:pt x="18" y="199"/>
                  </a:moveTo>
                  <a:lnTo>
                    <a:pt x="0" y="180"/>
                  </a:lnTo>
                  <a:lnTo>
                    <a:pt x="4" y="141"/>
                  </a:lnTo>
                  <a:lnTo>
                    <a:pt x="32" y="97"/>
                  </a:lnTo>
                  <a:lnTo>
                    <a:pt x="92" y="88"/>
                  </a:lnTo>
                  <a:lnTo>
                    <a:pt x="60" y="36"/>
                  </a:lnTo>
                  <a:lnTo>
                    <a:pt x="74" y="32"/>
                  </a:lnTo>
                  <a:lnTo>
                    <a:pt x="78" y="0"/>
                  </a:lnTo>
                  <a:lnTo>
                    <a:pt x="120" y="0"/>
                  </a:lnTo>
                  <a:lnTo>
                    <a:pt x="162" y="0"/>
                  </a:lnTo>
                  <a:lnTo>
                    <a:pt x="153" y="54"/>
                  </a:lnTo>
                  <a:lnTo>
                    <a:pt x="145" y="107"/>
                  </a:lnTo>
                  <a:lnTo>
                    <a:pt x="160" y="107"/>
                  </a:lnTo>
                  <a:lnTo>
                    <a:pt x="175" y="109"/>
                  </a:lnTo>
                  <a:lnTo>
                    <a:pt x="190" y="117"/>
                  </a:lnTo>
                  <a:lnTo>
                    <a:pt x="158" y="142"/>
                  </a:lnTo>
                  <a:lnTo>
                    <a:pt x="131" y="187"/>
                  </a:lnTo>
                  <a:lnTo>
                    <a:pt x="93" y="225"/>
                  </a:lnTo>
                  <a:lnTo>
                    <a:pt x="56" y="212"/>
                  </a:lnTo>
                  <a:lnTo>
                    <a:pt x="18" y="199"/>
                  </a:lnTo>
                  <a:close/>
                </a:path>
              </a:pathLst>
            </a:custGeom>
            <a:solidFill>
              <a:srgbClr val="008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1" name="Freeform 53"/>
            <p:cNvSpPr>
              <a:spLocks/>
            </p:cNvSpPr>
            <p:nvPr/>
          </p:nvSpPr>
          <p:spPr bwMode="auto">
            <a:xfrm>
              <a:off x="3038" y="2330"/>
              <a:ext cx="97" cy="19"/>
            </a:xfrm>
            <a:custGeom>
              <a:avLst/>
              <a:gdLst/>
              <a:ahLst/>
              <a:cxnLst>
                <a:cxn ang="0">
                  <a:pos x="38" y="0"/>
                </a:cxn>
                <a:cxn ang="0">
                  <a:pos x="0" y="14"/>
                </a:cxn>
                <a:cxn ang="0">
                  <a:pos x="52" y="38"/>
                </a:cxn>
                <a:cxn ang="0">
                  <a:pos x="97" y="31"/>
                </a:cxn>
                <a:cxn ang="0">
                  <a:pos x="38" y="0"/>
                </a:cxn>
              </a:cxnLst>
              <a:rect l="0" t="0" r="r" b="b"/>
              <a:pathLst>
                <a:path w="97" h="38">
                  <a:moveTo>
                    <a:pt x="38" y="0"/>
                  </a:moveTo>
                  <a:lnTo>
                    <a:pt x="0" y="14"/>
                  </a:lnTo>
                  <a:lnTo>
                    <a:pt x="52" y="38"/>
                  </a:lnTo>
                  <a:lnTo>
                    <a:pt x="97" y="31"/>
                  </a:lnTo>
                  <a:lnTo>
                    <a:pt x="38" y="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2" name="Freeform 54"/>
            <p:cNvSpPr>
              <a:spLocks/>
            </p:cNvSpPr>
            <p:nvPr/>
          </p:nvSpPr>
          <p:spPr bwMode="auto">
            <a:xfrm>
              <a:off x="3546" y="2329"/>
              <a:ext cx="71" cy="15"/>
            </a:xfrm>
            <a:custGeom>
              <a:avLst/>
              <a:gdLst/>
              <a:ahLst/>
              <a:cxnLst>
                <a:cxn ang="0">
                  <a:pos x="71" y="16"/>
                </a:cxn>
                <a:cxn ang="0">
                  <a:pos x="68" y="19"/>
                </a:cxn>
                <a:cxn ang="0">
                  <a:pos x="18" y="30"/>
                </a:cxn>
                <a:cxn ang="0">
                  <a:pos x="0" y="23"/>
                </a:cxn>
                <a:cxn ang="0">
                  <a:pos x="6" y="0"/>
                </a:cxn>
                <a:cxn ang="0">
                  <a:pos x="71" y="16"/>
                </a:cxn>
              </a:cxnLst>
              <a:rect l="0" t="0" r="r" b="b"/>
              <a:pathLst>
                <a:path w="71" h="30">
                  <a:moveTo>
                    <a:pt x="71" y="16"/>
                  </a:moveTo>
                  <a:lnTo>
                    <a:pt x="68" y="19"/>
                  </a:lnTo>
                  <a:lnTo>
                    <a:pt x="18" y="30"/>
                  </a:lnTo>
                  <a:lnTo>
                    <a:pt x="0" y="23"/>
                  </a:lnTo>
                  <a:lnTo>
                    <a:pt x="6" y="0"/>
                  </a:lnTo>
                  <a:lnTo>
                    <a:pt x="71" y="16"/>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3" name="Freeform 55"/>
            <p:cNvSpPr>
              <a:spLocks/>
            </p:cNvSpPr>
            <p:nvPr/>
          </p:nvSpPr>
          <p:spPr bwMode="auto">
            <a:xfrm>
              <a:off x="3648" y="2349"/>
              <a:ext cx="15" cy="2"/>
            </a:xfrm>
            <a:custGeom>
              <a:avLst/>
              <a:gdLst/>
              <a:ahLst/>
              <a:cxnLst>
                <a:cxn ang="0">
                  <a:pos x="15" y="2"/>
                </a:cxn>
                <a:cxn ang="0">
                  <a:pos x="5" y="0"/>
                </a:cxn>
                <a:cxn ang="0">
                  <a:pos x="0" y="5"/>
                </a:cxn>
                <a:cxn ang="0">
                  <a:pos x="15" y="2"/>
                </a:cxn>
              </a:cxnLst>
              <a:rect l="0" t="0" r="r" b="b"/>
              <a:pathLst>
                <a:path w="15" h="5">
                  <a:moveTo>
                    <a:pt x="15" y="2"/>
                  </a:moveTo>
                  <a:lnTo>
                    <a:pt x="5" y="0"/>
                  </a:lnTo>
                  <a:lnTo>
                    <a:pt x="0" y="5"/>
                  </a:lnTo>
                  <a:lnTo>
                    <a:pt x="15" y="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4" name="Freeform 56"/>
            <p:cNvSpPr>
              <a:spLocks/>
            </p:cNvSpPr>
            <p:nvPr/>
          </p:nvSpPr>
          <p:spPr bwMode="auto">
            <a:xfrm>
              <a:off x="1461" y="1941"/>
              <a:ext cx="1217" cy="497"/>
            </a:xfrm>
            <a:custGeom>
              <a:avLst/>
              <a:gdLst/>
              <a:ahLst/>
              <a:cxnLst>
                <a:cxn ang="0">
                  <a:pos x="154" y="480"/>
                </a:cxn>
                <a:cxn ang="0">
                  <a:pos x="100" y="347"/>
                </a:cxn>
                <a:cxn ang="0">
                  <a:pos x="37" y="290"/>
                </a:cxn>
                <a:cxn ang="0">
                  <a:pos x="61" y="216"/>
                </a:cxn>
                <a:cxn ang="0">
                  <a:pos x="6" y="75"/>
                </a:cxn>
                <a:cxn ang="0">
                  <a:pos x="106" y="0"/>
                </a:cxn>
                <a:cxn ang="0">
                  <a:pos x="209" y="55"/>
                </a:cxn>
                <a:cxn ang="0">
                  <a:pos x="370" y="72"/>
                </a:cxn>
                <a:cxn ang="0">
                  <a:pos x="489" y="100"/>
                </a:cxn>
                <a:cxn ang="0">
                  <a:pos x="558" y="202"/>
                </a:cxn>
                <a:cxn ang="0">
                  <a:pos x="671" y="217"/>
                </a:cxn>
                <a:cxn ang="0">
                  <a:pos x="736" y="357"/>
                </a:cxn>
                <a:cxn ang="0">
                  <a:pos x="736" y="513"/>
                </a:cxn>
                <a:cxn ang="0">
                  <a:pos x="760" y="690"/>
                </a:cxn>
                <a:cxn ang="0">
                  <a:pos x="793" y="764"/>
                </a:cxn>
                <a:cxn ang="0">
                  <a:pos x="930" y="775"/>
                </a:cxn>
                <a:cxn ang="0">
                  <a:pos x="995" y="765"/>
                </a:cxn>
                <a:cxn ang="0">
                  <a:pos x="1050" y="650"/>
                </a:cxn>
                <a:cxn ang="0">
                  <a:pos x="1185" y="613"/>
                </a:cxn>
                <a:cxn ang="0">
                  <a:pos x="1217" y="632"/>
                </a:cxn>
                <a:cxn ang="0">
                  <a:pos x="1168" y="726"/>
                </a:cxn>
                <a:cxn ang="0">
                  <a:pos x="1136" y="765"/>
                </a:cxn>
                <a:cxn ang="0">
                  <a:pos x="1044" y="814"/>
                </a:cxn>
                <a:cxn ang="0">
                  <a:pos x="984" y="850"/>
                </a:cxn>
                <a:cxn ang="0">
                  <a:pos x="928" y="955"/>
                </a:cxn>
                <a:cxn ang="0">
                  <a:pos x="835" y="899"/>
                </a:cxn>
                <a:cxn ang="0">
                  <a:pos x="806" y="901"/>
                </a:cxn>
                <a:cxn ang="0">
                  <a:pos x="725" y="931"/>
                </a:cxn>
                <a:cxn ang="0">
                  <a:pos x="574" y="855"/>
                </a:cxn>
                <a:cxn ang="0">
                  <a:pos x="462" y="792"/>
                </a:cxn>
                <a:cxn ang="0">
                  <a:pos x="364" y="707"/>
                </a:cxn>
                <a:cxn ang="0">
                  <a:pos x="370" y="646"/>
                </a:cxn>
                <a:cxn ang="0">
                  <a:pos x="351" y="526"/>
                </a:cxn>
                <a:cxn ang="0">
                  <a:pos x="309" y="454"/>
                </a:cxn>
                <a:cxn ang="0">
                  <a:pos x="286" y="414"/>
                </a:cxn>
                <a:cxn ang="0">
                  <a:pos x="243" y="380"/>
                </a:cxn>
                <a:cxn ang="0">
                  <a:pos x="209" y="275"/>
                </a:cxn>
                <a:cxn ang="0">
                  <a:pos x="164" y="190"/>
                </a:cxn>
                <a:cxn ang="0">
                  <a:pos x="117" y="64"/>
                </a:cxn>
                <a:cxn ang="0">
                  <a:pos x="71" y="156"/>
                </a:cxn>
                <a:cxn ang="0">
                  <a:pos x="131" y="288"/>
                </a:cxn>
                <a:cxn ang="0">
                  <a:pos x="155" y="385"/>
                </a:cxn>
                <a:cxn ang="0">
                  <a:pos x="203" y="490"/>
                </a:cxn>
              </a:cxnLst>
              <a:rect l="0" t="0" r="r" b="b"/>
              <a:pathLst>
                <a:path w="1217" h="994">
                  <a:moveTo>
                    <a:pt x="210" y="517"/>
                  </a:moveTo>
                  <a:lnTo>
                    <a:pt x="179" y="531"/>
                  </a:lnTo>
                  <a:lnTo>
                    <a:pt x="154" y="480"/>
                  </a:lnTo>
                  <a:lnTo>
                    <a:pt x="109" y="432"/>
                  </a:lnTo>
                  <a:lnTo>
                    <a:pt x="115" y="389"/>
                  </a:lnTo>
                  <a:lnTo>
                    <a:pt x="100" y="347"/>
                  </a:lnTo>
                  <a:lnTo>
                    <a:pt x="87" y="317"/>
                  </a:lnTo>
                  <a:lnTo>
                    <a:pt x="59" y="316"/>
                  </a:lnTo>
                  <a:lnTo>
                    <a:pt x="37" y="290"/>
                  </a:lnTo>
                  <a:lnTo>
                    <a:pt x="16" y="265"/>
                  </a:lnTo>
                  <a:lnTo>
                    <a:pt x="53" y="271"/>
                  </a:lnTo>
                  <a:lnTo>
                    <a:pt x="61" y="216"/>
                  </a:lnTo>
                  <a:lnTo>
                    <a:pt x="36" y="179"/>
                  </a:lnTo>
                  <a:lnTo>
                    <a:pt x="12" y="143"/>
                  </a:lnTo>
                  <a:lnTo>
                    <a:pt x="6" y="75"/>
                  </a:lnTo>
                  <a:lnTo>
                    <a:pt x="0" y="7"/>
                  </a:lnTo>
                  <a:lnTo>
                    <a:pt x="53" y="3"/>
                  </a:lnTo>
                  <a:lnTo>
                    <a:pt x="106" y="0"/>
                  </a:lnTo>
                  <a:lnTo>
                    <a:pt x="140" y="18"/>
                  </a:lnTo>
                  <a:lnTo>
                    <a:pt x="174" y="36"/>
                  </a:lnTo>
                  <a:lnTo>
                    <a:pt x="209" y="55"/>
                  </a:lnTo>
                  <a:lnTo>
                    <a:pt x="244" y="72"/>
                  </a:lnTo>
                  <a:lnTo>
                    <a:pt x="307" y="72"/>
                  </a:lnTo>
                  <a:lnTo>
                    <a:pt x="370" y="72"/>
                  </a:lnTo>
                  <a:lnTo>
                    <a:pt x="378" y="47"/>
                  </a:lnTo>
                  <a:lnTo>
                    <a:pt x="452" y="47"/>
                  </a:lnTo>
                  <a:lnTo>
                    <a:pt x="489" y="100"/>
                  </a:lnTo>
                  <a:lnTo>
                    <a:pt x="503" y="156"/>
                  </a:lnTo>
                  <a:lnTo>
                    <a:pt x="530" y="179"/>
                  </a:lnTo>
                  <a:lnTo>
                    <a:pt x="558" y="202"/>
                  </a:lnTo>
                  <a:lnTo>
                    <a:pt x="589" y="160"/>
                  </a:lnTo>
                  <a:lnTo>
                    <a:pt x="651" y="166"/>
                  </a:lnTo>
                  <a:lnTo>
                    <a:pt x="671" y="217"/>
                  </a:lnTo>
                  <a:lnTo>
                    <a:pt x="690" y="267"/>
                  </a:lnTo>
                  <a:lnTo>
                    <a:pt x="706" y="332"/>
                  </a:lnTo>
                  <a:lnTo>
                    <a:pt x="736" y="357"/>
                  </a:lnTo>
                  <a:lnTo>
                    <a:pt x="790" y="367"/>
                  </a:lnTo>
                  <a:lnTo>
                    <a:pt x="761" y="441"/>
                  </a:lnTo>
                  <a:lnTo>
                    <a:pt x="736" y="513"/>
                  </a:lnTo>
                  <a:lnTo>
                    <a:pt x="728" y="587"/>
                  </a:lnTo>
                  <a:lnTo>
                    <a:pt x="743" y="640"/>
                  </a:lnTo>
                  <a:lnTo>
                    <a:pt x="760" y="690"/>
                  </a:lnTo>
                  <a:lnTo>
                    <a:pt x="773" y="726"/>
                  </a:lnTo>
                  <a:lnTo>
                    <a:pt x="785" y="760"/>
                  </a:lnTo>
                  <a:lnTo>
                    <a:pt x="793" y="764"/>
                  </a:lnTo>
                  <a:lnTo>
                    <a:pt x="839" y="789"/>
                  </a:lnTo>
                  <a:lnTo>
                    <a:pt x="880" y="785"/>
                  </a:lnTo>
                  <a:lnTo>
                    <a:pt x="930" y="775"/>
                  </a:lnTo>
                  <a:lnTo>
                    <a:pt x="961" y="773"/>
                  </a:lnTo>
                  <a:lnTo>
                    <a:pt x="981" y="778"/>
                  </a:lnTo>
                  <a:lnTo>
                    <a:pt x="995" y="765"/>
                  </a:lnTo>
                  <a:lnTo>
                    <a:pt x="991" y="756"/>
                  </a:lnTo>
                  <a:lnTo>
                    <a:pt x="1026" y="716"/>
                  </a:lnTo>
                  <a:lnTo>
                    <a:pt x="1050" y="650"/>
                  </a:lnTo>
                  <a:lnTo>
                    <a:pt x="1097" y="622"/>
                  </a:lnTo>
                  <a:lnTo>
                    <a:pt x="1141" y="617"/>
                  </a:lnTo>
                  <a:lnTo>
                    <a:pt x="1185" y="613"/>
                  </a:lnTo>
                  <a:lnTo>
                    <a:pt x="1197" y="611"/>
                  </a:lnTo>
                  <a:lnTo>
                    <a:pt x="1213" y="623"/>
                  </a:lnTo>
                  <a:lnTo>
                    <a:pt x="1217" y="632"/>
                  </a:lnTo>
                  <a:lnTo>
                    <a:pt x="1175" y="699"/>
                  </a:lnTo>
                  <a:lnTo>
                    <a:pt x="1166" y="719"/>
                  </a:lnTo>
                  <a:lnTo>
                    <a:pt x="1168" y="726"/>
                  </a:lnTo>
                  <a:lnTo>
                    <a:pt x="1166" y="732"/>
                  </a:lnTo>
                  <a:lnTo>
                    <a:pt x="1145" y="785"/>
                  </a:lnTo>
                  <a:lnTo>
                    <a:pt x="1136" y="765"/>
                  </a:lnTo>
                  <a:lnTo>
                    <a:pt x="1128" y="778"/>
                  </a:lnTo>
                  <a:lnTo>
                    <a:pt x="1086" y="814"/>
                  </a:lnTo>
                  <a:lnTo>
                    <a:pt x="1044" y="814"/>
                  </a:lnTo>
                  <a:lnTo>
                    <a:pt x="1002" y="814"/>
                  </a:lnTo>
                  <a:lnTo>
                    <a:pt x="998" y="846"/>
                  </a:lnTo>
                  <a:lnTo>
                    <a:pt x="984" y="850"/>
                  </a:lnTo>
                  <a:lnTo>
                    <a:pt x="1016" y="902"/>
                  </a:lnTo>
                  <a:lnTo>
                    <a:pt x="956" y="911"/>
                  </a:lnTo>
                  <a:lnTo>
                    <a:pt x="928" y="955"/>
                  </a:lnTo>
                  <a:lnTo>
                    <a:pt x="924" y="994"/>
                  </a:lnTo>
                  <a:lnTo>
                    <a:pt x="879" y="947"/>
                  </a:lnTo>
                  <a:lnTo>
                    <a:pt x="835" y="899"/>
                  </a:lnTo>
                  <a:lnTo>
                    <a:pt x="854" y="914"/>
                  </a:lnTo>
                  <a:lnTo>
                    <a:pt x="827" y="899"/>
                  </a:lnTo>
                  <a:lnTo>
                    <a:pt x="806" y="901"/>
                  </a:lnTo>
                  <a:lnTo>
                    <a:pt x="815" y="903"/>
                  </a:lnTo>
                  <a:lnTo>
                    <a:pt x="770" y="917"/>
                  </a:lnTo>
                  <a:lnTo>
                    <a:pt x="725" y="931"/>
                  </a:lnTo>
                  <a:lnTo>
                    <a:pt x="675" y="906"/>
                  </a:lnTo>
                  <a:lnTo>
                    <a:pt x="624" y="880"/>
                  </a:lnTo>
                  <a:lnTo>
                    <a:pt x="574" y="855"/>
                  </a:lnTo>
                  <a:lnTo>
                    <a:pt x="524" y="831"/>
                  </a:lnTo>
                  <a:lnTo>
                    <a:pt x="494" y="809"/>
                  </a:lnTo>
                  <a:lnTo>
                    <a:pt x="462" y="792"/>
                  </a:lnTo>
                  <a:lnTo>
                    <a:pt x="429" y="773"/>
                  </a:lnTo>
                  <a:lnTo>
                    <a:pt x="397" y="740"/>
                  </a:lnTo>
                  <a:lnTo>
                    <a:pt x="364" y="707"/>
                  </a:lnTo>
                  <a:lnTo>
                    <a:pt x="360" y="669"/>
                  </a:lnTo>
                  <a:lnTo>
                    <a:pt x="376" y="659"/>
                  </a:lnTo>
                  <a:lnTo>
                    <a:pt x="370" y="646"/>
                  </a:lnTo>
                  <a:lnTo>
                    <a:pt x="381" y="612"/>
                  </a:lnTo>
                  <a:lnTo>
                    <a:pt x="367" y="569"/>
                  </a:lnTo>
                  <a:lnTo>
                    <a:pt x="351" y="526"/>
                  </a:lnTo>
                  <a:lnTo>
                    <a:pt x="324" y="487"/>
                  </a:lnTo>
                  <a:lnTo>
                    <a:pt x="297" y="449"/>
                  </a:lnTo>
                  <a:lnTo>
                    <a:pt x="309" y="454"/>
                  </a:lnTo>
                  <a:lnTo>
                    <a:pt x="290" y="426"/>
                  </a:lnTo>
                  <a:lnTo>
                    <a:pt x="281" y="418"/>
                  </a:lnTo>
                  <a:lnTo>
                    <a:pt x="286" y="414"/>
                  </a:lnTo>
                  <a:lnTo>
                    <a:pt x="253" y="394"/>
                  </a:lnTo>
                  <a:lnTo>
                    <a:pt x="260" y="381"/>
                  </a:lnTo>
                  <a:lnTo>
                    <a:pt x="243" y="380"/>
                  </a:lnTo>
                  <a:lnTo>
                    <a:pt x="256" y="348"/>
                  </a:lnTo>
                  <a:lnTo>
                    <a:pt x="238" y="328"/>
                  </a:lnTo>
                  <a:lnTo>
                    <a:pt x="209" y="275"/>
                  </a:lnTo>
                  <a:lnTo>
                    <a:pt x="209" y="261"/>
                  </a:lnTo>
                  <a:lnTo>
                    <a:pt x="180" y="237"/>
                  </a:lnTo>
                  <a:lnTo>
                    <a:pt x="164" y="190"/>
                  </a:lnTo>
                  <a:lnTo>
                    <a:pt x="147" y="143"/>
                  </a:lnTo>
                  <a:lnTo>
                    <a:pt x="147" y="78"/>
                  </a:lnTo>
                  <a:lnTo>
                    <a:pt x="117" y="64"/>
                  </a:lnTo>
                  <a:lnTo>
                    <a:pt x="83" y="41"/>
                  </a:lnTo>
                  <a:lnTo>
                    <a:pt x="77" y="99"/>
                  </a:lnTo>
                  <a:lnTo>
                    <a:pt x="71" y="156"/>
                  </a:lnTo>
                  <a:lnTo>
                    <a:pt x="95" y="203"/>
                  </a:lnTo>
                  <a:lnTo>
                    <a:pt x="118" y="248"/>
                  </a:lnTo>
                  <a:lnTo>
                    <a:pt x="131" y="288"/>
                  </a:lnTo>
                  <a:lnTo>
                    <a:pt x="143" y="327"/>
                  </a:lnTo>
                  <a:lnTo>
                    <a:pt x="149" y="321"/>
                  </a:lnTo>
                  <a:lnTo>
                    <a:pt x="155" y="385"/>
                  </a:lnTo>
                  <a:lnTo>
                    <a:pt x="165" y="450"/>
                  </a:lnTo>
                  <a:lnTo>
                    <a:pt x="182" y="461"/>
                  </a:lnTo>
                  <a:lnTo>
                    <a:pt x="203" y="490"/>
                  </a:lnTo>
                  <a:lnTo>
                    <a:pt x="210" y="517"/>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5" name="Freeform 57"/>
            <p:cNvSpPr>
              <a:spLocks/>
            </p:cNvSpPr>
            <p:nvPr/>
          </p:nvSpPr>
          <p:spPr bwMode="auto">
            <a:xfrm>
              <a:off x="3083" y="2146"/>
              <a:ext cx="24" cy="22"/>
            </a:xfrm>
            <a:custGeom>
              <a:avLst/>
              <a:gdLst/>
              <a:ahLst/>
              <a:cxnLst>
                <a:cxn ang="0">
                  <a:pos x="24" y="39"/>
                </a:cxn>
                <a:cxn ang="0">
                  <a:pos x="15" y="0"/>
                </a:cxn>
                <a:cxn ang="0">
                  <a:pos x="0" y="32"/>
                </a:cxn>
                <a:cxn ang="0">
                  <a:pos x="5" y="43"/>
                </a:cxn>
                <a:cxn ang="0">
                  <a:pos x="24" y="39"/>
                </a:cxn>
              </a:cxnLst>
              <a:rect l="0" t="0" r="r" b="b"/>
              <a:pathLst>
                <a:path w="24" h="43">
                  <a:moveTo>
                    <a:pt x="24" y="39"/>
                  </a:moveTo>
                  <a:lnTo>
                    <a:pt x="15" y="0"/>
                  </a:lnTo>
                  <a:lnTo>
                    <a:pt x="0" y="32"/>
                  </a:lnTo>
                  <a:lnTo>
                    <a:pt x="5" y="43"/>
                  </a:lnTo>
                  <a:lnTo>
                    <a:pt x="24" y="39"/>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6" name="Freeform 58"/>
            <p:cNvSpPr>
              <a:spLocks/>
            </p:cNvSpPr>
            <p:nvPr/>
          </p:nvSpPr>
          <p:spPr bwMode="auto">
            <a:xfrm>
              <a:off x="3123" y="2098"/>
              <a:ext cx="31" cy="26"/>
            </a:xfrm>
            <a:custGeom>
              <a:avLst/>
              <a:gdLst/>
              <a:ahLst/>
              <a:cxnLst>
                <a:cxn ang="0">
                  <a:pos x="16" y="52"/>
                </a:cxn>
                <a:cxn ang="0">
                  <a:pos x="23" y="28"/>
                </a:cxn>
                <a:cxn ang="0">
                  <a:pos x="0" y="0"/>
                </a:cxn>
                <a:cxn ang="0">
                  <a:pos x="31" y="34"/>
                </a:cxn>
                <a:cxn ang="0">
                  <a:pos x="16" y="52"/>
                </a:cxn>
              </a:cxnLst>
              <a:rect l="0" t="0" r="r" b="b"/>
              <a:pathLst>
                <a:path w="31" h="52">
                  <a:moveTo>
                    <a:pt x="16" y="52"/>
                  </a:moveTo>
                  <a:lnTo>
                    <a:pt x="23" y="28"/>
                  </a:lnTo>
                  <a:lnTo>
                    <a:pt x="0" y="0"/>
                  </a:lnTo>
                  <a:lnTo>
                    <a:pt x="31" y="34"/>
                  </a:lnTo>
                  <a:lnTo>
                    <a:pt x="16" y="52"/>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7" name="Freeform 59"/>
            <p:cNvSpPr>
              <a:spLocks/>
            </p:cNvSpPr>
            <p:nvPr/>
          </p:nvSpPr>
          <p:spPr bwMode="auto">
            <a:xfrm>
              <a:off x="3161" y="2138"/>
              <a:ext cx="22" cy="20"/>
            </a:xfrm>
            <a:custGeom>
              <a:avLst/>
              <a:gdLst/>
              <a:ahLst/>
              <a:cxnLst>
                <a:cxn ang="0">
                  <a:pos x="15" y="41"/>
                </a:cxn>
                <a:cxn ang="0">
                  <a:pos x="22" y="24"/>
                </a:cxn>
                <a:cxn ang="0">
                  <a:pos x="3" y="0"/>
                </a:cxn>
                <a:cxn ang="0">
                  <a:pos x="0" y="3"/>
                </a:cxn>
                <a:cxn ang="0">
                  <a:pos x="12" y="15"/>
                </a:cxn>
                <a:cxn ang="0">
                  <a:pos x="18" y="24"/>
                </a:cxn>
                <a:cxn ang="0">
                  <a:pos x="12" y="38"/>
                </a:cxn>
                <a:cxn ang="0">
                  <a:pos x="15" y="41"/>
                </a:cxn>
              </a:cxnLst>
              <a:rect l="0" t="0" r="r" b="b"/>
              <a:pathLst>
                <a:path w="22" h="41">
                  <a:moveTo>
                    <a:pt x="15" y="41"/>
                  </a:moveTo>
                  <a:lnTo>
                    <a:pt x="22" y="24"/>
                  </a:lnTo>
                  <a:lnTo>
                    <a:pt x="3" y="0"/>
                  </a:lnTo>
                  <a:lnTo>
                    <a:pt x="0" y="3"/>
                  </a:lnTo>
                  <a:lnTo>
                    <a:pt x="12" y="15"/>
                  </a:lnTo>
                  <a:lnTo>
                    <a:pt x="18" y="24"/>
                  </a:lnTo>
                  <a:lnTo>
                    <a:pt x="12" y="38"/>
                  </a:lnTo>
                  <a:lnTo>
                    <a:pt x="15" y="41"/>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8" name="Freeform 60"/>
            <p:cNvSpPr>
              <a:spLocks/>
            </p:cNvSpPr>
            <p:nvPr/>
          </p:nvSpPr>
          <p:spPr bwMode="auto">
            <a:xfrm>
              <a:off x="3270" y="2253"/>
              <a:ext cx="30" cy="9"/>
            </a:xfrm>
            <a:custGeom>
              <a:avLst/>
              <a:gdLst/>
              <a:ahLst/>
              <a:cxnLst>
                <a:cxn ang="0">
                  <a:pos x="30" y="0"/>
                </a:cxn>
                <a:cxn ang="0">
                  <a:pos x="27" y="8"/>
                </a:cxn>
                <a:cxn ang="0">
                  <a:pos x="0" y="19"/>
                </a:cxn>
                <a:cxn ang="0">
                  <a:pos x="30" y="0"/>
                </a:cxn>
              </a:cxnLst>
              <a:rect l="0" t="0" r="r" b="b"/>
              <a:pathLst>
                <a:path w="30" h="19">
                  <a:moveTo>
                    <a:pt x="30" y="0"/>
                  </a:moveTo>
                  <a:lnTo>
                    <a:pt x="27" y="8"/>
                  </a:lnTo>
                  <a:lnTo>
                    <a:pt x="0" y="19"/>
                  </a:lnTo>
                  <a:lnTo>
                    <a:pt x="30" y="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89" name="Freeform 61"/>
            <p:cNvSpPr>
              <a:spLocks/>
            </p:cNvSpPr>
            <p:nvPr/>
          </p:nvSpPr>
          <p:spPr bwMode="auto">
            <a:xfrm>
              <a:off x="3253" y="2217"/>
              <a:ext cx="17" cy="8"/>
            </a:xfrm>
            <a:custGeom>
              <a:avLst/>
              <a:gdLst/>
              <a:ahLst/>
              <a:cxnLst>
                <a:cxn ang="0">
                  <a:pos x="17" y="4"/>
                </a:cxn>
                <a:cxn ang="0">
                  <a:pos x="8" y="0"/>
                </a:cxn>
                <a:cxn ang="0">
                  <a:pos x="0" y="18"/>
                </a:cxn>
                <a:cxn ang="0">
                  <a:pos x="17" y="4"/>
                </a:cxn>
              </a:cxnLst>
              <a:rect l="0" t="0" r="r" b="b"/>
              <a:pathLst>
                <a:path w="17" h="18">
                  <a:moveTo>
                    <a:pt x="17" y="4"/>
                  </a:moveTo>
                  <a:lnTo>
                    <a:pt x="8" y="0"/>
                  </a:lnTo>
                  <a:lnTo>
                    <a:pt x="0" y="18"/>
                  </a:lnTo>
                  <a:lnTo>
                    <a:pt x="17" y="4"/>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0" name="Freeform 62"/>
            <p:cNvSpPr>
              <a:spLocks/>
            </p:cNvSpPr>
            <p:nvPr/>
          </p:nvSpPr>
          <p:spPr bwMode="auto">
            <a:xfrm>
              <a:off x="3070" y="2105"/>
              <a:ext cx="48" cy="2"/>
            </a:xfrm>
            <a:custGeom>
              <a:avLst/>
              <a:gdLst/>
              <a:ahLst/>
              <a:cxnLst>
                <a:cxn ang="0">
                  <a:pos x="17" y="0"/>
                </a:cxn>
                <a:cxn ang="0">
                  <a:pos x="48" y="0"/>
                </a:cxn>
                <a:cxn ang="0">
                  <a:pos x="29" y="4"/>
                </a:cxn>
                <a:cxn ang="0">
                  <a:pos x="0" y="0"/>
                </a:cxn>
                <a:cxn ang="0">
                  <a:pos x="17" y="0"/>
                </a:cxn>
              </a:cxnLst>
              <a:rect l="0" t="0" r="r" b="b"/>
              <a:pathLst>
                <a:path w="48" h="4">
                  <a:moveTo>
                    <a:pt x="17" y="0"/>
                  </a:moveTo>
                  <a:lnTo>
                    <a:pt x="48" y="0"/>
                  </a:lnTo>
                  <a:lnTo>
                    <a:pt x="29" y="4"/>
                  </a:lnTo>
                  <a:lnTo>
                    <a:pt x="0" y="0"/>
                  </a:lnTo>
                  <a:lnTo>
                    <a:pt x="17" y="0"/>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1" name="Freeform 63"/>
            <p:cNvSpPr>
              <a:spLocks/>
            </p:cNvSpPr>
            <p:nvPr/>
          </p:nvSpPr>
          <p:spPr bwMode="auto">
            <a:xfrm>
              <a:off x="3100" y="2173"/>
              <a:ext cx="12" cy="10"/>
            </a:xfrm>
            <a:custGeom>
              <a:avLst/>
              <a:gdLst/>
              <a:ahLst/>
              <a:cxnLst>
                <a:cxn ang="0">
                  <a:pos x="12" y="16"/>
                </a:cxn>
                <a:cxn ang="0">
                  <a:pos x="6" y="6"/>
                </a:cxn>
                <a:cxn ang="0">
                  <a:pos x="0" y="0"/>
                </a:cxn>
                <a:cxn ang="0">
                  <a:pos x="7" y="20"/>
                </a:cxn>
                <a:cxn ang="0">
                  <a:pos x="12" y="16"/>
                </a:cxn>
              </a:cxnLst>
              <a:rect l="0" t="0" r="r" b="b"/>
              <a:pathLst>
                <a:path w="12" h="20">
                  <a:moveTo>
                    <a:pt x="12" y="16"/>
                  </a:moveTo>
                  <a:lnTo>
                    <a:pt x="6" y="6"/>
                  </a:lnTo>
                  <a:lnTo>
                    <a:pt x="0" y="0"/>
                  </a:lnTo>
                  <a:lnTo>
                    <a:pt x="7" y="20"/>
                  </a:lnTo>
                  <a:lnTo>
                    <a:pt x="12" y="16"/>
                  </a:lnTo>
                  <a:close/>
                </a:path>
              </a:pathLst>
            </a:custGeom>
            <a:solidFill>
              <a:srgbClr val="FF00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2" name="Freeform 64"/>
            <p:cNvSpPr>
              <a:spLocks/>
            </p:cNvSpPr>
            <p:nvPr/>
          </p:nvSpPr>
          <p:spPr bwMode="auto">
            <a:xfrm>
              <a:off x="4248" y="4240"/>
              <a:ext cx="68" cy="27"/>
            </a:xfrm>
            <a:custGeom>
              <a:avLst/>
              <a:gdLst/>
              <a:ahLst/>
              <a:cxnLst>
                <a:cxn ang="0">
                  <a:pos x="68" y="23"/>
                </a:cxn>
                <a:cxn ang="0">
                  <a:pos x="53" y="14"/>
                </a:cxn>
                <a:cxn ang="0">
                  <a:pos x="40" y="11"/>
                </a:cxn>
                <a:cxn ang="0">
                  <a:pos x="33" y="9"/>
                </a:cxn>
                <a:cxn ang="0">
                  <a:pos x="15" y="0"/>
                </a:cxn>
                <a:cxn ang="0">
                  <a:pos x="14" y="19"/>
                </a:cxn>
                <a:cxn ang="0">
                  <a:pos x="0" y="37"/>
                </a:cxn>
                <a:cxn ang="0">
                  <a:pos x="15" y="54"/>
                </a:cxn>
                <a:cxn ang="0">
                  <a:pos x="22" y="43"/>
                </a:cxn>
                <a:cxn ang="0">
                  <a:pos x="31" y="42"/>
                </a:cxn>
                <a:cxn ang="0">
                  <a:pos x="31" y="35"/>
                </a:cxn>
                <a:cxn ang="0">
                  <a:pos x="68" y="23"/>
                </a:cxn>
              </a:cxnLst>
              <a:rect l="0" t="0" r="r" b="b"/>
              <a:pathLst>
                <a:path w="68" h="54">
                  <a:moveTo>
                    <a:pt x="68" y="23"/>
                  </a:moveTo>
                  <a:lnTo>
                    <a:pt x="53" y="14"/>
                  </a:lnTo>
                  <a:lnTo>
                    <a:pt x="40" y="11"/>
                  </a:lnTo>
                  <a:lnTo>
                    <a:pt x="33" y="9"/>
                  </a:lnTo>
                  <a:lnTo>
                    <a:pt x="15" y="0"/>
                  </a:lnTo>
                  <a:lnTo>
                    <a:pt x="14" y="19"/>
                  </a:lnTo>
                  <a:lnTo>
                    <a:pt x="0" y="37"/>
                  </a:lnTo>
                  <a:lnTo>
                    <a:pt x="15" y="54"/>
                  </a:lnTo>
                  <a:lnTo>
                    <a:pt x="22" y="43"/>
                  </a:lnTo>
                  <a:lnTo>
                    <a:pt x="31" y="42"/>
                  </a:lnTo>
                  <a:lnTo>
                    <a:pt x="31" y="35"/>
                  </a:lnTo>
                  <a:lnTo>
                    <a:pt x="68" y="23"/>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3" name="Freeform 65"/>
            <p:cNvSpPr>
              <a:spLocks/>
            </p:cNvSpPr>
            <p:nvPr/>
          </p:nvSpPr>
          <p:spPr bwMode="auto">
            <a:xfrm>
              <a:off x="4200" y="4243"/>
              <a:ext cx="52" cy="19"/>
            </a:xfrm>
            <a:custGeom>
              <a:avLst/>
              <a:gdLst/>
              <a:ahLst/>
              <a:cxnLst>
                <a:cxn ang="0">
                  <a:pos x="15" y="15"/>
                </a:cxn>
                <a:cxn ang="0">
                  <a:pos x="4" y="3"/>
                </a:cxn>
                <a:cxn ang="0">
                  <a:pos x="52" y="0"/>
                </a:cxn>
                <a:cxn ang="0">
                  <a:pos x="28" y="29"/>
                </a:cxn>
                <a:cxn ang="0">
                  <a:pos x="0" y="38"/>
                </a:cxn>
                <a:cxn ang="0">
                  <a:pos x="16" y="23"/>
                </a:cxn>
                <a:cxn ang="0">
                  <a:pos x="9" y="19"/>
                </a:cxn>
                <a:cxn ang="0">
                  <a:pos x="15" y="15"/>
                </a:cxn>
              </a:cxnLst>
              <a:rect l="0" t="0" r="r" b="b"/>
              <a:pathLst>
                <a:path w="52" h="38">
                  <a:moveTo>
                    <a:pt x="15" y="15"/>
                  </a:moveTo>
                  <a:lnTo>
                    <a:pt x="4" y="3"/>
                  </a:lnTo>
                  <a:lnTo>
                    <a:pt x="52" y="0"/>
                  </a:lnTo>
                  <a:lnTo>
                    <a:pt x="28" y="29"/>
                  </a:lnTo>
                  <a:lnTo>
                    <a:pt x="0" y="38"/>
                  </a:lnTo>
                  <a:lnTo>
                    <a:pt x="16" y="23"/>
                  </a:lnTo>
                  <a:lnTo>
                    <a:pt x="9" y="19"/>
                  </a:lnTo>
                  <a:lnTo>
                    <a:pt x="15" y="15"/>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4" name="Freeform 66"/>
            <p:cNvSpPr>
              <a:spLocks/>
            </p:cNvSpPr>
            <p:nvPr/>
          </p:nvSpPr>
          <p:spPr bwMode="auto">
            <a:xfrm>
              <a:off x="3408" y="3107"/>
              <a:ext cx="575" cy="358"/>
            </a:xfrm>
            <a:custGeom>
              <a:avLst/>
              <a:gdLst/>
              <a:ahLst/>
              <a:cxnLst>
                <a:cxn ang="0">
                  <a:pos x="385" y="566"/>
                </a:cxn>
                <a:cxn ang="0">
                  <a:pos x="375" y="626"/>
                </a:cxn>
                <a:cxn ang="0">
                  <a:pos x="364" y="684"/>
                </a:cxn>
                <a:cxn ang="0">
                  <a:pos x="355" y="671"/>
                </a:cxn>
                <a:cxn ang="0">
                  <a:pos x="302" y="682"/>
                </a:cxn>
                <a:cxn ang="0">
                  <a:pos x="287" y="711"/>
                </a:cxn>
                <a:cxn ang="0">
                  <a:pos x="264" y="679"/>
                </a:cxn>
                <a:cxn ang="0">
                  <a:pos x="209" y="668"/>
                </a:cxn>
                <a:cxn ang="0">
                  <a:pos x="200" y="660"/>
                </a:cxn>
                <a:cxn ang="0">
                  <a:pos x="162" y="717"/>
                </a:cxn>
                <a:cxn ang="0">
                  <a:pos x="130" y="711"/>
                </a:cxn>
                <a:cxn ang="0">
                  <a:pos x="112" y="663"/>
                </a:cxn>
                <a:cxn ang="0">
                  <a:pos x="93" y="613"/>
                </a:cxn>
                <a:cxn ang="0">
                  <a:pos x="79" y="565"/>
                </a:cxn>
                <a:cxn ang="0">
                  <a:pos x="82" y="525"/>
                </a:cxn>
                <a:cxn ang="0">
                  <a:pos x="56" y="488"/>
                </a:cxn>
                <a:cxn ang="0">
                  <a:pos x="42" y="450"/>
                </a:cxn>
                <a:cxn ang="0">
                  <a:pos x="29" y="425"/>
                </a:cxn>
                <a:cxn ang="0">
                  <a:pos x="29" y="403"/>
                </a:cxn>
                <a:cxn ang="0">
                  <a:pos x="50" y="357"/>
                </a:cxn>
                <a:cxn ang="0">
                  <a:pos x="35" y="351"/>
                </a:cxn>
                <a:cxn ang="0">
                  <a:pos x="29" y="306"/>
                </a:cxn>
                <a:cxn ang="0">
                  <a:pos x="31" y="260"/>
                </a:cxn>
                <a:cxn ang="0">
                  <a:pos x="38" y="231"/>
                </a:cxn>
                <a:cxn ang="0">
                  <a:pos x="38" y="162"/>
                </a:cxn>
                <a:cxn ang="0">
                  <a:pos x="46" y="150"/>
                </a:cxn>
                <a:cxn ang="0">
                  <a:pos x="23" y="107"/>
                </a:cxn>
                <a:cxn ang="0">
                  <a:pos x="0" y="65"/>
                </a:cxn>
                <a:cxn ang="0">
                  <a:pos x="59" y="66"/>
                </a:cxn>
                <a:cxn ang="0">
                  <a:pos x="79" y="50"/>
                </a:cxn>
                <a:cxn ang="0">
                  <a:pos x="118" y="26"/>
                </a:cxn>
                <a:cxn ang="0">
                  <a:pos x="155" y="0"/>
                </a:cxn>
                <a:cxn ang="0">
                  <a:pos x="191" y="4"/>
                </a:cxn>
                <a:cxn ang="0">
                  <a:pos x="196" y="50"/>
                </a:cxn>
                <a:cxn ang="0">
                  <a:pos x="200" y="95"/>
                </a:cxn>
                <a:cxn ang="0">
                  <a:pos x="236" y="136"/>
                </a:cxn>
                <a:cxn ang="0">
                  <a:pos x="268" y="149"/>
                </a:cxn>
                <a:cxn ang="0">
                  <a:pos x="309" y="169"/>
                </a:cxn>
                <a:cxn ang="0">
                  <a:pos x="361" y="205"/>
                </a:cxn>
                <a:cxn ang="0">
                  <a:pos x="412" y="214"/>
                </a:cxn>
                <a:cxn ang="0">
                  <a:pos x="426" y="238"/>
                </a:cxn>
                <a:cxn ang="0">
                  <a:pos x="433" y="293"/>
                </a:cxn>
                <a:cxn ang="0">
                  <a:pos x="424" y="293"/>
                </a:cxn>
                <a:cxn ang="0">
                  <a:pos x="441" y="314"/>
                </a:cxn>
                <a:cxn ang="0">
                  <a:pos x="448" y="357"/>
                </a:cxn>
                <a:cxn ang="0">
                  <a:pos x="489" y="361"/>
                </a:cxn>
                <a:cxn ang="0">
                  <a:pos x="531" y="366"/>
                </a:cxn>
                <a:cxn ang="0">
                  <a:pos x="537" y="413"/>
                </a:cxn>
                <a:cxn ang="0">
                  <a:pos x="566" y="444"/>
                </a:cxn>
                <a:cxn ang="0">
                  <a:pos x="575" y="465"/>
                </a:cxn>
                <a:cxn ang="0">
                  <a:pos x="565" y="506"/>
                </a:cxn>
                <a:cxn ang="0">
                  <a:pos x="555" y="547"/>
                </a:cxn>
                <a:cxn ang="0">
                  <a:pos x="563" y="565"/>
                </a:cxn>
                <a:cxn ang="0">
                  <a:pos x="555" y="571"/>
                </a:cxn>
                <a:cxn ang="0">
                  <a:pos x="557" y="563"/>
                </a:cxn>
                <a:cxn ang="0">
                  <a:pos x="510" y="526"/>
                </a:cxn>
                <a:cxn ang="0">
                  <a:pos x="450" y="535"/>
                </a:cxn>
                <a:cxn ang="0">
                  <a:pos x="391" y="542"/>
                </a:cxn>
                <a:cxn ang="0">
                  <a:pos x="385" y="566"/>
                </a:cxn>
              </a:cxnLst>
              <a:rect l="0" t="0" r="r" b="b"/>
              <a:pathLst>
                <a:path w="575" h="717">
                  <a:moveTo>
                    <a:pt x="385" y="566"/>
                  </a:moveTo>
                  <a:lnTo>
                    <a:pt x="375" y="626"/>
                  </a:lnTo>
                  <a:lnTo>
                    <a:pt x="364" y="684"/>
                  </a:lnTo>
                  <a:lnTo>
                    <a:pt x="355" y="671"/>
                  </a:lnTo>
                  <a:lnTo>
                    <a:pt x="302" y="682"/>
                  </a:lnTo>
                  <a:lnTo>
                    <a:pt x="287" y="711"/>
                  </a:lnTo>
                  <a:lnTo>
                    <a:pt x="264" y="679"/>
                  </a:lnTo>
                  <a:lnTo>
                    <a:pt x="209" y="668"/>
                  </a:lnTo>
                  <a:lnTo>
                    <a:pt x="200" y="660"/>
                  </a:lnTo>
                  <a:lnTo>
                    <a:pt x="162" y="717"/>
                  </a:lnTo>
                  <a:lnTo>
                    <a:pt x="130" y="711"/>
                  </a:lnTo>
                  <a:lnTo>
                    <a:pt x="112" y="663"/>
                  </a:lnTo>
                  <a:lnTo>
                    <a:pt x="93" y="613"/>
                  </a:lnTo>
                  <a:lnTo>
                    <a:pt x="79" y="565"/>
                  </a:lnTo>
                  <a:lnTo>
                    <a:pt x="82" y="525"/>
                  </a:lnTo>
                  <a:lnTo>
                    <a:pt x="56" y="488"/>
                  </a:lnTo>
                  <a:lnTo>
                    <a:pt x="42" y="450"/>
                  </a:lnTo>
                  <a:lnTo>
                    <a:pt x="29" y="425"/>
                  </a:lnTo>
                  <a:lnTo>
                    <a:pt x="29" y="403"/>
                  </a:lnTo>
                  <a:lnTo>
                    <a:pt x="50" y="357"/>
                  </a:lnTo>
                  <a:lnTo>
                    <a:pt x="35" y="351"/>
                  </a:lnTo>
                  <a:lnTo>
                    <a:pt x="29" y="306"/>
                  </a:lnTo>
                  <a:lnTo>
                    <a:pt x="31" y="260"/>
                  </a:lnTo>
                  <a:lnTo>
                    <a:pt x="38" y="231"/>
                  </a:lnTo>
                  <a:lnTo>
                    <a:pt x="38" y="162"/>
                  </a:lnTo>
                  <a:lnTo>
                    <a:pt x="46" y="150"/>
                  </a:lnTo>
                  <a:lnTo>
                    <a:pt x="23" y="107"/>
                  </a:lnTo>
                  <a:lnTo>
                    <a:pt x="0" y="65"/>
                  </a:lnTo>
                  <a:lnTo>
                    <a:pt x="59" y="66"/>
                  </a:lnTo>
                  <a:lnTo>
                    <a:pt x="79" y="50"/>
                  </a:lnTo>
                  <a:lnTo>
                    <a:pt x="118" y="26"/>
                  </a:lnTo>
                  <a:lnTo>
                    <a:pt x="155" y="0"/>
                  </a:lnTo>
                  <a:lnTo>
                    <a:pt x="191" y="4"/>
                  </a:lnTo>
                  <a:lnTo>
                    <a:pt x="196" y="50"/>
                  </a:lnTo>
                  <a:lnTo>
                    <a:pt x="200" y="95"/>
                  </a:lnTo>
                  <a:lnTo>
                    <a:pt x="236" y="136"/>
                  </a:lnTo>
                  <a:lnTo>
                    <a:pt x="268" y="149"/>
                  </a:lnTo>
                  <a:lnTo>
                    <a:pt x="309" y="169"/>
                  </a:lnTo>
                  <a:lnTo>
                    <a:pt x="361" y="205"/>
                  </a:lnTo>
                  <a:lnTo>
                    <a:pt x="412" y="214"/>
                  </a:lnTo>
                  <a:lnTo>
                    <a:pt x="426" y="238"/>
                  </a:lnTo>
                  <a:lnTo>
                    <a:pt x="433" y="293"/>
                  </a:lnTo>
                  <a:lnTo>
                    <a:pt x="424" y="293"/>
                  </a:lnTo>
                  <a:lnTo>
                    <a:pt x="441" y="314"/>
                  </a:lnTo>
                  <a:lnTo>
                    <a:pt x="448" y="357"/>
                  </a:lnTo>
                  <a:lnTo>
                    <a:pt x="489" y="361"/>
                  </a:lnTo>
                  <a:lnTo>
                    <a:pt x="531" y="366"/>
                  </a:lnTo>
                  <a:lnTo>
                    <a:pt x="537" y="413"/>
                  </a:lnTo>
                  <a:lnTo>
                    <a:pt x="566" y="444"/>
                  </a:lnTo>
                  <a:lnTo>
                    <a:pt x="575" y="465"/>
                  </a:lnTo>
                  <a:lnTo>
                    <a:pt x="565" y="506"/>
                  </a:lnTo>
                  <a:lnTo>
                    <a:pt x="555" y="547"/>
                  </a:lnTo>
                  <a:lnTo>
                    <a:pt x="563" y="565"/>
                  </a:lnTo>
                  <a:lnTo>
                    <a:pt x="555" y="571"/>
                  </a:lnTo>
                  <a:lnTo>
                    <a:pt x="557" y="563"/>
                  </a:lnTo>
                  <a:lnTo>
                    <a:pt x="510" y="526"/>
                  </a:lnTo>
                  <a:lnTo>
                    <a:pt x="450" y="535"/>
                  </a:lnTo>
                  <a:lnTo>
                    <a:pt x="391" y="542"/>
                  </a:lnTo>
                  <a:lnTo>
                    <a:pt x="385" y="566"/>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5" name="Freeform 67"/>
            <p:cNvSpPr>
              <a:spLocks/>
            </p:cNvSpPr>
            <p:nvPr/>
          </p:nvSpPr>
          <p:spPr bwMode="auto">
            <a:xfrm>
              <a:off x="3200" y="2694"/>
              <a:ext cx="1798" cy="1071"/>
            </a:xfrm>
            <a:custGeom>
              <a:avLst/>
              <a:gdLst/>
              <a:ahLst/>
              <a:cxnLst>
                <a:cxn ang="0">
                  <a:pos x="1349" y="420"/>
                </a:cxn>
                <a:cxn ang="0">
                  <a:pos x="1325" y="373"/>
                </a:cxn>
                <a:cxn ang="0">
                  <a:pos x="1266" y="347"/>
                </a:cxn>
                <a:cxn ang="0">
                  <a:pos x="1208" y="328"/>
                </a:cxn>
                <a:cxn ang="0">
                  <a:pos x="1142" y="385"/>
                </a:cxn>
                <a:cxn ang="0">
                  <a:pos x="1085" y="394"/>
                </a:cxn>
                <a:cxn ang="0">
                  <a:pos x="990" y="377"/>
                </a:cxn>
                <a:cxn ang="0">
                  <a:pos x="1067" y="256"/>
                </a:cxn>
                <a:cxn ang="0">
                  <a:pos x="1052" y="123"/>
                </a:cxn>
                <a:cxn ang="0">
                  <a:pos x="1024" y="64"/>
                </a:cxn>
                <a:cxn ang="0">
                  <a:pos x="956" y="169"/>
                </a:cxn>
                <a:cxn ang="0">
                  <a:pos x="813" y="159"/>
                </a:cxn>
                <a:cxn ang="0">
                  <a:pos x="702" y="214"/>
                </a:cxn>
                <a:cxn ang="0">
                  <a:pos x="650" y="61"/>
                </a:cxn>
                <a:cxn ang="0">
                  <a:pos x="605" y="4"/>
                </a:cxn>
                <a:cxn ang="0">
                  <a:pos x="507" y="86"/>
                </a:cxn>
                <a:cxn ang="0">
                  <a:pos x="448" y="144"/>
                </a:cxn>
                <a:cxn ang="0">
                  <a:pos x="382" y="247"/>
                </a:cxn>
                <a:cxn ang="0">
                  <a:pos x="305" y="218"/>
                </a:cxn>
                <a:cxn ang="0">
                  <a:pos x="256" y="194"/>
                </a:cxn>
                <a:cxn ang="0">
                  <a:pos x="209" y="242"/>
                </a:cxn>
                <a:cxn ang="0">
                  <a:pos x="197" y="366"/>
                </a:cxn>
                <a:cxn ang="0">
                  <a:pos x="120" y="529"/>
                </a:cxn>
                <a:cxn ang="0">
                  <a:pos x="23" y="649"/>
                </a:cxn>
                <a:cxn ang="0">
                  <a:pos x="40" y="801"/>
                </a:cxn>
                <a:cxn ang="0">
                  <a:pos x="153" y="811"/>
                </a:cxn>
                <a:cxn ang="0">
                  <a:pos x="267" y="891"/>
                </a:cxn>
                <a:cxn ang="0">
                  <a:pos x="399" y="829"/>
                </a:cxn>
                <a:cxn ang="0">
                  <a:pos x="476" y="974"/>
                </a:cxn>
                <a:cxn ang="0">
                  <a:pos x="634" y="1063"/>
                </a:cxn>
                <a:cxn ang="0">
                  <a:pos x="656" y="1182"/>
                </a:cxn>
                <a:cxn ang="0">
                  <a:pos x="774" y="1269"/>
                </a:cxn>
                <a:cxn ang="0">
                  <a:pos x="771" y="1390"/>
                </a:cxn>
                <a:cxn ang="0">
                  <a:pos x="845" y="1508"/>
                </a:cxn>
                <a:cxn ang="0">
                  <a:pos x="929" y="1603"/>
                </a:cxn>
                <a:cxn ang="0">
                  <a:pos x="980" y="1695"/>
                </a:cxn>
                <a:cxn ang="0">
                  <a:pos x="920" y="1851"/>
                </a:cxn>
                <a:cxn ang="0">
                  <a:pos x="848" y="1950"/>
                </a:cxn>
                <a:cxn ang="0">
                  <a:pos x="967" y="2005"/>
                </a:cxn>
                <a:cxn ang="0">
                  <a:pos x="1067" y="2142"/>
                </a:cxn>
                <a:cxn ang="0">
                  <a:pos x="1115" y="2005"/>
                </a:cxn>
                <a:cxn ang="0">
                  <a:pos x="1152" y="1954"/>
                </a:cxn>
                <a:cxn ang="0">
                  <a:pos x="1110" y="2046"/>
                </a:cxn>
                <a:cxn ang="0">
                  <a:pos x="1192" y="1917"/>
                </a:cxn>
                <a:cxn ang="0">
                  <a:pos x="1228" y="1803"/>
                </a:cxn>
                <a:cxn ang="0">
                  <a:pos x="1223" y="1690"/>
                </a:cxn>
                <a:cxn ang="0">
                  <a:pos x="1315" y="1603"/>
                </a:cxn>
                <a:cxn ang="0">
                  <a:pos x="1433" y="1552"/>
                </a:cxn>
                <a:cxn ang="0">
                  <a:pos x="1508" y="1542"/>
                </a:cxn>
                <a:cxn ang="0">
                  <a:pos x="1575" y="1391"/>
                </a:cxn>
                <a:cxn ang="0">
                  <a:pos x="1617" y="1194"/>
                </a:cxn>
                <a:cxn ang="0">
                  <a:pos x="1611" y="1043"/>
                </a:cxn>
                <a:cxn ang="0">
                  <a:pos x="1659" y="961"/>
                </a:cxn>
                <a:cxn ang="0">
                  <a:pos x="1721" y="860"/>
                </a:cxn>
                <a:cxn ang="0">
                  <a:pos x="1777" y="625"/>
                </a:cxn>
                <a:cxn ang="0">
                  <a:pos x="1633" y="509"/>
                </a:cxn>
                <a:cxn ang="0">
                  <a:pos x="1436" y="435"/>
                </a:cxn>
              </a:cxnLst>
              <a:rect l="0" t="0" r="r" b="b"/>
              <a:pathLst>
                <a:path w="1798" h="2142">
                  <a:moveTo>
                    <a:pt x="1364" y="420"/>
                  </a:moveTo>
                  <a:lnTo>
                    <a:pt x="1355" y="428"/>
                  </a:lnTo>
                  <a:lnTo>
                    <a:pt x="1337" y="463"/>
                  </a:lnTo>
                  <a:lnTo>
                    <a:pt x="1349" y="420"/>
                  </a:lnTo>
                  <a:lnTo>
                    <a:pt x="1344" y="410"/>
                  </a:lnTo>
                  <a:lnTo>
                    <a:pt x="1337" y="414"/>
                  </a:lnTo>
                  <a:lnTo>
                    <a:pt x="1341" y="389"/>
                  </a:lnTo>
                  <a:lnTo>
                    <a:pt x="1325" y="373"/>
                  </a:lnTo>
                  <a:lnTo>
                    <a:pt x="1307" y="375"/>
                  </a:lnTo>
                  <a:lnTo>
                    <a:pt x="1302" y="367"/>
                  </a:lnTo>
                  <a:lnTo>
                    <a:pt x="1285" y="358"/>
                  </a:lnTo>
                  <a:lnTo>
                    <a:pt x="1266" y="347"/>
                  </a:lnTo>
                  <a:lnTo>
                    <a:pt x="1248" y="339"/>
                  </a:lnTo>
                  <a:lnTo>
                    <a:pt x="1232" y="335"/>
                  </a:lnTo>
                  <a:lnTo>
                    <a:pt x="1208" y="321"/>
                  </a:lnTo>
                  <a:lnTo>
                    <a:pt x="1208" y="328"/>
                  </a:lnTo>
                  <a:lnTo>
                    <a:pt x="1178" y="335"/>
                  </a:lnTo>
                  <a:lnTo>
                    <a:pt x="1162" y="368"/>
                  </a:lnTo>
                  <a:lnTo>
                    <a:pt x="1160" y="375"/>
                  </a:lnTo>
                  <a:lnTo>
                    <a:pt x="1142" y="385"/>
                  </a:lnTo>
                  <a:lnTo>
                    <a:pt x="1111" y="432"/>
                  </a:lnTo>
                  <a:lnTo>
                    <a:pt x="1115" y="391"/>
                  </a:lnTo>
                  <a:lnTo>
                    <a:pt x="1100" y="401"/>
                  </a:lnTo>
                  <a:lnTo>
                    <a:pt x="1085" y="394"/>
                  </a:lnTo>
                  <a:lnTo>
                    <a:pt x="1069" y="395"/>
                  </a:lnTo>
                  <a:lnTo>
                    <a:pt x="1053" y="342"/>
                  </a:lnTo>
                  <a:lnTo>
                    <a:pt x="1022" y="359"/>
                  </a:lnTo>
                  <a:lnTo>
                    <a:pt x="990" y="377"/>
                  </a:lnTo>
                  <a:lnTo>
                    <a:pt x="974" y="372"/>
                  </a:lnTo>
                  <a:lnTo>
                    <a:pt x="1008" y="351"/>
                  </a:lnTo>
                  <a:lnTo>
                    <a:pt x="1036" y="291"/>
                  </a:lnTo>
                  <a:lnTo>
                    <a:pt x="1067" y="256"/>
                  </a:lnTo>
                  <a:lnTo>
                    <a:pt x="1097" y="219"/>
                  </a:lnTo>
                  <a:lnTo>
                    <a:pt x="1085" y="190"/>
                  </a:lnTo>
                  <a:lnTo>
                    <a:pt x="1062" y="169"/>
                  </a:lnTo>
                  <a:lnTo>
                    <a:pt x="1052" y="123"/>
                  </a:lnTo>
                  <a:lnTo>
                    <a:pt x="1041" y="76"/>
                  </a:lnTo>
                  <a:lnTo>
                    <a:pt x="1040" y="80"/>
                  </a:lnTo>
                  <a:lnTo>
                    <a:pt x="1023" y="53"/>
                  </a:lnTo>
                  <a:lnTo>
                    <a:pt x="1024" y="64"/>
                  </a:lnTo>
                  <a:lnTo>
                    <a:pt x="1018" y="64"/>
                  </a:lnTo>
                  <a:lnTo>
                    <a:pt x="1016" y="67"/>
                  </a:lnTo>
                  <a:lnTo>
                    <a:pt x="986" y="118"/>
                  </a:lnTo>
                  <a:lnTo>
                    <a:pt x="956" y="169"/>
                  </a:lnTo>
                  <a:lnTo>
                    <a:pt x="911" y="166"/>
                  </a:lnTo>
                  <a:lnTo>
                    <a:pt x="881" y="159"/>
                  </a:lnTo>
                  <a:lnTo>
                    <a:pt x="854" y="149"/>
                  </a:lnTo>
                  <a:lnTo>
                    <a:pt x="813" y="159"/>
                  </a:lnTo>
                  <a:lnTo>
                    <a:pt x="815" y="187"/>
                  </a:lnTo>
                  <a:lnTo>
                    <a:pt x="795" y="181"/>
                  </a:lnTo>
                  <a:lnTo>
                    <a:pt x="748" y="190"/>
                  </a:lnTo>
                  <a:lnTo>
                    <a:pt x="702" y="214"/>
                  </a:lnTo>
                  <a:lnTo>
                    <a:pt x="673" y="215"/>
                  </a:lnTo>
                  <a:lnTo>
                    <a:pt x="643" y="175"/>
                  </a:lnTo>
                  <a:lnTo>
                    <a:pt x="638" y="110"/>
                  </a:lnTo>
                  <a:lnTo>
                    <a:pt x="650" y="61"/>
                  </a:lnTo>
                  <a:lnTo>
                    <a:pt x="631" y="31"/>
                  </a:lnTo>
                  <a:lnTo>
                    <a:pt x="628" y="0"/>
                  </a:lnTo>
                  <a:lnTo>
                    <a:pt x="601" y="2"/>
                  </a:lnTo>
                  <a:lnTo>
                    <a:pt x="605" y="4"/>
                  </a:lnTo>
                  <a:lnTo>
                    <a:pt x="592" y="33"/>
                  </a:lnTo>
                  <a:lnTo>
                    <a:pt x="553" y="49"/>
                  </a:lnTo>
                  <a:lnTo>
                    <a:pt x="516" y="67"/>
                  </a:lnTo>
                  <a:lnTo>
                    <a:pt x="507" y="86"/>
                  </a:lnTo>
                  <a:lnTo>
                    <a:pt x="465" y="71"/>
                  </a:lnTo>
                  <a:lnTo>
                    <a:pt x="420" y="54"/>
                  </a:lnTo>
                  <a:lnTo>
                    <a:pt x="434" y="83"/>
                  </a:lnTo>
                  <a:lnTo>
                    <a:pt x="448" y="144"/>
                  </a:lnTo>
                  <a:lnTo>
                    <a:pt x="477" y="156"/>
                  </a:lnTo>
                  <a:lnTo>
                    <a:pt x="469" y="171"/>
                  </a:lnTo>
                  <a:lnTo>
                    <a:pt x="429" y="209"/>
                  </a:lnTo>
                  <a:lnTo>
                    <a:pt x="382" y="247"/>
                  </a:lnTo>
                  <a:lnTo>
                    <a:pt x="376" y="242"/>
                  </a:lnTo>
                  <a:lnTo>
                    <a:pt x="351" y="245"/>
                  </a:lnTo>
                  <a:lnTo>
                    <a:pt x="315" y="221"/>
                  </a:lnTo>
                  <a:lnTo>
                    <a:pt x="305" y="218"/>
                  </a:lnTo>
                  <a:lnTo>
                    <a:pt x="288" y="172"/>
                  </a:lnTo>
                  <a:lnTo>
                    <a:pt x="263" y="191"/>
                  </a:lnTo>
                  <a:lnTo>
                    <a:pt x="251" y="186"/>
                  </a:lnTo>
                  <a:lnTo>
                    <a:pt x="256" y="194"/>
                  </a:lnTo>
                  <a:lnTo>
                    <a:pt x="218" y="194"/>
                  </a:lnTo>
                  <a:lnTo>
                    <a:pt x="178" y="194"/>
                  </a:lnTo>
                  <a:lnTo>
                    <a:pt x="184" y="229"/>
                  </a:lnTo>
                  <a:lnTo>
                    <a:pt x="209" y="242"/>
                  </a:lnTo>
                  <a:lnTo>
                    <a:pt x="199" y="253"/>
                  </a:lnTo>
                  <a:lnTo>
                    <a:pt x="167" y="256"/>
                  </a:lnTo>
                  <a:lnTo>
                    <a:pt x="178" y="309"/>
                  </a:lnTo>
                  <a:lnTo>
                    <a:pt x="197" y="366"/>
                  </a:lnTo>
                  <a:lnTo>
                    <a:pt x="186" y="443"/>
                  </a:lnTo>
                  <a:lnTo>
                    <a:pt x="175" y="520"/>
                  </a:lnTo>
                  <a:lnTo>
                    <a:pt x="160" y="518"/>
                  </a:lnTo>
                  <a:lnTo>
                    <a:pt x="120" y="529"/>
                  </a:lnTo>
                  <a:lnTo>
                    <a:pt x="84" y="547"/>
                  </a:lnTo>
                  <a:lnTo>
                    <a:pt x="48" y="566"/>
                  </a:lnTo>
                  <a:lnTo>
                    <a:pt x="35" y="608"/>
                  </a:lnTo>
                  <a:lnTo>
                    <a:pt x="23" y="649"/>
                  </a:lnTo>
                  <a:lnTo>
                    <a:pt x="0" y="694"/>
                  </a:lnTo>
                  <a:lnTo>
                    <a:pt x="20" y="735"/>
                  </a:lnTo>
                  <a:lnTo>
                    <a:pt x="41" y="777"/>
                  </a:lnTo>
                  <a:lnTo>
                    <a:pt x="40" y="801"/>
                  </a:lnTo>
                  <a:lnTo>
                    <a:pt x="58" y="805"/>
                  </a:lnTo>
                  <a:lnTo>
                    <a:pt x="84" y="828"/>
                  </a:lnTo>
                  <a:lnTo>
                    <a:pt x="121" y="838"/>
                  </a:lnTo>
                  <a:lnTo>
                    <a:pt x="153" y="811"/>
                  </a:lnTo>
                  <a:lnTo>
                    <a:pt x="155" y="852"/>
                  </a:lnTo>
                  <a:lnTo>
                    <a:pt x="159" y="894"/>
                  </a:lnTo>
                  <a:lnTo>
                    <a:pt x="208" y="890"/>
                  </a:lnTo>
                  <a:lnTo>
                    <a:pt x="267" y="891"/>
                  </a:lnTo>
                  <a:lnTo>
                    <a:pt x="287" y="875"/>
                  </a:lnTo>
                  <a:lnTo>
                    <a:pt x="326" y="851"/>
                  </a:lnTo>
                  <a:lnTo>
                    <a:pt x="363" y="825"/>
                  </a:lnTo>
                  <a:lnTo>
                    <a:pt x="399" y="829"/>
                  </a:lnTo>
                  <a:lnTo>
                    <a:pt x="404" y="875"/>
                  </a:lnTo>
                  <a:lnTo>
                    <a:pt x="408" y="920"/>
                  </a:lnTo>
                  <a:lnTo>
                    <a:pt x="444" y="961"/>
                  </a:lnTo>
                  <a:lnTo>
                    <a:pt x="476" y="974"/>
                  </a:lnTo>
                  <a:lnTo>
                    <a:pt x="517" y="994"/>
                  </a:lnTo>
                  <a:lnTo>
                    <a:pt x="569" y="1030"/>
                  </a:lnTo>
                  <a:lnTo>
                    <a:pt x="620" y="1039"/>
                  </a:lnTo>
                  <a:lnTo>
                    <a:pt x="634" y="1063"/>
                  </a:lnTo>
                  <a:lnTo>
                    <a:pt x="641" y="1118"/>
                  </a:lnTo>
                  <a:lnTo>
                    <a:pt x="632" y="1118"/>
                  </a:lnTo>
                  <a:lnTo>
                    <a:pt x="649" y="1139"/>
                  </a:lnTo>
                  <a:lnTo>
                    <a:pt x="656" y="1182"/>
                  </a:lnTo>
                  <a:lnTo>
                    <a:pt x="697" y="1186"/>
                  </a:lnTo>
                  <a:lnTo>
                    <a:pt x="739" y="1191"/>
                  </a:lnTo>
                  <a:lnTo>
                    <a:pt x="745" y="1238"/>
                  </a:lnTo>
                  <a:lnTo>
                    <a:pt x="774" y="1269"/>
                  </a:lnTo>
                  <a:lnTo>
                    <a:pt x="783" y="1290"/>
                  </a:lnTo>
                  <a:lnTo>
                    <a:pt x="773" y="1331"/>
                  </a:lnTo>
                  <a:lnTo>
                    <a:pt x="763" y="1372"/>
                  </a:lnTo>
                  <a:lnTo>
                    <a:pt x="771" y="1390"/>
                  </a:lnTo>
                  <a:lnTo>
                    <a:pt x="763" y="1396"/>
                  </a:lnTo>
                  <a:lnTo>
                    <a:pt x="773" y="1420"/>
                  </a:lnTo>
                  <a:lnTo>
                    <a:pt x="780" y="1498"/>
                  </a:lnTo>
                  <a:lnTo>
                    <a:pt x="845" y="1508"/>
                  </a:lnTo>
                  <a:lnTo>
                    <a:pt x="879" y="1513"/>
                  </a:lnTo>
                  <a:lnTo>
                    <a:pt x="892" y="1557"/>
                  </a:lnTo>
                  <a:lnTo>
                    <a:pt x="905" y="1603"/>
                  </a:lnTo>
                  <a:lnTo>
                    <a:pt x="929" y="1603"/>
                  </a:lnTo>
                  <a:lnTo>
                    <a:pt x="953" y="1605"/>
                  </a:lnTo>
                  <a:lnTo>
                    <a:pt x="952" y="1650"/>
                  </a:lnTo>
                  <a:lnTo>
                    <a:pt x="951" y="1693"/>
                  </a:lnTo>
                  <a:lnTo>
                    <a:pt x="980" y="1695"/>
                  </a:lnTo>
                  <a:lnTo>
                    <a:pt x="999" y="1765"/>
                  </a:lnTo>
                  <a:lnTo>
                    <a:pt x="972" y="1791"/>
                  </a:lnTo>
                  <a:lnTo>
                    <a:pt x="944" y="1818"/>
                  </a:lnTo>
                  <a:lnTo>
                    <a:pt x="920" y="1851"/>
                  </a:lnTo>
                  <a:lnTo>
                    <a:pt x="896" y="1883"/>
                  </a:lnTo>
                  <a:lnTo>
                    <a:pt x="870" y="1914"/>
                  </a:lnTo>
                  <a:lnTo>
                    <a:pt x="848" y="1946"/>
                  </a:lnTo>
                  <a:lnTo>
                    <a:pt x="848" y="1950"/>
                  </a:lnTo>
                  <a:lnTo>
                    <a:pt x="872" y="1943"/>
                  </a:lnTo>
                  <a:lnTo>
                    <a:pt x="926" y="1988"/>
                  </a:lnTo>
                  <a:lnTo>
                    <a:pt x="939" y="1989"/>
                  </a:lnTo>
                  <a:lnTo>
                    <a:pt x="967" y="2005"/>
                  </a:lnTo>
                  <a:lnTo>
                    <a:pt x="1014" y="2042"/>
                  </a:lnTo>
                  <a:lnTo>
                    <a:pt x="1062" y="2079"/>
                  </a:lnTo>
                  <a:lnTo>
                    <a:pt x="1057" y="2105"/>
                  </a:lnTo>
                  <a:lnTo>
                    <a:pt x="1067" y="2142"/>
                  </a:lnTo>
                  <a:lnTo>
                    <a:pt x="1083" y="2108"/>
                  </a:lnTo>
                  <a:lnTo>
                    <a:pt x="1100" y="2074"/>
                  </a:lnTo>
                  <a:lnTo>
                    <a:pt x="1101" y="2040"/>
                  </a:lnTo>
                  <a:lnTo>
                    <a:pt x="1115" y="2005"/>
                  </a:lnTo>
                  <a:lnTo>
                    <a:pt x="1134" y="1980"/>
                  </a:lnTo>
                  <a:lnTo>
                    <a:pt x="1129" y="1950"/>
                  </a:lnTo>
                  <a:lnTo>
                    <a:pt x="1130" y="1946"/>
                  </a:lnTo>
                  <a:lnTo>
                    <a:pt x="1152" y="1954"/>
                  </a:lnTo>
                  <a:lnTo>
                    <a:pt x="1163" y="1956"/>
                  </a:lnTo>
                  <a:lnTo>
                    <a:pt x="1142" y="1997"/>
                  </a:lnTo>
                  <a:lnTo>
                    <a:pt x="1123" y="2036"/>
                  </a:lnTo>
                  <a:lnTo>
                    <a:pt x="1110" y="2046"/>
                  </a:lnTo>
                  <a:lnTo>
                    <a:pt x="1113" y="2051"/>
                  </a:lnTo>
                  <a:lnTo>
                    <a:pt x="1143" y="2007"/>
                  </a:lnTo>
                  <a:lnTo>
                    <a:pt x="1174" y="1962"/>
                  </a:lnTo>
                  <a:lnTo>
                    <a:pt x="1192" y="1917"/>
                  </a:lnTo>
                  <a:lnTo>
                    <a:pt x="1211" y="1873"/>
                  </a:lnTo>
                  <a:lnTo>
                    <a:pt x="1224" y="1848"/>
                  </a:lnTo>
                  <a:lnTo>
                    <a:pt x="1228" y="1847"/>
                  </a:lnTo>
                  <a:lnTo>
                    <a:pt x="1228" y="1803"/>
                  </a:lnTo>
                  <a:lnTo>
                    <a:pt x="1228" y="1759"/>
                  </a:lnTo>
                  <a:lnTo>
                    <a:pt x="1218" y="1728"/>
                  </a:lnTo>
                  <a:lnTo>
                    <a:pt x="1216" y="1709"/>
                  </a:lnTo>
                  <a:lnTo>
                    <a:pt x="1223" y="1690"/>
                  </a:lnTo>
                  <a:lnTo>
                    <a:pt x="1218" y="1686"/>
                  </a:lnTo>
                  <a:lnTo>
                    <a:pt x="1236" y="1681"/>
                  </a:lnTo>
                  <a:lnTo>
                    <a:pt x="1276" y="1642"/>
                  </a:lnTo>
                  <a:lnTo>
                    <a:pt x="1315" y="1603"/>
                  </a:lnTo>
                  <a:lnTo>
                    <a:pt x="1354" y="1590"/>
                  </a:lnTo>
                  <a:lnTo>
                    <a:pt x="1388" y="1565"/>
                  </a:lnTo>
                  <a:lnTo>
                    <a:pt x="1403" y="1552"/>
                  </a:lnTo>
                  <a:lnTo>
                    <a:pt x="1433" y="1552"/>
                  </a:lnTo>
                  <a:lnTo>
                    <a:pt x="1419" y="1556"/>
                  </a:lnTo>
                  <a:lnTo>
                    <a:pt x="1449" y="1543"/>
                  </a:lnTo>
                  <a:lnTo>
                    <a:pt x="1456" y="1542"/>
                  </a:lnTo>
                  <a:lnTo>
                    <a:pt x="1508" y="1542"/>
                  </a:lnTo>
                  <a:lnTo>
                    <a:pt x="1521" y="1510"/>
                  </a:lnTo>
                  <a:lnTo>
                    <a:pt x="1549" y="1494"/>
                  </a:lnTo>
                  <a:lnTo>
                    <a:pt x="1554" y="1433"/>
                  </a:lnTo>
                  <a:lnTo>
                    <a:pt x="1575" y="1391"/>
                  </a:lnTo>
                  <a:lnTo>
                    <a:pt x="1597" y="1348"/>
                  </a:lnTo>
                  <a:lnTo>
                    <a:pt x="1604" y="1275"/>
                  </a:lnTo>
                  <a:lnTo>
                    <a:pt x="1615" y="1247"/>
                  </a:lnTo>
                  <a:lnTo>
                    <a:pt x="1617" y="1194"/>
                  </a:lnTo>
                  <a:lnTo>
                    <a:pt x="1620" y="1141"/>
                  </a:lnTo>
                  <a:lnTo>
                    <a:pt x="1618" y="1100"/>
                  </a:lnTo>
                  <a:lnTo>
                    <a:pt x="1617" y="1060"/>
                  </a:lnTo>
                  <a:lnTo>
                    <a:pt x="1611" y="1043"/>
                  </a:lnTo>
                  <a:lnTo>
                    <a:pt x="1618" y="991"/>
                  </a:lnTo>
                  <a:lnTo>
                    <a:pt x="1632" y="986"/>
                  </a:lnTo>
                  <a:lnTo>
                    <a:pt x="1636" y="1003"/>
                  </a:lnTo>
                  <a:lnTo>
                    <a:pt x="1659" y="961"/>
                  </a:lnTo>
                  <a:lnTo>
                    <a:pt x="1683" y="917"/>
                  </a:lnTo>
                  <a:lnTo>
                    <a:pt x="1685" y="911"/>
                  </a:lnTo>
                  <a:lnTo>
                    <a:pt x="1694" y="899"/>
                  </a:lnTo>
                  <a:lnTo>
                    <a:pt x="1721" y="860"/>
                  </a:lnTo>
                  <a:lnTo>
                    <a:pt x="1748" y="819"/>
                  </a:lnTo>
                  <a:lnTo>
                    <a:pt x="1789" y="758"/>
                  </a:lnTo>
                  <a:lnTo>
                    <a:pt x="1798" y="682"/>
                  </a:lnTo>
                  <a:lnTo>
                    <a:pt x="1777" y="625"/>
                  </a:lnTo>
                  <a:lnTo>
                    <a:pt x="1758" y="570"/>
                  </a:lnTo>
                  <a:lnTo>
                    <a:pt x="1721" y="562"/>
                  </a:lnTo>
                  <a:lnTo>
                    <a:pt x="1683" y="556"/>
                  </a:lnTo>
                  <a:lnTo>
                    <a:pt x="1633" y="509"/>
                  </a:lnTo>
                  <a:lnTo>
                    <a:pt x="1584" y="463"/>
                  </a:lnTo>
                  <a:lnTo>
                    <a:pt x="1520" y="444"/>
                  </a:lnTo>
                  <a:lnTo>
                    <a:pt x="1477" y="446"/>
                  </a:lnTo>
                  <a:lnTo>
                    <a:pt x="1436" y="435"/>
                  </a:lnTo>
                  <a:lnTo>
                    <a:pt x="1395" y="425"/>
                  </a:lnTo>
                  <a:lnTo>
                    <a:pt x="1360" y="438"/>
                  </a:lnTo>
                  <a:lnTo>
                    <a:pt x="1364" y="420"/>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6" name="Freeform 68"/>
            <p:cNvSpPr>
              <a:spLocks/>
            </p:cNvSpPr>
            <p:nvPr/>
          </p:nvSpPr>
          <p:spPr bwMode="auto">
            <a:xfrm>
              <a:off x="4257" y="2841"/>
              <a:ext cx="109" cy="47"/>
            </a:xfrm>
            <a:custGeom>
              <a:avLst/>
              <a:gdLst/>
              <a:ahLst/>
              <a:cxnLst>
                <a:cxn ang="0">
                  <a:pos x="56" y="87"/>
                </a:cxn>
                <a:cxn ang="0">
                  <a:pos x="48" y="91"/>
                </a:cxn>
                <a:cxn ang="0">
                  <a:pos x="24" y="81"/>
                </a:cxn>
                <a:cxn ang="0">
                  <a:pos x="14" y="95"/>
                </a:cxn>
                <a:cxn ang="0">
                  <a:pos x="0" y="54"/>
                </a:cxn>
                <a:cxn ang="0">
                  <a:pos x="7" y="53"/>
                </a:cxn>
                <a:cxn ang="0">
                  <a:pos x="3" y="30"/>
                </a:cxn>
                <a:cxn ang="0">
                  <a:pos x="18" y="0"/>
                </a:cxn>
                <a:cxn ang="0">
                  <a:pos x="64" y="7"/>
                </a:cxn>
                <a:cxn ang="0">
                  <a:pos x="109" y="15"/>
                </a:cxn>
                <a:cxn ang="0">
                  <a:pos x="88" y="60"/>
                </a:cxn>
                <a:cxn ang="0">
                  <a:pos x="84" y="65"/>
                </a:cxn>
                <a:cxn ang="0">
                  <a:pos x="79" y="78"/>
                </a:cxn>
                <a:cxn ang="0">
                  <a:pos x="72" y="78"/>
                </a:cxn>
                <a:cxn ang="0">
                  <a:pos x="56" y="87"/>
                </a:cxn>
              </a:cxnLst>
              <a:rect l="0" t="0" r="r" b="b"/>
              <a:pathLst>
                <a:path w="109" h="95">
                  <a:moveTo>
                    <a:pt x="56" y="87"/>
                  </a:moveTo>
                  <a:lnTo>
                    <a:pt x="48" y="91"/>
                  </a:lnTo>
                  <a:lnTo>
                    <a:pt x="24" y="81"/>
                  </a:lnTo>
                  <a:lnTo>
                    <a:pt x="14" y="95"/>
                  </a:lnTo>
                  <a:lnTo>
                    <a:pt x="0" y="54"/>
                  </a:lnTo>
                  <a:lnTo>
                    <a:pt x="7" y="53"/>
                  </a:lnTo>
                  <a:lnTo>
                    <a:pt x="3" y="30"/>
                  </a:lnTo>
                  <a:lnTo>
                    <a:pt x="18" y="0"/>
                  </a:lnTo>
                  <a:lnTo>
                    <a:pt x="64" y="7"/>
                  </a:lnTo>
                  <a:lnTo>
                    <a:pt x="109" y="15"/>
                  </a:lnTo>
                  <a:lnTo>
                    <a:pt x="88" y="60"/>
                  </a:lnTo>
                  <a:lnTo>
                    <a:pt x="84" y="65"/>
                  </a:lnTo>
                  <a:lnTo>
                    <a:pt x="79" y="78"/>
                  </a:lnTo>
                  <a:lnTo>
                    <a:pt x="72" y="78"/>
                  </a:lnTo>
                  <a:lnTo>
                    <a:pt x="56" y="87"/>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7" name="Freeform 69"/>
            <p:cNvSpPr>
              <a:spLocks/>
            </p:cNvSpPr>
            <p:nvPr/>
          </p:nvSpPr>
          <p:spPr bwMode="auto">
            <a:xfrm>
              <a:off x="3772" y="3369"/>
              <a:ext cx="381" cy="224"/>
            </a:xfrm>
            <a:custGeom>
              <a:avLst/>
              <a:gdLst/>
              <a:ahLst/>
              <a:cxnLst>
                <a:cxn ang="0">
                  <a:pos x="21" y="40"/>
                </a:cxn>
                <a:cxn ang="0">
                  <a:pos x="11" y="100"/>
                </a:cxn>
                <a:cxn ang="0">
                  <a:pos x="0" y="158"/>
                </a:cxn>
                <a:cxn ang="0">
                  <a:pos x="45" y="204"/>
                </a:cxn>
                <a:cxn ang="0">
                  <a:pos x="89" y="248"/>
                </a:cxn>
                <a:cxn ang="0">
                  <a:pos x="127" y="266"/>
                </a:cxn>
                <a:cxn ang="0">
                  <a:pos x="164" y="285"/>
                </a:cxn>
                <a:cxn ang="0">
                  <a:pos x="205" y="309"/>
                </a:cxn>
                <a:cxn ang="0">
                  <a:pos x="246" y="334"/>
                </a:cxn>
                <a:cxn ang="0">
                  <a:pos x="229" y="386"/>
                </a:cxn>
                <a:cxn ang="0">
                  <a:pos x="212" y="438"/>
                </a:cxn>
                <a:cxn ang="0">
                  <a:pos x="265" y="442"/>
                </a:cxn>
                <a:cxn ang="0">
                  <a:pos x="318" y="447"/>
                </a:cxn>
                <a:cxn ang="0">
                  <a:pos x="347" y="434"/>
                </a:cxn>
                <a:cxn ang="0">
                  <a:pos x="381" y="377"/>
                </a:cxn>
                <a:cxn ang="0">
                  <a:pos x="379" y="342"/>
                </a:cxn>
                <a:cxn ang="0">
                  <a:pos x="380" y="299"/>
                </a:cxn>
                <a:cxn ang="0">
                  <a:pos x="381" y="254"/>
                </a:cxn>
                <a:cxn ang="0">
                  <a:pos x="357" y="252"/>
                </a:cxn>
                <a:cxn ang="0">
                  <a:pos x="333" y="252"/>
                </a:cxn>
                <a:cxn ang="0">
                  <a:pos x="320" y="206"/>
                </a:cxn>
                <a:cxn ang="0">
                  <a:pos x="307" y="162"/>
                </a:cxn>
                <a:cxn ang="0">
                  <a:pos x="273" y="157"/>
                </a:cxn>
                <a:cxn ang="0">
                  <a:pos x="208" y="147"/>
                </a:cxn>
                <a:cxn ang="0">
                  <a:pos x="201" y="69"/>
                </a:cxn>
                <a:cxn ang="0">
                  <a:pos x="191" y="45"/>
                </a:cxn>
                <a:cxn ang="0">
                  <a:pos x="193" y="37"/>
                </a:cxn>
                <a:cxn ang="0">
                  <a:pos x="146" y="0"/>
                </a:cxn>
                <a:cxn ang="0">
                  <a:pos x="86" y="9"/>
                </a:cxn>
                <a:cxn ang="0">
                  <a:pos x="27" y="16"/>
                </a:cxn>
                <a:cxn ang="0">
                  <a:pos x="21" y="40"/>
                </a:cxn>
              </a:cxnLst>
              <a:rect l="0" t="0" r="r" b="b"/>
              <a:pathLst>
                <a:path w="381" h="447">
                  <a:moveTo>
                    <a:pt x="21" y="40"/>
                  </a:moveTo>
                  <a:lnTo>
                    <a:pt x="11" y="100"/>
                  </a:lnTo>
                  <a:lnTo>
                    <a:pt x="0" y="158"/>
                  </a:lnTo>
                  <a:lnTo>
                    <a:pt x="45" y="204"/>
                  </a:lnTo>
                  <a:lnTo>
                    <a:pt x="89" y="248"/>
                  </a:lnTo>
                  <a:lnTo>
                    <a:pt x="127" y="266"/>
                  </a:lnTo>
                  <a:lnTo>
                    <a:pt x="164" y="285"/>
                  </a:lnTo>
                  <a:lnTo>
                    <a:pt x="205" y="309"/>
                  </a:lnTo>
                  <a:lnTo>
                    <a:pt x="246" y="334"/>
                  </a:lnTo>
                  <a:lnTo>
                    <a:pt x="229" y="386"/>
                  </a:lnTo>
                  <a:lnTo>
                    <a:pt x="212" y="438"/>
                  </a:lnTo>
                  <a:lnTo>
                    <a:pt x="265" y="442"/>
                  </a:lnTo>
                  <a:lnTo>
                    <a:pt x="318" y="447"/>
                  </a:lnTo>
                  <a:lnTo>
                    <a:pt x="347" y="434"/>
                  </a:lnTo>
                  <a:lnTo>
                    <a:pt x="381" y="377"/>
                  </a:lnTo>
                  <a:lnTo>
                    <a:pt x="379" y="342"/>
                  </a:lnTo>
                  <a:lnTo>
                    <a:pt x="380" y="299"/>
                  </a:lnTo>
                  <a:lnTo>
                    <a:pt x="381" y="254"/>
                  </a:lnTo>
                  <a:lnTo>
                    <a:pt x="357" y="252"/>
                  </a:lnTo>
                  <a:lnTo>
                    <a:pt x="333" y="252"/>
                  </a:lnTo>
                  <a:lnTo>
                    <a:pt x="320" y="206"/>
                  </a:lnTo>
                  <a:lnTo>
                    <a:pt x="307" y="162"/>
                  </a:lnTo>
                  <a:lnTo>
                    <a:pt x="273" y="157"/>
                  </a:lnTo>
                  <a:lnTo>
                    <a:pt x="208" y="147"/>
                  </a:lnTo>
                  <a:lnTo>
                    <a:pt x="201" y="69"/>
                  </a:lnTo>
                  <a:lnTo>
                    <a:pt x="191" y="45"/>
                  </a:lnTo>
                  <a:lnTo>
                    <a:pt x="193" y="37"/>
                  </a:lnTo>
                  <a:lnTo>
                    <a:pt x="146" y="0"/>
                  </a:lnTo>
                  <a:lnTo>
                    <a:pt x="86" y="9"/>
                  </a:lnTo>
                  <a:lnTo>
                    <a:pt x="27" y="16"/>
                  </a:lnTo>
                  <a:lnTo>
                    <a:pt x="21" y="40"/>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8" name="Freeform 70"/>
            <p:cNvSpPr>
              <a:spLocks/>
            </p:cNvSpPr>
            <p:nvPr/>
          </p:nvSpPr>
          <p:spPr bwMode="auto">
            <a:xfrm>
              <a:off x="4043" y="3666"/>
              <a:ext cx="224" cy="131"/>
            </a:xfrm>
            <a:custGeom>
              <a:avLst/>
              <a:gdLst/>
              <a:ahLst/>
              <a:cxnLst>
                <a:cxn ang="0">
                  <a:pos x="219" y="136"/>
                </a:cxn>
                <a:cxn ang="0">
                  <a:pos x="171" y="99"/>
                </a:cxn>
                <a:cxn ang="0">
                  <a:pos x="124" y="62"/>
                </a:cxn>
                <a:cxn ang="0">
                  <a:pos x="96" y="46"/>
                </a:cxn>
                <a:cxn ang="0">
                  <a:pos x="83" y="45"/>
                </a:cxn>
                <a:cxn ang="0">
                  <a:pos x="29" y="0"/>
                </a:cxn>
                <a:cxn ang="0">
                  <a:pos x="5" y="7"/>
                </a:cxn>
                <a:cxn ang="0">
                  <a:pos x="6" y="9"/>
                </a:cxn>
                <a:cxn ang="0">
                  <a:pos x="2" y="69"/>
                </a:cxn>
                <a:cxn ang="0">
                  <a:pos x="0" y="128"/>
                </a:cxn>
                <a:cxn ang="0">
                  <a:pos x="3" y="136"/>
                </a:cxn>
                <a:cxn ang="0">
                  <a:pos x="0" y="180"/>
                </a:cxn>
                <a:cxn ang="0">
                  <a:pos x="23" y="226"/>
                </a:cxn>
                <a:cxn ang="0">
                  <a:pos x="78" y="250"/>
                </a:cxn>
                <a:cxn ang="0">
                  <a:pos x="151" y="263"/>
                </a:cxn>
                <a:cxn ang="0">
                  <a:pos x="192" y="245"/>
                </a:cxn>
                <a:cxn ang="0">
                  <a:pos x="224" y="199"/>
                </a:cxn>
                <a:cxn ang="0">
                  <a:pos x="214" y="162"/>
                </a:cxn>
                <a:cxn ang="0">
                  <a:pos x="219" y="136"/>
                </a:cxn>
              </a:cxnLst>
              <a:rect l="0" t="0" r="r" b="b"/>
              <a:pathLst>
                <a:path w="224" h="263">
                  <a:moveTo>
                    <a:pt x="219" y="136"/>
                  </a:moveTo>
                  <a:lnTo>
                    <a:pt x="171" y="99"/>
                  </a:lnTo>
                  <a:lnTo>
                    <a:pt x="124" y="62"/>
                  </a:lnTo>
                  <a:lnTo>
                    <a:pt x="96" y="46"/>
                  </a:lnTo>
                  <a:lnTo>
                    <a:pt x="83" y="45"/>
                  </a:lnTo>
                  <a:lnTo>
                    <a:pt x="29" y="0"/>
                  </a:lnTo>
                  <a:lnTo>
                    <a:pt x="5" y="7"/>
                  </a:lnTo>
                  <a:lnTo>
                    <a:pt x="6" y="9"/>
                  </a:lnTo>
                  <a:lnTo>
                    <a:pt x="2" y="69"/>
                  </a:lnTo>
                  <a:lnTo>
                    <a:pt x="0" y="128"/>
                  </a:lnTo>
                  <a:lnTo>
                    <a:pt x="3" y="136"/>
                  </a:lnTo>
                  <a:lnTo>
                    <a:pt x="0" y="180"/>
                  </a:lnTo>
                  <a:lnTo>
                    <a:pt x="23" y="226"/>
                  </a:lnTo>
                  <a:lnTo>
                    <a:pt x="78" y="250"/>
                  </a:lnTo>
                  <a:lnTo>
                    <a:pt x="151" y="263"/>
                  </a:lnTo>
                  <a:lnTo>
                    <a:pt x="192" y="245"/>
                  </a:lnTo>
                  <a:lnTo>
                    <a:pt x="224" y="199"/>
                  </a:lnTo>
                  <a:lnTo>
                    <a:pt x="214" y="162"/>
                  </a:lnTo>
                  <a:lnTo>
                    <a:pt x="219" y="136"/>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399" name="Freeform 71"/>
            <p:cNvSpPr>
              <a:spLocks/>
            </p:cNvSpPr>
            <p:nvPr/>
          </p:nvSpPr>
          <p:spPr bwMode="auto">
            <a:xfrm>
              <a:off x="3493" y="3437"/>
              <a:ext cx="706" cy="832"/>
            </a:xfrm>
            <a:custGeom>
              <a:avLst/>
              <a:gdLst/>
              <a:ahLst/>
              <a:cxnLst>
                <a:cxn ang="0">
                  <a:pos x="394" y="1055"/>
                </a:cxn>
                <a:cxn ang="0">
                  <a:pos x="384" y="1119"/>
                </a:cxn>
                <a:cxn ang="0">
                  <a:pos x="414" y="1123"/>
                </a:cxn>
                <a:cxn ang="0">
                  <a:pos x="439" y="1154"/>
                </a:cxn>
                <a:cxn ang="0">
                  <a:pos x="384" y="1145"/>
                </a:cxn>
                <a:cxn ang="0">
                  <a:pos x="386" y="1204"/>
                </a:cxn>
                <a:cxn ang="0">
                  <a:pos x="384" y="1273"/>
                </a:cxn>
                <a:cxn ang="0">
                  <a:pos x="338" y="1349"/>
                </a:cxn>
                <a:cxn ang="0">
                  <a:pos x="428" y="1399"/>
                </a:cxn>
                <a:cxn ang="0">
                  <a:pos x="430" y="1431"/>
                </a:cxn>
                <a:cxn ang="0">
                  <a:pos x="384" y="1500"/>
                </a:cxn>
                <a:cxn ang="0">
                  <a:pos x="357" y="1535"/>
                </a:cxn>
                <a:cxn ang="0">
                  <a:pos x="371" y="1550"/>
                </a:cxn>
                <a:cxn ang="0">
                  <a:pos x="351" y="1593"/>
                </a:cxn>
                <a:cxn ang="0">
                  <a:pos x="361" y="1623"/>
                </a:cxn>
                <a:cxn ang="0">
                  <a:pos x="415" y="1665"/>
                </a:cxn>
                <a:cxn ang="0">
                  <a:pos x="265" y="1637"/>
                </a:cxn>
                <a:cxn ang="0">
                  <a:pos x="214" y="1573"/>
                </a:cxn>
                <a:cxn ang="0">
                  <a:pos x="151" y="1503"/>
                </a:cxn>
                <a:cxn ang="0">
                  <a:pos x="170" y="1398"/>
                </a:cxn>
                <a:cxn ang="0">
                  <a:pos x="157" y="1294"/>
                </a:cxn>
                <a:cxn ang="0">
                  <a:pos x="129" y="1260"/>
                </a:cxn>
                <a:cxn ang="0">
                  <a:pos x="123" y="1228"/>
                </a:cxn>
                <a:cxn ang="0">
                  <a:pos x="82" y="1141"/>
                </a:cxn>
                <a:cxn ang="0">
                  <a:pos x="64" y="1023"/>
                </a:cxn>
                <a:cxn ang="0">
                  <a:pos x="68" y="932"/>
                </a:cxn>
                <a:cxn ang="0">
                  <a:pos x="50" y="853"/>
                </a:cxn>
                <a:cxn ang="0">
                  <a:pos x="58" y="771"/>
                </a:cxn>
                <a:cxn ang="0">
                  <a:pos x="54" y="665"/>
                </a:cxn>
                <a:cxn ang="0">
                  <a:pos x="22" y="588"/>
                </a:cxn>
                <a:cxn ang="0">
                  <a:pos x="3" y="508"/>
                </a:cxn>
                <a:cxn ang="0">
                  <a:pos x="6" y="433"/>
                </a:cxn>
                <a:cxn ang="0">
                  <a:pos x="24" y="344"/>
                </a:cxn>
                <a:cxn ang="0">
                  <a:pos x="56" y="280"/>
                </a:cxn>
                <a:cxn ang="0">
                  <a:pos x="30" y="171"/>
                </a:cxn>
                <a:cxn ang="0">
                  <a:pos x="77" y="123"/>
                </a:cxn>
                <a:cxn ang="0">
                  <a:pos x="77" y="57"/>
                </a:cxn>
                <a:cxn ang="0">
                  <a:pos x="124" y="8"/>
                </a:cxn>
                <a:cxn ang="0">
                  <a:pos x="202" y="51"/>
                </a:cxn>
                <a:cxn ang="0">
                  <a:pos x="270" y="11"/>
                </a:cxn>
                <a:cxn ang="0">
                  <a:pos x="324" y="70"/>
                </a:cxn>
                <a:cxn ang="0">
                  <a:pos x="406" y="132"/>
                </a:cxn>
                <a:cxn ang="0">
                  <a:pos x="484" y="175"/>
                </a:cxn>
                <a:cxn ang="0">
                  <a:pos x="508" y="252"/>
                </a:cxn>
                <a:cxn ang="0">
                  <a:pos x="544" y="308"/>
                </a:cxn>
                <a:cxn ang="0">
                  <a:pos x="626" y="300"/>
                </a:cxn>
                <a:cxn ang="0">
                  <a:pos x="658" y="208"/>
                </a:cxn>
                <a:cxn ang="0">
                  <a:pos x="706" y="280"/>
                </a:cxn>
                <a:cxn ang="0">
                  <a:pos x="651" y="333"/>
                </a:cxn>
                <a:cxn ang="0">
                  <a:pos x="603" y="398"/>
                </a:cxn>
                <a:cxn ang="0">
                  <a:pos x="555" y="461"/>
                </a:cxn>
                <a:cxn ang="0">
                  <a:pos x="552" y="527"/>
                </a:cxn>
                <a:cxn ang="0">
                  <a:pos x="556" y="622"/>
                </a:cxn>
                <a:cxn ang="0">
                  <a:pos x="565" y="708"/>
                </a:cxn>
                <a:cxn ang="0">
                  <a:pos x="629" y="791"/>
                </a:cxn>
                <a:cxn ang="0">
                  <a:pos x="640" y="860"/>
                </a:cxn>
                <a:cxn ang="0">
                  <a:pos x="586" y="918"/>
                </a:cxn>
                <a:cxn ang="0">
                  <a:pos x="513" y="937"/>
                </a:cxn>
                <a:cxn ang="0">
                  <a:pos x="443" y="942"/>
                </a:cxn>
                <a:cxn ang="0">
                  <a:pos x="464" y="1029"/>
                </a:cxn>
              </a:cxnLst>
              <a:rect l="0" t="0" r="r" b="b"/>
              <a:pathLst>
                <a:path w="706" h="1665">
                  <a:moveTo>
                    <a:pt x="454" y="1057"/>
                  </a:moveTo>
                  <a:lnTo>
                    <a:pt x="394" y="1055"/>
                  </a:lnTo>
                  <a:lnTo>
                    <a:pt x="349" y="1046"/>
                  </a:lnTo>
                  <a:lnTo>
                    <a:pt x="384" y="1119"/>
                  </a:lnTo>
                  <a:lnTo>
                    <a:pt x="397" y="1126"/>
                  </a:lnTo>
                  <a:lnTo>
                    <a:pt x="414" y="1123"/>
                  </a:lnTo>
                  <a:lnTo>
                    <a:pt x="426" y="1113"/>
                  </a:lnTo>
                  <a:lnTo>
                    <a:pt x="439" y="1154"/>
                  </a:lnTo>
                  <a:lnTo>
                    <a:pt x="415" y="1145"/>
                  </a:lnTo>
                  <a:lnTo>
                    <a:pt x="384" y="1145"/>
                  </a:lnTo>
                  <a:lnTo>
                    <a:pt x="416" y="1164"/>
                  </a:lnTo>
                  <a:lnTo>
                    <a:pt x="386" y="1204"/>
                  </a:lnTo>
                  <a:lnTo>
                    <a:pt x="390" y="1249"/>
                  </a:lnTo>
                  <a:lnTo>
                    <a:pt x="384" y="1273"/>
                  </a:lnTo>
                  <a:lnTo>
                    <a:pt x="337" y="1298"/>
                  </a:lnTo>
                  <a:lnTo>
                    <a:pt x="338" y="1349"/>
                  </a:lnTo>
                  <a:lnTo>
                    <a:pt x="404" y="1384"/>
                  </a:lnTo>
                  <a:lnTo>
                    <a:pt x="428" y="1399"/>
                  </a:lnTo>
                  <a:lnTo>
                    <a:pt x="414" y="1426"/>
                  </a:lnTo>
                  <a:lnTo>
                    <a:pt x="430" y="1431"/>
                  </a:lnTo>
                  <a:lnTo>
                    <a:pt x="407" y="1465"/>
                  </a:lnTo>
                  <a:lnTo>
                    <a:pt x="384" y="1500"/>
                  </a:lnTo>
                  <a:lnTo>
                    <a:pt x="381" y="1544"/>
                  </a:lnTo>
                  <a:lnTo>
                    <a:pt x="357" y="1535"/>
                  </a:lnTo>
                  <a:lnTo>
                    <a:pt x="348" y="1538"/>
                  </a:lnTo>
                  <a:lnTo>
                    <a:pt x="371" y="1550"/>
                  </a:lnTo>
                  <a:lnTo>
                    <a:pt x="353" y="1579"/>
                  </a:lnTo>
                  <a:lnTo>
                    <a:pt x="351" y="1593"/>
                  </a:lnTo>
                  <a:lnTo>
                    <a:pt x="371" y="1625"/>
                  </a:lnTo>
                  <a:lnTo>
                    <a:pt x="361" y="1623"/>
                  </a:lnTo>
                  <a:lnTo>
                    <a:pt x="390" y="1639"/>
                  </a:lnTo>
                  <a:lnTo>
                    <a:pt x="415" y="1665"/>
                  </a:lnTo>
                  <a:lnTo>
                    <a:pt x="345" y="1645"/>
                  </a:lnTo>
                  <a:lnTo>
                    <a:pt x="265" y="1637"/>
                  </a:lnTo>
                  <a:lnTo>
                    <a:pt x="241" y="1613"/>
                  </a:lnTo>
                  <a:lnTo>
                    <a:pt x="214" y="1573"/>
                  </a:lnTo>
                  <a:lnTo>
                    <a:pt x="190" y="1574"/>
                  </a:lnTo>
                  <a:lnTo>
                    <a:pt x="151" y="1503"/>
                  </a:lnTo>
                  <a:lnTo>
                    <a:pt x="176" y="1471"/>
                  </a:lnTo>
                  <a:lnTo>
                    <a:pt x="170" y="1398"/>
                  </a:lnTo>
                  <a:lnTo>
                    <a:pt x="161" y="1337"/>
                  </a:lnTo>
                  <a:lnTo>
                    <a:pt x="157" y="1294"/>
                  </a:lnTo>
                  <a:lnTo>
                    <a:pt x="146" y="1271"/>
                  </a:lnTo>
                  <a:lnTo>
                    <a:pt x="129" y="1260"/>
                  </a:lnTo>
                  <a:lnTo>
                    <a:pt x="158" y="1249"/>
                  </a:lnTo>
                  <a:lnTo>
                    <a:pt x="123" y="1228"/>
                  </a:lnTo>
                  <a:lnTo>
                    <a:pt x="104" y="1170"/>
                  </a:lnTo>
                  <a:lnTo>
                    <a:pt x="82" y="1141"/>
                  </a:lnTo>
                  <a:lnTo>
                    <a:pt x="81" y="1097"/>
                  </a:lnTo>
                  <a:lnTo>
                    <a:pt x="64" y="1023"/>
                  </a:lnTo>
                  <a:lnTo>
                    <a:pt x="58" y="966"/>
                  </a:lnTo>
                  <a:lnTo>
                    <a:pt x="68" y="932"/>
                  </a:lnTo>
                  <a:lnTo>
                    <a:pt x="62" y="899"/>
                  </a:lnTo>
                  <a:lnTo>
                    <a:pt x="50" y="853"/>
                  </a:lnTo>
                  <a:lnTo>
                    <a:pt x="36" y="808"/>
                  </a:lnTo>
                  <a:lnTo>
                    <a:pt x="58" y="771"/>
                  </a:lnTo>
                  <a:lnTo>
                    <a:pt x="47" y="734"/>
                  </a:lnTo>
                  <a:lnTo>
                    <a:pt x="54" y="665"/>
                  </a:lnTo>
                  <a:lnTo>
                    <a:pt x="44" y="633"/>
                  </a:lnTo>
                  <a:lnTo>
                    <a:pt x="22" y="588"/>
                  </a:lnTo>
                  <a:lnTo>
                    <a:pt x="0" y="543"/>
                  </a:lnTo>
                  <a:lnTo>
                    <a:pt x="3" y="508"/>
                  </a:lnTo>
                  <a:lnTo>
                    <a:pt x="9" y="474"/>
                  </a:lnTo>
                  <a:lnTo>
                    <a:pt x="6" y="433"/>
                  </a:lnTo>
                  <a:lnTo>
                    <a:pt x="5" y="394"/>
                  </a:lnTo>
                  <a:lnTo>
                    <a:pt x="24" y="344"/>
                  </a:lnTo>
                  <a:lnTo>
                    <a:pt x="42" y="295"/>
                  </a:lnTo>
                  <a:lnTo>
                    <a:pt x="56" y="280"/>
                  </a:lnTo>
                  <a:lnTo>
                    <a:pt x="39" y="248"/>
                  </a:lnTo>
                  <a:lnTo>
                    <a:pt x="30" y="171"/>
                  </a:lnTo>
                  <a:lnTo>
                    <a:pt x="39" y="143"/>
                  </a:lnTo>
                  <a:lnTo>
                    <a:pt x="77" y="123"/>
                  </a:lnTo>
                  <a:lnTo>
                    <a:pt x="87" y="67"/>
                  </a:lnTo>
                  <a:lnTo>
                    <a:pt x="77" y="57"/>
                  </a:lnTo>
                  <a:lnTo>
                    <a:pt x="115" y="0"/>
                  </a:lnTo>
                  <a:lnTo>
                    <a:pt x="124" y="8"/>
                  </a:lnTo>
                  <a:lnTo>
                    <a:pt x="179" y="19"/>
                  </a:lnTo>
                  <a:lnTo>
                    <a:pt x="202" y="51"/>
                  </a:lnTo>
                  <a:lnTo>
                    <a:pt x="217" y="22"/>
                  </a:lnTo>
                  <a:lnTo>
                    <a:pt x="270" y="11"/>
                  </a:lnTo>
                  <a:lnTo>
                    <a:pt x="279" y="24"/>
                  </a:lnTo>
                  <a:lnTo>
                    <a:pt x="324" y="70"/>
                  </a:lnTo>
                  <a:lnTo>
                    <a:pt x="368" y="114"/>
                  </a:lnTo>
                  <a:lnTo>
                    <a:pt x="406" y="132"/>
                  </a:lnTo>
                  <a:lnTo>
                    <a:pt x="443" y="151"/>
                  </a:lnTo>
                  <a:lnTo>
                    <a:pt x="484" y="175"/>
                  </a:lnTo>
                  <a:lnTo>
                    <a:pt x="525" y="200"/>
                  </a:lnTo>
                  <a:lnTo>
                    <a:pt x="508" y="252"/>
                  </a:lnTo>
                  <a:lnTo>
                    <a:pt x="491" y="304"/>
                  </a:lnTo>
                  <a:lnTo>
                    <a:pt x="544" y="308"/>
                  </a:lnTo>
                  <a:lnTo>
                    <a:pt x="597" y="313"/>
                  </a:lnTo>
                  <a:lnTo>
                    <a:pt x="626" y="300"/>
                  </a:lnTo>
                  <a:lnTo>
                    <a:pt x="660" y="243"/>
                  </a:lnTo>
                  <a:lnTo>
                    <a:pt x="658" y="208"/>
                  </a:lnTo>
                  <a:lnTo>
                    <a:pt x="687" y="210"/>
                  </a:lnTo>
                  <a:lnTo>
                    <a:pt x="706" y="280"/>
                  </a:lnTo>
                  <a:lnTo>
                    <a:pt x="679" y="306"/>
                  </a:lnTo>
                  <a:lnTo>
                    <a:pt x="651" y="333"/>
                  </a:lnTo>
                  <a:lnTo>
                    <a:pt x="627" y="366"/>
                  </a:lnTo>
                  <a:lnTo>
                    <a:pt x="603" y="398"/>
                  </a:lnTo>
                  <a:lnTo>
                    <a:pt x="577" y="429"/>
                  </a:lnTo>
                  <a:lnTo>
                    <a:pt x="555" y="461"/>
                  </a:lnTo>
                  <a:lnTo>
                    <a:pt x="556" y="467"/>
                  </a:lnTo>
                  <a:lnTo>
                    <a:pt x="552" y="527"/>
                  </a:lnTo>
                  <a:lnTo>
                    <a:pt x="550" y="586"/>
                  </a:lnTo>
                  <a:lnTo>
                    <a:pt x="556" y="622"/>
                  </a:lnTo>
                  <a:lnTo>
                    <a:pt x="546" y="645"/>
                  </a:lnTo>
                  <a:lnTo>
                    <a:pt x="565" y="708"/>
                  </a:lnTo>
                  <a:lnTo>
                    <a:pt x="626" y="752"/>
                  </a:lnTo>
                  <a:lnTo>
                    <a:pt x="629" y="791"/>
                  </a:lnTo>
                  <a:lnTo>
                    <a:pt x="658" y="813"/>
                  </a:lnTo>
                  <a:lnTo>
                    <a:pt x="640" y="860"/>
                  </a:lnTo>
                  <a:lnTo>
                    <a:pt x="623" y="908"/>
                  </a:lnTo>
                  <a:lnTo>
                    <a:pt x="586" y="918"/>
                  </a:lnTo>
                  <a:lnTo>
                    <a:pt x="550" y="927"/>
                  </a:lnTo>
                  <a:lnTo>
                    <a:pt x="513" y="937"/>
                  </a:lnTo>
                  <a:lnTo>
                    <a:pt x="476" y="946"/>
                  </a:lnTo>
                  <a:lnTo>
                    <a:pt x="443" y="942"/>
                  </a:lnTo>
                  <a:lnTo>
                    <a:pt x="454" y="962"/>
                  </a:lnTo>
                  <a:lnTo>
                    <a:pt x="464" y="1029"/>
                  </a:lnTo>
                  <a:lnTo>
                    <a:pt x="454" y="1057"/>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0" name="Freeform 72"/>
            <p:cNvSpPr>
              <a:spLocks/>
            </p:cNvSpPr>
            <p:nvPr/>
          </p:nvSpPr>
          <p:spPr bwMode="auto">
            <a:xfrm>
              <a:off x="3906" y="4276"/>
              <a:ext cx="174" cy="59"/>
            </a:xfrm>
            <a:custGeom>
              <a:avLst/>
              <a:gdLst/>
              <a:ahLst/>
              <a:cxnLst>
                <a:cxn ang="0">
                  <a:pos x="15" y="23"/>
                </a:cxn>
                <a:cxn ang="0">
                  <a:pos x="0" y="0"/>
                </a:cxn>
                <a:cxn ang="0">
                  <a:pos x="23" y="58"/>
                </a:cxn>
                <a:cxn ang="0">
                  <a:pos x="45" y="118"/>
                </a:cxn>
                <a:cxn ang="0">
                  <a:pos x="110" y="118"/>
                </a:cxn>
                <a:cxn ang="0">
                  <a:pos x="174" y="118"/>
                </a:cxn>
                <a:cxn ang="0">
                  <a:pos x="169" y="104"/>
                </a:cxn>
                <a:cxn ang="0">
                  <a:pos x="78" y="72"/>
                </a:cxn>
                <a:cxn ang="0">
                  <a:pos x="15" y="23"/>
                </a:cxn>
              </a:cxnLst>
              <a:rect l="0" t="0" r="r" b="b"/>
              <a:pathLst>
                <a:path w="174" h="118">
                  <a:moveTo>
                    <a:pt x="15" y="23"/>
                  </a:moveTo>
                  <a:lnTo>
                    <a:pt x="0" y="0"/>
                  </a:lnTo>
                  <a:lnTo>
                    <a:pt x="23" y="58"/>
                  </a:lnTo>
                  <a:lnTo>
                    <a:pt x="45" y="118"/>
                  </a:lnTo>
                  <a:lnTo>
                    <a:pt x="110" y="118"/>
                  </a:lnTo>
                  <a:lnTo>
                    <a:pt x="174" y="118"/>
                  </a:lnTo>
                  <a:lnTo>
                    <a:pt x="169" y="104"/>
                  </a:lnTo>
                  <a:lnTo>
                    <a:pt x="78" y="72"/>
                  </a:lnTo>
                  <a:lnTo>
                    <a:pt x="15" y="23"/>
                  </a:lnTo>
                  <a:close/>
                </a:path>
              </a:pathLst>
            </a:custGeom>
            <a:solidFill>
              <a:srgbClr val="C0C0C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1" name="Freeform 73"/>
            <p:cNvSpPr>
              <a:spLocks/>
            </p:cNvSpPr>
            <p:nvPr/>
          </p:nvSpPr>
          <p:spPr bwMode="auto">
            <a:xfrm>
              <a:off x="3401" y="3319"/>
              <a:ext cx="507" cy="989"/>
            </a:xfrm>
            <a:custGeom>
              <a:avLst/>
              <a:gdLst/>
              <a:ahLst/>
              <a:cxnLst>
                <a:cxn ang="0">
                  <a:pos x="50" y="785"/>
                </a:cxn>
                <a:cxn ang="0">
                  <a:pos x="55" y="916"/>
                </a:cxn>
                <a:cxn ang="0">
                  <a:pos x="43" y="1063"/>
                </a:cxn>
                <a:cxn ang="0">
                  <a:pos x="62" y="1175"/>
                </a:cxn>
                <a:cxn ang="0">
                  <a:pos x="96" y="1321"/>
                </a:cxn>
                <a:cxn ang="0">
                  <a:pos x="133" y="1321"/>
                </a:cxn>
                <a:cxn ang="0">
                  <a:pos x="155" y="1359"/>
                </a:cxn>
                <a:cxn ang="0">
                  <a:pos x="155" y="1401"/>
                </a:cxn>
                <a:cxn ang="0">
                  <a:pos x="184" y="1480"/>
                </a:cxn>
                <a:cxn ang="0">
                  <a:pos x="174" y="1528"/>
                </a:cxn>
                <a:cxn ang="0">
                  <a:pos x="178" y="1572"/>
                </a:cxn>
                <a:cxn ang="0">
                  <a:pos x="164" y="1575"/>
                </a:cxn>
                <a:cxn ang="0">
                  <a:pos x="139" y="1557"/>
                </a:cxn>
                <a:cxn ang="0">
                  <a:pos x="113" y="1600"/>
                </a:cxn>
                <a:cxn ang="0">
                  <a:pos x="182" y="1628"/>
                </a:cxn>
                <a:cxn ang="0">
                  <a:pos x="162" y="1654"/>
                </a:cxn>
                <a:cxn ang="0">
                  <a:pos x="219" y="1667"/>
                </a:cxn>
                <a:cxn ang="0">
                  <a:pos x="176" y="1672"/>
                </a:cxn>
                <a:cxn ang="0">
                  <a:pos x="217" y="1761"/>
                </a:cxn>
                <a:cxn ang="0">
                  <a:pos x="240" y="1800"/>
                </a:cxn>
                <a:cxn ang="0">
                  <a:pos x="275" y="1844"/>
                </a:cxn>
                <a:cxn ang="0">
                  <a:pos x="296" y="1875"/>
                </a:cxn>
                <a:cxn ang="0">
                  <a:pos x="322" y="1923"/>
                </a:cxn>
                <a:cxn ang="0">
                  <a:pos x="341" y="1947"/>
                </a:cxn>
                <a:cxn ang="0">
                  <a:pos x="430" y="1914"/>
                </a:cxn>
                <a:cxn ang="0">
                  <a:pos x="437" y="1880"/>
                </a:cxn>
                <a:cxn ang="0">
                  <a:pos x="306" y="1808"/>
                </a:cxn>
                <a:cxn ang="0">
                  <a:pos x="268" y="1706"/>
                </a:cxn>
                <a:cxn ang="0">
                  <a:pos x="249" y="1529"/>
                </a:cxn>
                <a:cxn ang="0">
                  <a:pos x="250" y="1484"/>
                </a:cxn>
                <a:cxn ang="0">
                  <a:pos x="174" y="1376"/>
                </a:cxn>
                <a:cxn ang="0">
                  <a:pos x="150" y="1201"/>
                </a:cxn>
                <a:cxn ang="0">
                  <a:pos x="142" y="1088"/>
                </a:cxn>
                <a:cxn ang="0">
                  <a:pos x="139" y="969"/>
                </a:cxn>
                <a:cxn ang="0">
                  <a:pos x="114" y="823"/>
                </a:cxn>
                <a:cxn ang="0">
                  <a:pos x="101" y="709"/>
                </a:cxn>
                <a:cxn ang="0">
                  <a:pos x="116" y="579"/>
                </a:cxn>
                <a:cxn ang="0">
                  <a:pos x="131" y="483"/>
                </a:cxn>
                <a:cxn ang="0">
                  <a:pos x="169" y="358"/>
                </a:cxn>
                <a:cxn ang="0">
                  <a:pos x="137" y="286"/>
                </a:cxn>
                <a:cxn ang="0">
                  <a:pos x="86" y="140"/>
                </a:cxn>
                <a:cxn ang="0">
                  <a:pos x="49" y="25"/>
                </a:cxn>
                <a:cxn ang="0">
                  <a:pos x="8" y="45"/>
                </a:cxn>
                <a:cxn ang="0">
                  <a:pos x="25" y="186"/>
                </a:cxn>
                <a:cxn ang="0">
                  <a:pos x="23" y="330"/>
                </a:cxn>
                <a:cxn ang="0">
                  <a:pos x="30" y="536"/>
                </a:cxn>
                <a:cxn ang="0">
                  <a:pos x="32" y="704"/>
                </a:cxn>
              </a:cxnLst>
              <a:rect l="0" t="0" r="r" b="b"/>
              <a:pathLst>
                <a:path w="507" h="1979">
                  <a:moveTo>
                    <a:pt x="32" y="704"/>
                  </a:moveTo>
                  <a:lnTo>
                    <a:pt x="42" y="744"/>
                  </a:lnTo>
                  <a:lnTo>
                    <a:pt x="50" y="785"/>
                  </a:lnTo>
                  <a:lnTo>
                    <a:pt x="56" y="826"/>
                  </a:lnTo>
                  <a:lnTo>
                    <a:pt x="61" y="868"/>
                  </a:lnTo>
                  <a:lnTo>
                    <a:pt x="55" y="916"/>
                  </a:lnTo>
                  <a:lnTo>
                    <a:pt x="50" y="966"/>
                  </a:lnTo>
                  <a:lnTo>
                    <a:pt x="47" y="1015"/>
                  </a:lnTo>
                  <a:lnTo>
                    <a:pt x="43" y="1063"/>
                  </a:lnTo>
                  <a:lnTo>
                    <a:pt x="31" y="1082"/>
                  </a:lnTo>
                  <a:lnTo>
                    <a:pt x="47" y="1128"/>
                  </a:lnTo>
                  <a:lnTo>
                    <a:pt x="62" y="1175"/>
                  </a:lnTo>
                  <a:lnTo>
                    <a:pt x="74" y="1226"/>
                  </a:lnTo>
                  <a:lnTo>
                    <a:pt x="68" y="1276"/>
                  </a:lnTo>
                  <a:lnTo>
                    <a:pt x="96" y="1321"/>
                  </a:lnTo>
                  <a:lnTo>
                    <a:pt x="100" y="1332"/>
                  </a:lnTo>
                  <a:lnTo>
                    <a:pt x="116" y="1321"/>
                  </a:lnTo>
                  <a:lnTo>
                    <a:pt x="133" y="1321"/>
                  </a:lnTo>
                  <a:lnTo>
                    <a:pt x="146" y="1314"/>
                  </a:lnTo>
                  <a:lnTo>
                    <a:pt x="142" y="1344"/>
                  </a:lnTo>
                  <a:lnTo>
                    <a:pt x="155" y="1359"/>
                  </a:lnTo>
                  <a:lnTo>
                    <a:pt x="148" y="1353"/>
                  </a:lnTo>
                  <a:lnTo>
                    <a:pt x="150" y="1371"/>
                  </a:lnTo>
                  <a:lnTo>
                    <a:pt x="155" y="1401"/>
                  </a:lnTo>
                  <a:lnTo>
                    <a:pt x="157" y="1438"/>
                  </a:lnTo>
                  <a:lnTo>
                    <a:pt x="160" y="1458"/>
                  </a:lnTo>
                  <a:lnTo>
                    <a:pt x="184" y="1480"/>
                  </a:lnTo>
                  <a:lnTo>
                    <a:pt x="170" y="1515"/>
                  </a:lnTo>
                  <a:lnTo>
                    <a:pt x="185" y="1528"/>
                  </a:lnTo>
                  <a:lnTo>
                    <a:pt x="174" y="1528"/>
                  </a:lnTo>
                  <a:lnTo>
                    <a:pt x="174" y="1543"/>
                  </a:lnTo>
                  <a:lnTo>
                    <a:pt x="175" y="1544"/>
                  </a:lnTo>
                  <a:lnTo>
                    <a:pt x="178" y="1572"/>
                  </a:lnTo>
                  <a:lnTo>
                    <a:pt x="181" y="1568"/>
                  </a:lnTo>
                  <a:lnTo>
                    <a:pt x="168" y="1590"/>
                  </a:lnTo>
                  <a:lnTo>
                    <a:pt x="164" y="1575"/>
                  </a:lnTo>
                  <a:lnTo>
                    <a:pt x="149" y="1573"/>
                  </a:lnTo>
                  <a:lnTo>
                    <a:pt x="151" y="1554"/>
                  </a:lnTo>
                  <a:lnTo>
                    <a:pt x="139" y="1557"/>
                  </a:lnTo>
                  <a:lnTo>
                    <a:pt x="128" y="1561"/>
                  </a:lnTo>
                  <a:lnTo>
                    <a:pt x="106" y="1604"/>
                  </a:lnTo>
                  <a:lnTo>
                    <a:pt x="113" y="1600"/>
                  </a:lnTo>
                  <a:lnTo>
                    <a:pt x="127" y="1591"/>
                  </a:lnTo>
                  <a:lnTo>
                    <a:pt x="152" y="1603"/>
                  </a:lnTo>
                  <a:lnTo>
                    <a:pt x="182" y="1628"/>
                  </a:lnTo>
                  <a:lnTo>
                    <a:pt x="169" y="1638"/>
                  </a:lnTo>
                  <a:lnTo>
                    <a:pt x="181" y="1647"/>
                  </a:lnTo>
                  <a:lnTo>
                    <a:pt x="162" y="1654"/>
                  </a:lnTo>
                  <a:lnTo>
                    <a:pt x="199" y="1652"/>
                  </a:lnTo>
                  <a:lnTo>
                    <a:pt x="203" y="1648"/>
                  </a:lnTo>
                  <a:lnTo>
                    <a:pt x="219" y="1667"/>
                  </a:lnTo>
                  <a:lnTo>
                    <a:pt x="219" y="1681"/>
                  </a:lnTo>
                  <a:lnTo>
                    <a:pt x="188" y="1673"/>
                  </a:lnTo>
                  <a:lnTo>
                    <a:pt x="176" y="1672"/>
                  </a:lnTo>
                  <a:lnTo>
                    <a:pt x="196" y="1705"/>
                  </a:lnTo>
                  <a:lnTo>
                    <a:pt x="216" y="1742"/>
                  </a:lnTo>
                  <a:lnTo>
                    <a:pt x="217" y="1761"/>
                  </a:lnTo>
                  <a:lnTo>
                    <a:pt x="227" y="1780"/>
                  </a:lnTo>
                  <a:lnTo>
                    <a:pt x="219" y="1786"/>
                  </a:lnTo>
                  <a:lnTo>
                    <a:pt x="240" y="1800"/>
                  </a:lnTo>
                  <a:lnTo>
                    <a:pt x="257" y="1822"/>
                  </a:lnTo>
                  <a:lnTo>
                    <a:pt x="255" y="1833"/>
                  </a:lnTo>
                  <a:lnTo>
                    <a:pt x="275" y="1844"/>
                  </a:lnTo>
                  <a:lnTo>
                    <a:pt x="286" y="1860"/>
                  </a:lnTo>
                  <a:lnTo>
                    <a:pt x="274" y="1856"/>
                  </a:lnTo>
                  <a:lnTo>
                    <a:pt x="296" y="1875"/>
                  </a:lnTo>
                  <a:lnTo>
                    <a:pt x="298" y="1889"/>
                  </a:lnTo>
                  <a:lnTo>
                    <a:pt x="315" y="1913"/>
                  </a:lnTo>
                  <a:lnTo>
                    <a:pt x="322" y="1923"/>
                  </a:lnTo>
                  <a:lnTo>
                    <a:pt x="344" y="1936"/>
                  </a:lnTo>
                  <a:lnTo>
                    <a:pt x="348" y="1943"/>
                  </a:lnTo>
                  <a:lnTo>
                    <a:pt x="341" y="1947"/>
                  </a:lnTo>
                  <a:lnTo>
                    <a:pt x="368" y="1955"/>
                  </a:lnTo>
                  <a:lnTo>
                    <a:pt x="428" y="1979"/>
                  </a:lnTo>
                  <a:lnTo>
                    <a:pt x="430" y="1914"/>
                  </a:lnTo>
                  <a:lnTo>
                    <a:pt x="464" y="1895"/>
                  </a:lnTo>
                  <a:lnTo>
                    <a:pt x="507" y="1900"/>
                  </a:lnTo>
                  <a:lnTo>
                    <a:pt x="437" y="1880"/>
                  </a:lnTo>
                  <a:lnTo>
                    <a:pt x="357" y="1872"/>
                  </a:lnTo>
                  <a:lnTo>
                    <a:pt x="333" y="1848"/>
                  </a:lnTo>
                  <a:lnTo>
                    <a:pt x="306" y="1808"/>
                  </a:lnTo>
                  <a:lnTo>
                    <a:pt x="282" y="1809"/>
                  </a:lnTo>
                  <a:lnTo>
                    <a:pt x="243" y="1738"/>
                  </a:lnTo>
                  <a:lnTo>
                    <a:pt x="268" y="1706"/>
                  </a:lnTo>
                  <a:lnTo>
                    <a:pt x="262" y="1633"/>
                  </a:lnTo>
                  <a:lnTo>
                    <a:pt x="253" y="1572"/>
                  </a:lnTo>
                  <a:lnTo>
                    <a:pt x="249" y="1529"/>
                  </a:lnTo>
                  <a:lnTo>
                    <a:pt x="238" y="1506"/>
                  </a:lnTo>
                  <a:lnTo>
                    <a:pt x="221" y="1495"/>
                  </a:lnTo>
                  <a:lnTo>
                    <a:pt x="250" y="1484"/>
                  </a:lnTo>
                  <a:lnTo>
                    <a:pt x="215" y="1463"/>
                  </a:lnTo>
                  <a:lnTo>
                    <a:pt x="196" y="1405"/>
                  </a:lnTo>
                  <a:lnTo>
                    <a:pt x="174" y="1376"/>
                  </a:lnTo>
                  <a:lnTo>
                    <a:pt x="173" y="1332"/>
                  </a:lnTo>
                  <a:lnTo>
                    <a:pt x="156" y="1258"/>
                  </a:lnTo>
                  <a:lnTo>
                    <a:pt x="150" y="1201"/>
                  </a:lnTo>
                  <a:lnTo>
                    <a:pt x="160" y="1167"/>
                  </a:lnTo>
                  <a:lnTo>
                    <a:pt x="154" y="1134"/>
                  </a:lnTo>
                  <a:lnTo>
                    <a:pt x="142" y="1088"/>
                  </a:lnTo>
                  <a:lnTo>
                    <a:pt x="128" y="1043"/>
                  </a:lnTo>
                  <a:lnTo>
                    <a:pt x="150" y="1006"/>
                  </a:lnTo>
                  <a:lnTo>
                    <a:pt x="139" y="969"/>
                  </a:lnTo>
                  <a:lnTo>
                    <a:pt x="146" y="900"/>
                  </a:lnTo>
                  <a:lnTo>
                    <a:pt x="136" y="868"/>
                  </a:lnTo>
                  <a:lnTo>
                    <a:pt x="114" y="823"/>
                  </a:lnTo>
                  <a:lnTo>
                    <a:pt x="92" y="778"/>
                  </a:lnTo>
                  <a:lnTo>
                    <a:pt x="95" y="743"/>
                  </a:lnTo>
                  <a:lnTo>
                    <a:pt x="101" y="709"/>
                  </a:lnTo>
                  <a:lnTo>
                    <a:pt x="98" y="668"/>
                  </a:lnTo>
                  <a:lnTo>
                    <a:pt x="97" y="629"/>
                  </a:lnTo>
                  <a:lnTo>
                    <a:pt x="116" y="579"/>
                  </a:lnTo>
                  <a:lnTo>
                    <a:pt x="134" y="530"/>
                  </a:lnTo>
                  <a:lnTo>
                    <a:pt x="148" y="515"/>
                  </a:lnTo>
                  <a:lnTo>
                    <a:pt x="131" y="483"/>
                  </a:lnTo>
                  <a:lnTo>
                    <a:pt x="122" y="406"/>
                  </a:lnTo>
                  <a:lnTo>
                    <a:pt x="131" y="378"/>
                  </a:lnTo>
                  <a:lnTo>
                    <a:pt x="169" y="358"/>
                  </a:lnTo>
                  <a:lnTo>
                    <a:pt x="179" y="302"/>
                  </a:lnTo>
                  <a:lnTo>
                    <a:pt x="169" y="292"/>
                  </a:lnTo>
                  <a:lnTo>
                    <a:pt x="137" y="286"/>
                  </a:lnTo>
                  <a:lnTo>
                    <a:pt x="119" y="238"/>
                  </a:lnTo>
                  <a:lnTo>
                    <a:pt x="100" y="188"/>
                  </a:lnTo>
                  <a:lnTo>
                    <a:pt x="86" y="140"/>
                  </a:lnTo>
                  <a:lnTo>
                    <a:pt x="89" y="100"/>
                  </a:lnTo>
                  <a:lnTo>
                    <a:pt x="63" y="63"/>
                  </a:lnTo>
                  <a:lnTo>
                    <a:pt x="49" y="25"/>
                  </a:lnTo>
                  <a:lnTo>
                    <a:pt x="36" y="0"/>
                  </a:lnTo>
                  <a:lnTo>
                    <a:pt x="24" y="21"/>
                  </a:lnTo>
                  <a:lnTo>
                    <a:pt x="8" y="45"/>
                  </a:lnTo>
                  <a:lnTo>
                    <a:pt x="0" y="46"/>
                  </a:lnTo>
                  <a:lnTo>
                    <a:pt x="12" y="116"/>
                  </a:lnTo>
                  <a:lnTo>
                    <a:pt x="25" y="186"/>
                  </a:lnTo>
                  <a:lnTo>
                    <a:pt x="24" y="246"/>
                  </a:lnTo>
                  <a:lnTo>
                    <a:pt x="23" y="306"/>
                  </a:lnTo>
                  <a:lnTo>
                    <a:pt x="23" y="330"/>
                  </a:lnTo>
                  <a:lnTo>
                    <a:pt x="30" y="398"/>
                  </a:lnTo>
                  <a:lnTo>
                    <a:pt x="31" y="458"/>
                  </a:lnTo>
                  <a:lnTo>
                    <a:pt x="30" y="536"/>
                  </a:lnTo>
                  <a:lnTo>
                    <a:pt x="29" y="614"/>
                  </a:lnTo>
                  <a:lnTo>
                    <a:pt x="32" y="648"/>
                  </a:lnTo>
                  <a:lnTo>
                    <a:pt x="32" y="704"/>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2" name="Freeform 74"/>
            <p:cNvSpPr>
              <a:spLocks/>
            </p:cNvSpPr>
            <p:nvPr/>
          </p:nvSpPr>
          <p:spPr bwMode="auto">
            <a:xfrm>
              <a:off x="3818" y="4273"/>
              <a:ext cx="133" cy="62"/>
            </a:xfrm>
            <a:custGeom>
              <a:avLst/>
              <a:gdLst/>
              <a:ahLst/>
              <a:cxnLst>
                <a:cxn ang="0">
                  <a:pos x="88" y="6"/>
                </a:cxn>
                <a:cxn ang="0">
                  <a:pos x="111" y="64"/>
                </a:cxn>
                <a:cxn ang="0">
                  <a:pos x="133" y="124"/>
                </a:cxn>
                <a:cxn ang="0">
                  <a:pos x="119" y="119"/>
                </a:cxn>
                <a:cxn ang="0">
                  <a:pos x="101" y="123"/>
                </a:cxn>
                <a:cxn ang="0">
                  <a:pos x="53" y="116"/>
                </a:cxn>
                <a:cxn ang="0">
                  <a:pos x="38" y="114"/>
                </a:cxn>
                <a:cxn ang="0">
                  <a:pos x="0" y="110"/>
                </a:cxn>
                <a:cxn ang="0">
                  <a:pos x="10" y="105"/>
                </a:cxn>
                <a:cxn ang="0">
                  <a:pos x="34" y="96"/>
                </a:cxn>
                <a:cxn ang="0">
                  <a:pos x="47" y="105"/>
                </a:cxn>
                <a:cxn ang="0">
                  <a:pos x="60" y="105"/>
                </a:cxn>
                <a:cxn ang="0">
                  <a:pos x="36" y="91"/>
                </a:cxn>
                <a:cxn ang="0">
                  <a:pos x="65" y="97"/>
                </a:cxn>
                <a:cxn ang="0">
                  <a:pos x="78" y="98"/>
                </a:cxn>
                <a:cxn ang="0">
                  <a:pos x="101" y="105"/>
                </a:cxn>
                <a:cxn ang="0">
                  <a:pos x="107" y="106"/>
                </a:cxn>
                <a:cxn ang="0">
                  <a:pos x="55" y="73"/>
                </a:cxn>
                <a:cxn ang="0">
                  <a:pos x="77" y="49"/>
                </a:cxn>
                <a:cxn ang="0">
                  <a:pos x="43" y="49"/>
                </a:cxn>
                <a:cxn ang="0">
                  <a:pos x="29" y="10"/>
                </a:cxn>
                <a:cxn ang="0">
                  <a:pos x="47" y="0"/>
                </a:cxn>
                <a:cxn ang="0">
                  <a:pos x="88" y="6"/>
                </a:cxn>
              </a:cxnLst>
              <a:rect l="0" t="0" r="r" b="b"/>
              <a:pathLst>
                <a:path w="133" h="124">
                  <a:moveTo>
                    <a:pt x="88" y="6"/>
                  </a:moveTo>
                  <a:lnTo>
                    <a:pt x="111" y="64"/>
                  </a:lnTo>
                  <a:lnTo>
                    <a:pt x="133" y="124"/>
                  </a:lnTo>
                  <a:lnTo>
                    <a:pt x="119" y="119"/>
                  </a:lnTo>
                  <a:lnTo>
                    <a:pt x="101" y="123"/>
                  </a:lnTo>
                  <a:lnTo>
                    <a:pt x="53" y="116"/>
                  </a:lnTo>
                  <a:lnTo>
                    <a:pt x="38" y="114"/>
                  </a:lnTo>
                  <a:lnTo>
                    <a:pt x="0" y="110"/>
                  </a:lnTo>
                  <a:lnTo>
                    <a:pt x="10" y="105"/>
                  </a:lnTo>
                  <a:lnTo>
                    <a:pt x="34" y="96"/>
                  </a:lnTo>
                  <a:lnTo>
                    <a:pt x="47" y="105"/>
                  </a:lnTo>
                  <a:lnTo>
                    <a:pt x="60" y="105"/>
                  </a:lnTo>
                  <a:lnTo>
                    <a:pt x="36" y="91"/>
                  </a:lnTo>
                  <a:lnTo>
                    <a:pt x="65" y="97"/>
                  </a:lnTo>
                  <a:lnTo>
                    <a:pt x="78" y="98"/>
                  </a:lnTo>
                  <a:lnTo>
                    <a:pt x="101" y="105"/>
                  </a:lnTo>
                  <a:lnTo>
                    <a:pt x="107" y="106"/>
                  </a:lnTo>
                  <a:lnTo>
                    <a:pt x="55" y="73"/>
                  </a:lnTo>
                  <a:lnTo>
                    <a:pt x="77" y="49"/>
                  </a:lnTo>
                  <a:lnTo>
                    <a:pt x="43" y="49"/>
                  </a:lnTo>
                  <a:lnTo>
                    <a:pt x="29" y="10"/>
                  </a:lnTo>
                  <a:lnTo>
                    <a:pt x="47" y="0"/>
                  </a:lnTo>
                  <a:lnTo>
                    <a:pt x="88" y="6"/>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3" name="Freeform 75"/>
            <p:cNvSpPr>
              <a:spLocks/>
            </p:cNvSpPr>
            <p:nvPr/>
          </p:nvSpPr>
          <p:spPr bwMode="auto">
            <a:xfrm>
              <a:off x="3484" y="3986"/>
              <a:ext cx="36" cy="41"/>
            </a:xfrm>
            <a:custGeom>
              <a:avLst/>
              <a:gdLst/>
              <a:ahLst/>
              <a:cxnLst>
                <a:cxn ang="0">
                  <a:pos x="13" y="0"/>
                </a:cxn>
                <a:cxn ang="0">
                  <a:pos x="0" y="8"/>
                </a:cxn>
                <a:cxn ang="0">
                  <a:pos x="17" y="81"/>
                </a:cxn>
                <a:cxn ang="0">
                  <a:pos x="33" y="75"/>
                </a:cxn>
                <a:cxn ang="0">
                  <a:pos x="36" y="62"/>
                </a:cxn>
                <a:cxn ang="0">
                  <a:pos x="27" y="27"/>
                </a:cxn>
                <a:cxn ang="0">
                  <a:pos x="35" y="23"/>
                </a:cxn>
                <a:cxn ang="0">
                  <a:pos x="13" y="0"/>
                </a:cxn>
              </a:cxnLst>
              <a:rect l="0" t="0" r="r" b="b"/>
              <a:pathLst>
                <a:path w="36" h="81">
                  <a:moveTo>
                    <a:pt x="13" y="0"/>
                  </a:moveTo>
                  <a:lnTo>
                    <a:pt x="0" y="8"/>
                  </a:lnTo>
                  <a:lnTo>
                    <a:pt x="17" y="81"/>
                  </a:lnTo>
                  <a:lnTo>
                    <a:pt x="33" y="75"/>
                  </a:lnTo>
                  <a:lnTo>
                    <a:pt x="36" y="62"/>
                  </a:lnTo>
                  <a:lnTo>
                    <a:pt x="27" y="27"/>
                  </a:lnTo>
                  <a:lnTo>
                    <a:pt x="35" y="23"/>
                  </a:lnTo>
                  <a:lnTo>
                    <a:pt x="13"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4" name="Freeform 76"/>
            <p:cNvSpPr>
              <a:spLocks/>
            </p:cNvSpPr>
            <p:nvPr/>
          </p:nvSpPr>
          <p:spPr bwMode="auto">
            <a:xfrm>
              <a:off x="3565" y="4174"/>
              <a:ext cx="41" cy="34"/>
            </a:xfrm>
            <a:custGeom>
              <a:avLst/>
              <a:gdLst/>
              <a:ahLst/>
              <a:cxnLst>
                <a:cxn ang="0">
                  <a:pos x="22" y="0"/>
                </a:cxn>
                <a:cxn ang="0">
                  <a:pos x="0" y="27"/>
                </a:cxn>
                <a:cxn ang="0">
                  <a:pos x="23" y="57"/>
                </a:cxn>
                <a:cxn ang="0">
                  <a:pos x="40" y="67"/>
                </a:cxn>
                <a:cxn ang="0">
                  <a:pos x="41" y="46"/>
                </a:cxn>
                <a:cxn ang="0">
                  <a:pos x="22" y="0"/>
                </a:cxn>
              </a:cxnLst>
              <a:rect l="0" t="0" r="r" b="b"/>
              <a:pathLst>
                <a:path w="41" h="67">
                  <a:moveTo>
                    <a:pt x="22" y="0"/>
                  </a:moveTo>
                  <a:lnTo>
                    <a:pt x="0" y="27"/>
                  </a:lnTo>
                  <a:lnTo>
                    <a:pt x="23" y="57"/>
                  </a:lnTo>
                  <a:lnTo>
                    <a:pt x="40" y="67"/>
                  </a:lnTo>
                  <a:lnTo>
                    <a:pt x="41" y="46"/>
                  </a:lnTo>
                  <a:lnTo>
                    <a:pt x="22"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5" name="Freeform 77"/>
            <p:cNvSpPr>
              <a:spLocks/>
            </p:cNvSpPr>
            <p:nvPr/>
          </p:nvSpPr>
          <p:spPr bwMode="auto">
            <a:xfrm>
              <a:off x="2868" y="2798"/>
              <a:ext cx="262" cy="178"/>
            </a:xfrm>
            <a:custGeom>
              <a:avLst/>
              <a:gdLst/>
              <a:ahLst/>
              <a:cxnLst>
                <a:cxn ang="0">
                  <a:pos x="1" y="142"/>
                </a:cxn>
                <a:cxn ang="0">
                  <a:pos x="6" y="196"/>
                </a:cxn>
                <a:cxn ang="0">
                  <a:pos x="0" y="206"/>
                </a:cxn>
                <a:cxn ang="0">
                  <a:pos x="34" y="221"/>
                </a:cxn>
                <a:cxn ang="0">
                  <a:pos x="42" y="209"/>
                </a:cxn>
                <a:cxn ang="0">
                  <a:pos x="48" y="220"/>
                </a:cxn>
                <a:cxn ang="0">
                  <a:pos x="46" y="254"/>
                </a:cxn>
                <a:cxn ang="0">
                  <a:pos x="29" y="264"/>
                </a:cxn>
                <a:cxn ang="0">
                  <a:pos x="32" y="296"/>
                </a:cxn>
                <a:cxn ang="0">
                  <a:pos x="23" y="320"/>
                </a:cxn>
                <a:cxn ang="0">
                  <a:pos x="38" y="315"/>
                </a:cxn>
                <a:cxn ang="0">
                  <a:pos x="89" y="354"/>
                </a:cxn>
                <a:cxn ang="0">
                  <a:pos x="102" y="333"/>
                </a:cxn>
                <a:cxn ang="0">
                  <a:pos x="107" y="310"/>
                </a:cxn>
                <a:cxn ang="0">
                  <a:pos x="119" y="290"/>
                </a:cxn>
                <a:cxn ang="0">
                  <a:pos x="125" y="258"/>
                </a:cxn>
                <a:cxn ang="0">
                  <a:pos x="131" y="258"/>
                </a:cxn>
                <a:cxn ang="0">
                  <a:pos x="131" y="267"/>
                </a:cxn>
                <a:cxn ang="0">
                  <a:pos x="139" y="266"/>
                </a:cxn>
                <a:cxn ang="0">
                  <a:pos x="136" y="255"/>
                </a:cxn>
                <a:cxn ang="0">
                  <a:pos x="145" y="243"/>
                </a:cxn>
                <a:cxn ang="0">
                  <a:pos x="174" y="230"/>
                </a:cxn>
                <a:cxn ang="0">
                  <a:pos x="224" y="196"/>
                </a:cxn>
                <a:cxn ang="0">
                  <a:pos x="253" y="133"/>
                </a:cxn>
                <a:cxn ang="0">
                  <a:pos x="262" y="133"/>
                </a:cxn>
                <a:cxn ang="0">
                  <a:pos x="245" y="90"/>
                </a:cxn>
                <a:cxn ang="0">
                  <a:pos x="259" y="85"/>
                </a:cxn>
                <a:cxn ang="0">
                  <a:pos x="207" y="57"/>
                </a:cxn>
                <a:cxn ang="0">
                  <a:pos x="162" y="58"/>
                </a:cxn>
                <a:cxn ang="0">
                  <a:pos x="133" y="30"/>
                </a:cxn>
                <a:cxn ang="0">
                  <a:pos x="96" y="0"/>
                </a:cxn>
                <a:cxn ang="0">
                  <a:pos x="79" y="20"/>
                </a:cxn>
                <a:cxn ang="0">
                  <a:pos x="37" y="43"/>
                </a:cxn>
                <a:cxn ang="0">
                  <a:pos x="26" y="88"/>
                </a:cxn>
                <a:cxn ang="0">
                  <a:pos x="23" y="112"/>
                </a:cxn>
                <a:cxn ang="0">
                  <a:pos x="1" y="142"/>
                </a:cxn>
              </a:cxnLst>
              <a:rect l="0" t="0" r="r" b="b"/>
              <a:pathLst>
                <a:path w="262" h="354">
                  <a:moveTo>
                    <a:pt x="1" y="142"/>
                  </a:moveTo>
                  <a:lnTo>
                    <a:pt x="6" y="196"/>
                  </a:lnTo>
                  <a:lnTo>
                    <a:pt x="0" y="206"/>
                  </a:lnTo>
                  <a:lnTo>
                    <a:pt x="34" y="221"/>
                  </a:lnTo>
                  <a:lnTo>
                    <a:pt x="42" y="209"/>
                  </a:lnTo>
                  <a:lnTo>
                    <a:pt x="48" y="220"/>
                  </a:lnTo>
                  <a:lnTo>
                    <a:pt x="46" y="254"/>
                  </a:lnTo>
                  <a:lnTo>
                    <a:pt x="29" y="264"/>
                  </a:lnTo>
                  <a:lnTo>
                    <a:pt x="32" y="296"/>
                  </a:lnTo>
                  <a:lnTo>
                    <a:pt x="23" y="320"/>
                  </a:lnTo>
                  <a:lnTo>
                    <a:pt x="38" y="315"/>
                  </a:lnTo>
                  <a:lnTo>
                    <a:pt x="89" y="354"/>
                  </a:lnTo>
                  <a:lnTo>
                    <a:pt x="102" y="333"/>
                  </a:lnTo>
                  <a:lnTo>
                    <a:pt x="107" y="310"/>
                  </a:lnTo>
                  <a:lnTo>
                    <a:pt x="119" y="290"/>
                  </a:lnTo>
                  <a:lnTo>
                    <a:pt x="125" y="258"/>
                  </a:lnTo>
                  <a:lnTo>
                    <a:pt x="131" y="258"/>
                  </a:lnTo>
                  <a:lnTo>
                    <a:pt x="131" y="267"/>
                  </a:lnTo>
                  <a:lnTo>
                    <a:pt x="139" y="266"/>
                  </a:lnTo>
                  <a:lnTo>
                    <a:pt x="136" y="255"/>
                  </a:lnTo>
                  <a:lnTo>
                    <a:pt x="145" y="243"/>
                  </a:lnTo>
                  <a:lnTo>
                    <a:pt x="174" y="230"/>
                  </a:lnTo>
                  <a:lnTo>
                    <a:pt x="224" y="196"/>
                  </a:lnTo>
                  <a:lnTo>
                    <a:pt x="253" y="133"/>
                  </a:lnTo>
                  <a:lnTo>
                    <a:pt x="262" y="133"/>
                  </a:lnTo>
                  <a:lnTo>
                    <a:pt x="245" y="90"/>
                  </a:lnTo>
                  <a:lnTo>
                    <a:pt x="259" y="85"/>
                  </a:lnTo>
                  <a:lnTo>
                    <a:pt x="207" y="57"/>
                  </a:lnTo>
                  <a:lnTo>
                    <a:pt x="162" y="58"/>
                  </a:lnTo>
                  <a:lnTo>
                    <a:pt x="133" y="30"/>
                  </a:lnTo>
                  <a:lnTo>
                    <a:pt x="96" y="0"/>
                  </a:lnTo>
                  <a:lnTo>
                    <a:pt x="79" y="20"/>
                  </a:lnTo>
                  <a:lnTo>
                    <a:pt x="37" y="43"/>
                  </a:lnTo>
                  <a:lnTo>
                    <a:pt x="26" y="88"/>
                  </a:lnTo>
                  <a:lnTo>
                    <a:pt x="23" y="112"/>
                  </a:lnTo>
                  <a:lnTo>
                    <a:pt x="1" y="142"/>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6" name="Freeform 78"/>
            <p:cNvSpPr>
              <a:spLocks/>
            </p:cNvSpPr>
            <p:nvPr/>
          </p:nvSpPr>
          <p:spPr bwMode="auto">
            <a:xfrm>
              <a:off x="2379" y="2838"/>
              <a:ext cx="28" cy="25"/>
            </a:xfrm>
            <a:custGeom>
              <a:avLst/>
              <a:gdLst/>
              <a:ahLst/>
              <a:cxnLst>
                <a:cxn ang="0">
                  <a:pos x="0" y="0"/>
                </a:cxn>
                <a:cxn ang="0">
                  <a:pos x="16" y="30"/>
                </a:cxn>
                <a:cxn ang="0">
                  <a:pos x="1" y="47"/>
                </a:cxn>
                <a:cxn ang="0">
                  <a:pos x="28" y="50"/>
                </a:cxn>
                <a:cxn ang="0">
                  <a:pos x="13" y="0"/>
                </a:cxn>
                <a:cxn ang="0">
                  <a:pos x="0" y="0"/>
                </a:cxn>
              </a:cxnLst>
              <a:rect l="0" t="0" r="r" b="b"/>
              <a:pathLst>
                <a:path w="28" h="50">
                  <a:moveTo>
                    <a:pt x="0" y="0"/>
                  </a:moveTo>
                  <a:lnTo>
                    <a:pt x="16" y="30"/>
                  </a:lnTo>
                  <a:lnTo>
                    <a:pt x="1" y="47"/>
                  </a:lnTo>
                  <a:lnTo>
                    <a:pt x="28" y="50"/>
                  </a:lnTo>
                  <a:lnTo>
                    <a:pt x="13" y="0"/>
                  </a:lnTo>
                  <a:lnTo>
                    <a:pt x="0" y="0"/>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7" name="Freeform 79"/>
            <p:cNvSpPr>
              <a:spLocks/>
            </p:cNvSpPr>
            <p:nvPr/>
          </p:nvSpPr>
          <p:spPr bwMode="auto">
            <a:xfrm>
              <a:off x="2903" y="2913"/>
              <a:ext cx="12" cy="5"/>
            </a:xfrm>
            <a:custGeom>
              <a:avLst/>
              <a:gdLst/>
              <a:ahLst/>
              <a:cxnLst>
                <a:cxn ang="0">
                  <a:pos x="12" y="1"/>
                </a:cxn>
                <a:cxn ang="0">
                  <a:pos x="3" y="10"/>
                </a:cxn>
                <a:cxn ang="0">
                  <a:pos x="0" y="0"/>
                </a:cxn>
                <a:cxn ang="0">
                  <a:pos x="12" y="1"/>
                </a:cxn>
              </a:cxnLst>
              <a:rect l="0" t="0" r="r" b="b"/>
              <a:pathLst>
                <a:path w="12" h="10">
                  <a:moveTo>
                    <a:pt x="12" y="1"/>
                  </a:moveTo>
                  <a:lnTo>
                    <a:pt x="3" y="10"/>
                  </a:lnTo>
                  <a:lnTo>
                    <a:pt x="0" y="0"/>
                  </a:lnTo>
                  <a:lnTo>
                    <a:pt x="12" y="1"/>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8" name="Freeform 80"/>
            <p:cNvSpPr>
              <a:spLocks/>
            </p:cNvSpPr>
            <p:nvPr/>
          </p:nvSpPr>
          <p:spPr bwMode="auto">
            <a:xfrm>
              <a:off x="2423" y="2855"/>
              <a:ext cx="16" cy="2"/>
            </a:xfrm>
            <a:custGeom>
              <a:avLst/>
              <a:gdLst/>
              <a:ahLst/>
              <a:cxnLst>
                <a:cxn ang="0">
                  <a:pos x="16" y="4"/>
                </a:cxn>
                <a:cxn ang="0">
                  <a:pos x="14" y="5"/>
                </a:cxn>
                <a:cxn ang="0">
                  <a:pos x="0" y="0"/>
                </a:cxn>
                <a:cxn ang="0">
                  <a:pos x="16" y="4"/>
                </a:cxn>
              </a:cxnLst>
              <a:rect l="0" t="0" r="r" b="b"/>
              <a:pathLst>
                <a:path w="16" h="5">
                  <a:moveTo>
                    <a:pt x="16" y="4"/>
                  </a:moveTo>
                  <a:lnTo>
                    <a:pt x="14" y="5"/>
                  </a:lnTo>
                  <a:lnTo>
                    <a:pt x="0" y="0"/>
                  </a:lnTo>
                  <a:lnTo>
                    <a:pt x="16" y="4"/>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09" name="Freeform 81"/>
            <p:cNvSpPr>
              <a:spLocks/>
            </p:cNvSpPr>
            <p:nvPr/>
          </p:nvSpPr>
          <p:spPr bwMode="auto">
            <a:xfrm>
              <a:off x="2854" y="2839"/>
              <a:ext cx="604" cy="503"/>
            </a:xfrm>
            <a:custGeom>
              <a:avLst/>
              <a:gdLst/>
              <a:ahLst/>
              <a:cxnLst>
                <a:cxn ang="0">
                  <a:pos x="585" y="795"/>
                </a:cxn>
                <a:cxn ang="0">
                  <a:pos x="589" y="886"/>
                </a:cxn>
                <a:cxn ang="0">
                  <a:pos x="583" y="938"/>
                </a:cxn>
                <a:cxn ang="0">
                  <a:pos x="571" y="981"/>
                </a:cxn>
                <a:cxn ang="0">
                  <a:pos x="547" y="1006"/>
                </a:cxn>
                <a:cxn ang="0">
                  <a:pos x="496" y="954"/>
                </a:cxn>
                <a:cxn ang="0">
                  <a:pos x="417" y="906"/>
                </a:cxn>
                <a:cxn ang="0">
                  <a:pos x="339" y="858"/>
                </a:cxn>
                <a:cxn ang="0">
                  <a:pos x="258" y="776"/>
                </a:cxn>
                <a:cxn ang="0">
                  <a:pos x="229" y="687"/>
                </a:cxn>
                <a:cxn ang="0">
                  <a:pos x="176" y="589"/>
                </a:cxn>
                <a:cxn ang="0">
                  <a:pos x="135" y="510"/>
                </a:cxn>
                <a:cxn ang="0">
                  <a:pos x="97" y="429"/>
                </a:cxn>
                <a:cxn ang="0">
                  <a:pos x="44" y="362"/>
                </a:cxn>
                <a:cxn ang="0">
                  <a:pos x="16" y="320"/>
                </a:cxn>
                <a:cxn ang="0">
                  <a:pos x="21" y="215"/>
                </a:cxn>
                <a:cxn ang="0">
                  <a:pos x="46" y="215"/>
                </a:cxn>
                <a:cxn ang="0">
                  <a:pos x="52" y="234"/>
                </a:cxn>
                <a:cxn ang="0">
                  <a:pos x="116" y="252"/>
                </a:cxn>
                <a:cxn ang="0">
                  <a:pos x="133" y="209"/>
                </a:cxn>
                <a:cxn ang="0">
                  <a:pos x="145" y="176"/>
                </a:cxn>
                <a:cxn ang="0">
                  <a:pos x="153" y="185"/>
                </a:cxn>
                <a:cxn ang="0">
                  <a:pos x="159" y="162"/>
                </a:cxn>
                <a:cxn ang="0">
                  <a:pos x="238" y="115"/>
                </a:cxn>
                <a:cxn ang="0">
                  <a:pos x="276" y="52"/>
                </a:cxn>
                <a:cxn ang="0">
                  <a:pos x="273" y="4"/>
                </a:cxn>
                <a:cxn ang="0">
                  <a:pos x="301" y="28"/>
                </a:cxn>
                <a:cxn ang="0">
                  <a:pos x="363" y="97"/>
                </a:cxn>
                <a:cxn ang="0">
                  <a:pos x="429" y="124"/>
                </a:cxn>
                <a:cxn ang="0">
                  <a:pos x="511" y="142"/>
                </a:cxn>
                <a:cxn ang="0">
                  <a:pos x="521" y="230"/>
                </a:cxn>
                <a:cxn ang="0">
                  <a:pos x="466" y="239"/>
                </a:cxn>
                <a:cxn ang="0">
                  <a:pos x="394" y="276"/>
                </a:cxn>
                <a:cxn ang="0">
                  <a:pos x="369" y="359"/>
                </a:cxn>
                <a:cxn ang="0">
                  <a:pos x="366" y="445"/>
                </a:cxn>
                <a:cxn ang="0">
                  <a:pos x="386" y="511"/>
                </a:cxn>
                <a:cxn ang="0">
                  <a:pos x="430" y="538"/>
                </a:cxn>
                <a:cxn ang="0">
                  <a:pos x="499" y="521"/>
                </a:cxn>
                <a:cxn ang="0">
                  <a:pos x="505" y="604"/>
                </a:cxn>
                <a:cxn ang="0">
                  <a:pos x="577" y="642"/>
                </a:cxn>
                <a:cxn ang="0">
                  <a:pos x="592" y="697"/>
                </a:cxn>
              </a:cxnLst>
              <a:rect l="0" t="0" r="r" b="b"/>
              <a:pathLst>
                <a:path w="604" h="1006">
                  <a:moveTo>
                    <a:pt x="592" y="766"/>
                  </a:moveTo>
                  <a:lnTo>
                    <a:pt x="585" y="795"/>
                  </a:lnTo>
                  <a:lnTo>
                    <a:pt x="583" y="841"/>
                  </a:lnTo>
                  <a:lnTo>
                    <a:pt x="589" y="886"/>
                  </a:lnTo>
                  <a:lnTo>
                    <a:pt x="604" y="892"/>
                  </a:lnTo>
                  <a:lnTo>
                    <a:pt x="583" y="938"/>
                  </a:lnTo>
                  <a:lnTo>
                    <a:pt x="583" y="960"/>
                  </a:lnTo>
                  <a:lnTo>
                    <a:pt x="571" y="981"/>
                  </a:lnTo>
                  <a:lnTo>
                    <a:pt x="555" y="1005"/>
                  </a:lnTo>
                  <a:lnTo>
                    <a:pt x="547" y="1006"/>
                  </a:lnTo>
                  <a:lnTo>
                    <a:pt x="515" y="981"/>
                  </a:lnTo>
                  <a:lnTo>
                    <a:pt x="496" y="954"/>
                  </a:lnTo>
                  <a:lnTo>
                    <a:pt x="457" y="930"/>
                  </a:lnTo>
                  <a:lnTo>
                    <a:pt x="417" y="906"/>
                  </a:lnTo>
                  <a:lnTo>
                    <a:pt x="377" y="882"/>
                  </a:lnTo>
                  <a:lnTo>
                    <a:pt x="339" y="858"/>
                  </a:lnTo>
                  <a:lnTo>
                    <a:pt x="298" y="816"/>
                  </a:lnTo>
                  <a:lnTo>
                    <a:pt x="258" y="776"/>
                  </a:lnTo>
                  <a:lnTo>
                    <a:pt x="259" y="747"/>
                  </a:lnTo>
                  <a:lnTo>
                    <a:pt x="229" y="687"/>
                  </a:lnTo>
                  <a:lnTo>
                    <a:pt x="198" y="627"/>
                  </a:lnTo>
                  <a:lnTo>
                    <a:pt x="176" y="589"/>
                  </a:lnTo>
                  <a:lnTo>
                    <a:pt x="155" y="551"/>
                  </a:lnTo>
                  <a:lnTo>
                    <a:pt x="135" y="510"/>
                  </a:lnTo>
                  <a:lnTo>
                    <a:pt x="116" y="470"/>
                  </a:lnTo>
                  <a:lnTo>
                    <a:pt x="97" y="429"/>
                  </a:lnTo>
                  <a:lnTo>
                    <a:pt x="78" y="388"/>
                  </a:lnTo>
                  <a:lnTo>
                    <a:pt x="44" y="362"/>
                  </a:lnTo>
                  <a:lnTo>
                    <a:pt x="12" y="334"/>
                  </a:lnTo>
                  <a:lnTo>
                    <a:pt x="16" y="320"/>
                  </a:lnTo>
                  <a:lnTo>
                    <a:pt x="0" y="248"/>
                  </a:lnTo>
                  <a:lnTo>
                    <a:pt x="21" y="215"/>
                  </a:lnTo>
                  <a:lnTo>
                    <a:pt x="43" y="183"/>
                  </a:lnTo>
                  <a:lnTo>
                    <a:pt x="46" y="215"/>
                  </a:lnTo>
                  <a:lnTo>
                    <a:pt x="37" y="239"/>
                  </a:lnTo>
                  <a:lnTo>
                    <a:pt x="52" y="234"/>
                  </a:lnTo>
                  <a:lnTo>
                    <a:pt x="103" y="273"/>
                  </a:lnTo>
                  <a:lnTo>
                    <a:pt x="116" y="252"/>
                  </a:lnTo>
                  <a:lnTo>
                    <a:pt x="121" y="229"/>
                  </a:lnTo>
                  <a:lnTo>
                    <a:pt x="133" y="209"/>
                  </a:lnTo>
                  <a:lnTo>
                    <a:pt x="139" y="177"/>
                  </a:lnTo>
                  <a:lnTo>
                    <a:pt x="145" y="176"/>
                  </a:lnTo>
                  <a:lnTo>
                    <a:pt x="145" y="186"/>
                  </a:lnTo>
                  <a:lnTo>
                    <a:pt x="153" y="185"/>
                  </a:lnTo>
                  <a:lnTo>
                    <a:pt x="150" y="174"/>
                  </a:lnTo>
                  <a:lnTo>
                    <a:pt x="159" y="162"/>
                  </a:lnTo>
                  <a:lnTo>
                    <a:pt x="188" y="149"/>
                  </a:lnTo>
                  <a:lnTo>
                    <a:pt x="238" y="115"/>
                  </a:lnTo>
                  <a:lnTo>
                    <a:pt x="267" y="52"/>
                  </a:lnTo>
                  <a:lnTo>
                    <a:pt x="276" y="52"/>
                  </a:lnTo>
                  <a:lnTo>
                    <a:pt x="259" y="9"/>
                  </a:lnTo>
                  <a:lnTo>
                    <a:pt x="273" y="4"/>
                  </a:lnTo>
                  <a:lnTo>
                    <a:pt x="275" y="0"/>
                  </a:lnTo>
                  <a:lnTo>
                    <a:pt x="301" y="28"/>
                  </a:lnTo>
                  <a:lnTo>
                    <a:pt x="328" y="54"/>
                  </a:lnTo>
                  <a:lnTo>
                    <a:pt x="363" y="97"/>
                  </a:lnTo>
                  <a:lnTo>
                    <a:pt x="371" y="123"/>
                  </a:lnTo>
                  <a:lnTo>
                    <a:pt x="429" y="124"/>
                  </a:lnTo>
                  <a:lnTo>
                    <a:pt x="464" y="125"/>
                  </a:lnTo>
                  <a:lnTo>
                    <a:pt x="511" y="142"/>
                  </a:lnTo>
                  <a:lnTo>
                    <a:pt x="493" y="209"/>
                  </a:lnTo>
                  <a:lnTo>
                    <a:pt x="521" y="230"/>
                  </a:lnTo>
                  <a:lnTo>
                    <a:pt x="506" y="228"/>
                  </a:lnTo>
                  <a:lnTo>
                    <a:pt x="466" y="239"/>
                  </a:lnTo>
                  <a:lnTo>
                    <a:pt x="430" y="257"/>
                  </a:lnTo>
                  <a:lnTo>
                    <a:pt x="394" y="276"/>
                  </a:lnTo>
                  <a:lnTo>
                    <a:pt x="381" y="318"/>
                  </a:lnTo>
                  <a:lnTo>
                    <a:pt x="369" y="359"/>
                  </a:lnTo>
                  <a:lnTo>
                    <a:pt x="346" y="404"/>
                  </a:lnTo>
                  <a:lnTo>
                    <a:pt x="366" y="445"/>
                  </a:lnTo>
                  <a:lnTo>
                    <a:pt x="387" y="487"/>
                  </a:lnTo>
                  <a:lnTo>
                    <a:pt x="386" y="511"/>
                  </a:lnTo>
                  <a:lnTo>
                    <a:pt x="404" y="515"/>
                  </a:lnTo>
                  <a:lnTo>
                    <a:pt x="430" y="538"/>
                  </a:lnTo>
                  <a:lnTo>
                    <a:pt x="467" y="548"/>
                  </a:lnTo>
                  <a:lnTo>
                    <a:pt x="499" y="521"/>
                  </a:lnTo>
                  <a:lnTo>
                    <a:pt x="501" y="562"/>
                  </a:lnTo>
                  <a:lnTo>
                    <a:pt x="505" y="604"/>
                  </a:lnTo>
                  <a:lnTo>
                    <a:pt x="554" y="600"/>
                  </a:lnTo>
                  <a:lnTo>
                    <a:pt x="577" y="642"/>
                  </a:lnTo>
                  <a:lnTo>
                    <a:pt x="600" y="685"/>
                  </a:lnTo>
                  <a:lnTo>
                    <a:pt x="592" y="697"/>
                  </a:lnTo>
                  <a:lnTo>
                    <a:pt x="592" y="766"/>
                  </a:lnTo>
                  <a:close/>
                </a:path>
              </a:pathLst>
            </a:custGeom>
            <a:solidFill>
              <a:srgbClr val="FFFF00"/>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0" name="Freeform 82"/>
            <p:cNvSpPr>
              <a:spLocks/>
            </p:cNvSpPr>
            <p:nvPr/>
          </p:nvSpPr>
          <p:spPr bwMode="auto">
            <a:xfrm>
              <a:off x="326" y="995"/>
              <a:ext cx="397" cy="110"/>
            </a:xfrm>
            <a:custGeom>
              <a:avLst/>
              <a:gdLst/>
              <a:ahLst/>
              <a:cxnLst>
                <a:cxn ang="0">
                  <a:pos x="397" y="135"/>
                </a:cxn>
                <a:cxn ang="0">
                  <a:pos x="385" y="117"/>
                </a:cxn>
                <a:cxn ang="0">
                  <a:pos x="363" y="93"/>
                </a:cxn>
                <a:cxn ang="0">
                  <a:pos x="344" y="89"/>
                </a:cxn>
                <a:cxn ang="0">
                  <a:pos x="344" y="95"/>
                </a:cxn>
                <a:cxn ang="0">
                  <a:pos x="333" y="90"/>
                </a:cxn>
                <a:cxn ang="0">
                  <a:pos x="297" y="91"/>
                </a:cxn>
                <a:cxn ang="0">
                  <a:pos x="272" y="112"/>
                </a:cxn>
                <a:cxn ang="0">
                  <a:pos x="268" y="123"/>
                </a:cxn>
                <a:cxn ang="0">
                  <a:pos x="251" y="123"/>
                </a:cxn>
                <a:cxn ang="0">
                  <a:pos x="266" y="103"/>
                </a:cxn>
                <a:cxn ang="0">
                  <a:pos x="296" y="74"/>
                </a:cxn>
                <a:cxn ang="0">
                  <a:pos x="294" y="48"/>
                </a:cxn>
                <a:cxn ang="0">
                  <a:pos x="263" y="18"/>
                </a:cxn>
                <a:cxn ang="0">
                  <a:pos x="263" y="28"/>
                </a:cxn>
                <a:cxn ang="0">
                  <a:pos x="242" y="0"/>
                </a:cxn>
                <a:cxn ang="0">
                  <a:pos x="181" y="43"/>
                </a:cxn>
                <a:cxn ang="0">
                  <a:pos x="120" y="86"/>
                </a:cxn>
                <a:cxn ang="0">
                  <a:pos x="60" y="129"/>
                </a:cxn>
                <a:cxn ang="0">
                  <a:pos x="0" y="173"/>
                </a:cxn>
                <a:cxn ang="0">
                  <a:pos x="30" y="147"/>
                </a:cxn>
                <a:cxn ang="0">
                  <a:pos x="55" y="132"/>
                </a:cxn>
                <a:cxn ang="0">
                  <a:pos x="73" y="129"/>
                </a:cxn>
                <a:cxn ang="0">
                  <a:pos x="91" y="119"/>
                </a:cxn>
                <a:cxn ang="0">
                  <a:pos x="90" y="128"/>
                </a:cxn>
                <a:cxn ang="0">
                  <a:pos x="102" y="127"/>
                </a:cxn>
                <a:cxn ang="0">
                  <a:pos x="66" y="143"/>
                </a:cxn>
                <a:cxn ang="0">
                  <a:pos x="62" y="162"/>
                </a:cxn>
                <a:cxn ang="0">
                  <a:pos x="136" y="162"/>
                </a:cxn>
                <a:cxn ang="0">
                  <a:pos x="114" y="195"/>
                </a:cxn>
                <a:cxn ang="0">
                  <a:pos x="144" y="207"/>
                </a:cxn>
                <a:cxn ang="0">
                  <a:pos x="168" y="209"/>
                </a:cxn>
                <a:cxn ang="0">
                  <a:pos x="159" y="222"/>
                </a:cxn>
                <a:cxn ang="0">
                  <a:pos x="185" y="213"/>
                </a:cxn>
                <a:cxn ang="0">
                  <a:pos x="202" y="207"/>
                </a:cxn>
                <a:cxn ang="0">
                  <a:pos x="199" y="198"/>
                </a:cxn>
                <a:cxn ang="0">
                  <a:pos x="250" y="175"/>
                </a:cxn>
                <a:cxn ang="0">
                  <a:pos x="264" y="165"/>
                </a:cxn>
                <a:cxn ang="0">
                  <a:pos x="272" y="152"/>
                </a:cxn>
                <a:cxn ang="0">
                  <a:pos x="275" y="162"/>
                </a:cxn>
                <a:cxn ang="0">
                  <a:pos x="303" y="160"/>
                </a:cxn>
                <a:cxn ang="0">
                  <a:pos x="315" y="151"/>
                </a:cxn>
                <a:cxn ang="0">
                  <a:pos x="345" y="150"/>
                </a:cxn>
                <a:cxn ang="0">
                  <a:pos x="397" y="135"/>
                </a:cxn>
              </a:cxnLst>
              <a:rect l="0" t="0" r="r" b="b"/>
              <a:pathLst>
                <a:path w="397" h="222">
                  <a:moveTo>
                    <a:pt x="397" y="135"/>
                  </a:moveTo>
                  <a:lnTo>
                    <a:pt x="385" y="117"/>
                  </a:lnTo>
                  <a:lnTo>
                    <a:pt x="363" y="93"/>
                  </a:lnTo>
                  <a:lnTo>
                    <a:pt x="344" y="89"/>
                  </a:lnTo>
                  <a:lnTo>
                    <a:pt x="344" y="95"/>
                  </a:lnTo>
                  <a:lnTo>
                    <a:pt x="333" y="90"/>
                  </a:lnTo>
                  <a:lnTo>
                    <a:pt x="297" y="91"/>
                  </a:lnTo>
                  <a:lnTo>
                    <a:pt x="272" y="112"/>
                  </a:lnTo>
                  <a:lnTo>
                    <a:pt x="268" y="123"/>
                  </a:lnTo>
                  <a:lnTo>
                    <a:pt x="251" y="123"/>
                  </a:lnTo>
                  <a:lnTo>
                    <a:pt x="266" y="103"/>
                  </a:lnTo>
                  <a:lnTo>
                    <a:pt x="296" y="74"/>
                  </a:lnTo>
                  <a:lnTo>
                    <a:pt x="294" y="48"/>
                  </a:lnTo>
                  <a:lnTo>
                    <a:pt x="263" y="18"/>
                  </a:lnTo>
                  <a:lnTo>
                    <a:pt x="263" y="28"/>
                  </a:lnTo>
                  <a:lnTo>
                    <a:pt x="242" y="0"/>
                  </a:lnTo>
                  <a:lnTo>
                    <a:pt x="181" y="43"/>
                  </a:lnTo>
                  <a:lnTo>
                    <a:pt x="120" y="86"/>
                  </a:lnTo>
                  <a:lnTo>
                    <a:pt x="60" y="129"/>
                  </a:lnTo>
                  <a:lnTo>
                    <a:pt x="0" y="173"/>
                  </a:lnTo>
                  <a:lnTo>
                    <a:pt x="30" y="147"/>
                  </a:lnTo>
                  <a:lnTo>
                    <a:pt x="55" y="132"/>
                  </a:lnTo>
                  <a:lnTo>
                    <a:pt x="73" y="129"/>
                  </a:lnTo>
                  <a:lnTo>
                    <a:pt x="91" y="119"/>
                  </a:lnTo>
                  <a:lnTo>
                    <a:pt x="90" y="128"/>
                  </a:lnTo>
                  <a:lnTo>
                    <a:pt x="102" y="127"/>
                  </a:lnTo>
                  <a:lnTo>
                    <a:pt x="66" y="143"/>
                  </a:lnTo>
                  <a:lnTo>
                    <a:pt x="62" y="162"/>
                  </a:lnTo>
                  <a:lnTo>
                    <a:pt x="136" y="162"/>
                  </a:lnTo>
                  <a:lnTo>
                    <a:pt x="114" y="195"/>
                  </a:lnTo>
                  <a:lnTo>
                    <a:pt x="144" y="207"/>
                  </a:lnTo>
                  <a:lnTo>
                    <a:pt x="168" y="209"/>
                  </a:lnTo>
                  <a:lnTo>
                    <a:pt x="159" y="222"/>
                  </a:lnTo>
                  <a:lnTo>
                    <a:pt x="185" y="213"/>
                  </a:lnTo>
                  <a:lnTo>
                    <a:pt x="202" y="207"/>
                  </a:lnTo>
                  <a:lnTo>
                    <a:pt x="199" y="198"/>
                  </a:lnTo>
                  <a:lnTo>
                    <a:pt x="250" y="175"/>
                  </a:lnTo>
                  <a:lnTo>
                    <a:pt x="264" y="165"/>
                  </a:lnTo>
                  <a:lnTo>
                    <a:pt x="272" y="152"/>
                  </a:lnTo>
                  <a:lnTo>
                    <a:pt x="275" y="162"/>
                  </a:lnTo>
                  <a:lnTo>
                    <a:pt x="303" y="160"/>
                  </a:lnTo>
                  <a:lnTo>
                    <a:pt x="315" y="151"/>
                  </a:lnTo>
                  <a:lnTo>
                    <a:pt x="345" y="150"/>
                  </a:lnTo>
                  <a:lnTo>
                    <a:pt x="397" y="135"/>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1" name="Freeform 83"/>
            <p:cNvSpPr>
              <a:spLocks/>
            </p:cNvSpPr>
            <p:nvPr/>
          </p:nvSpPr>
          <p:spPr bwMode="auto">
            <a:xfrm>
              <a:off x="712" y="934"/>
              <a:ext cx="100" cy="13"/>
            </a:xfrm>
            <a:custGeom>
              <a:avLst/>
              <a:gdLst/>
              <a:ahLst/>
              <a:cxnLst>
                <a:cxn ang="0">
                  <a:pos x="91" y="19"/>
                </a:cxn>
                <a:cxn ang="0">
                  <a:pos x="0" y="25"/>
                </a:cxn>
                <a:cxn ang="0">
                  <a:pos x="49" y="0"/>
                </a:cxn>
                <a:cxn ang="0">
                  <a:pos x="100" y="14"/>
                </a:cxn>
                <a:cxn ang="0">
                  <a:pos x="91" y="19"/>
                </a:cxn>
              </a:cxnLst>
              <a:rect l="0" t="0" r="r" b="b"/>
              <a:pathLst>
                <a:path w="100" h="25">
                  <a:moveTo>
                    <a:pt x="91" y="19"/>
                  </a:moveTo>
                  <a:lnTo>
                    <a:pt x="0" y="25"/>
                  </a:lnTo>
                  <a:lnTo>
                    <a:pt x="49" y="0"/>
                  </a:lnTo>
                  <a:lnTo>
                    <a:pt x="100" y="14"/>
                  </a:lnTo>
                  <a:lnTo>
                    <a:pt x="91" y="19"/>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2" name="Freeform 84"/>
            <p:cNvSpPr>
              <a:spLocks/>
            </p:cNvSpPr>
            <p:nvPr/>
          </p:nvSpPr>
          <p:spPr bwMode="auto">
            <a:xfrm>
              <a:off x="1420" y="924"/>
              <a:ext cx="2996" cy="770"/>
            </a:xfrm>
            <a:custGeom>
              <a:avLst/>
              <a:gdLst/>
              <a:ahLst/>
              <a:cxnLst>
                <a:cxn ang="0">
                  <a:pos x="2305" y="259"/>
                </a:cxn>
                <a:cxn ang="0">
                  <a:pos x="2440" y="106"/>
                </a:cxn>
                <a:cxn ang="0">
                  <a:pos x="2197" y="172"/>
                </a:cxn>
                <a:cxn ang="0">
                  <a:pos x="2100" y="100"/>
                </a:cxn>
                <a:cxn ang="0">
                  <a:pos x="2096" y="7"/>
                </a:cxn>
                <a:cxn ang="0">
                  <a:pos x="2061" y="119"/>
                </a:cxn>
                <a:cxn ang="0">
                  <a:pos x="1904" y="234"/>
                </a:cxn>
                <a:cxn ang="0">
                  <a:pos x="1937" y="169"/>
                </a:cxn>
                <a:cxn ang="0">
                  <a:pos x="1822" y="195"/>
                </a:cxn>
                <a:cxn ang="0">
                  <a:pos x="1581" y="164"/>
                </a:cxn>
                <a:cxn ang="0">
                  <a:pos x="1478" y="201"/>
                </a:cxn>
                <a:cxn ang="0">
                  <a:pos x="1270" y="143"/>
                </a:cxn>
                <a:cxn ang="0">
                  <a:pos x="1004" y="111"/>
                </a:cxn>
                <a:cxn ang="0">
                  <a:pos x="840" y="88"/>
                </a:cxn>
                <a:cxn ang="0">
                  <a:pos x="362" y="216"/>
                </a:cxn>
                <a:cxn ang="0">
                  <a:pos x="66" y="577"/>
                </a:cxn>
                <a:cxn ang="0">
                  <a:pos x="212" y="781"/>
                </a:cxn>
                <a:cxn ang="0">
                  <a:pos x="138" y="851"/>
                </a:cxn>
                <a:cxn ang="0">
                  <a:pos x="181" y="915"/>
                </a:cxn>
                <a:cxn ang="0">
                  <a:pos x="184" y="986"/>
                </a:cxn>
                <a:cxn ang="0">
                  <a:pos x="111" y="1032"/>
                </a:cxn>
                <a:cxn ang="0">
                  <a:pos x="173" y="1055"/>
                </a:cxn>
                <a:cxn ang="0">
                  <a:pos x="206" y="1101"/>
                </a:cxn>
                <a:cxn ang="0">
                  <a:pos x="219" y="1137"/>
                </a:cxn>
                <a:cxn ang="0">
                  <a:pos x="789" y="1144"/>
                </a:cxn>
                <a:cxn ang="0">
                  <a:pos x="1363" y="1124"/>
                </a:cxn>
                <a:cxn ang="0">
                  <a:pos x="1692" y="1255"/>
                </a:cxn>
                <a:cxn ang="0">
                  <a:pos x="1682" y="1518"/>
                </a:cxn>
                <a:cxn ang="0">
                  <a:pos x="2020" y="1400"/>
                </a:cxn>
                <a:cxn ang="0">
                  <a:pos x="2385" y="1236"/>
                </a:cxn>
                <a:cxn ang="0">
                  <a:pos x="2524" y="1312"/>
                </a:cxn>
                <a:cxn ang="0">
                  <a:pos x="2445" y="1381"/>
                </a:cxn>
                <a:cxn ang="0">
                  <a:pos x="2655" y="1344"/>
                </a:cxn>
                <a:cxn ang="0">
                  <a:pos x="2517" y="1248"/>
                </a:cxn>
                <a:cxn ang="0">
                  <a:pos x="2589" y="1157"/>
                </a:cxn>
                <a:cxn ang="0">
                  <a:pos x="2352" y="1191"/>
                </a:cxn>
                <a:cxn ang="0">
                  <a:pos x="2842" y="1034"/>
                </a:cxn>
                <a:cxn ang="0">
                  <a:pos x="2996" y="910"/>
                </a:cxn>
                <a:cxn ang="0">
                  <a:pos x="2838" y="906"/>
                </a:cxn>
                <a:cxn ang="0">
                  <a:pos x="2869" y="835"/>
                </a:cxn>
                <a:cxn ang="0">
                  <a:pos x="2853" y="799"/>
                </a:cxn>
                <a:cxn ang="0">
                  <a:pos x="2809" y="733"/>
                </a:cxn>
                <a:cxn ang="0">
                  <a:pos x="2808" y="671"/>
                </a:cxn>
                <a:cxn ang="0">
                  <a:pos x="2804" y="576"/>
                </a:cxn>
                <a:cxn ang="0">
                  <a:pos x="2739" y="619"/>
                </a:cxn>
                <a:cxn ang="0">
                  <a:pos x="2613" y="672"/>
                </a:cxn>
                <a:cxn ang="0">
                  <a:pos x="2596" y="597"/>
                </a:cxn>
                <a:cxn ang="0">
                  <a:pos x="2566" y="492"/>
                </a:cxn>
                <a:cxn ang="0">
                  <a:pos x="2356" y="501"/>
                </a:cxn>
                <a:cxn ang="0">
                  <a:pos x="2243" y="780"/>
                </a:cxn>
                <a:cxn ang="0">
                  <a:pos x="2042" y="1003"/>
                </a:cxn>
                <a:cxn ang="0">
                  <a:pos x="1984" y="871"/>
                </a:cxn>
                <a:cxn ang="0">
                  <a:pos x="1743" y="711"/>
                </a:cxn>
                <a:cxn ang="0">
                  <a:pos x="1657" y="619"/>
                </a:cxn>
                <a:cxn ang="0">
                  <a:pos x="1880" y="433"/>
                </a:cxn>
                <a:cxn ang="0">
                  <a:pos x="1992" y="375"/>
                </a:cxn>
                <a:cxn ang="0">
                  <a:pos x="2101" y="295"/>
                </a:cxn>
              </a:cxnLst>
              <a:rect l="0" t="0" r="r" b="b"/>
              <a:pathLst>
                <a:path w="2996" h="1538">
                  <a:moveTo>
                    <a:pt x="2206" y="269"/>
                  </a:moveTo>
                  <a:lnTo>
                    <a:pt x="2188" y="253"/>
                  </a:lnTo>
                  <a:lnTo>
                    <a:pt x="2236" y="256"/>
                  </a:lnTo>
                  <a:lnTo>
                    <a:pt x="2260" y="267"/>
                  </a:lnTo>
                  <a:lnTo>
                    <a:pt x="2281" y="263"/>
                  </a:lnTo>
                  <a:lnTo>
                    <a:pt x="2264" y="235"/>
                  </a:lnTo>
                  <a:lnTo>
                    <a:pt x="2283" y="240"/>
                  </a:lnTo>
                  <a:lnTo>
                    <a:pt x="2291" y="244"/>
                  </a:lnTo>
                  <a:lnTo>
                    <a:pt x="2305" y="259"/>
                  </a:lnTo>
                  <a:lnTo>
                    <a:pt x="2390" y="226"/>
                  </a:lnTo>
                  <a:lnTo>
                    <a:pt x="2405" y="201"/>
                  </a:lnTo>
                  <a:lnTo>
                    <a:pt x="2400" y="178"/>
                  </a:lnTo>
                  <a:lnTo>
                    <a:pt x="2404" y="162"/>
                  </a:lnTo>
                  <a:lnTo>
                    <a:pt x="2447" y="147"/>
                  </a:lnTo>
                  <a:lnTo>
                    <a:pt x="2423" y="143"/>
                  </a:lnTo>
                  <a:lnTo>
                    <a:pt x="2456" y="126"/>
                  </a:lnTo>
                  <a:lnTo>
                    <a:pt x="2402" y="111"/>
                  </a:lnTo>
                  <a:lnTo>
                    <a:pt x="2440" y="106"/>
                  </a:lnTo>
                  <a:lnTo>
                    <a:pt x="2337" y="104"/>
                  </a:lnTo>
                  <a:lnTo>
                    <a:pt x="2327" y="129"/>
                  </a:lnTo>
                  <a:lnTo>
                    <a:pt x="2332" y="139"/>
                  </a:lnTo>
                  <a:lnTo>
                    <a:pt x="2327" y="149"/>
                  </a:lnTo>
                  <a:lnTo>
                    <a:pt x="2297" y="149"/>
                  </a:lnTo>
                  <a:lnTo>
                    <a:pt x="2219" y="214"/>
                  </a:lnTo>
                  <a:lnTo>
                    <a:pt x="2192" y="218"/>
                  </a:lnTo>
                  <a:lnTo>
                    <a:pt x="2185" y="181"/>
                  </a:lnTo>
                  <a:lnTo>
                    <a:pt x="2197" y="172"/>
                  </a:lnTo>
                  <a:lnTo>
                    <a:pt x="2219" y="140"/>
                  </a:lnTo>
                  <a:lnTo>
                    <a:pt x="2189" y="126"/>
                  </a:lnTo>
                  <a:lnTo>
                    <a:pt x="2126" y="172"/>
                  </a:lnTo>
                  <a:lnTo>
                    <a:pt x="2142" y="133"/>
                  </a:lnTo>
                  <a:lnTo>
                    <a:pt x="2130" y="123"/>
                  </a:lnTo>
                  <a:lnTo>
                    <a:pt x="2163" y="115"/>
                  </a:lnTo>
                  <a:lnTo>
                    <a:pt x="2142" y="107"/>
                  </a:lnTo>
                  <a:lnTo>
                    <a:pt x="2105" y="105"/>
                  </a:lnTo>
                  <a:lnTo>
                    <a:pt x="2100" y="100"/>
                  </a:lnTo>
                  <a:lnTo>
                    <a:pt x="2129" y="86"/>
                  </a:lnTo>
                  <a:lnTo>
                    <a:pt x="2129" y="80"/>
                  </a:lnTo>
                  <a:lnTo>
                    <a:pt x="2147" y="81"/>
                  </a:lnTo>
                  <a:lnTo>
                    <a:pt x="2133" y="52"/>
                  </a:lnTo>
                  <a:lnTo>
                    <a:pt x="2145" y="24"/>
                  </a:lnTo>
                  <a:lnTo>
                    <a:pt x="2126" y="10"/>
                  </a:lnTo>
                  <a:lnTo>
                    <a:pt x="2113" y="9"/>
                  </a:lnTo>
                  <a:lnTo>
                    <a:pt x="2123" y="0"/>
                  </a:lnTo>
                  <a:lnTo>
                    <a:pt x="2096" y="7"/>
                  </a:lnTo>
                  <a:lnTo>
                    <a:pt x="2112" y="7"/>
                  </a:lnTo>
                  <a:lnTo>
                    <a:pt x="2060" y="20"/>
                  </a:lnTo>
                  <a:lnTo>
                    <a:pt x="2067" y="29"/>
                  </a:lnTo>
                  <a:lnTo>
                    <a:pt x="2031" y="33"/>
                  </a:lnTo>
                  <a:lnTo>
                    <a:pt x="2016" y="62"/>
                  </a:lnTo>
                  <a:lnTo>
                    <a:pt x="2024" y="66"/>
                  </a:lnTo>
                  <a:lnTo>
                    <a:pt x="1999" y="71"/>
                  </a:lnTo>
                  <a:lnTo>
                    <a:pt x="1984" y="96"/>
                  </a:lnTo>
                  <a:lnTo>
                    <a:pt x="2061" y="119"/>
                  </a:lnTo>
                  <a:lnTo>
                    <a:pt x="2040" y="124"/>
                  </a:lnTo>
                  <a:lnTo>
                    <a:pt x="2043" y="120"/>
                  </a:lnTo>
                  <a:lnTo>
                    <a:pt x="2023" y="130"/>
                  </a:lnTo>
                  <a:lnTo>
                    <a:pt x="2002" y="149"/>
                  </a:lnTo>
                  <a:lnTo>
                    <a:pt x="2037" y="138"/>
                  </a:lnTo>
                  <a:lnTo>
                    <a:pt x="2022" y="154"/>
                  </a:lnTo>
                  <a:lnTo>
                    <a:pt x="1952" y="180"/>
                  </a:lnTo>
                  <a:lnTo>
                    <a:pt x="1923" y="214"/>
                  </a:lnTo>
                  <a:lnTo>
                    <a:pt x="1904" y="234"/>
                  </a:lnTo>
                  <a:lnTo>
                    <a:pt x="1882" y="234"/>
                  </a:lnTo>
                  <a:lnTo>
                    <a:pt x="1883" y="243"/>
                  </a:lnTo>
                  <a:lnTo>
                    <a:pt x="1881" y="233"/>
                  </a:lnTo>
                  <a:lnTo>
                    <a:pt x="1886" y="233"/>
                  </a:lnTo>
                  <a:lnTo>
                    <a:pt x="1910" y="228"/>
                  </a:lnTo>
                  <a:lnTo>
                    <a:pt x="1899" y="223"/>
                  </a:lnTo>
                  <a:lnTo>
                    <a:pt x="1910" y="213"/>
                  </a:lnTo>
                  <a:lnTo>
                    <a:pt x="1891" y="215"/>
                  </a:lnTo>
                  <a:lnTo>
                    <a:pt x="1937" y="169"/>
                  </a:lnTo>
                  <a:lnTo>
                    <a:pt x="1907" y="178"/>
                  </a:lnTo>
                  <a:lnTo>
                    <a:pt x="1912" y="172"/>
                  </a:lnTo>
                  <a:lnTo>
                    <a:pt x="1875" y="164"/>
                  </a:lnTo>
                  <a:lnTo>
                    <a:pt x="1846" y="172"/>
                  </a:lnTo>
                  <a:lnTo>
                    <a:pt x="1854" y="187"/>
                  </a:lnTo>
                  <a:lnTo>
                    <a:pt x="1877" y="194"/>
                  </a:lnTo>
                  <a:lnTo>
                    <a:pt x="1844" y="195"/>
                  </a:lnTo>
                  <a:lnTo>
                    <a:pt x="1833" y="181"/>
                  </a:lnTo>
                  <a:lnTo>
                    <a:pt x="1822" y="195"/>
                  </a:lnTo>
                  <a:lnTo>
                    <a:pt x="1753" y="194"/>
                  </a:lnTo>
                  <a:lnTo>
                    <a:pt x="1686" y="192"/>
                  </a:lnTo>
                  <a:lnTo>
                    <a:pt x="1666" y="181"/>
                  </a:lnTo>
                  <a:lnTo>
                    <a:pt x="1637" y="177"/>
                  </a:lnTo>
                  <a:lnTo>
                    <a:pt x="1626" y="159"/>
                  </a:lnTo>
                  <a:lnTo>
                    <a:pt x="1615" y="139"/>
                  </a:lnTo>
                  <a:lnTo>
                    <a:pt x="1507" y="167"/>
                  </a:lnTo>
                  <a:lnTo>
                    <a:pt x="1529" y="176"/>
                  </a:lnTo>
                  <a:lnTo>
                    <a:pt x="1581" y="164"/>
                  </a:lnTo>
                  <a:lnTo>
                    <a:pt x="1614" y="158"/>
                  </a:lnTo>
                  <a:lnTo>
                    <a:pt x="1550" y="180"/>
                  </a:lnTo>
                  <a:lnTo>
                    <a:pt x="1519" y="185"/>
                  </a:lnTo>
                  <a:lnTo>
                    <a:pt x="1498" y="239"/>
                  </a:lnTo>
                  <a:lnTo>
                    <a:pt x="1485" y="230"/>
                  </a:lnTo>
                  <a:lnTo>
                    <a:pt x="1476" y="261"/>
                  </a:lnTo>
                  <a:lnTo>
                    <a:pt x="1461" y="224"/>
                  </a:lnTo>
                  <a:lnTo>
                    <a:pt x="1486" y="224"/>
                  </a:lnTo>
                  <a:lnTo>
                    <a:pt x="1478" y="201"/>
                  </a:lnTo>
                  <a:lnTo>
                    <a:pt x="1460" y="211"/>
                  </a:lnTo>
                  <a:lnTo>
                    <a:pt x="1460" y="195"/>
                  </a:lnTo>
                  <a:lnTo>
                    <a:pt x="1436" y="186"/>
                  </a:lnTo>
                  <a:lnTo>
                    <a:pt x="1305" y="199"/>
                  </a:lnTo>
                  <a:lnTo>
                    <a:pt x="1259" y="186"/>
                  </a:lnTo>
                  <a:lnTo>
                    <a:pt x="1310" y="171"/>
                  </a:lnTo>
                  <a:lnTo>
                    <a:pt x="1329" y="166"/>
                  </a:lnTo>
                  <a:lnTo>
                    <a:pt x="1292" y="137"/>
                  </a:lnTo>
                  <a:lnTo>
                    <a:pt x="1270" y="143"/>
                  </a:lnTo>
                  <a:lnTo>
                    <a:pt x="1182" y="120"/>
                  </a:lnTo>
                  <a:lnTo>
                    <a:pt x="1096" y="97"/>
                  </a:lnTo>
                  <a:lnTo>
                    <a:pt x="1049" y="119"/>
                  </a:lnTo>
                  <a:lnTo>
                    <a:pt x="1030" y="114"/>
                  </a:lnTo>
                  <a:lnTo>
                    <a:pt x="1044" y="104"/>
                  </a:lnTo>
                  <a:lnTo>
                    <a:pt x="1054" y="82"/>
                  </a:lnTo>
                  <a:lnTo>
                    <a:pt x="1043" y="91"/>
                  </a:lnTo>
                  <a:lnTo>
                    <a:pt x="1026" y="102"/>
                  </a:lnTo>
                  <a:lnTo>
                    <a:pt x="1004" y="111"/>
                  </a:lnTo>
                  <a:lnTo>
                    <a:pt x="989" y="121"/>
                  </a:lnTo>
                  <a:lnTo>
                    <a:pt x="973" y="88"/>
                  </a:lnTo>
                  <a:lnTo>
                    <a:pt x="960" y="66"/>
                  </a:lnTo>
                  <a:lnTo>
                    <a:pt x="963" y="80"/>
                  </a:lnTo>
                  <a:lnTo>
                    <a:pt x="890" y="102"/>
                  </a:lnTo>
                  <a:lnTo>
                    <a:pt x="894" y="96"/>
                  </a:lnTo>
                  <a:lnTo>
                    <a:pt x="818" y="110"/>
                  </a:lnTo>
                  <a:lnTo>
                    <a:pt x="894" y="81"/>
                  </a:lnTo>
                  <a:lnTo>
                    <a:pt x="840" y="88"/>
                  </a:lnTo>
                  <a:lnTo>
                    <a:pt x="754" y="112"/>
                  </a:lnTo>
                  <a:lnTo>
                    <a:pt x="666" y="135"/>
                  </a:lnTo>
                  <a:lnTo>
                    <a:pt x="657" y="149"/>
                  </a:lnTo>
                  <a:lnTo>
                    <a:pt x="628" y="144"/>
                  </a:lnTo>
                  <a:lnTo>
                    <a:pt x="623" y="152"/>
                  </a:lnTo>
                  <a:lnTo>
                    <a:pt x="555" y="129"/>
                  </a:lnTo>
                  <a:lnTo>
                    <a:pt x="487" y="106"/>
                  </a:lnTo>
                  <a:lnTo>
                    <a:pt x="425" y="161"/>
                  </a:lnTo>
                  <a:lnTo>
                    <a:pt x="362" y="216"/>
                  </a:lnTo>
                  <a:lnTo>
                    <a:pt x="300" y="271"/>
                  </a:lnTo>
                  <a:lnTo>
                    <a:pt x="237" y="326"/>
                  </a:lnTo>
                  <a:lnTo>
                    <a:pt x="178" y="383"/>
                  </a:lnTo>
                  <a:lnTo>
                    <a:pt x="119" y="442"/>
                  </a:lnTo>
                  <a:lnTo>
                    <a:pt x="60" y="499"/>
                  </a:lnTo>
                  <a:lnTo>
                    <a:pt x="0" y="557"/>
                  </a:lnTo>
                  <a:lnTo>
                    <a:pt x="74" y="554"/>
                  </a:lnTo>
                  <a:lnTo>
                    <a:pt x="57" y="567"/>
                  </a:lnTo>
                  <a:lnTo>
                    <a:pt x="66" y="577"/>
                  </a:lnTo>
                  <a:lnTo>
                    <a:pt x="65" y="628"/>
                  </a:lnTo>
                  <a:lnTo>
                    <a:pt x="100" y="615"/>
                  </a:lnTo>
                  <a:lnTo>
                    <a:pt x="128" y="599"/>
                  </a:lnTo>
                  <a:lnTo>
                    <a:pt x="181" y="582"/>
                  </a:lnTo>
                  <a:lnTo>
                    <a:pt x="193" y="637"/>
                  </a:lnTo>
                  <a:lnTo>
                    <a:pt x="183" y="685"/>
                  </a:lnTo>
                  <a:lnTo>
                    <a:pt x="175" y="732"/>
                  </a:lnTo>
                  <a:lnTo>
                    <a:pt x="193" y="756"/>
                  </a:lnTo>
                  <a:lnTo>
                    <a:pt x="212" y="781"/>
                  </a:lnTo>
                  <a:lnTo>
                    <a:pt x="170" y="828"/>
                  </a:lnTo>
                  <a:lnTo>
                    <a:pt x="207" y="795"/>
                  </a:lnTo>
                  <a:lnTo>
                    <a:pt x="207" y="804"/>
                  </a:lnTo>
                  <a:lnTo>
                    <a:pt x="173" y="827"/>
                  </a:lnTo>
                  <a:lnTo>
                    <a:pt x="178" y="828"/>
                  </a:lnTo>
                  <a:lnTo>
                    <a:pt x="158" y="847"/>
                  </a:lnTo>
                  <a:lnTo>
                    <a:pt x="144" y="844"/>
                  </a:lnTo>
                  <a:lnTo>
                    <a:pt x="146" y="863"/>
                  </a:lnTo>
                  <a:lnTo>
                    <a:pt x="138" y="851"/>
                  </a:lnTo>
                  <a:lnTo>
                    <a:pt x="135" y="872"/>
                  </a:lnTo>
                  <a:lnTo>
                    <a:pt x="155" y="870"/>
                  </a:lnTo>
                  <a:lnTo>
                    <a:pt x="143" y="870"/>
                  </a:lnTo>
                  <a:lnTo>
                    <a:pt x="142" y="882"/>
                  </a:lnTo>
                  <a:lnTo>
                    <a:pt x="132" y="876"/>
                  </a:lnTo>
                  <a:lnTo>
                    <a:pt x="137" y="913"/>
                  </a:lnTo>
                  <a:lnTo>
                    <a:pt x="189" y="879"/>
                  </a:lnTo>
                  <a:lnTo>
                    <a:pt x="169" y="910"/>
                  </a:lnTo>
                  <a:lnTo>
                    <a:pt x="181" y="915"/>
                  </a:lnTo>
                  <a:lnTo>
                    <a:pt x="158" y="908"/>
                  </a:lnTo>
                  <a:lnTo>
                    <a:pt x="153" y="943"/>
                  </a:lnTo>
                  <a:lnTo>
                    <a:pt x="161" y="938"/>
                  </a:lnTo>
                  <a:lnTo>
                    <a:pt x="132" y="971"/>
                  </a:lnTo>
                  <a:lnTo>
                    <a:pt x="148" y="961"/>
                  </a:lnTo>
                  <a:lnTo>
                    <a:pt x="147" y="975"/>
                  </a:lnTo>
                  <a:lnTo>
                    <a:pt x="206" y="942"/>
                  </a:lnTo>
                  <a:lnTo>
                    <a:pt x="185" y="967"/>
                  </a:lnTo>
                  <a:lnTo>
                    <a:pt x="184" y="986"/>
                  </a:lnTo>
                  <a:lnTo>
                    <a:pt x="178" y="968"/>
                  </a:lnTo>
                  <a:lnTo>
                    <a:pt x="130" y="995"/>
                  </a:lnTo>
                  <a:lnTo>
                    <a:pt x="132" y="1008"/>
                  </a:lnTo>
                  <a:lnTo>
                    <a:pt x="146" y="998"/>
                  </a:lnTo>
                  <a:lnTo>
                    <a:pt x="172" y="1004"/>
                  </a:lnTo>
                  <a:lnTo>
                    <a:pt x="128" y="1013"/>
                  </a:lnTo>
                  <a:lnTo>
                    <a:pt x="116" y="1020"/>
                  </a:lnTo>
                  <a:lnTo>
                    <a:pt x="135" y="1023"/>
                  </a:lnTo>
                  <a:lnTo>
                    <a:pt x="111" y="1032"/>
                  </a:lnTo>
                  <a:lnTo>
                    <a:pt x="142" y="1044"/>
                  </a:lnTo>
                  <a:lnTo>
                    <a:pt x="153" y="1038"/>
                  </a:lnTo>
                  <a:lnTo>
                    <a:pt x="163" y="1042"/>
                  </a:lnTo>
                  <a:lnTo>
                    <a:pt x="147" y="1047"/>
                  </a:lnTo>
                  <a:lnTo>
                    <a:pt x="165" y="1048"/>
                  </a:lnTo>
                  <a:lnTo>
                    <a:pt x="152" y="1055"/>
                  </a:lnTo>
                  <a:lnTo>
                    <a:pt x="187" y="1043"/>
                  </a:lnTo>
                  <a:lnTo>
                    <a:pt x="193" y="1036"/>
                  </a:lnTo>
                  <a:lnTo>
                    <a:pt x="173" y="1055"/>
                  </a:lnTo>
                  <a:lnTo>
                    <a:pt x="156" y="1057"/>
                  </a:lnTo>
                  <a:lnTo>
                    <a:pt x="150" y="1066"/>
                  </a:lnTo>
                  <a:lnTo>
                    <a:pt x="181" y="1055"/>
                  </a:lnTo>
                  <a:lnTo>
                    <a:pt x="181" y="1066"/>
                  </a:lnTo>
                  <a:lnTo>
                    <a:pt x="209" y="1048"/>
                  </a:lnTo>
                  <a:lnTo>
                    <a:pt x="194" y="1074"/>
                  </a:lnTo>
                  <a:lnTo>
                    <a:pt x="220" y="1063"/>
                  </a:lnTo>
                  <a:lnTo>
                    <a:pt x="184" y="1086"/>
                  </a:lnTo>
                  <a:lnTo>
                    <a:pt x="206" y="1101"/>
                  </a:lnTo>
                  <a:lnTo>
                    <a:pt x="224" y="1079"/>
                  </a:lnTo>
                  <a:lnTo>
                    <a:pt x="212" y="1110"/>
                  </a:lnTo>
                  <a:lnTo>
                    <a:pt x="219" y="1110"/>
                  </a:lnTo>
                  <a:lnTo>
                    <a:pt x="201" y="1110"/>
                  </a:lnTo>
                  <a:lnTo>
                    <a:pt x="219" y="1117"/>
                  </a:lnTo>
                  <a:lnTo>
                    <a:pt x="236" y="1109"/>
                  </a:lnTo>
                  <a:lnTo>
                    <a:pt x="223" y="1125"/>
                  </a:lnTo>
                  <a:lnTo>
                    <a:pt x="236" y="1128"/>
                  </a:lnTo>
                  <a:lnTo>
                    <a:pt x="219" y="1137"/>
                  </a:lnTo>
                  <a:lnTo>
                    <a:pt x="232" y="1144"/>
                  </a:lnTo>
                  <a:lnTo>
                    <a:pt x="302" y="1144"/>
                  </a:lnTo>
                  <a:lnTo>
                    <a:pt x="372" y="1144"/>
                  </a:lnTo>
                  <a:lnTo>
                    <a:pt x="441" y="1144"/>
                  </a:lnTo>
                  <a:lnTo>
                    <a:pt x="511" y="1144"/>
                  </a:lnTo>
                  <a:lnTo>
                    <a:pt x="580" y="1144"/>
                  </a:lnTo>
                  <a:lnTo>
                    <a:pt x="650" y="1144"/>
                  </a:lnTo>
                  <a:lnTo>
                    <a:pt x="719" y="1144"/>
                  </a:lnTo>
                  <a:lnTo>
                    <a:pt x="789" y="1144"/>
                  </a:lnTo>
                  <a:lnTo>
                    <a:pt x="858" y="1144"/>
                  </a:lnTo>
                  <a:lnTo>
                    <a:pt x="927" y="1144"/>
                  </a:lnTo>
                  <a:lnTo>
                    <a:pt x="997" y="1144"/>
                  </a:lnTo>
                  <a:lnTo>
                    <a:pt x="1067" y="1144"/>
                  </a:lnTo>
                  <a:lnTo>
                    <a:pt x="1137" y="1144"/>
                  </a:lnTo>
                  <a:lnTo>
                    <a:pt x="1205" y="1144"/>
                  </a:lnTo>
                  <a:lnTo>
                    <a:pt x="1275" y="1144"/>
                  </a:lnTo>
                  <a:lnTo>
                    <a:pt x="1345" y="1143"/>
                  </a:lnTo>
                  <a:lnTo>
                    <a:pt x="1363" y="1124"/>
                  </a:lnTo>
                  <a:lnTo>
                    <a:pt x="1358" y="1156"/>
                  </a:lnTo>
                  <a:lnTo>
                    <a:pt x="1403" y="1165"/>
                  </a:lnTo>
                  <a:lnTo>
                    <a:pt x="1462" y="1191"/>
                  </a:lnTo>
                  <a:lnTo>
                    <a:pt x="1498" y="1185"/>
                  </a:lnTo>
                  <a:lnTo>
                    <a:pt x="1532" y="1199"/>
                  </a:lnTo>
                  <a:lnTo>
                    <a:pt x="1587" y="1184"/>
                  </a:lnTo>
                  <a:lnTo>
                    <a:pt x="1622" y="1208"/>
                  </a:lnTo>
                  <a:lnTo>
                    <a:pt x="1657" y="1231"/>
                  </a:lnTo>
                  <a:lnTo>
                    <a:pt x="1692" y="1255"/>
                  </a:lnTo>
                  <a:lnTo>
                    <a:pt x="1727" y="1277"/>
                  </a:lnTo>
                  <a:lnTo>
                    <a:pt x="1731" y="1301"/>
                  </a:lnTo>
                  <a:lnTo>
                    <a:pt x="1745" y="1299"/>
                  </a:lnTo>
                  <a:lnTo>
                    <a:pt x="1740" y="1314"/>
                  </a:lnTo>
                  <a:lnTo>
                    <a:pt x="1774" y="1339"/>
                  </a:lnTo>
                  <a:lnTo>
                    <a:pt x="1764" y="1388"/>
                  </a:lnTo>
                  <a:lnTo>
                    <a:pt x="1756" y="1436"/>
                  </a:lnTo>
                  <a:lnTo>
                    <a:pt x="1733" y="1466"/>
                  </a:lnTo>
                  <a:lnTo>
                    <a:pt x="1682" y="1518"/>
                  </a:lnTo>
                  <a:lnTo>
                    <a:pt x="1696" y="1538"/>
                  </a:lnTo>
                  <a:lnTo>
                    <a:pt x="1740" y="1523"/>
                  </a:lnTo>
                  <a:lnTo>
                    <a:pt x="1785" y="1508"/>
                  </a:lnTo>
                  <a:lnTo>
                    <a:pt x="1829" y="1493"/>
                  </a:lnTo>
                  <a:lnTo>
                    <a:pt x="1872" y="1477"/>
                  </a:lnTo>
                  <a:lnTo>
                    <a:pt x="1876" y="1442"/>
                  </a:lnTo>
                  <a:lnTo>
                    <a:pt x="1928" y="1437"/>
                  </a:lnTo>
                  <a:lnTo>
                    <a:pt x="1978" y="1433"/>
                  </a:lnTo>
                  <a:lnTo>
                    <a:pt x="2020" y="1400"/>
                  </a:lnTo>
                  <a:lnTo>
                    <a:pt x="2061" y="1367"/>
                  </a:lnTo>
                  <a:lnTo>
                    <a:pt x="2142" y="1362"/>
                  </a:lnTo>
                  <a:lnTo>
                    <a:pt x="2222" y="1357"/>
                  </a:lnTo>
                  <a:lnTo>
                    <a:pt x="2251" y="1339"/>
                  </a:lnTo>
                  <a:lnTo>
                    <a:pt x="2290" y="1305"/>
                  </a:lnTo>
                  <a:lnTo>
                    <a:pt x="2325" y="1266"/>
                  </a:lnTo>
                  <a:lnTo>
                    <a:pt x="2361" y="1225"/>
                  </a:lnTo>
                  <a:lnTo>
                    <a:pt x="2364" y="1237"/>
                  </a:lnTo>
                  <a:lnTo>
                    <a:pt x="2385" y="1236"/>
                  </a:lnTo>
                  <a:lnTo>
                    <a:pt x="2411" y="1247"/>
                  </a:lnTo>
                  <a:lnTo>
                    <a:pt x="2392" y="1314"/>
                  </a:lnTo>
                  <a:lnTo>
                    <a:pt x="2403" y="1348"/>
                  </a:lnTo>
                  <a:lnTo>
                    <a:pt x="2414" y="1355"/>
                  </a:lnTo>
                  <a:lnTo>
                    <a:pt x="2452" y="1339"/>
                  </a:lnTo>
                  <a:lnTo>
                    <a:pt x="2450" y="1342"/>
                  </a:lnTo>
                  <a:lnTo>
                    <a:pt x="2509" y="1324"/>
                  </a:lnTo>
                  <a:lnTo>
                    <a:pt x="2519" y="1300"/>
                  </a:lnTo>
                  <a:lnTo>
                    <a:pt x="2524" y="1312"/>
                  </a:lnTo>
                  <a:lnTo>
                    <a:pt x="2533" y="1312"/>
                  </a:lnTo>
                  <a:lnTo>
                    <a:pt x="2501" y="1336"/>
                  </a:lnTo>
                  <a:lnTo>
                    <a:pt x="2564" y="1338"/>
                  </a:lnTo>
                  <a:lnTo>
                    <a:pt x="2525" y="1352"/>
                  </a:lnTo>
                  <a:lnTo>
                    <a:pt x="2523" y="1342"/>
                  </a:lnTo>
                  <a:lnTo>
                    <a:pt x="2459" y="1375"/>
                  </a:lnTo>
                  <a:lnTo>
                    <a:pt x="2470" y="1370"/>
                  </a:lnTo>
                  <a:lnTo>
                    <a:pt x="2433" y="1390"/>
                  </a:lnTo>
                  <a:lnTo>
                    <a:pt x="2445" y="1381"/>
                  </a:lnTo>
                  <a:lnTo>
                    <a:pt x="2427" y="1407"/>
                  </a:lnTo>
                  <a:lnTo>
                    <a:pt x="2438" y="1436"/>
                  </a:lnTo>
                  <a:lnTo>
                    <a:pt x="2464" y="1428"/>
                  </a:lnTo>
                  <a:lnTo>
                    <a:pt x="2524" y="1379"/>
                  </a:lnTo>
                  <a:lnTo>
                    <a:pt x="2531" y="1385"/>
                  </a:lnTo>
                  <a:lnTo>
                    <a:pt x="2545" y="1376"/>
                  </a:lnTo>
                  <a:lnTo>
                    <a:pt x="2549" y="1381"/>
                  </a:lnTo>
                  <a:lnTo>
                    <a:pt x="2602" y="1362"/>
                  </a:lnTo>
                  <a:lnTo>
                    <a:pt x="2655" y="1344"/>
                  </a:lnTo>
                  <a:lnTo>
                    <a:pt x="2642" y="1338"/>
                  </a:lnTo>
                  <a:lnTo>
                    <a:pt x="2654" y="1334"/>
                  </a:lnTo>
                  <a:lnTo>
                    <a:pt x="2632" y="1310"/>
                  </a:lnTo>
                  <a:lnTo>
                    <a:pt x="2616" y="1320"/>
                  </a:lnTo>
                  <a:lnTo>
                    <a:pt x="2582" y="1315"/>
                  </a:lnTo>
                  <a:lnTo>
                    <a:pt x="2553" y="1301"/>
                  </a:lnTo>
                  <a:lnTo>
                    <a:pt x="2531" y="1293"/>
                  </a:lnTo>
                  <a:lnTo>
                    <a:pt x="2533" y="1252"/>
                  </a:lnTo>
                  <a:lnTo>
                    <a:pt x="2517" y="1248"/>
                  </a:lnTo>
                  <a:lnTo>
                    <a:pt x="2547" y="1214"/>
                  </a:lnTo>
                  <a:lnTo>
                    <a:pt x="2512" y="1215"/>
                  </a:lnTo>
                  <a:lnTo>
                    <a:pt x="2509" y="1204"/>
                  </a:lnTo>
                  <a:lnTo>
                    <a:pt x="2470" y="1199"/>
                  </a:lnTo>
                  <a:lnTo>
                    <a:pt x="2481" y="1195"/>
                  </a:lnTo>
                  <a:lnTo>
                    <a:pt x="2522" y="1195"/>
                  </a:lnTo>
                  <a:lnTo>
                    <a:pt x="2576" y="1175"/>
                  </a:lnTo>
                  <a:lnTo>
                    <a:pt x="2580" y="1156"/>
                  </a:lnTo>
                  <a:lnTo>
                    <a:pt x="2589" y="1157"/>
                  </a:lnTo>
                  <a:lnTo>
                    <a:pt x="2587" y="1146"/>
                  </a:lnTo>
                  <a:lnTo>
                    <a:pt x="2539" y="1129"/>
                  </a:lnTo>
                  <a:lnTo>
                    <a:pt x="2481" y="1147"/>
                  </a:lnTo>
                  <a:lnTo>
                    <a:pt x="2422" y="1163"/>
                  </a:lnTo>
                  <a:lnTo>
                    <a:pt x="2379" y="1193"/>
                  </a:lnTo>
                  <a:lnTo>
                    <a:pt x="2334" y="1223"/>
                  </a:lnTo>
                  <a:lnTo>
                    <a:pt x="2272" y="1260"/>
                  </a:lnTo>
                  <a:lnTo>
                    <a:pt x="2311" y="1225"/>
                  </a:lnTo>
                  <a:lnTo>
                    <a:pt x="2352" y="1191"/>
                  </a:lnTo>
                  <a:lnTo>
                    <a:pt x="2308" y="1174"/>
                  </a:lnTo>
                  <a:lnTo>
                    <a:pt x="2350" y="1189"/>
                  </a:lnTo>
                  <a:lnTo>
                    <a:pt x="2409" y="1147"/>
                  </a:lnTo>
                  <a:lnTo>
                    <a:pt x="2469" y="1125"/>
                  </a:lnTo>
                  <a:lnTo>
                    <a:pt x="2515" y="1082"/>
                  </a:lnTo>
                  <a:lnTo>
                    <a:pt x="2602" y="1080"/>
                  </a:lnTo>
                  <a:lnTo>
                    <a:pt x="2691" y="1077"/>
                  </a:lnTo>
                  <a:lnTo>
                    <a:pt x="2770" y="1077"/>
                  </a:lnTo>
                  <a:lnTo>
                    <a:pt x="2842" y="1034"/>
                  </a:lnTo>
                  <a:lnTo>
                    <a:pt x="2911" y="1015"/>
                  </a:lnTo>
                  <a:lnTo>
                    <a:pt x="2988" y="973"/>
                  </a:lnTo>
                  <a:lnTo>
                    <a:pt x="2969" y="962"/>
                  </a:lnTo>
                  <a:lnTo>
                    <a:pt x="2988" y="958"/>
                  </a:lnTo>
                  <a:lnTo>
                    <a:pt x="2961" y="953"/>
                  </a:lnTo>
                  <a:lnTo>
                    <a:pt x="2982" y="949"/>
                  </a:lnTo>
                  <a:lnTo>
                    <a:pt x="2984" y="943"/>
                  </a:lnTo>
                  <a:lnTo>
                    <a:pt x="2991" y="927"/>
                  </a:lnTo>
                  <a:lnTo>
                    <a:pt x="2996" y="910"/>
                  </a:lnTo>
                  <a:lnTo>
                    <a:pt x="2969" y="898"/>
                  </a:lnTo>
                  <a:lnTo>
                    <a:pt x="2973" y="895"/>
                  </a:lnTo>
                  <a:lnTo>
                    <a:pt x="2945" y="901"/>
                  </a:lnTo>
                  <a:lnTo>
                    <a:pt x="2951" y="870"/>
                  </a:lnTo>
                  <a:lnTo>
                    <a:pt x="2915" y="876"/>
                  </a:lnTo>
                  <a:lnTo>
                    <a:pt x="2935" y="876"/>
                  </a:lnTo>
                  <a:lnTo>
                    <a:pt x="2871" y="898"/>
                  </a:lnTo>
                  <a:lnTo>
                    <a:pt x="2820" y="914"/>
                  </a:lnTo>
                  <a:lnTo>
                    <a:pt x="2838" y="906"/>
                  </a:lnTo>
                  <a:lnTo>
                    <a:pt x="2818" y="894"/>
                  </a:lnTo>
                  <a:lnTo>
                    <a:pt x="2843" y="896"/>
                  </a:lnTo>
                  <a:lnTo>
                    <a:pt x="2916" y="867"/>
                  </a:lnTo>
                  <a:lnTo>
                    <a:pt x="2866" y="877"/>
                  </a:lnTo>
                  <a:lnTo>
                    <a:pt x="2958" y="849"/>
                  </a:lnTo>
                  <a:lnTo>
                    <a:pt x="2903" y="828"/>
                  </a:lnTo>
                  <a:lnTo>
                    <a:pt x="2890" y="829"/>
                  </a:lnTo>
                  <a:lnTo>
                    <a:pt x="2902" y="816"/>
                  </a:lnTo>
                  <a:lnTo>
                    <a:pt x="2869" y="835"/>
                  </a:lnTo>
                  <a:lnTo>
                    <a:pt x="2884" y="820"/>
                  </a:lnTo>
                  <a:lnTo>
                    <a:pt x="2880" y="816"/>
                  </a:lnTo>
                  <a:lnTo>
                    <a:pt x="2861" y="823"/>
                  </a:lnTo>
                  <a:lnTo>
                    <a:pt x="2866" y="813"/>
                  </a:lnTo>
                  <a:lnTo>
                    <a:pt x="2842" y="825"/>
                  </a:lnTo>
                  <a:lnTo>
                    <a:pt x="2853" y="815"/>
                  </a:lnTo>
                  <a:lnTo>
                    <a:pt x="2860" y="805"/>
                  </a:lnTo>
                  <a:lnTo>
                    <a:pt x="2863" y="786"/>
                  </a:lnTo>
                  <a:lnTo>
                    <a:pt x="2853" y="799"/>
                  </a:lnTo>
                  <a:lnTo>
                    <a:pt x="2853" y="790"/>
                  </a:lnTo>
                  <a:lnTo>
                    <a:pt x="2836" y="771"/>
                  </a:lnTo>
                  <a:lnTo>
                    <a:pt x="2813" y="762"/>
                  </a:lnTo>
                  <a:lnTo>
                    <a:pt x="2832" y="762"/>
                  </a:lnTo>
                  <a:lnTo>
                    <a:pt x="2819" y="751"/>
                  </a:lnTo>
                  <a:lnTo>
                    <a:pt x="2831" y="747"/>
                  </a:lnTo>
                  <a:lnTo>
                    <a:pt x="2814" y="744"/>
                  </a:lnTo>
                  <a:lnTo>
                    <a:pt x="2826" y="744"/>
                  </a:lnTo>
                  <a:lnTo>
                    <a:pt x="2809" y="733"/>
                  </a:lnTo>
                  <a:lnTo>
                    <a:pt x="2818" y="734"/>
                  </a:lnTo>
                  <a:lnTo>
                    <a:pt x="2830" y="741"/>
                  </a:lnTo>
                  <a:lnTo>
                    <a:pt x="2857" y="720"/>
                  </a:lnTo>
                  <a:lnTo>
                    <a:pt x="2842" y="706"/>
                  </a:lnTo>
                  <a:lnTo>
                    <a:pt x="2832" y="697"/>
                  </a:lnTo>
                  <a:lnTo>
                    <a:pt x="2848" y="686"/>
                  </a:lnTo>
                  <a:lnTo>
                    <a:pt x="2832" y="673"/>
                  </a:lnTo>
                  <a:lnTo>
                    <a:pt x="2828" y="666"/>
                  </a:lnTo>
                  <a:lnTo>
                    <a:pt x="2808" y="671"/>
                  </a:lnTo>
                  <a:lnTo>
                    <a:pt x="2836" y="658"/>
                  </a:lnTo>
                  <a:lnTo>
                    <a:pt x="2833" y="648"/>
                  </a:lnTo>
                  <a:lnTo>
                    <a:pt x="2800" y="658"/>
                  </a:lnTo>
                  <a:lnTo>
                    <a:pt x="2836" y="633"/>
                  </a:lnTo>
                  <a:lnTo>
                    <a:pt x="2824" y="621"/>
                  </a:lnTo>
                  <a:lnTo>
                    <a:pt x="2808" y="620"/>
                  </a:lnTo>
                  <a:lnTo>
                    <a:pt x="2824" y="606"/>
                  </a:lnTo>
                  <a:lnTo>
                    <a:pt x="2815" y="601"/>
                  </a:lnTo>
                  <a:lnTo>
                    <a:pt x="2804" y="576"/>
                  </a:lnTo>
                  <a:lnTo>
                    <a:pt x="2806" y="568"/>
                  </a:lnTo>
                  <a:lnTo>
                    <a:pt x="2790" y="572"/>
                  </a:lnTo>
                  <a:lnTo>
                    <a:pt x="2803" y="558"/>
                  </a:lnTo>
                  <a:lnTo>
                    <a:pt x="2779" y="571"/>
                  </a:lnTo>
                  <a:lnTo>
                    <a:pt x="2779" y="583"/>
                  </a:lnTo>
                  <a:lnTo>
                    <a:pt x="2758" y="585"/>
                  </a:lnTo>
                  <a:lnTo>
                    <a:pt x="2765" y="599"/>
                  </a:lnTo>
                  <a:lnTo>
                    <a:pt x="2754" y="606"/>
                  </a:lnTo>
                  <a:lnTo>
                    <a:pt x="2739" y="619"/>
                  </a:lnTo>
                  <a:lnTo>
                    <a:pt x="2719" y="639"/>
                  </a:lnTo>
                  <a:lnTo>
                    <a:pt x="2712" y="653"/>
                  </a:lnTo>
                  <a:lnTo>
                    <a:pt x="2703" y="633"/>
                  </a:lnTo>
                  <a:lnTo>
                    <a:pt x="2667" y="654"/>
                  </a:lnTo>
                  <a:lnTo>
                    <a:pt x="2636" y="678"/>
                  </a:lnTo>
                  <a:lnTo>
                    <a:pt x="2642" y="658"/>
                  </a:lnTo>
                  <a:lnTo>
                    <a:pt x="2626" y="667"/>
                  </a:lnTo>
                  <a:lnTo>
                    <a:pt x="2635" y="647"/>
                  </a:lnTo>
                  <a:lnTo>
                    <a:pt x="2613" y="672"/>
                  </a:lnTo>
                  <a:lnTo>
                    <a:pt x="2571" y="686"/>
                  </a:lnTo>
                  <a:lnTo>
                    <a:pt x="2625" y="657"/>
                  </a:lnTo>
                  <a:lnTo>
                    <a:pt x="2619" y="627"/>
                  </a:lnTo>
                  <a:lnTo>
                    <a:pt x="2572" y="638"/>
                  </a:lnTo>
                  <a:lnTo>
                    <a:pt x="2562" y="634"/>
                  </a:lnTo>
                  <a:lnTo>
                    <a:pt x="2578" y="625"/>
                  </a:lnTo>
                  <a:lnTo>
                    <a:pt x="2593" y="629"/>
                  </a:lnTo>
                  <a:lnTo>
                    <a:pt x="2606" y="605"/>
                  </a:lnTo>
                  <a:lnTo>
                    <a:pt x="2596" y="597"/>
                  </a:lnTo>
                  <a:lnTo>
                    <a:pt x="2608" y="573"/>
                  </a:lnTo>
                  <a:lnTo>
                    <a:pt x="2565" y="568"/>
                  </a:lnTo>
                  <a:lnTo>
                    <a:pt x="2618" y="563"/>
                  </a:lnTo>
                  <a:lnTo>
                    <a:pt x="2626" y="538"/>
                  </a:lnTo>
                  <a:lnTo>
                    <a:pt x="2635" y="525"/>
                  </a:lnTo>
                  <a:lnTo>
                    <a:pt x="2619" y="528"/>
                  </a:lnTo>
                  <a:lnTo>
                    <a:pt x="2568" y="504"/>
                  </a:lnTo>
                  <a:lnTo>
                    <a:pt x="2581" y="490"/>
                  </a:lnTo>
                  <a:lnTo>
                    <a:pt x="2566" y="492"/>
                  </a:lnTo>
                  <a:lnTo>
                    <a:pt x="2554" y="476"/>
                  </a:lnTo>
                  <a:lnTo>
                    <a:pt x="2558" y="467"/>
                  </a:lnTo>
                  <a:lnTo>
                    <a:pt x="2522" y="451"/>
                  </a:lnTo>
                  <a:lnTo>
                    <a:pt x="2481" y="466"/>
                  </a:lnTo>
                  <a:lnTo>
                    <a:pt x="2440" y="466"/>
                  </a:lnTo>
                  <a:lnTo>
                    <a:pt x="2453" y="459"/>
                  </a:lnTo>
                  <a:lnTo>
                    <a:pt x="2382" y="449"/>
                  </a:lnTo>
                  <a:lnTo>
                    <a:pt x="2352" y="487"/>
                  </a:lnTo>
                  <a:lnTo>
                    <a:pt x="2356" y="501"/>
                  </a:lnTo>
                  <a:lnTo>
                    <a:pt x="2329" y="534"/>
                  </a:lnTo>
                  <a:lnTo>
                    <a:pt x="2340" y="534"/>
                  </a:lnTo>
                  <a:lnTo>
                    <a:pt x="2331" y="570"/>
                  </a:lnTo>
                  <a:lnTo>
                    <a:pt x="2315" y="590"/>
                  </a:lnTo>
                  <a:lnTo>
                    <a:pt x="2305" y="591"/>
                  </a:lnTo>
                  <a:lnTo>
                    <a:pt x="2248" y="643"/>
                  </a:lnTo>
                  <a:lnTo>
                    <a:pt x="2289" y="691"/>
                  </a:lnTo>
                  <a:lnTo>
                    <a:pt x="2266" y="735"/>
                  </a:lnTo>
                  <a:lnTo>
                    <a:pt x="2243" y="780"/>
                  </a:lnTo>
                  <a:lnTo>
                    <a:pt x="2188" y="808"/>
                  </a:lnTo>
                  <a:lnTo>
                    <a:pt x="2132" y="835"/>
                  </a:lnTo>
                  <a:lnTo>
                    <a:pt x="2105" y="848"/>
                  </a:lnTo>
                  <a:lnTo>
                    <a:pt x="2109" y="885"/>
                  </a:lnTo>
                  <a:lnTo>
                    <a:pt x="2093" y="957"/>
                  </a:lnTo>
                  <a:lnTo>
                    <a:pt x="2072" y="987"/>
                  </a:lnTo>
                  <a:lnTo>
                    <a:pt x="2059" y="1010"/>
                  </a:lnTo>
                  <a:lnTo>
                    <a:pt x="2049" y="1023"/>
                  </a:lnTo>
                  <a:lnTo>
                    <a:pt x="2042" y="1003"/>
                  </a:lnTo>
                  <a:lnTo>
                    <a:pt x="2013" y="1036"/>
                  </a:lnTo>
                  <a:lnTo>
                    <a:pt x="2020" y="1049"/>
                  </a:lnTo>
                  <a:lnTo>
                    <a:pt x="1992" y="1020"/>
                  </a:lnTo>
                  <a:lnTo>
                    <a:pt x="1960" y="1036"/>
                  </a:lnTo>
                  <a:lnTo>
                    <a:pt x="1992" y="1010"/>
                  </a:lnTo>
                  <a:lnTo>
                    <a:pt x="1961" y="972"/>
                  </a:lnTo>
                  <a:lnTo>
                    <a:pt x="1970" y="958"/>
                  </a:lnTo>
                  <a:lnTo>
                    <a:pt x="1966" y="922"/>
                  </a:lnTo>
                  <a:lnTo>
                    <a:pt x="1984" y="871"/>
                  </a:lnTo>
                  <a:lnTo>
                    <a:pt x="2002" y="820"/>
                  </a:lnTo>
                  <a:lnTo>
                    <a:pt x="1953" y="818"/>
                  </a:lnTo>
                  <a:lnTo>
                    <a:pt x="1904" y="815"/>
                  </a:lnTo>
                  <a:lnTo>
                    <a:pt x="1892" y="823"/>
                  </a:lnTo>
                  <a:lnTo>
                    <a:pt x="1910" y="809"/>
                  </a:lnTo>
                  <a:lnTo>
                    <a:pt x="1872" y="791"/>
                  </a:lnTo>
                  <a:lnTo>
                    <a:pt x="1836" y="772"/>
                  </a:lnTo>
                  <a:lnTo>
                    <a:pt x="1794" y="729"/>
                  </a:lnTo>
                  <a:lnTo>
                    <a:pt x="1743" y="711"/>
                  </a:lnTo>
                  <a:lnTo>
                    <a:pt x="1676" y="729"/>
                  </a:lnTo>
                  <a:lnTo>
                    <a:pt x="1680" y="723"/>
                  </a:lnTo>
                  <a:lnTo>
                    <a:pt x="1668" y="728"/>
                  </a:lnTo>
                  <a:lnTo>
                    <a:pt x="1701" y="666"/>
                  </a:lnTo>
                  <a:lnTo>
                    <a:pt x="1697" y="638"/>
                  </a:lnTo>
                  <a:lnTo>
                    <a:pt x="1662" y="644"/>
                  </a:lnTo>
                  <a:lnTo>
                    <a:pt x="1645" y="663"/>
                  </a:lnTo>
                  <a:lnTo>
                    <a:pt x="1660" y="637"/>
                  </a:lnTo>
                  <a:lnTo>
                    <a:pt x="1657" y="619"/>
                  </a:lnTo>
                  <a:lnTo>
                    <a:pt x="1711" y="547"/>
                  </a:lnTo>
                  <a:lnTo>
                    <a:pt x="1790" y="489"/>
                  </a:lnTo>
                  <a:lnTo>
                    <a:pt x="1796" y="476"/>
                  </a:lnTo>
                  <a:lnTo>
                    <a:pt x="1834" y="461"/>
                  </a:lnTo>
                  <a:lnTo>
                    <a:pt x="1824" y="456"/>
                  </a:lnTo>
                  <a:lnTo>
                    <a:pt x="1841" y="461"/>
                  </a:lnTo>
                  <a:lnTo>
                    <a:pt x="1856" y="445"/>
                  </a:lnTo>
                  <a:lnTo>
                    <a:pt x="1878" y="440"/>
                  </a:lnTo>
                  <a:lnTo>
                    <a:pt x="1880" y="433"/>
                  </a:lnTo>
                  <a:lnTo>
                    <a:pt x="1940" y="420"/>
                  </a:lnTo>
                  <a:lnTo>
                    <a:pt x="1945" y="404"/>
                  </a:lnTo>
                  <a:lnTo>
                    <a:pt x="1901" y="394"/>
                  </a:lnTo>
                  <a:lnTo>
                    <a:pt x="1907" y="389"/>
                  </a:lnTo>
                  <a:lnTo>
                    <a:pt x="1868" y="382"/>
                  </a:lnTo>
                  <a:lnTo>
                    <a:pt x="1868" y="370"/>
                  </a:lnTo>
                  <a:lnTo>
                    <a:pt x="1921" y="381"/>
                  </a:lnTo>
                  <a:lnTo>
                    <a:pt x="1975" y="391"/>
                  </a:lnTo>
                  <a:lnTo>
                    <a:pt x="1992" y="375"/>
                  </a:lnTo>
                  <a:lnTo>
                    <a:pt x="2002" y="368"/>
                  </a:lnTo>
                  <a:lnTo>
                    <a:pt x="2023" y="376"/>
                  </a:lnTo>
                  <a:lnTo>
                    <a:pt x="2024" y="366"/>
                  </a:lnTo>
                  <a:lnTo>
                    <a:pt x="2044" y="372"/>
                  </a:lnTo>
                  <a:lnTo>
                    <a:pt x="2125" y="326"/>
                  </a:lnTo>
                  <a:lnTo>
                    <a:pt x="2136" y="314"/>
                  </a:lnTo>
                  <a:lnTo>
                    <a:pt x="2062" y="301"/>
                  </a:lnTo>
                  <a:lnTo>
                    <a:pt x="2018" y="280"/>
                  </a:lnTo>
                  <a:lnTo>
                    <a:pt x="2101" y="295"/>
                  </a:lnTo>
                  <a:lnTo>
                    <a:pt x="2126" y="310"/>
                  </a:lnTo>
                  <a:lnTo>
                    <a:pt x="2206" y="26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3" name="Freeform 85"/>
            <p:cNvSpPr>
              <a:spLocks/>
            </p:cNvSpPr>
            <p:nvPr/>
          </p:nvSpPr>
          <p:spPr bwMode="auto">
            <a:xfrm>
              <a:off x="3669" y="885"/>
              <a:ext cx="820" cy="279"/>
            </a:xfrm>
            <a:custGeom>
              <a:avLst/>
              <a:gdLst/>
              <a:ahLst/>
              <a:cxnLst>
                <a:cxn ang="0">
                  <a:pos x="599" y="124"/>
                </a:cxn>
                <a:cxn ang="0">
                  <a:pos x="567" y="101"/>
                </a:cxn>
                <a:cxn ang="0">
                  <a:pos x="533" y="99"/>
                </a:cxn>
                <a:cxn ang="0">
                  <a:pos x="477" y="117"/>
                </a:cxn>
                <a:cxn ang="0">
                  <a:pos x="489" y="80"/>
                </a:cxn>
                <a:cxn ang="0">
                  <a:pos x="516" y="68"/>
                </a:cxn>
                <a:cxn ang="0">
                  <a:pos x="388" y="70"/>
                </a:cxn>
                <a:cxn ang="0">
                  <a:pos x="377" y="77"/>
                </a:cxn>
                <a:cxn ang="0">
                  <a:pos x="351" y="72"/>
                </a:cxn>
                <a:cxn ang="0">
                  <a:pos x="317" y="66"/>
                </a:cxn>
                <a:cxn ang="0">
                  <a:pos x="273" y="18"/>
                </a:cxn>
                <a:cxn ang="0">
                  <a:pos x="216" y="35"/>
                </a:cxn>
                <a:cxn ang="0">
                  <a:pos x="201" y="65"/>
                </a:cxn>
                <a:cxn ang="0">
                  <a:pos x="179" y="104"/>
                </a:cxn>
                <a:cxn ang="0">
                  <a:pos x="138" y="80"/>
                </a:cxn>
                <a:cxn ang="0">
                  <a:pos x="71" y="43"/>
                </a:cxn>
                <a:cxn ang="0">
                  <a:pos x="15" y="149"/>
                </a:cxn>
                <a:cxn ang="0">
                  <a:pos x="92" y="168"/>
                </a:cxn>
                <a:cxn ang="0">
                  <a:pos x="222" y="163"/>
                </a:cxn>
                <a:cxn ang="0">
                  <a:pos x="337" y="153"/>
                </a:cxn>
                <a:cxn ang="0">
                  <a:pos x="369" y="187"/>
                </a:cxn>
                <a:cxn ang="0">
                  <a:pos x="358" y="232"/>
                </a:cxn>
                <a:cxn ang="0">
                  <a:pos x="444" y="229"/>
                </a:cxn>
                <a:cxn ang="0">
                  <a:pos x="420" y="323"/>
                </a:cxn>
                <a:cxn ang="0">
                  <a:pos x="517" y="349"/>
                </a:cxn>
                <a:cxn ang="0">
                  <a:pos x="399" y="332"/>
                </a:cxn>
                <a:cxn ang="0">
                  <a:pos x="286" y="408"/>
                </a:cxn>
                <a:cxn ang="0">
                  <a:pos x="178" y="425"/>
                </a:cxn>
                <a:cxn ang="0">
                  <a:pos x="300" y="428"/>
                </a:cxn>
                <a:cxn ang="0">
                  <a:pos x="340" y="424"/>
                </a:cxn>
                <a:cxn ang="0">
                  <a:pos x="370" y="471"/>
                </a:cxn>
                <a:cxn ang="0">
                  <a:pos x="432" y="520"/>
                </a:cxn>
                <a:cxn ang="0">
                  <a:pos x="511" y="501"/>
                </a:cxn>
                <a:cxn ang="0">
                  <a:pos x="548" y="500"/>
                </a:cxn>
                <a:cxn ang="0">
                  <a:pos x="599" y="522"/>
                </a:cxn>
                <a:cxn ang="0">
                  <a:pos x="628" y="482"/>
                </a:cxn>
                <a:cxn ang="0">
                  <a:pos x="624" y="441"/>
                </a:cxn>
                <a:cxn ang="0">
                  <a:pos x="604" y="417"/>
                </a:cxn>
                <a:cxn ang="0">
                  <a:pos x="584" y="400"/>
                </a:cxn>
                <a:cxn ang="0">
                  <a:pos x="570" y="368"/>
                </a:cxn>
                <a:cxn ang="0">
                  <a:pos x="599" y="352"/>
                </a:cxn>
                <a:cxn ang="0">
                  <a:pos x="628" y="337"/>
                </a:cxn>
                <a:cxn ang="0">
                  <a:pos x="707" y="341"/>
                </a:cxn>
                <a:cxn ang="0">
                  <a:pos x="656" y="385"/>
                </a:cxn>
                <a:cxn ang="0">
                  <a:pos x="690" y="400"/>
                </a:cxn>
                <a:cxn ang="0">
                  <a:pos x="726" y="361"/>
                </a:cxn>
                <a:cxn ang="0">
                  <a:pos x="753" y="356"/>
                </a:cxn>
                <a:cxn ang="0">
                  <a:pos x="804" y="338"/>
                </a:cxn>
                <a:cxn ang="0">
                  <a:pos x="792" y="313"/>
                </a:cxn>
                <a:cxn ang="0">
                  <a:pos x="747" y="324"/>
                </a:cxn>
                <a:cxn ang="0">
                  <a:pos x="717" y="304"/>
                </a:cxn>
                <a:cxn ang="0">
                  <a:pos x="715" y="294"/>
                </a:cxn>
                <a:cxn ang="0">
                  <a:pos x="717" y="275"/>
                </a:cxn>
                <a:cxn ang="0">
                  <a:pos x="685" y="272"/>
                </a:cxn>
                <a:cxn ang="0">
                  <a:pos x="666" y="257"/>
                </a:cxn>
                <a:cxn ang="0">
                  <a:pos x="613" y="233"/>
                </a:cxn>
                <a:cxn ang="0">
                  <a:pos x="637" y="222"/>
                </a:cxn>
                <a:cxn ang="0">
                  <a:pos x="622" y="206"/>
                </a:cxn>
                <a:cxn ang="0">
                  <a:pos x="642" y="189"/>
                </a:cxn>
                <a:cxn ang="0">
                  <a:pos x="625" y="179"/>
                </a:cxn>
                <a:cxn ang="0">
                  <a:pos x="680" y="146"/>
                </a:cxn>
                <a:cxn ang="0">
                  <a:pos x="588" y="146"/>
                </a:cxn>
              </a:cxnLst>
              <a:rect l="0" t="0" r="r" b="b"/>
              <a:pathLst>
                <a:path w="820" h="558">
                  <a:moveTo>
                    <a:pt x="573" y="146"/>
                  </a:moveTo>
                  <a:lnTo>
                    <a:pt x="564" y="149"/>
                  </a:lnTo>
                  <a:lnTo>
                    <a:pt x="619" y="128"/>
                  </a:lnTo>
                  <a:lnTo>
                    <a:pt x="599" y="124"/>
                  </a:lnTo>
                  <a:lnTo>
                    <a:pt x="554" y="135"/>
                  </a:lnTo>
                  <a:lnTo>
                    <a:pt x="579" y="119"/>
                  </a:lnTo>
                  <a:lnTo>
                    <a:pt x="608" y="114"/>
                  </a:lnTo>
                  <a:lnTo>
                    <a:pt x="567" y="101"/>
                  </a:lnTo>
                  <a:lnTo>
                    <a:pt x="533" y="120"/>
                  </a:lnTo>
                  <a:lnTo>
                    <a:pt x="536" y="110"/>
                  </a:lnTo>
                  <a:lnTo>
                    <a:pt x="518" y="120"/>
                  </a:lnTo>
                  <a:lnTo>
                    <a:pt x="533" y="99"/>
                  </a:lnTo>
                  <a:lnTo>
                    <a:pt x="515" y="110"/>
                  </a:lnTo>
                  <a:lnTo>
                    <a:pt x="531" y="91"/>
                  </a:lnTo>
                  <a:lnTo>
                    <a:pt x="523" y="95"/>
                  </a:lnTo>
                  <a:lnTo>
                    <a:pt x="477" y="117"/>
                  </a:lnTo>
                  <a:lnTo>
                    <a:pt x="498" y="100"/>
                  </a:lnTo>
                  <a:lnTo>
                    <a:pt x="484" y="100"/>
                  </a:lnTo>
                  <a:lnTo>
                    <a:pt x="533" y="82"/>
                  </a:lnTo>
                  <a:lnTo>
                    <a:pt x="489" y="80"/>
                  </a:lnTo>
                  <a:lnTo>
                    <a:pt x="472" y="91"/>
                  </a:lnTo>
                  <a:lnTo>
                    <a:pt x="490" y="75"/>
                  </a:lnTo>
                  <a:lnTo>
                    <a:pt x="457" y="87"/>
                  </a:lnTo>
                  <a:lnTo>
                    <a:pt x="516" y="68"/>
                  </a:lnTo>
                  <a:lnTo>
                    <a:pt x="492" y="54"/>
                  </a:lnTo>
                  <a:lnTo>
                    <a:pt x="414" y="54"/>
                  </a:lnTo>
                  <a:lnTo>
                    <a:pt x="439" y="72"/>
                  </a:lnTo>
                  <a:lnTo>
                    <a:pt x="388" y="70"/>
                  </a:lnTo>
                  <a:lnTo>
                    <a:pt x="404" y="87"/>
                  </a:lnTo>
                  <a:lnTo>
                    <a:pt x="380" y="80"/>
                  </a:lnTo>
                  <a:lnTo>
                    <a:pt x="382" y="84"/>
                  </a:lnTo>
                  <a:lnTo>
                    <a:pt x="377" y="77"/>
                  </a:lnTo>
                  <a:lnTo>
                    <a:pt x="379" y="62"/>
                  </a:lnTo>
                  <a:lnTo>
                    <a:pt x="368" y="66"/>
                  </a:lnTo>
                  <a:lnTo>
                    <a:pt x="350" y="66"/>
                  </a:lnTo>
                  <a:lnTo>
                    <a:pt x="351" y="72"/>
                  </a:lnTo>
                  <a:lnTo>
                    <a:pt x="334" y="72"/>
                  </a:lnTo>
                  <a:lnTo>
                    <a:pt x="320" y="79"/>
                  </a:lnTo>
                  <a:lnTo>
                    <a:pt x="331" y="61"/>
                  </a:lnTo>
                  <a:lnTo>
                    <a:pt x="317" y="66"/>
                  </a:lnTo>
                  <a:lnTo>
                    <a:pt x="361" y="44"/>
                  </a:lnTo>
                  <a:lnTo>
                    <a:pt x="352" y="4"/>
                  </a:lnTo>
                  <a:lnTo>
                    <a:pt x="268" y="13"/>
                  </a:lnTo>
                  <a:lnTo>
                    <a:pt x="273" y="18"/>
                  </a:lnTo>
                  <a:lnTo>
                    <a:pt x="243" y="22"/>
                  </a:lnTo>
                  <a:lnTo>
                    <a:pt x="221" y="27"/>
                  </a:lnTo>
                  <a:lnTo>
                    <a:pt x="256" y="34"/>
                  </a:lnTo>
                  <a:lnTo>
                    <a:pt x="216" y="35"/>
                  </a:lnTo>
                  <a:lnTo>
                    <a:pt x="243" y="47"/>
                  </a:lnTo>
                  <a:lnTo>
                    <a:pt x="193" y="41"/>
                  </a:lnTo>
                  <a:lnTo>
                    <a:pt x="190" y="65"/>
                  </a:lnTo>
                  <a:lnTo>
                    <a:pt x="201" y="65"/>
                  </a:lnTo>
                  <a:lnTo>
                    <a:pt x="207" y="80"/>
                  </a:lnTo>
                  <a:lnTo>
                    <a:pt x="169" y="75"/>
                  </a:lnTo>
                  <a:lnTo>
                    <a:pt x="161" y="85"/>
                  </a:lnTo>
                  <a:lnTo>
                    <a:pt x="179" y="104"/>
                  </a:lnTo>
                  <a:lnTo>
                    <a:pt x="150" y="122"/>
                  </a:lnTo>
                  <a:lnTo>
                    <a:pt x="102" y="123"/>
                  </a:lnTo>
                  <a:lnTo>
                    <a:pt x="165" y="106"/>
                  </a:lnTo>
                  <a:lnTo>
                    <a:pt x="138" y="80"/>
                  </a:lnTo>
                  <a:lnTo>
                    <a:pt x="192" y="25"/>
                  </a:lnTo>
                  <a:lnTo>
                    <a:pt x="245" y="0"/>
                  </a:lnTo>
                  <a:lnTo>
                    <a:pt x="135" y="10"/>
                  </a:lnTo>
                  <a:lnTo>
                    <a:pt x="71" y="43"/>
                  </a:lnTo>
                  <a:lnTo>
                    <a:pt x="0" y="106"/>
                  </a:lnTo>
                  <a:lnTo>
                    <a:pt x="74" y="124"/>
                  </a:lnTo>
                  <a:lnTo>
                    <a:pt x="8" y="127"/>
                  </a:lnTo>
                  <a:lnTo>
                    <a:pt x="15" y="149"/>
                  </a:lnTo>
                  <a:lnTo>
                    <a:pt x="56" y="157"/>
                  </a:lnTo>
                  <a:lnTo>
                    <a:pt x="62" y="153"/>
                  </a:lnTo>
                  <a:lnTo>
                    <a:pt x="77" y="151"/>
                  </a:lnTo>
                  <a:lnTo>
                    <a:pt x="92" y="168"/>
                  </a:lnTo>
                  <a:lnTo>
                    <a:pt x="219" y="172"/>
                  </a:lnTo>
                  <a:lnTo>
                    <a:pt x="186" y="156"/>
                  </a:lnTo>
                  <a:lnTo>
                    <a:pt x="245" y="180"/>
                  </a:lnTo>
                  <a:lnTo>
                    <a:pt x="222" y="163"/>
                  </a:lnTo>
                  <a:lnTo>
                    <a:pt x="319" y="172"/>
                  </a:lnTo>
                  <a:lnTo>
                    <a:pt x="311" y="153"/>
                  </a:lnTo>
                  <a:lnTo>
                    <a:pt x="337" y="141"/>
                  </a:lnTo>
                  <a:lnTo>
                    <a:pt x="337" y="153"/>
                  </a:lnTo>
                  <a:lnTo>
                    <a:pt x="359" y="161"/>
                  </a:lnTo>
                  <a:lnTo>
                    <a:pt x="350" y="177"/>
                  </a:lnTo>
                  <a:lnTo>
                    <a:pt x="376" y="181"/>
                  </a:lnTo>
                  <a:lnTo>
                    <a:pt x="369" y="187"/>
                  </a:lnTo>
                  <a:lnTo>
                    <a:pt x="383" y="186"/>
                  </a:lnTo>
                  <a:lnTo>
                    <a:pt x="391" y="213"/>
                  </a:lnTo>
                  <a:lnTo>
                    <a:pt x="359" y="223"/>
                  </a:lnTo>
                  <a:lnTo>
                    <a:pt x="358" y="232"/>
                  </a:lnTo>
                  <a:lnTo>
                    <a:pt x="400" y="215"/>
                  </a:lnTo>
                  <a:lnTo>
                    <a:pt x="418" y="219"/>
                  </a:lnTo>
                  <a:lnTo>
                    <a:pt x="433" y="239"/>
                  </a:lnTo>
                  <a:lnTo>
                    <a:pt x="444" y="229"/>
                  </a:lnTo>
                  <a:lnTo>
                    <a:pt x="439" y="251"/>
                  </a:lnTo>
                  <a:lnTo>
                    <a:pt x="459" y="252"/>
                  </a:lnTo>
                  <a:lnTo>
                    <a:pt x="451" y="305"/>
                  </a:lnTo>
                  <a:lnTo>
                    <a:pt x="420" y="323"/>
                  </a:lnTo>
                  <a:lnTo>
                    <a:pt x="472" y="328"/>
                  </a:lnTo>
                  <a:lnTo>
                    <a:pt x="495" y="309"/>
                  </a:lnTo>
                  <a:lnTo>
                    <a:pt x="533" y="337"/>
                  </a:lnTo>
                  <a:lnTo>
                    <a:pt x="517" y="349"/>
                  </a:lnTo>
                  <a:lnTo>
                    <a:pt x="477" y="349"/>
                  </a:lnTo>
                  <a:lnTo>
                    <a:pt x="460" y="355"/>
                  </a:lnTo>
                  <a:lnTo>
                    <a:pt x="471" y="333"/>
                  </a:lnTo>
                  <a:lnTo>
                    <a:pt x="399" y="332"/>
                  </a:lnTo>
                  <a:lnTo>
                    <a:pt x="351" y="352"/>
                  </a:lnTo>
                  <a:lnTo>
                    <a:pt x="359" y="380"/>
                  </a:lnTo>
                  <a:lnTo>
                    <a:pt x="281" y="396"/>
                  </a:lnTo>
                  <a:lnTo>
                    <a:pt x="286" y="408"/>
                  </a:lnTo>
                  <a:lnTo>
                    <a:pt x="279" y="414"/>
                  </a:lnTo>
                  <a:lnTo>
                    <a:pt x="280" y="395"/>
                  </a:lnTo>
                  <a:lnTo>
                    <a:pt x="222" y="390"/>
                  </a:lnTo>
                  <a:lnTo>
                    <a:pt x="178" y="425"/>
                  </a:lnTo>
                  <a:lnTo>
                    <a:pt x="220" y="441"/>
                  </a:lnTo>
                  <a:lnTo>
                    <a:pt x="263" y="432"/>
                  </a:lnTo>
                  <a:lnTo>
                    <a:pt x="269" y="427"/>
                  </a:lnTo>
                  <a:lnTo>
                    <a:pt x="300" y="428"/>
                  </a:lnTo>
                  <a:lnTo>
                    <a:pt x="310" y="410"/>
                  </a:lnTo>
                  <a:lnTo>
                    <a:pt x="320" y="422"/>
                  </a:lnTo>
                  <a:lnTo>
                    <a:pt x="319" y="438"/>
                  </a:lnTo>
                  <a:lnTo>
                    <a:pt x="340" y="424"/>
                  </a:lnTo>
                  <a:lnTo>
                    <a:pt x="353" y="425"/>
                  </a:lnTo>
                  <a:lnTo>
                    <a:pt x="346" y="446"/>
                  </a:lnTo>
                  <a:lnTo>
                    <a:pt x="368" y="460"/>
                  </a:lnTo>
                  <a:lnTo>
                    <a:pt x="370" y="471"/>
                  </a:lnTo>
                  <a:lnTo>
                    <a:pt x="394" y="476"/>
                  </a:lnTo>
                  <a:lnTo>
                    <a:pt x="371" y="485"/>
                  </a:lnTo>
                  <a:lnTo>
                    <a:pt x="391" y="500"/>
                  </a:lnTo>
                  <a:lnTo>
                    <a:pt x="432" y="520"/>
                  </a:lnTo>
                  <a:lnTo>
                    <a:pt x="487" y="539"/>
                  </a:lnTo>
                  <a:lnTo>
                    <a:pt x="543" y="558"/>
                  </a:lnTo>
                  <a:lnTo>
                    <a:pt x="542" y="536"/>
                  </a:lnTo>
                  <a:lnTo>
                    <a:pt x="511" y="501"/>
                  </a:lnTo>
                  <a:lnTo>
                    <a:pt x="480" y="466"/>
                  </a:lnTo>
                  <a:lnTo>
                    <a:pt x="517" y="485"/>
                  </a:lnTo>
                  <a:lnTo>
                    <a:pt x="525" y="471"/>
                  </a:lnTo>
                  <a:lnTo>
                    <a:pt x="548" y="500"/>
                  </a:lnTo>
                  <a:lnTo>
                    <a:pt x="554" y="494"/>
                  </a:lnTo>
                  <a:lnTo>
                    <a:pt x="565" y="504"/>
                  </a:lnTo>
                  <a:lnTo>
                    <a:pt x="590" y="514"/>
                  </a:lnTo>
                  <a:lnTo>
                    <a:pt x="599" y="522"/>
                  </a:lnTo>
                  <a:lnTo>
                    <a:pt x="600" y="506"/>
                  </a:lnTo>
                  <a:lnTo>
                    <a:pt x="612" y="504"/>
                  </a:lnTo>
                  <a:lnTo>
                    <a:pt x="618" y="471"/>
                  </a:lnTo>
                  <a:lnTo>
                    <a:pt x="628" y="482"/>
                  </a:lnTo>
                  <a:lnTo>
                    <a:pt x="632" y="466"/>
                  </a:lnTo>
                  <a:lnTo>
                    <a:pt x="636" y="453"/>
                  </a:lnTo>
                  <a:lnTo>
                    <a:pt x="626" y="450"/>
                  </a:lnTo>
                  <a:lnTo>
                    <a:pt x="624" y="441"/>
                  </a:lnTo>
                  <a:lnTo>
                    <a:pt x="628" y="431"/>
                  </a:lnTo>
                  <a:lnTo>
                    <a:pt x="622" y="423"/>
                  </a:lnTo>
                  <a:lnTo>
                    <a:pt x="613" y="418"/>
                  </a:lnTo>
                  <a:lnTo>
                    <a:pt x="604" y="417"/>
                  </a:lnTo>
                  <a:lnTo>
                    <a:pt x="593" y="403"/>
                  </a:lnTo>
                  <a:lnTo>
                    <a:pt x="588" y="409"/>
                  </a:lnTo>
                  <a:lnTo>
                    <a:pt x="595" y="396"/>
                  </a:lnTo>
                  <a:lnTo>
                    <a:pt x="584" y="400"/>
                  </a:lnTo>
                  <a:lnTo>
                    <a:pt x="587" y="387"/>
                  </a:lnTo>
                  <a:lnTo>
                    <a:pt x="587" y="374"/>
                  </a:lnTo>
                  <a:lnTo>
                    <a:pt x="565" y="376"/>
                  </a:lnTo>
                  <a:lnTo>
                    <a:pt x="570" y="368"/>
                  </a:lnTo>
                  <a:lnTo>
                    <a:pt x="567" y="358"/>
                  </a:lnTo>
                  <a:lnTo>
                    <a:pt x="561" y="343"/>
                  </a:lnTo>
                  <a:lnTo>
                    <a:pt x="588" y="362"/>
                  </a:lnTo>
                  <a:lnTo>
                    <a:pt x="599" y="352"/>
                  </a:lnTo>
                  <a:lnTo>
                    <a:pt x="595" y="338"/>
                  </a:lnTo>
                  <a:lnTo>
                    <a:pt x="612" y="337"/>
                  </a:lnTo>
                  <a:lnTo>
                    <a:pt x="610" y="330"/>
                  </a:lnTo>
                  <a:lnTo>
                    <a:pt x="628" y="337"/>
                  </a:lnTo>
                  <a:lnTo>
                    <a:pt x="656" y="349"/>
                  </a:lnTo>
                  <a:lnTo>
                    <a:pt x="667" y="343"/>
                  </a:lnTo>
                  <a:lnTo>
                    <a:pt x="643" y="360"/>
                  </a:lnTo>
                  <a:lnTo>
                    <a:pt x="707" y="341"/>
                  </a:lnTo>
                  <a:lnTo>
                    <a:pt x="678" y="357"/>
                  </a:lnTo>
                  <a:lnTo>
                    <a:pt x="652" y="374"/>
                  </a:lnTo>
                  <a:lnTo>
                    <a:pt x="662" y="375"/>
                  </a:lnTo>
                  <a:lnTo>
                    <a:pt x="656" y="385"/>
                  </a:lnTo>
                  <a:lnTo>
                    <a:pt x="676" y="385"/>
                  </a:lnTo>
                  <a:lnTo>
                    <a:pt x="670" y="400"/>
                  </a:lnTo>
                  <a:lnTo>
                    <a:pt x="679" y="391"/>
                  </a:lnTo>
                  <a:lnTo>
                    <a:pt x="690" y="400"/>
                  </a:lnTo>
                  <a:lnTo>
                    <a:pt x="708" y="403"/>
                  </a:lnTo>
                  <a:lnTo>
                    <a:pt x="709" y="382"/>
                  </a:lnTo>
                  <a:lnTo>
                    <a:pt x="712" y="380"/>
                  </a:lnTo>
                  <a:lnTo>
                    <a:pt x="726" y="361"/>
                  </a:lnTo>
                  <a:lnTo>
                    <a:pt x="741" y="375"/>
                  </a:lnTo>
                  <a:lnTo>
                    <a:pt x="749" y="363"/>
                  </a:lnTo>
                  <a:lnTo>
                    <a:pt x="765" y="361"/>
                  </a:lnTo>
                  <a:lnTo>
                    <a:pt x="753" y="356"/>
                  </a:lnTo>
                  <a:lnTo>
                    <a:pt x="779" y="352"/>
                  </a:lnTo>
                  <a:lnTo>
                    <a:pt x="761" y="347"/>
                  </a:lnTo>
                  <a:lnTo>
                    <a:pt x="780" y="339"/>
                  </a:lnTo>
                  <a:lnTo>
                    <a:pt x="804" y="338"/>
                  </a:lnTo>
                  <a:lnTo>
                    <a:pt x="806" y="336"/>
                  </a:lnTo>
                  <a:lnTo>
                    <a:pt x="798" y="327"/>
                  </a:lnTo>
                  <a:lnTo>
                    <a:pt x="820" y="328"/>
                  </a:lnTo>
                  <a:lnTo>
                    <a:pt x="792" y="313"/>
                  </a:lnTo>
                  <a:lnTo>
                    <a:pt x="784" y="320"/>
                  </a:lnTo>
                  <a:lnTo>
                    <a:pt x="773" y="320"/>
                  </a:lnTo>
                  <a:lnTo>
                    <a:pt x="773" y="313"/>
                  </a:lnTo>
                  <a:lnTo>
                    <a:pt x="747" y="324"/>
                  </a:lnTo>
                  <a:lnTo>
                    <a:pt x="747" y="319"/>
                  </a:lnTo>
                  <a:lnTo>
                    <a:pt x="765" y="298"/>
                  </a:lnTo>
                  <a:lnTo>
                    <a:pt x="753" y="306"/>
                  </a:lnTo>
                  <a:lnTo>
                    <a:pt x="717" y="304"/>
                  </a:lnTo>
                  <a:lnTo>
                    <a:pt x="742" y="298"/>
                  </a:lnTo>
                  <a:lnTo>
                    <a:pt x="713" y="300"/>
                  </a:lnTo>
                  <a:lnTo>
                    <a:pt x="733" y="296"/>
                  </a:lnTo>
                  <a:lnTo>
                    <a:pt x="715" y="294"/>
                  </a:lnTo>
                  <a:lnTo>
                    <a:pt x="745" y="289"/>
                  </a:lnTo>
                  <a:lnTo>
                    <a:pt x="744" y="285"/>
                  </a:lnTo>
                  <a:lnTo>
                    <a:pt x="725" y="277"/>
                  </a:lnTo>
                  <a:lnTo>
                    <a:pt x="717" y="275"/>
                  </a:lnTo>
                  <a:lnTo>
                    <a:pt x="725" y="261"/>
                  </a:lnTo>
                  <a:lnTo>
                    <a:pt x="705" y="277"/>
                  </a:lnTo>
                  <a:lnTo>
                    <a:pt x="699" y="265"/>
                  </a:lnTo>
                  <a:lnTo>
                    <a:pt x="685" y="272"/>
                  </a:lnTo>
                  <a:lnTo>
                    <a:pt x="694" y="262"/>
                  </a:lnTo>
                  <a:lnTo>
                    <a:pt x="671" y="271"/>
                  </a:lnTo>
                  <a:lnTo>
                    <a:pt x="684" y="257"/>
                  </a:lnTo>
                  <a:lnTo>
                    <a:pt x="666" y="257"/>
                  </a:lnTo>
                  <a:lnTo>
                    <a:pt x="652" y="252"/>
                  </a:lnTo>
                  <a:lnTo>
                    <a:pt x="636" y="249"/>
                  </a:lnTo>
                  <a:lnTo>
                    <a:pt x="665" y="244"/>
                  </a:lnTo>
                  <a:lnTo>
                    <a:pt x="613" y="233"/>
                  </a:lnTo>
                  <a:lnTo>
                    <a:pt x="640" y="232"/>
                  </a:lnTo>
                  <a:lnTo>
                    <a:pt x="612" y="225"/>
                  </a:lnTo>
                  <a:lnTo>
                    <a:pt x="652" y="227"/>
                  </a:lnTo>
                  <a:lnTo>
                    <a:pt x="637" y="222"/>
                  </a:lnTo>
                  <a:lnTo>
                    <a:pt x="659" y="215"/>
                  </a:lnTo>
                  <a:lnTo>
                    <a:pt x="622" y="213"/>
                  </a:lnTo>
                  <a:lnTo>
                    <a:pt x="637" y="206"/>
                  </a:lnTo>
                  <a:lnTo>
                    <a:pt x="622" y="206"/>
                  </a:lnTo>
                  <a:lnTo>
                    <a:pt x="650" y="204"/>
                  </a:lnTo>
                  <a:lnTo>
                    <a:pt x="625" y="200"/>
                  </a:lnTo>
                  <a:lnTo>
                    <a:pt x="699" y="208"/>
                  </a:lnTo>
                  <a:lnTo>
                    <a:pt x="642" y="189"/>
                  </a:lnTo>
                  <a:lnTo>
                    <a:pt x="602" y="190"/>
                  </a:lnTo>
                  <a:lnTo>
                    <a:pt x="697" y="181"/>
                  </a:lnTo>
                  <a:lnTo>
                    <a:pt x="679" y="154"/>
                  </a:lnTo>
                  <a:lnTo>
                    <a:pt x="625" y="179"/>
                  </a:lnTo>
                  <a:lnTo>
                    <a:pt x="600" y="185"/>
                  </a:lnTo>
                  <a:lnTo>
                    <a:pt x="658" y="161"/>
                  </a:lnTo>
                  <a:lnTo>
                    <a:pt x="602" y="171"/>
                  </a:lnTo>
                  <a:lnTo>
                    <a:pt x="680" y="146"/>
                  </a:lnTo>
                  <a:lnTo>
                    <a:pt x="636" y="138"/>
                  </a:lnTo>
                  <a:lnTo>
                    <a:pt x="619" y="141"/>
                  </a:lnTo>
                  <a:lnTo>
                    <a:pt x="638" y="130"/>
                  </a:lnTo>
                  <a:lnTo>
                    <a:pt x="588" y="146"/>
                  </a:lnTo>
                  <a:lnTo>
                    <a:pt x="558" y="168"/>
                  </a:lnTo>
                  <a:lnTo>
                    <a:pt x="573" y="146"/>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4" name="Freeform 86"/>
            <p:cNvSpPr>
              <a:spLocks/>
            </p:cNvSpPr>
            <p:nvPr/>
          </p:nvSpPr>
          <p:spPr bwMode="auto">
            <a:xfrm>
              <a:off x="3912" y="708"/>
              <a:ext cx="999" cy="121"/>
            </a:xfrm>
            <a:custGeom>
              <a:avLst/>
              <a:gdLst/>
              <a:ahLst/>
              <a:cxnLst>
                <a:cxn ang="0">
                  <a:pos x="249" y="176"/>
                </a:cxn>
                <a:cxn ang="0">
                  <a:pos x="184" y="199"/>
                </a:cxn>
                <a:cxn ang="0">
                  <a:pos x="149" y="180"/>
                </a:cxn>
                <a:cxn ang="0">
                  <a:pos x="180" y="168"/>
                </a:cxn>
                <a:cxn ang="0">
                  <a:pos x="120" y="158"/>
                </a:cxn>
                <a:cxn ang="0">
                  <a:pos x="274" y="142"/>
                </a:cxn>
                <a:cxn ang="0">
                  <a:pos x="207" y="93"/>
                </a:cxn>
                <a:cxn ang="0">
                  <a:pos x="298" y="91"/>
                </a:cxn>
                <a:cxn ang="0">
                  <a:pos x="338" y="106"/>
                </a:cxn>
                <a:cxn ang="0">
                  <a:pos x="314" y="87"/>
                </a:cxn>
                <a:cxn ang="0">
                  <a:pos x="457" y="68"/>
                </a:cxn>
                <a:cxn ang="0">
                  <a:pos x="530" y="50"/>
                </a:cxn>
                <a:cxn ang="0">
                  <a:pos x="380" y="63"/>
                </a:cxn>
                <a:cxn ang="0">
                  <a:pos x="227" y="76"/>
                </a:cxn>
                <a:cxn ang="0">
                  <a:pos x="357" y="59"/>
                </a:cxn>
                <a:cxn ang="0">
                  <a:pos x="204" y="77"/>
                </a:cxn>
                <a:cxn ang="0">
                  <a:pos x="158" y="67"/>
                </a:cxn>
                <a:cxn ang="0">
                  <a:pos x="300" y="54"/>
                </a:cxn>
                <a:cxn ang="0">
                  <a:pos x="150" y="58"/>
                </a:cxn>
                <a:cxn ang="0">
                  <a:pos x="244" y="48"/>
                </a:cxn>
                <a:cxn ang="0">
                  <a:pos x="125" y="43"/>
                </a:cxn>
                <a:cxn ang="0">
                  <a:pos x="282" y="26"/>
                </a:cxn>
                <a:cxn ang="0">
                  <a:pos x="477" y="36"/>
                </a:cxn>
                <a:cxn ang="0">
                  <a:pos x="454" y="5"/>
                </a:cxn>
                <a:cxn ang="0">
                  <a:pos x="609" y="11"/>
                </a:cxn>
                <a:cxn ang="0">
                  <a:pos x="573" y="0"/>
                </a:cxn>
                <a:cxn ang="0">
                  <a:pos x="785" y="11"/>
                </a:cxn>
                <a:cxn ang="0">
                  <a:pos x="999" y="21"/>
                </a:cxn>
                <a:cxn ang="0">
                  <a:pos x="857" y="42"/>
                </a:cxn>
                <a:cxn ang="0">
                  <a:pos x="714" y="62"/>
                </a:cxn>
                <a:cxn ang="0">
                  <a:pos x="881" y="48"/>
                </a:cxn>
                <a:cxn ang="0">
                  <a:pos x="730" y="77"/>
                </a:cxn>
                <a:cxn ang="0">
                  <a:pos x="573" y="109"/>
                </a:cxn>
                <a:cxn ang="0">
                  <a:pos x="430" y="123"/>
                </a:cxn>
                <a:cxn ang="0">
                  <a:pos x="512" y="136"/>
                </a:cxn>
                <a:cxn ang="0">
                  <a:pos x="401" y="147"/>
                </a:cxn>
                <a:cxn ang="0">
                  <a:pos x="493" y="153"/>
                </a:cxn>
                <a:cxn ang="0">
                  <a:pos x="364" y="181"/>
                </a:cxn>
                <a:cxn ang="0">
                  <a:pos x="355" y="200"/>
                </a:cxn>
                <a:cxn ang="0">
                  <a:pos x="252" y="206"/>
                </a:cxn>
                <a:cxn ang="0">
                  <a:pos x="333" y="233"/>
                </a:cxn>
                <a:cxn ang="0">
                  <a:pos x="229" y="242"/>
                </a:cxn>
                <a:cxn ang="0">
                  <a:pos x="114" y="238"/>
                </a:cxn>
                <a:cxn ang="0">
                  <a:pos x="0" y="235"/>
                </a:cxn>
                <a:cxn ang="0">
                  <a:pos x="78" y="209"/>
                </a:cxn>
                <a:cxn ang="0">
                  <a:pos x="63" y="190"/>
                </a:cxn>
                <a:cxn ang="0">
                  <a:pos x="184" y="202"/>
                </a:cxn>
                <a:cxn ang="0">
                  <a:pos x="249" y="176"/>
                </a:cxn>
              </a:cxnLst>
              <a:rect l="0" t="0" r="r" b="b"/>
              <a:pathLst>
                <a:path w="999" h="242">
                  <a:moveTo>
                    <a:pt x="249" y="176"/>
                  </a:moveTo>
                  <a:lnTo>
                    <a:pt x="184" y="199"/>
                  </a:lnTo>
                  <a:lnTo>
                    <a:pt x="149" y="180"/>
                  </a:lnTo>
                  <a:lnTo>
                    <a:pt x="180" y="168"/>
                  </a:lnTo>
                  <a:lnTo>
                    <a:pt x="120" y="158"/>
                  </a:lnTo>
                  <a:lnTo>
                    <a:pt x="274" y="142"/>
                  </a:lnTo>
                  <a:lnTo>
                    <a:pt x="207" y="93"/>
                  </a:lnTo>
                  <a:lnTo>
                    <a:pt x="298" y="91"/>
                  </a:lnTo>
                  <a:lnTo>
                    <a:pt x="338" y="106"/>
                  </a:lnTo>
                  <a:lnTo>
                    <a:pt x="314" y="87"/>
                  </a:lnTo>
                  <a:lnTo>
                    <a:pt x="457" y="68"/>
                  </a:lnTo>
                  <a:lnTo>
                    <a:pt x="530" y="50"/>
                  </a:lnTo>
                  <a:lnTo>
                    <a:pt x="380" y="63"/>
                  </a:lnTo>
                  <a:lnTo>
                    <a:pt x="227" y="76"/>
                  </a:lnTo>
                  <a:lnTo>
                    <a:pt x="357" y="59"/>
                  </a:lnTo>
                  <a:lnTo>
                    <a:pt x="204" y="77"/>
                  </a:lnTo>
                  <a:lnTo>
                    <a:pt x="158" y="67"/>
                  </a:lnTo>
                  <a:lnTo>
                    <a:pt x="300" y="54"/>
                  </a:lnTo>
                  <a:lnTo>
                    <a:pt x="150" y="58"/>
                  </a:lnTo>
                  <a:lnTo>
                    <a:pt x="244" y="48"/>
                  </a:lnTo>
                  <a:lnTo>
                    <a:pt x="125" y="43"/>
                  </a:lnTo>
                  <a:lnTo>
                    <a:pt x="282" y="26"/>
                  </a:lnTo>
                  <a:lnTo>
                    <a:pt x="477" y="36"/>
                  </a:lnTo>
                  <a:lnTo>
                    <a:pt x="454" y="5"/>
                  </a:lnTo>
                  <a:lnTo>
                    <a:pt x="609" y="11"/>
                  </a:lnTo>
                  <a:lnTo>
                    <a:pt x="573" y="0"/>
                  </a:lnTo>
                  <a:lnTo>
                    <a:pt x="785" y="11"/>
                  </a:lnTo>
                  <a:lnTo>
                    <a:pt x="999" y="21"/>
                  </a:lnTo>
                  <a:lnTo>
                    <a:pt x="857" y="42"/>
                  </a:lnTo>
                  <a:lnTo>
                    <a:pt x="714" y="62"/>
                  </a:lnTo>
                  <a:lnTo>
                    <a:pt x="881" y="48"/>
                  </a:lnTo>
                  <a:lnTo>
                    <a:pt x="730" y="77"/>
                  </a:lnTo>
                  <a:lnTo>
                    <a:pt x="573" y="109"/>
                  </a:lnTo>
                  <a:lnTo>
                    <a:pt x="430" y="123"/>
                  </a:lnTo>
                  <a:lnTo>
                    <a:pt x="512" y="136"/>
                  </a:lnTo>
                  <a:lnTo>
                    <a:pt x="401" y="147"/>
                  </a:lnTo>
                  <a:lnTo>
                    <a:pt x="493" y="153"/>
                  </a:lnTo>
                  <a:lnTo>
                    <a:pt x="364" y="181"/>
                  </a:lnTo>
                  <a:lnTo>
                    <a:pt x="355" y="200"/>
                  </a:lnTo>
                  <a:lnTo>
                    <a:pt x="252" y="206"/>
                  </a:lnTo>
                  <a:lnTo>
                    <a:pt x="333" y="233"/>
                  </a:lnTo>
                  <a:lnTo>
                    <a:pt x="229" y="242"/>
                  </a:lnTo>
                  <a:lnTo>
                    <a:pt x="114" y="238"/>
                  </a:lnTo>
                  <a:lnTo>
                    <a:pt x="0" y="235"/>
                  </a:lnTo>
                  <a:lnTo>
                    <a:pt x="78" y="209"/>
                  </a:lnTo>
                  <a:lnTo>
                    <a:pt x="63" y="190"/>
                  </a:lnTo>
                  <a:lnTo>
                    <a:pt x="184" y="202"/>
                  </a:lnTo>
                  <a:lnTo>
                    <a:pt x="249" y="176"/>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5" name="Freeform 87"/>
            <p:cNvSpPr>
              <a:spLocks/>
            </p:cNvSpPr>
            <p:nvPr/>
          </p:nvSpPr>
          <p:spPr bwMode="auto">
            <a:xfrm>
              <a:off x="2706" y="894"/>
              <a:ext cx="552" cy="110"/>
            </a:xfrm>
            <a:custGeom>
              <a:avLst/>
              <a:gdLst/>
              <a:ahLst/>
              <a:cxnLst>
                <a:cxn ang="0">
                  <a:pos x="362" y="200"/>
                </a:cxn>
                <a:cxn ang="0">
                  <a:pos x="342" y="184"/>
                </a:cxn>
                <a:cxn ang="0">
                  <a:pos x="329" y="180"/>
                </a:cxn>
                <a:cxn ang="0">
                  <a:pos x="270" y="200"/>
                </a:cxn>
                <a:cxn ang="0">
                  <a:pos x="176" y="210"/>
                </a:cxn>
                <a:cxn ang="0">
                  <a:pos x="81" y="220"/>
                </a:cxn>
                <a:cxn ang="0">
                  <a:pos x="84" y="196"/>
                </a:cxn>
                <a:cxn ang="0">
                  <a:pos x="0" y="168"/>
                </a:cxn>
                <a:cxn ang="0">
                  <a:pos x="18" y="144"/>
                </a:cxn>
                <a:cxn ang="0">
                  <a:pos x="115" y="141"/>
                </a:cxn>
                <a:cxn ang="0">
                  <a:pos x="212" y="135"/>
                </a:cxn>
                <a:cxn ang="0">
                  <a:pos x="122" y="123"/>
                </a:cxn>
                <a:cxn ang="0">
                  <a:pos x="26" y="118"/>
                </a:cxn>
                <a:cxn ang="0">
                  <a:pos x="18" y="105"/>
                </a:cxn>
                <a:cxn ang="0">
                  <a:pos x="140" y="82"/>
                </a:cxn>
                <a:cxn ang="0">
                  <a:pos x="48" y="84"/>
                </a:cxn>
                <a:cxn ang="0">
                  <a:pos x="73" y="76"/>
                </a:cxn>
                <a:cxn ang="0">
                  <a:pos x="29" y="76"/>
                </a:cxn>
                <a:cxn ang="0">
                  <a:pos x="91" y="47"/>
                </a:cxn>
                <a:cxn ang="0">
                  <a:pos x="87" y="39"/>
                </a:cxn>
                <a:cxn ang="0">
                  <a:pos x="173" y="19"/>
                </a:cxn>
                <a:cxn ang="0">
                  <a:pos x="257" y="0"/>
                </a:cxn>
                <a:cxn ang="0">
                  <a:pos x="265" y="10"/>
                </a:cxn>
                <a:cxn ang="0">
                  <a:pos x="225" y="34"/>
                </a:cxn>
                <a:cxn ang="0">
                  <a:pos x="258" y="28"/>
                </a:cxn>
                <a:cxn ang="0">
                  <a:pos x="288" y="16"/>
                </a:cxn>
                <a:cxn ang="0">
                  <a:pos x="323" y="37"/>
                </a:cxn>
                <a:cxn ang="0">
                  <a:pos x="300" y="48"/>
                </a:cxn>
                <a:cxn ang="0">
                  <a:pos x="316" y="46"/>
                </a:cxn>
                <a:cxn ang="0">
                  <a:pos x="362" y="41"/>
                </a:cxn>
                <a:cxn ang="0">
                  <a:pos x="366" y="29"/>
                </a:cxn>
                <a:cxn ang="0">
                  <a:pos x="371" y="16"/>
                </a:cxn>
                <a:cxn ang="0">
                  <a:pos x="407" y="37"/>
                </a:cxn>
                <a:cxn ang="0">
                  <a:pos x="387" y="77"/>
                </a:cxn>
                <a:cxn ang="0">
                  <a:pos x="421" y="63"/>
                </a:cxn>
                <a:cxn ang="0">
                  <a:pos x="452" y="8"/>
                </a:cxn>
                <a:cxn ang="0">
                  <a:pos x="506" y="8"/>
                </a:cxn>
                <a:cxn ang="0">
                  <a:pos x="517" y="37"/>
                </a:cxn>
                <a:cxn ang="0">
                  <a:pos x="483" y="96"/>
                </a:cxn>
                <a:cxn ang="0">
                  <a:pos x="487" y="123"/>
                </a:cxn>
                <a:cxn ang="0">
                  <a:pos x="499" y="125"/>
                </a:cxn>
                <a:cxn ang="0">
                  <a:pos x="552" y="143"/>
                </a:cxn>
                <a:cxn ang="0">
                  <a:pos x="544" y="154"/>
                </a:cxn>
                <a:cxn ang="0">
                  <a:pos x="520" y="166"/>
                </a:cxn>
                <a:cxn ang="0">
                  <a:pos x="526" y="154"/>
                </a:cxn>
                <a:cxn ang="0">
                  <a:pos x="502" y="162"/>
                </a:cxn>
                <a:cxn ang="0">
                  <a:pos x="489" y="161"/>
                </a:cxn>
                <a:cxn ang="0">
                  <a:pos x="465" y="172"/>
                </a:cxn>
                <a:cxn ang="0">
                  <a:pos x="453" y="171"/>
                </a:cxn>
                <a:cxn ang="0">
                  <a:pos x="439" y="191"/>
                </a:cxn>
                <a:cxn ang="0">
                  <a:pos x="490" y="175"/>
                </a:cxn>
                <a:cxn ang="0">
                  <a:pos x="484" y="185"/>
                </a:cxn>
                <a:cxn ang="0">
                  <a:pos x="466" y="200"/>
                </a:cxn>
                <a:cxn ang="0">
                  <a:pos x="362" y="200"/>
                </a:cxn>
              </a:cxnLst>
              <a:rect l="0" t="0" r="r" b="b"/>
              <a:pathLst>
                <a:path w="552" h="220">
                  <a:moveTo>
                    <a:pt x="362" y="200"/>
                  </a:moveTo>
                  <a:lnTo>
                    <a:pt x="342" y="184"/>
                  </a:lnTo>
                  <a:lnTo>
                    <a:pt x="329" y="180"/>
                  </a:lnTo>
                  <a:lnTo>
                    <a:pt x="270" y="200"/>
                  </a:lnTo>
                  <a:lnTo>
                    <a:pt x="176" y="210"/>
                  </a:lnTo>
                  <a:lnTo>
                    <a:pt x="81" y="220"/>
                  </a:lnTo>
                  <a:lnTo>
                    <a:pt x="84" y="196"/>
                  </a:lnTo>
                  <a:lnTo>
                    <a:pt x="0" y="168"/>
                  </a:lnTo>
                  <a:lnTo>
                    <a:pt x="18" y="144"/>
                  </a:lnTo>
                  <a:lnTo>
                    <a:pt x="115" y="141"/>
                  </a:lnTo>
                  <a:lnTo>
                    <a:pt x="212" y="135"/>
                  </a:lnTo>
                  <a:lnTo>
                    <a:pt x="122" y="123"/>
                  </a:lnTo>
                  <a:lnTo>
                    <a:pt x="26" y="118"/>
                  </a:lnTo>
                  <a:lnTo>
                    <a:pt x="18" y="105"/>
                  </a:lnTo>
                  <a:lnTo>
                    <a:pt x="140" y="82"/>
                  </a:lnTo>
                  <a:lnTo>
                    <a:pt x="48" y="84"/>
                  </a:lnTo>
                  <a:lnTo>
                    <a:pt x="73" y="76"/>
                  </a:lnTo>
                  <a:lnTo>
                    <a:pt x="29" y="76"/>
                  </a:lnTo>
                  <a:lnTo>
                    <a:pt x="91" y="47"/>
                  </a:lnTo>
                  <a:lnTo>
                    <a:pt x="87" y="39"/>
                  </a:lnTo>
                  <a:lnTo>
                    <a:pt x="173" y="19"/>
                  </a:lnTo>
                  <a:lnTo>
                    <a:pt x="257" y="0"/>
                  </a:lnTo>
                  <a:lnTo>
                    <a:pt x="265" y="10"/>
                  </a:lnTo>
                  <a:lnTo>
                    <a:pt x="225" y="34"/>
                  </a:lnTo>
                  <a:lnTo>
                    <a:pt x="258" y="28"/>
                  </a:lnTo>
                  <a:lnTo>
                    <a:pt x="288" y="16"/>
                  </a:lnTo>
                  <a:lnTo>
                    <a:pt x="323" y="37"/>
                  </a:lnTo>
                  <a:lnTo>
                    <a:pt x="300" y="48"/>
                  </a:lnTo>
                  <a:lnTo>
                    <a:pt x="316" y="46"/>
                  </a:lnTo>
                  <a:lnTo>
                    <a:pt x="362" y="41"/>
                  </a:lnTo>
                  <a:lnTo>
                    <a:pt x="366" y="29"/>
                  </a:lnTo>
                  <a:lnTo>
                    <a:pt x="371" y="16"/>
                  </a:lnTo>
                  <a:lnTo>
                    <a:pt x="407" y="37"/>
                  </a:lnTo>
                  <a:lnTo>
                    <a:pt x="387" y="77"/>
                  </a:lnTo>
                  <a:lnTo>
                    <a:pt x="421" y="63"/>
                  </a:lnTo>
                  <a:lnTo>
                    <a:pt x="452" y="8"/>
                  </a:lnTo>
                  <a:lnTo>
                    <a:pt x="506" y="8"/>
                  </a:lnTo>
                  <a:lnTo>
                    <a:pt x="517" y="37"/>
                  </a:lnTo>
                  <a:lnTo>
                    <a:pt x="483" y="96"/>
                  </a:lnTo>
                  <a:lnTo>
                    <a:pt x="487" y="123"/>
                  </a:lnTo>
                  <a:lnTo>
                    <a:pt x="499" y="125"/>
                  </a:lnTo>
                  <a:lnTo>
                    <a:pt x="552" y="143"/>
                  </a:lnTo>
                  <a:lnTo>
                    <a:pt x="544" y="154"/>
                  </a:lnTo>
                  <a:lnTo>
                    <a:pt x="520" y="166"/>
                  </a:lnTo>
                  <a:lnTo>
                    <a:pt x="526" y="154"/>
                  </a:lnTo>
                  <a:lnTo>
                    <a:pt x="502" y="162"/>
                  </a:lnTo>
                  <a:lnTo>
                    <a:pt x="489" y="161"/>
                  </a:lnTo>
                  <a:lnTo>
                    <a:pt x="465" y="172"/>
                  </a:lnTo>
                  <a:lnTo>
                    <a:pt x="453" y="171"/>
                  </a:lnTo>
                  <a:lnTo>
                    <a:pt x="439" y="191"/>
                  </a:lnTo>
                  <a:lnTo>
                    <a:pt x="490" y="175"/>
                  </a:lnTo>
                  <a:lnTo>
                    <a:pt x="484" y="185"/>
                  </a:lnTo>
                  <a:lnTo>
                    <a:pt x="466" y="200"/>
                  </a:lnTo>
                  <a:lnTo>
                    <a:pt x="362" y="20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6" name="Freeform 88"/>
            <p:cNvSpPr>
              <a:spLocks/>
            </p:cNvSpPr>
            <p:nvPr/>
          </p:nvSpPr>
          <p:spPr bwMode="auto">
            <a:xfrm>
              <a:off x="2542" y="871"/>
              <a:ext cx="403" cy="74"/>
            </a:xfrm>
            <a:custGeom>
              <a:avLst/>
              <a:gdLst/>
              <a:ahLst/>
              <a:cxnLst>
                <a:cxn ang="0">
                  <a:pos x="182" y="100"/>
                </a:cxn>
                <a:cxn ang="0">
                  <a:pos x="123" y="132"/>
                </a:cxn>
                <a:cxn ang="0">
                  <a:pos x="31" y="149"/>
                </a:cxn>
                <a:cxn ang="0">
                  <a:pos x="18" y="116"/>
                </a:cxn>
                <a:cxn ang="0">
                  <a:pos x="0" y="102"/>
                </a:cxn>
                <a:cxn ang="0">
                  <a:pos x="59" y="74"/>
                </a:cxn>
                <a:cxn ang="0">
                  <a:pos x="79" y="59"/>
                </a:cxn>
                <a:cxn ang="0">
                  <a:pos x="149" y="27"/>
                </a:cxn>
                <a:cxn ang="0">
                  <a:pos x="147" y="4"/>
                </a:cxn>
                <a:cxn ang="0">
                  <a:pos x="271" y="0"/>
                </a:cxn>
                <a:cxn ang="0">
                  <a:pos x="301" y="11"/>
                </a:cxn>
                <a:cxn ang="0">
                  <a:pos x="310" y="16"/>
                </a:cxn>
                <a:cxn ang="0">
                  <a:pos x="373" y="9"/>
                </a:cxn>
                <a:cxn ang="0">
                  <a:pos x="403" y="41"/>
                </a:cxn>
                <a:cxn ang="0">
                  <a:pos x="313" y="65"/>
                </a:cxn>
                <a:cxn ang="0">
                  <a:pos x="224" y="88"/>
                </a:cxn>
                <a:cxn ang="0">
                  <a:pos x="182" y="100"/>
                </a:cxn>
              </a:cxnLst>
              <a:rect l="0" t="0" r="r" b="b"/>
              <a:pathLst>
                <a:path w="403" h="149">
                  <a:moveTo>
                    <a:pt x="182" y="100"/>
                  </a:moveTo>
                  <a:lnTo>
                    <a:pt x="123" y="132"/>
                  </a:lnTo>
                  <a:lnTo>
                    <a:pt x="31" y="149"/>
                  </a:lnTo>
                  <a:lnTo>
                    <a:pt x="18" y="116"/>
                  </a:lnTo>
                  <a:lnTo>
                    <a:pt x="0" y="102"/>
                  </a:lnTo>
                  <a:lnTo>
                    <a:pt x="59" y="74"/>
                  </a:lnTo>
                  <a:lnTo>
                    <a:pt x="79" y="59"/>
                  </a:lnTo>
                  <a:lnTo>
                    <a:pt x="149" y="27"/>
                  </a:lnTo>
                  <a:lnTo>
                    <a:pt x="147" y="4"/>
                  </a:lnTo>
                  <a:lnTo>
                    <a:pt x="271" y="0"/>
                  </a:lnTo>
                  <a:lnTo>
                    <a:pt x="301" y="11"/>
                  </a:lnTo>
                  <a:lnTo>
                    <a:pt x="310" y="16"/>
                  </a:lnTo>
                  <a:lnTo>
                    <a:pt x="373" y="9"/>
                  </a:lnTo>
                  <a:lnTo>
                    <a:pt x="403" y="41"/>
                  </a:lnTo>
                  <a:lnTo>
                    <a:pt x="313" y="65"/>
                  </a:lnTo>
                  <a:lnTo>
                    <a:pt x="224" y="88"/>
                  </a:lnTo>
                  <a:lnTo>
                    <a:pt x="182" y="10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7" name="Freeform 89"/>
            <p:cNvSpPr>
              <a:spLocks/>
            </p:cNvSpPr>
            <p:nvPr/>
          </p:nvSpPr>
          <p:spPr bwMode="auto">
            <a:xfrm>
              <a:off x="4188" y="1430"/>
              <a:ext cx="270" cy="130"/>
            </a:xfrm>
            <a:custGeom>
              <a:avLst/>
              <a:gdLst/>
              <a:ahLst/>
              <a:cxnLst>
                <a:cxn ang="0">
                  <a:pos x="140" y="207"/>
                </a:cxn>
                <a:cxn ang="0">
                  <a:pos x="142" y="197"/>
                </a:cxn>
                <a:cxn ang="0">
                  <a:pos x="65" y="208"/>
                </a:cxn>
                <a:cxn ang="0">
                  <a:pos x="0" y="202"/>
                </a:cxn>
                <a:cxn ang="0">
                  <a:pos x="16" y="182"/>
                </a:cxn>
                <a:cxn ang="0">
                  <a:pos x="47" y="160"/>
                </a:cxn>
                <a:cxn ang="0">
                  <a:pos x="16" y="159"/>
                </a:cxn>
                <a:cxn ang="0">
                  <a:pos x="29" y="151"/>
                </a:cxn>
                <a:cxn ang="0">
                  <a:pos x="68" y="130"/>
                </a:cxn>
                <a:cxn ang="0">
                  <a:pos x="71" y="133"/>
                </a:cxn>
                <a:cxn ang="0">
                  <a:pos x="79" y="121"/>
                </a:cxn>
                <a:cxn ang="0">
                  <a:pos x="70" y="112"/>
                </a:cxn>
                <a:cxn ang="0">
                  <a:pos x="87" y="104"/>
                </a:cxn>
                <a:cxn ang="0">
                  <a:pos x="129" y="46"/>
                </a:cxn>
                <a:cxn ang="0">
                  <a:pos x="176" y="4"/>
                </a:cxn>
                <a:cxn ang="0">
                  <a:pos x="198" y="0"/>
                </a:cxn>
                <a:cxn ang="0">
                  <a:pos x="214" y="2"/>
                </a:cxn>
                <a:cxn ang="0">
                  <a:pos x="186" y="14"/>
                </a:cxn>
                <a:cxn ang="0">
                  <a:pos x="194" y="23"/>
                </a:cxn>
                <a:cxn ang="0">
                  <a:pos x="177" y="40"/>
                </a:cxn>
                <a:cxn ang="0">
                  <a:pos x="127" y="103"/>
                </a:cxn>
                <a:cxn ang="0">
                  <a:pos x="166" y="74"/>
                </a:cxn>
                <a:cxn ang="0">
                  <a:pos x="159" y="84"/>
                </a:cxn>
                <a:cxn ang="0">
                  <a:pos x="188" y="82"/>
                </a:cxn>
                <a:cxn ang="0">
                  <a:pos x="161" y="97"/>
                </a:cxn>
                <a:cxn ang="0">
                  <a:pos x="161" y="106"/>
                </a:cxn>
                <a:cxn ang="0">
                  <a:pos x="189" y="112"/>
                </a:cxn>
                <a:cxn ang="0">
                  <a:pos x="184" y="123"/>
                </a:cxn>
                <a:cxn ang="0">
                  <a:pos x="223" y="108"/>
                </a:cxn>
                <a:cxn ang="0">
                  <a:pos x="220" y="117"/>
                </a:cxn>
                <a:cxn ang="0">
                  <a:pos x="255" y="114"/>
                </a:cxn>
                <a:cxn ang="0">
                  <a:pos x="229" y="142"/>
                </a:cxn>
                <a:cxn ang="0">
                  <a:pos x="237" y="154"/>
                </a:cxn>
                <a:cxn ang="0">
                  <a:pos x="222" y="165"/>
                </a:cxn>
                <a:cxn ang="0">
                  <a:pos x="270" y="154"/>
                </a:cxn>
                <a:cxn ang="0">
                  <a:pos x="224" y="182"/>
                </a:cxn>
                <a:cxn ang="0">
                  <a:pos x="230" y="192"/>
                </a:cxn>
                <a:cxn ang="0">
                  <a:pos x="226" y="192"/>
                </a:cxn>
                <a:cxn ang="0">
                  <a:pos x="225" y="208"/>
                </a:cxn>
                <a:cxn ang="0">
                  <a:pos x="266" y="178"/>
                </a:cxn>
                <a:cxn ang="0">
                  <a:pos x="248" y="208"/>
                </a:cxn>
                <a:cxn ang="0">
                  <a:pos x="266" y="197"/>
                </a:cxn>
                <a:cxn ang="0">
                  <a:pos x="269" y="212"/>
                </a:cxn>
                <a:cxn ang="0">
                  <a:pos x="235" y="260"/>
                </a:cxn>
                <a:cxn ang="0">
                  <a:pos x="219" y="251"/>
                </a:cxn>
                <a:cxn ang="0">
                  <a:pos x="219" y="236"/>
                </a:cxn>
                <a:cxn ang="0">
                  <a:pos x="195" y="246"/>
                </a:cxn>
                <a:cxn ang="0">
                  <a:pos x="217" y="208"/>
                </a:cxn>
                <a:cxn ang="0">
                  <a:pos x="210" y="194"/>
                </a:cxn>
                <a:cxn ang="0">
                  <a:pos x="186" y="221"/>
                </a:cxn>
                <a:cxn ang="0">
                  <a:pos x="196" y="208"/>
                </a:cxn>
                <a:cxn ang="0">
                  <a:pos x="133" y="249"/>
                </a:cxn>
                <a:cxn ang="0">
                  <a:pos x="130" y="236"/>
                </a:cxn>
                <a:cxn ang="0">
                  <a:pos x="184" y="204"/>
                </a:cxn>
                <a:cxn ang="0">
                  <a:pos x="170" y="208"/>
                </a:cxn>
                <a:cxn ang="0">
                  <a:pos x="178" y="198"/>
                </a:cxn>
                <a:cxn ang="0">
                  <a:pos x="159" y="206"/>
                </a:cxn>
                <a:cxn ang="0">
                  <a:pos x="140" y="216"/>
                </a:cxn>
                <a:cxn ang="0">
                  <a:pos x="124" y="213"/>
                </a:cxn>
                <a:cxn ang="0">
                  <a:pos x="140" y="207"/>
                </a:cxn>
              </a:cxnLst>
              <a:rect l="0" t="0" r="r" b="b"/>
              <a:pathLst>
                <a:path w="270" h="260">
                  <a:moveTo>
                    <a:pt x="140" y="207"/>
                  </a:moveTo>
                  <a:lnTo>
                    <a:pt x="142" y="197"/>
                  </a:lnTo>
                  <a:lnTo>
                    <a:pt x="65" y="208"/>
                  </a:lnTo>
                  <a:lnTo>
                    <a:pt x="0" y="202"/>
                  </a:lnTo>
                  <a:lnTo>
                    <a:pt x="16" y="182"/>
                  </a:lnTo>
                  <a:lnTo>
                    <a:pt x="47" y="160"/>
                  </a:lnTo>
                  <a:lnTo>
                    <a:pt x="16" y="159"/>
                  </a:lnTo>
                  <a:lnTo>
                    <a:pt x="29" y="151"/>
                  </a:lnTo>
                  <a:lnTo>
                    <a:pt x="68" y="130"/>
                  </a:lnTo>
                  <a:lnTo>
                    <a:pt x="71" y="133"/>
                  </a:lnTo>
                  <a:lnTo>
                    <a:pt x="79" y="121"/>
                  </a:lnTo>
                  <a:lnTo>
                    <a:pt x="70" y="112"/>
                  </a:lnTo>
                  <a:lnTo>
                    <a:pt x="87" y="104"/>
                  </a:lnTo>
                  <a:lnTo>
                    <a:pt x="129" y="46"/>
                  </a:lnTo>
                  <a:lnTo>
                    <a:pt x="176" y="4"/>
                  </a:lnTo>
                  <a:lnTo>
                    <a:pt x="198" y="0"/>
                  </a:lnTo>
                  <a:lnTo>
                    <a:pt x="214" y="2"/>
                  </a:lnTo>
                  <a:lnTo>
                    <a:pt x="186" y="14"/>
                  </a:lnTo>
                  <a:lnTo>
                    <a:pt x="194" y="23"/>
                  </a:lnTo>
                  <a:lnTo>
                    <a:pt x="177" y="40"/>
                  </a:lnTo>
                  <a:lnTo>
                    <a:pt x="127" y="103"/>
                  </a:lnTo>
                  <a:lnTo>
                    <a:pt x="166" y="74"/>
                  </a:lnTo>
                  <a:lnTo>
                    <a:pt x="159" y="84"/>
                  </a:lnTo>
                  <a:lnTo>
                    <a:pt x="188" y="82"/>
                  </a:lnTo>
                  <a:lnTo>
                    <a:pt x="161" y="97"/>
                  </a:lnTo>
                  <a:lnTo>
                    <a:pt x="161" y="106"/>
                  </a:lnTo>
                  <a:lnTo>
                    <a:pt x="189" y="112"/>
                  </a:lnTo>
                  <a:lnTo>
                    <a:pt x="184" y="123"/>
                  </a:lnTo>
                  <a:lnTo>
                    <a:pt x="223" y="108"/>
                  </a:lnTo>
                  <a:lnTo>
                    <a:pt x="220" y="117"/>
                  </a:lnTo>
                  <a:lnTo>
                    <a:pt x="255" y="114"/>
                  </a:lnTo>
                  <a:lnTo>
                    <a:pt x="229" y="142"/>
                  </a:lnTo>
                  <a:lnTo>
                    <a:pt x="237" y="154"/>
                  </a:lnTo>
                  <a:lnTo>
                    <a:pt x="222" y="165"/>
                  </a:lnTo>
                  <a:lnTo>
                    <a:pt x="270" y="154"/>
                  </a:lnTo>
                  <a:lnTo>
                    <a:pt x="224" y="182"/>
                  </a:lnTo>
                  <a:lnTo>
                    <a:pt x="230" y="192"/>
                  </a:lnTo>
                  <a:lnTo>
                    <a:pt x="226" y="192"/>
                  </a:lnTo>
                  <a:lnTo>
                    <a:pt x="225" y="208"/>
                  </a:lnTo>
                  <a:lnTo>
                    <a:pt x="266" y="178"/>
                  </a:lnTo>
                  <a:lnTo>
                    <a:pt x="248" y="208"/>
                  </a:lnTo>
                  <a:lnTo>
                    <a:pt x="266" y="197"/>
                  </a:lnTo>
                  <a:lnTo>
                    <a:pt x="269" y="212"/>
                  </a:lnTo>
                  <a:lnTo>
                    <a:pt x="235" y="260"/>
                  </a:lnTo>
                  <a:lnTo>
                    <a:pt x="219" y="251"/>
                  </a:lnTo>
                  <a:lnTo>
                    <a:pt x="219" y="236"/>
                  </a:lnTo>
                  <a:lnTo>
                    <a:pt x="195" y="246"/>
                  </a:lnTo>
                  <a:lnTo>
                    <a:pt x="217" y="208"/>
                  </a:lnTo>
                  <a:lnTo>
                    <a:pt x="210" y="194"/>
                  </a:lnTo>
                  <a:lnTo>
                    <a:pt x="186" y="221"/>
                  </a:lnTo>
                  <a:lnTo>
                    <a:pt x="196" y="208"/>
                  </a:lnTo>
                  <a:lnTo>
                    <a:pt x="133" y="249"/>
                  </a:lnTo>
                  <a:lnTo>
                    <a:pt x="130" y="236"/>
                  </a:lnTo>
                  <a:lnTo>
                    <a:pt x="184" y="204"/>
                  </a:lnTo>
                  <a:lnTo>
                    <a:pt x="170" y="208"/>
                  </a:lnTo>
                  <a:lnTo>
                    <a:pt x="178" y="198"/>
                  </a:lnTo>
                  <a:lnTo>
                    <a:pt x="159" y="206"/>
                  </a:lnTo>
                  <a:lnTo>
                    <a:pt x="140" y="216"/>
                  </a:lnTo>
                  <a:lnTo>
                    <a:pt x="124" y="213"/>
                  </a:lnTo>
                  <a:lnTo>
                    <a:pt x="140" y="207"/>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8" name="Freeform 90"/>
            <p:cNvSpPr>
              <a:spLocks/>
            </p:cNvSpPr>
            <p:nvPr/>
          </p:nvSpPr>
          <p:spPr bwMode="auto">
            <a:xfrm>
              <a:off x="3669" y="821"/>
              <a:ext cx="475" cy="43"/>
            </a:xfrm>
            <a:custGeom>
              <a:avLst/>
              <a:gdLst/>
              <a:ahLst/>
              <a:cxnLst>
                <a:cxn ang="0">
                  <a:pos x="191" y="43"/>
                </a:cxn>
                <a:cxn ang="0">
                  <a:pos x="142" y="23"/>
                </a:cxn>
                <a:cxn ang="0">
                  <a:pos x="210" y="24"/>
                </a:cxn>
                <a:cxn ang="0">
                  <a:pos x="85" y="17"/>
                </a:cxn>
                <a:cxn ang="0">
                  <a:pos x="108" y="0"/>
                </a:cxn>
                <a:cxn ang="0">
                  <a:pos x="0" y="3"/>
                </a:cxn>
                <a:cxn ang="0">
                  <a:pos x="100" y="19"/>
                </a:cxn>
                <a:cxn ang="0">
                  <a:pos x="82" y="52"/>
                </a:cxn>
                <a:cxn ang="0">
                  <a:pos x="66" y="86"/>
                </a:cxn>
                <a:cxn ang="0">
                  <a:pos x="165" y="85"/>
                </a:cxn>
                <a:cxn ang="0">
                  <a:pos x="264" y="83"/>
                </a:cxn>
                <a:cxn ang="0">
                  <a:pos x="363" y="80"/>
                </a:cxn>
                <a:cxn ang="0">
                  <a:pos x="462" y="79"/>
                </a:cxn>
                <a:cxn ang="0">
                  <a:pos x="475" y="59"/>
                </a:cxn>
                <a:cxn ang="0">
                  <a:pos x="398" y="41"/>
                </a:cxn>
                <a:cxn ang="0">
                  <a:pos x="294" y="42"/>
                </a:cxn>
                <a:cxn ang="0">
                  <a:pos x="191" y="43"/>
                </a:cxn>
              </a:cxnLst>
              <a:rect l="0" t="0" r="r" b="b"/>
              <a:pathLst>
                <a:path w="475" h="86">
                  <a:moveTo>
                    <a:pt x="191" y="43"/>
                  </a:moveTo>
                  <a:lnTo>
                    <a:pt x="142" y="23"/>
                  </a:lnTo>
                  <a:lnTo>
                    <a:pt x="210" y="24"/>
                  </a:lnTo>
                  <a:lnTo>
                    <a:pt x="85" y="17"/>
                  </a:lnTo>
                  <a:lnTo>
                    <a:pt x="108" y="0"/>
                  </a:lnTo>
                  <a:lnTo>
                    <a:pt x="0" y="3"/>
                  </a:lnTo>
                  <a:lnTo>
                    <a:pt x="100" y="19"/>
                  </a:lnTo>
                  <a:lnTo>
                    <a:pt x="82" y="52"/>
                  </a:lnTo>
                  <a:lnTo>
                    <a:pt x="66" y="86"/>
                  </a:lnTo>
                  <a:lnTo>
                    <a:pt x="165" y="85"/>
                  </a:lnTo>
                  <a:lnTo>
                    <a:pt x="264" y="83"/>
                  </a:lnTo>
                  <a:lnTo>
                    <a:pt x="363" y="80"/>
                  </a:lnTo>
                  <a:lnTo>
                    <a:pt x="462" y="79"/>
                  </a:lnTo>
                  <a:lnTo>
                    <a:pt x="475" y="59"/>
                  </a:lnTo>
                  <a:lnTo>
                    <a:pt x="398" y="41"/>
                  </a:lnTo>
                  <a:lnTo>
                    <a:pt x="294" y="42"/>
                  </a:lnTo>
                  <a:lnTo>
                    <a:pt x="191" y="43"/>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19" name="Freeform 91"/>
            <p:cNvSpPr>
              <a:spLocks/>
            </p:cNvSpPr>
            <p:nvPr/>
          </p:nvSpPr>
          <p:spPr bwMode="auto">
            <a:xfrm>
              <a:off x="3834" y="738"/>
              <a:ext cx="301" cy="56"/>
            </a:xfrm>
            <a:custGeom>
              <a:avLst/>
              <a:gdLst/>
              <a:ahLst/>
              <a:cxnLst>
                <a:cxn ang="0">
                  <a:pos x="62" y="31"/>
                </a:cxn>
                <a:cxn ang="0">
                  <a:pos x="39" y="19"/>
                </a:cxn>
                <a:cxn ang="0">
                  <a:pos x="141" y="0"/>
                </a:cxn>
                <a:cxn ang="0">
                  <a:pos x="268" y="24"/>
                </a:cxn>
                <a:cxn ang="0">
                  <a:pos x="238" y="55"/>
                </a:cxn>
                <a:cxn ang="0">
                  <a:pos x="301" y="65"/>
                </a:cxn>
                <a:cxn ang="0">
                  <a:pos x="191" y="86"/>
                </a:cxn>
                <a:cxn ang="0">
                  <a:pos x="144" y="110"/>
                </a:cxn>
                <a:cxn ang="0">
                  <a:pos x="125" y="92"/>
                </a:cxn>
                <a:cxn ang="0">
                  <a:pos x="121" y="111"/>
                </a:cxn>
                <a:cxn ang="0">
                  <a:pos x="18" y="79"/>
                </a:cxn>
                <a:cxn ang="0">
                  <a:pos x="141" y="67"/>
                </a:cxn>
                <a:cxn ang="0">
                  <a:pos x="0" y="50"/>
                </a:cxn>
                <a:cxn ang="0">
                  <a:pos x="62" y="31"/>
                </a:cxn>
              </a:cxnLst>
              <a:rect l="0" t="0" r="r" b="b"/>
              <a:pathLst>
                <a:path w="301" h="111">
                  <a:moveTo>
                    <a:pt x="62" y="31"/>
                  </a:moveTo>
                  <a:lnTo>
                    <a:pt x="39" y="19"/>
                  </a:lnTo>
                  <a:lnTo>
                    <a:pt x="141" y="0"/>
                  </a:lnTo>
                  <a:lnTo>
                    <a:pt x="268" y="24"/>
                  </a:lnTo>
                  <a:lnTo>
                    <a:pt x="238" y="55"/>
                  </a:lnTo>
                  <a:lnTo>
                    <a:pt x="301" y="65"/>
                  </a:lnTo>
                  <a:lnTo>
                    <a:pt x="191" y="86"/>
                  </a:lnTo>
                  <a:lnTo>
                    <a:pt x="144" y="110"/>
                  </a:lnTo>
                  <a:lnTo>
                    <a:pt x="125" y="92"/>
                  </a:lnTo>
                  <a:lnTo>
                    <a:pt x="121" y="111"/>
                  </a:lnTo>
                  <a:lnTo>
                    <a:pt x="18" y="79"/>
                  </a:lnTo>
                  <a:lnTo>
                    <a:pt x="141" y="67"/>
                  </a:lnTo>
                  <a:lnTo>
                    <a:pt x="0" y="50"/>
                  </a:lnTo>
                  <a:lnTo>
                    <a:pt x="62" y="31"/>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0" name="Freeform 92"/>
            <p:cNvSpPr>
              <a:spLocks/>
            </p:cNvSpPr>
            <p:nvPr/>
          </p:nvSpPr>
          <p:spPr bwMode="auto">
            <a:xfrm>
              <a:off x="2962" y="821"/>
              <a:ext cx="404" cy="50"/>
            </a:xfrm>
            <a:custGeom>
              <a:avLst/>
              <a:gdLst/>
              <a:ahLst/>
              <a:cxnLst>
                <a:cxn ang="0">
                  <a:pos x="109" y="101"/>
                </a:cxn>
                <a:cxn ang="0">
                  <a:pos x="68" y="89"/>
                </a:cxn>
                <a:cxn ang="0">
                  <a:pos x="199" y="65"/>
                </a:cxn>
                <a:cxn ang="0">
                  <a:pos x="100" y="63"/>
                </a:cxn>
                <a:cxn ang="0">
                  <a:pos x="0" y="63"/>
                </a:cxn>
                <a:cxn ang="0">
                  <a:pos x="95" y="48"/>
                </a:cxn>
                <a:cxn ang="0">
                  <a:pos x="53" y="43"/>
                </a:cxn>
                <a:cxn ang="0">
                  <a:pos x="115" y="38"/>
                </a:cxn>
                <a:cxn ang="0">
                  <a:pos x="88" y="28"/>
                </a:cxn>
                <a:cxn ang="0">
                  <a:pos x="202" y="33"/>
                </a:cxn>
                <a:cxn ang="0">
                  <a:pos x="281" y="55"/>
                </a:cxn>
                <a:cxn ang="0">
                  <a:pos x="284" y="17"/>
                </a:cxn>
                <a:cxn ang="0">
                  <a:pos x="353" y="0"/>
                </a:cxn>
                <a:cxn ang="0">
                  <a:pos x="327" y="43"/>
                </a:cxn>
                <a:cxn ang="0">
                  <a:pos x="404" y="41"/>
                </a:cxn>
                <a:cxn ang="0">
                  <a:pos x="344" y="74"/>
                </a:cxn>
                <a:cxn ang="0">
                  <a:pos x="294" y="71"/>
                </a:cxn>
                <a:cxn ang="0">
                  <a:pos x="202" y="86"/>
                </a:cxn>
                <a:cxn ang="0">
                  <a:pos x="109" y="101"/>
                </a:cxn>
              </a:cxnLst>
              <a:rect l="0" t="0" r="r" b="b"/>
              <a:pathLst>
                <a:path w="404" h="101">
                  <a:moveTo>
                    <a:pt x="109" y="101"/>
                  </a:moveTo>
                  <a:lnTo>
                    <a:pt x="68" y="89"/>
                  </a:lnTo>
                  <a:lnTo>
                    <a:pt x="199" y="65"/>
                  </a:lnTo>
                  <a:lnTo>
                    <a:pt x="100" y="63"/>
                  </a:lnTo>
                  <a:lnTo>
                    <a:pt x="0" y="63"/>
                  </a:lnTo>
                  <a:lnTo>
                    <a:pt x="95" y="48"/>
                  </a:lnTo>
                  <a:lnTo>
                    <a:pt x="53" y="43"/>
                  </a:lnTo>
                  <a:lnTo>
                    <a:pt x="115" y="38"/>
                  </a:lnTo>
                  <a:lnTo>
                    <a:pt x="88" y="28"/>
                  </a:lnTo>
                  <a:lnTo>
                    <a:pt x="202" y="33"/>
                  </a:lnTo>
                  <a:lnTo>
                    <a:pt x="281" y="55"/>
                  </a:lnTo>
                  <a:lnTo>
                    <a:pt x="284" y="17"/>
                  </a:lnTo>
                  <a:lnTo>
                    <a:pt x="353" y="0"/>
                  </a:lnTo>
                  <a:lnTo>
                    <a:pt x="327" y="43"/>
                  </a:lnTo>
                  <a:lnTo>
                    <a:pt x="404" y="41"/>
                  </a:lnTo>
                  <a:lnTo>
                    <a:pt x="344" y="74"/>
                  </a:lnTo>
                  <a:lnTo>
                    <a:pt x="294" y="71"/>
                  </a:lnTo>
                  <a:lnTo>
                    <a:pt x="202" y="86"/>
                  </a:lnTo>
                  <a:lnTo>
                    <a:pt x="109" y="101"/>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1" name="Freeform 93"/>
            <p:cNvSpPr>
              <a:spLocks/>
            </p:cNvSpPr>
            <p:nvPr/>
          </p:nvSpPr>
          <p:spPr bwMode="auto">
            <a:xfrm>
              <a:off x="3498" y="1067"/>
              <a:ext cx="254" cy="66"/>
            </a:xfrm>
            <a:custGeom>
              <a:avLst/>
              <a:gdLst/>
              <a:ahLst/>
              <a:cxnLst>
                <a:cxn ang="0">
                  <a:pos x="178" y="98"/>
                </a:cxn>
                <a:cxn ang="0">
                  <a:pos x="156" y="90"/>
                </a:cxn>
                <a:cxn ang="0">
                  <a:pos x="159" y="83"/>
                </a:cxn>
                <a:cxn ang="0">
                  <a:pos x="138" y="92"/>
                </a:cxn>
                <a:cxn ang="0">
                  <a:pos x="55" y="133"/>
                </a:cxn>
                <a:cxn ang="0">
                  <a:pos x="53" y="104"/>
                </a:cxn>
                <a:cxn ang="0">
                  <a:pos x="0" y="107"/>
                </a:cxn>
                <a:cxn ang="0">
                  <a:pos x="54" y="81"/>
                </a:cxn>
                <a:cxn ang="0">
                  <a:pos x="87" y="39"/>
                </a:cxn>
                <a:cxn ang="0">
                  <a:pos x="120" y="0"/>
                </a:cxn>
                <a:cxn ang="0">
                  <a:pos x="140" y="11"/>
                </a:cxn>
                <a:cxn ang="0">
                  <a:pos x="136" y="29"/>
                </a:cxn>
                <a:cxn ang="0">
                  <a:pos x="155" y="21"/>
                </a:cxn>
                <a:cxn ang="0">
                  <a:pos x="220" y="64"/>
                </a:cxn>
                <a:cxn ang="0">
                  <a:pos x="197" y="90"/>
                </a:cxn>
                <a:cxn ang="0">
                  <a:pos x="249" y="91"/>
                </a:cxn>
                <a:cxn ang="0">
                  <a:pos x="254" y="101"/>
                </a:cxn>
                <a:cxn ang="0">
                  <a:pos x="211" y="115"/>
                </a:cxn>
                <a:cxn ang="0">
                  <a:pos x="178" y="98"/>
                </a:cxn>
              </a:cxnLst>
              <a:rect l="0" t="0" r="r" b="b"/>
              <a:pathLst>
                <a:path w="254" h="133">
                  <a:moveTo>
                    <a:pt x="178" y="98"/>
                  </a:moveTo>
                  <a:lnTo>
                    <a:pt x="156" y="90"/>
                  </a:lnTo>
                  <a:lnTo>
                    <a:pt x="159" y="83"/>
                  </a:lnTo>
                  <a:lnTo>
                    <a:pt x="138" y="92"/>
                  </a:lnTo>
                  <a:lnTo>
                    <a:pt x="55" y="133"/>
                  </a:lnTo>
                  <a:lnTo>
                    <a:pt x="53" y="104"/>
                  </a:lnTo>
                  <a:lnTo>
                    <a:pt x="0" y="107"/>
                  </a:lnTo>
                  <a:lnTo>
                    <a:pt x="54" y="81"/>
                  </a:lnTo>
                  <a:lnTo>
                    <a:pt x="87" y="39"/>
                  </a:lnTo>
                  <a:lnTo>
                    <a:pt x="120" y="0"/>
                  </a:lnTo>
                  <a:lnTo>
                    <a:pt x="140" y="11"/>
                  </a:lnTo>
                  <a:lnTo>
                    <a:pt x="136" y="29"/>
                  </a:lnTo>
                  <a:lnTo>
                    <a:pt x="155" y="21"/>
                  </a:lnTo>
                  <a:lnTo>
                    <a:pt x="220" y="64"/>
                  </a:lnTo>
                  <a:lnTo>
                    <a:pt x="197" y="90"/>
                  </a:lnTo>
                  <a:lnTo>
                    <a:pt x="249" y="91"/>
                  </a:lnTo>
                  <a:lnTo>
                    <a:pt x="254" y="101"/>
                  </a:lnTo>
                  <a:lnTo>
                    <a:pt x="211" y="115"/>
                  </a:lnTo>
                  <a:lnTo>
                    <a:pt x="178" y="98"/>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2" name="Freeform 94"/>
            <p:cNvSpPr>
              <a:spLocks/>
            </p:cNvSpPr>
            <p:nvPr/>
          </p:nvSpPr>
          <p:spPr bwMode="auto">
            <a:xfrm>
              <a:off x="3312" y="886"/>
              <a:ext cx="223" cy="50"/>
            </a:xfrm>
            <a:custGeom>
              <a:avLst/>
              <a:gdLst/>
              <a:ahLst/>
              <a:cxnLst>
                <a:cxn ang="0">
                  <a:pos x="223" y="0"/>
                </a:cxn>
                <a:cxn ang="0">
                  <a:pos x="94" y="0"/>
                </a:cxn>
                <a:cxn ang="0">
                  <a:pos x="107" y="21"/>
                </a:cxn>
                <a:cxn ang="0">
                  <a:pos x="79" y="39"/>
                </a:cxn>
                <a:cxn ang="0">
                  <a:pos x="0" y="42"/>
                </a:cxn>
                <a:cxn ang="0">
                  <a:pos x="47" y="71"/>
                </a:cxn>
                <a:cxn ang="0">
                  <a:pos x="95" y="100"/>
                </a:cxn>
                <a:cxn ang="0">
                  <a:pos x="102" y="83"/>
                </a:cxn>
                <a:cxn ang="0">
                  <a:pos x="162" y="82"/>
                </a:cxn>
                <a:cxn ang="0">
                  <a:pos x="193" y="42"/>
                </a:cxn>
                <a:cxn ang="0">
                  <a:pos x="223" y="0"/>
                </a:cxn>
              </a:cxnLst>
              <a:rect l="0" t="0" r="r" b="b"/>
              <a:pathLst>
                <a:path w="223" h="100">
                  <a:moveTo>
                    <a:pt x="223" y="0"/>
                  </a:moveTo>
                  <a:lnTo>
                    <a:pt x="94" y="0"/>
                  </a:lnTo>
                  <a:lnTo>
                    <a:pt x="107" y="21"/>
                  </a:lnTo>
                  <a:lnTo>
                    <a:pt x="79" y="39"/>
                  </a:lnTo>
                  <a:lnTo>
                    <a:pt x="0" y="42"/>
                  </a:lnTo>
                  <a:lnTo>
                    <a:pt x="47" y="71"/>
                  </a:lnTo>
                  <a:lnTo>
                    <a:pt x="95" y="100"/>
                  </a:lnTo>
                  <a:lnTo>
                    <a:pt x="102" y="83"/>
                  </a:lnTo>
                  <a:lnTo>
                    <a:pt x="162" y="82"/>
                  </a:lnTo>
                  <a:lnTo>
                    <a:pt x="193" y="42"/>
                  </a:lnTo>
                  <a:lnTo>
                    <a:pt x="223" y="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3" name="Freeform 95"/>
            <p:cNvSpPr>
              <a:spLocks/>
            </p:cNvSpPr>
            <p:nvPr/>
          </p:nvSpPr>
          <p:spPr bwMode="auto">
            <a:xfrm>
              <a:off x="3522" y="878"/>
              <a:ext cx="233" cy="47"/>
            </a:xfrm>
            <a:custGeom>
              <a:avLst/>
              <a:gdLst/>
              <a:ahLst/>
              <a:cxnLst>
                <a:cxn ang="0">
                  <a:pos x="143" y="55"/>
                </a:cxn>
                <a:cxn ang="0">
                  <a:pos x="66" y="60"/>
                </a:cxn>
                <a:cxn ang="0">
                  <a:pos x="75" y="69"/>
                </a:cxn>
                <a:cxn ang="0">
                  <a:pos x="39" y="90"/>
                </a:cxn>
                <a:cxn ang="0">
                  <a:pos x="0" y="94"/>
                </a:cxn>
                <a:cxn ang="0">
                  <a:pos x="7" y="86"/>
                </a:cxn>
                <a:cxn ang="0">
                  <a:pos x="49" y="23"/>
                </a:cxn>
                <a:cxn ang="0">
                  <a:pos x="76" y="21"/>
                </a:cxn>
                <a:cxn ang="0">
                  <a:pos x="72" y="9"/>
                </a:cxn>
                <a:cxn ang="0">
                  <a:pos x="99" y="0"/>
                </a:cxn>
                <a:cxn ang="0">
                  <a:pos x="233" y="9"/>
                </a:cxn>
                <a:cxn ang="0">
                  <a:pos x="199" y="26"/>
                </a:cxn>
                <a:cxn ang="0">
                  <a:pos x="143" y="55"/>
                </a:cxn>
              </a:cxnLst>
              <a:rect l="0" t="0" r="r" b="b"/>
              <a:pathLst>
                <a:path w="233" h="94">
                  <a:moveTo>
                    <a:pt x="143" y="55"/>
                  </a:moveTo>
                  <a:lnTo>
                    <a:pt x="66" y="60"/>
                  </a:lnTo>
                  <a:lnTo>
                    <a:pt x="75" y="69"/>
                  </a:lnTo>
                  <a:lnTo>
                    <a:pt x="39" y="90"/>
                  </a:lnTo>
                  <a:lnTo>
                    <a:pt x="0" y="94"/>
                  </a:lnTo>
                  <a:lnTo>
                    <a:pt x="7" y="86"/>
                  </a:lnTo>
                  <a:lnTo>
                    <a:pt x="49" y="23"/>
                  </a:lnTo>
                  <a:lnTo>
                    <a:pt x="76" y="21"/>
                  </a:lnTo>
                  <a:lnTo>
                    <a:pt x="72" y="9"/>
                  </a:lnTo>
                  <a:lnTo>
                    <a:pt x="99" y="0"/>
                  </a:lnTo>
                  <a:lnTo>
                    <a:pt x="233" y="9"/>
                  </a:lnTo>
                  <a:lnTo>
                    <a:pt x="199" y="26"/>
                  </a:lnTo>
                  <a:lnTo>
                    <a:pt x="143" y="55"/>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4" name="Freeform 96"/>
            <p:cNvSpPr>
              <a:spLocks/>
            </p:cNvSpPr>
            <p:nvPr/>
          </p:nvSpPr>
          <p:spPr bwMode="auto">
            <a:xfrm>
              <a:off x="1489" y="1449"/>
              <a:ext cx="124" cy="63"/>
            </a:xfrm>
            <a:custGeom>
              <a:avLst/>
              <a:gdLst/>
              <a:ahLst/>
              <a:cxnLst>
                <a:cxn ang="0">
                  <a:pos x="86" y="88"/>
                </a:cxn>
                <a:cxn ang="0">
                  <a:pos x="78" y="94"/>
                </a:cxn>
                <a:cxn ang="0">
                  <a:pos x="45" y="92"/>
                </a:cxn>
                <a:cxn ang="0">
                  <a:pos x="56" y="83"/>
                </a:cxn>
                <a:cxn ang="0">
                  <a:pos x="42" y="79"/>
                </a:cxn>
                <a:cxn ang="0">
                  <a:pos x="23" y="74"/>
                </a:cxn>
                <a:cxn ang="0">
                  <a:pos x="51" y="60"/>
                </a:cxn>
                <a:cxn ang="0">
                  <a:pos x="25" y="49"/>
                </a:cxn>
                <a:cxn ang="0">
                  <a:pos x="23" y="37"/>
                </a:cxn>
                <a:cxn ang="0">
                  <a:pos x="6" y="35"/>
                </a:cxn>
                <a:cxn ang="0">
                  <a:pos x="3" y="26"/>
                </a:cxn>
                <a:cxn ang="0">
                  <a:pos x="24" y="14"/>
                </a:cxn>
                <a:cxn ang="0">
                  <a:pos x="13" y="16"/>
                </a:cxn>
                <a:cxn ang="0">
                  <a:pos x="0" y="0"/>
                </a:cxn>
                <a:cxn ang="0">
                  <a:pos x="43" y="11"/>
                </a:cxn>
                <a:cxn ang="0">
                  <a:pos x="86" y="21"/>
                </a:cxn>
                <a:cxn ang="0">
                  <a:pos x="97" y="46"/>
                </a:cxn>
                <a:cxn ang="0">
                  <a:pos x="118" y="78"/>
                </a:cxn>
                <a:cxn ang="0">
                  <a:pos x="121" y="118"/>
                </a:cxn>
                <a:cxn ang="0">
                  <a:pos x="124" y="126"/>
                </a:cxn>
                <a:cxn ang="0">
                  <a:pos x="61" y="107"/>
                </a:cxn>
                <a:cxn ang="0">
                  <a:pos x="86" y="88"/>
                </a:cxn>
              </a:cxnLst>
              <a:rect l="0" t="0" r="r" b="b"/>
              <a:pathLst>
                <a:path w="124" h="126">
                  <a:moveTo>
                    <a:pt x="86" y="88"/>
                  </a:moveTo>
                  <a:lnTo>
                    <a:pt x="78" y="94"/>
                  </a:lnTo>
                  <a:lnTo>
                    <a:pt x="45" y="92"/>
                  </a:lnTo>
                  <a:lnTo>
                    <a:pt x="56" y="83"/>
                  </a:lnTo>
                  <a:lnTo>
                    <a:pt x="42" y="79"/>
                  </a:lnTo>
                  <a:lnTo>
                    <a:pt x="23" y="74"/>
                  </a:lnTo>
                  <a:lnTo>
                    <a:pt x="51" y="60"/>
                  </a:lnTo>
                  <a:lnTo>
                    <a:pt x="25" y="49"/>
                  </a:lnTo>
                  <a:lnTo>
                    <a:pt x="23" y="37"/>
                  </a:lnTo>
                  <a:lnTo>
                    <a:pt x="6" y="35"/>
                  </a:lnTo>
                  <a:lnTo>
                    <a:pt x="3" y="26"/>
                  </a:lnTo>
                  <a:lnTo>
                    <a:pt x="24" y="14"/>
                  </a:lnTo>
                  <a:lnTo>
                    <a:pt x="13" y="16"/>
                  </a:lnTo>
                  <a:lnTo>
                    <a:pt x="0" y="0"/>
                  </a:lnTo>
                  <a:lnTo>
                    <a:pt x="43" y="11"/>
                  </a:lnTo>
                  <a:lnTo>
                    <a:pt x="86" y="21"/>
                  </a:lnTo>
                  <a:lnTo>
                    <a:pt x="97" y="46"/>
                  </a:lnTo>
                  <a:lnTo>
                    <a:pt x="118" y="78"/>
                  </a:lnTo>
                  <a:lnTo>
                    <a:pt x="121" y="118"/>
                  </a:lnTo>
                  <a:lnTo>
                    <a:pt x="124" y="126"/>
                  </a:lnTo>
                  <a:lnTo>
                    <a:pt x="61" y="107"/>
                  </a:lnTo>
                  <a:lnTo>
                    <a:pt x="86" y="88"/>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5" name="Freeform 97"/>
            <p:cNvSpPr>
              <a:spLocks/>
            </p:cNvSpPr>
            <p:nvPr/>
          </p:nvSpPr>
          <p:spPr bwMode="auto">
            <a:xfrm>
              <a:off x="2850" y="809"/>
              <a:ext cx="292" cy="32"/>
            </a:xfrm>
            <a:custGeom>
              <a:avLst/>
              <a:gdLst/>
              <a:ahLst/>
              <a:cxnLst>
                <a:cxn ang="0">
                  <a:pos x="177" y="34"/>
                </a:cxn>
                <a:cxn ang="0">
                  <a:pos x="182" y="28"/>
                </a:cxn>
                <a:cxn ang="0">
                  <a:pos x="145" y="41"/>
                </a:cxn>
                <a:cxn ang="0">
                  <a:pos x="112" y="51"/>
                </a:cxn>
                <a:cxn ang="0">
                  <a:pos x="107" y="44"/>
                </a:cxn>
                <a:cxn ang="0">
                  <a:pos x="84" y="62"/>
                </a:cxn>
                <a:cxn ang="0">
                  <a:pos x="56" y="65"/>
                </a:cxn>
                <a:cxn ang="0">
                  <a:pos x="56" y="53"/>
                </a:cxn>
                <a:cxn ang="0">
                  <a:pos x="32" y="60"/>
                </a:cxn>
                <a:cxn ang="0">
                  <a:pos x="0" y="58"/>
                </a:cxn>
                <a:cxn ang="0">
                  <a:pos x="20" y="44"/>
                </a:cxn>
                <a:cxn ang="0">
                  <a:pos x="126" y="22"/>
                </a:cxn>
                <a:cxn ang="0">
                  <a:pos x="198" y="3"/>
                </a:cxn>
                <a:cxn ang="0">
                  <a:pos x="248" y="0"/>
                </a:cxn>
                <a:cxn ang="0">
                  <a:pos x="292" y="5"/>
                </a:cxn>
                <a:cxn ang="0">
                  <a:pos x="252" y="15"/>
                </a:cxn>
                <a:cxn ang="0">
                  <a:pos x="261" y="22"/>
                </a:cxn>
                <a:cxn ang="0">
                  <a:pos x="248" y="25"/>
                </a:cxn>
                <a:cxn ang="0">
                  <a:pos x="200" y="37"/>
                </a:cxn>
                <a:cxn ang="0">
                  <a:pos x="174" y="48"/>
                </a:cxn>
                <a:cxn ang="0">
                  <a:pos x="177" y="34"/>
                </a:cxn>
              </a:cxnLst>
              <a:rect l="0" t="0" r="r" b="b"/>
              <a:pathLst>
                <a:path w="292" h="65">
                  <a:moveTo>
                    <a:pt x="177" y="34"/>
                  </a:moveTo>
                  <a:lnTo>
                    <a:pt x="182" y="28"/>
                  </a:lnTo>
                  <a:lnTo>
                    <a:pt x="145" y="41"/>
                  </a:lnTo>
                  <a:lnTo>
                    <a:pt x="112" y="51"/>
                  </a:lnTo>
                  <a:lnTo>
                    <a:pt x="107" y="44"/>
                  </a:lnTo>
                  <a:lnTo>
                    <a:pt x="84" y="62"/>
                  </a:lnTo>
                  <a:lnTo>
                    <a:pt x="56" y="65"/>
                  </a:lnTo>
                  <a:lnTo>
                    <a:pt x="56" y="53"/>
                  </a:lnTo>
                  <a:lnTo>
                    <a:pt x="32" y="60"/>
                  </a:lnTo>
                  <a:lnTo>
                    <a:pt x="0" y="58"/>
                  </a:lnTo>
                  <a:lnTo>
                    <a:pt x="20" y="44"/>
                  </a:lnTo>
                  <a:lnTo>
                    <a:pt x="126" y="22"/>
                  </a:lnTo>
                  <a:lnTo>
                    <a:pt x="198" y="3"/>
                  </a:lnTo>
                  <a:lnTo>
                    <a:pt x="248" y="0"/>
                  </a:lnTo>
                  <a:lnTo>
                    <a:pt x="292" y="5"/>
                  </a:lnTo>
                  <a:lnTo>
                    <a:pt x="252" y="15"/>
                  </a:lnTo>
                  <a:lnTo>
                    <a:pt x="261" y="22"/>
                  </a:lnTo>
                  <a:lnTo>
                    <a:pt x="248" y="25"/>
                  </a:lnTo>
                  <a:lnTo>
                    <a:pt x="200" y="37"/>
                  </a:lnTo>
                  <a:lnTo>
                    <a:pt x="174" y="48"/>
                  </a:lnTo>
                  <a:lnTo>
                    <a:pt x="177" y="34"/>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6" name="Freeform 98"/>
            <p:cNvSpPr>
              <a:spLocks/>
            </p:cNvSpPr>
            <p:nvPr/>
          </p:nvSpPr>
          <p:spPr bwMode="auto">
            <a:xfrm>
              <a:off x="3443" y="825"/>
              <a:ext cx="180" cy="33"/>
            </a:xfrm>
            <a:custGeom>
              <a:avLst/>
              <a:gdLst/>
              <a:ahLst/>
              <a:cxnLst>
                <a:cxn ang="0">
                  <a:pos x="85" y="20"/>
                </a:cxn>
                <a:cxn ang="0">
                  <a:pos x="55" y="11"/>
                </a:cxn>
                <a:cxn ang="0">
                  <a:pos x="67" y="15"/>
                </a:cxn>
                <a:cxn ang="0">
                  <a:pos x="45" y="20"/>
                </a:cxn>
                <a:cxn ang="0">
                  <a:pos x="44" y="29"/>
                </a:cxn>
                <a:cxn ang="0">
                  <a:pos x="44" y="33"/>
                </a:cxn>
                <a:cxn ang="0">
                  <a:pos x="0" y="39"/>
                </a:cxn>
                <a:cxn ang="0">
                  <a:pos x="118" y="38"/>
                </a:cxn>
                <a:cxn ang="0">
                  <a:pos x="45" y="52"/>
                </a:cxn>
                <a:cxn ang="0">
                  <a:pos x="42" y="58"/>
                </a:cxn>
                <a:cxn ang="0">
                  <a:pos x="113" y="66"/>
                </a:cxn>
                <a:cxn ang="0">
                  <a:pos x="121" y="57"/>
                </a:cxn>
                <a:cxn ang="0">
                  <a:pos x="130" y="49"/>
                </a:cxn>
                <a:cxn ang="0">
                  <a:pos x="153" y="49"/>
                </a:cxn>
                <a:cxn ang="0">
                  <a:pos x="163" y="38"/>
                </a:cxn>
                <a:cxn ang="0">
                  <a:pos x="149" y="37"/>
                </a:cxn>
                <a:cxn ang="0">
                  <a:pos x="180" y="13"/>
                </a:cxn>
                <a:cxn ang="0">
                  <a:pos x="173" y="0"/>
                </a:cxn>
                <a:cxn ang="0">
                  <a:pos x="143" y="6"/>
                </a:cxn>
                <a:cxn ang="0">
                  <a:pos x="94" y="5"/>
                </a:cxn>
                <a:cxn ang="0">
                  <a:pos x="113" y="20"/>
                </a:cxn>
                <a:cxn ang="0">
                  <a:pos x="97" y="24"/>
                </a:cxn>
                <a:cxn ang="0">
                  <a:pos x="85" y="20"/>
                </a:cxn>
              </a:cxnLst>
              <a:rect l="0" t="0" r="r" b="b"/>
              <a:pathLst>
                <a:path w="180" h="66">
                  <a:moveTo>
                    <a:pt x="85" y="20"/>
                  </a:moveTo>
                  <a:lnTo>
                    <a:pt x="55" y="11"/>
                  </a:lnTo>
                  <a:lnTo>
                    <a:pt x="67" y="15"/>
                  </a:lnTo>
                  <a:lnTo>
                    <a:pt x="45" y="20"/>
                  </a:lnTo>
                  <a:lnTo>
                    <a:pt x="44" y="29"/>
                  </a:lnTo>
                  <a:lnTo>
                    <a:pt x="44" y="33"/>
                  </a:lnTo>
                  <a:lnTo>
                    <a:pt x="0" y="39"/>
                  </a:lnTo>
                  <a:lnTo>
                    <a:pt x="118" y="38"/>
                  </a:lnTo>
                  <a:lnTo>
                    <a:pt x="45" y="52"/>
                  </a:lnTo>
                  <a:lnTo>
                    <a:pt x="42" y="58"/>
                  </a:lnTo>
                  <a:lnTo>
                    <a:pt x="113" y="66"/>
                  </a:lnTo>
                  <a:lnTo>
                    <a:pt x="121" y="57"/>
                  </a:lnTo>
                  <a:lnTo>
                    <a:pt x="130" y="49"/>
                  </a:lnTo>
                  <a:lnTo>
                    <a:pt x="153" y="49"/>
                  </a:lnTo>
                  <a:lnTo>
                    <a:pt x="163" y="38"/>
                  </a:lnTo>
                  <a:lnTo>
                    <a:pt x="149" y="37"/>
                  </a:lnTo>
                  <a:lnTo>
                    <a:pt x="180" y="13"/>
                  </a:lnTo>
                  <a:lnTo>
                    <a:pt x="173" y="0"/>
                  </a:lnTo>
                  <a:lnTo>
                    <a:pt x="143" y="6"/>
                  </a:lnTo>
                  <a:lnTo>
                    <a:pt x="94" y="5"/>
                  </a:lnTo>
                  <a:lnTo>
                    <a:pt x="113" y="20"/>
                  </a:lnTo>
                  <a:lnTo>
                    <a:pt x="97" y="24"/>
                  </a:lnTo>
                  <a:lnTo>
                    <a:pt x="85" y="2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7" name="Freeform 99"/>
            <p:cNvSpPr>
              <a:spLocks/>
            </p:cNvSpPr>
            <p:nvPr/>
          </p:nvSpPr>
          <p:spPr bwMode="auto">
            <a:xfrm>
              <a:off x="3511" y="772"/>
              <a:ext cx="160" cy="30"/>
            </a:xfrm>
            <a:custGeom>
              <a:avLst/>
              <a:gdLst/>
              <a:ahLst/>
              <a:cxnLst>
                <a:cxn ang="0">
                  <a:pos x="100" y="12"/>
                </a:cxn>
                <a:cxn ang="0">
                  <a:pos x="104" y="8"/>
                </a:cxn>
                <a:cxn ang="0">
                  <a:pos x="141" y="12"/>
                </a:cxn>
                <a:cxn ang="0">
                  <a:pos x="155" y="16"/>
                </a:cxn>
                <a:cxn ang="0">
                  <a:pos x="151" y="33"/>
                </a:cxn>
                <a:cxn ang="0">
                  <a:pos x="160" y="48"/>
                </a:cxn>
                <a:cxn ang="0">
                  <a:pos x="118" y="59"/>
                </a:cxn>
                <a:cxn ang="0">
                  <a:pos x="76" y="39"/>
                </a:cxn>
                <a:cxn ang="0">
                  <a:pos x="0" y="36"/>
                </a:cxn>
                <a:cxn ang="0">
                  <a:pos x="17" y="26"/>
                </a:cxn>
                <a:cxn ang="0">
                  <a:pos x="56" y="24"/>
                </a:cxn>
                <a:cxn ang="0">
                  <a:pos x="52" y="12"/>
                </a:cxn>
                <a:cxn ang="0">
                  <a:pos x="26" y="15"/>
                </a:cxn>
                <a:cxn ang="0">
                  <a:pos x="17" y="3"/>
                </a:cxn>
                <a:cxn ang="0">
                  <a:pos x="101" y="0"/>
                </a:cxn>
                <a:cxn ang="0">
                  <a:pos x="100" y="12"/>
                </a:cxn>
              </a:cxnLst>
              <a:rect l="0" t="0" r="r" b="b"/>
              <a:pathLst>
                <a:path w="160" h="59">
                  <a:moveTo>
                    <a:pt x="100" y="12"/>
                  </a:moveTo>
                  <a:lnTo>
                    <a:pt x="104" y="8"/>
                  </a:lnTo>
                  <a:lnTo>
                    <a:pt x="141" y="12"/>
                  </a:lnTo>
                  <a:lnTo>
                    <a:pt x="155" y="16"/>
                  </a:lnTo>
                  <a:lnTo>
                    <a:pt x="151" y="33"/>
                  </a:lnTo>
                  <a:lnTo>
                    <a:pt x="160" y="48"/>
                  </a:lnTo>
                  <a:lnTo>
                    <a:pt x="118" y="59"/>
                  </a:lnTo>
                  <a:lnTo>
                    <a:pt x="76" y="39"/>
                  </a:lnTo>
                  <a:lnTo>
                    <a:pt x="0" y="36"/>
                  </a:lnTo>
                  <a:lnTo>
                    <a:pt x="17" y="26"/>
                  </a:lnTo>
                  <a:lnTo>
                    <a:pt x="56" y="24"/>
                  </a:lnTo>
                  <a:lnTo>
                    <a:pt x="52" y="12"/>
                  </a:lnTo>
                  <a:lnTo>
                    <a:pt x="26" y="15"/>
                  </a:lnTo>
                  <a:lnTo>
                    <a:pt x="17" y="3"/>
                  </a:lnTo>
                  <a:lnTo>
                    <a:pt x="101" y="0"/>
                  </a:lnTo>
                  <a:lnTo>
                    <a:pt x="100" y="12"/>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8" name="Freeform 100"/>
            <p:cNvSpPr>
              <a:spLocks/>
            </p:cNvSpPr>
            <p:nvPr/>
          </p:nvSpPr>
          <p:spPr bwMode="auto">
            <a:xfrm>
              <a:off x="3260" y="972"/>
              <a:ext cx="141" cy="33"/>
            </a:xfrm>
            <a:custGeom>
              <a:avLst/>
              <a:gdLst/>
              <a:ahLst/>
              <a:cxnLst>
                <a:cxn ang="0">
                  <a:pos x="120" y="34"/>
                </a:cxn>
                <a:cxn ang="0">
                  <a:pos x="124" y="29"/>
                </a:cxn>
                <a:cxn ang="0">
                  <a:pos x="85" y="0"/>
                </a:cxn>
                <a:cxn ang="0">
                  <a:pos x="66" y="17"/>
                </a:cxn>
                <a:cxn ang="0">
                  <a:pos x="63" y="15"/>
                </a:cxn>
                <a:cxn ang="0">
                  <a:pos x="51" y="28"/>
                </a:cxn>
                <a:cxn ang="0">
                  <a:pos x="0" y="40"/>
                </a:cxn>
                <a:cxn ang="0">
                  <a:pos x="82" y="67"/>
                </a:cxn>
                <a:cxn ang="0">
                  <a:pos x="141" y="48"/>
                </a:cxn>
                <a:cxn ang="0">
                  <a:pos x="125" y="49"/>
                </a:cxn>
                <a:cxn ang="0">
                  <a:pos x="120" y="34"/>
                </a:cxn>
              </a:cxnLst>
              <a:rect l="0" t="0" r="r" b="b"/>
              <a:pathLst>
                <a:path w="141" h="67">
                  <a:moveTo>
                    <a:pt x="120" y="34"/>
                  </a:moveTo>
                  <a:lnTo>
                    <a:pt x="124" y="29"/>
                  </a:lnTo>
                  <a:lnTo>
                    <a:pt x="85" y="0"/>
                  </a:lnTo>
                  <a:lnTo>
                    <a:pt x="66" y="17"/>
                  </a:lnTo>
                  <a:lnTo>
                    <a:pt x="63" y="15"/>
                  </a:lnTo>
                  <a:lnTo>
                    <a:pt x="51" y="28"/>
                  </a:lnTo>
                  <a:lnTo>
                    <a:pt x="0" y="40"/>
                  </a:lnTo>
                  <a:lnTo>
                    <a:pt x="82" y="67"/>
                  </a:lnTo>
                  <a:lnTo>
                    <a:pt x="141" y="48"/>
                  </a:lnTo>
                  <a:lnTo>
                    <a:pt x="125" y="49"/>
                  </a:lnTo>
                  <a:lnTo>
                    <a:pt x="120" y="34"/>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29" name="Freeform 101"/>
            <p:cNvSpPr>
              <a:spLocks/>
            </p:cNvSpPr>
            <p:nvPr/>
          </p:nvSpPr>
          <p:spPr bwMode="auto">
            <a:xfrm>
              <a:off x="4031" y="888"/>
              <a:ext cx="138" cy="21"/>
            </a:xfrm>
            <a:custGeom>
              <a:avLst/>
              <a:gdLst/>
              <a:ahLst/>
              <a:cxnLst>
                <a:cxn ang="0">
                  <a:pos x="96" y="0"/>
                </a:cxn>
                <a:cxn ang="0">
                  <a:pos x="7" y="3"/>
                </a:cxn>
                <a:cxn ang="0">
                  <a:pos x="0" y="17"/>
                </a:cxn>
                <a:cxn ang="0">
                  <a:pos x="12" y="28"/>
                </a:cxn>
                <a:cxn ang="0">
                  <a:pos x="27" y="42"/>
                </a:cxn>
                <a:cxn ang="0">
                  <a:pos x="138" y="35"/>
                </a:cxn>
                <a:cxn ang="0">
                  <a:pos x="96" y="0"/>
                </a:cxn>
              </a:cxnLst>
              <a:rect l="0" t="0" r="r" b="b"/>
              <a:pathLst>
                <a:path w="138" h="42">
                  <a:moveTo>
                    <a:pt x="96" y="0"/>
                  </a:moveTo>
                  <a:lnTo>
                    <a:pt x="7" y="3"/>
                  </a:lnTo>
                  <a:lnTo>
                    <a:pt x="0" y="17"/>
                  </a:lnTo>
                  <a:lnTo>
                    <a:pt x="12" y="28"/>
                  </a:lnTo>
                  <a:lnTo>
                    <a:pt x="27" y="42"/>
                  </a:lnTo>
                  <a:lnTo>
                    <a:pt x="138" y="35"/>
                  </a:lnTo>
                  <a:lnTo>
                    <a:pt x="96" y="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0" name="Freeform 102"/>
            <p:cNvSpPr>
              <a:spLocks/>
            </p:cNvSpPr>
            <p:nvPr/>
          </p:nvSpPr>
          <p:spPr bwMode="auto">
            <a:xfrm>
              <a:off x="3967" y="1009"/>
              <a:ext cx="87" cy="26"/>
            </a:xfrm>
            <a:custGeom>
              <a:avLst/>
              <a:gdLst/>
              <a:ahLst/>
              <a:cxnLst>
                <a:cxn ang="0">
                  <a:pos x="77" y="32"/>
                </a:cxn>
                <a:cxn ang="0">
                  <a:pos x="8" y="51"/>
                </a:cxn>
                <a:cxn ang="0">
                  <a:pos x="0" y="28"/>
                </a:cxn>
                <a:cxn ang="0">
                  <a:pos x="55" y="0"/>
                </a:cxn>
                <a:cxn ang="0">
                  <a:pos x="87" y="13"/>
                </a:cxn>
                <a:cxn ang="0">
                  <a:pos x="77" y="32"/>
                </a:cxn>
              </a:cxnLst>
              <a:rect l="0" t="0" r="r" b="b"/>
              <a:pathLst>
                <a:path w="87" h="51">
                  <a:moveTo>
                    <a:pt x="77" y="32"/>
                  </a:moveTo>
                  <a:lnTo>
                    <a:pt x="8" y="51"/>
                  </a:lnTo>
                  <a:lnTo>
                    <a:pt x="0" y="28"/>
                  </a:lnTo>
                  <a:lnTo>
                    <a:pt x="55" y="0"/>
                  </a:lnTo>
                  <a:lnTo>
                    <a:pt x="87" y="13"/>
                  </a:lnTo>
                  <a:lnTo>
                    <a:pt x="77" y="32"/>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1" name="Freeform 103"/>
            <p:cNvSpPr>
              <a:spLocks/>
            </p:cNvSpPr>
            <p:nvPr/>
          </p:nvSpPr>
          <p:spPr bwMode="auto">
            <a:xfrm>
              <a:off x="3707" y="781"/>
              <a:ext cx="99" cy="21"/>
            </a:xfrm>
            <a:custGeom>
              <a:avLst/>
              <a:gdLst/>
              <a:ahLst/>
              <a:cxnLst>
                <a:cxn ang="0">
                  <a:pos x="0" y="19"/>
                </a:cxn>
                <a:cxn ang="0">
                  <a:pos x="14" y="0"/>
                </a:cxn>
                <a:cxn ang="0">
                  <a:pos x="99" y="16"/>
                </a:cxn>
                <a:cxn ang="0">
                  <a:pos x="86" y="26"/>
                </a:cxn>
                <a:cxn ang="0">
                  <a:pos x="11" y="40"/>
                </a:cxn>
                <a:cxn ang="0">
                  <a:pos x="3" y="27"/>
                </a:cxn>
                <a:cxn ang="0">
                  <a:pos x="0" y="19"/>
                </a:cxn>
              </a:cxnLst>
              <a:rect l="0" t="0" r="r" b="b"/>
              <a:pathLst>
                <a:path w="99" h="40">
                  <a:moveTo>
                    <a:pt x="0" y="19"/>
                  </a:moveTo>
                  <a:lnTo>
                    <a:pt x="14" y="0"/>
                  </a:lnTo>
                  <a:lnTo>
                    <a:pt x="99" y="16"/>
                  </a:lnTo>
                  <a:lnTo>
                    <a:pt x="86" y="26"/>
                  </a:lnTo>
                  <a:lnTo>
                    <a:pt x="11" y="40"/>
                  </a:lnTo>
                  <a:lnTo>
                    <a:pt x="3" y="27"/>
                  </a:lnTo>
                  <a:lnTo>
                    <a:pt x="0" y="1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2" name="Freeform 104"/>
            <p:cNvSpPr>
              <a:spLocks/>
            </p:cNvSpPr>
            <p:nvPr/>
          </p:nvSpPr>
          <p:spPr bwMode="auto">
            <a:xfrm>
              <a:off x="3597" y="845"/>
              <a:ext cx="101" cy="19"/>
            </a:xfrm>
            <a:custGeom>
              <a:avLst/>
              <a:gdLst/>
              <a:ahLst/>
              <a:cxnLst>
                <a:cxn ang="0">
                  <a:pos x="27" y="34"/>
                </a:cxn>
                <a:cxn ang="0">
                  <a:pos x="0" y="26"/>
                </a:cxn>
                <a:cxn ang="0">
                  <a:pos x="78" y="0"/>
                </a:cxn>
                <a:cxn ang="0">
                  <a:pos x="101" y="22"/>
                </a:cxn>
                <a:cxn ang="0">
                  <a:pos x="90" y="36"/>
                </a:cxn>
                <a:cxn ang="0">
                  <a:pos x="27" y="34"/>
                </a:cxn>
              </a:cxnLst>
              <a:rect l="0" t="0" r="r" b="b"/>
              <a:pathLst>
                <a:path w="101" h="36">
                  <a:moveTo>
                    <a:pt x="27" y="34"/>
                  </a:moveTo>
                  <a:lnTo>
                    <a:pt x="0" y="26"/>
                  </a:lnTo>
                  <a:lnTo>
                    <a:pt x="78" y="0"/>
                  </a:lnTo>
                  <a:lnTo>
                    <a:pt x="101" y="22"/>
                  </a:lnTo>
                  <a:lnTo>
                    <a:pt x="90" y="36"/>
                  </a:lnTo>
                  <a:lnTo>
                    <a:pt x="27" y="34"/>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3" name="Freeform 105"/>
            <p:cNvSpPr>
              <a:spLocks/>
            </p:cNvSpPr>
            <p:nvPr/>
          </p:nvSpPr>
          <p:spPr bwMode="auto">
            <a:xfrm>
              <a:off x="3207" y="886"/>
              <a:ext cx="83" cy="19"/>
            </a:xfrm>
            <a:custGeom>
              <a:avLst/>
              <a:gdLst/>
              <a:ahLst/>
              <a:cxnLst>
                <a:cxn ang="0">
                  <a:pos x="25" y="39"/>
                </a:cxn>
                <a:cxn ang="0">
                  <a:pos x="0" y="11"/>
                </a:cxn>
                <a:cxn ang="0">
                  <a:pos x="71" y="0"/>
                </a:cxn>
                <a:cxn ang="0">
                  <a:pos x="83" y="10"/>
                </a:cxn>
                <a:cxn ang="0">
                  <a:pos x="25" y="39"/>
                </a:cxn>
              </a:cxnLst>
              <a:rect l="0" t="0" r="r" b="b"/>
              <a:pathLst>
                <a:path w="83" h="39">
                  <a:moveTo>
                    <a:pt x="25" y="39"/>
                  </a:moveTo>
                  <a:lnTo>
                    <a:pt x="0" y="11"/>
                  </a:lnTo>
                  <a:lnTo>
                    <a:pt x="71" y="0"/>
                  </a:lnTo>
                  <a:lnTo>
                    <a:pt x="83" y="10"/>
                  </a:lnTo>
                  <a:lnTo>
                    <a:pt x="25" y="3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4" name="Freeform 106"/>
            <p:cNvSpPr>
              <a:spLocks/>
            </p:cNvSpPr>
            <p:nvPr/>
          </p:nvSpPr>
          <p:spPr bwMode="auto">
            <a:xfrm>
              <a:off x="4450" y="699"/>
              <a:ext cx="1394" cy="511"/>
            </a:xfrm>
            <a:custGeom>
              <a:avLst/>
              <a:gdLst/>
              <a:ahLst/>
              <a:cxnLst>
                <a:cxn ang="0">
                  <a:pos x="331" y="784"/>
                </a:cxn>
                <a:cxn ang="0">
                  <a:pos x="385" y="784"/>
                </a:cxn>
                <a:cxn ang="0">
                  <a:pos x="376" y="814"/>
                </a:cxn>
                <a:cxn ang="0">
                  <a:pos x="328" y="851"/>
                </a:cxn>
                <a:cxn ang="0">
                  <a:pos x="349" y="885"/>
                </a:cxn>
                <a:cxn ang="0">
                  <a:pos x="377" y="927"/>
                </a:cxn>
                <a:cxn ang="0">
                  <a:pos x="380" y="952"/>
                </a:cxn>
                <a:cxn ang="0">
                  <a:pos x="395" y="979"/>
                </a:cxn>
                <a:cxn ang="0">
                  <a:pos x="467" y="981"/>
                </a:cxn>
                <a:cxn ang="0">
                  <a:pos x="490" y="1010"/>
                </a:cxn>
                <a:cxn ang="0">
                  <a:pos x="558" y="1010"/>
                </a:cxn>
                <a:cxn ang="0">
                  <a:pos x="572" y="983"/>
                </a:cxn>
                <a:cxn ang="0">
                  <a:pos x="587" y="959"/>
                </a:cxn>
                <a:cxn ang="0">
                  <a:pos x="621" y="919"/>
                </a:cxn>
                <a:cxn ang="0">
                  <a:pos x="650" y="870"/>
                </a:cxn>
                <a:cxn ang="0">
                  <a:pos x="681" y="850"/>
                </a:cxn>
                <a:cxn ang="0">
                  <a:pos x="716" y="803"/>
                </a:cxn>
                <a:cxn ang="0">
                  <a:pos x="823" y="738"/>
                </a:cxn>
                <a:cxn ang="0">
                  <a:pos x="912" y="720"/>
                </a:cxn>
                <a:cxn ang="0">
                  <a:pos x="1050" y="641"/>
                </a:cxn>
                <a:cxn ang="0">
                  <a:pos x="1145" y="623"/>
                </a:cxn>
                <a:cxn ang="0">
                  <a:pos x="1380" y="544"/>
                </a:cxn>
                <a:cxn ang="0">
                  <a:pos x="1274" y="519"/>
                </a:cxn>
                <a:cxn ang="0">
                  <a:pos x="1310" y="475"/>
                </a:cxn>
                <a:cxn ang="0">
                  <a:pos x="1353" y="493"/>
                </a:cxn>
                <a:cxn ang="0">
                  <a:pos x="1328" y="432"/>
                </a:cxn>
                <a:cxn ang="0">
                  <a:pos x="1276" y="403"/>
                </a:cxn>
                <a:cxn ang="0">
                  <a:pos x="1353" y="380"/>
                </a:cxn>
                <a:cxn ang="0">
                  <a:pos x="1394" y="381"/>
                </a:cxn>
                <a:cxn ang="0">
                  <a:pos x="1304" y="44"/>
                </a:cxn>
                <a:cxn ang="0">
                  <a:pos x="1394" y="5"/>
                </a:cxn>
                <a:cxn ang="0">
                  <a:pos x="1021" y="14"/>
                </a:cxn>
                <a:cxn ang="0">
                  <a:pos x="999" y="27"/>
                </a:cxn>
                <a:cxn ang="0">
                  <a:pos x="914" y="54"/>
                </a:cxn>
                <a:cxn ang="0">
                  <a:pos x="643" y="65"/>
                </a:cxn>
                <a:cxn ang="0">
                  <a:pos x="441" y="65"/>
                </a:cxn>
                <a:cxn ang="0">
                  <a:pos x="307" y="110"/>
                </a:cxn>
                <a:cxn ang="0">
                  <a:pos x="5" y="185"/>
                </a:cxn>
                <a:cxn ang="0">
                  <a:pos x="164" y="210"/>
                </a:cxn>
                <a:cxn ang="0">
                  <a:pos x="40" y="241"/>
                </a:cxn>
                <a:cxn ang="0">
                  <a:pos x="141" y="272"/>
                </a:cxn>
                <a:cxn ang="0">
                  <a:pos x="384" y="336"/>
                </a:cxn>
                <a:cxn ang="0">
                  <a:pos x="384" y="399"/>
                </a:cxn>
                <a:cxn ang="0">
                  <a:pos x="340" y="463"/>
                </a:cxn>
                <a:cxn ang="0">
                  <a:pos x="433" y="460"/>
                </a:cxn>
                <a:cxn ang="0">
                  <a:pos x="449" y="486"/>
                </a:cxn>
                <a:cxn ang="0">
                  <a:pos x="475" y="523"/>
                </a:cxn>
                <a:cxn ang="0">
                  <a:pos x="449" y="571"/>
                </a:cxn>
                <a:cxn ang="0">
                  <a:pos x="445" y="595"/>
                </a:cxn>
                <a:cxn ang="0">
                  <a:pos x="433" y="634"/>
                </a:cxn>
                <a:cxn ang="0">
                  <a:pos x="384" y="639"/>
                </a:cxn>
                <a:cxn ang="0">
                  <a:pos x="438" y="646"/>
                </a:cxn>
                <a:cxn ang="0">
                  <a:pos x="409" y="672"/>
                </a:cxn>
                <a:cxn ang="0">
                  <a:pos x="325" y="695"/>
                </a:cxn>
                <a:cxn ang="0">
                  <a:pos x="423" y="681"/>
                </a:cxn>
                <a:cxn ang="0">
                  <a:pos x="305" y="741"/>
                </a:cxn>
              </a:cxnLst>
              <a:rect l="0" t="0" r="r" b="b"/>
              <a:pathLst>
                <a:path w="1394" h="1022">
                  <a:moveTo>
                    <a:pt x="383" y="743"/>
                  </a:moveTo>
                  <a:lnTo>
                    <a:pt x="335" y="753"/>
                  </a:lnTo>
                  <a:lnTo>
                    <a:pt x="319" y="766"/>
                  </a:lnTo>
                  <a:lnTo>
                    <a:pt x="316" y="780"/>
                  </a:lnTo>
                  <a:lnTo>
                    <a:pt x="347" y="776"/>
                  </a:lnTo>
                  <a:lnTo>
                    <a:pt x="331" y="784"/>
                  </a:lnTo>
                  <a:lnTo>
                    <a:pt x="310" y="809"/>
                  </a:lnTo>
                  <a:lnTo>
                    <a:pt x="336" y="800"/>
                  </a:lnTo>
                  <a:lnTo>
                    <a:pt x="358" y="791"/>
                  </a:lnTo>
                  <a:lnTo>
                    <a:pt x="365" y="766"/>
                  </a:lnTo>
                  <a:lnTo>
                    <a:pt x="370" y="777"/>
                  </a:lnTo>
                  <a:lnTo>
                    <a:pt x="385" y="784"/>
                  </a:lnTo>
                  <a:lnTo>
                    <a:pt x="390" y="803"/>
                  </a:lnTo>
                  <a:lnTo>
                    <a:pt x="368" y="794"/>
                  </a:lnTo>
                  <a:lnTo>
                    <a:pt x="371" y="804"/>
                  </a:lnTo>
                  <a:lnTo>
                    <a:pt x="330" y="814"/>
                  </a:lnTo>
                  <a:lnTo>
                    <a:pt x="365" y="813"/>
                  </a:lnTo>
                  <a:lnTo>
                    <a:pt x="376" y="814"/>
                  </a:lnTo>
                  <a:lnTo>
                    <a:pt x="319" y="824"/>
                  </a:lnTo>
                  <a:lnTo>
                    <a:pt x="335" y="831"/>
                  </a:lnTo>
                  <a:lnTo>
                    <a:pt x="322" y="845"/>
                  </a:lnTo>
                  <a:lnTo>
                    <a:pt x="340" y="843"/>
                  </a:lnTo>
                  <a:lnTo>
                    <a:pt x="330" y="850"/>
                  </a:lnTo>
                  <a:lnTo>
                    <a:pt x="328" y="851"/>
                  </a:lnTo>
                  <a:lnTo>
                    <a:pt x="346" y="856"/>
                  </a:lnTo>
                  <a:lnTo>
                    <a:pt x="326" y="858"/>
                  </a:lnTo>
                  <a:lnTo>
                    <a:pt x="349" y="866"/>
                  </a:lnTo>
                  <a:lnTo>
                    <a:pt x="347" y="877"/>
                  </a:lnTo>
                  <a:lnTo>
                    <a:pt x="360" y="875"/>
                  </a:lnTo>
                  <a:lnTo>
                    <a:pt x="349" y="885"/>
                  </a:lnTo>
                  <a:lnTo>
                    <a:pt x="346" y="893"/>
                  </a:lnTo>
                  <a:lnTo>
                    <a:pt x="360" y="912"/>
                  </a:lnTo>
                  <a:lnTo>
                    <a:pt x="359" y="918"/>
                  </a:lnTo>
                  <a:lnTo>
                    <a:pt x="374" y="919"/>
                  </a:lnTo>
                  <a:lnTo>
                    <a:pt x="367" y="929"/>
                  </a:lnTo>
                  <a:lnTo>
                    <a:pt x="377" y="927"/>
                  </a:lnTo>
                  <a:lnTo>
                    <a:pt x="376" y="936"/>
                  </a:lnTo>
                  <a:lnTo>
                    <a:pt x="380" y="942"/>
                  </a:lnTo>
                  <a:lnTo>
                    <a:pt x="367" y="943"/>
                  </a:lnTo>
                  <a:lnTo>
                    <a:pt x="386" y="946"/>
                  </a:lnTo>
                  <a:lnTo>
                    <a:pt x="378" y="951"/>
                  </a:lnTo>
                  <a:lnTo>
                    <a:pt x="380" y="952"/>
                  </a:lnTo>
                  <a:lnTo>
                    <a:pt x="377" y="962"/>
                  </a:lnTo>
                  <a:lnTo>
                    <a:pt x="396" y="957"/>
                  </a:lnTo>
                  <a:lnTo>
                    <a:pt x="397" y="969"/>
                  </a:lnTo>
                  <a:lnTo>
                    <a:pt x="391" y="974"/>
                  </a:lnTo>
                  <a:lnTo>
                    <a:pt x="397" y="974"/>
                  </a:lnTo>
                  <a:lnTo>
                    <a:pt x="395" y="979"/>
                  </a:lnTo>
                  <a:lnTo>
                    <a:pt x="412" y="980"/>
                  </a:lnTo>
                  <a:lnTo>
                    <a:pt x="433" y="976"/>
                  </a:lnTo>
                  <a:lnTo>
                    <a:pt x="475" y="962"/>
                  </a:lnTo>
                  <a:lnTo>
                    <a:pt x="474" y="971"/>
                  </a:lnTo>
                  <a:lnTo>
                    <a:pt x="494" y="964"/>
                  </a:lnTo>
                  <a:lnTo>
                    <a:pt x="467" y="981"/>
                  </a:lnTo>
                  <a:lnTo>
                    <a:pt x="486" y="979"/>
                  </a:lnTo>
                  <a:lnTo>
                    <a:pt x="472" y="994"/>
                  </a:lnTo>
                  <a:lnTo>
                    <a:pt x="494" y="989"/>
                  </a:lnTo>
                  <a:lnTo>
                    <a:pt x="491" y="995"/>
                  </a:lnTo>
                  <a:lnTo>
                    <a:pt x="506" y="993"/>
                  </a:lnTo>
                  <a:lnTo>
                    <a:pt x="490" y="1010"/>
                  </a:lnTo>
                  <a:lnTo>
                    <a:pt x="512" y="999"/>
                  </a:lnTo>
                  <a:lnTo>
                    <a:pt x="489" y="1014"/>
                  </a:lnTo>
                  <a:lnTo>
                    <a:pt x="497" y="1022"/>
                  </a:lnTo>
                  <a:lnTo>
                    <a:pt x="530" y="1007"/>
                  </a:lnTo>
                  <a:lnTo>
                    <a:pt x="555" y="1018"/>
                  </a:lnTo>
                  <a:lnTo>
                    <a:pt x="558" y="1010"/>
                  </a:lnTo>
                  <a:lnTo>
                    <a:pt x="551" y="1004"/>
                  </a:lnTo>
                  <a:lnTo>
                    <a:pt x="528" y="994"/>
                  </a:lnTo>
                  <a:lnTo>
                    <a:pt x="567" y="997"/>
                  </a:lnTo>
                  <a:lnTo>
                    <a:pt x="575" y="990"/>
                  </a:lnTo>
                  <a:lnTo>
                    <a:pt x="568" y="984"/>
                  </a:lnTo>
                  <a:lnTo>
                    <a:pt x="572" y="983"/>
                  </a:lnTo>
                  <a:lnTo>
                    <a:pt x="567" y="979"/>
                  </a:lnTo>
                  <a:lnTo>
                    <a:pt x="587" y="976"/>
                  </a:lnTo>
                  <a:lnTo>
                    <a:pt x="568" y="969"/>
                  </a:lnTo>
                  <a:lnTo>
                    <a:pt x="587" y="969"/>
                  </a:lnTo>
                  <a:lnTo>
                    <a:pt x="587" y="964"/>
                  </a:lnTo>
                  <a:lnTo>
                    <a:pt x="587" y="959"/>
                  </a:lnTo>
                  <a:lnTo>
                    <a:pt x="598" y="956"/>
                  </a:lnTo>
                  <a:lnTo>
                    <a:pt x="592" y="947"/>
                  </a:lnTo>
                  <a:lnTo>
                    <a:pt x="608" y="946"/>
                  </a:lnTo>
                  <a:lnTo>
                    <a:pt x="605" y="937"/>
                  </a:lnTo>
                  <a:lnTo>
                    <a:pt x="619" y="923"/>
                  </a:lnTo>
                  <a:lnTo>
                    <a:pt x="621" y="919"/>
                  </a:lnTo>
                  <a:lnTo>
                    <a:pt x="610" y="903"/>
                  </a:lnTo>
                  <a:lnTo>
                    <a:pt x="617" y="903"/>
                  </a:lnTo>
                  <a:lnTo>
                    <a:pt x="604" y="889"/>
                  </a:lnTo>
                  <a:lnTo>
                    <a:pt x="634" y="877"/>
                  </a:lnTo>
                  <a:lnTo>
                    <a:pt x="656" y="875"/>
                  </a:lnTo>
                  <a:lnTo>
                    <a:pt x="650" y="870"/>
                  </a:lnTo>
                  <a:lnTo>
                    <a:pt x="649" y="862"/>
                  </a:lnTo>
                  <a:lnTo>
                    <a:pt x="664" y="862"/>
                  </a:lnTo>
                  <a:lnTo>
                    <a:pt x="667" y="853"/>
                  </a:lnTo>
                  <a:lnTo>
                    <a:pt x="678" y="856"/>
                  </a:lnTo>
                  <a:lnTo>
                    <a:pt x="673" y="852"/>
                  </a:lnTo>
                  <a:lnTo>
                    <a:pt x="681" y="850"/>
                  </a:lnTo>
                  <a:lnTo>
                    <a:pt x="694" y="842"/>
                  </a:lnTo>
                  <a:lnTo>
                    <a:pt x="680" y="836"/>
                  </a:lnTo>
                  <a:lnTo>
                    <a:pt x="709" y="833"/>
                  </a:lnTo>
                  <a:lnTo>
                    <a:pt x="703" y="817"/>
                  </a:lnTo>
                  <a:lnTo>
                    <a:pt x="682" y="809"/>
                  </a:lnTo>
                  <a:lnTo>
                    <a:pt x="716" y="803"/>
                  </a:lnTo>
                  <a:lnTo>
                    <a:pt x="717" y="771"/>
                  </a:lnTo>
                  <a:lnTo>
                    <a:pt x="751" y="767"/>
                  </a:lnTo>
                  <a:lnTo>
                    <a:pt x="748" y="755"/>
                  </a:lnTo>
                  <a:lnTo>
                    <a:pt x="773" y="750"/>
                  </a:lnTo>
                  <a:lnTo>
                    <a:pt x="786" y="746"/>
                  </a:lnTo>
                  <a:lnTo>
                    <a:pt x="823" y="738"/>
                  </a:lnTo>
                  <a:lnTo>
                    <a:pt x="818" y="733"/>
                  </a:lnTo>
                  <a:lnTo>
                    <a:pt x="842" y="714"/>
                  </a:lnTo>
                  <a:lnTo>
                    <a:pt x="858" y="715"/>
                  </a:lnTo>
                  <a:lnTo>
                    <a:pt x="840" y="732"/>
                  </a:lnTo>
                  <a:lnTo>
                    <a:pt x="859" y="733"/>
                  </a:lnTo>
                  <a:lnTo>
                    <a:pt x="912" y="720"/>
                  </a:lnTo>
                  <a:lnTo>
                    <a:pt x="913" y="710"/>
                  </a:lnTo>
                  <a:lnTo>
                    <a:pt x="930" y="712"/>
                  </a:lnTo>
                  <a:lnTo>
                    <a:pt x="961" y="704"/>
                  </a:lnTo>
                  <a:lnTo>
                    <a:pt x="969" y="696"/>
                  </a:lnTo>
                  <a:lnTo>
                    <a:pt x="1001" y="666"/>
                  </a:lnTo>
                  <a:lnTo>
                    <a:pt x="1050" y="641"/>
                  </a:lnTo>
                  <a:lnTo>
                    <a:pt x="1053" y="626"/>
                  </a:lnTo>
                  <a:lnTo>
                    <a:pt x="1057" y="610"/>
                  </a:lnTo>
                  <a:lnTo>
                    <a:pt x="1096" y="633"/>
                  </a:lnTo>
                  <a:lnTo>
                    <a:pt x="1116" y="627"/>
                  </a:lnTo>
                  <a:lnTo>
                    <a:pt x="1133" y="623"/>
                  </a:lnTo>
                  <a:lnTo>
                    <a:pt x="1145" y="623"/>
                  </a:lnTo>
                  <a:lnTo>
                    <a:pt x="1219" y="605"/>
                  </a:lnTo>
                  <a:lnTo>
                    <a:pt x="1292" y="588"/>
                  </a:lnTo>
                  <a:lnTo>
                    <a:pt x="1317" y="576"/>
                  </a:lnTo>
                  <a:lnTo>
                    <a:pt x="1344" y="562"/>
                  </a:lnTo>
                  <a:lnTo>
                    <a:pt x="1359" y="553"/>
                  </a:lnTo>
                  <a:lnTo>
                    <a:pt x="1380" y="544"/>
                  </a:lnTo>
                  <a:lnTo>
                    <a:pt x="1394" y="538"/>
                  </a:lnTo>
                  <a:lnTo>
                    <a:pt x="1394" y="534"/>
                  </a:lnTo>
                  <a:lnTo>
                    <a:pt x="1300" y="524"/>
                  </a:lnTo>
                  <a:lnTo>
                    <a:pt x="1220" y="541"/>
                  </a:lnTo>
                  <a:lnTo>
                    <a:pt x="1215" y="533"/>
                  </a:lnTo>
                  <a:lnTo>
                    <a:pt x="1274" y="519"/>
                  </a:lnTo>
                  <a:lnTo>
                    <a:pt x="1190" y="519"/>
                  </a:lnTo>
                  <a:lnTo>
                    <a:pt x="1232" y="501"/>
                  </a:lnTo>
                  <a:lnTo>
                    <a:pt x="1231" y="496"/>
                  </a:lnTo>
                  <a:lnTo>
                    <a:pt x="1238" y="494"/>
                  </a:lnTo>
                  <a:lnTo>
                    <a:pt x="1311" y="489"/>
                  </a:lnTo>
                  <a:lnTo>
                    <a:pt x="1310" y="475"/>
                  </a:lnTo>
                  <a:lnTo>
                    <a:pt x="1305" y="474"/>
                  </a:lnTo>
                  <a:lnTo>
                    <a:pt x="1238" y="470"/>
                  </a:lnTo>
                  <a:lnTo>
                    <a:pt x="1261" y="463"/>
                  </a:lnTo>
                  <a:lnTo>
                    <a:pt x="1233" y="450"/>
                  </a:lnTo>
                  <a:lnTo>
                    <a:pt x="1297" y="471"/>
                  </a:lnTo>
                  <a:lnTo>
                    <a:pt x="1353" y="493"/>
                  </a:lnTo>
                  <a:lnTo>
                    <a:pt x="1377" y="520"/>
                  </a:lnTo>
                  <a:lnTo>
                    <a:pt x="1394" y="517"/>
                  </a:lnTo>
                  <a:lnTo>
                    <a:pt x="1394" y="450"/>
                  </a:lnTo>
                  <a:lnTo>
                    <a:pt x="1336" y="436"/>
                  </a:lnTo>
                  <a:lnTo>
                    <a:pt x="1326" y="441"/>
                  </a:lnTo>
                  <a:lnTo>
                    <a:pt x="1328" y="432"/>
                  </a:lnTo>
                  <a:lnTo>
                    <a:pt x="1356" y="422"/>
                  </a:lnTo>
                  <a:lnTo>
                    <a:pt x="1309" y="419"/>
                  </a:lnTo>
                  <a:lnTo>
                    <a:pt x="1290" y="419"/>
                  </a:lnTo>
                  <a:lnTo>
                    <a:pt x="1280" y="415"/>
                  </a:lnTo>
                  <a:lnTo>
                    <a:pt x="1349" y="403"/>
                  </a:lnTo>
                  <a:lnTo>
                    <a:pt x="1276" y="403"/>
                  </a:lnTo>
                  <a:lnTo>
                    <a:pt x="1274" y="408"/>
                  </a:lnTo>
                  <a:lnTo>
                    <a:pt x="1275" y="400"/>
                  </a:lnTo>
                  <a:lnTo>
                    <a:pt x="1294" y="394"/>
                  </a:lnTo>
                  <a:lnTo>
                    <a:pt x="1287" y="387"/>
                  </a:lnTo>
                  <a:lnTo>
                    <a:pt x="1338" y="389"/>
                  </a:lnTo>
                  <a:lnTo>
                    <a:pt x="1353" y="380"/>
                  </a:lnTo>
                  <a:lnTo>
                    <a:pt x="1347" y="371"/>
                  </a:lnTo>
                  <a:lnTo>
                    <a:pt x="1374" y="377"/>
                  </a:lnTo>
                  <a:lnTo>
                    <a:pt x="1394" y="376"/>
                  </a:lnTo>
                  <a:lnTo>
                    <a:pt x="1394" y="380"/>
                  </a:lnTo>
                  <a:lnTo>
                    <a:pt x="1388" y="380"/>
                  </a:lnTo>
                  <a:lnTo>
                    <a:pt x="1394" y="381"/>
                  </a:lnTo>
                  <a:lnTo>
                    <a:pt x="1394" y="68"/>
                  </a:lnTo>
                  <a:lnTo>
                    <a:pt x="1393" y="68"/>
                  </a:lnTo>
                  <a:lnTo>
                    <a:pt x="1394" y="68"/>
                  </a:lnTo>
                  <a:lnTo>
                    <a:pt x="1394" y="53"/>
                  </a:lnTo>
                  <a:lnTo>
                    <a:pt x="1245" y="58"/>
                  </a:lnTo>
                  <a:lnTo>
                    <a:pt x="1304" y="44"/>
                  </a:lnTo>
                  <a:lnTo>
                    <a:pt x="1394" y="46"/>
                  </a:lnTo>
                  <a:lnTo>
                    <a:pt x="1394" y="16"/>
                  </a:lnTo>
                  <a:lnTo>
                    <a:pt x="1193" y="20"/>
                  </a:lnTo>
                  <a:lnTo>
                    <a:pt x="1231" y="18"/>
                  </a:lnTo>
                  <a:lnTo>
                    <a:pt x="1394" y="13"/>
                  </a:lnTo>
                  <a:lnTo>
                    <a:pt x="1394" y="5"/>
                  </a:lnTo>
                  <a:lnTo>
                    <a:pt x="1356" y="0"/>
                  </a:lnTo>
                  <a:lnTo>
                    <a:pt x="1096" y="5"/>
                  </a:lnTo>
                  <a:lnTo>
                    <a:pt x="1114" y="11"/>
                  </a:lnTo>
                  <a:lnTo>
                    <a:pt x="1092" y="16"/>
                  </a:lnTo>
                  <a:lnTo>
                    <a:pt x="1086" y="20"/>
                  </a:lnTo>
                  <a:lnTo>
                    <a:pt x="1021" y="14"/>
                  </a:lnTo>
                  <a:lnTo>
                    <a:pt x="930" y="13"/>
                  </a:lnTo>
                  <a:lnTo>
                    <a:pt x="944" y="20"/>
                  </a:lnTo>
                  <a:lnTo>
                    <a:pt x="878" y="16"/>
                  </a:lnTo>
                  <a:lnTo>
                    <a:pt x="994" y="23"/>
                  </a:lnTo>
                  <a:lnTo>
                    <a:pt x="1053" y="34"/>
                  </a:lnTo>
                  <a:lnTo>
                    <a:pt x="999" y="27"/>
                  </a:lnTo>
                  <a:lnTo>
                    <a:pt x="997" y="29"/>
                  </a:lnTo>
                  <a:lnTo>
                    <a:pt x="916" y="25"/>
                  </a:lnTo>
                  <a:lnTo>
                    <a:pt x="950" y="41"/>
                  </a:lnTo>
                  <a:lnTo>
                    <a:pt x="922" y="41"/>
                  </a:lnTo>
                  <a:lnTo>
                    <a:pt x="917" y="47"/>
                  </a:lnTo>
                  <a:lnTo>
                    <a:pt x="914" y="54"/>
                  </a:lnTo>
                  <a:lnTo>
                    <a:pt x="762" y="33"/>
                  </a:lnTo>
                  <a:lnTo>
                    <a:pt x="752" y="53"/>
                  </a:lnTo>
                  <a:lnTo>
                    <a:pt x="753" y="58"/>
                  </a:lnTo>
                  <a:lnTo>
                    <a:pt x="684" y="49"/>
                  </a:lnTo>
                  <a:lnTo>
                    <a:pt x="652" y="65"/>
                  </a:lnTo>
                  <a:lnTo>
                    <a:pt x="643" y="65"/>
                  </a:lnTo>
                  <a:lnTo>
                    <a:pt x="653" y="39"/>
                  </a:lnTo>
                  <a:lnTo>
                    <a:pt x="502" y="49"/>
                  </a:lnTo>
                  <a:lnTo>
                    <a:pt x="549" y="68"/>
                  </a:lnTo>
                  <a:lnTo>
                    <a:pt x="509" y="58"/>
                  </a:lnTo>
                  <a:lnTo>
                    <a:pt x="442" y="56"/>
                  </a:lnTo>
                  <a:lnTo>
                    <a:pt x="441" y="65"/>
                  </a:lnTo>
                  <a:lnTo>
                    <a:pt x="431" y="76"/>
                  </a:lnTo>
                  <a:lnTo>
                    <a:pt x="374" y="76"/>
                  </a:lnTo>
                  <a:lnTo>
                    <a:pt x="367" y="86"/>
                  </a:lnTo>
                  <a:lnTo>
                    <a:pt x="360" y="79"/>
                  </a:lnTo>
                  <a:lnTo>
                    <a:pt x="219" y="109"/>
                  </a:lnTo>
                  <a:lnTo>
                    <a:pt x="307" y="110"/>
                  </a:lnTo>
                  <a:lnTo>
                    <a:pt x="283" y="114"/>
                  </a:lnTo>
                  <a:lnTo>
                    <a:pt x="278" y="128"/>
                  </a:lnTo>
                  <a:lnTo>
                    <a:pt x="247" y="144"/>
                  </a:lnTo>
                  <a:lnTo>
                    <a:pt x="133" y="157"/>
                  </a:lnTo>
                  <a:lnTo>
                    <a:pt x="15" y="177"/>
                  </a:lnTo>
                  <a:lnTo>
                    <a:pt x="5" y="185"/>
                  </a:lnTo>
                  <a:lnTo>
                    <a:pt x="5" y="195"/>
                  </a:lnTo>
                  <a:lnTo>
                    <a:pt x="69" y="203"/>
                  </a:lnTo>
                  <a:lnTo>
                    <a:pt x="58" y="210"/>
                  </a:lnTo>
                  <a:lnTo>
                    <a:pt x="53" y="213"/>
                  </a:lnTo>
                  <a:lnTo>
                    <a:pt x="99" y="217"/>
                  </a:lnTo>
                  <a:lnTo>
                    <a:pt x="164" y="210"/>
                  </a:lnTo>
                  <a:lnTo>
                    <a:pt x="157" y="224"/>
                  </a:lnTo>
                  <a:lnTo>
                    <a:pt x="76" y="227"/>
                  </a:lnTo>
                  <a:lnTo>
                    <a:pt x="139" y="230"/>
                  </a:lnTo>
                  <a:lnTo>
                    <a:pt x="112" y="229"/>
                  </a:lnTo>
                  <a:lnTo>
                    <a:pt x="0" y="237"/>
                  </a:lnTo>
                  <a:lnTo>
                    <a:pt x="40" y="241"/>
                  </a:lnTo>
                  <a:lnTo>
                    <a:pt x="73" y="251"/>
                  </a:lnTo>
                  <a:lnTo>
                    <a:pt x="35" y="260"/>
                  </a:lnTo>
                  <a:lnTo>
                    <a:pt x="114" y="281"/>
                  </a:lnTo>
                  <a:lnTo>
                    <a:pt x="102" y="274"/>
                  </a:lnTo>
                  <a:lnTo>
                    <a:pt x="122" y="271"/>
                  </a:lnTo>
                  <a:lnTo>
                    <a:pt x="141" y="272"/>
                  </a:lnTo>
                  <a:lnTo>
                    <a:pt x="193" y="266"/>
                  </a:lnTo>
                  <a:lnTo>
                    <a:pt x="216" y="265"/>
                  </a:lnTo>
                  <a:lnTo>
                    <a:pt x="354" y="289"/>
                  </a:lnTo>
                  <a:lnTo>
                    <a:pt x="344" y="305"/>
                  </a:lnTo>
                  <a:lnTo>
                    <a:pt x="373" y="324"/>
                  </a:lnTo>
                  <a:lnTo>
                    <a:pt x="384" y="336"/>
                  </a:lnTo>
                  <a:lnTo>
                    <a:pt x="376" y="344"/>
                  </a:lnTo>
                  <a:lnTo>
                    <a:pt x="361" y="353"/>
                  </a:lnTo>
                  <a:lnTo>
                    <a:pt x="384" y="353"/>
                  </a:lnTo>
                  <a:lnTo>
                    <a:pt x="385" y="372"/>
                  </a:lnTo>
                  <a:lnTo>
                    <a:pt x="389" y="385"/>
                  </a:lnTo>
                  <a:lnTo>
                    <a:pt x="384" y="399"/>
                  </a:lnTo>
                  <a:lnTo>
                    <a:pt x="394" y="404"/>
                  </a:lnTo>
                  <a:lnTo>
                    <a:pt x="389" y="427"/>
                  </a:lnTo>
                  <a:lnTo>
                    <a:pt x="371" y="436"/>
                  </a:lnTo>
                  <a:lnTo>
                    <a:pt x="359" y="447"/>
                  </a:lnTo>
                  <a:lnTo>
                    <a:pt x="383" y="448"/>
                  </a:lnTo>
                  <a:lnTo>
                    <a:pt x="340" y="463"/>
                  </a:lnTo>
                  <a:lnTo>
                    <a:pt x="359" y="479"/>
                  </a:lnTo>
                  <a:lnTo>
                    <a:pt x="397" y="467"/>
                  </a:lnTo>
                  <a:lnTo>
                    <a:pt x="415" y="436"/>
                  </a:lnTo>
                  <a:lnTo>
                    <a:pt x="421" y="458"/>
                  </a:lnTo>
                  <a:lnTo>
                    <a:pt x="442" y="451"/>
                  </a:lnTo>
                  <a:lnTo>
                    <a:pt x="433" y="460"/>
                  </a:lnTo>
                  <a:lnTo>
                    <a:pt x="463" y="467"/>
                  </a:lnTo>
                  <a:lnTo>
                    <a:pt x="433" y="472"/>
                  </a:lnTo>
                  <a:lnTo>
                    <a:pt x="466" y="474"/>
                  </a:lnTo>
                  <a:lnTo>
                    <a:pt x="443" y="484"/>
                  </a:lnTo>
                  <a:lnTo>
                    <a:pt x="459" y="481"/>
                  </a:lnTo>
                  <a:lnTo>
                    <a:pt x="449" y="486"/>
                  </a:lnTo>
                  <a:lnTo>
                    <a:pt x="472" y="495"/>
                  </a:lnTo>
                  <a:lnTo>
                    <a:pt x="453" y="493"/>
                  </a:lnTo>
                  <a:lnTo>
                    <a:pt x="478" y="503"/>
                  </a:lnTo>
                  <a:lnTo>
                    <a:pt x="473" y="505"/>
                  </a:lnTo>
                  <a:lnTo>
                    <a:pt x="472" y="515"/>
                  </a:lnTo>
                  <a:lnTo>
                    <a:pt x="475" y="523"/>
                  </a:lnTo>
                  <a:lnTo>
                    <a:pt x="371" y="503"/>
                  </a:lnTo>
                  <a:lnTo>
                    <a:pt x="362" y="517"/>
                  </a:lnTo>
                  <a:lnTo>
                    <a:pt x="475" y="544"/>
                  </a:lnTo>
                  <a:lnTo>
                    <a:pt x="456" y="555"/>
                  </a:lnTo>
                  <a:lnTo>
                    <a:pt x="461" y="563"/>
                  </a:lnTo>
                  <a:lnTo>
                    <a:pt x="449" y="571"/>
                  </a:lnTo>
                  <a:lnTo>
                    <a:pt x="454" y="576"/>
                  </a:lnTo>
                  <a:lnTo>
                    <a:pt x="465" y="581"/>
                  </a:lnTo>
                  <a:lnTo>
                    <a:pt x="465" y="586"/>
                  </a:lnTo>
                  <a:lnTo>
                    <a:pt x="448" y="581"/>
                  </a:lnTo>
                  <a:lnTo>
                    <a:pt x="432" y="594"/>
                  </a:lnTo>
                  <a:lnTo>
                    <a:pt x="445" y="595"/>
                  </a:lnTo>
                  <a:lnTo>
                    <a:pt x="358" y="618"/>
                  </a:lnTo>
                  <a:lnTo>
                    <a:pt x="365" y="624"/>
                  </a:lnTo>
                  <a:lnTo>
                    <a:pt x="417" y="619"/>
                  </a:lnTo>
                  <a:lnTo>
                    <a:pt x="435" y="610"/>
                  </a:lnTo>
                  <a:lnTo>
                    <a:pt x="418" y="626"/>
                  </a:lnTo>
                  <a:lnTo>
                    <a:pt x="433" y="634"/>
                  </a:lnTo>
                  <a:lnTo>
                    <a:pt x="364" y="627"/>
                  </a:lnTo>
                  <a:lnTo>
                    <a:pt x="349" y="626"/>
                  </a:lnTo>
                  <a:lnTo>
                    <a:pt x="377" y="637"/>
                  </a:lnTo>
                  <a:lnTo>
                    <a:pt x="342" y="633"/>
                  </a:lnTo>
                  <a:lnTo>
                    <a:pt x="319" y="651"/>
                  </a:lnTo>
                  <a:lnTo>
                    <a:pt x="384" y="639"/>
                  </a:lnTo>
                  <a:lnTo>
                    <a:pt x="377" y="641"/>
                  </a:lnTo>
                  <a:lnTo>
                    <a:pt x="401" y="645"/>
                  </a:lnTo>
                  <a:lnTo>
                    <a:pt x="418" y="638"/>
                  </a:lnTo>
                  <a:lnTo>
                    <a:pt x="431" y="641"/>
                  </a:lnTo>
                  <a:lnTo>
                    <a:pt x="414" y="647"/>
                  </a:lnTo>
                  <a:lnTo>
                    <a:pt x="438" y="646"/>
                  </a:lnTo>
                  <a:lnTo>
                    <a:pt x="425" y="651"/>
                  </a:lnTo>
                  <a:lnTo>
                    <a:pt x="430" y="657"/>
                  </a:lnTo>
                  <a:lnTo>
                    <a:pt x="367" y="647"/>
                  </a:lnTo>
                  <a:lnTo>
                    <a:pt x="308" y="665"/>
                  </a:lnTo>
                  <a:lnTo>
                    <a:pt x="389" y="665"/>
                  </a:lnTo>
                  <a:lnTo>
                    <a:pt x="409" y="672"/>
                  </a:lnTo>
                  <a:lnTo>
                    <a:pt x="389" y="667"/>
                  </a:lnTo>
                  <a:lnTo>
                    <a:pt x="306" y="672"/>
                  </a:lnTo>
                  <a:lnTo>
                    <a:pt x="316" y="681"/>
                  </a:lnTo>
                  <a:lnTo>
                    <a:pt x="348" y="684"/>
                  </a:lnTo>
                  <a:lnTo>
                    <a:pt x="330" y="690"/>
                  </a:lnTo>
                  <a:lnTo>
                    <a:pt x="325" y="695"/>
                  </a:lnTo>
                  <a:lnTo>
                    <a:pt x="316" y="695"/>
                  </a:lnTo>
                  <a:lnTo>
                    <a:pt x="336" y="703"/>
                  </a:lnTo>
                  <a:lnTo>
                    <a:pt x="304" y="704"/>
                  </a:lnTo>
                  <a:lnTo>
                    <a:pt x="298" y="718"/>
                  </a:lnTo>
                  <a:lnTo>
                    <a:pt x="360" y="699"/>
                  </a:lnTo>
                  <a:lnTo>
                    <a:pt x="423" y="681"/>
                  </a:lnTo>
                  <a:lnTo>
                    <a:pt x="407" y="689"/>
                  </a:lnTo>
                  <a:lnTo>
                    <a:pt x="296" y="727"/>
                  </a:lnTo>
                  <a:lnTo>
                    <a:pt x="312" y="728"/>
                  </a:lnTo>
                  <a:lnTo>
                    <a:pt x="300" y="733"/>
                  </a:lnTo>
                  <a:lnTo>
                    <a:pt x="354" y="726"/>
                  </a:lnTo>
                  <a:lnTo>
                    <a:pt x="305" y="741"/>
                  </a:lnTo>
                  <a:lnTo>
                    <a:pt x="310" y="745"/>
                  </a:lnTo>
                  <a:lnTo>
                    <a:pt x="314" y="751"/>
                  </a:lnTo>
                  <a:lnTo>
                    <a:pt x="338" y="750"/>
                  </a:lnTo>
                  <a:lnTo>
                    <a:pt x="383" y="743"/>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5" name="Freeform 107"/>
            <p:cNvSpPr>
              <a:spLocks/>
            </p:cNvSpPr>
            <p:nvPr/>
          </p:nvSpPr>
          <p:spPr bwMode="auto">
            <a:xfrm>
              <a:off x="4781" y="962"/>
              <a:ext cx="92" cy="23"/>
            </a:xfrm>
            <a:custGeom>
              <a:avLst/>
              <a:gdLst/>
              <a:ahLst/>
              <a:cxnLst>
                <a:cxn ang="0">
                  <a:pos x="92" y="32"/>
                </a:cxn>
                <a:cxn ang="0">
                  <a:pos x="24" y="0"/>
                </a:cxn>
                <a:cxn ang="0">
                  <a:pos x="3" y="14"/>
                </a:cxn>
                <a:cxn ang="0">
                  <a:pos x="5" y="17"/>
                </a:cxn>
                <a:cxn ang="0">
                  <a:pos x="0" y="26"/>
                </a:cxn>
                <a:cxn ang="0">
                  <a:pos x="9" y="36"/>
                </a:cxn>
                <a:cxn ang="0">
                  <a:pos x="27" y="41"/>
                </a:cxn>
                <a:cxn ang="0">
                  <a:pos x="15" y="47"/>
                </a:cxn>
                <a:cxn ang="0">
                  <a:pos x="92" y="32"/>
                </a:cxn>
              </a:cxnLst>
              <a:rect l="0" t="0" r="r" b="b"/>
              <a:pathLst>
                <a:path w="92" h="47">
                  <a:moveTo>
                    <a:pt x="92" y="32"/>
                  </a:moveTo>
                  <a:lnTo>
                    <a:pt x="24" y="0"/>
                  </a:lnTo>
                  <a:lnTo>
                    <a:pt x="3" y="14"/>
                  </a:lnTo>
                  <a:lnTo>
                    <a:pt x="5" y="17"/>
                  </a:lnTo>
                  <a:lnTo>
                    <a:pt x="0" y="26"/>
                  </a:lnTo>
                  <a:lnTo>
                    <a:pt x="9" y="36"/>
                  </a:lnTo>
                  <a:lnTo>
                    <a:pt x="27" y="41"/>
                  </a:lnTo>
                  <a:lnTo>
                    <a:pt x="15" y="47"/>
                  </a:lnTo>
                  <a:lnTo>
                    <a:pt x="92" y="3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6" name="Freeform 108"/>
            <p:cNvSpPr>
              <a:spLocks/>
            </p:cNvSpPr>
            <p:nvPr/>
          </p:nvSpPr>
          <p:spPr bwMode="auto">
            <a:xfrm>
              <a:off x="5748" y="1052"/>
              <a:ext cx="96" cy="65"/>
            </a:xfrm>
            <a:custGeom>
              <a:avLst/>
              <a:gdLst/>
              <a:ahLst/>
              <a:cxnLst>
                <a:cxn ang="0">
                  <a:pos x="96" y="22"/>
                </a:cxn>
                <a:cxn ang="0">
                  <a:pos x="59" y="0"/>
                </a:cxn>
                <a:cxn ang="0">
                  <a:pos x="67" y="11"/>
                </a:cxn>
                <a:cxn ang="0">
                  <a:pos x="73" y="26"/>
                </a:cxn>
                <a:cxn ang="0">
                  <a:pos x="47" y="15"/>
                </a:cxn>
                <a:cxn ang="0">
                  <a:pos x="36" y="21"/>
                </a:cxn>
                <a:cxn ang="0">
                  <a:pos x="34" y="27"/>
                </a:cxn>
                <a:cxn ang="0">
                  <a:pos x="42" y="32"/>
                </a:cxn>
                <a:cxn ang="0">
                  <a:pos x="41" y="34"/>
                </a:cxn>
                <a:cxn ang="0">
                  <a:pos x="12" y="31"/>
                </a:cxn>
                <a:cxn ang="0">
                  <a:pos x="20" y="40"/>
                </a:cxn>
                <a:cxn ang="0">
                  <a:pos x="0" y="43"/>
                </a:cxn>
                <a:cxn ang="0">
                  <a:pos x="79" y="45"/>
                </a:cxn>
                <a:cxn ang="0">
                  <a:pos x="67" y="57"/>
                </a:cxn>
                <a:cxn ang="0">
                  <a:pos x="76" y="64"/>
                </a:cxn>
                <a:cxn ang="0">
                  <a:pos x="8" y="73"/>
                </a:cxn>
                <a:cxn ang="0">
                  <a:pos x="64" y="86"/>
                </a:cxn>
                <a:cxn ang="0">
                  <a:pos x="79" y="91"/>
                </a:cxn>
                <a:cxn ang="0">
                  <a:pos x="72" y="98"/>
                </a:cxn>
                <a:cxn ang="0">
                  <a:pos x="83" y="100"/>
                </a:cxn>
                <a:cxn ang="0">
                  <a:pos x="75" y="107"/>
                </a:cxn>
                <a:cxn ang="0">
                  <a:pos x="43" y="119"/>
                </a:cxn>
                <a:cxn ang="0">
                  <a:pos x="69" y="126"/>
                </a:cxn>
                <a:cxn ang="0">
                  <a:pos x="96" y="129"/>
                </a:cxn>
                <a:cxn ang="0">
                  <a:pos x="96" y="22"/>
                </a:cxn>
              </a:cxnLst>
              <a:rect l="0" t="0" r="r" b="b"/>
              <a:pathLst>
                <a:path w="96" h="129">
                  <a:moveTo>
                    <a:pt x="96" y="22"/>
                  </a:moveTo>
                  <a:lnTo>
                    <a:pt x="59" y="0"/>
                  </a:lnTo>
                  <a:lnTo>
                    <a:pt x="67" y="11"/>
                  </a:lnTo>
                  <a:lnTo>
                    <a:pt x="73" y="26"/>
                  </a:lnTo>
                  <a:lnTo>
                    <a:pt x="47" y="15"/>
                  </a:lnTo>
                  <a:lnTo>
                    <a:pt x="36" y="21"/>
                  </a:lnTo>
                  <a:lnTo>
                    <a:pt x="34" y="27"/>
                  </a:lnTo>
                  <a:lnTo>
                    <a:pt x="42" y="32"/>
                  </a:lnTo>
                  <a:lnTo>
                    <a:pt x="41" y="34"/>
                  </a:lnTo>
                  <a:lnTo>
                    <a:pt x="12" y="31"/>
                  </a:lnTo>
                  <a:lnTo>
                    <a:pt x="20" y="40"/>
                  </a:lnTo>
                  <a:lnTo>
                    <a:pt x="0" y="43"/>
                  </a:lnTo>
                  <a:lnTo>
                    <a:pt x="79" y="45"/>
                  </a:lnTo>
                  <a:lnTo>
                    <a:pt x="67" y="57"/>
                  </a:lnTo>
                  <a:lnTo>
                    <a:pt x="76" y="64"/>
                  </a:lnTo>
                  <a:lnTo>
                    <a:pt x="8" y="73"/>
                  </a:lnTo>
                  <a:lnTo>
                    <a:pt x="64" y="86"/>
                  </a:lnTo>
                  <a:lnTo>
                    <a:pt x="79" y="91"/>
                  </a:lnTo>
                  <a:lnTo>
                    <a:pt x="72" y="98"/>
                  </a:lnTo>
                  <a:lnTo>
                    <a:pt x="83" y="100"/>
                  </a:lnTo>
                  <a:lnTo>
                    <a:pt x="75" y="107"/>
                  </a:lnTo>
                  <a:lnTo>
                    <a:pt x="43" y="119"/>
                  </a:lnTo>
                  <a:lnTo>
                    <a:pt x="69" y="126"/>
                  </a:lnTo>
                  <a:lnTo>
                    <a:pt x="96" y="129"/>
                  </a:lnTo>
                  <a:lnTo>
                    <a:pt x="96" y="22"/>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7" name="Freeform 109"/>
            <p:cNvSpPr>
              <a:spLocks/>
            </p:cNvSpPr>
            <p:nvPr/>
          </p:nvSpPr>
          <p:spPr bwMode="auto">
            <a:xfrm>
              <a:off x="5487" y="1797"/>
              <a:ext cx="31" cy="4"/>
            </a:xfrm>
            <a:custGeom>
              <a:avLst/>
              <a:gdLst/>
              <a:ahLst/>
              <a:cxnLst>
                <a:cxn ang="0">
                  <a:pos x="7" y="8"/>
                </a:cxn>
                <a:cxn ang="0">
                  <a:pos x="0" y="0"/>
                </a:cxn>
                <a:cxn ang="0">
                  <a:pos x="31" y="5"/>
                </a:cxn>
                <a:cxn ang="0">
                  <a:pos x="7" y="8"/>
                </a:cxn>
              </a:cxnLst>
              <a:rect l="0" t="0" r="r" b="b"/>
              <a:pathLst>
                <a:path w="31" h="8">
                  <a:moveTo>
                    <a:pt x="7" y="8"/>
                  </a:moveTo>
                  <a:lnTo>
                    <a:pt x="0" y="0"/>
                  </a:lnTo>
                  <a:lnTo>
                    <a:pt x="31" y="5"/>
                  </a:lnTo>
                  <a:lnTo>
                    <a:pt x="7" y="8"/>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8" name="Freeform 110"/>
            <p:cNvSpPr>
              <a:spLocks/>
            </p:cNvSpPr>
            <p:nvPr/>
          </p:nvSpPr>
          <p:spPr bwMode="auto">
            <a:xfrm>
              <a:off x="5375" y="1779"/>
              <a:ext cx="22" cy="5"/>
            </a:xfrm>
            <a:custGeom>
              <a:avLst/>
              <a:gdLst/>
              <a:ahLst/>
              <a:cxnLst>
                <a:cxn ang="0">
                  <a:pos x="6" y="0"/>
                </a:cxn>
                <a:cxn ang="0">
                  <a:pos x="0" y="5"/>
                </a:cxn>
                <a:cxn ang="0">
                  <a:pos x="22" y="9"/>
                </a:cxn>
                <a:cxn ang="0">
                  <a:pos x="6" y="0"/>
                </a:cxn>
              </a:cxnLst>
              <a:rect l="0" t="0" r="r" b="b"/>
              <a:pathLst>
                <a:path w="22" h="9">
                  <a:moveTo>
                    <a:pt x="6" y="0"/>
                  </a:moveTo>
                  <a:lnTo>
                    <a:pt x="0" y="5"/>
                  </a:lnTo>
                  <a:lnTo>
                    <a:pt x="22" y="9"/>
                  </a:lnTo>
                  <a:lnTo>
                    <a:pt x="6"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39" name="Freeform 111"/>
            <p:cNvSpPr>
              <a:spLocks/>
            </p:cNvSpPr>
            <p:nvPr/>
          </p:nvSpPr>
          <p:spPr bwMode="auto">
            <a:xfrm>
              <a:off x="5427" y="1772"/>
              <a:ext cx="14" cy="3"/>
            </a:xfrm>
            <a:custGeom>
              <a:avLst/>
              <a:gdLst/>
              <a:ahLst/>
              <a:cxnLst>
                <a:cxn ang="0">
                  <a:pos x="14" y="7"/>
                </a:cxn>
                <a:cxn ang="0">
                  <a:pos x="0" y="7"/>
                </a:cxn>
                <a:cxn ang="0">
                  <a:pos x="4" y="0"/>
                </a:cxn>
                <a:cxn ang="0">
                  <a:pos x="14" y="7"/>
                </a:cxn>
              </a:cxnLst>
              <a:rect l="0" t="0" r="r" b="b"/>
              <a:pathLst>
                <a:path w="14" h="7">
                  <a:moveTo>
                    <a:pt x="14" y="7"/>
                  </a:moveTo>
                  <a:lnTo>
                    <a:pt x="0" y="7"/>
                  </a:lnTo>
                  <a:lnTo>
                    <a:pt x="4" y="0"/>
                  </a:lnTo>
                  <a:lnTo>
                    <a:pt x="14" y="7"/>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0" name="Freeform 112"/>
            <p:cNvSpPr>
              <a:spLocks/>
            </p:cNvSpPr>
            <p:nvPr/>
          </p:nvSpPr>
          <p:spPr bwMode="auto">
            <a:xfrm>
              <a:off x="3749" y="1948"/>
              <a:ext cx="10" cy="3"/>
            </a:xfrm>
            <a:custGeom>
              <a:avLst/>
              <a:gdLst/>
              <a:ahLst/>
              <a:cxnLst>
                <a:cxn ang="0">
                  <a:pos x="10" y="0"/>
                </a:cxn>
                <a:cxn ang="0">
                  <a:pos x="9" y="0"/>
                </a:cxn>
                <a:cxn ang="0">
                  <a:pos x="5" y="4"/>
                </a:cxn>
                <a:cxn ang="0">
                  <a:pos x="4" y="5"/>
                </a:cxn>
                <a:cxn ang="0">
                  <a:pos x="4" y="7"/>
                </a:cxn>
                <a:cxn ang="0">
                  <a:pos x="0" y="7"/>
                </a:cxn>
                <a:cxn ang="0">
                  <a:pos x="3" y="7"/>
                </a:cxn>
                <a:cxn ang="0">
                  <a:pos x="5" y="7"/>
                </a:cxn>
                <a:cxn ang="0">
                  <a:pos x="8" y="3"/>
                </a:cxn>
                <a:cxn ang="0">
                  <a:pos x="9" y="3"/>
                </a:cxn>
                <a:cxn ang="0">
                  <a:pos x="10" y="0"/>
                </a:cxn>
              </a:cxnLst>
              <a:rect l="0" t="0" r="r" b="b"/>
              <a:pathLst>
                <a:path w="10" h="7">
                  <a:moveTo>
                    <a:pt x="10" y="0"/>
                  </a:moveTo>
                  <a:lnTo>
                    <a:pt x="9" y="0"/>
                  </a:lnTo>
                  <a:lnTo>
                    <a:pt x="5" y="4"/>
                  </a:lnTo>
                  <a:lnTo>
                    <a:pt x="4" y="5"/>
                  </a:lnTo>
                  <a:lnTo>
                    <a:pt x="4" y="7"/>
                  </a:lnTo>
                  <a:lnTo>
                    <a:pt x="0" y="7"/>
                  </a:lnTo>
                  <a:lnTo>
                    <a:pt x="3" y="7"/>
                  </a:lnTo>
                  <a:lnTo>
                    <a:pt x="5" y="7"/>
                  </a:lnTo>
                  <a:lnTo>
                    <a:pt x="8" y="3"/>
                  </a:lnTo>
                  <a:lnTo>
                    <a:pt x="9" y="3"/>
                  </a:lnTo>
                  <a:lnTo>
                    <a:pt x="10" y="0"/>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1" name="Freeform 113"/>
            <p:cNvSpPr>
              <a:spLocks/>
            </p:cNvSpPr>
            <p:nvPr/>
          </p:nvSpPr>
          <p:spPr bwMode="auto">
            <a:xfrm>
              <a:off x="1322" y="1487"/>
              <a:ext cx="2509" cy="658"/>
            </a:xfrm>
            <a:custGeom>
              <a:avLst/>
              <a:gdLst/>
              <a:ahLst/>
              <a:cxnLst>
                <a:cxn ang="0">
                  <a:pos x="2483" y="112"/>
                </a:cxn>
                <a:cxn ang="0">
                  <a:pos x="2349" y="215"/>
                </a:cxn>
                <a:cxn ang="0">
                  <a:pos x="2076" y="309"/>
                </a:cxn>
                <a:cxn ang="0">
                  <a:pos x="1883" y="384"/>
                </a:cxn>
                <a:cxn ang="0">
                  <a:pos x="1854" y="312"/>
                </a:cxn>
                <a:cxn ang="0">
                  <a:pos x="1829" y="177"/>
                </a:cxn>
                <a:cxn ang="0">
                  <a:pos x="1685" y="60"/>
                </a:cxn>
                <a:cxn ang="0">
                  <a:pos x="1456" y="32"/>
                </a:cxn>
                <a:cxn ang="0">
                  <a:pos x="1235" y="20"/>
                </a:cxn>
                <a:cxn ang="0">
                  <a:pos x="887" y="20"/>
                </a:cxn>
                <a:cxn ang="0">
                  <a:pos x="539" y="20"/>
                </a:cxn>
                <a:cxn ang="0">
                  <a:pos x="297" y="108"/>
                </a:cxn>
                <a:cxn ang="0">
                  <a:pos x="269" y="107"/>
                </a:cxn>
                <a:cxn ang="0">
                  <a:pos x="217" y="124"/>
                </a:cxn>
                <a:cxn ang="0">
                  <a:pos x="191" y="166"/>
                </a:cxn>
                <a:cxn ang="0">
                  <a:pos x="77" y="341"/>
                </a:cxn>
                <a:cxn ang="0">
                  <a:pos x="0" y="541"/>
                </a:cxn>
                <a:cxn ang="0">
                  <a:pos x="25" y="616"/>
                </a:cxn>
                <a:cxn ang="0">
                  <a:pos x="25" y="673"/>
                </a:cxn>
                <a:cxn ang="0">
                  <a:pos x="49" y="809"/>
                </a:cxn>
                <a:cxn ang="0">
                  <a:pos x="245" y="909"/>
                </a:cxn>
                <a:cxn ang="0">
                  <a:pos x="446" y="981"/>
                </a:cxn>
                <a:cxn ang="0">
                  <a:pos x="642" y="1065"/>
                </a:cxn>
                <a:cxn ang="0">
                  <a:pos x="810" y="1126"/>
                </a:cxn>
                <a:cxn ang="0">
                  <a:pos x="925" y="1214"/>
                </a:cxn>
                <a:cxn ang="0">
                  <a:pos x="952" y="1164"/>
                </a:cxn>
                <a:cxn ang="0">
                  <a:pos x="999" y="1138"/>
                </a:cxn>
                <a:cxn ang="0">
                  <a:pos x="1084" y="1080"/>
                </a:cxn>
                <a:cxn ang="0">
                  <a:pos x="1194" y="1071"/>
                </a:cxn>
                <a:cxn ang="0">
                  <a:pos x="1279" y="1078"/>
                </a:cxn>
                <a:cxn ang="0">
                  <a:pos x="1316" y="1060"/>
                </a:cxn>
                <a:cxn ang="0">
                  <a:pos x="1379" y="1037"/>
                </a:cxn>
                <a:cxn ang="0">
                  <a:pos x="1421" y="1036"/>
                </a:cxn>
                <a:cxn ang="0">
                  <a:pos x="1493" y="1054"/>
                </a:cxn>
                <a:cxn ang="0">
                  <a:pos x="1580" y="1085"/>
                </a:cxn>
                <a:cxn ang="0">
                  <a:pos x="1601" y="1168"/>
                </a:cxn>
                <a:cxn ang="0">
                  <a:pos x="1623" y="1235"/>
                </a:cxn>
                <a:cxn ang="0">
                  <a:pos x="1687" y="1266"/>
                </a:cxn>
                <a:cxn ang="0">
                  <a:pos x="1689" y="1127"/>
                </a:cxn>
                <a:cxn ang="0">
                  <a:pos x="1696" y="979"/>
                </a:cxn>
                <a:cxn ang="0">
                  <a:pos x="1807" y="874"/>
                </a:cxn>
                <a:cxn ang="0">
                  <a:pos x="1960" y="781"/>
                </a:cxn>
                <a:cxn ang="0">
                  <a:pos x="1980" y="752"/>
                </a:cxn>
                <a:cxn ang="0">
                  <a:pos x="1957" y="716"/>
                </a:cxn>
                <a:cxn ang="0">
                  <a:pos x="2004" y="737"/>
                </a:cxn>
                <a:cxn ang="0">
                  <a:pos x="1976" y="641"/>
                </a:cxn>
                <a:cxn ang="0">
                  <a:pos x="1966" y="594"/>
                </a:cxn>
                <a:cxn ang="0">
                  <a:pos x="2005" y="595"/>
                </a:cxn>
                <a:cxn ang="0">
                  <a:pos x="2013" y="594"/>
                </a:cxn>
                <a:cxn ang="0">
                  <a:pos x="2004" y="656"/>
                </a:cxn>
                <a:cxn ang="0">
                  <a:pos x="2075" y="548"/>
                </a:cxn>
                <a:cxn ang="0">
                  <a:pos x="2154" y="442"/>
                </a:cxn>
                <a:cxn ang="0">
                  <a:pos x="2267" y="414"/>
                </a:cxn>
                <a:cxn ang="0">
                  <a:pos x="2330" y="415"/>
                </a:cxn>
                <a:cxn ang="0">
                  <a:pos x="2312" y="358"/>
                </a:cxn>
                <a:cxn ang="0">
                  <a:pos x="2423" y="267"/>
                </a:cxn>
              </a:cxnLst>
              <a:rect l="0" t="0" r="r" b="b"/>
              <a:pathLst>
                <a:path w="2509" h="1317">
                  <a:moveTo>
                    <a:pt x="2506" y="243"/>
                  </a:moveTo>
                  <a:lnTo>
                    <a:pt x="2501" y="224"/>
                  </a:lnTo>
                  <a:lnTo>
                    <a:pt x="2490" y="190"/>
                  </a:lnTo>
                  <a:lnTo>
                    <a:pt x="2509" y="123"/>
                  </a:lnTo>
                  <a:lnTo>
                    <a:pt x="2483" y="112"/>
                  </a:lnTo>
                  <a:lnTo>
                    <a:pt x="2462" y="113"/>
                  </a:lnTo>
                  <a:lnTo>
                    <a:pt x="2459" y="101"/>
                  </a:lnTo>
                  <a:lnTo>
                    <a:pt x="2423" y="142"/>
                  </a:lnTo>
                  <a:lnTo>
                    <a:pt x="2388" y="181"/>
                  </a:lnTo>
                  <a:lnTo>
                    <a:pt x="2349" y="215"/>
                  </a:lnTo>
                  <a:lnTo>
                    <a:pt x="2320" y="233"/>
                  </a:lnTo>
                  <a:lnTo>
                    <a:pt x="2240" y="238"/>
                  </a:lnTo>
                  <a:lnTo>
                    <a:pt x="2159" y="243"/>
                  </a:lnTo>
                  <a:lnTo>
                    <a:pt x="2118" y="276"/>
                  </a:lnTo>
                  <a:lnTo>
                    <a:pt x="2076" y="309"/>
                  </a:lnTo>
                  <a:lnTo>
                    <a:pt x="2026" y="313"/>
                  </a:lnTo>
                  <a:lnTo>
                    <a:pt x="1974" y="318"/>
                  </a:lnTo>
                  <a:lnTo>
                    <a:pt x="1970" y="353"/>
                  </a:lnTo>
                  <a:lnTo>
                    <a:pt x="1927" y="369"/>
                  </a:lnTo>
                  <a:lnTo>
                    <a:pt x="1883" y="384"/>
                  </a:lnTo>
                  <a:lnTo>
                    <a:pt x="1838" y="399"/>
                  </a:lnTo>
                  <a:lnTo>
                    <a:pt x="1794" y="414"/>
                  </a:lnTo>
                  <a:lnTo>
                    <a:pt x="1780" y="394"/>
                  </a:lnTo>
                  <a:lnTo>
                    <a:pt x="1831" y="342"/>
                  </a:lnTo>
                  <a:lnTo>
                    <a:pt x="1854" y="312"/>
                  </a:lnTo>
                  <a:lnTo>
                    <a:pt x="1862" y="264"/>
                  </a:lnTo>
                  <a:lnTo>
                    <a:pt x="1872" y="215"/>
                  </a:lnTo>
                  <a:lnTo>
                    <a:pt x="1838" y="190"/>
                  </a:lnTo>
                  <a:lnTo>
                    <a:pt x="1843" y="175"/>
                  </a:lnTo>
                  <a:lnTo>
                    <a:pt x="1829" y="177"/>
                  </a:lnTo>
                  <a:lnTo>
                    <a:pt x="1825" y="153"/>
                  </a:lnTo>
                  <a:lnTo>
                    <a:pt x="1790" y="131"/>
                  </a:lnTo>
                  <a:lnTo>
                    <a:pt x="1755" y="107"/>
                  </a:lnTo>
                  <a:lnTo>
                    <a:pt x="1720" y="84"/>
                  </a:lnTo>
                  <a:lnTo>
                    <a:pt x="1685" y="60"/>
                  </a:lnTo>
                  <a:lnTo>
                    <a:pt x="1630" y="75"/>
                  </a:lnTo>
                  <a:lnTo>
                    <a:pt x="1596" y="61"/>
                  </a:lnTo>
                  <a:lnTo>
                    <a:pt x="1560" y="67"/>
                  </a:lnTo>
                  <a:lnTo>
                    <a:pt x="1501" y="41"/>
                  </a:lnTo>
                  <a:lnTo>
                    <a:pt x="1456" y="32"/>
                  </a:lnTo>
                  <a:lnTo>
                    <a:pt x="1461" y="0"/>
                  </a:lnTo>
                  <a:lnTo>
                    <a:pt x="1443" y="19"/>
                  </a:lnTo>
                  <a:lnTo>
                    <a:pt x="1373" y="20"/>
                  </a:lnTo>
                  <a:lnTo>
                    <a:pt x="1303" y="20"/>
                  </a:lnTo>
                  <a:lnTo>
                    <a:pt x="1235" y="20"/>
                  </a:lnTo>
                  <a:lnTo>
                    <a:pt x="1165" y="20"/>
                  </a:lnTo>
                  <a:lnTo>
                    <a:pt x="1095" y="20"/>
                  </a:lnTo>
                  <a:lnTo>
                    <a:pt x="1025" y="20"/>
                  </a:lnTo>
                  <a:lnTo>
                    <a:pt x="956" y="20"/>
                  </a:lnTo>
                  <a:lnTo>
                    <a:pt x="887" y="20"/>
                  </a:lnTo>
                  <a:lnTo>
                    <a:pt x="817" y="20"/>
                  </a:lnTo>
                  <a:lnTo>
                    <a:pt x="748" y="20"/>
                  </a:lnTo>
                  <a:lnTo>
                    <a:pt x="678" y="20"/>
                  </a:lnTo>
                  <a:lnTo>
                    <a:pt x="609" y="20"/>
                  </a:lnTo>
                  <a:lnTo>
                    <a:pt x="539" y="20"/>
                  </a:lnTo>
                  <a:lnTo>
                    <a:pt x="470" y="20"/>
                  </a:lnTo>
                  <a:lnTo>
                    <a:pt x="400" y="20"/>
                  </a:lnTo>
                  <a:lnTo>
                    <a:pt x="330" y="20"/>
                  </a:lnTo>
                  <a:lnTo>
                    <a:pt x="316" y="65"/>
                  </a:lnTo>
                  <a:lnTo>
                    <a:pt x="297" y="108"/>
                  </a:lnTo>
                  <a:lnTo>
                    <a:pt x="263" y="123"/>
                  </a:lnTo>
                  <a:lnTo>
                    <a:pt x="270" y="110"/>
                  </a:lnTo>
                  <a:lnTo>
                    <a:pt x="273" y="117"/>
                  </a:lnTo>
                  <a:lnTo>
                    <a:pt x="306" y="77"/>
                  </a:lnTo>
                  <a:lnTo>
                    <a:pt x="269" y="107"/>
                  </a:lnTo>
                  <a:lnTo>
                    <a:pt x="264" y="108"/>
                  </a:lnTo>
                  <a:lnTo>
                    <a:pt x="288" y="86"/>
                  </a:lnTo>
                  <a:lnTo>
                    <a:pt x="301" y="67"/>
                  </a:lnTo>
                  <a:lnTo>
                    <a:pt x="238" y="53"/>
                  </a:lnTo>
                  <a:lnTo>
                    <a:pt x="217" y="124"/>
                  </a:lnTo>
                  <a:lnTo>
                    <a:pt x="211" y="133"/>
                  </a:lnTo>
                  <a:lnTo>
                    <a:pt x="209" y="142"/>
                  </a:lnTo>
                  <a:lnTo>
                    <a:pt x="206" y="152"/>
                  </a:lnTo>
                  <a:lnTo>
                    <a:pt x="203" y="146"/>
                  </a:lnTo>
                  <a:lnTo>
                    <a:pt x="191" y="166"/>
                  </a:lnTo>
                  <a:lnTo>
                    <a:pt x="220" y="171"/>
                  </a:lnTo>
                  <a:lnTo>
                    <a:pt x="197" y="171"/>
                  </a:lnTo>
                  <a:lnTo>
                    <a:pt x="178" y="198"/>
                  </a:lnTo>
                  <a:lnTo>
                    <a:pt x="126" y="269"/>
                  </a:lnTo>
                  <a:lnTo>
                    <a:pt x="77" y="341"/>
                  </a:lnTo>
                  <a:lnTo>
                    <a:pt x="61" y="385"/>
                  </a:lnTo>
                  <a:lnTo>
                    <a:pt x="46" y="429"/>
                  </a:lnTo>
                  <a:lnTo>
                    <a:pt x="3" y="481"/>
                  </a:lnTo>
                  <a:lnTo>
                    <a:pt x="7" y="500"/>
                  </a:lnTo>
                  <a:lnTo>
                    <a:pt x="0" y="541"/>
                  </a:lnTo>
                  <a:lnTo>
                    <a:pt x="6" y="576"/>
                  </a:lnTo>
                  <a:lnTo>
                    <a:pt x="12" y="610"/>
                  </a:lnTo>
                  <a:lnTo>
                    <a:pt x="8" y="603"/>
                  </a:lnTo>
                  <a:lnTo>
                    <a:pt x="4" y="613"/>
                  </a:lnTo>
                  <a:lnTo>
                    <a:pt x="25" y="616"/>
                  </a:lnTo>
                  <a:lnTo>
                    <a:pt x="36" y="614"/>
                  </a:lnTo>
                  <a:lnTo>
                    <a:pt x="28" y="642"/>
                  </a:lnTo>
                  <a:lnTo>
                    <a:pt x="20" y="635"/>
                  </a:lnTo>
                  <a:lnTo>
                    <a:pt x="12" y="642"/>
                  </a:lnTo>
                  <a:lnTo>
                    <a:pt x="25" y="673"/>
                  </a:lnTo>
                  <a:lnTo>
                    <a:pt x="13" y="693"/>
                  </a:lnTo>
                  <a:lnTo>
                    <a:pt x="22" y="724"/>
                  </a:lnTo>
                  <a:lnTo>
                    <a:pt x="33" y="756"/>
                  </a:lnTo>
                  <a:lnTo>
                    <a:pt x="25" y="804"/>
                  </a:lnTo>
                  <a:lnTo>
                    <a:pt x="49" y="809"/>
                  </a:lnTo>
                  <a:lnTo>
                    <a:pt x="95" y="833"/>
                  </a:lnTo>
                  <a:lnTo>
                    <a:pt x="137" y="870"/>
                  </a:lnTo>
                  <a:lnTo>
                    <a:pt x="139" y="916"/>
                  </a:lnTo>
                  <a:lnTo>
                    <a:pt x="192" y="912"/>
                  </a:lnTo>
                  <a:lnTo>
                    <a:pt x="245" y="909"/>
                  </a:lnTo>
                  <a:lnTo>
                    <a:pt x="279" y="927"/>
                  </a:lnTo>
                  <a:lnTo>
                    <a:pt x="313" y="945"/>
                  </a:lnTo>
                  <a:lnTo>
                    <a:pt x="348" y="964"/>
                  </a:lnTo>
                  <a:lnTo>
                    <a:pt x="383" y="981"/>
                  </a:lnTo>
                  <a:lnTo>
                    <a:pt x="446" y="981"/>
                  </a:lnTo>
                  <a:lnTo>
                    <a:pt x="509" y="981"/>
                  </a:lnTo>
                  <a:lnTo>
                    <a:pt x="517" y="956"/>
                  </a:lnTo>
                  <a:lnTo>
                    <a:pt x="591" y="956"/>
                  </a:lnTo>
                  <a:lnTo>
                    <a:pt x="628" y="1009"/>
                  </a:lnTo>
                  <a:lnTo>
                    <a:pt x="642" y="1065"/>
                  </a:lnTo>
                  <a:lnTo>
                    <a:pt x="669" y="1088"/>
                  </a:lnTo>
                  <a:lnTo>
                    <a:pt x="697" y="1111"/>
                  </a:lnTo>
                  <a:lnTo>
                    <a:pt x="728" y="1069"/>
                  </a:lnTo>
                  <a:lnTo>
                    <a:pt x="790" y="1075"/>
                  </a:lnTo>
                  <a:lnTo>
                    <a:pt x="810" y="1126"/>
                  </a:lnTo>
                  <a:lnTo>
                    <a:pt x="829" y="1176"/>
                  </a:lnTo>
                  <a:lnTo>
                    <a:pt x="845" y="1241"/>
                  </a:lnTo>
                  <a:lnTo>
                    <a:pt x="875" y="1266"/>
                  </a:lnTo>
                  <a:lnTo>
                    <a:pt x="929" y="1276"/>
                  </a:lnTo>
                  <a:lnTo>
                    <a:pt x="925" y="1214"/>
                  </a:lnTo>
                  <a:lnTo>
                    <a:pt x="922" y="1206"/>
                  </a:lnTo>
                  <a:lnTo>
                    <a:pt x="918" y="1194"/>
                  </a:lnTo>
                  <a:lnTo>
                    <a:pt x="933" y="1201"/>
                  </a:lnTo>
                  <a:lnTo>
                    <a:pt x="940" y="1174"/>
                  </a:lnTo>
                  <a:lnTo>
                    <a:pt x="952" y="1164"/>
                  </a:lnTo>
                  <a:lnTo>
                    <a:pt x="976" y="1146"/>
                  </a:lnTo>
                  <a:lnTo>
                    <a:pt x="987" y="1136"/>
                  </a:lnTo>
                  <a:lnTo>
                    <a:pt x="988" y="1128"/>
                  </a:lnTo>
                  <a:lnTo>
                    <a:pt x="1011" y="1130"/>
                  </a:lnTo>
                  <a:lnTo>
                    <a:pt x="999" y="1138"/>
                  </a:lnTo>
                  <a:lnTo>
                    <a:pt x="1024" y="1125"/>
                  </a:lnTo>
                  <a:lnTo>
                    <a:pt x="1013" y="1126"/>
                  </a:lnTo>
                  <a:lnTo>
                    <a:pt x="1067" y="1087"/>
                  </a:lnTo>
                  <a:lnTo>
                    <a:pt x="1072" y="1071"/>
                  </a:lnTo>
                  <a:lnTo>
                    <a:pt x="1084" y="1080"/>
                  </a:lnTo>
                  <a:lnTo>
                    <a:pt x="1079" y="1085"/>
                  </a:lnTo>
                  <a:lnTo>
                    <a:pt x="1114" y="1064"/>
                  </a:lnTo>
                  <a:lnTo>
                    <a:pt x="1122" y="1064"/>
                  </a:lnTo>
                  <a:lnTo>
                    <a:pt x="1158" y="1068"/>
                  </a:lnTo>
                  <a:lnTo>
                    <a:pt x="1194" y="1071"/>
                  </a:lnTo>
                  <a:lnTo>
                    <a:pt x="1216" y="1069"/>
                  </a:lnTo>
                  <a:lnTo>
                    <a:pt x="1230" y="1088"/>
                  </a:lnTo>
                  <a:lnTo>
                    <a:pt x="1256" y="1097"/>
                  </a:lnTo>
                  <a:lnTo>
                    <a:pt x="1280" y="1098"/>
                  </a:lnTo>
                  <a:lnTo>
                    <a:pt x="1279" y="1078"/>
                  </a:lnTo>
                  <a:lnTo>
                    <a:pt x="1315" y="1102"/>
                  </a:lnTo>
                  <a:lnTo>
                    <a:pt x="1305" y="1113"/>
                  </a:lnTo>
                  <a:lnTo>
                    <a:pt x="1321" y="1097"/>
                  </a:lnTo>
                  <a:lnTo>
                    <a:pt x="1302" y="1071"/>
                  </a:lnTo>
                  <a:lnTo>
                    <a:pt x="1316" y="1060"/>
                  </a:lnTo>
                  <a:lnTo>
                    <a:pt x="1310" y="1056"/>
                  </a:lnTo>
                  <a:lnTo>
                    <a:pt x="1307" y="1051"/>
                  </a:lnTo>
                  <a:lnTo>
                    <a:pt x="1275" y="1044"/>
                  </a:lnTo>
                  <a:lnTo>
                    <a:pt x="1305" y="1042"/>
                  </a:lnTo>
                  <a:lnTo>
                    <a:pt x="1379" y="1037"/>
                  </a:lnTo>
                  <a:lnTo>
                    <a:pt x="1390" y="1014"/>
                  </a:lnTo>
                  <a:lnTo>
                    <a:pt x="1386" y="1040"/>
                  </a:lnTo>
                  <a:lnTo>
                    <a:pt x="1409" y="1037"/>
                  </a:lnTo>
                  <a:lnTo>
                    <a:pt x="1431" y="1027"/>
                  </a:lnTo>
                  <a:lnTo>
                    <a:pt x="1421" y="1036"/>
                  </a:lnTo>
                  <a:lnTo>
                    <a:pt x="1463" y="1032"/>
                  </a:lnTo>
                  <a:lnTo>
                    <a:pt x="1451" y="1032"/>
                  </a:lnTo>
                  <a:lnTo>
                    <a:pt x="1479" y="1041"/>
                  </a:lnTo>
                  <a:lnTo>
                    <a:pt x="1487" y="1041"/>
                  </a:lnTo>
                  <a:lnTo>
                    <a:pt x="1493" y="1054"/>
                  </a:lnTo>
                  <a:lnTo>
                    <a:pt x="1485" y="1047"/>
                  </a:lnTo>
                  <a:lnTo>
                    <a:pt x="1494" y="1071"/>
                  </a:lnTo>
                  <a:lnTo>
                    <a:pt x="1493" y="1071"/>
                  </a:lnTo>
                  <a:lnTo>
                    <a:pt x="1558" y="1049"/>
                  </a:lnTo>
                  <a:lnTo>
                    <a:pt x="1580" y="1085"/>
                  </a:lnTo>
                  <a:lnTo>
                    <a:pt x="1604" y="1121"/>
                  </a:lnTo>
                  <a:lnTo>
                    <a:pt x="1590" y="1184"/>
                  </a:lnTo>
                  <a:lnTo>
                    <a:pt x="1588" y="1174"/>
                  </a:lnTo>
                  <a:lnTo>
                    <a:pt x="1593" y="1182"/>
                  </a:lnTo>
                  <a:lnTo>
                    <a:pt x="1601" y="1168"/>
                  </a:lnTo>
                  <a:lnTo>
                    <a:pt x="1594" y="1203"/>
                  </a:lnTo>
                  <a:lnTo>
                    <a:pt x="1607" y="1223"/>
                  </a:lnTo>
                  <a:lnTo>
                    <a:pt x="1612" y="1227"/>
                  </a:lnTo>
                  <a:lnTo>
                    <a:pt x="1613" y="1244"/>
                  </a:lnTo>
                  <a:lnTo>
                    <a:pt x="1623" y="1235"/>
                  </a:lnTo>
                  <a:lnTo>
                    <a:pt x="1616" y="1247"/>
                  </a:lnTo>
                  <a:lnTo>
                    <a:pt x="1624" y="1280"/>
                  </a:lnTo>
                  <a:lnTo>
                    <a:pt x="1643" y="1317"/>
                  </a:lnTo>
                  <a:lnTo>
                    <a:pt x="1672" y="1311"/>
                  </a:lnTo>
                  <a:lnTo>
                    <a:pt x="1687" y="1266"/>
                  </a:lnTo>
                  <a:lnTo>
                    <a:pt x="1701" y="1222"/>
                  </a:lnTo>
                  <a:lnTo>
                    <a:pt x="1694" y="1175"/>
                  </a:lnTo>
                  <a:lnTo>
                    <a:pt x="1687" y="1128"/>
                  </a:lnTo>
                  <a:lnTo>
                    <a:pt x="1694" y="1171"/>
                  </a:lnTo>
                  <a:lnTo>
                    <a:pt x="1689" y="1127"/>
                  </a:lnTo>
                  <a:lnTo>
                    <a:pt x="1685" y="1083"/>
                  </a:lnTo>
                  <a:lnTo>
                    <a:pt x="1682" y="1040"/>
                  </a:lnTo>
                  <a:lnTo>
                    <a:pt x="1681" y="995"/>
                  </a:lnTo>
                  <a:lnTo>
                    <a:pt x="1694" y="985"/>
                  </a:lnTo>
                  <a:lnTo>
                    <a:pt x="1696" y="979"/>
                  </a:lnTo>
                  <a:lnTo>
                    <a:pt x="1714" y="952"/>
                  </a:lnTo>
                  <a:lnTo>
                    <a:pt x="1729" y="927"/>
                  </a:lnTo>
                  <a:lnTo>
                    <a:pt x="1731" y="923"/>
                  </a:lnTo>
                  <a:lnTo>
                    <a:pt x="1744" y="919"/>
                  </a:lnTo>
                  <a:lnTo>
                    <a:pt x="1807" y="874"/>
                  </a:lnTo>
                  <a:lnTo>
                    <a:pt x="1811" y="873"/>
                  </a:lnTo>
                  <a:lnTo>
                    <a:pt x="1856" y="840"/>
                  </a:lnTo>
                  <a:lnTo>
                    <a:pt x="1874" y="833"/>
                  </a:lnTo>
                  <a:lnTo>
                    <a:pt x="1906" y="803"/>
                  </a:lnTo>
                  <a:lnTo>
                    <a:pt x="1960" y="781"/>
                  </a:lnTo>
                  <a:lnTo>
                    <a:pt x="1927" y="771"/>
                  </a:lnTo>
                  <a:lnTo>
                    <a:pt x="1948" y="774"/>
                  </a:lnTo>
                  <a:lnTo>
                    <a:pt x="1955" y="764"/>
                  </a:lnTo>
                  <a:lnTo>
                    <a:pt x="1934" y="751"/>
                  </a:lnTo>
                  <a:lnTo>
                    <a:pt x="1980" y="752"/>
                  </a:lnTo>
                  <a:lnTo>
                    <a:pt x="1993" y="728"/>
                  </a:lnTo>
                  <a:lnTo>
                    <a:pt x="1981" y="737"/>
                  </a:lnTo>
                  <a:lnTo>
                    <a:pt x="1969" y="726"/>
                  </a:lnTo>
                  <a:lnTo>
                    <a:pt x="1955" y="718"/>
                  </a:lnTo>
                  <a:lnTo>
                    <a:pt x="1957" y="716"/>
                  </a:lnTo>
                  <a:lnTo>
                    <a:pt x="1974" y="719"/>
                  </a:lnTo>
                  <a:lnTo>
                    <a:pt x="1989" y="716"/>
                  </a:lnTo>
                  <a:lnTo>
                    <a:pt x="1997" y="722"/>
                  </a:lnTo>
                  <a:lnTo>
                    <a:pt x="1999" y="685"/>
                  </a:lnTo>
                  <a:lnTo>
                    <a:pt x="2004" y="737"/>
                  </a:lnTo>
                  <a:lnTo>
                    <a:pt x="1990" y="673"/>
                  </a:lnTo>
                  <a:lnTo>
                    <a:pt x="1974" y="667"/>
                  </a:lnTo>
                  <a:lnTo>
                    <a:pt x="1960" y="652"/>
                  </a:lnTo>
                  <a:lnTo>
                    <a:pt x="1989" y="665"/>
                  </a:lnTo>
                  <a:lnTo>
                    <a:pt x="1976" y="641"/>
                  </a:lnTo>
                  <a:lnTo>
                    <a:pt x="1995" y="654"/>
                  </a:lnTo>
                  <a:lnTo>
                    <a:pt x="1973" y="609"/>
                  </a:lnTo>
                  <a:lnTo>
                    <a:pt x="1999" y="629"/>
                  </a:lnTo>
                  <a:lnTo>
                    <a:pt x="1978" y="594"/>
                  </a:lnTo>
                  <a:lnTo>
                    <a:pt x="1966" y="594"/>
                  </a:lnTo>
                  <a:lnTo>
                    <a:pt x="1985" y="571"/>
                  </a:lnTo>
                  <a:lnTo>
                    <a:pt x="1978" y="591"/>
                  </a:lnTo>
                  <a:lnTo>
                    <a:pt x="2005" y="607"/>
                  </a:lnTo>
                  <a:lnTo>
                    <a:pt x="1997" y="578"/>
                  </a:lnTo>
                  <a:lnTo>
                    <a:pt x="2005" y="595"/>
                  </a:lnTo>
                  <a:lnTo>
                    <a:pt x="2014" y="548"/>
                  </a:lnTo>
                  <a:lnTo>
                    <a:pt x="2041" y="534"/>
                  </a:lnTo>
                  <a:lnTo>
                    <a:pt x="2023" y="565"/>
                  </a:lnTo>
                  <a:lnTo>
                    <a:pt x="2019" y="580"/>
                  </a:lnTo>
                  <a:lnTo>
                    <a:pt x="2013" y="594"/>
                  </a:lnTo>
                  <a:lnTo>
                    <a:pt x="2027" y="603"/>
                  </a:lnTo>
                  <a:lnTo>
                    <a:pt x="2020" y="618"/>
                  </a:lnTo>
                  <a:lnTo>
                    <a:pt x="2023" y="627"/>
                  </a:lnTo>
                  <a:lnTo>
                    <a:pt x="2015" y="637"/>
                  </a:lnTo>
                  <a:lnTo>
                    <a:pt x="2004" y="656"/>
                  </a:lnTo>
                  <a:lnTo>
                    <a:pt x="2061" y="594"/>
                  </a:lnTo>
                  <a:lnTo>
                    <a:pt x="2056" y="534"/>
                  </a:lnTo>
                  <a:lnTo>
                    <a:pt x="2080" y="512"/>
                  </a:lnTo>
                  <a:lnTo>
                    <a:pt x="2059" y="527"/>
                  </a:lnTo>
                  <a:lnTo>
                    <a:pt x="2075" y="548"/>
                  </a:lnTo>
                  <a:lnTo>
                    <a:pt x="2074" y="565"/>
                  </a:lnTo>
                  <a:lnTo>
                    <a:pt x="2126" y="510"/>
                  </a:lnTo>
                  <a:lnTo>
                    <a:pt x="2123" y="518"/>
                  </a:lnTo>
                  <a:lnTo>
                    <a:pt x="2134" y="481"/>
                  </a:lnTo>
                  <a:lnTo>
                    <a:pt x="2154" y="442"/>
                  </a:lnTo>
                  <a:lnTo>
                    <a:pt x="2148" y="459"/>
                  </a:lnTo>
                  <a:lnTo>
                    <a:pt x="2165" y="451"/>
                  </a:lnTo>
                  <a:lnTo>
                    <a:pt x="2211" y="441"/>
                  </a:lnTo>
                  <a:lnTo>
                    <a:pt x="2258" y="431"/>
                  </a:lnTo>
                  <a:lnTo>
                    <a:pt x="2267" y="414"/>
                  </a:lnTo>
                  <a:lnTo>
                    <a:pt x="2276" y="415"/>
                  </a:lnTo>
                  <a:lnTo>
                    <a:pt x="2277" y="417"/>
                  </a:lnTo>
                  <a:lnTo>
                    <a:pt x="2294" y="427"/>
                  </a:lnTo>
                  <a:lnTo>
                    <a:pt x="2304" y="429"/>
                  </a:lnTo>
                  <a:lnTo>
                    <a:pt x="2330" y="415"/>
                  </a:lnTo>
                  <a:lnTo>
                    <a:pt x="2329" y="394"/>
                  </a:lnTo>
                  <a:lnTo>
                    <a:pt x="2331" y="407"/>
                  </a:lnTo>
                  <a:lnTo>
                    <a:pt x="2306" y="398"/>
                  </a:lnTo>
                  <a:lnTo>
                    <a:pt x="2311" y="366"/>
                  </a:lnTo>
                  <a:lnTo>
                    <a:pt x="2312" y="358"/>
                  </a:lnTo>
                  <a:lnTo>
                    <a:pt x="2361" y="303"/>
                  </a:lnTo>
                  <a:lnTo>
                    <a:pt x="2375" y="293"/>
                  </a:lnTo>
                  <a:lnTo>
                    <a:pt x="2382" y="296"/>
                  </a:lnTo>
                  <a:lnTo>
                    <a:pt x="2421" y="261"/>
                  </a:lnTo>
                  <a:lnTo>
                    <a:pt x="2423" y="267"/>
                  </a:lnTo>
                  <a:lnTo>
                    <a:pt x="2432" y="265"/>
                  </a:lnTo>
                  <a:lnTo>
                    <a:pt x="2453" y="270"/>
                  </a:lnTo>
                  <a:lnTo>
                    <a:pt x="2506" y="243"/>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2" name="Freeform 114"/>
            <p:cNvSpPr>
              <a:spLocks/>
            </p:cNvSpPr>
            <p:nvPr/>
          </p:nvSpPr>
          <p:spPr bwMode="auto">
            <a:xfrm>
              <a:off x="310" y="940"/>
              <a:ext cx="1597" cy="403"/>
            </a:xfrm>
            <a:custGeom>
              <a:avLst/>
              <a:gdLst/>
              <a:ahLst/>
              <a:cxnLst>
                <a:cxn ang="0">
                  <a:pos x="1285" y="701"/>
                </a:cxn>
                <a:cxn ang="0">
                  <a:pos x="1238" y="568"/>
                </a:cxn>
                <a:cxn ang="0">
                  <a:pos x="1167" y="536"/>
                </a:cxn>
                <a:cxn ang="0">
                  <a:pos x="1229" y="411"/>
                </a:cxn>
                <a:cxn ang="0">
                  <a:pos x="1472" y="185"/>
                </a:cxn>
                <a:cxn ang="0">
                  <a:pos x="1448" y="47"/>
                </a:cxn>
                <a:cxn ang="0">
                  <a:pos x="1245" y="19"/>
                </a:cxn>
                <a:cxn ang="0">
                  <a:pos x="1199" y="4"/>
                </a:cxn>
                <a:cxn ang="0">
                  <a:pos x="1031" y="30"/>
                </a:cxn>
                <a:cxn ang="0">
                  <a:pos x="941" y="47"/>
                </a:cxn>
                <a:cxn ang="0">
                  <a:pos x="666" y="135"/>
                </a:cxn>
                <a:cxn ang="0">
                  <a:pos x="724" y="222"/>
                </a:cxn>
                <a:cxn ang="0">
                  <a:pos x="700" y="230"/>
                </a:cxn>
                <a:cxn ang="0">
                  <a:pos x="645" y="218"/>
                </a:cxn>
                <a:cxn ang="0">
                  <a:pos x="450" y="285"/>
                </a:cxn>
                <a:cxn ang="0">
                  <a:pos x="638" y="298"/>
                </a:cxn>
                <a:cxn ang="0">
                  <a:pos x="525" y="369"/>
                </a:cxn>
                <a:cxn ang="0">
                  <a:pos x="374" y="412"/>
                </a:cxn>
                <a:cxn ang="0">
                  <a:pos x="279" y="451"/>
                </a:cxn>
                <a:cxn ang="0">
                  <a:pos x="313" y="464"/>
                </a:cxn>
                <a:cxn ang="0">
                  <a:pos x="301" y="499"/>
                </a:cxn>
                <a:cxn ang="0">
                  <a:pos x="235" y="516"/>
                </a:cxn>
                <a:cxn ang="0">
                  <a:pos x="315" y="541"/>
                </a:cxn>
                <a:cxn ang="0">
                  <a:pos x="253" y="609"/>
                </a:cxn>
                <a:cxn ang="0">
                  <a:pos x="398" y="590"/>
                </a:cxn>
                <a:cxn ang="0">
                  <a:pos x="460" y="592"/>
                </a:cxn>
                <a:cxn ang="0">
                  <a:pos x="359" y="663"/>
                </a:cxn>
                <a:cxn ang="0">
                  <a:pos x="164" y="754"/>
                </a:cxn>
                <a:cxn ang="0">
                  <a:pos x="106" y="751"/>
                </a:cxn>
                <a:cxn ang="0">
                  <a:pos x="36" y="788"/>
                </a:cxn>
                <a:cxn ang="0">
                  <a:pos x="96" y="772"/>
                </a:cxn>
                <a:cxn ang="0">
                  <a:pos x="234" y="745"/>
                </a:cxn>
                <a:cxn ang="0">
                  <a:pos x="487" y="642"/>
                </a:cxn>
                <a:cxn ang="0">
                  <a:pos x="660" y="545"/>
                </a:cxn>
                <a:cxn ang="0">
                  <a:pos x="861" y="466"/>
                </a:cxn>
                <a:cxn ang="0">
                  <a:pos x="751" y="506"/>
                </a:cxn>
                <a:cxn ang="0">
                  <a:pos x="690" y="578"/>
                </a:cxn>
                <a:cxn ang="0">
                  <a:pos x="755" y="556"/>
                </a:cxn>
                <a:cxn ang="0">
                  <a:pos x="811" y="544"/>
                </a:cxn>
                <a:cxn ang="0">
                  <a:pos x="855" y="504"/>
                </a:cxn>
                <a:cxn ang="0">
                  <a:pos x="905" y="492"/>
                </a:cxn>
                <a:cxn ang="0">
                  <a:pos x="942" y="499"/>
                </a:cxn>
                <a:cxn ang="0">
                  <a:pos x="938" y="517"/>
                </a:cxn>
                <a:cxn ang="0">
                  <a:pos x="985" y="534"/>
                </a:cxn>
                <a:cxn ang="0">
                  <a:pos x="1140" y="544"/>
                </a:cxn>
                <a:cxn ang="0">
                  <a:pos x="1129" y="560"/>
                </a:cxn>
                <a:cxn ang="0">
                  <a:pos x="1192" y="596"/>
                </a:cxn>
                <a:cxn ang="0">
                  <a:pos x="1220" y="613"/>
                </a:cxn>
                <a:cxn ang="0">
                  <a:pos x="1258" y="609"/>
                </a:cxn>
                <a:cxn ang="0">
                  <a:pos x="1266" y="645"/>
                </a:cxn>
                <a:cxn ang="0">
                  <a:pos x="1264" y="659"/>
                </a:cxn>
                <a:cxn ang="0">
                  <a:pos x="1262" y="708"/>
                </a:cxn>
                <a:cxn ang="0">
                  <a:pos x="1242" y="760"/>
                </a:cxn>
                <a:cxn ang="0">
                  <a:pos x="1279" y="779"/>
                </a:cxn>
              </a:cxnLst>
              <a:rect l="0" t="0" r="r" b="b"/>
              <a:pathLst>
                <a:path w="1597" h="806">
                  <a:moveTo>
                    <a:pt x="1295" y="782"/>
                  </a:moveTo>
                  <a:lnTo>
                    <a:pt x="1322" y="750"/>
                  </a:lnTo>
                  <a:lnTo>
                    <a:pt x="1303" y="725"/>
                  </a:lnTo>
                  <a:lnTo>
                    <a:pt x="1285" y="701"/>
                  </a:lnTo>
                  <a:lnTo>
                    <a:pt x="1293" y="654"/>
                  </a:lnTo>
                  <a:lnTo>
                    <a:pt x="1303" y="606"/>
                  </a:lnTo>
                  <a:lnTo>
                    <a:pt x="1291" y="551"/>
                  </a:lnTo>
                  <a:lnTo>
                    <a:pt x="1238" y="568"/>
                  </a:lnTo>
                  <a:lnTo>
                    <a:pt x="1210" y="584"/>
                  </a:lnTo>
                  <a:lnTo>
                    <a:pt x="1175" y="597"/>
                  </a:lnTo>
                  <a:lnTo>
                    <a:pt x="1176" y="546"/>
                  </a:lnTo>
                  <a:lnTo>
                    <a:pt x="1167" y="536"/>
                  </a:lnTo>
                  <a:lnTo>
                    <a:pt x="1184" y="523"/>
                  </a:lnTo>
                  <a:lnTo>
                    <a:pt x="1110" y="526"/>
                  </a:lnTo>
                  <a:lnTo>
                    <a:pt x="1170" y="468"/>
                  </a:lnTo>
                  <a:lnTo>
                    <a:pt x="1229" y="411"/>
                  </a:lnTo>
                  <a:lnTo>
                    <a:pt x="1288" y="352"/>
                  </a:lnTo>
                  <a:lnTo>
                    <a:pt x="1347" y="295"/>
                  </a:lnTo>
                  <a:lnTo>
                    <a:pt x="1410" y="240"/>
                  </a:lnTo>
                  <a:lnTo>
                    <a:pt x="1472" y="185"/>
                  </a:lnTo>
                  <a:lnTo>
                    <a:pt x="1535" y="130"/>
                  </a:lnTo>
                  <a:lnTo>
                    <a:pt x="1597" y="75"/>
                  </a:lnTo>
                  <a:lnTo>
                    <a:pt x="1519" y="55"/>
                  </a:lnTo>
                  <a:lnTo>
                    <a:pt x="1448" y="47"/>
                  </a:lnTo>
                  <a:lnTo>
                    <a:pt x="1377" y="40"/>
                  </a:lnTo>
                  <a:lnTo>
                    <a:pt x="1285" y="33"/>
                  </a:lnTo>
                  <a:lnTo>
                    <a:pt x="1280" y="27"/>
                  </a:lnTo>
                  <a:lnTo>
                    <a:pt x="1245" y="19"/>
                  </a:lnTo>
                  <a:lnTo>
                    <a:pt x="1223" y="17"/>
                  </a:lnTo>
                  <a:lnTo>
                    <a:pt x="1212" y="12"/>
                  </a:lnTo>
                  <a:lnTo>
                    <a:pt x="1178" y="18"/>
                  </a:lnTo>
                  <a:lnTo>
                    <a:pt x="1199" y="4"/>
                  </a:lnTo>
                  <a:lnTo>
                    <a:pt x="1176" y="0"/>
                  </a:lnTo>
                  <a:lnTo>
                    <a:pt x="1081" y="23"/>
                  </a:lnTo>
                  <a:lnTo>
                    <a:pt x="1063" y="21"/>
                  </a:lnTo>
                  <a:lnTo>
                    <a:pt x="1031" y="30"/>
                  </a:lnTo>
                  <a:lnTo>
                    <a:pt x="1027" y="37"/>
                  </a:lnTo>
                  <a:lnTo>
                    <a:pt x="1007" y="50"/>
                  </a:lnTo>
                  <a:lnTo>
                    <a:pt x="1020" y="32"/>
                  </a:lnTo>
                  <a:lnTo>
                    <a:pt x="941" y="47"/>
                  </a:lnTo>
                  <a:lnTo>
                    <a:pt x="858" y="79"/>
                  </a:lnTo>
                  <a:lnTo>
                    <a:pt x="777" y="108"/>
                  </a:lnTo>
                  <a:lnTo>
                    <a:pt x="709" y="112"/>
                  </a:lnTo>
                  <a:lnTo>
                    <a:pt x="666" y="135"/>
                  </a:lnTo>
                  <a:lnTo>
                    <a:pt x="695" y="183"/>
                  </a:lnTo>
                  <a:lnTo>
                    <a:pt x="683" y="194"/>
                  </a:lnTo>
                  <a:lnTo>
                    <a:pt x="740" y="203"/>
                  </a:lnTo>
                  <a:lnTo>
                    <a:pt x="724" y="222"/>
                  </a:lnTo>
                  <a:lnTo>
                    <a:pt x="767" y="222"/>
                  </a:lnTo>
                  <a:lnTo>
                    <a:pt x="711" y="222"/>
                  </a:lnTo>
                  <a:lnTo>
                    <a:pt x="707" y="204"/>
                  </a:lnTo>
                  <a:lnTo>
                    <a:pt x="700" y="230"/>
                  </a:lnTo>
                  <a:lnTo>
                    <a:pt x="716" y="241"/>
                  </a:lnTo>
                  <a:lnTo>
                    <a:pt x="688" y="242"/>
                  </a:lnTo>
                  <a:lnTo>
                    <a:pt x="611" y="237"/>
                  </a:lnTo>
                  <a:lnTo>
                    <a:pt x="645" y="218"/>
                  </a:lnTo>
                  <a:lnTo>
                    <a:pt x="553" y="236"/>
                  </a:lnTo>
                  <a:lnTo>
                    <a:pt x="438" y="266"/>
                  </a:lnTo>
                  <a:lnTo>
                    <a:pt x="476" y="282"/>
                  </a:lnTo>
                  <a:lnTo>
                    <a:pt x="450" y="285"/>
                  </a:lnTo>
                  <a:lnTo>
                    <a:pt x="443" y="316"/>
                  </a:lnTo>
                  <a:lnTo>
                    <a:pt x="541" y="316"/>
                  </a:lnTo>
                  <a:lnTo>
                    <a:pt x="555" y="325"/>
                  </a:lnTo>
                  <a:lnTo>
                    <a:pt x="638" y="298"/>
                  </a:lnTo>
                  <a:lnTo>
                    <a:pt x="620" y="318"/>
                  </a:lnTo>
                  <a:lnTo>
                    <a:pt x="604" y="323"/>
                  </a:lnTo>
                  <a:lnTo>
                    <a:pt x="586" y="354"/>
                  </a:lnTo>
                  <a:lnTo>
                    <a:pt x="525" y="369"/>
                  </a:lnTo>
                  <a:lnTo>
                    <a:pt x="433" y="392"/>
                  </a:lnTo>
                  <a:lnTo>
                    <a:pt x="448" y="382"/>
                  </a:lnTo>
                  <a:lnTo>
                    <a:pt x="416" y="390"/>
                  </a:lnTo>
                  <a:lnTo>
                    <a:pt x="374" y="412"/>
                  </a:lnTo>
                  <a:lnTo>
                    <a:pt x="380" y="411"/>
                  </a:lnTo>
                  <a:lnTo>
                    <a:pt x="363" y="418"/>
                  </a:lnTo>
                  <a:lnTo>
                    <a:pt x="300" y="446"/>
                  </a:lnTo>
                  <a:lnTo>
                    <a:pt x="279" y="451"/>
                  </a:lnTo>
                  <a:lnTo>
                    <a:pt x="284" y="458"/>
                  </a:lnTo>
                  <a:lnTo>
                    <a:pt x="261" y="465"/>
                  </a:lnTo>
                  <a:lnTo>
                    <a:pt x="268" y="482"/>
                  </a:lnTo>
                  <a:lnTo>
                    <a:pt x="313" y="464"/>
                  </a:lnTo>
                  <a:lnTo>
                    <a:pt x="272" y="485"/>
                  </a:lnTo>
                  <a:lnTo>
                    <a:pt x="273" y="490"/>
                  </a:lnTo>
                  <a:lnTo>
                    <a:pt x="318" y="497"/>
                  </a:lnTo>
                  <a:lnTo>
                    <a:pt x="301" y="499"/>
                  </a:lnTo>
                  <a:lnTo>
                    <a:pt x="309" y="507"/>
                  </a:lnTo>
                  <a:lnTo>
                    <a:pt x="280" y="507"/>
                  </a:lnTo>
                  <a:lnTo>
                    <a:pt x="266" y="499"/>
                  </a:lnTo>
                  <a:lnTo>
                    <a:pt x="235" y="516"/>
                  </a:lnTo>
                  <a:lnTo>
                    <a:pt x="250" y="551"/>
                  </a:lnTo>
                  <a:lnTo>
                    <a:pt x="317" y="532"/>
                  </a:lnTo>
                  <a:lnTo>
                    <a:pt x="357" y="508"/>
                  </a:lnTo>
                  <a:lnTo>
                    <a:pt x="315" y="541"/>
                  </a:lnTo>
                  <a:lnTo>
                    <a:pt x="291" y="573"/>
                  </a:lnTo>
                  <a:lnTo>
                    <a:pt x="277" y="588"/>
                  </a:lnTo>
                  <a:lnTo>
                    <a:pt x="278" y="589"/>
                  </a:lnTo>
                  <a:lnTo>
                    <a:pt x="253" y="609"/>
                  </a:lnTo>
                  <a:lnTo>
                    <a:pt x="332" y="596"/>
                  </a:lnTo>
                  <a:lnTo>
                    <a:pt x="351" y="599"/>
                  </a:lnTo>
                  <a:lnTo>
                    <a:pt x="351" y="622"/>
                  </a:lnTo>
                  <a:lnTo>
                    <a:pt x="398" y="590"/>
                  </a:lnTo>
                  <a:lnTo>
                    <a:pt x="412" y="592"/>
                  </a:lnTo>
                  <a:lnTo>
                    <a:pt x="385" y="602"/>
                  </a:lnTo>
                  <a:lnTo>
                    <a:pt x="389" y="612"/>
                  </a:lnTo>
                  <a:lnTo>
                    <a:pt x="460" y="592"/>
                  </a:lnTo>
                  <a:lnTo>
                    <a:pt x="395" y="632"/>
                  </a:lnTo>
                  <a:lnTo>
                    <a:pt x="405" y="632"/>
                  </a:lnTo>
                  <a:lnTo>
                    <a:pt x="397" y="632"/>
                  </a:lnTo>
                  <a:lnTo>
                    <a:pt x="359" y="663"/>
                  </a:lnTo>
                  <a:lnTo>
                    <a:pt x="338" y="669"/>
                  </a:lnTo>
                  <a:lnTo>
                    <a:pt x="274" y="706"/>
                  </a:lnTo>
                  <a:lnTo>
                    <a:pt x="173" y="737"/>
                  </a:lnTo>
                  <a:lnTo>
                    <a:pt x="164" y="754"/>
                  </a:lnTo>
                  <a:lnTo>
                    <a:pt x="148" y="753"/>
                  </a:lnTo>
                  <a:lnTo>
                    <a:pt x="139" y="760"/>
                  </a:lnTo>
                  <a:lnTo>
                    <a:pt x="140" y="751"/>
                  </a:lnTo>
                  <a:lnTo>
                    <a:pt x="106" y="751"/>
                  </a:lnTo>
                  <a:lnTo>
                    <a:pt x="0" y="799"/>
                  </a:lnTo>
                  <a:lnTo>
                    <a:pt x="5" y="794"/>
                  </a:lnTo>
                  <a:lnTo>
                    <a:pt x="13" y="799"/>
                  </a:lnTo>
                  <a:lnTo>
                    <a:pt x="36" y="788"/>
                  </a:lnTo>
                  <a:lnTo>
                    <a:pt x="42" y="793"/>
                  </a:lnTo>
                  <a:lnTo>
                    <a:pt x="89" y="770"/>
                  </a:lnTo>
                  <a:lnTo>
                    <a:pt x="113" y="769"/>
                  </a:lnTo>
                  <a:lnTo>
                    <a:pt x="96" y="772"/>
                  </a:lnTo>
                  <a:lnTo>
                    <a:pt x="146" y="763"/>
                  </a:lnTo>
                  <a:lnTo>
                    <a:pt x="179" y="760"/>
                  </a:lnTo>
                  <a:lnTo>
                    <a:pt x="188" y="758"/>
                  </a:lnTo>
                  <a:lnTo>
                    <a:pt x="234" y="745"/>
                  </a:lnTo>
                  <a:lnTo>
                    <a:pt x="247" y="741"/>
                  </a:lnTo>
                  <a:lnTo>
                    <a:pt x="256" y="730"/>
                  </a:lnTo>
                  <a:lnTo>
                    <a:pt x="380" y="683"/>
                  </a:lnTo>
                  <a:lnTo>
                    <a:pt x="487" y="642"/>
                  </a:lnTo>
                  <a:lnTo>
                    <a:pt x="582" y="599"/>
                  </a:lnTo>
                  <a:lnTo>
                    <a:pt x="562" y="585"/>
                  </a:lnTo>
                  <a:lnTo>
                    <a:pt x="644" y="549"/>
                  </a:lnTo>
                  <a:lnTo>
                    <a:pt x="660" y="545"/>
                  </a:lnTo>
                  <a:lnTo>
                    <a:pt x="674" y="528"/>
                  </a:lnTo>
                  <a:lnTo>
                    <a:pt x="743" y="499"/>
                  </a:lnTo>
                  <a:lnTo>
                    <a:pt x="813" y="478"/>
                  </a:lnTo>
                  <a:lnTo>
                    <a:pt x="861" y="466"/>
                  </a:lnTo>
                  <a:lnTo>
                    <a:pt x="830" y="482"/>
                  </a:lnTo>
                  <a:lnTo>
                    <a:pt x="838" y="494"/>
                  </a:lnTo>
                  <a:lnTo>
                    <a:pt x="823" y="493"/>
                  </a:lnTo>
                  <a:lnTo>
                    <a:pt x="751" y="506"/>
                  </a:lnTo>
                  <a:lnTo>
                    <a:pt x="683" y="556"/>
                  </a:lnTo>
                  <a:lnTo>
                    <a:pt x="717" y="551"/>
                  </a:lnTo>
                  <a:lnTo>
                    <a:pt x="664" y="574"/>
                  </a:lnTo>
                  <a:lnTo>
                    <a:pt x="690" y="578"/>
                  </a:lnTo>
                  <a:lnTo>
                    <a:pt x="742" y="555"/>
                  </a:lnTo>
                  <a:lnTo>
                    <a:pt x="727" y="566"/>
                  </a:lnTo>
                  <a:lnTo>
                    <a:pt x="745" y="556"/>
                  </a:lnTo>
                  <a:lnTo>
                    <a:pt x="755" y="556"/>
                  </a:lnTo>
                  <a:lnTo>
                    <a:pt x="763" y="549"/>
                  </a:lnTo>
                  <a:lnTo>
                    <a:pt x="765" y="554"/>
                  </a:lnTo>
                  <a:lnTo>
                    <a:pt x="789" y="540"/>
                  </a:lnTo>
                  <a:lnTo>
                    <a:pt x="811" y="544"/>
                  </a:lnTo>
                  <a:lnTo>
                    <a:pt x="856" y="520"/>
                  </a:lnTo>
                  <a:lnTo>
                    <a:pt x="850" y="516"/>
                  </a:lnTo>
                  <a:lnTo>
                    <a:pt x="864" y="509"/>
                  </a:lnTo>
                  <a:lnTo>
                    <a:pt x="855" y="504"/>
                  </a:lnTo>
                  <a:lnTo>
                    <a:pt x="877" y="496"/>
                  </a:lnTo>
                  <a:lnTo>
                    <a:pt x="917" y="478"/>
                  </a:lnTo>
                  <a:lnTo>
                    <a:pt x="886" y="494"/>
                  </a:lnTo>
                  <a:lnTo>
                    <a:pt x="905" y="492"/>
                  </a:lnTo>
                  <a:lnTo>
                    <a:pt x="902" y="497"/>
                  </a:lnTo>
                  <a:lnTo>
                    <a:pt x="960" y="484"/>
                  </a:lnTo>
                  <a:lnTo>
                    <a:pt x="944" y="488"/>
                  </a:lnTo>
                  <a:lnTo>
                    <a:pt x="942" y="499"/>
                  </a:lnTo>
                  <a:lnTo>
                    <a:pt x="932" y="503"/>
                  </a:lnTo>
                  <a:lnTo>
                    <a:pt x="949" y="503"/>
                  </a:lnTo>
                  <a:lnTo>
                    <a:pt x="951" y="506"/>
                  </a:lnTo>
                  <a:lnTo>
                    <a:pt x="938" y="517"/>
                  </a:lnTo>
                  <a:lnTo>
                    <a:pt x="953" y="523"/>
                  </a:lnTo>
                  <a:lnTo>
                    <a:pt x="990" y="508"/>
                  </a:lnTo>
                  <a:lnTo>
                    <a:pt x="975" y="521"/>
                  </a:lnTo>
                  <a:lnTo>
                    <a:pt x="985" y="534"/>
                  </a:lnTo>
                  <a:lnTo>
                    <a:pt x="1036" y="536"/>
                  </a:lnTo>
                  <a:lnTo>
                    <a:pt x="1086" y="540"/>
                  </a:lnTo>
                  <a:lnTo>
                    <a:pt x="1089" y="554"/>
                  </a:lnTo>
                  <a:lnTo>
                    <a:pt x="1140" y="544"/>
                  </a:lnTo>
                  <a:lnTo>
                    <a:pt x="1162" y="550"/>
                  </a:lnTo>
                  <a:lnTo>
                    <a:pt x="1144" y="558"/>
                  </a:lnTo>
                  <a:lnTo>
                    <a:pt x="1152" y="544"/>
                  </a:lnTo>
                  <a:lnTo>
                    <a:pt x="1129" y="560"/>
                  </a:lnTo>
                  <a:lnTo>
                    <a:pt x="1155" y="594"/>
                  </a:lnTo>
                  <a:lnTo>
                    <a:pt x="1180" y="630"/>
                  </a:lnTo>
                  <a:lnTo>
                    <a:pt x="1200" y="626"/>
                  </a:lnTo>
                  <a:lnTo>
                    <a:pt x="1192" y="596"/>
                  </a:lnTo>
                  <a:lnTo>
                    <a:pt x="1209" y="601"/>
                  </a:lnTo>
                  <a:lnTo>
                    <a:pt x="1227" y="596"/>
                  </a:lnTo>
                  <a:lnTo>
                    <a:pt x="1232" y="597"/>
                  </a:lnTo>
                  <a:lnTo>
                    <a:pt x="1220" y="613"/>
                  </a:lnTo>
                  <a:lnTo>
                    <a:pt x="1221" y="622"/>
                  </a:lnTo>
                  <a:lnTo>
                    <a:pt x="1224" y="630"/>
                  </a:lnTo>
                  <a:lnTo>
                    <a:pt x="1264" y="582"/>
                  </a:lnTo>
                  <a:lnTo>
                    <a:pt x="1258" y="609"/>
                  </a:lnTo>
                  <a:lnTo>
                    <a:pt x="1266" y="632"/>
                  </a:lnTo>
                  <a:lnTo>
                    <a:pt x="1275" y="628"/>
                  </a:lnTo>
                  <a:lnTo>
                    <a:pt x="1277" y="637"/>
                  </a:lnTo>
                  <a:lnTo>
                    <a:pt x="1266" y="645"/>
                  </a:lnTo>
                  <a:lnTo>
                    <a:pt x="1289" y="647"/>
                  </a:lnTo>
                  <a:lnTo>
                    <a:pt x="1276" y="647"/>
                  </a:lnTo>
                  <a:lnTo>
                    <a:pt x="1276" y="664"/>
                  </a:lnTo>
                  <a:lnTo>
                    <a:pt x="1264" y="659"/>
                  </a:lnTo>
                  <a:lnTo>
                    <a:pt x="1266" y="677"/>
                  </a:lnTo>
                  <a:lnTo>
                    <a:pt x="1251" y="679"/>
                  </a:lnTo>
                  <a:lnTo>
                    <a:pt x="1256" y="685"/>
                  </a:lnTo>
                  <a:lnTo>
                    <a:pt x="1262" y="708"/>
                  </a:lnTo>
                  <a:lnTo>
                    <a:pt x="1279" y="734"/>
                  </a:lnTo>
                  <a:lnTo>
                    <a:pt x="1263" y="736"/>
                  </a:lnTo>
                  <a:lnTo>
                    <a:pt x="1224" y="766"/>
                  </a:lnTo>
                  <a:lnTo>
                    <a:pt x="1242" y="760"/>
                  </a:lnTo>
                  <a:lnTo>
                    <a:pt x="1292" y="740"/>
                  </a:lnTo>
                  <a:lnTo>
                    <a:pt x="1262" y="780"/>
                  </a:lnTo>
                  <a:lnTo>
                    <a:pt x="1250" y="787"/>
                  </a:lnTo>
                  <a:lnTo>
                    <a:pt x="1279" y="779"/>
                  </a:lnTo>
                  <a:lnTo>
                    <a:pt x="1258" y="792"/>
                  </a:lnTo>
                  <a:lnTo>
                    <a:pt x="1248" y="806"/>
                  </a:lnTo>
                  <a:lnTo>
                    <a:pt x="1295" y="782"/>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3" name="Freeform 115"/>
            <p:cNvSpPr>
              <a:spLocks/>
            </p:cNvSpPr>
            <p:nvPr/>
          </p:nvSpPr>
          <p:spPr bwMode="auto">
            <a:xfrm>
              <a:off x="758" y="1261"/>
              <a:ext cx="115" cy="33"/>
            </a:xfrm>
            <a:custGeom>
              <a:avLst/>
              <a:gdLst/>
              <a:ahLst/>
              <a:cxnLst>
                <a:cxn ang="0">
                  <a:pos x="115" y="19"/>
                </a:cxn>
                <a:cxn ang="0">
                  <a:pos x="104" y="17"/>
                </a:cxn>
                <a:cxn ang="0">
                  <a:pos x="109" y="7"/>
                </a:cxn>
                <a:cxn ang="0">
                  <a:pos x="104" y="5"/>
                </a:cxn>
                <a:cxn ang="0">
                  <a:pos x="92" y="0"/>
                </a:cxn>
                <a:cxn ang="0">
                  <a:pos x="84" y="12"/>
                </a:cxn>
                <a:cxn ang="0">
                  <a:pos x="72" y="12"/>
                </a:cxn>
                <a:cxn ang="0">
                  <a:pos x="54" y="14"/>
                </a:cxn>
                <a:cxn ang="0">
                  <a:pos x="39" y="37"/>
                </a:cxn>
                <a:cxn ang="0">
                  <a:pos x="37" y="19"/>
                </a:cxn>
                <a:cxn ang="0">
                  <a:pos x="4" y="38"/>
                </a:cxn>
                <a:cxn ang="0">
                  <a:pos x="3" y="56"/>
                </a:cxn>
                <a:cxn ang="0">
                  <a:pos x="9" y="46"/>
                </a:cxn>
                <a:cxn ang="0">
                  <a:pos x="21" y="49"/>
                </a:cxn>
                <a:cxn ang="0">
                  <a:pos x="0" y="66"/>
                </a:cxn>
                <a:cxn ang="0">
                  <a:pos x="25" y="50"/>
                </a:cxn>
                <a:cxn ang="0">
                  <a:pos x="74" y="35"/>
                </a:cxn>
                <a:cxn ang="0">
                  <a:pos x="83" y="28"/>
                </a:cxn>
                <a:cxn ang="0">
                  <a:pos x="115" y="19"/>
                </a:cxn>
              </a:cxnLst>
              <a:rect l="0" t="0" r="r" b="b"/>
              <a:pathLst>
                <a:path w="115" h="66">
                  <a:moveTo>
                    <a:pt x="115" y="19"/>
                  </a:moveTo>
                  <a:lnTo>
                    <a:pt x="104" y="17"/>
                  </a:lnTo>
                  <a:lnTo>
                    <a:pt x="109" y="7"/>
                  </a:lnTo>
                  <a:lnTo>
                    <a:pt x="104" y="5"/>
                  </a:lnTo>
                  <a:lnTo>
                    <a:pt x="92" y="0"/>
                  </a:lnTo>
                  <a:lnTo>
                    <a:pt x="84" y="12"/>
                  </a:lnTo>
                  <a:lnTo>
                    <a:pt x="72" y="12"/>
                  </a:lnTo>
                  <a:lnTo>
                    <a:pt x="54" y="14"/>
                  </a:lnTo>
                  <a:lnTo>
                    <a:pt x="39" y="37"/>
                  </a:lnTo>
                  <a:lnTo>
                    <a:pt x="37" y="19"/>
                  </a:lnTo>
                  <a:lnTo>
                    <a:pt x="4" y="38"/>
                  </a:lnTo>
                  <a:lnTo>
                    <a:pt x="3" y="56"/>
                  </a:lnTo>
                  <a:lnTo>
                    <a:pt x="9" y="46"/>
                  </a:lnTo>
                  <a:lnTo>
                    <a:pt x="21" y="49"/>
                  </a:lnTo>
                  <a:lnTo>
                    <a:pt x="0" y="66"/>
                  </a:lnTo>
                  <a:lnTo>
                    <a:pt x="25" y="50"/>
                  </a:lnTo>
                  <a:lnTo>
                    <a:pt x="74" y="35"/>
                  </a:lnTo>
                  <a:lnTo>
                    <a:pt x="83" y="28"/>
                  </a:lnTo>
                  <a:lnTo>
                    <a:pt x="115" y="1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4" name="Freeform 116"/>
            <p:cNvSpPr>
              <a:spLocks/>
            </p:cNvSpPr>
            <p:nvPr/>
          </p:nvSpPr>
          <p:spPr bwMode="auto">
            <a:xfrm>
              <a:off x="488" y="1119"/>
              <a:ext cx="98" cy="17"/>
            </a:xfrm>
            <a:custGeom>
              <a:avLst/>
              <a:gdLst/>
              <a:ahLst/>
              <a:cxnLst>
                <a:cxn ang="0">
                  <a:pos x="98" y="19"/>
                </a:cxn>
                <a:cxn ang="0">
                  <a:pos x="48" y="34"/>
                </a:cxn>
                <a:cxn ang="0">
                  <a:pos x="30" y="12"/>
                </a:cxn>
                <a:cxn ang="0">
                  <a:pos x="36" y="23"/>
                </a:cxn>
                <a:cxn ang="0">
                  <a:pos x="0" y="17"/>
                </a:cxn>
                <a:cxn ang="0">
                  <a:pos x="12" y="1"/>
                </a:cxn>
                <a:cxn ang="0">
                  <a:pos x="52" y="0"/>
                </a:cxn>
                <a:cxn ang="0">
                  <a:pos x="98" y="19"/>
                </a:cxn>
              </a:cxnLst>
              <a:rect l="0" t="0" r="r" b="b"/>
              <a:pathLst>
                <a:path w="98" h="34">
                  <a:moveTo>
                    <a:pt x="98" y="19"/>
                  </a:moveTo>
                  <a:lnTo>
                    <a:pt x="48" y="34"/>
                  </a:lnTo>
                  <a:lnTo>
                    <a:pt x="30" y="12"/>
                  </a:lnTo>
                  <a:lnTo>
                    <a:pt x="36" y="23"/>
                  </a:lnTo>
                  <a:lnTo>
                    <a:pt x="0" y="17"/>
                  </a:lnTo>
                  <a:lnTo>
                    <a:pt x="12" y="1"/>
                  </a:lnTo>
                  <a:lnTo>
                    <a:pt x="52" y="0"/>
                  </a:lnTo>
                  <a:lnTo>
                    <a:pt x="98" y="1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5" name="Freeform 117"/>
            <p:cNvSpPr>
              <a:spLocks/>
            </p:cNvSpPr>
            <p:nvPr/>
          </p:nvSpPr>
          <p:spPr bwMode="auto">
            <a:xfrm>
              <a:off x="1481" y="1304"/>
              <a:ext cx="49" cy="43"/>
            </a:xfrm>
            <a:custGeom>
              <a:avLst/>
              <a:gdLst/>
              <a:ahLst/>
              <a:cxnLst>
                <a:cxn ang="0">
                  <a:pos x="29" y="78"/>
                </a:cxn>
                <a:cxn ang="0">
                  <a:pos x="22" y="85"/>
                </a:cxn>
                <a:cxn ang="0">
                  <a:pos x="19" y="66"/>
                </a:cxn>
                <a:cxn ang="0">
                  <a:pos x="0" y="55"/>
                </a:cxn>
                <a:cxn ang="0">
                  <a:pos x="17" y="50"/>
                </a:cxn>
                <a:cxn ang="0">
                  <a:pos x="28" y="36"/>
                </a:cxn>
                <a:cxn ang="0">
                  <a:pos x="11" y="40"/>
                </a:cxn>
                <a:cxn ang="0">
                  <a:pos x="31" y="23"/>
                </a:cxn>
                <a:cxn ang="0">
                  <a:pos x="27" y="8"/>
                </a:cxn>
                <a:cxn ang="0">
                  <a:pos x="44" y="0"/>
                </a:cxn>
                <a:cxn ang="0">
                  <a:pos x="49" y="41"/>
                </a:cxn>
                <a:cxn ang="0">
                  <a:pos x="41" y="37"/>
                </a:cxn>
                <a:cxn ang="0">
                  <a:pos x="39" y="47"/>
                </a:cxn>
                <a:cxn ang="0">
                  <a:pos x="29" y="78"/>
                </a:cxn>
              </a:cxnLst>
              <a:rect l="0" t="0" r="r" b="b"/>
              <a:pathLst>
                <a:path w="49" h="85">
                  <a:moveTo>
                    <a:pt x="29" y="78"/>
                  </a:moveTo>
                  <a:lnTo>
                    <a:pt x="22" y="85"/>
                  </a:lnTo>
                  <a:lnTo>
                    <a:pt x="19" y="66"/>
                  </a:lnTo>
                  <a:lnTo>
                    <a:pt x="0" y="55"/>
                  </a:lnTo>
                  <a:lnTo>
                    <a:pt x="17" y="50"/>
                  </a:lnTo>
                  <a:lnTo>
                    <a:pt x="28" y="36"/>
                  </a:lnTo>
                  <a:lnTo>
                    <a:pt x="11" y="40"/>
                  </a:lnTo>
                  <a:lnTo>
                    <a:pt x="31" y="23"/>
                  </a:lnTo>
                  <a:lnTo>
                    <a:pt x="27" y="8"/>
                  </a:lnTo>
                  <a:lnTo>
                    <a:pt x="44" y="0"/>
                  </a:lnTo>
                  <a:lnTo>
                    <a:pt x="49" y="41"/>
                  </a:lnTo>
                  <a:lnTo>
                    <a:pt x="41" y="37"/>
                  </a:lnTo>
                  <a:lnTo>
                    <a:pt x="39" y="47"/>
                  </a:lnTo>
                  <a:lnTo>
                    <a:pt x="29" y="78"/>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6" name="Freeform 118"/>
            <p:cNvSpPr>
              <a:spLocks/>
            </p:cNvSpPr>
            <p:nvPr/>
          </p:nvSpPr>
          <p:spPr bwMode="auto">
            <a:xfrm>
              <a:off x="1512" y="1255"/>
              <a:ext cx="52" cy="31"/>
            </a:xfrm>
            <a:custGeom>
              <a:avLst/>
              <a:gdLst/>
              <a:ahLst/>
              <a:cxnLst>
                <a:cxn ang="0">
                  <a:pos x="49" y="34"/>
                </a:cxn>
                <a:cxn ang="0">
                  <a:pos x="37" y="39"/>
                </a:cxn>
                <a:cxn ang="0">
                  <a:pos x="0" y="62"/>
                </a:cxn>
                <a:cxn ang="0">
                  <a:pos x="9" y="49"/>
                </a:cxn>
                <a:cxn ang="0">
                  <a:pos x="39" y="0"/>
                </a:cxn>
                <a:cxn ang="0">
                  <a:pos x="52" y="4"/>
                </a:cxn>
                <a:cxn ang="0">
                  <a:pos x="49" y="34"/>
                </a:cxn>
              </a:cxnLst>
              <a:rect l="0" t="0" r="r" b="b"/>
              <a:pathLst>
                <a:path w="52" h="62">
                  <a:moveTo>
                    <a:pt x="49" y="34"/>
                  </a:moveTo>
                  <a:lnTo>
                    <a:pt x="37" y="39"/>
                  </a:lnTo>
                  <a:lnTo>
                    <a:pt x="0" y="62"/>
                  </a:lnTo>
                  <a:lnTo>
                    <a:pt x="9" y="49"/>
                  </a:lnTo>
                  <a:lnTo>
                    <a:pt x="39" y="0"/>
                  </a:lnTo>
                  <a:lnTo>
                    <a:pt x="52" y="4"/>
                  </a:lnTo>
                  <a:lnTo>
                    <a:pt x="49" y="34"/>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7" name="Freeform 119"/>
            <p:cNvSpPr>
              <a:spLocks/>
            </p:cNvSpPr>
            <p:nvPr/>
          </p:nvSpPr>
          <p:spPr bwMode="auto">
            <a:xfrm>
              <a:off x="226" y="1337"/>
              <a:ext cx="78" cy="15"/>
            </a:xfrm>
            <a:custGeom>
              <a:avLst/>
              <a:gdLst/>
              <a:ahLst/>
              <a:cxnLst>
                <a:cxn ang="0">
                  <a:pos x="78" y="19"/>
                </a:cxn>
                <a:cxn ang="0">
                  <a:pos x="61" y="0"/>
                </a:cxn>
                <a:cxn ang="0">
                  <a:pos x="0" y="24"/>
                </a:cxn>
                <a:cxn ang="0">
                  <a:pos x="19" y="29"/>
                </a:cxn>
                <a:cxn ang="0">
                  <a:pos x="78" y="19"/>
                </a:cxn>
              </a:cxnLst>
              <a:rect l="0" t="0" r="r" b="b"/>
              <a:pathLst>
                <a:path w="78" h="29">
                  <a:moveTo>
                    <a:pt x="78" y="19"/>
                  </a:moveTo>
                  <a:lnTo>
                    <a:pt x="61" y="0"/>
                  </a:lnTo>
                  <a:lnTo>
                    <a:pt x="0" y="24"/>
                  </a:lnTo>
                  <a:lnTo>
                    <a:pt x="19" y="29"/>
                  </a:lnTo>
                  <a:lnTo>
                    <a:pt x="78" y="1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8" name="Freeform 120"/>
            <p:cNvSpPr>
              <a:spLocks/>
            </p:cNvSpPr>
            <p:nvPr/>
          </p:nvSpPr>
          <p:spPr bwMode="auto">
            <a:xfrm>
              <a:off x="444" y="1201"/>
              <a:ext cx="59" cy="13"/>
            </a:xfrm>
            <a:custGeom>
              <a:avLst/>
              <a:gdLst/>
              <a:ahLst/>
              <a:cxnLst>
                <a:cxn ang="0">
                  <a:pos x="57" y="19"/>
                </a:cxn>
                <a:cxn ang="0">
                  <a:pos x="35" y="25"/>
                </a:cxn>
                <a:cxn ang="0">
                  <a:pos x="0" y="14"/>
                </a:cxn>
                <a:cxn ang="0">
                  <a:pos x="59" y="0"/>
                </a:cxn>
                <a:cxn ang="0">
                  <a:pos x="57" y="19"/>
                </a:cxn>
              </a:cxnLst>
              <a:rect l="0" t="0" r="r" b="b"/>
              <a:pathLst>
                <a:path w="59" h="25">
                  <a:moveTo>
                    <a:pt x="57" y="19"/>
                  </a:moveTo>
                  <a:lnTo>
                    <a:pt x="35" y="25"/>
                  </a:lnTo>
                  <a:lnTo>
                    <a:pt x="0" y="14"/>
                  </a:lnTo>
                  <a:lnTo>
                    <a:pt x="59" y="0"/>
                  </a:lnTo>
                  <a:lnTo>
                    <a:pt x="57" y="1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49" name="Freeform 121"/>
            <p:cNvSpPr>
              <a:spLocks/>
            </p:cNvSpPr>
            <p:nvPr/>
          </p:nvSpPr>
          <p:spPr bwMode="auto">
            <a:xfrm>
              <a:off x="1477" y="1255"/>
              <a:ext cx="51" cy="21"/>
            </a:xfrm>
            <a:custGeom>
              <a:avLst/>
              <a:gdLst/>
              <a:ahLst/>
              <a:cxnLst>
                <a:cxn ang="0">
                  <a:pos x="42" y="39"/>
                </a:cxn>
                <a:cxn ang="0">
                  <a:pos x="37" y="28"/>
                </a:cxn>
                <a:cxn ang="0">
                  <a:pos x="25" y="14"/>
                </a:cxn>
                <a:cxn ang="0">
                  <a:pos x="51" y="23"/>
                </a:cxn>
                <a:cxn ang="0">
                  <a:pos x="49" y="15"/>
                </a:cxn>
                <a:cxn ang="0">
                  <a:pos x="35" y="14"/>
                </a:cxn>
                <a:cxn ang="0">
                  <a:pos x="42" y="0"/>
                </a:cxn>
                <a:cxn ang="0">
                  <a:pos x="18" y="9"/>
                </a:cxn>
                <a:cxn ang="0">
                  <a:pos x="13" y="20"/>
                </a:cxn>
                <a:cxn ang="0">
                  <a:pos x="0" y="21"/>
                </a:cxn>
                <a:cxn ang="0">
                  <a:pos x="11" y="42"/>
                </a:cxn>
                <a:cxn ang="0">
                  <a:pos x="18" y="25"/>
                </a:cxn>
                <a:cxn ang="0">
                  <a:pos x="42" y="39"/>
                </a:cxn>
              </a:cxnLst>
              <a:rect l="0" t="0" r="r" b="b"/>
              <a:pathLst>
                <a:path w="51" h="42">
                  <a:moveTo>
                    <a:pt x="42" y="39"/>
                  </a:moveTo>
                  <a:lnTo>
                    <a:pt x="37" y="28"/>
                  </a:lnTo>
                  <a:lnTo>
                    <a:pt x="25" y="14"/>
                  </a:lnTo>
                  <a:lnTo>
                    <a:pt x="51" y="23"/>
                  </a:lnTo>
                  <a:lnTo>
                    <a:pt x="49" y="15"/>
                  </a:lnTo>
                  <a:lnTo>
                    <a:pt x="35" y="14"/>
                  </a:lnTo>
                  <a:lnTo>
                    <a:pt x="42" y="0"/>
                  </a:lnTo>
                  <a:lnTo>
                    <a:pt x="18" y="9"/>
                  </a:lnTo>
                  <a:lnTo>
                    <a:pt x="13" y="20"/>
                  </a:lnTo>
                  <a:lnTo>
                    <a:pt x="0" y="21"/>
                  </a:lnTo>
                  <a:lnTo>
                    <a:pt x="11" y="42"/>
                  </a:lnTo>
                  <a:lnTo>
                    <a:pt x="18" y="25"/>
                  </a:lnTo>
                  <a:lnTo>
                    <a:pt x="42" y="39"/>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0" name="Freeform 122"/>
            <p:cNvSpPr>
              <a:spLocks/>
            </p:cNvSpPr>
            <p:nvPr/>
          </p:nvSpPr>
          <p:spPr bwMode="auto">
            <a:xfrm>
              <a:off x="1471" y="1274"/>
              <a:ext cx="33" cy="32"/>
            </a:xfrm>
            <a:custGeom>
              <a:avLst/>
              <a:gdLst/>
              <a:ahLst/>
              <a:cxnLst>
                <a:cxn ang="0">
                  <a:pos x="0" y="63"/>
                </a:cxn>
                <a:cxn ang="0">
                  <a:pos x="33" y="0"/>
                </a:cxn>
                <a:cxn ang="0">
                  <a:pos x="10" y="13"/>
                </a:cxn>
                <a:cxn ang="0">
                  <a:pos x="0" y="63"/>
                </a:cxn>
              </a:cxnLst>
              <a:rect l="0" t="0" r="r" b="b"/>
              <a:pathLst>
                <a:path w="33" h="63">
                  <a:moveTo>
                    <a:pt x="0" y="63"/>
                  </a:moveTo>
                  <a:lnTo>
                    <a:pt x="33" y="0"/>
                  </a:lnTo>
                  <a:lnTo>
                    <a:pt x="10" y="13"/>
                  </a:lnTo>
                  <a:lnTo>
                    <a:pt x="0" y="63"/>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1" name="Freeform 123"/>
            <p:cNvSpPr>
              <a:spLocks/>
            </p:cNvSpPr>
            <p:nvPr/>
          </p:nvSpPr>
          <p:spPr bwMode="auto">
            <a:xfrm>
              <a:off x="1525" y="1285"/>
              <a:ext cx="33" cy="16"/>
            </a:xfrm>
            <a:custGeom>
              <a:avLst/>
              <a:gdLst/>
              <a:ahLst/>
              <a:cxnLst>
                <a:cxn ang="0">
                  <a:pos x="30" y="22"/>
                </a:cxn>
                <a:cxn ang="0">
                  <a:pos x="33" y="14"/>
                </a:cxn>
                <a:cxn ang="0">
                  <a:pos x="12" y="0"/>
                </a:cxn>
                <a:cxn ang="0">
                  <a:pos x="0" y="26"/>
                </a:cxn>
                <a:cxn ang="0">
                  <a:pos x="11" y="33"/>
                </a:cxn>
                <a:cxn ang="0">
                  <a:pos x="20" y="19"/>
                </a:cxn>
                <a:cxn ang="0">
                  <a:pos x="30" y="22"/>
                </a:cxn>
              </a:cxnLst>
              <a:rect l="0" t="0" r="r" b="b"/>
              <a:pathLst>
                <a:path w="33" h="33">
                  <a:moveTo>
                    <a:pt x="30" y="22"/>
                  </a:moveTo>
                  <a:lnTo>
                    <a:pt x="33" y="14"/>
                  </a:lnTo>
                  <a:lnTo>
                    <a:pt x="12" y="0"/>
                  </a:lnTo>
                  <a:lnTo>
                    <a:pt x="0" y="26"/>
                  </a:lnTo>
                  <a:lnTo>
                    <a:pt x="11" y="33"/>
                  </a:lnTo>
                  <a:lnTo>
                    <a:pt x="20" y="19"/>
                  </a:lnTo>
                  <a:lnTo>
                    <a:pt x="30" y="22"/>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2" name="Freeform 124"/>
            <p:cNvSpPr>
              <a:spLocks/>
            </p:cNvSpPr>
            <p:nvPr/>
          </p:nvSpPr>
          <p:spPr bwMode="auto">
            <a:xfrm>
              <a:off x="1488" y="1292"/>
              <a:ext cx="34" cy="17"/>
            </a:xfrm>
            <a:custGeom>
              <a:avLst/>
              <a:gdLst/>
              <a:ahLst/>
              <a:cxnLst>
                <a:cxn ang="0">
                  <a:pos x="34" y="10"/>
                </a:cxn>
                <a:cxn ang="0">
                  <a:pos x="0" y="34"/>
                </a:cxn>
                <a:cxn ang="0">
                  <a:pos x="18" y="0"/>
                </a:cxn>
                <a:cxn ang="0">
                  <a:pos x="34" y="10"/>
                </a:cxn>
              </a:cxnLst>
              <a:rect l="0" t="0" r="r" b="b"/>
              <a:pathLst>
                <a:path w="34" h="34">
                  <a:moveTo>
                    <a:pt x="34" y="10"/>
                  </a:moveTo>
                  <a:lnTo>
                    <a:pt x="0" y="34"/>
                  </a:lnTo>
                  <a:lnTo>
                    <a:pt x="18" y="0"/>
                  </a:lnTo>
                  <a:lnTo>
                    <a:pt x="34" y="10"/>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3" name="Freeform 125"/>
            <p:cNvSpPr>
              <a:spLocks/>
            </p:cNvSpPr>
            <p:nvPr/>
          </p:nvSpPr>
          <p:spPr bwMode="auto">
            <a:xfrm>
              <a:off x="3462" y="1709"/>
              <a:ext cx="100" cy="13"/>
            </a:xfrm>
            <a:custGeom>
              <a:avLst/>
              <a:gdLst/>
              <a:ahLst/>
              <a:cxnLst>
                <a:cxn ang="0">
                  <a:pos x="100" y="2"/>
                </a:cxn>
                <a:cxn ang="0">
                  <a:pos x="72" y="10"/>
                </a:cxn>
                <a:cxn ang="0">
                  <a:pos x="78" y="0"/>
                </a:cxn>
                <a:cxn ang="0">
                  <a:pos x="0" y="25"/>
                </a:cxn>
                <a:cxn ang="0">
                  <a:pos x="49" y="14"/>
                </a:cxn>
                <a:cxn ang="0">
                  <a:pos x="100" y="2"/>
                </a:cxn>
              </a:cxnLst>
              <a:rect l="0" t="0" r="r" b="b"/>
              <a:pathLst>
                <a:path w="100" h="25">
                  <a:moveTo>
                    <a:pt x="100" y="2"/>
                  </a:moveTo>
                  <a:lnTo>
                    <a:pt x="72" y="10"/>
                  </a:lnTo>
                  <a:lnTo>
                    <a:pt x="78" y="0"/>
                  </a:lnTo>
                  <a:lnTo>
                    <a:pt x="0" y="25"/>
                  </a:lnTo>
                  <a:lnTo>
                    <a:pt x="49" y="14"/>
                  </a:lnTo>
                  <a:lnTo>
                    <a:pt x="100" y="2"/>
                  </a:lnTo>
                  <a:close/>
                </a:path>
              </a:pathLst>
            </a:custGeom>
            <a:solidFill>
              <a:srgbClr val="00FFFF"/>
            </a:solid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4" name="Freeform 126"/>
            <p:cNvSpPr>
              <a:spLocks/>
            </p:cNvSpPr>
            <p:nvPr/>
          </p:nvSpPr>
          <p:spPr bwMode="auto">
            <a:xfrm>
              <a:off x="5825" y="2233"/>
              <a:ext cx="19" cy="34"/>
            </a:xfrm>
            <a:custGeom>
              <a:avLst/>
              <a:gdLst/>
              <a:ahLst/>
              <a:cxnLst>
                <a:cxn ang="0">
                  <a:pos x="6" y="38"/>
                </a:cxn>
                <a:cxn ang="0">
                  <a:pos x="0" y="68"/>
                </a:cxn>
                <a:cxn ang="0">
                  <a:pos x="2" y="38"/>
                </a:cxn>
                <a:cxn ang="0">
                  <a:pos x="19" y="0"/>
                </a:cxn>
                <a:cxn ang="0">
                  <a:pos x="19" y="38"/>
                </a:cxn>
                <a:cxn ang="0">
                  <a:pos x="6" y="38"/>
                </a:cxn>
              </a:cxnLst>
              <a:rect l="0" t="0" r="r" b="b"/>
              <a:pathLst>
                <a:path w="19" h="68">
                  <a:moveTo>
                    <a:pt x="6" y="38"/>
                  </a:moveTo>
                  <a:lnTo>
                    <a:pt x="0" y="68"/>
                  </a:lnTo>
                  <a:lnTo>
                    <a:pt x="2" y="38"/>
                  </a:lnTo>
                  <a:lnTo>
                    <a:pt x="19" y="0"/>
                  </a:lnTo>
                  <a:lnTo>
                    <a:pt x="19" y="38"/>
                  </a:lnTo>
                  <a:lnTo>
                    <a:pt x="6" y="38"/>
                  </a:lnTo>
                  <a:close/>
                </a:path>
              </a:pathLst>
            </a:custGeom>
            <a:blipFill dpi="0" rotWithShape="0">
              <a:blip r:embed="rId3" cstate="print"/>
              <a:srcRect/>
              <a:tile tx="0" ty="0" sx="100000" sy="100000" flip="none" algn="tl"/>
            </a:blipFill>
            <a:ln w="1">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455" name="Rectangle 127"/>
            <p:cNvSpPr>
              <a:spLocks noChangeArrowheads="1"/>
            </p:cNvSpPr>
            <p:nvPr/>
          </p:nvSpPr>
          <p:spPr bwMode="auto">
            <a:xfrm>
              <a:off x="3520" y="3732"/>
              <a:ext cx="572"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Argentina</a:t>
              </a:r>
              <a:endParaRPr kumimoji="0" lang="en-US" sz="1800" b="0" i="0" u="none" strike="noStrike" cap="none" normalizeH="0" baseline="0">
                <a:ln>
                  <a:noFill/>
                </a:ln>
                <a:solidFill>
                  <a:schemeClr val="tx1"/>
                </a:solidFill>
                <a:effectLst/>
                <a:latin typeface="Arial" pitchFamily="34" charset="0"/>
              </a:endParaRPr>
            </a:p>
          </p:txBody>
        </p:sp>
        <p:sp>
          <p:nvSpPr>
            <p:cNvPr id="227456" name="Rectangle 128"/>
            <p:cNvSpPr>
              <a:spLocks noChangeArrowheads="1"/>
            </p:cNvSpPr>
            <p:nvPr/>
          </p:nvSpPr>
          <p:spPr bwMode="auto">
            <a:xfrm>
              <a:off x="4147" y="3114"/>
              <a:ext cx="357"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Brazil</a:t>
              </a:r>
              <a:endParaRPr kumimoji="0" lang="en-US" sz="1800" b="0" i="0" u="none" strike="noStrike" cap="none" normalizeH="0" baseline="0">
                <a:ln>
                  <a:noFill/>
                </a:ln>
                <a:solidFill>
                  <a:schemeClr val="tx1"/>
                </a:solidFill>
                <a:effectLst/>
                <a:latin typeface="Arial" pitchFamily="34" charset="0"/>
              </a:endParaRPr>
            </a:p>
          </p:txBody>
        </p:sp>
        <p:sp>
          <p:nvSpPr>
            <p:cNvPr id="227457" name="Rectangle 129"/>
            <p:cNvSpPr>
              <a:spLocks noChangeArrowheads="1"/>
            </p:cNvSpPr>
            <p:nvPr/>
          </p:nvSpPr>
          <p:spPr bwMode="auto">
            <a:xfrm>
              <a:off x="3461" y="3276"/>
              <a:ext cx="410"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Bolivia</a:t>
              </a:r>
              <a:endParaRPr kumimoji="0" lang="en-US" sz="1800" b="0" i="0" u="none" strike="noStrike" cap="none" normalizeH="0" baseline="0">
                <a:ln>
                  <a:noFill/>
                </a:ln>
                <a:solidFill>
                  <a:schemeClr val="tx1"/>
                </a:solidFill>
                <a:effectLst/>
                <a:latin typeface="Arial" pitchFamily="34" charset="0"/>
              </a:endParaRPr>
            </a:p>
          </p:txBody>
        </p:sp>
        <p:sp>
          <p:nvSpPr>
            <p:cNvPr id="227458" name="Rectangle 130"/>
            <p:cNvSpPr>
              <a:spLocks noChangeArrowheads="1"/>
            </p:cNvSpPr>
            <p:nvPr/>
          </p:nvSpPr>
          <p:spPr bwMode="auto">
            <a:xfrm>
              <a:off x="2957" y="3027"/>
              <a:ext cx="310"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Peru</a:t>
              </a:r>
              <a:endParaRPr kumimoji="0" lang="en-US" sz="1800" b="0" i="0" u="none" strike="noStrike" cap="none" normalizeH="0" baseline="0">
                <a:ln>
                  <a:noFill/>
                </a:ln>
                <a:solidFill>
                  <a:schemeClr val="tx1"/>
                </a:solidFill>
                <a:effectLst/>
                <a:latin typeface="Arial" pitchFamily="34" charset="0"/>
              </a:endParaRPr>
            </a:p>
          </p:txBody>
        </p:sp>
        <p:sp>
          <p:nvSpPr>
            <p:cNvPr id="227459" name="Rectangle 131"/>
            <p:cNvSpPr>
              <a:spLocks noChangeArrowheads="1"/>
            </p:cNvSpPr>
            <p:nvPr/>
          </p:nvSpPr>
          <p:spPr bwMode="auto">
            <a:xfrm>
              <a:off x="3265" y="2584"/>
              <a:ext cx="627"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Venezuela</a:t>
              </a:r>
              <a:endParaRPr kumimoji="0" lang="en-US" sz="1800" b="0" i="0" u="none" strike="noStrike" cap="none" normalizeH="0" baseline="0">
                <a:ln>
                  <a:noFill/>
                </a:ln>
                <a:solidFill>
                  <a:schemeClr val="tx1"/>
                </a:solidFill>
                <a:effectLst/>
                <a:latin typeface="Arial" pitchFamily="34" charset="0"/>
              </a:endParaRPr>
            </a:p>
          </p:txBody>
        </p:sp>
        <p:sp>
          <p:nvSpPr>
            <p:cNvPr id="227460" name="Rectangle 132"/>
            <p:cNvSpPr>
              <a:spLocks noChangeArrowheads="1"/>
            </p:cNvSpPr>
            <p:nvPr/>
          </p:nvSpPr>
          <p:spPr bwMode="auto">
            <a:xfrm>
              <a:off x="2951" y="2715"/>
              <a:ext cx="566"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Colombia</a:t>
              </a:r>
              <a:endParaRPr kumimoji="0" lang="en-US" sz="1800" b="0" i="0" u="none" strike="noStrike" cap="none" normalizeH="0" baseline="0">
                <a:ln>
                  <a:noFill/>
                </a:ln>
                <a:solidFill>
                  <a:schemeClr val="tx1"/>
                </a:solidFill>
                <a:effectLst/>
                <a:latin typeface="Arial" pitchFamily="34" charset="0"/>
              </a:endParaRPr>
            </a:p>
          </p:txBody>
        </p:sp>
        <p:sp>
          <p:nvSpPr>
            <p:cNvPr id="227461" name="Rectangle 133"/>
            <p:cNvSpPr>
              <a:spLocks noChangeArrowheads="1"/>
            </p:cNvSpPr>
            <p:nvPr/>
          </p:nvSpPr>
          <p:spPr bwMode="auto">
            <a:xfrm>
              <a:off x="1794" y="2147"/>
              <a:ext cx="437"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Mexico</a:t>
              </a:r>
              <a:endParaRPr kumimoji="0" lang="en-US" sz="1800" b="0" i="0" u="none" strike="noStrike" cap="none" normalizeH="0" baseline="0">
                <a:ln>
                  <a:noFill/>
                </a:ln>
                <a:solidFill>
                  <a:schemeClr val="tx1"/>
                </a:solidFill>
                <a:effectLst/>
                <a:latin typeface="Arial" pitchFamily="34" charset="0"/>
              </a:endParaRPr>
            </a:p>
          </p:txBody>
        </p:sp>
        <p:sp>
          <p:nvSpPr>
            <p:cNvPr id="227462" name="Rectangle 134"/>
            <p:cNvSpPr>
              <a:spLocks noChangeArrowheads="1"/>
            </p:cNvSpPr>
            <p:nvPr/>
          </p:nvSpPr>
          <p:spPr bwMode="auto">
            <a:xfrm>
              <a:off x="1735" y="1654"/>
              <a:ext cx="782"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United States</a:t>
              </a:r>
              <a:endParaRPr kumimoji="0" lang="en-US" sz="1800" b="0" i="0" u="none" strike="noStrike" cap="none" normalizeH="0" baseline="0">
                <a:ln>
                  <a:noFill/>
                </a:ln>
                <a:solidFill>
                  <a:schemeClr val="tx1"/>
                </a:solidFill>
                <a:effectLst/>
                <a:latin typeface="Arial" pitchFamily="34" charset="0"/>
              </a:endParaRPr>
            </a:p>
          </p:txBody>
        </p:sp>
        <p:sp>
          <p:nvSpPr>
            <p:cNvPr id="227463" name="Rectangle 135"/>
            <p:cNvSpPr>
              <a:spLocks noChangeArrowheads="1"/>
            </p:cNvSpPr>
            <p:nvPr/>
          </p:nvSpPr>
          <p:spPr bwMode="auto">
            <a:xfrm>
              <a:off x="2097" y="1298"/>
              <a:ext cx="479" cy="8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700" b="0" i="0" u="none" strike="noStrike" cap="none" normalizeH="0" baseline="0">
                  <a:ln>
                    <a:noFill/>
                  </a:ln>
                  <a:solidFill>
                    <a:srgbClr val="000000"/>
                  </a:solidFill>
                  <a:effectLst/>
                  <a:latin typeface="Arial" pitchFamily="34" charset="0"/>
                </a:rPr>
                <a:t>Canada</a:t>
              </a:r>
              <a:endParaRPr kumimoji="0" lang="en-US" sz="1800" b="0" i="0" u="none" strike="noStrike" cap="none" normalizeH="0" baseline="0">
                <a:ln>
                  <a:noFill/>
                </a:ln>
                <a:solidFill>
                  <a:schemeClr val="tx1"/>
                </a:solidFill>
                <a:effectLst/>
                <a:latin typeface="Arial" pitchFamily="34" charset="0"/>
              </a:endParaRPr>
            </a:p>
          </p:txBody>
        </p:sp>
        <p:sp>
          <p:nvSpPr>
            <p:cNvPr id="227464" name="Rectangle 136"/>
            <p:cNvSpPr>
              <a:spLocks noChangeArrowheads="1"/>
            </p:cNvSpPr>
            <p:nvPr/>
          </p:nvSpPr>
          <p:spPr bwMode="auto">
            <a:xfrm>
              <a:off x="125" y="3217"/>
              <a:ext cx="1554" cy="78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65" name="Rectangle 137"/>
            <p:cNvSpPr>
              <a:spLocks noChangeArrowheads="1"/>
            </p:cNvSpPr>
            <p:nvPr/>
          </p:nvSpPr>
          <p:spPr bwMode="auto">
            <a:xfrm>
              <a:off x="299" y="3257"/>
              <a:ext cx="814" cy="146"/>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500" b="0" i="0" u="none" strike="noStrike" cap="none" normalizeH="0" baseline="0" dirty="0">
                  <a:ln>
                    <a:noFill/>
                  </a:ln>
                  <a:solidFill>
                    <a:srgbClr val="000000"/>
                  </a:solidFill>
                  <a:effectLst/>
                  <a:latin typeface="Arial" pitchFamily="34" charset="0"/>
                </a:rPr>
                <a:t>REI in America</a:t>
              </a:r>
              <a:endParaRPr kumimoji="0" lang="en-US" sz="1800" b="0" i="0" u="none" strike="noStrike" cap="none" normalizeH="0" baseline="0" dirty="0">
                <a:ln>
                  <a:noFill/>
                </a:ln>
                <a:solidFill>
                  <a:schemeClr val="tx1"/>
                </a:solidFill>
                <a:effectLst/>
                <a:latin typeface="Arial" pitchFamily="34" charset="0"/>
              </a:endParaRPr>
            </a:p>
          </p:txBody>
        </p:sp>
        <p:sp>
          <p:nvSpPr>
            <p:cNvPr id="227466" name="Rectangle 138"/>
            <p:cNvSpPr>
              <a:spLocks noChangeArrowheads="1"/>
            </p:cNvSpPr>
            <p:nvPr/>
          </p:nvSpPr>
          <p:spPr bwMode="auto">
            <a:xfrm>
              <a:off x="427" y="3456"/>
              <a:ext cx="156" cy="83"/>
            </a:xfrm>
            <a:prstGeom prst="rect">
              <a:avLst/>
            </a:prstGeom>
            <a:solidFill>
              <a:srgbClr val="00FFFF"/>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67" name="Rectangle 139"/>
            <p:cNvSpPr>
              <a:spLocks noChangeArrowheads="1"/>
            </p:cNvSpPr>
            <p:nvPr/>
          </p:nvSpPr>
          <p:spPr bwMode="auto">
            <a:xfrm>
              <a:off x="629" y="3447"/>
              <a:ext cx="622" cy="11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rgbClr val="000000"/>
                  </a:solidFill>
                  <a:effectLst/>
                  <a:latin typeface="Arial" pitchFamily="34" charset="0"/>
                </a:rPr>
                <a:t>NAFTA</a:t>
              </a:r>
              <a:endParaRPr kumimoji="0" lang="en-US" sz="1800" b="0" i="0" u="none" strike="noStrike" cap="none" normalizeH="0" baseline="0" dirty="0">
                <a:ln>
                  <a:noFill/>
                </a:ln>
                <a:solidFill>
                  <a:schemeClr val="tx1"/>
                </a:solidFill>
                <a:effectLst/>
                <a:latin typeface="Arial" pitchFamily="34" charset="0"/>
              </a:endParaRPr>
            </a:p>
          </p:txBody>
        </p:sp>
        <p:sp>
          <p:nvSpPr>
            <p:cNvPr id="227469" name="Rectangle 141"/>
            <p:cNvSpPr>
              <a:spLocks noChangeArrowheads="1"/>
            </p:cNvSpPr>
            <p:nvPr/>
          </p:nvSpPr>
          <p:spPr bwMode="auto">
            <a:xfrm>
              <a:off x="427" y="3557"/>
              <a:ext cx="156" cy="83"/>
            </a:xfrm>
            <a:prstGeom prst="rect">
              <a:avLst/>
            </a:prstGeom>
            <a:solidFill>
              <a:srgbClr val="FF0000"/>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70" name="Rectangle 142"/>
            <p:cNvSpPr>
              <a:spLocks noChangeArrowheads="1"/>
            </p:cNvSpPr>
            <p:nvPr/>
          </p:nvSpPr>
          <p:spPr bwMode="auto">
            <a:xfrm>
              <a:off x="629" y="3548"/>
              <a:ext cx="877" cy="10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rgbClr val="000000"/>
                  </a:solidFill>
                  <a:effectLst/>
                  <a:latin typeface="Arial" pitchFamily="34" charset="0"/>
                </a:rPr>
                <a:t>Caribbean</a:t>
              </a:r>
              <a:r>
                <a:rPr kumimoji="0" lang="en-US" sz="1100" b="0" i="0" u="none" strike="noStrike" cap="none" normalizeH="0" dirty="0">
                  <a:ln>
                    <a:noFill/>
                  </a:ln>
                  <a:solidFill>
                    <a:srgbClr val="000000"/>
                  </a:solidFill>
                  <a:effectLst/>
                  <a:latin typeface="Arial" pitchFamily="34" charset="0"/>
                </a:rPr>
                <a:t> community</a:t>
              </a:r>
              <a:endParaRPr kumimoji="0" lang="en-US" sz="1800" b="0" i="0" u="none" strike="noStrike" cap="none" normalizeH="0" baseline="0" dirty="0">
                <a:ln>
                  <a:noFill/>
                </a:ln>
                <a:solidFill>
                  <a:schemeClr val="tx1"/>
                </a:solidFill>
                <a:effectLst/>
                <a:latin typeface="Arial" pitchFamily="34" charset="0"/>
              </a:endParaRPr>
            </a:p>
          </p:txBody>
        </p:sp>
        <p:sp>
          <p:nvSpPr>
            <p:cNvPr id="227472" name="Rectangle 144"/>
            <p:cNvSpPr>
              <a:spLocks noChangeArrowheads="1"/>
            </p:cNvSpPr>
            <p:nvPr/>
          </p:nvSpPr>
          <p:spPr bwMode="auto">
            <a:xfrm>
              <a:off x="427" y="3658"/>
              <a:ext cx="156" cy="84"/>
            </a:xfrm>
            <a:prstGeom prst="rect">
              <a:avLst/>
            </a:prstGeom>
            <a:solidFill>
              <a:srgbClr val="008000"/>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73" name="Rectangle 145"/>
            <p:cNvSpPr>
              <a:spLocks noChangeArrowheads="1"/>
            </p:cNvSpPr>
            <p:nvPr/>
          </p:nvSpPr>
          <p:spPr bwMode="auto">
            <a:xfrm>
              <a:off x="629" y="3649"/>
              <a:ext cx="565" cy="11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a:ln>
                    <a:noFill/>
                  </a:ln>
                  <a:solidFill>
                    <a:srgbClr val="000000"/>
                  </a:solidFill>
                  <a:effectLst/>
                  <a:latin typeface="Arial" pitchFamily="34" charset="0"/>
                </a:rPr>
                <a:t>CACM</a:t>
              </a:r>
              <a:endParaRPr kumimoji="0" lang="en-US" sz="1800" b="0" i="0" u="none" strike="noStrike" cap="none" normalizeH="0" baseline="0">
                <a:ln>
                  <a:noFill/>
                </a:ln>
                <a:solidFill>
                  <a:schemeClr val="tx1"/>
                </a:solidFill>
                <a:effectLst/>
                <a:latin typeface="Arial" pitchFamily="34" charset="0"/>
              </a:endParaRPr>
            </a:p>
          </p:txBody>
        </p:sp>
        <p:sp>
          <p:nvSpPr>
            <p:cNvPr id="227475" name="Rectangle 147"/>
            <p:cNvSpPr>
              <a:spLocks noChangeArrowheads="1"/>
            </p:cNvSpPr>
            <p:nvPr/>
          </p:nvSpPr>
          <p:spPr bwMode="auto">
            <a:xfrm>
              <a:off x="427" y="3759"/>
              <a:ext cx="156" cy="84"/>
            </a:xfrm>
            <a:prstGeom prst="rect">
              <a:avLst/>
            </a:prstGeom>
            <a:solidFill>
              <a:srgbClr val="FFFF00"/>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76" name="Rectangle 148"/>
            <p:cNvSpPr>
              <a:spLocks noChangeArrowheads="1"/>
            </p:cNvSpPr>
            <p:nvPr/>
          </p:nvSpPr>
          <p:spPr bwMode="auto">
            <a:xfrm>
              <a:off x="629" y="3751"/>
              <a:ext cx="771" cy="10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rgbClr val="000000"/>
                  </a:solidFill>
                  <a:effectLst/>
                  <a:latin typeface="Arial" pitchFamily="34" charset="0"/>
                </a:rPr>
                <a:t>Andean community</a:t>
              </a:r>
              <a:endParaRPr kumimoji="0" lang="en-US" sz="1800" b="0" i="0" u="none" strike="noStrike" cap="none" normalizeH="0" baseline="0" dirty="0">
                <a:ln>
                  <a:noFill/>
                </a:ln>
                <a:solidFill>
                  <a:schemeClr val="tx1"/>
                </a:solidFill>
                <a:effectLst/>
                <a:latin typeface="Arial" pitchFamily="34" charset="0"/>
              </a:endParaRPr>
            </a:p>
          </p:txBody>
        </p:sp>
        <p:sp>
          <p:nvSpPr>
            <p:cNvPr id="227478" name="Rectangle 150"/>
            <p:cNvSpPr>
              <a:spLocks noChangeArrowheads="1"/>
            </p:cNvSpPr>
            <p:nvPr/>
          </p:nvSpPr>
          <p:spPr bwMode="auto">
            <a:xfrm>
              <a:off x="427" y="3861"/>
              <a:ext cx="156" cy="83"/>
            </a:xfrm>
            <a:prstGeom prst="rect">
              <a:avLst/>
            </a:prstGeom>
            <a:solidFill>
              <a:srgbClr val="C0C0C0"/>
            </a:solidFill>
            <a:ln w="1">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479" name="Rectangle 151"/>
            <p:cNvSpPr>
              <a:spLocks noChangeArrowheads="1"/>
            </p:cNvSpPr>
            <p:nvPr/>
          </p:nvSpPr>
          <p:spPr bwMode="auto">
            <a:xfrm>
              <a:off x="629" y="3852"/>
              <a:ext cx="528" cy="10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rgbClr val="000000"/>
                  </a:solidFill>
                  <a:effectLst/>
                  <a:latin typeface="Arial" pitchFamily="34" charset="0"/>
                </a:rPr>
                <a:t>MERCOSUR</a:t>
              </a:r>
              <a:endParaRPr kumimoji="0" lang="en-US" sz="1800" b="0" i="0" u="none" strike="noStrike" cap="none" normalizeH="0" baseline="0" dirty="0">
                <a:ln>
                  <a:noFill/>
                </a:ln>
                <a:solidFill>
                  <a:schemeClr val="tx1"/>
                </a:solidFill>
                <a:effectLst/>
                <a:latin typeface="Arial" pitchFamily="34"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319088"/>
            <a:ext cx="91440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NAFTA</a:t>
            </a:r>
          </a:p>
        </p:txBody>
      </p:sp>
      <p:sp>
        <p:nvSpPr>
          <p:cNvPr id="22531" name="Rectangle 3"/>
          <p:cNvSpPr>
            <a:spLocks noGrp="1" noChangeArrowheads="1"/>
          </p:cNvSpPr>
          <p:nvPr>
            <p:ph idx="1"/>
          </p:nvPr>
        </p:nvSpPr>
        <p:spPr>
          <a:xfrm>
            <a:off x="457200" y="1268760"/>
            <a:ext cx="8229600" cy="4937720"/>
          </a:xfrm>
        </p:spPr>
        <p:txBody>
          <a:bodyPr/>
          <a:lstStyle/>
          <a:p>
            <a:pPr eaLnBrk="1" hangingPunct="1">
              <a:lnSpc>
                <a:spcPts val="3000"/>
              </a:lnSpc>
              <a:buFont typeface="Arial" pitchFamily="34" charset="0"/>
              <a:buChar char="•"/>
            </a:pPr>
            <a:r>
              <a:rPr lang="en-US" altLang="ko-KR" sz="2400" b="0" dirty="0">
                <a:latin typeface="Times New Roman" pitchFamily="18" charset="0"/>
                <a:ea typeface="굴림" pitchFamily="50" charset="-127"/>
                <a:cs typeface="Times New Roman" pitchFamily="18" charset="0"/>
              </a:rPr>
              <a:t>The North American Free Trade Agreement (NAFTA) between the U.S., Canada, and Mexico became law in 1994</a:t>
            </a:r>
          </a:p>
          <a:p>
            <a:pPr eaLnBrk="1" hangingPunct="1">
              <a:lnSpc>
                <a:spcPts val="3000"/>
              </a:lnSpc>
              <a:buFont typeface="Arial" pitchFamily="34" charset="0"/>
              <a:buChar char="•"/>
            </a:pPr>
            <a:r>
              <a:rPr lang="en-US" altLang="ko-KR" sz="2400" b="0" dirty="0">
                <a:latin typeface="Times New Roman" pitchFamily="18" charset="0"/>
                <a:ea typeface="굴림" pitchFamily="50" charset="-127"/>
                <a:cs typeface="Times New Roman" pitchFamily="18" charset="0"/>
              </a:rPr>
              <a:t>NAFTA</a:t>
            </a:r>
          </a:p>
          <a:p>
            <a:pPr lvl="1" eaLnBrk="1" hangingPunct="1">
              <a:lnSpc>
                <a:spcPts val="3000"/>
              </a:lnSpc>
              <a:buNone/>
            </a:pPr>
            <a:r>
              <a:rPr lang="en-US" altLang="ko-KR" sz="2400" dirty="0">
                <a:solidFill>
                  <a:schemeClr val="tx1"/>
                </a:solidFill>
                <a:latin typeface="Times New Roman" pitchFamily="18" charset="0"/>
                <a:ea typeface="굴림" pitchFamily="50" charset="-127"/>
                <a:cs typeface="Times New Roman" pitchFamily="18" charset="0"/>
              </a:rPr>
              <a:t>-  abolish tariffs on 99 percent of traded goods by 2004</a:t>
            </a:r>
          </a:p>
          <a:p>
            <a:pPr lvl="1" eaLnBrk="1" hangingPunct="1">
              <a:lnSpc>
                <a:spcPts val="3000"/>
              </a:lnSpc>
              <a:buNone/>
            </a:pPr>
            <a:r>
              <a:rPr lang="en-US" altLang="ko-KR" sz="2400" dirty="0">
                <a:solidFill>
                  <a:schemeClr val="tx1"/>
                </a:solidFill>
                <a:latin typeface="Times New Roman" pitchFamily="18" charset="0"/>
                <a:ea typeface="굴림" pitchFamily="50" charset="-127"/>
                <a:cs typeface="Times New Roman" pitchFamily="18" charset="0"/>
              </a:rPr>
              <a:t>-  removed barriers on the cross-border flow of services</a:t>
            </a:r>
          </a:p>
          <a:p>
            <a:pPr lvl="1" eaLnBrk="1" hangingPunct="1">
              <a:lnSpc>
                <a:spcPts val="3000"/>
              </a:lnSpc>
              <a:buNone/>
            </a:pPr>
            <a:r>
              <a:rPr lang="en-US" altLang="ko-KR" sz="2400" dirty="0">
                <a:solidFill>
                  <a:schemeClr val="tx1"/>
                </a:solidFill>
                <a:latin typeface="Times New Roman" pitchFamily="18" charset="0"/>
                <a:ea typeface="굴림" pitchFamily="50" charset="-127"/>
                <a:cs typeface="Times New Roman" pitchFamily="18" charset="0"/>
              </a:rPr>
              <a:t>-  protects intellectual property rights</a:t>
            </a:r>
          </a:p>
          <a:p>
            <a:pPr lvl="1" eaLnBrk="1" hangingPunct="1">
              <a:lnSpc>
                <a:spcPts val="3000"/>
              </a:lnSpc>
              <a:buNone/>
            </a:pPr>
            <a:r>
              <a:rPr lang="en-US" altLang="ko-KR" sz="2400" dirty="0">
                <a:solidFill>
                  <a:schemeClr val="tx1"/>
                </a:solidFill>
                <a:latin typeface="Times New Roman" pitchFamily="18" charset="0"/>
                <a:ea typeface="굴림" pitchFamily="50" charset="-127"/>
                <a:cs typeface="Times New Roman" pitchFamily="18" charset="0"/>
              </a:rPr>
              <a:t>-  allows each country to apply its own environmental standards</a:t>
            </a:r>
          </a:p>
          <a:p>
            <a:pPr lvl="1" eaLnBrk="1" hangingPunct="1">
              <a:lnSpc>
                <a:spcPts val="3000"/>
              </a:lnSpc>
              <a:buNone/>
            </a:pPr>
            <a:r>
              <a:rPr lang="en-US" altLang="ko-KR" sz="2400" dirty="0">
                <a:solidFill>
                  <a:schemeClr val="tx1"/>
                </a:solidFill>
                <a:latin typeface="Times New Roman" pitchFamily="18" charset="0"/>
                <a:ea typeface="굴림" pitchFamily="50" charset="-127"/>
                <a:cs typeface="Times New Roman" pitchFamily="18" charset="0"/>
              </a:rPr>
              <a:t>-  establishes two commissions to impose fines and remove trade privileges when environmental standards or legislation involving health and safety, minimum wages,  or child labor are ignored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idx="1"/>
          </p:nvPr>
        </p:nvSpPr>
        <p:spPr>
          <a:xfrm>
            <a:off x="385192" y="1268760"/>
            <a:ext cx="8363272" cy="5248275"/>
          </a:xfrm>
        </p:spPr>
        <p:txBody>
          <a:bodyPr/>
          <a:lstStyle/>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Mexico will benefit from increased jobs as low cost production moves south and will attain more rapid economic growth.</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The U.S. and Canada will benefit from the access to a large and increasingly prosperous market and from the lower prices for consumers from goods produced in Mexico.</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U.S. and Canadian firms with production sites in Mexico will be more competitive on world markets. </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Jobs could be lost and wage levels could decline in the U.S. and Canada.</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Mexican workers could emigrate north.</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Pollution could increase due to Mexico's more lax standards.</a:t>
            </a:r>
          </a:p>
          <a:p>
            <a:pPr eaLnBrk="1" hangingPunct="1">
              <a:lnSpc>
                <a:spcPct val="90000"/>
              </a:lnSpc>
              <a:buNone/>
            </a:pPr>
            <a:endParaRPr lang="en-US" altLang="ko-KR" sz="2400" b="0" dirty="0">
              <a:solidFill>
                <a:schemeClr val="accent2">
                  <a:lumMod val="20000"/>
                  <a:lumOff val="80000"/>
                </a:schemeClr>
              </a:solidFill>
              <a:latin typeface="Times New Roman" pitchFamily="18" charset="0"/>
              <a:ea typeface="굴림" pitchFamily="50" charset="-127"/>
              <a:cs typeface="Times New Roman" pitchFamily="18" charset="0"/>
            </a:endParaRPr>
          </a:p>
          <a:p>
            <a:pPr eaLnBrk="1" hangingPunct="1">
              <a:lnSpc>
                <a:spcPct val="90000"/>
              </a:lnSpc>
            </a:pPr>
            <a:endParaRPr lang="en-US" altLang="ko-KR" sz="2400" dirty="0">
              <a:solidFill>
                <a:schemeClr val="accent2">
                  <a:lumMod val="20000"/>
                  <a:lumOff val="80000"/>
                </a:schemeClr>
              </a:solidFill>
              <a:latin typeface="Times New Roman" pitchFamily="18" charset="0"/>
              <a:ea typeface="굴림" pitchFamily="50" charset="-127"/>
              <a:cs typeface="Times New Roman" pitchFamily="18" charset="0"/>
            </a:endParaRPr>
          </a:p>
        </p:txBody>
      </p:sp>
      <p:sp>
        <p:nvSpPr>
          <p:cNvPr id="23555" name="Rectangle 2"/>
          <p:cNvSpPr>
            <a:spLocks noGrp="1" noChangeArrowheads="1"/>
          </p:cNvSpPr>
          <p:nvPr>
            <p:ph type="title"/>
          </p:nvPr>
        </p:nvSpPr>
        <p:spPr>
          <a:xfrm>
            <a:off x="77261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Benefits and Costs of NAFTA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idx="1"/>
          </p:nvPr>
        </p:nvSpPr>
        <p:spPr>
          <a:xfrm>
            <a:off x="446856" y="1268760"/>
            <a:ext cx="8229600" cy="5248275"/>
          </a:xfrm>
        </p:spPr>
        <p:txBody>
          <a:bodyPr/>
          <a:lstStyle/>
          <a:p>
            <a:pPr eaLnBrk="1" hangingPunct="1">
              <a:lnSpc>
                <a:spcPts val="3800"/>
              </a:lnSpc>
              <a:buFont typeface="Arial" pitchFamily="34" charset="0"/>
              <a:buChar char="•"/>
            </a:pPr>
            <a:r>
              <a:rPr lang="en-US" altLang="ko-KR" sz="2400" b="0" dirty="0">
                <a:latin typeface="Times New Roman" pitchFamily="18" charset="0"/>
                <a:ea typeface="굴림" pitchFamily="50" charset="-127"/>
                <a:cs typeface="Times New Roman" pitchFamily="18" charset="0"/>
              </a:rPr>
              <a:t>Studies of NAFTA’s early impact suggest the following.</a:t>
            </a:r>
          </a:p>
          <a:p>
            <a:pPr lvl="1" eaLnBrk="1" hangingPunct="1">
              <a:lnSpc>
                <a:spcPts val="3800"/>
              </a:lnSpc>
              <a:buNone/>
            </a:pPr>
            <a:r>
              <a:rPr lang="en-US" altLang="ko-KR" sz="2400" dirty="0">
                <a:solidFill>
                  <a:schemeClr val="tx1"/>
                </a:solidFill>
                <a:latin typeface="Times New Roman" pitchFamily="18" charset="0"/>
                <a:ea typeface="굴림" pitchFamily="50" charset="-127"/>
                <a:cs typeface="Times New Roman" pitchFamily="18" charset="0"/>
              </a:rPr>
              <a:t>-  Trade between the three countries has increased by 250 percent.</a:t>
            </a:r>
          </a:p>
          <a:p>
            <a:pPr lvl="1" eaLnBrk="1" hangingPunct="1">
              <a:lnSpc>
                <a:spcPts val="3800"/>
              </a:lnSpc>
              <a:buNone/>
            </a:pPr>
            <a:r>
              <a:rPr lang="en-US" altLang="ko-KR" sz="2400" dirty="0">
                <a:solidFill>
                  <a:schemeClr val="tx1"/>
                </a:solidFill>
                <a:latin typeface="Times New Roman" pitchFamily="18" charset="0"/>
                <a:ea typeface="굴림" pitchFamily="50" charset="-127"/>
                <a:cs typeface="Times New Roman" pitchFamily="18" charset="0"/>
              </a:rPr>
              <a:t>-  The members have become more integrated.</a:t>
            </a:r>
          </a:p>
          <a:p>
            <a:pPr lvl="1" eaLnBrk="1" hangingPunct="1">
              <a:lnSpc>
                <a:spcPts val="3800"/>
              </a:lnSpc>
              <a:buNone/>
            </a:pPr>
            <a:r>
              <a:rPr lang="en-US" altLang="ko-KR" sz="2400" dirty="0">
                <a:solidFill>
                  <a:schemeClr val="tx1"/>
                </a:solidFill>
                <a:latin typeface="Times New Roman" pitchFamily="18" charset="0"/>
                <a:ea typeface="굴림" pitchFamily="50" charset="-127"/>
                <a:cs typeface="Times New Roman" pitchFamily="18" charset="0"/>
              </a:rPr>
              <a:t>-  Productivity has increased in member nations. </a:t>
            </a:r>
          </a:p>
          <a:p>
            <a:pPr lvl="1" eaLnBrk="1" hangingPunct="1">
              <a:lnSpc>
                <a:spcPts val="3800"/>
              </a:lnSpc>
              <a:buNone/>
            </a:pPr>
            <a:r>
              <a:rPr lang="en-US" altLang="ko-KR" sz="2400" dirty="0">
                <a:solidFill>
                  <a:schemeClr val="tx1"/>
                </a:solidFill>
                <a:latin typeface="Times New Roman" pitchFamily="18" charset="0"/>
                <a:ea typeface="굴림" pitchFamily="50" charset="-127"/>
                <a:cs typeface="Times New Roman" pitchFamily="18" charset="0"/>
              </a:rPr>
              <a:t>-  Employment effects have been small.</a:t>
            </a:r>
          </a:p>
          <a:p>
            <a:pPr lvl="1" eaLnBrk="1" hangingPunct="1">
              <a:lnSpc>
                <a:spcPts val="3800"/>
              </a:lnSpc>
              <a:buNone/>
            </a:pPr>
            <a:r>
              <a:rPr lang="en-US" altLang="ko-KR" sz="2400" dirty="0">
                <a:solidFill>
                  <a:schemeClr val="tx1"/>
                </a:solidFill>
                <a:latin typeface="Times New Roman" pitchFamily="18" charset="0"/>
                <a:ea typeface="굴림" pitchFamily="50" charset="-127"/>
                <a:cs typeface="Times New Roman" pitchFamily="18" charset="0"/>
              </a:rPr>
              <a:t>-  Mexico has become more politically stable.</a:t>
            </a:r>
          </a:p>
        </p:txBody>
      </p:sp>
      <p:sp>
        <p:nvSpPr>
          <p:cNvPr id="25603" name="Rectangle 2"/>
          <p:cNvSpPr>
            <a:spLocks noGrp="1" noChangeArrowheads="1"/>
          </p:cNvSpPr>
          <p:nvPr>
            <p:ph type="title"/>
          </p:nvPr>
        </p:nvSpPr>
        <p:spPr>
          <a:xfrm>
            <a:off x="75557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How Successful Has NAFTA Been?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75557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USMCA (US-Mexico-Canada Agreement)</a:t>
            </a:r>
          </a:p>
        </p:txBody>
      </p:sp>
      <p:sp>
        <p:nvSpPr>
          <p:cNvPr id="4" name="Content Placeholder 2">
            <a:extLst>
              <a:ext uri="{FF2B5EF4-FFF2-40B4-BE49-F238E27FC236}">
                <a16:creationId xmlns:a16="http://schemas.microsoft.com/office/drawing/2014/main" id="{05D09144-9752-A8BB-29AE-9CA3D27B5732}"/>
              </a:ext>
            </a:extLst>
          </p:cNvPr>
          <p:cNvSpPr txBox="1">
            <a:spLocks/>
          </p:cNvSpPr>
          <p:nvPr/>
        </p:nvSpPr>
        <p:spPr bwMode="auto">
          <a:xfrm>
            <a:off x="342900" y="1276709"/>
            <a:ext cx="8458200" cy="526220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lnSpcReduction="10000"/>
          </a:bodyPr>
          <a:lstStyle>
            <a:defPPr>
              <a:defRPr lang="en-US"/>
            </a:defPPr>
            <a:lvl1pPr algn="ctr" rtl="0" fontAlgn="base" latinLnBrk="0">
              <a:spcBef>
                <a:spcPct val="0"/>
              </a:spcBef>
              <a:spcAft>
                <a:spcPct val="0"/>
              </a:spcAft>
              <a:defRPr kumimoji="0" sz="1400" b="0" kern="1200">
                <a:solidFill>
                  <a:schemeClr val="tx1"/>
                </a:solidFill>
                <a:latin typeface="+mj-lt"/>
                <a:ea typeface="굴림" charset="-127"/>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1" hangingPunct="1">
              <a:defRPr sz="2400" b="1" kern="1200">
                <a:solidFill>
                  <a:schemeClr val="tx1"/>
                </a:solidFill>
                <a:latin typeface="Times New Roman" pitchFamily="18" charset="0"/>
                <a:ea typeface="+mn-ea"/>
                <a:cs typeface="+mn-cs"/>
              </a:defRPr>
            </a:lvl6pPr>
            <a:lvl7pPr marL="2743200" algn="l" defTabSz="914400" rtl="0" eaLnBrk="1" latinLnBrk="1" hangingPunct="1">
              <a:defRPr sz="2400" b="1" kern="1200">
                <a:solidFill>
                  <a:schemeClr val="tx1"/>
                </a:solidFill>
                <a:latin typeface="Times New Roman" pitchFamily="18" charset="0"/>
                <a:ea typeface="+mn-ea"/>
                <a:cs typeface="+mn-cs"/>
              </a:defRPr>
            </a:lvl7pPr>
            <a:lvl8pPr marL="3200400" algn="l" defTabSz="914400" rtl="0" eaLnBrk="1" latinLnBrk="1" hangingPunct="1">
              <a:defRPr sz="2400" b="1" kern="1200">
                <a:solidFill>
                  <a:schemeClr val="tx1"/>
                </a:solidFill>
                <a:latin typeface="Times New Roman" pitchFamily="18" charset="0"/>
                <a:ea typeface="+mn-ea"/>
                <a:cs typeface="+mn-cs"/>
              </a:defRPr>
            </a:lvl8pPr>
            <a:lvl9pPr marL="3657600" algn="l" defTabSz="914400" rtl="0" eaLnBrk="1" latinLnBrk="1" hangingPunct="1">
              <a:defRPr sz="2400" b="1" kern="1200">
                <a:solidFill>
                  <a:schemeClr val="tx1"/>
                </a:solidFill>
                <a:latin typeface="Times New Roman" pitchFamily="18" charset="0"/>
                <a:ea typeface="+mn-ea"/>
                <a:cs typeface="+mn-cs"/>
              </a:defRPr>
            </a:lvl9pPr>
          </a:lstStyle>
          <a:p>
            <a:pPr marL="342900" lvl="1" indent="-342900">
              <a:lnSpc>
                <a:spcPct val="110000"/>
              </a:lnSpc>
              <a:buFont typeface="Arial" panose="020B0604020202020204" pitchFamily="34" charset="0"/>
              <a:buChar char="•"/>
              <a:defRPr/>
            </a:pPr>
            <a:r>
              <a:rPr lang="en-US" b="0" dirty="0"/>
              <a:t>N A F T A was renegotiated under Trump administration</a:t>
            </a:r>
          </a:p>
          <a:p>
            <a:pPr marL="342900" lvl="1" indent="-342900">
              <a:lnSpc>
                <a:spcPct val="110000"/>
              </a:lnSpc>
              <a:buFont typeface="Arial" panose="020B0604020202020204" pitchFamily="34" charset="0"/>
              <a:buChar char="•"/>
              <a:defRPr/>
            </a:pPr>
            <a:r>
              <a:rPr lang="en-US" b="0" dirty="0"/>
              <a:t>Changes made to automobile trade, dairy industry, intellectual property rights</a:t>
            </a:r>
          </a:p>
          <a:p>
            <a:pPr marL="0" lvl="1">
              <a:lnSpc>
                <a:spcPct val="110000"/>
              </a:lnSpc>
              <a:defRPr/>
            </a:pPr>
            <a:r>
              <a:rPr lang="en-US" b="0" dirty="0"/>
              <a:t>     - requires 75% of a vehicle’s parts to be made in one of the three</a:t>
            </a:r>
          </a:p>
          <a:p>
            <a:pPr marL="0" lvl="1">
              <a:lnSpc>
                <a:spcPct val="110000"/>
              </a:lnSpc>
              <a:defRPr/>
            </a:pPr>
            <a:r>
              <a:rPr lang="en-US" b="0" dirty="0"/>
              <a:t>       countries – up from the current 62.5% rule</a:t>
            </a:r>
          </a:p>
          <a:p>
            <a:pPr marL="0" lvl="1">
              <a:lnSpc>
                <a:spcPct val="110000"/>
              </a:lnSpc>
              <a:defRPr/>
            </a:pPr>
            <a:r>
              <a:rPr lang="en-US" b="0" dirty="0"/>
              <a:t>     - requires more vehicle parts to be made by workers earning at</a:t>
            </a:r>
          </a:p>
          <a:p>
            <a:pPr marL="0" lvl="1">
              <a:lnSpc>
                <a:spcPct val="110000"/>
              </a:lnSpc>
              <a:defRPr/>
            </a:pPr>
            <a:r>
              <a:rPr lang="en-US" b="0" dirty="0"/>
              <a:t>       least $16 an hour, which may provide a boost to manufacturing</a:t>
            </a:r>
          </a:p>
          <a:p>
            <a:pPr marL="0" lvl="1">
              <a:lnSpc>
                <a:spcPct val="110000"/>
              </a:lnSpc>
              <a:defRPr/>
            </a:pPr>
            <a:r>
              <a:rPr lang="en-US" b="0" dirty="0"/>
              <a:t>       in the United States</a:t>
            </a:r>
          </a:p>
          <a:p>
            <a:pPr marL="0" lvl="1">
              <a:lnSpc>
                <a:spcPct val="110000"/>
              </a:lnSpc>
              <a:defRPr/>
            </a:pPr>
            <a:r>
              <a:rPr lang="en-US" b="0" dirty="0"/>
              <a:t>     - open up more</a:t>
            </a:r>
            <a:r>
              <a:rPr lang="ko-KR" altLang="en-US" b="0" dirty="0"/>
              <a:t> </a:t>
            </a:r>
            <a:r>
              <a:rPr lang="en-US" altLang="ko-KR" b="0" dirty="0"/>
              <a:t>of</a:t>
            </a:r>
            <a:r>
              <a:rPr lang="ko-KR" altLang="en-US" b="0" dirty="0"/>
              <a:t> </a:t>
            </a:r>
            <a:r>
              <a:rPr lang="en-US" b="0" dirty="0"/>
              <a:t>the Canadian dairy market to U.S. producers</a:t>
            </a:r>
          </a:p>
          <a:p>
            <a:pPr marL="0" lvl="1">
              <a:lnSpc>
                <a:spcPct val="110000"/>
              </a:lnSpc>
              <a:defRPr/>
            </a:pPr>
            <a:r>
              <a:rPr lang="en-US" b="0" dirty="0"/>
              <a:t>     - extended the terms of copyright to 70 years - up from 50 years. </a:t>
            </a:r>
          </a:p>
          <a:p>
            <a:pPr marL="342900" marR="0" lvl="1" indent="-34290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altLang="ko-KR" sz="2400" b="0" i="0" u="none" strike="noStrike" kern="1200" cap="none" spc="0" normalizeH="0" baseline="0" noProof="0" dirty="0">
                <a:ln>
                  <a:noFill/>
                </a:ln>
                <a:solidFill>
                  <a:srgbClr val="B1E2FB"/>
                </a:solidFill>
                <a:effectLst/>
                <a:uLnTx/>
                <a:uFillTx/>
                <a:latin typeface="Times New Roman" pitchFamily="18" charset="0"/>
                <a:ea typeface="+mn-ea"/>
                <a:cs typeface="+mn-cs"/>
              </a:rPr>
              <a:t>Critics see results in trade diversion rather than trade creation, and consequences may include higher costs to North American automobile producers and higher prices for consumers.</a:t>
            </a:r>
          </a:p>
          <a:p>
            <a:pPr marL="0" lvl="1">
              <a:lnSpc>
                <a:spcPct val="110000"/>
              </a:lnSpc>
              <a:defRPr/>
            </a:pPr>
            <a:endParaRPr lang="en-US" b="0" dirty="0"/>
          </a:p>
        </p:txBody>
      </p:sp>
    </p:spTree>
    <p:extLst>
      <p:ext uri="{BB962C8B-B14F-4D97-AF65-F5344CB8AC3E}">
        <p14:creationId xmlns:p14="http://schemas.microsoft.com/office/powerpoint/2010/main" val="2299673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755576" y="332656"/>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0" lang="en-US" altLang="ko-KR" sz="3200" b="1" i="0" u="none" strike="noStrike" kern="0" cap="none" spc="0" normalizeH="0" baseline="0" noProof="0" dirty="0">
                <a:ln>
                  <a:noFill/>
                </a:ln>
                <a:solidFill>
                  <a:srgbClr val="FFC000"/>
                </a:solidFill>
                <a:effectLst/>
                <a:uLnTx/>
                <a:uFillTx/>
                <a:latin typeface="Times New Roman" pitchFamily="18" charset="0"/>
                <a:ea typeface="굴림" pitchFamily="50" charset="-127"/>
                <a:cs typeface="Times New Roman" pitchFamily="18" charset="0"/>
              </a:rPr>
              <a:t>Regional Economic Integration </a:t>
            </a:r>
            <a:br>
              <a:rPr kumimoji="0" lang="en-US" altLang="ko-KR" sz="3200" b="1" i="0" u="none" strike="noStrike" kern="0" cap="none" spc="0" normalizeH="0" baseline="0" noProof="0" dirty="0">
                <a:ln>
                  <a:noFill/>
                </a:ln>
                <a:solidFill>
                  <a:srgbClr val="FFC000"/>
                </a:solidFill>
                <a:effectLst/>
                <a:uLnTx/>
                <a:uFillTx/>
                <a:latin typeface="Times New Roman" pitchFamily="18" charset="0"/>
                <a:ea typeface="굴림" pitchFamily="50" charset="-127"/>
                <a:cs typeface="Times New Roman" pitchFamily="18" charset="0"/>
              </a:rPr>
            </a:br>
            <a:r>
              <a:rPr kumimoji="0" lang="en-US" altLang="ko-KR" sz="3200" b="1" i="0" u="none" strike="noStrike" kern="0" cap="none" spc="0" normalizeH="0" baseline="0" noProof="0" dirty="0">
                <a:ln>
                  <a:noFill/>
                </a:ln>
                <a:solidFill>
                  <a:srgbClr val="FFC000"/>
                </a:solidFill>
                <a:effectLst/>
                <a:uLnTx/>
                <a:uFillTx/>
                <a:latin typeface="Times New Roman" pitchFamily="18" charset="0"/>
                <a:ea typeface="굴림" pitchFamily="50" charset="-127"/>
                <a:cs typeface="Times New Roman" pitchFamily="18" charset="0"/>
              </a:rPr>
              <a:t>in</a:t>
            </a:r>
            <a:r>
              <a:rPr kumimoji="0" lang="en-US" altLang="ko-KR" sz="3200" b="1" i="0" u="none" strike="noStrike" kern="0" cap="none" spc="0" normalizeH="0" noProof="0" dirty="0">
                <a:ln>
                  <a:noFill/>
                </a:ln>
                <a:solidFill>
                  <a:srgbClr val="FFC000"/>
                </a:solidFill>
                <a:effectLst/>
                <a:uLnTx/>
                <a:uFillTx/>
                <a:latin typeface="Times New Roman" pitchFamily="18" charset="0"/>
                <a:ea typeface="굴림" pitchFamily="50" charset="-127"/>
                <a:cs typeface="Times New Roman" pitchFamily="18" charset="0"/>
              </a:rPr>
              <a:t> Asia Pacific</a:t>
            </a:r>
            <a:endParaRPr kumimoji="0" lang="en-US" altLang="ko-KR" sz="3200" b="1" i="0" u="none" strike="noStrike" kern="0" cap="none" spc="0" normalizeH="0" baseline="0" noProof="0" dirty="0">
              <a:ln>
                <a:noFill/>
              </a:ln>
              <a:solidFill>
                <a:srgbClr val="FFC000"/>
              </a:solidFill>
              <a:effectLst/>
              <a:uLnTx/>
              <a:uFillTx/>
              <a:latin typeface="Times New Roman" pitchFamily="18" charset="0"/>
              <a:ea typeface="굴림" pitchFamily="50" charset="-127"/>
              <a:cs typeface="Times New Roman" pitchFamily="18" charset="0"/>
            </a:endParaRPr>
          </a:p>
        </p:txBody>
      </p:sp>
      <p:pic>
        <p:nvPicPr>
          <p:cNvPr id="7" name="Picture 4" descr="Figure 8"/>
          <p:cNvPicPr>
            <a:picLocks noChangeAspect="1" noChangeArrowheads="1"/>
          </p:cNvPicPr>
          <p:nvPr/>
        </p:nvPicPr>
        <p:blipFill>
          <a:blip r:embed="rId2" cstate="print"/>
          <a:srcRect/>
          <a:stretch>
            <a:fillRect/>
          </a:stretch>
        </p:blipFill>
        <p:spPr bwMode="auto">
          <a:xfrm>
            <a:off x="0" y="1124744"/>
            <a:ext cx="9144000" cy="573325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idx="1"/>
          </p:nvPr>
        </p:nvSpPr>
        <p:spPr>
          <a:xfrm>
            <a:off x="390364" y="1124744"/>
            <a:ext cx="8363272" cy="5733256"/>
          </a:xfrm>
        </p:spPr>
        <p:txBody>
          <a:bodyPr/>
          <a:lstStyle/>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The Association of Southeast Asian Nations was formed in 1967 but had not been economically active until 1992. </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ASEAN set up the ASEAN Free Trade Area in 1992, and intra-ASEAN trade has grown by 12% annually since then.</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Intra-ASEAN trade was not big in scale since ASEAN’s main trading partners (US, EU, Japan, China) were outside the region.</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In 2001, ASEAN launched an agenda of ASEAN+3(China, Japan, Korea). In 2002, ASEAN and China signed an ASEAN-China Free Trade Agreement to be launched in 2010, when ASEAN signed a free trade agreement with China to remove tariffs on 90 percent of all traded goods.</a:t>
            </a:r>
          </a:p>
          <a:p>
            <a:pPr eaLnBrk="1" hangingPunct="1">
              <a:lnSpc>
                <a:spcPts val="3200"/>
              </a:lnSpc>
              <a:buFont typeface="Arial" pitchFamily="34" charset="0"/>
              <a:buChar char="•"/>
            </a:pPr>
            <a:r>
              <a:rPr lang="en-US" altLang="ko-KR" sz="2400" b="0" dirty="0">
                <a:latin typeface="Times New Roman" pitchFamily="18" charset="0"/>
                <a:ea typeface="굴림" pitchFamily="50" charset="-127"/>
                <a:cs typeface="Times New Roman" pitchFamily="18" charset="0"/>
              </a:rPr>
              <a:t>10 members: Brunei, Indonesia, Malaysia, the Philippines, Singapore, Thailand, Vietnam, Laos, Myanmar, and Cambodia.</a:t>
            </a:r>
          </a:p>
          <a:p>
            <a:pPr eaLnBrk="1" hangingPunct="1">
              <a:lnSpc>
                <a:spcPct val="80000"/>
              </a:lnSpc>
              <a:buNone/>
            </a:pPr>
            <a:endParaRPr lang="en-US" altLang="ko-KR" sz="2400" dirty="0">
              <a:solidFill>
                <a:schemeClr val="accent2">
                  <a:lumMod val="20000"/>
                  <a:lumOff val="80000"/>
                </a:schemeClr>
              </a:solidFill>
              <a:latin typeface="Times New Roman" pitchFamily="18" charset="0"/>
              <a:ea typeface="굴림" pitchFamily="50" charset="-127"/>
              <a:cs typeface="Times New Roman" pitchFamily="18" charset="0"/>
            </a:endParaRPr>
          </a:p>
        </p:txBody>
      </p:sp>
      <p:sp>
        <p:nvSpPr>
          <p:cNvPr id="26627" name="Rectangle 2"/>
          <p:cNvSpPr>
            <a:spLocks noGrp="1" noChangeArrowheads="1"/>
          </p:cNvSpPr>
          <p:nvPr>
            <p:ph type="title"/>
          </p:nvPr>
        </p:nvSpPr>
        <p:spPr>
          <a:xfrm>
            <a:off x="75557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ASEAN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a:xfrm>
            <a:off x="179512" y="1196752"/>
            <a:ext cx="8964488" cy="5544616"/>
          </a:xfrm>
        </p:spPr>
        <p:txBody>
          <a:bodyPr/>
          <a:lstStyle/>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Asian Pacific Economic Cooperation (APEC) was founded in 1989.</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APEC currently has 21 members including the United States, Japan, China, and Korea.</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APEC wants to increase multilateral cooperation (pursuing freer trade and investment, anticorruption, knowledge economy) in view of the economic rise of the Pacific nations and the growing interdependence within the region.</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APEC leaders adopted the Bogor Goals in 1994, which aimed for free and open trade and investment in the Asia-Pacific by 2010 for industrialized economies and by 2020 for developing economies.</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Consensus-based decisions, non-binding implementation and voluntary participation or implementation of member states</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But no significant progress has yet been made. The extent of cooperation (e.g., possible FTA) remains to be seen.</a:t>
            </a:r>
          </a:p>
        </p:txBody>
      </p:sp>
      <p:sp>
        <p:nvSpPr>
          <p:cNvPr id="27651" name="Rectangle 2"/>
          <p:cNvSpPr>
            <a:spLocks noGrp="1" noChangeArrowheads="1"/>
          </p:cNvSpPr>
          <p:nvPr>
            <p:ph type="title"/>
          </p:nvPr>
        </p:nvSpPr>
        <p:spPr>
          <a:xfrm>
            <a:off x="75557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APEC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a:xfrm>
            <a:off x="179512" y="1196752"/>
            <a:ext cx="8964488" cy="5544616"/>
          </a:xfrm>
        </p:spPr>
        <p:txBody>
          <a:bodyPr/>
          <a:lstStyle/>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Trans-Pacific Strategic Economic Partnership (TPP) started with a trade agreement between Brunei, Chile, New Zealand, and Singapore in 2005.</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The TPP became a trade agreement signed by 12 Pacific Rim countries (Korea not included) that comprised 40 percent of the global economy.</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Trump withdrew the US from the TPP in 2017, and the remaining TPP countries have forged ahead with a new version of the pact, known as the Comprehensive and Progressive Agreement for Trans-Pacific Partnership (CPTPP), keeping most of the original intact. </a:t>
            </a:r>
          </a:p>
          <a:p>
            <a:pPr eaLnBrk="1" hangingPunct="1">
              <a:buFont typeface="Arial" pitchFamily="34" charset="0"/>
              <a:buChar char="•"/>
            </a:pPr>
            <a:r>
              <a:rPr lang="en-US" altLang="ko-KR" sz="2400" b="0" dirty="0">
                <a:latin typeface="Times New Roman" pitchFamily="18" charset="0"/>
                <a:ea typeface="굴림" pitchFamily="50" charset="-127"/>
                <a:cs typeface="Times New Roman" pitchFamily="18" charset="0"/>
              </a:rPr>
              <a:t>Elimination or reduction of tariffs , liberalization of services trade.</a:t>
            </a:r>
          </a:p>
          <a:p>
            <a:pPr marL="0" indent="0" eaLnBrk="1" hangingPunct="1">
              <a:buNone/>
            </a:pPr>
            <a:r>
              <a:rPr lang="en-US" altLang="ko-KR" sz="2400" b="0" dirty="0">
                <a:latin typeface="Times New Roman" pitchFamily="18" charset="0"/>
                <a:ea typeface="굴림" pitchFamily="50" charset="-127"/>
                <a:cs typeface="Times New Roman" pitchFamily="18" charset="0"/>
              </a:rPr>
              <a:t>    investment rules, e-commerce guidelines, intellectual property</a:t>
            </a:r>
          </a:p>
          <a:p>
            <a:pPr marL="0" indent="0" eaLnBrk="1" hangingPunct="1">
              <a:buNone/>
            </a:pPr>
            <a:r>
              <a:rPr lang="en-US" altLang="ko-KR" sz="2400" b="0" dirty="0">
                <a:latin typeface="Times New Roman" pitchFamily="18" charset="0"/>
                <a:ea typeface="굴림" pitchFamily="50" charset="-127"/>
                <a:cs typeface="Times New Roman" pitchFamily="18" charset="0"/>
              </a:rPr>
              <a:t>    protections, and labor and environmental standards</a:t>
            </a:r>
          </a:p>
        </p:txBody>
      </p:sp>
      <p:sp>
        <p:nvSpPr>
          <p:cNvPr id="27651" name="Rectangle 2"/>
          <p:cNvSpPr>
            <a:spLocks noGrp="1" noChangeArrowheads="1"/>
          </p:cNvSpPr>
          <p:nvPr>
            <p:ph type="title"/>
          </p:nvPr>
        </p:nvSpPr>
        <p:spPr>
          <a:xfrm>
            <a:off x="755576" y="319088"/>
            <a:ext cx="7543800" cy="563562"/>
          </a:xfrm>
          <a:noFill/>
        </p:spPr>
        <p:txBody>
          <a:bodyPr/>
          <a:lstStyle/>
          <a:p>
            <a:pPr algn="ctr" eaLnBrk="1" hangingPunct="1"/>
            <a:r>
              <a:rPr lang="en-US" altLang="ko-KR" sz="3200" b="1" dirty="0">
                <a:solidFill>
                  <a:srgbClr val="FFC000"/>
                </a:solidFill>
                <a:latin typeface="Times New Roman" pitchFamily="18" charset="0"/>
                <a:ea typeface="굴림" pitchFamily="50" charset="-127"/>
                <a:cs typeface="Times New Roman" pitchFamily="18" charset="0"/>
              </a:rPr>
              <a:t>TPP/CPTPP</a:t>
            </a:r>
          </a:p>
        </p:txBody>
      </p:sp>
    </p:spTree>
    <p:extLst>
      <p:ext uri="{BB962C8B-B14F-4D97-AF65-F5344CB8AC3E}">
        <p14:creationId xmlns:p14="http://schemas.microsoft.com/office/powerpoint/2010/main" val="2794729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hlinkClick r:id="" action="ppaction://ole?verb=0"/>
          </p:cNvPr>
          <p:cNvGraphicFramePr>
            <a:graphicFrameLocks/>
          </p:cNvGraphicFramePr>
          <p:nvPr/>
        </p:nvGraphicFramePr>
        <p:xfrm>
          <a:off x="381000" y="4208463"/>
          <a:ext cx="8382000" cy="2049462"/>
        </p:xfrm>
        <a:graphic>
          <a:graphicData uri="http://schemas.openxmlformats.org/presentationml/2006/ole">
            <mc:AlternateContent xmlns:mc="http://schemas.openxmlformats.org/markup-compatibility/2006">
              <mc:Choice xmlns:v="urn:schemas-microsoft-com:vml" Requires="v">
                <p:oleObj name="Clip" r:id="rId2" imgW="3657600" imgH="2338200" progId="">
                  <p:embed/>
                </p:oleObj>
              </mc:Choice>
              <mc:Fallback>
                <p:oleObj name="Clip" r:id="rId2" imgW="3657600" imgH="2338200" progId="">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208463"/>
                        <a:ext cx="8382000" cy="20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3" name="WordArt 3"/>
          <p:cNvSpPr>
            <a:spLocks noChangeArrowheads="1" noChangeShapeType="1" noTextEdit="1"/>
          </p:cNvSpPr>
          <p:nvPr/>
        </p:nvSpPr>
        <p:spPr bwMode="auto">
          <a:xfrm>
            <a:off x="395536" y="1484784"/>
            <a:ext cx="8280920" cy="2376264"/>
          </a:xfrm>
          <a:prstGeom prst="rect">
            <a:avLst/>
          </a:prstGeom>
        </p:spPr>
        <p:txBody>
          <a:bodyPr wrap="none" fromWordArt="1">
            <a:prstTxWarp prst="textSlantUp">
              <a:avLst>
                <a:gd name="adj" fmla="val 32056"/>
              </a:avLst>
            </a:prstTxWarp>
          </a:bodyPr>
          <a:lstStyle/>
          <a:p>
            <a:pPr algn="ctr"/>
            <a:r>
              <a:rPr lang="en-US" altLang="ko-KR"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rPr>
              <a:t>Implications for Businesses</a:t>
            </a:r>
            <a:endParaRPr lang="ko-KR" altLang="en-US" sz="4800" kern="10" dirty="0">
              <a:ln w="9525">
                <a:solidFill>
                  <a:srgbClr val="CC99FF"/>
                </a:solidFill>
                <a:round/>
                <a:headEnd/>
                <a:tailEnd/>
              </a:ln>
              <a:gradFill rotWithShape="1">
                <a:gsLst>
                  <a:gs pos="0">
                    <a:srgbClr val="333399"/>
                  </a:gs>
                  <a:gs pos="100000">
                    <a:schemeClr val="accent2"/>
                  </a:gs>
                </a:gsLst>
                <a:lin ang="5400000" scaled="1"/>
              </a:gradFill>
              <a:effectLst>
                <a:outerShdw dist="53882" dir="2700000" algn="ctr" rotWithShape="0">
                  <a:srgbClr val="9999FF"/>
                </a:outerShdw>
              </a:effectLst>
              <a:latin typeface="Impact"/>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descr="Large confetti"/>
          <p:cNvSpPr>
            <a:spLocks noGrp="1" noChangeArrowheads="1"/>
          </p:cNvSpPr>
          <p:nvPr>
            <p:ph type="title"/>
          </p:nvPr>
        </p:nvSpPr>
        <p:spPr>
          <a:xfrm>
            <a:off x="467544" y="0"/>
            <a:ext cx="8229600" cy="1143000"/>
          </a:xfrm>
        </p:spPr>
        <p:txBody>
          <a:bodyPr>
            <a:noAutofit/>
          </a:bodyPr>
          <a:lstStyle/>
          <a:p>
            <a:pPr algn="ctr" eaLnBrk="1" fontAlgn="auto" hangingPunct="1">
              <a:spcAft>
                <a:spcPts val="0"/>
              </a:spcAft>
              <a:defRPr/>
            </a:pPr>
            <a:r>
              <a:rPr lang="en-US" altLang="ko-KR" sz="3200" b="1" dirty="0">
                <a:solidFill>
                  <a:srgbClr val="FFC000"/>
                </a:solidFill>
                <a:latin typeface="Times New Roman" pitchFamily="18" charset="0"/>
                <a:ea typeface="굴림" pitchFamily="50" charset="-127"/>
                <a:cs typeface="Times New Roman" pitchFamily="18" charset="0"/>
              </a:rPr>
              <a:t>Member Businesses</a:t>
            </a:r>
          </a:p>
        </p:txBody>
      </p:sp>
      <p:sp>
        <p:nvSpPr>
          <p:cNvPr id="28675" name="Rectangle 5"/>
          <p:cNvSpPr>
            <a:spLocks noGrp="1" noChangeArrowheads="1"/>
          </p:cNvSpPr>
          <p:nvPr>
            <p:ph type="body" idx="1"/>
          </p:nvPr>
        </p:nvSpPr>
        <p:spPr>
          <a:xfrm>
            <a:off x="827584" y="1224136"/>
            <a:ext cx="7469832" cy="5661248"/>
          </a:xfrm>
          <a:noFill/>
        </p:spPr>
        <p:txBody>
          <a:bodyPr/>
          <a:lstStyle/>
          <a:p>
            <a:pPr eaLnBrk="1" hangingPunct="1">
              <a:lnSpc>
                <a:spcPts val="2600"/>
              </a:lnSpc>
              <a:buFont typeface="Arial" pitchFamily="34" charset="0"/>
              <a:buChar char="•"/>
            </a:pPr>
            <a:r>
              <a:rPr lang="en-US" altLang="ko-KR" b="0" dirty="0">
                <a:latin typeface="Times New Roman" pitchFamily="18" charset="0"/>
                <a:cs typeface="Times New Roman" pitchFamily="18" charset="0"/>
              </a:rPr>
              <a:t>Advantages</a:t>
            </a:r>
          </a:p>
          <a:p>
            <a:pPr eaLnBrk="1" hangingPunct="1">
              <a:lnSpc>
                <a:spcPts val="2600"/>
              </a:lnSpc>
              <a:buNone/>
            </a:pPr>
            <a:r>
              <a:rPr lang="en-US" altLang="ko-KR" sz="2400" b="0" dirty="0">
                <a:latin typeface="Times New Roman" pitchFamily="18" charset="0"/>
                <a:cs typeface="Times New Roman" pitchFamily="18" charset="0"/>
              </a:rPr>
              <a:t>	   - Bigger market</a:t>
            </a:r>
          </a:p>
          <a:p>
            <a:pPr eaLnBrk="1" hangingPunct="1">
              <a:lnSpc>
                <a:spcPts val="2600"/>
              </a:lnSpc>
              <a:buNone/>
            </a:pPr>
            <a:r>
              <a:rPr lang="en-US" altLang="ko-KR" sz="2400" b="0" dirty="0">
                <a:latin typeface="Times New Roman" pitchFamily="18" charset="0"/>
                <a:cs typeface="Times New Roman" pitchFamily="18" charset="0"/>
              </a:rPr>
              <a:t>	   - Greater specialization of value-chain activities                      	  (Greater economies of scale)</a:t>
            </a:r>
          </a:p>
          <a:p>
            <a:pPr eaLnBrk="1" hangingPunct="1">
              <a:lnSpc>
                <a:spcPts val="2600"/>
              </a:lnSpc>
              <a:buNone/>
            </a:pPr>
            <a:r>
              <a:rPr lang="en-US" altLang="ko-KR" sz="2400" b="0" dirty="0">
                <a:latin typeface="Times New Roman" pitchFamily="18" charset="0"/>
                <a:ea typeface="바탕" pitchFamily="18" charset="-127"/>
                <a:cs typeface="Times New Roman" pitchFamily="18" charset="0"/>
              </a:rPr>
              <a:t>	   - Dispersion of value-chain activities</a:t>
            </a:r>
            <a:r>
              <a:rPr lang="en-US" altLang="ko-KR" sz="2400" b="0" dirty="0">
                <a:latin typeface="Times New Roman" pitchFamily="18" charset="0"/>
                <a:cs typeface="Times New Roman" pitchFamily="18" charset="0"/>
              </a:rPr>
              <a:t> </a:t>
            </a:r>
          </a:p>
          <a:p>
            <a:pPr eaLnBrk="1" hangingPunct="1">
              <a:lnSpc>
                <a:spcPts val="2600"/>
              </a:lnSpc>
              <a:buNone/>
            </a:pPr>
            <a:r>
              <a:rPr lang="en-US" altLang="ko-KR" sz="2400" b="0" dirty="0">
                <a:latin typeface="Times New Roman" pitchFamily="18" charset="0"/>
                <a:ea typeface="바탕" pitchFamily="18" charset="-127"/>
                <a:cs typeface="Times New Roman" pitchFamily="18" charset="0"/>
              </a:rPr>
              <a:t>	   - Improved integration of activities</a:t>
            </a:r>
            <a:r>
              <a:rPr lang="en-US" altLang="ko-KR" sz="2400" b="0" dirty="0">
                <a:latin typeface="Times New Roman" pitchFamily="18" charset="0"/>
                <a:cs typeface="Times New Roman" pitchFamily="18" charset="0"/>
              </a:rPr>
              <a:t> </a:t>
            </a:r>
          </a:p>
          <a:p>
            <a:pPr eaLnBrk="1" hangingPunct="1">
              <a:lnSpc>
                <a:spcPts val="2600"/>
              </a:lnSpc>
              <a:buNone/>
            </a:pPr>
            <a:r>
              <a:rPr lang="en-US" altLang="ko-KR" sz="2400" b="0" dirty="0">
                <a:latin typeface="Times New Roman" pitchFamily="18" charset="0"/>
                <a:ea typeface="바탕" pitchFamily="18" charset="-127"/>
                <a:cs typeface="Times New Roman" pitchFamily="18" charset="0"/>
              </a:rPr>
              <a:t>	   - Exploitation of country differences</a:t>
            </a:r>
            <a:r>
              <a:rPr lang="en-US" altLang="ko-KR" sz="2400" b="0" dirty="0">
                <a:latin typeface="Times New Roman" pitchFamily="18" charset="0"/>
                <a:cs typeface="Times New Roman" pitchFamily="18" charset="0"/>
              </a:rPr>
              <a:t> </a:t>
            </a:r>
          </a:p>
          <a:p>
            <a:pPr eaLnBrk="1" hangingPunct="1">
              <a:lnSpc>
                <a:spcPts val="2600"/>
              </a:lnSpc>
              <a:buNone/>
            </a:pPr>
            <a:r>
              <a:rPr lang="en-US" altLang="ko-KR" sz="2400" b="0" dirty="0">
                <a:latin typeface="Times New Roman" pitchFamily="18" charset="0"/>
                <a:ea typeface="바탕" pitchFamily="18" charset="-127"/>
                <a:cs typeface="Times New Roman" pitchFamily="18" charset="0"/>
              </a:rPr>
              <a:t>	   - Innovations &amp; Improved competitiveness</a:t>
            </a:r>
            <a:r>
              <a:rPr lang="en-US" altLang="ko-KR" sz="2400" b="0" dirty="0">
                <a:latin typeface="Times New Roman" pitchFamily="18" charset="0"/>
                <a:cs typeface="Times New Roman" pitchFamily="18" charset="0"/>
              </a:rPr>
              <a:t> </a:t>
            </a:r>
          </a:p>
          <a:p>
            <a:pPr eaLnBrk="1" hangingPunct="1">
              <a:lnSpc>
                <a:spcPts val="2600"/>
              </a:lnSpc>
              <a:buFont typeface="Arial" pitchFamily="34" charset="0"/>
              <a:buChar char="•"/>
            </a:pPr>
            <a:r>
              <a:rPr lang="en-US" altLang="ko-KR" b="0" dirty="0">
                <a:latin typeface="Times New Roman" pitchFamily="18" charset="0"/>
                <a:cs typeface="Times New Roman" pitchFamily="18" charset="0"/>
              </a:rPr>
              <a:t>Disadvantages</a:t>
            </a:r>
          </a:p>
          <a:p>
            <a:pPr eaLnBrk="1" hangingPunct="1">
              <a:lnSpc>
                <a:spcPts val="2600"/>
              </a:lnSpc>
              <a:buNone/>
            </a:pPr>
            <a:r>
              <a:rPr lang="en-US" altLang="ko-KR" sz="2400" b="0" dirty="0">
                <a:latin typeface="Times New Roman" pitchFamily="18" charset="0"/>
                <a:cs typeface="Times New Roman" pitchFamily="18" charset="0"/>
              </a:rPr>
              <a:t>	   - Tougher competition </a:t>
            </a:r>
          </a:p>
          <a:p>
            <a:pPr eaLnBrk="1" hangingPunct="1">
              <a:lnSpc>
                <a:spcPts val="2600"/>
              </a:lnSpc>
              <a:buNone/>
            </a:pPr>
            <a:r>
              <a:rPr lang="en-US" altLang="ko-KR" sz="2400" b="0" dirty="0">
                <a:latin typeface="Times New Roman" pitchFamily="18" charset="0"/>
                <a:cs typeface="Times New Roman" pitchFamily="18" charset="0"/>
              </a:rPr>
              <a:t>	   - More difficult to do business </a:t>
            </a:r>
          </a:p>
          <a:p>
            <a:pPr eaLnBrk="1" hangingPunct="1">
              <a:lnSpc>
                <a:spcPts val="2600"/>
              </a:lnSpc>
              <a:buNone/>
            </a:pPr>
            <a:r>
              <a:rPr lang="en-US" altLang="ko-KR" sz="2400" b="0" dirty="0">
                <a:latin typeface="Times New Roman" pitchFamily="18" charset="0"/>
                <a:cs typeface="Times New Roman" pitchFamily="18" charset="0"/>
              </a:rPr>
              <a:t>	   - Thinner margin </a:t>
            </a:r>
          </a:p>
          <a:p>
            <a:pPr eaLnBrk="1" hangingPunct="1">
              <a:lnSpc>
                <a:spcPts val="2600"/>
              </a:lnSpc>
              <a:buNone/>
            </a:pPr>
            <a:r>
              <a:rPr lang="en-US" altLang="ko-KR" sz="2400" b="0" dirty="0">
                <a:latin typeface="Times New Roman" pitchFamily="18" charset="0"/>
                <a:cs typeface="Times New Roman" pitchFamily="18" charset="0"/>
              </a:rPr>
              <a:t>	   - Greater risk </a:t>
            </a:r>
          </a:p>
          <a:p>
            <a:pPr eaLnBrk="1" hangingPunct="1">
              <a:lnSpc>
                <a:spcPts val="2800"/>
              </a:lnSpc>
              <a:buNone/>
            </a:pPr>
            <a:endParaRPr lang="en-US" altLang="ko-KR" sz="2400" b="0" dirty="0">
              <a:latin typeface="Times New Roman" pitchFamily="18" charset="0"/>
              <a:cs typeface="Times New Roman" pitchFamily="18" charset="0"/>
            </a:endParaRPr>
          </a:p>
          <a:p>
            <a:pPr eaLnBrk="1" hangingPunct="1">
              <a:lnSpc>
                <a:spcPts val="3200"/>
              </a:lnSpc>
              <a:buFont typeface="Arial" pitchFamily="34" charset="0"/>
              <a:buChar char="•"/>
            </a:pPr>
            <a:endParaRPr lang="en-US" altLang="ko-KR" sz="2400" b="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899592" y="1340768"/>
            <a:ext cx="8229600" cy="4389437"/>
          </a:xfrm>
        </p:spPr>
        <p:txBody>
          <a:bodyPr/>
          <a:lstStyle/>
          <a:p>
            <a:pPr eaLnBrk="1" hangingPunct="1">
              <a:lnSpc>
                <a:spcPts val="3800"/>
              </a:lnSpc>
              <a:buFont typeface="Arial" pitchFamily="34" charset="0"/>
              <a:buChar char="•"/>
            </a:pPr>
            <a:r>
              <a:rPr lang="en-US" altLang="ko-KR" sz="2800" b="0" dirty="0">
                <a:latin typeface="Times New Roman" pitchFamily="18" charset="0"/>
                <a:cs typeface="Times New Roman" pitchFamily="18" charset="0"/>
              </a:rPr>
              <a:t>Advantages:</a:t>
            </a:r>
          </a:p>
          <a:p>
            <a:pPr eaLnBrk="1" hangingPunct="1">
              <a:lnSpc>
                <a:spcPts val="3800"/>
              </a:lnSpc>
              <a:buFontTx/>
              <a:buNone/>
            </a:pPr>
            <a:r>
              <a:rPr lang="en-US" altLang="ko-KR" sz="2800" b="0" dirty="0">
                <a:latin typeface="Times New Roman" pitchFamily="18" charset="0"/>
                <a:cs typeface="Times New Roman" pitchFamily="18" charset="0"/>
              </a:rPr>
              <a:t>	   - </a:t>
            </a:r>
            <a:r>
              <a:rPr lang="en-US" altLang="ko-KR" sz="2400" b="0" dirty="0">
                <a:latin typeface="Times New Roman" pitchFamily="18" charset="0"/>
                <a:cs typeface="Times New Roman" pitchFamily="18" charset="0"/>
              </a:rPr>
              <a:t>Bigger market</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Greater incentive to move in &amp; do business inside</a:t>
            </a:r>
            <a:r>
              <a:rPr lang="en-US" altLang="ko-KR" sz="2400" b="0" dirty="0">
                <a:latin typeface="Times New Roman" pitchFamily="18" charset="0"/>
                <a:cs typeface="Times New Roman" pitchFamily="18" charset="0"/>
              </a:rPr>
              <a:t> </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Once inside, enjoy all other benefits</a:t>
            </a:r>
            <a:r>
              <a:rPr lang="en-US" altLang="ko-KR" sz="2800" b="0" dirty="0">
                <a:latin typeface="Times New Roman" pitchFamily="18" charset="0"/>
                <a:cs typeface="Times New Roman" pitchFamily="18" charset="0"/>
              </a:rPr>
              <a:t> </a:t>
            </a:r>
          </a:p>
          <a:p>
            <a:pPr eaLnBrk="1" hangingPunct="1">
              <a:lnSpc>
                <a:spcPts val="3800"/>
              </a:lnSpc>
              <a:buFont typeface="Arial" pitchFamily="34" charset="0"/>
              <a:buChar char="•"/>
            </a:pPr>
            <a:r>
              <a:rPr lang="en-US" altLang="ko-KR" sz="2800" b="0" dirty="0">
                <a:latin typeface="Times New Roman" pitchFamily="18" charset="0"/>
                <a:cs typeface="Times New Roman" pitchFamily="18" charset="0"/>
              </a:rPr>
              <a:t>Disadvantages:</a:t>
            </a:r>
          </a:p>
          <a:p>
            <a:pPr eaLnBrk="1" hangingPunct="1">
              <a:lnSpc>
                <a:spcPts val="3800"/>
              </a:lnSpc>
              <a:buFontTx/>
              <a:buNone/>
            </a:pPr>
            <a:r>
              <a:rPr lang="en-US" altLang="ko-KR" sz="28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Barriers against them</a:t>
            </a:r>
            <a:r>
              <a:rPr lang="en-US" altLang="ko-KR" sz="2400" b="0" dirty="0">
                <a:latin typeface="Times New Roman" pitchFamily="18" charset="0"/>
                <a:cs typeface="Times New Roman" pitchFamily="18" charset="0"/>
              </a:rPr>
              <a:t> </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Tougher competition</a:t>
            </a:r>
            <a:r>
              <a:rPr lang="en-US" altLang="ko-KR" sz="2400" b="0" dirty="0">
                <a:latin typeface="Times New Roman" pitchFamily="18" charset="0"/>
                <a:cs typeface="Times New Roman" pitchFamily="18" charset="0"/>
              </a:rPr>
              <a:t> </a:t>
            </a:r>
          </a:p>
        </p:txBody>
      </p:sp>
      <p:sp>
        <p:nvSpPr>
          <p:cNvPr id="5" name="Rectangle 2" descr="Large confetti"/>
          <p:cNvSpPr>
            <a:spLocks noGrp="1" noChangeArrowheads="1"/>
          </p:cNvSpPr>
          <p:nvPr>
            <p:ph type="title"/>
          </p:nvPr>
        </p:nvSpPr>
        <p:spPr>
          <a:xfrm>
            <a:off x="467544" y="0"/>
            <a:ext cx="8229600" cy="1143000"/>
          </a:xfrm>
        </p:spPr>
        <p:txBody>
          <a:bodyPr>
            <a:noAutofit/>
          </a:bodyPr>
          <a:lstStyle/>
          <a:p>
            <a:pPr algn="ctr" eaLnBrk="1" fontAlgn="auto" hangingPunct="1">
              <a:spcAft>
                <a:spcPts val="0"/>
              </a:spcAft>
              <a:defRPr/>
            </a:pPr>
            <a:r>
              <a:rPr lang="en-US" altLang="ko-KR" sz="3200" b="1" dirty="0">
                <a:solidFill>
                  <a:srgbClr val="FFC000"/>
                </a:solidFill>
                <a:latin typeface="Times New Roman" pitchFamily="18" charset="0"/>
                <a:ea typeface="굴림" pitchFamily="50" charset="-127"/>
                <a:cs typeface="Times New Roman" pitchFamily="18" charset="0"/>
              </a:rPr>
              <a:t>Non-Member Businesses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descr="Large confetti"/>
          <p:cNvSpPr>
            <a:spLocks noGrp="1" noChangeArrowheads="1"/>
          </p:cNvSpPr>
          <p:nvPr>
            <p:ph type="title"/>
          </p:nvPr>
        </p:nvSpPr>
        <p:spPr>
          <a:xfrm>
            <a:off x="395536" y="0"/>
            <a:ext cx="8229600" cy="1143000"/>
          </a:xfrm>
        </p:spPr>
        <p:txBody>
          <a:bodyPr>
            <a:noAutofit/>
          </a:bodyPr>
          <a:lstStyle/>
          <a:p>
            <a:pPr algn="ctr" eaLnBrk="1" fontAlgn="auto" hangingPunct="1">
              <a:spcAft>
                <a:spcPts val="0"/>
              </a:spcAft>
              <a:defRPr/>
            </a:pPr>
            <a:r>
              <a:rPr lang="en-US" altLang="ko-KR" sz="3200" b="1" dirty="0">
                <a:solidFill>
                  <a:srgbClr val="FFC000"/>
                </a:solidFill>
                <a:latin typeface="Times New Roman" pitchFamily="18" charset="0"/>
                <a:ea typeface="굴림" pitchFamily="50" charset="-127"/>
                <a:cs typeface="Times New Roman" pitchFamily="18" charset="0"/>
              </a:rPr>
              <a:t>Member Nations</a:t>
            </a:r>
          </a:p>
        </p:txBody>
      </p:sp>
      <p:sp>
        <p:nvSpPr>
          <p:cNvPr id="31747" name="Rectangle 3"/>
          <p:cNvSpPr>
            <a:spLocks noGrp="1" noChangeArrowheads="1"/>
          </p:cNvSpPr>
          <p:nvPr>
            <p:ph type="body" idx="1"/>
          </p:nvPr>
        </p:nvSpPr>
        <p:spPr>
          <a:xfrm>
            <a:off x="539552" y="1196752"/>
            <a:ext cx="8229600" cy="5586189"/>
          </a:xfrm>
        </p:spPr>
        <p:txBody>
          <a:bodyPr/>
          <a:lstStyle/>
          <a:p>
            <a:pPr eaLnBrk="1" hangingPunct="1">
              <a:buFont typeface="Arial" pitchFamily="34" charset="0"/>
              <a:buChar char="•"/>
            </a:pPr>
            <a:r>
              <a:rPr lang="en-US" altLang="ko-KR" b="0" dirty="0">
                <a:latin typeface="Times New Roman" pitchFamily="18" charset="0"/>
                <a:ea typeface="바탕" pitchFamily="18" charset="-127"/>
                <a:cs typeface="Times New Roman" pitchFamily="18" charset="0"/>
              </a:rPr>
              <a:t>Advantages:</a:t>
            </a:r>
          </a:p>
          <a:p>
            <a:pPr eaLnBrk="1" hangingPunct="1">
              <a:buFontTx/>
              <a:buNone/>
            </a:pPr>
            <a:r>
              <a:rPr lang="en-US" altLang="ko-KR" sz="2400" b="0" dirty="0">
                <a:latin typeface="Times New Roman" pitchFamily="18" charset="0"/>
                <a:ea typeface="바탕" pitchFamily="18" charset="-127"/>
                <a:cs typeface="Times New Roman" pitchFamily="18" charset="0"/>
              </a:rPr>
              <a:t>	   - Economic cooperation and growth</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Enhanced competition</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Greater specialization of industries</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Better utilization of the resources</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Greater bargaining power of nations</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Political stability</a:t>
            </a:r>
          </a:p>
          <a:p>
            <a:pPr eaLnBrk="1" hangingPunct="1">
              <a:buFont typeface="Arial" pitchFamily="34" charset="0"/>
              <a:buChar char="•"/>
            </a:pPr>
            <a:r>
              <a:rPr lang="en-US" altLang="ko-KR" b="0" dirty="0">
                <a:latin typeface="Times New Roman" pitchFamily="18" charset="0"/>
                <a:ea typeface="바탕" pitchFamily="18" charset="-127"/>
                <a:cs typeface="Times New Roman" pitchFamily="18" charset="0"/>
              </a:rPr>
              <a:t>Disadvantages: </a:t>
            </a:r>
          </a:p>
          <a:p>
            <a:pPr eaLnBrk="1" hangingPunct="1">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Erosion of national interests</a:t>
            </a:r>
            <a:r>
              <a:rPr lang="en-US" altLang="ko-KR" sz="2400" b="0" dirty="0">
                <a:latin typeface="Times New Roman" pitchFamily="18" charset="0"/>
                <a:cs typeface="Times New Roman" pitchFamily="18" charset="0"/>
              </a:rPr>
              <a:t> </a:t>
            </a:r>
          </a:p>
          <a:p>
            <a:pPr eaLnBrk="1" hangingPunct="1">
              <a:buFontTx/>
              <a:buNone/>
            </a:pPr>
            <a:r>
              <a:rPr lang="en-US" altLang="ko-KR" sz="2400" b="0" dirty="0">
                <a:latin typeface="Times New Roman" pitchFamily="18" charset="0"/>
                <a:ea typeface="바탕" pitchFamily="18" charset="-127"/>
                <a:cs typeface="Times New Roman" pitchFamily="18" charset="0"/>
              </a:rPr>
              <a:t>	   - Conflict b/w national government and the central unit          	(e.g., EU) in terms of policies</a:t>
            </a:r>
            <a:endParaRPr lang="en-US" altLang="ko-KR" sz="2400" b="0" dirty="0">
              <a:latin typeface="Times New Roman" pitchFamily="18" charset="0"/>
              <a:cs typeface="Times New Roman" pitchFamily="18" charset="0"/>
            </a:endParaRPr>
          </a:p>
          <a:p>
            <a:pPr eaLnBrk="1" hangingPunct="1">
              <a:buFontTx/>
              <a:buNone/>
            </a:pPr>
            <a:r>
              <a:rPr lang="en-US" altLang="ko-KR" sz="2400" b="0" dirty="0">
                <a:latin typeface="Times New Roman" pitchFamily="18" charset="0"/>
                <a:ea typeface="바탕" pitchFamily="18" charset="-127"/>
                <a:cs typeface="Times New Roman" pitchFamily="18" charset="0"/>
              </a:rPr>
              <a:t>	   - Conflict b/w national government and interest groups</a:t>
            </a:r>
            <a:r>
              <a:rPr lang="en-US" altLang="ko-KR" sz="2400" b="0" dirty="0">
                <a:latin typeface="Times New Roman" pitchFamily="18" charset="0"/>
                <a:cs typeface="Times New Roman" pitchFamily="18" charset="0"/>
              </a:rPr>
              <a:t> </a:t>
            </a:r>
          </a:p>
          <a:p>
            <a:pPr eaLnBrk="1" hangingPunct="1">
              <a:buFontTx/>
              <a:buNone/>
            </a:pPr>
            <a:endParaRPr lang="en-US" altLang="ko-KR" sz="2400" b="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descr="Large confetti"/>
          <p:cNvSpPr>
            <a:spLocks noGrp="1" noChangeArrowheads="1"/>
          </p:cNvSpPr>
          <p:nvPr>
            <p:ph type="title"/>
          </p:nvPr>
        </p:nvSpPr>
        <p:spPr>
          <a:xfrm>
            <a:off x="700608" y="319088"/>
            <a:ext cx="7543800" cy="563562"/>
          </a:xfrm>
        </p:spPr>
        <p:txBody>
          <a:bodyPr>
            <a:noAutofit/>
          </a:bodyPr>
          <a:lstStyle/>
          <a:p>
            <a:pPr algn="ctr" eaLnBrk="1" fontAlgn="auto" hangingPunct="1">
              <a:spcAft>
                <a:spcPts val="0"/>
              </a:spcAft>
              <a:defRPr/>
            </a:pPr>
            <a:r>
              <a:rPr lang="en-US" altLang="ko-KR" sz="3200" b="1" dirty="0">
                <a:solidFill>
                  <a:srgbClr val="FFC000"/>
                </a:solidFill>
                <a:latin typeface="Times New Roman" pitchFamily="18" charset="0"/>
                <a:ea typeface="굴림" pitchFamily="50" charset="-127"/>
                <a:cs typeface="Times New Roman" pitchFamily="18" charset="0"/>
              </a:rPr>
              <a:t>Non-Member Nations</a:t>
            </a:r>
          </a:p>
        </p:txBody>
      </p:sp>
      <p:sp>
        <p:nvSpPr>
          <p:cNvPr id="33795" name="Rectangle 3"/>
          <p:cNvSpPr>
            <a:spLocks noGrp="1" noChangeArrowheads="1"/>
          </p:cNvSpPr>
          <p:nvPr>
            <p:ph type="body" idx="1"/>
          </p:nvPr>
        </p:nvSpPr>
        <p:spPr>
          <a:xfrm>
            <a:off x="971600" y="1412776"/>
            <a:ext cx="7128792" cy="4191000"/>
          </a:xfrm>
        </p:spPr>
        <p:txBody>
          <a:bodyPr/>
          <a:lstStyle/>
          <a:p>
            <a:pPr eaLnBrk="1" hangingPunct="1">
              <a:lnSpc>
                <a:spcPts val="3800"/>
              </a:lnSpc>
              <a:buFont typeface="Arial" pitchFamily="34" charset="0"/>
              <a:buChar char="•"/>
            </a:pPr>
            <a:r>
              <a:rPr lang="en-US" altLang="ko-KR" sz="2800" b="0" dirty="0">
                <a:latin typeface="Times New Roman" pitchFamily="18" charset="0"/>
                <a:cs typeface="Times New Roman" pitchFamily="18" charset="0"/>
              </a:rPr>
              <a:t>Advantages:</a:t>
            </a:r>
          </a:p>
          <a:p>
            <a:pPr eaLnBrk="1" hangingPunct="1">
              <a:lnSpc>
                <a:spcPts val="3800"/>
              </a:lnSpc>
              <a:buFontTx/>
              <a:buNone/>
            </a:pPr>
            <a:r>
              <a:rPr lang="en-US" altLang="ko-KR" sz="2800" b="0" dirty="0">
                <a:latin typeface="Times New Roman" pitchFamily="18" charset="0"/>
                <a:cs typeface="Times New Roman" pitchFamily="18" charset="0"/>
              </a:rPr>
              <a:t>	   </a:t>
            </a:r>
            <a:r>
              <a:rPr lang="en-US" altLang="ko-KR" sz="2400" b="0" dirty="0">
                <a:latin typeface="Times New Roman" pitchFamily="18" charset="0"/>
                <a:cs typeface="Times New Roman" pitchFamily="18" charset="0"/>
              </a:rPr>
              <a:t>-</a:t>
            </a:r>
            <a:r>
              <a:rPr lang="en-US" altLang="ko-KR" sz="2800" b="0" dirty="0">
                <a:latin typeface="Times New Roman" pitchFamily="18" charset="0"/>
                <a:cs typeface="Times New Roman" pitchFamily="18" charset="0"/>
              </a:rPr>
              <a:t> </a:t>
            </a:r>
            <a:r>
              <a:rPr lang="en-US" altLang="ko-KR" sz="2400" b="0" dirty="0">
                <a:latin typeface="Times New Roman" pitchFamily="18" charset="0"/>
                <a:ea typeface="바탕" pitchFamily="18" charset="-127"/>
                <a:cs typeface="Times New Roman" pitchFamily="18" charset="0"/>
              </a:rPr>
              <a:t>Increased consumer demand/bigger market</a:t>
            </a:r>
            <a:r>
              <a:rPr lang="en-US" altLang="ko-KR" sz="2400" b="0" dirty="0">
                <a:latin typeface="Times New Roman" pitchFamily="18" charset="0"/>
                <a:cs typeface="Times New Roman" pitchFamily="18" charset="0"/>
              </a:rPr>
              <a:t> </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Political stability</a:t>
            </a:r>
            <a:r>
              <a:rPr lang="en-US" altLang="ko-KR" sz="2400" b="0" dirty="0">
                <a:latin typeface="Times New Roman" pitchFamily="18" charset="0"/>
                <a:cs typeface="Times New Roman" pitchFamily="18" charset="0"/>
              </a:rPr>
              <a:t> </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Greater incentive for FDI</a:t>
            </a:r>
            <a:r>
              <a:rPr lang="en-US" altLang="ko-KR" sz="2400" b="0" dirty="0">
                <a:latin typeface="Times New Roman" pitchFamily="18" charset="0"/>
                <a:cs typeface="Times New Roman" pitchFamily="18" charset="0"/>
              </a:rPr>
              <a:t> </a:t>
            </a:r>
          </a:p>
          <a:p>
            <a:pPr eaLnBrk="1" hangingPunct="1">
              <a:lnSpc>
                <a:spcPts val="3800"/>
              </a:lnSpc>
              <a:buFont typeface="Arial" pitchFamily="34" charset="0"/>
              <a:buChar char="•"/>
            </a:pPr>
            <a:r>
              <a:rPr lang="en-US" altLang="ko-KR" sz="2800" b="0" dirty="0">
                <a:latin typeface="Times New Roman" pitchFamily="18" charset="0"/>
                <a:cs typeface="Times New Roman" pitchFamily="18" charset="0"/>
              </a:rPr>
              <a:t>Disadvantages:</a:t>
            </a:r>
          </a:p>
          <a:p>
            <a:pPr eaLnBrk="1" hangingPunct="1">
              <a:lnSpc>
                <a:spcPts val="3800"/>
              </a:lnSpc>
              <a:buFontTx/>
              <a:buNone/>
            </a:pPr>
            <a:r>
              <a:rPr lang="en-US" altLang="ko-KR" sz="2800" b="0" dirty="0">
                <a:latin typeface="Times New Roman" pitchFamily="18" charset="0"/>
                <a:cs typeface="Times New Roman" pitchFamily="18" charset="0"/>
              </a:rPr>
              <a:t>	   </a:t>
            </a:r>
            <a:r>
              <a:rPr lang="en-US" altLang="ko-KR" sz="2400" b="0" dirty="0">
                <a:latin typeface="Times New Roman" pitchFamily="18" charset="0"/>
                <a:cs typeface="Times New Roman" pitchFamily="18" charset="0"/>
              </a:rPr>
              <a:t>- </a:t>
            </a:r>
            <a:r>
              <a:rPr lang="en-US" altLang="ko-KR" sz="2400" b="0" dirty="0">
                <a:latin typeface="Times New Roman" pitchFamily="18" charset="0"/>
                <a:ea typeface="바탕" pitchFamily="18" charset="-127"/>
                <a:cs typeface="Times New Roman" pitchFamily="18" charset="0"/>
              </a:rPr>
              <a:t>Barriers to outsiders</a:t>
            </a:r>
            <a:r>
              <a:rPr lang="en-US" altLang="ko-KR" sz="2400" b="0" dirty="0">
                <a:latin typeface="Times New Roman" pitchFamily="18" charset="0"/>
                <a:cs typeface="Times New Roman" pitchFamily="18" charset="0"/>
              </a:rPr>
              <a:t> </a:t>
            </a:r>
          </a:p>
          <a:p>
            <a:pPr eaLnBrk="1" hangingPunct="1">
              <a:lnSpc>
                <a:spcPts val="3800"/>
              </a:lnSpc>
              <a:buFontTx/>
              <a:buNone/>
            </a:pPr>
            <a:r>
              <a:rPr lang="en-US" altLang="ko-KR" sz="2400" b="0" dirty="0">
                <a:latin typeface="Times New Roman" pitchFamily="18" charset="0"/>
                <a:cs typeface="Times New Roman" pitchFamily="18" charset="0"/>
              </a:rPr>
              <a:t>	   - </a:t>
            </a:r>
            <a:r>
              <a:rPr lang="en-US" altLang="ko-KR" sz="2400" b="0" dirty="0">
                <a:latin typeface="Times New Roman" pitchFamily="18" charset="0"/>
                <a:ea typeface="바탕" pitchFamily="18" charset="-127"/>
                <a:cs typeface="Times New Roman" pitchFamily="18" charset="0"/>
              </a:rPr>
              <a:t>Smaller bargaining power</a:t>
            </a:r>
            <a:r>
              <a:rPr lang="en-US" altLang="ko-KR" b="0" dirty="0">
                <a:latin typeface="Times New Roman" pitchFamily="18" charset="0"/>
                <a:cs typeface="Times New Roman" pitchFamily="18" charset="0"/>
              </a:rPr>
              <a:t> </a:t>
            </a:r>
          </a:p>
        </p:txBody>
      </p:sp>
    </p:spTree>
  </p:cSld>
  <p:clrMapOvr>
    <a:masterClrMapping/>
  </p:clrMapOvr>
</p:sld>
</file>

<file path=ppt/theme/theme1.xml><?xml version="1.0" encoding="utf-8"?>
<a:theme xmlns:a="http://schemas.openxmlformats.org/drawingml/2006/main" name="1_1">
  <a:themeElements>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_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_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_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
  <a:themeElements>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1">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1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1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MainContentSlideMaster">
  <a:themeElements>
    <a:clrScheme name="Custom 15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10654</TotalTime>
  <Words>2407</Words>
  <Application>Microsoft Office PowerPoint</Application>
  <PresentationFormat>화면 슬라이드 쇼(4:3)</PresentationFormat>
  <Paragraphs>274</Paragraphs>
  <Slides>35</Slides>
  <Notes>10</Notes>
  <HiddenSlides>0</HiddenSlides>
  <MMClips>0</MMClips>
  <ScaleCrop>false</ScaleCrop>
  <HeadingPairs>
    <vt:vector size="8" baseType="variant">
      <vt:variant>
        <vt:lpstr>사용한 글꼴</vt:lpstr>
      </vt:variant>
      <vt:variant>
        <vt:i4>11</vt:i4>
      </vt:variant>
      <vt:variant>
        <vt:lpstr>테마</vt:lpstr>
      </vt:variant>
      <vt:variant>
        <vt:i4>3</vt:i4>
      </vt:variant>
      <vt:variant>
        <vt:lpstr>포함된 OLE 서버</vt:lpstr>
      </vt:variant>
      <vt:variant>
        <vt:i4>2</vt:i4>
      </vt:variant>
      <vt:variant>
        <vt:lpstr>슬라이드 제목</vt:lpstr>
      </vt:variant>
      <vt:variant>
        <vt:i4>35</vt:i4>
      </vt:variant>
    </vt:vector>
  </HeadingPairs>
  <TitlesOfParts>
    <vt:vector size="51" baseType="lpstr">
      <vt:lpstr>HY견고딕</vt:lpstr>
      <vt:lpstr>HY헤드라인M</vt:lpstr>
      <vt:lpstr>PMingLiU</vt:lpstr>
      <vt:lpstr>굴림</vt:lpstr>
      <vt:lpstr>Arial</vt:lpstr>
      <vt:lpstr>Calibri</vt:lpstr>
      <vt:lpstr>Franklin Gothic Heavy</vt:lpstr>
      <vt:lpstr>Impact</vt:lpstr>
      <vt:lpstr>Times New Roman</vt:lpstr>
      <vt:lpstr>Verdana</vt:lpstr>
      <vt:lpstr>Wingdings</vt:lpstr>
      <vt:lpstr>1_1</vt:lpstr>
      <vt:lpstr>1</vt:lpstr>
      <vt:lpstr>MainContentSlideMaster</vt:lpstr>
      <vt:lpstr>Image</vt:lpstr>
      <vt:lpstr>Clip</vt:lpstr>
      <vt:lpstr>Regional Economic Integration</vt:lpstr>
      <vt:lpstr>PowerPoint 프레젠테이션</vt:lpstr>
      <vt:lpstr>COMPONENTS OF GLOBAL BUSINESS ENVIRONMENT</vt:lpstr>
      <vt:lpstr>PowerPoint 프레젠테이션</vt:lpstr>
      <vt:lpstr>Economic Integration</vt:lpstr>
      <vt:lpstr>Economic Integration</vt:lpstr>
      <vt:lpstr>Types of Regional Economic Integration</vt:lpstr>
      <vt:lpstr>Types of Regional Economic Integration</vt:lpstr>
      <vt:lpstr>Types of Regional Economic Integration</vt:lpstr>
      <vt:lpstr>PowerPoint 프레젠테이션</vt:lpstr>
      <vt:lpstr>Economic Arguments for                              Regional Economic Integration</vt:lpstr>
      <vt:lpstr>Political Arguments for                                   Regional Economic Integration</vt:lpstr>
      <vt:lpstr>Case against Regional Economic Integration</vt:lpstr>
      <vt:lpstr>Regionalization vs. Globalization</vt:lpstr>
      <vt:lpstr>PowerPoint 프레젠테이션</vt:lpstr>
      <vt:lpstr>Regional Economic Integration in Europe: European Union (EU)</vt:lpstr>
      <vt:lpstr>EU Formation</vt:lpstr>
      <vt:lpstr>The Single European Act</vt:lpstr>
      <vt:lpstr>The Maastricht Treaty: The Euro</vt:lpstr>
      <vt:lpstr>To Be a Member in the EU</vt:lpstr>
      <vt:lpstr>New Challenges for the EU</vt:lpstr>
      <vt:lpstr>Regional Economic Integration  in Americas</vt:lpstr>
      <vt:lpstr>NAFTA</vt:lpstr>
      <vt:lpstr>Benefits and Costs of NAFTA</vt:lpstr>
      <vt:lpstr>How Successful Has NAFTA Been?</vt:lpstr>
      <vt:lpstr>USMCA (US-Mexico-Canada Agreement)</vt:lpstr>
      <vt:lpstr>PowerPoint 프레젠테이션</vt:lpstr>
      <vt:lpstr>ASEAN</vt:lpstr>
      <vt:lpstr>APEC</vt:lpstr>
      <vt:lpstr>TPP/CPTPP</vt:lpstr>
      <vt:lpstr>PowerPoint 프레젠테이션</vt:lpstr>
      <vt:lpstr>Member Businesses</vt:lpstr>
      <vt:lpstr>Non-Member Businesses</vt:lpstr>
      <vt:lpstr>Member Nations</vt:lpstr>
      <vt:lpstr>Non-Member Nations</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CityU</dc:creator>
  <cp:lastModifiedBy>김광수</cp:lastModifiedBy>
  <cp:revision>1411</cp:revision>
  <dcterms:created xsi:type="dcterms:W3CDTF">2000-12-20T03:57:58Z</dcterms:created>
  <dcterms:modified xsi:type="dcterms:W3CDTF">2024-03-26T08:27:10Z</dcterms:modified>
</cp:coreProperties>
</file>