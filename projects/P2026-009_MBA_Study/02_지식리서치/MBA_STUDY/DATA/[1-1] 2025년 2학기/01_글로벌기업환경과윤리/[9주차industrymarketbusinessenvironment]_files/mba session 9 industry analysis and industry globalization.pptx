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  <p:sldMasterId id="2147483676" r:id="rId2"/>
    <p:sldMasterId id="2147484007" r:id="rId3"/>
  </p:sldMasterIdLst>
  <p:notesMasterIdLst>
    <p:notesMasterId r:id="rId44"/>
  </p:notesMasterIdLst>
  <p:handoutMasterIdLst>
    <p:handoutMasterId r:id="rId45"/>
  </p:handoutMasterIdLst>
  <p:sldIdLst>
    <p:sldId id="360" r:id="rId4"/>
    <p:sldId id="408" r:id="rId5"/>
    <p:sldId id="503" r:id="rId6"/>
    <p:sldId id="480" r:id="rId7"/>
    <p:sldId id="487" r:id="rId8"/>
    <p:sldId id="488" r:id="rId9"/>
    <p:sldId id="505" r:id="rId10"/>
    <p:sldId id="506" r:id="rId11"/>
    <p:sldId id="507" r:id="rId12"/>
    <p:sldId id="508" r:id="rId13"/>
    <p:sldId id="509" r:id="rId14"/>
    <p:sldId id="510" r:id="rId15"/>
    <p:sldId id="511" r:id="rId16"/>
    <p:sldId id="512" r:id="rId17"/>
    <p:sldId id="492" r:id="rId18"/>
    <p:sldId id="493" r:id="rId19"/>
    <p:sldId id="495" r:id="rId20"/>
    <p:sldId id="504" r:id="rId21"/>
    <p:sldId id="494" r:id="rId22"/>
    <p:sldId id="498" r:id="rId23"/>
    <p:sldId id="499" r:id="rId24"/>
    <p:sldId id="500" r:id="rId25"/>
    <p:sldId id="501" r:id="rId26"/>
    <p:sldId id="502" r:id="rId27"/>
    <p:sldId id="406" r:id="rId28"/>
    <p:sldId id="446" r:id="rId29"/>
    <p:sldId id="447" r:id="rId30"/>
    <p:sldId id="448" r:id="rId31"/>
    <p:sldId id="513" r:id="rId32"/>
    <p:sldId id="514" r:id="rId33"/>
    <p:sldId id="515" r:id="rId34"/>
    <p:sldId id="516" r:id="rId35"/>
    <p:sldId id="486" r:id="rId36"/>
    <p:sldId id="471" r:id="rId37"/>
    <p:sldId id="474" r:id="rId38"/>
    <p:sldId id="453" r:id="rId39"/>
    <p:sldId id="455" r:id="rId40"/>
    <p:sldId id="457" r:id="rId41"/>
    <p:sldId id="459" r:id="rId42"/>
    <p:sldId id="462" r:id="rId43"/>
  </p:sldIdLst>
  <p:sldSz cx="9144000" cy="6858000" type="screen4x3"/>
  <p:notesSz cx="6797675" cy="987425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1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1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1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1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  <a:srgbClr val="3AEA5C"/>
    <a:srgbClr val="FF00FF"/>
    <a:srgbClr val="00FFFF"/>
    <a:srgbClr val="1C1C1C"/>
    <a:srgbClr val="009900"/>
    <a:srgbClr val="B1E2FB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12" autoAdjust="0"/>
    <p:restoredTop sz="84034" autoAdjust="0"/>
  </p:normalViewPr>
  <p:slideViewPr>
    <p:cSldViewPr>
      <p:cViewPr varScale="1">
        <p:scale>
          <a:sx n="70" d="100"/>
          <a:sy n="70" d="100"/>
        </p:scale>
        <p:origin x="1116" y="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0698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theme" Target="theme/theme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presProps" Target="pres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5659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2016" y="1"/>
            <a:ext cx="2945659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86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80538"/>
            <a:ext cx="2945659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86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2016" y="9380538"/>
            <a:ext cx="2945659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굴림" pitchFamily="50" charset="-127"/>
              </a:defRPr>
            </a:lvl1pPr>
          </a:lstStyle>
          <a:p>
            <a:pPr>
              <a:defRPr/>
            </a:pPr>
            <a:fld id="{3A8CDFD5-8FEE-4B6C-B337-5A582A951B3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74547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958" cy="49418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1098" y="0"/>
            <a:ext cx="2944958" cy="49418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9232A9-9B33-41E6-92B6-67C2CED9CD6A}" type="datetimeFigureOut">
              <a:rPr lang="ko-KR" altLang="en-US" smtClean="0"/>
              <a:pPr/>
              <a:t>2025-09-04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0275" y="739775"/>
            <a:ext cx="4937125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606" y="4690822"/>
            <a:ext cx="5438464" cy="44429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8485"/>
            <a:ext cx="2944958" cy="494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1098" y="9378485"/>
            <a:ext cx="2944958" cy="494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F9D305-32C8-4D1B-8F91-EF4D0E6D825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4887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F9D305-32C8-4D1B-8F91-EF4D0E6D8254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77596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EF7F64E-E72E-4BBC-8BCF-C70F3A7A3A52}" type="slidenum">
              <a:rPr lang="en-US" altLang="ko-KR"/>
              <a:pPr/>
              <a:t>5</a:t>
            </a:fld>
            <a:endParaRPr lang="en-US" altLang="ko-KR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ko-KR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93233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EF7F64E-E72E-4BBC-8BCF-C70F3A7A3A52}" type="slidenum">
              <a:rPr lang="en-US" altLang="ko-KR">
                <a:solidFill>
                  <a:prstClr val="black"/>
                </a:solidFill>
              </a:rPr>
              <a:pPr/>
              <a:t>7</a:t>
            </a:fld>
            <a:endParaRPr lang="en-US" altLang="ko-KR">
              <a:solidFill>
                <a:prstClr val="black"/>
              </a:solidFill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ko-KR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5120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EF7F64E-E72E-4BBC-8BCF-C70F3A7A3A52}" type="slidenum">
              <a:rPr lang="en-US" altLang="ko-KR">
                <a:solidFill>
                  <a:prstClr val="black"/>
                </a:solidFill>
              </a:rPr>
              <a:pPr/>
              <a:t>8</a:t>
            </a:fld>
            <a:endParaRPr lang="en-US" altLang="ko-KR">
              <a:solidFill>
                <a:prstClr val="black"/>
              </a:solidFill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ko-KR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26779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EF7F64E-E72E-4BBC-8BCF-C70F3A7A3A52}" type="slidenum">
              <a:rPr lang="en-US" altLang="ko-KR">
                <a:solidFill>
                  <a:prstClr val="black"/>
                </a:solidFill>
              </a:rPr>
              <a:pPr/>
              <a:t>9</a:t>
            </a:fld>
            <a:endParaRPr lang="en-US" altLang="ko-KR">
              <a:solidFill>
                <a:prstClr val="black"/>
              </a:solidFill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ko-KR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9347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EF7F64E-E72E-4BBC-8BCF-C70F3A7A3A52}" type="slidenum">
              <a:rPr lang="en-US" altLang="ko-KR">
                <a:solidFill>
                  <a:prstClr val="black"/>
                </a:solidFill>
              </a:rPr>
              <a:pPr/>
              <a:t>10</a:t>
            </a:fld>
            <a:endParaRPr lang="en-US" altLang="ko-KR">
              <a:solidFill>
                <a:prstClr val="black"/>
              </a:solidFill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ko-KR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84705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EF7F64E-E72E-4BBC-8BCF-C70F3A7A3A52}" type="slidenum">
              <a:rPr lang="en-US" altLang="ko-KR">
                <a:solidFill>
                  <a:prstClr val="black"/>
                </a:solidFill>
              </a:rPr>
              <a:pPr/>
              <a:t>11</a:t>
            </a:fld>
            <a:endParaRPr lang="en-US" altLang="ko-KR">
              <a:solidFill>
                <a:prstClr val="black"/>
              </a:solidFill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ko-KR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01024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EF7F64E-E72E-4BBC-8BCF-C70F3A7A3A52}" type="slidenum">
              <a:rPr lang="en-US" altLang="ko-KR">
                <a:solidFill>
                  <a:prstClr val="black"/>
                </a:solidFill>
              </a:rPr>
              <a:pPr/>
              <a:t>12</a:t>
            </a:fld>
            <a:endParaRPr lang="en-US" altLang="ko-KR">
              <a:solidFill>
                <a:prstClr val="black"/>
              </a:solidFill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ko-KR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45810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EF7F64E-E72E-4BBC-8BCF-C70F3A7A3A52}" type="slidenum">
              <a:rPr lang="en-US" altLang="ko-KR">
                <a:solidFill>
                  <a:prstClr val="black"/>
                </a:solidFill>
              </a:rPr>
              <a:pPr/>
              <a:t>13</a:t>
            </a:fld>
            <a:endParaRPr lang="en-US" altLang="ko-KR">
              <a:solidFill>
                <a:prstClr val="black"/>
              </a:solidFill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ko-KR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12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EF7F64E-E72E-4BBC-8BCF-C70F3A7A3A52}" type="slidenum">
              <a:rPr lang="en-US" altLang="ko-KR">
                <a:solidFill>
                  <a:prstClr val="black"/>
                </a:solidFill>
              </a:rPr>
              <a:pPr/>
              <a:t>14</a:t>
            </a:fld>
            <a:endParaRPr lang="en-US" altLang="ko-KR">
              <a:solidFill>
                <a:prstClr val="black"/>
              </a:solidFill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ko-KR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16350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3779150" y="0"/>
            <a:ext cx="2889938" cy="49641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3779150" y="9431814"/>
            <a:ext cx="2889938" cy="49641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b"/>
          <a:lstStyle/>
          <a:p>
            <a:pPr algn="r"/>
            <a:r>
              <a:rPr lang="en-US" sz="1200"/>
              <a:t>6</a:t>
            </a: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0" y="9431814"/>
            <a:ext cx="2889938" cy="49641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0" y="0"/>
            <a:ext cx="2889938" cy="49641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66" name="Rectangle 6"/>
          <p:cNvSpPr>
            <a:spLocks noChangeArrowheads="1"/>
          </p:cNvSpPr>
          <p:nvPr/>
        </p:nvSpPr>
        <p:spPr bwMode="auto">
          <a:xfrm>
            <a:off x="3779150" y="1"/>
            <a:ext cx="2889938" cy="4946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67" name="Rectangle 7"/>
          <p:cNvSpPr>
            <a:spLocks noChangeArrowheads="1"/>
          </p:cNvSpPr>
          <p:nvPr/>
        </p:nvSpPr>
        <p:spPr bwMode="auto">
          <a:xfrm>
            <a:off x="3779150" y="9430091"/>
            <a:ext cx="2889938" cy="49813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19050" tIns="0" rIns="19050" bIns="0" anchor="b"/>
          <a:lstStyle/>
          <a:p>
            <a:pPr algn="r"/>
            <a:r>
              <a:rPr lang="en-US" sz="1000" i="1"/>
              <a:t>2</a:t>
            </a:r>
          </a:p>
        </p:txBody>
      </p:sp>
      <p:sp>
        <p:nvSpPr>
          <p:cNvPr id="15368" name="Rectangle 8"/>
          <p:cNvSpPr>
            <a:spLocks noChangeArrowheads="1"/>
          </p:cNvSpPr>
          <p:nvPr/>
        </p:nvSpPr>
        <p:spPr bwMode="auto">
          <a:xfrm>
            <a:off x="0" y="9430091"/>
            <a:ext cx="2889938" cy="49813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69" name="Rectangle 9"/>
          <p:cNvSpPr>
            <a:spLocks noChangeArrowheads="1"/>
          </p:cNvSpPr>
          <p:nvPr/>
        </p:nvSpPr>
        <p:spPr bwMode="auto">
          <a:xfrm>
            <a:off x="0" y="1"/>
            <a:ext cx="2889938" cy="4946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70" name="Rectangle 10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62013" y="750888"/>
            <a:ext cx="4945062" cy="3709987"/>
          </a:xfrm>
          <a:ln cap="flat">
            <a:solidFill>
              <a:schemeClr val="tx1"/>
            </a:solidFill>
          </a:ln>
        </p:spPr>
      </p:sp>
      <p:sp>
        <p:nvSpPr>
          <p:cNvPr id="15371" name="Rectangle 11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75831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4.bin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5.bin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6.bin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7.bin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8.bin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9.bin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0.bin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1.bin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2.bin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14.bin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15.bin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16.bin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17.bin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18.bin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19.bin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20.bin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21.bin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22.bin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23.bin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24.bin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26.bin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.png"/><Relationship Id="rId4" Type="http://schemas.openxmlformats.org/officeDocument/2006/relationships/oleObject" Target="../embeddings/oleObject27.bin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"/>
          <p:cNvGraphicFramePr>
            <a:graphicFrameLocks noChangeAspect="1"/>
          </p:cNvGraphicFramePr>
          <p:nvPr/>
        </p:nvGraphicFramePr>
        <p:xfrm>
          <a:off x="0" y="2371725"/>
          <a:ext cx="9144000" cy="448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438095" imgH="5980952" progId="">
                  <p:embed/>
                </p:oleObj>
              </mc:Choice>
              <mc:Fallback>
                <p:oleObj name="Image" r:id="rId2" imgW="10438095" imgH="5980952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2371725"/>
                        <a:ext cx="9144000" cy="448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4"/>
          <p:cNvSpPr txBox="1">
            <a:spLocks noChangeArrowheads="1"/>
          </p:cNvSpPr>
          <p:nvPr/>
        </p:nvSpPr>
        <p:spPr bwMode="auto">
          <a:xfrm>
            <a:off x="381000" y="304800"/>
            <a:ext cx="10795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000">
                <a:latin typeface="Verdana" pitchFamily="34" charset="0"/>
                <a:ea typeface="굴림" charset="-127"/>
              </a:rPr>
              <a:t>LOGO</a:t>
            </a:r>
          </a:p>
        </p:txBody>
      </p:sp>
      <p:sp>
        <p:nvSpPr>
          <p:cNvPr id="6" name="Rectangle 18"/>
          <p:cNvSpPr>
            <a:spLocks noChangeArrowheads="1"/>
          </p:cNvSpPr>
          <p:nvPr/>
        </p:nvSpPr>
        <p:spPr bwMode="gray">
          <a:xfrm>
            <a:off x="0" y="23495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"/>
          <p:cNvGraphicFramePr>
            <a:graphicFrameLocks noChangeAspect="1"/>
          </p:cNvGraphicFramePr>
          <p:nvPr/>
        </p:nvGraphicFramePr>
        <p:xfrm>
          <a:off x="0" y="2371725"/>
          <a:ext cx="9144000" cy="448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438095" imgH="5980952" progId="">
                  <p:embed/>
                </p:oleObj>
              </mc:Choice>
              <mc:Fallback>
                <p:oleObj name="Image" r:id="rId2" imgW="10438095" imgH="5980952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2371725"/>
                        <a:ext cx="9144000" cy="448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4"/>
          <p:cNvSpPr txBox="1">
            <a:spLocks noChangeArrowheads="1"/>
          </p:cNvSpPr>
          <p:nvPr/>
        </p:nvSpPr>
        <p:spPr bwMode="auto">
          <a:xfrm>
            <a:off x="381000" y="304800"/>
            <a:ext cx="10795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000">
                <a:latin typeface="Verdana" pitchFamily="34" charset="0"/>
                <a:ea typeface="굴림" charset="-127"/>
              </a:rPr>
              <a:t>LOGO</a:t>
            </a:r>
          </a:p>
        </p:txBody>
      </p:sp>
      <p:sp>
        <p:nvSpPr>
          <p:cNvPr id="6" name="Rectangle 18"/>
          <p:cNvSpPr>
            <a:spLocks noChangeArrowheads="1"/>
          </p:cNvSpPr>
          <p:nvPr/>
        </p:nvSpPr>
        <p:spPr bwMode="gray">
          <a:xfrm>
            <a:off x="0" y="23495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"/>
          <p:cNvGraphicFramePr>
            <a:graphicFrameLocks noChangeAspect="1"/>
          </p:cNvGraphicFramePr>
          <p:nvPr/>
        </p:nvGraphicFramePr>
        <p:xfrm>
          <a:off x="0" y="2371725"/>
          <a:ext cx="9144000" cy="448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438095" imgH="5980952" progId="">
                  <p:embed/>
                </p:oleObj>
              </mc:Choice>
              <mc:Fallback>
                <p:oleObj name="Image" r:id="rId2" imgW="10438095" imgH="5980952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2371725"/>
                        <a:ext cx="9144000" cy="448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4"/>
          <p:cNvSpPr txBox="1">
            <a:spLocks noChangeArrowheads="1"/>
          </p:cNvSpPr>
          <p:nvPr/>
        </p:nvSpPr>
        <p:spPr bwMode="auto">
          <a:xfrm>
            <a:off x="381000" y="304800"/>
            <a:ext cx="10795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000">
                <a:latin typeface="Verdana" pitchFamily="34" charset="0"/>
                <a:ea typeface="굴림" charset="-127"/>
              </a:rPr>
              <a:t>LOGO</a:t>
            </a:r>
          </a:p>
        </p:txBody>
      </p:sp>
      <p:sp>
        <p:nvSpPr>
          <p:cNvPr id="6" name="Rectangle 18"/>
          <p:cNvSpPr>
            <a:spLocks noChangeArrowheads="1"/>
          </p:cNvSpPr>
          <p:nvPr/>
        </p:nvSpPr>
        <p:spPr bwMode="gray">
          <a:xfrm>
            <a:off x="0" y="23495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0" y="2371725"/>
          <a:ext cx="9144000" cy="448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438095" imgH="5980952" progId="">
                  <p:embed/>
                </p:oleObj>
              </mc:Choice>
              <mc:Fallback>
                <p:oleObj name="Image" r:id="rId2" imgW="10438095" imgH="5980952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2371725"/>
                        <a:ext cx="9144000" cy="448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4"/>
          <p:cNvSpPr txBox="1">
            <a:spLocks noChangeArrowheads="1"/>
          </p:cNvSpPr>
          <p:nvPr/>
        </p:nvSpPr>
        <p:spPr bwMode="auto">
          <a:xfrm>
            <a:off x="381000" y="304800"/>
            <a:ext cx="10795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000">
                <a:latin typeface="Verdana" pitchFamily="34" charset="0"/>
                <a:ea typeface="굴림" charset="-127"/>
              </a:rPr>
              <a:t>LOGO</a:t>
            </a:r>
          </a:p>
        </p:txBody>
      </p:sp>
      <p:sp>
        <p:nvSpPr>
          <p:cNvPr id="7" name="Rectangle 18"/>
          <p:cNvSpPr>
            <a:spLocks noChangeArrowheads="1"/>
          </p:cNvSpPr>
          <p:nvPr/>
        </p:nvSpPr>
        <p:spPr bwMode="gray">
          <a:xfrm>
            <a:off x="0" y="23495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2"/>
          <p:cNvGraphicFramePr>
            <a:graphicFrameLocks noChangeAspect="1"/>
          </p:cNvGraphicFramePr>
          <p:nvPr/>
        </p:nvGraphicFramePr>
        <p:xfrm>
          <a:off x="0" y="2371725"/>
          <a:ext cx="9144000" cy="448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438095" imgH="5980952" progId="">
                  <p:embed/>
                </p:oleObj>
              </mc:Choice>
              <mc:Fallback>
                <p:oleObj name="Image" r:id="rId2" imgW="10438095" imgH="5980952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2371725"/>
                        <a:ext cx="9144000" cy="448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14"/>
          <p:cNvSpPr txBox="1">
            <a:spLocks noChangeArrowheads="1"/>
          </p:cNvSpPr>
          <p:nvPr/>
        </p:nvSpPr>
        <p:spPr bwMode="auto">
          <a:xfrm>
            <a:off x="381000" y="304800"/>
            <a:ext cx="10795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000">
                <a:latin typeface="Verdana" pitchFamily="34" charset="0"/>
                <a:ea typeface="굴림" charset="-127"/>
              </a:rPr>
              <a:t>LOGO</a:t>
            </a:r>
          </a:p>
        </p:txBody>
      </p:sp>
      <p:sp>
        <p:nvSpPr>
          <p:cNvPr id="9" name="Rectangle 18"/>
          <p:cNvSpPr>
            <a:spLocks noChangeArrowheads="1"/>
          </p:cNvSpPr>
          <p:nvPr/>
        </p:nvSpPr>
        <p:spPr bwMode="gray">
          <a:xfrm>
            <a:off x="0" y="23495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0" y="2371725"/>
          <a:ext cx="9144000" cy="448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438095" imgH="5980952" progId="">
                  <p:embed/>
                </p:oleObj>
              </mc:Choice>
              <mc:Fallback>
                <p:oleObj name="Image" r:id="rId2" imgW="10438095" imgH="5980952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2371725"/>
                        <a:ext cx="9144000" cy="448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14"/>
          <p:cNvSpPr txBox="1">
            <a:spLocks noChangeArrowheads="1"/>
          </p:cNvSpPr>
          <p:nvPr/>
        </p:nvSpPr>
        <p:spPr bwMode="auto">
          <a:xfrm>
            <a:off x="381000" y="304800"/>
            <a:ext cx="10795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000">
                <a:latin typeface="Verdana" pitchFamily="34" charset="0"/>
                <a:ea typeface="굴림" charset="-127"/>
              </a:rPr>
              <a:t>LOGO</a:t>
            </a:r>
          </a:p>
        </p:txBody>
      </p:sp>
      <p:sp>
        <p:nvSpPr>
          <p:cNvPr id="5" name="Rectangle 18"/>
          <p:cNvSpPr>
            <a:spLocks noChangeArrowheads="1"/>
          </p:cNvSpPr>
          <p:nvPr/>
        </p:nvSpPr>
        <p:spPr bwMode="gray">
          <a:xfrm>
            <a:off x="0" y="23495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ChangeAspect="1"/>
          </p:cNvGraphicFramePr>
          <p:nvPr/>
        </p:nvGraphicFramePr>
        <p:xfrm>
          <a:off x="0" y="2371725"/>
          <a:ext cx="9144000" cy="448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438095" imgH="5980952" progId="">
                  <p:embed/>
                </p:oleObj>
              </mc:Choice>
              <mc:Fallback>
                <p:oleObj name="Image" r:id="rId2" imgW="10438095" imgH="5980952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2371725"/>
                        <a:ext cx="9144000" cy="448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14"/>
          <p:cNvSpPr txBox="1">
            <a:spLocks noChangeArrowheads="1"/>
          </p:cNvSpPr>
          <p:nvPr/>
        </p:nvSpPr>
        <p:spPr bwMode="auto">
          <a:xfrm>
            <a:off x="381000" y="304800"/>
            <a:ext cx="10795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000">
                <a:latin typeface="Verdana" pitchFamily="34" charset="0"/>
                <a:ea typeface="굴림" charset="-127"/>
              </a:rPr>
              <a:t>LOGO</a:t>
            </a:r>
          </a:p>
        </p:txBody>
      </p:sp>
      <p:sp>
        <p:nvSpPr>
          <p:cNvPr id="4" name="Rectangle 18"/>
          <p:cNvSpPr>
            <a:spLocks noChangeArrowheads="1"/>
          </p:cNvSpPr>
          <p:nvPr/>
        </p:nvSpPr>
        <p:spPr bwMode="gray">
          <a:xfrm>
            <a:off x="0" y="23495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0" y="2371725"/>
          <a:ext cx="9144000" cy="448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438095" imgH="5980952" progId="">
                  <p:embed/>
                </p:oleObj>
              </mc:Choice>
              <mc:Fallback>
                <p:oleObj name="Image" r:id="rId2" imgW="10438095" imgH="5980952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2371725"/>
                        <a:ext cx="9144000" cy="448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4"/>
          <p:cNvSpPr txBox="1">
            <a:spLocks noChangeArrowheads="1"/>
          </p:cNvSpPr>
          <p:nvPr/>
        </p:nvSpPr>
        <p:spPr bwMode="auto">
          <a:xfrm>
            <a:off x="381000" y="304800"/>
            <a:ext cx="10795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000">
                <a:latin typeface="Verdana" pitchFamily="34" charset="0"/>
                <a:ea typeface="굴림" charset="-127"/>
              </a:rPr>
              <a:t>LOGO</a:t>
            </a:r>
          </a:p>
        </p:txBody>
      </p:sp>
      <p:sp>
        <p:nvSpPr>
          <p:cNvPr id="7" name="Rectangle 18"/>
          <p:cNvSpPr>
            <a:spLocks noChangeArrowheads="1"/>
          </p:cNvSpPr>
          <p:nvPr/>
        </p:nvSpPr>
        <p:spPr bwMode="gray">
          <a:xfrm>
            <a:off x="0" y="23495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0" y="2371725"/>
          <a:ext cx="9144000" cy="448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438095" imgH="5980952" progId="">
                  <p:embed/>
                </p:oleObj>
              </mc:Choice>
              <mc:Fallback>
                <p:oleObj name="Image" r:id="rId2" imgW="10438095" imgH="5980952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2371725"/>
                        <a:ext cx="9144000" cy="448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4"/>
          <p:cNvSpPr txBox="1">
            <a:spLocks noChangeArrowheads="1"/>
          </p:cNvSpPr>
          <p:nvPr/>
        </p:nvSpPr>
        <p:spPr bwMode="auto">
          <a:xfrm>
            <a:off x="381000" y="304800"/>
            <a:ext cx="10795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000">
                <a:latin typeface="Verdana" pitchFamily="34" charset="0"/>
                <a:ea typeface="굴림" charset="-127"/>
              </a:rPr>
              <a:t>LOGO</a:t>
            </a:r>
          </a:p>
        </p:txBody>
      </p:sp>
      <p:sp>
        <p:nvSpPr>
          <p:cNvPr id="7" name="Rectangle 18"/>
          <p:cNvSpPr>
            <a:spLocks noChangeArrowheads="1"/>
          </p:cNvSpPr>
          <p:nvPr/>
        </p:nvSpPr>
        <p:spPr bwMode="gray">
          <a:xfrm>
            <a:off x="0" y="23495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"/>
          <p:cNvGraphicFramePr>
            <a:graphicFrameLocks noChangeAspect="1"/>
          </p:cNvGraphicFramePr>
          <p:nvPr/>
        </p:nvGraphicFramePr>
        <p:xfrm>
          <a:off x="0" y="2371725"/>
          <a:ext cx="9144000" cy="448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438095" imgH="5980952" progId="">
                  <p:embed/>
                </p:oleObj>
              </mc:Choice>
              <mc:Fallback>
                <p:oleObj name="Image" r:id="rId2" imgW="10438095" imgH="5980952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2371725"/>
                        <a:ext cx="9144000" cy="448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4"/>
          <p:cNvSpPr txBox="1">
            <a:spLocks noChangeArrowheads="1"/>
          </p:cNvSpPr>
          <p:nvPr/>
        </p:nvSpPr>
        <p:spPr bwMode="auto">
          <a:xfrm>
            <a:off x="381000" y="304800"/>
            <a:ext cx="10795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000">
                <a:latin typeface="Verdana" pitchFamily="34" charset="0"/>
                <a:ea typeface="굴림" charset="-127"/>
              </a:rPr>
              <a:t>LOGO</a:t>
            </a:r>
          </a:p>
        </p:txBody>
      </p:sp>
      <p:sp>
        <p:nvSpPr>
          <p:cNvPr id="6" name="Rectangle 18"/>
          <p:cNvSpPr>
            <a:spLocks noChangeArrowheads="1"/>
          </p:cNvSpPr>
          <p:nvPr/>
        </p:nvSpPr>
        <p:spPr bwMode="gray">
          <a:xfrm>
            <a:off x="0" y="23495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"/>
          <p:cNvGraphicFramePr>
            <a:graphicFrameLocks noChangeAspect="1"/>
          </p:cNvGraphicFramePr>
          <p:nvPr/>
        </p:nvGraphicFramePr>
        <p:xfrm>
          <a:off x="0" y="2371725"/>
          <a:ext cx="9144000" cy="448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438095" imgH="5980952" progId="">
                  <p:embed/>
                </p:oleObj>
              </mc:Choice>
              <mc:Fallback>
                <p:oleObj name="Image" r:id="rId2" imgW="10438095" imgH="5980952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2371725"/>
                        <a:ext cx="9144000" cy="448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4"/>
          <p:cNvSpPr txBox="1">
            <a:spLocks noChangeArrowheads="1"/>
          </p:cNvSpPr>
          <p:nvPr/>
        </p:nvSpPr>
        <p:spPr bwMode="auto">
          <a:xfrm>
            <a:off x="381000" y="304800"/>
            <a:ext cx="10795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000">
                <a:latin typeface="Verdana" pitchFamily="34" charset="0"/>
                <a:ea typeface="굴림" charset="-127"/>
              </a:rPr>
              <a:t>LOGO</a:t>
            </a:r>
          </a:p>
        </p:txBody>
      </p:sp>
      <p:sp>
        <p:nvSpPr>
          <p:cNvPr id="6" name="Rectangle 18"/>
          <p:cNvSpPr>
            <a:spLocks noChangeArrowheads="1"/>
          </p:cNvSpPr>
          <p:nvPr/>
        </p:nvSpPr>
        <p:spPr bwMode="gray">
          <a:xfrm>
            <a:off x="0" y="23495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3007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3007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15"/>
          <p:cNvGraphicFramePr>
            <a:graphicFrameLocks noChangeAspect="1"/>
          </p:cNvGraphicFramePr>
          <p:nvPr/>
        </p:nvGraphicFramePr>
        <p:xfrm>
          <a:off x="0" y="0"/>
          <a:ext cx="914400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387302" imgH="1205924" progId="">
                  <p:embed/>
                </p:oleObj>
              </mc:Choice>
              <mc:Fallback>
                <p:oleObj name="Image" r:id="rId2" imgW="10387302" imgH="1205924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0"/>
                        <a:ext cx="9144000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DC52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B1E2FB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0066CC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6"/>
          <p:cNvSpPr>
            <a:spLocks noChangeArrowheads="1"/>
          </p:cNvSpPr>
          <p:nvPr/>
        </p:nvSpPr>
        <p:spPr bwMode="gray">
          <a:xfrm>
            <a:off x="0" y="10668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9050A-58C5-43A3-A3A0-AC5C4FC06C6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15"/>
          <p:cNvGraphicFramePr>
            <a:graphicFrameLocks noChangeAspect="1"/>
          </p:cNvGraphicFramePr>
          <p:nvPr/>
        </p:nvGraphicFramePr>
        <p:xfrm>
          <a:off x="0" y="0"/>
          <a:ext cx="914400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387302" imgH="1205924" progId="">
                  <p:embed/>
                </p:oleObj>
              </mc:Choice>
              <mc:Fallback>
                <p:oleObj name="Image" r:id="rId2" imgW="10387302" imgH="1205924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0"/>
                        <a:ext cx="9144000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DC52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B1E2FB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0066CC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6"/>
          <p:cNvSpPr>
            <a:spLocks noChangeArrowheads="1"/>
          </p:cNvSpPr>
          <p:nvPr/>
        </p:nvSpPr>
        <p:spPr bwMode="gray">
          <a:xfrm>
            <a:off x="0" y="10668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F6FA59-E777-4A5B-8351-EE843269167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15"/>
          <p:cNvGraphicFramePr>
            <a:graphicFrameLocks noChangeAspect="1"/>
          </p:cNvGraphicFramePr>
          <p:nvPr/>
        </p:nvGraphicFramePr>
        <p:xfrm>
          <a:off x="0" y="0"/>
          <a:ext cx="914400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387302" imgH="1205924" progId="">
                  <p:embed/>
                </p:oleObj>
              </mc:Choice>
              <mc:Fallback>
                <p:oleObj name="Image" r:id="rId2" imgW="10387302" imgH="1205924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0"/>
                        <a:ext cx="9144000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DC52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B1E2FB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0066CC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6"/>
          <p:cNvSpPr>
            <a:spLocks noChangeArrowheads="1"/>
          </p:cNvSpPr>
          <p:nvPr/>
        </p:nvSpPr>
        <p:spPr bwMode="gray">
          <a:xfrm>
            <a:off x="0" y="10668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EA33A2-A139-4A51-B2DC-BF1D8845046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15"/>
          <p:cNvGraphicFramePr>
            <a:graphicFrameLocks noChangeAspect="1"/>
          </p:cNvGraphicFramePr>
          <p:nvPr/>
        </p:nvGraphicFramePr>
        <p:xfrm>
          <a:off x="0" y="0"/>
          <a:ext cx="914400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387302" imgH="1205924" progId="">
                  <p:embed/>
                </p:oleObj>
              </mc:Choice>
              <mc:Fallback>
                <p:oleObj name="Image" r:id="rId2" imgW="10387302" imgH="1205924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0"/>
                        <a:ext cx="9144000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DC52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B1E2FB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0066CC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6"/>
          <p:cNvSpPr>
            <a:spLocks noChangeArrowheads="1"/>
          </p:cNvSpPr>
          <p:nvPr/>
        </p:nvSpPr>
        <p:spPr bwMode="gray">
          <a:xfrm>
            <a:off x="0" y="10668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113BB3-2F8B-425B-B2A5-080DAE82A45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15"/>
          <p:cNvGraphicFramePr>
            <a:graphicFrameLocks noChangeAspect="1"/>
          </p:cNvGraphicFramePr>
          <p:nvPr/>
        </p:nvGraphicFramePr>
        <p:xfrm>
          <a:off x="0" y="0"/>
          <a:ext cx="914400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387302" imgH="1205924" progId="">
                  <p:embed/>
                </p:oleObj>
              </mc:Choice>
              <mc:Fallback>
                <p:oleObj name="Image" r:id="rId2" imgW="10387302" imgH="1205924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0"/>
                        <a:ext cx="9144000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DC52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B1E2FB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0066CC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16"/>
          <p:cNvSpPr>
            <a:spLocks noChangeArrowheads="1"/>
          </p:cNvSpPr>
          <p:nvPr/>
        </p:nvSpPr>
        <p:spPr bwMode="gray">
          <a:xfrm>
            <a:off x="0" y="10668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457861-1353-4590-B80D-0C42A897DF0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15"/>
          <p:cNvGraphicFramePr>
            <a:graphicFrameLocks noChangeAspect="1"/>
          </p:cNvGraphicFramePr>
          <p:nvPr/>
        </p:nvGraphicFramePr>
        <p:xfrm>
          <a:off x="0" y="0"/>
          <a:ext cx="914400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387302" imgH="1205924" progId="">
                  <p:embed/>
                </p:oleObj>
              </mc:Choice>
              <mc:Fallback>
                <p:oleObj name="Image" r:id="rId2" imgW="10387302" imgH="1205924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0"/>
                        <a:ext cx="9144000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DC52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B1E2FB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0066CC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6"/>
          <p:cNvSpPr>
            <a:spLocks noChangeArrowheads="1"/>
          </p:cNvSpPr>
          <p:nvPr/>
        </p:nvSpPr>
        <p:spPr bwMode="gray">
          <a:xfrm>
            <a:off x="0" y="10668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2D896A-D6B2-415D-BF4C-BD3DEE8C603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5"/>
          <p:cNvGraphicFramePr>
            <a:graphicFrameLocks noChangeAspect="1"/>
          </p:cNvGraphicFramePr>
          <p:nvPr/>
        </p:nvGraphicFramePr>
        <p:xfrm>
          <a:off x="0" y="0"/>
          <a:ext cx="914400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387302" imgH="1205924" progId="">
                  <p:embed/>
                </p:oleObj>
              </mc:Choice>
              <mc:Fallback>
                <p:oleObj name="Image" r:id="rId2" imgW="10387302" imgH="1205924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0"/>
                        <a:ext cx="9144000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DC52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B1E2FB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0066CC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16"/>
          <p:cNvSpPr>
            <a:spLocks noChangeArrowheads="1"/>
          </p:cNvSpPr>
          <p:nvPr/>
        </p:nvSpPr>
        <p:spPr bwMode="gray">
          <a:xfrm>
            <a:off x="0" y="10668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FA9CAB-5207-4F51-9E54-59E315A0941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15"/>
          <p:cNvGraphicFramePr>
            <a:graphicFrameLocks noChangeAspect="1"/>
          </p:cNvGraphicFramePr>
          <p:nvPr/>
        </p:nvGraphicFramePr>
        <p:xfrm>
          <a:off x="0" y="0"/>
          <a:ext cx="914400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387302" imgH="1205924" progId="">
                  <p:embed/>
                </p:oleObj>
              </mc:Choice>
              <mc:Fallback>
                <p:oleObj name="Image" r:id="rId2" imgW="10387302" imgH="1205924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0"/>
                        <a:ext cx="9144000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DC52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B1E2FB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0066CC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6"/>
          <p:cNvSpPr>
            <a:spLocks noChangeArrowheads="1"/>
          </p:cNvSpPr>
          <p:nvPr/>
        </p:nvSpPr>
        <p:spPr bwMode="gray">
          <a:xfrm>
            <a:off x="0" y="10668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AD34DA-0E5E-4578-BC28-9B8D116DE3B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15"/>
          <p:cNvGraphicFramePr>
            <a:graphicFrameLocks noChangeAspect="1"/>
          </p:cNvGraphicFramePr>
          <p:nvPr/>
        </p:nvGraphicFramePr>
        <p:xfrm>
          <a:off x="0" y="0"/>
          <a:ext cx="914400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387302" imgH="1205924" progId="">
                  <p:embed/>
                </p:oleObj>
              </mc:Choice>
              <mc:Fallback>
                <p:oleObj name="Image" r:id="rId2" imgW="10387302" imgH="1205924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0"/>
                        <a:ext cx="9144000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DC52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B1E2FB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0066CC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6"/>
          <p:cNvSpPr>
            <a:spLocks noChangeArrowheads="1"/>
          </p:cNvSpPr>
          <p:nvPr/>
        </p:nvSpPr>
        <p:spPr bwMode="gray">
          <a:xfrm>
            <a:off x="0" y="10668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726163-8FE6-490C-BBC5-6A494A7B1B6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15"/>
          <p:cNvGraphicFramePr>
            <a:graphicFrameLocks noChangeAspect="1"/>
          </p:cNvGraphicFramePr>
          <p:nvPr/>
        </p:nvGraphicFramePr>
        <p:xfrm>
          <a:off x="0" y="0"/>
          <a:ext cx="914400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387302" imgH="1205924" progId="">
                  <p:embed/>
                </p:oleObj>
              </mc:Choice>
              <mc:Fallback>
                <p:oleObj name="Image" r:id="rId2" imgW="10387302" imgH="1205924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0"/>
                        <a:ext cx="9144000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DC52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B1E2FB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0066CC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6"/>
          <p:cNvSpPr>
            <a:spLocks noChangeArrowheads="1"/>
          </p:cNvSpPr>
          <p:nvPr/>
        </p:nvSpPr>
        <p:spPr bwMode="gray">
          <a:xfrm>
            <a:off x="0" y="10668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477CFA-29B4-45FB-B98B-93BEA3C92D5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15"/>
          <p:cNvGraphicFramePr>
            <a:graphicFrameLocks noChangeAspect="1"/>
          </p:cNvGraphicFramePr>
          <p:nvPr/>
        </p:nvGraphicFramePr>
        <p:xfrm>
          <a:off x="0" y="0"/>
          <a:ext cx="914400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387302" imgH="1205924" progId="">
                  <p:embed/>
                </p:oleObj>
              </mc:Choice>
              <mc:Fallback>
                <p:oleObj name="Image" r:id="rId2" imgW="10387302" imgH="1205924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0"/>
                        <a:ext cx="9144000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DC52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B1E2FB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0066CC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6"/>
          <p:cNvSpPr>
            <a:spLocks noChangeArrowheads="1"/>
          </p:cNvSpPr>
          <p:nvPr/>
        </p:nvSpPr>
        <p:spPr bwMode="gray">
          <a:xfrm>
            <a:off x="0" y="10668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3007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3007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EBD73D-BB22-4754-99D3-F3C4723D91E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15"/>
          <p:cNvGraphicFramePr>
            <a:graphicFrameLocks noChangeAspect="1"/>
          </p:cNvGraphicFramePr>
          <p:nvPr/>
        </p:nvGraphicFramePr>
        <p:xfrm>
          <a:off x="0" y="0"/>
          <a:ext cx="914400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387302" imgH="1205924" progId="">
                  <p:embed/>
                </p:oleObj>
              </mc:Choice>
              <mc:Fallback>
                <p:oleObj name="Image" r:id="rId2" imgW="10387302" imgH="1205924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0"/>
                        <a:ext cx="9144000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DC52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B1E2FB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0066CC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6"/>
          <p:cNvSpPr>
            <a:spLocks noChangeArrowheads="1"/>
          </p:cNvSpPr>
          <p:nvPr/>
        </p:nvSpPr>
        <p:spPr bwMode="gray">
          <a:xfrm>
            <a:off x="0" y="10668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solidFill>
                <a:srgbClr val="B1E2FB"/>
              </a:solidFill>
              <a:latin typeface="Arial" charset="0"/>
              <a:ea typeface="굴림" pitchFamily="50" charset="-127"/>
            </a:endParaRPr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0" y="2371725"/>
          <a:ext cx="9144000" cy="448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4" imgW="10438095" imgH="5980952" progId="">
                  <p:embed/>
                </p:oleObj>
              </mc:Choice>
              <mc:Fallback>
                <p:oleObj name="Image" r:id="rId4" imgW="10438095" imgH="5980952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2371725"/>
                        <a:ext cx="9144000" cy="448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8"/>
          <p:cNvSpPr>
            <a:spLocks noChangeArrowheads="1"/>
          </p:cNvSpPr>
          <p:nvPr/>
        </p:nvSpPr>
        <p:spPr bwMode="gray">
          <a:xfrm>
            <a:off x="0" y="23495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solidFill>
                <a:srgbClr val="B1E2FB"/>
              </a:solidFill>
              <a:latin typeface="Arial" charset="0"/>
              <a:ea typeface="굴림" pitchFamily="50" charset="-127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90600" y="6324600"/>
            <a:ext cx="7086600" cy="5334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1800" b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801313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B1E2FB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B1E2FB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CEE699-D639-4207-979B-EFF22D985E06}" type="slidenum">
              <a:rPr lang="en-US" altLang="ko-KR">
                <a:solidFill>
                  <a:srgbClr val="B1E2FB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B1E2F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638403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B1E2FB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B1E2FB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A0982E-BCED-4A9B-B7E1-1DF92DA4E1B0}" type="slidenum">
              <a:rPr lang="en-US" altLang="ko-KR">
                <a:solidFill>
                  <a:srgbClr val="B1E2FB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B1E2F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380595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B1E2FB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B1E2FB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7F742F-7B36-4663-A3D4-61870DAACAAC}" type="slidenum">
              <a:rPr lang="en-US" altLang="ko-KR">
                <a:solidFill>
                  <a:srgbClr val="B1E2FB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B1E2F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226933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B1E2FB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B1E2FB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964680-22E8-4DB6-B67E-F60E1436DCB0}" type="slidenum">
              <a:rPr lang="en-US" altLang="ko-KR">
                <a:solidFill>
                  <a:srgbClr val="B1E2FB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B1E2F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36206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B1E2FB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B1E2FB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393D91-2AA8-4222-B0D3-08777C988B37}" type="slidenum">
              <a:rPr lang="en-US" altLang="ko-KR">
                <a:solidFill>
                  <a:srgbClr val="B1E2FB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B1E2F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8658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B1E2FB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B1E2FB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D271E6-9BF7-48F4-A797-0B00001AA4A6}" type="slidenum">
              <a:rPr lang="en-US" altLang="ko-KR">
                <a:solidFill>
                  <a:srgbClr val="B1E2FB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B1E2F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127799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B1E2FB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B1E2FB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B3BA63-8553-4392-840A-872D73E86C03}" type="slidenum">
              <a:rPr lang="en-US" altLang="ko-KR">
                <a:solidFill>
                  <a:srgbClr val="B1E2FB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B1E2F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939437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B1E2FB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B1E2FB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A0EF7B-C81A-4D36-B09D-CAB33D40165E}" type="slidenum">
              <a:rPr lang="en-US" altLang="ko-KR">
                <a:solidFill>
                  <a:srgbClr val="B1E2FB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B1E2F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92346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B1E2FB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B1E2FB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678431-D9C7-46F6-AB44-0407FE9C1E78}" type="slidenum">
              <a:rPr lang="en-US" altLang="ko-KR">
                <a:solidFill>
                  <a:srgbClr val="B1E2FB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B1E2F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30750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30078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30078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B1E2FB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B1E2FB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BF76C9-BA84-43C0-A6F8-39BC57028A72}" type="slidenum">
              <a:rPr lang="en-US" altLang="ko-KR">
                <a:solidFill>
                  <a:srgbClr val="B1E2FB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B1E2F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605674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0600" y="319088"/>
            <a:ext cx="7543800" cy="56356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457200" y="1371600"/>
            <a:ext cx="8229600" cy="5248275"/>
          </a:xfrm>
        </p:spPr>
        <p:txBody>
          <a:bodyPr/>
          <a:lstStyle/>
          <a:p>
            <a:pPr lvl="0"/>
            <a:r>
              <a:rPr lang="ko-KR" altLang="en-US" noProof="0"/>
              <a:t>표를 추가하려면 아이콘을 클릭하십시오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B1E2FB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B1E2FB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5DEBC6-EF61-47A0-816A-A14FD7AFBB22}" type="slidenum">
              <a:rPr lang="en-US" altLang="ko-KR">
                <a:solidFill>
                  <a:srgbClr val="B1E2FB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B1E2F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7800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oleObject" Target="../embeddings/oleObject13.bin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oleObject" Target="../embeddings/oleObject25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001847"/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2371725"/>
          <a:ext cx="9144000" cy="448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3" imgW="10438095" imgH="5980952" progId="">
                  <p:embed/>
                </p:oleObj>
              </mc:Choice>
              <mc:Fallback>
                <p:oleObj name="Image" r:id="rId13" imgW="10438095" imgH="5980952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2371725"/>
                        <a:ext cx="9144000" cy="448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DC52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B1E2FB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0066CC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4"/>
          <p:cNvSpPr txBox="1">
            <a:spLocks noChangeArrowheads="1"/>
          </p:cNvSpPr>
          <p:nvPr/>
        </p:nvSpPr>
        <p:spPr bwMode="auto">
          <a:xfrm>
            <a:off x="381000" y="304800"/>
            <a:ext cx="10795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000">
                <a:latin typeface="Verdana" pitchFamily="34" charset="0"/>
                <a:ea typeface="굴림" charset="-127"/>
              </a:rPr>
              <a:t>LOGO</a:t>
            </a:r>
          </a:p>
        </p:txBody>
      </p:sp>
      <p:sp>
        <p:nvSpPr>
          <p:cNvPr id="11" name="Rectangle 18"/>
          <p:cNvSpPr>
            <a:spLocks noChangeArrowheads="1"/>
          </p:cNvSpPr>
          <p:nvPr/>
        </p:nvSpPr>
        <p:spPr bwMode="gray">
          <a:xfrm>
            <a:off x="0" y="23495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8229600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altLang="ko-KR"/>
          </a:p>
        </p:txBody>
      </p:sp>
      <p:sp>
        <p:nvSpPr>
          <p:cNvPr id="103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90600" y="319088"/>
            <a:ext cx="7543800" cy="56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  <a:endParaRPr lang="en-US" altLang="ko-KR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985" r:id="rId1"/>
    <p:sldLayoutId id="2147483986" r:id="rId2"/>
    <p:sldLayoutId id="2147483987" r:id="rId3"/>
    <p:sldLayoutId id="2147483988" r:id="rId4"/>
    <p:sldLayoutId id="2147483989" r:id="rId5"/>
    <p:sldLayoutId id="2147483990" r:id="rId6"/>
    <p:sldLayoutId id="2147483991" r:id="rId7"/>
    <p:sldLayoutId id="2147483992" r:id="rId8"/>
    <p:sldLayoutId id="2147483993" r:id="rId9"/>
    <p:sldLayoutId id="2147483994" r:id="rId10"/>
    <p:sldLayoutId id="2147483995" r:id="rId11"/>
  </p:sldLayoutIdLst>
  <p:transition spd="med"/>
  <p:hf sldNum="0" hdr="0" ftr="0" dt="0"/>
  <p:txStyles>
    <p:titleStyle>
      <a:lvl1pPr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</a:defRPr>
      </a:lvl2pPr>
      <a:lvl3pPr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</a:defRPr>
      </a:lvl3pPr>
      <a:lvl4pPr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</a:defRPr>
      </a:lvl4pPr>
      <a:lvl5pPr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</a:defRPr>
      </a:lvl5pPr>
      <a:lvl6pPr marL="457200"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</a:defRPr>
      </a:lvl6pPr>
      <a:lvl7pPr marL="914400"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</a:defRPr>
      </a:lvl7pPr>
      <a:lvl8pPr marL="1371600"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</a:defRPr>
      </a:lvl8pPr>
      <a:lvl9pPr marL="1828800"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800">
          <a:solidFill>
            <a:schemeClr val="tx2"/>
          </a:solidFill>
          <a:latin typeface="+mj-lt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2"/>
          </a:solidFill>
          <a:latin typeface="+mj-lt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sz="2000">
          <a:solidFill>
            <a:schemeClr val="tx2"/>
          </a:solidFill>
          <a:latin typeface="+mj-lt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j-lt"/>
        </a:defRPr>
      </a:lvl5pPr>
      <a:lvl6pPr marL="25146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j-lt"/>
        </a:defRPr>
      </a:lvl6pPr>
      <a:lvl7pPr marL="29718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j-lt"/>
        </a:defRPr>
      </a:lvl7pPr>
      <a:lvl8pPr marL="34290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j-lt"/>
        </a:defRPr>
      </a:lvl8pPr>
      <a:lvl9pPr marL="38862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j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001847"/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14" name="Object 15"/>
          <p:cNvGraphicFramePr>
            <a:graphicFrameLocks noChangeAspect="1"/>
          </p:cNvGraphicFramePr>
          <p:nvPr/>
        </p:nvGraphicFramePr>
        <p:xfrm>
          <a:off x="0" y="0"/>
          <a:ext cx="914400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3" imgW="10387302" imgH="1205924" progId="">
                  <p:embed/>
                </p:oleObj>
              </mc:Choice>
              <mc:Fallback>
                <p:oleObj name="Image" r:id="rId13" imgW="10387302" imgH="1205924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0"/>
                        <a:ext cx="9144000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DC52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B1E2FB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0066CC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8229600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altLang="ko-KR"/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latinLnBrk="0">
              <a:defRPr kumimoji="0" sz="1400" b="0">
                <a:latin typeface="+mj-lt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latinLnBrk="0">
              <a:defRPr kumimoji="0" sz="1400" b="0">
                <a:latin typeface="+mj-lt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latinLnBrk="0">
              <a:defRPr kumimoji="0" sz="1400" b="0">
                <a:latin typeface="+mj-lt"/>
                <a:ea typeface="굴림" charset="-127"/>
              </a:defRPr>
            </a:lvl1pPr>
          </a:lstStyle>
          <a:p>
            <a:pPr>
              <a:defRPr/>
            </a:pPr>
            <a:fld id="{2F609E19-2604-492B-B8BC-5AFF768B4CA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332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90600" y="319088"/>
            <a:ext cx="7543800" cy="56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  <a:endParaRPr lang="en-US" altLang="ko-KR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10668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996" r:id="rId1"/>
    <p:sldLayoutId id="2147483997" r:id="rId2"/>
    <p:sldLayoutId id="2147483998" r:id="rId3"/>
    <p:sldLayoutId id="2147483999" r:id="rId4"/>
    <p:sldLayoutId id="2147484000" r:id="rId5"/>
    <p:sldLayoutId id="2147484001" r:id="rId6"/>
    <p:sldLayoutId id="2147484002" r:id="rId7"/>
    <p:sldLayoutId id="2147484003" r:id="rId8"/>
    <p:sldLayoutId id="2147484004" r:id="rId9"/>
    <p:sldLayoutId id="2147484005" r:id="rId10"/>
    <p:sldLayoutId id="2147484006" r:id="rId11"/>
  </p:sldLayoutIdLst>
  <p:transition spd="med"/>
  <p:hf sldNum="0" hdr="0" ftr="0" dt="0"/>
  <p:txStyles>
    <p:titleStyle>
      <a:lvl1pPr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</a:defRPr>
      </a:lvl2pPr>
      <a:lvl3pPr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</a:defRPr>
      </a:lvl3pPr>
      <a:lvl4pPr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</a:defRPr>
      </a:lvl4pPr>
      <a:lvl5pPr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</a:defRPr>
      </a:lvl5pPr>
      <a:lvl6pPr marL="457200"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</a:defRPr>
      </a:lvl6pPr>
      <a:lvl7pPr marL="914400"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</a:defRPr>
      </a:lvl7pPr>
      <a:lvl8pPr marL="1371600"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</a:defRPr>
      </a:lvl8pPr>
      <a:lvl9pPr marL="1828800"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800">
          <a:solidFill>
            <a:schemeClr val="tx2"/>
          </a:solidFill>
          <a:latin typeface="+mj-lt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2"/>
          </a:solidFill>
          <a:latin typeface="+mj-lt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sz="2000">
          <a:solidFill>
            <a:schemeClr val="tx2"/>
          </a:solidFill>
          <a:latin typeface="+mj-lt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j-lt"/>
        </a:defRPr>
      </a:lvl5pPr>
      <a:lvl6pPr marL="25146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j-lt"/>
        </a:defRPr>
      </a:lvl6pPr>
      <a:lvl7pPr marL="29718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j-lt"/>
        </a:defRPr>
      </a:lvl7pPr>
      <a:lvl8pPr marL="34290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j-lt"/>
        </a:defRPr>
      </a:lvl8pPr>
      <a:lvl9pPr marL="38862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j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>
                <a:gamma/>
                <a:shade val="46275"/>
                <a:invGamma/>
              </a:schemeClr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15"/>
          <p:cNvGraphicFramePr>
            <a:graphicFrameLocks noChangeAspect="1"/>
          </p:cNvGraphicFramePr>
          <p:nvPr/>
        </p:nvGraphicFramePr>
        <p:xfrm>
          <a:off x="0" y="0"/>
          <a:ext cx="914400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4" imgW="10387302" imgH="1205924" progId="">
                  <p:embed/>
                </p:oleObj>
              </mc:Choice>
              <mc:Fallback>
                <p:oleObj name="Image" r:id="rId14" imgW="10387302" imgH="1205924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0"/>
                        <a:ext cx="9144000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DC52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B1E2FB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0066CC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8229600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altLang="ko-KR"/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latinLnBrk="0">
              <a:defRPr kumimoji="0" sz="1400"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 b="0">
              <a:solidFill>
                <a:srgbClr val="B1E2FB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latinLnBrk="0">
              <a:defRPr kumimoji="0" sz="1400"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 b="0">
              <a:solidFill>
                <a:srgbClr val="B1E2FB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latinLnBrk="0">
              <a:defRPr kumimoji="0" sz="1400"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fld id="{51AEFA36-DB78-4B33-A399-3C66194D2B99}" type="slidenum">
              <a:rPr lang="en-US" altLang="ko-KR" b="0">
                <a:solidFill>
                  <a:srgbClr val="B1E2FB"/>
                </a:solidFill>
              </a:rPr>
              <a:pPr>
                <a:defRPr/>
              </a:pPr>
              <a:t>‹#›</a:t>
            </a:fld>
            <a:endParaRPr lang="en-US" altLang="ko-KR" b="0">
              <a:solidFill>
                <a:srgbClr val="B1E2FB"/>
              </a:solidFill>
            </a:endParaRPr>
          </a:p>
        </p:txBody>
      </p:sp>
      <p:sp>
        <p:nvSpPr>
          <p:cNvPr id="103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90600" y="319088"/>
            <a:ext cx="7543800" cy="56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  <a:endParaRPr lang="en-US" altLang="ko-KR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10668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solidFill>
                <a:srgbClr val="B1E2FB"/>
              </a:solidFill>
              <a:latin typeface="Arial" charset="0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33797986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4008" r:id="rId1"/>
    <p:sldLayoutId id="2147484009" r:id="rId2"/>
    <p:sldLayoutId id="2147484010" r:id="rId3"/>
    <p:sldLayoutId id="2147484011" r:id="rId4"/>
    <p:sldLayoutId id="2147484012" r:id="rId5"/>
    <p:sldLayoutId id="2147484013" r:id="rId6"/>
    <p:sldLayoutId id="2147484014" r:id="rId7"/>
    <p:sldLayoutId id="2147484015" r:id="rId8"/>
    <p:sldLayoutId id="2147484016" r:id="rId9"/>
    <p:sldLayoutId id="2147484017" r:id="rId10"/>
    <p:sldLayoutId id="2147484018" r:id="rId11"/>
    <p:sldLayoutId id="2147484019" r:id="rId12"/>
  </p:sldLayoutIdLst>
  <p:txStyles>
    <p:titleStyle>
      <a:lvl1pPr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2pPr>
      <a:lvl3pPr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3pPr>
      <a:lvl4pPr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4pPr>
      <a:lvl5pPr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5pPr>
      <a:lvl6pPr marL="457200" algn="r" rtl="0" eaLnBrk="1" fontAlgn="base" latinLnBrk="1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r" rtl="0" eaLnBrk="1" fontAlgn="base" latinLnBrk="1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r" rtl="0" eaLnBrk="1" fontAlgn="base" latinLnBrk="1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r" rtl="0" eaLnBrk="1" fontAlgn="base" latinLnBrk="1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800">
          <a:solidFill>
            <a:schemeClr val="tx2"/>
          </a:solidFill>
          <a:latin typeface="+mj-lt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2"/>
          </a:solidFill>
          <a:latin typeface="+mj-lt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sz="2000">
          <a:solidFill>
            <a:schemeClr val="tx2"/>
          </a:solidFill>
          <a:latin typeface="+mj-lt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j-lt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j-lt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j-lt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j-lt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0" y="152400"/>
            <a:ext cx="9144000" cy="2133600"/>
          </a:xfrm>
          <a:solidFill>
            <a:srgbClr val="003296"/>
          </a:solidFill>
          <a:effectLst>
            <a:outerShdw dist="28398" dir="3806097" algn="ctr" rotWithShape="0">
              <a:srgbClr val="000066">
                <a:alpha val="50000"/>
              </a:srgbClr>
            </a:outerShdw>
          </a:effectLst>
        </p:spPr>
        <p:txBody>
          <a:bodyPr/>
          <a:lstStyle/>
          <a:p>
            <a:pPr algn="ctr">
              <a:spcBef>
                <a:spcPct val="50000"/>
              </a:spcBef>
              <a:defRPr/>
            </a:pPr>
            <a:r>
              <a:rPr lang="en-US" altLang="ko-KR" sz="4000" b="1" dirty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Industry Analysis / Industry Globalization</a:t>
            </a:r>
          </a:p>
        </p:txBody>
      </p:sp>
      <p:grpSp>
        <p:nvGrpSpPr>
          <p:cNvPr id="57347" name="Group 3"/>
          <p:cNvGrpSpPr>
            <a:grpSpLocks/>
          </p:cNvGrpSpPr>
          <p:nvPr/>
        </p:nvGrpSpPr>
        <p:grpSpPr bwMode="auto">
          <a:xfrm>
            <a:off x="0" y="2924175"/>
            <a:ext cx="9144000" cy="123825"/>
            <a:chOff x="432" y="912"/>
            <a:chExt cx="5808" cy="48"/>
          </a:xfrm>
        </p:grpSpPr>
        <p:sp>
          <p:nvSpPr>
            <p:cNvPr id="57350" name="Line 4"/>
            <p:cNvSpPr>
              <a:spLocks noChangeShapeType="1"/>
            </p:cNvSpPr>
            <p:nvPr/>
          </p:nvSpPr>
          <p:spPr bwMode="auto">
            <a:xfrm>
              <a:off x="432" y="912"/>
              <a:ext cx="5808" cy="0"/>
            </a:xfrm>
            <a:prstGeom prst="line">
              <a:avLst/>
            </a:prstGeom>
            <a:noFill/>
            <a:ln w="76200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57351" name="Line 5"/>
            <p:cNvSpPr>
              <a:spLocks noChangeShapeType="1"/>
            </p:cNvSpPr>
            <p:nvPr/>
          </p:nvSpPr>
          <p:spPr bwMode="auto">
            <a:xfrm>
              <a:off x="432" y="960"/>
              <a:ext cx="5808" cy="0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57348" name="Text Box 9"/>
          <p:cNvSpPr txBox="1">
            <a:spLocks noChangeArrowheads="1"/>
          </p:cNvSpPr>
          <p:nvPr/>
        </p:nvSpPr>
        <p:spPr bwMode="auto">
          <a:xfrm>
            <a:off x="5436096" y="4725144"/>
            <a:ext cx="2803075" cy="80021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ko-KR" sz="2800" b="0" dirty="0">
                <a:solidFill>
                  <a:srgbClr val="99FF33"/>
                </a:solidFill>
                <a:ea typeface="굴림" pitchFamily="50" charset="-127"/>
              </a:rPr>
              <a:t>Dr. </a:t>
            </a:r>
            <a:r>
              <a:rPr lang="en-US" altLang="ko-KR" sz="2800" b="0" dirty="0" err="1">
                <a:solidFill>
                  <a:srgbClr val="99FF33"/>
                </a:solidFill>
                <a:ea typeface="굴림" pitchFamily="50" charset="-127"/>
              </a:rPr>
              <a:t>Kwangsoo</a:t>
            </a:r>
            <a:r>
              <a:rPr lang="en-US" altLang="ko-KR" sz="2800" b="0" dirty="0">
                <a:solidFill>
                  <a:srgbClr val="99FF33"/>
                </a:solidFill>
                <a:ea typeface="굴림" pitchFamily="50" charset="-127"/>
              </a:rPr>
              <a:t> Kim</a:t>
            </a:r>
          </a:p>
          <a:p>
            <a:pPr algn="r"/>
            <a:r>
              <a:rPr lang="en-US" altLang="ko-KR" b="0" dirty="0" err="1">
                <a:solidFill>
                  <a:srgbClr val="99FF33"/>
                </a:solidFill>
                <a:ea typeface="굴림" pitchFamily="50" charset="-127"/>
              </a:rPr>
              <a:t>Konkuk</a:t>
            </a:r>
            <a:r>
              <a:rPr lang="en-US" altLang="ko-KR" b="0" dirty="0">
                <a:solidFill>
                  <a:srgbClr val="99FF33"/>
                </a:solidFill>
                <a:ea typeface="굴림" pitchFamily="50" charset="-127"/>
              </a:rPr>
              <a:t> University</a:t>
            </a:r>
          </a:p>
        </p:txBody>
      </p:sp>
      <p:sp>
        <p:nvSpPr>
          <p:cNvPr id="57349" name="Rectangle 8"/>
          <p:cNvSpPr>
            <a:spLocks noChangeArrowheads="1"/>
          </p:cNvSpPr>
          <p:nvPr/>
        </p:nvSpPr>
        <p:spPr bwMode="auto">
          <a:xfrm>
            <a:off x="5214938" y="4384675"/>
            <a:ext cx="3240087" cy="1582738"/>
          </a:xfrm>
          <a:prstGeom prst="rect">
            <a:avLst/>
          </a:prstGeom>
          <a:noFill/>
          <a:ln w="3810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latinLnBrk="1"/>
            <a:endParaRPr kumimoji="1" lang="ko-KR" altLang="en-US" sz="1800" b="0">
              <a:solidFill>
                <a:schemeClr val="bg1"/>
              </a:solidFill>
              <a:latin typeface="Franklin Gothic Heavy" pitchFamily="34" charset="0"/>
              <a:ea typeface="굴림" pitchFamily="50" charset="-127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Box 23"/>
          <p:cNvSpPr txBox="1">
            <a:spLocks noChangeArrowheads="1"/>
          </p:cNvSpPr>
          <p:nvPr/>
        </p:nvSpPr>
        <p:spPr bwMode="auto">
          <a:xfrm>
            <a:off x="3059113" y="260350"/>
            <a:ext cx="2789237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2"/>
            </a:outerShdw>
          </a:effectLst>
        </p:spPr>
        <p:txBody>
          <a:bodyPr>
            <a:spAutoFit/>
          </a:bodyPr>
          <a:lstStyle/>
          <a:p>
            <a:pPr algn="ctr" latinLnBrk="0">
              <a:defRPr/>
            </a:pPr>
            <a:r>
              <a:rPr kumimoji="0" lang="en-US" altLang="ko-KR" sz="3600" b="1" dirty="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HY헤드라인M" pitchFamily="18" charset="-127"/>
                <a:cs typeface="Times New Roman" pitchFamily="18" charset="0"/>
              </a:rPr>
              <a:t>AGENDA</a:t>
            </a:r>
            <a:endParaRPr kumimoji="0" lang="ko-KR" altLang="en-US" sz="3600" b="1" dirty="0">
              <a:solidFill>
                <a:srgbClr val="FFCC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HY헤드라인M" pitchFamily="18" charset="-127"/>
              <a:cs typeface="Times New Roman" pitchFamily="18" charset="0"/>
            </a:endParaRPr>
          </a:p>
        </p:txBody>
      </p:sp>
      <p:grpSp>
        <p:nvGrpSpPr>
          <p:cNvPr id="4" name="Group 173"/>
          <p:cNvGrpSpPr>
            <a:grpSpLocks/>
          </p:cNvGrpSpPr>
          <p:nvPr/>
        </p:nvGrpSpPr>
        <p:grpSpPr bwMode="auto">
          <a:xfrm>
            <a:off x="285750" y="1994388"/>
            <a:ext cx="8572500" cy="1016328"/>
            <a:chOff x="1248" y="1350"/>
            <a:chExt cx="3060" cy="348"/>
          </a:xfrm>
        </p:grpSpPr>
        <p:sp>
          <p:nvSpPr>
            <p:cNvPr id="15380" name="AutoShape 95"/>
            <p:cNvSpPr>
              <a:spLocks noChangeArrowheads="1"/>
            </p:cNvSpPr>
            <p:nvPr/>
          </p:nvSpPr>
          <p:spPr bwMode="gray">
            <a:xfrm>
              <a:off x="1248" y="1350"/>
              <a:ext cx="3060" cy="34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0"/>
              <a:endParaRPr kumimoji="0" lang="ko-KR" altLang="en-US" sz="3200">
                <a:cs typeface="Times New Roman" pitchFamily="18" charset="0"/>
              </a:endParaRPr>
            </a:p>
          </p:txBody>
        </p:sp>
        <p:sp>
          <p:nvSpPr>
            <p:cNvPr id="15381" name="AutoShape 94"/>
            <p:cNvSpPr>
              <a:spLocks noChangeArrowheads="1"/>
            </p:cNvSpPr>
            <p:nvPr/>
          </p:nvSpPr>
          <p:spPr bwMode="gray">
            <a:xfrm>
              <a:off x="1303" y="1380"/>
              <a:ext cx="2969" cy="288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50195"/>
              </a:scheme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0"/>
              <a:endParaRPr kumimoji="0" lang="ko-KR" altLang="en-US" sz="3200">
                <a:cs typeface="Times New Roman" pitchFamily="18" charset="0"/>
              </a:endParaRPr>
            </a:p>
          </p:txBody>
        </p:sp>
        <p:sp>
          <p:nvSpPr>
            <p:cNvPr id="100" name="Text Box 42"/>
            <p:cNvSpPr txBox="1">
              <a:spLocks noChangeArrowheads="1"/>
            </p:cNvSpPr>
            <p:nvPr/>
          </p:nvSpPr>
          <p:spPr bwMode="gray">
            <a:xfrm>
              <a:off x="1358" y="1380"/>
              <a:ext cx="2839" cy="197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pPr algn="ctr" latinLnBrk="0">
                <a:defRPr/>
              </a:pPr>
              <a:endParaRPr kumimoji="0" lang="en-US" altLang="ko-KR" sz="3200" dirty="0">
                <a:ea typeface="HY견고딕" pitchFamily="18" charset="-127"/>
                <a:cs typeface="Times New Roman" pitchFamily="18" charset="0"/>
              </a:endParaRPr>
            </a:p>
          </p:txBody>
        </p:sp>
      </p:grpSp>
      <p:grpSp>
        <p:nvGrpSpPr>
          <p:cNvPr id="5" name="Group 174"/>
          <p:cNvGrpSpPr>
            <a:grpSpLocks/>
          </p:cNvGrpSpPr>
          <p:nvPr/>
        </p:nvGrpSpPr>
        <p:grpSpPr bwMode="auto">
          <a:xfrm>
            <a:off x="285750" y="3708815"/>
            <a:ext cx="8501063" cy="1016329"/>
            <a:chOff x="1260" y="1794"/>
            <a:chExt cx="3060" cy="348"/>
          </a:xfrm>
        </p:grpSpPr>
        <p:sp>
          <p:nvSpPr>
            <p:cNvPr id="15377" name="AutoShape 109"/>
            <p:cNvSpPr>
              <a:spLocks noChangeArrowheads="1"/>
            </p:cNvSpPr>
            <p:nvPr/>
          </p:nvSpPr>
          <p:spPr bwMode="gray">
            <a:xfrm>
              <a:off x="1260" y="1794"/>
              <a:ext cx="3060" cy="34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0"/>
              <a:endParaRPr kumimoji="0" lang="ko-KR" altLang="en-US" sz="3200">
                <a:cs typeface="Times New Roman" pitchFamily="18" charset="0"/>
              </a:endParaRPr>
            </a:p>
          </p:txBody>
        </p:sp>
        <p:sp>
          <p:nvSpPr>
            <p:cNvPr id="15378" name="AutoShape 110"/>
            <p:cNvSpPr>
              <a:spLocks noChangeArrowheads="1"/>
            </p:cNvSpPr>
            <p:nvPr/>
          </p:nvSpPr>
          <p:spPr bwMode="gray">
            <a:xfrm>
              <a:off x="1315" y="1824"/>
              <a:ext cx="2969" cy="288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50195"/>
              </a:scheme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0"/>
              <a:endParaRPr kumimoji="0" lang="ko-KR" altLang="en-US" sz="3200">
                <a:cs typeface="Times New Roman" pitchFamily="18" charset="0"/>
              </a:endParaRPr>
            </a:p>
          </p:txBody>
        </p:sp>
        <p:sp>
          <p:nvSpPr>
            <p:cNvPr id="104" name="Text Box 111"/>
            <p:cNvSpPr txBox="1">
              <a:spLocks noChangeArrowheads="1"/>
            </p:cNvSpPr>
            <p:nvPr/>
          </p:nvSpPr>
          <p:spPr bwMode="gray">
            <a:xfrm>
              <a:off x="1311" y="1860"/>
              <a:ext cx="2931" cy="197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pPr algn="ctr" latinLnBrk="0">
                <a:defRPr/>
              </a:pPr>
              <a:endParaRPr kumimoji="0" lang="en-US" altLang="ko-KR" sz="3200" dirty="0">
                <a:ea typeface="HY견고딕" pitchFamily="18" charset="-127"/>
                <a:cs typeface="Times New Roman" pitchFamily="18" charset="0"/>
              </a:endParaRPr>
            </a:p>
          </p:txBody>
        </p:sp>
      </p:grpSp>
      <p:sp>
        <p:nvSpPr>
          <p:cNvPr id="26" name="Text Box 111"/>
          <p:cNvSpPr txBox="1">
            <a:spLocks noChangeArrowheads="1"/>
          </p:cNvSpPr>
          <p:nvPr/>
        </p:nvSpPr>
        <p:spPr bwMode="gray">
          <a:xfrm>
            <a:off x="461763" y="2186991"/>
            <a:ext cx="8142685" cy="584081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 latinLnBrk="0">
              <a:defRPr/>
            </a:pPr>
            <a:r>
              <a:rPr kumimoji="0" lang="en-US" altLang="ko-KR" sz="3200" dirty="0">
                <a:ea typeface="HY견고딕" pitchFamily="18" charset="-127"/>
                <a:cs typeface="Times New Roman" pitchFamily="18" charset="0"/>
              </a:rPr>
              <a:t>Industry Analysis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467544" y="3933056"/>
            <a:ext cx="842493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latinLnBrk="1">
              <a:defRPr/>
            </a:pPr>
            <a:r>
              <a:rPr lang="en-US" altLang="ko-KR" sz="3200" dirty="0">
                <a:ea typeface="HY견고딕" pitchFamily="18" charset="-127"/>
                <a:cs typeface="Times New Roman" pitchFamily="18" charset="0"/>
              </a:rPr>
              <a:t>Industry Globalization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602" name="Object 2">
            <a:hlinkClick r:id="" action="ppaction://ole?verb=0"/>
          </p:cNvPr>
          <p:cNvGraphicFramePr>
            <a:graphicFrameLocks/>
          </p:cNvGraphicFramePr>
          <p:nvPr/>
        </p:nvGraphicFramePr>
        <p:xfrm>
          <a:off x="381000" y="4208463"/>
          <a:ext cx="8382000" cy="204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3657600" imgH="2338200" progId="">
                  <p:embed/>
                </p:oleObj>
              </mc:Choice>
              <mc:Fallback>
                <p:oleObj name="Clip" r:id="rId2" imgW="3657600" imgH="2338200" progId="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208463"/>
                        <a:ext cx="8382000" cy="2049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3" name="WordArt 3"/>
          <p:cNvSpPr>
            <a:spLocks noChangeArrowheads="1" noChangeShapeType="1" noTextEdit="1"/>
          </p:cNvSpPr>
          <p:nvPr/>
        </p:nvSpPr>
        <p:spPr bwMode="auto">
          <a:xfrm>
            <a:off x="467544" y="1128737"/>
            <a:ext cx="8280920" cy="3020343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altLang="ko-KR" sz="48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333399"/>
                    </a:gs>
                    <a:gs pos="100000">
                      <a:schemeClr val="accent2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/>
                  </a:outerShdw>
                </a:effectLst>
                <a:latin typeface="Impact"/>
              </a:rPr>
              <a:t>Industry Analysis</a:t>
            </a:r>
            <a:endParaRPr lang="ko-KR" altLang="en-US" sz="48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333399"/>
                  </a:gs>
                  <a:gs pos="100000">
                    <a:schemeClr val="accent2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/>
                </a:outerShdw>
              </a:effectLst>
              <a:latin typeface="Impact"/>
            </a:endParaRPr>
          </a:p>
        </p:txBody>
      </p:sp>
    </p:spTree>
    <p:extLst>
      <p:ext uri="{BB962C8B-B14F-4D97-AF65-F5344CB8AC3E}">
        <p14:creationId xmlns:p14="http://schemas.microsoft.com/office/powerpoint/2010/main" val="346138976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74"/>
          <p:cNvGrpSpPr/>
          <p:nvPr/>
        </p:nvGrpSpPr>
        <p:grpSpPr>
          <a:xfrm>
            <a:off x="107504" y="1234852"/>
            <a:ext cx="8892480" cy="5544616"/>
            <a:chOff x="1187450" y="1125538"/>
            <a:chExt cx="6858000" cy="5257800"/>
          </a:xfrm>
        </p:grpSpPr>
        <p:sp>
          <p:nvSpPr>
            <p:cNvPr id="35" name="Oval 3"/>
            <p:cNvSpPr>
              <a:spLocks noChangeArrowheads="1"/>
            </p:cNvSpPr>
            <p:nvPr/>
          </p:nvSpPr>
          <p:spPr bwMode="auto">
            <a:xfrm>
              <a:off x="4019660" y="3411035"/>
              <a:ext cx="1055137" cy="8193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2000" b="0"/>
            </a:p>
          </p:txBody>
        </p:sp>
        <p:sp>
          <p:nvSpPr>
            <p:cNvPr id="36" name="Oval 4"/>
            <p:cNvSpPr>
              <a:spLocks noChangeArrowheads="1"/>
            </p:cNvSpPr>
            <p:nvPr/>
          </p:nvSpPr>
          <p:spPr bwMode="auto">
            <a:xfrm>
              <a:off x="2044700" y="1740086"/>
              <a:ext cx="5143500" cy="4096987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2000" b="0"/>
            </a:p>
          </p:txBody>
        </p:sp>
        <p:sp>
          <p:nvSpPr>
            <p:cNvPr id="37" name="Oval 5"/>
            <p:cNvSpPr>
              <a:spLocks noChangeArrowheads="1"/>
            </p:cNvSpPr>
            <p:nvPr/>
          </p:nvSpPr>
          <p:spPr bwMode="auto">
            <a:xfrm>
              <a:off x="1187450" y="1125538"/>
              <a:ext cx="6858000" cy="52578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2000" b="0"/>
            </a:p>
          </p:txBody>
        </p:sp>
        <p:sp>
          <p:nvSpPr>
            <p:cNvPr id="38" name="Text Box 6"/>
            <p:cNvSpPr txBox="1">
              <a:spLocks noChangeArrowheads="1"/>
            </p:cNvSpPr>
            <p:nvPr/>
          </p:nvSpPr>
          <p:spPr bwMode="auto">
            <a:xfrm>
              <a:off x="4215644" y="3587799"/>
              <a:ext cx="666403" cy="4377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TW" dirty="0">
                  <a:solidFill>
                    <a:srgbClr val="FF00FF"/>
                  </a:solidFill>
                  <a:ea typeface="PMingLiU" pitchFamily="18" charset="-120"/>
                </a:rPr>
                <a:t>Firm</a:t>
              </a:r>
            </a:p>
          </p:txBody>
        </p:sp>
        <p:sp>
          <p:nvSpPr>
            <p:cNvPr id="39" name="Text Box 7"/>
            <p:cNvSpPr txBox="1">
              <a:spLocks noChangeArrowheads="1"/>
            </p:cNvSpPr>
            <p:nvPr/>
          </p:nvSpPr>
          <p:spPr bwMode="auto">
            <a:xfrm>
              <a:off x="4034616" y="2075668"/>
              <a:ext cx="1027577" cy="2106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lnSpc>
                  <a:spcPts val="600"/>
                </a:lnSpc>
                <a:spcBef>
                  <a:spcPct val="50000"/>
                </a:spcBef>
              </a:pPr>
              <a:r>
                <a:rPr lang="en-US" altLang="zh-TW" dirty="0">
                  <a:solidFill>
                    <a:srgbClr val="FFFF00"/>
                  </a:solidFill>
                  <a:ea typeface="PMingLiU" pitchFamily="18" charset="-120"/>
                </a:rPr>
                <a:t>Industry</a:t>
              </a:r>
            </a:p>
          </p:txBody>
        </p:sp>
        <p:sp>
          <p:nvSpPr>
            <p:cNvPr id="40" name="Text Box 8"/>
            <p:cNvSpPr txBox="1">
              <a:spLocks noChangeArrowheads="1"/>
            </p:cNvSpPr>
            <p:nvPr/>
          </p:nvSpPr>
          <p:spPr bwMode="auto">
            <a:xfrm>
              <a:off x="2444750" y="2422917"/>
              <a:ext cx="1449435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TW" sz="2000" b="0" dirty="0">
                  <a:ea typeface="PMingLiU" pitchFamily="18" charset="-120"/>
                </a:rPr>
                <a:t>Competitors</a:t>
              </a:r>
            </a:p>
          </p:txBody>
        </p:sp>
        <p:sp>
          <p:nvSpPr>
            <p:cNvPr id="41" name="Text Box 9"/>
            <p:cNvSpPr txBox="1">
              <a:spLocks noChangeArrowheads="1"/>
            </p:cNvSpPr>
            <p:nvPr/>
          </p:nvSpPr>
          <p:spPr bwMode="auto">
            <a:xfrm>
              <a:off x="5963334" y="3488907"/>
              <a:ext cx="1279517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TW" sz="2000" b="0" dirty="0">
                  <a:ea typeface="PMingLiU" pitchFamily="18" charset="-120"/>
                </a:rPr>
                <a:t>Customers</a:t>
              </a:r>
            </a:p>
          </p:txBody>
        </p:sp>
        <p:sp>
          <p:nvSpPr>
            <p:cNvPr id="48" name="Text Box 10"/>
            <p:cNvSpPr txBox="1">
              <a:spLocks noChangeArrowheads="1"/>
            </p:cNvSpPr>
            <p:nvPr/>
          </p:nvSpPr>
          <p:spPr bwMode="auto">
            <a:xfrm>
              <a:off x="2020453" y="3411035"/>
              <a:ext cx="1151277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TW" sz="2000" b="0" dirty="0">
                  <a:ea typeface="PMingLiU" pitchFamily="18" charset="-120"/>
                </a:rPr>
                <a:t>Suppliers</a:t>
              </a:r>
            </a:p>
          </p:txBody>
        </p:sp>
        <p:sp>
          <p:nvSpPr>
            <p:cNvPr id="55" name="Text Box 11"/>
            <p:cNvSpPr txBox="1">
              <a:spLocks noChangeArrowheads="1"/>
            </p:cNvSpPr>
            <p:nvPr/>
          </p:nvSpPr>
          <p:spPr bwMode="auto">
            <a:xfrm>
              <a:off x="4882017" y="5195985"/>
              <a:ext cx="113685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TW" sz="2000" b="0" dirty="0">
                  <a:ea typeface="PMingLiU" pitchFamily="18" charset="-120"/>
                </a:rPr>
                <a:t>Creditors</a:t>
              </a:r>
            </a:p>
          </p:txBody>
        </p:sp>
        <p:sp>
          <p:nvSpPr>
            <p:cNvPr id="64" name="Text Box 12"/>
            <p:cNvSpPr txBox="1">
              <a:spLocks noChangeArrowheads="1"/>
            </p:cNvSpPr>
            <p:nvPr/>
          </p:nvSpPr>
          <p:spPr bwMode="auto">
            <a:xfrm>
              <a:off x="3992130" y="1398671"/>
              <a:ext cx="1067137" cy="2106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lnSpc>
                  <a:spcPts val="600"/>
                </a:lnSpc>
                <a:spcBef>
                  <a:spcPct val="50000"/>
                </a:spcBef>
              </a:pPr>
              <a:r>
                <a:rPr lang="en-US" altLang="zh-TW" sz="2000" b="0" dirty="0">
                  <a:solidFill>
                    <a:srgbClr val="FFFF00"/>
                  </a:solidFill>
                  <a:ea typeface="PMingLiU" pitchFamily="18" charset="-120"/>
                </a:rPr>
                <a:t> </a:t>
              </a:r>
              <a:r>
                <a:rPr lang="en-US" altLang="zh-TW" dirty="0">
                  <a:solidFill>
                    <a:srgbClr val="FFFF00"/>
                  </a:solidFill>
                  <a:ea typeface="PMingLiU" pitchFamily="18" charset="-120"/>
                </a:rPr>
                <a:t>General </a:t>
              </a:r>
            </a:p>
          </p:txBody>
        </p:sp>
        <p:sp>
          <p:nvSpPr>
            <p:cNvPr id="65" name="Text Box 13"/>
            <p:cNvSpPr txBox="1">
              <a:spLocks noChangeArrowheads="1"/>
            </p:cNvSpPr>
            <p:nvPr/>
          </p:nvSpPr>
          <p:spPr bwMode="auto">
            <a:xfrm>
              <a:off x="1587500" y="2203420"/>
              <a:ext cx="1223412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TW" sz="2000" b="0" dirty="0">
                  <a:ea typeface="PMingLiU" pitchFamily="18" charset="-120"/>
                </a:rPr>
                <a:t>Economic</a:t>
              </a:r>
            </a:p>
          </p:txBody>
        </p:sp>
        <p:sp>
          <p:nvSpPr>
            <p:cNvPr id="66" name="Text Box 14"/>
            <p:cNvSpPr txBox="1">
              <a:spLocks noChangeArrowheads="1"/>
            </p:cNvSpPr>
            <p:nvPr/>
          </p:nvSpPr>
          <p:spPr bwMode="auto">
            <a:xfrm>
              <a:off x="6272197" y="2218068"/>
              <a:ext cx="1579278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TW" sz="2000" b="0" dirty="0">
                  <a:ea typeface="PMingLiU" pitchFamily="18" charset="-120"/>
                </a:rPr>
                <a:t>Demographic</a:t>
              </a:r>
            </a:p>
          </p:txBody>
        </p:sp>
        <p:sp>
          <p:nvSpPr>
            <p:cNvPr id="67" name="Text Box 15"/>
            <p:cNvSpPr txBox="1">
              <a:spLocks noChangeArrowheads="1"/>
            </p:cNvSpPr>
            <p:nvPr/>
          </p:nvSpPr>
          <p:spPr bwMode="auto">
            <a:xfrm>
              <a:off x="1307256" y="4240021"/>
              <a:ext cx="824264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TW" sz="2000" b="0" dirty="0">
                  <a:ea typeface="PMingLiU" pitchFamily="18" charset="-120"/>
                </a:rPr>
                <a:t>Social</a:t>
              </a:r>
            </a:p>
          </p:txBody>
        </p:sp>
        <p:sp>
          <p:nvSpPr>
            <p:cNvPr id="68" name="Text Box 16"/>
            <p:cNvSpPr txBox="1">
              <a:spLocks noChangeArrowheads="1"/>
            </p:cNvSpPr>
            <p:nvPr/>
          </p:nvSpPr>
          <p:spPr bwMode="auto">
            <a:xfrm>
              <a:off x="5073650" y="5641813"/>
              <a:ext cx="1738313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altLang="zh-TW" sz="2000" b="0" dirty="0">
                  <a:ea typeface="PMingLiU" pitchFamily="18" charset="-120"/>
                </a:rPr>
                <a:t>Technological</a:t>
              </a:r>
            </a:p>
          </p:txBody>
        </p:sp>
        <p:sp>
          <p:nvSpPr>
            <p:cNvPr id="69" name="Text Box 17"/>
            <p:cNvSpPr txBox="1">
              <a:spLocks noChangeArrowheads="1"/>
            </p:cNvSpPr>
            <p:nvPr/>
          </p:nvSpPr>
          <p:spPr bwMode="auto">
            <a:xfrm>
              <a:off x="7018471" y="4171738"/>
              <a:ext cx="881973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TW" sz="2000" b="0" dirty="0">
                  <a:ea typeface="PMingLiU" pitchFamily="18" charset="-120"/>
                </a:rPr>
                <a:t>Global</a:t>
              </a:r>
            </a:p>
          </p:txBody>
        </p:sp>
        <p:sp>
          <p:nvSpPr>
            <p:cNvPr id="70" name="Text Box 18"/>
            <p:cNvSpPr txBox="1">
              <a:spLocks noChangeArrowheads="1"/>
            </p:cNvSpPr>
            <p:nvPr/>
          </p:nvSpPr>
          <p:spPr bwMode="auto">
            <a:xfrm>
              <a:off x="2596880" y="5665863"/>
              <a:ext cx="1505220" cy="30777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2000" b="0" dirty="0">
                  <a:ea typeface="PMingLiU" pitchFamily="18" charset="-120"/>
                </a:rPr>
                <a:t>Political/Legal</a:t>
              </a:r>
              <a:endParaRPr lang="en-GB" sz="2000" b="0" dirty="0">
                <a:ea typeface="PMingLiU" pitchFamily="18" charset="-120"/>
              </a:endParaRPr>
            </a:p>
          </p:txBody>
        </p:sp>
        <p:sp>
          <p:nvSpPr>
            <p:cNvPr id="71" name="Text Box 19"/>
            <p:cNvSpPr txBox="1">
              <a:spLocks noChangeArrowheads="1"/>
            </p:cNvSpPr>
            <p:nvPr/>
          </p:nvSpPr>
          <p:spPr bwMode="auto">
            <a:xfrm>
              <a:off x="5686424" y="4403128"/>
              <a:ext cx="1444626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TW" sz="2000" b="0" dirty="0">
                  <a:ea typeface="PMingLiU" pitchFamily="18" charset="-120"/>
                </a:rPr>
                <a:t>Labor union</a:t>
              </a:r>
            </a:p>
          </p:txBody>
        </p:sp>
        <p:sp>
          <p:nvSpPr>
            <p:cNvPr id="72" name="Text Box 20"/>
            <p:cNvSpPr txBox="1">
              <a:spLocks noChangeArrowheads="1"/>
            </p:cNvSpPr>
            <p:nvPr/>
          </p:nvSpPr>
          <p:spPr bwMode="auto">
            <a:xfrm>
              <a:off x="2101850" y="4410994"/>
              <a:ext cx="158569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TW" sz="2000" b="0" dirty="0">
                  <a:ea typeface="PMingLiU" pitchFamily="18" charset="-120"/>
                </a:rPr>
                <a:t>Stock holders</a:t>
              </a:r>
            </a:p>
          </p:txBody>
        </p:sp>
        <p:sp>
          <p:nvSpPr>
            <p:cNvPr id="73" name="Text Box 8"/>
            <p:cNvSpPr txBox="1">
              <a:spLocks noChangeArrowheads="1"/>
            </p:cNvSpPr>
            <p:nvPr/>
          </p:nvSpPr>
          <p:spPr bwMode="auto">
            <a:xfrm>
              <a:off x="5416550" y="2491200"/>
              <a:ext cx="1631922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TW" sz="2000" b="0" dirty="0">
                  <a:ea typeface="PMingLiU" pitchFamily="18" charset="-120"/>
                </a:rPr>
                <a:t>Technological</a:t>
              </a:r>
            </a:p>
          </p:txBody>
        </p:sp>
        <p:sp>
          <p:nvSpPr>
            <p:cNvPr id="74" name="Text Box 20"/>
            <p:cNvSpPr txBox="1">
              <a:spLocks noChangeArrowheads="1"/>
            </p:cNvSpPr>
            <p:nvPr/>
          </p:nvSpPr>
          <p:spPr bwMode="auto">
            <a:xfrm>
              <a:off x="3131124" y="5186396"/>
              <a:ext cx="1406155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TW" sz="2000" b="0" dirty="0">
                  <a:ea typeface="PMingLiU" pitchFamily="18" charset="-120"/>
                </a:rPr>
                <a:t>Distributors</a:t>
              </a:r>
            </a:p>
          </p:txBody>
        </p:sp>
      </p:grpSp>
      <p:sp>
        <p:nvSpPr>
          <p:cNvPr id="82" name="Rectangle 2"/>
          <p:cNvSpPr>
            <a:spLocks noChangeArrowheads="1"/>
          </p:cNvSpPr>
          <p:nvPr/>
        </p:nvSpPr>
        <p:spPr bwMode="auto">
          <a:xfrm>
            <a:off x="0" y="0"/>
            <a:ext cx="9144000" cy="1031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altLang="ko-KR" sz="3200" dirty="0">
                <a:solidFill>
                  <a:srgbClr val="FFC000"/>
                </a:solidFill>
                <a:ea typeface="굴림" pitchFamily="50" charset="-127"/>
                <a:cs typeface="Times New Roman" pitchFamily="18" charset="0"/>
              </a:rPr>
              <a:t>Industry vs. Market </a:t>
            </a:r>
            <a:endParaRPr lang="en-US" altLang="ko-KR" sz="3200" u="none" dirty="0">
              <a:solidFill>
                <a:srgbClr val="FFC000"/>
              </a:solidFill>
              <a:ea typeface="굴림" pitchFamily="50" charset="-127"/>
              <a:cs typeface="Times New Roman" pitchFamily="18" charset="0"/>
            </a:endParaRPr>
          </a:p>
        </p:txBody>
      </p:sp>
      <p:grpSp>
        <p:nvGrpSpPr>
          <p:cNvPr id="51" name="Group 50"/>
          <p:cNvGrpSpPr/>
          <p:nvPr/>
        </p:nvGrpSpPr>
        <p:grpSpPr>
          <a:xfrm>
            <a:off x="2481104" y="2675012"/>
            <a:ext cx="3915548" cy="2786296"/>
            <a:chOff x="2625120" y="2490498"/>
            <a:chExt cx="3915548" cy="3074449"/>
          </a:xfrm>
        </p:grpSpPr>
        <p:sp>
          <p:nvSpPr>
            <p:cNvPr id="52" name="Oval 4"/>
            <p:cNvSpPr>
              <a:spLocks noChangeArrowheads="1"/>
            </p:cNvSpPr>
            <p:nvPr/>
          </p:nvSpPr>
          <p:spPr bwMode="auto">
            <a:xfrm>
              <a:off x="2625120" y="2490498"/>
              <a:ext cx="3915548" cy="3039293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 sz="16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" name="Text Box 7"/>
            <p:cNvSpPr txBox="1">
              <a:spLocks noChangeArrowheads="1"/>
            </p:cNvSpPr>
            <p:nvPr/>
          </p:nvSpPr>
          <p:spPr bwMode="auto">
            <a:xfrm>
              <a:off x="4067944" y="2653210"/>
              <a:ext cx="1093569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TW" sz="2200" dirty="0">
                  <a:solidFill>
                    <a:srgbClr val="FFFF00"/>
                  </a:solidFill>
                  <a:ea typeface="PMingLiU" pitchFamily="18" charset="-120"/>
                  <a:cs typeface="Times New Roman" pitchFamily="18" charset="0"/>
                </a:rPr>
                <a:t>Market</a:t>
              </a:r>
              <a:endParaRPr lang="en-US" altLang="zh-TW" sz="2200" b="1" dirty="0">
                <a:solidFill>
                  <a:srgbClr val="FFFF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endParaRPr>
            </a:p>
          </p:txBody>
        </p:sp>
        <p:sp>
          <p:nvSpPr>
            <p:cNvPr id="54" name="Text Box 8"/>
            <p:cNvSpPr txBox="1">
              <a:spLocks noChangeArrowheads="1"/>
            </p:cNvSpPr>
            <p:nvPr/>
          </p:nvSpPr>
          <p:spPr bwMode="auto">
            <a:xfrm>
              <a:off x="3015620" y="3051455"/>
              <a:ext cx="1281376" cy="3735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TW" sz="1600" b="0" dirty="0">
                  <a:latin typeface="Times New Roman" pitchFamily="18" charset="0"/>
                  <a:ea typeface="PMingLiU" pitchFamily="18" charset="-120"/>
                  <a:cs typeface="Times New Roman" pitchFamily="18" charset="0"/>
                </a:rPr>
                <a:t>Size &amp; Trend</a:t>
              </a:r>
            </a:p>
          </p:txBody>
        </p:sp>
        <p:sp>
          <p:nvSpPr>
            <p:cNvPr id="56" name="Text Box 9"/>
            <p:cNvSpPr txBox="1">
              <a:spLocks noChangeArrowheads="1"/>
            </p:cNvSpPr>
            <p:nvPr/>
          </p:nvSpPr>
          <p:spPr bwMode="auto">
            <a:xfrm>
              <a:off x="3820239" y="5125581"/>
              <a:ext cx="1622560" cy="439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lnSpc>
                  <a:spcPts val="600"/>
                </a:lnSpc>
                <a:spcBef>
                  <a:spcPct val="50000"/>
                </a:spcBef>
              </a:pPr>
              <a:r>
                <a:rPr lang="en-US" altLang="zh-TW" sz="1600" b="0" dirty="0">
                  <a:latin typeface="Times New Roman" pitchFamily="18" charset="0"/>
                  <a:ea typeface="PMingLiU" pitchFamily="18" charset="-120"/>
                  <a:cs typeface="Times New Roman" pitchFamily="18" charset="0"/>
                </a:rPr>
                <a:t>Demand Driving </a:t>
              </a:r>
            </a:p>
            <a:p>
              <a:pPr algn="ctr">
                <a:lnSpc>
                  <a:spcPts val="600"/>
                </a:lnSpc>
                <a:spcBef>
                  <a:spcPct val="50000"/>
                </a:spcBef>
              </a:pPr>
              <a:r>
                <a:rPr lang="en-US" altLang="zh-TW" sz="1600" b="0" dirty="0">
                  <a:latin typeface="Times New Roman" pitchFamily="18" charset="0"/>
                  <a:ea typeface="PMingLiU" pitchFamily="18" charset="-120"/>
                  <a:cs typeface="Times New Roman" pitchFamily="18" charset="0"/>
                </a:rPr>
                <a:t>Forces</a:t>
              </a:r>
            </a:p>
          </p:txBody>
        </p:sp>
        <p:sp>
          <p:nvSpPr>
            <p:cNvPr id="57" name="Text Box 10"/>
            <p:cNvSpPr txBox="1">
              <a:spLocks noChangeArrowheads="1"/>
            </p:cNvSpPr>
            <p:nvPr/>
          </p:nvSpPr>
          <p:spPr bwMode="auto">
            <a:xfrm>
              <a:off x="5403361" y="3971818"/>
              <a:ext cx="1093569" cy="5384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lnSpc>
                  <a:spcPts val="1000"/>
                </a:lnSpc>
                <a:spcBef>
                  <a:spcPct val="50000"/>
                </a:spcBef>
              </a:pPr>
              <a:r>
                <a:rPr lang="en-US" altLang="zh-TW" sz="1600" b="0" dirty="0">
                  <a:latin typeface="Times New Roman" pitchFamily="18" charset="0"/>
                  <a:ea typeface="PMingLiU" pitchFamily="18" charset="-120"/>
                  <a:cs typeface="Times New Roman" pitchFamily="18" charset="0"/>
                </a:rPr>
                <a:t>Marketing </a:t>
              </a:r>
            </a:p>
            <a:p>
              <a:pPr algn="ctr">
                <a:lnSpc>
                  <a:spcPts val="1000"/>
                </a:lnSpc>
                <a:spcBef>
                  <a:spcPct val="50000"/>
                </a:spcBef>
              </a:pPr>
              <a:r>
                <a:rPr lang="en-US" altLang="zh-TW" sz="1600" b="0" dirty="0">
                  <a:ea typeface="PMingLiU" pitchFamily="18" charset="-120"/>
                  <a:cs typeface="Times New Roman" pitchFamily="18" charset="0"/>
                </a:rPr>
                <a:t>Infra</a:t>
              </a:r>
              <a:endParaRPr lang="en-US" altLang="zh-TW" sz="1600" b="0" dirty="0">
                <a:latin typeface="Times New Roman" pitchFamily="18" charset="0"/>
                <a:ea typeface="PMingLiU" pitchFamily="18" charset="-120"/>
                <a:cs typeface="Times New Roman" pitchFamily="18" charset="0"/>
              </a:endParaRPr>
            </a:p>
          </p:txBody>
        </p:sp>
        <p:sp>
          <p:nvSpPr>
            <p:cNvPr id="58" name="Text Box 19"/>
            <p:cNvSpPr txBox="1">
              <a:spLocks noChangeArrowheads="1"/>
            </p:cNvSpPr>
            <p:nvPr/>
          </p:nvSpPr>
          <p:spPr bwMode="auto">
            <a:xfrm>
              <a:off x="5259346" y="3483502"/>
              <a:ext cx="1202573" cy="3735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TW" sz="1600" b="0" dirty="0">
                  <a:ea typeface="PMingLiU" pitchFamily="18" charset="-120"/>
                  <a:cs typeface="Times New Roman" pitchFamily="18" charset="0"/>
                </a:rPr>
                <a:t>Competitors</a:t>
              </a:r>
              <a:endParaRPr lang="en-US" altLang="zh-TW" sz="1600" b="0" dirty="0">
                <a:latin typeface="Times New Roman" pitchFamily="18" charset="0"/>
                <a:ea typeface="PMingLiU" pitchFamily="18" charset="-120"/>
                <a:cs typeface="Times New Roman" pitchFamily="18" charset="0"/>
              </a:endParaRPr>
            </a:p>
          </p:txBody>
        </p:sp>
        <p:sp>
          <p:nvSpPr>
            <p:cNvPr id="59" name="Text Box 20"/>
            <p:cNvSpPr txBox="1">
              <a:spLocks noChangeArrowheads="1"/>
            </p:cNvSpPr>
            <p:nvPr/>
          </p:nvSpPr>
          <p:spPr bwMode="auto">
            <a:xfrm>
              <a:off x="4760443" y="4563622"/>
              <a:ext cx="1491113" cy="3735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TW" sz="1600" b="0" dirty="0">
                  <a:latin typeface="Times New Roman" pitchFamily="18" charset="0"/>
                  <a:ea typeface="PMingLiU" pitchFamily="18" charset="-120"/>
                  <a:cs typeface="Times New Roman" pitchFamily="18" charset="0"/>
                </a:rPr>
                <a:t>Demand Nature</a:t>
              </a:r>
            </a:p>
          </p:txBody>
        </p:sp>
        <p:sp>
          <p:nvSpPr>
            <p:cNvPr id="60" name="Text Box 8"/>
            <p:cNvSpPr txBox="1">
              <a:spLocks noChangeArrowheads="1"/>
            </p:cNvSpPr>
            <p:nvPr/>
          </p:nvSpPr>
          <p:spPr bwMode="auto">
            <a:xfrm>
              <a:off x="4991821" y="3084097"/>
              <a:ext cx="1308371" cy="3735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TW" sz="1600" b="0" dirty="0">
                  <a:latin typeface="Times New Roman" pitchFamily="18" charset="0"/>
                  <a:ea typeface="PMingLiU" pitchFamily="18" charset="-120"/>
                  <a:cs typeface="Times New Roman" pitchFamily="18" charset="0"/>
                </a:rPr>
                <a:t>Unmet Needs</a:t>
              </a:r>
            </a:p>
          </p:txBody>
        </p:sp>
        <p:sp>
          <p:nvSpPr>
            <p:cNvPr id="61" name="Text Box 11"/>
            <p:cNvSpPr txBox="1">
              <a:spLocks noChangeArrowheads="1"/>
            </p:cNvSpPr>
            <p:nvPr/>
          </p:nvSpPr>
          <p:spPr bwMode="auto">
            <a:xfrm>
              <a:off x="2799852" y="4059566"/>
              <a:ext cx="869149" cy="3735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TW" sz="1600" b="0" dirty="0">
                  <a:latin typeface="Times New Roman" pitchFamily="18" charset="0"/>
                  <a:ea typeface="PMingLiU" pitchFamily="18" charset="-120"/>
                  <a:cs typeface="Times New Roman" pitchFamily="18" charset="0"/>
                </a:rPr>
                <a:t>Channel</a:t>
              </a:r>
            </a:p>
          </p:txBody>
        </p:sp>
        <p:sp>
          <p:nvSpPr>
            <p:cNvPr id="62" name="Text Box 8"/>
            <p:cNvSpPr txBox="1">
              <a:spLocks noChangeArrowheads="1"/>
            </p:cNvSpPr>
            <p:nvPr/>
          </p:nvSpPr>
          <p:spPr bwMode="auto">
            <a:xfrm>
              <a:off x="3021487" y="4563622"/>
              <a:ext cx="1316386" cy="3735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TW" sz="1600" b="0" dirty="0">
                  <a:ea typeface="PMingLiU" pitchFamily="18" charset="-120"/>
                  <a:cs typeface="Times New Roman" pitchFamily="18" charset="0"/>
                </a:rPr>
                <a:t>Segmentation</a:t>
              </a:r>
              <a:endParaRPr lang="en-US" altLang="zh-TW" sz="1600" b="0" dirty="0">
                <a:latin typeface="Times New Roman" pitchFamily="18" charset="0"/>
                <a:ea typeface="PMingLiU" pitchFamily="18" charset="-120"/>
                <a:cs typeface="Times New Roman" pitchFamily="18" charset="0"/>
              </a:endParaRPr>
            </a:p>
          </p:txBody>
        </p:sp>
        <p:sp>
          <p:nvSpPr>
            <p:cNvPr id="63" name="Text Box 8"/>
            <p:cNvSpPr txBox="1">
              <a:spLocks noChangeArrowheads="1"/>
            </p:cNvSpPr>
            <p:nvPr/>
          </p:nvSpPr>
          <p:spPr bwMode="auto">
            <a:xfrm>
              <a:off x="2915816" y="3584535"/>
              <a:ext cx="559769" cy="3735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TW" sz="1600" b="0" dirty="0">
                  <a:ea typeface="PMingLiU" pitchFamily="18" charset="-120"/>
                  <a:cs typeface="Times New Roman" pitchFamily="18" charset="0"/>
                </a:rPr>
                <a:t>PLC</a:t>
              </a:r>
              <a:endParaRPr lang="en-US" altLang="zh-TW" sz="1600" b="0" dirty="0">
                <a:latin typeface="Times New Roman" pitchFamily="18" charset="0"/>
                <a:ea typeface="PMingLiU" pitchFamily="18" charset="-120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230922"/>
            <a:ext cx="9144000" cy="590550"/>
          </a:xfrm>
          <a:prstGeom prst="rect">
            <a:avLst/>
          </a:prstGeom>
        </p:spPr>
        <p:txBody>
          <a:bodyPr/>
          <a:lstStyle>
            <a:lvl1pPr algn="ctr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66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66"/>
                </a:solidFill>
                <a:latin typeface="Verdana" pitchFamily="34" charset="0"/>
              </a:defRPr>
            </a:lvl2pPr>
            <a:lvl3pPr algn="ctr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66"/>
                </a:solidFill>
                <a:latin typeface="Verdana" pitchFamily="34" charset="0"/>
              </a:defRPr>
            </a:lvl3pPr>
            <a:lvl4pPr algn="ctr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66"/>
                </a:solidFill>
                <a:latin typeface="Verdana" pitchFamily="34" charset="0"/>
              </a:defRPr>
            </a:lvl4pPr>
            <a:lvl5pPr algn="ctr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66"/>
                </a:solidFill>
                <a:latin typeface="Verdana" pitchFamily="34" charset="0"/>
              </a:defRPr>
            </a:lvl5pPr>
            <a:lvl6pPr marL="4572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66"/>
                </a:solidFill>
                <a:latin typeface="Verdana" pitchFamily="34" charset="0"/>
              </a:defRPr>
            </a:lvl6pPr>
            <a:lvl7pPr marL="9144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66"/>
                </a:solidFill>
                <a:latin typeface="Verdana" pitchFamily="34" charset="0"/>
              </a:defRPr>
            </a:lvl7pPr>
            <a:lvl8pPr marL="1371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66"/>
                </a:solidFill>
                <a:latin typeface="Verdana" pitchFamily="34" charset="0"/>
              </a:defRPr>
            </a:lvl8pPr>
            <a:lvl9pPr marL="18288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66"/>
                </a:solidFill>
                <a:latin typeface="Verdana" pitchFamily="34" charset="0"/>
              </a:defRPr>
            </a:lvl9pPr>
          </a:lstStyle>
          <a:p>
            <a:pPr>
              <a:defRPr/>
            </a:pPr>
            <a:r>
              <a:rPr lang="en-US" altLang="ko-KR" dirty="0">
                <a:solidFill>
                  <a:srgbClr val="FFC000"/>
                </a:solidFill>
                <a:latin typeface="Times New Roman" panose="02020603050405020304" pitchFamily="18" charset="0"/>
                <a:ea typeface="굴림" pitchFamily="50" charset="-127"/>
                <a:cs typeface="Times New Roman" panose="02020603050405020304" pitchFamily="18" charset="0"/>
              </a:rPr>
              <a:t>INDUSTRY ANALYSIS FRAMEWORK</a:t>
            </a:r>
            <a:endParaRPr lang="ko-KR" altLang="en-US" dirty="0">
              <a:solidFill>
                <a:srgbClr val="FFC000"/>
              </a:solidFill>
              <a:latin typeface="Times New Roman" panose="02020603050405020304" pitchFamily="18" charset="0"/>
              <a:ea typeface="굴림" pitchFamily="50" charset="-127"/>
              <a:cs typeface="Times New Roman" panose="02020603050405020304" pitchFamily="18" charset="0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759769" y="1281428"/>
            <a:ext cx="7628656" cy="5315924"/>
            <a:chOff x="759769" y="551793"/>
            <a:chExt cx="7628656" cy="5888875"/>
          </a:xfrm>
        </p:grpSpPr>
        <p:sp>
          <p:nvSpPr>
            <p:cNvPr id="4" name="타원 3"/>
            <p:cNvSpPr/>
            <p:nvPr/>
          </p:nvSpPr>
          <p:spPr bwMode="auto">
            <a:xfrm>
              <a:off x="759769" y="551793"/>
              <a:ext cx="7628656" cy="5888875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" name="타원 4"/>
            <p:cNvSpPr/>
            <p:nvPr/>
          </p:nvSpPr>
          <p:spPr bwMode="auto">
            <a:xfrm>
              <a:off x="1556173" y="2581995"/>
              <a:ext cx="5976664" cy="1944216"/>
            </a:xfrm>
            <a:prstGeom prst="ellipse">
              <a:avLst/>
            </a:prstGeom>
            <a:solidFill>
              <a:schemeClr val="tx1">
                <a:lumMod val="75000"/>
              </a:schemeClr>
            </a:solidFill>
            <a:ln w="9525" cap="flat" cmpd="sng" algn="ctr">
              <a:solidFill>
                <a:srgbClr val="FFFF66"/>
              </a:solidFill>
              <a:prstDash val="lg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normalizeH="0" baseline="0">
                <a:ln>
                  <a:noFill/>
                </a:ln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Arial" charset="0"/>
              </a:endParaRPr>
            </a:p>
          </p:txBody>
        </p:sp>
        <p:sp>
          <p:nvSpPr>
            <p:cNvPr id="7" name="Oval 11"/>
            <p:cNvSpPr>
              <a:spLocks noChangeArrowheads="1"/>
            </p:cNvSpPr>
            <p:nvPr/>
          </p:nvSpPr>
          <p:spPr bwMode="auto">
            <a:xfrm>
              <a:off x="3624848" y="3130425"/>
              <a:ext cx="1786259" cy="760412"/>
            </a:xfrm>
            <a:prstGeom prst="ellipse">
              <a:avLst/>
            </a:prstGeom>
            <a:noFill/>
            <a:ln w="9525">
              <a:solidFill>
                <a:srgbClr val="FFFF66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3771388" y="3306394"/>
              <a:ext cx="1550425" cy="4432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Competition</a:t>
              </a:r>
            </a:p>
          </p:txBody>
        </p:sp>
        <p:sp>
          <p:nvSpPr>
            <p:cNvPr id="9" name="Oval 11"/>
            <p:cNvSpPr>
              <a:spLocks noChangeArrowheads="1"/>
            </p:cNvSpPr>
            <p:nvPr/>
          </p:nvSpPr>
          <p:spPr bwMode="auto">
            <a:xfrm>
              <a:off x="5660628" y="3113542"/>
              <a:ext cx="1608956" cy="760412"/>
            </a:xfrm>
            <a:prstGeom prst="ellipse">
              <a:avLst/>
            </a:prstGeom>
            <a:noFill/>
            <a:ln w="9525">
              <a:solidFill>
                <a:srgbClr val="FFFF66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" name="Oval 11"/>
            <p:cNvSpPr>
              <a:spLocks noChangeArrowheads="1"/>
            </p:cNvSpPr>
            <p:nvPr/>
          </p:nvSpPr>
          <p:spPr bwMode="auto">
            <a:xfrm>
              <a:off x="1844204" y="3113542"/>
              <a:ext cx="1584176" cy="760412"/>
            </a:xfrm>
            <a:prstGeom prst="ellipse">
              <a:avLst/>
            </a:prstGeom>
            <a:noFill/>
            <a:ln w="9525">
              <a:solidFill>
                <a:srgbClr val="FFFF66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175388" y="3283682"/>
              <a:ext cx="954108" cy="4432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Supply</a:t>
              </a:r>
              <a:endParaRPr lang="ko-KR" altLang="en-US" sz="2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940025" y="3290548"/>
              <a:ext cx="1111203" cy="4432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Demand</a:t>
              </a:r>
              <a:endParaRPr lang="ko-KR" altLang="en-US" sz="2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339480" y="3915542"/>
              <a:ext cx="2400016" cy="5114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Industry Factors</a:t>
              </a:r>
              <a:endParaRPr lang="ko-KR" alt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424064" y="768440"/>
              <a:ext cx="214033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>
                  <a:latin typeface="Times New Roman" pitchFamily="18" charset="0"/>
                  <a:cs typeface="Times New Roman" pitchFamily="18" charset="0"/>
                </a:rPr>
                <a:t>General Factors</a:t>
              </a:r>
              <a:endParaRPr lang="ko-KR" altLang="en-US" sz="24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" name="직사각형 13"/>
            <p:cNvSpPr/>
            <p:nvPr/>
          </p:nvSpPr>
          <p:spPr bwMode="auto">
            <a:xfrm>
              <a:off x="1919648" y="1539900"/>
              <a:ext cx="1368152" cy="542149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992017" y="1610919"/>
              <a:ext cx="12234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000" dirty="0">
                  <a:latin typeface="Times New Roman" pitchFamily="18" charset="0"/>
                  <a:cs typeface="Times New Roman" pitchFamily="18" charset="0"/>
                </a:rPr>
                <a:t>Economic</a:t>
              </a:r>
              <a:endParaRPr lang="ko-KR" altLang="en-US" sz="2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" name="직사각형 20"/>
            <p:cNvSpPr/>
            <p:nvPr/>
          </p:nvSpPr>
          <p:spPr bwMode="auto">
            <a:xfrm>
              <a:off x="3817427" y="1539900"/>
              <a:ext cx="1368152" cy="542149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983571" y="1610919"/>
              <a:ext cx="103586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000" dirty="0">
                  <a:latin typeface="Times New Roman" pitchFamily="18" charset="0"/>
                  <a:cs typeface="Times New Roman" pitchFamily="18" charset="0"/>
                </a:rPr>
                <a:t>Political</a:t>
              </a:r>
              <a:endParaRPr lang="ko-KR" altLang="en-US" sz="2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" name="직사각형 22"/>
            <p:cNvSpPr/>
            <p:nvPr/>
          </p:nvSpPr>
          <p:spPr bwMode="auto">
            <a:xfrm>
              <a:off x="5717721" y="1539900"/>
              <a:ext cx="1368152" cy="542149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627388" y="1610919"/>
              <a:ext cx="154882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000" dirty="0">
                  <a:latin typeface="Times New Roman" pitchFamily="18" charset="0"/>
                  <a:cs typeface="Times New Roman" pitchFamily="18" charset="0"/>
                </a:rPr>
                <a:t>Sociocultural</a:t>
              </a:r>
              <a:endParaRPr lang="ko-KR" altLang="en-US" sz="2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1984873" y="5013176"/>
              <a:ext cx="1368152" cy="542149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080614" y="5084195"/>
              <a:ext cx="117666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000" dirty="0">
                  <a:latin typeface="Times New Roman" pitchFamily="18" charset="0"/>
                  <a:cs typeface="Times New Roman" pitchFamily="18" charset="0"/>
                </a:rPr>
                <a:t>Technical</a:t>
              </a:r>
              <a:endParaRPr lang="ko-KR" altLang="en-US" sz="2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3882652" y="5013176"/>
              <a:ext cx="1368152" cy="542149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125740" y="5084195"/>
              <a:ext cx="88197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000" dirty="0">
                  <a:latin typeface="Times New Roman" pitchFamily="18" charset="0"/>
                  <a:cs typeface="Times New Roman" pitchFamily="18" charset="0"/>
                </a:rPr>
                <a:t>Global</a:t>
              </a:r>
              <a:endParaRPr lang="ko-KR" altLang="en-US" sz="2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5782946" y="5013176"/>
              <a:ext cx="1368152" cy="542149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082941" y="5084195"/>
              <a:ext cx="76815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000" dirty="0">
                  <a:latin typeface="Times New Roman" pitchFamily="18" charset="0"/>
                  <a:cs typeface="Times New Roman" pitchFamily="18" charset="0"/>
                </a:rPr>
                <a:t>Legal</a:t>
              </a:r>
              <a:endParaRPr lang="ko-KR" altLang="en-US" sz="2000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18" name="직선 화살표 연결선 17"/>
            <p:cNvCxnSpPr/>
            <p:nvPr/>
          </p:nvCxnSpPr>
          <p:spPr bwMode="auto">
            <a:xfrm>
              <a:off x="2603723" y="2082049"/>
              <a:ext cx="312093" cy="60566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34" name="직선 화살표 연결선 33"/>
            <p:cNvCxnSpPr/>
            <p:nvPr/>
          </p:nvCxnSpPr>
          <p:spPr bwMode="auto">
            <a:xfrm flipH="1">
              <a:off x="6082941" y="2082049"/>
              <a:ext cx="384081" cy="60566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38" name="직선 화살표 연결선 37"/>
            <p:cNvCxnSpPr/>
            <p:nvPr/>
          </p:nvCxnSpPr>
          <p:spPr bwMode="auto">
            <a:xfrm>
              <a:off x="4471273" y="2082049"/>
              <a:ext cx="11206" cy="49974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41" name="직선 화살표 연결선 40"/>
            <p:cNvCxnSpPr/>
            <p:nvPr/>
          </p:nvCxnSpPr>
          <p:spPr bwMode="auto">
            <a:xfrm flipV="1">
              <a:off x="2668949" y="4365104"/>
              <a:ext cx="246867" cy="64807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43" name="직선 화살표 연결선 42"/>
            <p:cNvCxnSpPr>
              <a:stCxn id="27" idx="0"/>
            </p:cNvCxnSpPr>
            <p:nvPr/>
          </p:nvCxnSpPr>
          <p:spPr bwMode="auto">
            <a:xfrm flipH="1" flipV="1">
              <a:off x="4546600" y="4526005"/>
              <a:ext cx="20128" cy="48717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46" name="직선 화살표 연결선 45"/>
            <p:cNvCxnSpPr>
              <a:stCxn id="32" idx="0"/>
            </p:cNvCxnSpPr>
            <p:nvPr/>
          </p:nvCxnSpPr>
          <p:spPr bwMode="auto">
            <a:xfrm flipH="1" flipV="1">
              <a:off x="6156176" y="4365103"/>
              <a:ext cx="310846" cy="64807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38755513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-6032" y="246162"/>
            <a:ext cx="9144000" cy="59055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ko-KR" sz="32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굴림" pitchFamily="50" charset="-127"/>
                <a:cs typeface="Times New Roman" panose="02020603050405020304" pitchFamily="18" charset="0"/>
              </a:rPr>
              <a:t>INDUSTRY ANALYSIS </a:t>
            </a:r>
            <a:endParaRPr lang="ko-KR" altLang="en-US" sz="32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굴림" pitchFamily="50" charset="-127"/>
              <a:cs typeface="Times New Roman" panose="02020603050405020304" pitchFamily="18" charset="0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0" y="1343744"/>
            <a:ext cx="8047112" cy="5181600"/>
          </a:xfrm>
          <a:noFill/>
          <a:ln w="12700" cap="flat">
            <a:prstDash val="solid"/>
          </a:ln>
        </p:spPr>
        <p:txBody>
          <a:bodyPr/>
          <a:lstStyle/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ko-KR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•  Boundary and Segments Analysis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ko-KR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•  Industry S</a:t>
            </a:r>
            <a:r>
              <a:rPr lang="en-US" altLang="ko-KR" b="0" dirty="0">
                <a:solidFill>
                  <a:schemeClr val="tx1"/>
                </a:solidFill>
                <a:latin typeface="Times New Roman" pitchFamily="18" charset="0"/>
              </a:rPr>
              <a:t>tructural Analysis 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ko-KR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•  </a:t>
            </a:r>
            <a:r>
              <a:rPr lang="en-US" altLang="ko-KR" b="0" dirty="0">
                <a:solidFill>
                  <a:schemeClr val="tx1"/>
                </a:solidFill>
                <a:latin typeface="Times New Roman" pitchFamily="18" charset="0"/>
              </a:rPr>
              <a:t>Strategic Group Analysis</a:t>
            </a:r>
          </a:p>
          <a:p>
            <a:pPr>
              <a:lnSpc>
                <a:spcPct val="120000"/>
              </a:lnSpc>
              <a:buNone/>
            </a:pPr>
            <a:r>
              <a:rPr lang="en-US" altLang="ko-KR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•  </a:t>
            </a:r>
            <a:r>
              <a:rPr lang="en-US" altLang="ko-KR" b="0" dirty="0">
                <a:solidFill>
                  <a:schemeClr val="tx1"/>
                </a:solidFill>
                <a:latin typeface="Times New Roman" pitchFamily="18" charset="0"/>
              </a:rPr>
              <a:t>Competitor Analysis</a:t>
            </a:r>
          </a:p>
          <a:p>
            <a:pPr>
              <a:lnSpc>
                <a:spcPct val="120000"/>
              </a:lnSpc>
              <a:buNone/>
            </a:pPr>
            <a:r>
              <a:rPr lang="en-US" altLang="ko-KR" b="0" dirty="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en-US" altLang="ko-KR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•  Technological Trend Analysis</a:t>
            </a:r>
            <a:endParaRPr lang="en-US" altLang="ko-KR" b="0" dirty="0">
              <a:solidFill>
                <a:schemeClr val="tx1"/>
              </a:solidFill>
              <a:latin typeface="Times New Roman" pitchFamily="18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altLang="ko-KR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•  </a:t>
            </a:r>
            <a:r>
              <a:rPr lang="en-US" altLang="ko-KR" b="0" dirty="0">
                <a:solidFill>
                  <a:schemeClr val="tx1"/>
                </a:solidFill>
                <a:latin typeface="Times New Roman" pitchFamily="18" charset="0"/>
              </a:rPr>
              <a:t>Industry Economic Characteristics Analysis</a:t>
            </a:r>
          </a:p>
          <a:p>
            <a:pPr>
              <a:lnSpc>
                <a:spcPct val="120000"/>
              </a:lnSpc>
              <a:buNone/>
            </a:pPr>
            <a:r>
              <a:rPr lang="en-US" altLang="ko-KR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•  </a:t>
            </a:r>
            <a:r>
              <a:rPr lang="en-US" altLang="ko-KR" b="0" dirty="0">
                <a:solidFill>
                  <a:schemeClr val="tx1"/>
                </a:solidFill>
                <a:latin typeface="Times New Roman" pitchFamily="18" charset="0"/>
              </a:rPr>
              <a:t>Driving Forces Analysis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ko-KR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•  </a:t>
            </a:r>
            <a:r>
              <a:rPr lang="en-US" altLang="ko-KR" b="0" dirty="0">
                <a:solidFill>
                  <a:schemeClr val="tx1"/>
                </a:solidFill>
                <a:latin typeface="Times New Roman" pitchFamily="18" charset="0"/>
              </a:rPr>
              <a:t>Key Success Factors Analysis</a:t>
            </a:r>
          </a:p>
        </p:txBody>
      </p:sp>
    </p:spTree>
    <p:extLst>
      <p:ext uri="{BB962C8B-B14F-4D97-AF65-F5344CB8AC3E}">
        <p14:creationId xmlns:p14="http://schemas.microsoft.com/office/powerpoint/2010/main" val="56614378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noFill/>
        </p:spPr>
        <p:txBody>
          <a:bodyPr/>
          <a:lstStyle/>
          <a:p>
            <a:pPr algn="ctr" latinLnBrk="1">
              <a:defRPr/>
            </a:pPr>
            <a:endParaRPr kumimoji="1" lang="en-US" altLang="ko-KR" sz="3600" dirty="0">
              <a:solidFill>
                <a:srgbClr val="FFC000"/>
              </a:solidFill>
              <a:ea typeface="굴림" pitchFamily="50" charset="-127"/>
              <a:cs typeface="Times New Roman" pitchFamily="18" charset="0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3570486" y="1427311"/>
            <a:ext cx="1752600" cy="762000"/>
          </a:xfrm>
          <a:prstGeom prst="rect">
            <a:avLst/>
          </a:prstGeom>
          <a:solidFill>
            <a:srgbClr val="FFFF00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latinLnBrk="1"/>
            <a:endParaRPr kumimoji="1" lang="en-US" sz="2200" b="0">
              <a:solidFill>
                <a:srgbClr val="B1E2FB"/>
              </a:solidFill>
              <a:ea typeface="굴림" pitchFamily="50" charset="-127"/>
              <a:cs typeface="Times New Roman" pitchFamily="18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427611" y="2722711"/>
            <a:ext cx="2057400" cy="23622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latinLnBrk="1"/>
            <a:endParaRPr kumimoji="1" lang="en-US" sz="2200" b="0">
              <a:solidFill>
                <a:srgbClr val="B1E2FB"/>
              </a:solidFill>
              <a:ea typeface="굴림" pitchFamily="50" charset="-127"/>
              <a:cs typeface="Times New Roman" pitchFamily="18" charset="0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835223" y="3587899"/>
            <a:ext cx="1700213" cy="576262"/>
          </a:xfrm>
          <a:prstGeom prst="rect">
            <a:avLst/>
          </a:prstGeom>
          <a:solidFill>
            <a:srgbClr val="FFFF00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latinLnBrk="1"/>
            <a:endParaRPr kumimoji="1" lang="en-US" sz="2200" b="0">
              <a:solidFill>
                <a:srgbClr val="B1E2FB"/>
              </a:solidFill>
              <a:ea typeface="굴림" pitchFamily="50" charset="-127"/>
              <a:cs typeface="Times New Roman" pitchFamily="18" charset="0"/>
            </a:endParaRP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6444208" y="3633936"/>
            <a:ext cx="1524000" cy="533400"/>
          </a:xfrm>
          <a:prstGeom prst="rect">
            <a:avLst/>
          </a:prstGeom>
          <a:solidFill>
            <a:srgbClr val="FFFF00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latinLnBrk="1"/>
            <a:endParaRPr kumimoji="1" lang="en-US" sz="2200" b="0">
              <a:solidFill>
                <a:srgbClr val="B1E2FB"/>
              </a:solidFill>
              <a:ea typeface="굴림" pitchFamily="50" charset="-127"/>
              <a:cs typeface="Times New Roman" pitchFamily="18" charset="0"/>
            </a:endParaRPr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3499048" y="5661248"/>
            <a:ext cx="1937048" cy="762000"/>
          </a:xfrm>
          <a:prstGeom prst="rect">
            <a:avLst/>
          </a:prstGeom>
          <a:solidFill>
            <a:srgbClr val="FFFF00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latinLnBrk="1"/>
            <a:endParaRPr kumimoji="1" lang="en-US" sz="2200" b="0">
              <a:solidFill>
                <a:srgbClr val="B1E2FB"/>
              </a:solidFill>
              <a:ea typeface="굴림" pitchFamily="50" charset="-127"/>
              <a:cs typeface="Times New Roman" pitchFamily="18" charset="0"/>
            </a:endParaRPr>
          </a:p>
        </p:txBody>
      </p:sp>
      <p:sp>
        <p:nvSpPr>
          <p:cNvPr id="12" name="Text Box 8"/>
          <p:cNvSpPr txBox="1">
            <a:spLocks noChangeArrowheads="1"/>
          </p:cNvSpPr>
          <p:nvPr/>
        </p:nvSpPr>
        <p:spPr bwMode="auto">
          <a:xfrm>
            <a:off x="3406486" y="5872842"/>
            <a:ext cx="2037738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latinLnBrk="1">
              <a:spcBef>
                <a:spcPct val="50000"/>
              </a:spcBef>
            </a:pPr>
            <a:r>
              <a:rPr kumimoji="1" lang="en-US" altLang="zh-TW" sz="2200" b="0">
                <a:solidFill>
                  <a:srgbClr val="B1E2FB"/>
                </a:solidFill>
                <a:ea typeface="PMingLiU" pitchFamily="18" charset="-120"/>
                <a:cs typeface="Times New Roman" pitchFamily="18" charset="0"/>
              </a:rPr>
              <a:t>SUBSTITUTES</a:t>
            </a:r>
          </a:p>
        </p:txBody>
      </p:sp>
      <p:sp>
        <p:nvSpPr>
          <p:cNvPr id="13" name="Text Box 9"/>
          <p:cNvSpPr txBox="1">
            <a:spLocks noChangeArrowheads="1"/>
          </p:cNvSpPr>
          <p:nvPr/>
        </p:nvSpPr>
        <p:spPr bwMode="auto">
          <a:xfrm>
            <a:off x="6542552" y="3693130"/>
            <a:ext cx="1297151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latinLnBrk="1">
              <a:spcBef>
                <a:spcPct val="50000"/>
              </a:spcBef>
            </a:pPr>
            <a:r>
              <a:rPr kumimoji="1" lang="en-US" altLang="zh-TW" sz="2200" b="0">
                <a:solidFill>
                  <a:srgbClr val="B1E2FB"/>
                </a:solidFill>
                <a:ea typeface="PMingLiU" pitchFamily="18" charset="-120"/>
                <a:cs typeface="Times New Roman" pitchFamily="18" charset="0"/>
              </a:rPr>
              <a:t>BUYERS</a:t>
            </a:r>
          </a:p>
        </p:txBody>
      </p:sp>
      <p:sp>
        <p:nvSpPr>
          <p:cNvPr id="14" name="Text Box 10"/>
          <p:cNvSpPr txBox="1">
            <a:spLocks noChangeArrowheads="1"/>
          </p:cNvSpPr>
          <p:nvPr/>
        </p:nvSpPr>
        <p:spPr bwMode="auto">
          <a:xfrm>
            <a:off x="827585" y="3642330"/>
            <a:ext cx="1728191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 latinLnBrk="1">
              <a:spcBef>
                <a:spcPct val="50000"/>
              </a:spcBef>
            </a:pPr>
            <a:r>
              <a:rPr kumimoji="1" lang="en-US" altLang="zh-TW" sz="2200" b="0" dirty="0">
                <a:solidFill>
                  <a:srgbClr val="B1E2FB"/>
                </a:solidFill>
                <a:ea typeface="PMingLiU" pitchFamily="18" charset="-120"/>
                <a:cs typeface="Times New Roman" pitchFamily="18" charset="0"/>
              </a:rPr>
              <a:t>SUPPLIERS</a:t>
            </a: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3563888" y="1415654"/>
            <a:ext cx="173958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latinLnBrk="1"/>
            <a:r>
              <a:rPr kumimoji="1" lang="en-US" altLang="zh-TW" sz="2200" b="0" dirty="0">
                <a:solidFill>
                  <a:srgbClr val="B1E2FB"/>
                </a:solidFill>
                <a:ea typeface="PMingLiU" pitchFamily="18" charset="-120"/>
                <a:cs typeface="Times New Roman" pitchFamily="18" charset="0"/>
              </a:rPr>
              <a:t>POTENTIAL</a:t>
            </a:r>
          </a:p>
          <a:p>
            <a:pPr algn="ctr" latinLnBrk="1"/>
            <a:r>
              <a:rPr kumimoji="1" lang="en-US" altLang="zh-TW" sz="2200" b="0" dirty="0">
                <a:solidFill>
                  <a:srgbClr val="B1E2FB"/>
                </a:solidFill>
                <a:ea typeface="PMingLiU" pitchFamily="18" charset="-120"/>
                <a:cs typeface="Times New Roman" pitchFamily="18" charset="0"/>
              </a:rPr>
              <a:t>ENTRANTS</a:t>
            </a:r>
          </a:p>
        </p:txBody>
      </p:sp>
      <p:sp>
        <p:nvSpPr>
          <p:cNvPr id="16" name="Text Box 12"/>
          <p:cNvSpPr txBox="1">
            <a:spLocks noChangeArrowheads="1"/>
          </p:cNvSpPr>
          <p:nvPr/>
        </p:nvSpPr>
        <p:spPr bwMode="auto">
          <a:xfrm>
            <a:off x="3404530" y="2761854"/>
            <a:ext cx="2140074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latinLnBrk="1"/>
            <a:r>
              <a:rPr kumimoji="1" lang="en-US" altLang="zh-TW" sz="2200" b="0">
                <a:solidFill>
                  <a:srgbClr val="B1E2FB"/>
                </a:solidFill>
                <a:ea typeface="PMingLiU" pitchFamily="18" charset="-120"/>
                <a:cs typeface="Times New Roman" pitchFamily="18" charset="0"/>
              </a:rPr>
              <a:t>INDUSTRY </a:t>
            </a:r>
          </a:p>
          <a:p>
            <a:pPr algn="ctr" latinLnBrk="1"/>
            <a:r>
              <a:rPr kumimoji="1" lang="en-US" altLang="zh-TW" sz="2200" b="0">
                <a:solidFill>
                  <a:srgbClr val="B1E2FB"/>
                </a:solidFill>
                <a:ea typeface="PMingLiU" pitchFamily="18" charset="-120"/>
                <a:cs typeface="Times New Roman" pitchFamily="18" charset="0"/>
              </a:rPr>
              <a:t>COMPETITORS</a:t>
            </a:r>
          </a:p>
        </p:txBody>
      </p:sp>
      <p:sp>
        <p:nvSpPr>
          <p:cNvPr id="17" name="Arc 13"/>
          <p:cNvSpPr>
            <a:spLocks/>
          </p:cNvSpPr>
          <p:nvPr/>
        </p:nvSpPr>
        <p:spPr bwMode="auto">
          <a:xfrm rot="18386776" flipH="1">
            <a:off x="4138811" y="3602186"/>
            <a:ext cx="679450" cy="793750"/>
          </a:xfrm>
          <a:custGeom>
            <a:avLst/>
            <a:gdLst>
              <a:gd name="G0" fmla="+- 21575 0 0"/>
              <a:gd name="G1" fmla="+- 21600 0 0"/>
              <a:gd name="G2" fmla="+- 21600 0 0"/>
              <a:gd name="T0" fmla="*/ 21575 w 43175"/>
              <a:gd name="T1" fmla="*/ 0 h 43200"/>
              <a:gd name="T2" fmla="*/ 0 w 43175"/>
              <a:gd name="T3" fmla="*/ 22643 h 43200"/>
              <a:gd name="T4" fmla="*/ 21575 w 43175"/>
              <a:gd name="T5" fmla="*/ 21600 h 43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175" h="43200" fill="none" extrusionOk="0">
                <a:moveTo>
                  <a:pt x="21574" y="0"/>
                </a:moveTo>
                <a:cubicBezTo>
                  <a:pt x="33504" y="0"/>
                  <a:pt x="43175" y="9670"/>
                  <a:pt x="43175" y="21600"/>
                </a:cubicBezTo>
                <a:cubicBezTo>
                  <a:pt x="43175" y="33529"/>
                  <a:pt x="33504" y="43200"/>
                  <a:pt x="21575" y="43200"/>
                </a:cubicBezTo>
                <a:cubicBezTo>
                  <a:pt x="10051" y="43200"/>
                  <a:pt x="556" y="34153"/>
                  <a:pt x="0" y="22642"/>
                </a:cubicBezTo>
              </a:path>
              <a:path w="43175" h="43200" stroke="0" extrusionOk="0">
                <a:moveTo>
                  <a:pt x="21574" y="0"/>
                </a:moveTo>
                <a:cubicBezTo>
                  <a:pt x="33504" y="0"/>
                  <a:pt x="43175" y="9670"/>
                  <a:pt x="43175" y="21600"/>
                </a:cubicBezTo>
                <a:cubicBezTo>
                  <a:pt x="43175" y="33529"/>
                  <a:pt x="33504" y="43200"/>
                  <a:pt x="21575" y="43200"/>
                </a:cubicBezTo>
                <a:cubicBezTo>
                  <a:pt x="10051" y="43200"/>
                  <a:pt x="556" y="34153"/>
                  <a:pt x="0" y="22642"/>
                </a:cubicBezTo>
                <a:lnTo>
                  <a:pt x="21575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latinLnBrk="1"/>
            <a:endParaRPr kumimoji="1" lang="en-US" sz="2200" b="0">
              <a:solidFill>
                <a:srgbClr val="B1E2FB"/>
              </a:solidFill>
              <a:ea typeface="굴림" pitchFamily="50" charset="-127"/>
              <a:cs typeface="Times New Roman" pitchFamily="18" charset="0"/>
            </a:endParaRPr>
          </a:p>
        </p:txBody>
      </p:sp>
      <p:sp>
        <p:nvSpPr>
          <p:cNvPr id="18" name="Line 14"/>
          <p:cNvSpPr>
            <a:spLocks noChangeShapeType="1"/>
          </p:cNvSpPr>
          <p:nvPr/>
        </p:nvSpPr>
        <p:spPr bwMode="auto">
          <a:xfrm rot="5201982">
            <a:off x="4604742" y="3747442"/>
            <a:ext cx="762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 latinLnBrk="1"/>
            <a:endParaRPr kumimoji="1" lang="en-US" sz="2200" b="0">
              <a:solidFill>
                <a:srgbClr val="B1E2FB"/>
              </a:solidFill>
              <a:ea typeface="굴림" pitchFamily="50" charset="-127"/>
              <a:cs typeface="Times New Roman" pitchFamily="18" charset="0"/>
            </a:endParaRPr>
          </a:p>
        </p:txBody>
      </p:sp>
      <p:sp>
        <p:nvSpPr>
          <p:cNvPr id="19" name="Text Box 15"/>
          <p:cNvSpPr txBox="1">
            <a:spLocks noChangeArrowheads="1"/>
          </p:cNvSpPr>
          <p:nvPr/>
        </p:nvSpPr>
        <p:spPr bwMode="auto">
          <a:xfrm>
            <a:off x="3505183" y="4315743"/>
            <a:ext cx="2002921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latinLnBrk="1"/>
            <a:r>
              <a:rPr kumimoji="1" lang="en-US" altLang="zh-TW" sz="2200" b="0" i="1" dirty="0">
                <a:solidFill>
                  <a:srgbClr val="B1E2FB"/>
                </a:solidFill>
                <a:ea typeface="PMingLiU" pitchFamily="18" charset="-120"/>
                <a:cs typeface="Times New Roman" pitchFamily="18" charset="0"/>
              </a:rPr>
              <a:t>Rivalry Among </a:t>
            </a:r>
          </a:p>
          <a:p>
            <a:pPr algn="ctr" latinLnBrk="1"/>
            <a:r>
              <a:rPr kumimoji="1" lang="en-US" altLang="zh-TW" sz="2200" b="0" i="1" dirty="0">
                <a:solidFill>
                  <a:srgbClr val="B1E2FB"/>
                </a:solidFill>
                <a:ea typeface="PMingLiU" pitchFamily="18" charset="-120"/>
                <a:cs typeface="Times New Roman" pitchFamily="18" charset="0"/>
              </a:rPr>
              <a:t>Existing Firms</a:t>
            </a:r>
          </a:p>
        </p:txBody>
      </p:sp>
      <p:sp>
        <p:nvSpPr>
          <p:cNvPr id="20" name="Text Box 16"/>
          <p:cNvSpPr txBox="1">
            <a:spLocks noChangeArrowheads="1"/>
          </p:cNvSpPr>
          <p:nvPr/>
        </p:nvSpPr>
        <p:spPr bwMode="auto">
          <a:xfrm>
            <a:off x="800874" y="2780928"/>
            <a:ext cx="2336665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latinLnBrk="1"/>
            <a:r>
              <a:rPr kumimoji="1" lang="en-US" altLang="zh-TW" sz="2200" b="0" i="1" dirty="0">
                <a:solidFill>
                  <a:srgbClr val="B1E2FB"/>
                </a:solidFill>
                <a:ea typeface="PMingLiU" pitchFamily="18" charset="-120"/>
                <a:cs typeface="Times New Roman" pitchFamily="18" charset="0"/>
              </a:rPr>
              <a:t>Bargaining Power </a:t>
            </a:r>
          </a:p>
          <a:p>
            <a:pPr latinLnBrk="1"/>
            <a:r>
              <a:rPr kumimoji="1" lang="en-US" altLang="zh-TW" sz="2200" b="0" i="1" dirty="0">
                <a:solidFill>
                  <a:srgbClr val="B1E2FB"/>
                </a:solidFill>
                <a:ea typeface="PMingLiU" pitchFamily="18" charset="-120"/>
                <a:cs typeface="Times New Roman" pitchFamily="18" charset="0"/>
              </a:rPr>
              <a:t>of Suppliers</a:t>
            </a:r>
          </a:p>
        </p:txBody>
      </p:sp>
      <p:sp>
        <p:nvSpPr>
          <p:cNvPr id="21" name="Line 17"/>
          <p:cNvSpPr>
            <a:spLocks noChangeShapeType="1"/>
          </p:cNvSpPr>
          <p:nvPr/>
        </p:nvSpPr>
        <p:spPr bwMode="auto">
          <a:xfrm>
            <a:off x="2521347" y="3861048"/>
            <a:ext cx="898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 latinLnBrk="1"/>
            <a:endParaRPr kumimoji="1" lang="en-US" sz="2200" b="0">
              <a:solidFill>
                <a:srgbClr val="B1E2FB"/>
              </a:solidFill>
              <a:ea typeface="굴림" pitchFamily="50" charset="-127"/>
              <a:cs typeface="Times New Roman" pitchFamily="18" charset="0"/>
            </a:endParaRPr>
          </a:p>
        </p:txBody>
      </p:sp>
      <p:sp>
        <p:nvSpPr>
          <p:cNvPr id="22" name="Text Box 20"/>
          <p:cNvSpPr txBox="1">
            <a:spLocks noChangeArrowheads="1"/>
          </p:cNvSpPr>
          <p:nvPr/>
        </p:nvSpPr>
        <p:spPr bwMode="auto">
          <a:xfrm>
            <a:off x="5313251" y="1559530"/>
            <a:ext cx="2842445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latinLnBrk="1">
              <a:spcBef>
                <a:spcPct val="50000"/>
              </a:spcBef>
            </a:pPr>
            <a:r>
              <a:rPr kumimoji="1" lang="en-US" altLang="zh-TW" sz="2200" b="0" i="1" dirty="0">
                <a:solidFill>
                  <a:srgbClr val="B1E2FB"/>
                </a:solidFill>
                <a:ea typeface="PMingLiU" pitchFamily="18" charset="-120"/>
                <a:cs typeface="Times New Roman" pitchFamily="18" charset="0"/>
              </a:rPr>
              <a:t>Threat of New Entrants</a:t>
            </a:r>
          </a:p>
        </p:txBody>
      </p:sp>
      <p:sp>
        <p:nvSpPr>
          <p:cNvPr id="23" name="Line 21"/>
          <p:cNvSpPr>
            <a:spLocks noChangeShapeType="1"/>
          </p:cNvSpPr>
          <p:nvPr/>
        </p:nvSpPr>
        <p:spPr bwMode="auto">
          <a:xfrm>
            <a:off x="4413448" y="2186136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 latinLnBrk="1"/>
            <a:endParaRPr kumimoji="1" lang="en-US" sz="2200" b="0">
              <a:solidFill>
                <a:srgbClr val="B1E2FB"/>
              </a:solidFill>
              <a:ea typeface="굴림" pitchFamily="50" charset="-127"/>
              <a:cs typeface="Times New Roman" pitchFamily="18" charset="0"/>
            </a:endParaRPr>
          </a:p>
        </p:txBody>
      </p:sp>
      <p:sp>
        <p:nvSpPr>
          <p:cNvPr id="24" name="Text Box 22"/>
          <p:cNvSpPr txBox="1">
            <a:spLocks noChangeArrowheads="1"/>
          </p:cNvSpPr>
          <p:nvPr/>
        </p:nvSpPr>
        <p:spPr bwMode="auto">
          <a:xfrm>
            <a:off x="6372200" y="2852936"/>
            <a:ext cx="2376264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latinLnBrk="1"/>
            <a:r>
              <a:rPr kumimoji="1" lang="en-US" altLang="zh-TW" sz="2200" b="0" i="1" dirty="0">
                <a:solidFill>
                  <a:srgbClr val="B1E2FB"/>
                </a:solidFill>
                <a:ea typeface="PMingLiU" pitchFamily="18" charset="-120"/>
                <a:cs typeface="Times New Roman" pitchFamily="18" charset="0"/>
              </a:rPr>
              <a:t>Bargaining Power of Buyers</a:t>
            </a:r>
          </a:p>
        </p:txBody>
      </p:sp>
      <p:sp>
        <p:nvSpPr>
          <p:cNvPr id="25" name="Text Box 23"/>
          <p:cNvSpPr txBox="1">
            <a:spLocks noChangeArrowheads="1"/>
          </p:cNvSpPr>
          <p:nvPr/>
        </p:nvSpPr>
        <p:spPr bwMode="auto">
          <a:xfrm>
            <a:off x="971600" y="5878433"/>
            <a:ext cx="2536272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latinLnBrk="1"/>
            <a:r>
              <a:rPr kumimoji="1" lang="en-US" altLang="zh-TW" sz="2200" b="0" i="1" dirty="0">
                <a:solidFill>
                  <a:srgbClr val="B1E2FB"/>
                </a:solidFill>
                <a:ea typeface="PMingLiU" pitchFamily="18" charset="-120"/>
                <a:cs typeface="Times New Roman" pitchFamily="18" charset="0"/>
              </a:rPr>
              <a:t>Threat of Substitutes</a:t>
            </a:r>
          </a:p>
        </p:txBody>
      </p:sp>
      <p:sp>
        <p:nvSpPr>
          <p:cNvPr id="26" name="Line 27"/>
          <p:cNvSpPr>
            <a:spLocks noChangeShapeType="1"/>
          </p:cNvSpPr>
          <p:nvPr/>
        </p:nvSpPr>
        <p:spPr bwMode="auto">
          <a:xfrm flipH="1" flipV="1">
            <a:off x="4413448" y="5081736"/>
            <a:ext cx="14536" cy="579512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 lIns="0" tIns="0" rIns="0" bIns="0" anchor="ctr"/>
          <a:lstStyle/>
          <a:p>
            <a:pPr latinLnBrk="1"/>
            <a:endParaRPr kumimoji="1" lang="en-US" sz="2200" b="0">
              <a:solidFill>
                <a:srgbClr val="B1E2FB"/>
              </a:solidFill>
              <a:ea typeface="굴림" pitchFamily="50" charset="-127"/>
              <a:cs typeface="Times New Roman" pitchFamily="18" charset="0"/>
            </a:endParaRPr>
          </a:p>
        </p:txBody>
      </p:sp>
      <p:sp>
        <p:nvSpPr>
          <p:cNvPr id="27" name="Line 28"/>
          <p:cNvSpPr>
            <a:spLocks noChangeShapeType="1"/>
          </p:cNvSpPr>
          <p:nvPr/>
        </p:nvSpPr>
        <p:spPr bwMode="auto">
          <a:xfrm flipH="1">
            <a:off x="5480248" y="3861048"/>
            <a:ext cx="963960" cy="1488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 lIns="0" tIns="0" rIns="0" bIns="0" anchor="ctr"/>
          <a:lstStyle/>
          <a:p>
            <a:pPr latinLnBrk="1"/>
            <a:endParaRPr kumimoji="1" lang="en-US" sz="2200" b="0">
              <a:solidFill>
                <a:srgbClr val="B1E2FB"/>
              </a:solidFill>
              <a:ea typeface="굴림" pitchFamily="50" charset="-127"/>
              <a:cs typeface="Times New Roman" pitchFamily="18" charset="0"/>
            </a:endParaRPr>
          </a:p>
        </p:txBody>
      </p:sp>
      <p:sp>
        <p:nvSpPr>
          <p:cNvPr id="28" name="Rectangle 2"/>
          <p:cNvSpPr txBox="1">
            <a:spLocks noChangeArrowheads="1"/>
          </p:cNvSpPr>
          <p:nvPr/>
        </p:nvSpPr>
        <p:spPr>
          <a:xfrm>
            <a:off x="-36512" y="0"/>
            <a:ext cx="9144000" cy="1052736"/>
          </a:xfrm>
          <a:prstGeom prst="rect">
            <a:avLst/>
          </a:prstGeom>
          <a:noFill/>
        </p:spPr>
        <p:txBody>
          <a:bodyPr/>
          <a:lstStyle/>
          <a:p>
            <a:pPr algn="ctr" latinLnBrk="1">
              <a:defRPr/>
            </a:pPr>
            <a:r>
              <a:rPr kumimoji="1" lang="en-US" altLang="ko-KR" sz="3200" dirty="0">
                <a:solidFill>
                  <a:srgbClr val="FFC000"/>
                </a:solidFill>
                <a:ea typeface="굴림" pitchFamily="50" charset="-127"/>
                <a:cs typeface="Times New Roman" pitchFamily="18" charset="0"/>
              </a:rPr>
              <a:t>INDUSTRY STRUCTURE</a:t>
            </a:r>
          </a:p>
          <a:p>
            <a:pPr algn="ctr" latinLnBrk="1">
              <a:defRPr/>
            </a:pPr>
            <a:r>
              <a:rPr kumimoji="1" lang="en-US" altLang="ko-KR" sz="3200" dirty="0">
                <a:solidFill>
                  <a:srgbClr val="FFC000"/>
                </a:solidFill>
                <a:ea typeface="굴림" pitchFamily="50" charset="-127"/>
                <a:cs typeface="Times New Roman" pitchFamily="18" charset="0"/>
              </a:rPr>
              <a:t>Five Forces Analysis</a:t>
            </a:r>
          </a:p>
        </p:txBody>
      </p:sp>
    </p:spTree>
    <p:extLst>
      <p:ext uri="{BB962C8B-B14F-4D97-AF65-F5344CB8AC3E}">
        <p14:creationId xmlns:p14="http://schemas.microsoft.com/office/powerpoint/2010/main" val="1956614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noFill/>
        </p:spPr>
        <p:txBody>
          <a:bodyPr/>
          <a:lstStyle/>
          <a:p>
            <a:pPr algn="ctr" latinLnBrk="1">
              <a:defRPr/>
            </a:pPr>
            <a:endParaRPr kumimoji="1" lang="en-US" altLang="ko-KR" sz="3600" dirty="0">
              <a:solidFill>
                <a:srgbClr val="FFC000"/>
              </a:solidFill>
              <a:ea typeface="굴림" pitchFamily="50" charset="-127"/>
              <a:cs typeface="Times New Roman" pitchFamily="18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395536" y="1196752"/>
            <a:ext cx="8352928" cy="5181600"/>
          </a:xfrm>
          <a:prstGeom prst="rect">
            <a:avLst/>
          </a:prstGeom>
          <a:noFill/>
          <a:ln w="12700" cap="flat">
            <a:prstDash val="solid"/>
          </a:ln>
        </p:spPr>
        <p:txBody>
          <a:bodyPr/>
          <a:lstStyle/>
          <a:p>
            <a:pPr marL="342900" indent="-342900" eaLnBrk="0" latinLnBrk="1" hangingPunct="0">
              <a:lnSpc>
                <a:spcPts val="2600"/>
              </a:lnSpc>
              <a:spcBef>
                <a:spcPct val="20000"/>
              </a:spcBef>
              <a:buClr>
                <a:srgbClr val="72A7F6"/>
              </a:buClr>
              <a:defRPr/>
            </a:pPr>
            <a:r>
              <a:rPr lang="en-US" altLang="ko-KR" kern="0" dirty="0">
                <a:solidFill>
                  <a:srgbClr val="B1E2FB"/>
                </a:solidFill>
                <a:ea typeface="굴림" pitchFamily="50" charset="-127"/>
                <a:cs typeface="Times New Roman" pitchFamily="18" charset="0"/>
              </a:rPr>
              <a:t> •  </a:t>
            </a:r>
            <a:r>
              <a:rPr lang="en-US" altLang="ko-KR" b="0" kern="0" dirty="0">
                <a:solidFill>
                  <a:srgbClr val="B1E2FB"/>
                </a:solidFill>
                <a:ea typeface="굴림" pitchFamily="50" charset="-127"/>
                <a:cs typeface="Times New Roman" pitchFamily="18" charset="0"/>
              </a:rPr>
              <a:t>Key Points:</a:t>
            </a:r>
          </a:p>
          <a:p>
            <a:pPr marL="342900" indent="-342900" eaLnBrk="0" latinLnBrk="1" hangingPunct="0">
              <a:lnSpc>
                <a:spcPts val="2600"/>
              </a:lnSpc>
              <a:spcBef>
                <a:spcPct val="20000"/>
              </a:spcBef>
              <a:buClr>
                <a:srgbClr val="72A7F6"/>
              </a:buClr>
              <a:defRPr/>
            </a:pPr>
            <a:r>
              <a:rPr lang="en-US" altLang="ko-KR" b="0" kern="0" dirty="0">
                <a:solidFill>
                  <a:srgbClr val="B1E2FB"/>
                </a:solidFill>
                <a:ea typeface="굴림" pitchFamily="50" charset="-127"/>
                <a:cs typeface="Times New Roman" pitchFamily="18" charset="0"/>
              </a:rPr>
              <a:t>	- A focal industry is structured based on the above five forces</a:t>
            </a:r>
          </a:p>
          <a:p>
            <a:pPr marL="342900" indent="-342900" eaLnBrk="0" latinLnBrk="1" hangingPunct="0">
              <a:lnSpc>
                <a:spcPts val="2600"/>
              </a:lnSpc>
              <a:spcBef>
                <a:spcPct val="20000"/>
              </a:spcBef>
              <a:buClr>
                <a:srgbClr val="72A7F6"/>
              </a:buClr>
              <a:defRPr/>
            </a:pPr>
            <a:r>
              <a:rPr lang="en-US" altLang="ko-KR" b="0" kern="0" dirty="0">
                <a:solidFill>
                  <a:srgbClr val="B1E2FB"/>
                </a:solidFill>
                <a:ea typeface="굴림" pitchFamily="50" charset="-127"/>
                <a:cs typeface="Times New Roman" pitchFamily="18" charset="0"/>
              </a:rPr>
              <a:t>	- The industry structure with these five forces determine</a:t>
            </a:r>
          </a:p>
          <a:p>
            <a:pPr marL="342900" indent="-342900" eaLnBrk="0" latinLnBrk="1" hangingPunct="0">
              <a:lnSpc>
                <a:spcPts val="2600"/>
              </a:lnSpc>
              <a:spcBef>
                <a:spcPct val="20000"/>
              </a:spcBef>
              <a:buClr>
                <a:srgbClr val="72A7F6"/>
              </a:buClr>
              <a:defRPr/>
            </a:pPr>
            <a:r>
              <a:rPr lang="en-US" altLang="ko-KR" b="0" kern="0" dirty="0">
                <a:solidFill>
                  <a:srgbClr val="B1E2FB"/>
                </a:solidFill>
                <a:ea typeface="굴림" pitchFamily="50" charset="-127"/>
                <a:cs typeface="Times New Roman" pitchFamily="18" charset="0"/>
              </a:rPr>
              <a:t>	   the level of industry competition, which, in turn, determines </a:t>
            </a:r>
          </a:p>
          <a:p>
            <a:pPr marL="342900" indent="-342900" eaLnBrk="0" latinLnBrk="1" hangingPunct="0">
              <a:lnSpc>
                <a:spcPts val="2600"/>
              </a:lnSpc>
              <a:spcBef>
                <a:spcPct val="20000"/>
              </a:spcBef>
              <a:buClr>
                <a:srgbClr val="72A7F6"/>
              </a:buClr>
              <a:defRPr/>
            </a:pPr>
            <a:r>
              <a:rPr lang="en-US" altLang="ko-KR" b="0" kern="0" dirty="0">
                <a:solidFill>
                  <a:srgbClr val="B1E2FB"/>
                </a:solidFill>
                <a:ea typeface="굴림" pitchFamily="50" charset="-127"/>
                <a:cs typeface="Times New Roman" pitchFamily="18" charset="0"/>
              </a:rPr>
              <a:t>	   the potential profitability and attractiveness of the industry</a:t>
            </a:r>
            <a:endParaRPr lang="ko-KR" altLang="en-US" sz="800" b="0" kern="0" dirty="0">
              <a:solidFill>
                <a:srgbClr val="B1E2FB"/>
              </a:solidFill>
              <a:ea typeface="굴림" pitchFamily="50" charset="-127"/>
              <a:cs typeface="Times New Roman" pitchFamily="18" charset="0"/>
            </a:endParaRPr>
          </a:p>
          <a:p>
            <a:pPr marL="342900" indent="-342900" eaLnBrk="0" latinLnBrk="1" hangingPunct="0">
              <a:lnSpc>
                <a:spcPts val="2600"/>
              </a:lnSpc>
              <a:spcBef>
                <a:spcPct val="20000"/>
              </a:spcBef>
              <a:buClr>
                <a:srgbClr val="72A7F6"/>
              </a:buClr>
              <a:defRPr/>
            </a:pPr>
            <a:r>
              <a:rPr lang="en-US" altLang="ko-KR" b="0" kern="0" dirty="0">
                <a:solidFill>
                  <a:srgbClr val="B1E2FB"/>
                </a:solidFill>
                <a:ea typeface="굴림" pitchFamily="50" charset="-127"/>
                <a:cs typeface="Times New Roman" pitchFamily="18" charset="0"/>
              </a:rPr>
              <a:t> •  Implications for Strategy</a:t>
            </a:r>
          </a:p>
          <a:p>
            <a:pPr marL="342900" indent="-342900" eaLnBrk="0" latinLnBrk="1" hangingPunct="0">
              <a:lnSpc>
                <a:spcPts val="2600"/>
              </a:lnSpc>
              <a:spcBef>
                <a:spcPct val="20000"/>
              </a:spcBef>
              <a:buClr>
                <a:srgbClr val="72A7F6"/>
              </a:buClr>
              <a:defRPr/>
            </a:pPr>
            <a:r>
              <a:rPr lang="en-US" altLang="ko-KR" b="0" kern="0" dirty="0">
                <a:solidFill>
                  <a:srgbClr val="B1E2FB"/>
                </a:solidFill>
                <a:ea typeface="굴림" pitchFamily="50" charset="-127"/>
                <a:cs typeface="Times New Roman" pitchFamily="18" charset="0"/>
              </a:rPr>
              <a:t>	- Positioning the company: building defenses against the</a:t>
            </a:r>
          </a:p>
          <a:p>
            <a:pPr marL="342900" indent="-342900" eaLnBrk="0" latinLnBrk="1" hangingPunct="0">
              <a:lnSpc>
                <a:spcPts val="2600"/>
              </a:lnSpc>
              <a:spcBef>
                <a:spcPct val="20000"/>
              </a:spcBef>
              <a:buClr>
                <a:srgbClr val="72A7F6"/>
              </a:buClr>
              <a:defRPr/>
            </a:pPr>
            <a:r>
              <a:rPr lang="en-US" altLang="ko-KR" b="0" kern="0" dirty="0">
                <a:solidFill>
                  <a:srgbClr val="B1E2FB"/>
                </a:solidFill>
                <a:ea typeface="굴림" pitchFamily="50" charset="-127"/>
                <a:cs typeface="Times New Roman" pitchFamily="18" charset="0"/>
              </a:rPr>
              <a:t>	   competitive forces</a:t>
            </a:r>
          </a:p>
          <a:p>
            <a:pPr marL="342900" indent="-342900" eaLnBrk="0" latinLnBrk="1" hangingPunct="0">
              <a:lnSpc>
                <a:spcPts val="2600"/>
              </a:lnSpc>
              <a:spcBef>
                <a:spcPct val="20000"/>
              </a:spcBef>
              <a:buClr>
                <a:srgbClr val="72A7F6"/>
              </a:buClr>
              <a:defRPr/>
            </a:pPr>
            <a:r>
              <a:rPr lang="en-US" altLang="ko-KR" b="0" kern="0" dirty="0">
                <a:solidFill>
                  <a:srgbClr val="B1E2FB"/>
                </a:solidFill>
                <a:ea typeface="굴림" pitchFamily="50" charset="-127"/>
                <a:cs typeface="Times New Roman" pitchFamily="18" charset="0"/>
              </a:rPr>
              <a:t>	- Exploiting industry change: anticipating shifts in the forces</a:t>
            </a:r>
          </a:p>
          <a:p>
            <a:pPr marL="342900" indent="-342900" eaLnBrk="0" latinLnBrk="1" hangingPunct="0">
              <a:lnSpc>
                <a:spcPts val="2600"/>
              </a:lnSpc>
              <a:spcBef>
                <a:spcPct val="20000"/>
              </a:spcBef>
              <a:buClr>
                <a:srgbClr val="72A7F6"/>
              </a:buClr>
              <a:defRPr/>
            </a:pPr>
            <a:r>
              <a:rPr lang="en-US" altLang="ko-KR" b="0" kern="0" dirty="0">
                <a:solidFill>
                  <a:srgbClr val="B1E2FB"/>
                </a:solidFill>
                <a:ea typeface="굴림" pitchFamily="50" charset="-127"/>
                <a:cs typeface="Times New Roman" pitchFamily="18" charset="0"/>
              </a:rPr>
              <a:t>       and exploit them</a:t>
            </a:r>
          </a:p>
          <a:p>
            <a:pPr marL="342900" indent="-342900" eaLnBrk="0" latinLnBrk="1" hangingPunct="0">
              <a:lnSpc>
                <a:spcPts val="2600"/>
              </a:lnSpc>
              <a:spcBef>
                <a:spcPct val="20000"/>
              </a:spcBef>
              <a:buClr>
                <a:srgbClr val="72A7F6"/>
              </a:buClr>
              <a:defRPr/>
            </a:pPr>
            <a:r>
              <a:rPr lang="en-US" altLang="ko-KR" b="0" kern="0" dirty="0">
                <a:solidFill>
                  <a:srgbClr val="B1E2FB"/>
                </a:solidFill>
                <a:ea typeface="굴림" pitchFamily="50" charset="-127"/>
                <a:cs typeface="Times New Roman" pitchFamily="18" charset="0"/>
              </a:rPr>
              <a:t>	- Shaping industry structure: shaping the balance of forces to</a:t>
            </a:r>
          </a:p>
          <a:p>
            <a:pPr marL="342900" indent="-342900" eaLnBrk="0" latinLnBrk="1" hangingPunct="0">
              <a:lnSpc>
                <a:spcPts val="2600"/>
              </a:lnSpc>
              <a:spcBef>
                <a:spcPct val="20000"/>
              </a:spcBef>
              <a:buClr>
                <a:srgbClr val="72A7F6"/>
              </a:buClr>
              <a:defRPr/>
            </a:pPr>
            <a:r>
              <a:rPr lang="en-US" altLang="ko-KR" b="0" kern="0" dirty="0">
                <a:solidFill>
                  <a:srgbClr val="B1E2FB"/>
                </a:solidFill>
                <a:ea typeface="굴림" pitchFamily="50" charset="-127"/>
                <a:cs typeface="Times New Roman" pitchFamily="18" charset="0"/>
              </a:rPr>
              <a:t>       create a new more favorable structure</a:t>
            </a:r>
          </a:p>
          <a:p>
            <a:pPr marL="342900" indent="-342900" eaLnBrk="0" latinLnBrk="1" hangingPunct="0">
              <a:lnSpc>
                <a:spcPts val="2600"/>
              </a:lnSpc>
              <a:spcBef>
                <a:spcPct val="20000"/>
              </a:spcBef>
              <a:buClr>
                <a:srgbClr val="72A7F6"/>
              </a:buClr>
              <a:defRPr/>
            </a:pPr>
            <a:r>
              <a:rPr lang="en-US" altLang="ko-KR" b="0" kern="0" dirty="0">
                <a:solidFill>
                  <a:srgbClr val="B1E2FB"/>
                </a:solidFill>
                <a:ea typeface="굴림" pitchFamily="50" charset="-127"/>
                <a:cs typeface="Times New Roman" pitchFamily="18" charset="0"/>
              </a:rPr>
              <a:t>	- Deciding whether or not to enter / exit the industry</a:t>
            </a:r>
          </a:p>
          <a:p>
            <a:pPr marL="342900" indent="-342900" eaLnBrk="0" latinLnBrk="1" hangingPunct="0">
              <a:lnSpc>
                <a:spcPts val="2800"/>
              </a:lnSpc>
              <a:spcBef>
                <a:spcPct val="20000"/>
              </a:spcBef>
              <a:buClr>
                <a:srgbClr val="72A7F6"/>
              </a:buClr>
              <a:defRPr/>
            </a:pPr>
            <a:endParaRPr lang="en-US" altLang="ko-KR" sz="1200" b="0" kern="0" dirty="0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-36512" y="0"/>
            <a:ext cx="9144000" cy="1052736"/>
          </a:xfrm>
          <a:prstGeom prst="rect">
            <a:avLst/>
          </a:prstGeom>
          <a:noFill/>
        </p:spPr>
        <p:txBody>
          <a:bodyPr/>
          <a:lstStyle/>
          <a:p>
            <a:pPr algn="ctr" latinLnBrk="1">
              <a:defRPr/>
            </a:pPr>
            <a:r>
              <a:rPr kumimoji="1" lang="en-US" altLang="ko-KR" sz="3200" dirty="0">
                <a:solidFill>
                  <a:srgbClr val="FFC000"/>
                </a:solidFill>
                <a:ea typeface="굴림" pitchFamily="50" charset="-127"/>
                <a:cs typeface="Times New Roman" pitchFamily="18" charset="0"/>
              </a:rPr>
              <a:t>INDUSTRY STRUCTURE</a:t>
            </a:r>
          </a:p>
          <a:p>
            <a:pPr algn="ctr" latinLnBrk="1">
              <a:defRPr/>
            </a:pPr>
            <a:r>
              <a:rPr kumimoji="1" lang="en-US" altLang="ko-KR" sz="3200" dirty="0">
                <a:solidFill>
                  <a:srgbClr val="FFC000"/>
                </a:solidFill>
                <a:ea typeface="굴림" pitchFamily="50" charset="-127"/>
                <a:cs typeface="Times New Roman" pitchFamily="18" charset="0"/>
              </a:rPr>
              <a:t>Five Forces Analysis</a:t>
            </a:r>
          </a:p>
        </p:txBody>
      </p:sp>
    </p:spTree>
    <p:extLst>
      <p:ext uri="{BB962C8B-B14F-4D97-AF65-F5344CB8AC3E}">
        <p14:creationId xmlns:p14="http://schemas.microsoft.com/office/powerpoint/2010/main" val="2082551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noFill/>
        </p:spPr>
        <p:txBody>
          <a:bodyPr/>
          <a:lstStyle/>
          <a:p>
            <a:pPr algn="ctr" latinLnBrk="1">
              <a:defRPr/>
            </a:pPr>
            <a:endParaRPr kumimoji="1" lang="en-US" altLang="ko-KR" sz="3600" dirty="0">
              <a:solidFill>
                <a:srgbClr val="FFC000"/>
              </a:solidFill>
              <a:ea typeface="굴림" pitchFamily="50" charset="-127"/>
              <a:cs typeface="Times New Roman" pitchFamily="18" charset="0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260648"/>
            <a:ext cx="9144000" cy="563562"/>
          </a:xfrm>
          <a:prstGeom prst="rect">
            <a:avLst/>
          </a:prstGeom>
          <a:noFill/>
        </p:spPr>
        <p:txBody>
          <a:bodyPr/>
          <a:lstStyle/>
          <a:p>
            <a:pPr algn="ctr" latinLnBrk="1">
              <a:defRPr/>
            </a:pPr>
            <a:r>
              <a:rPr lang="en-US" altLang="ko-KR" sz="3600" kern="0" dirty="0">
                <a:solidFill>
                  <a:srgbClr val="FFC000"/>
                </a:solidFill>
                <a:ea typeface="굴림" pitchFamily="50" charset="-127"/>
                <a:cs typeface="Times New Roman" pitchFamily="18" charset="0"/>
              </a:rPr>
              <a:t>Threat of New Entrants</a:t>
            </a:r>
          </a:p>
        </p:txBody>
      </p:sp>
      <p:grpSp>
        <p:nvGrpSpPr>
          <p:cNvPr id="8" name="Group 3"/>
          <p:cNvGrpSpPr>
            <a:grpSpLocks/>
          </p:cNvGrpSpPr>
          <p:nvPr/>
        </p:nvGrpSpPr>
        <p:grpSpPr bwMode="auto">
          <a:xfrm>
            <a:off x="467544" y="2057400"/>
            <a:ext cx="2590800" cy="1600200"/>
            <a:chOff x="432" y="1008"/>
            <a:chExt cx="1632" cy="1008"/>
          </a:xfrm>
        </p:grpSpPr>
        <p:sp>
          <p:nvSpPr>
            <p:cNvPr id="9" name="AutoShape 4"/>
            <p:cNvSpPr>
              <a:spLocks noChangeArrowheads="1"/>
            </p:cNvSpPr>
            <p:nvPr/>
          </p:nvSpPr>
          <p:spPr bwMode="auto">
            <a:xfrm>
              <a:off x="432" y="1008"/>
              <a:ext cx="1632" cy="1008"/>
            </a:xfrm>
            <a:prstGeom prst="homePlate">
              <a:avLst>
                <a:gd name="adj" fmla="val 53968"/>
              </a:avLst>
            </a:prstGeom>
            <a:solidFill>
              <a:schemeClr val="bg2"/>
            </a:solidFill>
            <a:ln w="12699">
              <a:noFill/>
              <a:miter lim="800000"/>
              <a:headEnd/>
              <a:tailEnd/>
            </a:ln>
            <a:effectLst>
              <a:outerShdw dist="53882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latinLnBrk="1">
                <a:defRPr/>
              </a:pPr>
              <a:endParaRPr kumimoji="1" lang="en-US" sz="1800" b="0">
                <a:solidFill>
                  <a:srgbClr val="B1E2FB"/>
                </a:solidFill>
                <a:latin typeface="Franklin Gothic Heavy" pitchFamily="34" charset="0"/>
                <a:ea typeface="굴림" pitchFamily="50" charset="-127"/>
              </a:endParaRPr>
            </a:p>
          </p:txBody>
        </p:sp>
        <p:sp>
          <p:nvSpPr>
            <p:cNvPr id="10" name="Rectangle 5"/>
            <p:cNvSpPr>
              <a:spLocks noChangeArrowheads="1"/>
            </p:cNvSpPr>
            <p:nvPr/>
          </p:nvSpPr>
          <p:spPr bwMode="auto">
            <a:xfrm>
              <a:off x="567" y="1239"/>
              <a:ext cx="1064" cy="522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  <a:effectLst>
              <a:outerShdw dist="17961" dir="2700000" algn="ctr" rotWithShape="0">
                <a:schemeClr val="bg2"/>
              </a:outerShdw>
            </a:effectLst>
          </p:spPr>
          <p:txBody>
            <a:bodyPr lIns="90488" tIns="44450" rIns="90488" bIns="44450">
              <a:spAutoFit/>
            </a:bodyPr>
            <a:lstStyle/>
            <a:p>
              <a:pPr algn="ctr" eaLnBrk="0" latinLnBrk="1" hangingPunct="0">
                <a:defRPr/>
              </a:pPr>
              <a:r>
                <a:rPr kumimoji="1" lang="en-US" b="0">
                  <a:solidFill>
                    <a:srgbClr val="B1E2FB"/>
                  </a:solidFill>
                  <a:ea typeface="굴림" pitchFamily="50" charset="-127"/>
                </a:rPr>
                <a:t>Barriers to Entry</a:t>
              </a:r>
            </a:p>
          </p:txBody>
        </p:sp>
      </p:grp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3792488" y="5870575"/>
            <a:ext cx="2749152" cy="459100"/>
          </a:xfrm>
          <a:prstGeom prst="rect">
            <a:avLst/>
          </a:prstGeom>
          <a:noFill/>
          <a:ln w="12699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latinLnBrk="1" hangingPunct="0">
              <a:defRPr/>
            </a:pPr>
            <a:r>
              <a:rPr kumimoji="1" lang="en-US" b="0" dirty="0">
                <a:solidFill>
                  <a:srgbClr val="B1E2FB"/>
                </a:solidFill>
                <a:effectLst>
                  <a:outerShdw blurRad="38100" dist="38100" dir="2700000" algn="tl">
                    <a:srgbClr val="010199"/>
                  </a:outerShdw>
                </a:effectLst>
                <a:ea typeface="굴림" pitchFamily="50" charset="-127"/>
              </a:rPr>
              <a:t>Expected Retaliation</a:t>
            </a:r>
          </a:p>
        </p:txBody>
      </p:sp>
      <p:grpSp>
        <p:nvGrpSpPr>
          <p:cNvPr id="12" name="Group 7"/>
          <p:cNvGrpSpPr>
            <a:grpSpLocks/>
          </p:cNvGrpSpPr>
          <p:nvPr/>
        </p:nvGrpSpPr>
        <p:grpSpPr bwMode="auto">
          <a:xfrm>
            <a:off x="3563888" y="1244600"/>
            <a:ext cx="5113338" cy="4470401"/>
            <a:chOff x="2544" y="784"/>
            <a:chExt cx="3221" cy="2816"/>
          </a:xfrm>
        </p:grpSpPr>
        <p:sp>
          <p:nvSpPr>
            <p:cNvPr id="13" name="Rectangle 8"/>
            <p:cNvSpPr>
              <a:spLocks noChangeArrowheads="1"/>
            </p:cNvSpPr>
            <p:nvPr/>
          </p:nvSpPr>
          <p:spPr bwMode="auto">
            <a:xfrm>
              <a:off x="2679" y="3311"/>
              <a:ext cx="2513" cy="289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eaLnBrk="0" latinLnBrk="1" hangingPunct="0">
                <a:defRPr/>
              </a:pPr>
              <a:r>
                <a:rPr kumimoji="1" lang="en-US" b="0" dirty="0">
                  <a:solidFill>
                    <a:srgbClr val="B1E2FB"/>
                  </a:solidFill>
                  <a:effectLst>
                    <a:outerShdw blurRad="38100" dist="38100" dir="2700000" algn="tl">
                      <a:srgbClr val="010199"/>
                    </a:outerShdw>
                  </a:effectLst>
                  <a:ea typeface="굴림" pitchFamily="50" charset="-127"/>
                </a:rPr>
                <a:t>Restrictive Government Policy</a:t>
              </a:r>
            </a:p>
          </p:txBody>
        </p:sp>
        <p:grpSp>
          <p:nvGrpSpPr>
            <p:cNvPr id="14" name="Group 9"/>
            <p:cNvGrpSpPr>
              <a:grpSpLocks/>
            </p:cNvGrpSpPr>
            <p:nvPr/>
          </p:nvGrpSpPr>
          <p:grpSpPr bwMode="auto">
            <a:xfrm>
              <a:off x="2544" y="784"/>
              <a:ext cx="3221" cy="2720"/>
              <a:chOff x="2544" y="784"/>
              <a:chExt cx="3221" cy="2720"/>
            </a:xfrm>
          </p:grpSpPr>
          <p:sp>
            <p:nvSpPr>
              <p:cNvPr id="15" name="Rectangle 10"/>
              <p:cNvSpPr>
                <a:spLocks noChangeArrowheads="1"/>
              </p:cNvSpPr>
              <p:nvPr/>
            </p:nvSpPr>
            <p:spPr bwMode="auto">
              <a:xfrm>
                <a:off x="2663" y="784"/>
                <a:ext cx="1697" cy="289"/>
              </a:xfrm>
              <a:prstGeom prst="rect">
                <a:avLst/>
              </a:prstGeom>
              <a:noFill/>
              <a:ln w="12699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algn="r" eaLnBrk="0" latinLnBrk="1" hangingPunct="0">
                  <a:defRPr/>
                </a:pPr>
                <a:r>
                  <a:rPr kumimoji="1" lang="en-US" b="0" dirty="0">
                    <a:solidFill>
                      <a:srgbClr val="B1E2FB"/>
                    </a:solidFill>
                    <a:effectLst>
                      <a:outerShdw blurRad="38100" dist="38100" dir="2700000" algn="tl">
                        <a:srgbClr val="010199"/>
                      </a:outerShdw>
                    </a:effectLst>
                    <a:ea typeface="굴림" pitchFamily="50" charset="-127"/>
                  </a:rPr>
                  <a:t>Economies of Scale</a:t>
                </a:r>
              </a:p>
            </p:txBody>
          </p:sp>
          <p:sp>
            <p:nvSpPr>
              <p:cNvPr id="16" name="Rectangle 11"/>
              <p:cNvSpPr>
                <a:spLocks noChangeArrowheads="1"/>
              </p:cNvSpPr>
              <p:nvPr/>
            </p:nvSpPr>
            <p:spPr bwMode="auto">
              <a:xfrm>
                <a:off x="2679" y="1168"/>
                <a:ext cx="1913" cy="289"/>
              </a:xfrm>
              <a:prstGeom prst="rect">
                <a:avLst/>
              </a:prstGeom>
              <a:noFill/>
              <a:ln w="12699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eaLnBrk="0" latinLnBrk="1" hangingPunct="0">
                  <a:defRPr/>
                </a:pPr>
                <a:r>
                  <a:rPr kumimoji="1" lang="en-US" b="0" dirty="0">
                    <a:solidFill>
                      <a:srgbClr val="B1E2FB"/>
                    </a:solidFill>
                    <a:effectLst>
                      <a:outerShdw blurRad="38100" dist="38100" dir="2700000" algn="tl">
                        <a:srgbClr val="010199"/>
                      </a:outerShdw>
                    </a:effectLst>
                    <a:ea typeface="굴림" pitchFamily="50" charset="-127"/>
                  </a:rPr>
                  <a:t>Product Differentiation</a:t>
                </a:r>
              </a:p>
            </p:txBody>
          </p:sp>
          <p:sp>
            <p:nvSpPr>
              <p:cNvPr id="17" name="Rectangle 12"/>
              <p:cNvSpPr>
                <a:spLocks noChangeArrowheads="1"/>
              </p:cNvSpPr>
              <p:nvPr/>
            </p:nvSpPr>
            <p:spPr bwMode="auto">
              <a:xfrm>
                <a:off x="2679" y="1552"/>
                <a:ext cx="1797" cy="289"/>
              </a:xfrm>
              <a:prstGeom prst="rect">
                <a:avLst/>
              </a:prstGeom>
              <a:noFill/>
              <a:ln w="12699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eaLnBrk="0" latinLnBrk="1" hangingPunct="0">
                  <a:defRPr/>
                </a:pPr>
                <a:r>
                  <a:rPr kumimoji="1" lang="en-US" b="0" dirty="0">
                    <a:solidFill>
                      <a:srgbClr val="B1E2FB"/>
                    </a:solidFill>
                    <a:effectLst>
                      <a:outerShdw blurRad="38100" dist="38100" dir="2700000" algn="tl">
                        <a:srgbClr val="010199"/>
                      </a:outerShdw>
                    </a:effectLst>
                    <a:ea typeface="굴림" pitchFamily="50" charset="-127"/>
                  </a:rPr>
                  <a:t>Capital Requirements</a:t>
                </a:r>
              </a:p>
            </p:txBody>
          </p:sp>
          <p:sp>
            <p:nvSpPr>
              <p:cNvPr id="18" name="Rectangle 13"/>
              <p:cNvSpPr>
                <a:spLocks noChangeArrowheads="1"/>
              </p:cNvSpPr>
              <p:nvPr/>
            </p:nvSpPr>
            <p:spPr bwMode="auto">
              <a:xfrm>
                <a:off x="2679" y="1936"/>
                <a:ext cx="1380" cy="289"/>
              </a:xfrm>
              <a:prstGeom prst="rect">
                <a:avLst/>
              </a:prstGeom>
              <a:noFill/>
              <a:ln w="12699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eaLnBrk="0" latinLnBrk="1" hangingPunct="0">
                  <a:defRPr/>
                </a:pPr>
                <a:r>
                  <a:rPr kumimoji="1" lang="en-US" b="0" dirty="0">
                    <a:solidFill>
                      <a:srgbClr val="B1E2FB"/>
                    </a:solidFill>
                    <a:effectLst>
                      <a:outerShdw blurRad="38100" dist="38100" dir="2700000" algn="tl">
                        <a:srgbClr val="010199"/>
                      </a:outerShdw>
                    </a:effectLst>
                    <a:ea typeface="굴림" pitchFamily="50" charset="-127"/>
                  </a:rPr>
                  <a:t>Switching Costs</a:t>
                </a:r>
              </a:p>
            </p:txBody>
          </p:sp>
          <p:sp>
            <p:nvSpPr>
              <p:cNvPr id="19" name="Rectangle 14"/>
              <p:cNvSpPr>
                <a:spLocks noChangeArrowheads="1"/>
              </p:cNvSpPr>
              <p:nvPr/>
            </p:nvSpPr>
            <p:spPr bwMode="auto">
              <a:xfrm>
                <a:off x="2679" y="2319"/>
                <a:ext cx="2617" cy="289"/>
              </a:xfrm>
              <a:prstGeom prst="rect">
                <a:avLst/>
              </a:prstGeom>
              <a:noFill/>
              <a:ln w="12699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eaLnBrk="0" latinLnBrk="1" hangingPunct="0">
                  <a:defRPr/>
                </a:pPr>
                <a:r>
                  <a:rPr kumimoji="1" lang="en-US" b="0" dirty="0">
                    <a:solidFill>
                      <a:srgbClr val="B1E2FB"/>
                    </a:solidFill>
                    <a:effectLst>
                      <a:outerShdw blurRad="38100" dist="38100" dir="2700000" algn="tl">
                        <a:srgbClr val="010199"/>
                      </a:outerShdw>
                    </a:effectLst>
                    <a:ea typeface="굴림" pitchFamily="50" charset="-127"/>
                  </a:rPr>
                  <a:t>Access to Distribution Channels</a:t>
                </a:r>
              </a:p>
            </p:txBody>
          </p:sp>
          <p:sp>
            <p:nvSpPr>
              <p:cNvPr id="20" name="Rectangle 15"/>
              <p:cNvSpPr>
                <a:spLocks noChangeArrowheads="1"/>
              </p:cNvSpPr>
              <p:nvPr/>
            </p:nvSpPr>
            <p:spPr bwMode="auto">
              <a:xfrm>
                <a:off x="2679" y="2739"/>
                <a:ext cx="3086" cy="522"/>
              </a:xfrm>
              <a:prstGeom prst="rect">
                <a:avLst/>
              </a:prstGeom>
              <a:noFill/>
              <a:ln w="12699">
                <a:noFill/>
                <a:miter lim="800000"/>
                <a:headEnd/>
                <a:tailEnd/>
              </a:ln>
              <a:effectLst/>
            </p:spPr>
            <p:txBody>
              <a:bodyPr wrap="square" lIns="90488" tIns="44450" rIns="90488" bIns="44450">
                <a:spAutoFit/>
              </a:bodyPr>
              <a:lstStyle/>
              <a:p>
                <a:pPr eaLnBrk="0" latinLnBrk="1" hangingPunct="0">
                  <a:defRPr/>
                </a:pPr>
                <a:r>
                  <a:rPr kumimoji="1" lang="en-US" b="0" dirty="0">
                    <a:solidFill>
                      <a:srgbClr val="B1E2FB"/>
                    </a:solidFill>
                    <a:effectLst>
                      <a:outerShdw blurRad="38100" dist="38100" dir="2700000" algn="tl">
                        <a:srgbClr val="010199"/>
                      </a:outerShdw>
                    </a:effectLst>
                    <a:ea typeface="굴림" pitchFamily="50" charset="-127"/>
                  </a:rPr>
                  <a:t>Incumbency advantages Independent of Scale</a:t>
                </a:r>
              </a:p>
            </p:txBody>
          </p:sp>
          <p:sp>
            <p:nvSpPr>
              <p:cNvPr id="21" name="Oval 16"/>
              <p:cNvSpPr>
                <a:spLocks noChangeArrowheads="1"/>
              </p:cNvSpPr>
              <p:nvPr/>
            </p:nvSpPr>
            <p:spPr bwMode="auto">
              <a:xfrm>
                <a:off x="2544" y="864"/>
                <a:ext cx="108" cy="108"/>
              </a:xfrm>
              <a:prstGeom prst="ellipse">
                <a:avLst/>
              </a:prstGeom>
              <a:solidFill>
                <a:schemeClr val="accent1"/>
              </a:solidFill>
              <a:ln w="12699">
                <a:noFill/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pPr latinLnBrk="1">
                  <a:defRPr/>
                </a:pPr>
                <a:endParaRPr kumimoji="1" lang="en-US" sz="1800" b="0">
                  <a:solidFill>
                    <a:srgbClr val="B1E2FB"/>
                  </a:solidFill>
                  <a:latin typeface="Franklin Gothic Heavy" pitchFamily="34" charset="0"/>
                  <a:ea typeface="굴림" pitchFamily="50" charset="-127"/>
                </a:endParaRPr>
              </a:p>
            </p:txBody>
          </p:sp>
          <p:sp>
            <p:nvSpPr>
              <p:cNvPr id="22" name="Oval 17"/>
              <p:cNvSpPr>
                <a:spLocks noChangeArrowheads="1"/>
              </p:cNvSpPr>
              <p:nvPr/>
            </p:nvSpPr>
            <p:spPr bwMode="auto">
              <a:xfrm>
                <a:off x="2544" y="1248"/>
                <a:ext cx="108" cy="108"/>
              </a:xfrm>
              <a:prstGeom prst="ellipse">
                <a:avLst/>
              </a:prstGeom>
              <a:solidFill>
                <a:schemeClr val="accent1"/>
              </a:solidFill>
              <a:ln w="12699">
                <a:noFill/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pPr latinLnBrk="1">
                  <a:defRPr/>
                </a:pPr>
                <a:endParaRPr kumimoji="1" lang="en-US" sz="1800" b="0">
                  <a:solidFill>
                    <a:srgbClr val="B1E2FB"/>
                  </a:solidFill>
                  <a:latin typeface="Franklin Gothic Heavy" pitchFamily="34" charset="0"/>
                  <a:ea typeface="굴림" pitchFamily="50" charset="-127"/>
                </a:endParaRPr>
              </a:p>
            </p:txBody>
          </p:sp>
          <p:sp>
            <p:nvSpPr>
              <p:cNvPr id="23" name="Oval 18"/>
              <p:cNvSpPr>
                <a:spLocks noChangeArrowheads="1"/>
              </p:cNvSpPr>
              <p:nvPr/>
            </p:nvSpPr>
            <p:spPr bwMode="auto">
              <a:xfrm>
                <a:off x="2544" y="1632"/>
                <a:ext cx="108" cy="108"/>
              </a:xfrm>
              <a:prstGeom prst="ellipse">
                <a:avLst/>
              </a:prstGeom>
              <a:solidFill>
                <a:schemeClr val="accent1"/>
              </a:solidFill>
              <a:ln w="12699">
                <a:noFill/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pPr latinLnBrk="1">
                  <a:defRPr/>
                </a:pPr>
                <a:endParaRPr kumimoji="1" lang="en-US" sz="1800" b="0">
                  <a:solidFill>
                    <a:srgbClr val="B1E2FB"/>
                  </a:solidFill>
                  <a:latin typeface="Franklin Gothic Heavy" pitchFamily="34" charset="0"/>
                  <a:ea typeface="굴림" pitchFamily="50" charset="-127"/>
                </a:endParaRPr>
              </a:p>
            </p:txBody>
          </p:sp>
          <p:sp>
            <p:nvSpPr>
              <p:cNvPr id="24" name="Oval 19"/>
              <p:cNvSpPr>
                <a:spLocks noChangeArrowheads="1"/>
              </p:cNvSpPr>
              <p:nvPr/>
            </p:nvSpPr>
            <p:spPr bwMode="auto">
              <a:xfrm>
                <a:off x="2544" y="2004"/>
                <a:ext cx="108" cy="108"/>
              </a:xfrm>
              <a:prstGeom prst="ellipse">
                <a:avLst/>
              </a:prstGeom>
              <a:solidFill>
                <a:schemeClr val="accent1"/>
              </a:solidFill>
              <a:ln w="12699">
                <a:noFill/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pPr latinLnBrk="1">
                  <a:defRPr/>
                </a:pPr>
                <a:endParaRPr kumimoji="1" lang="en-US" sz="1800" b="0">
                  <a:solidFill>
                    <a:srgbClr val="B1E2FB"/>
                  </a:solidFill>
                  <a:latin typeface="Franklin Gothic Heavy" pitchFamily="34" charset="0"/>
                  <a:ea typeface="굴림" pitchFamily="50" charset="-127"/>
                </a:endParaRPr>
              </a:p>
            </p:txBody>
          </p:sp>
          <p:sp>
            <p:nvSpPr>
              <p:cNvPr id="25" name="Oval 20"/>
              <p:cNvSpPr>
                <a:spLocks noChangeArrowheads="1"/>
              </p:cNvSpPr>
              <p:nvPr/>
            </p:nvSpPr>
            <p:spPr bwMode="auto">
              <a:xfrm>
                <a:off x="2544" y="2388"/>
                <a:ext cx="108" cy="108"/>
              </a:xfrm>
              <a:prstGeom prst="ellipse">
                <a:avLst/>
              </a:prstGeom>
              <a:solidFill>
                <a:schemeClr val="accent1"/>
              </a:solidFill>
              <a:ln w="12699">
                <a:noFill/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pPr latinLnBrk="1">
                  <a:defRPr/>
                </a:pPr>
                <a:endParaRPr kumimoji="1" lang="en-US" sz="1800" b="0">
                  <a:solidFill>
                    <a:srgbClr val="B1E2FB"/>
                  </a:solidFill>
                  <a:latin typeface="Franklin Gothic Heavy" pitchFamily="34" charset="0"/>
                  <a:ea typeface="굴림" pitchFamily="50" charset="-127"/>
                </a:endParaRPr>
              </a:p>
            </p:txBody>
          </p:sp>
          <p:sp>
            <p:nvSpPr>
              <p:cNvPr id="26" name="Oval 21"/>
              <p:cNvSpPr>
                <a:spLocks noChangeArrowheads="1"/>
              </p:cNvSpPr>
              <p:nvPr/>
            </p:nvSpPr>
            <p:spPr bwMode="auto">
              <a:xfrm>
                <a:off x="2544" y="2820"/>
                <a:ext cx="108" cy="108"/>
              </a:xfrm>
              <a:prstGeom prst="ellipse">
                <a:avLst/>
              </a:prstGeom>
              <a:solidFill>
                <a:schemeClr val="accent1"/>
              </a:solidFill>
              <a:ln w="12699">
                <a:noFill/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pPr latinLnBrk="1">
                  <a:defRPr/>
                </a:pPr>
                <a:endParaRPr kumimoji="1" lang="en-US" sz="1800" b="0">
                  <a:solidFill>
                    <a:srgbClr val="B1E2FB"/>
                  </a:solidFill>
                  <a:latin typeface="Franklin Gothic Heavy" pitchFamily="34" charset="0"/>
                  <a:ea typeface="굴림" pitchFamily="50" charset="-127"/>
                </a:endParaRPr>
              </a:p>
            </p:txBody>
          </p:sp>
          <p:sp>
            <p:nvSpPr>
              <p:cNvPr id="27" name="Oval 22"/>
              <p:cNvSpPr>
                <a:spLocks noChangeArrowheads="1"/>
              </p:cNvSpPr>
              <p:nvPr/>
            </p:nvSpPr>
            <p:spPr bwMode="auto">
              <a:xfrm>
                <a:off x="2544" y="3396"/>
                <a:ext cx="108" cy="108"/>
              </a:xfrm>
              <a:prstGeom prst="ellipse">
                <a:avLst/>
              </a:prstGeom>
              <a:solidFill>
                <a:schemeClr val="accent1"/>
              </a:solidFill>
              <a:ln w="12699">
                <a:noFill/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pPr latinLnBrk="1">
                  <a:defRPr/>
                </a:pPr>
                <a:endParaRPr kumimoji="1" lang="en-US" sz="1800" b="0">
                  <a:solidFill>
                    <a:srgbClr val="B1E2FB"/>
                  </a:solidFill>
                  <a:latin typeface="Franklin Gothic Heavy" pitchFamily="34" charset="0"/>
                  <a:ea typeface="굴림" pitchFamily="50" charset="-127"/>
                </a:endParaRPr>
              </a:p>
            </p:txBody>
          </p:sp>
        </p:grpSp>
      </p:grpSp>
      <p:sp>
        <p:nvSpPr>
          <p:cNvPr id="28" name="Oval 23"/>
          <p:cNvSpPr>
            <a:spLocks noChangeArrowheads="1"/>
          </p:cNvSpPr>
          <p:nvPr/>
        </p:nvSpPr>
        <p:spPr bwMode="auto">
          <a:xfrm>
            <a:off x="3563888" y="6000750"/>
            <a:ext cx="171450" cy="171450"/>
          </a:xfrm>
          <a:prstGeom prst="ellipse">
            <a:avLst/>
          </a:prstGeom>
          <a:solidFill>
            <a:schemeClr val="accent1"/>
          </a:solidFill>
          <a:ln w="12699">
            <a:noFill/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latinLnBrk="1">
              <a:defRPr/>
            </a:pPr>
            <a:endParaRPr kumimoji="1" lang="en-US" sz="1800" b="0">
              <a:solidFill>
                <a:srgbClr val="B1E2FB"/>
              </a:solidFill>
              <a:latin typeface="Franklin Gothic Heavy" pitchFamily="34" charset="0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00657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utoUpdateAnimBg="0"/>
      <p:bldP spid="2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noFill/>
        </p:spPr>
        <p:txBody>
          <a:bodyPr/>
          <a:lstStyle/>
          <a:p>
            <a:pPr algn="ctr" latinLnBrk="1">
              <a:defRPr/>
            </a:pPr>
            <a:endParaRPr kumimoji="1" lang="en-US" altLang="ko-KR" sz="3600" dirty="0">
              <a:solidFill>
                <a:srgbClr val="FFC000"/>
              </a:solidFill>
              <a:ea typeface="굴림" pitchFamily="50" charset="-127"/>
              <a:cs typeface="Times New Roman" pitchFamily="18" charset="0"/>
            </a:endParaRPr>
          </a:p>
        </p:txBody>
      </p: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107950" y="1219200"/>
            <a:ext cx="3384550" cy="4343400"/>
            <a:chOff x="68" y="768"/>
            <a:chExt cx="2132" cy="2736"/>
          </a:xfrm>
        </p:grpSpPr>
        <p:sp>
          <p:nvSpPr>
            <p:cNvPr id="5" name="AutoShape 4"/>
            <p:cNvSpPr>
              <a:spLocks noChangeArrowheads="1"/>
            </p:cNvSpPr>
            <p:nvPr/>
          </p:nvSpPr>
          <p:spPr bwMode="auto">
            <a:xfrm>
              <a:off x="88" y="768"/>
              <a:ext cx="2112" cy="2736"/>
            </a:xfrm>
            <a:prstGeom prst="homePlate">
              <a:avLst>
                <a:gd name="adj" fmla="val 33333"/>
              </a:avLst>
            </a:prstGeom>
            <a:solidFill>
              <a:schemeClr val="bg2"/>
            </a:solidFill>
            <a:ln w="12699">
              <a:solidFill>
                <a:schemeClr val="bg2"/>
              </a:solidFill>
              <a:miter lim="800000"/>
              <a:headEnd/>
              <a:tailEnd/>
            </a:ln>
            <a:effectLst>
              <a:outerShdw dist="53882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latinLnBrk="1">
                <a:defRPr/>
              </a:pPr>
              <a:endParaRPr kumimoji="1" lang="en-US" sz="1800" b="0">
                <a:solidFill>
                  <a:srgbClr val="B1E2FB"/>
                </a:solidFill>
                <a:latin typeface="Franklin Gothic Heavy" pitchFamily="34" charset="0"/>
                <a:ea typeface="굴림" pitchFamily="50" charset="-127"/>
              </a:endParaRPr>
            </a:p>
          </p:txBody>
        </p:sp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68" y="1064"/>
              <a:ext cx="1696" cy="440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  <a:effectLst>
              <a:outerShdw dist="17961" dir="2700000" algn="ctr" rotWithShape="0">
                <a:schemeClr val="bg2"/>
              </a:outerShdw>
            </a:effectLst>
          </p:spPr>
          <p:txBody>
            <a:bodyPr lIns="90488" tIns="44450" rIns="90488" bIns="44450">
              <a:spAutoFit/>
            </a:bodyPr>
            <a:lstStyle/>
            <a:p>
              <a:pPr eaLnBrk="0" latinLnBrk="1" hangingPunct="0">
                <a:defRPr/>
              </a:pPr>
              <a:r>
                <a:rPr kumimoji="1" lang="en-US" sz="2000" b="0" dirty="0">
                  <a:solidFill>
                    <a:srgbClr val="B1E2FB"/>
                  </a:solidFill>
                  <a:ea typeface="굴림" pitchFamily="50" charset="-127"/>
                </a:rPr>
                <a:t>Suppliers exert power in the industry by:</a:t>
              </a:r>
            </a:p>
          </p:txBody>
        </p:sp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68" y="1648"/>
              <a:ext cx="2072" cy="248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  <a:effectLst>
              <a:outerShdw dist="17961" dir="2700000" algn="ctr" rotWithShape="0">
                <a:schemeClr val="bg2"/>
              </a:outerShdw>
            </a:effectLst>
          </p:spPr>
          <p:txBody>
            <a:bodyPr lIns="90488" tIns="44450" rIns="90488" bIns="44450">
              <a:spAutoFit/>
            </a:bodyPr>
            <a:lstStyle/>
            <a:p>
              <a:pPr eaLnBrk="0" latinLnBrk="1" hangingPunct="0">
                <a:defRPr/>
              </a:pPr>
              <a:r>
                <a:rPr kumimoji="1" lang="en-US" sz="2000" b="0">
                  <a:solidFill>
                    <a:srgbClr val="B1E2FB"/>
                  </a:solidFill>
                  <a:ea typeface="굴림" pitchFamily="50" charset="-127"/>
                </a:rPr>
                <a:t>* </a:t>
              </a:r>
              <a:r>
                <a:rPr kumimoji="1" lang="en-US" sz="2000" b="0" i="1">
                  <a:solidFill>
                    <a:srgbClr val="B1E2FB"/>
                  </a:solidFill>
                  <a:ea typeface="굴림" pitchFamily="50" charset="-127"/>
                </a:rPr>
                <a:t>Threatening to raise</a:t>
              </a:r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212" y="1840"/>
              <a:ext cx="1928" cy="248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  <a:effectLst>
              <a:outerShdw dist="17961" dir="2700000" algn="ctr" rotWithShape="0">
                <a:schemeClr val="bg2"/>
              </a:outerShdw>
            </a:effectLst>
          </p:spPr>
          <p:txBody>
            <a:bodyPr lIns="90488" tIns="44450" rIns="90488" bIns="44450">
              <a:spAutoFit/>
            </a:bodyPr>
            <a:lstStyle/>
            <a:p>
              <a:pPr eaLnBrk="0" latinLnBrk="1" hangingPunct="0">
                <a:defRPr/>
              </a:pPr>
              <a:r>
                <a:rPr kumimoji="1" lang="en-US" sz="2000" b="0" i="1" dirty="0">
                  <a:solidFill>
                    <a:srgbClr val="B1E2FB"/>
                  </a:solidFill>
                  <a:ea typeface="굴림" pitchFamily="50" charset="-127"/>
                </a:rPr>
                <a:t>prices or to reduce quality</a:t>
              </a:r>
            </a:p>
          </p:txBody>
        </p:sp>
        <p:sp>
          <p:nvSpPr>
            <p:cNvPr id="10" name="Rectangle 8"/>
            <p:cNvSpPr>
              <a:spLocks noChangeArrowheads="1"/>
            </p:cNvSpPr>
            <p:nvPr/>
          </p:nvSpPr>
          <p:spPr bwMode="auto">
            <a:xfrm>
              <a:off x="68" y="2199"/>
              <a:ext cx="1769" cy="832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  <a:effectLst>
              <a:outerShdw dist="17961" dir="2700000" algn="ctr" rotWithShape="0">
                <a:schemeClr val="bg2"/>
              </a:outerShdw>
            </a:effectLst>
          </p:spPr>
          <p:txBody>
            <a:bodyPr wrap="square" lIns="90488" tIns="44450" rIns="90488" bIns="44450">
              <a:spAutoFit/>
            </a:bodyPr>
            <a:lstStyle/>
            <a:p>
              <a:pPr eaLnBrk="0" latinLnBrk="1" hangingPunct="0">
                <a:defRPr/>
              </a:pPr>
              <a:r>
                <a:rPr kumimoji="1" lang="en-US" sz="2000" b="0" dirty="0">
                  <a:solidFill>
                    <a:srgbClr val="B1E2FB"/>
                  </a:solidFill>
                  <a:ea typeface="굴림" pitchFamily="50" charset="-127"/>
                </a:rPr>
                <a:t>Powerful suppliers can    squeeze industry profit-  ability if firms are unable to recover cost increases</a:t>
              </a:r>
            </a:p>
          </p:txBody>
        </p:sp>
      </p:grp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3491880" y="1217884"/>
            <a:ext cx="4792980" cy="440633"/>
          </a:xfrm>
          <a:prstGeom prst="rect">
            <a:avLst/>
          </a:prstGeom>
          <a:noFill/>
          <a:ln w="12699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latinLnBrk="1" hangingPunct="0">
              <a:lnSpc>
                <a:spcPct val="95000"/>
              </a:lnSpc>
              <a:defRPr/>
            </a:pPr>
            <a:r>
              <a:rPr kumimoji="1" lang="en-US" b="0">
                <a:solidFill>
                  <a:srgbClr val="B1E2FB"/>
                </a:solidFill>
                <a:effectLst>
                  <a:outerShdw blurRad="38100" dist="38100" dir="2700000" algn="tl">
                    <a:srgbClr val="010199"/>
                  </a:outerShdw>
                </a:effectLst>
                <a:ea typeface="굴림" pitchFamily="50" charset="-127"/>
              </a:rPr>
              <a:t>Suppliers are likely to be powerful if:</a:t>
            </a:r>
          </a:p>
        </p:txBody>
      </p:sp>
      <p:grpSp>
        <p:nvGrpSpPr>
          <p:cNvPr id="12" name="Group 10"/>
          <p:cNvGrpSpPr>
            <a:grpSpLocks/>
          </p:cNvGrpSpPr>
          <p:nvPr/>
        </p:nvGrpSpPr>
        <p:grpSpPr bwMode="auto">
          <a:xfrm>
            <a:off x="3563317" y="1851297"/>
            <a:ext cx="5580063" cy="4818063"/>
            <a:chOff x="2244" y="939"/>
            <a:chExt cx="3515" cy="3035"/>
          </a:xfrm>
        </p:grpSpPr>
        <p:sp>
          <p:nvSpPr>
            <p:cNvPr id="13" name="Rectangle 11"/>
            <p:cNvSpPr>
              <a:spLocks noChangeArrowheads="1"/>
            </p:cNvSpPr>
            <p:nvPr/>
          </p:nvSpPr>
          <p:spPr bwMode="auto">
            <a:xfrm>
              <a:off x="2417" y="939"/>
              <a:ext cx="3032" cy="475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 eaLnBrk="0" latinLnBrk="1" hangingPunct="0">
                <a:lnSpc>
                  <a:spcPct val="90000"/>
                </a:lnSpc>
                <a:defRPr/>
              </a:pPr>
              <a:r>
                <a:rPr kumimoji="1" lang="en-US" b="0" dirty="0">
                  <a:solidFill>
                    <a:srgbClr val="B1E2FB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굴림" pitchFamily="50" charset="-127"/>
                </a:rPr>
                <a:t>The supplier industry is dominated by a few firms</a:t>
              </a:r>
            </a:p>
          </p:txBody>
        </p:sp>
        <p:sp>
          <p:nvSpPr>
            <p:cNvPr id="14" name="Rectangle 12"/>
            <p:cNvSpPr>
              <a:spLocks noChangeArrowheads="1"/>
            </p:cNvSpPr>
            <p:nvPr/>
          </p:nvSpPr>
          <p:spPr bwMode="auto">
            <a:xfrm>
              <a:off x="2417" y="1424"/>
              <a:ext cx="3334" cy="266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 eaLnBrk="0" latinLnBrk="1" hangingPunct="0">
                <a:lnSpc>
                  <a:spcPct val="90000"/>
                </a:lnSpc>
                <a:defRPr/>
              </a:pPr>
              <a:r>
                <a:rPr kumimoji="1" lang="en-US" b="0" dirty="0">
                  <a:solidFill>
                    <a:srgbClr val="B1E2FB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굴림" pitchFamily="50" charset="-127"/>
                </a:rPr>
                <a:t>Suppliers’ products have few substitutes</a:t>
              </a:r>
            </a:p>
          </p:txBody>
        </p:sp>
        <p:sp>
          <p:nvSpPr>
            <p:cNvPr id="15" name="Rectangle 13"/>
            <p:cNvSpPr>
              <a:spLocks noChangeArrowheads="1"/>
            </p:cNvSpPr>
            <p:nvPr/>
          </p:nvSpPr>
          <p:spPr bwMode="auto">
            <a:xfrm>
              <a:off x="2417" y="1752"/>
              <a:ext cx="3062" cy="475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 eaLnBrk="0" latinLnBrk="1" hangingPunct="0">
                <a:lnSpc>
                  <a:spcPct val="90000"/>
                </a:lnSpc>
                <a:defRPr/>
              </a:pPr>
              <a:r>
                <a:rPr kumimoji="1" lang="en-US" b="0" dirty="0">
                  <a:solidFill>
                    <a:srgbClr val="B1E2FB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굴림" pitchFamily="50" charset="-127"/>
                </a:rPr>
                <a:t>Buyer is not an important customer to supplier</a:t>
              </a:r>
            </a:p>
          </p:txBody>
        </p:sp>
        <p:sp>
          <p:nvSpPr>
            <p:cNvPr id="16" name="Rectangle 14"/>
            <p:cNvSpPr>
              <a:spLocks noChangeArrowheads="1"/>
            </p:cNvSpPr>
            <p:nvPr/>
          </p:nvSpPr>
          <p:spPr bwMode="auto">
            <a:xfrm>
              <a:off x="2417" y="2251"/>
              <a:ext cx="3184" cy="475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  <a:effectLst/>
          </p:spPr>
          <p:txBody>
            <a:bodyPr wrap="square" lIns="90488" tIns="44450" rIns="90488" bIns="44450">
              <a:spAutoFit/>
            </a:bodyPr>
            <a:lstStyle/>
            <a:p>
              <a:pPr eaLnBrk="0" latinLnBrk="1" hangingPunct="0">
                <a:lnSpc>
                  <a:spcPct val="90000"/>
                </a:lnSpc>
                <a:defRPr/>
              </a:pPr>
              <a:r>
                <a:rPr kumimoji="1" lang="en-US" b="0" dirty="0">
                  <a:solidFill>
                    <a:srgbClr val="B1E2FB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굴림" pitchFamily="50" charset="-127"/>
                </a:rPr>
                <a:t>Suppliers’ product is an important input to buyers’ product</a:t>
              </a:r>
            </a:p>
          </p:txBody>
        </p:sp>
        <p:sp>
          <p:nvSpPr>
            <p:cNvPr id="17" name="Rectangle 15"/>
            <p:cNvSpPr>
              <a:spLocks noChangeArrowheads="1"/>
            </p:cNvSpPr>
            <p:nvPr/>
          </p:nvSpPr>
          <p:spPr bwMode="auto">
            <a:xfrm>
              <a:off x="2417" y="2750"/>
              <a:ext cx="3334" cy="266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 eaLnBrk="0" latinLnBrk="1" hangingPunct="0">
                <a:lnSpc>
                  <a:spcPct val="90000"/>
                </a:lnSpc>
                <a:defRPr/>
              </a:pPr>
              <a:r>
                <a:rPr kumimoji="1" lang="en-US" b="0" dirty="0">
                  <a:solidFill>
                    <a:srgbClr val="B1E2FB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굴림" pitchFamily="50" charset="-127"/>
                </a:rPr>
                <a:t>Suppliers’ products are differentiated</a:t>
              </a:r>
            </a:p>
          </p:txBody>
        </p:sp>
        <p:sp>
          <p:nvSpPr>
            <p:cNvPr id="18" name="Rectangle 16"/>
            <p:cNvSpPr>
              <a:spLocks noChangeArrowheads="1"/>
            </p:cNvSpPr>
            <p:nvPr/>
          </p:nvSpPr>
          <p:spPr bwMode="auto">
            <a:xfrm>
              <a:off x="2417" y="3022"/>
              <a:ext cx="3229" cy="475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  <a:effectLst/>
          </p:spPr>
          <p:txBody>
            <a:bodyPr wrap="square" lIns="90488" tIns="44450" rIns="90488" bIns="44450">
              <a:spAutoFit/>
            </a:bodyPr>
            <a:lstStyle/>
            <a:p>
              <a:pPr eaLnBrk="0" latinLnBrk="1" hangingPunct="0">
                <a:lnSpc>
                  <a:spcPct val="90000"/>
                </a:lnSpc>
                <a:defRPr/>
              </a:pPr>
              <a:r>
                <a:rPr kumimoji="1" lang="en-US" b="0" dirty="0">
                  <a:solidFill>
                    <a:srgbClr val="B1E2FB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굴림" pitchFamily="50" charset="-127"/>
                </a:rPr>
                <a:t>Suppliers’ products have high switching costs</a:t>
              </a:r>
            </a:p>
          </p:txBody>
        </p:sp>
        <p:sp>
          <p:nvSpPr>
            <p:cNvPr id="19" name="Rectangle 17"/>
            <p:cNvSpPr>
              <a:spLocks noChangeArrowheads="1"/>
            </p:cNvSpPr>
            <p:nvPr/>
          </p:nvSpPr>
          <p:spPr bwMode="auto">
            <a:xfrm>
              <a:off x="2417" y="3499"/>
              <a:ext cx="3342" cy="475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  <a:effectLst/>
          </p:spPr>
          <p:txBody>
            <a:bodyPr wrap="square" lIns="90488" tIns="44450" rIns="90488" bIns="44450">
              <a:spAutoFit/>
            </a:bodyPr>
            <a:lstStyle/>
            <a:p>
              <a:pPr eaLnBrk="0" latinLnBrk="1" hangingPunct="0">
                <a:lnSpc>
                  <a:spcPct val="90000"/>
                </a:lnSpc>
                <a:defRPr/>
              </a:pPr>
              <a:r>
                <a:rPr kumimoji="1" lang="en-US" b="0" dirty="0">
                  <a:solidFill>
                    <a:srgbClr val="B1E2FB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굴림" pitchFamily="50" charset="-127"/>
                </a:rPr>
                <a:t>Supplier poses credible threat of forward integration</a:t>
              </a:r>
            </a:p>
          </p:txBody>
        </p:sp>
        <p:sp>
          <p:nvSpPr>
            <p:cNvPr id="20" name="Oval 18"/>
            <p:cNvSpPr>
              <a:spLocks noChangeArrowheads="1"/>
            </p:cNvSpPr>
            <p:nvPr/>
          </p:nvSpPr>
          <p:spPr bwMode="auto">
            <a:xfrm>
              <a:off x="2244" y="1008"/>
              <a:ext cx="108" cy="108"/>
            </a:xfrm>
            <a:prstGeom prst="ellipse">
              <a:avLst/>
            </a:prstGeom>
            <a:solidFill>
              <a:schemeClr val="accent1"/>
            </a:solidFill>
            <a:ln w="12699">
              <a:noFill/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latinLnBrk="1">
                <a:defRPr/>
              </a:pPr>
              <a:endParaRPr kumimoji="1" lang="en-US" sz="1800" b="0" dirty="0">
                <a:solidFill>
                  <a:srgbClr val="003399">
                    <a:lumMod val="40000"/>
                    <a:lumOff val="60000"/>
                  </a:srgbClr>
                </a:solidFill>
                <a:latin typeface="Franklin Gothic Heavy" pitchFamily="34" charset="0"/>
                <a:ea typeface="굴림" pitchFamily="50" charset="-127"/>
              </a:endParaRPr>
            </a:p>
          </p:txBody>
        </p:sp>
        <p:sp>
          <p:nvSpPr>
            <p:cNvPr id="21" name="Oval 19"/>
            <p:cNvSpPr>
              <a:spLocks noChangeArrowheads="1"/>
            </p:cNvSpPr>
            <p:nvPr/>
          </p:nvSpPr>
          <p:spPr bwMode="auto">
            <a:xfrm>
              <a:off x="2244" y="1488"/>
              <a:ext cx="108" cy="108"/>
            </a:xfrm>
            <a:prstGeom prst="ellipse">
              <a:avLst/>
            </a:prstGeom>
            <a:solidFill>
              <a:schemeClr val="accent1"/>
            </a:solidFill>
            <a:ln w="12699">
              <a:noFill/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latinLnBrk="1">
                <a:defRPr/>
              </a:pPr>
              <a:endParaRPr kumimoji="1" lang="en-US" sz="1800" b="0">
                <a:solidFill>
                  <a:srgbClr val="003399">
                    <a:lumMod val="40000"/>
                    <a:lumOff val="60000"/>
                  </a:srgbClr>
                </a:solidFill>
                <a:latin typeface="Franklin Gothic Heavy" pitchFamily="34" charset="0"/>
                <a:ea typeface="굴림" pitchFamily="50" charset="-127"/>
              </a:endParaRPr>
            </a:p>
          </p:txBody>
        </p:sp>
        <p:sp>
          <p:nvSpPr>
            <p:cNvPr id="22" name="Oval 20"/>
            <p:cNvSpPr>
              <a:spLocks noChangeArrowheads="1"/>
            </p:cNvSpPr>
            <p:nvPr/>
          </p:nvSpPr>
          <p:spPr bwMode="auto">
            <a:xfrm>
              <a:off x="2244" y="1842"/>
              <a:ext cx="108" cy="108"/>
            </a:xfrm>
            <a:prstGeom prst="ellipse">
              <a:avLst/>
            </a:prstGeom>
            <a:solidFill>
              <a:schemeClr val="accent1"/>
            </a:solidFill>
            <a:ln w="12699">
              <a:noFill/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latinLnBrk="1">
                <a:defRPr/>
              </a:pPr>
              <a:endParaRPr kumimoji="1" lang="en-US" sz="1800" b="0">
                <a:solidFill>
                  <a:srgbClr val="003399">
                    <a:lumMod val="40000"/>
                    <a:lumOff val="60000"/>
                  </a:srgbClr>
                </a:solidFill>
                <a:latin typeface="Franklin Gothic Heavy" pitchFamily="34" charset="0"/>
                <a:ea typeface="굴림" pitchFamily="50" charset="-127"/>
              </a:endParaRPr>
            </a:p>
          </p:txBody>
        </p:sp>
        <p:sp>
          <p:nvSpPr>
            <p:cNvPr id="23" name="Oval 21"/>
            <p:cNvSpPr>
              <a:spLocks noChangeArrowheads="1"/>
            </p:cNvSpPr>
            <p:nvPr/>
          </p:nvSpPr>
          <p:spPr bwMode="auto">
            <a:xfrm>
              <a:off x="2244" y="2341"/>
              <a:ext cx="108" cy="108"/>
            </a:xfrm>
            <a:prstGeom prst="ellipse">
              <a:avLst/>
            </a:prstGeom>
            <a:solidFill>
              <a:schemeClr val="accent1"/>
            </a:solidFill>
            <a:ln w="12699">
              <a:noFill/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latinLnBrk="1">
                <a:defRPr/>
              </a:pPr>
              <a:endParaRPr kumimoji="1" lang="en-US" sz="1800" b="0">
                <a:solidFill>
                  <a:srgbClr val="003399">
                    <a:lumMod val="40000"/>
                    <a:lumOff val="60000"/>
                  </a:srgbClr>
                </a:solidFill>
                <a:latin typeface="Franklin Gothic Heavy" pitchFamily="34" charset="0"/>
                <a:ea typeface="굴림" pitchFamily="50" charset="-127"/>
              </a:endParaRPr>
            </a:p>
          </p:txBody>
        </p:sp>
        <p:sp>
          <p:nvSpPr>
            <p:cNvPr id="24" name="Oval 22"/>
            <p:cNvSpPr>
              <a:spLocks noChangeArrowheads="1"/>
            </p:cNvSpPr>
            <p:nvPr/>
          </p:nvSpPr>
          <p:spPr bwMode="auto">
            <a:xfrm>
              <a:off x="2244" y="2823"/>
              <a:ext cx="108" cy="108"/>
            </a:xfrm>
            <a:prstGeom prst="ellipse">
              <a:avLst/>
            </a:prstGeom>
            <a:solidFill>
              <a:schemeClr val="accent1"/>
            </a:solidFill>
            <a:ln w="12699">
              <a:noFill/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latinLnBrk="1">
                <a:defRPr/>
              </a:pPr>
              <a:endParaRPr kumimoji="1" lang="en-US" sz="1800" b="0">
                <a:solidFill>
                  <a:srgbClr val="003399">
                    <a:lumMod val="40000"/>
                    <a:lumOff val="60000"/>
                  </a:srgbClr>
                </a:solidFill>
                <a:latin typeface="Franklin Gothic Heavy" pitchFamily="34" charset="0"/>
                <a:ea typeface="굴림" pitchFamily="50" charset="-127"/>
              </a:endParaRPr>
            </a:p>
          </p:txBody>
        </p:sp>
        <p:sp>
          <p:nvSpPr>
            <p:cNvPr id="25" name="Oval 23"/>
            <p:cNvSpPr>
              <a:spLocks noChangeArrowheads="1"/>
            </p:cNvSpPr>
            <p:nvPr/>
          </p:nvSpPr>
          <p:spPr bwMode="auto">
            <a:xfrm>
              <a:off x="2244" y="3095"/>
              <a:ext cx="108" cy="108"/>
            </a:xfrm>
            <a:prstGeom prst="ellipse">
              <a:avLst/>
            </a:prstGeom>
            <a:solidFill>
              <a:schemeClr val="accent1"/>
            </a:solidFill>
            <a:ln w="12699">
              <a:noFill/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latinLnBrk="1">
                <a:defRPr/>
              </a:pPr>
              <a:endParaRPr kumimoji="1" lang="en-US" sz="1800" b="0">
                <a:solidFill>
                  <a:srgbClr val="003399">
                    <a:lumMod val="40000"/>
                    <a:lumOff val="60000"/>
                  </a:srgbClr>
                </a:solidFill>
                <a:latin typeface="Franklin Gothic Heavy" pitchFamily="34" charset="0"/>
                <a:ea typeface="굴림" pitchFamily="50" charset="-127"/>
              </a:endParaRPr>
            </a:p>
          </p:txBody>
        </p:sp>
        <p:sp>
          <p:nvSpPr>
            <p:cNvPr id="26" name="Oval 24"/>
            <p:cNvSpPr>
              <a:spLocks noChangeArrowheads="1"/>
            </p:cNvSpPr>
            <p:nvPr/>
          </p:nvSpPr>
          <p:spPr bwMode="auto">
            <a:xfrm>
              <a:off x="2244" y="3566"/>
              <a:ext cx="108" cy="108"/>
            </a:xfrm>
            <a:prstGeom prst="ellipse">
              <a:avLst/>
            </a:prstGeom>
            <a:solidFill>
              <a:schemeClr val="accent1"/>
            </a:solidFill>
            <a:ln w="12699">
              <a:noFill/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latinLnBrk="1">
                <a:defRPr/>
              </a:pPr>
              <a:endParaRPr kumimoji="1" lang="en-US" sz="1800" b="0">
                <a:solidFill>
                  <a:srgbClr val="003399">
                    <a:lumMod val="40000"/>
                    <a:lumOff val="60000"/>
                  </a:srgbClr>
                </a:solidFill>
                <a:latin typeface="Franklin Gothic Heavy" pitchFamily="34" charset="0"/>
                <a:ea typeface="굴림" pitchFamily="50" charset="-127"/>
              </a:endParaRPr>
            </a:p>
          </p:txBody>
        </p:sp>
      </p:grpSp>
      <p:sp>
        <p:nvSpPr>
          <p:cNvPr id="27" name="Rectangle 2"/>
          <p:cNvSpPr txBox="1">
            <a:spLocks noChangeArrowheads="1"/>
          </p:cNvSpPr>
          <p:nvPr/>
        </p:nvSpPr>
        <p:spPr>
          <a:xfrm>
            <a:off x="0" y="260648"/>
            <a:ext cx="9144000" cy="563562"/>
          </a:xfrm>
          <a:prstGeom prst="rect">
            <a:avLst/>
          </a:prstGeom>
          <a:noFill/>
        </p:spPr>
        <p:txBody>
          <a:bodyPr/>
          <a:lstStyle/>
          <a:p>
            <a:pPr algn="ctr" latinLnBrk="1">
              <a:defRPr/>
            </a:pPr>
            <a:r>
              <a:rPr lang="en-US" altLang="ko-KR" sz="3600" kern="0" dirty="0">
                <a:solidFill>
                  <a:srgbClr val="FFC000"/>
                </a:solidFill>
                <a:ea typeface="굴림" pitchFamily="50" charset="-127"/>
                <a:cs typeface="Times New Roman" pitchFamily="18" charset="0"/>
              </a:rPr>
              <a:t>Bargaining Power of Suppliers</a:t>
            </a:r>
          </a:p>
        </p:txBody>
      </p:sp>
    </p:spTree>
    <p:extLst>
      <p:ext uri="{BB962C8B-B14F-4D97-AF65-F5344CB8AC3E}">
        <p14:creationId xmlns:p14="http://schemas.microsoft.com/office/powerpoint/2010/main" val="836660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noFill/>
        </p:spPr>
        <p:txBody>
          <a:bodyPr/>
          <a:lstStyle/>
          <a:p>
            <a:pPr algn="ctr" latinLnBrk="1">
              <a:defRPr/>
            </a:pPr>
            <a:endParaRPr kumimoji="1" lang="en-US" altLang="ko-KR" sz="3600" dirty="0">
              <a:solidFill>
                <a:srgbClr val="FFC000"/>
              </a:solidFill>
              <a:ea typeface="굴림" pitchFamily="50" charset="-127"/>
              <a:cs typeface="Times New Roman" pitchFamily="18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260648"/>
            <a:ext cx="9144000" cy="563562"/>
          </a:xfrm>
          <a:prstGeom prst="rect">
            <a:avLst/>
          </a:prstGeom>
          <a:noFill/>
        </p:spPr>
        <p:txBody>
          <a:bodyPr/>
          <a:lstStyle/>
          <a:p>
            <a:pPr algn="ctr" latinLnBrk="1">
              <a:defRPr/>
            </a:pPr>
            <a:r>
              <a:rPr lang="en-US" altLang="ko-KR" sz="3600" kern="0" dirty="0">
                <a:solidFill>
                  <a:srgbClr val="FFC000"/>
                </a:solidFill>
                <a:ea typeface="굴림" pitchFamily="50" charset="-127"/>
                <a:cs typeface="Times New Roman" pitchFamily="18" charset="0"/>
              </a:rPr>
              <a:t>Bargaining Power of Buyers</a:t>
            </a:r>
          </a:p>
        </p:txBody>
      </p:sp>
      <p:grpSp>
        <p:nvGrpSpPr>
          <p:cNvPr id="5" name="Group 3"/>
          <p:cNvGrpSpPr>
            <a:grpSpLocks/>
          </p:cNvGrpSpPr>
          <p:nvPr/>
        </p:nvGrpSpPr>
        <p:grpSpPr bwMode="auto">
          <a:xfrm>
            <a:off x="4764089" y="1657350"/>
            <a:ext cx="4003675" cy="3962400"/>
            <a:chOff x="3001" y="1044"/>
            <a:chExt cx="2522" cy="2496"/>
          </a:xfrm>
        </p:grpSpPr>
        <p:sp>
          <p:nvSpPr>
            <p:cNvPr id="6" name="AutoShape 4"/>
            <p:cNvSpPr>
              <a:spLocks noChangeArrowheads="1"/>
            </p:cNvSpPr>
            <p:nvPr/>
          </p:nvSpPr>
          <p:spPr bwMode="auto">
            <a:xfrm flipH="1">
              <a:off x="3400" y="1044"/>
              <a:ext cx="2112" cy="2496"/>
            </a:xfrm>
            <a:prstGeom prst="homePlate">
              <a:avLst>
                <a:gd name="adj" fmla="val 33333"/>
              </a:avLst>
            </a:prstGeom>
            <a:solidFill>
              <a:schemeClr val="bg2"/>
            </a:solidFill>
            <a:ln w="12699">
              <a:noFill/>
              <a:miter lim="800000"/>
              <a:headEnd/>
              <a:tailEnd/>
            </a:ln>
            <a:effectLst>
              <a:outerShdw dist="53882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latinLnBrk="1">
                <a:defRPr/>
              </a:pPr>
              <a:endParaRPr kumimoji="1" lang="en-US" sz="1800" b="0">
                <a:solidFill>
                  <a:srgbClr val="B1E2FB"/>
                </a:solidFill>
                <a:latin typeface="Franklin Gothic Heavy" pitchFamily="34" charset="0"/>
                <a:ea typeface="굴림" pitchFamily="50" charset="-127"/>
              </a:endParaRPr>
            </a:p>
          </p:txBody>
        </p:sp>
        <p:grpSp>
          <p:nvGrpSpPr>
            <p:cNvPr id="8" name="Group 5"/>
            <p:cNvGrpSpPr>
              <a:grpSpLocks/>
            </p:cNvGrpSpPr>
            <p:nvPr/>
          </p:nvGrpSpPr>
          <p:grpSpPr bwMode="auto">
            <a:xfrm>
              <a:off x="3001" y="1418"/>
              <a:ext cx="2522" cy="1741"/>
              <a:chOff x="3001" y="1418"/>
              <a:chExt cx="2522" cy="1741"/>
            </a:xfrm>
          </p:grpSpPr>
          <p:sp>
            <p:nvSpPr>
              <p:cNvPr id="9" name="Rectangle 6"/>
              <p:cNvSpPr>
                <a:spLocks noChangeArrowheads="1"/>
              </p:cNvSpPr>
              <p:nvPr/>
            </p:nvSpPr>
            <p:spPr bwMode="auto">
              <a:xfrm>
                <a:off x="3787" y="1418"/>
                <a:ext cx="1736" cy="696"/>
              </a:xfrm>
              <a:prstGeom prst="rect">
                <a:avLst/>
              </a:prstGeom>
              <a:noFill/>
              <a:ln w="12699">
                <a:noFill/>
                <a:miter lim="800000"/>
                <a:headEnd/>
                <a:tailEnd/>
              </a:ln>
              <a:effectLst>
                <a:outerShdw dist="17961" dir="2700000" algn="ctr" rotWithShape="0">
                  <a:schemeClr val="bg2"/>
                </a:outerShdw>
              </a:effectLst>
            </p:spPr>
            <p:txBody>
              <a:bodyPr lIns="90488" tIns="44450" rIns="90488" bIns="44450">
                <a:spAutoFit/>
              </a:bodyPr>
              <a:lstStyle/>
              <a:p>
                <a:pPr algn="r" eaLnBrk="0" latinLnBrk="1" hangingPunct="0">
                  <a:defRPr/>
                </a:pPr>
                <a:r>
                  <a:rPr kumimoji="1" lang="en-US" sz="2200" b="0" dirty="0">
                    <a:solidFill>
                      <a:srgbClr val="B1E2FB"/>
                    </a:solidFill>
                    <a:ea typeface="굴림" pitchFamily="50" charset="-127"/>
                  </a:rPr>
                  <a:t>Buyers exert power    over the supplying      industry by:</a:t>
                </a:r>
              </a:p>
            </p:txBody>
          </p:sp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3001" y="2140"/>
                <a:ext cx="2474" cy="248"/>
              </a:xfrm>
              <a:prstGeom prst="rect">
                <a:avLst/>
              </a:prstGeom>
              <a:noFill/>
              <a:ln w="12699">
                <a:noFill/>
                <a:miter lim="800000"/>
                <a:headEnd/>
                <a:tailEnd/>
              </a:ln>
              <a:effectLst>
                <a:outerShdw dist="17961" dir="2700000" algn="ctr" rotWithShape="0">
                  <a:schemeClr val="bg2"/>
                </a:outerShdw>
              </a:effectLst>
            </p:spPr>
            <p:txBody>
              <a:bodyPr lIns="90488" tIns="44450" rIns="90488" bIns="44450">
                <a:spAutoFit/>
              </a:bodyPr>
              <a:lstStyle/>
              <a:p>
                <a:pPr algn="r" eaLnBrk="0" latinLnBrk="1" hangingPunct="0">
                  <a:defRPr/>
                </a:pPr>
                <a:r>
                  <a:rPr kumimoji="1" lang="en-US" sz="2000" b="0" dirty="0">
                    <a:solidFill>
                      <a:srgbClr val="B1E2FB"/>
                    </a:solidFill>
                    <a:ea typeface="굴림" pitchFamily="50" charset="-127"/>
                  </a:rPr>
                  <a:t>* </a:t>
                </a:r>
                <a:r>
                  <a:rPr kumimoji="1" lang="en-US" sz="2000" b="0" i="1" dirty="0">
                    <a:solidFill>
                      <a:srgbClr val="B1E2FB"/>
                    </a:solidFill>
                    <a:ea typeface="굴림" pitchFamily="50" charset="-127"/>
                  </a:rPr>
                  <a:t>Bargaining down prices</a:t>
                </a: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3535" y="2435"/>
                <a:ext cx="1976" cy="248"/>
              </a:xfrm>
              <a:prstGeom prst="rect">
                <a:avLst/>
              </a:prstGeom>
              <a:noFill/>
              <a:ln w="12699">
                <a:noFill/>
                <a:miter lim="800000"/>
                <a:headEnd/>
                <a:tailEnd/>
              </a:ln>
              <a:effectLst>
                <a:outerShdw dist="17961" dir="2700000" algn="ctr" rotWithShape="0">
                  <a:schemeClr val="bg2"/>
                </a:outerShdw>
              </a:effectLst>
            </p:spPr>
            <p:txBody>
              <a:bodyPr lIns="90488" tIns="44450" rIns="90488" bIns="44450">
                <a:spAutoFit/>
              </a:bodyPr>
              <a:lstStyle/>
              <a:p>
                <a:pPr algn="r" eaLnBrk="0" latinLnBrk="1" hangingPunct="0">
                  <a:defRPr/>
                </a:pPr>
                <a:r>
                  <a:rPr kumimoji="1" lang="en-US" sz="2000" b="0" i="1" dirty="0">
                    <a:solidFill>
                      <a:srgbClr val="B1E2FB"/>
                    </a:solidFill>
                    <a:ea typeface="굴림" pitchFamily="50" charset="-127"/>
                  </a:rPr>
                  <a:t>* Forcing higher quality</a:t>
                </a:r>
              </a:p>
            </p:txBody>
          </p:sp>
          <p:sp>
            <p:nvSpPr>
              <p:cNvPr id="12" name="Rectangle 9"/>
              <p:cNvSpPr>
                <a:spLocks noChangeArrowheads="1"/>
              </p:cNvSpPr>
              <p:nvPr/>
            </p:nvSpPr>
            <p:spPr bwMode="auto">
              <a:xfrm>
                <a:off x="3903" y="2730"/>
                <a:ext cx="1608" cy="248"/>
              </a:xfrm>
              <a:prstGeom prst="rect">
                <a:avLst/>
              </a:prstGeom>
              <a:noFill/>
              <a:ln w="12699">
                <a:noFill/>
                <a:miter lim="800000"/>
                <a:headEnd/>
                <a:tailEnd/>
              </a:ln>
              <a:effectLst>
                <a:outerShdw dist="17961" dir="2700000" algn="ctr" rotWithShape="0">
                  <a:schemeClr val="bg2"/>
                </a:outerShdw>
              </a:effectLst>
            </p:spPr>
            <p:txBody>
              <a:bodyPr lIns="90488" tIns="44450" rIns="90488" bIns="44450">
                <a:spAutoFit/>
              </a:bodyPr>
              <a:lstStyle/>
              <a:p>
                <a:pPr algn="r" eaLnBrk="0" latinLnBrk="1" hangingPunct="0">
                  <a:defRPr/>
                </a:pPr>
                <a:r>
                  <a:rPr kumimoji="1" lang="en-US" sz="2000" b="0" i="1">
                    <a:solidFill>
                      <a:srgbClr val="B1E2FB"/>
                    </a:solidFill>
                    <a:ea typeface="굴림" pitchFamily="50" charset="-127"/>
                  </a:rPr>
                  <a:t>* Playing firms off of</a:t>
                </a:r>
              </a:p>
            </p:txBody>
          </p:sp>
          <p:sp>
            <p:nvSpPr>
              <p:cNvPr id="13" name="Rectangle 10"/>
              <p:cNvSpPr>
                <a:spLocks noChangeArrowheads="1"/>
              </p:cNvSpPr>
              <p:nvPr/>
            </p:nvSpPr>
            <p:spPr bwMode="auto">
              <a:xfrm>
                <a:off x="4695" y="2911"/>
                <a:ext cx="816" cy="248"/>
              </a:xfrm>
              <a:prstGeom prst="rect">
                <a:avLst/>
              </a:prstGeom>
              <a:noFill/>
              <a:ln w="12699">
                <a:noFill/>
                <a:miter lim="800000"/>
                <a:headEnd/>
                <a:tailEnd/>
              </a:ln>
              <a:effectLst>
                <a:outerShdw dist="17961" dir="2700000" algn="ctr" rotWithShape="0">
                  <a:schemeClr val="bg2"/>
                </a:outerShdw>
              </a:effectLst>
            </p:spPr>
            <p:txBody>
              <a:bodyPr lIns="90488" tIns="44450" rIns="90488" bIns="44450">
                <a:spAutoFit/>
              </a:bodyPr>
              <a:lstStyle/>
              <a:p>
                <a:pPr algn="r" eaLnBrk="0" latinLnBrk="1" hangingPunct="0">
                  <a:defRPr/>
                </a:pPr>
                <a:r>
                  <a:rPr kumimoji="1" lang="en-US" sz="2000" b="0" i="1" dirty="0">
                    <a:solidFill>
                      <a:srgbClr val="B1E2FB"/>
                    </a:solidFill>
                    <a:ea typeface="굴림" pitchFamily="50" charset="-127"/>
                  </a:rPr>
                  <a:t>each other</a:t>
                </a:r>
              </a:p>
            </p:txBody>
          </p:sp>
        </p:grpSp>
      </p:grpSp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0" y="1196752"/>
            <a:ext cx="5297926" cy="459100"/>
          </a:xfrm>
          <a:prstGeom prst="rect">
            <a:avLst/>
          </a:prstGeom>
          <a:noFill/>
          <a:ln w="12699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eaLnBrk="0" latinLnBrk="1" hangingPunct="0">
              <a:defRPr/>
            </a:pPr>
            <a:r>
              <a:rPr kumimoji="1" lang="en-US" b="0" dirty="0">
                <a:solidFill>
                  <a:srgbClr val="B1E2FB"/>
                </a:solidFill>
                <a:effectLst>
                  <a:outerShdw blurRad="38100" dist="38100" dir="2700000" algn="tl">
                    <a:srgbClr val="010199"/>
                  </a:outerShdw>
                </a:effectLst>
                <a:ea typeface="굴림" pitchFamily="50" charset="-127"/>
              </a:rPr>
              <a:t>Buyer groups are likely to be powerful if:</a:t>
            </a:r>
          </a:p>
        </p:txBody>
      </p:sp>
      <p:grpSp>
        <p:nvGrpSpPr>
          <p:cNvPr id="15" name="Group 12"/>
          <p:cNvGrpSpPr>
            <a:grpSpLocks/>
          </p:cNvGrpSpPr>
          <p:nvPr/>
        </p:nvGrpSpPr>
        <p:grpSpPr bwMode="auto">
          <a:xfrm>
            <a:off x="324023" y="1656184"/>
            <a:ext cx="5472113" cy="4630980"/>
            <a:chOff x="192" y="982"/>
            <a:chExt cx="3447" cy="2957"/>
          </a:xfrm>
        </p:grpSpPr>
        <p:sp>
          <p:nvSpPr>
            <p:cNvPr id="16" name="Rectangle 13"/>
            <p:cNvSpPr>
              <a:spLocks noChangeArrowheads="1"/>
            </p:cNvSpPr>
            <p:nvPr/>
          </p:nvSpPr>
          <p:spPr bwMode="auto">
            <a:xfrm>
              <a:off x="332" y="982"/>
              <a:ext cx="3307" cy="522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  <a:effectLst/>
          </p:spPr>
          <p:txBody>
            <a:bodyPr wrap="square" lIns="90488" tIns="44450" rIns="90488" bIns="44450">
              <a:spAutoFit/>
            </a:bodyPr>
            <a:lstStyle/>
            <a:p>
              <a:pPr eaLnBrk="0" latinLnBrk="1" hangingPunct="0">
                <a:defRPr/>
              </a:pPr>
              <a:r>
                <a:rPr kumimoji="1" lang="en-US" b="0" dirty="0">
                  <a:solidFill>
                    <a:srgbClr val="B1E2FB"/>
                  </a:solidFill>
                  <a:effectLst>
                    <a:outerShdw blurRad="38100" dist="38100" dir="2700000" algn="tl">
                      <a:srgbClr val="010199"/>
                    </a:outerShdw>
                  </a:effectLst>
                  <a:ea typeface="굴림" pitchFamily="50" charset="-127"/>
                </a:rPr>
                <a:t>Buyers are concentrated or purchases are large relative to seller’s sales</a:t>
              </a:r>
            </a:p>
          </p:txBody>
        </p:sp>
        <p:sp>
          <p:nvSpPr>
            <p:cNvPr id="17" name="Rectangle 14"/>
            <p:cNvSpPr>
              <a:spLocks noChangeArrowheads="1"/>
            </p:cNvSpPr>
            <p:nvPr/>
          </p:nvSpPr>
          <p:spPr bwMode="auto">
            <a:xfrm>
              <a:off x="332" y="1562"/>
              <a:ext cx="2808" cy="475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  <a:effectLst/>
          </p:spPr>
          <p:txBody>
            <a:bodyPr wrap="square" lIns="90488" tIns="44450" rIns="90488" bIns="44450">
              <a:spAutoFit/>
            </a:bodyPr>
            <a:lstStyle/>
            <a:p>
              <a:pPr eaLnBrk="0" latinLnBrk="1" hangingPunct="0">
                <a:lnSpc>
                  <a:spcPct val="90000"/>
                </a:lnSpc>
                <a:defRPr/>
              </a:pPr>
              <a:r>
                <a:rPr kumimoji="1" lang="en-US" b="0" dirty="0">
                  <a:solidFill>
                    <a:srgbClr val="B1E2FB"/>
                  </a:solidFill>
                  <a:effectLst>
                    <a:outerShdw blurRad="38100" dist="38100" dir="2700000" algn="tl">
                      <a:srgbClr val="010199"/>
                    </a:outerShdw>
                  </a:effectLst>
                  <a:ea typeface="굴림" pitchFamily="50" charset="-127"/>
                </a:rPr>
                <a:t>Purchase accounts for a significant fraction of supplier’s sales</a:t>
              </a:r>
            </a:p>
          </p:txBody>
        </p:sp>
        <p:sp>
          <p:nvSpPr>
            <p:cNvPr id="18" name="Rectangle 15"/>
            <p:cNvSpPr>
              <a:spLocks noChangeArrowheads="1"/>
            </p:cNvSpPr>
            <p:nvPr/>
          </p:nvSpPr>
          <p:spPr bwMode="auto">
            <a:xfrm>
              <a:off x="332" y="2138"/>
              <a:ext cx="2359" cy="266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eaLnBrk="0" latinLnBrk="1" hangingPunct="0">
                <a:lnSpc>
                  <a:spcPct val="90000"/>
                </a:lnSpc>
                <a:defRPr/>
              </a:pPr>
              <a:r>
                <a:rPr kumimoji="1" lang="en-US" b="0" dirty="0">
                  <a:solidFill>
                    <a:srgbClr val="B1E2FB"/>
                  </a:solidFill>
                  <a:effectLst>
                    <a:outerShdw blurRad="38100" dist="38100" dir="2700000" algn="tl">
                      <a:srgbClr val="010199"/>
                    </a:outerShdw>
                  </a:effectLst>
                  <a:ea typeface="굴림" pitchFamily="50" charset="-127"/>
                </a:rPr>
                <a:t>Products are undifferentiated</a:t>
              </a:r>
            </a:p>
          </p:txBody>
        </p:sp>
        <p:sp>
          <p:nvSpPr>
            <p:cNvPr id="19" name="Rectangle 16"/>
            <p:cNvSpPr>
              <a:spLocks noChangeArrowheads="1"/>
            </p:cNvSpPr>
            <p:nvPr/>
          </p:nvSpPr>
          <p:spPr bwMode="auto">
            <a:xfrm>
              <a:off x="332" y="2473"/>
              <a:ext cx="3024" cy="266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 eaLnBrk="0" latinLnBrk="1" hangingPunct="0">
                <a:lnSpc>
                  <a:spcPct val="90000"/>
                </a:lnSpc>
                <a:defRPr/>
              </a:pPr>
              <a:r>
                <a:rPr kumimoji="1" lang="en-US" b="0" dirty="0">
                  <a:solidFill>
                    <a:srgbClr val="B1E2FB"/>
                  </a:solidFill>
                  <a:effectLst>
                    <a:outerShdw blurRad="38100" dist="38100" dir="2700000" algn="tl">
                      <a:srgbClr val="010199"/>
                    </a:outerShdw>
                  </a:effectLst>
                  <a:ea typeface="굴림" pitchFamily="50" charset="-127"/>
                </a:rPr>
                <a:t>Buyers face few switching costs</a:t>
              </a:r>
            </a:p>
          </p:txBody>
        </p:sp>
        <p:sp>
          <p:nvSpPr>
            <p:cNvPr id="20" name="Rectangle 17"/>
            <p:cNvSpPr>
              <a:spLocks noChangeArrowheads="1"/>
            </p:cNvSpPr>
            <p:nvPr/>
          </p:nvSpPr>
          <p:spPr bwMode="auto">
            <a:xfrm>
              <a:off x="332" y="2809"/>
              <a:ext cx="2749" cy="266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eaLnBrk="0" latinLnBrk="1" hangingPunct="0">
                <a:lnSpc>
                  <a:spcPct val="90000"/>
                </a:lnSpc>
                <a:defRPr/>
              </a:pPr>
              <a:r>
                <a:rPr kumimoji="1" lang="en-US" b="0" dirty="0">
                  <a:solidFill>
                    <a:srgbClr val="B1E2FB"/>
                  </a:solidFill>
                  <a:effectLst>
                    <a:outerShdw blurRad="38100" dist="38100" dir="2700000" algn="tl">
                      <a:srgbClr val="010199"/>
                    </a:outerShdw>
                  </a:effectLst>
                  <a:ea typeface="굴림" pitchFamily="50" charset="-127"/>
                </a:rPr>
                <a:t>Buyers’ industry earns low profits</a:t>
              </a:r>
            </a:p>
          </p:txBody>
        </p:sp>
        <p:sp>
          <p:nvSpPr>
            <p:cNvPr id="21" name="Rectangle 18"/>
            <p:cNvSpPr>
              <a:spLocks noChangeArrowheads="1"/>
            </p:cNvSpPr>
            <p:nvPr/>
          </p:nvSpPr>
          <p:spPr bwMode="auto">
            <a:xfrm>
              <a:off x="332" y="3145"/>
              <a:ext cx="3088" cy="475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 eaLnBrk="0" latinLnBrk="1" hangingPunct="0">
                <a:lnSpc>
                  <a:spcPct val="90000"/>
                </a:lnSpc>
                <a:defRPr/>
              </a:pPr>
              <a:r>
                <a:rPr kumimoji="1" lang="en-US" b="0" dirty="0">
                  <a:solidFill>
                    <a:srgbClr val="B1E2FB"/>
                  </a:solidFill>
                  <a:effectLst>
                    <a:outerShdw blurRad="38100" dist="38100" dir="2700000" algn="tl">
                      <a:srgbClr val="010199"/>
                    </a:outerShdw>
                  </a:effectLst>
                  <a:ea typeface="굴림" pitchFamily="50" charset="-127"/>
                </a:rPr>
                <a:t>Buyer presents a credible threat of      backward integration</a:t>
              </a:r>
            </a:p>
          </p:txBody>
        </p:sp>
        <p:sp>
          <p:nvSpPr>
            <p:cNvPr id="22" name="Rectangle 19"/>
            <p:cNvSpPr>
              <a:spLocks noChangeArrowheads="1"/>
            </p:cNvSpPr>
            <p:nvPr/>
          </p:nvSpPr>
          <p:spPr bwMode="auto">
            <a:xfrm>
              <a:off x="332" y="3673"/>
              <a:ext cx="2497" cy="266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eaLnBrk="0" latinLnBrk="1" hangingPunct="0">
                <a:lnSpc>
                  <a:spcPct val="90000"/>
                </a:lnSpc>
                <a:defRPr/>
              </a:pPr>
              <a:r>
                <a:rPr kumimoji="1" lang="en-US" b="0" dirty="0">
                  <a:solidFill>
                    <a:srgbClr val="B1E2FB"/>
                  </a:solidFill>
                  <a:effectLst>
                    <a:outerShdw blurRad="38100" dist="38100" dir="2700000" algn="tl">
                      <a:srgbClr val="010199"/>
                    </a:outerShdw>
                  </a:effectLst>
                  <a:ea typeface="굴림" pitchFamily="50" charset="-127"/>
                </a:rPr>
                <a:t>Product unimportant to quality</a:t>
              </a:r>
            </a:p>
          </p:txBody>
        </p:sp>
        <p:sp>
          <p:nvSpPr>
            <p:cNvPr id="24" name="Oval 21"/>
            <p:cNvSpPr>
              <a:spLocks noChangeArrowheads="1"/>
            </p:cNvSpPr>
            <p:nvPr/>
          </p:nvSpPr>
          <p:spPr bwMode="auto">
            <a:xfrm>
              <a:off x="192" y="1104"/>
              <a:ext cx="108" cy="108"/>
            </a:xfrm>
            <a:prstGeom prst="ellipse">
              <a:avLst/>
            </a:prstGeom>
            <a:solidFill>
              <a:schemeClr val="accent1"/>
            </a:solidFill>
            <a:ln w="12699">
              <a:noFill/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latinLnBrk="1">
                <a:defRPr/>
              </a:pPr>
              <a:endParaRPr kumimoji="1" lang="en-US" sz="1800" b="0">
                <a:solidFill>
                  <a:srgbClr val="B1E2FB"/>
                </a:solidFill>
                <a:latin typeface="Franklin Gothic Heavy" pitchFamily="34" charset="0"/>
                <a:ea typeface="굴림" pitchFamily="50" charset="-127"/>
              </a:endParaRPr>
            </a:p>
          </p:txBody>
        </p:sp>
        <p:sp>
          <p:nvSpPr>
            <p:cNvPr id="25" name="Oval 22"/>
            <p:cNvSpPr>
              <a:spLocks noChangeArrowheads="1"/>
            </p:cNvSpPr>
            <p:nvPr/>
          </p:nvSpPr>
          <p:spPr bwMode="auto">
            <a:xfrm>
              <a:off x="192" y="1620"/>
              <a:ext cx="108" cy="108"/>
            </a:xfrm>
            <a:prstGeom prst="ellipse">
              <a:avLst/>
            </a:prstGeom>
            <a:solidFill>
              <a:schemeClr val="accent1"/>
            </a:solidFill>
            <a:ln w="12699">
              <a:noFill/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latinLnBrk="1">
                <a:defRPr/>
              </a:pPr>
              <a:endParaRPr kumimoji="1" lang="en-US" sz="1800" b="0">
                <a:solidFill>
                  <a:srgbClr val="B1E2FB"/>
                </a:solidFill>
                <a:latin typeface="Franklin Gothic Heavy" pitchFamily="34" charset="0"/>
                <a:ea typeface="굴림" pitchFamily="50" charset="-127"/>
              </a:endParaRPr>
            </a:p>
          </p:txBody>
        </p:sp>
        <p:sp>
          <p:nvSpPr>
            <p:cNvPr id="26" name="Oval 23"/>
            <p:cNvSpPr>
              <a:spLocks noChangeArrowheads="1"/>
            </p:cNvSpPr>
            <p:nvPr/>
          </p:nvSpPr>
          <p:spPr bwMode="auto">
            <a:xfrm>
              <a:off x="192" y="2196"/>
              <a:ext cx="108" cy="108"/>
            </a:xfrm>
            <a:prstGeom prst="ellipse">
              <a:avLst/>
            </a:prstGeom>
            <a:solidFill>
              <a:schemeClr val="accent1"/>
            </a:solidFill>
            <a:ln w="12699">
              <a:noFill/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latinLnBrk="1">
                <a:defRPr/>
              </a:pPr>
              <a:endParaRPr kumimoji="1" lang="en-US" sz="1800" b="0">
                <a:solidFill>
                  <a:srgbClr val="B1E2FB"/>
                </a:solidFill>
                <a:latin typeface="Franklin Gothic Heavy" pitchFamily="34" charset="0"/>
                <a:ea typeface="굴림" pitchFamily="50" charset="-127"/>
              </a:endParaRPr>
            </a:p>
          </p:txBody>
        </p:sp>
        <p:sp>
          <p:nvSpPr>
            <p:cNvPr id="27" name="Oval 24"/>
            <p:cNvSpPr>
              <a:spLocks noChangeArrowheads="1"/>
            </p:cNvSpPr>
            <p:nvPr/>
          </p:nvSpPr>
          <p:spPr bwMode="auto">
            <a:xfrm>
              <a:off x="192" y="2532"/>
              <a:ext cx="108" cy="108"/>
            </a:xfrm>
            <a:prstGeom prst="ellipse">
              <a:avLst/>
            </a:prstGeom>
            <a:solidFill>
              <a:schemeClr val="accent1"/>
            </a:solidFill>
            <a:ln w="12699">
              <a:noFill/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latinLnBrk="1">
                <a:defRPr/>
              </a:pPr>
              <a:endParaRPr kumimoji="1" lang="en-US" sz="1800" b="0">
                <a:solidFill>
                  <a:srgbClr val="B1E2FB"/>
                </a:solidFill>
                <a:latin typeface="Franklin Gothic Heavy" pitchFamily="34" charset="0"/>
                <a:ea typeface="굴림" pitchFamily="50" charset="-127"/>
              </a:endParaRPr>
            </a:p>
          </p:txBody>
        </p:sp>
        <p:sp>
          <p:nvSpPr>
            <p:cNvPr id="28" name="Oval 25"/>
            <p:cNvSpPr>
              <a:spLocks noChangeArrowheads="1"/>
            </p:cNvSpPr>
            <p:nvPr/>
          </p:nvSpPr>
          <p:spPr bwMode="auto">
            <a:xfrm>
              <a:off x="192" y="2868"/>
              <a:ext cx="108" cy="108"/>
            </a:xfrm>
            <a:prstGeom prst="ellipse">
              <a:avLst/>
            </a:prstGeom>
            <a:solidFill>
              <a:schemeClr val="accent1"/>
            </a:solidFill>
            <a:ln w="12699">
              <a:noFill/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latinLnBrk="1">
                <a:defRPr/>
              </a:pPr>
              <a:endParaRPr kumimoji="1" lang="en-US" sz="1800" b="0">
                <a:solidFill>
                  <a:srgbClr val="B1E2FB"/>
                </a:solidFill>
                <a:latin typeface="Franklin Gothic Heavy" pitchFamily="34" charset="0"/>
                <a:ea typeface="굴림" pitchFamily="50" charset="-127"/>
              </a:endParaRPr>
            </a:p>
          </p:txBody>
        </p:sp>
        <p:sp>
          <p:nvSpPr>
            <p:cNvPr id="29" name="Oval 26"/>
            <p:cNvSpPr>
              <a:spLocks noChangeArrowheads="1"/>
            </p:cNvSpPr>
            <p:nvPr/>
          </p:nvSpPr>
          <p:spPr bwMode="auto">
            <a:xfrm>
              <a:off x="192" y="3204"/>
              <a:ext cx="108" cy="108"/>
            </a:xfrm>
            <a:prstGeom prst="ellipse">
              <a:avLst/>
            </a:prstGeom>
            <a:solidFill>
              <a:schemeClr val="accent1"/>
            </a:solidFill>
            <a:ln w="12699">
              <a:noFill/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latinLnBrk="1">
                <a:defRPr/>
              </a:pPr>
              <a:endParaRPr kumimoji="1" lang="en-US" sz="1800" b="0">
                <a:solidFill>
                  <a:srgbClr val="B1E2FB"/>
                </a:solidFill>
                <a:latin typeface="Franklin Gothic Heavy" pitchFamily="34" charset="0"/>
                <a:ea typeface="굴림" pitchFamily="50" charset="-127"/>
              </a:endParaRPr>
            </a:p>
          </p:txBody>
        </p:sp>
        <p:sp>
          <p:nvSpPr>
            <p:cNvPr id="30" name="Oval 27"/>
            <p:cNvSpPr>
              <a:spLocks noChangeArrowheads="1"/>
            </p:cNvSpPr>
            <p:nvPr/>
          </p:nvSpPr>
          <p:spPr bwMode="auto">
            <a:xfrm>
              <a:off x="192" y="3732"/>
              <a:ext cx="108" cy="108"/>
            </a:xfrm>
            <a:prstGeom prst="ellipse">
              <a:avLst/>
            </a:prstGeom>
            <a:solidFill>
              <a:schemeClr val="accent1"/>
            </a:solidFill>
            <a:ln w="12699">
              <a:noFill/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latinLnBrk="1">
                <a:defRPr/>
              </a:pPr>
              <a:endParaRPr kumimoji="1" lang="en-US" sz="1800" b="0">
                <a:solidFill>
                  <a:srgbClr val="B1E2FB"/>
                </a:solidFill>
                <a:latin typeface="Franklin Gothic Heavy" pitchFamily="34" charset="0"/>
                <a:ea typeface="굴림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04639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noFill/>
        </p:spPr>
        <p:txBody>
          <a:bodyPr/>
          <a:lstStyle/>
          <a:p>
            <a:pPr algn="ctr" latinLnBrk="1">
              <a:defRPr/>
            </a:pPr>
            <a:endParaRPr kumimoji="1" lang="en-US" altLang="ko-KR" sz="3600" dirty="0">
              <a:solidFill>
                <a:srgbClr val="FFC000"/>
              </a:solidFill>
              <a:ea typeface="굴림" pitchFamily="50" charset="-127"/>
              <a:cs typeface="Times New Roman" pitchFamily="18" charset="0"/>
            </a:endParaRPr>
          </a:p>
        </p:txBody>
      </p: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251967" y="1737320"/>
            <a:ext cx="2590800" cy="3048000"/>
            <a:chOff x="308" y="1152"/>
            <a:chExt cx="1632" cy="1920"/>
          </a:xfrm>
          <a:solidFill>
            <a:schemeClr val="bg2"/>
          </a:solidFill>
        </p:grpSpPr>
        <p:sp>
          <p:nvSpPr>
            <p:cNvPr id="5" name="AutoShape 4"/>
            <p:cNvSpPr>
              <a:spLocks noChangeArrowheads="1"/>
            </p:cNvSpPr>
            <p:nvPr/>
          </p:nvSpPr>
          <p:spPr bwMode="auto">
            <a:xfrm>
              <a:off x="308" y="1152"/>
              <a:ext cx="1632" cy="1920"/>
            </a:xfrm>
            <a:prstGeom prst="homePlate">
              <a:avLst>
                <a:gd name="adj" fmla="val 33333"/>
              </a:avLst>
            </a:prstGeom>
            <a:grpFill/>
            <a:ln w="12699">
              <a:noFill/>
              <a:miter lim="800000"/>
              <a:headEnd/>
              <a:tailEnd/>
            </a:ln>
            <a:effectLst>
              <a:outerShdw dist="53882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latinLnBrk="1">
                <a:defRPr/>
              </a:pPr>
              <a:endParaRPr kumimoji="1" lang="en-US" sz="1800" b="0">
                <a:solidFill>
                  <a:srgbClr val="B1E2FB"/>
                </a:solidFill>
                <a:latin typeface="Franklin Gothic Heavy" pitchFamily="34" charset="0"/>
                <a:ea typeface="굴림" pitchFamily="50" charset="-127"/>
              </a:endParaRPr>
            </a:p>
          </p:txBody>
        </p:sp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308" y="1671"/>
              <a:ext cx="1361" cy="910"/>
            </a:xfrm>
            <a:prstGeom prst="rect">
              <a:avLst/>
            </a:prstGeom>
            <a:grpFill/>
            <a:ln w="12699">
              <a:noFill/>
              <a:miter lim="800000"/>
              <a:headEnd/>
              <a:tailEnd/>
            </a:ln>
            <a:effectLst>
              <a:outerShdw dist="17961" dir="2700000" algn="ctr" rotWithShape="0">
                <a:schemeClr val="bg2"/>
              </a:outerShdw>
            </a:effectLst>
          </p:spPr>
          <p:txBody>
            <a:bodyPr wrap="square" lIns="90488" tIns="44450" rIns="90488" bIns="44450">
              <a:spAutoFit/>
            </a:bodyPr>
            <a:lstStyle/>
            <a:p>
              <a:pPr eaLnBrk="0" latinLnBrk="1" hangingPunct="0">
                <a:defRPr/>
              </a:pPr>
              <a:r>
                <a:rPr kumimoji="1" lang="en-US" sz="2200" b="0" dirty="0">
                  <a:solidFill>
                    <a:srgbClr val="B1E2FB"/>
                  </a:solidFill>
                  <a:ea typeface="굴림" pitchFamily="50" charset="-127"/>
                </a:rPr>
                <a:t>Products with     similar </a:t>
              </a:r>
              <a:r>
                <a:rPr kumimoji="1" lang="en-US" sz="2200" b="0" i="1" dirty="0">
                  <a:solidFill>
                    <a:srgbClr val="B1E2FB"/>
                  </a:solidFill>
                  <a:ea typeface="굴림" pitchFamily="50" charset="-127"/>
                </a:rPr>
                <a:t>function</a:t>
              </a:r>
              <a:r>
                <a:rPr kumimoji="1" lang="en-US" sz="2200" b="0" i="1" dirty="0">
                  <a:solidFill>
                    <a:srgbClr val="72A7F6"/>
                  </a:solidFill>
                  <a:ea typeface="굴림" pitchFamily="50" charset="-127"/>
                </a:rPr>
                <a:t>  </a:t>
              </a:r>
              <a:r>
                <a:rPr kumimoji="1" lang="en-US" sz="2200" b="0" dirty="0">
                  <a:solidFill>
                    <a:srgbClr val="B1E2FB"/>
                  </a:solidFill>
                  <a:ea typeface="굴림" pitchFamily="50" charset="-127"/>
                </a:rPr>
                <a:t>limit the prices   firms can charge</a:t>
              </a:r>
            </a:p>
          </p:txBody>
        </p:sp>
      </p:grp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2915816" y="1340768"/>
            <a:ext cx="4708021" cy="459100"/>
          </a:xfrm>
          <a:prstGeom prst="rect">
            <a:avLst/>
          </a:prstGeom>
          <a:noFill/>
          <a:ln w="12699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latinLnBrk="1" hangingPunct="0">
              <a:defRPr/>
            </a:pPr>
            <a:r>
              <a:rPr kumimoji="1" lang="en-US" b="0">
                <a:solidFill>
                  <a:srgbClr val="B1E2FB"/>
                </a:solidFill>
                <a:effectLst>
                  <a:outerShdw blurRad="38100" dist="38100" dir="2700000" algn="tl">
                    <a:srgbClr val="010199"/>
                  </a:outerShdw>
                </a:effectLst>
                <a:ea typeface="굴림" pitchFamily="50" charset="-127"/>
              </a:rPr>
              <a:t>Keys to evaluate substitute products:</a:t>
            </a:r>
          </a:p>
        </p:txBody>
      </p:sp>
      <p:grpSp>
        <p:nvGrpSpPr>
          <p:cNvPr id="9" name="Group 7"/>
          <p:cNvGrpSpPr>
            <a:grpSpLocks/>
          </p:cNvGrpSpPr>
          <p:nvPr/>
        </p:nvGrpSpPr>
        <p:grpSpPr bwMode="auto">
          <a:xfrm>
            <a:off x="2937744" y="2008535"/>
            <a:ext cx="6206256" cy="3789363"/>
            <a:chOff x="2631" y="1418"/>
            <a:chExt cx="3447" cy="2387"/>
          </a:xfrm>
        </p:grpSpPr>
        <p:sp>
          <p:nvSpPr>
            <p:cNvPr id="10" name="Rectangle 8"/>
            <p:cNvSpPr>
              <a:spLocks noChangeArrowheads="1"/>
            </p:cNvSpPr>
            <p:nvPr/>
          </p:nvSpPr>
          <p:spPr bwMode="auto">
            <a:xfrm>
              <a:off x="2767" y="1418"/>
              <a:ext cx="3311" cy="522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  <a:effectLst/>
          </p:spPr>
          <p:txBody>
            <a:bodyPr wrap="square" lIns="90488" tIns="44450" rIns="90488" bIns="44450">
              <a:spAutoFit/>
            </a:bodyPr>
            <a:lstStyle/>
            <a:p>
              <a:pPr eaLnBrk="0" latinLnBrk="1" hangingPunct="0">
                <a:defRPr/>
              </a:pPr>
              <a:r>
                <a:rPr kumimoji="1" lang="en-US" b="0" dirty="0">
                  <a:solidFill>
                    <a:srgbClr val="B1E2FB"/>
                  </a:solidFill>
                  <a:effectLst>
                    <a:outerShdw blurRad="38100" dist="38100" dir="2700000" algn="tl">
                      <a:srgbClr val="010199"/>
                    </a:outerShdw>
                  </a:effectLst>
                  <a:ea typeface="굴림" pitchFamily="50" charset="-127"/>
                </a:rPr>
                <a:t>Products with improving price/performance     tradeoffs relative to present industry products</a:t>
              </a:r>
            </a:p>
          </p:txBody>
        </p:sp>
        <p:sp>
          <p:nvSpPr>
            <p:cNvPr id="11" name="Rectangle 9"/>
            <p:cNvSpPr>
              <a:spLocks noChangeArrowheads="1"/>
            </p:cNvSpPr>
            <p:nvPr/>
          </p:nvSpPr>
          <p:spPr bwMode="auto">
            <a:xfrm>
              <a:off x="2631" y="2607"/>
              <a:ext cx="2800" cy="289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 eaLnBrk="0" latinLnBrk="1" hangingPunct="0">
                <a:defRPr/>
              </a:pPr>
              <a:r>
                <a:rPr kumimoji="1" lang="en-US" b="0" i="1" dirty="0">
                  <a:solidFill>
                    <a:srgbClr val="B1E2FB"/>
                  </a:solidFill>
                  <a:ea typeface="굴림" pitchFamily="50" charset="-127"/>
                </a:rPr>
                <a:t>Example:</a:t>
              </a:r>
            </a:p>
          </p:txBody>
        </p:sp>
        <p:sp>
          <p:nvSpPr>
            <p:cNvPr id="12" name="Rectangle 10"/>
            <p:cNvSpPr>
              <a:spLocks noChangeArrowheads="1"/>
            </p:cNvSpPr>
            <p:nvPr/>
          </p:nvSpPr>
          <p:spPr bwMode="auto">
            <a:xfrm>
              <a:off x="2819" y="2919"/>
              <a:ext cx="2770" cy="522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  <a:effectLst/>
          </p:spPr>
          <p:txBody>
            <a:bodyPr wrap="square" lIns="90488" tIns="44450" rIns="90488" bIns="44450">
              <a:spAutoFit/>
            </a:bodyPr>
            <a:lstStyle/>
            <a:p>
              <a:pPr eaLnBrk="0" latinLnBrk="1" hangingPunct="0">
                <a:defRPr/>
              </a:pPr>
              <a:r>
                <a:rPr kumimoji="1" lang="en-US" b="0" dirty="0">
                  <a:solidFill>
                    <a:srgbClr val="B1E2FB"/>
                  </a:solidFill>
                  <a:effectLst>
                    <a:outerShdw blurRad="38100" dist="38100" dir="2700000" algn="tl">
                      <a:srgbClr val="010199"/>
                    </a:outerShdw>
                  </a:effectLst>
                  <a:ea typeface="굴림" pitchFamily="50" charset="-127"/>
                </a:rPr>
                <a:t>Electronic security systems in place of  security guards</a:t>
              </a:r>
            </a:p>
          </p:txBody>
        </p:sp>
        <p:sp>
          <p:nvSpPr>
            <p:cNvPr id="13" name="Rectangle 11"/>
            <p:cNvSpPr>
              <a:spLocks noChangeArrowheads="1"/>
            </p:cNvSpPr>
            <p:nvPr/>
          </p:nvSpPr>
          <p:spPr bwMode="auto">
            <a:xfrm>
              <a:off x="2819" y="3516"/>
              <a:ext cx="2855" cy="289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 eaLnBrk="0" latinLnBrk="1" hangingPunct="0">
                <a:defRPr/>
              </a:pPr>
              <a:r>
                <a:rPr kumimoji="1" lang="en-US" b="0" dirty="0">
                  <a:solidFill>
                    <a:srgbClr val="B1E2FB"/>
                  </a:solidFill>
                  <a:effectLst>
                    <a:outerShdw blurRad="38100" dist="38100" dir="2700000" algn="tl">
                      <a:srgbClr val="010199"/>
                    </a:outerShdw>
                  </a:effectLst>
                  <a:ea typeface="굴림" pitchFamily="50" charset="-127"/>
                </a:rPr>
                <a:t>CDs in place of cassette tapes</a:t>
              </a:r>
            </a:p>
          </p:txBody>
        </p:sp>
        <p:sp>
          <p:nvSpPr>
            <p:cNvPr id="14" name="Oval 12"/>
            <p:cNvSpPr>
              <a:spLocks noChangeArrowheads="1"/>
            </p:cNvSpPr>
            <p:nvPr/>
          </p:nvSpPr>
          <p:spPr bwMode="auto">
            <a:xfrm>
              <a:off x="2671" y="3024"/>
              <a:ext cx="108" cy="108"/>
            </a:xfrm>
            <a:prstGeom prst="ellipse">
              <a:avLst/>
            </a:prstGeom>
            <a:solidFill>
              <a:schemeClr val="accent1"/>
            </a:solidFill>
            <a:ln w="12699">
              <a:noFill/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latinLnBrk="1">
                <a:defRPr/>
              </a:pPr>
              <a:endParaRPr kumimoji="1" lang="en-US" sz="1800" b="0">
                <a:solidFill>
                  <a:srgbClr val="B1E2FB"/>
                </a:solidFill>
                <a:latin typeface="Franklin Gothic Heavy" pitchFamily="34" charset="0"/>
                <a:ea typeface="굴림" pitchFamily="50" charset="-127"/>
              </a:endParaRPr>
            </a:p>
          </p:txBody>
        </p:sp>
        <p:sp>
          <p:nvSpPr>
            <p:cNvPr id="15" name="Oval 13"/>
            <p:cNvSpPr>
              <a:spLocks noChangeArrowheads="1"/>
            </p:cNvSpPr>
            <p:nvPr/>
          </p:nvSpPr>
          <p:spPr bwMode="auto">
            <a:xfrm>
              <a:off x="2671" y="3636"/>
              <a:ext cx="108" cy="108"/>
            </a:xfrm>
            <a:prstGeom prst="ellipse">
              <a:avLst/>
            </a:prstGeom>
            <a:solidFill>
              <a:schemeClr val="accent1"/>
            </a:solidFill>
            <a:ln w="12699">
              <a:noFill/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latinLnBrk="1">
                <a:defRPr/>
              </a:pPr>
              <a:endParaRPr kumimoji="1" lang="en-US" sz="1800" b="0">
                <a:solidFill>
                  <a:srgbClr val="B1E2FB"/>
                </a:solidFill>
                <a:latin typeface="Franklin Gothic Heavy" pitchFamily="34" charset="0"/>
                <a:ea typeface="굴림" pitchFamily="50" charset="-127"/>
              </a:endParaRPr>
            </a:p>
          </p:txBody>
        </p:sp>
      </p:grpSp>
      <p:sp>
        <p:nvSpPr>
          <p:cNvPr id="16" name="Oval 12"/>
          <p:cNvSpPr>
            <a:spLocks noChangeArrowheads="1"/>
          </p:cNvSpPr>
          <p:nvPr/>
        </p:nvSpPr>
        <p:spPr bwMode="auto">
          <a:xfrm>
            <a:off x="2937743" y="2177430"/>
            <a:ext cx="181329" cy="171450"/>
          </a:xfrm>
          <a:prstGeom prst="ellipse">
            <a:avLst/>
          </a:prstGeom>
          <a:solidFill>
            <a:schemeClr val="accent1"/>
          </a:solidFill>
          <a:ln w="12699">
            <a:noFill/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latinLnBrk="1">
              <a:defRPr/>
            </a:pPr>
            <a:endParaRPr kumimoji="1" lang="en-US" sz="1800" b="0">
              <a:solidFill>
                <a:srgbClr val="B1E2FB"/>
              </a:solidFill>
              <a:latin typeface="Franklin Gothic Heavy" pitchFamily="34" charset="0"/>
              <a:ea typeface="굴림" pitchFamily="50" charset="-127"/>
            </a:endParaRPr>
          </a:p>
        </p:txBody>
      </p:sp>
      <p:sp>
        <p:nvSpPr>
          <p:cNvPr id="17" name="Oval 12"/>
          <p:cNvSpPr>
            <a:spLocks noChangeArrowheads="1"/>
          </p:cNvSpPr>
          <p:nvPr/>
        </p:nvSpPr>
        <p:spPr bwMode="auto">
          <a:xfrm>
            <a:off x="2950511" y="2924944"/>
            <a:ext cx="181329" cy="171450"/>
          </a:xfrm>
          <a:prstGeom prst="ellipse">
            <a:avLst/>
          </a:prstGeom>
          <a:solidFill>
            <a:schemeClr val="accent1"/>
          </a:solidFill>
          <a:ln w="12699">
            <a:noFill/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latinLnBrk="1">
              <a:defRPr/>
            </a:pPr>
            <a:endParaRPr kumimoji="1" lang="en-US" sz="1800" b="0">
              <a:solidFill>
                <a:srgbClr val="B1E2FB"/>
              </a:solidFill>
              <a:latin typeface="Franklin Gothic Heavy" pitchFamily="34" charset="0"/>
              <a:ea typeface="굴림" pitchFamily="50" charset="-127"/>
            </a:endParaRPr>
          </a:p>
        </p:txBody>
      </p:sp>
      <p:sp>
        <p:nvSpPr>
          <p:cNvPr id="18" name="Rectangle 8"/>
          <p:cNvSpPr>
            <a:spLocks noChangeArrowheads="1"/>
          </p:cNvSpPr>
          <p:nvPr/>
        </p:nvSpPr>
        <p:spPr bwMode="auto">
          <a:xfrm>
            <a:off x="3182609" y="2780928"/>
            <a:ext cx="5961391" cy="459100"/>
          </a:xfrm>
          <a:prstGeom prst="rect">
            <a:avLst/>
          </a:prstGeom>
          <a:noFill/>
          <a:ln w="12699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eaLnBrk="0" latinLnBrk="1" hangingPunct="0">
              <a:defRPr/>
            </a:pPr>
            <a:r>
              <a:rPr kumimoji="1" lang="en-US" b="0" dirty="0">
                <a:solidFill>
                  <a:srgbClr val="B1E2FB"/>
                </a:solidFill>
                <a:effectLst>
                  <a:outerShdw blurRad="38100" dist="38100" dir="2700000" algn="tl">
                    <a:srgbClr val="010199"/>
                  </a:outerShdw>
                </a:effectLst>
                <a:ea typeface="굴림" pitchFamily="50" charset="-127"/>
              </a:rPr>
              <a:t>Switching costs</a:t>
            </a:r>
          </a:p>
        </p:txBody>
      </p:sp>
      <p:sp>
        <p:nvSpPr>
          <p:cNvPr id="19" name="Rectangle 2"/>
          <p:cNvSpPr txBox="1">
            <a:spLocks noChangeArrowheads="1"/>
          </p:cNvSpPr>
          <p:nvPr/>
        </p:nvSpPr>
        <p:spPr>
          <a:xfrm>
            <a:off x="0" y="260648"/>
            <a:ext cx="9144000" cy="563562"/>
          </a:xfrm>
          <a:prstGeom prst="rect">
            <a:avLst/>
          </a:prstGeom>
          <a:noFill/>
        </p:spPr>
        <p:txBody>
          <a:bodyPr/>
          <a:lstStyle/>
          <a:p>
            <a:pPr algn="ctr" latinLnBrk="1">
              <a:defRPr/>
            </a:pPr>
            <a:r>
              <a:rPr lang="en-US" altLang="ko-KR" sz="3600" kern="0" dirty="0">
                <a:solidFill>
                  <a:srgbClr val="FFC000"/>
                </a:solidFill>
                <a:ea typeface="굴림" pitchFamily="50" charset="-127"/>
                <a:cs typeface="Times New Roman" pitchFamily="18" charset="0"/>
              </a:rPr>
              <a:t>Threat of Substitutes</a:t>
            </a:r>
          </a:p>
        </p:txBody>
      </p:sp>
    </p:spTree>
    <p:extLst>
      <p:ext uri="{BB962C8B-B14F-4D97-AF65-F5344CB8AC3E}">
        <p14:creationId xmlns:p14="http://schemas.microsoft.com/office/powerpoint/2010/main" val="1327637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noFill/>
        </p:spPr>
        <p:txBody>
          <a:bodyPr/>
          <a:lstStyle/>
          <a:p>
            <a:pPr algn="ctr" latinLnBrk="1">
              <a:defRPr/>
            </a:pPr>
            <a:endParaRPr kumimoji="1" lang="en-US" altLang="ko-KR" sz="3600" dirty="0">
              <a:solidFill>
                <a:srgbClr val="FFC000"/>
              </a:solidFill>
              <a:ea typeface="굴림" pitchFamily="50" charset="-127"/>
              <a:cs typeface="Times New Roman" pitchFamily="18" charset="0"/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51967" y="1737320"/>
            <a:ext cx="2590800" cy="3048000"/>
            <a:chOff x="308" y="1152"/>
            <a:chExt cx="1632" cy="1920"/>
          </a:xfrm>
          <a:solidFill>
            <a:schemeClr val="bg2"/>
          </a:solidFill>
        </p:grpSpPr>
        <p:sp>
          <p:nvSpPr>
            <p:cNvPr id="5" name="AutoShape 4"/>
            <p:cNvSpPr>
              <a:spLocks noChangeArrowheads="1"/>
            </p:cNvSpPr>
            <p:nvPr/>
          </p:nvSpPr>
          <p:spPr bwMode="auto">
            <a:xfrm>
              <a:off x="308" y="1152"/>
              <a:ext cx="1632" cy="1920"/>
            </a:xfrm>
            <a:prstGeom prst="homePlate">
              <a:avLst>
                <a:gd name="adj" fmla="val 33333"/>
              </a:avLst>
            </a:prstGeom>
            <a:grpFill/>
            <a:ln w="12699">
              <a:noFill/>
              <a:miter lim="800000"/>
              <a:headEnd/>
              <a:tailEnd/>
            </a:ln>
            <a:effectLst>
              <a:outerShdw dist="53882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latinLnBrk="1">
                <a:defRPr/>
              </a:pPr>
              <a:endParaRPr kumimoji="1" lang="en-US" sz="1800" b="0">
                <a:solidFill>
                  <a:srgbClr val="B1E2FB"/>
                </a:solidFill>
                <a:latin typeface="Franklin Gothic Heavy" pitchFamily="34" charset="0"/>
                <a:ea typeface="굴림" pitchFamily="50" charset="-127"/>
              </a:endParaRPr>
            </a:p>
          </p:txBody>
        </p:sp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308" y="1537"/>
              <a:ext cx="1315" cy="1123"/>
            </a:xfrm>
            <a:prstGeom prst="rect">
              <a:avLst/>
            </a:prstGeom>
            <a:grpFill/>
            <a:ln w="12699">
              <a:noFill/>
              <a:miter lim="800000"/>
              <a:headEnd/>
              <a:tailEnd/>
            </a:ln>
            <a:effectLst>
              <a:outerShdw dist="17961" dir="2700000" algn="ctr" rotWithShape="0">
                <a:schemeClr val="bg2"/>
              </a:outerShdw>
            </a:effectLst>
          </p:spPr>
          <p:txBody>
            <a:bodyPr wrap="square" lIns="90488" tIns="44450" rIns="90488" bIns="44450">
              <a:spAutoFit/>
            </a:bodyPr>
            <a:lstStyle/>
            <a:p>
              <a:pPr eaLnBrk="0" latinLnBrk="1" hangingPunct="0">
                <a:defRPr/>
              </a:pPr>
              <a:r>
                <a:rPr kumimoji="1" lang="en-US" sz="2200" b="0" dirty="0">
                  <a:solidFill>
                    <a:srgbClr val="B1E2FB"/>
                  </a:solidFill>
                  <a:ea typeface="굴림" pitchFamily="50" charset="-127"/>
                </a:rPr>
                <a:t>Increased rivalry among existing   firms tends to      decrease prices / increase quality</a:t>
              </a:r>
            </a:p>
          </p:txBody>
        </p:sp>
      </p:grpSp>
      <p:sp>
        <p:nvSpPr>
          <p:cNvPr id="19" name="Rectangle 2"/>
          <p:cNvSpPr txBox="1">
            <a:spLocks noChangeArrowheads="1"/>
          </p:cNvSpPr>
          <p:nvPr/>
        </p:nvSpPr>
        <p:spPr>
          <a:xfrm>
            <a:off x="0" y="260648"/>
            <a:ext cx="9144000" cy="563562"/>
          </a:xfrm>
          <a:prstGeom prst="rect">
            <a:avLst/>
          </a:prstGeom>
          <a:noFill/>
        </p:spPr>
        <p:txBody>
          <a:bodyPr/>
          <a:lstStyle/>
          <a:p>
            <a:pPr algn="ctr" latinLnBrk="1">
              <a:defRPr/>
            </a:pPr>
            <a:r>
              <a:rPr lang="en-US" altLang="ko-KR" sz="3600" kern="0" dirty="0">
                <a:solidFill>
                  <a:srgbClr val="FFC000"/>
                </a:solidFill>
                <a:ea typeface="굴림" pitchFamily="50" charset="-127"/>
                <a:cs typeface="Times New Roman" pitchFamily="18" charset="0"/>
              </a:rPr>
              <a:t>Rivalry among Existing Firms</a:t>
            </a:r>
          </a:p>
        </p:txBody>
      </p:sp>
      <p:sp>
        <p:nvSpPr>
          <p:cNvPr id="20" name="Rectangle 9"/>
          <p:cNvSpPr>
            <a:spLocks noChangeArrowheads="1"/>
          </p:cNvSpPr>
          <p:nvPr/>
        </p:nvSpPr>
        <p:spPr bwMode="auto">
          <a:xfrm>
            <a:off x="3131840" y="1514573"/>
            <a:ext cx="5347619" cy="440633"/>
          </a:xfrm>
          <a:prstGeom prst="rect">
            <a:avLst/>
          </a:prstGeom>
          <a:noFill/>
          <a:ln w="12699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latinLnBrk="1" hangingPunct="0">
              <a:lnSpc>
                <a:spcPct val="95000"/>
              </a:lnSpc>
              <a:defRPr/>
            </a:pPr>
            <a:r>
              <a:rPr kumimoji="1" lang="en-US" b="0" dirty="0">
                <a:solidFill>
                  <a:srgbClr val="B1E2FB"/>
                </a:solidFill>
                <a:effectLst>
                  <a:outerShdw blurRad="38100" dist="38100" dir="2700000" algn="tl">
                    <a:srgbClr val="010199"/>
                  </a:outerShdw>
                </a:effectLst>
                <a:ea typeface="굴림" pitchFamily="50" charset="-127"/>
              </a:rPr>
              <a:t>Rivalry among existing firms increases if:</a:t>
            </a:r>
          </a:p>
        </p:txBody>
      </p:sp>
      <p:grpSp>
        <p:nvGrpSpPr>
          <p:cNvPr id="21" name="Group 10"/>
          <p:cNvGrpSpPr>
            <a:grpSpLocks/>
          </p:cNvGrpSpPr>
          <p:nvPr/>
        </p:nvGrpSpPr>
        <p:grpSpPr bwMode="auto">
          <a:xfrm>
            <a:off x="3203277" y="2147986"/>
            <a:ext cx="5567363" cy="2998788"/>
            <a:chOff x="2244" y="939"/>
            <a:chExt cx="3507" cy="1889"/>
          </a:xfrm>
        </p:grpSpPr>
        <p:sp>
          <p:nvSpPr>
            <p:cNvPr id="22" name="Rectangle 11"/>
            <p:cNvSpPr>
              <a:spLocks noChangeArrowheads="1"/>
            </p:cNvSpPr>
            <p:nvPr/>
          </p:nvSpPr>
          <p:spPr bwMode="auto">
            <a:xfrm>
              <a:off x="2417" y="939"/>
              <a:ext cx="3032" cy="266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 eaLnBrk="0" latinLnBrk="1" hangingPunct="0">
                <a:lnSpc>
                  <a:spcPct val="90000"/>
                </a:lnSpc>
                <a:defRPr/>
              </a:pPr>
              <a:r>
                <a:rPr kumimoji="1" lang="en-US" b="0" dirty="0">
                  <a:solidFill>
                    <a:srgbClr val="B1E2FB"/>
                  </a:solidFill>
                  <a:effectLst>
                    <a:outerShdw blurRad="38100" dist="38100" dir="2700000" algn="tl">
                      <a:srgbClr val="010199"/>
                    </a:outerShdw>
                  </a:effectLst>
                  <a:ea typeface="굴림" pitchFamily="50" charset="-127"/>
                </a:rPr>
                <a:t>The number of competitors is high</a:t>
              </a:r>
            </a:p>
          </p:txBody>
        </p:sp>
        <p:sp>
          <p:nvSpPr>
            <p:cNvPr id="23" name="Rectangle 12"/>
            <p:cNvSpPr>
              <a:spLocks noChangeArrowheads="1"/>
            </p:cNvSpPr>
            <p:nvPr/>
          </p:nvSpPr>
          <p:spPr bwMode="auto">
            <a:xfrm>
              <a:off x="2417" y="1344"/>
              <a:ext cx="3334" cy="266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 eaLnBrk="0" latinLnBrk="1" hangingPunct="0">
                <a:lnSpc>
                  <a:spcPct val="90000"/>
                </a:lnSpc>
                <a:defRPr/>
              </a:pPr>
              <a:r>
                <a:rPr kumimoji="1" lang="en-US" b="0" dirty="0">
                  <a:solidFill>
                    <a:srgbClr val="B1E2FB"/>
                  </a:solidFill>
                  <a:effectLst>
                    <a:outerShdw blurRad="38100" dist="38100" dir="2700000" algn="tl">
                      <a:srgbClr val="010199"/>
                    </a:outerShdw>
                  </a:effectLst>
                  <a:ea typeface="굴림" pitchFamily="50" charset="-127"/>
                </a:rPr>
                <a:t>The industry growth rate is low</a:t>
              </a:r>
            </a:p>
          </p:txBody>
        </p:sp>
        <p:sp>
          <p:nvSpPr>
            <p:cNvPr id="24" name="Rectangle 13"/>
            <p:cNvSpPr>
              <a:spLocks noChangeArrowheads="1"/>
            </p:cNvSpPr>
            <p:nvPr/>
          </p:nvSpPr>
          <p:spPr bwMode="auto">
            <a:xfrm>
              <a:off x="2417" y="1752"/>
              <a:ext cx="3062" cy="266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 eaLnBrk="0" latinLnBrk="1" hangingPunct="0">
                <a:lnSpc>
                  <a:spcPct val="90000"/>
                </a:lnSpc>
                <a:defRPr/>
              </a:pPr>
              <a:r>
                <a:rPr kumimoji="1" lang="en-US" b="0" dirty="0">
                  <a:solidFill>
                    <a:srgbClr val="B1E2FB"/>
                  </a:solidFill>
                  <a:effectLst>
                    <a:outerShdw blurRad="38100" dist="38100" dir="2700000" algn="tl">
                      <a:srgbClr val="010199"/>
                    </a:outerShdw>
                  </a:effectLst>
                  <a:ea typeface="굴림" pitchFamily="50" charset="-127"/>
                </a:rPr>
                <a:t>Exit barriers are high</a:t>
              </a:r>
            </a:p>
          </p:txBody>
        </p:sp>
        <p:sp>
          <p:nvSpPr>
            <p:cNvPr id="25" name="Rectangle 14"/>
            <p:cNvSpPr>
              <a:spLocks noChangeArrowheads="1"/>
            </p:cNvSpPr>
            <p:nvPr/>
          </p:nvSpPr>
          <p:spPr bwMode="auto">
            <a:xfrm>
              <a:off x="2417" y="2154"/>
              <a:ext cx="3184" cy="266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  <a:effectLst/>
          </p:spPr>
          <p:txBody>
            <a:bodyPr wrap="square" lIns="90488" tIns="44450" rIns="90488" bIns="44450">
              <a:spAutoFit/>
            </a:bodyPr>
            <a:lstStyle/>
            <a:p>
              <a:pPr eaLnBrk="0" latinLnBrk="1" hangingPunct="0">
                <a:lnSpc>
                  <a:spcPct val="90000"/>
                </a:lnSpc>
                <a:defRPr/>
              </a:pPr>
              <a:r>
                <a:rPr kumimoji="1" lang="en-US" b="0" dirty="0">
                  <a:solidFill>
                    <a:srgbClr val="B1E2FB"/>
                  </a:solidFill>
                  <a:effectLst>
                    <a:outerShdw blurRad="38100" dist="38100" dir="2700000" algn="tl">
                      <a:srgbClr val="010199"/>
                    </a:outerShdw>
                  </a:effectLst>
                  <a:ea typeface="굴림" pitchFamily="50" charset="-127"/>
                </a:rPr>
                <a:t>Brand loyalty is low</a:t>
              </a:r>
            </a:p>
          </p:txBody>
        </p:sp>
        <p:sp>
          <p:nvSpPr>
            <p:cNvPr id="26" name="Rectangle 15"/>
            <p:cNvSpPr>
              <a:spLocks noChangeArrowheads="1"/>
            </p:cNvSpPr>
            <p:nvPr/>
          </p:nvSpPr>
          <p:spPr bwMode="auto">
            <a:xfrm>
              <a:off x="2417" y="2562"/>
              <a:ext cx="3334" cy="266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 eaLnBrk="0" latinLnBrk="1" hangingPunct="0">
                <a:lnSpc>
                  <a:spcPct val="90000"/>
                </a:lnSpc>
                <a:defRPr/>
              </a:pPr>
              <a:r>
                <a:rPr kumimoji="1" lang="en-US" b="0" dirty="0">
                  <a:solidFill>
                    <a:srgbClr val="B1E2FB"/>
                  </a:solidFill>
                  <a:effectLst>
                    <a:outerShdw blurRad="38100" dist="38100" dir="2700000" algn="tl">
                      <a:srgbClr val="010199"/>
                    </a:outerShdw>
                  </a:effectLst>
                  <a:ea typeface="굴림" pitchFamily="50" charset="-127"/>
                </a:rPr>
                <a:t>Product differentiation is low</a:t>
              </a:r>
            </a:p>
          </p:txBody>
        </p:sp>
        <p:sp>
          <p:nvSpPr>
            <p:cNvPr id="29" name="Oval 18"/>
            <p:cNvSpPr>
              <a:spLocks noChangeArrowheads="1"/>
            </p:cNvSpPr>
            <p:nvPr/>
          </p:nvSpPr>
          <p:spPr bwMode="auto">
            <a:xfrm>
              <a:off x="2244" y="1008"/>
              <a:ext cx="108" cy="108"/>
            </a:xfrm>
            <a:prstGeom prst="ellipse">
              <a:avLst/>
            </a:prstGeom>
            <a:solidFill>
              <a:schemeClr val="accent1"/>
            </a:solidFill>
            <a:ln w="12699">
              <a:noFill/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latinLnBrk="1">
                <a:defRPr/>
              </a:pPr>
              <a:endParaRPr kumimoji="1" lang="en-US" sz="1800" b="0">
                <a:solidFill>
                  <a:srgbClr val="B1E2FB"/>
                </a:solidFill>
                <a:latin typeface="Franklin Gothic Heavy" pitchFamily="34" charset="0"/>
                <a:ea typeface="굴림" pitchFamily="50" charset="-127"/>
              </a:endParaRPr>
            </a:p>
          </p:txBody>
        </p:sp>
        <p:sp>
          <p:nvSpPr>
            <p:cNvPr id="30" name="Oval 19"/>
            <p:cNvSpPr>
              <a:spLocks noChangeArrowheads="1"/>
            </p:cNvSpPr>
            <p:nvPr/>
          </p:nvSpPr>
          <p:spPr bwMode="auto">
            <a:xfrm>
              <a:off x="2244" y="1411"/>
              <a:ext cx="108" cy="108"/>
            </a:xfrm>
            <a:prstGeom prst="ellipse">
              <a:avLst/>
            </a:prstGeom>
            <a:solidFill>
              <a:schemeClr val="accent1"/>
            </a:solidFill>
            <a:ln w="12699">
              <a:noFill/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latinLnBrk="1">
                <a:defRPr/>
              </a:pPr>
              <a:endParaRPr kumimoji="1" lang="en-US" sz="1800" b="0">
                <a:solidFill>
                  <a:srgbClr val="B1E2FB"/>
                </a:solidFill>
                <a:latin typeface="Franklin Gothic Heavy" pitchFamily="34" charset="0"/>
                <a:ea typeface="굴림" pitchFamily="50" charset="-127"/>
              </a:endParaRPr>
            </a:p>
          </p:txBody>
        </p:sp>
        <p:sp>
          <p:nvSpPr>
            <p:cNvPr id="31" name="Oval 20"/>
            <p:cNvSpPr>
              <a:spLocks noChangeArrowheads="1"/>
            </p:cNvSpPr>
            <p:nvPr/>
          </p:nvSpPr>
          <p:spPr bwMode="auto">
            <a:xfrm>
              <a:off x="2244" y="1842"/>
              <a:ext cx="108" cy="108"/>
            </a:xfrm>
            <a:prstGeom prst="ellipse">
              <a:avLst/>
            </a:prstGeom>
            <a:solidFill>
              <a:schemeClr val="accent1"/>
            </a:solidFill>
            <a:ln w="12699">
              <a:noFill/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latinLnBrk="1">
                <a:defRPr/>
              </a:pPr>
              <a:endParaRPr kumimoji="1" lang="en-US" sz="1800" b="0">
                <a:solidFill>
                  <a:srgbClr val="B1E2FB"/>
                </a:solidFill>
                <a:latin typeface="Franklin Gothic Heavy" pitchFamily="34" charset="0"/>
                <a:ea typeface="굴림" pitchFamily="50" charset="-127"/>
              </a:endParaRPr>
            </a:p>
          </p:txBody>
        </p:sp>
        <p:sp>
          <p:nvSpPr>
            <p:cNvPr id="32" name="Oval 21"/>
            <p:cNvSpPr>
              <a:spLocks noChangeArrowheads="1"/>
            </p:cNvSpPr>
            <p:nvPr/>
          </p:nvSpPr>
          <p:spPr bwMode="auto">
            <a:xfrm>
              <a:off x="2244" y="2228"/>
              <a:ext cx="108" cy="108"/>
            </a:xfrm>
            <a:prstGeom prst="ellipse">
              <a:avLst/>
            </a:prstGeom>
            <a:solidFill>
              <a:schemeClr val="accent1"/>
            </a:solidFill>
            <a:ln w="12699">
              <a:noFill/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latinLnBrk="1">
                <a:defRPr/>
              </a:pPr>
              <a:endParaRPr kumimoji="1" lang="en-US" sz="1800" b="0">
                <a:solidFill>
                  <a:srgbClr val="B1E2FB"/>
                </a:solidFill>
                <a:latin typeface="Franklin Gothic Heavy" pitchFamily="34" charset="0"/>
                <a:ea typeface="굴림" pitchFamily="50" charset="-127"/>
              </a:endParaRPr>
            </a:p>
          </p:txBody>
        </p:sp>
        <p:sp>
          <p:nvSpPr>
            <p:cNvPr id="33" name="Oval 22"/>
            <p:cNvSpPr>
              <a:spLocks noChangeArrowheads="1"/>
            </p:cNvSpPr>
            <p:nvPr/>
          </p:nvSpPr>
          <p:spPr bwMode="auto">
            <a:xfrm>
              <a:off x="2244" y="2636"/>
              <a:ext cx="108" cy="108"/>
            </a:xfrm>
            <a:prstGeom prst="ellipse">
              <a:avLst/>
            </a:prstGeom>
            <a:solidFill>
              <a:schemeClr val="accent1"/>
            </a:solidFill>
            <a:ln w="12699">
              <a:noFill/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latinLnBrk="1">
                <a:defRPr/>
              </a:pPr>
              <a:endParaRPr kumimoji="1" lang="en-US" sz="1800" b="0">
                <a:solidFill>
                  <a:srgbClr val="B1E2FB"/>
                </a:solidFill>
                <a:latin typeface="Franklin Gothic Heavy" pitchFamily="34" charset="0"/>
                <a:ea typeface="굴림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25004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noFill/>
        </p:spPr>
        <p:txBody>
          <a:bodyPr/>
          <a:lstStyle/>
          <a:p>
            <a:pPr algn="ctr" latinLnBrk="1">
              <a:defRPr/>
            </a:pPr>
            <a:endParaRPr kumimoji="1" lang="en-US" altLang="ko-KR" sz="3600" dirty="0">
              <a:solidFill>
                <a:srgbClr val="FFC000"/>
              </a:solidFill>
              <a:ea typeface="굴림" pitchFamily="50" charset="-127"/>
              <a:cs typeface="Times New Roman" pitchFamily="18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395536" y="1219200"/>
            <a:ext cx="8352928" cy="5181600"/>
          </a:xfrm>
          <a:prstGeom prst="rect">
            <a:avLst/>
          </a:prstGeom>
          <a:noFill/>
          <a:ln w="12700" cap="flat">
            <a:prstDash val="solid"/>
          </a:ln>
        </p:spPr>
        <p:txBody>
          <a:bodyPr/>
          <a:lstStyle/>
          <a:p>
            <a:pPr marL="342900" indent="-342900" eaLnBrk="0" latinLnBrk="1" hangingPunct="0">
              <a:lnSpc>
                <a:spcPts val="3400"/>
              </a:lnSpc>
              <a:spcBef>
                <a:spcPct val="20000"/>
              </a:spcBef>
              <a:buClr>
                <a:srgbClr val="72A7F6"/>
              </a:buClr>
              <a:buFont typeface="Arial" pitchFamily="34" charset="0"/>
              <a:buChar char="•"/>
              <a:defRPr/>
            </a:pPr>
            <a:r>
              <a:rPr lang="en-US" altLang="ko-KR" b="0" kern="0" dirty="0">
                <a:solidFill>
                  <a:srgbClr val="B1E2FB"/>
                </a:solidFill>
                <a:ea typeface="굴림" pitchFamily="50" charset="-127"/>
                <a:cs typeface="Times New Roman" pitchFamily="18" charset="0"/>
              </a:rPr>
              <a:t>Shifting threat of new entry</a:t>
            </a:r>
          </a:p>
          <a:p>
            <a:pPr marL="342900" indent="-342900" eaLnBrk="0" latinLnBrk="1" hangingPunct="0">
              <a:lnSpc>
                <a:spcPts val="3400"/>
              </a:lnSpc>
              <a:spcBef>
                <a:spcPct val="20000"/>
              </a:spcBef>
              <a:buClr>
                <a:srgbClr val="72A7F6"/>
              </a:buClr>
              <a:defRPr/>
            </a:pPr>
            <a:r>
              <a:rPr lang="en-US" altLang="ko-KR" b="0" kern="0" dirty="0">
                <a:solidFill>
                  <a:srgbClr val="B1E2FB"/>
                </a:solidFill>
                <a:ea typeface="굴림" pitchFamily="50" charset="-127"/>
                <a:cs typeface="Times New Roman" pitchFamily="18" charset="0"/>
              </a:rPr>
              <a:t>	- changes in entry barriers: e.g., new technology</a:t>
            </a:r>
          </a:p>
          <a:p>
            <a:pPr marL="342900" indent="-342900" eaLnBrk="0" latinLnBrk="1" hangingPunct="0">
              <a:lnSpc>
                <a:spcPts val="3400"/>
              </a:lnSpc>
              <a:spcBef>
                <a:spcPct val="20000"/>
              </a:spcBef>
              <a:buClr>
                <a:srgbClr val="72A7F6"/>
              </a:buClr>
              <a:buFont typeface="Arial" pitchFamily="34" charset="0"/>
              <a:buChar char="•"/>
              <a:defRPr/>
            </a:pPr>
            <a:r>
              <a:rPr lang="en-US" altLang="ko-KR" b="0" kern="0" dirty="0">
                <a:solidFill>
                  <a:srgbClr val="B1E2FB"/>
                </a:solidFill>
                <a:ea typeface="굴림" pitchFamily="50" charset="-127"/>
                <a:cs typeface="Times New Roman" pitchFamily="18" charset="0"/>
              </a:rPr>
              <a:t>Changing supplier power</a:t>
            </a:r>
          </a:p>
          <a:p>
            <a:pPr marL="342900" indent="-342900" eaLnBrk="0" latinLnBrk="1" hangingPunct="0">
              <a:lnSpc>
                <a:spcPts val="3400"/>
              </a:lnSpc>
              <a:spcBef>
                <a:spcPct val="20000"/>
              </a:spcBef>
              <a:buClr>
                <a:srgbClr val="72A7F6"/>
              </a:buClr>
              <a:defRPr/>
            </a:pPr>
            <a:r>
              <a:rPr lang="en-US" altLang="ko-KR" b="0" kern="0" dirty="0">
                <a:solidFill>
                  <a:srgbClr val="B1E2FB"/>
                </a:solidFill>
                <a:ea typeface="굴림" pitchFamily="50" charset="-127"/>
                <a:cs typeface="Times New Roman" pitchFamily="18" charset="0"/>
              </a:rPr>
              <a:t>	- changes in factors underlying supplier power</a:t>
            </a:r>
          </a:p>
          <a:p>
            <a:pPr marL="342900" indent="-342900" eaLnBrk="0" latinLnBrk="1" hangingPunct="0">
              <a:lnSpc>
                <a:spcPts val="3400"/>
              </a:lnSpc>
              <a:spcBef>
                <a:spcPct val="20000"/>
              </a:spcBef>
              <a:buClr>
                <a:srgbClr val="72A7F6"/>
              </a:buClr>
              <a:buFont typeface="Arial" pitchFamily="34" charset="0"/>
              <a:buChar char="•"/>
              <a:defRPr/>
            </a:pPr>
            <a:r>
              <a:rPr lang="en-US" altLang="ko-KR" b="0" kern="0" dirty="0">
                <a:solidFill>
                  <a:srgbClr val="B1E2FB"/>
                </a:solidFill>
                <a:ea typeface="굴림" pitchFamily="50" charset="-127"/>
                <a:cs typeface="Times New Roman" pitchFamily="18" charset="0"/>
              </a:rPr>
              <a:t>Changing buyer power</a:t>
            </a:r>
          </a:p>
          <a:p>
            <a:pPr marL="342900" indent="-342900" eaLnBrk="0" latinLnBrk="1" hangingPunct="0">
              <a:lnSpc>
                <a:spcPts val="3400"/>
              </a:lnSpc>
              <a:spcBef>
                <a:spcPct val="20000"/>
              </a:spcBef>
              <a:buClr>
                <a:srgbClr val="72A7F6"/>
              </a:buClr>
              <a:defRPr/>
            </a:pPr>
            <a:r>
              <a:rPr lang="en-US" altLang="ko-KR" b="0" kern="0" dirty="0">
                <a:solidFill>
                  <a:srgbClr val="B1E2FB"/>
                </a:solidFill>
                <a:ea typeface="굴림" pitchFamily="50" charset="-127"/>
                <a:cs typeface="Times New Roman" pitchFamily="18" charset="0"/>
              </a:rPr>
              <a:t>	- changes in factors underlying buyer power</a:t>
            </a:r>
          </a:p>
          <a:p>
            <a:pPr marL="342900" indent="-342900" eaLnBrk="0" latinLnBrk="1" hangingPunct="0">
              <a:lnSpc>
                <a:spcPts val="3400"/>
              </a:lnSpc>
              <a:spcBef>
                <a:spcPct val="20000"/>
              </a:spcBef>
              <a:buClr>
                <a:srgbClr val="72A7F6"/>
              </a:buClr>
              <a:buFont typeface="Arial" pitchFamily="34" charset="0"/>
              <a:buChar char="•"/>
              <a:defRPr/>
            </a:pPr>
            <a:r>
              <a:rPr lang="en-US" altLang="ko-KR" b="0" kern="0" dirty="0">
                <a:solidFill>
                  <a:srgbClr val="B1E2FB"/>
                </a:solidFill>
                <a:ea typeface="굴림" pitchFamily="50" charset="-127"/>
                <a:cs typeface="Times New Roman" pitchFamily="18" charset="0"/>
              </a:rPr>
              <a:t>Shifting substitution threat</a:t>
            </a:r>
          </a:p>
          <a:p>
            <a:pPr marL="342900" indent="-342900" eaLnBrk="0" latinLnBrk="1" hangingPunct="0">
              <a:lnSpc>
                <a:spcPts val="3400"/>
              </a:lnSpc>
              <a:spcBef>
                <a:spcPct val="20000"/>
              </a:spcBef>
              <a:buClr>
                <a:srgbClr val="72A7F6"/>
              </a:buClr>
              <a:defRPr/>
            </a:pPr>
            <a:r>
              <a:rPr lang="en-US" altLang="ko-KR" b="0" kern="0" dirty="0">
                <a:solidFill>
                  <a:srgbClr val="B1E2FB"/>
                </a:solidFill>
                <a:ea typeface="굴림" pitchFamily="50" charset="-127"/>
                <a:cs typeface="Times New Roman" pitchFamily="18" charset="0"/>
              </a:rPr>
              <a:t>	- advances in technology or shifts in price/performance ratios</a:t>
            </a:r>
          </a:p>
          <a:p>
            <a:pPr marL="342900" indent="-342900" eaLnBrk="0" latinLnBrk="1" hangingPunct="0">
              <a:lnSpc>
                <a:spcPts val="3400"/>
              </a:lnSpc>
              <a:spcBef>
                <a:spcPct val="20000"/>
              </a:spcBef>
              <a:buClr>
                <a:srgbClr val="72A7F6"/>
              </a:buClr>
              <a:buFont typeface="Arial" pitchFamily="34" charset="0"/>
              <a:buChar char="•"/>
              <a:defRPr/>
            </a:pPr>
            <a:r>
              <a:rPr lang="en-US" altLang="ko-KR" b="0" kern="0" dirty="0">
                <a:solidFill>
                  <a:srgbClr val="B1E2FB"/>
                </a:solidFill>
                <a:ea typeface="굴림" pitchFamily="50" charset="-127"/>
                <a:cs typeface="Times New Roman" pitchFamily="18" charset="0"/>
              </a:rPr>
              <a:t>New bases of rivalry</a:t>
            </a:r>
          </a:p>
          <a:p>
            <a:pPr marL="342900" indent="-342900" eaLnBrk="0" latinLnBrk="1" hangingPunct="0">
              <a:lnSpc>
                <a:spcPts val="3400"/>
              </a:lnSpc>
              <a:spcBef>
                <a:spcPct val="20000"/>
              </a:spcBef>
              <a:buClr>
                <a:srgbClr val="72A7F6"/>
              </a:buClr>
              <a:defRPr/>
            </a:pPr>
            <a:r>
              <a:rPr lang="en-US" altLang="ko-KR" b="0" kern="0" dirty="0">
                <a:solidFill>
                  <a:srgbClr val="B1E2FB"/>
                </a:solidFill>
                <a:ea typeface="굴림" pitchFamily="50" charset="-127"/>
                <a:cs typeface="Times New Roman" pitchFamily="18" charset="0"/>
              </a:rPr>
              <a:t>	- changes in factors underlying rivalry</a:t>
            </a:r>
          </a:p>
          <a:p>
            <a:pPr marL="342900" indent="-342900" eaLnBrk="0" latinLnBrk="1" hangingPunct="0">
              <a:lnSpc>
                <a:spcPts val="3800"/>
              </a:lnSpc>
              <a:spcBef>
                <a:spcPct val="20000"/>
              </a:spcBef>
              <a:buClr>
                <a:srgbClr val="72A7F6"/>
              </a:buClr>
              <a:defRPr/>
            </a:pPr>
            <a:endParaRPr lang="en-US" altLang="ko-KR" kern="0" dirty="0">
              <a:solidFill>
                <a:srgbClr val="FFFFFF"/>
              </a:solidFill>
              <a:ea typeface="굴림" pitchFamily="50" charset="-127"/>
              <a:cs typeface="Times New Roman" pitchFamily="18" charset="0"/>
            </a:endParaRPr>
          </a:p>
          <a:p>
            <a:pPr marL="342900" indent="-342900" eaLnBrk="0" latinLnBrk="1" hangingPunct="0">
              <a:lnSpc>
                <a:spcPts val="3800"/>
              </a:lnSpc>
              <a:spcBef>
                <a:spcPct val="20000"/>
              </a:spcBef>
              <a:buClr>
                <a:srgbClr val="72A7F6"/>
              </a:buClr>
              <a:defRPr/>
            </a:pPr>
            <a:r>
              <a:rPr lang="en-US" altLang="ko-KR" kern="0" dirty="0">
                <a:solidFill>
                  <a:srgbClr val="FFFFFF"/>
                </a:solidFill>
                <a:ea typeface="굴림" pitchFamily="50" charset="-127"/>
                <a:cs typeface="Times New Roman" pitchFamily="18" charset="0"/>
              </a:rPr>
              <a:t> </a:t>
            </a:r>
            <a:endParaRPr lang="en-US" altLang="ko-KR" b="0" kern="0" dirty="0">
              <a:solidFill>
                <a:srgbClr val="FFFFFF"/>
              </a:solidFill>
              <a:ea typeface="굴림" pitchFamily="50" charset="-127"/>
              <a:cs typeface="Times New Roman" pitchFamily="18" charset="0"/>
            </a:endParaRPr>
          </a:p>
          <a:p>
            <a:pPr marL="342900" indent="-342900" eaLnBrk="0" latinLnBrk="1" hangingPunct="0">
              <a:lnSpc>
                <a:spcPct val="90000"/>
              </a:lnSpc>
              <a:spcBef>
                <a:spcPct val="20000"/>
              </a:spcBef>
              <a:buClr>
                <a:srgbClr val="72A7F6"/>
              </a:buClr>
              <a:defRPr/>
            </a:pPr>
            <a:endParaRPr lang="en-US" altLang="ko-KR" sz="1200" b="0" kern="0" dirty="0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260648"/>
            <a:ext cx="9144000" cy="563562"/>
          </a:xfrm>
          <a:prstGeom prst="rect">
            <a:avLst/>
          </a:prstGeom>
          <a:noFill/>
        </p:spPr>
        <p:txBody>
          <a:bodyPr/>
          <a:lstStyle/>
          <a:p>
            <a:pPr algn="ctr" latinLnBrk="1">
              <a:defRPr/>
            </a:pPr>
            <a:r>
              <a:rPr lang="en-US" altLang="ko-KR" sz="3600" kern="0" dirty="0">
                <a:solidFill>
                  <a:srgbClr val="FFC000"/>
                </a:solidFill>
                <a:ea typeface="굴림" pitchFamily="50" charset="-127"/>
                <a:cs typeface="Times New Roman" pitchFamily="18" charset="0"/>
              </a:rPr>
              <a:t>Changes in Industry Structure</a:t>
            </a:r>
          </a:p>
        </p:txBody>
      </p:sp>
    </p:spTree>
    <p:extLst>
      <p:ext uri="{BB962C8B-B14F-4D97-AF65-F5344CB8AC3E}">
        <p14:creationId xmlns:p14="http://schemas.microsoft.com/office/powerpoint/2010/main" val="39953576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6416" y="1412776"/>
            <a:ext cx="8524056" cy="4896544"/>
          </a:xfrm>
          <a:noFill/>
          <a:ln w="12700" cap="flat">
            <a:prstDash val="solid"/>
          </a:ln>
        </p:spPr>
        <p:txBody>
          <a:bodyPr/>
          <a:lstStyle/>
          <a:p>
            <a:pPr eaLnBrk="1" hangingPunct="1">
              <a:lnSpc>
                <a:spcPts val="3600"/>
              </a:lnSpc>
              <a:spcBef>
                <a:spcPct val="0"/>
              </a:spcBef>
              <a:buFont typeface="Math3" pitchFamily="2" charset="2"/>
              <a:buNone/>
            </a:pP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•  </a:t>
            </a: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</a:rPr>
              <a:t>Definition:</a:t>
            </a:r>
          </a:p>
          <a:p>
            <a:pPr eaLnBrk="1" hangingPunct="1">
              <a:lnSpc>
                <a:spcPts val="3600"/>
              </a:lnSpc>
              <a:spcBef>
                <a:spcPct val="0"/>
              </a:spcBef>
              <a:buFont typeface="Math3" pitchFamily="2" charset="2"/>
              <a:buNone/>
            </a:pPr>
            <a:r>
              <a:rPr lang="en-US" altLang="ko-KR" sz="2400" dirty="0">
                <a:solidFill>
                  <a:schemeClr val="tx1"/>
                </a:solidFill>
                <a:latin typeface="Times New Roman" pitchFamily="18" charset="0"/>
              </a:rPr>
              <a:t>	   </a:t>
            </a: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altLang="ko-K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</a:rPr>
              <a:t>A group of firms following the same basic strategy within </a:t>
            </a:r>
          </a:p>
          <a:p>
            <a:pPr eaLnBrk="1" hangingPunct="1">
              <a:lnSpc>
                <a:spcPts val="3600"/>
              </a:lnSpc>
              <a:spcBef>
                <a:spcPct val="0"/>
              </a:spcBef>
              <a:buFont typeface="Math3" pitchFamily="2" charset="2"/>
              <a:buNone/>
            </a:pP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</a:rPr>
              <a:t>            an industry</a:t>
            </a:r>
            <a:endParaRPr lang="en-US" altLang="ko-KR" sz="800" b="0" dirty="0">
              <a:solidFill>
                <a:schemeClr val="tx1"/>
              </a:solidFill>
              <a:latin typeface="Times New Roman" pitchFamily="18" charset="0"/>
            </a:endParaRPr>
          </a:p>
          <a:p>
            <a:pPr eaLnBrk="1" hangingPunct="1">
              <a:lnSpc>
                <a:spcPts val="3600"/>
              </a:lnSpc>
              <a:buSzPct val="120000"/>
              <a:buFont typeface="Wingdings" pitchFamily="2" charset="2"/>
              <a:buNone/>
            </a:pPr>
            <a:r>
              <a:rPr lang="en-US" altLang="ko-KR" sz="2400" dirty="0">
                <a:solidFill>
                  <a:schemeClr val="tx1"/>
                </a:solidFill>
                <a:latin typeface="Times New Roman" pitchFamily="18" charset="0"/>
              </a:rPr>
              <a:t>  </a:t>
            </a: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•  </a:t>
            </a: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</a:rPr>
              <a:t>Method to develop strategic groups:</a:t>
            </a:r>
          </a:p>
          <a:p>
            <a:pPr lvl="1" eaLnBrk="1" hangingPunct="1">
              <a:lnSpc>
                <a:spcPts val="3600"/>
              </a:lnSpc>
              <a:buClr>
                <a:schemeClr val="tx2"/>
              </a:buClr>
              <a:buFontTx/>
              <a:buNone/>
            </a:pPr>
            <a:r>
              <a:rPr lang="en-US" altLang="ko-KR" sz="2200" b="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–   </a:t>
            </a: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</a:rPr>
              <a:t>Identify two different criteria</a:t>
            </a:r>
          </a:p>
          <a:p>
            <a:pPr lvl="1" eaLnBrk="1" hangingPunct="1">
              <a:lnSpc>
                <a:spcPts val="3600"/>
              </a:lnSpc>
              <a:buClr>
                <a:schemeClr val="tx2"/>
              </a:buClr>
              <a:buFontTx/>
              <a:buNone/>
            </a:pP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–   </a:t>
            </a: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</a:rPr>
              <a:t>Plot all firms in an industry</a:t>
            </a:r>
          </a:p>
          <a:p>
            <a:pPr lvl="1" eaLnBrk="1" hangingPunct="1">
              <a:lnSpc>
                <a:spcPts val="3600"/>
              </a:lnSpc>
              <a:buClr>
                <a:schemeClr val="tx2"/>
              </a:buClr>
              <a:buFontTx/>
              <a:buNone/>
            </a:pP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–   </a:t>
            </a: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</a:rPr>
              <a:t>Decide which firms follow the same strategy</a:t>
            </a:r>
          </a:p>
          <a:p>
            <a:pPr lvl="1" eaLnBrk="1" hangingPunct="1">
              <a:lnSpc>
                <a:spcPts val="3600"/>
              </a:lnSpc>
              <a:buClr>
                <a:schemeClr val="tx2"/>
              </a:buClr>
              <a:buFontTx/>
              <a:buNone/>
            </a:pP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–   </a:t>
            </a: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</a:rPr>
              <a:t>Draw circles</a:t>
            </a:r>
          </a:p>
          <a:p>
            <a:pPr eaLnBrk="1" hangingPunct="1">
              <a:lnSpc>
                <a:spcPts val="3600"/>
              </a:lnSpc>
              <a:buFont typeface="Math3" pitchFamily="2" charset="2"/>
              <a:buNone/>
            </a:pPr>
            <a:r>
              <a:rPr lang="en-US" altLang="ko-KR" sz="2400" dirty="0">
                <a:solidFill>
                  <a:schemeClr val="tx1"/>
                </a:solidFill>
                <a:latin typeface="Times New Roman" pitchFamily="18" charset="0"/>
              </a:rPr>
              <a:t>			</a:t>
            </a:r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227112"/>
            <a:ext cx="9144000" cy="609600"/>
          </a:xfrm>
          <a:noFill/>
        </p:spPr>
        <p:txBody>
          <a:bodyPr/>
          <a:lstStyle/>
          <a:p>
            <a:pPr algn="ctr" eaLnBrk="1" hangingPunct="1">
              <a:defRPr/>
            </a:pPr>
            <a:r>
              <a:rPr lang="en-US" altLang="ko-KR" sz="32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 STRATEGIC GROUP ANALYSIS</a:t>
            </a:r>
            <a:endParaRPr lang="ko-KR" altLang="en-US" sz="32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굴림" pitchFamily="50" charset="-127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76256" y="6523015"/>
            <a:ext cx="18165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Strategic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128" y="6536575"/>
            <a:ext cx="873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KU MBA</a:t>
            </a:r>
          </a:p>
        </p:txBody>
      </p:sp>
    </p:spTree>
    <p:extLst>
      <p:ext uri="{BB962C8B-B14F-4D97-AF65-F5344CB8AC3E}">
        <p14:creationId xmlns:p14="http://schemas.microsoft.com/office/powerpoint/2010/main" val="4128053891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215180"/>
            <a:ext cx="9144000" cy="579438"/>
          </a:xfrm>
          <a:noFill/>
        </p:spPr>
        <p:txBody>
          <a:bodyPr/>
          <a:lstStyle/>
          <a:p>
            <a:pPr algn="ctr" eaLnBrk="1" hangingPunct="1">
              <a:defRPr/>
            </a:pPr>
            <a:r>
              <a:rPr lang="en-US" altLang="ko-KR" sz="32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COMPETITOR ANALYSIS</a:t>
            </a:r>
            <a:endParaRPr lang="ko-KR" altLang="en-US" sz="32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굴림" pitchFamily="50" charset="-127"/>
              <a:cs typeface="Times New Roman" pitchFamily="18" charset="0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707652" y="1240487"/>
            <a:ext cx="2809875" cy="25352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accent6">
                <a:lumMod val="20000"/>
                <a:lumOff val="8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800" b="0">
              <a:solidFill>
                <a:schemeClr val="bg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Freeform 4"/>
          <p:cNvSpPr>
            <a:spLocks/>
          </p:cNvSpPr>
          <p:nvPr/>
        </p:nvSpPr>
        <p:spPr bwMode="auto">
          <a:xfrm>
            <a:off x="3527052" y="1240487"/>
            <a:ext cx="744538" cy="25368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468" y="774"/>
              </a:cxn>
              <a:cxn ang="0">
                <a:pos x="0" y="1597"/>
              </a:cxn>
              <a:cxn ang="0">
                <a:pos x="0" y="0"/>
              </a:cxn>
            </a:cxnLst>
            <a:rect l="0" t="0" r="r" b="b"/>
            <a:pathLst>
              <a:path w="469" h="1598">
                <a:moveTo>
                  <a:pt x="0" y="0"/>
                </a:moveTo>
                <a:lnTo>
                  <a:pt x="468" y="774"/>
                </a:lnTo>
                <a:lnTo>
                  <a:pt x="0" y="1597"/>
                </a:lnTo>
                <a:lnTo>
                  <a:pt x="0" y="0"/>
                </a:lnTo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12699" cap="rnd" cmpd="sng">
            <a:solidFill>
              <a:schemeClr val="accent6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 sz="1800" b="0">
              <a:solidFill>
                <a:schemeClr val="bg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652090" y="1307162"/>
            <a:ext cx="2943225" cy="459100"/>
          </a:xfrm>
          <a:prstGeom prst="rect">
            <a:avLst/>
          </a:prstGeom>
          <a:noFill/>
          <a:ln w="12699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ctr"/>
            <a:r>
              <a:rPr lang="en-US" b="0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Future Goals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864815" y="1829449"/>
            <a:ext cx="3087687" cy="643766"/>
          </a:xfrm>
          <a:prstGeom prst="rect">
            <a:avLst/>
          </a:prstGeom>
          <a:noFill/>
          <a:ln w="12699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r>
              <a:rPr lang="en-US" sz="1800" b="0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How do our competitors’ goals compare to our goals?</a:t>
            </a: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864815" y="2439049"/>
            <a:ext cx="3087687" cy="643766"/>
          </a:xfrm>
          <a:prstGeom prst="rect">
            <a:avLst/>
          </a:prstGeom>
          <a:noFill/>
          <a:ln w="12699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r>
              <a:rPr lang="en-US" sz="1800" b="0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Where will emphasis be placed in the future?</a:t>
            </a:r>
          </a:p>
        </p:txBody>
      </p:sp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864815" y="3124849"/>
            <a:ext cx="3087687" cy="643766"/>
          </a:xfrm>
          <a:prstGeom prst="rect">
            <a:avLst/>
          </a:prstGeom>
          <a:noFill/>
          <a:ln w="12699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r>
              <a:rPr lang="en-US" sz="1800" b="0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What is the attitude toward risk?</a:t>
            </a:r>
          </a:p>
        </p:txBody>
      </p:sp>
      <p:sp>
        <p:nvSpPr>
          <p:cNvPr id="17" name="Rectangle 18"/>
          <p:cNvSpPr>
            <a:spLocks noChangeArrowheads="1"/>
          </p:cNvSpPr>
          <p:nvPr/>
        </p:nvSpPr>
        <p:spPr bwMode="auto">
          <a:xfrm>
            <a:off x="5389263" y="1269285"/>
            <a:ext cx="2927153" cy="25352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699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800" b="0">
              <a:solidFill>
                <a:schemeClr val="bg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Freeform 19"/>
          <p:cNvSpPr>
            <a:spLocks/>
          </p:cNvSpPr>
          <p:nvPr/>
        </p:nvSpPr>
        <p:spPr bwMode="auto">
          <a:xfrm rot="10800000">
            <a:off x="4648596" y="1269285"/>
            <a:ext cx="744538" cy="25368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468" y="774"/>
              </a:cxn>
              <a:cxn ang="0">
                <a:pos x="0" y="1597"/>
              </a:cxn>
              <a:cxn ang="0">
                <a:pos x="0" y="0"/>
              </a:cxn>
            </a:cxnLst>
            <a:rect l="0" t="0" r="r" b="b"/>
            <a:pathLst>
              <a:path w="469" h="1598">
                <a:moveTo>
                  <a:pt x="0" y="0"/>
                </a:moveTo>
                <a:lnTo>
                  <a:pt x="468" y="774"/>
                </a:lnTo>
                <a:lnTo>
                  <a:pt x="0" y="1597"/>
                </a:lnTo>
                <a:lnTo>
                  <a:pt x="0" y="0"/>
                </a:lnTo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12699" cap="rnd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 sz="1800" b="0">
              <a:solidFill>
                <a:schemeClr val="bg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Rectangle 20"/>
          <p:cNvSpPr>
            <a:spLocks noChangeArrowheads="1"/>
          </p:cNvSpPr>
          <p:nvPr/>
        </p:nvSpPr>
        <p:spPr bwMode="auto">
          <a:xfrm>
            <a:off x="5487688" y="1374060"/>
            <a:ext cx="2805113" cy="459100"/>
          </a:xfrm>
          <a:prstGeom prst="rect">
            <a:avLst/>
          </a:prstGeom>
          <a:noFill/>
          <a:ln w="12699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ctr"/>
            <a:r>
              <a:rPr lang="en-US" b="0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Current Strategy</a:t>
            </a:r>
          </a:p>
        </p:txBody>
      </p:sp>
      <p:sp>
        <p:nvSpPr>
          <p:cNvPr id="20" name="Rectangle 21"/>
          <p:cNvSpPr>
            <a:spLocks noChangeArrowheads="1"/>
          </p:cNvSpPr>
          <p:nvPr/>
        </p:nvSpPr>
        <p:spPr bwMode="auto">
          <a:xfrm>
            <a:off x="5595956" y="1896347"/>
            <a:ext cx="2957512" cy="643766"/>
          </a:xfrm>
          <a:prstGeom prst="rect">
            <a:avLst/>
          </a:prstGeom>
          <a:noFill/>
          <a:ln w="12699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r>
              <a:rPr lang="en-US" sz="1800" b="0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How are our competitors currently competing?</a:t>
            </a:r>
          </a:p>
        </p:txBody>
      </p:sp>
      <p:sp>
        <p:nvSpPr>
          <p:cNvPr id="21" name="Rectangle 22"/>
          <p:cNvSpPr>
            <a:spLocks noChangeArrowheads="1"/>
          </p:cNvSpPr>
          <p:nvPr/>
        </p:nvSpPr>
        <p:spPr bwMode="auto">
          <a:xfrm>
            <a:off x="5595956" y="2656760"/>
            <a:ext cx="2957512" cy="920765"/>
          </a:xfrm>
          <a:prstGeom prst="rect">
            <a:avLst/>
          </a:prstGeom>
          <a:noFill/>
          <a:ln w="12699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r>
              <a:rPr lang="en-US" sz="1800" b="0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Does this strategy support changes in the competitive structure?</a:t>
            </a:r>
          </a:p>
        </p:txBody>
      </p:sp>
      <p:sp>
        <p:nvSpPr>
          <p:cNvPr id="22" name="AutoShape 23"/>
          <p:cNvSpPr>
            <a:spLocks noChangeArrowheads="1"/>
          </p:cNvSpPr>
          <p:nvPr/>
        </p:nvSpPr>
        <p:spPr bwMode="auto">
          <a:xfrm>
            <a:off x="5384818" y="2004297"/>
            <a:ext cx="177800" cy="165100"/>
          </a:xfrm>
          <a:prstGeom prst="star5">
            <a:avLst/>
          </a:prstGeom>
          <a:solidFill>
            <a:schemeClr val="bg1"/>
          </a:solidFill>
          <a:ln w="12699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800" b="0">
              <a:solidFill>
                <a:schemeClr val="bg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AutoShape 24"/>
          <p:cNvSpPr>
            <a:spLocks noChangeArrowheads="1"/>
          </p:cNvSpPr>
          <p:nvPr/>
        </p:nvSpPr>
        <p:spPr bwMode="auto">
          <a:xfrm>
            <a:off x="5384818" y="2766297"/>
            <a:ext cx="177800" cy="165100"/>
          </a:xfrm>
          <a:prstGeom prst="star5">
            <a:avLst/>
          </a:prstGeom>
          <a:solidFill>
            <a:schemeClr val="bg1"/>
          </a:solidFill>
          <a:ln w="12699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800" b="0">
              <a:solidFill>
                <a:schemeClr val="bg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720352" y="1924699"/>
            <a:ext cx="177800" cy="165100"/>
          </a:xfrm>
          <a:prstGeom prst="star5">
            <a:avLst/>
          </a:prstGeom>
          <a:solidFill>
            <a:schemeClr val="bg1"/>
          </a:solidFill>
          <a:ln w="12699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800" b="0">
              <a:solidFill>
                <a:schemeClr val="bg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AutoShape 10"/>
          <p:cNvSpPr>
            <a:spLocks noChangeArrowheads="1"/>
          </p:cNvSpPr>
          <p:nvPr/>
        </p:nvSpPr>
        <p:spPr bwMode="auto">
          <a:xfrm>
            <a:off x="720352" y="2546999"/>
            <a:ext cx="177800" cy="165100"/>
          </a:xfrm>
          <a:prstGeom prst="star5">
            <a:avLst/>
          </a:prstGeom>
          <a:solidFill>
            <a:schemeClr val="bg1"/>
          </a:solidFill>
          <a:ln w="12699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600" b="0">
              <a:solidFill>
                <a:schemeClr val="bg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AutoShape 11"/>
          <p:cNvSpPr>
            <a:spLocks noChangeArrowheads="1"/>
          </p:cNvSpPr>
          <p:nvPr/>
        </p:nvSpPr>
        <p:spPr bwMode="auto">
          <a:xfrm>
            <a:off x="720352" y="3194699"/>
            <a:ext cx="177800" cy="165100"/>
          </a:xfrm>
          <a:prstGeom prst="star5">
            <a:avLst/>
          </a:prstGeom>
          <a:solidFill>
            <a:schemeClr val="bg1"/>
          </a:solidFill>
          <a:ln w="12699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800" b="0">
              <a:solidFill>
                <a:schemeClr val="bg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Rectangle 28"/>
          <p:cNvSpPr>
            <a:spLocks noChangeArrowheads="1"/>
          </p:cNvSpPr>
          <p:nvPr/>
        </p:nvSpPr>
        <p:spPr bwMode="auto">
          <a:xfrm>
            <a:off x="709364" y="3954308"/>
            <a:ext cx="2833712" cy="27155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699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800" b="0">
              <a:solidFill>
                <a:schemeClr val="bg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Freeform 29"/>
          <p:cNvSpPr>
            <a:spLocks/>
          </p:cNvSpPr>
          <p:nvPr/>
        </p:nvSpPr>
        <p:spPr bwMode="auto">
          <a:xfrm>
            <a:off x="3538289" y="3954308"/>
            <a:ext cx="749300" cy="278706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471" y="847"/>
              </a:cxn>
              <a:cxn ang="0">
                <a:pos x="0" y="1747"/>
              </a:cxn>
              <a:cxn ang="0">
                <a:pos x="0" y="0"/>
              </a:cxn>
            </a:cxnLst>
            <a:rect l="0" t="0" r="r" b="b"/>
            <a:pathLst>
              <a:path w="472" h="1748">
                <a:moveTo>
                  <a:pt x="0" y="0"/>
                </a:moveTo>
                <a:lnTo>
                  <a:pt x="471" y="847"/>
                </a:lnTo>
                <a:lnTo>
                  <a:pt x="0" y="1747"/>
                </a:lnTo>
                <a:lnTo>
                  <a:pt x="0" y="0"/>
                </a:lnTo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12699" cap="rnd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 sz="1800" b="0">
              <a:solidFill>
                <a:schemeClr val="bg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Rectangle 30"/>
          <p:cNvSpPr>
            <a:spLocks noChangeArrowheads="1"/>
          </p:cNvSpPr>
          <p:nvPr/>
        </p:nvSpPr>
        <p:spPr bwMode="auto">
          <a:xfrm>
            <a:off x="1063377" y="4392776"/>
            <a:ext cx="2716535" cy="643766"/>
          </a:xfrm>
          <a:prstGeom prst="rect">
            <a:avLst/>
          </a:prstGeom>
          <a:noFill/>
          <a:ln w="12699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r>
              <a:rPr lang="en-US" sz="1800" b="0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Do our competitors assume the future will be volatile?</a:t>
            </a:r>
          </a:p>
        </p:txBody>
      </p:sp>
      <p:sp>
        <p:nvSpPr>
          <p:cNvPr id="27" name="Rectangle 31"/>
          <p:cNvSpPr>
            <a:spLocks noChangeArrowheads="1"/>
          </p:cNvSpPr>
          <p:nvPr/>
        </p:nvSpPr>
        <p:spPr bwMode="auto">
          <a:xfrm>
            <a:off x="1031627" y="5813538"/>
            <a:ext cx="2845693" cy="920765"/>
          </a:xfrm>
          <a:prstGeom prst="rect">
            <a:avLst/>
          </a:prstGeom>
          <a:noFill/>
          <a:ln w="12699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r>
              <a:rPr lang="en-US" sz="1800" b="0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Are our competitors assuming stable competitive conditions?</a:t>
            </a:r>
          </a:p>
        </p:txBody>
      </p:sp>
      <p:sp>
        <p:nvSpPr>
          <p:cNvPr id="28" name="Rectangle 32"/>
          <p:cNvSpPr>
            <a:spLocks noChangeArrowheads="1"/>
          </p:cNvSpPr>
          <p:nvPr/>
        </p:nvSpPr>
        <p:spPr bwMode="auto">
          <a:xfrm>
            <a:off x="1063377" y="4984903"/>
            <a:ext cx="2788543" cy="920765"/>
          </a:xfrm>
          <a:prstGeom prst="rect">
            <a:avLst/>
          </a:prstGeom>
          <a:noFill/>
          <a:ln w="12699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r>
              <a:rPr lang="en-US" sz="1800" b="0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What assumptions do our competitors hold about the industry and themselves?</a:t>
            </a:r>
          </a:p>
        </p:txBody>
      </p:sp>
      <p:sp>
        <p:nvSpPr>
          <p:cNvPr id="29" name="AutoShape 33"/>
          <p:cNvSpPr>
            <a:spLocks noChangeArrowheads="1"/>
          </p:cNvSpPr>
          <p:nvPr/>
        </p:nvSpPr>
        <p:spPr bwMode="auto">
          <a:xfrm>
            <a:off x="839539" y="4502791"/>
            <a:ext cx="177800" cy="165821"/>
          </a:xfrm>
          <a:prstGeom prst="star5">
            <a:avLst/>
          </a:prstGeom>
          <a:solidFill>
            <a:schemeClr val="bg1"/>
          </a:solidFill>
          <a:ln w="12699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800" b="0">
              <a:solidFill>
                <a:schemeClr val="bg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AutoShape 34"/>
          <p:cNvSpPr>
            <a:spLocks noChangeArrowheads="1"/>
          </p:cNvSpPr>
          <p:nvPr/>
        </p:nvSpPr>
        <p:spPr bwMode="auto">
          <a:xfrm>
            <a:off x="839539" y="5107674"/>
            <a:ext cx="177800" cy="165821"/>
          </a:xfrm>
          <a:prstGeom prst="star5">
            <a:avLst/>
          </a:prstGeom>
          <a:solidFill>
            <a:schemeClr val="bg1"/>
          </a:solidFill>
          <a:ln w="12699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600" b="0">
              <a:solidFill>
                <a:schemeClr val="bg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AutoShape 35"/>
          <p:cNvSpPr>
            <a:spLocks noChangeArrowheads="1"/>
          </p:cNvSpPr>
          <p:nvPr/>
        </p:nvSpPr>
        <p:spPr bwMode="auto">
          <a:xfrm>
            <a:off x="839539" y="5967615"/>
            <a:ext cx="177800" cy="165821"/>
          </a:xfrm>
          <a:prstGeom prst="star5">
            <a:avLst/>
          </a:prstGeom>
          <a:solidFill>
            <a:schemeClr val="bg1"/>
          </a:solidFill>
          <a:ln w="12699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800" b="0">
              <a:solidFill>
                <a:schemeClr val="bg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Rectangle 36"/>
          <p:cNvSpPr>
            <a:spLocks noChangeArrowheads="1"/>
          </p:cNvSpPr>
          <p:nvPr/>
        </p:nvSpPr>
        <p:spPr bwMode="auto">
          <a:xfrm>
            <a:off x="898277" y="3933581"/>
            <a:ext cx="2587625" cy="459100"/>
          </a:xfrm>
          <a:prstGeom prst="rect">
            <a:avLst/>
          </a:prstGeom>
          <a:noFill/>
          <a:ln w="12699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ctr"/>
            <a:r>
              <a:rPr lang="en-US" b="0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Assumptions</a:t>
            </a:r>
          </a:p>
        </p:txBody>
      </p:sp>
      <p:sp>
        <p:nvSpPr>
          <p:cNvPr id="33" name="Rectangle 2"/>
          <p:cNvSpPr>
            <a:spLocks noChangeArrowheads="1"/>
          </p:cNvSpPr>
          <p:nvPr/>
        </p:nvSpPr>
        <p:spPr bwMode="auto">
          <a:xfrm>
            <a:off x="5733801" y="5953833"/>
            <a:ext cx="2895600" cy="457200"/>
          </a:xfrm>
          <a:prstGeom prst="rect">
            <a:avLst/>
          </a:prstGeom>
          <a:noFill/>
          <a:ln w="12699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800" b="0">
              <a:solidFill>
                <a:schemeClr val="bg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Rectangle 41"/>
          <p:cNvSpPr>
            <a:spLocks noChangeArrowheads="1"/>
          </p:cNvSpPr>
          <p:nvPr/>
        </p:nvSpPr>
        <p:spPr bwMode="auto">
          <a:xfrm>
            <a:off x="5415284" y="3990632"/>
            <a:ext cx="2901132" cy="267925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699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800" b="0">
              <a:solidFill>
                <a:schemeClr val="bg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Freeform 42"/>
          <p:cNvSpPr>
            <a:spLocks/>
          </p:cNvSpPr>
          <p:nvPr/>
        </p:nvSpPr>
        <p:spPr bwMode="auto">
          <a:xfrm rot="10800000">
            <a:off x="4670746" y="4022480"/>
            <a:ext cx="744538" cy="264400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468" y="774"/>
              </a:cxn>
              <a:cxn ang="0">
                <a:pos x="0" y="1597"/>
              </a:cxn>
              <a:cxn ang="0">
                <a:pos x="0" y="0"/>
              </a:cxn>
            </a:cxnLst>
            <a:rect l="0" t="0" r="r" b="b"/>
            <a:pathLst>
              <a:path w="469" h="1598">
                <a:moveTo>
                  <a:pt x="0" y="0"/>
                </a:moveTo>
                <a:lnTo>
                  <a:pt x="468" y="774"/>
                </a:lnTo>
                <a:lnTo>
                  <a:pt x="0" y="1597"/>
                </a:lnTo>
                <a:lnTo>
                  <a:pt x="0" y="0"/>
                </a:lnTo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12699" cap="rnd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 sz="1800" b="0">
              <a:solidFill>
                <a:schemeClr val="bg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Rectangle 43"/>
          <p:cNvSpPr>
            <a:spLocks noChangeArrowheads="1"/>
          </p:cNvSpPr>
          <p:nvPr/>
        </p:nvSpPr>
        <p:spPr bwMode="auto">
          <a:xfrm>
            <a:off x="5557589" y="4650496"/>
            <a:ext cx="3114675" cy="643766"/>
          </a:xfrm>
          <a:prstGeom prst="rect">
            <a:avLst/>
          </a:prstGeom>
          <a:noFill/>
          <a:ln w="12699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r>
              <a:rPr lang="en-US" sz="1800" b="0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What are our competitors’ strengths and weaknesses?</a:t>
            </a:r>
          </a:p>
        </p:txBody>
      </p:sp>
      <p:sp>
        <p:nvSpPr>
          <p:cNvPr id="37" name="Rectangle 44"/>
          <p:cNvSpPr>
            <a:spLocks noChangeArrowheads="1"/>
          </p:cNvSpPr>
          <p:nvPr/>
        </p:nvSpPr>
        <p:spPr bwMode="auto">
          <a:xfrm>
            <a:off x="5521076" y="5501396"/>
            <a:ext cx="3038475" cy="643766"/>
          </a:xfrm>
          <a:prstGeom prst="rect">
            <a:avLst/>
          </a:prstGeom>
          <a:noFill/>
          <a:ln w="12699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r>
              <a:rPr lang="en-US" sz="1800" b="0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How do our capabilities compare to our competitors?</a:t>
            </a:r>
          </a:p>
        </p:txBody>
      </p:sp>
      <p:sp>
        <p:nvSpPr>
          <p:cNvPr id="38" name="Rectangle 45"/>
          <p:cNvSpPr>
            <a:spLocks noChangeArrowheads="1"/>
          </p:cNvSpPr>
          <p:nvPr/>
        </p:nvSpPr>
        <p:spPr bwMode="auto">
          <a:xfrm>
            <a:off x="5775647" y="4025656"/>
            <a:ext cx="2124075" cy="459100"/>
          </a:xfrm>
          <a:prstGeom prst="rect">
            <a:avLst/>
          </a:prstGeom>
          <a:noFill/>
          <a:ln w="12699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ctr"/>
            <a:r>
              <a:rPr lang="en-US" b="0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Capabilities</a:t>
            </a:r>
          </a:p>
        </p:txBody>
      </p:sp>
      <p:sp>
        <p:nvSpPr>
          <p:cNvPr id="39" name="AutoShape 46"/>
          <p:cNvSpPr>
            <a:spLocks noChangeArrowheads="1"/>
          </p:cNvSpPr>
          <p:nvPr/>
        </p:nvSpPr>
        <p:spPr bwMode="auto">
          <a:xfrm>
            <a:off x="5384551" y="4766383"/>
            <a:ext cx="177800" cy="165100"/>
          </a:xfrm>
          <a:prstGeom prst="star5">
            <a:avLst/>
          </a:prstGeom>
          <a:solidFill>
            <a:schemeClr val="bg1"/>
          </a:solidFill>
          <a:ln w="12699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800" b="0">
              <a:solidFill>
                <a:schemeClr val="bg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AutoShape 47"/>
          <p:cNvSpPr>
            <a:spLocks noChangeArrowheads="1"/>
          </p:cNvSpPr>
          <p:nvPr/>
        </p:nvSpPr>
        <p:spPr bwMode="auto">
          <a:xfrm>
            <a:off x="5364088" y="5617283"/>
            <a:ext cx="177800" cy="165100"/>
          </a:xfrm>
          <a:prstGeom prst="star5">
            <a:avLst/>
          </a:prstGeom>
          <a:solidFill>
            <a:schemeClr val="bg1"/>
          </a:solidFill>
          <a:ln w="12699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800" b="0">
              <a:solidFill>
                <a:schemeClr val="bg2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1408788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직사각형 92"/>
          <p:cNvSpPr/>
          <p:nvPr/>
        </p:nvSpPr>
        <p:spPr>
          <a:xfrm>
            <a:off x="3206551" y="3837814"/>
            <a:ext cx="2088233" cy="240311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0" u="sng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Dominant Design State</a:t>
            </a:r>
          </a:p>
          <a:p>
            <a:pPr>
              <a:buFont typeface="Arial" pitchFamily="34" charset="0"/>
              <a:buChar char="•"/>
            </a:pPr>
            <a:r>
              <a:rPr lang="en-US" altLang="ko-KR" sz="1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Superior product design</a:t>
            </a:r>
          </a:p>
          <a:p>
            <a:r>
              <a:rPr lang="en-US" altLang="ko-KR" sz="1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emerges</a:t>
            </a:r>
          </a:p>
          <a:p>
            <a:pPr>
              <a:buFont typeface="Arial" pitchFamily="34" charset="0"/>
              <a:buChar char="•"/>
            </a:pPr>
            <a:r>
              <a:rPr lang="en-US" altLang="ko-KR" sz="1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Performance-maximizing incremental improvements follow</a:t>
            </a:r>
          </a:p>
          <a:p>
            <a:pPr>
              <a:buFont typeface="Arial" pitchFamily="34" charset="0"/>
              <a:buChar char="•"/>
            </a:pPr>
            <a:r>
              <a:rPr lang="en-US" altLang="ko-KR" sz="1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Dominant design   delineates/coalesces market rapid growth</a:t>
            </a:r>
            <a:endParaRPr lang="ko-KR" altLang="en-US" sz="1400" b="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188640"/>
            <a:ext cx="9144000" cy="579438"/>
          </a:xfrm>
          <a:noFill/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altLang="ko-KR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TECHNOLOGY GROWTH BEHAVIOR</a:t>
            </a:r>
            <a:endParaRPr lang="ko-KR" altLang="en-US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굴림" pitchFamily="50" charset="-127"/>
              <a:cs typeface="Times New Roman" pitchFamily="18" charset="0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1279105" y="3797672"/>
            <a:ext cx="1944215" cy="2448272"/>
          </a:xfrm>
          <a:prstGeom prst="rect">
            <a:avLst/>
          </a:prstGeom>
          <a:noFill/>
          <a:ln>
            <a:noFill/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0" u="sng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Fluid State</a:t>
            </a:r>
          </a:p>
          <a:p>
            <a:pPr>
              <a:buFont typeface="Arial" pitchFamily="34" charset="0"/>
              <a:buChar char="•"/>
            </a:pPr>
            <a:r>
              <a:rPr lang="en-US" altLang="ko-KR" sz="1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Ill-defined technology, product and market</a:t>
            </a:r>
          </a:p>
          <a:p>
            <a:pPr>
              <a:buFont typeface="Arial" pitchFamily="34" charset="0"/>
              <a:buChar char="•"/>
            </a:pPr>
            <a:r>
              <a:rPr lang="en-US" altLang="ko-KR" sz="1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Frequent and major design changes</a:t>
            </a:r>
          </a:p>
          <a:p>
            <a:pPr>
              <a:buFont typeface="Arial" pitchFamily="34" charset="0"/>
              <a:buChar char="•"/>
            </a:pPr>
            <a:r>
              <a:rPr lang="en-US" altLang="ko-KR" sz="1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Manufacturing process loosely and adaptively organized</a:t>
            </a:r>
          </a:p>
          <a:p>
            <a:pPr>
              <a:buFont typeface="Arial" pitchFamily="34" charset="0"/>
              <a:buChar char="•"/>
            </a:pPr>
            <a:endParaRPr lang="ko-KR" altLang="en-US" sz="1400" b="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5383560" y="4005064"/>
            <a:ext cx="2189956" cy="2448272"/>
          </a:xfrm>
          <a:prstGeom prst="rect">
            <a:avLst/>
          </a:prstGeom>
          <a:noFill/>
          <a:ln>
            <a:noFill/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0" u="sng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Product Maturity State</a:t>
            </a:r>
          </a:p>
          <a:p>
            <a:pPr>
              <a:buFont typeface="Arial" pitchFamily="34" charset="0"/>
              <a:buChar char="•"/>
            </a:pPr>
            <a:r>
              <a:rPr lang="en-US" altLang="ko-KR" sz="1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Highly standardized pro-duct; established market</a:t>
            </a:r>
          </a:p>
          <a:p>
            <a:pPr>
              <a:buFont typeface="Arial" pitchFamily="34" charset="0"/>
              <a:buChar char="•"/>
            </a:pPr>
            <a:r>
              <a:rPr lang="en-US" altLang="ko-KR" sz="1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Cost –minimizing manufacturing process innovation</a:t>
            </a:r>
          </a:p>
          <a:p>
            <a:pPr>
              <a:buFont typeface="Arial" pitchFamily="34" charset="0"/>
              <a:buChar char="•"/>
            </a:pPr>
            <a:r>
              <a:rPr lang="en-US" altLang="ko-KR" sz="1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Mature position down the</a:t>
            </a:r>
          </a:p>
          <a:p>
            <a:r>
              <a:rPr lang="en-US" altLang="ko-KR" sz="1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Technology learning curve means little risk, low unit costs and a large market</a:t>
            </a:r>
          </a:p>
          <a:p>
            <a:pPr>
              <a:buFont typeface="Arial" pitchFamily="34" charset="0"/>
              <a:buChar char="•"/>
            </a:pPr>
            <a:endParaRPr lang="ko-KR" altLang="en-US" sz="1400" b="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 Box 111"/>
          <p:cNvSpPr txBox="1">
            <a:spLocks noChangeArrowheads="1"/>
          </p:cNvSpPr>
          <p:nvPr/>
        </p:nvSpPr>
        <p:spPr bwMode="auto">
          <a:xfrm>
            <a:off x="6979637" y="3439666"/>
            <a:ext cx="1696819" cy="397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6000" tIns="90000" rIns="126000" bIns="900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400" b="0" dirty="0">
                <a:latin typeface="Times New Roman" pitchFamily="18" charset="0"/>
                <a:cs typeface="Times New Roman" pitchFamily="18" charset="0"/>
              </a:rPr>
              <a:t>Time/effort</a:t>
            </a:r>
          </a:p>
        </p:txBody>
      </p:sp>
      <p:sp>
        <p:nvSpPr>
          <p:cNvPr id="24" name="Footer Placeholder 1"/>
          <p:cNvSpPr txBox="1">
            <a:spLocks/>
          </p:cNvSpPr>
          <p:nvPr/>
        </p:nvSpPr>
        <p:spPr bwMode="auto">
          <a:xfrm>
            <a:off x="3093580" y="6529186"/>
            <a:ext cx="5820108" cy="337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Times New Roman" pitchFamily="18" charset="0"/>
                <a:ea typeface="굴림" charset="-127"/>
                <a:cs typeface="Times New Roman" pitchFamily="18" charset="0"/>
              </a:rPr>
              <a:t>(Source: Technology S-Curves and Technological Strategy (Henry C. Co))</a:t>
            </a:r>
          </a:p>
        </p:txBody>
      </p:sp>
      <p:sp>
        <p:nvSpPr>
          <p:cNvPr id="25" name="Footer Placeholder 1"/>
          <p:cNvSpPr txBox="1">
            <a:spLocks/>
          </p:cNvSpPr>
          <p:nvPr/>
        </p:nvSpPr>
        <p:spPr bwMode="auto">
          <a:xfrm>
            <a:off x="409391" y="6547622"/>
            <a:ext cx="3168352" cy="337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Times New Roman" pitchFamily="18" charset="0"/>
                <a:ea typeface="굴림" charset="-127"/>
                <a:cs typeface="Times New Roman" pitchFamily="18" charset="0"/>
              </a:rPr>
              <a:t>(after Abernathy</a:t>
            </a:r>
            <a:r>
              <a:rPr kumimoji="0" lang="en-US" sz="1400" b="0" i="0" u="none" strike="noStrike" kern="1200" cap="none" spc="0" normalizeH="0" noProof="0" dirty="0">
                <a:ln>
                  <a:noFill/>
                </a:ln>
                <a:uLnTx/>
                <a:uFillTx/>
                <a:latin typeface="Times New Roman" pitchFamily="18" charset="0"/>
                <a:ea typeface="굴림" charset="-127"/>
                <a:cs typeface="Times New Roman" pitchFamily="18" charset="0"/>
              </a:rPr>
              <a:t> &amp; </a:t>
            </a:r>
            <a:r>
              <a:rPr kumimoji="0" lang="en-US" sz="1400" b="0" i="0" u="none" strike="noStrike" kern="1200" cap="none" spc="0" normalizeH="0" noProof="0" dirty="0" err="1">
                <a:ln>
                  <a:noFill/>
                </a:ln>
                <a:uLnTx/>
                <a:uFillTx/>
                <a:latin typeface="Times New Roman" pitchFamily="18" charset="0"/>
                <a:ea typeface="굴림" charset="-127"/>
                <a:cs typeface="Times New Roman" pitchFamily="18" charset="0"/>
              </a:rPr>
              <a:t>Utterback</a:t>
            </a:r>
            <a:r>
              <a:rPr lang="en-US" sz="1400" b="0" dirty="0">
                <a:latin typeface="Times New Roman" pitchFamily="18" charset="0"/>
                <a:ea typeface="굴림" charset="-127"/>
                <a:cs typeface="Times New Roman" pitchFamily="18" charset="0"/>
              </a:rPr>
              <a:t>, 1978)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uLnTx/>
              <a:uFillTx/>
              <a:latin typeface="Times New Roman" pitchFamily="18" charset="0"/>
              <a:ea typeface="굴림" charset="-127"/>
              <a:cs typeface="Times New Roman" pitchFamily="18" charset="0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089875" y="1355751"/>
            <a:ext cx="5988986" cy="2371402"/>
            <a:chOff x="1070403" y="985044"/>
            <a:chExt cx="5988986" cy="2536403"/>
          </a:xfrm>
          <a:noFill/>
        </p:grpSpPr>
        <p:sp>
          <p:nvSpPr>
            <p:cNvPr id="10" name="Text Box 111"/>
            <p:cNvSpPr txBox="1">
              <a:spLocks noChangeArrowheads="1"/>
            </p:cNvSpPr>
            <p:nvPr/>
          </p:nvSpPr>
          <p:spPr bwMode="auto">
            <a:xfrm rot="16200000">
              <a:off x="420594" y="1794674"/>
              <a:ext cx="1696819" cy="39720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wrap="square" lIns="126000" tIns="90000" rIns="126000" bIns="900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1400" b="0" dirty="0">
                  <a:latin typeface="Times New Roman" pitchFamily="18" charset="0"/>
                  <a:cs typeface="Times New Roman" pitchFamily="18" charset="0"/>
                </a:rPr>
                <a:t>Technology’s  </a:t>
              </a: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1649512" y="1060926"/>
              <a:ext cx="5256584" cy="2425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0"/>
            </a:p>
          </p:txBody>
        </p:sp>
        <p:sp>
          <p:nvSpPr>
            <p:cNvPr id="15" name="Text Box 111"/>
            <p:cNvSpPr txBox="1">
              <a:spLocks noChangeArrowheads="1"/>
            </p:cNvSpPr>
            <p:nvPr/>
          </p:nvSpPr>
          <p:spPr bwMode="auto">
            <a:xfrm rot="16200000">
              <a:off x="635455" y="1761718"/>
              <a:ext cx="1696819" cy="39720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wrap="square" lIns="126000" tIns="90000" rIns="126000" bIns="900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1400" b="0" dirty="0">
                  <a:latin typeface="Times New Roman" pitchFamily="18" charset="0"/>
                  <a:cs typeface="Times New Roman" pitchFamily="18" charset="0"/>
                </a:rPr>
                <a:t>performance</a:t>
              </a:r>
            </a:p>
          </p:txBody>
        </p:sp>
        <p:sp>
          <p:nvSpPr>
            <p:cNvPr id="17" name="Rectangle 29"/>
            <p:cNvSpPr/>
            <p:nvPr/>
          </p:nvSpPr>
          <p:spPr>
            <a:xfrm>
              <a:off x="2073956" y="1301809"/>
              <a:ext cx="862737" cy="790060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lang="en-US" altLang="ko-KR" sz="1400" b="0" kern="0" dirty="0"/>
                <a:t>New </a:t>
              </a:r>
            </a:p>
            <a:p>
              <a:r>
                <a:rPr lang="en-US" altLang="ko-KR" sz="1400" b="0" kern="0" dirty="0"/>
                <a:t>invention</a:t>
              </a:r>
            </a:p>
            <a:p>
              <a:r>
                <a:rPr lang="en-US" sz="1400" b="0" kern="0" dirty="0"/>
                <a:t>period</a:t>
              </a:r>
              <a:endParaRPr lang="en-US" sz="1400" b="0" dirty="0"/>
            </a:p>
          </p:txBody>
        </p:sp>
        <p:sp>
          <p:nvSpPr>
            <p:cNvPr id="18" name="Rectangle 29"/>
            <p:cNvSpPr/>
            <p:nvPr/>
          </p:nvSpPr>
          <p:spPr>
            <a:xfrm>
              <a:off x="3796855" y="1288500"/>
              <a:ext cx="902811" cy="790060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lang="en-US" altLang="ko-KR" sz="1400" b="0" kern="0" dirty="0"/>
                <a:t>Explosive</a:t>
              </a:r>
            </a:p>
            <a:p>
              <a:r>
                <a:rPr lang="en-US" sz="1400" b="0" kern="0" dirty="0"/>
                <a:t>growth </a:t>
              </a:r>
            </a:p>
            <a:p>
              <a:r>
                <a:rPr lang="en-US" sz="1400" b="0" kern="0" dirty="0"/>
                <a:t>period</a:t>
              </a:r>
              <a:endParaRPr lang="en-US" sz="1400" b="0" dirty="0"/>
            </a:p>
          </p:txBody>
        </p:sp>
        <p:sp>
          <p:nvSpPr>
            <p:cNvPr id="19" name="Rectangle 29"/>
            <p:cNvSpPr/>
            <p:nvPr/>
          </p:nvSpPr>
          <p:spPr>
            <a:xfrm>
              <a:off x="5583809" y="1301020"/>
              <a:ext cx="962123" cy="790060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lang="en-US" altLang="ko-KR" sz="1400" b="0" kern="0" dirty="0"/>
                <a:t>Gradual</a:t>
              </a:r>
            </a:p>
            <a:p>
              <a:r>
                <a:rPr lang="en-US" sz="1400" b="0" kern="0" dirty="0"/>
                <a:t>maturation</a:t>
              </a:r>
            </a:p>
            <a:p>
              <a:r>
                <a:rPr lang="en-US" sz="1400" b="0" kern="0" dirty="0"/>
                <a:t>period</a:t>
              </a:r>
              <a:endParaRPr lang="en-US" sz="1400" b="0" dirty="0"/>
            </a:p>
          </p:txBody>
        </p:sp>
        <p:sp>
          <p:nvSpPr>
            <p:cNvPr id="43" name="Text Box 111"/>
            <p:cNvSpPr txBox="1">
              <a:spLocks noChangeArrowheads="1"/>
            </p:cNvSpPr>
            <p:nvPr/>
          </p:nvSpPr>
          <p:spPr bwMode="auto">
            <a:xfrm rot="16200000">
              <a:off x="2085513" y="2096205"/>
              <a:ext cx="2413335" cy="39720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wrap="square" lIns="126000" tIns="90000" rIns="126000" bIns="90000">
              <a:spAutoFit/>
            </a:bodyPr>
            <a:lstStyle/>
            <a:p>
              <a:pPr>
                <a:spcBef>
                  <a:spcPct val="50000"/>
                </a:spcBef>
              </a:pPr>
              <a:endParaRPr lang="en-US" altLang="ko-KR" sz="1400" b="0" dirty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4" name="Text Box 111"/>
            <p:cNvSpPr txBox="1">
              <a:spLocks noChangeArrowheads="1"/>
            </p:cNvSpPr>
            <p:nvPr/>
          </p:nvSpPr>
          <p:spPr bwMode="auto">
            <a:xfrm rot="16200000">
              <a:off x="3973106" y="2098606"/>
              <a:ext cx="2392737" cy="39720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wrap="square" lIns="126000" tIns="90000" rIns="126000" bIns="90000">
              <a:spAutoFit/>
            </a:bodyPr>
            <a:lstStyle/>
            <a:p>
              <a:pPr>
                <a:spcBef>
                  <a:spcPct val="50000"/>
                </a:spcBef>
              </a:pPr>
              <a:endParaRPr lang="en-US" altLang="ko-KR" sz="1400" b="0" dirty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88" name="직선 연결선 87"/>
            <p:cNvCxnSpPr/>
            <p:nvPr/>
          </p:nvCxnSpPr>
          <p:spPr>
            <a:xfrm flipV="1">
              <a:off x="2155339" y="2279130"/>
              <a:ext cx="4414621" cy="14938"/>
            </a:xfrm>
            <a:prstGeom prst="line">
              <a:avLst/>
            </a:prstGeom>
            <a:grpFill/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직선 연결선 88"/>
            <p:cNvCxnSpPr/>
            <p:nvPr/>
          </p:nvCxnSpPr>
          <p:spPr>
            <a:xfrm flipH="1">
              <a:off x="4176385" y="1134861"/>
              <a:ext cx="0" cy="2286174"/>
            </a:xfrm>
            <a:prstGeom prst="line">
              <a:avLst/>
            </a:prstGeom>
            <a:grpFill/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자유형 89"/>
            <p:cNvSpPr/>
            <p:nvPr/>
          </p:nvSpPr>
          <p:spPr>
            <a:xfrm>
              <a:off x="2405790" y="2267809"/>
              <a:ext cx="1791730" cy="1167714"/>
            </a:xfrm>
            <a:custGeom>
              <a:avLst/>
              <a:gdLst>
                <a:gd name="connsiteX0" fmla="*/ 0 w 1791730"/>
                <a:gd name="connsiteY0" fmla="*/ 1149179 h 1167714"/>
                <a:gd name="connsiteX1" fmla="*/ 951471 w 1791730"/>
                <a:gd name="connsiteY1" fmla="*/ 976184 h 1167714"/>
                <a:gd name="connsiteX2" fmla="*/ 1791730 w 1791730"/>
                <a:gd name="connsiteY2" fmla="*/ 0 h 1167714"/>
                <a:gd name="connsiteX3" fmla="*/ 1791730 w 1791730"/>
                <a:gd name="connsiteY3" fmla="*/ 0 h 11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91730" h="1167714">
                  <a:moveTo>
                    <a:pt x="0" y="1149179"/>
                  </a:moveTo>
                  <a:cubicBezTo>
                    <a:pt x="326424" y="1158446"/>
                    <a:pt x="652849" y="1167714"/>
                    <a:pt x="951471" y="976184"/>
                  </a:cubicBezTo>
                  <a:cubicBezTo>
                    <a:pt x="1250093" y="784654"/>
                    <a:pt x="1791730" y="0"/>
                    <a:pt x="1791730" y="0"/>
                  </a:cubicBezTo>
                  <a:lnTo>
                    <a:pt x="1791730" y="0"/>
                  </a:lnTo>
                </a:path>
              </a:pathLst>
            </a:custGeom>
            <a:grpFill/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400" b="0"/>
            </a:p>
          </p:txBody>
        </p:sp>
        <p:sp>
          <p:nvSpPr>
            <p:cNvPr id="91" name="자유형 90"/>
            <p:cNvSpPr/>
            <p:nvPr/>
          </p:nvSpPr>
          <p:spPr>
            <a:xfrm rot="10800000">
              <a:off x="4189314" y="1110367"/>
              <a:ext cx="1791730" cy="1167714"/>
            </a:xfrm>
            <a:custGeom>
              <a:avLst/>
              <a:gdLst>
                <a:gd name="connsiteX0" fmla="*/ 0 w 1791730"/>
                <a:gd name="connsiteY0" fmla="*/ 1149179 h 1167714"/>
                <a:gd name="connsiteX1" fmla="*/ 951471 w 1791730"/>
                <a:gd name="connsiteY1" fmla="*/ 976184 h 1167714"/>
                <a:gd name="connsiteX2" fmla="*/ 1791730 w 1791730"/>
                <a:gd name="connsiteY2" fmla="*/ 0 h 1167714"/>
                <a:gd name="connsiteX3" fmla="*/ 1791730 w 1791730"/>
                <a:gd name="connsiteY3" fmla="*/ 0 h 11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91730" h="1167714">
                  <a:moveTo>
                    <a:pt x="0" y="1149179"/>
                  </a:moveTo>
                  <a:cubicBezTo>
                    <a:pt x="326424" y="1158446"/>
                    <a:pt x="652849" y="1167714"/>
                    <a:pt x="951471" y="976184"/>
                  </a:cubicBezTo>
                  <a:cubicBezTo>
                    <a:pt x="1250093" y="784654"/>
                    <a:pt x="1791730" y="0"/>
                    <a:pt x="1791730" y="0"/>
                  </a:cubicBezTo>
                  <a:lnTo>
                    <a:pt x="1791730" y="0"/>
                  </a:lnTo>
                </a:path>
              </a:pathLst>
            </a:custGeom>
            <a:grpFill/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400" b="0"/>
            </a:p>
          </p:txBody>
        </p:sp>
        <p:sp>
          <p:nvSpPr>
            <p:cNvPr id="92" name="덧셈 기호 91"/>
            <p:cNvSpPr/>
            <p:nvPr/>
          </p:nvSpPr>
          <p:spPr>
            <a:xfrm>
              <a:off x="4072260" y="2189113"/>
              <a:ext cx="216024" cy="216024"/>
            </a:xfrm>
            <a:prstGeom prst="mathPlus">
              <a:avLst>
                <a:gd name="adj1" fmla="val 36747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0"/>
            </a:p>
          </p:txBody>
        </p:sp>
        <p:cxnSp>
          <p:nvCxnSpPr>
            <p:cNvPr id="28" name="직선 화살표 연결선 27"/>
            <p:cNvCxnSpPr/>
            <p:nvPr/>
          </p:nvCxnSpPr>
          <p:spPr>
            <a:xfrm flipV="1">
              <a:off x="1764705" y="3494233"/>
              <a:ext cx="5294684" cy="0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화살표 연결선 28"/>
            <p:cNvCxnSpPr/>
            <p:nvPr/>
          </p:nvCxnSpPr>
          <p:spPr>
            <a:xfrm flipH="1" flipV="1">
              <a:off x="1750988" y="985044"/>
              <a:ext cx="0" cy="2536403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직사각형 29"/>
          <p:cNvSpPr/>
          <p:nvPr/>
        </p:nvSpPr>
        <p:spPr bwMode="auto">
          <a:xfrm>
            <a:off x="3210620" y="4047480"/>
            <a:ext cx="2088232" cy="144016"/>
          </a:xfrm>
          <a:prstGeom prst="rect">
            <a:avLst/>
          </a:prstGeom>
          <a:solidFill>
            <a:schemeClr val="tx1">
              <a:alpha val="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035751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Footer Placeholder 1"/>
          <p:cNvSpPr txBox="1">
            <a:spLocks/>
          </p:cNvSpPr>
          <p:nvPr/>
        </p:nvSpPr>
        <p:spPr bwMode="auto">
          <a:xfrm>
            <a:off x="421839" y="6539794"/>
            <a:ext cx="2602756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itchFamily="18" charset="0"/>
                <a:ea typeface="굴림" charset="-127"/>
                <a:cs typeface="Times New Roman" pitchFamily="18" charset="0"/>
              </a:rPr>
              <a:t>(after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itchFamily="18" charset="0"/>
                <a:ea typeface="굴림" charset="-127"/>
                <a:cs typeface="Times New Roman" pitchFamily="18" charset="0"/>
              </a:rPr>
              <a:t>Afuah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itchFamily="18" charset="0"/>
                <a:ea typeface="굴림" charset="-127"/>
                <a:cs typeface="Times New Roman" pitchFamily="18" charset="0"/>
              </a:rPr>
              <a:t>,</a:t>
            </a:r>
            <a:r>
              <a:rPr kumimoji="0" lang="en-US" sz="1200" b="0" i="0" u="none" strike="noStrike" kern="1200" cap="none" spc="0" normalizeH="0" noProof="0" dirty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itchFamily="18" charset="0"/>
                <a:ea typeface="굴림" charset="-127"/>
                <a:cs typeface="Times New Roman" pitchFamily="18" charset="0"/>
              </a:rPr>
              <a:t> A,..</a:t>
            </a:r>
            <a:r>
              <a:rPr lang="en-US" sz="1200" b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굴림" charset="-127"/>
                <a:cs typeface="Times New Roman" pitchFamily="18" charset="0"/>
              </a:rPr>
              <a:t>OUP 98)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itchFamily="18" charset="0"/>
              <a:ea typeface="굴림" charset="-127"/>
              <a:cs typeface="Times New Roman" pitchFamily="18" charset="0"/>
            </a:endParaRPr>
          </a:p>
        </p:txBody>
      </p:sp>
      <p:sp>
        <p:nvSpPr>
          <p:cNvPr id="73" name="Footer Placeholder 1"/>
          <p:cNvSpPr txBox="1">
            <a:spLocks/>
          </p:cNvSpPr>
          <p:nvPr/>
        </p:nvSpPr>
        <p:spPr bwMode="auto">
          <a:xfrm>
            <a:off x="3059832" y="6597352"/>
            <a:ext cx="5904656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itchFamily="18" charset="0"/>
                <a:ea typeface="굴림" charset="-127"/>
                <a:cs typeface="Times New Roman" pitchFamily="18" charset="0"/>
              </a:rPr>
              <a:t>(Source: Technology S-Curves and Technological Strategy (Henry C. Co))</a:t>
            </a:r>
          </a:p>
        </p:txBody>
      </p:sp>
      <p:sp>
        <p:nvSpPr>
          <p:cNvPr id="75" name="Rectangle 4"/>
          <p:cNvSpPr>
            <a:spLocks noGrp="1" noChangeArrowheads="1"/>
          </p:cNvSpPr>
          <p:nvPr>
            <p:ph type="title"/>
          </p:nvPr>
        </p:nvSpPr>
        <p:spPr>
          <a:xfrm>
            <a:off x="12032" y="188640"/>
            <a:ext cx="9144000" cy="579438"/>
          </a:xfrm>
          <a:noFill/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altLang="ko-KR" sz="32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Dynamics of Emerging Technologies &amp; Markets</a:t>
            </a:r>
            <a:endParaRPr lang="ko-KR" altLang="en-US" sz="32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굴림" pitchFamily="50" charset="-127"/>
              <a:cs typeface="Times New Roman" pitchFamily="18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432275" y="1469959"/>
            <a:ext cx="5732428" cy="22870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0"/>
          </a:p>
        </p:txBody>
      </p:sp>
      <p:sp>
        <p:nvSpPr>
          <p:cNvPr id="7" name="Rectangle 29"/>
          <p:cNvSpPr/>
          <p:nvPr/>
        </p:nvSpPr>
        <p:spPr>
          <a:xfrm rot="18366074">
            <a:off x="3118220" y="2645851"/>
            <a:ext cx="1465479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1500" b="0" kern="0" dirty="0"/>
              <a:t>Technology Field</a:t>
            </a:r>
            <a:endParaRPr lang="en-US" sz="1500" b="0" dirty="0"/>
          </a:p>
        </p:txBody>
      </p:sp>
      <p:sp>
        <p:nvSpPr>
          <p:cNvPr id="14" name="자유형 13"/>
          <p:cNvSpPr/>
          <p:nvPr/>
        </p:nvSpPr>
        <p:spPr>
          <a:xfrm>
            <a:off x="2579973" y="2625332"/>
            <a:ext cx="1791730" cy="1071606"/>
          </a:xfrm>
          <a:custGeom>
            <a:avLst/>
            <a:gdLst>
              <a:gd name="connsiteX0" fmla="*/ 0 w 1791730"/>
              <a:gd name="connsiteY0" fmla="*/ 1149179 h 1167714"/>
              <a:gd name="connsiteX1" fmla="*/ 951471 w 1791730"/>
              <a:gd name="connsiteY1" fmla="*/ 976184 h 1167714"/>
              <a:gd name="connsiteX2" fmla="*/ 1791730 w 1791730"/>
              <a:gd name="connsiteY2" fmla="*/ 0 h 1167714"/>
              <a:gd name="connsiteX3" fmla="*/ 1791730 w 1791730"/>
              <a:gd name="connsiteY3" fmla="*/ 0 h 116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1730" h="1167714">
                <a:moveTo>
                  <a:pt x="0" y="1149179"/>
                </a:moveTo>
                <a:cubicBezTo>
                  <a:pt x="326424" y="1158446"/>
                  <a:pt x="652849" y="1167714"/>
                  <a:pt x="951471" y="976184"/>
                </a:cubicBezTo>
                <a:cubicBezTo>
                  <a:pt x="1250093" y="784654"/>
                  <a:pt x="1791730" y="0"/>
                  <a:pt x="1791730" y="0"/>
                </a:cubicBezTo>
                <a:lnTo>
                  <a:pt x="1791730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b="0"/>
          </a:p>
        </p:txBody>
      </p:sp>
      <p:sp>
        <p:nvSpPr>
          <p:cNvPr id="15" name="자유형 14"/>
          <p:cNvSpPr/>
          <p:nvPr/>
        </p:nvSpPr>
        <p:spPr>
          <a:xfrm rot="10800000">
            <a:off x="5024726" y="1550040"/>
            <a:ext cx="1118817" cy="203583"/>
          </a:xfrm>
          <a:custGeom>
            <a:avLst/>
            <a:gdLst>
              <a:gd name="connsiteX0" fmla="*/ 0 w 1791730"/>
              <a:gd name="connsiteY0" fmla="*/ 1149179 h 1167714"/>
              <a:gd name="connsiteX1" fmla="*/ 951471 w 1791730"/>
              <a:gd name="connsiteY1" fmla="*/ 976184 h 1167714"/>
              <a:gd name="connsiteX2" fmla="*/ 1791730 w 1791730"/>
              <a:gd name="connsiteY2" fmla="*/ 0 h 1167714"/>
              <a:gd name="connsiteX3" fmla="*/ 1791730 w 1791730"/>
              <a:gd name="connsiteY3" fmla="*/ 0 h 116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1730" h="1167714">
                <a:moveTo>
                  <a:pt x="0" y="1149179"/>
                </a:moveTo>
                <a:cubicBezTo>
                  <a:pt x="326424" y="1158446"/>
                  <a:pt x="652849" y="1167714"/>
                  <a:pt x="951471" y="976184"/>
                </a:cubicBezTo>
                <a:cubicBezTo>
                  <a:pt x="1250093" y="784654"/>
                  <a:pt x="1791730" y="0"/>
                  <a:pt x="1791730" y="0"/>
                </a:cubicBezTo>
                <a:lnTo>
                  <a:pt x="1791730" y="0"/>
                </a:lnTo>
              </a:path>
            </a:pathLst>
          </a:custGeom>
          <a:noFill/>
          <a:ln>
            <a:solidFill>
              <a:schemeClr val="tx1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b="0"/>
          </a:p>
        </p:txBody>
      </p:sp>
      <p:sp>
        <p:nvSpPr>
          <p:cNvPr id="17" name="Text Box 111"/>
          <p:cNvSpPr txBox="1">
            <a:spLocks noChangeArrowheads="1"/>
          </p:cNvSpPr>
          <p:nvPr/>
        </p:nvSpPr>
        <p:spPr bwMode="auto">
          <a:xfrm rot="18525800">
            <a:off x="6728006" y="2534918"/>
            <a:ext cx="1557164" cy="643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6000" tIns="90000" rIns="126000" bIns="900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500" b="0" dirty="0">
                <a:latin typeface="Times New Roman" pitchFamily="18" charset="0"/>
                <a:cs typeface="Times New Roman" pitchFamily="18" charset="0"/>
              </a:rPr>
              <a:t>Technical Approaches</a:t>
            </a:r>
          </a:p>
        </p:txBody>
      </p:sp>
      <p:sp>
        <p:nvSpPr>
          <p:cNvPr id="18" name="Rectangle 29"/>
          <p:cNvSpPr/>
          <p:nvPr/>
        </p:nvSpPr>
        <p:spPr>
          <a:xfrm rot="18366074">
            <a:off x="3741660" y="2592928"/>
            <a:ext cx="1709677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1500" b="0" kern="0" dirty="0"/>
              <a:t>Electronic Computers</a:t>
            </a:r>
            <a:endParaRPr lang="en-US" sz="1500" b="0" dirty="0"/>
          </a:p>
        </p:txBody>
      </p:sp>
      <p:sp>
        <p:nvSpPr>
          <p:cNvPr id="19" name="자유형 18"/>
          <p:cNvSpPr/>
          <p:nvPr/>
        </p:nvSpPr>
        <p:spPr>
          <a:xfrm>
            <a:off x="4131207" y="3476110"/>
            <a:ext cx="437094" cy="209718"/>
          </a:xfrm>
          <a:custGeom>
            <a:avLst/>
            <a:gdLst>
              <a:gd name="connsiteX0" fmla="*/ 0 w 1791730"/>
              <a:gd name="connsiteY0" fmla="*/ 1149179 h 1167714"/>
              <a:gd name="connsiteX1" fmla="*/ 951471 w 1791730"/>
              <a:gd name="connsiteY1" fmla="*/ 976184 h 1167714"/>
              <a:gd name="connsiteX2" fmla="*/ 1791730 w 1791730"/>
              <a:gd name="connsiteY2" fmla="*/ 0 h 1167714"/>
              <a:gd name="connsiteX3" fmla="*/ 1791730 w 1791730"/>
              <a:gd name="connsiteY3" fmla="*/ 0 h 116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1730" h="1167714">
                <a:moveTo>
                  <a:pt x="0" y="1149179"/>
                </a:moveTo>
                <a:cubicBezTo>
                  <a:pt x="326424" y="1158446"/>
                  <a:pt x="652849" y="1167714"/>
                  <a:pt x="951471" y="976184"/>
                </a:cubicBezTo>
                <a:cubicBezTo>
                  <a:pt x="1250093" y="784654"/>
                  <a:pt x="1791730" y="0"/>
                  <a:pt x="1791730" y="0"/>
                </a:cubicBezTo>
                <a:lnTo>
                  <a:pt x="1791730" y="0"/>
                </a:lnTo>
              </a:path>
            </a:pathLst>
          </a:custGeom>
          <a:noFill/>
          <a:ln>
            <a:solidFill>
              <a:schemeClr val="tx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b="0"/>
          </a:p>
        </p:txBody>
      </p:sp>
      <p:sp>
        <p:nvSpPr>
          <p:cNvPr id="20" name="자유형 19"/>
          <p:cNvSpPr/>
          <p:nvPr/>
        </p:nvSpPr>
        <p:spPr>
          <a:xfrm rot="10800000">
            <a:off x="4562975" y="3026652"/>
            <a:ext cx="806376" cy="456002"/>
          </a:xfrm>
          <a:custGeom>
            <a:avLst/>
            <a:gdLst>
              <a:gd name="connsiteX0" fmla="*/ 0 w 1791730"/>
              <a:gd name="connsiteY0" fmla="*/ 1149179 h 1167714"/>
              <a:gd name="connsiteX1" fmla="*/ 951471 w 1791730"/>
              <a:gd name="connsiteY1" fmla="*/ 976184 h 1167714"/>
              <a:gd name="connsiteX2" fmla="*/ 1791730 w 1791730"/>
              <a:gd name="connsiteY2" fmla="*/ 0 h 1167714"/>
              <a:gd name="connsiteX3" fmla="*/ 1791730 w 1791730"/>
              <a:gd name="connsiteY3" fmla="*/ 0 h 116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1730" h="1167714">
                <a:moveTo>
                  <a:pt x="0" y="1149179"/>
                </a:moveTo>
                <a:cubicBezTo>
                  <a:pt x="326424" y="1158446"/>
                  <a:pt x="652849" y="1167714"/>
                  <a:pt x="951471" y="976184"/>
                </a:cubicBezTo>
                <a:cubicBezTo>
                  <a:pt x="1250093" y="784654"/>
                  <a:pt x="1791730" y="0"/>
                  <a:pt x="1791730" y="0"/>
                </a:cubicBezTo>
                <a:lnTo>
                  <a:pt x="1791730" y="0"/>
                </a:lnTo>
              </a:path>
            </a:pathLst>
          </a:custGeom>
          <a:noFill/>
          <a:ln cmpd="sng">
            <a:solidFill>
              <a:schemeClr val="tx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b="0"/>
          </a:p>
        </p:txBody>
      </p:sp>
      <p:sp>
        <p:nvSpPr>
          <p:cNvPr id="25" name="자유형 24"/>
          <p:cNvSpPr/>
          <p:nvPr/>
        </p:nvSpPr>
        <p:spPr>
          <a:xfrm>
            <a:off x="6188122" y="2188193"/>
            <a:ext cx="596164" cy="457896"/>
          </a:xfrm>
          <a:custGeom>
            <a:avLst/>
            <a:gdLst>
              <a:gd name="connsiteX0" fmla="*/ 0 w 1791730"/>
              <a:gd name="connsiteY0" fmla="*/ 1149179 h 1167714"/>
              <a:gd name="connsiteX1" fmla="*/ 951471 w 1791730"/>
              <a:gd name="connsiteY1" fmla="*/ 976184 h 1167714"/>
              <a:gd name="connsiteX2" fmla="*/ 1791730 w 1791730"/>
              <a:gd name="connsiteY2" fmla="*/ 0 h 1167714"/>
              <a:gd name="connsiteX3" fmla="*/ 1791730 w 1791730"/>
              <a:gd name="connsiteY3" fmla="*/ 0 h 116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1730" h="1167714">
                <a:moveTo>
                  <a:pt x="0" y="1149179"/>
                </a:moveTo>
                <a:cubicBezTo>
                  <a:pt x="326424" y="1158446"/>
                  <a:pt x="652849" y="1167714"/>
                  <a:pt x="951471" y="976184"/>
                </a:cubicBezTo>
                <a:cubicBezTo>
                  <a:pt x="1250093" y="784654"/>
                  <a:pt x="1791730" y="0"/>
                  <a:pt x="1791730" y="0"/>
                </a:cubicBezTo>
                <a:lnTo>
                  <a:pt x="1791730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b="0"/>
          </a:p>
        </p:txBody>
      </p:sp>
      <p:sp>
        <p:nvSpPr>
          <p:cNvPr id="26" name="자유형 25"/>
          <p:cNvSpPr/>
          <p:nvPr/>
        </p:nvSpPr>
        <p:spPr>
          <a:xfrm rot="10800000">
            <a:off x="6662490" y="1644894"/>
            <a:ext cx="844604" cy="766201"/>
          </a:xfrm>
          <a:custGeom>
            <a:avLst/>
            <a:gdLst>
              <a:gd name="connsiteX0" fmla="*/ 0 w 1791730"/>
              <a:gd name="connsiteY0" fmla="*/ 1149179 h 1167714"/>
              <a:gd name="connsiteX1" fmla="*/ 951471 w 1791730"/>
              <a:gd name="connsiteY1" fmla="*/ 976184 h 1167714"/>
              <a:gd name="connsiteX2" fmla="*/ 1791730 w 1791730"/>
              <a:gd name="connsiteY2" fmla="*/ 0 h 1167714"/>
              <a:gd name="connsiteX3" fmla="*/ 1791730 w 1791730"/>
              <a:gd name="connsiteY3" fmla="*/ 0 h 116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1730" h="1167714">
                <a:moveTo>
                  <a:pt x="0" y="1149179"/>
                </a:moveTo>
                <a:cubicBezTo>
                  <a:pt x="326424" y="1158446"/>
                  <a:pt x="652849" y="1167714"/>
                  <a:pt x="951471" y="976184"/>
                </a:cubicBezTo>
                <a:cubicBezTo>
                  <a:pt x="1250093" y="784654"/>
                  <a:pt x="1791730" y="0"/>
                  <a:pt x="1791730" y="0"/>
                </a:cubicBezTo>
                <a:lnTo>
                  <a:pt x="1791730" y="0"/>
                </a:lnTo>
              </a:path>
            </a:pathLst>
          </a:custGeom>
          <a:noFill/>
          <a:ln cmpd="dbl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b="0"/>
          </a:p>
        </p:txBody>
      </p:sp>
      <p:sp>
        <p:nvSpPr>
          <p:cNvPr id="27" name="Rectangle 29"/>
          <p:cNvSpPr/>
          <p:nvPr/>
        </p:nvSpPr>
        <p:spPr>
          <a:xfrm>
            <a:off x="4682383" y="3313082"/>
            <a:ext cx="1257075" cy="2965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1500" b="0" kern="0" dirty="0" err="1"/>
              <a:t>Vacum</a:t>
            </a:r>
            <a:r>
              <a:rPr lang="en-US" altLang="ko-KR" sz="1500" b="0" kern="0" dirty="0"/>
              <a:t> Tubes</a:t>
            </a:r>
            <a:endParaRPr lang="en-US" sz="1500" b="0" dirty="0"/>
          </a:p>
        </p:txBody>
      </p:sp>
      <p:sp>
        <p:nvSpPr>
          <p:cNvPr id="28" name="Rectangle 29"/>
          <p:cNvSpPr/>
          <p:nvPr/>
        </p:nvSpPr>
        <p:spPr>
          <a:xfrm>
            <a:off x="5786272" y="2795221"/>
            <a:ext cx="1039067" cy="2965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1500" b="0" kern="0" dirty="0"/>
              <a:t>Transistors</a:t>
            </a:r>
            <a:endParaRPr lang="en-US" sz="1500" b="0" dirty="0"/>
          </a:p>
        </p:txBody>
      </p:sp>
      <p:sp>
        <p:nvSpPr>
          <p:cNvPr id="29" name="Rectangle 29"/>
          <p:cNvSpPr/>
          <p:nvPr/>
        </p:nvSpPr>
        <p:spPr>
          <a:xfrm>
            <a:off x="7124944" y="1812421"/>
            <a:ext cx="962123" cy="5084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1500" b="0" kern="0" dirty="0"/>
              <a:t>Integrated</a:t>
            </a:r>
          </a:p>
          <a:p>
            <a:r>
              <a:rPr lang="en-US" sz="1500" b="0" kern="0" dirty="0"/>
              <a:t>Circuits</a:t>
            </a:r>
            <a:endParaRPr lang="en-US" sz="1500" b="0" dirty="0"/>
          </a:p>
        </p:txBody>
      </p:sp>
      <p:cxnSp>
        <p:nvCxnSpPr>
          <p:cNvPr id="33" name="직선 화살표 연결선 32"/>
          <p:cNvCxnSpPr/>
          <p:nvPr/>
        </p:nvCxnSpPr>
        <p:spPr>
          <a:xfrm>
            <a:off x="2430424" y="3817459"/>
            <a:ext cx="5806287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/>
          <p:nvPr/>
        </p:nvCxnSpPr>
        <p:spPr>
          <a:xfrm flipH="1" flipV="1">
            <a:off x="2441134" y="1403878"/>
            <a:ext cx="0" cy="236600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/>
          <p:cNvSpPr/>
          <p:nvPr/>
        </p:nvSpPr>
        <p:spPr>
          <a:xfrm>
            <a:off x="2424034" y="4082389"/>
            <a:ext cx="5732428" cy="22870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0"/>
          </a:p>
        </p:txBody>
      </p:sp>
      <p:sp>
        <p:nvSpPr>
          <p:cNvPr id="42" name="Rectangle 29"/>
          <p:cNvSpPr/>
          <p:nvPr/>
        </p:nvSpPr>
        <p:spPr>
          <a:xfrm rot="18366074">
            <a:off x="3280625" y="5258281"/>
            <a:ext cx="1124191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1500" b="0" kern="0" dirty="0"/>
              <a:t>Product Type</a:t>
            </a:r>
            <a:endParaRPr lang="en-US" sz="1500" b="0" dirty="0"/>
          </a:p>
        </p:txBody>
      </p:sp>
      <p:sp>
        <p:nvSpPr>
          <p:cNvPr id="43" name="자유형 42"/>
          <p:cNvSpPr/>
          <p:nvPr/>
        </p:nvSpPr>
        <p:spPr>
          <a:xfrm>
            <a:off x="2571732" y="4505320"/>
            <a:ext cx="2321475" cy="1804048"/>
          </a:xfrm>
          <a:custGeom>
            <a:avLst/>
            <a:gdLst>
              <a:gd name="connsiteX0" fmla="*/ 0 w 1791730"/>
              <a:gd name="connsiteY0" fmla="*/ 1149179 h 1167714"/>
              <a:gd name="connsiteX1" fmla="*/ 951471 w 1791730"/>
              <a:gd name="connsiteY1" fmla="*/ 976184 h 1167714"/>
              <a:gd name="connsiteX2" fmla="*/ 1791730 w 1791730"/>
              <a:gd name="connsiteY2" fmla="*/ 0 h 1167714"/>
              <a:gd name="connsiteX3" fmla="*/ 1791730 w 1791730"/>
              <a:gd name="connsiteY3" fmla="*/ 0 h 116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1730" h="1167714">
                <a:moveTo>
                  <a:pt x="0" y="1149179"/>
                </a:moveTo>
                <a:cubicBezTo>
                  <a:pt x="326424" y="1158446"/>
                  <a:pt x="652849" y="1167714"/>
                  <a:pt x="951471" y="976184"/>
                </a:cubicBezTo>
                <a:cubicBezTo>
                  <a:pt x="1250093" y="784654"/>
                  <a:pt x="1791730" y="0"/>
                  <a:pt x="1791730" y="0"/>
                </a:cubicBezTo>
                <a:lnTo>
                  <a:pt x="1791730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b="0"/>
          </a:p>
        </p:txBody>
      </p:sp>
      <p:sp>
        <p:nvSpPr>
          <p:cNvPr id="44" name="자유형 43"/>
          <p:cNvSpPr/>
          <p:nvPr/>
        </p:nvSpPr>
        <p:spPr>
          <a:xfrm rot="10800000">
            <a:off x="4893207" y="4140618"/>
            <a:ext cx="1266136" cy="364702"/>
          </a:xfrm>
          <a:custGeom>
            <a:avLst/>
            <a:gdLst>
              <a:gd name="connsiteX0" fmla="*/ 0 w 1791730"/>
              <a:gd name="connsiteY0" fmla="*/ 1149179 h 1167714"/>
              <a:gd name="connsiteX1" fmla="*/ 951471 w 1791730"/>
              <a:gd name="connsiteY1" fmla="*/ 976184 h 1167714"/>
              <a:gd name="connsiteX2" fmla="*/ 1791730 w 1791730"/>
              <a:gd name="connsiteY2" fmla="*/ 0 h 1167714"/>
              <a:gd name="connsiteX3" fmla="*/ 1791730 w 1791730"/>
              <a:gd name="connsiteY3" fmla="*/ 0 h 116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1730" h="1167714">
                <a:moveTo>
                  <a:pt x="0" y="1149179"/>
                </a:moveTo>
                <a:cubicBezTo>
                  <a:pt x="326424" y="1158446"/>
                  <a:pt x="652849" y="1167714"/>
                  <a:pt x="951471" y="976184"/>
                </a:cubicBezTo>
                <a:cubicBezTo>
                  <a:pt x="1250093" y="784654"/>
                  <a:pt x="1791730" y="0"/>
                  <a:pt x="1791730" y="0"/>
                </a:cubicBezTo>
                <a:lnTo>
                  <a:pt x="1791730" y="0"/>
                </a:lnTo>
              </a:path>
            </a:pathLst>
          </a:custGeom>
          <a:noFill/>
          <a:ln>
            <a:solidFill>
              <a:schemeClr val="tx1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b="0"/>
          </a:p>
        </p:txBody>
      </p:sp>
      <p:sp>
        <p:nvSpPr>
          <p:cNvPr id="45" name="Text Box 111"/>
          <p:cNvSpPr txBox="1">
            <a:spLocks noChangeArrowheads="1"/>
          </p:cNvSpPr>
          <p:nvPr/>
        </p:nvSpPr>
        <p:spPr bwMode="auto">
          <a:xfrm rot="18864660">
            <a:off x="6641561" y="5289021"/>
            <a:ext cx="1557164" cy="611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6000" tIns="90000" rIns="126000" bIns="90000">
            <a:spAutoFit/>
          </a:bodyPr>
          <a:lstStyle/>
          <a:p>
            <a:pPr algn="ctr">
              <a:lnSpc>
                <a:spcPts val="1200"/>
              </a:lnSpc>
              <a:spcBef>
                <a:spcPct val="50000"/>
              </a:spcBef>
            </a:pPr>
            <a:r>
              <a:rPr lang="en-US" altLang="ko-KR" sz="1500" b="0" dirty="0">
                <a:latin typeface="Times New Roman" pitchFamily="18" charset="0"/>
                <a:cs typeface="Times New Roman" pitchFamily="18" charset="0"/>
              </a:rPr>
              <a:t>Dominant</a:t>
            </a:r>
          </a:p>
          <a:p>
            <a:pPr algn="ctr">
              <a:lnSpc>
                <a:spcPts val="1200"/>
              </a:lnSpc>
              <a:spcBef>
                <a:spcPct val="50000"/>
              </a:spcBef>
            </a:pPr>
            <a:r>
              <a:rPr lang="en-US" altLang="ko-KR" sz="1500" b="0" dirty="0">
                <a:latin typeface="Times New Roman" pitchFamily="18" charset="0"/>
                <a:cs typeface="Times New Roman" pitchFamily="18" charset="0"/>
              </a:rPr>
              <a:t>Market</a:t>
            </a:r>
          </a:p>
        </p:txBody>
      </p:sp>
      <p:sp>
        <p:nvSpPr>
          <p:cNvPr id="46" name="Rectangle 29"/>
          <p:cNvSpPr/>
          <p:nvPr/>
        </p:nvSpPr>
        <p:spPr>
          <a:xfrm rot="18146399">
            <a:off x="3828140" y="5205358"/>
            <a:ext cx="1446355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1500" b="0" kern="0" dirty="0"/>
              <a:t>Penetration Curve</a:t>
            </a:r>
            <a:endParaRPr lang="en-US" sz="1500" b="0" dirty="0"/>
          </a:p>
        </p:txBody>
      </p:sp>
      <p:sp>
        <p:nvSpPr>
          <p:cNvPr id="53" name="Rectangle 29"/>
          <p:cNvSpPr/>
          <p:nvPr/>
        </p:nvSpPr>
        <p:spPr>
          <a:xfrm>
            <a:off x="4674142" y="5925513"/>
            <a:ext cx="813043" cy="2965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1500" b="0" kern="0" dirty="0"/>
              <a:t>Military</a:t>
            </a:r>
            <a:endParaRPr lang="en-US" sz="1500" b="0" dirty="0"/>
          </a:p>
        </p:txBody>
      </p:sp>
      <p:sp>
        <p:nvSpPr>
          <p:cNvPr id="54" name="Rectangle 29"/>
          <p:cNvSpPr/>
          <p:nvPr/>
        </p:nvSpPr>
        <p:spPr>
          <a:xfrm>
            <a:off x="5647405" y="5500887"/>
            <a:ext cx="825867" cy="2965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1500" b="0" kern="0" dirty="0"/>
              <a:t>Industry</a:t>
            </a:r>
            <a:endParaRPr lang="en-US" sz="1500" b="0" dirty="0"/>
          </a:p>
        </p:txBody>
      </p:sp>
      <p:sp>
        <p:nvSpPr>
          <p:cNvPr id="55" name="Rectangle 29"/>
          <p:cNvSpPr/>
          <p:nvPr/>
        </p:nvSpPr>
        <p:spPr>
          <a:xfrm>
            <a:off x="6444071" y="4949750"/>
            <a:ext cx="654346" cy="2965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1500" b="0" kern="0" dirty="0"/>
              <a:t>Home</a:t>
            </a:r>
            <a:endParaRPr lang="en-US" sz="1500" b="0" dirty="0"/>
          </a:p>
        </p:txBody>
      </p:sp>
      <p:cxnSp>
        <p:nvCxnSpPr>
          <p:cNvPr id="58" name="직선 화살표 연결선 57"/>
          <p:cNvCxnSpPr/>
          <p:nvPr/>
        </p:nvCxnSpPr>
        <p:spPr>
          <a:xfrm>
            <a:off x="2422183" y="6374518"/>
            <a:ext cx="5806287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/>
          <p:cNvCxnSpPr/>
          <p:nvPr/>
        </p:nvCxnSpPr>
        <p:spPr>
          <a:xfrm flipH="1" flipV="1">
            <a:off x="2432893" y="4016308"/>
            <a:ext cx="0" cy="236600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자유형 61"/>
          <p:cNvSpPr/>
          <p:nvPr/>
        </p:nvSpPr>
        <p:spPr>
          <a:xfrm>
            <a:off x="6821300" y="4507028"/>
            <a:ext cx="500449" cy="251636"/>
          </a:xfrm>
          <a:custGeom>
            <a:avLst/>
            <a:gdLst>
              <a:gd name="connsiteX0" fmla="*/ 0 w 1791730"/>
              <a:gd name="connsiteY0" fmla="*/ 1149179 h 1167714"/>
              <a:gd name="connsiteX1" fmla="*/ 951471 w 1791730"/>
              <a:gd name="connsiteY1" fmla="*/ 976184 h 1167714"/>
              <a:gd name="connsiteX2" fmla="*/ 1791730 w 1791730"/>
              <a:gd name="connsiteY2" fmla="*/ 0 h 1167714"/>
              <a:gd name="connsiteX3" fmla="*/ 1791730 w 1791730"/>
              <a:gd name="connsiteY3" fmla="*/ 0 h 116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1730" h="1167714">
                <a:moveTo>
                  <a:pt x="0" y="1149179"/>
                </a:moveTo>
                <a:cubicBezTo>
                  <a:pt x="326424" y="1158446"/>
                  <a:pt x="652849" y="1167714"/>
                  <a:pt x="951471" y="976184"/>
                </a:cubicBezTo>
                <a:cubicBezTo>
                  <a:pt x="1250093" y="784654"/>
                  <a:pt x="1791730" y="0"/>
                  <a:pt x="1791730" y="0"/>
                </a:cubicBezTo>
                <a:lnTo>
                  <a:pt x="1791730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b="0"/>
          </a:p>
        </p:txBody>
      </p:sp>
      <p:sp>
        <p:nvSpPr>
          <p:cNvPr id="63" name="자유형 62"/>
          <p:cNvSpPr/>
          <p:nvPr/>
        </p:nvSpPr>
        <p:spPr>
          <a:xfrm rot="10800000">
            <a:off x="7284782" y="4139234"/>
            <a:ext cx="709001" cy="421065"/>
          </a:xfrm>
          <a:custGeom>
            <a:avLst/>
            <a:gdLst>
              <a:gd name="connsiteX0" fmla="*/ 0 w 1791730"/>
              <a:gd name="connsiteY0" fmla="*/ 1149179 h 1167714"/>
              <a:gd name="connsiteX1" fmla="*/ 951471 w 1791730"/>
              <a:gd name="connsiteY1" fmla="*/ 976184 h 1167714"/>
              <a:gd name="connsiteX2" fmla="*/ 1791730 w 1791730"/>
              <a:gd name="connsiteY2" fmla="*/ 0 h 1167714"/>
              <a:gd name="connsiteX3" fmla="*/ 1791730 w 1791730"/>
              <a:gd name="connsiteY3" fmla="*/ 0 h 116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1730" h="1167714">
                <a:moveTo>
                  <a:pt x="0" y="1149179"/>
                </a:moveTo>
                <a:cubicBezTo>
                  <a:pt x="326424" y="1158446"/>
                  <a:pt x="652849" y="1167714"/>
                  <a:pt x="951471" y="976184"/>
                </a:cubicBezTo>
                <a:cubicBezTo>
                  <a:pt x="1250093" y="784654"/>
                  <a:pt x="1791730" y="0"/>
                  <a:pt x="1791730" y="0"/>
                </a:cubicBezTo>
                <a:lnTo>
                  <a:pt x="1791730" y="0"/>
                </a:lnTo>
              </a:path>
            </a:pathLst>
          </a:custGeom>
          <a:noFill/>
          <a:ln cmpd="dbl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b="0"/>
          </a:p>
        </p:txBody>
      </p:sp>
      <p:sp>
        <p:nvSpPr>
          <p:cNvPr id="64" name="Rectangle 29"/>
          <p:cNvSpPr/>
          <p:nvPr/>
        </p:nvSpPr>
        <p:spPr>
          <a:xfrm>
            <a:off x="7420143" y="4357037"/>
            <a:ext cx="824265" cy="2965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1500" b="0" kern="0" dirty="0"/>
              <a:t>Portable</a:t>
            </a:r>
            <a:endParaRPr lang="en-US" sz="1500" b="0" dirty="0"/>
          </a:p>
        </p:txBody>
      </p:sp>
      <p:cxnSp>
        <p:nvCxnSpPr>
          <p:cNvPr id="67" name="직선 화살표 연결선 66"/>
          <p:cNvCxnSpPr/>
          <p:nvPr/>
        </p:nvCxnSpPr>
        <p:spPr>
          <a:xfrm flipV="1">
            <a:off x="5389366" y="5774312"/>
            <a:ext cx="288032" cy="22539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/>
          <p:cNvCxnSpPr/>
          <p:nvPr/>
        </p:nvCxnSpPr>
        <p:spPr>
          <a:xfrm flipV="1">
            <a:off x="6176691" y="5285928"/>
            <a:ext cx="288032" cy="22539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/>
          <p:cNvCxnSpPr/>
          <p:nvPr/>
        </p:nvCxnSpPr>
        <p:spPr>
          <a:xfrm flipV="1">
            <a:off x="7040787" y="4757277"/>
            <a:ext cx="288032" cy="22539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/>
          <p:cNvCxnSpPr/>
          <p:nvPr/>
        </p:nvCxnSpPr>
        <p:spPr>
          <a:xfrm flipV="1">
            <a:off x="5677398" y="3081727"/>
            <a:ext cx="288032" cy="22539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/>
          <p:cNvCxnSpPr/>
          <p:nvPr/>
        </p:nvCxnSpPr>
        <p:spPr>
          <a:xfrm flipV="1">
            <a:off x="6736577" y="2457264"/>
            <a:ext cx="288032" cy="22539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29"/>
          <p:cNvSpPr/>
          <p:nvPr/>
        </p:nvSpPr>
        <p:spPr>
          <a:xfrm>
            <a:off x="1865901" y="1124744"/>
            <a:ext cx="5112567" cy="367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0" kern="0" dirty="0"/>
              <a:t>Technology S-Curve Development</a:t>
            </a:r>
            <a:endParaRPr lang="en-US" sz="1800" b="0" dirty="0"/>
          </a:p>
        </p:txBody>
      </p:sp>
      <p:sp>
        <p:nvSpPr>
          <p:cNvPr id="80" name="Rectangle 29"/>
          <p:cNvSpPr/>
          <p:nvPr/>
        </p:nvSpPr>
        <p:spPr>
          <a:xfrm>
            <a:off x="1793893" y="3767777"/>
            <a:ext cx="5112567" cy="367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0" kern="0" dirty="0"/>
              <a:t>Market S-Curve Development</a:t>
            </a:r>
            <a:endParaRPr lang="en-US" sz="1800" b="0" dirty="0"/>
          </a:p>
        </p:txBody>
      </p:sp>
      <p:sp>
        <p:nvSpPr>
          <p:cNvPr id="81" name="Rectangle 29"/>
          <p:cNvSpPr/>
          <p:nvPr/>
        </p:nvSpPr>
        <p:spPr>
          <a:xfrm>
            <a:off x="954915" y="1707314"/>
            <a:ext cx="1037463" cy="7202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1500" b="0" kern="0" dirty="0"/>
              <a:t>technology</a:t>
            </a:r>
          </a:p>
          <a:p>
            <a:r>
              <a:rPr lang="en-US" sz="1500" b="0" kern="0" dirty="0"/>
              <a:t>progress</a:t>
            </a:r>
          </a:p>
          <a:p>
            <a:r>
              <a:rPr lang="en-US" sz="1500" b="0" kern="0" dirty="0"/>
              <a:t>parameter</a:t>
            </a:r>
            <a:endParaRPr lang="en-US" sz="1500" b="0" dirty="0"/>
          </a:p>
        </p:txBody>
      </p:sp>
      <p:sp>
        <p:nvSpPr>
          <p:cNvPr id="82" name="Rectangle 29"/>
          <p:cNvSpPr/>
          <p:nvPr/>
        </p:nvSpPr>
        <p:spPr>
          <a:xfrm>
            <a:off x="960656" y="2412995"/>
            <a:ext cx="1047082" cy="11439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1500" b="0" kern="0" dirty="0"/>
              <a:t>size,</a:t>
            </a:r>
          </a:p>
          <a:p>
            <a:r>
              <a:rPr lang="en-US" sz="1500" b="0" kern="0" dirty="0"/>
              <a:t>weight,</a:t>
            </a:r>
          </a:p>
          <a:p>
            <a:r>
              <a:rPr lang="en-US" sz="1500" b="0" kern="0" dirty="0"/>
              <a:t>operational</a:t>
            </a:r>
          </a:p>
          <a:p>
            <a:r>
              <a:rPr lang="en-US" sz="1500" b="0" kern="0" dirty="0"/>
              <a:t>Speed,</a:t>
            </a:r>
          </a:p>
          <a:p>
            <a:r>
              <a:rPr lang="en-US" sz="1500" b="0" kern="0" dirty="0"/>
              <a:t>etc</a:t>
            </a:r>
            <a:endParaRPr lang="en-US" sz="1500" b="0" dirty="0"/>
          </a:p>
        </p:txBody>
      </p:sp>
      <p:sp>
        <p:nvSpPr>
          <p:cNvPr id="83" name="Rectangle 29"/>
          <p:cNvSpPr/>
          <p:nvPr/>
        </p:nvSpPr>
        <p:spPr>
          <a:xfrm>
            <a:off x="1003560" y="4339861"/>
            <a:ext cx="950901" cy="7202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1500" b="0" kern="0" dirty="0"/>
              <a:t>market</a:t>
            </a:r>
          </a:p>
          <a:p>
            <a:r>
              <a:rPr lang="en-US" sz="1500" b="0" kern="0" dirty="0"/>
              <a:t>growth</a:t>
            </a:r>
          </a:p>
          <a:p>
            <a:r>
              <a:rPr lang="en-US" sz="1500" b="0" kern="0" dirty="0"/>
              <a:t>parameter</a:t>
            </a:r>
            <a:endParaRPr lang="en-US" sz="1500" b="0" dirty="0"/>
          </a:p>
        </p:txBody>
      </p:sp>
      <p:sp>
        <p:nvSpPr>
          <p:cNvPr id="84" name="Rectangle 29"/>
          <p:cNvSpPr/>
          <p:nvPr/>
        </p:nvSpPr>
        <p:spPr>
          <a:xfrm>
            <a:off x="1016946" y="5013908"/>
            <a:ext cx="899605" cy="11439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1500" b="0" kern="0" dirty="0"/>
              <a:t>$ sales,</a:t>
            </a:r>
          </a:p>
          <a:p>
            <a:r>
              <a:rPr lang="en-US" sz="1500" b="0" kern="0" dirty="0"/>
              <a:t># units in</a:t>
            </a:r>
          </a:p>
          <a:p>
            <a:r>
              <a:rPr lang="en-US" sz="1500" b="0" kern="0" dirty="0"/>
              <a:t>installed</a:t>
            </a:r>
          </a:p>
          <a:p>
            <a:r>
              <a:rPr lang="en-US" sz="1500" b="0" kern="0" dirty="0"/>
              <a:t>base,</a:t>
            </a:r>
          </a:p>
          <a:p>
            <a:r>
              <a:rPr lang="en-US" sz="1500" b="0" kern="0" dirty="0"/>
              <a:t>etc</a:t>
            </a:r>
            <a:endParaRPr lang="en-US" sz="1500" b="0" dirty="0"/>
          </a:p>
        </p:txBody>
      </p:sp>
      <p:sp>
        <p:nvSpPr>
          <p:cNvPr id="85" name="Text Box 111"/>
          <p:cNvSpPr txBox="1">
            <a:spLocks noChangeArrowheads="1"/>
          </p:cNvSpPr>
          <p:nvPr/>
        </p:nvSpPr>
        <p:spPr bwMode="auto">
          <a:xfrm>
            <a:off x="6332049" y="6290728"/>
            <a:ext cx="1894898" cy="37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6000" tIns="90000" rIns="126000" bIns="900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500" b="0" dirty="0">
                <a:latin typeface="Times New Roman" pitchFamily="18" charset="0"/>
                <a:cs typeface="Times New Roman" pitchFamily="18" charset="0"/>
              </a:rPr>
              <a:t>time effort expanded</a:t>
            </a:r>
          </a:p>
        </p:txBody>
      </p:sp>
      <p:sp>
        <p:nvSpPr>
          <p:cNvPr id="57" name="왼쪽 중괄호 56"/>
          <p:cNvSpPr/>
          <p:nvPr/>
        </p:nvSpPr>
        <p:spPr bwMode="auto">
          <a:xfrm>
            <a:off x="785781" y="2527262"/>
            <a:ext cx="144016" cy="925140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5" name="오른쪽 중괄호 64"/>
          <p:cNvSpPr/>
          <p:nvPr/>
        </p:nvSpPr>
        <p:spPr bwMode="auto">
          <a:xfrm>
            <a:off x="1877749" y="2538304"/>
            <a:ext cx="216392" cy="925140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6" name="왼쪽 중괄호 65"/>
          <p:cNvSpPr/>
          <p:nvPr/>
        </p:nvSpPr>
        <p:spPr bwMode="auto">
          <a:xfrm>
            <a:off x="815189" y="5177436"/>
            <a:ext cx="144016" cy="925140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8" name="오른쪽 중괄호 67"/>
          <p:cNvSpPr/>
          <p:nvPr/>
        </p:nvSpPr>
        <p:spPr bwMode="auto">
          <a:xfrm>
            <a:off x="1774805" y="5155353"/>
            <a:ext cx="216392" cy="925140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94" name="직선 연결선 93"/>
          <p:cNvCxnSpPr>
            <a:stCxn id="15" idx="2"/>
          </p:cNvCxnSpPr>
          <p:nvPr/>
        </p:nvCxnSpPr>
        <p:spPr bwMode="auto">
          <a:xfrm>
            <a:off x="5024726" y="1753623"/>
            <a:ext cx="1" cy="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8" name="직선 연결선 97"/>
          <p:cNvCxnSpPr/>
          <p:nvPr/>
        </p:nvCxnSpPr>
        <p:spPr bwMode="auto">
          <a:xfrm flipV="1">
            <a:off x="4371895" y="1764550"/>
            <a:ext cx="648072" cy="85905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1" name="자유형 100"/>
          <p:cNvSpPr/>
          <p:nvPr/>
        </p:nvSpPr>
        <p:spPr>
          <a:xfrm>
            <a:off x="5223407" y="2939992"/>
            <a:ext cx="437094" cy="209718"/>
          </a:xfrm>
          <a:custGeom>
            <a:avLst/>
            <a:gdLst>
              <a:gd name="connsiteX0" fmla="*/ 0 w 1791730"/>
              <a:gd name="connsiteY0" fmla="*/ 1149179 h 1167714"/>
              <a:gd name="connsiteX1" fmla="*/ 951471 w 1791730"/>
              <a:gd name="connsiteY1" fmla="*/ 976184 h 1167714"/>
              <a:gd name="connsiteX2" fmla="*/ 1791730 w 1791730"/>
              <a:gd name="connsiteY2" fmla="*/ 0 h 1167714"/>
              <a:gd name="connsiteX3" fmla="*/ 1791730 w 1791730"/>
              <a:gd name="connsiteY3" fmla="*/ 0 h 116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1730" h="1167714">
                <a:moveTo>
                  <a:pt x="0" y="1149179"/>
                </a:moveTo>
                <a:cubicBezTo>
                  <a:pt x="326424" y="1158446"/>
                  <a:pt x="652849" y="1167714"/>
                  <a:pt x="951471" y="976184"/>
                </a:cubicBezTo>
                <a:cubicBezTo>
                  <a:pt x="1250093" y="784654"/>
                  <a:pt x="1791730" y="0"/>
                  <a:pt x="1791730" y="0"/>
                </a:cubicBezTo>
                <a:lnTo>
                  <a:pt x="1791730" y="0"/>
                </a:lnTo>
              </a:path>
            </a:pathLst>
          </a:custGeom>
          <a:noFill/>
          <a:ln>
            <a:solidFill>
              <a:schemeClr val="tx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b="0"/>
          </a:p>
        </p:txBody>
      </p:sp>
      <p:sp>
        <p:nvSpPr>
          <p:cNvPr id="102" name="자유형 101"/>
          <p:cNvSpPr/>
          <p:nvPr/>
        </p:nvSpPr>
        <p:spPr>
          <a:xfrm rot="10800000">
            <a:off x="5655175" y="2490534"/>
            <a:ext cx="806376" cy="456002"/>
          </a:xfrm>
          <a:custGeom>
            <a:avLst/>
            <a:gdLst>
              <a:gd name="connsiteX0" fmla="*/ 0 w 1791730"/>
              <a:gd name="connsiteY0" fmla="*/ 1149179 h 1167714"/>
              <a:gd name="connsiteX1" fmla="*/ 951471 w 1791730"/>
              <a:gd name="connsiteY1" fmla="*/ 976184 h 1167714"/>
              <a:gd name="connsiteX2" fmla="*/ 1791730 w 1791730"/>
              <a:gd name="connsiteY2" fmla="*/ 0 h 1167714"/>
              <a:gd name="connsiteX3" fmla="*/ 1791730 w 1791730"/>
              <a:gd name="connsiteY3" fmla="*/ 0 h 116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1730" h="1167714">
                <a:moveTo>
                  <a:pt x="0" y="1149179"/>
                </a:moveTo>
                <a:cubicBezTo>
                  <a:pt x="326424" y="1158446"/>
                  <a:pt x="652849" y="1167714"/>
                  <a:pt x="951471" y="976184"/>
                </a:cubicBezTo>
                <a:cubicBezTo>
                  <a:pt x="1250093" y="784654"/>
                  <a:pt x="1791730" y="0"/>
                  <a:pt x="1791730" y="0"/>
                </a:cubicBezTo>
                <a:lnTo>
                  <a:pt x="1791730" y="0"/>
                </a:lnTo>
              </a:path>
            </a:pathLst>
          </a:custGeom>
          <a:noFill/>
          <a:ln cmpd="sng">
            <a:solidFill>
              <a:schemeClr val="tx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b="0"/>
          </a:p>
        </p:txBody>
      </p:sp>
      <p:sp>
        <p:nvSpPr>
          <p:cNvPr id="103" name="자유형 102"/>
          <p:cNvSpPr/>
          <p:nvPr/>
        </p:nvSpPr>
        <p:spPr>
          <a:xfrm>
            <a:off x="3864507" y="6083868"/>
            <a:ext cx="437094" cy="209718"/>
          </a:xfrm>
          <a:custGeom>
            <a:avLst/>
            <a:gdLst>
              <a:gd name="connsiteX0" fmla="*/ 0 w 1791730"/>
              <a:gd name="connsiteY0" fmla="*/ 1149179 h 1167714"/>
              <a:gd name="connsiteX1" fmla="*/ 951471 w 1791730"/>
              <a:gd name="connsiteY1" fmla="*/ 976184 h 1167714"/>
              <a:gd name="connsiteX2" fmla="*/ 1791730 w 1791730"/>
              <a:gd name="connsiteY2" fmla="*/ 0 h 1167714"/>
              <a:gd name="connsiteX3" fmla="*/ 1791730 w 1791730"/>
              <a:gd name="connsiteY3" fmla="*/ 0 h 116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1730" h="1167714">
                <a:moveTo>
                  <a:pt x="0" y="1149179"/>
                </a:moveTo>
                <a:cubicBezTo>
                  <a:pt x="326424" y="1158446"/>
                  <a:pt x="652849" y="1167714"/>
                  <a:pt x="951471" y="976184"/>
                </a:cubicBezTo>
                <a:cubicBezTo>
                  <a:pt x="1250093" y="784654"/>
                  <a:pt x="1791730" y="0"/>
                  <a:pt x="1791730" y="0"/>
                </a:cubicBezTo>
                <a:lnTo>
                  <a:pt x="1791730" y="0"/>
                </a:lnTo>
              </a:path>
            </a:pathLst>
          </a:custGeom>
          <a:noFill/>
          <a:ln>
            <a:solidFill>
              <a:schemeClr val="tx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b="0"/>
          </a:p>
        </p:txBody>
      </p:sp>
      <p:sp>
        <p:nvSpPr>
          <p:cNvPr id="104" name="자유형 103"/>
          <p:cNvSpPr/>
          <p:nvPr/>
        </p:nvSpPr>
        <p:spPr>
          <a:xfrm rot="10800000">
            <a:off x="4296275" y="5634410"/>
            <a:ext cx="806376" cy="456002"/>
          </a:xfrm>
          <a:custGeom>
            <a:avLst/>
            <a:gdLst>
              <a:gd name="connsiteX0" fmla="*/ 0 w 1791730"/>
              <a:gd name="connsiteY0" fmla="*/ 1149179 h 1167714"/>
              <a:gd name="connsiteX1" fmla="*/ 951471 w 1791730"/>
              <a:gd name="connsiteY1" fmla="*/ 976184 h 1167714"/>
              <a:gd name="connsiteX2" fmla="*/ 1791730 w 1791730"/>
              <a:gd name="connsiteY2" fmla="*/ 0 h 1167714"/>
              <a:gd name="connsiteX3" fmla="*/ 1791730 w 1791730"/>
              <a:gd name="connsiteY3" fmla="*/ 0 h 116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1730" h="1167714">
                <a:moveTo>
                  <a:pt x="0" y="1149179"/>
                </a:moveTo>
                <a:cubicBezTo>
                  <a:pt x="326424" y="1158446"/>
                  <a:pt x="652849" y="1167714"/>
                  <a:pt x="951471" y="976184"/>
                </a:cubicBezTo>
                <a:cubicBezTo>
                  <a:pt x="1250093" y="784654"/>
                  <a:pt x="1791730" y="0"/>
                  <a:pt x="1791730" y="0"/>
                </a:cubicBezTo>
                <a:lnTo>
                  <a:pt x="1791730" y="0"/>
                </a:lnTo>
              </a:path>
            </a:pathLst>
          </a:custGeom>
          <a:noFill/>
          <a:ln cmpd="sng">
            <a:solidFill>
              <a:schemeClr val="tx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b="0"/>
          </a:p>
        </p:txBody>
      </p:sp>
      <p:sp>
        <p:nvSpPr>
          <p:cNvPr id="105" name="자유형 104"/>
          <p:cNvSpPr/>
          <p:nvPr/>
        </p:nvSpPr>
        <p:spPr>
          <a:xfrm>
            <a:off x="4893207" y="5536096"/>
            <a:ext cx="437094" cy="209718"/>
          </a:xfrm>
          <a:custGeom>
            <a:avLst/>
            <a:gdLst>
              <a:gd name="connsiteX0" fmla="*/ 0 w 1791730"/>
              <a:gd name="connsiteY0" fmla="*/ 1149179 h 1167714"/>
              <a:gd name="connsiteX1" fmla="*/ 951471 w 1791730"/>
              <a:gd name="connsiteY1" fmla="*/ 976184 h 1167714"/>
              <a:gd name="connsiteX2" fmla="*/ 1791730 w 1791730"/>
              <a:gd name="connsiteY2" fmla="*/ 0 h 1167714"/>
              <a:gd name="connsiteX3" fmla="*/ 1791730 w 1791730"/>
              <a:gd name="connsiteY3" fmla="*/ 0 h 116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1730" h="1167714">
                <a:moveTo>
                  <a:pt x="0" y="1149179"/>
                </a:moveTo>
                <a:cubicBezTo>
                  <a:pt x="326424" y="1158446"/>
                  <a:pt x="652849" y="1167714"/>
                  <a:pt x="951471" y="976184"/>
                </a:cubicBezTo>
                <a:cubicBezTo>
                  <a:pt x="1250093" y="784654"/>
                  <a:pt x="1791730" y="0"/>
                  <a:pt x="1791730" y="0"/>
                </a:cubicBezTo>
                <a:lnTo>
                  <a:pt x="1791730" y="0"/>
                </a:lnTo>
              </a:path>
            </a:pathLst>
          </a:custGeom>
          <a:noFill/>
          <a:ln>
            <a:solidFill>
              <a:schemeClr val="tx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b="0"/>
          </a:p>
        </p:txBody>
      </p:sp>
      <p:sp>
        <p:nvSpPr>
          <p:cNvPr id="106" name="자유형 105"/>
          <p:cNvSpPr/>
          <p:nvPr/>
        </p:nvSpPr>
        <p:spPr>
          <a:xfrm rot="10800000">
            <a:off x="5324975" y="5086638"/>
            <a:ext cx="806376" cy="456002"/>
          </a:xfrm>
          <a:custGeom>
            <a:avLst/>
            <a:gdLst>
              <a:gd name="connsiteX0" fmla="*/ 0 w 1791730"/>
              <a:gd name="connsiteY0" fmla="*/ 1149179 h 1167714"/>
              <a:gd name="connsiteX1" fmla="*/ 951471 w 1791730"/>
              <a:gd name="connsiteY1" fmla="*/ 976184 h 1167714"/>
              <a:gd name="connsiteX2" fmla="*/ 1791730 w 1791730"/>
              <a:gd name="connsiteY2" fmla="*/ 0 h 1167714"/>
              <a:gd name="connsiteX3" fmla="*/ 1791730 w 1791730"/>
              <a:gd name="connsiteY3" fmla="*/ 0 h 116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1730" h="1167714">
                <a:moveTo>
                  <a:pt x="0" y="1149179"/>
                </a:moveTo>
                <a:cubicBezTo>
                  <a:pt x="326424" y="1158446"/>
                  <a:pt x="652849" y="1167714"/>
                  <a:pt x="951471" y="976184"/>
                </a:cubicBezTo>
                <a:cubicBezTo>
                  <a:pt x="1250093" y="784654"/>
                  <a:pt x="1791730" y="0"/>
                  <a:pt x="1791730" y="0"/>
                </a:cubicBezTo>
                <a:lnTo>
                  <a:pt x="1791730" y="0"/>
                </a:lnTo>
              </a:path>
            </a:pathLst>
          </a:custGeom>
          <a:noFill/>
          <a:ln cmpd="sng">
            <a:solidFill>
              <a:schemeClr val="tx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b="0"/>
          </a:p>
        </p:txBody>
      </p:sp>
      <p:sp>
        <p:nvSpPr>
          <p:cNvPr id="107" name="자유형 106"/>
          <p:cNvSpPr/>
          <p:nvPr/>
        </p:nvSpPr>
        <p:spPr>
          <a:xfrm>
            <a:off x="5909207" y="4999978"/>
            <a:ext cx="437094" cy="209718"/>
          </a:xfrm>
          <a:custGeom>
            <a:avLst/>
            <a:gdLst>
              <a:gd name="connsiteX0" fmla="*/ 0 w 1791730"/>
              <a:gd name="connsiteY0" fmla="*/ 1149179 h 1167714"/>
              <a:gd name="connsiteX1" fmla="*/ 951471 w 1791730"/>
              <a:gd name="connsiteY1" fmla="*/ 976184 h 1167714"/>
              <a:gd name="connsiteX2" fmla="*/ 1791730 w 1791730"/>
              <a:gd name="connsiteY2" fmla="*/ 0 h 1167714"/>
              <a:gd name="connsiteX3" fmla="*/ 1791730 w 1791730"/>
              <a:gd name="connsiteY3" fmla="*/ 0 h 116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1730" h="1167714">
                <a:moveTo>
                  <a:pt x="0" y="1149179"/>
                </a:moveTo>
                <a:cubicBezTo>
                  <a:pt x="326424" y="1158446"/>
                  <a:pt x="652849" y="1167714"/>
                  <a:pt x="951471" y="976184"/>
                </a:cubicBezTo>
                <a:cubicBezTo>
                  <a:pt x="1250093" y="784654"/>
                  <a:pt x="1791730" y="0"/>
                  <a:pt x="1791730" y="0"/>
                </a:cubicBezTo>
                <a:lnTo>
                  <a:pt x="1791730" y="0"/>
                </a:lnTo>
              </a:path>
            </a:pathLst>
          </a:custGeom>
          <a:noFill/>
          <a:ln>
            <a:solidFill>
              <a:schemeClr val="tx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b="0"/>
          </a:p>
        </p:txBody>
      </p:sp>
      <p:sp>
        <p:nvSpPr>
          <p:cNvPr id="108" name="자유형 107"/>
          <p:cNvSpPr/>
          <p:nvPr/>
        </p:nvSpPr>
        <p:spPr>
          <a:xfrm rot="10800000">
            <a:off x="6340975" y="4550520"/>
            <a:ext cx="806376" cy="456002"/>
          </a:xfrm>
          <a:custGeom>
            <a:avLst/>
            <a:gdLst>
              <a:gd name="connsiteX0" fmla="*/ 0 w 1791730"/>
              <a:gd name="connsiteY0" fmla="*/ 1149179 h 1167714"/>
              <a:gd name="connsiteX1" fmla="*/ 951471 w 1791730"/>
              <a:gd name="connsiteY1" fmla="*/ 976184 h 1167714"/>
              <a:gd name="connsiteX2" fmla="*/ 1791730 w 1791730"/>
              <a:gd name="connsiteY2" fmla="*/ 0 h 1167714"/>
              <a:gd name="connsiteX3" fmla="*/ 1791730 w 1791730"/>
              <a:gd name="connsiteY3" fmla="*/ 0 h 116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1730" h="1167714">
                <a:moveTo>
                  <a:pt x="0" y="1149179"/>
                </a:moveTo>
                <a:cubicBezTo>
                  <a:pt x="326424" y="1158446"/>
                  <a:pt x="652849" y="1167714"/>
                  <a:pt x="951471" y="976184"/>
                </a:cubicBezTo>
                <a:cubicBezTo>
                  <a:pt x="1250093" y="784654"/>
                  <a:pt x="1791730" y="0"/>
                  <a:pt x="1791730" y="0"/>
                </a:cubicBezTo>
                <a:lnTo>
                  <a:pt x="1791730" y="0"/>
                </a:lnTo>
              </a:path>
            </a:pathLst>
          </a:custGeom>
          <a:noFill/>
          <a:ln cmpd="sng">
            <a:solidFill>
              <a:schemeClr val="tx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b="0"/>
          </a:p>
        </p:txBody>
      </p:sp>
    </p:spTree>
    <p:extLst>
      <p:ext uri="{BB962C8B-B14F-4D97-AF65-F5344CB8AC3E}">
        <p14:creationId xmlns:p14="http://schemas.microsoft.com/office/powerpoint/2010/main" val="3485930072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/>
          <p:nvPr/>
        </p:nvCxnSpPr>
        <p:spPr>
          <a:xfrm>
            <a:off x="1374428" y="1403389"/>
            <a:ext cx="0" cy="2650598"/>
          </a:xfrm>
          <a:prstGeom prst="line">
            <a:avLst/>
          </a:prstGeom>
          <a:ln>
            <a:solidFill>
              <a:schemeClr val="tx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1378800" y="4019801"/>
            <a:ext cx="4951480" cy="0"/>
          </a:xfrm>
          <a:prstGeom prst="line">
            <a:avLst/>
          </a:prstGeom>
          <a:ln>
            <a:solidFill>
              <a:schemeClr val="tx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Box 111"/>
          <p:cNvSpPr txBox="1">
            <a:spLocks noChangeArrowheads="1"/>
          </p:cNvSpPr>
          <p:nvPr/>
        </p:nvSpPr>
        <p:spPr bwMode="auto">
          <a:xfrm rot="16200000">
            <a:off x="-2391" y="2055428"/>
            <a:ext cx="2039835" cy="7357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6000" tIns="90000" rIns="126000" bIns="900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800" b="0" dirty="0">
                <a:latin typeface="Times New Roman" pitchFamily="18" charset="0"/>
                <a:cs typeface="Times New Roman" pitchFamily="18" charset="0"/>
              </a:rPr>
              <a:t>Product Performance</a:t>
            </a:r>
          </a:p>
        </p:txBody>
      </p:sp>
      <p:cxnSp>
        <p:nvCxnSpPr>
          <p:cNvPr id="26" name="직선 연결선 25"/>
          <p:cNvCxnSpPr/>
          <p:nvPr/>
        </p:nvCxnSpPr>
        <p:spPr>
          <a:xfrm flipV="1">
            <a:off x="1403648" y="2144677"/>
            <a:ext cx="4536504" cy="504056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 flipV="1">
            <a:off x="1403648" y="2648733"/>
            <a:ext cx="3744416" cy="360040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 flipV="1">
            <a:off x="1403648" y="3008773"/>
            <a:ext cx="3744416" cy="432048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 flipV="1">
            <a:off x="1344340" y="3346226"/>
            <a:ext cx="4595812" cy="412202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 flipV="1">
            <a:off x="1866869" y="1555541"/>
            <a:ext cx="2993163" cy="2171104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/>
          <p:cNvCxnSpPr/>
          <p:nvPr/>
        </p:nvCxnSpPr>
        <p:spPr>
          <a:xfrm flipV="1">
            <a:off x="3687455" y="2850876"/>
            <a:ext cx="1193965" cy="831142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29"/>
          <p:cNvSpPr/>
          <p:nvPr/>
        </p:nvSpPr>
        <p:spPr>
          <a:xfrm>
            <a:off x="1485753" y="1176217"/>
            <a:ext cx="2643672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b="0" kern="0" dirty="0"/>
              <a:t>  Trajectory of  Improvement</a:t>
            </a:r>
          </a:p>
          <a:p>
            <a:r>
              <a:rPr lang="en-US" altLang="ko-KR" sz="1600" b="0" kern="0" dirty="0"/>
              <a:t>  that technologists are able to</a:t>
            </a:r>
          </a:p>
          <a:p>
            <a:r>
              <a:rPr lang="en-US" altLang="ko-KR" sz="1600" b="0" kern="0" dirty="0"/>
              <a:t>  provide to the market</a:t>
            </a:r>
          </a:p>
          <a:p>
            <a:endParaRPr lang="en-US" sz="1600" b="0" dirty="0"/>
          </a:p>
        </p:txBody>
      </p:sp>
      <p:sp>
        <p:nvSpPr>
          <p:cNvPr id="45" name="Rectangle 29"/>
          <p:cNvSpPr/>
          <p:nvPr/>
        </p:nvSpPr>
        <p:spPr>
          <a:xfrm>
            <a:off x="5076056" y="2371436"/>
            <a:ext cx="308410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b="0" kern="0" dirty="0"/>
              <a:t>  Trajectories of  p</a:t>
            </a:r>
            <a:r>
              <a:rPr lang="en-US" altLang="ko-KR" sz="1600" b="0" dirty="0">
                <a:cs typeface="Times New Roman" pitchFamily="18" charset="0"/>
              </a:rPr>
              <a:t>erformance</a:t>
            </a:r>
            <a:r>
              <a:rPr lang="en-US" altLang="ko-KR" sz="1600" b="0" kern="0" dirty="0"/>
              <a:t>  </a:t>
            </a:r>
          </a:p>
          <a:p>
            <a:r>
              <a:rPr lang="en-US" altLang="ko-KR" sz="1600" b="0" kern="0" dirty="0"/>
              <a:t>   improvement  that customers </a:t>
            </a:r>
          </a:p>
          <a:p>
            <a:r>
              <a:rPr lang="en-US" altLang="ko-KR" sz="1600" b="0" kern="0" dirty="0"/>
              <a:t>   need or able to absorb</a:t>
            </a:r>
          </a:p>
          <a:p>
            <a:endParaRPr lang="en-US" sz="1600" b="0" dirty="0"/>
          </a:p>
        </p:txBody>
      </p:sp>
      <p:sp>
        <p:nvSpPr>
          <p:cNvPr id="58" name="Rectangle 29"/>
          <p:cNvSpPr/>
          <p:nvPr/>
        </p:nvSpPr>
        <p:spPr>
          <a:xfrm rot="21270289">
            <a:off x="4579573" y="1826428"/>
            <a:ext cx="170078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b="0" kern="0" dirty="0"/>
              <a:t>High-end market</a:t>
            </a:r>
            <a:endParaRPr lang="en-US" sz="1600" b="0" dirty="0"/>
          </a:p>
        </p:txBody>
      </p:sp>
      <p:sp>
        <p:nvSpPr>
          <p:cNvPr id="80" name="Rectangle 29"/>
          <p:cNvSpPr/>
          <p:nvPr/>
        </p:nvSpPr>
        <p:spPr>
          <a:xfrm rot="21300095">
            <a:off x="4773907" y="3343227"/>
            <a:ext cx="155637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b="0" kern="0" dirty="0"/>
              <a:t>Low-end market</a:t>
            </a:r>
            <a:endParaRPr lang="en-US" sz="1600" b="0" dirty="0"/>
          </a:p>
        </p:txBody>
      </p:sp>
      <p:sp>
        <p:nvSpPr>
          <p:cNvPr id="81" name="Rectangle 29"/>
          <p:cNvSpPr/>
          <p:nvPr/>
        </p:nvSpPr>
        <p:spPr>
          <a:xfrm>
            <a:off x="3671900" y="3729427"/>
            <a:ext cx="384592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b="0" kern="0" dirty="0"/>
              <a:t>Disruptive Technology</a:t>
            </a:r>
            <a:endParaRPr lang="en-US" sz="1600" b="0" dirty="0"/>
          </a:p>
        </p:txBody>
      </p:sp>
      <p:sp>
        <p:nvSpPr>
          <p:cNvPr id="82" name="Rectangle 29"/>
          <p:cNvSpPr/>
          <p:nvPr/>
        </p:nvSpPr>
        <p:spPr>
          <a:xfrm>
            <a:off x="5753350" y="4005064"/>
            <a:ext cx="76286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b="0" kern="0" dirty="0"/>
              <a:t>Time</a:t>
            </a:r>
            <a:endParaRPr lang="en-US" sz="1600" b="0" dirty="0"/>
          </a:p>
        </p:txBody>
      </p:sp>
      <p:sp>
        <p:nvSpPr>
          <p:cNvPr id="83" name="Rectangle 8"/>
          <p:cNvSpPr txBox="1">
            <a:spLocks noChangeArrowheads="1"/>
          </p:cNvSpPr>
          <p:nvPr/>
        </p:nvSpPr>
        <p:spPr>
          <a:xfrm>
            <a:off x="290094" y="4499605"/>
            <a:ext cx="8435280" cy="2169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Slope of technological trajectory &gt; slope of trajectories of customer need. </a:t>
            </a:r>
          </a:p>
          <a:p>
            <a:pPr marL="342900" marR="0" lvl="0" indent="-342900" algn="l" defTabSz="914400" rtl="0" eaLnBrk="1" fontAlgn="auto" latinLnBrk="1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Intel: microprocessor speed increases about 20% per year.</a:t>
            </a:r>
          </a:p>
          <a:p>
            <a:pPr marL="342900" marR="0" lvl="0" indent="-342900" algn="l" defTabSz="914400" rtl="0" eaLnBrk="1" fontAlgn="auto" latinLnBrk="1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Eli Lily: Purity of insulin improved from 50,000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ppm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in 1925 to 10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ppm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in 1980 (by about 14% per year).</a:t>
            </a:r>
          </a:p>
          <a:p>
            <a:pPr marL="342900" marR="0" lvl="0" indent="-342900" algn="l" defTabSz="914400" rtl="0" eaLnBrk="1" fontAlgn="auto" latinLnBrk="1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Manufacturers of hydraulic excavators increased by 15% per year the amount of earth their machine could heft in a single scoop; from 0.25 cubic yard in 1948 to 10 cubic yards by 1974.</a:t>
            </a:r>
          </a:p>
        </p:txBody>
      </p:sp>
      <p:sp>
        <p:nvSpPr>
          <p:cNvPr id="84" name="Footer Placeholder 1"/>
          <p:cNvSpPr txBox="1">
            <a:spLocks/>
          </p:cNvSpPr>
          <p:nvPr/>
        </p:nvSpPr>
        <p:spPr bwMode="auto">
          <a:xfrm>
            <a:off x="2843808" y="6492701"/>
            <a:ext cx="5904656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itchFamily="18" charset="0"/>
                <a:ea typeface="굴림" charset="-127"/>
                <a:cs typeface="Times New Roman" pitchFamily="18" charset="0"/>
              </a:rPr>
              <a:t>(Source: Technology S-Curves and Technological Strategy (Henry C. Co))</a:t>
            </a:r>
          </a:p>
        </p:txBody>
      </p:sp>
      <p:sp>
        <p:nvSpPr>
          <p:cNvPr id="85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231050"/>
            <a:ext cx="9144000" cy="579438"/>
          </a:xfrm>
          <a:noFill/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altLang="ko-KR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 Technology Innovation Model</a:t>
            </a:r>
            <a:endParaRPr lang="ko-KR" altLang="en-US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굴림" pitchFamily="50" charset="-127"/>
              <a:cs typeface="Times New Roman" pitchFamily="18" charset="0"/>
            </a:endParaRPr>
          </a:p>
        </p:txBody>
      </p:sp>
      <p:cxnSp>
        <p:nvCxnSpPr>
          <p:cNvPr id="4" name="직선 화살표 연결선 3"/>
          <p:cNvCxnSpPr/>
          <p:nvPr/>
        </p:nvCxnSpPr>
        <p:spPr bwMode="auto">
          <a:xfrm>
            <a:off x="2771800" y="2144677"/>
            <a:ext cx="504056" cy="50405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" name="직선 화살표 연결선 9"/>
          <p:cNvCxnSpPr/>
          <p:nvPr/>
        </p:nvCxnSpPr>
        <p:spPr bwMode="auto">
          <a:xfrm flipH="1" flipV="1">
            <a:off x="4211960" y="3384326"/>
            <a:ext cx="72477" cy="41220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2295639516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552" y="1271736"/>
            <a:ext cx="7848872" cy="5181600"/>
          </a:xfrm>
          <a:noFill/>
          <a:ln w="12700" cap="flat">
            <a:prstDash val="solid"/>
          </a:ln>
        </p:spPr>
        <p:txBody>
          <a:bodyPr/>
          <a:lstStyle/>
          <a:p>
            <a:pPr eaLnBrk="1" hangingPunct="1">
              <a:buFont typeface="Math3" pitchFamily="2" charset="2"/>
              <a:buNone/>
            </a:pP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•  </a:t>
            </a: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</a:rPr>
              <a:t>Industry economic characteristics:</a:t>
            </a:r>
          </a:p>
          <a:p>
            <a:pPr eaLnBrk="1" hangingPunct="1">
              <a:buFont typeface="Math3" pitchFamily="2" charset="2"/>
              <a:buNone/>
            </a:pP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</a:rPr>
              <a:t>	 </a:t>
            </a: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</a:rPr>
              <a:t>  Industry size</a:t>
            </a:r>
          </a:p>
          <a:p>
            <a:pPr eaLnBrk="1" hangingPunct="1">
              <a:buFont typeface="Math3" pitchFamily="2" charset="2"/>
              <a:buNone/>
            </a:pP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</a:rPr>
              <a:t>	 </a:t>
            </a: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</a:rPr>
              <a:t>  Growth rate</a:t>
            </a:r>
          </a:p>
          <a:p>
            <a:pPr eaLnBrk="1" hangingPunct="1">
              <a:buFont typeface="Math3" pitchFamily="2" charset="2"/>
              <a:buNone/>
            </a:pP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</a:rPr>
              <a:t>	 </a:t>
            </a: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</a:rPr>
              <a:t>  Concentration – number of players</a:t>
            </a:r>
          </a:p>
          <a:p>
            <a:pPr eaLnBrk="1" hangingPunct="1">
              <a:buFont typeface="Math3" pitchFamily="2" charset="2"/>
              <a:buNone/>
            </a:pP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</a:rPr>
              <a:t>	 </a:t>
            </a: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</a:rPr>
              <a:t>  Scope of competitive rivalry</a:t>
            </a:r>
          </a:p>
          <a:p>
            <a:pPr eaLnBrk="1" hangingPunct="1">
              <a:buFont typeface="Math3" pitchFamily="2" charset="2"/>
              <a:buNone/>
            </a:pP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</a:rPr>
              <a:t>	 </a:t>
            </a: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</a:rPr>
              <a:t>  Prevalence of backward and forward</a:t>
            </a:r>
            <a:r>
              <a:rPr lang="en-US" altLang="ko-KR" sz="2400" dirty="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</a:rPr>
              <a:t>integration</a:t>
            </a:r>
          </a:p>
          <a:p>
            <a:pPr eaLnBrk="1" hangingPunct="1">
              <a:buFont typeface="Math3" pitchFamily="2" charset="2"/>
              <a:buNone/>
            </a:pP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</a:rPr>
              <a:t>	 </a:t>
            </a: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</a:rPr>
              <a:t>  Types of distribution channels, etc.</a:t>
            </a:r>
          </a:p>
          <a:p>
            <a:pPr eaLnBrk="1" hangingPunct="1">
              <a:buFont typeface="Math3" pitchFamily="2" charset="2"/>
              <a:buNone/>
            </a:pPr>
            <a:endParaRPr lang="en-US" altLang="ko-KR" sz="1000" b="0" dirty="0">
              <a:solidFill>
                <a:schemeClr val="tx1"/>
              </a:solidFill>
              <a:latin typeface="Times New Roman" pitchFamily="18" charset="0"/>
            </a:endParaRPr>
          </a:p>
          <a:p>
            <a:pPr eaLnBrk="1" hangingPunct="1">
              <a:buFont typeface="Math3" pitchFamily="2" charset="2"/>
              <a:buNone/>
            </a:pP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•  </a:t>
            </a: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</a:rPr>
              <a:t>Industry types: Industry life cycle model</a:t>
            </a:r>
          </a:p>
          <a:p>
            <a:pPr>
              <a:buNone/>
            </a:pPr>
            <a:r>
              <a:rPr lang="en-US" altLang="ko-KR" sz="2400" dirty="0">
                <a:solidFill>
                  <a:schemeClr val="tx1"/>
                </a:solidFill>
                <a:latin typeface="Times New Roman" pitchFamily="18" charset="0"/>
              </a:rPr>
              <a:t>	  </a:t>
            </a: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</a:rPr>
              <a:t> Embryonic 	</a:t>
            </a: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</a:rPr>
              <a:t> Growth	</a:t>
            </a: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–  </a:t>
            </a: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</a:rPr>
              <a:t>Shakeout</a:t>
            </a:r>
          </a:p>
          <a:p>
            <a:pPr>
              <a:buNone/>
            </a:pP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</a:rPr>
              <a:t>	  </a:t>
            </a: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</a:rPr>
              <a:t> Mature		</a:t>
            </a: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–</a:t>
            </a: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</a:rPr>
              <a:t>  Declining</a:t>
            </a:r>
          </a:p>
          <a:p>
            <a:pPr eaLnBrk="1" hangingPunct="1">
              <a:buFont typeface="Math3" pitchFamily="2" charset="2"/>
              <a:buNone/>
            </a:pPr>
            <a:endParaRPr lang="ko-KR" altLang="en-US" sz="2400" b="0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title"/>
          </p:nvPr>
        </p:nvSpPr>
        <p:spPr>
          <a:xfrm>
            <a:off x="-35559" y="257274"/>
            <a:ext cx="9144000" cy="579438"/>
          </a:xfrm>
          <a:noFill/>
        </p:spPr>
        <p:txBody>
          <a:bodyPr/>
          <a:lstStyle/>
          <a:p>
            <a:pPr eaLnBrk="1" hangingPunct="1">
              <a:defRPr/>
            </a:pPr>
            <a:r>
              <a:rPr lang="en-US" altLang="ko-KR" sz="32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 INDUSTRY ECONOMIC CHARACTERISTICS</a:t>
            </a:r>
            <a:endParaRPr lang="ko-KR" altLang="en-US" sz="32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굴림" pitchFamily="50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2212492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1271736"/>
            <a:ext cx="8280920" cy="5181600"/>
          </a:xfrm>
          <a:noFill/>
          <a:ln w="12700" cap="flat">
            <a:prstDash val="solid"/>
          </a:ln>
        </p:spPr>
        <p:txBody>
          <a:bodyPr/>
          <a:lstStyle/>
          <a:p>
            <a:pPr eaLnBrk="1" hangingPunct="1">
              <a:buFont typeface="Math3" pitchFamily="2" charset="2"/>
              <a:buNone/>
            </a:pPr>
            <a:r>
              <a:rPr lang="en-US" altLang="ko-KR" sz="2400" b="0" dirty="0">
                <a:latin typeface="Times New Roman" pitchFamily="18" charset="0"/>
                <a:cs typeface="Times New Roman" pitchFamily="18" charset="0"/>
              </a:rPr>
              <a:t>  •  </a:t>
            </a:r>
            <a:r>
              <a:rPr lang="en-US" altLang="ko-KR" sz="2400" b="0" dirty="0">
                <a:latin typeface="Times New Roman" pitchFamily="18" charset="0"/>
              </a:rPr>
              <a:t>Geography of industry competition:</a:t>
            </a:r>
          </a:p>
          <a:p>
            <a:pPr eaLnBrk="1" hangingPunct="1">
              <a:buFont typeface="Math3" pitchFamily="2" charset="2"/>
              <a:buNone/>
            </a:pPr>
            <a:r>
              <a:rPr lang="en-US" altLang="ko-KR" sz="2400" b="0" dirty="0">
                <a:latin typeface="Times New Roman" pitchFamily="18" charset="0"/>
              </a:rPr>
              <a:t>	  </a:t>
            </a:r>
            <a:r>
              <a:rPr lang="en-US" altLang="ko-KR" sz="2400" b="0" dirty="0">
                <a:latin typeface="Times New Roman" pitchFamily="18" charset="0"/>
                <a:cs typeface="Times New Roman" pitchFamily="18" charset="0"/>
              </a:rPr>
              <a:t>–  What is the geographic scope of competition?</a:t>
            </a:r>
            <a:endParaRPr lang="en-US" altLang="ko-KR" sz="2400" b="0" dirty="0">
              <a:latin typeface="Times New Roman" pitchFamily="18" charset="0"/>
            </a:endParaRPr>
          </a:p>
          <a:p>
            <a:pPr lvl="1" eaLnBrk="1" hangingPunct="1">
              <a:buFontTx/>
              <a:buNone/>
            </a:pPr>
            <a:r>
              <a:rPr lang="en-US" altLang="ko-KR" sz="2400" dirty="0">
                <a:solidFill>
                  <a:schemeClr val="tx1"/>
                </a:solidFill>
                <a:latin typeface="Times New Roman" pitchFamily="18" charset="0"/>
              </a:rPr>
              <a:t>     -  Multi-domestic industry</a:t>
            </a:r>
          </a:p>
          <a:p>
            <a:pPr lvl="1" eaLnBrk="1" hangingPunct="1">
              <a:buFontTx/>
              <a:buNone/>
            </a:pPr>
            <a:r>
              <a:rPr lang="en-US" altLang="ko-KR" sz="2400" dirty="0">
                <a:solidFill>
                  <a:schemeClr val="tx1"/>
                </a:solidFill>
                <a:latin typeface="Times New Roman" pitchFamily="18" charset="0"/>
              </a:rPr>
              <a:t>     -  Global industry</a:t>
            </a:r>
          </a:p>
          <a:p>
            <a:pPr eaLnBrk="1" hangingPunct="1">
              <a:buFont typeface="Math3" pitchFamily="2" charset="2"/>
              <a:buNone/>
            </a:pPr>
            <a:r>
              <a:rPr lang="en-US" altLang="ko-KR" sz="2400" b="0" dirty="0">
                <a:latin typeface="Times New Roman" pitchFamily="18" charset="0"/>
                <a:cs typeface="Times New Roman" pitchFamily="18" charset="0"/>
              </a:rPr>
              <a:t>	  –  What competitive advantage is available due to the region</a:t>
            </a:r>
          </a:p>
          <a:p>
            <a:pPr eaLnBrk="1" hangingPunct="1">
              <a:buFont typeface="Math3" pitchFamily="2" charset="2"/>
              <a:buNone/>
            </a:pPr>
            <a:r>
              <a:rPr lang="en-US" altLang="ko-KR" sz="2400" b="0" dirty="0">
                <a:latin typeface="Times New Roman" pitchFamily="18" charset="0"/>
                <a:cs typeface="Times New Roman" pitchFamily="18" charset="0"/>
              </a:rPr>
              <a:t>           or nation in which a firm competes?</a:t>
            </a:r>
          </a:p>
          <a:p>
            <a:pPr eaLnBrk="1" hangingPunct="1">
              <a:buFont typeface="Math3" pitchFamily="2" charset="2"/>
              <a:buNone/>
            </a:pPr>
            <a:r>
              <a:rPr lang="en-US" altLang="ko-KR" sz="2400" b="0" dirty="0">
                <a:latin typeface="Times New Roman" pitchFamily="18" charset="0"/>
                <a:cs typeface="Times New Roman" pitchFamily="18" charset="0"/>
              </a:rPr>
              <a:t>	  –  What is the geographic scope of core competences /</a:t>
            </a:r>
          </a:p>
          <a:p>
            <a:pPr eaLnBrk="1" hangingPunct="1">
              <a:buFont typeface="Math3" pitchFamily="2" charset="2"/>
              <a:buNone/>
            </a:pPr>
            <a:r>
              <a:rPr lang="en-US" altLang="ko-KR" sz="2400" b="0" dirty="0">
                <a:latin typeface="Times New Roman" pitchFamily="18" charset="0"/>
                <a:cs typeface="Times New Roman" pitchFamily="18" charset="0"/>
              </a:rPr>
              <a:t>           capabilities?</a:t>
            </a:r>
          </a:p>
          <a:p>
            <a:pPr eaLnBrk="1" hangingPunct="1">
              <a:buFont typeface="Math3" pitchFamily="2" charset="2"/>
              <a:buNone/>
            </a:pPr>
            <a:r>
              <a:rPr lang="en-US" altLang="ko-KR" sz="2400" b="0" dirty="0">
                <a:latin typeface="Times New Roman" pitchFamily="18" charset="0"/>
                <a:cs typeface="Times New Roman" pitchFamily="18" charset="0"/>
              </a:rPr>
              <a:t>  •  </a:t>
            </a:r>
            <a:r>
              <a:rPr lang="en-US" altLang="ko-KR" sz="2400" b="0" dirty="0">
                <a:latin typeface="Times New Roman" pitchFamily="18" charset="0"/>
              </a:rPr>
              <a:t>Industry concentration:</a:t>
            </a:r>
          </a:p>
          <a:p>
            <a:pPr lvl="1" eaLnBrk="1" hangingPunct="1">
              <a:buFontTx/>
              <a:buNone/>
            </a:pPr>
            <a:r>
              <a:rPr lang="en-US" altLang="ko-K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altLang="ko-KR" sz="2400" dirty="0">
                <a:solidFill>
                  <a:schemeClr val="tx1"/>
                </a:solidFill>
                <a:latin typeface="Times New Roman" pitchFamily="18" charset="0"/>
              </a:rPr>
              <a:t>  Fragmented industry</a:t>
            </a:r>
          </a:p>
          <a:p>
            <a:pPr lvl="1" eaLnBrk="1" hangingPunct="1">
              <a:buFontTx/>
              <a:buNone/>
            </a:pPr>
            <a:r>
              <a:rPr lang="en-US" altLang="ko-K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altLang="ko-KR" sz="2400" dirty="0">
                <a:solidFill>
                  <a:schemeClr val="tx1"/>
                </a:solidFill>
                <a:latin typeface="Times New Roman" pitchFamily="18" charset="0"/>
              </a:rPr>
              <a:t>  Consolidated industry</a:t>
            </a:r>
            <a:endParaRPr lang="ko-KR" altLang="en-US" sz="2400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8" name="Rectangle 4"/>
          <p:cNvSpPr>
            <a:spLocks noGrp="1" noChangeArrowheads="1"/>
          </p:cNvSpPr>
          <p:nvPr>
            <p:ph type="title"/>
          </p:nvPr>
        </p:nvSpPr>
        <p:spPr>
          <a:xfrm>
            <a:off x="-35559" y="257274"/>
            <a:ext cx="9144000" cy="579438"/>
          </a:xfrm>
          <a:noFill/>
        </p:spPr>
        <p:txBody>
          <a:bodyPr/>
          <a:lstStyle/>
          <a:p>
            <a:pPr eaLnBrk="1" hangingPunct="1">
              <a:defRPr/>
            </a:pPr>
            <a:r>
              <a:rPr lang="en-US" altLang="ko-KR" sz="32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 INDUSTRY ECONOMIC CHARACTERISTICS</a:t>
            </a:r>
            <a:endParaRPr lang="ko-KR" altLang="en-US" sz="32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굴림" pitchFamily="50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7148166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5"/>
          <p:cNvGrpSpPr/>
          <p:nvPr/>
        </p:nvGrpSpPr>
        <p:grpSpPr>
          <a:xfrm>
            <a:off x="323528" y="1556792"/>
            <a:ext cx="8517706" cy="4709145"/>
            <a:chOff x="158750" y="1301750"/>
            <a:chExt cx="8826500" cy="4565650"/>
          </a:xfrm>
          <a:solidFill>
            <a:schemeClr val="tx1">
              <a:lumMod val="50000"/>
            </a:schemeClr>
          </a:solidFill>
        </p:grpSpPr>
        <p:sp>
          <p:nvSpPr>
            <p:cNvPr id="14343" name="Rectangle 7"/>
            <p:cNvSpPr>
              <a:spLocks noChangeArrowheads="1"/>
            </p:cNvSpPr>
            <p:nvPr/>
          </p:nvSpPr>
          <p:spPr bwMode="auto">
            <a:xfrm>
              <a:off x="158750" y="2438400"/>
              <a:ext cx="1663700" cy="5334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 algn="ctr"/>
              <a:r>
                <a:rPr lang="en-US" sz="2000" i="1">
                  <a:latin typeface="Times New Roman" pitchFamily="18" charset="0"/>
                  <a:cs typeface="Times New Roman" pitchFamily="18" charset="0"/>
                </a:rPr>
                <a:t>Concentration</a:t>
              </a:r>
            </a:p>
          </p:txBody>
        </p:sp>
        <p:sp>
          <p:nvSpPr>
            <p:cNvPr id="14344" name="Rectangle 8"/>
            <p:cNvSpPr>
              <a:spLocks noChangeArrowheads="1"/>
            </p:cNvSpPr>
            <p:nvPr/>
          </p:nvSpPr>
          <p:spPr bwMode="auto">
            <a:xfrm>
              <a:off x="158750" y="3276600"/>
              <a:ext cx="1663700" cy="6858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 algn="ctr"/>
              <a:r>
                <a:rPr lang="en-US" sz="2000" i="1">
                  <a:latin typeface="Times New Roman" pitchFamily="18" charset="0"/>
                  <a:cs typeface="Times New Roman" pitchFamily="18" charset="0"/>
                </a:rPr>
                <a:t>Entry and Exit</a:t>
              </a:r>
            </a:p>
            <a:p>
              <a:pPr algn="ctr"/>
              <a:r>
                <a:rPr lang="en-US" sz="2000" i="1">
                  <a:latin typeface="Times New Roman" pitchFamily="18" charset="0"/>
                  <a:cs typeface="Times New Roman" pitchFamily="18" charset="0"/>
                </a:rPr>
                <a:t>Barriers</a:t>
              </a:r>
            </a:p>
          </p:txBody>
        </p:sp>
        <p:sp>
          <p:nvSpPr>
            <p:cNvPr id="14345" name="Rectangle 9"/>
            <p:cNvSpPr>
              <a:spLocks noChangeArrowheads="1"/>
            </p:cNvSpPr>
            <p:nvPr/>
          </p:nvSpPr>
          <p:spPr bwMode="auto">
            <a:xfrm>
              <a:off x="158750" y="4191000"/>
              <a:ext cx="1663700" cy="6858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 algn="ctr"/>
              <a:r>
                <a:rPr lang="en-US" sz="2000" i="1">
                  <a:latin typeface="Times New Roman" pitchFamily="18" charset="0"/>
                  <a:cs typeface="Times New Roman" pitchFamily="18" charset="0"/>
                </a:rPr>
                <a:t>Product</a:t>
              </a:r>
            </a:p>
            <a:p>
              <a:pPr algn="ctr"/>
              <a:r>
                <a:rPr lang="en-US" sz="2000" i="1">
                  <a:latin typeface="Times New Roman" pitchFamily="18" charset="0"/>
                  <a:cs typeface="Times New Roman" pitchFamily="18" charset="0"/>
                </a:rPr>
                <a:t>Differentiation</a:t>
              </a:r>
            </a:p>
          </p:txBody>
        </p:sp>
        <p:sp>
          <p:nvSpPr>
            <p:cNvPr id="14346" name="Rectangle 10"/>
            <p:cNvSpPr>
              <a:spLocks noChangeArrowheads="1"/>
            </p:cNvSpPr>
            <p:nvPr/>
          </p:nvSpPr>
          <p:spPr bwMode="auto">
            <a:xfrm>
              <a:off x="158750" y="5257800"/>
              <a:ext cx="1663700" cy="6096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 algn="ctr"/>
              <a:r>
                <a:rPr lang="en-US" sz="2000" i="1">
                  <a:latin typeface="Times New Roman" pitchFamily="18" charset="0"/>
                  <a:cs typeface="Times New Roman" pitchFamily="18" charset="0"/>
                </a:rPr>
                <a:t>Information</a:t>
              </a:r>
            </a:p>
          </p:txBody>
        </p:sp>
        <p:sp>
          <p:nvSpPr>
            <p:cNvPr id="14347" name="Rectangle 11"/>
            <p:cNvSpPr>
              <a:spLocks noChangeArrowheads="1"/>
            </p:cNvSpPr>
            <p:nvPr/>
          </p:nvSpPr>
          <p:spPr bwMode="auto">
            <a:xfrm>
              <a:off x="1987550" y="1301750"/>
              <a:ext cx="1739900" cy="9017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 algn="ctr"/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Perfect </a:t>
              </a:r>
            </a:p>
            <a:p>
              <a:pPr algn="ctr"/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Competition</a:t>
              </a:r>
            </a:p>
          </p:txBody>
        </p:sp>
        <p:sp>
          <p:nvSpPr>
            <p:cNvPr id="14348" name="Rectangle 12"/>
            <p:cNvSpPr>
              <a:spLocks noChangeArrowheads="1"/>
            </p:cNvSpPr>
            <p:nvPr/>
          </p:nvSpPr>
          <p:spPr bwMode="auto">
            <a:xfrm>
              <a:off x="3968750" y="1301750"/>
              <a:ext cx="1587500" cy="9017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 algn="ctr"/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Oligopoly</a:t>
              </a:r>
            </a:p>
          </p:txBody>
        </p:sp>
        <p:sp>
          <p:nvSpPr>
            <p:cNvPr id="14349" name="Rectangle 13"/>
            <p:cNvSpPr>
              <a:spLocks noChangeArrowheads="1"/>
            </p:cNvSpPr>
            <p:nvPr/>
          </p:nvSpPr>
          <p:spPr bwMode="auto">
            <a:xfrm>
              <a:off x="5721350" y="1301750"/>
              <a:ext cx="1511300" cy="9017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 algn="ctr"/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Duopoly</a:t>
              </a:r>
            </a:p>
          </p:txBody>
        </p:sp>
        <p:sp>
          <p:nvSpPr>
            <p:cNvPr id="14350" name="Rectangle 14"/>
            <p:cNvSpPr>
              <a:spLocks noChangeArrowheads="1"/>
            </p:cNvSpPr>
            <p:nvPr/>
          </p:nvSpPr>
          <p:spPr bwMode="auto">
            <a:xfrm>
              <a:off x="7473950" y="1301750"/>
              <a:ext cx="1511300" cy="9017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 algn="ctr"/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Monopoly</a:t>
              </a:r>
            </a:p>
          </p:txBody>
        </p:sp>
        <p:sp>
          <p:nvSpPr>
            <p:cNvPr id="14351" name="Rectangle 15"/>
            <p:cNvSpPr>
              <a:spLocks noChangeArrowheads="1"/>
            </p:cNvSpPr>
            <p:nvPr/>
          </p:nvSpPr>
          <p:spPr bwMode="auto">
            <a:xfrm>
              <a:off x="1987550" y="2444750"/>
              <a:ext cx="1816100" cy="5207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 algn="ctr"/>
              <a:r>
                <a:rPr lang="en-US" sz="2000">
                  <a:latin typeface="Times New Roman" pitchFamily="18" charset="0"/>
                  <a:cs typeface="Times New Roman" pitchFamily="18" charset="0"/>
                </a:rPr>
                <a:t>Many firms</a:t>
              </a:r>
            </a:p>
          </p:txBody>
        </p:sp>
        <p:sp>
          <p:nvSpPr>
            <p:cNvPr id="14352" name="Rectangle 16"/>
            <p:cNvSpPr>
              <a:spLocks noChangeArrowheads="1"/>
            </p:cNvSpPr>
            <p:nvPr/>
          </p:nvSpPr>
          <p:spPr bwMode="auto">
            <a:xfrm>
              <a:off x="3968750" y="2444750"/>
              <a:ext cx="1587500" cy="4445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 algn="ctr"/>
              <a:r>
                <a:rPr lang="en-US" sz="2000">
                  <a:latin typeface="Times New Roman" pitchFamily="18" charset="0"/>
                  <a:cs typeface="Times New Roman" pitchFamily="18" charset="0"/>
                </a:rPr>
                <a:t>A few firms</a:t>
              </a:r>
            </a:p>
          </p:txBody>
        </p:sp>
        <p:sp>
          <p:nvSpPr>
            <p:cNvPr id="14353" name="Rectangle 17"/>
            <p:cNvSpPr>
              <a:spLocks noChangeArrowheads="1"/>
            </p:cNvSpPr>
            <p:nvPr/>
          </p:nvSpPr>
          <p:spPr bwMode="auto">
            <a:xfrm>
              <a:off x="5797550" y="2444750"/>
              <a:ext cx="1435100" cy="4445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 algn="ctr"/>
              <a:r>
                <a:rPr lang="en-US" sz="2000">
                  <a:latin typeface="Times New Roman" pitchFamily="18" charset="0"/>
                  <a:cs typeface="Times New Roman" pitchFamily="18" charset="0"/>
                </a:rPr>
                <a:t>Two firms</a:t>
              </a:r>
            </a:p>
          </p:txBody>
        </p:sp>
        <p:sp>
          <p:nvSpPr>
            <p:cNvPr id="14354" name="Rectangle 18"/>
            <p:cNvSpPr>
              <a:spLocks noChangeArrowheads="1"/>
            </p:cNvSpPr>
            <p:nvPr/>
          </p:nvSpPr>
          <p:spPr bwMode="auto">
            <a:xfrm>
              <a:off x="7473950" y="2444750"/>
              <a:ext cx="1511300" cy="4445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 algn="ctr"/>
              <a:r>
                <a:rPr lang="en-US" sz="2000">
                  <a:latin typeface="Times New Roman" pitchFamily="18" charset="0"/>
                  <a:cs typeface="Times New Roman" pitchFamily="18" charset="0"/>
                </a:rPr>
                <a:t>One firm</a:t>
              </a:r>
            </a:p>
          </p:txBody>
        </p:sp>
        <p:sp>
          <p:nvSpPr>
            <p:cNvPr id="14355" name="Rectangle 19"/>
            <p:cNvSpPr>
              <a:spLocks noChangeArrowheads="1"/>
            </p:cNvSpPr>
            <p:nvPr/>
          </p:nvSpPr>
          <p:spPr bwMode="auto">
            <a:xfrm>
              <a:off x="1987550" y="3282950"/>
              <a:ext cx="1816100" cy="5207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 algn="ctr"/>
              <a:r>
                <a:rPr lang="en-US" sz="2000">
                  <a:latin typeface="Times New Roman" pitchFamily="18" charset="0"/>
                  <a:cs typeface="Times New Roman" pitchFamily="18" charset="0"/>
                </a:rPr>
                <a:t>No barriers</a:t>
              </a:r>
            </a:p>
          </p:txBody>
        </p:sp>
        <p:sp>
          <p:nvSpPr>
            <p:cNvPr id="14356" name="Rectangle 20"/>
            <p:cNvSpPr>
              <a:spLocks noChangeArrowheads="1"/>
            </p:cNvSpPr>
            <p:nvPr/>
          </p:nvSpPr>
          <p:spPr bwMode="auto">
            <a:xfrm>
              <a:off x="3968750" y="3282950"/>
              <a:ext cx="3263900" cy="5207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 algn="ctr"/>
              <a:r>
                <a:rPr lang="en-US" sz="2000">
                  <a:latin typeface="Times New Roman" pitchFamily="18" charset="0"/>
                  <a:cs typeface="Times New Roman" pitchFamily="18" charset="0"/>
                </a:rPr>
                <a:t>Significant barriers</a:t>
              </a:r>
            </a:p>
          </p:txBody>
        </p:sp>
        <p:sp>
          <p:nvSpPr>
            <p:cNvPr id="14357" name="Rectangle 21"/>
            <p:cNvSpPr>
              <a:spLocks noChangeArrowheads="1"/>
            </p:cNvSpPr>
            <p:nvPr/>
          </p:nvSpPr>
          <p:spPr bwMode="auto">
            <a:xfrm>
              <a:off x="7473950" y="3282950"/>
              <a:ext cx="1511300" cy="5207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 algn="ctr"/>
              <a:r>
                <a:rPr lang="en-US" sz="2000">
                  <a:latin typeface="Times New Roman" pitchFamily="18" charset="0"/>
                  <a:cs typeface="Times New Roman" pitchFamily="18" charset="0"/>
                </a:rPr>
                <a:t>High barriers</a:t>
              </a:r>
            </a:p>
          </p:txBody>
        </p:sp>
        <p:sp>
          <p:nvSpPr>
            <p:cNvPr id="14358" name="Rectangle 22"/>
            <p:cNvSpPr>
              <a:spLocks noChangeArrowheads="1"/>
            </p:cNvSpPr>
            <p:nvPr/>
          </p:nvSpPr>
          <p:spPr bwMode="auto">
            <a:xfrm>
              <a:off x="1987550" y="4273550"/>
              <a:ext cx="1816100" cy="5969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 algn="ctr"/>
              <a:r>
                <a:rPr lang="en-US" sz="2000">
                  <a:latin typeface="Times New Roman" pitchFamily="18" charset="0"/>
                  <a:cs typeface="Times New Roman" pitchFamily="18" charset="0"/>
                </a:rPr>
                <a:t>Homogeneous</a:t>
              </a:r>
            </a:p>
            <a:p>
              <a:pPr algn="ctr"/>
              <a:r>
                <a:rPr lang="en-US" sz="2000">
                  <a:latin typeface="Times New Roman" pitchFamily="18" charset="0"/>
                  <a:cs typeface="Times New Roman" pitchFamily="18" charset="0"/>
                </a:rPr>
                <a:t>Product</a:t>
              </a:r>
            </a:p>
          </p:txBody>
        </p:sp>
        <p:sp>
          <p:nvSpPr>
            <p:cNvPr id="14359" name="Rectangle 23"/>
            <p:cNvSpPr>
              <a:spLocks noChangeArrowheads="1"/>
            </p:cNvSpPr>
            <p:nvPr/>
          </p:nvSpPr>
          <p:spPr bwMode="auto">
            <a:xfrm>
              <a:off x="3968750" y="4273550"/>
              <a:ext cx="5016500" cy="5969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 algn="ctr"/>
              <a:r>
                <a:rPr lang="en-US" sz="2000">
                  <a:latin typeface="Times New Roman" pitchFamily="18" charset="0"/>
                  <a:cs typeface="Times New Roman" pitchFamily="18" charset="0"/>
                </a:rPr>
                <a:t>Potential for product differentiation</a:t>
              </a:r>
            </a:p>
          </p:txBody>
        </p:sp>
        <p:sp>
          <p:nvSpPr>
            <p:cNvPr id="14360" name="Rectangle 24"/>
            <p:cNvSpPr>
              <a:spLocks noChangeArrowheads="1"/>
            </p:cNvSpPr>
            <p:nvPr/>
          </p:nvSpPr>
          <p:spPr bwMode="auto">
            <a:xfrm>
              <a:off x="1987550" y="5264150"/>
              <a:ext cx="2044700" cy="5969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 algn="ctr"/>
              <a:r>
                <a:rPr lang="en-US" sz="2000">
                  <a:latin typeface="Times New Roman" pitchFamily="18" charset="0"/>
                  <a:cs typeface="Times New Roman" pitchFamily="18" charset="0"/>
                </a:rPr>
                <a:t>Perfect</a:t>
              </a:r>
            </a:p>
            <a:p>
              <a:pPr algn="ctr"/>
              <a:r>
                <a:rPr lang="en-US" sz="2000">
                  <a:latin typeface="Times New Roman" pitchFamily="18" charset="0"/>
                  <a:cs typeface="Times New Roman" pitchFamily="18" charset="0"/>
                </a:rPr>
                <a:t>Information flow</a:t>
              </a:r>
            </a:p>
          </p:txBody>
        </p:sp>
        <p:sp>
          <p:nvSpPr>
            <p:cNvPr id="14361" name="Rectangle 25"/>
            <p:cNvSpPr>
              <a:spLocks noChangeArrowheads="1"/>
            </p:cNvSpPr>
            <p:nvPr/>
          </p:nvSpPr>
          <p:spPr bwMode="auto">
            <a:xfrm>
              <a:off x="4121150" y="5264150"/>
              <a:ext cx="4864100" cy="5969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 algn="ctr"/>
              <a:r>
                <a:rPr lang="en-US" sz="2000">
                  <a:latin typeface="Times New Roman" pitchFamily="18" charset="0"/>
                  <a:cs typeface="Times New Roman" pitchFamily="18" charset="0"/>
                </a:rPr>
                <a:t>Imperfect availability of information</a:t>
              </a:r>
            </a:p>
          </p:txBody>
        </p:sp>
      </p:grpSp>
      <p:sp>
        <p:nvSpPr>
          <p:cNvPr id="27" name="Rectangle 4"/>
          <p:cNvSpPr txBox="1">
            <a:spLocks noChangeArrowheads="1"/>
          </p:cNvSpPr>
          <p:nvPr/>
        </p:nvSpPr>
        <p:spPr>
          <a:xfrm>
            <a:off x="-3810" y="213360"/>
            <a:ext cx="9144000" cy="576263"/>
          </a:xfrm>
          <a:prstGeom prst="rect">
            <a:avLst/>
          </a:prstGeom>
          <a:noFill/>
        </p:spPr>
        <p:txBody>
          <a:bodyPr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Spectrum</a:t>
            </a:r>
            <a:r>
              <a:rPr kumimoji="0" lang="en-US" altLang="ko-KR" sz="3200" b="1" i="0" u="none" strike="noStrike" kern="0" cap="none" spc="0" normalizeH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 of Industry Structure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itchFamily="18" charset="0"/>
              <a:ea typeface="굴림" pitchFamily="50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7528314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552" y="1412776"/>
            <a:ext cx="8064896" cy="3672408"/>
          </a:xfrm>
          <a:noFill/>
          <a:ln w="12700" cap="flat">
            <a:prstDash val="solid"/>
          </a:ln>
        </p:spPr>
        <p:txBody>
          <a:bodyPr/>
          <a:lstStyle/>
          <a:p>
            <a:pPr eaLnBrk="1" hangingPunct="1">
              <a:buFont typeface="Math3" pitchFamily="2" charset="2"/>
              <a:buNone/>
            </a:pPr>
            <a:r>
              <a:rPr lang="en-US" altLang="ko-KR" sz="2400" b="0" dirty="0">
                <a:latin typeface="Times New Roman" pitchFamily="18" charset="0"/>
                <a:cs typeface="Times New Roman" pitchFamily="18" charset="0"/>
              </a:rPr>
              <a:t>  •  </a:t>
            </a:r>
            <a:r>
              <a:rPr lang="en-US" altLang="ko-KR" sz="2400" b="0" dirty="0">
                <a:latin typeface="Times New Roman" pitchFamily="18" charset="0"/>
              </a:rPr>
              <a:t>Definition:</a:t>
            </a:r>
          </a:p>
          <a:p>
            <a:pPr eaLnBrk="1" hangingPunct="1">
              <a:buFont typeface="Math3" pitchFamily="2" charset="2"/>
              <a:buNone/>
            </a:pPr>
            <a:r>
              <a:rPr lang="en-US" altLang="ko-KR" sz="2400" b="0" dirty="0">
                <a:latin typeface="Times New Roman" pitchFamily="18" charset="0"/>
              </a:rPr>
              <a:t>       </a:t>
            </a:r>
            <a:r>
              <a:rPr lang="en-US" altLang="ko-KR" sz="2400" b="0" dirty="0">
                <a:latin typeface="Times New Roman" pitchFamily="18" charset="0"/>
                <a:cs typeface="Times New Roman" pitchFamily="18" charset="0"/>
              </a:rPr>
              <a:t>–  </a:t>
            </a:r>
            <a:r>
              <a:rPr lang="en-US" altLang="ko-KR" sz="2400" b="0" dirty="0">
                <a:latin typeface="Times New Roman" pitchFamily="18" charset="0"/>
              </a:rPr>
              <a:t>The most dominant forces that can change industry</a:t>
            </a:r>
          </a:p>
          <a:p>
            <a:pPr eaLnBrk="1" hangingPunct="1">
              <a:buFont typeface="Math3" pitchFamily="2" charset="2"/>
              <a:buNone/>
            </a:pPr>
            <a:r>
              <a:rPr lang="en-US" altLang="ko-KR" sz="2400" b="0" dirty="0">
                <a:latin typeface="Times New Roman" pitchFamily="18" charset="0"/>
              </a:rPr>
              <a:t>           structure and competitive conditions</a:t>
            </a:r>
          </a:p>
          <a:p>
            <a:pPr eaLnBrk="1" hangingPunct="1">
              <a:buFont typeface="Math3" pitchFamily="2" charset="2"/>
              <a:buNone/>
            </a:pPr>
            <a:r>
              <a:rPr lang="en-US" altLang="ko-KR" sz="2400" b="0" dirty="0">
                <a:latin typeface="Times New Roman" pitchFamily="18" charset="0"/>
                <a:cs typeface="Times New Roman" pitchFamily="18" charset="0"/>
              </a:rPr>
              <a:t>       –  Emerging continuities &amp; emerging discontinuities </a:t>
            </a:r>
          </a:p>
          <a:p>
            <a:pPr eaLnBrk="1" hangingPunct="1">
              <a:lnSpc>
                <a:spcPct val="110000"/>
              </a:lnSpc>
              <a:buFont typeface="Math3" pitchFamily="2" charset="2"/>
              <a:buNone/>
            </a:pPr>
            <a:endParaRPr lang="en-US" altLang="ko-KR" sz="2400" b="0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110000"/>
              </a:lnSpc>
              <a:buFont typeface="Math3" pitchFamily="2" charset="2"/>
              <a:buNone/>
            </a:pPr>
            <a:r>
              <a:rPr lang="en-US" altLang="ko-KR" sz="2400" b="0" dirty="0">
                <a:latin typeface="Times New Roman" pitchFamily="18" charset="0"/>
                <a:cs typeface="Times New Roman" pitchFamily="18" charset="0"/>
              </a:rPr>
              <a:t>  •  </a:t>
            </a:r>
            <a:r>
              <a:rPr lang="en-US" altLang="ko-KR" sz="2400" b="0" dirty="0">
                <a:latin typeface="Times New Roman" pitchFamily="18" charset="0"/>
              </a:rPr>
              <a:t>Common driving forces:</a:t>
            </a:r>
          </a:p>
          <a:p>
            <a:pPr lvl="1" eaLnBrk="1" hangingPunct="1">
              <a:lnSpc>
                <a:spcPct val="110000"/>
              </a:lnSpc>
              <a:buClr>
                <a:schemeClr val="tx2"/>
              </a:buClr>
              <a:buFontTx/>
              <a:buNone/>
            </a:pPr>
            <a:r>
              <a:rPr lang="en-US" altLang="ko-K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–  </a:t>
            </a:r>
            <a:r>
              <a:rPr lang="en-US" altLang="ko-KR" sz="2400" dirty="0">
                <a:solidFill>
                  <a:schemeClr val="tx1"/>
                </a:solidFill>
                <a:latin typeface="Times New Roman" pitchFamily="18" charset="0"/>
              </a:rPr>
              <a:t>Industry-related driving forces</a:t>
            </a:r>
          </a:p>
          <a:p>
            <a:pPr lvl="1" eaLnBrk="1" hangingPunct="1">
              <a:lnSpc>
                <a:spcPct val="110000"/>
              </a:lnSpc>
              <a:buClr>
                <a:schemeClr val="tx2"/>
              </a:buClr>
              <a:buFontTx/>
              <a:buNone/>
            </a:pPr>
            <a:r>
              <a:rPr lang="en-US" altLang="ko-K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–  </a:t>
            </a:r>
            <a:r>
              <a:rPr lang="en-US" altLang="ko-KR" sz="2400" dirty="0">
                <a:solidFill>
                  <a:schemeClr val="tx1"/>
                </a:solidFill>
                <a:latin typeface="Times New Roman" pitchFamily="18" charset="0"/>
              </a:rPr>
              <a:t>General environment-related driving forces</a:t>
            </a:r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189394"/>
            <a:ext cx="9144000" cy="590550"/>
          </a:xfrm>
          <a:noFill/>
        </p:spPr>
        <p:txBody>
          <a:bodyPr/>
          <a:lstStyle/>
          <a:p>
            <a:pPr algn="ctr" eaLnBrk="1" hangingPunct="1">
              <a:defRPr/>
            </a:pPr>
            <a:r>
              <a:rPr lang="en-US" altLang="ko-KR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 DRIVING FORCES</a:t>
            </a:r>
            <a:endParaRPr lang="ko-KR" altLang="en-US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굴림" pitchFamily="50" charset="-127"/>
              <a:cs typeface="Times New Roman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876256" y="6523015"/>
            <a:ext cx="18165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Strategic Management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0128" y="6536575"/>
            <a:ext cx="873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KU MBA</a:t>
            </a:r>
          </a:p>
        </p:txBody>
      </p:sp>
    </p:spTree>
    <p:extLst>
      <p:ext uri="{BB962C8B-B14F-4D97-AF65-F5344CB8AC3E}">
        <p14:creationId xmlns:p14="http://schemas.microsoft.com/office/powerpoint/2010/main" val="499968411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0" y="223520"/>
            <a:ext cx="9144000" cy="6096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ko-KR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 KEY SUCCESS FACTORS</a:t>
            </a:r>
            <a:endParaRPr lang="ko-KR" altLang="en-US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굴림" pitchFamily="50" charset="-127"/>
              <a:cs typeface="Times New Roman" pitchFamily="18" charset="0"/>
            </a:endParaRPr>
          </a:p>
        </p:txBody>
      </p:sp>
      <p:sp>
        <p:nvSpPr>
          <p:cNvPr id="2150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410776" y="1214968"/>
            <a:ext cx="8352928" cy="5181600"/>
          </a:xfrm>
          <a:noFill/>
          <a:ln w="12700" cap="flat">
            <a:prstDash val="solid"/>
          </a:ln>
        </p:spPr>
        <p:txBody>
          <a:bodyPr/>
          <a:lstStyle/>
          <a:p>
            <a:pPr eaLnBrk="1" hangingPunct="1">
              <a:buFont typeface="Math3" pitchFamily="2" charset="2"/>
              <a:buNone/>
            </a:pPr>
            <a:r>
              <a:rPr lang="en-US" altLang="ko-KR" sz="2400" dirty="0">
                <a:solidFill>
                  <a:schemeClr val="tx1"/>
                </a:solidFill>
                <a:latin typeface="Times New Roman" pitchFamily="18" charset="0"/>
              </a:rPr>
              <a:t>  </a:t>
            </a: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</a:rPr>
              <a:t>•  Definition:</a:t>
            </a:r>
          </a:p>
          <a:p>
            <a:pPr eaLnBrk="1" hangingPunct="1">
              <a:buFont typeface="Math3" pitchFamily="2" charset="2"/>
              <a:buNone/>
            </a:pPr>
            <a:r>
              <a:rPr lang="en-US" altLang="ko-KR" sz="2400" dirty="0">
                <a:solidFill>
                  <a:schemeClr val="tx1"/>
                </a:solidFill>
                <a:latin typeface="Times New Roman" pitchFamily="18" charset="0"/>
              </a:rPr>
              <a:t>	 </a:t>
            </a: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altLang="ko-K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</a:rPr>
              <a:t>Activities or things that firms within an industry must do </a:t>
            </a:r>
          </a:p>
          <a:p>
            <a:pPr eaLnBrk="1" hangingPunct="1">
              <a:buFont typeface="Math3" pitchFamily="2" charset="2"/>
              <a:buNone/>
            </a:pP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</a:rPr>
              <a:t>          very well in order to be successful. They are highly valued </a:t>
            </a:r>
          </a:p>
          <a:p>
            <a:pPr eaLnBrk="1" hangingPunct="1">
              <a:buFont typeface="Math3" pitchFamily="2" charset="2"/>
              <a:buNone/>
            </a:pP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</a:rPr>
              <a:t>          by customers</a:t>
            </a:r>
          </a:p>
          <a:p>
            <a:pPr eaLnBrk="1" hangingPunct="1">
              <a:buFont typeface="Math3" pitchFamily="2" charset="2"/>
              <a:buNone/>
            </a:pP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</a:rPr>
              <a:t>	 </a:t>
            </a: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–  Industry specific</a:t>
            </a:r>
          </a:p>
          <a:p>
            <a:pPr eaLnBrk="1" hangingPunct="1">
              <a:buFont typeface="Math3" pitchFamily="2" charset="2"/>
              <a:buNone/>
            </a:pP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 –  Strategic group specific</a:t>
            </a:r>
          </a:p>
          <a:p>
            <a:pPr eaLnBrk="1" hangingPunct="1">
              <a:buFont typeface="Math3" pitchFamily="2" charset="2"/>
              <a:buNone/>
            </a:pP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 –  Not firm specific</a:t>
            </a:r>
            <a:endParaRPr lang="en-US" altLang="ko-KR" sz="2400" b="0" dirty="0">
              <a:solidFill>
                <a:schemeClr val="tx1"/>
              </a:solidFill>
              <a:latin typeface="Times New Roman" pitchFamily="18" charset="0"/>
            </a:endParaRPr>
          </a:p>
          <a:p>
            <a:pPr eaLnBrk="1" hangingPunct="1">
              <a:buFont typeface="Math3" pitchFamily="2" charset="2"/>
              <a:buNone/>
            </a:pP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</a:rPr>
              <a:t> •  Examples: </a:t>
            </a:r>
          </a:p>
          <a:p>
            <a:pPr eaLnBrk="1" hangingPunct="1">
              <a:buFont typeface="Math3" pitchFamily="2" charset="2"/>
              <a:buNone/>
            </a:pPr>
            <a:r>
              <a:rPr lang="en-US" altLang="ko-KR" sz="2400" dirty="0">
                <a:solidFill>
                  <a:schemeClr val="tx1"/>
                </a:solidFill>
                <a:latin typeface="Times New Roman" pitchFamily="18" charset="0"/>
              </a:rPr>
              <a:t>	 </a:t>
            </a: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altLang="ko-K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</a:rPr>
              <a:t>Apparel industry &amp; Beer industry</a:t>
            </a:r>
          </a:p>
          <a:p>
            <a:pPr eaLnBrk="1" hangingPunct="1">
              <a:buFont typeface="Math3" pitchFamily="2" charset="2"/>
              <a:buNone/>
            </a:pP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</a:rPr>
              <a:t>	 </a:t>
            </a: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–  Pharmaceutical industry</a:t>
            </a:r>
          </a:p>
          <a:p>
            <a:pPr eaLnBrk="1" hangingPunct="1">
              <a:buFont typeface="Math3" pitchFamily="2" charset="2"/>
              <a:buNone/>
            </a:pP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       -  Generic group</a:t>
            </a:r>
          </a:p>
          <a:p>
            <a:pPr eaLnBrk="1" hangingPunct="1">
              <a:buFont typeface="Math3" pitchFamily="2" charset="2"/>
              <a:buNone/>
            </a:pPr>
            <a:r>
              <a:rPr lang="en-US" altLang="ko-KR" sz="24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       -  Proprietary group</a:t>
            </a:r>
            <a:endParaRPr lang="ko-KR" altLang="en-US" sz="2400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76256" y="6523015"/>
            <a:ext cx="18165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Strategic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128" y="6536575"/>
            <a:ext cx="873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KU MBA</a:t>
            </a:r>
          </a:p>
        </p:txBody>
      </p:sp>
    </p:spTree>
    <p:extLst>
      <p:ext uri="{BB962C8B-B14F-4D97-AF65-F5344CB8AC3E}">
        <p14:creationId xmlns:p14="http://schemas.microsoft.com/office/powerpoint/2010/main" val="2928720327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602" name="Object 2">
            <a:hlinkClick r:id="" action="ppaction://ole?verb=0"/>
          </p:cNvPr>
          <p:cNvGraphicFramePr>
            <a:graphicFrameLocks/>
          </p:cNvGraphicFramePr>
          <p:nvPr/>
        </p:nvGraphicFramePr>
        <p:xfrm>
          <a:off x="381000" y="4208463"/>
          <a:ext cx="8382000" cy="204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3657600" imgH="2338200" progId="">
                  <p:embed/>
                </p:oleObj>
              </mc:Choice>
              <mc:Fallback>
                <p:oleObj name="Clip" r:id="rId2" imgW="3657600" imgH="2338200" progId="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208463"/>
                        <a:ext cx="8382000" cy="2049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3" name="WordArt 3"/>
          <p:cNvSpPr>
            <a:spLocks noChangeArrowheads="1" noChangeShapeType="1" noTextEdit="1"/>
          </p:cNvSpPr>
          <p:nvPr/>
        </p:nvSpPr>
        <p:spPr bwMode="auto">
          <a:xfrm>
            <a:off x="467544" y="1128737"/>
            <a:ext cx="8280920" cy="3020343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altLang="ko-KR" sz="48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333399"/>
                    </a:gs>
                    <a:gs pos="100000">
                      <a:schemeClr val="accent2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/>
                  </a:outerShdw>
                </a:effectLst>
                <a:latin typeface="Impact"/>
              </a:rPr>
              <a:t>Industry Globalization</a:t>
            </a:r>
            <a:endParaRPr lang="ko-KR" altLang="en-US" sz="48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333399"/>
                  </a:gs>
                  <a:gs pos="100000">
                    <a:schemeClr val="accent2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/>
                </a:outerShdw>
              </a:effectLst>
              <a:latin typeface="Impact"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24744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ko-KR" sz="3200" b="1" kern="1200" dirty="0">
                <a:solidFill>
                  <a:srgbClr val="FFC000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DEFINITION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584" y="1268760"/>
            <a:ext cx="7543800" cy="108012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ko-KR" sz="2800" b="1" dirty="0">
                <a:solidFill>
                  <a:srgbClr val="B1E2FB"/>
                </a:solidFill>
                <a:latin typeface="Times New Roman" pitchFamily="18" charset="0"/>
                <a:ea typeface="굴림" charset="-127"/>
                <a:cs typeface="Times New Roman" pitchFamily="18" charset="0"/>
              </a:rPr>
              <a:t>	</a:t>
            </a: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charset="-127"/>
                <a:cs typeface="Times New Roman" pitchFamily="18" charset="0"/>
              </a:rPr>
              <a:t>Extent of interdependence or inter-linkages among countries within a specific worldwide industry</a:t>
            </a:r>
            <a:endParaRPr lang="en-US" altLang="ko-KR" sz="1800" b="0" dirty="0">
              <a:solidFill>
                <a:srgbClr val="B1E2FB"/>
              </a:solidFill>
              <a:latin typeface="Times New Roman" pitchFamily="18" charset="0"/>
              <a:ea typeface="굴림" charset="-127"/>
              <a:cs typeface="Times New Roman" pitchFamily="18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971600" y="2420888"/>
            <a:ext cx="7056784" cy="4176464"/>
            <a:chOff x="251520" y="1340768"/>
            <a:chExt cx="8604448" cy="5245585"/>
          </a:xfrm>
        </p:grpSpPr>
        <p:sp>
          <p:nvSpPr>
            <p:cNvPr id="22" name="Oval 21"/>
            <p:cNvSpPr/>
            <p:nvPr/>
          </p:nvSpPr>
          <p:spPr bwMode="auto">
            <a:xfrm>
              <a:off x="251520" y="1340768"/>
              <a:ext cx="8604448" cy="5245585"/>
            </a:xfrm>
            <a:prstGeom prst="ellips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effectLst/>
                <a:latin typeface="Times New Roman" pitchFamily="18" charset="0"/>
              </a:endParaRPr>
            </a:p>
          </p:txBody>
        </p:sp>
        <p:sp>
          <p:nvSpPr>
            <p:cNvPr id="23" name="Text Box 12"/>
            <p:cNvSpPr txBox="1">
              <a:spLocks noChangeArrowheads="1"/>
            </p:cNvSpPr>
            <p:nvPr/>
          </p:nvSpPr>
          <p:spPr bwMode="auto">
            <a:xfrm>
              <a:off x="4327817" y="1384923"/>
              <a:ext cx="225245" cy="5798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endParaRPr lang="en-US" altLang="zh-TW" b="1" dirty="0">
                <a:latin typeface="Times New Roman" pitchFamily="18" charset="0"/>
                <a:ea typeface="PMingLiU" pitchFamily="18" charset="-120"/>
                <a:cs typeface="Times New Roman" pitchFamily="18" charset="0"/>
              </a:endParaRPr>
            </a:p>
          </p:txBody>
        </p:sp>
        <p:sp>
          <p:nvSpPr>
            <p:cNvPr id="24" name="Text Box 12"/>
            <p:cNvSpPr txBox="1">
              <a:spLocks noChangeArrowheads="1"/>
            </p:cNvSpPr>
            <p:nvPr/>
          </p:nvSpPr>
          <p:spPr bwMode="auto">
            <a:xfrm>
              <a:off x="3821661" y="1576474"/>
              <a:ext cx="1246232" cy="2790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lnSpc>
                  <a:spcPts val="600"/>
                </a:lnSpc>
                <a:spcBef>
                  <a:spcPct val="50000"/>
                </a:spcBef>
              </a:pPr>
              <a:r>
                <a:rPr lang="en-US" altLang="zh-TW" dirty="0">
                  <a:ea typeface="PMingLiU" pitchFamily="18" charset="-120"/>
                  <a:cs typeface="Times New Roman" pitchFamily="18" charset="0"/>
                </a:rPr>
                <a:t>World</a:t>
              </a:r>
            </a:p>
          </p:txBody>
        </p:sp>
        <p:grpSp>
          <p:nvGrpSpPr>
            <p:cNvPr id="25" name="Group 39"/>
            <p:cNvGrpSpPr/>
            <p:nvPr/>
          </p:nvGrpSpPr>
          <p:grpSpPr>
            <a:xfrm>
              <a:off x="1331640" y="2060847"/>
              <a:ext cx="2880320" cy="1728191"/>
              <a:chOff x="1214438" y="2348881"/>
              <a:chExt cx="6165874" cy="2880320"/>
            </a:xfrm>
          </p:grpSpPr>
          <p:sp>
            <p:nvSpPr>
              <p:cNvPr id="47" name="Oval 3"/>
              <p:cNvSpPr>
                <a:spLocks noChangeArrowheads="1"/>
              </p:cNvSpPr>
              <p:nvPr/>
            </p:nvSpPr>
            <p:spPr bwMode="auto">
              <a:xfrm>
                <a:off x="3526641" y="3405520"/>
                <a:ext cx="1507213" cy="834875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prstDash val="sys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sz="16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8" name="Oval 4"/>
              <p:cNvSpPr>
                <a:spLocks noChangeArrowheads="1"/>
              </p:cNvSpPr>
              <p:nvPr/>
            </p:nvSpPr>
            <p:spPr bwMode="auto">
              <a:xfrm>
                <a:off x="2444759" y="2742837"/>
                <a:ext cx="3699524" cy="2087189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prstDash val="sys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sz="16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9" name="Oval 5"/>
              <p:cNvSpPr>
                <a:spLocks noChangeArrowheads="1"/>
              </p:cNvSpPr>
              <p:nvPr/>
            </p:nvSpPr>
            <p:spPr bwMode="auto">
              <a:xfrm>
                <a:off x="1214438" y="2348881"/>
                <a:ext cx="6165874" cy="288032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prstDash val="sys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sz="16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0" name="Text Box 6"/>
              <p:cNvSpPr txBox="1">
                <a:spLocks noChangeArrowheads="1"/>
              </p:cNvSpPr>
              <p:nvPr/>
            </p:nvSpPr>
            <p:spPr bwMode="auto">
              <a:xfrm>
                <a:off x="3526776" y="3500926"/>
                <a:ext cx="1691583" cy="6442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TW" sz="1400" dirty="0">
                    <a:latin typeface="Times New Roman" pitchFamily="18" charset="0"/>
                    <a:ea typeface="PMingLiU" pitchFamily="18" charset="-120"/>
                    <a:cs typeface="Times New Roman" pitchFamily="18" charset="0"/>
                  </a:rPr>
                  <a:t>Firm</a:t>
                </a:r>
              </a:p>
            </p:txBody>
          </p:sp>
          <p:sp>
            <p:nvSpPr>
              <p:cNvPr id="51" name="Text Box 7"/>
              <p:cNvSpPr txBox="1">
                <a:spLocks noChangeArrowheads="1"/>
              </p:cNvSpPr>
              <p:nvPr/>
            </p:nvSpPr>
            <p:spPr bwMode="auto">
              <a:xfrm>
                <a:off x="2971176" y="2780698"/>
                <a:ext cx="2657088" cy="6442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TW" sz="1400" b="1" dirty="0">
                    <a:solidFill>
                      <a:srgbClr val="FFFF00"/>
                    </a:solidFill>
                    <a:latin typeface="Times New Roman" pitchFamily="18" charset="0"/>
                    <a:ea typeface="PMingLiU" pitchFamily="18" charset="-120"/>
                    <a:cs typeface="Times New Roman" pitchFamily="18" charset="0"/>
                  </a:rPr>
                  <a:t>Industry A</a:t>
                </a:r>
              </a:p>
            </p:txBody>
          </p:sp>
          <p:sp>
            <p:nvSpPr>
              <p:cNvPr id="52" name="Text Box 12"/>
              <p:cNvSpPr txBox="1">
                <a:spLocks noChangeArrowheads="1"/>
              </p:cNvSpPr>
              <p:nvPr/>
            </p:nvSpPr>
            <p:spPr bwMode="auto">
              <a:xfrm>
                <a:off x="3219060" y="2402045"/>
                <a:ext cx="2172396" cy="4022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lnSpc>
                    <a:spcPts val="600"/>
                  </a:lnSpc>
                  <a:spcBef>
                    <a:spcPct val="50000"/>
                  </a:spcBef>
                </a:pPr>
                <a:r>
                  <a:rPr lang="en-US" altLang="zh-TW" sz="1400" dirty="0">
                    <a:ea typeface="PMingLiU" pitchFamily="18" charset="-120"/>
                    <a:cs typeface="Times New Roman" pitchFamily="18" charset="0"/>
                  </a:rPr>
                  <a:t>Country</a:t>
                </a:r>
              </a:p>
            </p:txBody>
          </p:sp>
        </p:grpSp>
        <p:grpSp>
          <p:nvGrpSpPr>
            <p:cNvPr id="26" name="Group 40"/>
            <p:cNvGrpSpPr/>
            <p:nvPr/>
          </p:nvGrpSpPr>
          <p:grpSpPr>
            <a:xfrm>
              <a:off x="1331640" y="4149078"/>
              <a:ext cx="2880320" cy="1756572"/>
              <a:chOff x="1214438" y="2348881"/>
              <a:chExt cx="6165874" cy="2927621"/>
            </a:xfrm>
          </p:grpSpPr>
          <p:sp>
            <p:nvSpPr>
              <p:cNvPr id="41" name="Oval 3"/>
              <p:cNvSpPr>
                <a:spLocks noChangeArrowheads="1"/>
              </p:cNvSpPr>
              <p:nvPr/>
            </p:nvSpPr>
            <p:spPr bwMode="auto">
              <a:xfrm>
                <a:off x="3526641" y="3405520"/>
                <a:ext cx="1507213" cy="834875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prstDash val="sys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sz="16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2" name="Oval 4"/>
              <p:cNvSpPr>
                <a:spLocks noChangeArrowheads="1"/>
              </p:cNvSpPr>
              <p:nvPr/>
            </p:nvSpPr>
            <p:spPr bwMode="auto">
              <a:xfrm>
                <a:off x="2444759" y="2742837"/>
                <a:ext cx="3699524" cy="2087189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prstDash val="sys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sz="16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3" name="Oval 5"/>
              <p:cNvSpPr>
                <a:spLocks noChangeArrowheads="1"/>
              </p:cNvSpPr>
              <p:nvPr/>
            </p:nvSpPr>
            <p:spPr bwMode="auto">
              <a:xfrm>
                <a:off x="1214438" y="2348881"/>
                <a:ext cx="6165874" cy="288032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prstDash val="sys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sz="16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5" name="Text Box 7"/>
              <p:cNvSpPr txBox="1">
                <a:spLocks noChangeArrowheads="1"/>
              </p:cNvSpPr>
              <p:nvPr/>
            </p:nvSpPr>
            <p:spPr bwMode="auto">
              <a:xfrm>
                <a:off x="2971176" y="4126160"/>
                <a:ext cx="2657088" cy="6442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TW" sz="1400" b="1" dirty="0">
                    <a:solidFill>
                      <a:srgbClr val="FFFF00"/>
                    </a:solidFill>
                    <a:latin typeface="Times New Roman" pitchFamily="18" charset="0"/>
                    <a:ea typeface="PMingLiU" pitchFamily="18" charset="-120"/>
                    <a:cs typeface="Times New Roman" pitchFamily="18" charset="0"/>
                  </a:rPr>
                  <a:t>Industry A</a:t>
                </a:r>
              </a:p>
            </p:txBody>
          </p:sp>
          <p:sp>
            <p:nvSpPr>
              <p:cNvPr id="46" name="Text Box 12"/>
              <p:cNvSpPr txBox="1">
                <a:spLocks noChangeArrowheads="1"/>
              </p:cNvSpPr>
              <p:nvPr/>
            </p:nvSpPr>
            <p:spPr bwMode="auto">
              <a:xfrm>
                <a:off x="3189763" y="4874234"/>
                <a:ext cx="2172396" cy="4022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lnSpc>
                    <a:spcPts val="600"/>
                  </a:lnSpc>
                  <a:spcBef>
                    <a:spcPct val="50000"/>
                  </a:spcBef>
                </a:pPr>
                <a:r>
                  <a:rPr lang="en-US" altLang="zh-TW" sz="1400" dirty="0">
                    <a:ea typeface="PMingLiU" pitchFamily="18" charset="-120"/>
                    <a:cs typeface="Times New Roman" pitchFamily="18" charset="0"/>
                  </a:rPr>
                  <a:t>Country</a:t>
                </a:r>
              </a:p>
            </p:txBody>
          </p:sp>
        </p:grpSp>
        <p:grpSp>
          <p:nvGrpSpPr>
            <p:cNvPr id="27" name="Group 47"/>
            <p:cNvGrpSpPr/>
            <p:nvPr/>
          </p:nvGrpSpPr>
          <p:grpSpPr>
            <a:xfrm>
              <a:off x="4788024" y="4149079"/>
              <a:ext cx="2880320" cy="1756572"/>
              <a:chOff x="1214438" y="2348881"/>
              <a:chExt cx="6165874" cy="2927621"/>
            </a:xfrm>
          </p:grpSpPr>
          <p:sp>
            <p:nvSpPr>
              <p:cNvPr id="35" name="Oval 3"/>
              <p:cNvSpPr>
                <a:spLocks noChangeArrowheads="1"/>
              </p:cNvSpPr>
              <p:nvPr/>
            </p:nvSpPr>
            <p:spPr bwMode="auto">
              <a:xfrm>
                <a:off x="3526641" y="3405520"/>
                <a:ext cx="1507213" cy="834875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prstDash val="sys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sz="16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6" name="Oval 4"/>
              <p:cNvSpPr>
                <a:spLocks noChangeArrowheads="1"/>
              </p:cNvSpPr>
              <p:nvPr/>
            </p:nvSpPr>
            <p:spPr bwMode="auto">
              <a:xfrm>
                <a:off x="2444759" y="2742837"/>
                <a:ext cx="3699524" cy="2087189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prstDash val="sys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sz="16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7" name="Oval 5"/>
              <p:cNvSpPr>
                <a:spLocks noChangeArrowheads="1"/>
              </p:cNvSpPr>
              <p:nvPr/>
            </p:nvSpPr>
            <p:spPr bwMode="auto">
              <a:xfrm>
                <a:off x="1214438" y="2348881"/>
                <a:ext cx="6165874" cy="288032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prstDash val="sys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sz="16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9" name="Text Box 7"/>
              <p:cNvSpPr txBox="1">
                <a:spLocks noChangeArrowheads="1"/>
              </p:cNvSpPr>
              <p:nvPr/>
            </p:nvSpPr>
            <p:spPr bwMode="auto">
              <a:xfrm>
                <a:off x="2971176" y="4108645"/>
                <a:ext cx="2657088" cy="6442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TW" sz="1400" b="1" dirty="0">
                    <a:solidFill>
                      <a:srgbClr val="FFFF00"/>
                    </a:solidFill>
                    <a:latin typeface="Times New Roman" pitchFamily="18" charset="0"/>
                    <a:ea typeface="PMingLiU" pitchFamily="18" charset="-120"/>
                    <a:cs typeface="Times New Roman" pitchFamily="18" charset="0"/>
                  </a:rPr>
                  <a:t>Industry A</a:t>
                </a:r>
              </a:p>
            </p:txBody>
          </p:sp>
          <p:sp>
            <p:nvSpPr>
              <p:cNvPr id="40" name="Text Box 12"/>
              <p:cNvSpPr txBox="1">
                <a:spLocks noChangeArrowheads="1"/>
              </p:cNvSpPr>
              <p:nvPr/>
            </p:nvSpPr>
            <p:spPr bwMode="auto">
              <a:xfrm>
                <a:off x="3189763" y="4874234"/>
                <a:ext cx="2172396" cy="4022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lnSpc>
                    <a:spcPts val="600"/>
                  </a:lnSpc>
                  <a:spcBef>
                    <a:spcPct val="50000"/>
                  </a:spcBef>
                </a:pPr>
                <a:r>
                  <a:rPr lang="en-US" altLang="zh-TW" sz="1400" dirty="0">
                    <a:ea typeface="PMingLiU" pitchFamily="18" charset="-120"/>
                    <a:cs typeface="Times New Roman" pitchFamily="18" charset="0"/>
                  </a:rPr>
                  <a:t>Country</a:t>
                </a:r>
              </a:p>
            </p:txBody>
          </p:sp>
        </p:grpSp>
        <p:grpSp>
          <p:nvGrpSpPr>
            <p:cNvPr id="28" name="Group 54"/>
            <p:cNvGrpSpPr/>
            <p:nvPr/>
          </p:nvGrpSpPr>
          <p:grpSpPr>
            <a:xfrm>
              <a:off x="4788024" y="2132854"/>
              <a:ext cx="2880320" cy="1728191"/>
              <a:chOff x="1214438" y="2348881"/>
              <a:chExt cx="6165874" cy="2880320"/>
            </a:xfrm>
          </p:grpSpPr>
          <p:sp>
            <p:nvSpPr>
              <p:cNvPr id="29" name="Oval 3"/>
              <p:cNvSpPr>
                <a:spLocks noChangeArrowheads="1"/>
              </p:cNvSpPr>
              <p:nvPr/>
            </p:nvSpPr>
            <p:spPr bwMode="auto">
              <a:xfrm>
                <a:off x="3526641" y="3405520"/>
                <a:ext cx="1507213" cy="834875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prstDash val="sys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sz="16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0" name="Oval 4"/>
              <p:cNvSpPr>
                <a:spLocks noChangeArrowheads="1"/>
              </p:cNvSpPr>
              <p:nvPr/>
            </p:nvSpPr>
            <p:spPr bwMode="auto">
              <a:xfrm>
                <a:off x="2444759" y="2742837"/>
                <a:ext cx="3699524" cy="2087189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prstDash val="sys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sz="16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1" name="Oval 5"/>
              <p:cNvSpPr>
                <a:spLocks noChangeArrowheads="1"/>
              </p:cNvSpPr>
              <p:nvPr/>
            </p:nvSpPr>
            <p:spPr bwMode="auto">
              <a:xfrm>
                <a:off x="1214438" y="2348881"/>
                <a:ext cx="6165874" cy="288032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prstDash val="sys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sz="16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3" name="Text Box 7"/>
              <p:cNvSpPr txBox="1">
                <a:spLocks noChangeArrowheads="1"/>
              </p:cNvSpPr>
              <p:nvPr/>
            </p:nvSpPr>
            <p:spPr bwMode="auto">
              <a:xfrm>
                <a:off x="2971176" y="2780700"/>
                <a:ext cx="2657088" cy="6442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TW" sz="1400" b="1" dirty="0">
                    <a:solidFill>
                      <a:srgbClr val="FFFF00"/>
                    </a:solidFill>
                    <a:latin typeface="Times New Roman" pitchFamily="18" charset="0"/>
                    <a:ea typeface="PMingLiU" pitchFamily="18" charset="-120"/>
                    <a:cs typeface="Times New Roman" pitchFamily="18" charset="0"/>
                  </a:rPr>
                  <a:t>Industry A</a:t>
                </a:r>
              </a:p>
            </p:txBody>
          </p:sp>
          <p:sp>
            <p:nvSpPr>
              <p:cNvPr id="34" name="Text Box 12"/>
              <p:cNvSpPr txBox="1">
                <a:spLocks noChangeArrowheads="1"/>
              </p:cNvSpPr>
              <p:nvPr/>
            </p:nvSpPr>
            <p:spPr bwMode="auto">
              <a:xfrm>
                <a:off x="3189763" y="2402045"/>
                <a:ext cx="2172396" cy="4022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lnSpc>
                    <a:spcPts val="600"/>
                  </a:lnSpc>
                  <a:spcBef>
                    <a:spcPct val="50000"/>
                  </a:spcBef>
                </a:pPr>
                <a:r>
                  <a:rPr lang="en-US" altLang="zh-TW" sz="1400" dirty="0">
                    <a:ea typeface="PMingLiU" pitchFamily="18" charset="-120"/>
                    <a:cs typeface="Times New Roman" pitchFamily="18" charset="0"/>
                  </a:rPr>
                  <a:t>Country</a:t>
                </a:r>
              </a:p>
            </p:txBody>
          </p:sp>
        </p:grpSp>
      </p:grpSp>
      <p:sp>
        <p:nvSpPr>
          <p:cNvPr id="53" name="Text Box 6"/>
          <p:cNvSpPr txBox="1">
            <a:spLocks noChangeArrowheads="1"/>
          </p:cNvSpPr>
          <p:nvPr/>
        </p:nvSpPr>
        <p:spPr bwMode="auto">
          <a:xfrm>
            <a:off x="5546204" y="5207992"/>
            <a:ext cx="64807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14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Firm</a:t>
            </a:r>
          </a:p>
        </p:txBody>
      </p:sp>
      <p:sp>
        <p:nvSpPr>
          <p:cNvPr id="54" name="Text Box 6"/>
          <p:cNvSpPr txBox="1">
            <a:spLocks noChangeArrowheads="1"/>
          </p:cNvSpPr>
          <p:nvPr/>
        </p:nvSpPr>
        <p:spPr bwMode="auto">
          <a:xfrm>
            <a:off x="5551084" y="3602044"/>
            <a:ext cx="64807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14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Firm</a:t>
            </a:r>
          </a:p>
        </p:txBody>
      </p:sp>
      <p:sp>
        <p:nvSpPr>
          <p:cNvPr id="55" name="Text Box 6"/>
          <p:cNvSpPr txBox="1">
            <a:spLocks noChangeArrowheads="1"/>
          </p:cNvSpPr>
          <p:nvPr/>
        </p:nvSpPr>
        <p:spPr bwMode="auto">
          <a:xfrm>
            <a:off x="2743334" y="5200172"/>
            <a:ext cx="64807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14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Firm</a:t>
            </a:r>
          </a:p>
        </p:txBody>
      </p:sp>
      <p:sp>
        <p:nvSpPr>
          <p:cNvPr id="56" name="Left-Right Arrow 55"/>
          <p:cNvSpPr/>
          <p:nvPr/>
        </p:nvSpPr>
        <p:spPr bwMode="auto">
          <a:xfrm>
            <a:off x="3448338" y="3645024"/>
            <a:ext cx="1944216" cy="144016"/>
          </a:xfrm>
          <a:prstGeom prst="leftRightArrow">
            <a:avLst/>
          </a:prstGeom>
          <a:solidFill>
            <a:schemeClr val="bg2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</a:endParaRPr>
          </a:p>
        </p:txBody>
      </p:sp>
      <p:sp>
        <p:nvSpPr>
          <p:cNvPr id="57" name="Left-Right Arrow 56"/>
          <p:cNvSpPr/>
          <p:nvPr/>
        </p:nvSpPr>
        <p:spPr bwMode="auto">
          <a:xfrm rot="1723441">
            <a:off x="3159846" y="4457438"/>
            <a:ext cx="2545867" cy="170491"/>
          </a:xfrm>
          <a:prstGeom prst="leftRightArrow">
            <a:avLst/>
          </a:prstGeom>
          <a:solidFill>
            <a:schemeClr val="bg2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</a:endParaRPr>
          </a:p>
        </p:txBody>
      </p:sp>
      <p:sp>
        <p:nvSpPr>
          <p:cNvPr id="59" name="Left-Right Arrow 58"/>
          <p:cNvSpPr/>
          <p:nvPr/>
        </p:nvSpPr>
        <p:spPr bwMode="auto">
          <a:xfrm rot="19895615">
            <a:off x="3174323" y="4459838"/>
            <a:ext cx="2490714" cy="142518"/>
          </a:xfrm>
          <a:prstGeom prst="leftRightArrow">
            <a:avLst/>
          </a:prstGeom>
          <a:solidFill>
            <a:schemeClr val="bg2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</a:endParaRPr>
          </a:p>
        </p:txBody>
      </p:sp>
      <p:sp>
        <p:nvSpPr>
          <p:cNvPr id="60" name="Left-Right Arrow 59"/>
          <p:cNvSpPr/>
          <p:nvPr/>
        </p:nvSpPr>
        <p:spPr bwMode="auto">
          <a:xfrm rot="5400000">
            <a:off x="2483768" y="4408084"/>
            <a:ext cx="1080120" cy="216024"/>
          </a:xfrm>
          <a:prstGeom prst="leftRightArrow">
            <a:avLst/>
          </a:prstGeom>
          <a:solidFill>
            <a:schemeClr val="bg2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</a:endParaRPr>
          </a:p>
        </p:txBody>
      </p:sp>
      <p:sp>
        <p:nvSpPr>
          <p:cNvPr id="61" name="Left-Right Arrow 60"/>
          <p:cNvSpPr/>
          <p:nvPr/>
        </p:nvSpPr>
        <p:spPr bwMode="auto">
          <a:xfrm>
            <a:off x="3477928" y="5301208"/>
            <a:ext cx="1944216" cy="173044"/>
          </a:xfrm>
          <a:prstGeom prst="leftRightArrow">
            <a:avLst/>
          </a:prstGeom>
          <a:solidFill>
            <a:schemeClr val="bg2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</a:endParaRPr>
          </a:p>
        </p:txBody>
      </p:sp>
      <p:sp>
        <p:nvSpPr>
          <p:cNvPr id="62" name="Left-Right Arrow 61"/>
          <p:cNvSpPr/>
          <p:nvPr/>
        </p:nvSpPr>
        <p:spPr bwMode="auto">
          <a:xfrm rot="5400000">
            <a:off x="5392835" y="4451345"/>
            <a:ext cx="1022626" cy="216024"/>
          </a:xfrm>
          <a:prstGeom prst="leftRightArrow">
            <a:avLst/>
          </a:prstGeom>
          <a:solidFill>
            <a:schemeClr val="bg2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5800" y="1268760"/>
            <a:ext cx="7772400" cy="4968552"/>
          </a:xfrm>
        </p:spPr>
        <p:txBody>
          <a:bodyPr/>
          <a:lstStyle/>
          <a:p>
            <a:pPr marL="609600" indent="-609600"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2400" b="0" dirty="0">
                <a:latin typeface="Times New Roman" pitchFamily="18" charset="0"/>
                <a:ea typeface="굴림" charset="-127"/>
                <a:cs typeface="Times New Roman" pitchFamily="18" charset="0"/>
              </a:rPr>
              <a:t>Major environmental forces that push an industry to be more global</a:t>
            </a:r>
          </a:p>
          <a:p>
            <a:pPr marL="609600" indent="-609600"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2400" b="0" dirty="0">
                <a:latin typeface="Times New Roman" pitchFamily="18" charset="0"/>
                <a:ea typeface="굴림" charset="-127"/>
                <a:cs typeface="Times New Roman" pitchFamily="18" charset="0"/>
              </a:rPr>
              <a:t>Major environmental pressures that either force or enable firms to move products, services, capital, labor, and information/knowledge across borders</a:t>
            </a:r>
          </a:p>
          <a:p>
            <a:pPr marL="609600" indent="-609600"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2400" b="0" dirty="0">
                <a:latin typeface="Times New Roman" pitchFamily="18" charset="0"/>
                <a:ea typeface="굴림" charset="-127"/>
                <a:cs typeface="Times New Roman" pitchFamily="18" charset="0"/>
              </a:rPr>
              <a:t>Two Different Perspectives of Industry Globalization</a:t>
            </a:r>
          </a:p>
          <a:p>
            <a:pPr marL="609600" indent="-609600" eaLnBrk="1" hangingPunct="1">
              <a:lnSpc>
                <a:spcPct val="150000"/>
              </a:lnSpc>
              <a:buFontTx/>
              <a:buNone/>
            </a:pPr>
            <a:r>
              <a:rPr lang="ko-KR" altLang="en-US" sz="2400" b="0" dirty="0">
                <a:latin typeface="Times New Roman" pitchFamily="18" charset="0"/>
                <a:ea typeface="굴림" charset="-127"/>
                <a:cs typeface="Times New Roman" pitchFamily="18" charset="0"/>
              </a:rPr>
              <a:t>	</a:t>
            </a:r>
            <a:r>
              <a:rPr lang="en-US" altLang="ko-KR" sz="2400" b="0" dirty="0">
                <a:latin typeface="Times New Roman" pitchFamily="18" charset="0"/>
                <a:ea typeface="굴림" charset="-127"/>
                <a:cs typeface="Times New Roman" pitchFamily="18" charset="0"/>
              </a:rPr>
              <a:t>1. Linear Perspective (Yip)</a:t>
            </a:r>
          </a:p>
          <a:p>
            <a:pPr marL="609600" indent="-609600" eaLnBrk="1" hangingPunct="1">
              <a:lnSpc>
                <a:spcPct val="150000"/>
              </a:lnSpc>
              <a:buFontTx/>
              <a:buNone/>
            </a:pPr>
            <a:r>
              <a:rPr lang="en-US" altLang="ko-KR" sz="2400" b="0" dirty="0">
                <a:latin typeface="Times New Roman" pitchFamily="18" charset="0"/>
                <a:ea typeface="굴림" charset="-127"/>
                <a:cs typeface="Times New Roman" pitchFamily="18" charset="0"/>
              </a:rPr>
              <a:t>	2. Categorical Perspective (B&amp;G, Porter, P&amp;D)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24744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ko-KR" sz="3200" b="1" kern="1200" dirty="0">
                <a:solidFill>
                  <a:srgbClr val="FFC000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DRIVING FORCES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907704" y="3501008"/>
            <a:ext cx="5184576" cy="2664296"/>
          </a:xfrm>
        </p:spPr>
        <p:txBody>
          <a:bodyPr/>
          <a:lstStyle/>
          <a:p>
            <a:pPr marL="609600" indent="-609600" algn="ctr" eaLnBrk="1" hangingPunct="1">
              <a:buFontTx/>
              <a:buNone/>
            </a:pPr>
            <a:endParaRPr lang="en-US" altLang="ko-KR" sz="1000" b="0" dirty="0">
              <a:latin typeface="Times New Roman" pitchFamily="18" charset="0"/>
              <a:ea typeface="굴림" charset="-127"/>
              <a:cs typeface="Times New Roman" pitchFamily="18" charset="0"/>
            </a:endParaRPr>
          </a:p>
          <a:p>
            <a:pPr marL="609600" indent="-609600" eaLnBrk="1" hangingPunct="1">
              <a:lnSpc>
                <a:spcPct val="130000"/>
              </a:lnSpc>
            </a:pPr>
            <a:r>
              <a:rPr lang="en-US" altLang="ko-KR" sz="2400" b="0" dirty="0">
                <a:latin typeface="Times New Roman" pitchFamily="18" charset="0"/>
                <a:ea typeface="굴림" charset="-127"/>
                <a:cs typeface="Times New Roman" pitchFamily="18" charset="0"/>
              </a:rPr>
              <a:t>Market globalization drivers</a:t>
            </a:r>
          </a:p>
          <a:p>
            <a:pPr marL="609600" indent="-609600" eaLnBrk="1" hangingPunct="1">
              <a:lnSpc>
                <a:spcPct val="130000"/>
              </a:lnSpc>
            </a:pPr>
            <a:r>
              <a:rPr lang="en-US" altLang="ko-KR" sz="2400" b="0" dirty="0">
                <a:latin typeface="Times New Roman" pitchFamily="18" charset="0"/>
                <a:ea typeface="굴림" charset="-127"/>
                <a:cs typeface="Times New Roman" pitchFamily="18" charset="0"/>
              </a:rPr>
              <a:t>Cost globalization drivers</a:t>
            </a:r>
          </a:p>
          <a:p>
            <a:pPr marL="609600" indent="-609600" eaLnBrk="1" hangingPunct="1">
              <a:lnSpc>
                <a:spcPct val="130000"/>
              </a:lnSpc>
            </a:pPr>
            <a:r>
              <a:rPr lang="en-US" altLang="ko-KR" sz="2400" b="0" dirty="0">
                <a:latin typeface="Times New Roman" pitchFamily="18" charset="0"/>
                <a:ea typeface="굴림" charset="-127"/>
                <a:cs typeface="Times New Roman" pitchFamily="18" charset="0"/>
              </a:rPr>
              <a:t>Government globalization drivers</a:t>
            </a:r>
          </a:p>
          <a:p>
            <a:pPr marL="609600" indent="-609600" eaLnBrk="1" hangingPunct="1">
              <a:lnSpc>
                <a:spcPct val="130000"/>
              </a:lnSpc>
            </a:pPr>
            <a:r>
              <a:rPr lang="en-US" altLang="ko-KR" sz="2400" b="0" dirty="0">
                <a:latin typeface="Times New Roman" pitchFamily="18" charset="0"/>
                <a:ea typeface="굴림" charset="-127"/>
                <a:cs typeface="Times New Roman" pitchFamily="18" charset="0"/>
              </a:rPr>
              <a:t>Competitive globalization drivers	</a:t>
            </a:r>
            <a:endParaRPr lang="ko-KR" altLang="en-US" sz="2400" b="0" dirty="0">
              <a:latin typeface="Times New Roman" pitchFamily="18" charset="0"/>
              <a:ea typeface="굴림" charset="-127"/>
              <a:cs typeface="Times New Roman" pitchFamily="18" charset="0"/>
            </a:endParaRP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24744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ko-KR" sz="3200" b="1" kern="1200" dirty="0">
                <a:solidFill>
                  <a:srgbClr val="FFC000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LINEAR PERSPECTIVE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638644" y="1603648"/>
            <a:ext cx="5714969" cy="1681336"/>
            <a:chOff x="1275319" y="2852936"/>
            <a:chExt cx="6068972" cy="1681336"/>
          </a:xfrm>
        </p:grpSpPr>
        <p:sp>
          <p:nvSpPr>
            <p:cNvPr id="5" name="Text Box 15"/>
            <p:cNvSpPr txBox="1">
              <a:spLocks noChangeArrowheads="1"/>
            </p:cNvSpPr>
            <p:nvPr/>
          </p:nvSpPr>
          <p:spPr bwMode="auto">
            <a:xfrm>
              <a:off x="1275319" y="4071938"/>
              <a:ext cx="744537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ko-KR" sz="2400" b="0" u="none" dirty="0">
                  <a:ea typeface="굴림" charset="-127"/>
                </a:rPr>
                <a:t>Low</a:t>
              </a:r>
            </a:p>
          </p:txBody>
        </p:sp>
        <p:sp>
          <p:nvSpPr>
            <p:cNvPr id="6" name="Text Box 16"/>
            <p:cNvSpPr txBox="1">
              <a:spLocks noChangeArrowheads="1"/>
            </p:cNvSpPr>
            <p:nvPr/>
          </p:nvSpPr>
          <p:spPr bwMode="auto">
            <a:xfrm>
              <a:off x="6531491" y="4051920"/>
              <a:ext cx="8128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ko-KR" sz="2400" b="0" u="none" dirty="0">
                  <a:ea typeface="굴림" charset="-127"/>
                </a:rPr>
                <a:t>High</a:t>
              </a:r>
            </a:p>
          </p:txBody>
        </p:sp>
        <p:sp>
          <p:nvSpPr>
            <p:cNvPr id="7" name="Text Box 17"/>
            <p:cNvSpPr txBox="1">
              <a:spLocks noChangeArrowheads="1"/>
            </p:cNvSpPr>
            <p:nvPr/>
          </p:nvSpPr>
          <p:spPr bwMode="auto">
            <a:xfrm>
              <a:off x="3647986" y="4077072"/>
              <a:ext cx="1354137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ko-KR" altLang="en-US" sz="2400" b="0" u="none" dirty="0">
                  <a:ea typeface="굴림" charset="-127"/>
                </a:rPr>
                <a:t> </a:t>
              </a:r>
              <a:r>
                <a:rPr lang="en-US" altLang="ko-KR" sz="2400" b="0" u="none" dirty="0">
                  <a:ea typeface="굴림" charset="-127"/>
                </a:rPr>
                <a:t>Medium</a:t>
              </a:r>
            </a:p>
          </p:txBody>
        </p:sp>
        <p:sp>
          <p:nvSpPr>
            <p:cNvPr id="8" name="Text Box 18"/>
            <p:cNvSpPr txBox="1">
              <a:spLocks noChangeArrowheads="1"/>
            </p:cNvSpPr>
            <p:nvPr/>
          </p:nvSpPr>
          <p:spPr bwMode="auto">
            <a:xfrm>
              <a:off x="2072204" y="2852936"/>
              <a:ext cx="4459287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ko-KR" sz="2400" b="0" u="none" dirty="0">
                  <a:ea typeface="굴림" charset="-127"/>
                </a:rPr>
                <a:t>Degree of industry globalization</a:t>
              </a:r>
            </a:p>
          </p:txBody>
        </p:sp>
        <p:graphicFrame>
          <p:nvGraphicFramePr>
            <p:cNvPr id="9" name="Object 19"/>
            <p:cNvGraphicFramePr>
              <a:graphicFrameLocks noChangeAspect="1"/>
            </p:cNvGraphicFramePr>
            <p:nvPr/>
          </p:nvGraphicFramePr>
          <p:xfrm>
            <a:off x="1331640" y="3462338"/>
            <a:ext cx="5983561" cy="3127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2" imgW="5714286" imgH="95390" progId="">
                    <p:embed/>
                  </p:oleObj>
                </mc:Choice>
                <mc:Fallback>
                  <p:oleObj name="Clip" r:id="rId2" imgW="5714286" imgH="95390" progId="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1640" y="3462338"/>
                          <a:ext cx="5983561" cy="3127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24744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ko-KR" sz="3200" b="1" kern="1200" dirty="0">
                <a:solidFill>
                  <a:srgbClr val="FFC000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Market Globalization Drivers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683568" y="1196752"/>
            <a:ext cx="7772400" cy="2448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v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itchFamily="18" charset="0"/>
              </a:rPr>
              <a:t>Common customer needs</a:t>
            </a:r>
          </a:p>
          <a:p>
            <a:pPr marL="342900" marR="0" lvl="0" indent="-3429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v"/>
              <a:tabLst/>
              <a:defRPr/>
            </a:pPr>
            <a:r>
              <a:rPr lang="en-US" b="0" kern="0" dirty="0">
                <a:cs typeface="Times New Roman" pitchFamily="18" charset="0"/>
              </a:rPr>
              <a:t>Sophisticated customers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Times New Roman" pitchFamily="18" charset="0"/>
            </a:endParaRPr>
          </a:p>
          <a:p>
            <a:pPr marL="342900" marR="0" lvl="0" indent="-3429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v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itchFamily="18" charset="0"/>
              </a:rPr>
              <a:t>Global customers &amp;</a:t>
            </a:r>
            <a:r>
              <a:rPr kumimoji="0" lang="en-US" b="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itchFamily="18" charset="0"/>
              </a:rPr>
              <a:t> Global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itchFamily="18" charset="0"/>
              </a:rPr>
              <a:t>channels</a:t>
            </a:r>
          </a:p>
          <a:p>
            <a:pPr marL="342900" marR="0" lvl="0" indent="-3429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v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itchFamily="18" charset="0"/>
              </a:rPr>
              <a:t>Transferable marketing</a:t>
            </a:r>
          </a:p>
          <a:p>
            <a:pPr marL="342900" marR="0" lvl="0" indent="-3429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v"/>
              <a:tabLst/>
              <a:defRPr/>
            </a:pPr>
            <a:r>
              <a:rPr kumimoji="0" lang="en-US" b="0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itchFamily="18" charset="0"/>
              </a:rPr>
              <a:t>Measures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itchFamily="18" charset="0"/>
              </a:rPr>
              <a:t>: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Times New Roman" pitchFamily="18" charset="0"/>
              </a:rPr>
              <a:t>% of WW sales attributed to standardized products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746417" y="3789040"/>
            <a:ext cx="7569999" cy="2880320"/>
            <a:chOff x="746417" y="3789040"/>
            <a:chExt cx="7569999" cy="2880320"/>
          </a:xfrm>
        </p:grpSpPr>
        <p:sp>
          <p:nvSpPr>
            <p:cNvPr id="7" name="Rectangle 3"/>
            <p:cNvSpPr>
              <a:spLocks noChangeArrowheads="1"/>
            </p:cNvSpPr>
            <p:nvPr/>
          </p:nvSpPr>
          <p:spPr bwMode="auto">
            <a:xfrm>
              <a:off x="746417" y="6237312"/>
              <a:ext cx="657231" cy="400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2000" b="0" dirty="0">
                  <a:solidFill>
                    <a:schemeClr val="accent1">
                      <a:lumMod val="75000"/>
                    </a:schemeClr>
                  </a:solidFill>
                </a:rPr>
                <a:t>Low</a:t>
              </a:r>
            </a:p>
          </p:txBody>
        </p:sp>
        <p:sp>
          <p:nvSpPr>
            <p:cNvPr id="8" name="Rectangle 4"/>
            <p:cNvSpPr>
              <a:spLocks noChangeArrowheads="1"/>
            </p:cNvSpPr>
            <p:nvPr/>
          </p:nvSpPr>
          <p:spPr bwMode="auto">
            <a:xfrm>
              <a:off x="7617507" y="6268608"/>
              <a:ext cx="698909" cy="400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2000" b="0" dirty="0">
                  <a:solidFill>
                    <a:schemeClr val="accent1">
                      <a:lumMod val="75000"/>
                    </a:schemeClr>
                  </a:solidFill>
                </a:rPr>
                <a:t>High</a:t>
              </a:r>
            </a:p>
          </p:txBody>
        </p:sp>
        <p:sp>
          <p:nvSpPr>
            <p:cNvPr id="9" name="Line 5"/>
            <p:cNvSpPr>
              <a:spLocks noChangeShapeType="1"/>
            </p:cNvSpPr>
            <p:nvPr/>
          </p:nvSpPr>
          <p:spPr bwMode="auto">
            <a:xfrm>
              <a:off x="1475656" y="6453336"/>
              <a:ext cx="6096000" cy="0"/>
            </a:xfrm>
            <a:prstGeom prst="line">
              <a:avLst/>
            </a:prstGeom>
            <a:noFill/>
            <a:ln w="38100">
              <a:solidFill>
                <a:schemeClr val="accent1">
                  <a:lumMod val="75000"/>
                </a:schemeClr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en-US" sz="2000" b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755576" y="5836560"/>
              <a:ext cx="1901161" cy="400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2000" b="0" dirty="0"/>
                <a:t>Book Publishing</a:t>
              </a:r>
            </a:p>
          </p:txBody>
        </p:sp>
        <p:sp>
          <p:nvSpPr>
            <p:cNvPr id="12" name="Rectangle 8"/>
            <p:cNvSpPr>
              <a:spLocks noChangeArrowheads="1"/>
            </p:cNvSpPr>
            <p:nvPr/>
          </p:nvSpPr>
          <p:spPr bwMode="auto">
            <a:xfrm>
              <a:off x="1561216" y="5520062"/>
              <a:ext cx="2383666" cy="400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2000" b="0" dirty="0"/>
                <a:t>Commercial Banking</a:t>
              </a:r>
            </a:p>
          </p:txBody>
        </p:sp>
        <p:sp>
          <p:nvSpPr>
            <p:cNvPr id="13" name="Rectangle 9"/>
            <p:cNvSpPr>
              <a:spLocks noChangeArrowheads="1"/>
            </p:cNvSpPr>
            <p:nvPr/>
          </p:nvSpPr>
          <p:spPr bwMode="auto">
            <a:xfrm>
              <a:off x="2699792" y="5229200"/>
              <a:ext cx="1306191" cy="400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2000" b="0" dirty="0"/>
                <a:t>Toothpaste</a:t>
              </a:r>
            </a:p>
          </p:txBody>
        </p:sp>
        <p:sp>
          <p:nvSpPr>
            <p:cNvPr id="14" name="Rectangle 10"/>
            <p:cNvSpPr>
              <a:spLocks noChangeArrowheads="1"/>
            </p:cNvSpPr>
            <p:nvPr/>
          </p:nvSpPr>
          <p:spPr bwMode="auto">
            <a:xfrm>
              <a:off x="4206338" y="4653136"/>
              <a:ext cx="1373774" cy="400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2000" b="0" dirty="0"/>
                <a:t>Soft Drinks</a:t>
              </a:r>
            </a:p>
          </p:txBody>
        </p:sp>
        <p:sp>
          <p:nvSpPr>
            <p:cNvPr id="15" name="Rectangle 11"/>
            <p:cNvSpPr>
              <a:spLocks noChangeArrowheads="1"/>
            </p:cNvSpPr>
            <p:nvPr/>
          </p:nvSpPr>
          <p:spPr bwMode="auto">
            <a:xfrm>
              <a:off x="4983411" y="4324392"/>
              <a:ext cx="1508426" cy="400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2000" b="0" dirty="0"/>
                <a:t>Automobiles</a:t>
              </a:r>
            </a:p>
          </p:txBody>
        </p:sp>
        <p:sp>
          <p:nvSpPr>
            <p:cNvPr id="16" name="Rectangle 12"/>
            <p:cNvSpPr>
              <a:spLocks noChangeArrowheads="1"/>
            </p:cNvSpPr>
            <p:nvPr/>
          </p:nvSpPr>
          <p:spPr bwMode="auto">
            <a:xfrm>
              <a:off x="6050211" y="4036360"/>
              <a:ext cx="1309654" cy="400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2000" b="0" dirty="0"/>
                <a:t>Computers</a:t>
              </a:r>
            </a:p>
          </p:txBody>
        </p:sp>
        <p:sp>
          <p:nvSpPr>
            <p:cNvPr id="17" name="Rectangle 13"/>
            <p:cNvSpPr>
              <a:spLocks noChangeArrowheads="1"/>
            </p:cNvSpPr>
            <p:nvPr/>
          </p:nvSpPr>
          <p:spPr bwMode="auto">
            <a:xfrm>
              <a:off x="7193211" y="3789040"/>
              <a:ext cx="995465" cy="400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2000" b="0" dirty="0"/>
                <a:t>Aircraft</a:t>
              </a:r>
            </a:p>
          </p:txBody>
        </p:sp>
      </p:grpSp>
      <p:sp>
        <p:nvSpPr>
          <p:cNvPr id="23" name="Rectangle 13"/>
          <p:cNvSpPr>
            <a:spLocks noChangeArrowheads="1"/>
          </p:cNvSpPr>
          <p:nvPr/>
        </p:nvSpPr>
        <p:spPr bwMode="auto">
          <a:xfrm>
            <a:off x="3563888" y="4941168"/>
            <a:ext cx="1862689" cy="400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sz="2000" b="0" dirty="0"/>
              <a:t>Pharmaceuticals</a:t>
            </a:r>
          </a:p>
        </p:txBody>
      </p:sp>
    </p:spTree>
    <p:extLst>
      <p:ext uri="{BB962C8B-B14F-4D97-AF65-F5344CB8AC3E}">
        <p14:creationId xmlns:p14="http://schemas.microsoft.com/office/powerpoint/2010/main" val="28250531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24744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ko-KR" sz="3200" b="1" kern="1200" dirty="0">
                <a:solidFill>
                  <a:srgbClr val="FFC000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Cost Globalization Drivers</a:t>
            </a:r>
          </a:p>
        </p:txBody>
      </p:sp>
      <p:sp>
        <p:nvSpPr>
          <p:cNvPr id="19" name="Rectangle 3"/>
          <p:cNvSpPr txBox="1">
            <a:spLocks noChangeArrowheads="1"/>
          </p:cNvSpPr>
          <p:nvPr/>
        </p:nvSpPr>
        <p:spPr bwMode="auto">
          <a:xfrm>
            <a:off x="683568" y="1124744"/>
            <a:ext cx="8060432" cy="280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v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itchFamily="18" charset="0"/>
              </a:rPr>
              <a:t>Global scale &amp; scope economies; Learning/experience</a:t>
            </a:r>
            <a:r>
              <a:rPr kumimoji="0" lang="en-US" b="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itchFamily="18" charset="0"/>
              </a:rPr>
              <a:t> effect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Times New Roman" pitchFamily="18" charset="0"/>
            </a:endParaRPr>
          </a:p>
          <a:p>
            <a:pPr marL="342900" marR="0" lvl="0" indent="-3429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v"/>
              <a:tabLst/>
              <a:defRPr/>
            </a:pPr>
            <a:r>
              <a:rPr lang="en-US" b="0" kern="0" dirty="0">
                <a:cs typeface="Times New Roman" pitchFamily="18" charset="0"/>
              </a:rPr>
              <a:t>Global s</a:t>
            </a:r>
            <a:r>
              <a:rPr kumimoji="0" lang="en-US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itchFamily="18" charset="0"/>
              </a:rPr>
              <a:t>ourcing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itchFamily="18" charset="0"/>
              </a:rPr>
              <a:t> efficiencies &amp;</a:t>
            </a:r>
            <a:r>
              <a:rPr kumimoji="0" lang="en-US" b="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itchFamily="18" charset="0"/>
              </a:rPr>
              <a:t> Favorable logistics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Times New Roman" pitchFamily="18" charset="0"/>
            </a:endParaRPr>
          </a:p>
          <a:p>
            <a:pPr marL="342900" marR="0" lvl="0" indent="-3429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v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itchFamily="18" charset="0"/>
              </a:rPr>
              <a:t>Differences in country (factor) costs</a:t>
            </a:r>
          </a:p>
          <a:p>
            <a:pPr marL="342900" marR="0" lvl="0" indent="-3429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v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itchFamily="18" charset="0"/>
              </a:rPr>
              <a:t>High product development costs</a:t>
            </a:r>
          </a:p>
          <a:p>
            <a:pPr marL="342900" marR="0" lvl="0" indent="-3429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v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itchFamily="18" charset="0"/>
              </a:rPr>
              <a:t>Rapidly changing technology</a:t>
            </a:r>
          </a:p>
          <a:p>
            <a:pPr marL="342900" marR="0" lvl="0" indent="-3429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v"/>
              <a:tabLst/>
              <a:defRPr/>
            </a:pPr>
            <a:r>
              <a:rPr kumimoji="0" lang="en-US" b="0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itchFamily="18" charset="0"/>
              </a:rPr>
              <a:t>Measures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itchFamily="18" charset="0"/>
              </a:rPr>
              <a:t>: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Times New Roman" pitchFamily="18" charset="0"/>
              </a:rPr>
              <a:t>% of WW market needed to achieve MES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654143" y="3964352"/>
            <a:ext cx="7796770" cy="2705008"/>
            <a:chOff x="654143" y="3964352"/>
            <a:chExt cx="7796770" cy="2705008"/>
          </a:xfrm>
        </p:grpSpPr>
        <p:sp>
          <p:nvSpPr>
            <p:cNvPr id="7" name="Rectangle 3"/>
            <p:cNvSpPr>
              <a:spLocks noChangeArrowheads="1"/>
            </p:cNvSpPr>
            <p:nvPr/>
          </p:nvSpPr>
          <p:spPr bwMode="auto">
            <a:xfrm>
              <a:off x="746417" y="6237312"/>
              <a:ext cx="657231" cy="400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2000" b="0" dirty="0">
                  <a:solidFill>
                    <a:schemeClr val="accent1">
                      <a:lumMod val="75000"/>
                    </a:schemeClr>
                  </a:solidFill>
                </a:rPr>
                <a:t>Low</a:t>
              </a:r>
            </a:p>
          </p:txBody>
        </p:sp>
        <p:sp>
          <p:nvSpPr>
            <p:cNvPr id="8" name="Rectangle 4"/>
            <p:cNvSpPr>
              <a:spLocks noChangeArrowheads="1"/>
            </p:cNvSpPr>
            <p:nvPr/>
          </p:nvSpPr>
          <p:spPr bwMode="auto">
            <a:xfrm>
              <a:off x="7617507" y="6268608"/>
              <a:ext cx="698909" cy="400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2000" b="0" dirty="0">
                  <a:solidFill>
                    <a:schemeClr val="accent1">
                      <a:lumMod val="75000"/>
                    </a:schemeClr>
                  </a:solidFill>
                </a:rPr>
                <a:t>High</a:t>
              </a:r>
            </a:p>
          </p:txBody>
        </p:sp>
        <p:sp>
          <p:nvSpPr>
            <p:cNvPr id="9" name="Line 5"/>
            <p:cNvSpPr>
              <a:spLocks noChangeShapeType="1"/>
            </p:cNvSpPr>
            <p:nvPr/>
          </p:nvSpPr>
          <p:spPr bwMode="auto">
            <a:xfrm>
              <a:off x="1475656" y="6453336"/>
              <a:ext cx="6096000" cy="0"/>
            </a:xfrm>
            <a:prstGeom prst="line">
              <a:avLst/>
            </a:prstGeom>
            <a:noFill/>
            <a:ln w="38100">
              <a:solidFill>
                <a:schemeClr val="accent1">
                  <a:lumMod val="75000"/>
                </a:schemeClr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en-US" sz="2000" b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grpSp>
          <p:nvGrpSpPr>
            <p:cNvPr id="20" name="Group 19"/>
            <p:cNvGrpSpPr/>
            <p:nvPr/>
          </p:nvGrpSpPr>
          <p:grpSpPr>
            <a:xfrm>
              <a:off x="654143" y="3964352"/>
              <a:ext cx="7796770" cy="2233663"/>
              <a:chOff x="609600" y="1517113"/>
              <a:chExt cx="7796770" cy="4558560"/>
            </a:xfrm>
          </p:grpSpPr>
          <p:sp>
            <p:nvSpPr>
              <p:cNvPr id="22" name="Rectangle 7"/>
              <p:cNvSpPr>
                <a:spLocks noChangeArrowheads="1"/>
              </p:cNvSpPr>
              <p:nvPr/>
            </p:nvSpPr>
            <p:spPr bwMode="auto">
              <a:xfrm>
                <a:off x="1207687" y="4750171"/>
                <a:ext cx="2383666" cy="8178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2000" b="0" dirty="0"/>
                  <a:t>Commercial Banking</a:t>
                </a:r>
              </a:p>
            </p:txBody>
          </p:sp>
          <p:sp>
            <p:nvSpPr>
              <p:cNvPr id="23" name="Rectangle 8"/>
              <p:cNvSpPr>
                <a:spLocks noChangeArrowheads="1"/>
              </p:cNvSpPr>
              <p:nvPr/>
            </p:nvSpPr>
            <p:spPr bwMode="auto">
              <a:xfrm>
                <a:off x="2357170" y="4245429"/>
                <a:ext cx="1306191" cy="8178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2000" b="0" dirty="0"/>
                  <a:t>Toothpaste</a:t>
                </a:r>
              </a:p>
            </p:txBody>
          </p:sp>
          <p:sp>
            <p:nvSpPr>
              <p:cNvPr id="24" name="Rectangle 9"/>
              <p:cNvSpPr>
                <a:spLocks noChangeArrowheads="1"/>
              </p:cNvSpPr>
              <p:nvPr/>
            </p:nvSpPr>
            <p:spPr bwMode="auto">
              <a:xfrm>
                <a:off x="609600" y="5257800"/>
                <a:ext cx="1373774" cy="8178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2000" b="0"/>
                  <a:t>Soft Drinks</a:t>
                </a:r>
              </a:p>
            </p:txBody>
          </p:sp>
          <p:sp>
            <p:nvSpPr>
              <p:cNvPr id="25" name="Rectangle 10"/>
              <p:cNvSpPr>
                <a:spLocks noChangeArrowheads="1"/>
              </p:cNvSpPr>
              <p:nvPr/>
            </p:nvSpPr>
            <p:spPr bwMode="auto">
              <a:xfrm>
                <a:off x="5251279" y="2628900"/>
                <a:ext cx="1508426" cy="8178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2000" b="0" dirty="0"/>
                  <a:t>Automobiles</a:t>
                </a:r>
              </a:p>
            </p:txBody>
          </p:sp>
          <p:sp>
            <p:nvSpPr>
              <p:cNvPr id="26" name="Rectangle 11"/>
              <p:cNvSpPr>
                <a:spLocks noChangeArrowheads="1"/>
              </p:cNvSpPr>
              <p:nvPr/>
            </p:nvSpPr>
            <p:spPr bwMode="auto">
              <a:xfrm>
                <a:off x="4513947" y="3069772"/>
                <a:ext cx="1309654" cy="8178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2000" b="0" dirty="0"/>
                  <a:t>Computers</a:t>
                </a:r>
              </a:p>
            </p:txBody>
          </p:sp>
          <p:sp>
            <p:nvSpPr>
              <p:cNvPr id="27" name="Rectangle 12"/>
              <p:cNvSpPr>
                <a:spLocks noChangeArrowheads="1"/>
              </p:cNvSpPr>
              <p:nvPr/>
            </p:nvSpPr>
            <p:spPr bwMode="auto">
              <a:xfrm>
                <a:off x="6111633" y="2104942"/>
                <a:ext cx="995465" cy="8178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2000" b="0" dirty="0"/>
                  <a:t>Aircraft</a:t>
                </a:r>
              </a:p>
            </p:txBody>
          </p:sp>
          <p:sp>
            <p:nvSpPr>
              <p:cNvPr id="28" name="Rectangle 13"/>
              <p:cNvSpPr>
                <a:spLocks noChangeArrowheads="1"/>
              </p:cNvSpPr>
              <p:nvPr/>
            </p:nvSpPr>
            <p:spPr bwMode="auto">
              <a:xfrm>
                <a:off x="6543681" y="1517113"/>
                <a:ext cx="1862689" cy="8178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2000" b="0" dirty="0"/>
                  <a:t>Pharmaceuticals</a:t>
                </a:r>
              </a:p>
            </p:txBody>
          </p:sp>
        </p:grpSp>
        <p:sp>
          <p:nvSpPr>
            <p:cNvPr id="29" name="Rectangle 10"/>
            <p:cNvSpPr>
              <a:spLocks noChangeArrowheads="1"/>
            </p:cNvSpPr>
            <p:nvPr/>
          </p:nvSpPr>
          <p:spPr bwMode="auto">
            <a:xfrm>
              <a:off x="3117313" y="5013176"/>
              <a:ext cx="1901161" cy="400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2000" b="0" dirty="0"/>
                <a:t>Book Publishing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379661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24744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ko-KR" sz="3200" b="1" kern="1200" dirty="0">
                <a:solidFill>
                  <a:srgbClr val="FFC000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Government Globalization Drivers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46417" y="6237312"/>
            <a:ext cx="657231" cy="400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sz="2000" b="0" dirty="0">
                <a:solidFill>
                  <a:schemeClr val="accent1">
                    <a:lumMod val="75000"/>
                  </a:schemeClr>
                </a:solidFill>
              </a:rPr>
              <a:t>Low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617507" y="6268608"/>
            <a:ext cx="698909" cy="400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sz="2000" b="0" dirty="0">
                <a:solidFill>
                  <a:schemeClr val="accent1">
                    <a:lumMod val="75000"/>
                  </a:schemeClr>
                </a:solidFill>
              </a:rPr>
              <a:t>High</a:t>
            </a:r>
          </a:p>
        </p:txBody>
      </p:sp>
      <p:sp>
        <p:nvSpPr>
          <p:cNvPr id="9" name="Line 5"/>
          <p:cNvSpPr>
            <a:spLocks noChangeShapeType="1"/>
          </p:cNvSpPr>
          <p:nvPr/>
        </p:nvSpPr>
        <p:spPr bwMode="auto">
          <a:xfrm>
            <a:off x="1475656" y="6453336"/>
            <a:ext cx="6096000" cy="0"/>
          </a:xfrm>
          <a:prstGeom prst="line">
            <a:avLst/>
          </a:prstGeom>
          <a:noFill/>
          <a:ln w="38100">
            <a:solidFill>
              <a:schemeClr val="accent1">
                <a:lumMod val="75000"/>
              </a:schemeClr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 sz="2000" b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 bwMode="auto">
          <a:xfrm>
            <a:off x="755576" y="1124744"/>
            <a:ext cx="7772400" cy="2448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v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itchFamily="18" charset="0"/>
              </a:rPr>
              <a:t>Unrestrictive trade and investment policies</a:t>
            </a:r>
          </a:p>
          <a:p>
            <a:pPr marL="342900" marR="0" lvl="0" indent="-3429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v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itchFamily="18" charset="0"/>
              </a:rPr>
              <a:t>Compatible technical standards</a:t>
            </a:r>
          </a:p>
          <a:p>
            <a:pPr marL="342900" marR="0" lvl="0" indent="-3429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v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itchFamily="18" charset="0"/>
              </a:rPr>
              <a:t>Common marketing regulations</a:t>
            </a:r>
          </a:p>
          <a:p>
            <a:pPr marL="342900" marR="0" lvl="0" indent="-3429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v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itchFamily="18" charset="0"/>
              </a:rPr>
              <a:t>Host government’s concerns/demands</a:t>
            </a:r>
          </a:p>
          <a:p>
            <a:pPr marL="342900" marR="0" lvl="0" indent="-3429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v"/>
              <a:tabLst/>
              <a:defRPr/>
            </a:pPr>
            <a:r>
              <a:rPr kumimoji="0" lang="en-US" b="0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itchFamily="18" charset="0"/>
              </a:rPr>
              <a:t>Measures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itchFamily="18" charset="0"/>
              </a:rPr>
              <a:t>: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Times New Roman" pitchFamily="18" charset="0"/>
              </a:rPr>
              <a:t>% of countries that possess uniform or mutually recognized technical standards</a:t>
            </a:r>
          </a:p>
        </p:txBody>
      </p:sp>
      <p:sp>
        <p:nvSpPr>
          <p:cNvPr id="20" name="Rectangle 7"/>
          <p:cNvSpPr>
            <a:spLocks noChangeArrowheads="1"/>
          </p:cNvSpPr>
          <p:nvPr/>
        </p:nvSpPr>
        <p:spPr bwMode="auto">
          <a:xfrm>
            <a:off x="1845920" y="5531895"/>
            <a:ext cx="2383081" cy="417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sz="2000" b="0" dirty="0"/>
              <a:t>Commercial Banking</a:t>
            </a:r>
          </a:p>
        </p:txBody>
      </p:sp>
      <p:sp>
        <p:nvSpPr>
          <p:cNvPr id="21" name="Rectangle 8"/>
          <p:cNvSpPr>
            <a:spLocks noChangeArrowheads="1"/>
          </p:cNvSpPr>
          <p:nvPr/>
        </p:nvSpPr>
        <p:spPr bwMode="auto">
          <a:xfrm>
            <a:off x="6804745" y="3356992"/>
            <a:ext cx="1305871" cy="417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sz="2000" b="0"/>
              <a:t>Toothpaste</a:t>
            </a:r>
          </a:p>
        </p:txBody>
      </p:sp>
      <p:sp>
        <p:nvSpPr>
          <p:cNvPr id="30" name="Rectangle 9"/>
          <p:cNvSpPr>
            <a:spLocks noChangeArrowheads="1"/>
          </p:cNvSpPr>
          <p:nvPr/>
        </p:nvSpPr>
        <p:spPr bwMode="auto">
          <a:xfrm>
            <a:off x="6233247" y="3689573"/>
            <a:ext cx="1373437" cy="417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sz="2000" b="0" dirty="0"/>
              <a:t>Soft Drinks</a:t>
            </a:r>
          </a:p>
        </p:txBody>
      </p:sp>
      <p:sp>
        <p:nvSpPr>
          <p:cNvPr id="31" name="Rectangle 10"/>
          <p:cNvSpPr>
            <a:spLocks noChangeArrowheads="1"/>
          </p:cNvSpPr>
          <p:nvPr/>
        </p:nvSpPr>
        <p:spPr bwMode="auto">
          <a:xfrm>
            <a:off x="4298869" y="4631935"/>
            <a:ext cx="1508056" cy="417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sz="2000" b="0" dirty="0"/>
              <a:t>Automobiles</a:t>
            </a:r>
          </a:p>
        </p:txBody>
      </p:sp>
      <p:sp>
        <p:nvSpPr>
          <p:cNvPr id="32" name="Rectangle 11"/>
          <p:cNvSpPr>
            <a:spLocks noChangeArrowheads="1"/>
          </p:cNvSpPr>
          <p:nvPr/>
        </p:nvSpPr>
        <p:spPr bwMode="auto">
          <a:xfrm>
            <a:off x="4857544" y="4331949"/>
            <a:ext cx="1309333" cy="417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sz="2000" b="0" dirty="0"/>
              <a:t>Computers</a:t>
            </a:r>
          </a:p>
        </p:txBody>
      </p:sp>
      <p:sp>
        <p:nvSpPr>
          <p:cNvPr id="33" name="Rectangle 12"/>
          <p:cNvSpPr>
            <a:spLocks noChangeArrowheads="1"/>
          </p:cNvSpPr>
          <p:nvPr/>
        </p:nvSpPr>
        <p:spPr bwMode="auto">
          <a:xfrm>
            <a:off x="2928707" y="5189507"/>
            <a:ext cx="995221" cy="417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sz="2000" b="0" dirty="0"/>
              <a:t>Aircraft</a:t>
            </a:r>
          </a:p>
        </p:txBody>
      </p:sp>
      <p:sp>
        <p:nvSpPr>
          <p:cNvPr id="34" name="Rectangle 13"/>
          <p:cNvSpPr>
            <a:spLocks noChangeArrowheads="1"/>
          </p:cNvSpPr>
          <p:nvPr/>
        </p:nvSpPr>
        <p:spPr bwMode="auto">
          <a:xfrm>
            <a:off x="3563888" y="4931922"/>
            <a:ext cx="1862232" cy="417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sz="2000" b="0" dirty="0"/>
              <a:t>Pharmaceuticals</a:t>
            </a:r>
            <a:endParaRPr lang="en-US" sz="2000" b="0" u="sng" dirty="0">
              <a:solidFill>
                <a:srgbClr val="FFFF00"/>
              </a:solidFill>
            </a:endParaRPr>
          </a:p>
        </p:txBody>
      </p:sp>
      <p:sp>
        <p:nvSpPr>
          <p:cNvPr id="36" name="Rectangle 10"/>
          <p:cNvSpPr>
            <a:spLocks noChangeArrowheads="1"/>
          </p:cNvSpPr>
          <p:nvPr/>
        </p:nvSpPr>
        <p:spPr bwMode="auto">
          <a:xfrm>
            <a:off x="5273351" y="4005064"/>
            <a:ext cx="1901161" cy="400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sz="2000" b="0" dirty="0"/>
              <a:t>Book Publishing</a:t>
            </a:r>
          </a:p>
        </p:txBody>
      </p:sp>
      <p:sp>
        <p:nvSpPr>
          <p:cNvPr id="37" name="Rectangle 7"/>
          <p:cNvSpPr>
            <a:spLocks noChangeArrowheads="1"/>
          </p:cNvSpPr>
          <p:nvPr/>
        </p:nvSpPr>
        <p:spPr bwMode="auto">
          <a:xfrm>
            <a:off x="827584" y="5877272"/>
            <a:ext cx="2314480" cy="400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sz="2000" b="0" dirty="0"/>
              <a:t>Telecommunications</a:t>
            </a:r>
          </a:p>
        </p:txBody>
      </p:sp>
    </p:spTree>
    <p:extLst>
      <p:ext uri="{BB962C8B-B14F-4D97-AF65-F5344CB8AC3E}">
        <p14:creationId xmlns:p14="http://schemas.microsoft.com/office/powerpoint/2010/main" val="5056515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24744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ko-KR" sz="3200" b="1" kern="1200" dirty="0">
                <a:solidFill>
                  <a:srgbClr val="FFC000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Competitive Globalization Drivers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46417" y="6237312"/>
            <a:ext cx="657231" cy="400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sz="2000" b="0" dirty="0">
                <a:solidFill>
                  <a:schemeClr val="accent1">
                    <a:lumMod val="75000"/>
                  </a:schemeClr>
                </a:solidFill>
              </a:rPr>
              <a:t>Low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617507" y="6268608"/>
            <a:ext cx="698909" cy="400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sz="2000" b="0" dirty="0">
                <a:solidFill>
                  <a:schemeClr val="accent1">
                    <a:lumMod val="75000"/>
                  </a:schemeClr>
                </a:solidFill>
              </a:rPr>
              <a:t>High</a:t>
            </a:r>
          </a:p>
        </p:txBody>
      </p:sp>
      <p:sp>
        <p:nvSpPr>
          <p:cNvPr id="9" name="Line 5"/>
          <p:cNvSpPr>
            <a:spLocks noChangeShapeType="1"/>
          </p:cNvSpPr>
          <p:nvPr/>
        </p:nvSpPr>
        <p:spPr bwMode="auto">
          <a:xfrm>
            <a:off x="1475656" y="6453336"/>
            <a:ext cx="6096000" cy="0"/>
          </a:xfrm>
          <a:prstGeom prst="line">
            <a:avLst/>
          </a:prstGeom>
          <a:noFill/>
          <a:ln w="38100">
            <a:solidFill>
              <a:schemeClr val="accent1">
                <a:lumMod val="75000"/>
              </a:schemeClr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 sz="2000" b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" name="Rectangle 3"/>
          <p:cNvSpPr txBox="1">
            <a:spLocks noChangeArrowheads="1"/>
          </p:cNvSpPr>
          <p:nvPr/>
        </p:nvSpPr>
        <p:spPr bwMode="auto">
          <a:xfrm>
            <a:off x="467544" y="1143000"/>
            <a:ext cx="8352928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v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itchFamily="18" charset="0"/>
              </a:rPr>
              <a:t>High exports and imports</a:t>
            </a:r>
          </a:p>
          <a:p>
            <a:pPr marL="342900" marR="0" lvl="0" indent="-3429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v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itchFamily="18" charset="0"/>
              </a:rPr>
              <a:t>Competitors from different</a:t>
            </a:r>
            <a:r>
              <a:rPr kumimoji="0" lang="en-US" b="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itchFamily="18" charset="0"/>
              </a:rPr>
              <a:t> continents and countries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Times New Roman" pitchFamily="18" charset="0"/>
            </a:endParaRPr>
          </a:p>
          <a:p>
            <a:pPr marL="342900" marR="0" lvl="0" indent="-3429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v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itchFamily="18" charset="0"/>
              </a:rPr>
              <a:t>Interdependence among countries</a:t>
            </a:r>
          </a:p>
          <a:p>
            <a:pPr marL="342900" marR="0" lvl="0" indent="-3429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v"/>
              <a:tabLst/>
              <a:defRPr/>
            </a:pPr>
            <a:r>
              <a:rPr lang="en-US" b="0" kern="0" dirty="0">
                <a:cs typeface="Times New Roman" pitchFamily="18" charset="0"/>
              </a:rPr>
              <a:t>Competitors globalized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Times New Roman" pitchFamily="18" charset="0"/>
            </a:endParaRPr>
          </a:p>
          <a:p>
            <a:pPr marL="342900" marR="0" lvl="0" indent="-3429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v"/>
              <a:tabLst/>
              <a:defRPr/>
            </a:pPr>
            <a:r>
              <a:rPr kumimoji="0" lang="en-US" b="0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itchFamily="18" charset="0"/>
              </a:rPr>
              <a:t>Measures: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itchFamily="18" charset="0"/>
              </a:rPr>
              <a:t>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Times New Roman" pitchFamily="18" charset="0"/>
              </a:rPr>
              <a:t>% of WW market attributed to trade of top 4-8 firms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741049" y="3356992"/>
            <a:ext cx="7287335" cy="2954998"/>
            <a:chOff x="633348" y="1676400"/>
            <a:chExt cx="7287335" cy="4143309"/>
          </a:xfrm>
        </p:grpSpPr>
        <p:sp>
          <p:nvSpPr>
            <p:cNvPr id="19" name="Rectangle 6"/>
            <p:cNvSpPr>
              <a:spLocks noChangeArrowheads="1"/>
            </p:cNvSpPr>
            <p:nvPr/>
          </p:nvSpPr>
          <p:spPr bwMode="auto">
            <a:xfrm>
              <a:off x="633348" y="5257800"/>
              <a:ext cx="1886735" cy="5619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2000" b="0" dirty="0"/>
                <a:t>Book publishing</a:t>
              </a:r>
            </a:p>
          </p:txBody>
        </p:sp>
        <p:sp>
          <p:nvSpPr>
            <p:cNvPr id="22" name="Rectangle 7"/>
            <p:cNvSpPr>
              <a:spLocks noChangeArrowheads="1"/>
            </p:cNvSpPr>
            <p:nvPr/>
          </p:nvSpPr>
          <p:spPr bwMode="auto">
            <a:xfrm>
              <a:off x="2088035" y="4301490"/>
              <a:ext cx="2383666" cy="5619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2000" b="0" dirty="0"/>
                <a:t>Commercial Banking</a:t>
              </a:r>
            </a:p>
          </p:txBody>
        </p:sp>
        <p:sp>
          <p:nvSpPr>
            <p:cNvPr id="23" name="Rectangle 8"/>
            <p:cNvSpPr>
              <a:spLocks noChangeArrowheads="1"/>
            </p:cNvSpPr>
            <p:nvPr/>
          </p:nvSpPr>
          <p:spPr bwMode="auto">
            <a:xfrm>
              <a:off x="3888235" y="3392805"/>
              <a:ext cx="1306191" cy="5619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2000" b="0" dirty="0"/>
                <a:t>Toothpaste</a:t>
              </a:r>
            </a:p>
          </p:txBody>
        </p:sp>
        <p:sp>
          <p:nvSpPr>
            <p:cNvPr id="24" name="Rectangle 9"/>
            <p:cNvSpPr>
              <a:spLocks noChangeArrowheads="1"/>
            </p:cNvSpPr>
            <p:nvPr/>
          </p:nvSpPr>
          <p:spPr bwMode="auto">
            <a:xfrm>
              <a:off x="2946509" y="3796665"/>
              <a:ext cx="1373774" cy="5619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2000" b="0" dirty="0"/>
                <a:t>Soft Drinks</a:t>
              </a:r>
            </a:p>
          </p:txBody>
        </p:sp>
        <p:sp>
          <p:nvSpPr>
            <p:cNvPr id="25" name="Rectangle 10"/>
            <p:cNvSpPr>
              <a:spLocks noChangeArrowheads="1"/>
            </p:cNvSpPr>
            <p:nvPr/>
          </p:nvSpPr>
          <p:spPr bwMode="auto">
            <a:xfrm>
              <a:off x="5400403" y="2484120"/>
              <a:ext cx="1508426" cy="5619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2000" b="0" dirty="0"/>
                <a:t>Automobiles</a:t>
              </a:r>
            </a:p>
          </p:txBody>
        </p:sp>
        <p:sp>
          <p:nvSpPr>
            <p:cNvPr id="26" name="Rectangle 11"/>
            <p:cNvSpPr>
              <a:spLocks noChangeArrowheads="1"/>
            </p:cNvSpPr>
            <p:nvPr/>
          </p:nvSpPr>
          <p:spPr bwMode="auto">
            <a:xfrm>
              <a:off x="6106973" y="2080260"/>
              <a:ext cx="1309654" cy="5619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2000" b="0" dirty="0"/>
                <a:t>Computers</a:t>
              </a:r>
            </a:p>
          </p:txBody>
        </p:sp>
        <p:sp>
          <p:nvSpPr>
            <p:cNvPr id="27" name="Rectangle 12"/>
            <p:cNvSpPr>
              <a:spLocks noChangeArrowheads="1"/>
            </p:cNvSpPr>
            <p:nvPr/>
          </p:nvSpPr>
          <p:spPr bwMode="auto">
            <a:xfrm>
              <a:off x="6925218" y="1676400"/>
              <a:ext cx="995465" cy="5619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2000" b="0"/>
                <a:t>Aircraft</a:t>
              </a:r>
            </a:p>
          </p:txBody>
        </p:sp>
        <p:sp>
          <p:nvSpPr>
            <p:cNvPr id="28" name="Rectangle 13"/>
            <p:cNvSpPr>
              <a:spLocks noChangeArrowheads="1"/>
            </p:cNvSpPr>
            <p:nvPr/>
          </p:nvSpPr>
          <p:spPr bwMode="auto">
            <a:xfrm>
              <a:off x="4752331" y="2988945"/>
              <a:ext cx="1862689" cy="5619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2000" b="0" dirty="0"/>
                <a:t>Pharmaceuticals</a:t>
              </a:r>
            </a:p>
          </p:txBody>
        </p:sp>
      </p:grpSp>
      <p:sp>
        <p:nvSpPr>
          <p:cNvPr id="35" name="Rectangle 7"/>
          <p:cNvSpPr>
            <a:spLocks noChangeArrowheads="1"/>
          </p:cNvSpPr>
          <p:nvPr/>
        </p:nvSpPr>
        <p:spPr bwMode="auto">
          <a:xfrm>
            <a:off x="1763688" y="5589240"/>
            <a:ext cx="1388201" cy="400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sz="2000" b="0" dirty="0"/>
              <a:t>Credit Card</a:t>
            </a:r>
          </a:p>
        </p:txBody>
      </p:sp>
    </p:spTree>
    <p:extLst>
      <p:ext uri="{BB962C8B-B14F-4D97-AF65-F5344CB8AC3E}">
        <p14:creationId xmlns:p14="http://schemas.microsoft.com/office/powerpoint/2010/main" val="36970275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24744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ko-KR" sz="3200" b="1" kern="1200" dirty="0">
                <a:solidFill>
                  <a:srgbClr val="FFC000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Map of Globalization Drivers</a:t>
            </a:r>
          </a:p>
        </p:txBody>
      </p:sp>
      <p:sp>
        <p:nvSpPr>
          <p:cNvPr id="11" name="Text Box 53"/>
          <p:cNvSpPr txBox="1">
            <a:spLocks noChangeArrowheads="1"/>
          </p:cNvSpPr>
          <p:nvPr/>
        </p:nvSpPr>
        <p:spPr bwMode="auto">
          <a:xfrm>
            <a:off x="3756931" y="1340768"/>
            <a:ext cx="94756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ko-KR" b="0" dirty="0">
                <a:ea typeface="굴림" charset="-127"/>
              </a:rPr>
              <a:t>Cost</a:t>
            </a:r>
          </a:p>
        </p:txBody>
      </p:sp>
      <p:sp>
        <p:nvSpPr>
          <p:cNvPr id="12" name="Text Box 54"/>
          <p:cNvSpPr txBox="1">
            <a:spLocks noChangeArrowheads="1"/>
          </p:cNvSpPr>
          <p:nvPr/>
        </p:nvSpPr>
        <p:spPr bwMode="auto">
          <a:xfrm>
            <a:off x="952448" y="3776414"/>
            <a:ext cx="10762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ko-KR" b="0" dirty="0">
                <a:ea typeface="굴림" charset="-127"/>
              </a:rPr>
              <a:t>Market</a:t>
            </a:r>
            <a:endParaRPr lang="en-US" altLang="ko-KR" b="0" u="none" dirty="0">
              <a:latin typeface="Times New Roman" pitchFamily="18" charset="0"/>
              <a:ea typeface="굴림" charset="-127"/>
            </a:endParaRPr>
          </a:p>
        </p:txBody>
      </p:sp>
      <p:sp>
        <p:nvSpPr>
          <p:cNvPr id="13" name="Text Box 55"/>
          <p:cNvSpPr txBox="1">
            <a:spLocks noChangeArrowheads="1"/>
          </p:cNvSpPr>
          <p:nvPr/>
        </p:nvSpPr>
        <p:spPr bwMode="auto">
          <a:xfrm>
            <a:off x="3396891" y="6180311"/>
            <a:ext cx="187220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ko-KR" b="0" dirty="0">
                <a:ea typeface="굴림" charset="-127"/>
              </a:rPr>
              <a:t>Government</a:t>
            </a:r>
            <a:endParaRPr lang="en-US" altLang="ko-KR" b="0" u="none" dirty="0">
              <a:latin typeface="Times New Roman" pitchFamily="18" charset="0"/>
              <a:ea typeface="굴림" charset="-127"/>
            </a:endParaRPr>
          </a:p>
        </p:txBody>
      </p:sp>
      <p:sp>
        <p:nvSpPr>
          <p:cNvPr id="14" name="Text Box 56"/>
          <p:cNvSpPr txBox="1">
            <a:spLocks noChangeArrowheads="1"/>
          </p:cNvSpPr>
          <p:nvPr/>
        </p:nvSpPr>
        <p:spPr bwMode="auto">
          <a:xfrm>
            <a:off x="6565243" y="3784823"/>
            <a:ext cx="218322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ko-KR" b="0" dirty="0">
                <a:ea typeface="굴림" charset="-127"/>
              </a:rPr>
              <a:t>Competitive</a:t>
            </a:r>
            <a:endParaRPr lang="en-US" altLang="ko-KR" b="0" u="none" dirty="0">
              <a:latin typeface="Times New Roman" pitchFamily="18" charset="0"/>
              <a:ea typeface="굴림" charset="-127"/>
            </a:endParaRPr>
          </a:p>
        </p:txBody>
      </p:sp>
      <p:cxnSp>
        <p:nvCxnSpPr>
          <p:cNvPr id="27" name="Straight Connector 26"/>
          <p:cNvCxnSpPr/>
          <p:nvPr/>
        </p:nvCxnSpPr>
        <p:spPr bwMode="auto">
          <a:xfrm>
            <a:off x="4260987" y="1916832"/>
            <a:ext cx="72008" cy="424847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8" name="Straight Connector 27"/>
          <p:cNvCxnSpPr/>
          <p:nvPr/>
        </p:nvCxnSpPr>
        <p:spPr bwMode="auto">
          <a:xfrm flipH="1">
            <a:off x="2028739" y="4009355"/>
            <a:ext cx="4752528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3" name="Straight Connector 32"/>
          <p:cNvCxnSpPr/>
          <p:nvPr/>
        </p:nvCxnSpPr>
        <p:spPr bwMode="auto">
          <a:xfrm>
            <a:off x="4283968" y="2276872"/>
            <a:ext cx="2016224" cy="1728192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5" name="Straight Connector 34"/>
          <p:cNvCxnSpPr/>
          <p:nvPr/>
        </p:nvCxnSpPr>
        <p:spPr bwMode="auto">
          <a:xfrm flipH="1">
            <a:off x="4355976" y="4005064"/>
            <a:ext cx="1944216" cy="792088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7" name="Straight Connector 36"/>
          <p:cNvCxnSpPr/>
          <p:nvPr/>
        </p:nvCxnSpPr>
        <p:spPr bwMode="auto">
          <a:xfrm flipH="1" flipV="1">
            <a:off x="2915816" y="4005064"/>
            <a:ext cx="1368152" cy="792088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9" name="Straight Connector 38"/>
          <p:cNvCxnSpPr/>
          <p:nvPr/>
        </p:nvCxnSpPr>
        <p:spPr bwMode="auto">
          <a:xfrm flipV="1">
            <a:off x="2915816" y="2276872"/>
            <a:ext cx="1368152" cy="1728192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0" name="Text Box 53"/>
          <p:cNvSpPr txBox="1">
            <a:spLocks noChangeArrowheads="1"/>
          </p:cNvSpPr>
          <p:nvPr/>
        </p:nvSpPr>
        <p:spPr bwMode="auto">
          <a:xfrm>
            <a:off x="2771800" y="2564904"/>
            <a:ext cx="94756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ko-KR" b="0" dirty="0">
                <a:solidFill>
                  <a:srgbClr val="3AEA5C"/>
                </a:solidFill>
                <a:ea typeface="굴림" charset="-127"/>
              </a:rPr>
              <a:t>A</a:t>
            </a:r>
            <a:endParaRPr lang="en-US" altLang="ko-KR" b="0" u="none" dirty="0">
              <a:solidFill>
                <a:srgbClr val="3AEA5C"/>
              </a:solidFill>
              <a:latin typeface="Times New Roman" pitchFamily="18" charset="0"/>
              <a:ea typeface="굴림" charset="-127"/>
            </a:endParaRPr>
          </a:p>
        </p:txBody>
      </p:sp>
      <p:cxnSp>
        <p:nvCxnSpPr>
          <p:cNvPr id="41" name="Straight Connector 40"/>
          <p:cNvCxnSpPr/>
          <p:nvPr/>
        </p:nvCxnSpPr>
        <p:spPr bwMode="auto">
          <a:xfrm flipV="1">
            <a:off x="2339752" y="2060848"/>
            <a:ext cx="1944216" cy="1944216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3AEA5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3" name="Straight Connector 42"/>
          <p:cNvCxnSpPr>
            <a:endCxn id="14" idx="1"/>
          </p:cNvCxnSpPr>
          <p:nvPr/>
        </p:nvCxnSpPr>
        <p:spPr bwMode="auto">
          <a:xfrm>
            <a:off x="4283968" y="2060848"/>
            <a:ext cx="2281275" cy="1954808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3AEA5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0" name="Straight Connector 49"/>
          <p:cNvCxnSpPr/>
          <p:nvPr/>
        </p:nvCxnSpPr>
        <p:spPr bwMode="auto">
          <a:xfrm flipH="1" flipV="1">
            <a:off x="2339752" y="4005064"/>
            <a:ext cx="2016224" cy="2016224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3AEA5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2" name="Straight Connector 51"/>
          <p:cNvCxnSpPr>
            <a:stCxn id="14" idx="1"/>
          </p:cNvCxnSpPr>
          <p:nvPr/>
        </p:nvCxnSpPr>
        <p:spPr bwMode="auto">
          <a:xfrm flipH="1">
            <a:off x="4355976" y="4015656"/>
            <a:ext cx="2209267" cy="2005632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3AEA5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6" name="Text Box 53"/>
          <p:cNvSpPr txBox="1">
            <a:spLocks noChangeArrowheads="1"/>
          </p:cNvSpPr>
          <p:nvPr/>
        </p:nvSpPr>
        <p:spPr bwMode="auto">
          <a:xfrm>
            <a:off x="4728716" y="3039368"/>
            <a:ext cx="94756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ko-KR" b="0" dirty="0">
                <a:solidFill>
                  <a:schemeClr val="accent1">
                    <a:lumMod val="75000"/>
                  </a:schemeClr>
                </a:solidFill>
                <a:ea typeface="굴림" charset="-127"/>
              </a:rPr>
              <a:t>B</a:t>
            </a:r>
            <a:endParaRPr lang="en-US" altLang="ko-KR" b="0" u="none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  <a:ea typeface="굴림" charset="-127"/>
            </a:endParaRPr>
          </a:p>
        </p:txBody>
      </p:sp>
      <p:cxnSp>
        <p:nvCxnSpPr>
          <p:cNvPr id="57" name="Straight Connector 56"/>
          <p:cNvCxnSpPr/>
          <p:nvPr/>
        </p:nvCxnSpPr>
        <p:spPr bwMode="auto">
          <a:xfrm flipV="1">
            <a:off x="3635896" y="3212976"/>
            <a:ext cx="648072" cy="792088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9" name="Straight Connector 58"/>
          <p:cNvCxnSpPr/>
          <p:nvPr/>
        </p:nvCxnSpPr>
        <p:spPr bwMode="auto">
          <a:xfrm>
            <a:off x="4283968" y="3212976"/>
            <a:ext cx="720080" cy="792088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1" name="Straight Connector 60"/>
          <p:cNvCxnSpPr/>
          <p:nvPr/>
        </p:nvCxnSpPr>
        <p:spPr bwMode="auto">
          <a:xfrm flipH="1" flipV="1">
            <a:off x="3635896" y="4005064"/>
            <a:ext cx="648072" cy="432048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3" name="Straight Connector 62"/>
          <p:cNvCxnSpPr/>
          <p:nvPr/>
        </p:nvCxnSpPr>
        <p:spPr bwMode="auto">
          <a:xfrm flipH="1">
            <a:off x="4355976" y="4005064"/>
            <a:ext cx="648072" cy="432048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8" name="Text Box 53"/>
          <p:cNvSpPr txBox="1">
            <a:spLocks noChangeArrowheads="1"/>
          </p:cNvSpPr>
          <p:nvPr/>
        </p:nvSpPr>
        <p:spPr bwMode="auto">
          <a:xfrm>
            <a:off x="3635896" y="3501008"/>
            <a:ext cx="94756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ko-KR" b="0" dirty="0">
                <a:solidFill>
                  <a:srgbClr val="FFFF00"/>
                </a:solidFill>
                <a:ea typeface="굴림" charset="-127"/>
              </a:rPr>
              <a:t>C</a:t>
            </a:r>
            <a:endParaRPr lang="en-US" altLang="ko-KR" b="0" u="none" dirty="0">
              <a:solidFill>
                <a:srgbClr val="FFFF00"/>
              </a:solidFill>
              <a:latin typeface="Times New Roman" pitchFamily="18" charset="0"/>
              <a:ea typeface="굴림" charset="-127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528836" y="1340768"/>
            <a:ext cx="8075612" cy="5364088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ko-KR" sz="2400" dirty="0">
                <a:latin typeface="Times New Roman" pitchFamily="18" charset="0"/>
                <a:ea typeface="굴림" charset="-127"/>
                <a:cs typeface="Times New Roman" pitchFamily="18" charset="0"/>
              </a:rPr>
              <a:t>		             Bartlett and </a:t>
            </a:r>
            <a:r>
              <a:rPr lang="en-US" altLang="ko-KR" sz="2400" dirty="0" err="1">
                <a:latin typeface="Times New Roman" pitchFamily="18" charset="0"/>
                <a:ea typeface="굴림" charset="-127"/>
                <a:cs typeface="Times New Roman" pitchFamily="18" charset="0"/>
              </a:rPr>
              <a:t>Ghoshal’s</a:t>
            </a:r>
            <a:r>
              <a:rPr lang="en-US" altLang="ko-KR" sz="2400" dirty="0">
                <a:latin typeface="Times New Roman" pitchFamily="18" charset="0"/>
                <a:ea typeface="굴림" charset="-127"/>
                <a:cs typeface="Times New Roman" pitchFamily="18" charset="0"/>
              </a:rPr>
              <a:t> Perspective</a:t>
            </a:r>
            <a:endParaRPr lang="en-US" altLang="ko-KR" b="0" dirty="0">
              <a:latin typeface="Times New Roman" pitchFamily="18" charset="0"/>
              <a:ea typeface="굴림" charset="-127"/>
              <a:cs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ko-KR" sz="800" b="0" dirty="0">
              <a:latin typeface="Times New Roman" pitchFamily="18" charset="0"/>
              <a:ea typeface="굴림" charset="-127"/>
              <a:cs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ko-KR" sz="2400" dirty="0">
                <a:latin typeface="Times New Roman" pitchFamily="18" charset="0"/>
                <a:ea typeface="굴림" charset="-127"/>
                <a:cs typeface="Times New Roman" pitchFamily="18" charset="0"/>
              </a:rPr>
              <a:t>	</a:t>
            </a:r>
            <a:endParaRPr lang="ko-KR" altLang="en-US" sz="2200" b="0" dirty="0">
              <a:latin typeface="Times New Roman" pitchFamily="18" charset="0"/>
              <a:ea typeface="굴림" charset="-127"/>
              <a:cs typeface="Times New Roman" pitchFamily="18" charset="0"/>
            </a:endParaRPr>
          </a:p>
        </p:txBody>
      </p:sp>
      <p:sp>
        <p:nvSpPr>
          <p:cNvPr id="5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24744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ko-KR" sz="3200" b="1" kern="1200" dirty="0">
                <a:solidFill>
                  <a:srgbClr val="FFC000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CATEGORICAL PERSPECTIVE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181280" y="2060848"/>
            <a:ext cx="7847105" cy="4461987"/>
            <a:chOff x="181280" y="2060848"/>
            <a:chExt cx="7847105" cy="4461987"/>
          </a:xfrm>
        </p:grpSpPr>
        <p:sp>
          <p:nvSpPr>
            <p:cNvPr id="24" name="Oval 23"/>
            <p:cNvSpPr/>
            <p:nvPr/>
          </p:nvSpPr>
          <p:spPr bwMode="auto">
            <a:xfrm>
              <a:off x="5148064" y="3933056"/>
              <a:ext cx="2304256" cy="1224136"/>
            </a:xfrm>
            <a:prstGeom prst="ellipse">
              <a:avLst/>
            </a:prstGeom>
            <a:solidFill>
              <a:schemeClr val="tx1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22" name="Oval 21"/>
            <p:cNvSpPr/>
            <p:nvPr/>
          </p:nvSpPr>
          <p:spPr bwMode="auto">
            <a:xfrm>
              <a:off x="2699792" y="3933056"/>
              <a:ext cx="2304256" cy="1224136"/>
            </a:xfrm>
            <a:prstGeom prst="ellipse">
              <a:avLst/>
            </a:prstGeom>
            <a:solidFill>
              <a:schemeClr val="tx1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23" name="Oval 22"/>
            <p:cNvSpPr/>
            <p:nvPr/>
          </p:nvSpPr>
          <p:spPr bwMode="auto">
            <a:xfrm>
              <a:off x="5148064" y="2348880"/>
              <a:ext cx="2304256" cy="1224136"/>
            </a:xfrm>
            <a:prstGeom prst="ellipse">
              <a:avLst/>
            </a:prstGeom>
            <a:solidFill>
              <a:schemeClr val="tx1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21" name="Oval 20"/>
            <p:cNvSpPr/>
            <p:nvPr/>
          </p:nvSpPr>
          <p:spPr bwMode="auto">
            <a:xfrm>
              <a:off x="2699792" y="2348880"/>
              <a:ext cx="2304256" cy="1224136"/>
            </a:xfrm>
            <a:prstGeom prst="ellipse">
              <a:avLst/>
            </a:prstGeom>
            <a:solidFill>
              <a:schemeClr val="tx1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181280" y="2060848"/>
              <a:ext cx="7847105" cy="4461987"/>
              <a:chOff x="516170" y="2364264"/>
              <a:chExt cx="6849364" cy="3541008"/>
            </a:xfrm>
          </p:grpSpPr>
          <p:sp>
            <p:nvSpPr>
              <p:cNvPr id="7" name="Rectangle 46"/>
              <p:cNvSpPr>
                <a:spLocks noChangeArrowheads="1"/>
              </p:cNvSpPr>
              <p:nvPr/>
            </p:nvSpPr>
            <p:spPr bwMode="auto">
              <a:xfrm>
                <a:off x="2627561" y="2421409"/>
                <a:ext cx="4340225" cy="252095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sz="1600" b="0" u="none">
                  <a:ea typeface="굴림" charset="-127"/>
                </a:endParaRPr>
              </a:p>
            </p:txBody>
          </p:sp>
          <p:sp>
            <p:nvSpPr>
              <p:cNvPr id="10" name="Text Box 49"/>
              <p:cNvSpPr txBox="1">
                <a:spLocks noChangeArrowheads="1"/>
              </p:cNvSpPr>
              <p:nvPr/>
            </p:nvSpPr>
            <p:spPr bwMode="auto">
              <a:xfrm>
                <a:off x="3083173" y="2673822"/>
                <a:ext cx="1446213" cy="457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 eaLnBrk="0" hangingPunct="0">
                  <a:spcBef>
                    <a:spcPct val="50000"/>
                  </a:spcBef>
                </a:pPr>
                <a:r>
                  <a:rPr lang="ko-KR" altLang="en-US" sz="2400" b="0" u="none">
                    <a:latin typeface="Times New Roman" pitchFamily="18" charset="0"/>
                    <a:ea typeface="굴림" charset="-127"/>
                  </a:rPr>
                  <a:t>	</a:t>
                </a:r>
              </a:p>
            </p:txBody>
          </p:sp>
          <p:sp>
            <p:nvSpPr>
              <p:cNvPr id="11" name="Text Box 53"/>
              <p:cNvSpPr txBox="1">
                <a:spLocks noChangeArrowheads="1"/>
              </p:cNvSpPr>
              <p:nvPr/>
            </p:nvSpPr>
            <p:spPr bwMode="auto">
              <a:xfrm>
                <a:off x="1771674" y="2364264"/>
                <a:ext cx="827086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 eaLnBrk="0" hangingPunct="0">
                  <a:spcBef>
                    <a:spcPct val="50000"/>
                  </a:spcBef>
                </a:pPr>
                <a:r>
                  <a:rPr lang="en-US" altLang="ko-KR" b="0" u="none" dirty="0">
                    <a:latin typeface="Times New Roman" pitchFamily="18" charset="0"/>
                    <a:ea typeface="굴림" charset="-127"/>
                  </a:rPr>
                  <a:t>High</a:t>
                </a:r>
              </a:p>
            </p:txBody>
          </p:sp>
          <p:sp>
            <p:nvSpPr>
              <p:cNvPr id="12" name="Text Box 54"/>
              <p:cNvSpPr txBox="1">
                <a:spLocks noChangeArrowheads="1"/>
              </p:cNvSpPr>
              <p:nvPr/>
            </p:nvSpPr>
            <p:spPr bwMode="auto">
              <a:xfrm>
                <a:off x="1771674" y="4653211"/>
                <a:ext cx="750886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 eaLnBrk="0" hangingPunct="0">
                  <a:spcBef>
                    <a:spcPct val="50000"/>
                  </a:spcBef>
                </a:pPr>
                <a:r>
                  <a:rPr lang="en-US" altLang="ko-KR" b="0" u="none" dirty="0">
                    <a:latin typeface="Times New Roman" pitchFamily="18" charset="0"/>
                    <a:ea typeface="굴림" charset="-127"/>
                  </a:rPr>
                  <a:t>Low</a:t>
                </a:r>
              </a:p>
            </p:txBody>
          </p:sp>
          <p:sp>
            <p:nvSpPr>
              <p:cNvPr id="13" name="Text Box 55"/>
              <p:cNvSpPr txBox="1">
                <a:spLocks noChangeArrowheads="1"/>
              </p:cNvSpPr>
              <p:nvPr/>
            </p:nvSpPr>
            <p:spPr bwMode="auto">
              <a:xfrm>
                <a:off x="2588755" y="5050086"/>
                <a:ext cx="904874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 eaLnBrk="0" hangingPunct="0">
                  <a:spcBef>
                    <a:spcPct val="50000"/>
                  </a:spcBef>
                </a:pPr>
                <a:r>
                  <a:rPr lang="en-US" altLang="ko-KR" b="0" u="none" dirty="0">
                    <a:latin typeface="Times New Roman" pitchFamily="18" charset="0"/>
                    <a:ea typeface="굴림" charset="-127"/>
                  </a:rPr>
                  <a:t>Low</a:t>
                </a:r>
              </a:p>
            </p:txBody>
          </p:sp>
          <p:sp>
            <p:nvSpPr>
              <p:cNvPr id="14" name="Text Box 56"/>
              <p:cNvSpPr txBox="1">
                <a:spLocks noChangeArrowheads="1"/>
              </p:cNvSpPr>
              <p:nvPr/>
            </p:nvSpPr>
            <p:spPr bwMode="auto">
              <a:xfrm>
                <a:off x="6433672" y="5050086"/>
                <a:ext cx="931862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ko-KR" b="0" u="none" dirty="0">
                    <a:latin typeface="Times New Roman" pitchFamily="18" charset="0"/>
                    <a:ea typeface="굴림" charset="-127"/>
                  </a:rPr>
                  <a:t>high</a:t>
                </a:r>
              </a:p>
            </p:txBody>
          </p:sp>
          <p:sp>
            <p:nvSpPr>
              <p:cNvPr id="15" name="Text Box 57"/>
              <p:cNvSpPr txBox="1">
                <a:spLocks noChangeArrowheads="1"/>
              </p:cNvSpPr>
              <p:nvPr/>
            </p:nvSpPr>
            <p:spPr bwMode="auto">
              <a:xfrm>
                <a:off x="3468688" y="5450102"/>
                <a:ext cx="2636957" cy="45517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 eaLnBrk="0" hangingPunct="0">
                  <a:lnSpc>
                    <a:spcPts val="1000"/>
                  </a:lnSpc>
                  <a:spcBef>
                    <a:spcPct val="50000"/>
                  </a:spcBef>
                </a:pPr>
                <a:r>
                  <a:rPr lang="en-US" altLang="ko-KR" b="0" u="none" dirty="0">
                    <a:solidFill>
                      <a:srgbClr val="00FFFF"/>
                    </a:solidFill>
                    <a:latin typeface="Times New Roman" pitchFamily="18" charset="0"/>
                    <a:ea typeface="굴림" charset="-127"/>
                  </a:rPr>
                  <a:t>Forces fo</a:t>
                </a:r>
                <a:r>
                  <a:rPr lang="en-US" altLang="ko-KR" b="0" dirty="0">
                    <a:solidFill>
                      <a:srgbClr val="00FFFF"/>
                    </a:solidFill>
                    <a:ea typeface="굴림" charset="-127"/>
                  </a:rPr>
                  <a:t>r </a:t>
                </a:r>
              </a:p>
              <a:p>
                <a:pPr algn="ctr" eaLnBrk="0" hangingPunct="0">
                  <a:lnSpc>
                    <a:spcPts val="1000"/>
                  </a:lnSpc>
                  <a:spcBef>
                    <a:spcPct val="50000"/>
                  </a:spcBef>
                </a:pPr>
                <a:r>
                  <a:rPr lang="en-US" altLang="ko-KR" b="0" u="none" dirty="0">
                    <a:solidFill>
                      <a:srgbClr val="00FFFF"/>
                    </a:solidFill>
                    <a:latin typeface="Times New Roman" pitchFamily="18" charset="0"/>
                    <a:ea typeface="굴림" charset="-127"/>
                  </a:rPr>
                  <a:t>Local Responsiveness</a:t>
                </a:r>
              </a:p>
            </p:txBody>
          </p:sp>
          <p:sp>
            <p:nvSpPr>
              <p:cNvPr id="16" name="Text Box 58"/>
              <p:cNvSpPr txBox="1">
                <a:spLocks noChangeArrowheads="1"/>
              </p:cNvSpPr>
              <p:nvPr/>
            </p:nvSpPr>
            <p:spPr bwMode="auto">
              <a:xfrm>
                <a:off x="516170" y="3335731"/>
                <a:ext cx="2135437" cy="6594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lang="en-US" altLang="ko-KR" b="0" u="none" dirty="0">
                    <a:solidFill>
                      <a:srgbClr val="00FFFF"/>
                    </a:solidFill>
                    <a:latin typeface="Times New Roman" pitchFamily="18" charset="0"/>
                    <a:ea typeface="굴림" charset="-127"/>
                  </a:rPr>
                  <a:t>Forces for</a:t>
                </a:r>
              </a:p>
              <a:p>
                <a:pPr algn="ctr" eaLnBrk="0" hangingPunct="0"/>
                <a:r>
                  <a:rPr lang="en-US" altLang="ko-KR" b="0" dirty="0">
                    <a:solidFill>
                      <a:srgbClr val="00FFFF"/>
                    </a:solidFill>
                    <a:ea typeface="굴림" charset="-127"/>
                  </a:rPr>
                  <a:t>Global Integration</a:t>
                </a:r>
                <a:endParaRPr lang="en-US" altLang="ko-KR" b="0" u="none" dirty="0">
                  <a:solidFill>
                    <a:srgbClr val="00FFFF"/>
                  </a:solidFill>
                  <a:latin typeface="Times New Roman" pitchFamily="18" charset="0"/>
                  <a:ea typeface="굴림" charset="-127"/>
                </a:endParaRPr>
              </a:p>
            </p:txBody>
          </p:sp>
          <p:sp>
            <p:nvSpPr>
              <p:cNvPr id="17" name="Text Box 61"/>
              <p:cNvSpPr txBox="1">
                <a:spLocks noChangeArrowheads="1"/>
              </p:cNvSpPr>
              <p:nvPr/>
            </p:nvSpPr>
            <p:spPr bwMode="auto">
              <a:xfrm>
                <a:off x="2588754" y="2764280"/>
                <a:ext cx="2136980" cy="6106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2200" b="0" u="none" dirty="0">
                    <a:solidFill>
                      <a:schemeClr val="bg1"/>
                    </a:solidFill>
                    <a:latin typeface="Times New Roman" pitchFamily="18" charset="0"/>
                    <a:ea typeface="굴림" charset="-127"/>
                  </a:rPr>
                  <a:t>Global</a:t>
                </a:r>
              </a:p>
              <a:p>
                <a:pPr algn="ctr"/>
                <a:r>
                  <a:rPr lang="en-US" altLang="ko-KR" sz="2200" b="0" dirty="0">
                    <a:solidFill>
                      <a:schemeClr val="bg1"/>
                    </a:solidFill>
                    <a:ea typeface="굴림" charset="-127"/>
                  </a:rPr>
                  <a:t>Industry</a:t>
                </a:r>
                <a:endParaRPr lang="en-US" altLang="ko-KR" sz="2200" b="0" u="none" dirty="0">
                  <a:solidFill>
                    <a:schemeClr val="bg1"/>
                  </a:solidFill>
                  <a:latin typeface="Times New Roman" pitchFamily="18" charset="0"/>
                  <a:ea typeface="굴림" charset="-127"/>
                </a:endParaRPr>
              </a:p>
            </p:txBody>
          </p:sp>
          <p:sp>
            <p:nvSpPr>
              <p:cNvPr id="18" name="Text Box 62"/>
              <p:cNvSpPr txBox="1">
                <a:spLocks noChangeArrowheads="1"/>
              </p:cNvSpPr>
              <p:nvPr/>
            </p:nvSpPr>
            <p:spPr bwMode="auto">
              <a:xfrm>
                <a:off x="4932455" y="2764280"/>
                <a:ext cx="1943099" cy="6106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altLang="ko-KR" sz="2200" b="0" u="none" dirty="0">
                    <a:solidFill>
                      <a:schemeClr val="bg1"/>
                    </a:solidFill>
                    <a:latin typeface="Times New Roman" pitchFamily="18" charset="0"/>
                    <a:ea typeface="굴림" charset="-127"/>
                  </a:rPr>
                  <a:t>Transnational</a:t>
                </a:r>
              </a:p>
              <a:p>
                <a:pPr algn="ctr"/>
                <a:r>
                  <a:rPr lang="en-US" altLang="ko-KR" sz="2200" b="0" dirty="0">
                    <a:solidFill>
                      <a:schemeClr val="bg1"/>
                    </a:solidFill>
                    <a:ea typeface="굴림" charset="-127"/>
                  </a:rPr>
                  <a:t>Industry</a:t>
                </a:r>
                <a:endParaRPr lang="en-US" altLang="ko-KR" sz="2200" b="0" u="none" dirty="0">
                  <a:solidFill>
                    <a:schemeClr val="bg1"/>
                  </a:solidFill>
                  <a:latin typeface="Times New Roman" pitchFamily="18" charset="0"/>
                  <a:ea typeface="굴림" charset="-127"/>
                </a:endParaRPr>
              </a:p>
            </p:txBody>
          </p:sp>
          <p:sp>
            <p:nvSpPr>
              <p:cNvPr id="19" name="Text Box 63"/>
              <p:cNvSpPr txBox="1">
                <a:spLocks noChangeArrowheads="1"/>
              </p:cNvSpPr>
              <p:nvPr/>
            </p:nvSpPr>
            <p:spPr bwMode="auto">
              <a:xfrm>
                <a:off x="2991020" y="4021473"/>
                <a:ext cx="1420453" cy="6106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ko-KR" sz="2200" b="0" u="none" dirty="0">
                    <a:solidFill>
                      <a:schemeClr val="bg1"/>
                    </a:solidFill>
                    <a:latin typeface="Times New Roman" pitchFamily="18" charset="0"/>
                    <a:ea typeface="굴림" charset="-127"/>
                  </a:rPr>
                  <a:t>International</a:t>
                </a:r>
              </a:p>
              <a:p>
                <a:pPr algn="ctr"/>
                <a:r>
                  <a:rPr lang="en-US" altLang="ko-KR" sz="2200" b="0" dirty="0">
                    <a:solidFill>
                      <a:schemeClr val="bg1"/>
                    </a:solidFill>
                    <a:ea typeface="굴림" charset="-127"/>
                  </a:rPr>
                  <a:t>Industry</a:t>
                </a:r>
                <a:endParaRPr lang="en-US" altLang="ko-KR" sz="2200" b="0" u="none" dirty="0">
                  <a:solidFill>
                    <a:schemeClr val="bg1"/>
                  </a:solidFill>
                  <a:latin typeface="Times New Roman" pitchFamily="18" charset="0"/>
                  <a:ea typeface="굴림" charset="-127"/>
                </a:endParaRPr>
              </a:p>
            </p:txBody>
          </p:sp>
          <p:sp>
            <p:nvSpPr>
              <p:cNvPr id="20" name="Text Box 64"/>
              <p:cNvSpPr txBox="1">
                <a:spLocks noChangeArrowheads="1"/>
              </p:cNvSpPr>
              <p:nvPr/>
            </p:nvSpPr>
            <p:spPr bwMode="auto">
              <a:xfrm>
                <a:off x="5077408" y="4039446"/>
                <a:ext cx="1596750" cy="6106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ko-KR" sz="2200" b="0" u="none" dirty="0" err="1">
                    <a:solidFill>
                      <a:schemeClr val="bg1"/>
                    </a:solidFill>
                    <a:latin typeface="Times New Roman" pitchFamily="18" charset="0"/>
                    <a:ea typeface="굴림" charset="-127"/>
                  </a:rPr>
                  <a:t>Multidomestic</a:t>
                </a:r>
                <a:endParaRPr lang="en-US" altLang="ko-KR" sz="2200" b="0" u="none" dirty="0">
                  <a:solidFill>
                    <a:schemeClr val="bg1"/>
                  </a:solidFill>
                  <a:latin typeface="Times New Roman" pitchFamily="18" charset="0"/>
                  <a:ea typeface="굴림" charset="-127"/>
                </a:endParaRPr>
              </a:p>
              <a:p>
                <a:pPr algn="ctr"/>
                <a:r>
                  <a:rPr lang="en-US" altLang="ko-KR" sz="2200" b="0" dirty="0">
                    <a:solidFill>
                      <a:schemeClr val="bg1"/>
                    </a:solidFill>
                    <a:ea typeface="굴림" charset="-127"/>
                  </a:rPr>
                  <a:t>Industry</a:t>
                </a:r>
                <a:endParaRPr lang="en-US" altLang="ko-KR" sz="2200" b="0" u="none" dirty="0">
                  <a:solidFill>
                    <a:schemeClr val="bg1"/>
                  </a:solidFill>
                  <a:latin typeface="Times New Roman" pitchFamily="18" charset="0"/>
                  <a:ea typeface="굴림" charset="-127"/>
                </a:endParaRPr>
              </a:p>
            </p:txBody>
          </p:sp>
        </p:grp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187624" y="1449288"/>
            <a:ext cx="6840760" cy="5292080"/>
          </a:xfrm>
        </p:spPr>
        <p:txBody>
          <a:bodyPr/>
          <a:lstStyle/>
          <a:p>
            <a:pPr eaLnBrk="1" hangingPunct="1">
              <a:lnSpc>
                <a:spcPts val="2200"/>
              </a:lnSpc>
            </a:pPr>
            <a:r>
              <a:rPr lang="en-US" altLang="ko-KR" sz="2400" dirty="0">
                <a:latin typeface="Times New Roman" pitchFamily="18" charset="0"/>
                <a:ea typeface="굴림" charset="-127"/>
                <a:cs typeface="Times New Roman" pitchFamily="18" charset="0"/>
              </a:rPr>
              <a:t>Forces for Global Integration (FGI)</a:t>
            </a:r>
          </a:p>
          <a:p>
            <a:pPr eaLnBrk="1" hangingPunct="1">
              <a:lnSpc>
                <a:spcPts val="2200"/>
              </a:lnSpc>
              <a:buNone/>
            </a:pPr>
            <a:r>
              <a:rPr lang="en-US" altLang="ko-KR" sz="2400" b="0" dirty="0">
                <a:latin typeface="Times New Roman" pitchFamily="18" charset="0"/>
                <a:ea typeface="굴림" charset="-127"/>
                <a:cs typeface="Times New Roman" pitchFamily="18" charset="0"/>
              </a:rPr>
              <a:t>	 - Cost reduction pressures </a:t>
            </a:r>
          </a:p>
          <a:p>
            <a:pPr eaLnBrk="1" hangingPunct="1">
              <a:lnSpc>
                <a:spcPts val="2200"/>
              </a:lnSpc>
              <a:buNone/>
            </a:pPr>
            <a:r>
              <a:rPr lang="en-US" altLang="ko-KR" sz="2400" b="0" dirty="0">
                <a:latin typeface="Times New Roman" pitchFamily="18" charset="0"/>
                <a:ea typeface="굴림" charset="-127"/>
                <a:cs typeface="Times New Roman" pitchFamily="18" charset="0"/>
              </a:rPr>
              <a:t>	 - Economies of scale</a:t>
            </a:r>
          </a:p>
          <a:p>
            <a:pPr eaLnBrk="1" hangingPunct="1">
              <a:lnSpc>
                <a:spcPts val="2200"/>
              </a:lnSpc>
              <a:buNone/>
            </a:pPr>
            <a:r>
              <a:rPr lang="en-US" altLang="ko-KR" sz="2400" b="0" dirty="0">
                <a:latin typeface="Times New Roman" pitchFamily="18" charset="0"/>
                <a:ea typeface="굴림" charset="-127"/>
                <a:cs typeface="Times New Roman" pitchFamily="18" charset="0"/>
              </a:rPr>
              <a:t>	 - Increasing similarity in customer needs/tastes</a:t>
            </a:r>
          </a:p>
          <a:p>
            <a:pPr eaLnBrk="1" hangingPunct="1">
              <a:lnSpc>
                <a:spcPts val="2200"/>
              </a:lnSpc>
              <a:buNone/>
            </a:pPr>
            <a:r>
              <a:rPr lang="en-US" altLang="ko-KR" sz="2400" b="0" dirty="0">
                <a:latin typeface="Times New Roman" pitchFamily="18" charset="0"/>
                <a:ea typeface="굴림" charset="-127"/>
                <a:cs typeface="Times New Roman" pitchFamily="18" charset="0"/>
              </a:rPr>
              <a:t>	 - Lower trade barriers </a:t>
            </a:r>
          </a:p>
          <a:p>
            <a:pPr eaLnBrk="1" hangingPunct="1">
              <a:lnSpc>
                <a:spcPts val="2200"/>
              </a:lnSpc>
              <a:buNone/>
            </a:pPr>
            <a:r>
              <a:rPr lang="en-US" altLang="ko-KR" sz="2400" b="0" dirty="0">
                <a:latin typeface="Times New Roman" pitchFamily="18" charset="0"/>
                <a:ea typeface="굴림" charset="-127"/>
                <a:cs typeface="Times New Roman" pitchFamily="18" charset="0"/>
              </a:rPr>
              <a:t>	 - Lower transportation costs</a:t>
            </a:r>
          </a:p>
          <a:p>
            <a:pPr eaLnBrk="1" hangingPunct="1">
              <a:lnSpc>
                <a:spcPts val="2200"/>
              </a:lnSpc>
              <a:buNone/>
            </a:pPr>
            <a:r>
              <a:rPr lang="en-US" altLang="ko-KR" sz="2400" b="0" dirty="0">
                <a:latin typeface="Times New Roman" pitchFamily="18" charset="0"/>
                <a:ea typeface="굴림" charset="-127"/>
                <a:cs typeface="Times New Roman" pitchFamily="18" charset="0"/>
              </a:rPr>
              <a:t>	 - Increased communication capacity, etc.</a:t>
            </a:r>
          </a:p>
          <a:p>
            <a:pPr eaLnBrk="1" hangingPunct="1">
              <a:lnSpc>
                <a:spcPts val="2200"/>
              </a:lnSpc>
              <a:buNone/>
            </a:pPr>
            <a:endParaRPr lang="en-US" altLang="ko-KR" sz="800" b="0" dirty="0">
              <a:latin typeface="Times New Roman" pitchFamily="18" charset="0"/>
              <a:ea typeface="굴림" charset="-127"/>
              <a:cs typeface="Times New Roman" pitchFamily="18" charset="0"/>
            </a:endParaRPr>
          </a:p>
          <a:p>
            <a:pPr eaLnBrk="1" hangingPunct="1">
              <a:lnSpc>
                <a:spcPts val="2200"/>
              </a:lnSpc>
            </a:pPr>
            <a:r>
              <a:rPr lang="en-US" altLang="ko-KR" sz="2400" dirty="0">
                <a:latin typeface="Times New Roman" pitchFamily="18" charset="0"/>
                <a:ea typeface="굴림" charset="-127"/>
                <a:cs typeface="Times New Roman" pitchFamily="18" charset="0"/>
              </a:rPr>
              <a:t>Forces for Local Responsiveness (FLR)</a:t>
            </a:r>
          </a:p>
          <a:p>
            <a:pPr algn="just" eaLnBrk="1" hangingPunct="1">
              <a:lnSpc>
                <a:spcPts val="2200"/>
              </a:lnSpc>
              <a:buNone/>
            </a:pPr>
            <a:r>
              <a:rPr lang="en-US" altLang="ko-KR" sz="2400" b="0" dirty="0">
                <a:latin typeface="Times New Roman" pitchFamily="18" charset="0"/>
                <a:ea typeface="굴림" charset="-127"/>
                <a:cs typeface="Times New Roman" pitchFamily="18" charset="0"/>
              </a:rPr>
              <a:t>	 - Differences in market structures</a:t>
            </a:r>
          </a:p>
          <a:p>
            <a:pPr algn="just" eaLnBrk="1" hangingPunct="1">
              <a:lnSpc>
                <a:spcPts val="2200"/>
              </a:lnSpc>
              <a:buNone/>
            </a:pPr>
            <a:r>
              <a:rPr lang="en-US" altLang="ko-KR" sz="2400" b="0" dirty="0">
                <a:latin typeface="Times New Roman" pitchFamily="18" charset="0"/>
                <a:ea typeface="굴림" charset="-127"/>
                <a:cs typeface="Times New Roman" pitchFamily="18" charset="0"/>
              </a:rPr>
              <a:t> 	 - Differences in customer needs/tastes</a:t>
            </a:r>
          </a:p>
          <a:p>
            <a:pPr algn="just" eaLnBrk="1" hangingPunct="1">
              <a:lnSpc>
                <a:spcPts val="2200"/>
              </a:lnSpc>
              <a:buNone/>
            </a:pPr>
            <a:r>
              <a:rPr lang="en-US" altLang="ko-KR" sz="2400" b="0" dirty="0">
                <a:latin typeface="Times New Roman" pitchFamily="18" charset="0"/>
                <a:ea typeface="굴림" charset="-127"/>
                <a:cs typeface="Times New Roman" pitchFamily="18" charset="0"/>
              </a:rPr>
              <a:t>	 - More sophisticated customers</a:t>
            </a:r>
          </a:p>
          <a:p>
            <a:pPr algn="just" eaLnBrk="1" hangingPunct="1">
              <a:lnSpc>
                <a:spcPts val="2200"/>
              </a:lnSpc>
              <a:buNone/>
            </a:pPr>
            <a:r>
              <a:rPr lang="en-US" altLang="ko-KR" sz="2400" b="0" dirty="0">
                <a:latin typeface="Times New Roman" pitchFamily="18" charset="0"/>
                <a:ea typeface="굴림" charset="-127"/>
                <a:cs typeface="Times New Roman" pitchFamily="18" charset="0"/>
              </a:rPr>
              <a:t>	 - Differences in infrastructure</a:t>
            </a:r>
          </a:p>
          <a:p>
            <a:pPr algn="just" eaLnBrk="1" hangingPunct="1">
              <a:lnSpc>
                <a:spcPts val="2200"/>
              </a:lnSpc>
              <a:buNone/>
            </a:pPr>
            <a:r>
              <a:rPr lang="en-US" altLang="ko-KR" sz="2400" b="0" dirty="0">
                <a:latin typeface="Times New Roman" pitchFamily="18" charset="0"/>
                <a:ea typeface="굴림" charset="-127"/>
                <a:cs typeface="Times New Roman" pitchFamily="18" charset="0"/>
              </a:rPr>
              <a:t>	 - Host government demands, etc</a:t>
            </a:r>
            <a:endParaRPr lang="ko-KR" altLang="en-US" sz="2400" b="0" dirty="0">
              <a:latin typeface="Times New Roman" pitchFamily="18" charset="0"/>
              <a:ea typeface="굴림" charset="-127"/>
              <a:cs typeface="Times New Roman" pitchFamily="18" charset="0"/>
            </a:endParaRPr>
          </a:p>
          <a:p>
            <a:pPr eaLnBrk="1" hangingPunct="1">
              <a:buNone/>
            </a:pPr>
            <a:endParaRPr lang="en-US" altLang="ko-KR" sz="2400" b="0" dirty="0">
              <a:latin typeface="Times New Roman" pitchFamily="18" charset="0"/>
              <a:ea typeface="굴림" charset="-127"/>
              <a:cs typeface="Times New Roman" pitchFamily="18" charset="0"/>
            </a:endParaRPr>
          </a:p>
          <a:p>
            <a:pPr eaLnBrk="1" hangingPunct="1">
              <a:buNone/>
            </a:pPr>
            <a:endParaRPr lang="en-US" altLang="ko-KR" sz="2400" b="0" dirty="0">
              <a:latin typeface="Times New Roman" pitchFamily="18" charset="0"/>
              <a:ea typeface="굴림" charset="-127"/>
              <a:cs typeface="Times New Roman" pitchFamily="18" charset="0"/>
            </a:endParaRPr>
          </a:p>
        </p:txBody>
      </p:sp>
      <p:sp>
        <p:nvSpPr>
          <p:cNvPr id="5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24744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ko-KR" sz="3200" b="1" kern="1200" dirty="0">
                <a:solidFill>
                  <a:srgbClr val="FFC000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Two Opposing Forces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552" y="1412776"/>
            <a:ext cx="7920880" cy="4536504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ko-KR" sz="2400" b="0" dirty="0">
                <a:latin typeface="Times New Roman" pitchFamily="18" charset="0"/>
                <a:ea typeface="굴림" charset="-127"/>
                <a:cs typeface="Times New Roman" pitchFamily="18" charset="0"/>
              </a:rPr>
              <a:t>High pressures for local responsiveness and low pressures for global integration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ko-KR" sz="2400" b="0" dirty="0">
                <a:latin typeface="Times New Roman" pitchFamily="18" charset="0"/>
                <a:ea typeface="굴림" charset="-127"/>
                <a:cs typeface="Times New Roman" pitchFamily="18" charset="0"/>
              </a:rPr>
              <a:t>Huge differences in industry structures and customer needs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ko-KR" sz="2400" b="0" dirty="0">
                <a:latin typeface="Times New Roman" pitchFamily="18" charset="0"/>
                <a:ea typeface="굴림" charset="-127"/>
                <a:cs typeface="Times New Roman" pitchFamily="18" charset="0"/>
              </a:rPr>
              <a:t>Low minimum efficient scale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ko-KR" sz="2400" b="0" dirty="0">
                <a:latin typeface="Times New Roman" pitchFamily="18" charset="0"/>
                <a:ea typeface="굴림" charset="-127"/>
                <a:cs typeface="Times New Roman" pitchFamily="18" charset="0"/>
              </a:rPr>
              <a:t>Independent competition in each market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ko-KR" sz="2400" b="0" dirty="0">
                <a:latin typeface="Times New Roman" pitchFamily="18" charset="0"/>
                <a:ea typeface="굴림" charset="-127"/>
                <a:cs typeface="Times New Roman" pitchFamily="18" charset="0"/>
              </a:rPr>
              <a:t>No ‘international market’ / only country markets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ko-KR" sz="2400" b="0" dirty="0">
                <a:latin typeface="Times New Roman" pitchFamily="18" charset="0"/>
                <a:ea typeface="굴림" charset="-127"/>
                <a:cs typeface="Times New Roman" pitchFamily="18" charset="0"/>
              </a:rPr>
              <a:t>Examples?</a:t>
            </a:r>
          </a:p>
          <a:p>
            <a:pPr eaLnBrk="1" hangingPunct="1"/>
            <a:endParaRPr lang="en-US" altLang="ko-KR" sz="2400" dirty="0">
              <a:latin typeface="Times New Roman" pitchFamily="18" charset="0"/>
              <a:ea typeface="굴림" charset="-127"/>
              <a:cs typeface="Times New Roman" pitchFamily="18" charset="0"/>
            </a:endParaRPr>
          </a:p>
          <a:p>
            <a:pPr eaLnBrk="1" hangingPunct="1">
              <a:buFontTx/>
              <a:buNone/>
            </a:pPr>
            <a:endParaRPr lang="ko-KR" altLang="en-US" sz="2000" b="1" u="sng" dirty="0">
              <a:latin typeface="Times New Roman" pitchFamily="18" charset="0"/>
              <a:ea typeface="굴림" charset="-127"/>
              <a:cs typeface="Times New Roman" pitchFamily="18" charset="0"/>
            </a:endParaRPr>
          </a:p>
        </p:txBody>
      </p:sp>
      <p:sp>
        <p:nvSpPr>
          <p:cNvPr id="33808" name="Rectangle 16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24744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ko-KR" sz="3200" b="1" kern="1200" dirty="0" err="1">
                <a:solidFill>
                  <a:srgbClr val="FFC000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Multidomestic</a:t>
            </a:r>
            <a:r>
              <a:rPr lang="en-US" altLang="ko-KR" sz="3200" b="1" kern="1200" dirty="0">
                <a:solidFill>
                  <a:srgbClr val="FFC000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 Industry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0" y="1268760"/>
            <a:ext cx="7772400" cy="411480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ko-KR" sz="2400" b="0" dirty="0">
                <a:latin typeface="Times New Roman" pitchFamily="18" charset="0"/>
                <a:ea typeface="굴림" charset="-127"/>
                <a:cs typeface="Times New Roman" pitchFamily="18" charset="0"/>
              </a:rPr>
              <a:t>Relatively low pressures for both local responsiveness and global integration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ko-KR" sz="2400" b="0" dirty="0">
                <a:latin typeface="Times New Roman" pitchFamily="18" charset="0"/>
                <a:ea typeface="굴림" charset="-127"/>
                <a:cs typeface="Times New Roman" pitchFamily="18" charset="0"/>
              </a:rPr>
              <a:t>Low minimum efficient scale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ko-KR" sz="2400" b="0" dirty="0">
                <a:latin typeface="Times New Roman" pitchFamily="18" charset="0"/>
                <a:ea typeface="굴림" charset="-127"/>
                <a:cs typeface="Times New Roman" pitchFamily="18" charset="0"/>
              </a:rPr>
              <a:t>Minor modification requirement &amp; easy acceptance to local market &amp; easy transfer of knowledge and skills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ko-KR" sz="2400" b="0" dirty="0">
                <a:latin typeface="Times New Roman" pitchFamily="18" charset="0"/>
                <a:ea typeface="굴림" charset="-127"/>
                <a:cs typeface="Times New Roman" pitchFamily="18" charset="0"/>
              </a:rPr>
              <a:t>Moderate independent competition in each markets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ko-KR" sz="2400" b="0" dirty="0">
                <a:latin typeface="Times New Roman" pitchFamily="18" charset="0"/>
                <a:ea typeface="굴림" charset="-127"/>
                <a:cs typeface="Times New Roman" pitchFamily="18" charset="0"/>
              </a:rPr>
              <a:t>Examples?</a:t>
            </a:r>
          </a:p>
        </p:txBody>
      </p:sp>
      <p:sp>
        <p:nvSpPr>
          <p:cNvPr id="4" name="Rectangle 16"/>
          <p:cNvSpPr txBox="1">
            <a:spLocks noChangeArrowheads="1"/>
          </p:cNvSpPr>
          <p:nvPr/>
        </p:nvSpPr>
        <p:spPr>
          <a:xfrm>
            <a:off x="0" y="188640"/>
            <a:ext cx="9144000" cy="620688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International Industry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3568" y="1268760"/>
            <a:ext cx="7772400" cy="5040560"/>
          </a:xfrm>
        </p:spPr>
        <p:txBody>
          <a:bodyPr/>
          <a:lstStyle/>
          <a:p>
            <a:pPr eaLnBrk="1" hangingPunct="1">
              <a:lnSpc>
                <a:spcPts val="3400"/>
              </a:lnSpc>
            </a:pPr>
            <a:r>
              <a:rPr lang="en-US" altLang="ko-KR" sz="2400" b="0" dirty="0">
                <a:latin typeface="Times New Roman" pitchFamily="18" charset="0"/>
                <a:ea typeface="굴림" charset="-127"/>
                <a:cs typeface="Times New Roman" pitchFamily="18" charset="0"/>
              </a:rPr>
              <a:t>Low pressures for local responsiveness and high pressures for global integration</a:t>
            </a:r>
          </a:p>
          <a:p>
            <a:pPr eaLnBrk="1" hangingPunct="1">
              <a:lnSpc>
                <a:spcPts val="3400"/>
              </a:lnSpc>
            </a:pPr>
            <a:r>
              <a:rPr lang="en-US" altLang="ko-KR" sz="2400" b="0" dirty="0">
                <a:latin typeface="Times New Roman" pitchFamily="18" charset="0"/>
                <a:ea typeface="굴림" charset="-127"/>
                <a:cs typeface="Times New Roman" pitchFamily="18" charset="0"/>
              </a:rPr>
              <a:t>Strong common customer needs </a:t>
            </a:r>
          </a:p>
          <a:p>
            <a:pPr eaLnBrk="1" hangingPunct="1">
              <a:lnSpc>
                <a:spcPts val="3400"/>
              </a:lnSpc>
            </a:pPr>
            <a:r>
              <a:rPr lang="en-US" altLang="ko-KR" sz="2400" b="0" dirty="0">
                <a:latin typeface="Times New Roman" pitchFamily="18" charset="0"/>
                <a:ea typeface="굴림" charset="-127"/>
                <a:cs typeface="Times New Roman" pitchFamily="18" charset="0"/>
              </a:rPr>
              <a:t>Strong needs for global scale economies</a:t>
            </a:r>
          </a:p>
          <a:p>
            <a:pPr eaLnBrk="1" hangingPunct="1">
              <a:lnSpc>
                <a:spcPts val="3400"/>
              </a:lnSpc>
            </a:pPr>
            <a:r>
              <a:rPr lang="en-US" altLang="ko-KR" sz="2400" b="0" dirty="0">
                <a:latin typeface="Times New Roman" pitchFamily="18" charset="0"/>
                <a:ea typeface="굴림" charset="-127"/>
                <a:cs typeface="Times New Roman" pitchFamily="18" charset="0"/>
              </a:rPr>
              <a:t>High minimum efficient scale</a:t>
            </a:r>
          </a:p>
          <a:p>
            <a:pPr eaLnBrk="1" hangingPunct="1">
              <a:lnSpc>
                <a:spcPts val="3400"/>
              </a:lnSpc>
            </a:pPr>
            <a:r>
              <a:rPr lang="en-US" altLang="ko-KR" sz="2400" b="0" dirty="0">
                <a:latin typeface="Times New Roman" pitchFamily="18" charset="0"/>
                <a:ea typeface="굴림" charset="-127"/>
                <a:cs typeface="Times New Roman" pitchFamily="18" charset="0"/>
              </a:rPr>
              <a:t>Export platform / home dominance</a:t>
            </a:r>
          </a:p>
          <a:p>
            <a:pPr eaLnBrk="1" hangingPunct="1">
              <a:lnSpc>
                <a:spcPts val="3400"/>
              </a:lnSpc>
            </a:pPr>
            <a:r>
              <a:rPr lang="en-US" altLang="ko-KR" sz="2400" b="0" dirty="0">
                <a:latin typeface="Times New Roman" pitchFamily="18" charset="0"/>
                <a:ea typeface="굴림" charset="-127"/>
                <a:cs typeface="Times New Roman" pitchFamily="18" charset="0"/>
              </a:rPr>
              <a:t>Linked competition across various markets</a:t>
            </a:r>
          </a:p>
          <a:p>
            <a:pPr eaLnBrk="1" hangingPunct="1">
              <a:lnSpc>
                <a:spcPts val="3400"/>
              </a:lnSpc>
            </a:pPr>
            <a:r>
              <a:rPr lang="en-US" altLang="ko-KR" sz="2400" b="0" dirty="0">
                <a:latin typeface="Times New Roman" pitchFamily="18" charset="0"/>
                <a:ea typeface="굴림" charset="-127"/>
                <a:cs typeface="Times New Roman" pitchFamily="18" charset="0"/>
              </a:rPr>
              <a:t>World-wide leadership</a:t>
            </a:r>
          </a:p>
          <a:p>
            <a:pPr eaLnBrk="1" hangingPunct="1">
              <a:lnSpc>
                <a:spcPts val="3400"/>
              </a:lnSpc>
            </a:pPr>
            <a:r>
              <a:rPr lang="en-US" altLang="ko-KR" sz="2400" b="0" dirty="0">
                <a:latin typeface="Times New Roman" pitchFamily="18" charset="0"/>
                <a:ea typeface="굴림" charset="-127"/>
                <a:cs typeface="Times New Roman" pitchFamily="18" charset="0"/>
              </a:rPr>
              <a:t>Examples?</a:t>
            </a:r>
          </a:p>
          <a:p>
            <a:pPr eaLnBrk="1" hangingPunct="1">
              <a:buFontTx/>
              <a:buNone/>
            </a:pPr>
            <a:endParaRPr lang="en-US" altLang="ko-KR" sz="2400" b="0" dirty="0">
              <a:latin typeface="Times New Roman" pitchFamily="18" charset="0"/>
              <a:ea typeface="굴림" charset="-127"/>
              <a:cs typeface="Times New Roman" pitchFamily="18" charset="0"/>
            </a:endParaRPr>
          </a:p>
        </p:txBody>
      </p:sp>
      <p:sp>
        <p:nvSpPr>
          <p:cNvPr id="4" name="Rectangle 16"/>
          <p:cNvSpPr txBox="1">
            <a:spLocks noChangeArrowheads="1"/>
          </p:cNvSpPr>
          <p:nvPr/>
        </p:nvSpPr>
        <p:spPr>
          <a:xfrm>
            <a:off x="0" y="188640"/>
            <a:ext cx="9144000" cy="620688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Global (Simple-Global)</a:t>
            </a:r>
            <a:r>
              <a:rPr kumimoji="0" lang="en-US" altLang="ko-KR" sz="3200" b="1" i="0" u="none" strike="noStrike" kern="1200" cap="none" spc="0" normalizeH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 Industry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Times New Roman" pitchFamily="18" charset="0"/>
              <a:ea typeface="굴림" pitchFamily="50" charset="-127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576" y="1268760"/>
            <a:ext cx="7628384" cy="4402832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ko-KR" sz="2400" b="0" dirty="0">
                <a:latin typeface="Times New Roman" pitchFamily="18" charset="0"/>
                <a:ea typeface="굴림" charset="-127"/>
                <a:cs typeface="Times New Roman" pitchFamily="18" charset="0"/>
              </a:rPr>
              <a:t>High pressures for both local responsiveness and global integration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ko-KR" sz="2400" b="0" dirty="0">
                <a:latin typeface="Times New Roman" pitchFamily="18" charset="0"/>
                <a:ea typeface="굴림" charset="-127"/>
                <a:cs typeface="Times New Roman" pitchFamily="18" charset="0"/>
              </a:rPr>
              <a:t>High pressures for global learning/scale/scope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ko-KR" sz="2400" b="0" dirty="0">
                <a:latin typeface="Times New Roman" pitchFamily="18" charset="0"/>
                <a:ea typeface="굴림" charset="-127"/>
                <a:cs typeface="Times New Roman" pitchFamily="18" charset="0"/>
              </a:rPr>
              <a:t>The most complex, competitive, and advanced form of industry/competition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ko-KR" sz="2400" b="0" dirty="0">
                <a:latin typeface="Times New Roman" pitchFamily="18" charset="0"/>
                <a:ea typeface="굴림" charset="-127"/>
                <a:cs typeface="Times New Roman" pitchFamily="18" charset="0"/>
              </a:rPr>
              <a:t>Highly interdependent competition across various markets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ko-KR" sz="2400" b="0" dirty="0">
                <a:latin typeface="Times New Roman" pitchFamily="18" charset="0"/>
                <a:ea typeface="굴림" charset="-127"/>
                <a:cs typeface="Times New Roman" pitchFamily="18" charset="0"/>
              </a:rPr>
              <a:t>World-wide leadership</a:t>
            </a:r>
          </a:p>
        </p:txBody>
      </p:sp>
      <p:sp>
        <p:nvSpPr>
          <p:cNvPr id="4" name="Rectangle 16"/>
          <p:cNvSpPr txBox="1">
            <a:spLocks noChangeArrowheads="1"/>
          </p:cNvSpPr>
          <p:nvPr/>
        </p:nvSpPr>
        <p:spPr>
          <a:xfrm>
            <a:off x="0" y="188640"/>
            <a:ext cx="9144000" cy="620688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Transnational (Complex-Global)</a:t>
            </a:r>
            <a:r>
              <a:rPr kumimoji="0" lang="en-US" altLang="ko-KR" sz="3200" b="1" i="0" u="none" strike="noStrike" kern="1200" cap="none" spc="0" normalizeH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 Industry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Times New Roman" pitchFamily="18" charset="0"/>
              <a:ea typeface="굴림" pitchFamily="50" charset="-127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5"/>
          <p:cNvSpPr>
            <a:spLocks noChangeArrowheads="1"/>
          </p:cNvSpPr>
          <p:nvPr/>
        </p:nvSpPr>
        <p:spPr bwMode="auto">
          <a:xfrm>
            <a:off x="2166243" y="1844824"/>
            <a:ext cx="5486400" cy="36576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ko-KR" altLang="ko-KR"/>
          </a:p>
        </p:txBody>
      </p:sp>
      <p:sp>
        <p:nvSpPr>
          <p:cNvPr id="20486" name="Text Box 8"/>
          <p:cNvSpPr txBox="1">
            <a:spLocks noChangeArrowheads="1"/>
          </p:cNvSpPr>
          <p:nvPr/>
        </p:nvSpPr>
        <p:spPr bwMode="auto">
          <a:xfrm>
            <a:off x="2123728" y="5592911"/>
            <a:ext cx="74892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b="0" u="none" dirty="0">
                <a:latin typeface="Times New Roman" pitchFamily="18" charset="0"/>
                <a:ea typeface="굴림" charset="-127"/>
              </a:rPr>
              <a:t>Low</a:t>
            </a:r>
          </a:p>
        </p:txBody>
      </p:sp>
      <p:sp>
        <p:nvSpPr>
          <p:cNvPr id="20487" name="Text Box 9"/>
          <p:cNvSpPr txBox="1">
            <a:spLocks noChangeArrowheads="1"/>
          </p:cNvSpPr>
          <p:nvPr/>
        </p:nvSpPr>
        <p:spPr bwMode="auto">
          <a:xfrm>
            <a:off x="7048202" y="5592911"/>
            <a:ext cx="80021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b="0" u="none" dirty="0">
                <a:latin typeface="Times New Roman" pitchFamily="18" charset="0"/>
                <a:ea typeface="굴림" charset="-127"/>
              </a:rPr>
              <a:t>High</a:t>
            </a:r>
          </a:p>
        </p:txBody>
      </p:sp>
      <p:sp>
        <p:nvSpPr>
          <p:cNvPr id="20488" name="Text Box 10"/>
          <p:cNvSpPr txBox="1">
            <a:spLocks noChangeArrowheads="1"/>
          </p:cNvSpPr>
          <p:nvPr/>
        </p:nvSpPr>
        <p:spPr bwMode="auto">
          <a:xfrm>
            <a:off x="1359570" y="1700808"/>
            <a:ext cx="80021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b="0" u="none" dirty="0">
                <a:latin typeface="Times New Roman" pitchFamily="18" charset="0"/>
                <a:ea typeface="굴림" charset="-127"/>
              </a:rPr>
              <a:t>High</a:t>
            </a:r>
          </a:p>
        </p:txBody>
      </p:sp>
      <p:sp>
        <p:nvSpPr>
          <p:cNvPr id="20489" name="Text Box 11"/>
          <p:cNvSpPr txBox="1">
            <a:spLocks noChangeArrowheads="1"/>
          </p:cNvSpPr>
          <p:nvPr/>
        </p:nvSpPr>
        <p:spPr bwMode="auto">
          <a:xfrm>
            <a:off x="1396331" y="5106218"/>
            <a:ext cx="87141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b="0" u="none" dirty="0">
                <a:latin typeface="Times New Roman" pitchFamily="18" charset="0"/>
                <a:ea typeface="굴림" charset="-127"/>
              </a:rPr>
              <a:t>Low</a:t>
            </a:r>
          </a:p>
        </p:txBody>
      </p:sp>
      <p:sp>
        <p:nvSpPr>
          <p:cNvPr id="20490" name="Text Box 12"/>
          <p:cNvSpPr txBox="1">
            <a:spLocks noChangeArrowheads="1"/>
          </p:cNvSpPr>
          <p:nvPr/>
        </p:nvSpPr>
        <p:spPr bwMode="auto">
          <a:xfrm>
            <a:off x="2411760" y="4509120"/>
            <a:ext cx="1754006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ko-KR" b="0" u="none" dirty="0">
                <a:latin typeface="Times New Roman" pitchFamily="18" charset="0"/>
                <a:ea typeface="굴림" charset="-127"/>
              </a:rPr>
              <a:t>International</a:t>
            </a:r>
          </a:p>
          <a:p>
            <a:pPr algn="ctr"/>
            <a:r>
              <a:rPr lang="en-US" altLang="ko-KR" b="0" dirty="0">
                <a:ea typeface="굴림" charset="-127"/>
              </a:rPr>
              <a:t>industry</a:t>
            </a:r>
            <a:endParaRPr lang="ko-KR" altLang="en-US" b="0" u="none" dirty="0">
              <a:latin typeface="Times New Roman" pitchFamily="18" charset="0"/>
              <a:ea typeface="굴림" charset="-127"/>
            </a:endParaRPr>
          </a:p>
        </p:txBody>
      </p:sp>
      <p:sp>
        <p:nvSpPr>
          <p:cNvPr id="20491" name="Text Box 13"/>
          <p:cNvSpPr txBox="1">
            <a:spLocks noChangeArrowheads="1"/>
          </p:cNvSpPr>
          <p:nvPr/>
        </p:nvSpPr>
        <p:spPr bwMode="auto">
          <a:xfrm>
            <a:off x="5691521" y="4653136"/>
            <a:ext cx="1976823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b="0" u="none" dirty="0" err="1">
                <a:latin typeface="Times New Roman" pitchFamily="18" charset="0"/>
                <a:ea typeface="굴림" charset="-127"/>
              </a:rPr>
              <a:t>Multidomestic</a:t>
            </a:r>
            <a:endParaRPr lang="en-US" altLang="ko-KR" b="0" u="none" dirty="0">
              <a:latin typeface="Times New Roman" pitchFamily="18" charset="0"/>
              <a:ea typeface="굴림" charset="-127"/>
            </a:endParaRPr>
          </a:p>
          <a:p>
            <a:pPr algn="ctr"/>
            <a:r>
              <a:rPr lang="en-US" altLang="ko-KR" b="0" dirty="0">
                <a:ea typeface="굴림" charset="-127"/>
              </a:rPr>
              <a:t>industry</a:t>
            </a:r>
            <a:endParaRPr lang="ko-KR" altLang="en-US" b="0" u="none" dirty="0">
              <a:latin typeface="Times New Roman" pitchFamily="18" charset="0"/>
              <a:ea typeface="굴림" charset="-127"/>
            </a:endParaRPr>
          </a:p>
        </p:txBody>
      </p:sp>
      <p:sp>
        <p:nvSpPr>
          <p:cNvPr id="20492" name="Text Box 14"/>
          <p:cNvSpPr txBox="1">
            <a:spLocks noChangeArrowheads="1"/>
          </p:cNvSpPr>
          <p:nvPr/>
        </p:nvSpPr>
        <p:spPr bwMode="auto">
          <a:xfrm>
            <a:off x="2483768" y="2060848"/>
            <a:ext cx="119295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ko-KR" b="0" dirty="0">
                <a:ea typeface="굴림" charset="-127"/>
              </a:rPr>
              <a:t>G</a:t>
            </a:r>
            <a:r>
              <a:rPr lang="en-US" altLang="ko-KR" b="0" u="none" dirty="0">
                <a:latin typeface="Times New Roman" pitchFamily="18" charset="0"/>
                <a:ea typeface="굴림" charset="-127"/>
              </a:rPr>
              <a:t>lobal</a:t>
            </a:r>
          </a:p>
          <a:p>
            <a:pPr algn="l"/>
            <a:r>
              <a:rPr lang="en-US" altLang="ko-KR" b="0" dirty="0">
                <a:ea typeface="굴림" charset="-127"/>
              </a:rPr>
              <a:t>industry</a:t>
            </a:r>
            <a:endParaRPr lang="ko-KR" altLang="en-US" b="0" u="none" dirty="0">
              <a:latin typeface="Times New Roman" pitchFamily="18" charset="0"/>
              <a:ea typeface="굴림" charset="-127"/>
            </a:endParaRPr>
          </a:p>
        </p:txBody>
      </p:sp>
      <p:sp>
        <p:nvSpPr>
          <p:cNvPr id="20493" name="Text Box 15"/>
          <p:cNvSpPr txBox="1">
            <a:spLocks noChangeArrowheads="1"/>
          </p:cNvSpPr>
          <p:nvPr/>
        </p:nvSpPr>
        <p:spPr bwMode="auto">
          <a:xfrm>
            <a:off x="5796136" y="2060848"/>
            <a:ext cx="186339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ko-KR" b="0" u="none" dirty="0">
                <a:latin typeface="Times New Roman" pitchFamily="18" charset="0"/>
                <a:ea typeface="굴림" charset="-127"/>
              </a:rPr>
              <a:t>Transnational</a:t>
            </a:r>
          </a:p>
          <a:p>
            <a:pPr algn="ctr"/>
            <a:r>
              <a:rPr lang="en-US" altLang="ko-KR" b="0" dirty="0">
                <a:ea typeface="굴림" charset="-127"/>
              </a:rPr>
              <a:t>industry</a:t>
            </a:r>
            <a:endParaRPr lang="en-US" altLang="ko-KR" b="0" u="none" dirty="0">
              <a:latin typeface="Times New Roman" pitchFamily="18" charset="0"/>
              <a:ea typeface="굴림" charset="-127"/>
            </a:endParaRPr>
          </a:p>
        </p:txBody>
      </p:sp>
      <p:sp>
        <p:nvSpPr>
          <p:cNvPr id="20494" name="Text Box 16"/>
          <p:cNvSpPr txBox="1">
            <a:spLocks noChangeArrowheads="1"/>
          </p:cNvSpPr>
          <p:nvPr/>
        </p:nvSpPr>
        <p:spPr bwMode="auto">
          <a:xfrm>
            <a:off x="4491861" y="5991671"/>
            <a:ext cx="80021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u="none">
                <a:solidFill>
                  <a:srgbClr val="00FFFF"/>
                </a:solidFill>
                <a:latin typeface="Times New Roman" pitchFamily="18" charset="0"/>
                <a:ea typeface="굴림" charset="-127"/>
              </a:rPr>
              <a:t>FLR</a:t>
            </a:r>
          </a:p>
        </p:txBody>
      </p:sp>
      <p:sp>
        <p:nvSpPr>
          <p:cNvPr id="20495" name="Text Box 17"/>
          <p:cNvSpPr txBox="1">
            <a:spLocks noChangeArrowheads="1"/>
          </p:cNvSpPr>
          <p:nvPr/>
        </p:nvSpPr>
        <p:spPr bwMode="auto">
          <a:xfrm>
            <a:off x="755576" y="3429000"/>
            <a:ext cx="73129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u="none" dirty="0">
                <a:solidFill>
                  <a:srgbClr val="00FFFF"/>
                </a:solidFill>
                <a:latin typeface="Times New Roman" pitchFamily="18" charset="0"/>
                <a:ea typeface="굴림" charset="-127"/>
              </a:rPr>
              <a:t>FGI</a:t>
            </a:r>
          </a:p>
        </p:txBody>
      </p:sp>
      <p:sp>
        <p:nvSpPr>
          <p:cNvPr id="20496" name="Oval 18"/>
          <p:cNvSpPr>
            <a:spLocks noChangeArrowheads="1"/>
          </p:cNvSpPr>
          <p:nvPr/>
        </p:nvSpPr>
        <p:spPr bwMode="auto">
          <a:xfrm>
            <a:off x="2491259" y="3382392"/>
            <a:ext cx="136525" cy="13652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/>
          </a:p>
        </p:txBody>
      </p:sp>
      <p:sp>
        <p:nvSpPr>
          <p:cNvPr id="20497" name="Line 19"/>
          <p:cNvSpPr>
            <a:spLocks noChangeShapeType="1"/>
          </p:cNvSpPr>
          <p:nvPr/>
        </p:nvSpPr>
        <p:spPr bwMode="auto">
          <a:xfrm flipV="1">
            <a:off x="2627784" y="3284984"/>
            <a:ext cx="457200" cy="152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ko-KR" altLang="en-US"/>
          </a:p>
        </p:txBody>
      </p:sp>
      <p:sp>
        <p:nvSpPr>
          <p:cNvPr id="20498" name="Oval 20"/>
          <p:cNvSpPr>
            <a:spLocks noChangeArrowheads="1"/>
          </p:cNvSpPr>
          <p:nvPr/>
        </p:nvSpPr>
        <p:spPr bwMode="auto">
          <a:xfrm>
            <a:off x="3140968" y="3148459"/>
            <a:ext cx="136525" cy="13652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/>
          </a:p>
        </p:txBody>
      </p:sp>
      <p:sp>
        <p:nvSpPr>
          <p:cNvPr id="20499" name="Line 21"/>
          <p:cNvSpPr>
            <a:spLocks noChangeShapeType="1"/>
          </p:cNvSpPr>
          <p:nvPr/>
        </p:nvSpPr>
        <p:spPr bwMode="auto">
          <a:xfrm flipV="1">
            <a:off x="3275856" y="3068960"/>
            <a:ext cx="457200" cy="152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ko-KR" altLang="en-US"/>
          </a:p>
        </p:txBody>
      </p:sp>
      <p:sp>
        <p:nvSpPr>
          <p:cNvPr id="20500" name="Oval 22"/>
          <p:cNvSpPr>
            <a:spLocks noChangeArrowheads="1"/>
          </p:cNvSpPr>
          <p:nvPr/>
        </p:nvSpPr>
        <p:spPr bwMode="auto">
          <a:xfrm>
            <a:off x="3826768" y="2924944"/>
            <a:ext cx="136525" cy="13652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/>
          </a:p>
        </p:txBody>
      </p:sp>
      <p:sp>
        <p:nvSpPr>
          <p:cNvPr id="20501" name="Line 23"/>
          <p:cNvSpPr>
            <a:spLocks noChangeShapeType="1"/>
          </p:cNvSpPr>
          <p:nvPr/>
        </p:nvSpPr>
        <p:spPr bwMode="auto">
          <a:xfrm flipV="1">
            <a:off x="3923928" y="2852936"/>
            <a:ext cx="457200" cy="152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ko-KR" altLang="en-US"/>
          </a:p>
        </p:txBody>
      </p:sp>
      <p:sp>
        <p:nvSpPr>
          <p:cNvPr id="20502" name="Oval 24"/>
          <p:cNvSpPr>
            <a:spLocks noChangeArrowheads="1"/>
          </p:cNvSpPr>
          <p:nvPr/>
        </p:nvSpPr>
        <p:spPr bwMode="auto">
          <a:xfrm>
            <a:off x="4499992" y="2708920"/>
            <a:ext cx="136525" cy="13652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/>
          </a:p>
        </p:txBody>
      </p:sp>
      <p:sp>
        <p:nvSpPr>
          <p:cNvPr id="20503" name="Line 25"/>
          <p:cNvSpPr>
            <a:spLocks noChangeShapeType="1"/>
          </p:cNvSpPr>
          <p:nvPr/>
        </p:nvSpPr>
        <p:spPr bwMode="auto">
          <a:xfrm flipV="1">
            <a:off x="4572000" y="2636912"/>
            <a:ext cx="457200" cy="152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ko-KR" altLang="en-US"/>
          </a:p>
        </p:txBody>
      </p:sp>
      <p:sp>
        <p:nvSpPr>
          <p:cNvPr id="20507" name="Line 29"/>
          <p:cNvSpPr>
            <a:spLocks noChangeShapeType="1"/>
          </p:cNvSpPr>
          <p:nvPr/>
        </p:nvSpPr>
        <p:spPr bwMode="auto">
          <a:xfrm flipV="1">
            <a:off x="4067944" y="2348880"/>
            <a:ext cx="432048" cy="8384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ko-KR" altLang="en-US"/>
          </a:p>
        </p:txBody>
      </p:sp>
      <p:sp>
        <p:nvSpPr>
          <p:cNvPr id="20508" name="Oval 30"/>
          <p:cNvSpPr>
            <a:spLocks noChangeArrowheads="1"/>
          </p:cNvSpPr>
          <p:nvPr/>
        </p:nvSpPr>
        <p:spPr bwMode="auto">
          <a:xfrm>
            <a:off x="3140968" y="3764111"/>
            <a:ext cx="136525" cy="13652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/>
          </a:p>
        </p:txBody>
      </p:sp>
      <p:sp>
        <p:nvSpPr>
          <p:cNvPr id="20509" name="Line 31"/>
          <p:cNvSpPr>
            <a:spLocks noChangeShapeType="1"/>
          </p:cNvSpPr>
          <p:nvPr/>
        </p:nvSpPr>
        <p:spPr bwMode="auto">
          <a:xfrm flipV="1">
            <a:off x="3217168" y="3687911"/>
            <a:ext cx="457200" cy="152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ko-KR" altLang="en-US"/>
          </a:p>
        </p:txBody>
      </p:sp>
      <p:sp>
        <p:nvSpPr>
          <p:cNvPr id="20510" name="Oval 32"/>
          <p:cNvSpPr>
            <a:spLocks noChangeArrowheads="1"/>
          </p:cNvSpPr>
          <p:nvPr/>
        </p:nvSpPr>
        <p:spPr bwMode="auto">
          <a:xfrm>
            <a:off x="3750568" y="3535511"/>
            <a:ext cx="136525" cy="13652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/>
          </a:p>
        </p:txBody>
      </p:sp>
      <p:sp>
        <p:nvSpPr>
          <p:cNvPr id="20511" name="Line 33"/>
          <p:cNvSpPr>
            <a:spLocks noChangeShapeType="1"/>
          </p:cNvSpPr>
          <p:nvPr/>
        </p:nvSpPr>
        <p:spPr bwMode="auto">
          <a:xfrm flipV="1">
            <a:off x="3826768" y="3459311"/>
            <a:ext cx="457200" cy="152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ko-KR" altLang="en-US"/>
          </a:p>
        </p:txBody>
      </p:sp>
      <p:sp>
        <p:nvSpPr>
          <p:cNvPr id="20512" name="Oval 34"/>
          <p:cNvSpPr>
            <a:spLocks noChangeArrowheads="1"/>
          </p:cNvSpPr>
          <p:nvPr/>
        </p:nvSpPr>
        <p:spPr bwMode="auto">
          <a:xfrm>
            <a:off x="4436368" y="3306911"/>
            <a:ext cx="136525" cy="13652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/>
          </a:p>
        </p:txBody>
      </p:sp>
      <p:sp>
        <p:nvSpPr>
          <p:cNvPr id="20513" name="Line 35"/>
          <p:cNvSpPr>
            <a:spLocks noChangeShapeType="1"/>
          </p:cNvSpPr>
          <p:nvPr/>
        </p:nvSpPr>
        <p:spPr bwMode="auto">
          <a:xfrm flipV="1">
            <a:off x="4512568" y="3230711"/>
            <a:ext cx="457200" cy="152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ko-KR" altLang="en-US"/>
          </a:p>
        </p:txBody>
      </p:sp>
      <p:sp>
        <p:nvSpPr>
          <p:cNvPr id="20514" name="Oval 36"/>
          <p:cNvSpPr>
            <a:spLocks noChangeArrowheads="1"/>
          </p:cNvSpPr>
          <p:nvPr/>
        </p:nvSpPr>
        <p:spPr bwMode="auto">
          <a:xfrm>
            <a:off x="5045968" y="3078311"/>
            <a:ext cx="136525" cy="13652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/>
          </a:p>
        </p:txBody>
      </p:sp>
      <p:sp>
        <p:nvSpPr>
          <p:cNvPr id="20515" name="Line 37"/>
          <p:cNvSpPr>
            <a:spLocks noChangeShapeType="1"/>
          </p:cNvSpPr>
          <p:nvPr/>
        </p:nvSpPr>
        <p:spPr bwMode="auto">
          <a:xfrm flipV="1">
            <a:off x="5122168" y="2925911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ko-KR" altLang="en-US"/>
          </a:p>
        </p:txBody>
      </p:sp>
      <p:sp>
        <p:nvSpPr>
          <p:cNvPr id="20518" name="Oval 40"/>
          <p:cNvSpPr>
            <a:spLocks noChangeArrowheads="1"/>
          </p:cNvSpPr>
          <p:nvPr/>
        </p:nvSpPr>
        <p:spPr bwMode="auto">
          <a:xfrm>
            <a:off x="3851920" y="2276872"/>
            <a:ext cx="136525" cy="13652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/>
          </a:p>
        </p:txBody>
      </p:sp>
      <p:sp>
        <p:nvSpPr>
          <p:cNvPr id="20524" name="Oval 46"/>
          <p:cNvSpPr>
            <a:spLocks noChangeArrowheads="1"/>
          </p:cNvSpPr>
          <p:nvPr/>
        </p:nvSpPr>
        <p:spPr bwMode="auto">
          <a:xfrm>
            <a:off x="5426968" y="3383111"/>
            <a:ext cx="136525" cy="13652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/>
          </a:p>
        </p:txBody>
      </p:sp>
      <p:sp>
        <p:nvSpPr>
          <p:cNvPr id="20525" name="Line 47"/>
          <p:cNvSpPr>
            <a:spLocks noChangeShapeType="1"/>
          </p:cNvSpPr>
          <p:nvPr/>
        </p:nvSpPr>
        <p:spPr bwMode="auto">
          <a:xfrm flipV="1">
            <a:off x="5503168" y="3154511"/>
            <a:ext cx="457200" cy="304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ko-KR" altLang="en-US"/>
          </a:p>
        </p:txBody>
      </p:sp>
      <p:sp>
        <p:nvSpPr>
          <p:cNvPr id="20526" name="Oval 48"/>
          <p:cNvSpPr>
            <a:spLocks noChangeArrowheads="1"/>
          </p:cNvSpPr>
          <p:nvPr/>
        </p:nvSpPr>
        <p:spPr bwMode="auto">
          <a:xfrm>
            <a:off x="4664968" y="4983311"/>
            <a:ext cx="136525" cy="13652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/>
          </a:p>
        </p:txBody>
      </p:sp>
      <p:sp>
        <p:nvSpPr>
          <p:cNvPr id="20527" name="Line 49"/>
          <p:cNvSpPr>
            <a:spLocks noChangeShapeType="1"/>
          </p:cNvSpPr>
          <p:nvPr/>
        </p:nvSpPr>
        <p:spPr bwMode="auto">
          <a:xfrm flipV="1">
            <a:off x="4741168" y="4678511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ko-KR" altLang="en-US"/>
          </a:p>
        </p:txBody>
      </p:sp>
      <p:sp>
        <p:nvSpPr>
          <p:cNvPr id="20528" name="Oval 50"/>
          <p:cNvSpPr>
            <a:spLocks noChangeArrowheads="1"/>
          </p:cNvSpPr>
          <p:nvPr/>
        </p:nvSpPr>
        <p:spPr bwMode="auto">
          <a:xfrm>
            <a:off x="5122168" y="4526111"/>
            <a:ext cx="136525" cy="13652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/>
          </a:p>
        </p:txBody>
      </p:sp>
      <p:sp>
        <p:nvSpPr>
          <p:cNvPr id="20529" name="Line 51"/>
          <p:cNvSpPr>
            <a:spLocks noChangeShapeType="1"/>
          </p:cNvSpPr>
          <p:nvPr/>
        </p:nvSpPr>
        <p:spPr bwMode="auto">
          <a:xfrm flipV="1">
            <a:off x="5198368" y="4221311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ko-KR" altLang="en-US"/>
          </a:p>
        </p:txBody>
      </p:sp>
      <p:sp>
        <p:nvSpPr>
          <p:cNvPr id="20530" name="Oval 52"/>
          <p:cNvSpPr>
            <a:spLocks noChangeArrowheads="1"/>
          </p:cNvSpPr>
          <p:nvPr/>
        </p:nvSpPr>
        <p:spPr bwMode="auto">
          <a:xfrm>
            <a:off x="5579368" y="3992711"/>
            <a:ext cx="136525" cy="13652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/>
          </a:p>
        </p:txBody>
      </p:sp>
      <p:sp>
        <p:nvSpPr>
          <p:cNvPr id="20531" name="Line 53"/>
          <p:cNvSpPr>
            <a:spLocks noChangeShapeType="1"/>
          </p:cNvSpPr>
          <p:nvPr/>
        </p:nvSpPr>
        <p:spPr bwMode="auto">
          <a:xfrm flipV="1">
            <a:off x="5655568" y="3687911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ko-KR" altLang="en-US"/>
          </a:p>
        </p:txBody>
      </p:sp>
      <p:sp>
        <p:nvSpPr>
          <p:cNvPr id="20532" name="Oval 54"/>
          <p:cNvSpPr>
            <a:spLocks noChangeArrowheads="1"/>
          </p:cNvSpPr>
          <p:nvPr/>
        </p:nvSpPr>
        <p:spPr bwMode="auto">
          <a:xfrm>
            <a:off x="6036568" y="3459311"/>
            <a:ext cx="136525" cy="13652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/>
          </a:p>
        </p:txBody>
      </p:sp>
      <p:sp>
        <p:nvSpPr>
          <p:cNvPr id="20533" name="Line 55"/>
          <p:cNvSpPr>
            <a:spLocks noChangeShapeType="1"/>
          </p:cNvSpPr>
          <p:nvPr/>
        </p:nvSpPr>
        <p:spPr bwMode="auto">
          <a:xfrm flipV="1">
            <a:off x="6112768" y="3284983"/>
            <a:ext cx="187424" cy="25052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ko-KR" altLang="en-US"/>
          </a:p>
        </p:txBody>
      </p:sp>
      <p:sp>
        <p:nvSpPr>
          <p:cNvPr id="20534" name="Oval 56"/>
          <p:cNvSpPr>
            <a:spLocks noChangeArrowheads="1"/>
          </p:cNvSpPr>
          <p:nvPr/>
        </p:nvSpPr>
        <p:spPr bwMode="auto">
          <a:xfrm>
            <a:off x="6569968" y="4678511"/>
            <a:ext cx="136525" cy="13652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/>
          </a:p>
        </p:txBody>
      </p:sp>
      <p:sp>
        <p:nvSpPr>
          <p:cNvPr id="20535" name="Line 57"/>
          <p:cNvSpPr>
            <a:spLocks noChangeShapeType="1"/>
          </p:cNvSpPr>
          <p:nvPr/>
        </p:nvSpPr>
        <p:spPr bwMode="auto">
          <a:xfrm flipV="1">
            <a:off x="6646168" y="4297511"/>
            <a:ext cx="76200" cy="457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ko-KR" altLang="en-US"/>
          </a:p>
        </p:txBody>
      </p:sp>
      <p:sp>
        <p:nvSpPr>
          <p:cNvPr id="20536" name="Oval 58"/>
          <p:cNvSpPr>
            <a:spLocks noChangeArrowheads="1"/>
          </p:cNvSpPr>
          <p:nvPr/>
        </p:nvSpPr>
        <p:spPr bwMode="auto">
          <a:xfrm>
            <a:off x="6646168" y="4068911"/>
            <a:ext cx="136525" cy="13652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/>
          </a:p>
        </p:txBody>
      </p:sp>
      <p:sp>
        <p:nvSpPr>
          <p:cNvPr id="20537" name="Line 59"/>
          <p:cNvSpPr>
            <a:spLocks noChangeShapeType="1"/>
          </p:cNvSpPr>
          <p:nvPr/>
        </p:nvSpPr>
        <p:spPr bwMode="auto">
          <a:xfrm flipV="1">
            <a:off x="6722368" y="3687911"/>
            <a:ext cx="76200" cy="457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ko-KR" altLang="en-US"/>
          </a:p>
        </p:txBody>
      </p:sp>
      <p:sp>
        <p:nvSpPr>
          <p:cNvPr id="20538" name="Oval 60"/>
          <p:cNvSpPr>
            <a:spLocks noChangeArrowheads="1"/>
          </p:cNvSpPr>
          <p:nvPr/>
        </p:nvSpPr>
        <p:spPr bwMode="auto">
          <a:xfrm>
            <a:off x="6732240" y="3508499"/>
            <a:ext cx="136525" cy="13652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/>
          </a:p>
        </p:txBody>
      </p:sp>
      <p:sp>
        <p:nvSpPr>
          <p:cNvPr id="20539" name="Line 61"/>
          <p:cNvSpPr>
            <a:spLocks noChangeShapeType="1"/>
          </p:cNvSpPr>
          <p:nvPr/>
        </p:nvSpPr>
        <p:spPr bwMode="auto">
          <a:xfrm flipV="1">
            <a:off x="6814120" y="3356991"/>
            <a:ext cx="62136" cy="22770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ko-KR" altLang="en-US"/>
          </a:p>
        </p:txBody>
      </p:sp>
      <p:sp>
        <p:nvSpPr>
          <p:cNvPr id="61" name="Rectangle 16"/>
          <p:cNvSpPr txBox="1">
            <a:spLocks noChangeArrowheads="1"/>
          </p:cNvSpPr>
          <p:nvPr/>
        </p:nvSpPr>
        <p:spPr>
          <a:xfrm>
            <a:off x="0" y="216024"/>
            <a:ext cx="9144000" cy="764704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ea typeface="굴림" pitchFamily="50" charset="-127"/>
                <a:cs typeface="Times New Roman" pitchFamily="18" charset="0"/>
              </a:rPr>
              <a:t>TREND OF INDUSTRY GLOBALIZATION</a:t>
            </a:r>
          </a:p>
        </p:txBody>
      </p:sp>
      <p:grpSp>
        <p:nvGrpSpPr>
          <p:cNvPr id="66" name="Group 65"/>
          <p:cNvGrpSpPr/>
          <p:nvPr/>
        </p:nvGrpSpPr>
        <p:grpSpPr>
          <a:xfrm>
            <a:off x="3203848" y="5877272"/>
            <a:ext cx="3456384" cy="0"/>
            <a:chOff x="3203848" y="5877272"/>
            <a:chExt cx="3456384" cy="0"/>
          </a:xfrm>
        </p:grpSpPr>
        <p:sp>
          <p:nvSpPr>
            <p:cNvPr id="59" name="Line 30"/>
            <p:cNvSpPr>
              <a:spLocks noChangeShapeType="1"/>
            </p:cNvSpPr>
            <p:nvPr/>
          </p:nvSpPr>
          <p:spPr bwMode="auto">
            <a:xfrm>
              <a:off x="3203848" y="5877272"/>
              <a:ext cx="504056" cy="0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  <a:headEnd type="none" w="med" len="med"/>
              <a:tailEnd type="triangle" w="med" len="med"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60" name="Line 30"/>
            <p:cNvSpPr>
              <a:spLocks noChangeShapeType="1"/>
            </p:cNvSpPr>
            <p:nvPr/>
          </p:nvSpPr>
          <p:spPr bwMode="auto">
            <a:xfrm>
              <a:off x="3779912" y="5877272"/>
              <a:ext cx="504056" cy="0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  <a:headEnd type="none" w="med" len="med"/>
              <a:tailEnd type="triangle" w="med" len="med"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62" name="Line 30"/>
            <p:cNvSpPr>
              <a:spLocks noChangeShapeType="1"/>
            </p:cNvSpPr>
            <p:nvPr/>
          </p:nvSpPr>
          <p:spPr bwMode="auto">
            <a:xfrm>
              <a:off x="4355976" y="5877272"/>
              <a:ext cx="504056" cy="0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  <a:headEnd type="none" w="med" len="med"/>
              <a:tailEnd type="triangle" w="med" len="med"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63" name="Line 30"/>
            <p:cNvSpPr>
              <a:spLocks noChangeShapeType="1"/>
            </p:cNvSpPr>
            <p:nvPr/>
          </p:nvSpPr>
          <p:spPr bwMode="auto">
            <a:xfrm>
              <a:off x="5004048" y="5877272"/>
              <a:ext cx="504056" cy="0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  <a:headEnd type="none" w="med" len="med"/>
              <a:tailEnd type="triangle" w="med" len="med"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64" name="Line 30"/>
            <p:cNvSpPr>
              <a:spLocks noChangeShapeType="1"/>
            </p:cNvSpPr>
            <p:nvPr/>
          </p:nvSpPr>
          <p:spPr bwMode="auto">
            <a:xfrm>
              <a:off x="5580112" y="5877272"/>
              <a:ext cx="504056" cy="0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  <a:headEnd type="none" w="med" len="med"/>
              <a:tailEnd type="triangle" w="med" len="med"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65" name="Line 30"/>
            <p:cNvSpPr>
              <a:spLocks noChangeShapeType="1"/>
            </p:cNvSpPr>
            <p:nvPr/>
          </p:nvSpPr>
          <p:spPr bwMode="auto">
            <a:xfrm>
              <a:off x="6156176" y="5877272"/>
              <a:ext cx="504056" cy="0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  <a:headEnd type="none" w="med" len="med"/>
              <a:tailEnd type="triangle" w="med" len="med"/>
            </a:ln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68" name="Line 30"/>
          <p:cNvSpPr>
            <a:spLocks noChangeShapeType="1"/>
          </p:cNvSpPr>
          <p:nvPr/>
        </p:nvSpPr>
        <p:spPr bwMode="auto">
          <a:xfrm rot="16200000">
            <a:off x="1511659" y="4905164"/>
            <a:ext cx="504056" cy="0"/>
          </a:xfrm>
          <a:prstGeom prst="line">
            <a:avLst/>
          </a:prstGeom>
          <a:noFill/>
          <a:ln w="34925">
            <a:solidFill>
              <a:schemeClr val="tx1"/>
            </a:solidFill>
            <a:round/>
            <a:headEnd type="none" w="med" len="med"/>
            <a:tailEnd type="triangle" w="med" len="med"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9" name="Line 30"/>
          <p:cNvSpPr>
            <a:spLocks noChangeShapeType="1"/>
          </p:cNvSpPr>
          <p:nvPr/>
        </p:nvSpPr>
        <p:spPr bwMode="auto">
          <a:xfrm rot="16200000">
            <a:off x="1511659" y="4329100"/>
            <a:ext cx="504056" cy="0"/>
          </a:xfrm>
          <a:prstGeom prst="line">
            <a:avLst/>
          </a:prstGeom>
          <a:noFill/>
          <a:ln w="34925">
            <a:solidFill>
              <a:schemeClr val="tx1"/>
            </a:solidFill>
            <a:round/>
            <a:headEnd type="none" w="med" len="med"/>
            <a:tailEnd type="triangle" w="med" len="med"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70" name="Line 30"/>
          <p:cNvSpPr>
            <a:spLocks noChangeShapeType="1"/>
          </p:cNvSpPr>
          <p:nvPr/>
        </p:nvSpPr>
        <p:spPr bwMode="auto">
          <a:xfrm rot="16200000">
            <a:off x="1511659" y="3753036"/>
            <a:ext cx="504056" cy="0"/>
          </a:xfrm>
          <a:prstGeom prst="line">
            <a:avLst/>
          </a:prstGeom>
          <a:noFill/>
          <a:ln w="34925">
            <a:solidFill>
              <a:schemeClr val="tx1"/>
            </a:solidFill>
            <a:round/>
            <a:headEnd type="none" w="med" len="med"/>
            <a:tailEnd type="triangle" w="med" len="med"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71" name="Line 30"/>
          <p:cNvSpPr>
            <a:spLocks noChangeShapeType="1"/>
          </p:cNvSpPr>
          <p:nvPr/>
        </p:nvSpPr>
        <p:spPr bwMode="auto">
          <a:xfrm rot="16200000">
            <a:off x="1511659" y="3104964"/>
            <a:ext cx="504056" cy="0"/>
          </a:xfrm>
          <a:prstGeom prst="line">
            <a:avLst/>
          </a:prstGeom>
          <a:noFill/>
          <a:ln w="34925">
            <a:solidFill>
              <a:schemeClr val="tx1"/>
            </a:solidFill>
            <a:round/>
            <a:headEnd type="none" w="med" len="med"/>
            <a:tailEnd type="triangle" w="med" len="med"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72" name="Line 30"/>
          <p:cNvSpPr>
            <a:spLocks noChangeShapeType="1"/>
          </p:cNvSpPr>
          <p:nvPr/>
        </p:nvSpPr>
        <p:spPr bwMode="auto">
          <a:xfrm rot="16200000">
            <a:off x="1511659" y="2528900"/>
            <a:ext cx="504056" cy="0"/>
          </a:xfrm>
          <a:prstGeom prst="line">
            <a:avLst/>
          </a:prstGeom>
          <a:noFill/>
          <a:ln w="34925">
            <a:solidFill>
              <a:schemeClr val="tx1"/>
            </a:solidFill>
            <a:round/>
            <a:headEnd type="none" w="med" len="med"/>
            <a:tailEnd type="triangle" w="med" len="med"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74" name="Line 29"/>
          <p:cNvSpPr>
            <a:spLocks noChangeShapeType="1"/>
          </p:cNvSpPr>
          <p:nvPr/>
        </p:nvSpPr>
        <p:spPr bwMode="auto">
          <a:xfrm flipV="1">
            <a:off x="4788024" y="2348880"/>
            <a:ext cx="432048" cy="8384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ko-KR" altLang="en-US"/>
          </a:p>
        </p:txBody>
      </p:sp>
      <p:sp>
        <p:nvSpPr>
          <p:cNvPr id="75" name="Oval 40"/>
          <p:cNvSpPr>
            <a:spLocks noChangeArrowheads="1"/>
          </p:cNvSpPr>
          <p:nvPr/>
        </p:nvSpPr>
        <p:spPr bwMode="auto">
          <a:xfrm>
            <a:off x="4572000" y="2276872"/>
            <a:ext cx="136525" cy="13652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/>
          </a:p>
        </p:txBody>
      </p:sp>
      <p:sp>
        <p:nvSpPr>
          <p:cNvPr id="67" name="Oval 46"/>
          <p:cNvSpPr>
            <a:spLocks noChangeArrowheads="1"/>
          </p:cNvSpPr>
          <p:nvPr/>
        </p:nvSpPr>
        <p:spPr bwMode="auto">
          <a:xfrm>
            <a:off x="4716016" y="3861048"/>
            <a:ext cx="136525" cy="13652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/>
          </a:p>
        </p:txBody>
      </p:sp>
      <p:sp>
        <p:nvSpPr>
          <p:cNvPr id="73" name="Line 47"/>
          <p:cNvSpPr>
            <a:spLocks noChangeShapeType="1"/>
          </p:cNvSpPr>
          <p:nvPr/>
        </p:nvSpPr>
        <p:spPr bwMode="auto">
          <a:xfrm flipV="1">
            <a:off x="4788024" y="3573016"/>
            <a:ext cx="457200" cy="304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ko-KR" altLang="en-US"/>
          </a:p>
        </p:txBody>
      </p:sp>
      <p:sp>
        <p:nvSpPr>
          <p:cNvPr id="76" name="Oval 46"/>
          <p:cNvSpPr>
            <a:spLocks noChangeArrowheads="1"/>
          </p:cNvSpPr>
          <p:nvPr/>
        </p:nvSpPr>
        <p:spPr bwMode="auto">
          <a:xfrm>
            <a:off x="4029844" y="4314304"/>
            <a:ext cx="136525" cy="13652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/>
          </a:p>
        </p:txBody>
      </p:sp>
      <p:sp>
        <p:nvSpPr>
          <p:cNvPr id="77" name="Line 47"/>
          <p:cNvSpPr>
            <a:spLocks noChangeShapeType="1"/>
          </p:cNvSpPr>
          <p:nvPr/>
        </p:nvSpPr>
        <p:spPr bwMode="auto">
          <a:xfrm flipV="1">
            <a:off x="4139952" y="4077072"/>
            <a:ext cx="457200" cy="304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1">
  <a:themeElements>
    <a:clrScheme name="1_1 3">
      <a:dk1>
        <a:srgbClr val="0066CC"/>
      </a:dk1>
      <a:lt1>
        <a:srgbClr val="B1E2FB"/>
      </a:lt1>
      <a:dk2>
        <a:srgbClr val="003399"/>
      </a:dk2>
      <a:lt2>
        <a:srgbClr val="FFFFFF"/>
      </a:lt2>
      <a:accent1>
        <a:srgbClr val="FDC529"/>
      </a:accent1>
      <a:accent2>
        <a:srgbClr val="52C828"/>
      </a:accent2>
      <a:accent3>
        <a:srgbClr val="AAADCA"/>
      </a:accent3>
      <a:accent4>
        <a:srgbClr val="97C1D6"/>
      </a:accent4>
      <a:accent5>
        <a:srgbClr val="FEDFAC"/>
      </a:accent5>
      <a:accent6>
        <a:srgbClr val="49B523"/>
      </a:accent6>
      <a:hlink>
        <a:srgbClr val="72A7F6"/>
      </a:hlink>
      <a:folHlink>
        <a:srgbClr val="A5A5FF"/>
      </a:folHlink>
    </a:clrScheme>
    <a:fontScheme name="1_1">
      <a:majorFont>
        <a:latin typeface="Arial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1_1 1">
        <a:dk1>
          <a:srgbClr val="7E25CF"/>
        </a:dk1>
        <a:lt1>
          <a:srgbClr val="C6D3FE"/>
        </a:lt1>
        <a:dk2>
          <a:srgbClr val="512175"/>
        </a:dk2>
        <a:lt2>
          <a:srgbClr val="FFFFFF"/>
        </a:lt2>
        <a:accent1>
          <a:srgbClr val="FFCC66"/>
        </a:accent1>
        <a:accent2>
          <a:srgbClr val="6ABA42"/>
        </a:accent2>
        <a:accent3>
          <a:srgbClr val="B3ABBD"/>
        </a:accent3>
        <a:accent4>
          <a:srgbClr val="A9B4D9"/>
        </a:accent4>
        <a:accent5>
          <a:srgbClr val="FFE2B8"/>
        </a:accent5>
        <a:accent6>
          <a:srgbClr val="5FA83B"/>
        </a:accent6>
        <a:hlink>
          <a:srgbClr val="3399FF"/>
        </a:hlink>
        <a:folHlink>
          <a:srgbClr val="43A8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1 2">
        <a:dk1>
          <a:srgbClr val="009999"/>
        </a:dk1>
        <a:lt1>
          <a:srgbClr val="E2E2D6"/>
        </a:lt1>
        <a:dk2>
          <a:srgbClr val="005986"/>
        </a:dk2>
        <a:lt2>
          <a:srgbClr val="FFFFFF"/>
        </a:lt2>
        <a:accent1>
          <a:srgbClr val="12D2C9"/>
        </a:accent1>
        <a:accent2>
          <a:srgbClr val="3574C7"/>
        </a:accent2>
        <a:accent3>
          <a:srgbClr val="AAB5C3"/>
        </a:accent3>
        <a:accent4>
          <a:srgbClr val="C1C1B7"/>
        </a:accent4>
        <a:accent5>
          <a:srgbClr val="AAE5E1"/>
        </a:accent5>
        <a:accent6>
          <a:srgbClr val="2F68B4"/>
        </a:accent6>
        <a:hlink>
          <a:srgbClr val="1EBABA"/>
        </a:hlink>
        <a:folHlink>
          <a:srgbClr val="33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1 3">
        <a:dk1>
          <a:srgbClr val="0066CC"/>
        </a:dk1>
        <a:lt1>
          <a:srgbClr val="B1E2FB"/>
        </a:lt1>
        <a:dk2>
          <a:srgbClr val="003399"/>
        </a:dk2>
        <a:lt2>
          <a:srgbClr val="FFFFFF"/>
        </a:lt2>
        <a:accent1>
          <a:srgbClr val="FDC529"/>
        </a:accent1>
        <a:accent2>
          <a:srgbClr val="52C828"/>
        </a:accent2>
        <a:accent3>
          <a:srgbClr val="AAADCA"/>
        </a:accent3>
        <a:accent4>
          <a:srgbClr val="97C1D6"/>
        </a:accent4>
        <a:accent5>
          <a:srgbClr val="FEDFAC"/>
        </a:accent5>
        <a:accent6>
          <a:srgbClr val="49B523"/>
        </a:accent6>
        <a:hlink>
          <a:srgbClr val="72A7F6"/>
        </a:hlink>
        <a:folHlink>
          <a:srgbClr val="A5A5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">
  <a:themeElements>
    <a:clrScheme name="1 3">
      <a:dk1>
        <a:srgbClr val="0066CC"/>
      </a:dk1>
      <a:lt1>
        <a:srgbClr val="B1E2FB"/>
      </a:lt1>
      <a:dk2>
        <a:srgbClr val="003399"/>
      </a:dk2>
      <a:lt2>
        <a:srgbClr val="FFFFFF"/>
      </a:lt2>
      <a:accent1>
        <a:srgbClr val="FDC529"/>
      </a:accent1>
      <a:accent2>
        <a:srgbClr val="52C828"/>
      </a:accent2>
      <a:accent3>
        <a:srgbClr val="AAADCA"/>
      </a:accent3>
      <a:accent4>
        <a:srgbClr val="97C1D6"/>
      </a:accent4>
      <a:accent5>
        <a:srgbClr val="FEDFAC"/>
      </a:accent5>
      <a:accent6>
        <a:srgbClr val="49B523"/>
      </a:accent6>
      <a:hlink>
        <a:srgbClr val="72A7F6"/>
      </a:hlink>
      <a:folHlink>
        <a:srgbClr val="A5A5FF"/>
      </a:folHlink>
    </a:clrScheme>
    <a:fontScheme name="1">
      <a:majorFont>
        <a:latin typeface="Arial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1 1">
        <a:dk1>
          <a:srgbClr val="7E25CF"/>
        </a:dk1>
        <a:lt1>
          <a:srgbClr val="C6D3FE"/>
        </a:lt1>
        <a:dk2>
          <a:srgbClr val="512175"/>
        </a:dk2>
        <a:lt2>
          <a:srgbClr val="FFFFFF"/>
        </a:lt2>
        <a:accent1>
          <a:srgbClr val="FFCC66"/>
        </a:accent1>
        <a:accent2>
          <a:srgbClr val="6ABA42"/>
        </a:accent2>
        <a:accent3>
          <a:srgbClr val="B3ABBD"/>
        </a:accent3>
        <a:accent4>
          <a:srgbClr val="A9B4D9"/>
        </a:accent4>
        <a:accent5>
          <a:srgbClr val="FFE2B8"/>
        </a:accent5>
        <a:accent6>
          <a:srgbClr val="5FA83B"/>
        </a:accent6>
        <a:hlink>
          <a:srgbClr val="3399FF"/>
        </a:hlink>
        <a:folHlink>
          <a:srgbClr val="43A8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 2">
        <a:dk1>
          <a:srgbClr val="009999"/>
        </a:dk1>
        <a:lt1>
          <a:srgbClr val="E2E2D6"/>
        </a:lt1>
        <a:dk2>
          <a:srgbClr val="005986"/>
        </a:dk2>
        <a:lt2>
          <a:srgbClr val="FFFFFF"/>
        </a:lt2>
        <a:accent1>
          <a:srgbClr val="12D2C9"/>
        </a:accent1>
        <a:accent2>
          <a:srgbClr val="3574C7"/>
        </a:accent2>
        <a:accent3>
          <a:srgbClr val="AAB5C3"/>
        </a:accent3>
        <a:accent4>
          <a:srgbClr val="C1C1B7"/>
        </a:accent4>
        <a:accent5>
          <a:srgbClr val="AAE5E1"/>
        </a:accent5>
        <a:accent6>
          <a:srgbClr val="2F68B4"/>
        </a:accent6>
        <a:hlink>
          <a:srgbClr val="1EBABA"/>
        </a:hlink>
        <a:folHlink>
          <a:srgbClr val="33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 3">
        <a:dk1>
          <a:srgbClr val="0066CC"/>
        </a:dk1>
        <a:lt1>
          <a:srgbClr val="B1E2FB"/>
        </a:lt1>
        <a:dk2>
          <a:srgbClr val="003399"/>
        </a:dk2>
        <a:lt2>
          <a:srgbClr val="FFFFFF"/>
        </a:lt2>
        <a:accent1>
          <a:srgbClr val="FDC529"/>
        </a:accent1>
        <a:accent2>
          <a:srgbClr val="52C828"/>
        </a:accent2>
        <a:accent3>
          <a:srgbClr val="AAADCA"/>
        </a:accent3>
        <a:accent4>
          <a:srgbClr val="97C1D6"/>
        </a:accent4>
        <a:accent5>
          <a:srgbClr val="FEDFAC"/>
        </a:accent5>
        <a:accent6>
          <a:srgbClr val="49B523"/>
        </a:accent6>
        <a:hlink>
          <a:srgbClr val="72A7F6"/>
        </a:hlink>
        <a:folHlink>
          <a:srgbClr val="A5A5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1">
  <a:themeElements>
    <a:clrScheme name="sample 3">
      <a:dk1>
        <a:srgbClr val="0066CC"/>
      </a:dk1>
      <a:lt1>
        <a:srgbClr val="B1E2FB"/>
      </a:lt1>
      <a:dk2>
        <a:srgbClr val="003399"/>
      </a:dk2>
      <a:lt2>
        <a:srgbClr val="FFFFFF"/>
      </a:lt2>
      <a:accent1>
        <a:srgbClr val="FDC529"/>
      </a:accent1>
      <a:accent2>
        <a:srgbClr val="52C828"/>
      </a:accent2>
      <a:accent3>
        <a:srgbClr val="AAADCA"/>
      </a:accent3>
      <a:accent4>
        <a:srgbClr val="97C1D6"/>
      </a:accent4>
      <a:accent5>
        <a:srgbClr val="FEDFAC"/>
      </a:accent5>
      <a:accent6>
        <a:srgbClr val="49B523"/>
      </a:accent6>
      <a:hlink>
        <a:srgbClr val="72A7F6"/>
      </a:hlink>
      <a:folHlink>
        <a:srgbClr val="A5A5FF"/>
      </a:folHlink>
    </a:clrScheme>
    <a:fontScheme name="sample">
      <a:majorFont>
        <a:latin typeface="Arial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ample 1">
        <a:dk1>
          <a:srgbClr val="7E25CF"/>
        </a:dk1>
        <a:lt1>
          <a:srgbClr val="C6D3FE"/>
        </a:lt1>
        <a:dk2>
          <a:srgbClr val="512175"/>
        </a:dk2>
        <a:lt2>
          <a:srgbClr val="FFFFFF"/>
        </a:lt2>
        <a:accent1>
          <a:srgbClr val="FFCC66"/>
        </a:accent1>
        <a:accent2>
          <a:srgbClr val="6ABA42"/>
        </a:accent2>
        <a:accent3>
          <a:srgbClr val="B3ABBD"/>
        </a:accent3>
        <a:accent4>
          <a:srgbClr val="A9B4D9"/>
        </a:accent4>
        <a:accent5>
          <a:srgbClr val="FFE2B8"/>
        </a:accent5>
        <a:accent6>
          <a:srgbClr val="5FA83B"/>
        </a:accent6>
        <a:hlink>
          <a:srgbClr val="3399FF"/>
        </a:hlink>
        <a:folHlink>
          <a:srgbClr val="43A8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mple 2">
        <a:dk1>
          <a:srgbClr val="009999"/>
        </a:dk1>
        <a:lt1>
          <a:srgbClr val="E2E2D6"/>
        </a:lt1>
        <a:dk2>
          <a:srgbClr val="005986"/>
        </a:dk2>
        <a:lt2>
          <a:srgbClr val="FFFFFF"/>
        </a:lt2>
        <a:accent1>
          <a:srgbClr val="12D2C9"/>
        </a:accent1>
        <a:accent2>
          <a:srgbClr val="3574C7"/>
        </a:accent2>
        <a:accent3>
          <a:srgbClr val="AAB5C3"/>
        </a:accent3>
        <a:accent4>
          <a:srgbClr val="C1C1B7"/>
        </a:accent4>
        <a:accent5>
          <a:srgbClr val="AAE5E1"/>
        </a:accent5>
        <a:accent6>
          <a:srgbClr val="2F68B4"/>
        </a:accent6>
        <a:hlink>
          <a:srgbClr val="1EBABA"/>
        </a:hlink>
        <a:folHlink>
          <a:srgbClr val="33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mple 3">
        <a:dk1>
          <a:srgbClr val="0066CC"/>
        </a:dk1>
        <a:lt1>
          <a:srgbClr val="B1E2FB"/>
        </a:lt1>
        <a:dk2>
          <a:srgbClr val="003399"/>
        </a:dk2>
        <a:lt2>
          <a:srgbClr val="FFFFFF"/>
        </a:lt2>
        <a:accent1>
          <a:srgbClr val="FDC529"/>
        </a:accent1>
        <a:accent2>
          <a:srgbClr val="52C828"/>
        </a:accent2>
        <a:accent3>
          <a:srgbClr val="AAADCA"/>
        </a:accent3>
        <a:accent4>
          <a:srgbClr val="97C1D6"/>
        </a:accent4>
        <a:accent5>
          <a:srgbClr val="FEDFAC"/>
        </a:accent5>
        <a:accent6>
          <a:srgbClr val="49B523"/>
        </a:accent6>
        <a:hlink>
          <a:srgbClr val="72A7F6"/>
        </a:hlink>
        <a:folHlink>
          <a:srgbClr val="A5A5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8714</TotalTime>
  <Words>2140</Words>
  <Application>Microsoft Office PowerPoint</Application>
  <PresentationFormat>화면 슬라이드 쇼(4:3)</PresentationFormat>
  <Paragraphs>538</Paragraphs>
  <Slides>40</Slides>
  <Notes>11</Notes>
  <HiddenSlides>0</HiddenSlides>
  <MMClips>0</MMClips>
  <ScaleCrop>false</ScaleCrop>
  <HeadingPairs>
    <vt:vector size="8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3</vt:i4>
      </vt:variant>
      <vt:variant>
        <vt:lpstr>포함된 OLE 서버</vt:lpstr>
      </vt:variant>
      <vt:variant>
        <vt:i4>2</vt:i4>
      </vt:variant>
      <vt:variant>
        <vt:lpstr>슬라이드 제목</vt:lpstr>
      </vt:variant>
      <vt:variant>
        <vt:i4>40</vt:i4>
      </vt:variant>
    </vt:vector>
  </HeadingPairs>
  <TitlesOfParts>
    <vt:vector size="57" baseType="lpstr">
      <vt:lpstr>HY견고딕</vt:lpstr>
      <vt:lpstr>HY헤드라인M</vt:lpstr>
      <vt:lpstr>Math3</vt:lpstr>
      <vt:lpstr>PMingLiU</vt:lpstr>
      <vt:lpstr>굴림</vt:lpstr>
      <vt:lpstr>맑은 고딕</vt:lpstr>
      <vt:lpstr>Arial</vt:lpstr>
      <vt:lpstr>Franklin Gothic Heavy</vt:lpstr>
      <vt:lpstr>Impact</vt:lpstr>
      <vt:lpstr>Times New Roman</vt:lpstr>
      <vt:lpstr>Verdana</vt:lpstr>
      <vt:lpstr>Wingdings</vt:lpstr>
      <vt:lpstr>1_1</vt:lpstr>
      <vt:lpstr>1</vt:lpstr>
      <vt:lpstr>2_1</vt:lpstr>
      <vt:lpstr>Image</vt:lpstr>
      <vt:lpstr>Clip</vt:lpstr>
      <vt:lpstr>Industry Analysis / Industry Globalization</vt:lpstr>
      <vt:lpstr>PowerPoint 프레젠테이션</vt:lpstr>
      <vt:lpstr>PowerPoint 프레젠테이션</vt:lpstr>
      <vt:lpstr>PowerPoint 프레젠테이션</vt:lpstr>
      <vt:lpstr>PowerPoint 프레젠테이션</vt:lpstr>
      <vt:lpstr>INDUSTRY ANALYSIS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 STRATEGIC GROUP ANALYSIS</vt:lpstr>
      <vt:lpstr>COMPETITOR ANALYSIS</vt:lpstr>
      <vt:lpstr>TECHNOLOGY GROWTH BEHAVIOR</vt:lpstr>
      <vt:lpstr>Dynamics of Emerging Technologies &amp; Markets</vt:lpstr>
      <vt:lpstr> Technology Innovation Model</vt:lpstr>
      <vt:lpstr> INDUSTRY ECONOMIC CHARACTERISTICS</vt:lpstr>
      <vt:lpstr> INDUSTRY ECONOMIC CHARACTERISTICS</vt:lpstr>
      <vt:lpstr>PowerPoint 프레젠테이션</vt:lpstr>
      <vt:lpstr> DRIVING FORCES</vt:lpstr>
      <vt:lpstr> KEY SUCCESS FACTORS</vt:lpstr>
      <vt:lpstr>PowerPoint 프레젠테이션</vt:lpstr>
      <vt:lpstr>DEFINITION</vt:lpstr>
      <vt:lpstr>DRIVING FORCES</vt:lpstr>
      <vt:lpstr>LINEAR PERSPECTIVE</vt:lpstr>
      <vt:lpstr>Market Globalization Drivers</vt:lpstr>
      <vt:lpstr>Cost Globalization Drivers</vt:lpstr>
      <vt:lpstr>Government Globalization Drivers</vt:lpstr>
      <vt:lpstr>Competitive Globalization Drivers</vt:lpstr>
      <vt:lpstr>Map of Globalization Drivers</vt:lpstr>
      <vt:lpstr>CATEGORICAL PERSPECTIVE</vt:lpstr>
      <vt:lpstr>Two Opposing Forces</vt:lpstr>
      <vt:lpstr>Multidomestic Industry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City University of Hong Kong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CityU</dc:creator>
  <cp:lastModifiedBy>김광수</cp:lastModifiedBy>
  <cp:revision>1391</cp:revision>
  <cp:lastPrinted>2013-03-15T02:04:53Z</cp:lastPrinted>
  <dcterms:created xsi:type="dcterms:W3CDTF">2000-12-20T03:57:58Z</dcterms:created>
  <dcterms:modified xsi:type="dcterms:W3CDTF">2025-09-04T05:33:53Z</dcterms:modified>
</cp:coreProperties>
</file>