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6" r:id="rId2"/>
  </p:sldMasterIdLst>
  <p:notesMasterIdLst>
    <p:notesMasterId r:id="rId43"/>
  </p:notesMasterIdLst>
  <p:handoutMasterIdLst>
    <p:handoutMasterId r:id="rId44"/>
  </p:handoutMasterIdLst>
  <p:sldIdLst>
    <p:sldId id="360" r:id="rId3"/>
    <p:sldId id="408" r:id="rId4"/>
    <p:sldId id="406" r:id="rId5"/>
    <p:sldId id="403" r:id="rId6"/>
    <p:sldId id="407" r:id="rId7"/>
    <p:sldId id="404" r:id="rId8"/>
    <p:sldId id="405" r:id="rId9"/>
    <p:sldId id="355" r:id="rId10"/>
    <p:sldId id="313" r:id="rId11"/>
    <p:sldId id="375" r:id="rId12"/>
    <p:sldId id="347" r:id="rId13"/>
    <p:sldId id="315" r:id="rId14"/>
    <p:sldId id="316" r:id="rId15"/>
    <p:sldId id="376" r:id="rId16"/>
    <p:sldId id="321" r:id="rId17"/>
    <p:sldId id="320" r:id="rId18"/>
    <p:sldId id="322" r:id="rId19"/>
    <p:sldId id="380" r:id="rId20"/>
    <p:sldId id="391" r:id="rId21"/>
    <p:sldId id="390" r:id="rId22"/>
    <p:sldId id="389" r:id="rId23"/>
    <p:sldId id="392" r:id="rId24"/>
    <p:sldId id="393" r:id="rId25"/>
    <p:sldId id="383" r:id="rId26"/>
    <p:sldId id="384" r:id="rId27"/>
    <p:sldId id="385" r:id="rId28"/>
    <p:sldId id="387" r:id="rId29"/>
    <p:sldId id="378" r:id="rId30"/>
    <p:sldId id="332" r:id="rId31"/>
    <p:sldId id="399" r:id="rId32"/>
    <p:sldId id="400" r:id="rId33"/>
    <p:sldId id="334" r:id="rId34"/>
    <p:sldId id="340" r:id="rId35"/>
    <p:sldId id="397" r:id="rId36"/>
    <p:sldId id="396" r:id="rId37"/>
    <p:sldId id="395" r:id="rId38"/>
    <p:sldId id="394" r:id="rId39"/>
    <p:sldId id="401" r:id="rId40"/>
    <p:sldId id="342" r:id="rId41"/>
    <p:sldId id="345" r:id="rId42"/>
  </p:sldIdLst>
  <p:sldSz cx="9144000" cy="6858000" type="screen4x3"/>
  <p:notesSz cx="9928225" cy="66690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  <a:srgbClr val="FFFF66"/>
    <a:srgbClr val="00FFFF"/>
    <a:srgbClr val="B1E2FB"/>
    <a:srgbClr val="FF00FF"/>
    <a:srgbClr val="009900"/>
    <a:srgbClr val="FFFF00"/>
    <a:srgbClr val="3AE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B435B7-DA66-437A-ABA4-3340635F30CD}" v="6" dt="2025-09-09T11:25:43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68653" autoAdjust="0"/>
  </p:normalViewPr>
  <p:slideViewPr>
    <p:cSldViewPr>
      <p:cViewPr varScale="1">
        <p:scale>
          <a:sx n="49" d="100"/>
          <a:sy n="49" d="100"/>
        </p:scale>
        <p:origin x="1929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undo custSel modSld">
      <pc:chgData name="석주 이" userId="b6553f64e91d015d" providerId="LiveId" clId="{7E74A06A-B2AA-4EEC-A19D-AA52293F645A}" dt="2025-09-09T11:23:56.126" v="1868" actId="20577"/>
      <pc:docMkLst>
        <pc:docMk/>
      </pc:docMkLst>
      <pc:sldChg chg="modNotesTx">
        <pc:chgData name="석주 이" userId="b6553f64e91d015d" providerId="LiveId" clId="{7E74A06A-B2AA-4EEC-A19D-AA52293F645A}" dt="2025-09-09T10:46:34.720" v="835" actId="20577"/>
        <pc:sldMkLst>
          <pc:docMk/>
          <pc:sldMk cId="0" sldId="313"/>
        </pc:sldMkLst>
      </pc:sldChg>
      <pc:sldChg chg="modNotesTx">
        <pc:chgData name="석주 이" userId="b6553f64e91d015d" providerId="LiveId" clId="{7E74A06A-B2AA-4EEC-A19D-AA52293F645A}" dt="2025-09-09T10:50:51.286" v="976" actId="20577"/>
        <pc:sldMkLst>
          <pc:docMk/>
          <pc:sldMk cId="0" sldId="315"/>
        </pc:sldMkLst>
      </pc:sldChg>
      <pc:sldChg chg="modNotesTx">
        <pc:chgData name="석주 이" userId="b6553f64e91d015d" providerId="LiveId" clId="{7E74A06A-B2AA-4EEC-A19D-AA52293F645A}" dt="2025-09-09T11:05:37.305" v="1546" actId="20577"/>
        <pc:sldMkLst>
          <pc:docMk/>
          <pc:sldMk cId="0" sldId="321"/>
        </pc:sldMkLst>
      </pc:sldChg>
      <pc:sldChg chg="modNotesTx">
        <pc:chgData name="석주 이" userId="b6553f64e91d015d" providerId="LiveId" clId="{7E74A06A-B2AA-4EEC-A19D-AA52293F645A}" dt="2025-09-09T11:10:35.917" v="1687" actId="20577"/>
        <pc:sldMkLst>
          <pc:docMk/>
          <pc:sldMk cId="0" sldId="384"/>
        </pc:sldMkLst>
      </pc:sldChg>
      <pc:sldChg chg="modNotesTx">
        <pc:chgData name="석주 이" userId="b6553f64e91d015d" providerId="LiveId" clId="{7E74A06A-B2AA-4EEC-A19D-AA52293F645A}" dt="2025-09-09T11:23:56.126" v="1868" actId="20577"/>
        <pc:sldMkLst>
          <pc:docMk/>
          <pc:sldMk cId="0" sldId="396"/>
        </pc:sldMkLst>
      </pc:sldChg>
      <pc:sldChg chg="modNotesTx">
        <pc:chgData name="석주 이" userId="b6553f64e91d015d" providerId="LiveId" clId="{7E74A06A-B2AA-4EEC-A19D-AA52293F645A}" dt="2025-09-09T10:47:34.547" v="905" actId="20577"/>
        <pc:sldMkLst>
          <pc:docMk/>
          <pc:sldMk cId="0" sldId="4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231" cy="33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5994" y="0"/>
            <a:ext cx="4302231" cy="33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634"/>
            <a:ext cx="4302231" cy="33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5994" y="6335634"/>
            <a:ext cx="4302231" cy="33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3A8CDFD5-8FEE-4B6C-B337-5A582A951B3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311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3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3713" cy="333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8D551-AF83-4D07-A666-D26837BB483A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97238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3167063"/>
            <a:ext cx="7943850" cy="300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34125"/>
            <a:ext cx="4302125" cy="333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25" y="6334125"/>
            <a:ext cx="4303713" cy="333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3512E-E3BD-4E81-AB76-2E21E78880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70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국가 차원에서의 글로벌화 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얼마나 많이 </a:t>
            </a:r>
            <a:r>
              <a:rPr lang="ko-KR" altLang="en-US" dirty="0" err="1"/>
              <a:t>열려있는가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얼마나 많이 연결되어 있는가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산업 차원에서의 글로벌화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얼마나 많이 연결되어 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생산</a:t>
            </a:r>
            <a:r>
              <a:rPr lang="en-US" altLang="ko-KR" dirty="0"/>
              <a:t>, </a:t>
            </a:r>
            <a:r>
              <a:rPr lang="ko-KR" altLang="en-US" dirty="0"/>
              <a:t>공급</a:t>
            </a:r>
            <a:r>
              <a:rPr lang="en-US" altLang="ko-KR" dirty="0"/>
              <a:t>, </a:t>
            </a:r>
            <a:r>
              <a:rPr lang="ko-KR" altLang="en-US" dirty="0"/>
              <a:t>특허</a:t>
            </a:r>
            <a:r>
              <a:rPr lang="en-US" altLang="ko-KR" dirty="0"/>
              <a:t>, </a:t>
            </a:r>
            <a:r>
              <a:rPr lang="ko-KR" altLang="en-US" dirty="0"/>
              <a:t>인력 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기업 차원에서의 글로벌화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기업 들이 세계화되어 있는가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기능별 차원에서의 글로벌화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- </a:t>
            </a:r>
            <a:r>
              <a:rPr lang="ko-KR" altLang="en-US" dirty="0"/>
              <a:t>삼성전자의 </a:t>
            </a:r>
            <a:r>
              <a:rPr lang="en-US" altLang="ko-KR" dirty="0"/>
              <a:t>R&amp;D</a:t>
            </a:r>
            <a:r>
              <a:rPr lang="ko-KR" altLang="en-US" dirty="0"/>
              <a:t>가 얼마나 세계화되어 있는가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7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정의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국가</a:t>
            </a:r>
            <a:r>
              <a:rPr lang="en-US" altLang="ko-KR" dirty="0"/>
              <a:t>/</a:t>
            </a:r>
            <a:r>
              <a:rPr lang="ko-KR" altLang="en-US" dirty="0"/>
              <a:t>산업</a:t>
            </a:r>
            <a:r>
              <a:rPr lang="en-US" altLang="ko-KR" dirty="0"/>
              <a:t>/</a:t>
            </a:r>
            <a:r>
              <a:rPr lang="ko-KR" altLang="en-US" dirty="0"/>
              <a:t>기업 차원에서 연결되어 있는지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국가</a:t>
            </a:r>
            <a:r>
              <a:rPr lang="en-US" altLang="ko-KR" dirty="0"/>
              <a:t>/</a:t>
            </a:r>
            <a:r>
              <a:rPr lang="ko-KR" altLang="en-US" dirty="0"/>
              <a:t>산업</a:t>
            </a:r>
            <a:r>
              <a:rPr lang="en-US" altLang="ko-KR" dirty="0"/>
              <a:t>/</a:t>
            </a:r>
            <a:r>
              <a:rPr lang="ko-KR" altLang="en-US" dirty="0"/>
              <a:t>기업 차원에서 상호의존성이 있는지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경제적으로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국가 간의 경계를 초월한 경제적 측면에서의 상호의존성</a:t>
            </a:r>
            <a:r>
              <a:rPr lang="en-US" altLang="ko-KR" dirty="0"/>
              <a:t>, </a:t>
            </a:r>
            <a:r>
              <a:rPr lang="ko-KR" altLang="en-US" dirty="0"/>
              <a:t>상호연결성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77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4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정보 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무역</a:t>
            </a:r>
            <a:r>
              <a:rPr lang="en-US" altLang="ko-KR" dirty="0"/>
              <a:t>(FDI)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지식정보 이동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투자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7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세계화로 인해 자원을 더 효율적으로 활용할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주도하는 국가</a:t>
            </a:r>
            <a:r>
              <a:rPr lang="en-US" altLang="ko-KR" dirty="0"/>
              <a:t>/</a:t>
            </a:r>
            <a:r>
              <a:rPr lang="ko-KR" altLang="en-US" dirty="0"/>
              <a:t>산업</a:t>
            </a:r>
            <a:r>
              <a:rPr lang="en-US" altLang="ko-KR" dirty="0"/>
              <a:t>/</a:t>
            </a:r>
            <a:r>
              <a:rPr lang="ko-KR" altLang="en-US" dirty="0"/>
              <a:t>기업이 글로벌 룰을 정함으로 인해</a:t>
            </a:r>
            <a:r>
              <a:rPr lang="en-US" altLang="ko-KR" dirty="0"/>
              <a:t>, </a:t>
            </a:r>
            <a:r>
              <a:rPr lang="ko-KR" altLang="en-US" dirty="0"/>
              <a:t>글로벌 자원</a:t>
            </a:r>
            <a:r>
              <a:rPr lang="en-US" altLang="ko-KR" dirty="0"/>
              <a:t>(</a:t>
            </a:r>
            <a:r>
              <a:rPr lang="ko-KR" altLang="en-US" dirty="0"/>
              <a:t>인적자원</a:t>
            </a:r>
            <a:r>
              <a:rPr lang="en-US" altLang="ko-KR" dirty="0"/>
              <a:t>, </a:t>
            </a:r>
            <a:r>
              <a:rPr lang="ko-KR" altLang="en-US" dirty="0"/>
              <a:t>물적자원</a:t>
            </a:r>
            <a:r>
              <a:rPr lang="en-US" altLang="ko-KR" dirty="0"/>
              <a:t>)</a:t>
            </a:r>
            <a:r>
              <a:rPr lang="ko-KR" altLang="en-US" dirty="0"/>
              <a:t>을 효율적으로 활용하여 이익을 극대화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세계화를 통해 전체 파이가 커지고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슈퍼파워가 상대적으로 더 많은 파이를 가져간다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힘이 있으면 세계화를 추진할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11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9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7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자유무역</a:t>
            </a:r>
            <a:r>
              <a:rPr lang="en-US" altLang="ko-KR" dirty="0"/>
              <a:t>(</a:t>
            </a:r>
            <a:r>
              <a:rPr lang="ko-KR" altLang="en-US" dirty="0"/>
              <a:t>세계화</a:t>
            </a:r>
            <a:r>
              <a:rPr lang="en-US" altLang="ko-KR" dirty="0"/>
              <a:t>)</a:t>
            </a:r>
            <a:r>
              <a:rPr lang="ko-KR" altLang="en-US" dirty="0"/>
              <a:t>를 위한 기본 틀을 구축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World Bank : 2</a:t>
            </a:r>
            <a:r>
              <a:rPr lang="ko-KR" altLang="en-US" dirty="0"/>
              <a:t>차 대전 </a:t>
            </a:r>
            <a:r>
              <a:rPr lang="en-US" altLang="ko-KR" dirty="0"/>
              <a:t>2</a:t>
            </a:r>
            <a:r>
              <a:rPr lang="ko-KR" altLang="en-US" dirty="0"/>
              <a:t>년 후에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WTO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1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05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슘페터</a:t>
            </a:r>
            <a:r>
              <a:rPr lang="ko-KR" altLang="en-US" dirty="0"/>
              <a:t> 경제 모형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세계화가 가지는 긍정적</a:t>
            </a:r>
            <a:r>
              <a:rPr lang="en-US" altLang="ko-KR" dirty="0"/>
              <a:t>, </a:t>
            </a:r>
            <a:r>
              <a:rPr lang="ko-KR" altLang="en-US" dirty="0"/>
              <a:t>부정적 영향들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세계화는 글로벌 흐름이고 </a:t>
            </a:r>
            <a:r>
              <a:rPr lang="ko-KR" altLang="en-US" dirty="0" err="1"/>
              <a:t>맞춰나가야</a:t>
            </a:r>
            <a:r>
              <a:rPr lang="ko-KR" altLang="en-US" dirty="0"/>
              <a:t>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3512E-E3BD-4E81-AB76-2E21E788804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4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1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4.bin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5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6.bin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7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8.bin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9.bin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0.bin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1.bin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4.bin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4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9050A-58C5-43A3-A3A0-AC5C4FC06C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6FA59-E777-4A5B-8351-EE84326916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A33A2-A139-4A51-B2DC-BF1D884504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13BB3-2F8B-425B-B2A5-080DAE82A4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57861-1353-4590-B80D-0C42A897DF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D896A-D6B2-415D-BF4C-BD3DEE8C60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A9CAB-5207-4F51-9E54-59E315A094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D34DA-0E5E-4578-BC28-9B8D116DE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26163-8FE6-490C-BBC5-6A494A7B1B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77CFA-29B4-45FB-B98B-93BEA3C92D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BD73D-BB22-4754-99D3-F3C4723D91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10438095" imgH="5980952" progId="">
                  <p:embed/>
                </p:oleObj>
              </mc:Choice>
              <mc:Fallback>
                <p:oleObj name="Image" r:id="rId13" imgW="10438095" imgH="5980952" progId="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10387302" imgH="1205924" progId="">
                  <p:embed/>
                </p:oleObj>
              </mc:Choice>
              <mc:Fallback>
                <p:oleObj name="Image" r:id="rId13" imgW="10387302" imgH="1205924" progId="">
                  <p:embed/>
                  <p:pic>
                    <p:nvPicPr>
                      <p:cNvPr id="1331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fld id="{2F609E19-2604-492B-B8BC-5AFF768B4C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33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digg.com/political_opinion/Hidden_Face_of_Globalization_2" TargetMode="Externa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52400"/>
            <a:ext cx="9144000" cy="2133600"/>
          </a:xfrm>
          <a:solidFill>
            <a:srgbClr val="003296"/>
          </a:solidFill>
          <a:effectLst>
            <a:outerShdw dist="28398" dir="3806097" algn="ctr" rotWithShape="0">
              <a:srgbClr val="000066">
                <a:alpha val="50000"/>
              </a:srgbClr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chemeClr val="accent1"/>
                </a:solidFill>
                <a:latin typeface="Times New Roman" pitchFamily="18" charset="0"/>
                <a:ea typeface="굴림" pitchFamily="50" charset="-127"/>
              </a:rPr>
              <a:t>UNDERSTANDING GLOBAL BUSINESS ENVIRONMENT</a:t>
            </a:r>
          </a:p>
        </p:txBody>
      </p:sp>
      <p:grpSp>
        <p:nvGrpSpPr>
          <p:cNvPr id="57347" name="Group 3"/>
          <p:cNvGrpSpPr>
            <a:grpSpLocks/>
          </p:cNvGrpSpPr>
          <p:nvPr/>
        </p:nvGrpSpPr>
        <p:grpSpPr bwMode="auto">
          <a:xfrm>
            <a:off x="0" y="2924175"/>
            <a:ext cx="9144000" cy="123825"/>
            <a:chOff x="432" y="912"/>
            <a:chExt cx="5808" cy="48"/>
          </a:xfrm>
        </p:grpSpPr>
        <p:sp>
          <p:nvSpPr>
            <p:cNvPr id="57350" name="Line 4"/>
            <p:cNvSpPr>
              <a:spLocks noChangeShapeType="1"/>
            </p:cNvSpPr>
            <p:nvPr/>
          </p:nvSpPr>
          <p:spPr bwMode="auto">
            <a:xfrm>
              <a:off x="432" y="912"/>
              <a:ext cx="5808" cy="0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351" name="Line 5"/>
            <p:cNvSpPr>
              <a:spLocks noChangeShapeType="1"/>
            </p:cNvSpPr>
            <p:nvPr/>
          </p:nvSpPr>
          <p:spPr bwMode="auto">
            <a:xfrm>
              <a:off x="432" y="960"/>
              <a:ext cx="58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348" name="Text Box 9"/>
          <p:cNvSpPr txBox="1">
            <a:spLocks noChangeArrowheads="1"/>
          </p:cNvSpPr>
          <p:nvPr/>
        </p:nvSpPr>
        <p:spPr bwMode="auto">
          <a:xfrm>
            <a:off x="5364088" y="4717013"/>
            <a:ext cx="2929392" cy="8002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2800" dirty="0">
                <a:solidFill>
                  <a:srgbClr val="99FF33"/>
                </a:solidFill>
                <a:ea typeface="굴림" pitchFamily="50" charset="-127"/>
              </a:rPr>
              <a:t>Dr. </a:t>
            </a:r>
            <a:r>
              <a:rPr lang="en-US" altLang="ko-KR" sz="2800" dirty="0" err="1">
                <a:solidFill>
                  <a:srgbClr val="99FF33"/>
                </a:solidFill>
                <a:ea typeface="굴림" pitchFamily="50" charset="-127"/>
              </a:rPr>
              <a:t>Kwangsoo</a:t>
            </a:r>
            <a:r>
              <a:rPr lang="en-US" altLang="ko-KR" sz="2800" dirty="0">
                <a:solidFill>
                  <a:srgbClr val="99FF33"/>
                </a:solidFill>
                <a:ea typeface="굴림" pitchFamily="50" charset="-127"/>
              </a:rPr>
              <a:t> Kim</a:t>
            </a:r>
          </a:p>
          <a:p>
            <a:pPr algn="r"/>
            <a:r>
              <a:rPr lang="en-US" altLang="ko-KR" dirty="0" err="1">
                <a:solidFill>
                  <a:srgbClr val="99FF33"/>
                </a:solidFill>
                <a:ea typeface="굴림" pitchFamily="50" charset="-127"/>
              </a:rPr>
              <a:t>Konkuk</a:t>
            </a:r>
            <a:r>
              <a:rPr lang="en-US" altLang="ko-KR" dirty="0">
                <a:solidFill>
                  <a:srgbClr val="99FF33"/>
                </a:solidFill>
                <a:ea typeface="굴림" pitchFamily="50" charset="-127"/>
              </a:rPr>
              <a:t> University</a:t>
            </a:r>
          </a:p>
        </p:txBody>
      </p:sp>
      <p:sp>
        <p:nvSpPr>
          <p:cNvPr id="57349" name="Rectangle 8"/>
          <p:cNvSpPr>
            <a:spLocks noChangeArrowheads="1"/>
          </p:cNvSpPr>
          <p:nvPr/>
        </p:nvSpPr>
        <p:spPr bwMode="auto">
          <a:xfrm>
            <a:off x="5214938" y="4384675"/>
            <a:ext cx="3240087" cy="1582738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latinLnBrk="1"/>
            <a:endParaRPr kumimoji="1" lang="ko-KR" altLang="en-US" sz="1800" b="0">
              <a:solidFill>
                <a:schemeClr val="bg1"/>
              </a:solidFill>
              <a:latin typeface="Franklin Gothic Heavy" pitchFamily="34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3059113" y="260350"/>
            <a:ext cx="27892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2"/>
            </a:outerShdw>
          </a:effectLst>
        </p:spPr>
        <p:txBody>
          <a:bodyPr>
            <a:spAutoFit/>
          </a:bodyPr>
          <a:lstStyle/>
          <a:p>
            <a:pPr algn="ctr" latinLnBrk="0">
              <a:defRPr/>
            </a:pPr>
            <a:r>
              <a:rPr kumimoji="0" lang="en-US" altLang="ko-KR" sz="3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HY헤드라인M" pitchFamily="18" charset="-127"/>
                <a:cs typeface="Times New Roman" pitchFamily="18" charset="0"/>
              </a:rPr>
              <a:t>AGENDA</a:t>
            </a:r>
            <a:endParaRPr kumimoji="0" lang="ko-KR" altLang="en-US" sz="3600" b="1" dirty="0">
              <a:solidFill>
                <a:srgbClr val="FFCC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HY헤드라인M" pitchFamily="18" charset="-127"/>
              <a:cs typeface="Times New Roman" pitchFamily="18" charset="0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85750" y="1500188"/>
            <a:ext cx="8572500" cy="4071937"/>
            <a:chOff x="285750" y="1500188"/>
            <a:chExt cx="8572500" cy="3929062"/>
          </a:xfrm>
        </p:grpSpPr>
        <p:grpSp>
          <p:nvGrpSpPr>
            <p:cNvPr id="3" name="Group 173"/>
            <p:cNvGrpSpPr>
              <a:grpSpLocks/>
            </p:cNvGrpSpPr>
            <p:nvPr/>
          </p:nvGrpSpPr>
          <p:grpSpPr bwMode="auto">
            <a:xfrm>
              <a:off x="285750" y="1500188"/>
              <a:ext cx="8572500" cy="842962"/>
              <a:chOff x="1248" y="1350"/>
              <a:chExt cx="3060" cy="348"/>
            </a:xfrm>
          </p:grpSpPr>
          <p:sp>
            <p:nvSpPr>
              <p:cNvPr id="15380" name="AutoShape 95"/>
              <p:cNvSpPr>
                <a:spLocks noChangeArrowheads="1"/>
              </p:cNvSpPr>
              <p:nvPr/>
            </p:nvSpPr>
            <p:spPr bwMode="gray">
              <a:xfrm>
                <a:off x="1248" y="1350"/>
                <a:ext cx="3060" cy="34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0" lang="ko-KR" altLang="en-US" sz="3200">
                  <a:latin typeface="Arial" pitchFamily="34" charset="0"/>
                </a:endParaRPr>
              </a:p>
            </p:txBody>
          </p:sp>
          <p:sp>
            <p:nvSpPr>
              <p:cNvPr id="15381" name="AutoShape 94"/>
              <p:cNvSpPr>
                <a:spLocks noChangeArrowheads="1"/>
              </p:cNvSpPr>
              <p:nvPr/>
            </p:nvSpPr>
            <p:spPr bwMode="gray">
              <a:xfrm>
                <a:off x="1303" y="1380"/>
                <a:ext cx="2969" cy="28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195"/>
                </a:schemeClr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0" lang="ko-KR" altLang="en-US" sz="3200">
                  <a:latin typeface="Arial" pitchFamily="34" charset="0"/>
                </a:endParaRPr>
              </a:p>
            </p:txBody>
          </p:sp>
          <p:sp>
            <p:nvSpPr>
              <p:cNvPr id="100" name="Text Box 42"/>
              <p:cNvSpPr txBox="1">
                <a:spLocks noChangeArrowheads="1"/>
              </p:cNvSpPr>
              <p:nvPr/>
            </p:nvSpPr>
            <p:spPr bwMode="gray">
              <a:xfrm>
                <a:off x="1358" y="1380"/>
                <a:ext cx="2839" cy="23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algn="ctr" latinLnBrk="0">
                  <a:defRPr/>
                </a:pPr>
                <a:r>
                  <a:rPr kumimoji="0" lang="en-US" altLang="ko-KR" sz="3200" dirty="0">
                    <a:latin typeface="Times New Roman" pitchFamily="18" charset="0"/>
                    <a:ea typeface="HY견고딕" pitchFamily="18" charset="-127"/>
                    <a:cs typeface="Times New Roman" pitchFamily="18" charset="0"/>
                  </a:rPr>
                  <a:t>Importance of Understanding GBE</a:t>
                </a:r>
                <a:endParaRPr kumimoji="0" lang="en-US" altLang="ko-KR" sz="3200" dirty="0">
                  <a:latin typeface="Arial" charset="0"/>
                  <a:ea typeface="HY견고딕" pitchFamily="18" charset="-127"/>
                  <a:cs typeface="Times New Roman" pitchFamily="18" charset="0"/>
                </a:endParaRPr>
              </a:p>
            </p:txBody>
          </p:sp>
        </p:grpSp>
        <p:grpSp>
          <p:nvGrpSpPr>
            <p:cNvPr id="4" name="Group 174"/>
            <p:cNvGrpSpPr>
              <a:grpSpLocks/>
            </p:cNvGrpSpPr>
            <p:nvPr/>
          </p:nvGrpSpPr>
          <p:grpSpPr bwMode="auto">
            <a:xfrm>
              <a:off x="285750" y="2563813"/>
              <a:ext cx="8501063" cy="842962"/>
              <a:chOff x="1260" y="1794"/>
              <a:chExt cx="3060" cy="348"/>
            </a:xfrm>
          </p:grpSpPr>
          <p:sp>
            <p:nvSpPr>
              <p:cNvPr id="15377" name="AutoShape 109"/>
              <p:cNvSpPr>
                <a:spLocks noChangeArrowheads="1"/>
              </p:cNvSpPr>
              <p:nvPr/>
            </p:nvSpPr>
            <p:spPr bwMode="gray">
              <a:xfrm>
                <a:off x="1260" y="1794"/>
                <a:ext cx="3060" cy="34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0" lang="ko-KR" altLang="en-US" sz="3200">
                  <a:latin typeface="Arial" pitchFamily="34" charset="0"/>
                </a:endParaRPr>
              </a:p>
            </p:txBody>
          </p:sp>
          <p:sp>
            <p:nvSpPr>
              <p:cNvPr id="15378" name="AutoShape 110"/>
              <p:cNvSpPr>
                <a:spLocks noChangeArrowheads="1"/>
              </p:cNvSpPr>
              <p:nvPr/>
            </p:nvSpPr>
            <p:spPr bwMode="gray">
              <a:xfrm>
                <a:off x="1315" y="1824"/>
                <a:ext cx="2969" cy="28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195"/>
                </a:schemeClr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0" lang="ko-KR" altLang="en-US" sz="3200">
                  <a:latin typeface="Arial" pitchFamily="34" charset="0"/>
                </a:endParaRPr>
              </a:p>
            </p:txBody>
          </p:sp>
          <p:sp>
            <p:nvSpPr>
              <p:cNvPr id="104" name="Text Box 111"/>
              <p:cNvSpPr txBox="1">
                <a:spLocks noChangeArrowheads="1"/>
              </p:cNvSpPr>
              <p:nvPr/>
            </p:nvSpPr>
            <p:spPr bwMode="gray">
              <a:xfrm>
                <a:off x="1311" y="1824"/>
                <a:ext cx="2931" cy="23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algn="ctr" latinLnBrk="0">
                  <a:defRPr/>
                </a:pPr>
                <a:r>
                  <a:rPr kumimoji="0" lang="en-US" altLang="ko-KR" sz="3200" dirty="0">
                    <a:latin typeface="Times New Roman" pitchFamily="18" charset="0"/>
                    <a:ea typeface="HY견고딕" pitchFamily="18" charset="-127"/>
                    <a:cs typeface="Times New Roman" pitchFamily="18" charset="0"/>
                  </a:rPr>
                  <a:t>Concept of Globalization</a:t>
                </a:r>
                <a:endParaRPr kumimoji="0" lang="en-US" altLang="ko-KR" sz="3200" dirty="0">
                  <a:latin typeface="Arial" charset="0"/>
                  <a:ea typeface="HY견고딕" pitchFamily="18" charset="-127"/>
                  <a:cs typeface="Times New Roman" pitchFamily="18" charset="0"/>
                </a:endParaRPr>
              </a:p>
            </p:txBody>
          </p:sp>
        </p:grpSp>
        <p:grpSp>
          <p:nvGrpSpPr>
            <p:cNvPr id="5" name="Group 175"/>
            <p:cNvGrpSpPr>
              <a:grpSpLocks/>
            </p:cNvGrpSpPr>
            <p:nvPr/>
          </p:nvGrpSpPr>
          <p:grpSpPr bwMode="auto">
            <a:xfrm>
              <a:off x="285750" y="3571875"/>
              <a:ext cx="8501063" cy="842963"/>
              <a:chOff x="1248" y="2244"/>
              <a:chExt cx="3060" cy="348"/>
            </a:xfrm>
          </p:grpSpPr>
          <p:sp>
            <p:nvSpPr>
              <p:cNvPr id="15374" name="AutoShape 125"/>
              <p:cNvSpPr>
                <a:spLocks noChangeArrowheads="1"/>
              </p:cNvSpPr>
              <p:nvPr/>
            </p:nvSpPr>
            <p:spPr bwMode="gray">
              <a:xfrm>
                <a:off x="1248" y="2244"/>
                <a:ext cx="3060" cy="34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latinLnBrk="0"/>
                <a:endParaRPr kumimoji="0" lang="ko-KR" altLang="en-US" sz="3200">
                  <a:latin typeface="Arial" pitchFamily="34" charset="0"/>
                </a:endParaRPr>
              </a:p>
            </p:txBody>
          </p:sp>
          <p:sp>
            <p:nvSpPr>
              <p:cNvPr id="15375" name="AutoShape 126"/>
              <p:cNvSpPr>
                <a:spLocks noChangeArrowheads="1"/>
              </p:cNvSpPr>
              <p:nvPr/>
            </p:nvSpPr>
            <p:spPr bwMode="gray">
              <a:xfrm>
                <a:off x="1303" y="2274"/>
                <a:ext cx="2969" cy="28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195"/>
                </a:schemeClr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latinLnBrk="0"/>
                <a:endParaRPr kumimoji="0" lang="ko-KR" altLang="en-US" sz="3200">
                  <a:latin typeface="Arial" pitchFamily="34" charset="0"/>
                </a:endParaRPr>
              </a:p>
            </p:txBody>
          </p:sp>
          <p:sp>
            <p:nvSpPr>
              <p:cNvPr id="108" name="Text Box 127"/>
              <p:cNvSpPr txBox="1">
                <a:spLocks noChangeArrowheads="1"/>
              </p:cNvSpPr>
              <p:nvPr/>
            </p:nvSpPr>
            <p:spPr bwMode="gray">
              <a:xfrm>
                <a:off x="1325" y="2274"/>
                <a:ext cx="2906" cy="233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algn="ctr" latinLnBrk="0">
                  <a:defRPr/>
                </a:pPr>
                <a:r>
                  <a:rPr kumimoji="0" lang="en-US" altLang="ko-KR" sz="3200" dirty="0">
                    <a:latin typeface="Times New Roman" pitchFamily="18" charset="0"/>
                    <a:ea typeface="HY견고딕" pitchFamily="18" charset="-127"/>
                    <a:cs typeface="Times New Roman" pitchFamily="18" charset="0"/>
                  </a:rPr>
                  <a:t>Trend of Globalization</a:t>
                </a:r>
              </a:p>
            </p:txBody>
          </p:sp>
        </p:grpSp>
        <p:grpSp>
          <p:nvGrpSpPr>
            <p:cNvPr id="6" name="Group 176"/>
            <p:cNvGrpSpPr>
              <a:grpSpLocks/>
            </p:cNvGrpSpPr>
            <p:nvPr/>
          </p:nvGrpSpPr>
          <p:grpSpPr bwMode="auto">
            <a:xfrm>
              <a:off x="285750" y="4586288"/>
              <a:ext cx="8501063" cy="842962"/>
              <a:chOff x="1248" y="2724"/>
              <a:chExt cx="3060" cy="348"/>
            </a:xfrm>
          </p:grpSpPr>
          <p:sp>
            <p:nvSpPr>
              <p:cNvPr id="15371" name="AutoShape 141"/>
              <p:cNvSpPr>
                <a:spLocks noChangeArrowheads="1"/>
              </p:cNvSpPr>
              <p:nvPr/>
            </p:nvSpPr>
            <p:spPr bwMode="gray">
              <a:xfrm>
                <a:off x="1248" y="2724"/>
                <a:ext cx="3060" cy="34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0" lang="ko-KR" altLang="en-US" sz="32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372" name="AutoShape 142"/>
              <p:cNvSpPr>
                <a:spLocks noChangeArrowheads="1"/>
              </p:cNvSpPr>
              <p:nvPr/>
            </p:nvSpPr>
            <p:spPr bwMode="gray">
              <a:xfrm>
                <a:off x="1303" y="2754"/>
                <a:ext cx="2969" cy="28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195"/>
                </a:schemeClr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0"/>
                <a:endParaRPr kumimoji="0" lang="ko-KR" altLang="en-US" sz="32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Text Box 143"/>
              <p:cNvSpPr txBox="1">
                <a:spLocks noChangeArrowheads="1"/>
              </p:cNvSpPr>
              <p:nvPr/>
            </p:nvSpPr>
            <p:spPr bwMode="gray">
              <a:xfrm>
                <a:off x="1447" y="2777"/>
                <a:ext cx="2784" cy="21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algn="ctr" latinLnBrk="0">
                  <a:lnSpc>
                    <a:spcPct val="90000"/>
                  </a:lnSpc>
                  <a:spcBef>
                    <a:spcPct val="170000"/>
                  </a:spcBef>
                  <a:defRPr/>
                </a:pPr>
                <a:endParaRPr kumimoji="0" lang="ko-KR" altLang="en-US" sz="3200" dirty="0">
                  <a:latin typeface="Times New Roman" pitchFamily="18" charset="0"/>
                  <a:ea typeface="HY견고딕" pitchFamily="18" charset="-127"/>
                  <a:cs typeface="Times New Roman" pitchFamily="18" charset="0"/>
                </a:endParaRPr>
              </a:p>
            </p:txBody>
          </p:sp>
        </p:grpSp>
      </p:grpSp>
      <p:sp>
        <p:nvSpPr>
          <p:cNvPr id="15364" name="AutoShape 141"/>
          <p:cNvSpPr>
            <a:spLocks noChangeArrowheads="1"/>
          </p:cNvSpPr>
          <p:nvPr/>
        </p:nvSpPr>
        <p:spPr bwMode="gray">
          <a:xfrm>
            <a:off x="285750" y="5770563"/>
            <a:ext cx="8501063" cy="8731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 latinLnBrk="0"/>
            <a:endParaRPr kumimoji="0" lang="ko-KR" alt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Box 143"/>
          <p:cNvSpPr txBox="1">
            <a:spLocks noChangeArrowheads="1"/>
          </p:cNvSpPr>
          <p:nvPr/>
        </p:nvSpPr>
        <p:spPr bwMode="gray">
          <a:xfrm>
            <a:off x="571500" y="6000750"/>
            <a:ext cx="8001000" cy="53498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latinLnBrk="0">
              <a:lnSpc>
                <a:spcPct val="90000"/>
              </a:lnSpc>
              <a:spcBef>
                <a:spcPct val="170000"/>
              </a:spcBef>
              <a:defRPr/>
            </a:pPr>
            <a:r>
              <a:rPr kumimoji="0" lang="en-US" altLang="ko-KR" sz="32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Implications and Conclusions</a:t>
            </a:r>
            <a:endParaRPr kumimoji="0" lang="ko-KR" altLang="en-US" sz="3200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  <p:sp>
        <p:nvSpPr>
          <p:cNvPr id="23" name="Text Box 143"/>
          <p:cNvSpPr txBox="1">
            <a:spLocks noChangeArrowheads="1"/>
          </p:cNvSpPr>
          <p:nvPr/>
        </p:nvSpPr>
        <p:spPr bwMode="gray">
          <a:xfrm>
            <a:off x="571500" y="4881563"/>
            <a:ext cx="8001000" cy="5349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latinLnBrk="0">
              <a:lnSpc>
                <a:spcPct val="90000"/>
              </a:lnSpc>
              <a:spcBef>
                <a:spcPct val="170000"/>
              </a:spcBef>
              <a:defRPr/>
            </a:pPr>
            <a:r>
              <a:rPr lang="en-US" altLang="ko-KR" sz="3200" dirty="0">
                <a:ea typeface="HY견고딕" pitchFamily="18" charset="-127"/>
                <a:cs typeface="Times New Roman" pitchFamily="18" charset="0"/>
              </a:rPr>
              <a:t>Impact </a:t>
            </a:r>
            <a:r>
              <a:rPr kumimoji="0" lang="en-US" altLang="ko-KR" sz="32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of Globalization</a:t>
            </a:r>
            <a:endParaRPr kumimoji="0" lang="ko-KR" altLang="en-US" sz="3200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25602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467544" y="1128737"/>
            <a:ext cx="8280920" cy="302034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Importance of Understanding </a:t>
            </a:r>
          </a:p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Global Business Environment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7"/>
          <p:cNvSpPr>
            <a:spLocks noGrp="1" noChangeArrowheads="1"/>
          </p:cNvSpPr>
          <p:nvPr>
            <p:ph type="title"/>
          </p:nvPr>
        </p:nvSpPr>
        <p:spPr>
          <a:xfrm>
            <a:off x="928688" y="319088"/>
            <a:ext cx="75438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ENVIRONMENT – ORGANIZATION RELATIONSHIPS</a:t>
            </a: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1043608" y="2892421"/>
            <a:ext cx="2539022" cy="21999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5633378" y="2892421"/>
            <a:ext cx="2539022" cy="2199901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6" name="Text Box 9"/>
          <p:cNvSpPr txBox="1">
            <a:spLocks noChangeArrowheads="1"/>
          </p:cNvSpPr>
          <p:nvPr/>
        </p:nvSpPr>
        <p:spPr bwMode="auto">
          <a:xfrm>
            <a:off x="1187624" y="3697868"/>
            <a:ext cx="22140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Environment</a:t>
            </a:r>
          </a:p>
        </p:txBody>
      </p:sp>
      <p:sp>
        <p:nvSpPr>
          <p:cNvPr id="10247" name="Text Box 10"/>
          <p:cNvSpPr txBox="1">
            <a:spLocks noChangeArrowheads="1"/>
          </p:cNvSpPr>
          <p:nvPr/>
        </p:nvSpPr>
        <p:spPr bwMode="auto">
          <a:xfrm>
            <a:off x="5809506" y="3717032"/>
            <a:ext cx="22188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800" b="1" dirty="0">
                <a:latin typeface="Times New Roman" pitchFamily="18" charset="0"/>
                <a:cs typeface="Times New Roman" pitchFamily="18" charset="0"/>
              </a:rPr>
              <a:t>Organization</a:t>
            </a:r>
          </a:p>
        </p:txBody>
      </p:sp>
      <p:sp>
        <p:nvSpPr>
          <p:cNvPr id="10248" name="AutoShape 18"/>
          <p:cNvSpPr>
            <a:spLocks noChangeArrowheads="1"/>
          </p:cNvSpPr>
          <p:nvPr/>
        </p:nvSpPr>
        <p:spPr bwMode="auto">
          <a:xfrm>
            <a:off x="3289666" y="5092323"/>
            <a:ext cx="3027295" cy="549975"/>
          </a:xfrm>
          <a:prstGeom prst="curvedUpArrow">
            <a:avLst>
              <a:gd name="adj1" fmla="val 103333"/>
              <a:gd name="adj2" fmla="val 206667"/>
              <a:gd name="adj3" fmla="val 33333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9" name="AutoShape 19"/>
          <p:cNvSpPr>
            <a:spLocks noChangeArrowheads="1"/>
          </p:cNvSpPr>
          <p:nvPr/>
        </p:nvSpPr>
        <p:spPr bwMode="auto">
          <a:xfrm rot="10800000" flipV="1">
            <a:off x="2815235" y="2334366"/>
            <a:ext cx="3222605" cy="590077"/>
          </a:xfrm>
          <a:prstGeom prst="curvedDownArrow">
            <a:avLst>
              <a:gd name="adj1" fmla="val 132000"/>
              <a:gd name="adj2" fmla="val 264000"/>
              <a:gd name="adj3" fmla="val 33333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50" name="Text Box 20"/>
          <p:cNvSpPr txBox="1">
            <a:spLocks noChangeArrowheads="1"/>
          </p:cNvSpPr>
          <p:nvPr/>
        </p:nvSpPr>
        <p:spPr bwMode="auto">
          <a:xfrm>
            <a:off x="2584803" y="1664235"/>
            <a:ext cx="5029216" cy="555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Influencing the environment</a:t>
            </a:r>
          </a:p>
        </p:txBody>
      </p:sp>
      <p:sp>
        <p:nvSpPr>
          <p:cNvPr id="10251" name="Text Box 21"/>
          <p:cNvSpPr txBox="1">
            <a:spLocks noChangeArrowheads="1"/>
          </p:cNvSpPr>
          <p:nvPr/>
        </p:nvSpPr>
        <p:spPr bwMode="auto">
          <a:xfrm>
            <a:off x="2627784" y="5825623"/>
            <a:ext cx="5012940" cy="555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2400" b="1" dirty="0">
                <a:latin typeface="Times New Roman" pitchFamily="18" charset="0"/>
                <a:cs typeface="Times New Roman" pitchFamily="18" charset="0"/>
              </a:rPr>
              <a:t>Influencing the organization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55576" y="319088"/>
            <a:ext cx="7543800" cy="563562"/>
          </a:xfrm>
        </p:spPr>
        <p:txBody>
          <a:bodyPr/>
          <a:lstStyle/>
          <a:p>
            <a:pPr algn="ctr"/>
            <a:r>
              <a:rPr lang="en-US" altLang="ko-KR" sz="32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ENVIRONMENT – ORGANIZATION RELATIONSHIPS (continued)</a:t>
            </a:r>
            <a:endParaRPr lang="ko-KR" altLang="en-US" sz="32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3786188" y="3286125"/>
            <a:ext cx="1676400" cy="15240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ko-KR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2582863" y="2076450"/>
            <a:ext cx="4114800" cy="38100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ko-KR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1214438" y="1357313"/>
            <a:ext cx="6858000" cy="52578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214813" y="3857625"/>
            <a:ext cx="7762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Firm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3799779" y="2276872"/>
            <a:ext cx="1779397" cy="55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Industry </a:t>
            </a:r>
          </a:p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Environment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2786063" y="3000375"/>
            <a:ext cx="14493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Competitors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2571750" y="3857625"/>
            <a:ext cx="1279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Customers</a:t>
            </a: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5500688" y="3857625"/>
            <a:ext cx="11509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Suppliers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2998788" y="4727575"/>
            <a:ext cx="1136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Creditors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3750004" y="1497295"/>
            <a:ext cx="1849929" cy="55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2200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General </a:t>
            </a:r>
          </a:p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Environment 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1862138" y="2436813"/>
            <a:ext cx="1223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Economic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6072188" y="2441575"/>
            <a:ext cx="15795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Demographic</a:t>
            </a: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550988" y="3889375"/>
            <a:ext cx="823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Social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5208588" y="5718175"/>
            <a:ext cx="1738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TW" sz="2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Technological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6884988" y="3889375"/>
            <a:ext cx="882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Global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2357438" y="5715000"/>
            <a:ext cx="150495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Political/Legal</a:t>
            </a:r>
            <a:endParaRPr lang="en-GB" altLang="ko-KR" sz="200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5056188" y="4727575"/>
            <a:ext cx="1444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Labor union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3913188" y="5337175"/>
            <a:ext cx="1585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Stock holders</a:t>
            </a:r>
          </a:p>
        </p:txBody>
      </p:sp>
      <p:sp>
        <p:nvSpPr>
          <p:cNvPr id="18453" name="Text Box 8"/>
          <p:cNvSpPr txBox="1">
            <a:spLocks noChangeArrowheads="1"/>
          </p:cNvSpPr>
          <p:nvPr/>
        </p:nvSpPr>
        <p:spPr bwMode="auto">
          <a:xfrm>
            <a:off x="5052875" y="3071783"/>
            <a:ext cx="15846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Technologies</a:t>
            </a:r>
          </a:p>
        </p:txBody>
      </p:sp>
      <p:sp>
        <p:nvSpPr>
          <p:cNvPr id="27" name="Curved Down Arrow 26"/>
          <p:cNvSpPr/>
          <p:nvPr/>
        </p:nvSpPr>
        <p:spPr bwMode="auto">
          <a:xfrm rot="21111688" flipV="1">
            <a:off x="2351088" y="5199063"/>
            <a:ext cx="1465262" cy="485775"/>
          </a:xfrm>
          <a:prstGeom prst="curvedDownArrow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latinLnBrk="0"/>
            <a:endParaRPr kumimoji="0" lang="en-US">
              <a:latin typeface="Arial" pitchFamily="34" charset="0"/>
            </a:endParaRPr>
          </a:p>
        </p:txBody>
      </p:sp>
      <p:sp>
        <p:nvSpPr>
          <p:cNvPr id="28" name="Curved Down Arrow 27"/>
          <p:cNvSpPr/>
          <p:nvPr/>
        </p:nvSpPr>
        <p:spPr bwMode="auto">
          <a:xfrm>
            <a:off x="2979738" y="3352800"/>
            <a:ext cx="1476375" cy="565150"/>
          </a:xfrm>
          <a:prstGeom prst="curvedDownArrow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latinLnBrk="0"/>
            <a:endParaRPr kumimoji="0" lang="en-US">
              <a:latin typeface="Arial" pitchFamily="34" charset="0"/>
            </a:endParaRPr>
          </a:p>
        </p:txBody>
      </p:sp>
      <p:sp>
        <p:nvSpPr>
          <p:cNvPr id="29" name="Curved Down Arrow 28"/>
          <p:cNvSpPr/>
          <p:nvPr/>
        </p:nvSpPr>
        <p:spPr bwMode="auto">
          <a:xfrm rot="21127399">
            <a:off x="4983163" y="3446463"/>
            <a:ext cx="1460500" cy="541337"/>
          </a:xfrm>
          <a:prstGeom prst="curvedDownArrow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latinLnBrk="0"/>
            <a:endParaRPr kumimoji="0" lang="en-US">
              <a:latin typeface="Arial" pitchFamily="34" charset="0"/>
            </a:endParaRPr>
          </a:p>
        </p:txBody>
      </p:sp>
      <p:sp>
        <p:nvSpPr>
          <p:cNvPr id="31" name="Curved Down Arrow 30"/>
          <p:cNvSpPr/>
          <p:nvPr/>
        </p:nvSpPr>
        <p:spPr bwMode="auto">
          <a:xfrm rot="584509" flipV="1">
            <a:off x="4973638" y="4552950"/>
            <a:ext cx="2357437" cy="525463"/>
          </a:xfrm>
          <a:prstGeom prst="curvedDownArrow">
            <a:avLst/>
          </a:prstGeom>
          <a:solidFill>
            <a:schemeClr val="tx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latinLnBrk="0"/>
            <a:endParaRPr kumimoji="0" lang="en-US">
              <a:latin typeface="Arial" pitchFamily="34" charset="0"/>
            </a:endParaRPr>
          </a:p>
        </p:txBody>
      </p:sp>
      <p:sp>
        <p:nvSpPr>
          <p:cNvPr id="32" name="Curved Down Arrow 31"/>
          <p:cNvSpPr/>
          <p:nvPr/>
        </p:nvSpPr>
        <p:spPr bwMode="auto">
          <a:xfrm rot="21235745" flipV="1">
            <a:off x="1938338" y="4344988"/>
            <a:ext cx="2474912" cy="441325"/>
          </a:xfrm>
          <a:prstGeom prst="curvedDownArrow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latinLnBrk="0"/>
            <a:endParaRPr kumimoji="0" lang="en-US">
              <a:latin typeface="Arial" pitchFamily="34" charset="0"/>
            </a:endParaRPr>
          </a:p>
        </p:txBody>
      </p:sp>
      <p:sp>
        <p:nvSpPr>
          <p:cNvPr id="18459" name="Text Box 17"/>
          <p:cNvSpPr txBox="1">
            <a:spLocks noChangeArrowheads="1"/>
          </p:cNvSpPr>
          <p:nvPr/>
        </p:nvSpPr>
        <p:spPr bwMode="auto">
          <a:xfrm>
            <a:off x="4139952" y="2812926"/>
            <a:ext cx="882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0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Global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893175" cy="563563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MODERN MANAGEMENT FRAMEWORK</a:t>
            </a:r>
            <a:endParaRPr lang="en-GB" altLang="ko-KR" sz="3200" b="1" dirty="0">
              <a:solidFill>
                <a:srgbClr val="FFC000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5857875" y="2143125"/>
            <a:ext cx="2746573" cy="21161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endParaRPr kumimoji="0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3203848" y="4675188"/>
            <a:ext cx="2592288" cy="17081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endParaRPr kumimoji="0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5868145" y="2214563"/>
            <a:ext cx="2769444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/>
            <a:r>
              <a:rPr kumimoji="0" lang="en-US" altLang="ko-KR" b="1" dirty="0">
                <a:latin typeface="Times New Roman" pitchFamily="18" charset="0"/>
                <a:cs typeface="Times New Roman" pitchFamily="18" charset="0"/>
              </a:rPr>
              <a:t>ORGANIZATION</a:t>
            </a:r>
          </a:p>
          <a:p>
            <a:pPr latinLnBrk="0">
              <a:buFont typeface="Arial" pitchFamily="34" charset="0"/>
              <a:buChar char="•"/>
            </a:pPr>
            <a:r>
              <a:rPr kumimoji="0" lang="en-US" altLang="ko-KR" sz="2000" b="1" dirty="0">
                <a:latin typeface="Times New Roman" pitchFamily="18" charset="0"/>
                <a:cs typeface="Times New Roman" pitchFamily="18" charset="0"/>
              </a:rPr>
              <a:t> R</a:t>
            </a: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esources/</a:t>
            </a:r>
            <a:r>
              <a:rPr kumimoji="0" lang="en-US" altLang="ko-KR" sz="2000" dirty="0" err="1">
                <a:latin typeface="Times New Roman" pitchFamily="18" charset="0"/>
                <a:cs typeface="Times New Roman" pitchFamily="18" charset="0"/>
              </a:rPr>
              <a:t>Capabilit</a:t>
            </a: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atinLnBrk="0">
              <a:lnSpc>
                <a:spcPct val="90000"/>
              </a:lnSpc>
              <a:buFont typeface="Arial" pitchFamily="34" charset="0"/>
              <a:buChar char="•"/>
            </a:pP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 Structure</a:t>
            </a:r>
          </a:p>
          <a:p>
            <a:pPr latinLnBrk="0">
              <a:lnSpc>
                <a:spcPct val="90000"/>
              </a:lnSpc>
              <a:buFont typeface="Arial" pitchFamily="34" charset="0"/>
              <a:buChar char="•"/>
            </a:pP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 Systems/processes</a:t>
            </a:r>
          </a:p>
          <a:p>
            <a:pPr latinLnBrk="0">
              <a:lnSpc>
                <a:spcPct val="90000"/>
              </a:lnSpc>
              <a:buFont typeface="Arial" pitchFamily="34" charset="0"/>
              <a:buChar char="•"/>
            </a:pP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 Culture</a:t>
            </a:r>
          </a:p>
          <a:p>
            <a:pPr latinLnBrk="0">
              <a:lnSpc>
                <a:spcPct val="90000"/>
              </a:lnSpc>
              <a:buFont typeface="Arial" pitchFamily="34" charset="0"/>
              <a:buChar char="•"/>
            </a:pP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 Leadership, Staffing</a:t>
            </a:r>
          </a:p>
          <a:p>
            <a:pPr latinLnBrk="0">
              <a:lnSpc>
                <a:spcPct val="90000"/>
              </a:lnSpc>
              <a:buFont typeface="Arial" pitchFamily="34" charset="0"/>
              <a:buChar char="•"/>
            </a:pPr>
            <a:r>
              <a:rPr kumimoji="0" lang="en-US" altLang="ko-KR" sz="2000" dirty="0">
                <a:latin typeface="Times New Roman" pitchFamily="18" charset="0"/>
                <a:cs typeface="Times New Roman" pitchFamily="18" charset="0"/>
              </a:rPr>
              <a:t> etc.</a:t>
            </a:r>
          </a:p>
          <a:p>
            <a:pPr latinLnBrk="0"/>
            <a:r>
              <a:rPr kumimoji="0" lang="en-US" altLang="ko-KR" sz="1600" dirty="0">
                <a:latin typeface="Times New Roman" pitchFamily="18" charset="0"/>
                <a:cs typeface="Times New Roman" pitchFamily="18" charset="0"/>
              </a:rPr>
              <a:t>       </a:t>
            </a:r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251520" y="2143125"/>
            <a:ext cx="2863155" cy="21431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endParaRPr kumimoji="0" lang="ko-KR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251520" y="2348880"/>
            <a:ext cx="295232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0">
              <a:lnSpc>
                <a:spcPts val="3000"/>
              </a:lnSpc>
            </a:pPr>
            <a:r>
              <a:rPr kumimoji="0" lang="en-US" altLang="ko-KR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GLOBAL ENVIRONMENT</a:t>
            </a:r>
          </a:p>
          <a:p>
            <a:pPr latinLnBrk="0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000" dirty="0">
                <a:solidFill>
                  <a:srgbClr val="FFFF00"/>
                </a:solidFill>
                <a:cs typeface="Times New Roman" pitchFamily="18" charset="0"/>
              </a:rPr>
              <a:t> World/Country/Market</a:t>
            </a:r>
          </a:p>
          <a:p>
            <a:pPr latinLnBrk="0">
              <a:lnSpc>
                <a:spcPts val="3000"/>
              </a:lnSpc>
              <a:buFont typeface="Arial" pitchFamily="34" charset="0"/>
              <a:buChar char="•"/>
            </a:pPr>
            <a:r>
              <a:rPr kumimoji="0" lang="en-US" altLang="ko-KR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rgbClr val="FFFF00"/>
                </a:solidFill>
                <a:cs typeface="Times New Roman" pitchFamily="18" charset="0"/>
              </a:rPr>
              <a:t>General/Industry</a:t>
            </a:r>
            <a:endParaRPr kumimoji="0" lang="en-US" altLang="ko-KR" sz="20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3203848" y="4892967"/>
            <a:ext cx="25922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dirty="0">
                <a:cs typeface="Times New Roman" pitchFamily="18" charset="0"/>
              </a:rPr>
              <a:t>ECONOMIC</a:t>
            </a:r>
            <a:endParaRPr kumimoji="0" lang="en-US" altLang="ko-KR" b="1" dirty="0">
              <a:latin typeface="Times New Roman" pitchFamily="18" charset="0"/>
              <a:cs typeface="Times New Roman" pitchFamily="18" charset="0"/>
            </a:endParaRPr>
          </a:p>
          <a:p>
            <a:pPr algn="ctr" latinLnBrk="0">
              <a:lnSpc>
                <a:spcPct val="150000"/>
              </a:lnSpc>
            </a:pPr>
            <a:r>
              <a:rPr kumimoji="0" lang="en-US" altLang="ko-KR" b="1" dirty="0">
                <a:latin typeface="Times New Roman" pitchFamily="18" charset="0"/>
                <a:cs typeface="Times New Roman" pitchFamily="18" charset="0"/>
              </a:rPr>
              <a:t>PERFORMANCE</a:t>
            </a:r>
          </a:p>
        </p:txBody>
      </p:sp>
      <p:sp>
        <p:nvSpPr>
          <p:cNvPr id="17417" name="Line 11"/>
          <p:cNvSpPr>
            <a:spLocks noChangeShapeType="1"/>
          </p:cNvSpPr>
          <p:nvPr/>
        </p:nvSpPr>
        <p:spPr bwMode="auto">
          <a:xfrm>
            <a:off x="3111500" y="3198813"/>
            <a:ext cx="2733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418" name="Line 12"/>
          <p:cNvSpPr>
            <a:spLocks noChangeShapeType="1"/>
          </p:cNvSpPr>
          <p:nvPr/>
        </p:nvSpPr>
        <p:spPr bwMode="auto">
          <a:xfrm>
            <a:off x="4522788" y="3198813"/>
            <a:ext cx="0" cy="1438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9870" name="Oval 14"/>
          <p:cNvSpPr>
            <a:spLocks noChangeArrowheads="1"/>
          </p:cNvSpPr>
          <p:nvPr/>
        </p:nvSpPr>
        <p:spPr bwMode="auto">
          <a:xfrm>
            <a:off x="3286125" y="1412776"/>
            <a:ext cx="2428875" cy="165903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dirty="0"/>
              <a:t>STRATEGY</a:t>
            </a:r>
          </a:p>
          <a:p>
            <a:pPr algn="ctr"/>
            <a:r>
              <a:rPr lang="en-US" altLang="ko-KR" sz="2000" dirty="0"/>
              <a:t>Vision/Mission</a:t>
            </a:r>
          </a:p>
          <a:p>
            <a:pPr algn="ctr"/>
            <a:r>
              <a:rPr lang="en-US" altLang="ko-KR" sz="2000" b="1" dirty="0">
                <a:latin typeface="Times New Roman" pitchFamily="18" charset="0"/>
              </a:rPr>
              <a:t>Objectives/Goals</a:t>
            </a:r>
          </a:p>
          <a:p>
            <a:pPr algn="ctr"/>
            <a:r>
              <a:rPr lang="en-US" altLang="ko-KR" sz="2000" dirty="0"/>
              <a:t>Strategies</a:t>
            </a:r>
            <a:endParaRPr lang="en-US" altLang="ko-KR" sz="2000" b="1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00608" y="319088"/>
            <a:ext cx="7543800" cy="563562"/>
          </a:xfrm>
        </p:spPr>
        <p:txBody>
          <a:bodyPr/>
          <a:lstStyle/>
          <a:p>
            <a:pPr algn="ctr"/>
            <a:r>
              <a:rPr lang="en-US" altLang="ko-KR" sz="3200" b="1" dirty="0">
                <a:solidFill>
                  <a:srgbClr val="FFC000"/>
                </a:solidFill>
                <a:latin typeface="Franklin Gothic Heavy" pitchFamily="34" charset="0"/>
                <a:ea typeface="굴림" pitchFamily="50" charset="-127"/>
                <a:cs typeface="Times New Roman" pitchFamily="18" charset="0"/>
              </a:rPr>
              <a:t>COMPONENTS OF GLOBAL BUSINESS ENVIRONMENT</a:t>
            </a:r>
            <a:endParaRPr lang="ko-KR" altLang="en-US" sz="3200" dirty="0"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3661656" y="3455474"/>
            <a:ext cx="1595223" cy="1215717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ko-KR" altLang="en-US"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2516600" y="2490498"/>
            <a:ext cx="3915548" cy="3039293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ko-KR" altLang="en-US"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1214438" y="1916832"/>
            <a:ext cx="6525914" cy="4194224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ko-KR" altLang="en-US"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069525" y="3886264"/>
            <a:ext cx="7386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dirty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Firm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3368831" y="2684240"/>
            <a:ext cx="222208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dirty="0">
                <a:solidFill>
                  <a:srgbClr val="FFFF00"/>
                </a:solidFill>
                <a:ea typeface="PMingLiU" pitchFamily="18" charset="-120"/>
                <a:cs typeface="Times New Roman" pitchFamily="18" charset="0"/>
              </a:rPr>
              <a:t>Market/Industry</a:t>
            </a:r>
            <a:endParaRPr lang="en-US" altLang="zh-TW" sz="2200" b="1" dirty="0">
              <a:solidFill>
                <a:srgbClr val="FFFF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2759001" y="3217813"/>
            <a:ext cx="12811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Competitors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2548787" y="3738518"/>
            <a:ext cx="11320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Customers</a:t>
            </a: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5331623" y="3789040"/>
            <a:ext cx="101822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Suppliers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2699792" y="4314582"/>
            <a:ext cx="102573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Creditors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3269444" y="2036168"/>
            <a:ext cx="239520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FFFF00"/>
                </a:solidFill>
                <a:ea typeface="PMingLiU" pitchFamily="18" charset="-120"/>
                <a:cs typeface="Times New Roman" pitchFamily="18" charset="0"/>
              </a:rPr>
              <a:t>Country/General</a:t>
            </a:r>
            <a:r>
              <a: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1887175" y="2768251"/>
            <a:ext cx="10518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Economic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5903053" y="2772050"/>
            <a:ext cx="13708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Demographic</a:t>
            </a: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571473" y="3926981"/>
            <a:ext cx="71045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Social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5294127" y="5250686"/>
            <a:ext cx="16541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Technological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6692763" y="3926981"/>
            <a:ext cx="67518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Legal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2483768" y="5301208"/>
            <a:ext cx="721351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Political</a:t>
            </a:r>
            <a:endParaRPr lang="en-GB" altLang="ko-KR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5091593" y="4314582"/>
            <a:ext cx="128060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Labor union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4490844" y="4869160"/>
            <a:ext cx="13773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Stock holders</a:t>
            </a:r>
          </a:p>
        </p:txBody>
      </p:sp>
      <p:sp>
        <p:nvSpPr>
          <p:cNvPr id="18453" name="Text Box 8"/>
          <p:cNvSpPr txBox="1">
            <a:spLocks noChangeArrowheads="1"/>
          </p:cNvSpPr>
          <p:nvPr/>
        </p:nvSpPr>
        <p:spPr bwMode="auto">
          <a:xfrm>
            <a:off x="4967364" y="3274800"/>
            <a:ext cx="130715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Technologies</a:t>
            </a:r>
          </a:p>
        </p:txBody>
      </p:sp>
      <p:sp>
        <p:nvSpPr>
          <p:cNvPr id="62" name="Oval 61"/>
          <p:cNvSpPr/>
          <p:nvPr/>
        </p:nvSpPr>
        <p:spPr bwMode="auto">
          <a:xfrm>
            <a:off x="179512" y="1340768"/>
            <a:ext cx="8604448" cy="525658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 Box 12"/>
          <p:cNvSpPr txBox="1">
            <a:spLocks noChangeArrowheads="1"/>
          </p:cNvSpPr>
          <p:nvPr/>
        </p:nvSpPr>
        <p:spPr bwMode="auto">
          <a:xfrm>
            <a:off x="3370984" y="1460104"/>
            <a:ext cx="21389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b="1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2200" dirty="0">
                <a:solidFill>
                  <a:srgbClr val="FFFF00"/>
                </a:solidFill>
                <a:ea typeface="PMingLiU" pitchFamily="18" charset="-120"/>
                <a:cs typeface="Times New Roman" pitchFamily="18" charset="0"/>
              </a:rPr>
              <a:t>World/General</a:t>
            </a:r>
            <a:r>
              <a:rPr lang="en-US" altLang="zh-TW" sz="2200" b="1" dirty="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755576" y="5013176"/>
            <a:ext cx="1039066" cy="44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Foreign</a:t>
            </a:r>
          </a:p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Exchange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7164288" y="2298358"/>
            <a:ext cx="53732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FDI</a:t>
            </a:r>
          </a:p>
        </p:txBody>
      </p:sp>
      <p:sp>
        <p:nvSpPr>
          <p:cNvPr id="66" name="Text Box 13"/>
          <p:cNvSpPr txBox="1">
            <a:spLocks noChangeArrowheads="1"/>
          </p:cNvSpPr>
          <p:nvPr/>
        </p:nvSpPr>
        <p:spPr bwMode="auto">
          <a:xfrm>
            <a:off x="1130888" y="2298358"/>
            <a:ext cx="7048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Trade</a:t>
            </a:r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7283888" y="4962654"/>
            <a:ext cx="9605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Regional</a:t>
            </a:r>
          </a:p>
        </p:txBody>
      </p:sp>
      <p:sp>
        <p:nvSpPr>
          <p:cNvPr id="68" name="Text Box 13"/>
          <p:cNvSpPr txBox="1">
            <a:spLocks noChangeArrowheads="1"/>
          </p:cNvSpPr>
          <p:nvPr/>
        </p:nvSpPr>
        <p:spPr bwMode="auto">
          <a:xfrm>
            <a:off x="3801171" y="6165304"/>
            <a:ext cx="1350050" cy="44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International</a:t>
            </a:r>
          </a:p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Institutions</a:t>
            </a:r>
          </a:p>
        </p:txBody>
      </p:sp>
      <p:sp>
        <p:nvSpPr>
          <p:cNvPr id="69" name="Text Box 11"/>
          <p:cNvSpPr txBox="1">
            <a:spLocks noChangeArrowheads="1"/>
          </p:cNvSpPr>
          <p:nvPr/>
        </p:nvSpPr>
        <p:spPr bwMode="auto">
          <a:xfrm>
            <a:off x="3169305" y="4890646"/>
            <a:ext cx="12586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Distributors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25602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857250" y="1124744"/>
            <a:ext cx="7286625" cy="3096344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CONCEPT OF </a:t>
            </a:r>
          </a:p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GLOBALIZATION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DEFINITION</a:t>
            </a:r>
          </a:p>
        </p:txBody>
      </p:sp>
      <p:sp>
        <p:nvSpPr>
          <p:cNvPr id="8195" name="Rectangle 1028"/>
          <p:cNvSpPr>
            <a:spLocks noGrp="1" noChangeArrowheads="1"/>
          </p:cNvSpPr>
          <p:nvPr>
            <p:ph type="body" idx="4294967295"/>
          </p:nvPr>
        </p:nvSpPr>
        <p:spPr>
          <a:xfrm>
            <a:off x="142875" y="1357313"/>
            <a:ext cx="8401050" cy="464343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CN" sz="2400" dirty="0">
                <a:solidFill>
                  <a:srgbClr val="B1E2FB"/>
                </a:solidFill>
                <a:ea typeface="SimSun" pitchFamily="2" charset="-122"/>
              </a:rPr>
              <a:t> </a:t>
            </a:r>
            <a:r>
              <a:rPr lang="en-US" altLang="zh-TW" sz="2400" dirty="0">
                <a:solidFill>
                  <a:srgbClr val="B1E2FB"/>
                </a:solidFill>
                <a:latin typeface="Times New Roman" pitchFamily="18" charset="0"/>
                <a:ea typeface="PMingLiU" pitchFamily="18" charset="-120"/>
              </a:rPr>
              <a:t>Interdependence or i</a:t>
            </a: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PMingLiU" pitchFamily="18" charset="-120"/>
              </a:rPr>
              <a:t>nter</a:t>
            </a:r>
            <a:r>
              <a:rPr lang="en-US" altLang="zh-CN" sz="2400" dirty="0">
                <a:solidFill>
                  <a:srgbClr val="B1E2FB"/>
                </a:solidFill>
                <a:latin typeface="Times New Roman" pitchFamily="18" charset="0"/>
                <a:ea typeface="PMingLiU" pitchFamily="18" charset="-120"/>
              </a:rPr>
              <a:t>-</a:t>
            </a: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PMingLiU" pitchFamily="18" charset="-120"/>
              </a:rPr>
              <a:t>linkages</a:t>
            </a:r>
            <a:r>
              <a:rPr lang="en-US" altLang="zh-TW" sz="2400" dirty="0">
                <a:solidFill>
                  <a:srgbClr val="B1E2FB"/>
                </a:solidFill>
                <a:latin typeface="Times New Roman" pitchFamily="18" charset="0"/>
                <a:ea typeface="PMingLiU" pitchFamily="18" charset="-120"/>
              </a:rPr>
              <a:t> across national boundaries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ko-KR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The shift towards an economically, socially, and politically more integrated, interdependent , and interlinked world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2400" dirty="0">
                <a:solidFill>
                  <a:srgbClr val="B1E2FB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  - Economic, social, political globalization 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dirty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●</a:t>
            </a:r>
            <a:r>
              <a:rPr lang="en-US" altLang="zh-TW" sz="2400" dirty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H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omogenization of the world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dirty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</a:rPr>
              <a:t>●</a:t>
            </a:r>
            <a:r>
              <a:rPr lang="en-US" altLang="zh-TW" sz="2400" dirty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</a:rPr>
              <a:t> N</a:t>
            </a:r>
            <a:r>
              <a:rPr lang="en-US" altLang="ko-KR" sz="24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ew international order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SOURCES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500063" y="1255713"/>
            <a:ext cx="7858125" cy="581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CN" b="0" dirty="0">
                <a:solidFill>
                  <a:srgbClr val="B1E2FB"/>
                </a:solidFill>
                <a:ea typeface="PMingLiU" pitchFamily="18" charset="-120"/>
              </a:rPr>
              <a:t> International flows of goods and services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</a:t>
            </a:r>
            <a:r>
              <a:rPr lang="en-US" altLang="zh-TW" b="0" dirty="0">
                <a:solidFill>
                  <a:srgbClr val="B1E2FB"/>
                </a:solidFill>
                <a:ea typeface="굴림" pitchFamily="50" charset="-127"/>
              </a:rPr>
              <a:t>International flows of capital</a:t>
            </a:r>
            <a:endParaRPr lang="en-US" altLang="zh-TW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CN" b="0" dirty="0">
                <a:solidFill>
                  <a:srgbClr val="B1E2FB"/>
                </a:solidFill>
                <a:ea typeface="PMingLiU" pitchFamily="18" charset="-120"/>
              </a:rPr>
              <a:t> International movement of people/labor</a:t>
            </a:r>
            <a:endParaRPr lang="en-US" altLang="zh-TW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International flows of ideas, information &amp; knowledge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sz="1800" b="0" dirty="0">
                <a:solidFill>
                  <a:srgbClr val="B1E2FB"/>
                </a:solidFill>
                <a:ea typeface="PMingLiU" pitchFamily="18" charset="-120"/>
              </a:rPr>
              <a:t> </a:t>
            </a:r>
            <a:r>
              <a:rPr lang="en-US" altLang="ko-KR" b="0" dirty="0">
                <a:solidFill>
                  <a:srgbClr val="B1E2FB"/>
                </a:solidFill>
                <a:ea typeface="PMingLiU" pitchFamily="18" charset="-120"/>
              </a:rPr>
              <a:t>International communications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International diffusion of government policies</a:t>
            </a: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ko-KR">
                <a:solidFill>
                  <a:srgbClr val="CA00CA"/>
                </a:solidFill>
                <a:ea typeface="굴림" pitchFamily="50" charset="-127"/>
              </a:rPr>
              <a:t>				</a:t>
            </a:r>
          </a:p>
        </p:txBody>
      </p:sp>
      <p:sp>
        <p:nvSpPr>
          <p:cNvPr id="17411" name="AutoShape 4"/>
          <p:cNvSpPr>
            <a:spLocks noChangeArrowheads="1"/>
          </p:cNvSpPr>
          <p:nvPr/>
        </p:nvSpPr>
        <p:spPr bwMode="auto">
          <a:xfrm>
            <a:off x="2643188" y="2286000"/>
            <a:ext cx="4114800" cy="3429000"/>
          </a:xfrm>
          <a:prstGeom prst="flowChartManualOperation">
            <a:avLst/>
          </a:prstGeom>
          <a:gradFill rotWithShape="0">
            <a:gsLst>
              <a:gs pos="0">
                <a:srgbClr val="FF99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>
              <a:ea typeface="굴림" pitchFamily="50" charset="-127"/>
            </a:endParaRPr>
          </a:p>
        </p:txBody>
      </p:sp>
      <p:sp>
        <p:nvSpPr>
          <p:cNvPr id="17412" name="Line 5"/>
          <p:cNvSpPr>
            <a:spLocks noChangeShapeType="1"/>
          </p:cNvSpPr>
          <p:nvPr/>
        </p:nvSpPr>
        <p:spPr bwMode="auto">
          <a:xfrm>
            <a:off x="2857500" y="3143250"/>
            <a:ext cx="3643313" cy="46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3" name="Line 6"/>
          <p:cNvSpPr>
            <a:spLocks noChangeShapeType="1"/>
          </p:cNvSpPr>
          <p:nvPr/>
        </p:nvSpPr>
        <p:spPr bwMode="auto">
          <a:xfrm>
            <a:off x="3071813" y="3998913"/>
            <a:ext cx="3286125" cy="46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14" name="Line 7"/>
          <p:cNvSpPr>
            <a:spLocks noChangeShapeType="1"/>
          </p:cNvSpPr>
          <p:nvPr/>
        </p:nvSpPr>
        <p:spPr bwMode="auto">
          <a:xfrm>
            <a:off x="3286125" y="4857750"/>
            <a:ext cx="2874963" cy="46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>
            <a:off x="4050908" y="2543175"/>
            <a:ext cx="13131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b="0" dirty="0">
                <a:solidFill>
                  <a:srgbClr val="FFFF00"/>
                </a:solidFill>
                <a:ea typeface="굴림" pitchFamily="50" charset="-127"/>
              </a:rPr>
              <a:t>WORLD</a:t>
            </a:r>
          </a:p>
        </p:txBody>
      </p:sp>
      <p:sp>
        <p:nvSpPr>
          <p:cNvPr id="15369" name="Text Box 10"/>
          <p:cNvSpPr txBox="1">
            <a:spLocks noChangeArrowheads="1"/>
          </p:cNvSpPr>
          <p:nvPr/>
        </p:nvSpPr>
        <p:spPr bwMode="auto">
          <a:xfrm>
            <a:off x="3883025" y="3400425"/>
            <a:ext cx="1658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b="0">
                <a:ea typeface="굴림" pitchFamily="50" charset="-127"/>
              </a:rPr>
              <a:t>COUNTRY</a:t>
            </a:r>
          </a:p>
        </p:txBody>
      </p:sp>
      <p:sp>
        <p:nvSpPr>
          <p:cNvPr id="15370" name="Text Box 11"/>
          <p:cNvSpPr txBox="1">
            <a:spLocks noChangeArrowheads="1"/>
          </p:cNvSpPr>
          <p:nvPr/>
        </p:nvSpPr>
        <p:spPr bwMode="auto">
          <a:xfrm>
            <a:off x="3883025" y="4186238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b="0" dirty="0">
                <a:solidFill>
                  <a:srgbClr val="FF0000"/>
                </a:solidFill>
                <a:ea typeface="굴림" pitchFamily="50" charset="-127"/>
              </a:rPr>
              <a:t>INDUSTRY</a:t>
            </a:r>
          </a:p>
        </p:txBody>
      </p:sp>
      <p:sp>
        <p:nvSpPr>
          <p:cNvPr id="15371" name="Text Box 12"/>
          <p:cNvSpPr txBox="1">
            <a:spLocks noChangeArrowheads="1"/>
          </p:cNvSpPr>
          <p:nvPr/>
        </p:nvSpPr>
        <p:spPr bwMode="auto">
          <a:xfrm>
            <a:off x="3883025" y="5043488"/>
            <a:ext cx="1711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b="0">
                <a:solidFill>
                  <a:schemeClr val="accent2"/>
                </a:solidFill>
                <a:ea typeface="굴림" pitchFamily="50" charset="-127"/>
              </a:rPr>
              <a:t>COMPANY</a:t>
            </a:r>
          </a:p>
        </p:txBody>
      </p:sp>
      <p:sp>
        <p:nvSpPr>
          <p:cNvPr id="62475" name="Title 3"/>
          <p:cNvSpPr txBox="1">
            <a:spLocks/>
          </p:cNvSpPr>
          <p:nvPr/>
        </p:nvSpPr>
        <p:spPr bwMode="auto">
          <a:xfrm>
            <a:off x="642938" y="2857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endParaRPr lang="zh-CN" altLang="en-US" sz="3200" b="0">
              <a:solidFill>
                <a:schemeClr val="tx2"/>
              </a:solidFill>
              <a:ea typeface="SimSun" pitchFamily="2" charset="-122"/>
            </a:endParaRPr>
          </a:p>
        </p:txBody>
      </p:sp>
      <p:sp>
        <p:nvSpPr>
          <p:cNvPr id="62476" name="Title 3"/>
          <p:cNvSpPr txBox="1">
            <a:spLocks/>
          </p:cNvSpPr>
          <p:nvPr/>
        </p:nvSpPr>
        <p:spPr bwMode="auto">
          <a:xfrm>
            <a:off x="0" y="260350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>
                <a:solidFill>
                  <a:srgbClr val="FDC52B"/>
                </a:solidFill>
                <a:ea typeface="SimSun" pitchFamily="2" charset="-122"/>
              </a:rPr>
              <a:t>UNIT OF ANALYSIS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  <p:bldP spid="17412" grpId="0" animBg="1"/>
      <p:bldP spid="17413" grpId="0" animBg="1"/>
      <p:bldP spid="17414" grpId="0" animBg="1"/>
      <p:bldP spid="15368" grpId="0"/>
      <p:bldP spid="15369" grpId="0"/>
      <p:bldP spid="15370" grpId="0"/>
      <p:bldP spid="153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71438" y="1357313"/>
            <a:ext cx="8686801" cy="52482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800" dirty="0">
                <a:solidFill>
                  <a:srgbClr val="B8EDA5"/>
                </a:solidFill>
                <a:latin typeface="Times New Roman" pitchFamily="18" charset="0"/>
                <a:ea typeface="PMingLiU" pitchFamily="18" charset="-120"/>
              </a:rPr>
              <a:t>          </a:t>
            </a:r>
            <a:r>
              <a:rPr lang="en-US" altLang="zh-TW" sz="1400" dirty="0">
                <a:solidFill>
                  <a:srgbClr val="B8EDA5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●</a:t>
            </a:r>
            <a:r>
              <a:rPr lang="en-US" altLang="ko-KR" b="0" dirty="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400" dirty="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World Level (General/Macro environment)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◆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Economic interdependence among countries worldwide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◆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Increasing cross-border flows of goods/services, capital, 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  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    k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now-how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sz="800" dirty="0">
              <a:solidFill>
                <a:srgbClr val="B1E2FB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        </a:t>
            </a:r>
            <a:r>
              <a:rPr lang="en-US" altLang="zh-TW" sz="1400" dirty="0">
                <a:solidFill>
                  <a:srgbClr val="B8EDA5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●</a:t>
            </a:r>
            <a:r>
              <a:rPr lang="en-US" altLang="ko-KR" sz="2400" dirty="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Country Level (General/Macro environment)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◆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Inter-linkages between a country’s economy and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the rest of the world.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◆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Exports &amp; imports as a ratio of GDP.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◆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Inward and outward flows of FDI and portfolio 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nvestment.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◆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Inward and outward flows of royalty payments.</a:t>
            </a: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•"/>
            </a:pPr>
            <a:endParaRPr lang="en-US" altLang="ko-KR" sz="2000" dirty="0">
              <a:solidFill>
                <a:schemeClr val="tx1"/>
              </a:solidFill>
              <a:latin typeface="Times New Roman" pitchFamily="18" charset="0"/>
              <a:ea typeface="굴림" pitchFamily="50" charset="-127"/>
            </a:endParaRP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•"/>
            </a:pPr>
            <a:endParaRPr lang="en-US" altLang="ko-KR" sz="20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lvl="2" eaLnBrk="1" hangingPunct="1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ko-KR" altLang="en-US" sz="20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3491" name="Title 3"/>
          <p:cNvSpPr txBox="1">
            <a:spLocks/>
          </p:cNvSpPr>
          <p:nvPr/>
        </p:nvSpPr>
        <p:spPr bwMode="auto">
          <a:xfrm>
            <a:off x="857250" y="285750"/>
            <a:ext cx="7772400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>
                <a:solidFill>
                  <a:srgbClr val="FDC52B"/>
                </a:solidFill>
                <a:ea typeface="SimSun" pitchFamily="2" charset="-122"/>
              </a:rPr>
              <a:t>UNIT OF ANALYSIS (continued)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57325"/>
            <a:ext cx="9144000" cy="482917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1400">
                <a:solidFill>
                  <a:srgbClr val="FFFF00"/>
                </a:solidFill>
                <a:latin typeface="Times New Roman" pitchFamily="18" charset="0"/>
                <a:ea typeface="PMingLiU" pitchFamily="18" charset="-120"/>
              </a:rPr>
              <a:t> </a:t>
            </a:r>
            <a:r>
              <a:rPr lang="en-US" altLang="zh-TW" sz="1400">
                <a:solidFill>
                  <a:srgbClr val="B8EDA5"/>
                </a:solidFill>
                <a:latin typeface="Times New Roman" pitchFamily="18" charset="0"/>
                <a:ea typeface="PMingLiU" pitchFamily="18" charset="-120"/>
              </a:rPr>
              <a:t>●</a:t>
            </a:r>
            <a:r>
              <a:rPr lang="en-US" altLang="ko-KR" sz="240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400" b="1">
                <a:solidFill>
                  <a:srgbClr val="B8EDA5"/>
                </a:solidFill>
                <a:latin typeface="Times New Roman" pitchFamily="18" charset="0"/>
                <a:ea typeface="굴림" pitchFamily="50" charset="-127"/>
              </a:rPr>
              <a:t>Industry Level (Industry/Micro environment)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1400" b="1">
                <a:ea typeface="SimSun" pitchFamily="2" charset="-122"/>
              </a:rPr>
              <a:t>      </a:t>
            </a:r>
            <a:r>
              <a:rPr lang="en-US" altLang="zh-CN" sz="1400" b="1">
                <a:solidFill>
                  <a:schemeClr val="tx1"/>
                </a:solidFill>
                <a:ea typeface="SimSun" pitchFamily="2" charset="-122"/>
              </a:rPr>
              <a:t>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A company’s competitive position in one country is interdependent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        with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that in other country.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1400" b="1">
                <a:solidFill>
                  <a:schemeClr val="tx1"/>
                </a:solidFill>
                <a:ea typeface="SimSun" pitchFamily="2" charset="-122"/>
              </a:rPr>
              <a:t>      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Cross-border trade within the industry/total worldwide production.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   </a:t>
            </a:r>
            <a:r>
              <a:rPr lang="en-US" altLang="zh-CN" sz="1400" b="1">
                <a:solidFill>
                  <a:schemeClr val="tx1"/>
                </a:solidFill>
                <a:ea typeface="SimSun" pitchFamily="2" charset="-122"/>
              </a:rPr>
              <a:t>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Cross-border investment/total capital invested in the industry.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endParaRPr lang="en-US" altLang="ko-KR" sz="800">
              <a:solidFill>
                <a:schemeClr val="tx1"/>
              </a:solidFill>
              <a:latin typeface="Times New Roman" pitchFamily="18" charset="0"/>
              <a:ea typeface="굴림" pitchFamily="50" charset="-127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1400" b="1">
                <a:solidFill>
                  <a:srgbClr val="B8EDA5"/>
                </a:solidFill>
                <a:latin typeface="Times New Roman" pitchFamily="18" charset="0"/>
                <a:ea typeface="PMingLiU" pitchFamily="18" charset="-120"/>
              </a:rPr>
              <a:t> </a:t>
            </a:r>
            <a:r>
              <a:rPr lang="en-US" altLang="zh-TW" sz="1400" b="1">
                <a:solidFill>
                  <a:srgbClr val="B8EDA5"/>
                </a:solidFill>
                <a:latin typeface="Times New Roman" pitchFamily="18" charset="0"/>
                <a:ea typeface="PMingLiU" pitchFamily="18" charset="-120"/>
              </a:rPr>
              <a:t>●</a:t>
            </a:r>
            <a:r>
              <a:rPr lang="en-US" altLang="ko-KR" sz="2400" b="1">
                <a:solidFill>
                  <a:srgbClr val="B8EDA5"/>
                </a:solidFill>
                <a:latin typeface="Times New Roman" pitchFamily="18" charset="0"/>
                <a:ea typeface="굴림" pitchFamily="50" charset="-127"/>
              </a:rPr>
              <a:t> Company Level (Company strategy)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1400" b="1">
                <a:ea typeface="SimSun" pitchFamily="2" charset="-122"/>
              </a:rPr>
              <a:t>      </a:t>
            </a:r>
            <a:r>
              <a:rPr lang="en-US" altLang="zh-CN" sz="1400" b="1">
                <a:solidFill>
                  <a:schemeClr val="tx1"/>
                </a:solidFill>
                <a:latin typeface="Times New Roman" pitchFamily="18" charset="0"/>
                <a:ea typeface="SimSun" pitchFamily="2" charset="-122"/>
              </a:rPr>
              <a:t>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A company has expanded its revenue and asset base across 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</a:p>
          <a:p>
            <a:pPr lvl="2" eaLnBrk="1" hangingPunct="1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countries &amp; engages in cross-border flows across subsidiarie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s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1400" b="1">
                <a:solidFill>
                  <a:schemeClr val="tx1"/>
                </a:solidFill>
                <a:latin typeface="Times New Roman" pitchFamily="18" charset="0"/>
                <a:ea typeface="SimSun" pitchFamily="2" charset="-122"/>
              </a:rPr>
              <a:t>      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International dispersion of sales revenues and asset base</a:t>
            </a:r>
            <a:endParaRPr lang="en-US" altLang="zh-CN" sz="2000">
              <a:solidFill>
                <a:schemeClr val="tx1"/>
              </a:solidFill>
              <a:latin typeface="Times New Roman" pitchFamily="18" charset="0"/>
              <a:ea typeface="굴림" pitchFamily="50" charset="-127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   </a:t>
            </a:r>
            <a:r>
              <a:rPr lang="en-US" altLang="zh-CN" sz="1400" b="1">
                <a:solidFill>
                  <a:schemeClr val="tx1"/>
                </a:solidFill>
                <a:latin typeface="Times New Roman" pitchFamily="18" charset="0"/>
                <a:ea typeface="SimSun" pitchFamily="2" charset="-122"/>
              </a:rPr>
              <a:t>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Cross-border trade within the industry/total worldwide production.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   </a:t>
            </a:r>
            <a:r>
              <a:rPr lang="en-US" altLang="zh-CN" sz="1400" b="1">
                <a:solidFill>
                  <a:schemeClr val="tx1"/>
                </a:solidFill>
                <a:latin typeface="Times New Roman" pitchFamily="18" charset="0"/>
                <a:ea typeface="SimSun" pitchFamily="2" charset="-122"/>
              </a:rPr>
              <a:t>◆</a:t>
            </a:r>
            <a:r>
              <a:rPr lang="en-US" altLang="zh-CN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0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rPr>
              <a:t>Cross-border investment/total capital invested in the industry.</a:t>
            </a:r>
          </a:p>
        </p:txBody>
      </p:sp>
      <p:sp>
        <p:nvSpPr>
          <p:cNvPr id="64515" name="Title 3"/>
          <p:cNvSpPr txBox="1">
            <a:spLocks/>
          </p:cNvSpPr>
          <p:nvPr/>
        </p:nvSpPr>
        <p:spPr bwMode="auto">
          <a:xfrm>
            <a:off x="714375" y="214313"/>
            <a:ext cx="75596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UNIT OF ANALYSIS (continued)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7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26626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WordArt 3"/>
          <p:cNvSpPr>
            <a:spLocks noChangeArrowheads="1" noChangeShapeType="1" noTextEdit="1"/>
          </p:cNvSpPr>
          <p:nvPr/>
        </p:nvSpPr>
        <p:spPr bwMode="auto">
          <a:xfrm>
            <a:off x="611560" y="1124744"/>
            <a:ext cx="7532315" cy="309634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TREND OF </a:t>
            </a:r>
          </a:p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GLOBALIZATION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40"/>
          <p:cNvSpPr>
            <a:spLocks noGrp="1" noChangeArrowheads="1"/>
          </p:cNvSpPr>
          <p:nvPr>
            <p:ph type="title"/>
          </p:nvPr>
        </p:nvSpPr>
        <p:spPr>
          <a:xfrm>
            <a:off x="352418" y="319088"/>
            <a:ext cx="8263880" cy="563562"/>
          </a:xfrm>
        </p:spPr>
        <p:txBody>
          <a:bodyPr/>
          <a:lstStyle/>
          <a:p>
            <a:pPr algn="ctr"/>
            <a:r>
              <a:rPr lang="en-US" altLang="ko-K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OF WORLD MERCHANDISE TRADE</a:t>
            </a:r>
            <a:br>
              <a:rPr lang="en-US" altLang="ko-K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TO WORLD GDP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C10E5D-BA46-4CFA-16AA-60871B06858D}"/>
              </a:ext>
            </a:extLst>
          </p:cNvPr>
          <p:cNvSpPr/>
          <p:nvPr/>
        </p:nvSpPr>
        <p:spPr bwMode="auto">
          <a:xfrm>
            <a:off x="395536" y="1412776"/>
            <a:ext cx="8352928" cy="5126136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8" name="Picture 8" descr="A graph displays the Value of world merchandised trade and world production from 1960 to 2019.">
            <a:extLst>
              <a:ext uri="{FF2B5EF4-FFF2-40B4-BE49-F238E27FC236}">
                <a16:creationId xmlns:a16="http://schemas.microsoft.com/office/drawing/2014/main" id="{8D4BBE0A-11A9-F513-9845-87162180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88" y="1412777"/>
            <a:ext cx="8352928" cy="5040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A56E3F-B68D-0CFA-2F30-253A4800E639}"/>
              </a:ext>
            </a:extLst>
          </p:cNvPr>
          <p:cNvSpPr txBox="1"/>
          <p:nvPr/>
        </p:nvSpPr>
        <p:spPr>
          <a:xfrm>
            <a:off x="1503140" y="6550223"/>
            <a:ext cx="6192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1" dirty="0"/>
              <a:t>Sources: World Bank, 2020; World Trade Organization, 2020; United Nations, 2020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85750"/>
            <a:ext cx="9144000" cy="457200"/>
          </a:xfrm>
        </p:spPr>
        <p:txBody>
          <a:bodyPr/>
          <a:lstStyle/>
          <a:p>
            <a:pPr algn="ctr" eaLnBrk="1" hangingPunct="1"/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REDUCTION OF TRADE BARRIERS</a:t>
            </a:r>
            <a:b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</a:t>
            </a:r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verage</a:t>
            </a:r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T</a:t>
            </a:r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ariff</a:t>
            </a:r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R</a:t>
            </a:r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ates</a:t>
            </a:r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O</a:t>
            </a:r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n</a:t>
            </a:r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M</a:t>
            </a:r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anufactured</a:t>
            </a:r>
            <a:r>
              <a:rPr lang="en-US" altLang="zh-TW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P</a:t>
            </a:r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roducts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866779-D25F-945F-A2A6-DDA90D88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0768"/>
            <a:ext cx="8496944" cy="504056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9AD4378-7B67-E9BE-4687-BCC425FFC7EB}"/>
              </a:ext>
            </a:extLst>
          </p:cNvPr>
          <p:cNvSpPr txBox="1">
            <a:spLocks/>
          </p:cNvSpPr>
          <p:nvPr/>
        </p:nvSpPr>
        <p:spPr>
          <a:xfrm>
            <a:off x="628650" y="6309320"/>
            <a:ext cx="7886700" cy="4628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2"/>
                </a:solidFill>
                <a:latin typeface="+mj-lt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j-lt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5pPr>
            <a:lvl6pPr marL="25146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6pPr>
            <a:lvl7pPr marL="29718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7pPr>
            <a:lvl8pPr marL="3429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8pPr>
            <a:lvl9pPr marL="3886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2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The 19 13 to 19 90 data are from “Who Wants to Be a Giant?” </a:t>
            </a:r>
            <a:r>
              <a:rPr lang="en-US" sz="12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Economist: A Survey of the Multinationals</a:t>
            </a:r>
            <a:r>
              <a:rPr lang="en-US" sz="12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June 24, 1995, pp. 3 to 4. The 2018 data are from the World Tariff Profiles 2019, published by the World Trade Organization.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2938" y="214313"/>
            <a:ext cx="7772400" cy="714375"/>
          </a:xfrm>
        </p:spPr>
        <p:txBody>
          <a:bodyPr/>
          <a:lstStyle/>
          <a:p>
            <a:pPr algn="ctr" eaLnBrk="1" hangingPunct="1"/>
            <a:r>
              <a:rPr lang="en-US" altLang="zh-CN" sz="28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FDI OUTWORD STOCK </a:t>
            </a:r>
            <a:br>
              <a:rPr lang="en-US" altLang="zh-CN" sz="28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</a:br>
            <a:r>
              <a:rPr lang="en-US" altLang="zh-CN" sz="28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AS A PERCENTAGE OF GDP</a:t>
            </a:r>
            <a:endParaRPr lang="ko-KR" altLang="en-US" sz="2800" b="1" dirty="0">
              <a:solidFill>
                <a:srgbClr val="FFC0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1D818E-149E-1702-6FC2-493EA1D5B6E2}"/>
              </a:ext>
            </a:extLst>
          </p:cNvPr>
          <p:cNvSpPr/>
          <p:nvPr/>
        </p:nvSpPr>
        <p:spPr bwMode="auto">
          <a:xfrm>
            <a:off x="323528" y="1340769"/>
            <a:ext cx="8568952" cy="5184576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77A095-BE98-6659-FFA6-1ED834D14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465918"/>
            <a:ext cx="8352928" cy="4915410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30CA9DC-5762-9C23-7D25-41393CD496AF}"/>
              </a:ext>
            </a:extLst>
          </p:cNvPr>
          <p:cNvSpPr txBox="1">
            <a:spLocks/>
          </p:cNvSpPr>
          <p:nvPr/>
        </p:nvSpPr>
        <p:spPr>
          <a:xfrm>
            <a:off x="935596" y="6558799"/>
            <a:ext cx="7272808" cy="29920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2"/>
                </a:solidFill>
                <a:latin typeface="+mj-lt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j-lt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5pPr>
            <a:lvl6pPr marL="25146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6pPr>
            <a:lvl7pPr marL="29718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7pPr>
            <a:lvl8pPr marL="3429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8pPr>
            <a:lvl9pPr marL="3886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marL="0" indent="0">
              <a:buNone/>
            </a:pPr>
            <a:r>
              <a:rPr lang="en-US" sz="1400" b="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O E C D data 2020, World Development Indicators 2020, U N C T A D database, 2020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ko-KR" sz="28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COSTS OF INFORMATION TECHNOLOGY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731853" y="1643050"/>
            <a:ext cx="416946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dirty="0">
                <a:solidFill>
                  <a:schemeClr val="accent1">
                    <a:lumMod val="20000"/>
                    <a:lumOff val="80000"/>
                  </a:schemeClr>
                </a:solidFill>
                <a:ea typeface="굴림" pitchFamily="50" charset="-127"/>
              </a:rPr>
              <a:t>Price Trends In Information Processing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802184" y="6636425"/>
            <a:ext cx="4341848" cy="22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400" b="0" i="1" dirty="0">
                <a:ea typeface="PMingLiU" pitchFamily="18" charset="-120"/>
              </a:rPr>
              <a:t>Source: World Bank compilation based on industry data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4719355" y="2439986"/>
            <a:ext cx="2644776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ko-KR" sz="1600" dirty="0">
                <a:ea typeface="굴림" pitchFamily="50" charset="-127"/>
              </a:rPr>
              <a:t>Index of investment cost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ko-KR" sz="1600" dirty="0">
                <a:ea typeface="굴림" pitchFamily="50" charset="-127"/>
              </a:rPr>
              <a:t>per instruction per second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ko-KR" sz="1600" dirty="0">
                <a:ea typeface="굴림" pitchFamily="50" charset="-127"/>
              </a:rPr>
              <a:t>(log scale)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4520957" y="3275032"/>
            <a:ext cx="4497525" cy="2797174"/>
            <a:chOff x="4520957" y="3338514"/>
            <a:chExt cx="4497525" cy="2797174"/>
          </a:xfrm>
        </p:grpSpPr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8124913" y="5830888"/>
              <a:ext cx="893569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>
                  <a:solidFill>
                    <a:srgbClr val="00FFFF"/>
                  </a:solidFill>
                  <a:ea typeface="굴림" pitchFamily="50" charset="-127"/>
                </a:rPr>
                <a:t>1995</a:t>
              </a: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6219050" y="5830888"/>
              <a:ext cx="782654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>
                  <a:solidFill>
                    <a:srgbClr val="00FFFF"/>
                  </a:solidFill>
                  <a:ea typeface="굴림" pitchFamily="50" charset="-127"/>
                </a:rPr>
                <a:t>1985</a:t>
              </a: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4964618" y="3422650"/>
              <a:ext cx="0" cy="233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4964618" y="5764213"/>
              <a:ext cx="3944511" cy="49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5305174" y="5813425"/>
              <a:ext cx="831081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>
                  <a:solidFill>
                    <a:srgbClr val="00FFFF"/>
                  </a:solidFill>
                  <a:ea typeface="굴림" pitchFamily="50" charset="-127"/>
                </a:rPr>
                <a:t>1980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7225096" y="5819775"/>
              <a:ext cx="832644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>
                  <a:solidFill>
                    <a:srgbClr val="00FFFF"/>
                  </a:solidFill>
                  <a:ea typeface="굴림" pitchFamily="50" charset="-127"/>
                </a:rPr>
                <a:t>1990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520957" y="5549900"/>
              <a:ext cx="831081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dirty="0">
                  <a:solidFill>
                    <a:srgbClr val="00FFFF"/>
                  </a:solidFill>
                  <a:ea typeface="굴림" pitchFamily="50" charset="-127"/>
                </a:rPr>
                <a:t>0.01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4661554" y="3968750"/>
              <a:ext cx="832644" cy="30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dirty="0">
                  <a:solidFill>
                    <a:srgbClr val="00FFFF"/>
                  </a:solidFill>
                  <a:ea typeface="굴림" pitchFamily="50" charset="-127"/>
                </a:rPr>
                <a:t>10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4731853" y="4552960"/>
              <a:ext cx="29837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dirty="0">
                  <a:solidFill>
                    <a:srgbClr val="00FFFF"/>
                  </a:solidFill>
                  <a:ea typeface="굴림" pitchFamily="50" charset="-127"/>
                </a:rPr>
                <a:t>1</a:t>
              </a: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4591256" y="5062538"/>
              <a:ext cx="829519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dirty="0">
                  <a:solidFill>
                    <a:srgbClr val="00FFFF"/>
                  </a:solidFill>
                  <a:ea typeface="굴림" pitchFamily="50" charset="-127"/>
                </a:rPr>
                <a:t>0.1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4536585" y="3338514"/>
              <a:ext cx="82795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400" dirty="0">
                  <a:solidFill>
                    <a:srgbClr val="00FFFF"/>
                  </a:solidFill>
                  <a:ea typeface="굴림" pitchFamily="50" charset="-127"/>
                </a:rPr>
                <a:t>100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8387360" y="5727700"/>
              <a:ext cx="67174" cy="107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913065" y="3546475"/>
              <a:ext cx="68736" cy="107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4953682" y="3609975"/>
              <a:ext cx="3435240" cy="21161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5539501" y="3937000"/>
              <a:ext cx="67173" cy="107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6789247" y="4683125"/>
              <a:ext cx="65612" cy="107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5856632" y="4535496"/>
              <a:ext cx="65612" cy="107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5148955" y="4044950"/>
              <a:ext cx="67173" cy="1079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4945872" y="3357563"/>
              <a:ext cx="2049584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>
                  <a:solidFill>
                    <a:srgbClr val="3AEA5C"/>
                  </a:solidFill>
                  <a:ea typeface="굴림" pitchFamily="50" charset="-127"/>
                </a:rPr>
                <a:t>IBM mainframe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5597301" y="3752850"/>
              <a:ext cx="1254433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 dirty="0">
                  <a:solidFill>
                    <a:srgbClr val="3AEA5C"/>
                  </a:solidFill>
                  <a:ea typeface="굴림" pitchFamily="50" charset="-127"/>
                </a:rPr>
                <a:t>Digital VAX</a:t>
              </a: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505139" y="4594235"/>
              <a:ext cx="926375" cy="334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 dirty="0">
                  <a:solidFill>
                    <a:srgbClr val="3AEA5C"/>
                  </a:solidFill>
                  <a:ea typeface="굴림" pitchFamily="50" charset="-127"/>
                </a:rPr>
                <a:t>IMB PC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758410" y="4170363"/>
              <a:ext cx="65612" cy="107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en-US" altLang="ko-KR" sz="1200" dirty="0">
                <a:ea typeface="굴림" pitchFamily="50" charset="-127"/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5013045" y="4170363"/>
              <a:ext cx="2049584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>
                  <a:solidFill>
                    <a:srgbClr val="3AEA5C"/>
                  </a:solidFill>
                  <a:ea typeface="굴림" pitchFamily="50" charset="-127"/>
                </a:rPr>
                <a:t>Cray 1</a:t>
              </a: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6887664" y="4529138"/>
              <a:ext cx="2048022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600">
                  <a:solidFill>
                    <a:srgbClr val="3AEA5C"/>
                  </a:solidFill>
                  <a:ea typeface="굴림" pitchFamily="50" charset="-127"/>
                </a:rPr>
                <a:t>Sun Microsystems 2</a:t>
              </a:r>
            </a:p>
          </p:txBody>
        </p:sp>
      </p:grp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21839" y="6399437"/>
            <a:ext cx="4959931" cy="45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400" b="0" i="1" dirty="0">
                <a:ea typeface="PMingLiU" pitchFamily="18" charset="-120"/>
              </a:rPr>
              <a:t>Note: Mbps is megabits per second; </a:t>
            </a:r>
            <a:r>
              <a:rPr lang="en-US" altLang="ko-KR" sz="1400" b="0" i="1" dirty="0" err="1">
                <a:ea typeface="PMingLiU" pitchFamily="18" charset="-120"/>
              </a:rPr>
              <a:t>Gbps</a:t>
            </a:r>
            <a:r>
              <a:rPr lang="en-US" altLang="ko-KR" sz="1400" b="0" i="1" dirty="0">
                <a:ea typeface="PMingLiU" pitchFamily="18" charset="-120"/>
              </a:rPr>
              <a:t> is gigabits per second.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400" b="0" i="1" dirty="0">
                <a:ea typeface="PMingLiU" pitchFamily="18" charset="-120"/>
              </a:rPr>
              <a:t>Source: AT&amp;T data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1648103" y="5764213"/>
            <a:ext cx="58269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1985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584257" y="5756275"/>
            <a:ext cx="54520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1975 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1081031" y="5756275"/>
            <a:ext cx="59987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1980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2215176" y="5756275"/>
            <a:ext cx="620186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1990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3277460" y="5756275"/>
            <a:ext cx="60456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2000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2710388" y="5756275"/>
            <a:ext cx="66080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1995</a:t>
            </a:r>
          </a:p>
        </p:txBody>
      </p:sp>
      <p:sp>
        <p:nvSpPr>
          <p:cNvPr id="40" name="Line 39"/>
          <p:cNvSpPr>
            <a:spLocks noChangeShapeType="1"/>
          </p:cNvSpPr>
          <p:nvPr/>
        </p:nvSpPr>
        <p:spPr bwMode="auto">
          <a:xfrm>
            <a:off x="507710" y="3240088"/>
            <a:ext cx="0" cy="2460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07710" y="5721350"/>
            <a:ext cx="3558652" cy="285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92169" y="5524500"/>
            <a:ext cx="57332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0.01</a:t>
            </a: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0" y="3008313"/>
            <a:ext cx="71860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1,000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184339" y="4052888"/>
            <a:ext cx="574883" cy="30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10</a:t>
            </a:r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268696" y="4497388"/>
            <a:ext cx="20620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</a:t>
            </a:r>
          </a:p>
        </p:txBody>
      </p:sp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178090" y="4994275"/>
            <a:ext cx="573321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0.1</a:t>
            </a:r>
          </a:p>
        </p:txBody>
      </p:sp>
      <p:sp>
        <p:nvSpPr>
          <p:cNvPr id="47" name="Text Box 46"/>
          <p:cNvSpPr txBox="1">
            <a:spLocks noChangeArrowheads="1"/>
          </p:cNvSpPr>
          <p:nvPr/>
        </p:nvSpPr>
        <p:spPr bwMode="auto">
          <a:xfrm>
            <a:off x="84358" y="3479800"/>
            <a:ext cx="573322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00FFFF"/>
                </a:solidFill>
                <a:ea typeface="굴림" pitchFamily="50" charset="-127"/>
              </a:rPr>
              <a:t>100</a:t>
            </a:r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3435240" y="5243513"/>
            <a:ext cx="136847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40Gbps</a:t>
            </a: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auto">
          <a:xfrm>
            <a:off x="596755" y="3230563"/>
            <a:ext cx="1077906" cy="30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45 Mbps</a:t>
            </a:r>
          </a:p>
        </p:txBody>
      </p:sp>
      <p:sp>
        <p:nvSpPr>
          <p:cNvPr id="50" name="Text Box 49"/>
          <p:cNvSpPr txBox="1">
            <a:spLocks noChangeArrowheads="1"/>
          </p:cNvSpPr>
          <p:nvPr/>
        </p:nvSpPr>
        <p:spPr bwMode="auto">
          <a:xfrm>
            <a:off x="2996267" y="4927600"/>
            <a:ext cx="1396591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10 Gbps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3077501" y="5170488"/>
            <a:ext cx="59363" cy="107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2676020" y="4894263"/>
            <a:ext cx="57801" cy="107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1548124" y="4117975"/>
            <a:ext cx="59363" cy="107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1151329" y="3849688"/>
            <a:ext cx="59363" cy="106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98296" y="3509963"/>
            <a:ext cx="59363" cy="106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3558653" y="5527675"/>
            <a:ext cx="59363" cy="106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ko-KR">
              <a:ea typeface="굴림" pitchFamily="50" charset="-127"/>
            </a:endParaRPr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>
            <a:off x="773281" y="3597275"/>
            <a:ext cx="2838487" cy="1957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1093529" y="3552825"/>
            <a:ext cx="1445019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90-135 Mbps</a:t>
            </a:r>
          </a:p>
        </p:txBody>
      </p: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1485636" y="3857625"/>
            <a:ext cx="144345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400 Mbps</a:t>
            </a: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1993346" y="4189413"/>
            <a:ext cx="1445019" cy="30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1.2-1.7 Gbps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2090201" y="4464050"/>
            <a:ext cx="59363" cy="107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 Box 61"/>
          <p:cNvSpPr txBox="1">
            <a:spLocks noChangeArrowheads="1"/>
          </p:cNvSpPr>
          <p:nvPr/>
        </p:nvSpPr>
        <p:spPr bwMode="auto">
          <a:xfrm>
            <a:off x="2579164" y="4625975"/>
            <a:ext cx="139659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solidFill>
                  <a:srgbClr val="3AEA5C"/>
                </a:solidFill>
                <a:ea typeface="굴림" pitchFamily="50" charset="-127"/>
              </a:rPr>
              <a:t>2.5 Gbps</a:t>
            </a:r>
          </a:p>
        </p:txBody>
      </p:sp>
      <p:sp>
        <p:nvSpPr>
          <p:cNvPr id="63" name="Text Box 62"/>
          <p:cNvSpPr txBox="1">
            <a:spLocks noChangeArrowheads="1"/>
          </p:cNvSpPr>
          <p:nvPr/>
        </p:nvSpPr>
        <p:spPr bwMode="auto">
          <a:xfrm>
            <a:off x="126537" y="2205038"/>
            <a:ext cx="3222783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ko-KR" sz="1600">
                <a:ea typeface="굴림" pitchFamily="50" charset="-127"/>
              </a:rPr>
              <a:t>Index of transmission cost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ko-KR" sz="1600">
                <a:ea typeface="굴림" pitchFamily="50" charset="-127"/>
              </a:rPr>
              <a:t>per bits per second per kilometer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ko-KR" sz="1600">
                <a:ea typeface="굴림" pitchFamily="50" charset="-127"/>
              </a:rPr>
              <a:t>(log scale)</a:t>
            </a:r>
          </a:p>
        </p:txBody>
      </p:sp>
      <p:sp>
        <p:nvSpPr>
          <p:cNvPr id="64" name="Text Box 63"/>
          <p:cNvSpPr txBox="1">
            <a:spLocks noChangeArrowheads="1"/>
          </p:cNvSpPr>
          <p:nvPr/>
        </p:nvSpPr>
        <p:spPr bwMode="auto">
          <a:xfrm>
            <a:off x="991987" y="4297363"/>
            <a:ext cx="119038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>
                <a:ea typeface="굴림" pitchFamily="50" charset="-127"/>
              </a:rPr>
              <a:t>Bandwidth</a:t>
            </a: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21839" y="1643050"/>
            <a:ext cx="488807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dirty="0">
                <a:solidFill>
                  <a:schemeClr val="accent1">
                    <a:lumMod val="20000"/>
                    <a:lumOff val="80000"/>
                  </a:schemeClr>
                </a:solidFill>
                <a:ea typeface="굴림" pitchFamily="50" charset="-127"/>
              </a:rPr>
              <a:t>Cost Trends In Optical Fiber Transmission</a:t>
            </a:r>
          </a:p>
        </p:txBody>
      </p:sp>
      <p:sp>
        <p:nvSpPr>
          <p:cNvPr id="66" name="Text Box 24"/>
          <p:cNvSpPr txBox="1">
            <a:spLocks noChangeArrowheads="1"/>
          </p:cNvSpPr>
          <p:nvPr/>
        </p:nvSpPr>
        <p:spPr bwMode="auto">
          <a:xfrm>
            <a:off x="8246789" y="5429264"/>
            <a:ext cx="125443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600" dirty="0">
                <a:solidFill>
                  <a:srgbClr val="3AEA5C"/>
                </a:solidFill>
                <a:ea typeface="굴림" pitchFamily="50" charset="-127"/>
              </a:rPr>
              <a:t>Pentium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GLOBALIZATION 1970</a:t>
            </a:r>
          </a:p>
        </p:txBody>
      </p:sp>
      <p:pic>
        <p:nvPicPr>
          <p:cNvPr id="70661" name="Picture 5" descr="197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42984"/>
            <a:ext cx="9144000" cy="5715016"/>
          </a:xfrm>
          <a:prstGeom prst="rect">
            <a:avLst/>
          </a:prstGeom>
          <a:noFill/>
        </p:spPr>
      </p:pic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500066" y="6583453"/>
            <a:ext cx="8072462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Source: Axel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Dreher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,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Globalisation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and the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Labour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Market, Department for Business Enterprise and Regulatory Reform, 2007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GLOBALIZATION 1980</a:t>
            </a:r>
          </a:p>
        </p:txBody>
      </p:sp>
      <p:pic>
        <p:nvPicPr>
          <p:cNvPr id="71684" name="Picture 4" descr="19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34411"/>
            <a:ext cx="9144000" cy="5723589"/>
          </a:xfrm>
          <a:prstGeom prst="rect">
            <a:avLst/>
          </a:prstGeom>
          <a:noFill/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00066" y="6583453"/>
            <a:ext cx="8072462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Source: Axel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Dreher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,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Globalisation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and the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Labour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Market, Department for Business Enterprise and Regulatory Reform, 2007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GLOBALIZATION 1990</a:t>
            </a:r>
          </a:p>
        </p:txBody>
      </p:sp>
      <p:pic>
        <p:nvPicPr>
          <p:cNvPr id="72708" name="Picture 4" descr="199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8" y="1152525"/>
            <a:ext cx="9144000" cy="5705475"/>
          </a:xfrm>
          <a:prstGeom prst="rect">
            <a:avLst/>
          </a:prstGeom>
          <a:noFill/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00066" y="6583453"/>
            <a:ext cx="8072462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Source: Axel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Dreher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,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Globalisation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and the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Labour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Market, Department for Business Enterprise and Regulatory Reform, 2007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GLOBALIZATION 2004</a:t>
            </a:r>
          </a:p>
        </p:txBody>
      </p:sp>
      <p:pic>
        <p:nvPicPr>
          <p:cNvPr id="73732" name="Picture 4" descr="20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8" y="1139825"/>
            <a:ext cx="9144000" cy="5718175"/>
          </a:xfrm>
          <a:prstGeom prst="rect">
            <a:avLst/>
          </a:prstGeom>
          <a:noFill/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00066" y="6583453"/>
            <a:ext cx="8072462" cy="20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Source: Axel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Dreher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,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Globalisation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and the </a:t>
            </a:r>
            <a:r>
              <a:rPr lang="en-US" altLang="ko-KR" sz="1200" b="0" i="1" dirty="0" err="1">
                <a:solidFill>
                  <a:srgbClr val="1C1C1C"/>
                </a:solidFill>
                <a:ea typeface="PMingLiU" pitchFamily="18" charset="-120"/>
              </a:rPr>
              <a:t>Labour</a:t>
            </a:r>
            <a:r>
              <a:rPr lang="en-US" altLang="ko-KR" sz="1200" b="0" i="1" dirty="0">
                <a:solidFill>
                  <a:srgbClr val="1C1C1C"/>
                </a:solidFill>
                <a:ea typeface="PMingLiU" pitchFamily="18" charset="-120"/>
              </a:rPr>
              <a:t> Market, Department for Business Enterprise and Regulatory Reform, 2007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4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 eaLnBrk="1" hangingPunct="1"/>
            <a:r>
              <a:rPr lang="en-US" altLang="ko-KR" sz="2800" b="1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GLOBALIZATION 2030-40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0" y="1457325"/>
            <a:ext cx="9144000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latinLnBrk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altLang="zh-CN" sz="1400" b="0" kern="0" dirty="0">
                <a:solidFill>
                  <a:srgbClr val="FFFF00"/>
                </a:solidFill>
                <a:ea typeface="新細明體" pitchFamily="18" charset="-120"/>
              </a:rPr>
              <a:t> </a:t>
            </a:r>
            <a:endParaRPr lang="en-US" altLang="ko-KR" sz="2000" b="0" kern="0" dirty="0">
              <a:ea typeface="굴림" pitchFamily="50" charset="-127"/>
            </a:endParaRPr>
          </a:p>
        </p:txBody>
      </p:sp>
      <p:sp>
        <p:nvSpPr>
          <p:cNvPr id="74756" name="TextBox 4"/>
          <p:cNvSpPr txBox="1">
            <a:spLocks noChangeArrowheads="1"/>
          </p:cNvSpPr>
          <p:nvPr/>
        </p:nvSpPr>
        <p:spPr bwMode="auto">
          <a:xfrm>
            <a:off x="4143375" y="3000375"/>
            <a:ext cx="944563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9600">
                <a:latin typeface="Verdana" pitchFamily="34" charset="0"/>
                <a:ea typeface="굴림" pitchFamily="50" charset="-127"/>
              </a:rPr>
              <a:t>?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3"/>
          <p:cNvSpPr txBox="1">
            <a:spLocks/>
          </p:cNvSpPr>
          <p:nvPr/>
        </p:nvSpPr>
        <p:spPr bwMode="auto">
          <a:xfrm>
            <a:off x="0" y="21431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DRIVING FORCES</a:t>
            </a:r>
          </a:p>
        </p:txBody>
      </p:sp>
      <p:sp>
        <p:nvSpPr>
          <p:cNvPr id="62466" name="Oval 19"/>
          <p:cNvSpPr>
            <a:spLocks noChangeArrowheads="1"/>
          </p:cNvSpPr>
          <p:nvPr/>
        </p:nvSpPr>
        <p:spPr bwMode="auto">
          <a:xfrm>
            <a:off x="3497263" y="1714500"/>
            <a:ext cx="2016125" cy="12366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76200">
            <a:solidFill>
              <a:schemeClr val="tx2">
                <a:lumMod val="6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dirty="0">
                <a:solidFill>
                  <a:schemeClr val="bg1"/>
                </a:solidFill>
                <a:ea typeface="新細明體" pitchFamily="18" charset="-120"/>
              </a:rPr>
              <a:t>Firms/MNEs</a:t>
            </a:r>
          </a:p>
        </p:txBody>
      </p:sp>
      <p:sp>
        <p:nvSpPr>
          <p:cNvPr id="62468" name="Oval 21"/>
          <p:cNvSpPr>
            <a:spLocks noChangeArrowheads="1"/>
          </p:cNvSpPr>
          <p:nvPr/>
        </p:nvSpPr>
        <p:spPr bwMode="auto">
          <a:xfrm>
            <a:off x="5641975" y="4670425"/>
            <a:ext cx="2165350" cy="130492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76200">
            <a:solidFill>
              <a:schemeClr val="tx2">
                <a:lumMod val="6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FF00"/>
                </a:solidFill>
                <a:ea typeface="PMingLiU" pitchFamily="18" charset="-120"/>
              </a:rPr>
              <a:t> </a:t>
            </a:r>
          </a:p>
          <a:p>
            <a:pPr algn="ctr"/>
            <a:endParaRPr lang="en-US" altLang="zh-TW">
              <a:solidFill>
                <a:srgbClr val="FFFF00"/>
              </a:solidFill>
              <a:ea typeface="PMingLiU" pitchFamily="18" charset="-120"/>
            </a:endParaRPr>
          </a:p>
          <a:p>
            <a:pPr algn="ctr"/>
            <a:r>
              <a:rPr lang="en-US" altLang="zh-TW">
                <a:solidFill>
                  <a:schemeClr val="bg1"/>
                </a:solidFill>
                <a:ea typeface="PMingLiU" pitchFamily="18" charset="-120"/>
              </a:rPr>
              <a:t>Environmental</a:t>
            </a:r>
          </a:p>
          <a:p>
            <a:pPr algn="ctr"/>
            <a:r>
              <a:rPr lang="en-US" altLang="zh-TW">
                <a:solidFill>
                  <a:schemeClr val="bg1"/>
                </a:solidFill>
                <a:ea typeface="PMingLiU" pitchFamily="18" charset="-120"/>
              </a:rPr>
              <a:t>Forces</a:t>
            </a:r>
          </a:p>
          <a:p>
            <a:pPr algn="ctr"/>
            <a:endParaRPr lang="en-US" altLang="zh-TW">
              <a:solidFill>
                <a:srgbClr val="FFFF00"/>
              </a:solidFill>
              <a:ea typeface="PMingLiU" pitchFamily="18" charset="-120"/>
            </a:endParaRPr>
          </a:p>
          <a:p>
            <a:pPr algn="ctr"/>
            <a:endParaRPr lang="zh-TW" altLang="en-US" sz="1800">
              <a:ea typeface="PMingLiU" pitchFamily="18" charset="-120"/>
            </a:endParaRPr>
          </a:p>
        </p:txBody>
      </p:sp>
      <p:sp>
        <p:nvSpPr>
          <p:cNvPr id="62469" name="Oval 22"/>
          <p:cNvSpPr>
            <a:spLocks noChangeArrowheads="1"/>
          </p:cNvSpPr>
          <p:nvPr/>
        </p:nvSpPr>
        <p:spPr bwMode="auto">
          <a:xfrm>
            <a:off x="1279525" y="4656138"/>
            <a:ext cx="2019300" cy="125095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76200">
            <a:solidFill>
              <a:schemeClr val="tx2">
                <a:lumMod val="6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 sz="1800">
              <a:ea typeface="PMingLiU" pitchFamily="18" charset="-120"/>
            </a:endParaRPr>
          </a:p>
        </p:txBody>
      </p:sp>
      <p:sp>
        <p:nvSpPr>
          <p:cNvPr id="75783" name="Text Box 30"/>
          <p:cNvSpPr txBox="1">
            <a:spLocks noChangeArrowheads="1"/>
          </p:cNvSpPr>
          <p:nvPr/>
        </p:nvSpPr>
        <p:spPr bwMode="auto">
          <a:xfrm>
            <a:off x="1214438" y="4945063"/>
            <a:ext cx="2155825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solidFill>
                  <a:schemeClr val="bg1"/>
                </a:solidFill>
                <a:ea typeface="PMingLiU" pitchFamily="18" charset="-120"/>
              </a:rPr>
              <a:t>International</a:t>
            </a:r>
          </a:p>
          <a:p>
            <a:pPr algn="ctr"/>
            <a:r>
              <a:rPr lang="en-US" altLang="zh-TW">
                <a:solidFill>
                  <a:schemeClr val="bg1"/>
                </a:solidFill>
                <a:ea typeface="PMingLiU" pitchFamily="18" charset="-120"/>
              </a:rPr>
              <a:t>Institutions</a:t>
            </a:r>
          </a:p>
          <a:p>
            <a:pPr algn="ctr">
              <a:spcBef>
                <a:spcPct val="50000"/>
              </a:spcBef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75784" name="Left-Right Arrow 18"/>
          <p:cNvSpPr>
            <a:spLocks noChangeArrowheads="1"/>
          </p:cNvSpPr>
          <p:nvPr/>
        </p:nvSpPr>
        <p:spPr bwMode="auto">
          <a:xfrm rot="-7605839">
            <a:off x="4906169" y="3652044"/>
            <a:ext cx="1808163" cy="269875"/>
          </a:xfrm>
          <a:prstGeom prst="leftRightArrow">
            <a:avLst>
              <a:gd name="adj1" fmla="val 50000"/>
              <a:gd name="adj2" fmla="val 4963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 algn="ctr"/>
            <a:endParaRPr lang="ko-KR" altLang="en-US">
              <a:ea typeface="굴림" pitchFamily="50" charset="-127"/>
            </a:endParaRPr>
          </a:p>
        </p:txBody>
      </p:sp>
      <p:sp>
        <p:nvSpPr>
          <p:cNvPr id="75785" name="Left-Right Arrow 19"/>
          <p:cNvSpPr>
            <a:spLocks noChangeArrowheads="1"/>
          </p:cNvSpPr>
          <p:nvPr/>
        </p:nvSpPr>
        <p:spPr bwMode="auto">
          <a:xfrm>
            <a:off x="3546475" y="5151438"/>
            <a:ext cx="1819275" cy="274637"/>
          </a:xfrm>
          <a:prstGeom prst="leftRightArrow">
            <a:avLst>
              <a:gd name="adj1" fmla="val 50000"/>
              <a:gd name="adj2" fmla="val 50388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ko-KR" altLang="en-US">
              <a:ea typeface="굴림" pitchFamily="50" charset="-127"/>
            </a:endParaRPr>
          </a:p>
        </p:txBody>
      </p:sp>
      <p:sp>
        <p:nvSpPr>
          <p:cNvPr id="75786" name="Left-Right Arrow 20"/>
          <p:cNvSpPr>
            <a:spLocks noChangeArrowheads="1"/>
          </p:cNvSpPr>
          <p:nvPr/>
        </p:nvSpPr>
        <p:spPr bwMode="auto">
          <a:xfrm rot="-3240049">
            <a:off x="2297113" y="3656013"/>
            <a:ext cx="1806575" cy="269875"/>
          </a:xfrm>
          <a:prstGeom prst="leftRightArrow">
            <a:avLst>
              <a:gd name="adj1" fmla="val 50000"/>
              <a:gd name="adj2" fmla="val 49586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 algn="ctr"/>
            <a:endParaRPr lang="ko-KR" altLang="en-US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075"/>
          <p:cNvSpPr>
            <a:spLocks noGrp="1" noChangeArrowheads="1"/>
          </p:cNvSpPr>
          <p:nvPr>
            <p:ph type="body" idx="4294967295"/>
          </p:nvPr>
        </p:nvSpPr>
        <p:spPr>
          <a:xfrm>
            <a:off x="465138" y="1214438"/>
            <a:ext cx="8393112" cy="5643562"/>
          </a:xfrm>
        </p:spPr>
        <p:txBody>
          <a:bodyPr/>
          <a:lstStyle/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ko-KR">
                <a:solidFill>
                  <a:srgbClr val="B8EDA5"/>
                </a:solidFill>
                <a:latin typeface="Times New Roman" pitchFamily="18" charset="0"/>
                <a:ea typeface="굴림" pitchFamily="50" charset="-127"/>
              </a:rPr>
              <a:t>International Institutions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400" b="0">
                <a:ea typeface="SimSun" pitchFamily="2" charset="-122"/>
              </a:rPr>
              <a:t>◆ 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Eras of Globalization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- 1</a:t>
            </a:r>
            <a:r>
              <a:rPr lang="en-US" altLang="zh-CN" sz="2400" b="0" baseline="30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st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Era of Globalization (about 1850 - 1914)</a:t>
            </a:r>
            <a:endParaRPr lang="en-US" altLang="zh-CN" sz="1400" b="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- War &amp; Interwar Period (1915 - 1945)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    - 2</a:t>
            </a:r>
            <a:r>
              <a:rPr lang="en-US" altLang="zh-CN" sz="2400" b="0" baseline="3000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nd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Era of Globalization (1945 – present)  </a:t>
            </a:r>
          </a:p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zh-CN" sz="1400" b="0">
                <a:ea typeface="SimSun" pitchFamily="2" charset="-122"/>
              </a:rPr>
              <a:t>◆ 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</a:rPr>
              <a:t>Bretton Woods Agreement (1944) lead by USA</a:t>
            </a:r>
          </a:p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zh-CN" sz="2000" b="0">
                <a:latin typeface="Times New Roman" pitchFamily="18" charset="0"/>
                <a:ea typeface="SimSun" pitchFamily="2" charset="-122"/>
              </a:rPr>
              <a:t>       - Fixed exchange rate system</a:t>
            </a:r>
          </a:p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zh-CN" sz="1400" b="0">
                <a:latin typeface="Times New Roman" pitchFamily="18" charset="0"/>
                <a:ea typeface="SimSun" pitchFamily="2" charset="-122"/>
              </a:rPr>
              <a:t>◆ 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</a:rPr>
              <a:t>World Bank</a:t>
            </a:r>
          </a:p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zh-CN" sz="1400" b="0">
                <a:latin typeface="Times New Roman" pitchFamily="18" charset="0"/>
                <a:ea typeface="SimSun" pitchFamily="2" charset="-122"/>
              </a:rPr>
              <a:t>◆ 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</a:rPr>
              <a:t>IMF(International Monetary Fund) </a:t>
            </a:r>
          </a:p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zh-CN" sz="1400" b="0">
                <a:latin typeface="Times New Roman" pitchFamily="18" charset="0"/>
                <a:ea typeface="SimSun" pitchFamily="2" charset="-122"/>
              </a:rPr>
              <a:t>◆ 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</a:rPr>
              <a:t>GATT(General Agreements on Tariffs and Trade)</a:t>
            </a:r>
          </a:p>
          <a:p>
            <a:pPr eaLnBrk="1" hangingPunct="1">
              <a:lnSpc>
                <a:spcPts val="3363"/>
              </a:lnSpc>
              <a:buFont typeface="Wingdings" pitchFamily="2" charset="2"/>
              <a:buNone/>
            </a:pPr>
            <a:r>
              <a:rPr lang="en-US" altLang="zh-CN" sz="1400" b="0">
                <a:latin typeface="Times New Roman" pitchFamily="18" charset="0"/>
                <a:ea typeface="SimSun" pitchFamily="2" charset="-122"/>
              </a:rPr>
              <a:t>◆ </a:t>
            </a:r>
            <a:r>
              <a:rPr lang="en-US" altLang="zh-CN" sz="2400" b="0">
                <a:latin typeface="Times New Roman" pitchFamily="18" charset="0"/>
                <a:ea typeface="SimSun" pitchFamily="2" charset="-122"/>
              </a:rPr>
              <a:t>WTO(World Trade Organization); G8, G20, etc.</a:t>
            </a:r>
          </a:p>
        </p:txBody>
      </p:sp>
      <p:sp>
        <p:nvSpPr>
          <p:cNvPr id="76803" name="Title 3"/>
          <p:cNvSpPr txBox="1">
            <a:spLocks/>
          </p:cNvSpPr>
          <p:nvPr/>
        </p:nvSpPr>
        <p:spPr bwMode="auto">
          <a:xfrm>
            <a:off x="0" y="214313"/>
            <a:ext cx="91440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DRIVING FORCES (continued)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075"/>
          <p:cNvSpPr>
            <a:spLocks noGrp="1" noChangeArrowheads="1"/>
          </p:cNvSpPr>
          <p:nvPr>
            <p:ph type="body" idx="4294967295"/>
          </p:nvPr>
        </p:nvSpPr>
        <p:spPr>
          <a:xfrm>
            <a:off x="465138" y="1357337"/>
            <a:ext cx="8535987" cy="5572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</a:rPr>
              <a:t>Environmental Forces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solidFill>
                  <a:srgbClr val="FFFF00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zh-CN" sz="1400" b="0" dirty="0">
                <a:ea typeface="SimSun" pitchFamily="2" charset="-122"/>
              </a:rPr>
              <a:t>◆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Technological 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–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 </a:t>
            </a:r>
            <a:r>
              <a:rPr lang="en-US" altLang="zh-CN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Internet, WWW, m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icroprocessor,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       transportation, telecommunications, etc.</a:t>
            </a:r>
            <a:r>
              <a:rPr lang="en-US" altLang="zh-CN" sz="240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	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ea typeface="SimSun" pitchFamily="2" charset="-122"/>
              </a:rPr>
              <a:t> ◆</a:t>
            </a:r>
            <a:r>
              <a:rPr lang="en-US" altLang="zh-CN" sz="20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Economic – openness, privatization, economic development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ea typeface="SimSun" pitchFamily="2" charset="-122"/>
              </a:rPr>
              <a:t> ◆</a:t>
            </a:r>
            <a:r>
              <a:rPr lang="en-US" altLang="zh-CN" sz="20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Socio-cultural – similar tastes and preferences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ea typeface="SimSun" pitchFamily="2" charset="-122"/>
              </a:rPr>
              <a:t> ◆</a:t>
            </a:r>
            <a:r>
              <a:rPr lang="en-US" altLang="zh-CN" sz="20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</a:t>
            </a:r>
            <a:r>
              <a:rPr lang="en-US" altLang="zh-CN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Legal/Political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– reducing trade and investment barriers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8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9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B8EDA5"/>
                </a:solidFill>
                <a:latin typeface="Times New Roman" pitchFamily="18" charset="0"/>
                <a:ea typeface="굴림" pitchFamily="50" charset="-127"/>
              </a:rPr>
              <a:t>MNEs(Multinational Enterprises)</a:t>
            </a:r>
            <a:endParaRPr lang="en-US" altLang="ko-KR" sz="2400" dirty="0">
              <a:solidFill>
                <a:srgbClr val="B8EDA5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ea typeface="SimSun" pitchFamily="2" charset="-122"/>
              </a:rPr>
              <a:t> ◆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Firms go international for markets: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    – End-products, Labor, Capital, Law materials, Technology, etc.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ea typeface="SimSun" pitchFamily="2" charset="-122"/>
              </a:rPr>
              <a:t> ◆ 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Explain 70-80% of globalization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400" b="0" dirty="0">
                <a:ea typeface="SimSun" pitchFamily="2" charset="-122"/>
              </a:rPr>
              <a:t> ◆</a:t>
            </a: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 Mostly from advanced nations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0" dirty="0">
              <a:latin typeface="Times New Roman" pitchFamily="18" charset="0"/>
              <a:ea typeface="SimSun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14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77827" name="Title 3"/>
          <p:cNvSpPr txBox="1">
            <a:spLocks/>
          </p:cNvSpPr>
          <p:nvPr/>
        </p:nvSpPr>
        <p:spPr bwMode="auto">
          <a:xfrm>
            <a:off x="0" y="214313"/>
            <a:ext cx="91440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DRIVING FORCES (continued)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Line 7"/>
          <p:cNvSpPr>
            <a:spLocks noChangeShapeType="1"/>
          </p:cNvSpPr>
          <p:nvPr/>
        </p:nvSpPr>
        <p:spPr bwMode="auto">
          <a:xfrm>
            <a:off x="0" y="6553200"/>
            <a:ext cx="9144000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endParaRPr lang="ko-KR" altLang="en-US"/>
          </a:p>
        </p:txBody>
      </p:sp>
      <p:sp>
        <p:nvSpPr>
          <p:cNvPr id="78851" name="Rectangle 2"/>
          <p:cNvSpPr txBox="1">
            <a:spLocks noChangeArrowheads="1"/>
          </p:cNvSpPr>
          <p:nvPr/>
        </p:nvSpPr>
        <p:spPr bwMode="auto">
          <a:xfrm>
            <a:off x="642938" y="142875"/>
            <a:ext cx="7772400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2800">
                <a:solidFill>
                  <a:srgbClr val="FFC000"/>
                </a:solidFill>
                <a:ea typeface="굴림" pitchFamily="50" charset="-127"/>
              </a:rPr>
              <a:t>THE CHANGING ECONOMIC LANDSCAPE</a:t>
            </a:r>
          </a:p>
          <a:p>
            <a:pPr algn="ctr"/>
            <a:r>
              <a:rPr lang="en-US" altLang="ko-KR" sz="2800">
                <a:solidFill>
                  <a:srgbClr val="FFC000"/>
                </a:solidFill>
                <a:ea typeface="굴림" pitchFamily="50" charset="-127"/>
              </a:rPr>
              <a:t>BRICs vs. G6</a:t>
            </a:r>
          </a:p>
          <a:p>
            <a:pPr algn="ctr"/>
            <a:endParaRPr lang="ko-KR" altLang="en-US" sz="2800">
              <a:solidFill>
                <a:srgbClr val="FFC000"/>
              </a:solidFill>
              <a:ea typeface="굴림" pitchFamily="50" charset="-127"/>
            </a:endParaRPr>
          </a:p>
        </p:txBody>
      </p:sp>
      <p:sp>
        <p:nvSpPr>
          <p:cNvPr id="78852" name="Text Box 22"/>
          <p:cNvSpPr txBox="1">
            <a:spLocks noChangeArrowheads="1"/>
          </p:cNvSpPr>
          <p:nvPr/>
        </p:nvSpPr>
        <p:spPr bwMode="auto">
          <a:xfrm>
            <a:off x="196850" y="2401888"/>
            <a:ext cx="7159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China</a:t>
            </a:r>
          </a:p>
        </p:txBody>
      </p:sp>
      <p:sp>
        <p:nvSpPr>
          <p:cNvPr id="78853" name="Text Box 23"/>
          <p:cNvSpPr txBox="1">
            <a:spLocks noChangeArrowheads="1"/>
          </p:cNvSpPr>
          <p:nvPr/>
        </p:nvSpPr>
        <p:spPr bwMode="auto">
          <a:xfrm>
            <a:off x="196850" y="2894013"/>
            <a:ext cx="7159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India</a:t>
            </a:r>
          </a:p>
        </p:txBody>
      </p:sp>
      <p:sp>
        <p:nvSpPr>
          <p:cNvPr id="78854" name="Text Box 24"/>
          <p:cNvSpPr txBox="1">
            <a:spLocks noChangeArrowheads="1"/>
          </p:cNvSpPr>
          <p:nvPr/>
        </p:nvSpPr>
        <p:spPr bwMode="auto">
          <a:xfrm>
            <a:off x="134938" y="3398838"/>
            <a:ext cx="7778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  Russia</a:t>
            </a:r>
          </a:p>
        </p:txBody>
      </p:sp>
      <p:sp>
        <p:nvSpPr>
          <p:cNvPr id="78855" name="Text Box 25"/>
          <p:cNvSpPr txBox="1">
            <a:spLocks noChangeArrowheads="1"/>
          </p:cNvSpPr>
          <p:nvPr/>
        </p:nvSpPr>
        <p:spPr bwMode="auto">
          <a:xfrm>
            <a:off x="133350" y="3938588"/>
            <a:ext cx="7794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Brazil</a:t>
            </a:r>
            <a:endParaRPr lang="en-US" altLang="ko-KR" sz="90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78856" name="Text Box 26"/>
          <p:cNvSpPr txBox="1">
            <a:spLocks noChangeArrowheads="1"/>
          </p:cNvSpPr>
          <p:nvPr/>
        </p:nvSpPr>
        <p:spPr bwMode="auto">
          <a:xfrm>
            <a:off x="196850" y="5148263"/>
            <a:ext cx="7159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BRICs</a:t>
            </a:r>
          </a:p>
        </p:txBody>
      </p:sp>
      <p:pic>
        <p:nvPicPr>
          <p:cNvPr id="78859" name="Picture 4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48100" y="2892425"/>
            <a:ext cx="966788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0" name="Picture 5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870200"/>
            <a:ext cx="966788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1" name="Picture 6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9188" y="2878138"/>
            <a:ext cx="966787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2" name="Picture 7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38913" y="2355850"/>
            <a:ext cx="966787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3" name="Picture 8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2763" y="3292475"/>
            <a:ext cx="966787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4" name="Picture 9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1450" y="3306763"/>
            <a:ext cx="966788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5" name="Picture 10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3450" y="3346450"/>
            <a:ext cx="966788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6" name="Picture 11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5225" y="3887788"/>
            <a:ext cx="966788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7" name="Picture 12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425" y="3916363"/>
            <a:ext cx="966788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8" name="Picture 13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050" y="3868738"/>
            <a:ext cx="966788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69" name="Picture 14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5073650"/>
            <a:ext cx="966788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70" name="Picture 15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0788" y="2897188"/>
            <a:ext cx="966787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71" name="Picture 16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88" y="2355850"/>
            <a:ext cx="966787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72" name="Picture 17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355850"/>
            <a:ext cx="966788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73" name="Picture 18" descr="ylo-g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2378075"/>
            <a:ext cx="966788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74" name="Text Box 19"/>
          <p:cNvSpPr txBox="1">
            <a:spLocks noChangeArrowheads="1"/>
          </p:cNvSpPr>
          <p:nvPr/>
        </p:nvSpPr>
        <p:spPr bwMode="auto">
          <a:xfrm>
            <a:off x="757238" y="6410325"/>
            <a:ext cx="5386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b="0" i="1">
                <a:ea typeface="굴림" pitchFamily="50" charset="-127"/>
                <a:cs typeface="Times New Roman" pitchFamily="18" charset="0"/>
              </a:rPr>
              <a:t>Source – Goldman Sachs</a:t>
            </a:r>
          </a:p>
        </p:txBody>
      </p:sp>
      <p:sp>
        <p:nvSpPr>
          <p:cNvPr id="78875" name="Line 20"/>
          <p:cNvSpPr>
            <a:spLocks noChangeShapeType="1"/>
          </p:cNvSpPr>
          <p:nvPr/>
        </p:nvSpPr>
        <p:spPr bwMode="auto">
          <a:xfrm>
            <a:off x="817563" y="5964238"/>
            <a:ext cx="7866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76" name="Line 21"/>
          <p:cNvSpPr>
            <a:spLocks noChangeShapeType="1"/>
          </p:cNvSpPr>
          <p:nvPr/>
        </p:nvSpPr>
        <p:spPr bwMode="auto">
          <a:xfrm flipV="1">
            <a:off x="842963" y="2143125"/>
            <a:ext cx="0" cy="382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77" name="Line 27"/>
          <p:cNvSpPr>
            <a:spLocks noChangeShapeType="1"/>
          </p:cNvSpPr>
          <p:nvPr/>
        </p:nvSpPr>
        <p:spPr bwMode="auto">
          <a:xfrm>
            <a:off x="842963" y="3182938"/>
            <a:ext cx="782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78" name="Line 28"/>
          <p:cNvSpPr>
            <a:spLocks noChangeShapeType="1"/>
          </p:cNvSpPr>
          <p:nvPr/>
        </p:nvSpPr>
        <p:spPr bwMode="auto">
          <a:xfrm>
            <a:off x="846138" y="3649663"/>
            <a:ext cx="7840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79" name="Line 29"/>
          <p:cNvSpPr>
            <a:spLocks noChangeShapeType="1"/>
          </p:cNvSpPr>
          <p:nvPr/>
        </p:nvSpPr>
        <p:spPr bwMode="auto">
          <a:xfrm>
            <a:off x="874713" y="4205288"/>
            <a:ext cx="778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80" name="Line 30"/>
          <p:cNvSpPr>
            <a:spLocks noChangeShapeType="1"/>
          </p:cNvSpPr>
          <p:nvPr/>
        </p:nvSpPr>
        <p:spPr bwMode="auto">
          <a:xfrm>
            <a:off x="879475" y="5399088"/>
            <a:ext cx="7777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81" name="Line 31"/>
          <p:cNvSpPr>
            <a:spLocks noChangeShapeType="1"/>
          </p:cNvSpPr>
          <p:nvPr/>
        </p:nvSpPr>
        <p:spPr bwMode="auto">
          <a:xfrm>
            <a:off x="857250" y="2671763"/>
            <a:ext cx="7815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82" name="AutoShape 32"/>
          <p:cNvSpPr>
            <a:spLocks noChangeArrowheads="1"/>
          </p:cNvSpPr>
          <p:nvPr/>
        </p:nvSpPr>
        <p:spPr bwMode="auto">
          <a:xfrm>
            <a:off x="6654800" y="2381250"/>
            <a:ext cx="727075" cy="501650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US</a:t>
            </a:r>
          </a:p>
        </p:txBody>
      </p:sp>
      <p:sp>
        <p:nvSpPr>
          <p:cNvPr id="78883" name="AutoShape 33"/>
          <p:cNvSpPr>
            <a:spLocks noChangeArrowheads="1"/>
          </p:cNvSpPr>
          <p:nvPr/>
        </p:nvSpPr>
        <p:spPr bwMode="auto">
          <a:xfrm>
            <a:off x="2813050" y="2422525"/>
            <a:ext cx="727075" cy="427038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Japan</a:t>
            </a:r>
          </a:p>
        </p:txBody>
      </p:sp>
      <p:sp>
        <p:nvSpPr>
          <p:cNvPr id="78884" name="AutoShape 34"/>
          <p:cNvSpPr>
            <a:spLocks noChangeArrowheads="1"/>
          </p:cNvSpPr>
          <p:nvPr/>
        </p:nvSpPr>
        <p:spPr bwMode="auto">
          <a:xfrm>
            <a:off x="1876425" y="2387600"/>
            <a:ext cx="815975" cy="501650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Germany</a:t>
            </a:r>
          </a:p>
        </p:txBody>
      </p:sp>
      <p:sp>
        <p:nvSpPr>
          <p:cNvPr id="78885" name="AutoShape 35"/>
          <p:cNvSpPr>
            <a:spLocks noChangeArrowheads="1"/>
          </p:cNvSpPr>
          <p:nvPr/>
        </p:nvSpPr>
        <p:spPr bwMode="auto">
          <a:xfrm>
            <a:off x="1252538" y="2405063"/>
            <a:ext cx="727075" cy="501650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UK</a:t>
            </a:r>
          </a:p>
        </p:txBody>
      </p:sp>
      <p:sp>
        <p:nvSpPr>
          <p:cNvPr id="78886" name="Text Box 36"/>
          <p:cNvSpPr txBox="1">
            <a:spLocks noChangeArrowheads="1"/>
          </p:cNvSpPr>
          <p:nvPr/>
        </p:nvSpPr>
        <p:spPr bwMode="auto">
          <a:xfrm>
            <a:off x="428625" y="5976938"/>
            <a:ext cx="561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2000</a:t>
            </a:r>
          </a:p>
        </p:txBody>
      </p:sp>
      <p:sp>
        <p:nvSpPr>
          <p:cNvPr id="78887" name="Text Box 37"/>
          <p:cNvSpPr txBox="1">
            <a:spLocks noChangeArrowheads="1"/>
          </p:cNvSpPr>
          <p:nvPr/>
        </p:nvSpPr>
        <p:spPr bwMode="auto">
          <a:xfrm>
            <a:off x="5818188" y="5992813"/>
            <a:ext cx="561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2035</a:t>
            </a:r>
          </a:p>
        </p:txBody>
      </p:sp>
      <p:sp>
        <p:nvSpPr>
          <p:cNvPr id="78888" name="Text Box 38"/>
          <p:cNvSpPr txBox="1">
            <a:spLocks noChangeArrowheads="1"/>
          </p:cNvSpPr>
          <p:nvPr/>
        </p:nvSpPr>
        <p:spPr bwMode="auto">
          <a:xfrm>
            <a:off x="7385050" y="5997575"/>
            <a:ext cx="561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2045</a:t>
            </a:r>
          </a:p>
        </p:txBody>
      </p:sp>
      <p:sp>
        <p:nvSpPr>
          <p:cNvPr id="78889" name="Text Box 39"/>
          <p:cNvSpPr txBox="1">
            <a:spLocks noChangeArrowheads="1"/>
          </p:cNvSpPr>
          <p:nvPr/>
        </p:nvSpPr>
        <p:spPr bwMode="auto">
          <a:xfrm>
            <a:off x="6615113" y="6002338"/>
            <a:ext cx="561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2040</a:t>
            </a:r>
          </a:p>
        </p:txBody>
      </p:sp>
      <p:sp>
        <p:nvSpPr>
          <p:cNvPr id="78890" name="Text Box 40"/>
          <p:cNvSpPr txBox="1">
            <a:spLocks noChangeArrowheads="1"/>
          </p:cNvSpPr>
          <p:nvPr/>
        </p:nvSpPr>
        <p:spPr bwMode="auto">
          <a:xfrm>
            <a:off x="4375150" y="6003925"/>
            <a:ext cx="561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2025</a:t>
            </a:r>
          </a:p>
        </p:txBody>
      </p:sp>
      <p:sp>
        <p:nvSpPr>
          <p:cNvPr id="78891" name="Text Box 41"/>
          <p:cNvSpPr txBox="1">
            <a:spLocks noChangeArrowheads="1"/>
          </p:cNvSpPr>
          <p:nvPr/>
        </p:nvSpPr>
        <p:spPr bwMode="auto">
          <a:xfrm>
            <a:off x="3589338" y="5992813"/>
            <a:ext cx="561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 dirty="0">
                <a:latin typeface="Arial" pitchFamily="34" charset="0"/>
                <a:ea typeface="굴림" pitchFamily="50" charset="-127"/>
                <a:cs typeface="Arial" pitchFamily="34" charset="0"/>
              </a:rPr>
              <a:t>2020</a:t>
            </a:r>
          </a:p>
        </p:txBody>
      </p:sp>
      <p:sp>
        <p:nvSpPr>
          <p:cNvPr id="78892" name="Text Box 42"/>
          <p:cNvSpPr txBox="1">
            <a:spLocks noChangeArrowheads="1"/>
          </p:cNvSpPr>
          <p:nvPr/>
        </p:nvSpPr>
        <p:spPr bwMode="auto">
          <a:xfrm>
            <a:off x="5083175" y="5997575"/>
            <a:ext cx="561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 dirty="0">
                <a:latin typeface="Arial" pitchFamily="34" charset="0"/>
                <a:ea typeface="굴림" pitchFamily="50" charset="-127"/>
                <a:cs typeface="Arial" pitchFamily="34" charset="0"/>
              </a:rPr>
              <a:t>2030</a:t>
            </a:r>
          </a:p>
        </p:txBody>
      </p:sp>
      <p:sp>
        <p:nvSpPr>
          <p:cNvPr id="78893" name="Text Box 43"/>
          <p:cNvSpPr txBox="1">
            <a:spLocks noChangeArrowheads="1"/>
          </p:cNvSpPr>
          <p:nvPr/>
        </p:nvSpPr>
        <p:spPr bwMode="auto">
          <a:xfrm>
            <a:off x="8255000" y="5986463"/>
            <a:ext cx="561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2050</a:t>
            </a:r>
          </a:p>
        </p:txBody>
      </p:sp>
      <p:sp>
        <p:nvSpPr>
          <p:cNvPr id="78894" name="Line 44"/>
          <p:cNvSpPr>
            <a:spLocks noChangeShapeType="1"/>
          </p:cNvSpPr>
          <p:nvPr/>
        </p:nvSpPr>
        <p:spPr bwMode="auto">
          <a:xfrm flipV="1">
            <a:off x="8670925" y="2268538"/>
            <a:ext cx="0" cy="3695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895" name="Text Box 45"/>
          <p:cNvSpPr txBox="1">
            <a:spLocks noChangeArrowheads="1"/>
          </p:cNvSpPr>
          <p:nvPr/>
        </p:nvSpPr>
        <p:spPr bwMode="auto">
          <a:xfrm>
            <a:off x="1296988" y="5992813"/>
            <a:ext cx="5619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2005</a:t>
            </a:r>
          </a:p>
        </p:txBody>
      </p:sp>
      <p:sp>
        <p:nvSpPr>
          <p:cNvPr id="78896" name="Text Box 46"/>
          <p:cNvSpPr txBox="1">
            <a:spLocks noChangeArrowheads="1"/>
          </p:cNvSpPr>
          <p:nvPr/>
        </p:nvSpPr>
        <p:spPr bwMode="auto">
          <a:xfrm>
            <a:off x="2078038" y="5997575"/>
            <a:ext cx="561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 dirty="0">
                <a:latin typeface="Arial" pitchFamily="34" charset="0"/>
                <a:ea typeface="굴림" pitchFamily="50" charset="-127"/>
                <a:cs typeface="Arial" pitchFamily="34" charset="0"/>
              </a:rPr>
              <a:t>2010</a:t>
            </a:r>
          </a:p>
        </p:txBody>
      </p:sp>
      <p:sp>
        <p:nvSpPr>
          <p:cNvPr id="78897" name="Text Box 47"/>
          <p:cNvSpPr txBox="1">
            <a:spLocks noChangeArrowheads="1"/>
          </p:cNvSpPr>
          <p:nvPr/>
        </p:nvSpPr>
        <p:spPr bwMode="auto">
          <a:xfrm>
            <a:off x="2844800" y="5988050"/>
            <a:ext cx="5619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en-US" altLang="ko-KR" sz="1200">
                <a:latin typeface="Arial" pitchFamily="34" charset="0"/>
                <a:ea typeface="굴림" pitchFamily="50" charset="-127"/>
                <a:cs typeface="Arial" pitchFamily="34" charset="0"/>
              </a:rPr>
              <a:t>2015</a:t>
            </a:r>
          </a:p>
        </p:txBody>
      </p:sp>
      <p:sp>
        <p:nvSpPr>
          <p:cNvPr id="78898" name="AutoShape 48"/>
          <p:cNvSpPr>
            <a:spLocks noChangeArrowheads="1"/>
          </p:cNvSpPr>
          <p:nvPr/>
        </p:nvSpPr>
        <p:spPr bwMode="auto">
          <a:xfrm>
            <a:off x="3933825" y="2954338"/>
            <a:ext cx="815975" cy="501650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Germany</a:t>
            </a:r>
          </a:p>
        </p:txBody>
      </p:sp>
      <p:sp>
        <p:nvSpPr>
          <p:cNvPr id="78899" name="AutoShape 49"/>
          <p:cNvSpPr>
            <a:spLocks noChangeArrowheads="1"/>
          </p:cNvSpPr>
          <p:nvPr/>
        </p:nvSpPr>
        <p:spPr bwMode="auto">
          <a:xfrm>
            <a:off x="5083175" y="2965450"/>
            <a:ext cx="727075" cy="427038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Japan</a:t>
            </a:r>
          </a:p>
        </p:txBody>
      </p:sp>
      <p:sp>
        <p:nvSpPr>
          <p:cNvPr id="78900" name="AutoShape 50"/>
          <p:cNvSpPr>
            <a:spLocks noChangeArrowheads="1"/>
          </p:cNvSpPr>
          <p:nvPr/>
        </p:nvSpPr>
        <p:spPr bwMode="auto">
          <a:xfrm>
            <a:off x="2616200" y="2976563"/>
            <a:ext cx="727075" cy="427037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Italy</a:t>
            </a:r>
          </a:p>
        </p:txBody>
      </p:sp>
      <p:sp>
        <p:nvSpPr>
          <p:cNvPr id="78901" name="AutoShape 51"/>
          <p:cNvSpPr>
            <a:spLocks noChangeArrowheads="1"/>
          </p:cNvSpPr>
          <p:nvPr/>
        </p:nvSpPr>
        <p:spPr bwMode="auto">
          <a:xfrm>
            <a:off x="3243263" y="2978150"/>
            <a:ext cx="727075" cy="427038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France</a:t>
            </a:r>
          </a:p>
        </p:txBody>
      </p:sp>
      <p:sp>
        <p:nvSpPr>
          <p:cNvPr id="78902" name="AutoShape 52"/>
          <p:cNvSpPr>
            <a:spLocks noChangeArrowheads="1"/>
          </p:cNvSpPr>
          <p:nvPr/>
        </p:nvSpPr>
        <p:spPr bwMode="auto">
          <a:xfrm>
            <a:off x="3233738" y="3381375"/>
            <a:ext cx="727075" cy="427038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Italy</a:t>
            </a:r>
          </a:p>
        </p:txBody>
      </p:sp>
      <p:sp>
        <p:nvSpPr>
          <p:cNvPr id="78903" name="AutoShape 53"/>
          <p:cNvSpPr>
            <a:spLocks noChangeArrowheads="1"/>
          </p:cNvSpPr>
          <p:nvPr/>
        </p:nvSpPr>
        <p:spPr bwMode="auto">
          <a:xfrm>
            <a:off x="4148138" y="3405188"/>
            <a:ext cx="727075" cy="427037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France</a:t>
            </a:r>
          </a:p>
        </p:txBody>
      </p:sp>
      <p:sp>
        <p:nvSpPr>
          <p:cNvPr id="78904" name="AutoShape 54"/>
          <p:cNvSpPr>
            <a:spLocks noChangeArrowheads="1"/>
          </p:cNvSpPr>
          <p:nvPr/>
        </p:nvSpPr>
        <p:spPr bwMode="auto">
          <a:xfrm>
            <a:off x="4799013" y="3394075"/>
            <a:ext cx="890587" cy="514350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Germany</a:t>
            </a:r>
          </a:p>
        </p:txBody>
      </p:sp>
      <p:sp>
        <p:nvSpPr>
          <p:cNvPr id="78905" name="AutoShape 55"/>
          <p:cNvSpPr>
            <a:spLocks noChangeArrowheads="1"/>
          </p:cNvSpPr>
          <p:nvPr/>
        </p:nvSpPr>
        <p:spPr bwMode="auto">
          <a:xfrm>
            <a:off x="3860800" y="3968750"/>
            <a:ext cx="727075" cy="427038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Italy</a:t>
            </a:r>
          </a:p>
        </p:txBody>
      </p:sp>
      <p:sp>
        <p:nvSpPr>
          <p:cNvPr id="78906" name="AutoShape 56"/>
          <p:cNvSpPr>
            <a:spLocks noChangeArrowheads="1"/>
          </p:cNvSpPr>
          <p:nvPr/>
        </p:nvSpPr>
        <p:spPr bwMode="auto">
          <a:xfrm>
            <a:off x="5049838" y="4005263"/>
            <a:ext cx="727075" cy="427037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France</a:t>
            </a:r>
          </a:p>
        </p:txBody>
      </p:sp>
      <p:sp>
        <p:nvSpPr>
          <p:cNvPr id="78907" name="AutoShape 57"/>
          <p:cNvSpPr>
            <a:spLocks noChangeArrowheads="1"/>
          </p:cNvSpPr>
          <p:nvPr/>
        </p:nvSpPr>
        <p:spPr bwMode="auto">
          <a:xfrm>
            <a:off x="6164263" y="3932238"/>
            <a:ext cx="915987" cy="465137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Germany</a:t>
            </a:r>
          </a:p>
        </p:txBody>
      </p:sp>
      <p:sp>
        <p:nvSpPr>
          <p:cNvPr id="78908" name="AutoShape 58"/>
          <p:cNvSpPr>
            <a:spLocks noChangeArrowheads="1"/>
          </p:cNvSpPr>
          <p:nvPr/>
        </p:nvSpPr>
        <p:spPr bwMode="auto">
          <a:xfrm>
            <a:off x="6427788" y="5159375"/>
            <a:ext cx="727075" cy="427038"/>
          </a:xfrm>
          <a:prstGeom prst="irregularSeal1">
            <a:avLst/>
          </a:prstGeom>
          <a:solidFill>
            <a:srgbClr val="ECEE8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>
                <a:solidFill>
                  <a:srgbClr val="1C1C1C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G6</a:t>
            </a:r>
          </a:p>
        </p:txBody>
      </p:sp>
      <p:sp>
        <p:nvSpPr>
          <p:cNvPr id="78858" name="Rectangle 3"/>
          <p:cNvSpPr>
            <a:spLocks noChangeArrowheads="1"/>
          </p:cNvSpPr>
          <p:nvPr/>
        </p:nvSpPr>
        <p:spPr bwMode="auto">
          <a:xfrm>
            <a:off x="0" y="1285875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3" rIns="91428" bIns="45713" anchor="ctr"/>
          <a:lstStyle/>
          <a:p>
            <a:pPr algn="ctr"/>
            <a:r>
              <a:rPr lang="en-US" altLang="ko-KR" sz="2000" b="0">
                <a:ea typeface="굴림" pitchFamily="50" charset="-127"/>
                <a:cs typeface="Times New Roman" pitchFamily="18" charset="0"/>
              </a:rPr>
              <a:t>When BRIC’s US$ GDP is Expected to Exceed the G6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28674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WordArt 3"/>
          <p:cNvSpPr>
            <a:spLocks noChangeArrowheads="1" noChangeShapeType="1" noTextEdit="1"/>
          </p:cNvSpPr>
          <p:nvPr/>
        </p:nvSpPr>
        <p:spPr bwMode="auto">
          <a:xfrm>
            <a:off x="714375" y="1214438"/>
            <a:ext cx="7572375" cy="2928937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Impact OF </a:t>
            </a:r>
          </a:p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GLOBALIZATION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144000" cy="563563"/>
          </a:xfrm>
        </p:spPr>
        <p:txBody>
          <a:bodyPr/>
          <a:lstStyle/>
          <a:p>
            <a:pPr algn="ctr" eaLnBrk="1" hangingPunct="1"/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PROS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1500" y="1428750"/>
            <a:ext cx="8001000" cy="50720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Better utilization of resources – greater efficiency through international division of work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Promotes economic development – enlarged pie, Improved quality of life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Promotes innovation – job creation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Free movement of people, goods, and capital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Quick dispersion of technology and ideas</a:t>
            </a:r>
          </a:p>
          <a:p>
            <a:pPr eaLnBrk="1" hangingPunct="1">
              <a:buFont typeface="Arial" pitchFamily="34" charset="0"/>
              <a:buChar char="•"/>
            </a:pPr>
            <a:endParaRPr lang="en-US" altLang="ko-KR" sz="240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buFont typeface="Arial" pitchFamily="34" charset="0"/>
              <a:buChar char="•"/>
            </a:pPr>
            <a:endParaRPr lang="en-US" altLang="ko-KR" sz="240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CONS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785813"/>
            <a:ext cx="8786813" cy="60721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solidFill>
                  <a:srgbClr val="FFFF00"/>
                </a:solidFill>
                <a:latin typeface="Times New Roman" pitchFamily="18" charset="0"/>
                <a:ea typeface="굴림" pitchFamily="50" charset="-127"/>
              </a:rPr>
              <a:t> </a:t>
            </a:r>
            <a:endParaRPr lang="en-US" altLang="zh-CN" sz="1800" b="0" dirty="0">
              <a:solidFill>
                <a:srgbClr val="FFFF00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Uneven distribution of results(enlarged pie) among countries – Income-gap polarization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Concentration of capital and power (MNEs)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    - Weaker countries and firms cannot successfully compete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Local economic crises strike the whole world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Quick dispersion of diseases and others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Economic neocolonialism (risk of exploitation)                    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- Human rights, environment, etc.</a:t>
            </a: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  <a:hlinkClick r:id="rId2"/>
              </a:rPr>
              <a:t>http://digg.com/political_opinion/Hidden_Face_of_Globalization_2</a:t>
            </a:r>
            <a:endParaRPr lang="en-US" altLang="ko-KR" sz="12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lvl="2" eaLnBrk="1" hangingPunct="1">
              <a:lnSpc>
                <a:spcPct val="150000"/>
              </a:lnSpc>
              <a:buNone/>
            </a:pPr>
            <a:endParaRPr lang="en-US" altLang="ko-KR" sz="12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lvl="2" eaLnBrk="1" hangingPunct="1">
              <a:lnSpc>
                <a:spcPct val="150000"/>
              </a:lnSpc>
              <a:buNone/>
            </a:pPr>
            <a:endParaRPr lang="en-US" altLang="ko-KR" sz="12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CONTRIBUTIONS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1071546"/>
            <a:ext cx="8786813" cy="557214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solidFill>
                  <a:srgbClr val="FFFF00"/>
                </a:solidFill>
                <a:latin typeface="Times New Roman" pitchFamily="18" charset="0"/>
                <a:ea typeface="굴림" pitchFamily="50" charset="-127"/>
              </a:rPr>
              <a:t> </a:t>
            </a:r>
            <a:endParaRPr lang="en-US" altLang="zh-CN" sz="1800" b="0" dirty="0">
              <a:solidFill>
                <a:srgbClr val="FFFF00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Most nations gained political independence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Economic improvement:</a:t>
            </a:r>
          </a:p>
          <a:p>
            <a:pPr eaLnBrk="1" hangingPunct="1">
              <a:buNone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- GDP/capita: $1800 in 1975, $6400 in 2000 </a:t>
            </a:r>
          </a:p>
          <a:p>
            <a:pPr eaLnBrk="1" hangingPunct="1"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     - % of people living below $1/day has halved since 1981             </a:t>
            </a:r>
            <a:endParaRPr lang="ko-KR" altLang="en-US" sz="24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Life expectancy above 60 even for males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Adult literacy near 75% even for females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PROBLEMS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1071546"/>
            <a:ext cx="8572531" cy="557214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solidFill>
                  <a:srgbClr val="FFFF00"/>
                </a:solidFill>
                <a:latin typeface="Times New Roman" pitchFamily="18" charset="0"/>
                <a:ea typeface="굴림" pitchFamily="50" charset="-127"/>
              </a:rPr>
              <a:t> </a:t>
            </a:r>
            <a:endParaRPr lang="en-US" altLang="zh-CN" sz="1800" b="0" dirty="0">
              <a:solidFill>
                <a:srgbClr val="FFFF00"/>
              </a:solidFill>
              <a:latin typeface="Times New Roman" pitchFamily="18" charset="0"/>
              <a:ea typeface="굴림" pitchFamily="50" charset="-127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Imbalance of power between leading and following countries - unfair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Exploitative arrangement: leading countries establishing the rules and others expected to follow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Balance of power: tilted from labor to corporate management</a:t>
            </a: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Wealth: skewed in favor of a few countries in the world </a:t>
            </a:r>
            <a:endParaRPr lang="ko-KR" altLang="en-US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2428860" y="2071678"/>
            <a:ext cx="1571636" cy="785818"/>
          </a:xfrm>
          <a:prstGeom prst="ellipse">
            <a:avLst/>
          </a:prstGeom>
          <a:solidFill>
            <a:schemeClr val="tx2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5072066" y="2071678"/>
            <a:ext cx="1571636" cy="785818"/>
          </a:xfrm>
          <a:prstGeom prst="ellipse">
            <a:avLst/>
          </a:prstGeom>
          <a:solidFill>
            <a:schemeClr val="tx2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BALANCING PROS AND CONS </a:t>
            </a:r>
            <a:b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</a:br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FOR SUSTAINABILITY</a:t>
            </a:r>
          </a:p>
        </p:txBody>
      </p:sp>
      <p:sp>
        <p:nvSpPr>
          <p:cNvPr id="83972" name="AutoShape 4"/>
          <p:cNvSpPr>
            <a:spLocks noChangeArrowheads="1"/>
          </p:cNvSpPr>
          <p:nvPr/>
        </p:nvSpPr>
        <p:spPr bwMode="gray">
          <a:xfrm>
            <a:off x="6300786" y="3071810"/>
            <a:ext cx="2519363" cy="1149354"/>
          </a:xfrm>
          <a:prstGeom prst="can">
            <a:avLst>
              <a:gd name="adj" fmla="val 25000"/>
            </a:avLst>
          </a:prstGeom>
          <a:solidFill>
            <a:schemeClr val="accent5">
              <a:lumMod val="7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3973" name="AutoShape 5"/>
          <p:cNvSpPr>
            <a:spLocks noChangeArrowheads="1"/>
          </p:cNvSpPr>
          <p:nvPr/>
        </p:nvSpPr>
        <p:spPr bwMode="gray">
          <a:xfrm>
            <a:off x="446076" y="3071810"/>
            <a:ext cx="2482850" cy="1071570"/>
          </a:xfrm>
          <a:prstGeom prst="can">
            <a:avLst>
              <a:gd name="adj" fmla="val 25000"/>
            </a:avLst>
          </a:prstGeom>
          <a:solidFill>
            <a:srgbClr val="3AEA5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3974" name="AutoShape 6"/>
          <p:cNvSpPr>
            <a:spLocks noChangeArrowheads="1"/>
          </p:cNvSpPr>
          <p:nvPr/>
        </p:nvSpPr>
        <p:spPr bwMode="auto">
          <a:xfrm>
            <a:off x="3260725" y="3213100"/>
            <a:ext cx="2592388" cy="278766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>
            <a:off x="2843213" y="3213100"/>
            <a:ext cx="3529012" cy="0"/>
          </a:xfrm>
          <a:prstGeom prst="line">
            <a:avLst/>
          </a:prstGeom>
          <a:noFill/>
          <a:ln w="6985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436521" y="3499982"/>
            <a:ext cx="2484438" cy="500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55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solidFill>
                  <a:srgbClr val="002060"/>
                </a:solidFill>
                <a:ea typeface="굴림" pitchFamily="50" charset="-127"/>
              </a:rPr>
              <a:t>Efficiency</a:t>
            </a:r>
          </a:p>
          <a:p>
            <a:pPr algn="ctr">
              <a:lnSpc>
                <a:spcPct val="55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solidFill>
                  <a:srgbClr val="002060"/>
                </a:solidFill>
                <a:ea typeface="굴림" pitchFamily="50" charset="-127"/>
              </a:rPr>
              <a:t>Economic development</a:t>
            </a:r>
          </a:p>
        </p:txBody>
      </p:sp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6286512" y="3435346"/>
            <a:ext cx="2571768" cy="725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solidFill>
                  <a:srgbClr val="002060"/>
                </a:solidFill>
                <a:ea typeface="굴림" pitchFamily="50" charset="-127"/>
              </a:rPr>
              <a:t>Income Polarization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solidFill>
                  <a:srgbClr val="002060"/>
                </a:solidFill>
                <a:ea typeface="굴림" pitchFamily="50" charset="-127"/>
              </a:rPr>
              <a:t> Human Rights Issues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1600" dirty="0">
                <a:solidFill>
                  <a:srgbClr val="002060"/>
                </a:solidFill>
                <a:ea typeface="굴림" pitchFamily="50" charset="-127"/>
              </a:rPr>
              <a:t> Environmental Issues</a:t>
            </a:r>
          </a:p>
        </p:txBody>
      </p:sp>
      <p:sp>
        <p:nvSpPr>
          <p:cNvPr id="83978" name="Text Box 10"/>
          <p:cNvSpPr txBox="1">
            <a:spLocks noChangeArrowheads="1"/>
          </p:cNvSpPr>
          <p:nvPr/>
        </p:nvSpPr>
        <p:spPr bwMode="auto">
          <a:xfrm>
            <a:off x="2571736" y="2143116"/>
            <a:ext cx="13684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800" dirty="0">
                <a:solidFill>
                  <a:schemeClr val="bg2"/>
                </a:solidFill>
                <a:ea typeface="굴림" pitchFamily="50" charset="-127"/>
              </a:rPr>
              <a:t>Economic growth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500694" y="2143116"/>
            <a:ext cx="85725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dirty="0">
                <a:solidFill>
                  <a:schemeClr val="bg2"/>
                </a:solidFill>
                <a:ea typeface="굴림" pitchFamily="50" charset="-127"/>
              </a:rPr>
              <a:t>CSR                 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68" y="5214950"/>
            <a:ext cx="1960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Globalization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29698" name="Object 2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WordArt 3"/>
          <p:cNvSpPr>
            <a:spLocks noChangeArrowheads="1" noChangeShapeType="1" noTextEdit="1"/>
          </p:cNvSpPr>
          <p:nvPr/>
        </p:nvSpPr>
        <p:spPr bwMode="auto">
          <a:xfrm>
            <a:off x="714375" y="1484783"/>
            <a:ext cx="7572375" cy="2232249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IMPLICATIONS and CONCLUSIONS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GENERAL IMPLICATIONS</a:t>
            </a:r>
          </a:p>
        </p:txBody>
      </p:sp>
      <p:sp>
        <p:nvSpPr>
          <p:cNvPr id="84995" name="TextBox 4"/>
          <p:cNvSpPr txBox="1">
            <a:spLocks noChangeArrowheads="1"/>
          </p:cNvSpPr>
          <p:nvPr/>
        </p:nvSpPr>
        <p:spPr bwMode="auto">
          <a:xfrm>
            <a:off x="357188" y="1370002"/>
            <a:ext cx="8429654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dirty="0">
                <a:ea typeface="굴림" pitchFamily="50" charset="-127"/>
              </a:rPr>
              <a:t> </a:t>
            </a:r>
            <a:r>
              <a:rPr lang="en-US" altLang="ko-KR" b="0" dirty="0">
                <a:ea typeface="굴림" pitchFamily="50" charset="-127"/>
              </a:rPr>
              <a:t>Globalization has both positive and negative sides, but it has net</a:t>
            </a:r>
          </a:p>
          <a:p>
            <a:r>
              <a:rPr lang="en-US" altLang="ko-KR" b="0" dirty="0">
                <a:ea typeface="굴림" pitchFamily="50" charset="-127"/>
              </a:rPr>
              <a:t>   gains.</a:t>
            </a:r>
          </a:p>
          <a:p>
            <a:pPr>
              <a:buFont typeface="Arial" pitchFamily="34" charset="0"/>
              <a:buChar char="•"/>
            </a:pPr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We need to expand the positive side while addressing the negative</a:t>
            </a:r>
          </a:p>
          <a:p>
            <a:r>
              <a:rPr lang="en-US" altLang="ko-KR" b="0" dirty="0">
                <a:ea typeface="굴림" pitchFamily="50" charset="-127"/>
              </a:rPr>
              <a:t>   side of globalization.</a:t>
            </a:r>
          </a:p>
          <a:p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Any country with economic power is likely to push the idea of</a:t>
            </a:r>
          </a:p>
          <a:p>
            <a:r>
              <a:rPr lang="en-US" altLang="ko-KR" b="0" dirty="0">
                <a:ea typeface="굴림" pitchFamily="50" charset="-127"/>
              </a:rPr>
              <a:t>   globalization.</a:t>
            </a:r>
          </a:p>
          <a:p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The leading countries are likely to gain from globalization more</a:t>
            </a:r>
          </a:p>
          <a:p>
            <a:r>
              <a:rPr lang="en-US" altLang="ko-KR" b="0" dirty="0">
                <a:ea typeface="굴림" pitchFamily="50" charset="-127"/>
              </a:rPr>
              <a:t>   than the following countries. </a:t>
            </a:r>
          </a:p>
          <a:p>
            <a:pPr>
              <a:buFont typeface="Arial" pitchFamily="34" charset="0"/>
              <a:buChar char="•"/>
            </a:pPr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Globalization is a general trend.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IMPLICATIONS FOR OUR GOVERNMENT</a:t>
            </a:r>
          </a:p>
        </p:txBody>
      </p:sp>
      <p:sp>
        <p:nvSpPr>
          <p:cNvPr id="86019" name="Rectangle 2"/>
          <p:cNvSpPr>
            <a:spLocks noChangeArrowheads="1"/>
          </p:cNvSpPr>
          <p:nvPr/>
        </p:nvSpPr>
        <p:spPr bwMode="auto">
          <a:xfrm>
            <a:off x="0" y="1214438"/>
            <a:ext cx="8715375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Pursue globalization to the extent possible.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But remember that there are winners and losers of globalization	in our society as the structure of our industries changes.</a:t>
            </a:r>
            <a:endParaRPr lang="en-US" altLang="zh-CN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Pay attention to the losers; prepare a safety net for the losers.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CN" b="0" dirty="0">
                <a:solidFill>
                  <a:srgbClr val="B1E2FB"/>
                </a:solidFill>
                <a:ea typeface="PMingLiU" pitchFamily="18" charset="-120"/>
              </a:rPr>
              <a:t> Deal with uneven income distribution – income polarization.</a:t>
            </a:r>
            <a:endParaRPr lang="en-US" altLang="zh-TW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Follow global standard in terms of  laws and ethics – corruption.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 Build the infrastructure amenable to globalization – language, 	schools, other systems</a:t>
            </a: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Rankings of Corruption by Country in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08" y="6550223"/>
            <a:ext cx="5452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/>
              <a:t>Sources: Transparency International, “Global Corruption Report, 2019”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FECCEF-9339-D95A-C5BD-8218C5BD2EFE}"/>
              </a:ext>
            </a:extLst>
          </p:cNvPr>
          <p:cNvSpPr/>
          <p:nvPr/>
        </p:nvSpPr>
        <p:spPr bwMode="auto">
          <a:xfrm>
            <a:off x="251520" y="1412776"/>
            <a:ext cx="8640960" cy="5126136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6" name="Picture 8" descr="A horizontal bar graph displays Rankings of corruption by country as of 2019.">
            <a:extLst>
              <a:ext uri="{FF2B5EF4-FFF2-40B4-BE49-F238E27FC236}">
                <a16:creationId xmlns:a16="http://schemas.microsoft.com/office/drawing/2014/main" id="{BE46B59A-3B90-A757-27A4-7471680FE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272808" cy="482453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IMPLICATIONS FOR OUR BUSINESSES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71500" y="1285875"/>
            <a:ext cx="8072438" cy="5214938"/>
          </a:xfrm>
          <a:prstGeom prst="rect">
            <a:avLst/>
          </a:prstGeom>
        </p:spPr>
        <p:txBody>
          <a:bodyPr/>
          <a:lstStyle/>
          <a:p>
            <a:pPr marL="457200" indent="-457200" eaLnBrk="0" latinLnBrk="1" hangingPunct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sz="2800" b="0" dirty="0">
                <a:solidFill>
                  <a:srgbClr val="B1E2FB"/>
                </a:solidFill>
                <a:ea typeface="PMingLiU" pitchFamily="18" charset="-120"/>
              </a:rPr>
              <a:t> 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Have a global perspective in business management</a:t>
            </a:r>
          </a:p>
          <a:p>
            <a:pPr marL="457200" indent="-457200" eaLnBrk="0" latinLnBrk="1" hangingPunct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</a:t>
            </a:r>
            <a:r>
              <a:rPr lang="en-US" altLang="ko-KR" b="0" kern="0" dirty="0">
                <a:ea typeface="굴림" pitchFamily="50" charset="-127"/>
              </a:rPr>
              <a:t>Tap the most optimal locations for activities and resources</a:t>
            </a:r>
          </a:p>
          <a:p>
            <a:pPr marL="457200" indent="-457200" eaLnBrk="0" latinLnBrk="1" hangingPunct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</a:t>
            </a:r>
            <a:r>
              <a:rPr lang="en-US" altLang="ko-KR" b="0" kern="0" dirty="0">
                <a:ea typeface="굴림" pitchFamily="50" charset="-127"/>
              </a:rPr>
              <a:t>Exploit economies of global scale, scope, and learning</a:t>
            </a:r>
          </a:p>
          <a:p>
            <a:pPr marL="457200" indent="-457200" eaLnBrk="0" latinLnBrk="1" hangingPunct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Adapt to local market differences</a:t>
            </a:r>
            <a:endParaRPr lang="en-US" altLang="ko-KR" sz="1400" b="0" kern="0" dirty="0">
              <a:ea typeface="굴림" pitchFamily="50" charset="-127"/>
            </a:endParaRPr>
          </a:p>
          <a:p>
            <a:pPr marL="457200" indent="-457200" eaLnBrk="0" latinLnBrk="1" hangingPunct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Create global competitive advantage</a:t>
            </a:r>
          </a:p>
          <a:p>
            <a:pPr marL="457200" indent="-457200" eaLnBrk="0" latinLnBrk="1" hangingPunct="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TW" sz="1400" b="0" dirty="0">
                <a:solidFill>
                  <a:srgbClr val="B1E2FB"/>
                </a:solidFill>
                <a:ea typeface="PMingLiU" pitchFamily="18" charset="-120"/>
              </a:rPr>
              <a:t>●</a:t>
            </a:r>
            <a:r>
              <a:rPr lang="en-US" altLang="zh-TW" b="0" dirty="0">
                <a:solidFill>
                  <a:srgbClr val="B1E2FB"/>
                </a:solidFill>
                <a:ea typeface="PMingLiU" pitchFamily="18" charset="-120"/>
              </a:rPr>
              <a:t> Pay attention to corporate social responsibilities and </a:t>
            </a:r>
            <a:r>
              <a:rPr lang="en-US" altLang="ko-KR" b="0" kern="0" dirty="0">
                <a:solidFill>
                  <a:srgbClr val="B1E2FB"/>
                </a:solidFill>
                <a:ea typeface="PMingLiU" pitchFamily="18" charset="-120"/>
              </a:rPr>
              <a:t>green issues</a:t>
            </a:r>
            <a:endParaRPr lang="en-US" altLang="ko-KR" b="0" kern="0" dirty="0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IMPLICATIONS FOR US INDIVIDUALS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628" y="1285860"/>
            <a:ext cx="835821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20000"/>
              <a:buFont typeface="Arial" pitchFamily="34" charset="0"/>
              <a:buChar char="•"/>
            </a:pPr>
            <a:r>
              <a:rPr lang="en-US" b="0" dirty="0"/>
              <a:t> Have a global perspective on issues</a:t>
            </a:r>
          </a:p>
          <a:p>
            <a:pPr>
              <a:lnSpc>
                <a:spcPct val="150000"/>
              </a:lnSpc>
              <a:buSzPct val="120000"/>
              <a:buFont typeface="Arial" pitchFamily="34" charset="0"/>
              <a:buChar char="•"/>
            </a:pPr>
            <a:r>
              <a:rPr lang="en-US" b="0" dirty="0"/>
              <a:t> Be a sound global citizen:</a:t>
            </a:r>
          </a:p>
          <a:p>
            <a:r>
              <a:rPr lang="en-US" b="0" dirty="0"/>
              <a:t>    - with a global ethical standard</a:t>
            </a:r>
          </a:p>
          <a:p>
            <a:r>
              <a:rPr lang="en-US" b="0" dirty="0"/>
              <a:t>    - with global language fluency</a:t>
            </a:r>
          </a:p>
          <a:p>
            <a:r>
              <a:rPr lang="en-US" b="0" dirty="0"/>
              <a:t>    - with open mind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0" dirty="0"/>
              <a:t> Make yourself more competitive in a global job market</a:t>
            </a:r>
          </a:p>
          <a:p>
            <a:r>
              <a:rPr lang="en-US" b="0" dirty="0"/>
              <a:t>    - Remember that ‘the winner takes it all’ in a globalized world.</a:t>
            </a:r>
          </a:p>
          <a:p>
            <a:r>
              <a:rPr lang="en-US" b="0" dirty="0"/>
              <a:t>    - Remember that your competitors are not geographically </a:t>
            </a:r>
          </a:p>
          <a:p>
            <a:r>
              <a:rPr lang="en-US" b="0" dirty="0"/>
              <a:t>       bounded.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0" dirty="0"/>
              <a:t> Value/respect domestic cultures as well as foreign cultures.</a:t>
            </a:r>
          </a:p>
          <a:p>
            <a:r>
              <a:rPr lang="en-US" b="0" dirty="0"/>
              <a:t> 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1357860"/>
            <a:ext cx="821537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Globalization is a positive sum game.  It increases the pie, but </a:t>
            </a:r>
          </a:p>
          <a:p>
            <a:r>
              <a:rPr lang="en-US" altLang="ko-KR" b="0" dirty="0">
                <a:ea typeface="굴림" pitchFamily="50" charset="-127"/>
              </a:rPr>
              <a:t>   the issue is who gets what. </a:t>
            </a:r>
          </a:p>
          <a:p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The government, companies, and individuals need to take</a:t>
            </a:r>
          </a:p>
          <a:p>
            <a:r>
              <a:rPr lang="en-US" altLang="ko-KR" b="0" dirty="0">
                <a:ea typeface="굴림" pitchFamily="50" charset="-127"/>
              </a:rPr>
              <a:t>   advantage of globalization and address the problems(e.g.,</a:t>
            </a:r>
          </a:p>
          <a:p>
            <a:r>
              <a:rPr lang="en-US" altLang="ko-KR" b="0" dirty="0">
                <a:ea typeface="굴림" pitchFamily="50" charset="-127"/>
              </a:rPr>
              <a:t>   unfairness, human rights, environment, etc) of globalization to</a:t>
            </a:r>
          </a:p>
          <a:p>
            <a:r>
              <a:rPr lang="en-US" altLang="ko-KR" b="0" dirty="0">
                <a:ea typeface="굴림" pitchFamily="50" charset="-127"/>
              </a:rPr>
              <a:t>   sustain it. </a:t>
            </a:r>
          </a:p>
          <a:p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Globalization provides both opportunities and threats to the</a:t>
            </a:r>
          </a:p>
          <a:p>
            <a:r>
              <a:rPr lang="en-US" altLang="ko-KR" b="0" dirty="0">
                <a:ea typeface="굴림" pitchFamily="50" charset="-127"/>
              </a:rPr>
              <a:t>   government, companies, and individuals.</a:t>
            </a:r>
          </a:p>
          <a:p>
            <a:endParaRPr lang="en-US" altLang="ko-KR" b="0" dirty="0">
              <a:ea typeface="굴림" pitchFamily="50" charset="-127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If globalization is something we cannot avoid, we’d better enjoy </a:t>
            </a:r>
          </a:p>
          <a:p>
            <a:r>
              <a:rPr lang="en-US" altLang="ko-KR" b="0" dirty="0">
                <a:ea typeface="굴림" pitchFamily="50" charset="-127"/>
              </a:rPr>
              <a:t>   it.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CONCLUSIONS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1">
  <a:themeElements>
    <a:clrScheme name="1_1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1_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1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1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1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">
  <a:themeElements>
    <a:clrScheme name="1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6294</TotalTime>
  <Words>1944</Words>
  <Application>Microsoft Office PowerPoint</Application>
  <PresentationFormat>화면 슬라이드 쇼(4:3)</PresentationFormat>
  <Paragraphs>411</Paragraphs>
  <Slides>40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57" baseType="lpstr">
      <vt:lpstr>HY견고딕</vt:lpstr>
      <vt:lpstr>HY헤드라인M</vt:lpstr>
      <vt:lpstr>新細明體</vt:lpstr>
      <vt:lpstr>新細明體</vt:lpstr>
      <vt:lpstr>SimSun</vt:lpstr>
      <vt:lpstr>굴림</vt:lpstr>
      <vt:lpstr>Arial</vt:lpstr>
      <vt:lpstr>Calibri</vt:lpstr>
      <vt:lpstr>Franklin Gothic Heavy</vt:lpstr>
      <vt:lpstr>Impact</vt:lpstr>
      <vt:lpstr>Times New Roman</vt:lpstr>
      <vt:lpstr>Verdana</vt:lpstr>
      <vt:lpstr>Wingdings</vt:lpstr>
      <vt:lpstr>1_1</vt:lpstr>
      <vt:lpstr>1</vt:lpstr>
      <vt:lpstr>Image</vt:lpstr>
      <vt:lpstr>Clip</vt:lpstr>
      <vt:lpstr>UNDERSTANDING GLOBAL BUSINESS ENVIRONMENT</vt:lpstr>
      <vt:lpstr>PowerPoint 프레젠테이션</vt:lpstr>
      <vt:lpstr>PowerPoint 프레젠테이션</vt:lpstr>
      <vt:lpstr>ENVIRONMENT – ORGANIZATION RELATIONSHIPS</vt:lpstr>
      <vt:lpstr>ENVIRONMENT – ORGANIZATION RELATIONSHIPS (continued)</vt:lpstr>
      <vt:lpstr>MODERN MANAGEMENT FRAMEWORK</vt:lpstr>
      <vt:lpstr>COMPONENTS OF GLOBAL BUSINESS ENVIRONMENT</vt:lpstr>
      <vt:lpstr>PowerPoint 프레젠테이션</vt:lpstr>
      <vt:lpstr>DEFINITION</vt:lpstr>
      <vt:lpstr>SOURCES</vt:lpstr>
      <vt:lpstr>PowerPoint 프레젠테이션</vt:lpstr>
      <vt:lpstr>PowerPoint 프레젠테이션</vt:lpstr>
      <vt:lpstr>PowerPoint 프레젠테이션</vt:lpstr>
      <vt:lpstr>PowerPoint 프레젠테이션</vt:lpstr>
      <vt:lpstr>GROWTH OF WORLD MERCHANDISE TRADE RELATIVE TO WORLD GDP</vt:lpstr>
      <vt:lpstr>REDUCTION OF TRADE BARRIERS Average Tariff Rates On Manufactured Products</vt:lpstr>
      <vt:lpstr>FDI OUTWORD STOCK  AS A PERCENTAGE OF GDP</vt:lpstr>
      <vt:lpstr>COSTS OF INFORMATION TECHNOLOGY</vt:lpstr>
      <vt:lpstr>GLOBALIZATION 1970</vt:lpstr>
      <vt:lpstr>GLOBALIZATION 1980</vt:lpstr>
      <vt:lpstr>GLOBALIZATION 1990</vt:lpstr>
      <vt:lpstr>GLOBALIZATION 2004</vt:lpstr>
      <vt:lpstr>GLOBALIZATION 2030-40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PROS</vt:lpstr>
      <vt:lpstr>CONS</vt:lpstr>
      <vt:lpstr>CONTRIBUTIONS</vt:lpstr>
      <vt:lpstr>PROBLEMS</vt:lpstr>
      <vt:lpstr>BALANCING PROS AND CONS  FOR SUSTAINABILITY</vt:lpstr>
      <vt:lpstr>PowerPoint 프레젠테이션</vt:lpstr>
      <vt:lpstr>GENERAL IMPLICATIONS</vt:lpstr>
      <vt:lpstr>IMPLICATIONS FOR OUR GOVERNMENT</vt:lpstr>
      <vt:lpstr>Rankings of Corruption by Country in 2019</vt:lpstr>
      <vt:lpstr>IMPLICATIONS FOR OUR BUSINESSES</vt:lpstr>
      <vt:lpstr>IMPLICATIONS FOR US INDIVIDUALS</vt:lpstr>
      <vt:lpstr>CONCLUSIONS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CityU</dc:creator>
  <cp:lastModifiedBy>석주 이</cp:lastModifiedBy>
  <cp:revision>946</cp:revision>
  <dcterms:created xsi:type="dcterms:W3CDTF">2000-12-20T03:57:58Z</dcterms:created>
  <dcterms:modified xsi:type="dcterms:W3CDTF">2025-09-09T11:25:49Z</dcterms:modified>
</cp:coreProperties>
</file>