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slideLayouts/slideLayout1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slideLayouts/slideLayout15.xml" ContentType="application/vnd.openxmlformats-officedocument.presentationml.slideLayout+xml"/>
  <Override PartName="/ppt/theme/theme5.xml" ContentType="application/vnd.openxmlformats-officedocument.theme+xml"/>
  <Override PartName="/ppt/slideLayouts/slideLayout16.xml" ContentType="application/vnd.openxmlformats-officedocument.presentationml.slideLayout+xml"/>
  <Override PartName="/ppt/theme/theme6.xml" ContentType="application/vnd.openxmlformats-officedocument.theme+xml"/>
  <Override PartName="/ppt/slideLayouts/slideLayout17.xml" ContentType="application/vnd.openxmlformats-officedocument.presentationml.slideLayout+xml"/>
  <Override PartName="/ppt/theme/theme7.xml" ContentType="application/vnd.openxmlformats-officedocument.theme+xml"/>
  <Override PartName="/ppt/slideLayouts/slideLayout18.xml" ContentType="application/vnd.openxmlformats-officedocument.presentationml.slideLayout+xml"/>
  <Override PartName="/ppt/theme/theme8.xml" ContentType="application/vnd.openxmlformats-officedocument.theme+xml"/>
  <Override PartName="/ppt/slideLayouts/slideLayout19.xml" ContentType="application/vnd.openxmlformats-officedocument.presentationml.slideLayout+xml"/>
  <Override PartName="/ppt/theme/theme9.xml" ContentType="application/vnd.openxmlformats-officedocument.theme+xml"/>
  <Override PartName="/ppt/slideLayouts/slideLayout20.xml" ContentType="application/vnd.openxmlformats-officedocument.presentationml.slideLayout+xml"/>
  <Override PartName="/ppt/theme/theme10.xml" ContentType="application/vnd.openxmlformats-officedocument.theme+xml"/>
  <Override PartName="/ppt/slideLayouts/slideLayout21.xml" ContentType="application/vnd.openxmlformats-officedocument.presentationml.slideLayout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89" r:id="rId1"/>
    <p:sldMasterId id="2147483660" r:id="rId2"/>
    <p:sldMasterId id="2147483672" r:id="rId3"/>
    <p:sldMasterId id="2147483674" r:id="rId4"/>
    <p:sldMasterId id="2147483676" r:id="rId5"/>
    <p:sldMasterId id="2147483678" r:id="rId6"/>
    <p:sldMasterId id="2147483680" r:id="rId7"/>
    <p:sldMasterId id="2147483682" r:id="rId8"/>
    <p:sldMasterId id="2147483684" r:id="rId9"/>
    <p:sldMasterId id="2147483701" r:id="rId10"/>
    <p:sldMasterId id="2147483686" r:id="rId11"/>
  </p:sldMasterIdLst>
  <p:notesMasterIdLst>
    <p:notesMasterId r:id="rId52"/>
  </p:notesMasterIdLst>
  <p:handoutMasterIdLst>
    <p:handoutMasterId r:id="rId53"/>
  </p:handoutMasterIdLst>
  <p:sldIdLst>
    <p:sldId id="297" r:id="rId12"/>
    <p:sldId id="260" r:id="rId13"/>
    <p:sldId id="258" r:id="rId14"/>
    <p:sldId id="259" r:id="rId15"/>
    <p:sldId id="261" r:id="rId16"/>
    <p:sldId id="262" r:id="rId17"/>
    <p:sldId id="263" r:id="rId18"/>
    <p:sldId id="264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303" r:id="rId27"/>
    <p:sldId id="279" r:id="rId28"/>
    <p:sldId id="280" r:id="rId29"/>
    <p:sldId id="281" r:id="rId30"/>
    <p:sldId id="295" r:id="rId31"/>
    <p:sldId id="302" r:id="rId32"/>
    <p:sldId id="282" r:id="rId33"/>
    <p:sldId id="283" r:id="rId34"/>
    <p:sldId id="284" r:id="rId35"/>
    <p:sldId id="304" r:id="rId36"/>
    <p:sldId id="288" r:id="rId37"/>
    <p:sldId id="290" r:id="rId38"/>
    <p:sldId id="291" r:id="rId39"/>
    <p:sldId id="301" r:id="rId40"/>
    <p:sldId id="292" r:id="rId41"/>
    <p:sldId id="294" r:id="rId42"/>
    <p:sldId id="265" r:id="rId43"/>
    <p:sldId id="305" r:id="rId44"/>
    <p:sldId id="266" r:id="rId45"/>
    <p:sldId id="267" r:id="rId46"/>
    <p:sldId id="268" r:id="rId47"/>
    <p:sldId id="269" r:id="rId48"/>
    <p:sldId id="298" r:id="rId49"/>
    <p:sldId id="300" r:id="rId50"/>
    <p:sldId id="299" r:id="rId51"/>
  </p:sldIdLst>
  <p:sldSz cx="9144000" cy="6858000" type="screen4x3"/>
  <p:notesSz cx="6788150" cy="992346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83" userDrawn="1">
          <p15:clr>
            <a:srgbClr val="A4A3A4"/>
          </p15:clr>
        </p15:guide>
        <p15:guide id="2" pos="2925" userDrawn="1">
          <p15:clr>
            <a:srgbClr val="A4A3A4"/>
          </p15:clr>
        </p15:guide>
      </p15:sldGuideLst>
    </p:ext>
    <p:ext uri="{2D200454-40CA-4A62-9FC3-DE9A4176ACB9}">
      <p15:notesGuideLst xmlns="" xmlns:p15="http://schemas.microsoft.com/office/powerpoint/2012/main">
        <p15:guide id="1" orient="horz" pos="3126" userDrawn="1">
          <p15:clr>
            <a:srgbClr val="A4A3A4"/>
          </p15:clr>
        </p15:guide>
        <p15:guide id="2" pos="2138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D61C8"/>
    <a:srgbClr val="257679"/>
    <a:srgbClr val="A0B4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96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8D230F3-CF80-4859-8CE7-A43EE81993B5}" styleName="밝은 스타일 1 - 강조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E8B1032C-EA38-4F05-BA0D-38AFFFC7BED3}" styleName="밝은 스타일 3 - 강조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9C7853C-536D-4A76-A0AE-DD22124D55A5}" styleName="테마 스타일 1 - 강조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C083E6E3-FA7D-4D7B-A595-EF9225AFEA82}" styleName="밝은 스타일 1 - 강조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113A9D2-9D6B-4929-AA2D-F23B5EE8CBE7}" styleName="테마 스타일 2 - 강조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B301B821-A1FF-4177-AEE7-76D212191A09}" styleName="보통 스타일 1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9" autoAdjust="0"/>
    <p:restoredTop sz="95658" autoAdjust="0"/>
  </p:normalViewPr>
  <p:slideViewPr>
    <p:cSldViewPr snapToGrid="0">
      <p:cViewPr varScale="1">
        <p:scale>
          <a:sx n="116" d="100"/>
          <a:sy n="116" d="100"/>
        </p:scale>
        <p:origin x="-1494" y="-102"/>
      </p:cViewPr>
      <p:guideLst>
        <p:guide orient="horz" pos="2183"/>
        <p:guide pos="2925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46" d="100"/>
          <a:sy n="46" d="100"/>
        </p:scale>
        <p:origin x="1956" y="60"/>
      </p:cViewPr>
      <p:guideLst>
        <p:guide orient="horz" pos="3126"/>
        <p:guide pos="213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2.xml"/><Relationship Id="rId18" Type="http://schemas.openxmlformats.org/officeDocument/2006/relationships/slide" Target="slides/slide7.xml"/><Relationship Id="rId26" Type="http://schemas.openxmlformats.org/officeDocument/2006/relationships/slide" Target="slides/slide15.xml"/><Relationship Id="rId39" Type="http://schemas.openxmlformats.org/officeDocument/2006/relationships/slide" Target="slides/slide28.xml"/><Relationship Id="rId21" Type="http://schemas.openxmlformats.org/officeDocument/2006/relationships/slide" Target="slides/slide10.xml"/><Relationship Id="rId34" Type="http://schemas.openxmlformats.org/officeDocument/2006/relationships/slide" Target="slides/slide23.xml"/><Relationship Id="rId42" Type="http://schemas.openxmlformats.org/officeDocument/2006/relationships/slide" Target="slides/slide31.xml"/><Relationship Id="rId47" Type="http://schemas.openxmlformats.org/officeDocument/2006/relationships/slide" Target="slides/slide36.xml"/><Relationship Id="rId50" Type="http://schemas.openxmlformats.org/officeDocument/2006/relationships/slide" Target="slides/slide39.xml"/><Relationship Id="rId55" Type="http://schemas.openxmlformats.org/officeDocument/2006/relationships/viewProps" Target="viewProps.xml"/><Relationship Id="rId7" Type="http://schemas.openxmlformats.org/officeDocument/2006/relationships/slideMaster" Target="slideMasters/slideMaster7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5.xml"/><Relationship Id="rId29" Type="http://schemas.openxmlformats.org/officeDocument/2006/relationships/slide" Target="slides/slide18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13.xml"/><Relationship Id="rId32" Type="http://schemas.openxmlformats.org/officeDocument/2006/relationships/slide" Target="slides/slide21.xml"/><Relationship Id="rId37" Type="http://schemas.openxmlformats.org/officeDocument/2006/relationships/slide" Target="slides/slide26.xml"/><Relationship Id="rId40" Type="http://schemas.openxmlformats.org/officeDocument/2006/relationships/slide" Target="slides/slide29.xml"/><Relationship Id="rId45" Type="http://schemas.openxmlformats.org/officeDocument/2006/relationships/slide" Target="slides/slide34.xml"/><Relationship Id="rId53" Type="http://schemas.openxmlformats.org/officeDocument/2006/relationships/handoutMaster" Target="handoutMasters/handoutMaster1.xml"/><Relationship Id="rId5" Type="http://schemas.openxmlformats.org/officeDocument/2006/relationships/slideMaster" Target="slideMasters/slideMaster5.xml"/><Relationship Id="rId19" Type="http://schemas.openxmlformats.org/officeDocument/2006/relationships/slide" Target="slides/slide8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3.xml"/><Relationship Id="rId22" Type="http://schemas.openxmlformats.org/officeDocument/2006/relationships/slide" Target="slides/slide11.xml"/><Relationship Id="rId27" Type="http://schemas.openxmlformats.org/officeDocument/2006/relationships/slide" Target="slides/slide16.xml"/><Relationship Id="rId30" Type="http://schemas.openxmlformats.org/officeDocument/2006/relationships/slide" Target="slides/slide19.xml"/><Relationship Id="rId35" Type="http://schemas.openxmlformats.org/officeDocument/2006/relationships/slide" Target="slides/slide24.xml"/><Relationship Id="rId43" Type="http://schemas.openxmlformats.org/officeDocument/2006/relationships/slide" Target="slides/slide32.xml"/><Relationship Id="rId48" Type="http://schemas.openxmlformats.org/officeDocument/2006/relationships/slide" Target="slides/slide37.xml"/><Relationship Id="rId56" Type="http://schemas.openxmlformats.org/officeDocument/2006/relationships/theme" Target="theme/theme1.xml"/><Relationship Id="rId8" Type="http://schemas.openxmlformats.org/officeDocument/2006/relationships/slideMaster" Target="slideMasters/slideMaster8.xml"/><Relationship Id="rId51" Type="http://schemas.openxmlformats.org/officeDocument/2006/relationships/slide" Target="slides/slide40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1.xml"/><Relationship Id="rId17" Type="http://schemas.openxmlformats.org/officeDocument/2006/relationships/slide" Target="slides/slide6.xml"/><Relationship Id="rId25" Type="http://schemas.openxmlformats.org/officeDocument/2006/relationships/slide" Target="slides/slide14.xml"/><Relationship Id="rId33" Type="http://schemas.openxmlformats.org/officeDocument/2006/relationships/slide" Target="slides/slide22.xml"/><Relationship Id="rId38" Type="http://schemas.openxmlformats.org/officeDocument/2006/relationships/slide" Target="slides/slide27.xml"/><Relationship Id="rId46" Type="http://schemas.openxmlformats.org/officeDocument/2006/relationships/slide" Target="slides/slide35.xml"/><Relationship Id="rId20" Type="http://schemas.openxmlformats.org/officeDocument/2006/relationships/slide" Target="slides/slide9.xml"/><Relationship Id="rId41" Type="http://schemas.openxmlformats.org/officeDocument/2006/relationships/slide" Target="slides/slide3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4.xml"/><Relationship Id="rId23" Type="http://schemas.openxmlformats.org/officeDocument/2006/relationships/slide" Target="slides/slide12.xml"/><Relationship Id="rId28" Type="http://schemas.openxmlformats.org/officeDocument/2006/relationships/slide" Target="slides/slide17.xml"/><Relationship Id="rId36" Type="http://schemas.openxmlformats.org/officeDocument/2006/relationships/slide" Target="slides/slide25.xml"/><Relationship Id="rId49" Type="http://schemas.openxmlformats.org/officeDocument/2006/relationships/slide" Target="slides/slide38.xml"/><Relationship Id="rId57" Type="http://schemas.openxmlformats.org/officeDocument/2006/relationships/tableStyles" Target="tableStyles.xml"/><Relationship Id="rId10" Type="http://schemas.openxmlformats.org/officeDocument/2006/relationships/slideMaster" Target="slideMasters/slideMaster10.xml"/><Relationship Id="rId31" Type="http://schemas.openxmlformats.org/officeDocument/2006/relationships/slide" Target="slides/slide20.xml"/><Relationship Id="rId44" Type="http://schemas.openxmlformats.org/officeDocument/2006/relationships/slide" Target="slides/slide33.xml"/><Relationship Id="rId52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1532" cy="49789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45047" y="0"/>
            <a:ext cx="2941532" cy="49789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3D4E82-9012-4813-A800-96A0B7AF5900}" type="datetimeFigureOut">
              <a:rPr lang="ko-KR" altLang="en-US" smtClean="0"/>
              <a:pPr/>
              <a:t>2024-07-25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25568"/>
            <a:ext cx="2941532" cy="49789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45047" y="9425568"/>
            <a:ext cx="2941532" cy="49789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443CE8-4923-4E1A-85CA-D89EAFE5109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54659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1532" cy="49789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5047" y="0"/>
            <a:ext cx="2941532" cy="49789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5C95B5-18C1-42EE-BB0C-37AB4DC6D577}" type="datetimeFigureOut">
              <a:rPr lang="ko-KR" altLang="en-US" smtClean="0"/>
              <a:pPr/>
              <a:t>2024-07-25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62050" y="1239838"/>
            <a:ext cx="446405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8815" y="4775666"/>
            <a:ext cx="5430520" cy="390736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5568"/>
            <a:ext cx="2941532" cy="49789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5047" y="9425568"/>
            <a:ext cx="2941532" cy="49789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4AB4DE-ADC0-48AC-BA49-A9E5E6D44F6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10114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4AB4DE-ADC0-48AC-BA49-A9E5E6D44F64}" type="slidenum">
              <a:rPr lang="ko-KR" altLang="en-US" smtClean="0"/>
              <a:pPr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4508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4AB4DE-ADC0-48AC-BA49-A9E5E6D44F64}" type="slidenum">
              <a:rPr lang="ko-KR" altLang="en-US" smtClean="0"/>
              <a:pPr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3972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4AB4DE-ADC0-48AC-BA49-A9E5E6D44F64}" type="slidenum">
              <a:rPr lang="ko-KR" altLang="en-US" smtClean="0"/>
              <a:pPr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33230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4AB4DE-ADC0-48AC-BA49-A9E5E6D44F64}" type="slidenum">
              <a:rPr lang="ko-KR" altLang="en-US" smtClean="0"/>
              <a:pPr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83296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4AB4DE-ADC0-48AC-BA49-A9E5E6D44F64}" type="slidenum">
              <a:rPr lang="ko-KR" altLang="en-US" smtClean="0"/>
              <a:pPr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33008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4AB4DE-ADC0-48AC-BA49-A9E5E6D44F64}" type="slidenum">
              <a:rPr lang="ko-KR" altLang="en-US" smtClean="0"/>
              <a:pPr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78268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4AB4DE-ADC0-48AC-BA49-A9E5E6D44F64}" type="slidenum">
              <a:rPr lang="ko-KR" altLang="en-US" smtClean="0"/>
              <a:pPr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16285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4AB4DE-ADC0-48AC-BA49-A9E5E6D44F64}" type="slidenum">
              <a:rPr lang="ko-KR" altLang="en-US" smtClean="0"/>
              <a:pPr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15999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4AB4DE-ADC0-48AC-BA49-A9E5E6D44F64}" type="slidenum">
              <a:rPr lang="ko-KR" altLang="en-US" smtClean="0"/>
              <a:pPr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05000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4AB4DE-ADC0-48AC-BA49-A9E5E6D44F64}" type="slidenum">
              <a:rPr lang="ko-KR" altLang="en-US" smtClean="0"/>
              <a:pPr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39385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4AB4DE-ADC0-48AC-BA49-A9E5E6D44F64}" type="slidenum">
              <a:rPr lang="ko-KR" altLang="en-US" smtClean="0"/>
              <a:pPr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47665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304F521E-760F-494A-ABC5-CCB6E4EC2FB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49250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304F521E-760F-494A-ABC5-CCB6E4EC2FB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39596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304F521E-760F-494A-ABC5-CCB6E4EC2FB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3981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304F521E-760F-494A-ABC5-CCB6E4EC2FB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86352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304F521E-760F-494A-ABC5-CCB6E4EC2FB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65383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304F521E-760F-494A-ABC5-CCB6E4EC2FB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25876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304F521E-760F-494A-ABC5-CCB6E4EC2FB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50654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304F521E-760F-494A-ABC5-CCB6E4EC2FB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85560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304F521E-760F-494A-ABC5-CCB6E4EC2FB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5427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304F521E-760F-494A-ABC5-CCB6E4EC2FB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75104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304F521E-760F-494A-ABC5-CCB6E4EC2FB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00419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801100" y="6630833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0EEB826C-2140-4E69-8666-7BFCAA9ECB1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863909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5BB52F-B602-4BB5-98B1-6E5705B7728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22706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630833"/>
            <a:ext cx="30861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801100" y="6630833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0EEB826C-2140-4E69-8666-7BFCAA9ECB1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986718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630833"/>
            <a:ext cx="30861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801100" y="6630833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0EEB826C-2140-4E69-8666-7BFCAA9ECB1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564806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630833"/>
            <a:ext cx="30861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801100" y="6630833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0EEB826C-2140-4E69-8666-7BFCAA9ECB1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112293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630833"/>
            <a:ext cx="30861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801100" y="6630833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0EEB826C-2140-4E69-8666-7BFCAA9ECB1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645784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630833"/>
            <a:ext cx="30861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801100" y="6630833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0EEB826C-2140-4E69-8666-7BFCAA9ECB1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2225346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630833"/>
            <a:ext cx="30861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801100" y="6630833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0EEB826C-2140-4E69-8666-7BFCAA9ECB1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2122815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630833"/>
            <a:ext cx="30861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801100" y="6630833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0EEB826C-2140-4E69-8666-7BFCAA9ECB1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4051317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801100" y="6630833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0EEB826C-2140-4E69-8666-7BFCAA9ECB1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623628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4.xml"/></Relationships>
</file>

<file path=ppt/slideMasters/_rels/slideMaster4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5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16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17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18.xml"/></Relationships>
</file>

<file path=ppt/slideMasters/_rels/slideMaster9.xml.rels><?xml version="1.0" encoding="UTF-8" standalone="yes"?>
<Relationships xmlns="http://schemas.openxmlformats.org/package/2006/relationships"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19.xml"/></Relationships>
</file>

<file path=ppt/slideMasters/_rels/slideMaster10.xml.rels><?xml version="1.0" encoding="UTF-8" standalone="yes"?>
<Relationships xmlns="http://schemas.openxmlformats.org/package/2006/relationships"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20.xml"/></Relationships>
</file>

<file path=ppt/slideMasters/_rels/slideMaster1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64777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직사각형 226"/>
          <p:cNvSpPr/>
          <p:nvPr userDrawn="1"/>
        </p:nvSpPr>
        <p:spPr>
          <a:xfrm>
            <a:off x="0" y="0"/>
            <a:ext cx="9144001" cy="91532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9" name="직사각형 218"/>
          <p:cNvSpPr/>
          <p:nvPr userDrawn="1"/>
        </p:nvSpPr>
        <p:spPr>
          <a:xfrm>
            <a:off x="6672650" y="0"/>
            <a:ext cx="2471352" cy="2093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50" b="1" dirty="0">
                <a:solidFill>
                  <a:schemeClr val="tx1"/>
                </a:solidFill>
              </a:rPr>
              <a:t>5.</a:t>
            </a:r>
            <a:r>
              <a:rPr lang="en-US" altLang="ko-KR" sz="1350" b="1" baseline="0" dirty="0">
                <a:solidFill>
                  <a:schemeClr val="tx1"/>
                </a:solidFill>
              </a:rPr>
              <a:t> </a:t>
            </a:r>
            <a:r>
              <a:rPr lang="ko-KR" altLang="en-US" sz="1350" b="1" baseline="0" dirty="0">
                <a:solidFill>
                  <a:schemeClr val="tx1"/>
                </a:solidFill>
              </a:rPr>
              <a:t>현금</a:t>
            </a:r>
            <a:r>
              <a:rPr lang="en-US" altLang="ko-KR" sz="1350" b="1" baseline="0" dirty="0">
                <a:solidFill>
                  <a:schemeClr val="tx1"/>
                </a:solidFill>
              </a:rPr>
              <a:t>·</a:t>
            </a:r>
            <a:r>
              <a:rPr lang="ko-KR" altLang="en-US" sz="1350" b="1" baseline="0" dirty="0" err="1">
                <a:solidFill>
                  <a:schemeClr val="tx1"/>
                </a:solidFill>
              </a:rPr>
              <a:t>수취채권과</a:t>
            </a:r>
            <a:r>
              <a:rPr lang="ko-KR" altLang="en-US" sz="1350" b="1" baseline="0" dirty="0">
                <a:solidFill>
                  <a:schemeClr val="tx1"/>
                </a:solidFill>
              </a:rPr>
              <a:t> </a:t>
            </a:r>
            <a:r>
              <a:rPr lang="ko-KR" altLang="en-US" sz="1350" b="1" baseline="0" dirty="0" err="1">
                <a:solidFill>
                  <a:schemeClr val="tx1"/>
                </a:solidFill>
              </a:rPr>
              <a:t>지급채무</a:t>
            </a:r>
            <a:endParaRPr lang="ko-KR" altLang="en-US" sz="1350" b="1" dirty="0">
              <a:solidFill>
                <a:schemeClr val="tx1"/>
              </a:solidFill>
            </a:endParaRPr>
          </a:p>
        </p:txBody>
      </p:sp>
      <p:grpSp>
        <p:nvGrpSpPr>
          <p:cNvPr id="229" name="그룹 228"/>
          <p:cNvGrpSpPr/>
          <p:nvPr userDrawn="1"/>
        </p:nvGrpSpPr>
        <p:grpSpPr>
          <a:xfrm>
            <a:off x="4339063" y="400692"/>
            <a:ext cx="3063185" cy="369332"/>
            <a:chOff x="2107219" y="601866"/>
            <a:chExt cx="3063185" cy="369332"/>
          </a:xfrm>
        </p:grpSpPr>
        <p:sp>
          <p:nvSpPr>
            <p:cNvPr id="224" name="TextBox 223"/>
            <p:cNvSpPr txBox="1"/>
            <p:nvPr userDrawn="1"/>
          </p:nvSpPr>
          <p:spPr>
            <a:xfrm>
              <a:off x="2343317" y="601866"/>
              <a:ext cx="282708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b="1" dirty="0" err="1"/>
                <a:t>현금및현금성자산의</a:t>
              </a:r>
              <a:r>
                <a:rPr lang="ko-KR" altLang="en-US" b="1" dirty="0"/>
                <a:t> 구성</a:t>
              </a:r>
            </a:p>
          </p:txBody>
        </p:sp>
        <p:sp>
          <p:nvSpPr>
            <p:cNvPr id="226" name="눈물 방울 225"/>
            <p:cNvSpPr/>
            <p:nvPr userDrawn="1"/>
          </p:nvSpPr>
          <p:spPr>
            <a:xfrm>
              <a:off x="2107219" y="661472"/>
              <a:ext cx="272552" cy="272552"/>
            </a:xfrm>
            <a:prstGeom prst="teardrop">
              <a:avLst/>
            </a:prstGeom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350" b="1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ko-KR" altLang="en-US" sz="13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45" name="그룹 244"/>
          <p:cNvGrpSpPr/>
          <p:nvPr userDrawn="1"/>
        </p:nvGrpSpPr>
        <p:grpSpPr>
          <a:xfrm>
            <a:off x="91285" y="145881"/>
            <a:ext cx="4433534" cy="769441"/>
            <a:chOff x="80163" y="415932"/>
            <a:chExt cx="4433534" cy="769441"/>
          </a:xfrm>
        </p:grpSpPr>
        <p:sp>
          <p:nvSpPr>
            <p:cNvPr id="246" name="TextBox 245"/>
            <p:cNvSpPr txBox="1"/>
            <p:nvPr userDrawn="1"/>
          </p:nvSpPr>
          <p:spPr>
            <a:xfrm>
              <a:off x="80163" y="415932"/>
              <a:ext cx="832446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4400" b="1" dirty="0">
                  <a:latin typeface="Arial" panose="020B0604020202020204" pitchFamily="34" charset="0"/>
                  <a:cs typeface="Arial" panose="020B0604020202020204" pitchFamily="34" charset="0"/>
                </a:rPr>
                <a:t>01</a:t>
              </a:r>
              <a:endParaRPr lang="ko-KR" altLang="en-US" sz="3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7" name="직사각형 246"/>
            <p:cNvSpPr/>
            <p:nvPr userDrawn="1"/>
          </p:nvSpPr>
          <p:spPr>
            <a:xfrm rot="16200000">
              <a:off x="552635" y="783508"/>
              <a:ext cx="611833" cy="34289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/>
            </a:p>
          </p:txBody>
        </p:sp>
        <p:sp>
          <p:nvSpPr>
            <p:cNvPr id="248" name="TextBox 247"/>
            <p:cNvSpPr txBox="1"/>
            <p:nvPr userDrawn="1"/>
          </p:nvSpPr>
          <p:spPr>
            <a:xfrm>
              <a:off x="841614" y="531177"/>
              <a:ext cx="367208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3200" b="1" dirty="0" err="1"/>
                <a:t>현금및현금성자산</a:t>
              </a:r>
              <a:endParaRPr lang="ko-KR" altLang="en-US" sz="28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15097459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88" r:id="rId2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직사각형 224"/>
          <p:cNvSpPr/>
          <p:nvPr userDrawn="1"/>
        </p:nvSpPr>
        <p:spPr>
          <a:xfrm>
            <a:off x="0" y="0"/>
            <a:ext cx="9144001" cy="91532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9" name="직사각형 218"/>
          <p:cNvSpPr/>
          <p:nvPr userDrawn="1"/>
        </p:nvSpPr>
        <p:spPr>
          <a:xfrm>
            <a:off x="6672650" y="0"/>
            <a:ext cx="2471352" cy="2093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50" b="1" dirty="0">
                <a:solidFill>
                  <a:schemeClr val="tx1"/>
                </a:solidFill>
              </a:rPr>
              <a:t>5.</a:t>
            </a:r>
            <a:r>
              <a:rPr lang="en-US" altLang="ko-KR" sz="1350" b="1" baseline="0" dirty="0">
                <a:solidFill>
                  <a:schemeClr val="tx1"/>
                </a:solidFill>
              </a:rPr>
              <a:t> </a:t>
            </a:r>
            <a:r>
              <a:rPr lang="ko-KR" altLang="en-US" sz="1350" b="1" baseline="0" dirty="0">
                <a:solidFill>
                  <a:schemeClr val="tx1"/>
                </a:solidFill>
              </a:rPr>
              <a:t>현금</a:t>
            </a:r>
            <a:r>
              <a:rPr lang="en-US" altLang="ko-KR" sz="1350" b="1" baseline="0" dirty="0">
                <a:solidFill>
                  <a:schemeClr val="tx1"/>
                </a:solidFill>
              </a:rPr>
              <a:t>·</a:t>
            </a:r>
            <a:r>
              <a:rPr lang="ko-KR" altLang="en-US" sz="1350" b="1" baseline="0" dirty="0" err="1">
                <a:solidFill>
                  <a:schemeClr val="tx1"/>
                </a:solidFill>
              </a:rPr>
              <a:t>수취채권과</a:t>
            </a:r>
            <a:r>
              <a:rPr lang="ko-KR" altLang="en-US" sz="1350" b="1" baseline="0" dirty="0">
                <a:solidFill>
                  <a:schemeClr val="tx1"/>
                </a:solidFill>
              </a:rPr>
              <a:t> </a:t>
            </a:r>
            <a:r>
              <a:rPr lang="ko-KR" altLang="en-US" sz="1350" b="1" baseline="0" dirty="0" err="1">
                <a:solidFill>
                  <a:schemeClr val="tx1"/>
                </a:solidFill>
              </a:rPr>
              <a:t>지급채무</a:t>
            </a:r>
            <a:endParaRPr lang="ko-KR" altLang="en-US" sz="1350" b="1" dirty="0">
              <a:solidFill>
                <a:schemeClr val="tx1"/>
              </a:solidFill>
            </a:endParaRPr>
          </a:p>
        </p:txBody>
      </p:sp>
      <p:grpSp>
        <p:nvGrpSpPr>
          <p:cNvPr id="245" name="그룹 244"/>
          <p:cNvGrpSpPr/>
          <p:nvPr userDrawn="1"/>
        </p:nvGrpSpPr>
        <p:grpSpPr>
          <a:xfrm>
            <a:off x="91285" y="145881"/>
            <a:ext cx="4433534" cy="769441"/>
            <a:chOff x="80163" y="415932"/>
            <a:chExt cx="4433534" cy="769441"/>
          </a:xfrm>
        </p:grpSpPr>
        <p:sp>
          <p:nvSpPr>
            <p:cNvPr id="246" name="TextBox 245"/>
            <p:cNvSpPr txBox="1"/>
            <p:nvPr userDrawn="1"/>
          </p:nvSpPr>
          <p:spPr>
            <a:xfrm>
              <a:off x="80163" y="415932"/>
              <a:ext cx="832446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4400" b="1" dirty="0">
                  <a:latin typeface="Arial" panose="020B0604020202020204" pitchFamily="34" charset="0"/>
                  <a:cs typeface="Arial" panose="020B0604020202020204" pitchFamily="34" charset="0"/>
                </a:rPr>
                <a:t>01</a:t>
              </a:r>
              <a:endParaRPr lang="ko-KR" altLang="en-US" sz="3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7" name="직사각형 246"/>
            <p:cNvSpPr/>
            <p:nvPr userDrawn="1"/>
          </p:nvSpPr>
          <p:spPr>
            <a:xfrm rot="16200000">
              <a:off x="552635" y="783508"/>
              <a:ext cx="611833" cy="34289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/>
            </a:p>
          </p:txBody>
        </p:sp>
        <p:sp>
          <p:nvSpPr>
            <p:cNvPr id="248" name="TextBox 247"/>
            <p:cNvSpPr txBox="1"/>
            <p:nvPr userDrawn="1"/>
          </p:nvSpPr>
          <p:spPr>
            <a:xfrm>
              <a:off x="841614" y="531177"/>
              <a:ext cx="367208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3200" b="1" dirty="0" err="1"/>
                <a:t>현금및현금성자산</a:t>
              </a:r>
              <a:endParaRPr lang="ko-KR" altLang="en-US" sz="2800" b="1" dirty="0"/>
            </a:p>
          </p:txBody>
        </p:sp>
      </p:grpSp>
      <p:grpSp>
        <p:nvGrpSpPr>
          <p:cNvPr id="249" name="그룹 248"/>
          <p:cNvGrpSpPr/>
          <p:nvPr userDrawn="1"/>
        </p:nvGrpSpPr>
        <p:grpSpPr>
          <a:xfrm>
            <a:off x="4339063" y="400692"/>
            <a:ext cx="3351891" cy="369332"/>
            <a:chOff x="2107219" y="601866"/>
            <a:chExt cx="3351891" cy="369332"/>
          </a:xfrm>
        </p:grpSpPr>
        <p:sp>
          <p:nvSpPr>
            <p:cNvPr id="250" name="TextBox 249"/>
            <p:cNvSpPr txBox="1"/>
            <p:nvPr userDrawn="1"/>
          </p:nvSpPr>
          <p:spPr>
            <a:xfrm>
              <a:off x="2343317" y="601866"/>
              <a:ext cx="311579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b="1" dirty="0"/>
                <a:t>소액현금제도와 현금과부족</a:t>
              </a:r>
            </a:p>
          </p:txBody>
        </p:sp>
        <p:sp>
          <p:nvSpPr>
            <p:cNvPr id="253" name="눈물 방울 252"/>
            <p:cNvSpPr/>
            <p:nvPr userDrawn="1"/>
          </p:nvSpPr>
          <p:spPr>
            <a:xfrm>
              <a:off x="2107219" y="661472"/>
              <a:ext cx="272552" cy="272552"/>
            </a:xfrm>
            <a:prstGeom prst="teardrop">
              <a:avLst/>
            </a:prstGeom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350" b="1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ko-KR" altLang="en-US" sz="13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225626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직사각형 224"/>
          <p:cNvSpPr/>
          <p:nvPr userDrawn="1"/>
        </p:nvSpPr>
        <p:spPr>
          <a:xfrm>
            <a:off x="0" y="0"/>
            <a:ext cx="9144001" cy="91532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9" name="직사각형 218"/>
          <p:cNvSpPr/>
          <p:nvPr userDrawn="1"/>
        </p:nvSpPr>
        <p:spPr>
          <a:xfrm>
            <a:off x="6672650" y="0"/>
            <a:ext cx="2471352" cy="2093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50" b="1" dirty="0">
                <a:solidFill>
                  <a:schemeClr val="tx1"/>
                </a:solidFill>
              </a:rPr>
              <a:t>5.</a:t>
            </a:r>
            <a:r>
              <a:rPr lang="en-US" altLang="ko-KR" sz="1350" b="1" baseline="0" dirty="0">
                <a:solidFill>
                  <a:schemeClr val="tx1"/>
                </a:solidFill>
              </a:rPr>
              <a:t> </a:t>
            </a:r>
            <a:r>
              <a:rPr lang="ko-KR" altLang="en-US" sz="1350" b="1" baseline="0" dirty="0">
                <a:solidFill>
                  <a:schemeClr val="tx1"/>
                </a:solidFill>
              </a:rPr>
              <a:t>현금</a:t>
            </a:r>
            <a:r>
              <a:rPr lang="en-US" altLang="ko-KR" sz="1350" b="1" baseline="0" dirty="0">
                <a:solidFill>
                  <a:schemeClr val="tx1"/>
                </a:solidFill>
              </a:rPr>
              <a:t>·</a:t>
            </a:r>
            <a:r>
              <a:rPr lang="ko-KR" altLang="en-US" sz="1350" b="1" baseline="0" dirty="0" err="1">
                <a:solidFill>
                  <a:schemeClr val="tx1"/>
                </a:solidFill>
              </a:rPr>
              <a:t>수취채권과</a:t>
            </a:r>
            <a:r>
              <a:rPr lang="ko-KR" altLang="en-US" sz="1350" b="1" baseline="0" dirty="0">
                <a:solidFill>
                  <a:schemeClr val="tx1"/>
                </a:solidFill>
              </a:rPr>
              <a:t> </a:t>
            </a:r>
            <a:r>
              <a:rPr lang="ko-KR" altLang="en-US" sz="1350" b="1" baseline="0" dirty="0" err="1">
                <a:solidFill>
                  <a:schemeClr val="tx1"/>
                </a:solidFill>
              </a:rPr>
              <a:t>지급채무</a:t>
            </a:r>
            <a:endParaRPr lang="ko-KR" altLang="en-US" sz="1350" b="1" dirty="0">
              <a:solidFill>
                <a:schemeClr val="tx1"/>
              </a:solidFill>
            </a:endParaRPr>
          </a:p>
        </p:txBody>
      </p:sp>
      <p:grpSp>
        <p:nvGrpSpPr>
          <p:cNvPr id="245" name="그룹 244"/>
          <p:cNvGrpSpPr/>
          <p:nvPr userDrawn="1"/>
        </p:nvGrpSpPr>
        <p:grpSpPr>
          <a:xfrm>
            <a:off x="91285" y="145881"/>
            <a:ext cx="4433534" cy="769441"/>
            <a:chOff x="80163" y="415932"/>
            <a:chExt cx="4433534" cy="769441"/>
          </a:xfrm>
        </p:grpSpPr>
        <p:sp>
          <p:nvSpPr>
            <p:cNvPr id="246" name="TextBox 245"/>
            <p:cNvSpPr txBox="1"/>
            <p:nvPr userDrawn="1"/>
          </p:nvSpPr>
          <p:spPr>
            <a:xfrm>
              <a:off x="80163" y="415932"/>
              <a:ext cx="832446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4400" b="1" dirty="0">
                  <a:latin typeface="Arial" panose="020B0604020202020204" pitchFamily="34" charset="0"/>
                  <a:cs typeface="Arial" panose="020B0604020202020204" pitchFamily="34" charset="0"/>
                </a:rPr>
                <a:t>01</a:t>
              </a:r>
              <a:endParaRPr lang="ko-KR" altLang="en-US" sz="3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7" name="직사각형 246"/>
            <p:cNvSpPr/>
            <p:nvPr userDrawn="1"/>
          </p:nvSpPr>
          <p:spPr>
            <a:xfrm rot="16200000">
              <a:off x="552635" y="783508"/>
              <a:ext cx="611833" cy="34289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/>
            </a:p>
          </p:txBody>
        </p:sp>
        <p:sp>
          <p:nvSpPr>
            <p:cNvPr id="248" name="TextBox 247"/>
            <p:cNvSpPr txBox="1"/>
            <p:nvPr userDrawn="1"/>
          </p:nvSpPr>
          <p:spPr>
            <a:xfrm>
              <a:off x="841614" y="531177"/>
              <a:ext cx="367208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3200" b="1" dirty="0" err="1"/>
                <a:t>현금및현금성자산</a:t>
              </a:r>
              <a:endParaRPr lang="ko-KR" altLang="en-US" sz="2800" b="1" dirty="0"/>
            </a:p>
          </p:txBody>
        </p:sp>
      </p:grpSp>
      <p:grpSp>
        <p:nvGrpSpPr>
          <p:cNvPr id="249" name="그룹 248"/>
          <p:cNvGrpSpPr/>
          <p:nvPr userDrawn="1"/>
        </p:nvGrpSpPr>
        <p:grpSpPr>
          <a:xfrm>
            <a:off x="4339063" y="400692"/>
            <a:ext cx="3351891" cy="369332"/>
            <a:chOff x="2107219" y="601866"/>
            <a:chExt cx="3351891" cy="369332"/>
          </a:xfrm>
        </p:grpSpPr>
        <p:sp>
          <p:nvSpPr>
            <p:cNvPr id="250" name="TextBox 249"/>
            <p:cNvSpPr txBox="1"/>
            <p:nvPr userDrawn="1"/>
          </p:nvSpPr>
          <p:spPr>
            <a:xfrm>
              <a:off x="2343317" y="601866"/>
              <a:ext cx="311579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b="1" dirty="0"/>
                <a:t>은행계정조정표</a:t>
              </a:r>
            </a:p>
          </p:txBody>
        </p:sp>
        <p:sp>
          <p:nvSpPr>
            <p:cNvPr id="253" name="눈물 방울 252"/>
            <p:cNvSpPr/>
            <p:nvPr userDrawn="1"/>
          </p:nvSpPr>
          <p:spPr>
            <a:xfrm>
              <a:off x="2107219" y="661472"/>
              <a:ext cx="272552" cy="272552"/>
            </a:xfrm>
            <a:prstGeom prst="teardrop">
              <a:avLst/>
            </a:prstGeom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350" b="1" dirty="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ko-KR" altLang="en-US" sz="13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6248678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직사각형 224"/>
          <p:cNvSpPr/>
          <p:nvPr userDrawn="1"/>
        </p:nvSpPr>
        <p:spPr>
          <a:xfrm>
            <a:off x="0" y="0"/>
            <a:ext cx="9144001" cy="91532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9" name="직사각형 218"/>
          <p:cNvSpPr/>
          <p:nvPr userDrawn="1"/>
        </p:nvSpPr>
        <p:spPr>
          <a:xfrm>
            <a:off x="6672650" y="0"/>
            <a:ext cx="2471352" cy="2093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50" b="1" dirty="0">
                <a:solidFill>
                  <a:schemeClr val="tx1"/>
                </a:solidFill>
              </a:rPr>
              <a:t>5.</a:t>
            </a:r>
            <a:r>
              <a:rPr lang="en-US" altLang="ko-KR" sz="1350" b="1" baseline="0" dirty="0">
                <a:solidFill>
                  <a:schemeClr val="tx1"/>
                </a:solidFill>
              </a:rPr>
              <a:t> </a:t>
            </a:r>
            <a:r>
              <a:rPr lang="ko-KR" altLang="en-US" sz="1350" b="1" baseline="0" dirty="0">
                <a:solidFill>
                  <a:schemeClr val="tx1"/>
                </a:solidFill>
              </a:rPr>
              <a:t>현금</a:t>
            </a:r>
            <a:r>
              <a:rPr lang="en-US" altLang="ko-KR" sz="1350" b="1" baseline="0" dirty="0">
                <a:solidFill>
                  <a:schemeClr val="tx1"/>
                </a:solidFill>
              </a:rPr>
              <a:t>·</a:t>
            </a:r>
            <a:r>
              <a:rPr lang="ko-KR" altLang="en-US" sz="1350" b="1" baseline="0" dirty="0" err="1">
                <a:solidFill>
                  <a:schemeClr val="tx1"/>
                </a:solidFill>
              </a:rPr>
              <a:t>수취채권과</a:t>
            </a:r>
            <a:r>
              <a:rPr lang="ko-KR" altLang="en-US" sz="1350" b="1" baseline="0" dirty="0">
                <a:solidFill>
                  <a:schemeClr val="tx1"/>
                </a:solidFill>
              </a:rPr>
              <a:t> </a:t>
            </a:r>
            <a:r>
              <a:rPr lang="ko-KR" altLang="en-US" sz="1350" b="1" baseline="0" dirty="0" err="1">
                <a:solidFill>
                  <a:schemeClr val="tx1"/>
                </a:solidFill>
              </a:rPr>
              <a:t>지급채무</a:t>
            </a:r>
            <a:endParaRPr lang="ko-KR" altLang="en-US" sz="1350" b="1" dirty="0">
              <a:solidFill>
                <a:schemeClr val="tx1"/>
              </a:solidFill>
            </a:endParaRPr>
          </a:p>
        </p:txBody>
      </p:sp>
      <p:grpSp>
        <p:nvGrpSpPr>
          <p:cNvPr id="245" name="그룹 244"/>
          <p:cNvGrpSpPr/>
          <p:nvPr userDrawn="1"/>
        </p:nvGrpSpPr>
        <p:grpSpPr>
          <a:xfrm>
            <a:off x="91285" y="145881"/>
            <a:ext cx="4433534" cy="769441"/>
            <a:chOff x="80163" y="415932"/>
            <a:chExt cx="4433534" cy="769441"/>
          </a:xfrm>
        </p:grpSpPr>
        <p:sp>
          <p:nvSpPr>
            <p:cNvPr id="246" name="TextBox 245"/>
            <p:cNvSpPr txBox="1"/>
            <p:nvPr userDrawn="1"/>
          </p:nvSpPr>
          <p:spPr>
            <a:xfrm>
              <a:off x="80163" y="415932"/>
              <a:ext cx="832446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4400" b="1" dirty="0">
                  <a:latin typeface="Arial" panose="020B0604020202020204" pitchFamily="34" charset="0"/>
                  <a:cs typeface="Arial" panose="020B0604020202020204" pitchFamily="34" charset="0"/>
                </a:rPr>
                <a:t>01</a:t>
              </a:r>
              <a:endParaRPr lang="ko-KR" altLang="en-US" sz="3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7" name="직사각형 246"/>
            <p:cNvSpPr/>
            <p:nvPr userDrawn="1"/>
          </p:nvSpPr>
          <p:spPr>
            <a:xfrm rot="16200000">
              <a:off x="552635" y="783508"/>
              <a:ext cx="611833" cy="34289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/>
            </a:p>
          </p:txBody>
        </p:sp>
        <p:sp>
          <p:nvSpPr>
            <p:cNvPr id="248" name="TextBox 247"/>
            <p:cNvSpPr txBox="1"/>
            <p:nvPr userDrawn="1"/>
          </p:nvSpPr>
          <p:spPr>
            <a:xfrm>
              <a:off x="841614" y="531177"/>
              <a:ext cx="367208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3200" b="1" dirty="0" err="1"/>
                <a:t>현금및현금성자산</a:t>
              </a:r>
              <a:endParaRPr lang="ko-KR" altLang="en-US" sz="2800" b="1" dirty="0"/>
            </a:p>
          </p:txBody>
        </p:sp>
      </p:grpSp>
      <p:grpSp>
        <p:nvGrpSpPr>
          <p:cNvPr id="249" name="그룹 248"/>
          <p:cNvGrpSpPr/>
          <p:nvPr userDrawn="1"/>
        </p:nvGrpSpPr>
        <p:grpSpPr>
          <a:xfrm>
            <a:off x="4339063" y="400692"/>
            <a:ext cx="3351891" cy="369332"/>
            <a:chOff x="2107219" y="601866"/>
            <a:chExt cx="3351891" cy="369332"/>
          </a:xfrm>
        </p:grpSpPr>
        <p:sp>
          <p:nvSpPr>
            <p:cNvPr id="250" name="TextBox 249"/>
            <p:cNvSpPr txBox="1"/>
            <p:nvPr userDrawn="1"/>
          </p:nvSpPr>
          <p:spPr>
            <a:xfrm>
              <a:off x="2343317" y="601866"/>
              <a:ext cx="311579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b="1" dirty="0"/>
                <a:t>내부통제제도</a:t>
              </a:r>
            </a:p>
          </p:txBody>
        </p:sp>
        <p:sp>
          <p:nvSpPr>
            <p:cNvPr id="253" name="눈물 방울 252"/>
            <p:cNvSpPr/>
            <p:nvPr userDrawn="1"/>
          </p:nvSpPr>
          <p:spPr>
            <a:xfrm>
              <a:off x="2107219" y="661472"/>
              <a:ext cx="272552" cy="272552"/>
            </a:xfrm>
            <a:prstGeom prst="teardrop">
              <a:avLst/>
            </a:prstGeom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350" b="1" dirty="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ko-KR" altLang="en-US" sz="13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460907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직사각형 224"/>
          <p:cNvSpPr/>
          <p:nvPr userDrawn="1"/>
        </p:nvSpPr>
        <p:spPr>
          <a:xfrm>
            <a:off x="0" y="0"/>
            <a:ext cx="9144001" cy="91532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9" name="직사각형 218"/>
          <p:cNvSpPr/>
          <p:nvPr userDrawn="1"/>
        </p:nvSpPr>
        <p:spPr>
          <a:xfrm>
            <a:off x="6672650" y="0"/>
            <a:ext cx="2471352" cy="2093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50" b="1" dirty="0">
                <a:solidFill>
                  <a:schemeClr val="tx1"/>
                </a:solidFill>
              </a:rPr>
              <a:t>5.</a:t>
            </a:r>
            <a:r>
              <a:rPr lang="en-US" altLang="ko-KR" sz="1350" b="1" baseline="0" dirty="0">
                <a:solidFill>
                  <a:schemeClr val="tx1"/>
                </a:solidFill>
              </a:rPr>
              <a:t> </a:t>
            </a:r>
            <a:r>
              <a:rPr lang="ko-KR" altLang="en-US" sz="1350" b="1" baseline="0" dirty="0">
                <a:solidFill>
                  <a:schemeClr val="tx1"/>
                </a:solidFill>
              </a:rPr>
              <a:t>현금</a:t>
            </a:r>
            <a:r>
              <a:rPr lang="en-US" altLang="ko-KR" sz="1350" b="1" baseline="0" dirty="0">
                <a:solidFill>
                  <a:schemeClr val="tx1"/>
                </a:solidFill>
              </a:rPr>
              <a:t>·</a:t>
            </a:r>
            <a:r>
              <a:rPr lang="ko-KR" altLang="en-US" sz="1350" b="1" baseline="0" dirty="0" err="1">
                <a:solidFill>
                  <a:schemeClr val="tx1"/>
                </a:solidFill>
              </a:rPr>
              <a:t>수취채권과</a:t>
            </a:r>
            <a:r>
              <a:rPr lang="ko-KR" altLang="en-US" sz="1350" b="1" baseline="0" dirty="0">
                <a:solidFill>
                  <a:schemeClr val="tx1"/>
                </a:solidFill>
              </a:rPr>
              <a:t> </a:t>
            </a:r>
            <a:r>
              <a:rPr lang="ko-KR" altLang="en-US" sz="1350" b="1" baseline="0" dirty="0" err="1">
                <a:solidFill>
                  <a:schemeClr val="tx1"/>
                </a:solidFill>
              </a:rPr>
              <a:t>지급채무</a:t>
            </a:r>
            <a:endParaRPr lang="ko-KR" altLang="en-US" sz="1350" b="1" dirty="0">
              <a:solidFill>
                <a:schemeClr val="tx1"/>
              </a:solidFill>
            </a:endParaRPr>
          </a:p>
        </p:txBody>
      </p:sp>
      <p:grpSp>
        <p:nvGrpSpPr>
          <p:cNvPr id="245" name="그룹 244"/>
          <p:cNvGrpSpPr/>
          <p:nvPr userDrawn="1"/>
        </p:nvGrpSpPr>
        <p:grpSpPr>
          <a:xfrm>
            <a:off x="91285" y="145881"/>
            <a:ext cx="4921390" cy="769441"/>
            <a:chOff x="80163" y="415932"/>
            <a:chExt cx="4921390" cy="769441"/>
          </a:xfrm>
        </p:grpSpPr>
        <p:sp>
          <p:nvSpPr>
            <p:cNvPr id="246" name="TextBox 245"/>
            <p:cNvSpPr txBox="1"/>
            <p:nvPr userDrawn="1"/>
          </p:nvSpPr>
          <p:spPr>
            <a:xfrm>
              <a:off x="80163" y="415932"/>
              <a:ext cx="832446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4400" b="1" dirty="0">
                  <a:latin typeface="Arial" panose="020B0604020202020204" pitchFamily="34" charset="0"/>
                  <a:cs typeface="Arial" panose="020B0604020202020204" pitchFamily="34" charset="0"/>
                </a:rPr>
                <a:t>02</a:t>
              </a:r>
              <a:endParaRPr lang="ko-KR" altLang="en-US" sz="3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7" name="직사각형 246"/>
            <p:cNvSpPr/>
            <p:nvPr userDrawn="1"/>
          </p:nvSpPr>
          <p:spPr>
            <a:xfrm rot="16200000">
              <a:off x="552635" y="783508"/>
              <a:ext cx="611833" cy="34289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/>
            </a:p>
          </p:txBody>
        </p:sp>
        <p:sp>
          <p:nvSpPr>
            <p:cNvPr id="248" name="TextBox 247"/>
            <p:cNvSpPr txBox="1"/>
            <p:nvPr userDrawn="1"/>
          </p:nvSpPr>
          <p:spPr>
            <a:xfrm>
              <a:off x="841614" y="565467"/>
              <a:ext cx="415993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3200" b="1" dirty="0"/>
                <a:t>매출채권과 매입채무</a:t>
              </a:r>
            </a:p>
          </p:txBody>
        </p:sp>
      </p:grpSp>
      <p:grpSp>
        <p:nvGrpSpPr>
          <p:cNvPr id="249" name="그룹 248"/>
          <p:cNvGrpSpPr/>
          <p:nvPr userDrawn="1"/>
        </p:nvGrpSpPr>
        <p:grpSpPr>
          <a:xfrm>
            <a:off x="4813895" y="400692"/>
            <a:ext cx="3351891" cy="369332"/>
            <a:chOff x="2107219" y="601866"/>
            <a:chExt cx="3351891" cy="369332"/>
          </a:xfrm>
        </p:grpSpPr>
        <p:sp>
          <p:nvSpPr>
            <p:cNvPr id="250" name="TextBox 249"/>
            <p:cNvSpPr txBox="1"/>
            <p:nvPr userDrawn="1"/>
          </p:nvSpPr>
          <p:spPr>
            <a:xfrm>
              <a:off x="2343317" y="601866"/>
              <a:ext cx="311579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b="1" dirty="0"/>
                <a:t>매출채권</a:t>
              </a:r>
            </a:p>
          </p:txBody>
        </p:sp>
        <p:sp>
          <p:nvSpPr>
            <p:cNvPr id="253" name="눈물 방울 252"/>
            <p:cNvSpPr/>
            <p:nvPr userDrawn="1"/>
          </p:nvSpPr>
          <p:spPr>
            <a:xfrm>
              <a:off x="2107219" y="661472"/>
              <a:ext cx="272552" cy="272552"/>
            </a:xfrm>
            <a:prstGeom prst="teardrop">
              <a:avLst/>
            </a:prstGeom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350" b="1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ko-KR" altLang="en-US" sz="13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07477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직사각형 224"/>
          <p:cNvSpPr/>
          <p:nvPr userDrawn="1"/>
        </p:nvSpPr>
        <p:spPr>
          <a:xfrm>
            <a:off x="0" y="0"/>
            <a:ext cx="9144001" cy="91532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9" name="직사각형 218"/>
          <p:cNvSpPr/>
          <p:nvPr userDrawn="1"/>
        </p:nvSpPr>
        <p:spPr>
          <a:xfrm>
            <a:off x="6672650" y="0"/>
            <a:ext cx="2471352" cy="2093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50" b="1" dirty="0">
                <a:solidFill>
                  <a:schemeClr val="tx1"/>
                </a:solidFill>
              </a:rPr>
              <a:t>5.</a:t>
            </a:r>
            <a:r>
              <a:rPr lang="en-US" altLang="ko-KR" sz="1350" b="1" baseline="0" dirty="0">
                <a:solidFill>
                  <a:schemeClr val="tx1"/>
                </a:solidFill>
              </a:rPr>
              <a:t> </a:t>
            </a:r>
            <a:r>
              <a:rPr lang="ko-KR" altLang="en-US" sz="1350" b="1" baseline="0" dirty="0">
                <a:solidFill>
                  <a:schemeClr val="tx1"/>
                </a:solidFill>
              </a:rPr>
              <a:t>현금</a:t>
            </a:r>
            <a:r>
              <a:rPr lang="en-US" altLang="ko-KR" sz="1350" b="1" baseline="0" dirty="0">
                <a:solidFill>
                  <a:schemeClr val="tx1"/>
                </a:solidFill>
              </a:rPr>
              <a:t>·</a:t>
            </a:r>
            <a:r>
              <a:rPr lang="ko-KR" altLang="en-US" sz="1350" b="1" baseline="0" dirty="0" err="1">
                <a:solidFill>
                  <a:schemeClr val="tx1"/>
                </a:solidFill>
              </a:rPr>
              <a:t>수취채권과</a:t>
            </a:r>
            <a:r>
              <a:rPr lang="ko-KR" altLang="en-US" sz="1350" b="1" baseline="0" dirty="0">
                <a:solidFill>
                  <a:schemeClr val="tx1"/>
                </a:solidFill>
              </a:rPr>
              <a:t> </a:t>
            </a:r>
            <a:r>
              <a:rPr lang="ko-KR" altLang="en-US" sz="1350" b="1" baseline="0" dirty="0" err="1">
                <a:solidFill>
                  <a:schemeClr val="tx1"/>
                </a:solidFill>
              </a:rPr>
              <a:t>지급채무</a:t>
            </a:r>
            <a:endParaRPr lang="ko-KR" altLang="en-US" sz="1350" b="1" dirty="0">
              <a:solidFill>
                <a:schemeClr val="tx1"/>
              </a:solidFill>
            </a:endParaRPr>
          </a:p>
        </p:txBody>
      </p:sp>
      <p:grpSp>
        <p:nvGrpSpPr>
          <p:cNvPr id="245" name="그룹 244"/>
          <p:cNvGrpSpPr/>
          <p:nvPr userDrawn="1"/>
        </p:nvGrpSpPr>
        <p:grpSpPr>
          <a:xfrm>
            <a:off x="91285" y="145881"/>
            <a:ext cx="4794224" cy="769441"/>
            <a:chOff x="80163" y="415932"/>
            <a:chExt cx="4794224" cy="769441"/>
          </a:xfrm>
        </p:grpSpPr>
        <p:sp>
          <p:nvSpPr>
            <p:cNvPr id="246" name="TextBox 245"/>
            <p:cNvSpPr txBox="1"/>
            <p:nvPr userDrawn="1"/>
          </p:nvSpPr>
          <p:spPr>
            <a:xfrm>
              <a:off x="80163" y="415932"/>
              <a:ext cx="832446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4400" b="1" dirty="0">
                  <a:latin typeface="Arial" panose="020B0604020202020204" pitchFamily="34" charset="0"/>
                  <a:cs typeface="Arial" panose="020B0604020202020204" pitchFamily="34" charset="0"/>
                </a:rPr>
                <a:t>02</a:t>
              </a:r>
              <a:endParaRPr lang="ko-KR" altLang="en-US" sz="3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7" name="직사각형 246"/>
            <p:cNvSpPr/>
            <p:nvPr userDrawn="1"/>
          </p:nvSpPr>
          <p:spPr>
            <a:xfrm rot="16200000">
              <a:off x="552635" y="783508"/>
              <a:ext cx="611833" cy="34289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/>
            </a:p>
          </p:txBody>
        </p:sp>
        <p:sp>
          <p:nvSpPr>
            <p:cNvPr id="248" name="TextBox 247"/>
            <p:cNvSpPr txBox="1"/>
            <p:nvPr userDrawn="1"/>
          </p:nvSpPr>
          <p:spPr>
            <a:xfrm>
              <a:off x="841614" y="565467"/>
              <a:ext cx="403277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3200" b="1" dirty="0"/>
                <a:t>매출채권과 매입채무</a:t>
              </a:r>
            </a:p>
          </p:txBody>
        </p:sp>
      </p:grpSp>
      <p:grpSp>
        <p:nvGrpSpPr>
          <p:cNvPr id="249" name="그룹 248"/>
          <p:cNvGrpSpPr/>
          <p:nvPr userDrawn="1"/>
        </p:nvGrpSpPr>
        <p:grpSpPr>
          <a:xfrm>
            <a:off x="4752378" y="400692"/>
            <a:ext cx="3742142" cy="369332"/>
            <a:chOff x="2107219" y="601866"/>
            <a:chExt cx="3742142" cy="369332"/>
          </a:xfrm>
        </p:grpSpPr>
        <p:sp>
          <p:nvSpPr>
            <p:cNvPr id="250" name="TextBox 249"/>
            <p:cNvSpPr txBox="1"/>
            <p:nvPr userDrawn="1"/>
          </p:nvSpPr>
          <p:spPr>
            <a:xfrm>
              <a:off x="2343317" y="601866"/>
              <a:ext cx="35060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b="1" dirty="0"/>
                <a:t>매출채권의 손상</a:t>
              </a:r>
              <a:r>
                <a:rPr lang="en-US" altLang="ko-KR" b="1" dirty="0"/>
                <a:t>(</a:t>
              </a:r>
              <a:r>
                <a:rPr lang="ko-KR" altLang="en-US" b="1" dirty="0"/>
                <a:t>대손</a:t>
              </a:r>
              <a:r>
                <a:rPr lang="en-US" altLang="ko-KR" b="1" dirty="0"/>
                <a:t>)</a:t>
              </a:r>
              <a:r>
                <a:rPr lang="ko-KR" altLang="en-US" b="1" dirty="0"/>
                <a:t>과 평가</a:t>
              </a:r>
            </a:p>
          </p:txBody>
        </p:sp>
        <p:sp>
          <p:nvSpPr>
            <p:cNvPr id="253" name="눈물 방울 252"/>
            <p:cNvSpPr/>
            <p:nvPr userDrawn="1"/>
          </p:nvSpPr>
          <p:spPr>
            <a:xfrm>
              <a:off x="2107219" y="661472"/>
              <a:ext cx="272552" cy="272552"/>
            </a:xfrm>
            <a:prstGeom prst="teardrop">
              <a:avLst/>
            </a:prstGeom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350" b="1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ko-KR" altLang="en-US" sz="13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692386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직사각형 224"/>
          <p:cNvSpPr/>
          <p:nvPr userDrawn="1"/>
        </p:nvSpPr>
        <p:spPr>
          <a:xfrm>
            <a:off x="0" y="0"/>
            <a:ext cx="9144001" cy="91532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9" name="직사각형 218"/>
          <p:cNvSpPr/>
          <p:nvPr userDrawn="1"/>
        </p:nvSpPr>
        <p:spPr>
          <a:xfrm>
            <a:off x="6672650" y="0"/>
            <a:ext cx="2471352" cy="2093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50" b="1" dirty="0">
                <a:solidFill>
                  <a:schemeClr val="tx1"/>
                </a:solidFill>
              </a:rPr>
              <a:t>5.</a:t>
            </a:r>
            <a:r>
              <a:rPr lang="en-US" altLang="ko-KR" sz="1350" b="1" baseline="0" dirty="0">
                <a:solidFill>
                  <a:schemeClr val="tx1"/>
                </a:solidFill>
              </a:rPr>
              <a:t> </a:t>
            </a:r>
            <a:r>
              <a:rPr lang="ko-KR" altLang="en-US" sz="1350" b="1" baseline="0" dirty="0">
                <a:solidFill>
                  <a:schemeClr val="tx1"/>
                </a:solidFill>
              </a:rPr>
              <a:t>현금</a:t>
            </a:r>
            <a:r>
              <a:rPr lang="en-US" altLang="ko-KR" sz="1350" b="1" baseline="0" dirty="0">
                <a:solidFill>
                  <a:schemeClr val="tx1"/>
                </a:solidFill>
              </a:rPr>
              <a:t>·</a:t>
            </a:r>
            <a:r>
              <a:rPr lang="ko-KR" altLang="en-US" sz="1350" b="1" baseline="0" dirty="0" err="1">
                <a:solidFill>
                  <a:schemeClr val="tx1"/>
                </a:solidFill>
              </a:rPr>
              <a:t>수취채권과</a:t>
            </a:r>
            <a:r>
              <a:rPr lang="ko-KR" altLang="en-US" sz="1350" b="1" baseline="0" dirty="0">
                <a:solidFill>
                  <a:schemeClr val="tx1"/>
                </a:solidFill>
              </a:rPr>
              <a:t> </a:t>
            </a:r>
            <a:r>
              <a:rPr lang="ko-KR" altLang="en-US" sz="1350" b="1" baseline="0" dirty="0" err="1">
                <a:solidFill>
                  <a:schemeClr val="tx1"/>
                </a:solidFill>
              </a:rPr>
              <a:t>지급채무</a:t>
            </a:r>
            <a:endParaRPr lang="ko-KR" altLang="en-US" sz="1350" b="1" dirty="0">
              <a:solidFill>
                <a:schemeClr val="tx1"/>
              </a:solidFill>
            </a:endParaRPr>
          </a:p>
        </p:txBody>
      </p:sp>
      <p:grpSp>
        <p:nvGrpSpPr>
          <p:cNvPr id="245" name="그룹 244"/>
          <p:cNvGrpSpPr/>
          <p:nvPr userDrawn="1"/>
        </p:nvGrpSpPr>
        <p:grpSpPr>
          <a:xfrm>
            <a:off x="91285" y="145881"/>
            <a:ext cx="4820349" cy="769441"/>
            <a:chOff x="80163" y="415932"/>
            <a:chExt cx="4820349" cy="769441"/>
          </a:xfrm>
        </p:grpSpPr>
        <p:sp>
          <p:nvSpPr>
            <p:cNvPr id="246" name="TextBox 245"/>
            <p:cNvSpPr txBox="1"/>
            <p:nvPr userDrawn="1"/>
          </p:nvSpPr>
          <p:spPr>
            <a:xfrm>
              <a:off x="80163" y="415932"/>
              <a:ext cx="832446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4400" b="1" dirty="0">
                  <a:latin typeface="Arial" panose="020B0604020202020204" pitchFamily="34" charset="0"/>
                  <a:cs typeface="Arial" panose="020B0604020202020204" pitchFamily="34" charset="0"/>
                </a:rPr>
                <a:t>02</a:t>
              </a:r>
              <a:endParaRPr lang="ko-KR" altLang="en-US" sz="3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7" name="직사각형 246"/>
            <p:cNvSpPr/>
            <p:nvPr userDrawn="1"/>
          </p:nvSpPr>
          <p:spPr>
            <a:xfrm rot="16200000">
              <a:off x="552635" y="783508"/>
              <a:ext cx="611833" cy="34289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/>
            </a:p>
          </p:txBody>
        </p:sp>
        <p:sp>
          <p:nvSpPr>
            <p:cNvPr id="248" name="TextBox 247"/>
            <p:cNvSpPr txBox="1"/>
            <p:nvPr userDrawn="1"/>
          </p:nvSpPr>
          <p:spPr>
            <a:xfrm>
              <a:off x="841614" y="565467"/>
              <a:ext cx="405889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3200" b="1" dirty="0"/>
                <a:t>매출채권과 매입채무</a:t>
              </a:r>
            </a:p>
          </p:txBody>
        </p:sp>
      </p:grpSp>
      <p:grpSp>
        <p:nvGrpSpPr>
          <p:cNvPr id="249" name="그룹 248"/>
          <p:cNvGrpSpPr/>
          <p:nvPr userDrawn="1"/>
        </p:nvGrpSpPr>
        <p:grpSpPr>
          <a:xfrm>
            <a:off x="4773867" y="400692"/>
            <a:ext cx="3922229" cy="369332"/>
            <a:chOff x="2107219" y="601866"/>
            <a:chExt cx="3922229" cy="369332"/>
          </a:xfrm>
        </p:grpSpPr>
        <p:sp>
          <p:nvSpPr>
            <p:cNvPr id="250" name="TextBox 249"/>
            <p:cNvSpPr txBox="1"/>
            <p:nvPr userDrawn="1"/>
          </p:nvSpPr>
          <p:spPr>
            <a:xfrm>
              <a:off x="2343317" y="601866"/>
              <a:ext cx="368613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b="1" dirty="0" err="1"/>
                <a:t>현금창출을</a:t>
              </a:r>
              <a:r>
                <a:rPr lang="ko-KR" altLang="en-US" b="1" dirty="0"/>
                <a:t> 위한 매출채권의 활용</a:t>
              </a:r>
            </a:p>
          </p:txBody>
        </p:sp>
        <p:sp>
          <p:nvSpPr>
            <p:cNvPr id="253" name="눈물 방울 252"/>
            <p:cNvSpPr/>
            <p:nvPr userDrawn="1"/>
          </p:nvSpPr>
          <p:spPr>
            <a:xfrm>
              <a:off x="2107219" y="661472"/>
              <a:ext cx="272552" cy="272552"/>
            </a:xfrm>
            <a:prstGeom prst="teardrop">
              <a:avLst/>
            </a:prstGeom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350" b="1" dirty="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ko-KR" altLang="en-US" sz="13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561274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직사각형 224"/>
          <p:cNvSpPr/>
          <p:nvPr userDrawn="1"/>
        </p:nvSpPr>
        <p:spPr>
          <a:xfrm>
            <a:off x="0" y="0"/>
            <a:ext cx="9144001" cy="91532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9" name="직사각형 218"/>
          <p:cNvSpPr/>
          <p:nvPr userDrawn="1"/>
        </p:nvSpPr>
        <p:spPr>
          <a:xfrm>
            <a:off x="6672650" y="0"/>
            <a:ext cx="2471352" cy="2093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50" b="1" dirty="0">
                <a:solidFill>
                  <a:schemeClr val="tx1"/>
                </a:solidFill>
              </a:rPr>
              <a:t>5.</a:t>
            </a:r>
            <a:r>
              <a:rPr lang="en-US" altLang="ko-KR" sz="1350" b="1" baseline="0" dirty="0">
                <a:solidFill>
                  <a:schemeClr val="tx1"/>
                </a:solidFill>
              </a:rPr>
              <a:t> </a:t>
            </a:r>
            <a:r>
              <a:rPr lang="ko-KR" altLang="en-US" sz="1350" b="1" baseline="0" dirty="0">
                <a:solidFill>
                  <a:schemeClr val="tx1"/>
                </a:solidFill>
              </a:rPr>
              <a:t>현금</a:t>
            </a:r>
            <a:r>
              <a:rPr lang="en-US" altLang="ko-KR" sz="1350" b="1" baseline="0" dirty="0">
                <a:solidFill>
                  <a:schemeClr val="tx1"/>
                </a:solidFill>
              </a:rPr>
              <a:t>·</a:t>
            </a:r>
            <a:r>
              <a:rPr lang="ko-KR" altLang="en-US" sz="1350" b="1" baseline="0" dirty="0" err="1">
                <a:solidFill>
                  <a:schemeClr val="tx1"/>
                </a:solidFill>
              </a:rPr>
              <a:t>수취채권과</a:t>
            </a:r>
            <a:r>
              <a:rPr lang="ko-KR" altLang="en-US" sz="1350" b="1" baseline="0" dirty="0">
                <a:solidFill>
                  <a:schemeClr val="tx1"/>
                </a:solidFill>
              </a:rPr>
              <a:t> </a:t>
            </a:r>
            <a:r>
              <a:rPr lang="ko-KR" altLang="en-US" sz="1350" b="1" baseline="0" dirty="0" err="1">
                <a:solidFill>
                  <a:schemeClr val="tx1"/>
                </a:solidFill>
              </a:rPr>
              <a:t>지급채무</a:t>
            </a:r>
            <a:endParaRPr lang="ko-KR" altLang="en-US" sz="1350" b="1" dirty="0">
              <a:solidFill>
                <a:schemeClr val="tx1"/>
              </a:solidFill>
            </a:endParaRPr>
          </a:p>
        </p:txBody>
      </p:sp>
      <p:grpSp>
        <p:nvGrpSpPr>
          <p:cNvPr id="245" name="그룹 244"/>
          <p:cNvGrpSpPr/>
          <p:nvPr userDrawn="1"/>
        </p:nvGrpSpPr>
        <p:grpSpPr>
          <a:xfrm>
            <a:off x="91285" y="145881"/>
            <a:ext cx="4776806" cy="769441"/>
            <a:chOff x="80163" y="415932"/>
            <a:chExt cx="4776806" cy="769441"/>
          </a:xfrm>
        </p:grpSpPr>
        <p:sp>
          <p:nvSpPr>
            <p:cNvPr id="246" name="TextBox 245"/>
            <p:cNvSpPr txBox="1"/>
            <p:nvPr userDrawn="1"/>
          </p:nvSpPr>
          <p:spPr>
            <a:xfrm>
              <a:off x="80163" y="415932"/>
              <a:ext cx="832446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4400" b="1" dirty="0">
                  <a:latin typeface="Arial" panose="020B0604020202020204" pitchFamily="34" charset="0"/>
                  <a:cs typeface="Arial" panose="020B0604020202020204" pitchFamily="34" charset="0"/>
                </a:rPr>
                <a:t>02</a:t>
              </a:r>
              <a:endParaRPr lang="ko-KR" altLang="en-US" sz="3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7" name="직사각형 246"/>
            <p:cNvSpPr/>
            <p:nvPr userDrawn="1"/>
          </p:nvSpPr>
          <p:spPr>
            <a:xfrm rot="16200000">
              <a:off x="552635" y="783508"/>
              <a:ext cx="611833" cy="34289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/>
            </a:p>
          </p:txBody>
        </p:sp>
        <p:sp>
          <p:nvSpPr>
            <p:cNvPr id="248" name="TextBox 247"/>
            <p:cNvSpPr txBox="1"/>
            <p:nvPr userDrawn="1"/>
          </p:nvSpPr>
          <p:spPr>
            <a:xfrm>
              <a:off x="841614" y="565467"/>
              <a:ext cx="401535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3200" b="1" dirty="0"/>
                <a:t>매출채권과 매입채무</a:t>
              </a:r>
            </a:p>
          </p:txBody>
        </p:sp>
      </p:grpSp>
      <p:grpSp>
        <p:nvGrpSpPr>
          <p:cNvPr id="249" name="그룹 248"/>
          <p:cNvGrpSpPr/>
          <p:nvPr userDrawn="1"/>
        </p:nvGrpSpPr>
        <p:grpSpPr>
          <a:xfrm>
            <a:off x="4765278" y="400692"/>
            <a:ext cx="3922229" cy="369332"/>
            <a:chOff x="2107219" y="601866"/>
            <a:chExt cx="3922229" cy="369332"/>
          </a:xfrm>
        </p:grpSpPr>
        <p:sp>
          <p:nvSpPr>
            <p:cNvPr id="250" name="TextBox 249"/>
            <p:cNvSpPr txBox="1"/>
            <p:nvPr userDrawn="1"/>
          </p:nvSpPr>
          <p:spPr>
            <a:xfrm>
              <a:off x="2343317" y="601866"/>
              <a:ext cx="368613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b="1" dirty="0"/>
                <a:t>매입채무</a:t>
              </a:r>
            </a:p>
          </p:txBody>
        </p:sp>
        <p:sp>
          <p:nvSpPr>
            <p:cNvPr id="253" name="눈물 방울 252"/>
            <p:cNvSpPr/>
            <p:nvPr userDrawn="1"/>
          </p:nvSpPr>
          <p:spPr>
            <a:xfrm>
              <a:off x="2107219" y="661472"/>
              <a:ext cx="272552" cy="272552"/>
            </a:xfrm>
            <a:prstGeom prst="teardrop">
              <a:avLst/>
            </a:prstGeom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350" b="1" dirty="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ko-KR" altLang="en-US" sz="13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049998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직사각형 219"/>
          <p:cNvSpPr/>
          <p:nvPr userDrawn="1"/>
        </p:nvSpPr>
        <p:spPr>
          <a:xfrm>
            <a:off x="0" y="0"/>
            <a:ext cx="9144001" cy="91532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9" name="직사각형 218"/>
          <p:cNvSpPr/>
          <p:nvPr userDrawn="1"/>
        </p:nvSpPr>
        <p:spPr>
          <a:xfrm>
            <a:off x="6672650" y="0"/>
            <a:ext cx="2471352" cy="2093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50" b="1" dirty="0">
                <a:solidFill>
                  <a:schemeClr val="tx1"/>
                </a:solidFill>
              </a:rPr>
              <a:t>5.</a:t>
            </a:r>
            <a:r>
              <a:rPr lang="en-US" altLang="ko-KR" sz="1350" b="1" baseline="0" dirty="0">
                <a:solidFill>
                  <a:schemeClr val="tx1"/>
                </a:solidFill>
              </a:rPr>
              <a:t> </a:t>
            </a:r>
            <a:r>
              <a:rPr lang="ko-KR" altLang="en-US" sz="1350" b="1" baseline="0" dirty="0">
                <a:solidFill>
                  <a:schemeClr val="tx1"/>
                </a:solidFill>
              </a:rPr>
              <a:t>현금</a:t>
            </a:r>
            <a:r>
              <a:rPr lang="en-US" altLang="ko-KR" sz="1350" b="1" baseline="0" dirty="0">
                <a:solidFill>
                  <a:schemeClr val="tx1"/>
                </a:solidFill>
              </a:rPr>
              <a:t>·</a:t>
            </a:r>
            <a:r>
              <a:rPr lang="ko-KR" altLang="en-US" sz="1350" b="1" baseline="0" dirty="0" err="1">
                <a:solidFill>
                  <a:schemeClr val="tx1"/>
                </a:solidFill>
              </a:rPr>
              <a:t>수취채권과</a:t>
            </a:r>
            <a:r>
              <a:rPr lang="ko-KR" altLang="en-US" sz="1350" b="1" baseline="0" dirty="0">
                <a:solidFill>
                  <a:schemeClr val="tx1"/>
                </a:solidFill>
              </a:rPr>
              <a:t> </a:t>
            </a:r>
            <a:r>
              <a:rPr lang="ko-KR" altLang="en-US" sz="1350" b="1" baseline="0" dirty="0" err="1">
                <a:solidFill>
                  <a:schemeClr val="tx1"/>
                </a:solidFill>
              </a:rPr>
              <a:t>지급채무</a:t>
            </a:r>
            <a:endParaRPr lang="ko-KR" altLang="en-US" sz="1350" b="1" dirty="0">
              <a:solidFill>
                <a:schemeClr val="tx1"/>
              </a:solidFill>
            </a:endParaRPr>
          </a:p>
        </p:txBody>
      </p:sp>
      <p:grpSp>
        <p:nvGrpSpPr>
          <p:cNvPr id="245" name="그룹 244"/>
          <p:cNvGrpSpPr/>
          <p:nvPr userDrawn="1"/>
        </p:nvGrpSpPr>
        <p:grpSpPr>
          <a:xfrm>
            <a:off x="91285" y="145881"/>
            <a:ext cx="7459046" cy="769441"/>
            <a:chOff x="80163" y="415932"/>
            <a:chExt cx="7459046" cy="769441"/>
          </a:xfrm>
        </p:grpSpPr>
        <p:sp>
          <p:nvSpPr>
            <p:cNvPr id="246" name="TextBox 245"/>
            <p:cNvSpPr txBox="1"/>
            <p:nvPr userDrawn="1"/>
          </p:nvSpPr>
          <p:spPr>
            <a:xfrm>
              <a:off x="80163" y="415932"/>
              <a:ext cx="832446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4400" b="1" dirty="0">
                  <a:latin typeface="Arial" panose="020B0604020202020204" pitchFamily="34" charset="0"/>
                  <a:cs typeface="Arial" panose="020B0604020202020204" pitchFamily="34" charset="0"/>
                </a:rPr>
                <a:t>03</a:t>
              </a:r>
              <a:endParaRPr lang="ko-KR" altLang="en-US" sz="3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7" name="직사각형 246"/>
            <p:cNvSpPr/>
            <p:nvPr userDrawn="1"/>
          </p:nvSpPr>
          <p:spPr>
            <a:xfrm rot="16200000">
              <a:off x="552635" y="783508"/>
              <a:ext cx="611833" cy="34289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/>
            </a:p>
          </p:txBody>
        </p:sp>
        <p:sp>
          <p:nvSpPr>
            <p:cNvPr id="248" name="TextBox 247"/>
            <p:cNvSpPr txBox="1"/>
            <p:nvPr userDrawn="1"/>
          </p:nvSpPr>
          <p:spPr>
            <a:xfrm>
              <a:off x="841614" y="565467"/>
              <a:ext cx="669759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3200" b="1" dirty="0"/>
                <a:t>기타유동자산과 기타유동부채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140794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직사각형 220"/>
          <p:cNvSpPr/>
          <p:nvPr userDrawn="1"/>
        </p:nvSpPr>
        <p:spPr>
          <a:xfrm>
            <a:off x="0" y="0"/>
            <a:ext cx="9144001" cy="91532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9" name="직사각형 218"/>
          <p:cNvSpPr/>
          <p:nvPr userDrawn="1"/>
        </p:nvSpPr>
        <p:spPr>
          <a:xfrm>
            <a:off x="6672650" y="0"/>
            <a:ext cx="2471352" cy="2093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50" b="1" dirty="0">
                <a:solidFill>
                  <a:schemeClr val="tx1"/>
                </a:solidFill>
              </a:rPr>
              <a:t>5.</a:t>
            </a:r>
            <a:r>
              <a:rPr lang="en-US" altLang="ko-KR" sz="1350" b="1" baseline="0" dirty="0">
                <a:solidFill>
                  <a:schemeClr val="tx1"/>
                </a:solidFill>
              </a:rPr>
              <a:t> </a:t>
            </a:r>
            <a:r>
              <a:rPr lang="ko-KR" altLang="en-US" sz="1350" b="1" baseline="0" dirty="0">
                <a:solidFill>
                  <a:schemeClr val="tx1"/>
                </a:solidFill>
              </a:rPr>
              <a:t>현금</a:t>
            </a:r>
            <a:r>
              <a:rPr lang="en-US" altLang="ko-KR" sz="1350" b="1" baseline="0" dirty="0">
                <a:solidFill>
                  <a:schemeClr val="tx1"/>
                </a:solidFill>
              </a:rPr>
              <a:t>·</a:t>
            </a:r>
            <a:r>
              <a:rPr lang="ko-KR" altLang="en-US" sz="1350" b="1" baseline="0" dirty="0" err="1">
                <a:solidFill>
                  <a:schemeClr val="tx1"/>
                </a:solidFill>
              </a:rPr>
              <a:t>수취채권과</a:t>
            </a:r>
            <a:r>
              <a:rPr lang="ko-KR" altLang="en-US" sz="1350" b="1" baseline="0" dirty="0">
                <a:solidFill>
                  <a:schemeClr val="tx1"/>
                </a:solidFill>
              </a:rPr>
              <a:t> </a:t>
            </a:r>
            <a:r>
              <a:rPr lang="ko-KR" altLang="en-US" sz="1350" b="1" baseline="0" dirty="0" err="1">
                <a:solidFill>
                  <a:schemeClr val="tx1"/>
                </a:solidFill>
              </a:rPr>
              <a:t>지급채무</a:t>
            </a:r>
            <a:endParaRPr lang="ko-KR" altLang="en-US" sz="1350" b="1" dirty="0">
              <a:solidFill>
                <a:schemeClr val="tx1"/>
              </a:solidFill>
            </a:endParaRPr>
          </a:p>
        </p:txBody>
      </p:sp>
      <p:sp>
        <p:nvSpPr>
          <p:cNvPr id="247" name="직사각형 246"/>
          <p:cNvSpPr/>
          <p:nvPr userDrawn="1"/>
        </p:nvSpPr>
        <p:spPr>
          <a:xfrm rot="16200000">
            <a:off x="563757" y="513457"/>
            <a:ext cx="611833" cy="34289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441" name="TextBox 440">
            <a:extLst>
              <a:ext uri="{FF2B5EF4-FFF2-40B4-BE49-F238E27FC236}">
                <a16:creationId xmlns="" xmlns:a16="http://schemas.microsoft.com/office/drawing/2014/main" id="{71AC4F47-5C0E-454E-8041-B0774DAD4714}"/>
              </a:ext>
            </a:extLst>
          </p:cNvPr>
          <p:cNvSpPr txBox="1"/>
          <p:nvPr userDrawn="1"/>
        </p:nvSpPr>
        <p:spPr>
          <a:xfrm>
            <a:off x="91285" y="330498"/>
            <a:ext cx="832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보론</a:t>
            </a:r>
            <a:endParaRPr lang="ko-KR" alt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45047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9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0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0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0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>
          <a:xfrm>
            <a:off x="0" y="6238430"/>
            <a:ext cx="9144000" cy="619569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grpSp>
        <p:nvGrpSpPr>
          <p:cNvPr id="5" name="그룹 4"/>
          <p:cNvGrpSpPr/>
          <p:nvPr/>
        </p:nvGrpSpPr>
        <p:grpSpPr>
          <a:xfrm>
            <a:off x="1017593" y="971897"/>
            <a:ext cx="7181840" cy="1892639"/>
            <a:chOff x="1307980" y="2041144"/>
            <a:chExt cx="7181840" cy="1892639"/>
          </a:xfrm>
        </p:grpSpPr>
        <p:sp>
          <p:nvSpPr>
            <p:cNvPr id="9" name="TextBox 8"/>
            <p:cNvSpPr txBox="1"/>
            <p:nvPr/>
          </p:nvSpPr>
          <p:spPr>
            <a:xfrm>
              <a:off x="2627405" y="2041144"/>
              <a:ext cx="5862415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4000" dirty="0">
                  <a:latin typeface="HY견고딕" panose="02030600000101010101" pitchFamily="18" charset="-127"/>
                  <a:ea typeface="HY견고딕" panose="02030600000101010101" pitchFamily="18" charset="-127"/>
                </a:rPr>
                <a:t>현금</a:t>
              </a:r>
              <a:r>
                <a:rPr lang="en-US" altLang="ko-KR" sz="4000" dirty="0">
                  <a:latin typeface="HY견고딕" panose="02030600000101010101" pitchFamily="18" charset="-127"/>
                  <a:ea typeface="HY견고딕" panose="02030600000101010101" pitchFamily="18" charset="-127"/>
                </a:rPr>
                <a:t>·</a:t>
              </a:r>
              <a:r>
                <a:rPr lang="ko-KR" altLang="en-US" sz="4000" dirty="0" err="1">
                  <a:latin typeface="HY견고딕" panose="02030600000101010101" pitchFamily="18" charset="-127"/>
                  <a:ea typeface="HY견고딕" panose="02030600000101010101" pitchFamily="18" charset="-127"/>
                </a:rPr>
                <a:t>수취채권과</a:t>
              </a:r>
              <a:endParaRPr lang="en-US" altLang="ko-KR" sz="4000" dirty="0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  <a:p>
              <a:r>
                <a:rPr lang="ko-KR" altLang="en-US" sz="4000" dirty="0" err="1">
                  <a:latin typeface="HY견고딕" panose="02030600000101010101" pitchFamily="18" charset="-127"/>
                  <a:ea typeface="HY견고딕" panose="02030600000101010101" pitchFamily="18" charset="-127"/>
                </a:rPr>
                <a:t>지급채무</a:t>
              </a:r>
              <a:endParaRPr lang="ko-KR" altLang="en-US" sz="4000" dirty="0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cxnSp>
          <p:nvCxnSpPr>
            <p:cNvPr id="10" name="직선 연결선 9"/>
            <p:cNvCxnSpPr/>
            <p:nvPr/>
          </p:nvCxnSpPr>
          <p:spPr>
            <a:xfrm>
              <a:off x="2901872" y="3400037"/>
              <a:ext cx="3147235" cy="0"/>
            </a:xfrm>
            <a:prstGeom prst="line">
              <a:avLst/>
            </a:prstGeom>
            <a:ln w="38100">
              <a:solidFill>
                <a:srgbClr val="406FA7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9"/>
            <p:cNvSpPr txBox="1">
              <a:spLocks noChangeArrowheads="1"/>
            </p:cNvSpPr>
            <p:nvPr/>
          </p:nvSpPr>
          <p:spPr bwMode="auto">
            <a:xfrm>
              <a:off x="2901872" y="3472118"/>
              <a:ext cx="314723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algn="l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lvl="0" algn="dist" fontAlgn="base" latinLnBrk="0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  <a:defRPr/>
              </a:pPr>
              <a:r>
                <a:rPr lang="en-US" altLang="ko-KR" sz="1200" kern="0" dirty="0">
                  <a:solidFill>
                    <a:schemeClr val="tx1"/>
                  </a:solidFill>
                  <a:ea typeface="굴림" panose="020B0600000101010101" pitchFamily="50" charset="-127"/>
                  <a:cs typeface="Arial" panose="020B0604020202020204" pitchFamily="34" charset="0"/>
                </a:rPr>
                <a:t>CASH AND CASH EQUIVALENTS, RECEIVABLES AND PAYABLES</a:t>
              </a:r>
              <a:endParaRPr kumimoji="0" lang="en-US" altLang="ko-KR" sz="12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굴림" panose="020B0600000101010101" pitchFamily="50" charset="-127"/>
                <a:cs typeface="Arial" panose="020B0604020202020204" pitchFamily="34" charset="0"/>
              </a:endParaRPr>
            </a:p>
          </p:txBody>
        </p:sp>
        <p:grpSp>
          <p:nvGrpSpPr>
            <p:cNvPr id="3" name="그룹 2"/>
            <p:cNvGrpSpPr/>
            <p:nvPr/>
          </p:nvGrpSpPr>
          <p:grpSpPr>
            <a:xfrm>
              <a:off x="1307980" y="2130843"/>
              <a:ext cx="1174535" cy="1329738"/>
              <a:chOff x="1307980" y="2281318"/>
              <a:chExt cx="1174535" cy="1329738"/>
            </a:xfrm>
          </p:grpSpPr>
          <p:sp>
            <p:nvSpPr>
              <p:cNvPr id="20" name="자유형 19"/>
              <p:cNvSpPr/>
              <p:nvPr/>
            </p:nvSpPr>
            <p:spPr>
              <a:xfrm>
                <a:off x="1307980" y="2281318"/>
                <a:ext cx="1174535" cy="1329738"/>
              </a:xfrm>
              <a:custGeom>
                <a:avLst/>
                <a:gdLst>
                  <a:gd name="connsiteX0" fmla="*/ 687736 w 1174535"/>
                  <a:gd name="connsiteY0" fmla="*/ 178488 h 1329738"/>
                  <a:gd name="connsiteX1" fmla="*/ 1174535 w 1174535"/>
                  <a:gd name="connsiteY1" fmla="*/ 665287 h 1329738"/>
                  <a:gd name="connsiteX2" fmla="*/ 687736 w 1174535"/>
                  <a:gd name="connsiteY2" fmla="*/ 1152086 h 1329738"/>
                  <a:gd name="connsiteX3" fmla="*/ 200937 w 1174535"/>
                  <a:gd name="connsiteY3" fmla="*/ 665287 h 1329738"/>
                  <a:gd name="connsiteX4" fmla="*/ 687736 w 1174535"/>
                  <a:gd name="connsiteY4" fmla="*/ 178488 h 1329738"/>
                  <a:gd name="connsiteX5" fmla="*/ 664869 w 1174535"/>
                  <a:gd name="connsiteY5" fmla="*/ 0 h 1329738"/>
                  <a:gd name="connsiteX6" fmla="*/ 664869 w 1174535"/>
                  <a:gd name="connsiteY6" fmla="*/ 107437 h 1329738"/>
                  <a:gd name="connsiteX7" fmla="*/ 107437 w 1174535"/>
                  <a:gd name="connsiteY7" fmla="*/ 664869 h 1329738"/>
                  <a:gd name="connsiteX8" fmla="*/ 664869 w 1174535"/>
                  <a:gd name="connsiteY8" fmla="*/ 1222301 h 1329738"/>
                  <a:gd name="connsiteX9" fmla="*/ 664869 w 1174535"/>
                  <a:gd name="connsiteY9" fmla="*/ 1329738 h 1329738"/>
                  <a:gd name="connsiteX10" fmla="*/ 0 w 1174535"/>
                  <a:gd name="connsiteY10" fmla="*/ 664869 h 1329738"/>
                  <a:gd name="connsiteX11" fmla="*/ 664869 w 1174535"/>
                  <a:gd name="connsiteY11" fmla="*/ 0 h 13297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174535" h="1329738">
                    <a:moveTo>
                      <a:pt x="687736" y="178488"/>
                    </a:moveTo>
                    <a:cubicBezTo>
                      <a:pt x="956588" y="178488"/>
                      <a:pt x="1174535" y="396435"/>
                      <a:pt x="1174535" y="665287"/>
                    </a:cubicBezTo>
                    <a:cubicBezTo>
                      <a:pt x="1174535" y="934139"/>
                      <a:pt x="956588" y="1152086"/>
                      <a:pt x="687736" y="1152086"/>
                    </a:cubicBezTo>
                    <a:cubicBezTo>
                      <a:pt x="418884" y="1152086"/>
                      <a:pt x="200937" y="934139"/>
                      <a:pt x="200937" y="665287"/>
                    </a:cubicBezTo>
                    <a:cubicBezTo>
                      <a:pt x="200937" y="396435"/>
                      <a:pt x="418884" y="178488"/>
                      <a:pt x="687736" y="178488"/>
                    </a:cubicBezTo>
                    <a:close/>
                    <a:moveTo>
                      <a:pt x="664869" y="0"/>
                    </a:moveTo>
                    <a:lnTo>
                      <a:pt x="664869" y="107437"/>
                    </a:lnTo>
                    <a:cubicBezTo>
                      <a:pt x="357008" y="107437"/>
                      <a:pt x="107437" y="357008"/>
                      <a:pt x="107437" y="664869"/>
                    </a:cubicBezTo>
                    <a:cubicBezTo>
                      <a:pt x="107437" y="972730"/>
                      <a:pt x="357008" y="1222301"/>
                      <a:pt x="664869" y="1222301"/>
                    </a:cubicBezTo>
                    <a:lnTo>
                      <a:pt x="664869" y="1329738"/>
                    </a:lnTo>
                    <a:cubicBezTo>
                      <a:pt x="297672" y="1329738"/>
                      <a:pt x="0" y="1032066"/>
                      <a:pt x="0" y="664869"/>
                    </a:cubicBezTo>
                    <a:cubicBezTo>
                      <a:pt x="0" y="297672"/>
                      <a:pt x="297672" y="0"/>
                      <a:pt x="664869" y="0"/>
                    </a:cubicBezTo>
                    <a:close/>
                  </a:path>
                </a:pathLst>
              </a:custGeom>
              <a:gradFill>
                <a:gsLst>
                  <a:gs pos="37000">
                    <a:srgbClr val="406FA7"/>
                  </a:gs>
                  <a:gs pos="52000">
                    <a:srgbClr val="4C979A"/>
                  </a:gs>
                  <a:gs pos="100000">
                    <a:schemeClr val="bg1">
                      <a:lumMod val="85000"/>
                    </a:schemeClr>
                  </a:gs>
                </a:gsLst>
                <a:lin ang="54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" name="TextBox 1"/>
              <p:cNvSpPr txBox="1"/>
              <p:nvPr/>
            </p:nvSpPr>
            <p:spPr>
              <a:xfrm>
                <a:off x="1599193" y="2560075"/>
                <a:ext cx="818067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44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05</a:t>
                </a:r>
                <a:endParaRPr lang="ko-KR" altLang="en-US" sz="44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F521E-760F-494A-ABC5-CCB6E4EC2FB3}" type="slidenum">
              <a:rPr lang="ko-KR" altLang="en-US" smtClean="0"/>
              <a:pPr/>
              <a:t>1</a:t>
            </a:fld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8CAFAB54-F400-4226-86CC-C9C7AAA0333A}"/>
              </a:ext>
            </a:extLst>
          </p:cNvPr>
          <p:cNvSpPr txBox="1"/>
          <p:nvPr/>
        </p:nvSpPr>
        <p:spPr>
          <a:xfrm>
            <a:off x="5852160" y="6356703"/>
            <a:ext cx="329184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사례와 함께하는 </a:t>
            </a:r>
            <a:r>
              <a:rPr lang="ko-KR" altLang="en-US" sz="2600" b="1" dirty="0">
                <a:solidFill>
                  <a:schemeClr val="bg1"/>
                </a:solidFill>
                <a:latin typeface="함초롬바탕 확장" panose="02030504000101010101" pitchFamily="18" charset="-127"/>
                <a:ea typeface="함초롬바탕 확장" panose="02030504000101010101" pitchFamily="18" charset="-127"/>
              </a:rPr>
              <a:t>회계원리</a:t>
            </a:r>
          </a:p>
        </p:txBody>
      </p:sp>
    </p:spTree>
    <p:extLst>
      <p:ext uri="{BB962C8B-B14F-4D97-AF65-F5344CB8AC3E}">
        <p14:creationId xmlns:p14="http://schemas.microsoft.com/office/powerpoint/2010/main" val="35190663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/>
          <p:cNvGrpSpPr/>
          <p:nvPr/>
        </p:nvGrpSpPr>
        <p:grpSpPr>
          <a:xfrm>
            <a:off x="285090" y="1410824"/>
            <a:ext cx="8641369" cy="2724381"/>
            <a:chOff x="2626908" y="1722059"/>
            <a:chExt cx="11521825" cy="2605167"/>
          </a:xfrm>
        </p:grpSpPr>
        <p:sp>
          <p:nvSpPr>
            <p:cNvPr id="7" name="Rectangle 15"/>
            <p:cNvSpPr>
              <a:spLocks noChangeArrowheads="1"/>
            </p:cNvSpPr>
            <p:nvPr/>
          </p:nvSpPr>
          <p:spPr bwMode="auto">
            <a:xfrm>
              <a:off x="2626908" y="2167258"/>
              <a:ext cx="11521825" cy="2159968"/>
            </a:xfrm>
            <a:prstGeom prst="rect">
              <a:avLst/>
            </a:prstGeom>
            <a:noFill/>
            <a:ln>
              <a:noFill/>
            </a:ln>
          </p:spPr>
          <p:txBody>
            <a:bodyPr lIns="74608" tIns="37301" rIns="74608" bIns="37301" anchor="t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marL="144000" indent="-144000" latinLnBrk="0">
                <a:lnSpc>
                  <a:spcPct val="12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600" b="1" dirty="0">
                  <a:latin typeface="맑은 고딕" panose="020B0503020000020004" pitchFamily="50" charset="-127"/>
                </a:rPr>
                <a:t>• </a:t>
              </a:r>
              <a:r>
                <a:rPr lang="ko-KR" altLang="en-US" sz="1600" b="1" dirty="0">
                  <a:latin typeface="맑은 고딕" panose="020B0503020000020004" pitchFamily="50" charset="-127"/>
                </a:rPr>
                <a:t>현금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(cash)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 </a:t>
              </a:r>
              <a:r>
                <a:rPr lang="en-US" altLang="ko-KR" sz="1600" b="1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: </a:t>
              </a:r>
              <a:r>
                <a:rPr lang="ko-KR" altLang="en-US" sz="1600" b="1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통화</a:t>
              </a: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 및 자기앞수표</a:t>
              </a:r>
              <a:r>
                <a:rPr lang="en-US" altLang="ko-KR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, </a:t>
              </a: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당좌수표</a:t>
              </a:r>
              <a:r>
                <a:rPr lang="en-US" altLang="ko-KR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, </a:t>
              </a: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우편환증서</a:t>
              </a:r>
              <a:r>
                <a:rPr lang="en-US" altLang="ko-KR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 </a:t>
              </a: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등 통화 대신 사용할 수 있는 </a:t>
              </a:r>
              <a:r>
                <a:rPr lang="ko-KR" altLang="en-US" sz="1600" b="1" dirty="0" err="1">
                  <a:solidFill>
                    <a:schemeClr val="tx1"/>
                  </a:solidFill>
                  <a:latin typeface="맑은 고딕" panose="020B0503020000020004" pitchFamily="50" charset="-127"/>
                </a:rPr>
                <a:t>통화대용증권</a:t>
              </a:r>
              <a:r>
                <a:rPr lang="ko-KR" altLang="en-US" sz="1600" dirty="0" err="1">
                  <a:solidFill>
                    <a:schemeClr val="tx1"/>
                  </a:solidFill>
                  <a:latin typeface="맑은 고딕" panose="020B0503020000020004" pitchFamily="50" charset="-127"/>
                </a:rPr>
                <a:t>과</a:t>
              </a: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 당좌예금과 보통예금 등과 같은 </a:t>
              </a:r>
              <a:r>
                <a:rPr lang="ko-KR" altLang="en-US" sz="1600" b="1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요구불예금</a:t>
              </a:r>
            </a:p>
            <a:p>
              <a:pPr marL="144000" indent="-144000" latinLnBrk="0">
                <a:lnSpc>
                  <a:spcPct val="12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600" b="1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• </a:t>
              </a:r>
              <a:r>
                <a:rPr lang="ko-KR" altLang="en-US" sz="1600" b="1" dirty="0" err="1">
                  <a:solidFill>
                    <a:schemeClr val="tx1"/>
                  </a:solidFill>
                  <a:latin typeface="맑은 고딕" panose="020B0503020000020004" pitchFamily="50" charset="-127"/>
                </a:rPr>
                <a:t>현금성자산</a:t>
              </a:r>
              <a:r>
                <a:rPr lang="ko-KR" altLang="en-US" sz="1600" b="1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 </a:t>
              </a:r>
              <a:r>
                <a:rPr lang="en-US" altLang="ko-KR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(cash equivalent): </a:t>
              </a: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확정된 금액의 현금으로 전환이 용이하고</a:t>
              </a:r>
              <a:r>
                <a:rPr lang="en-US" altLang="ko-KR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 </a:t>
              </a: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가치변동의 위험이 </a:t>
              </a:r>
              <a:r>
                <a:rPr lang="ko-KR" altLang="en-US" sz="1600" dirty="0" smtClean="0">
                  <a:solidFill>
                    <a:schemeClr val="tx1"/>
                  </a:solidFill>
                  <a:latin typeface="맑은 고딕" panose="020B0503020000020004" pitchFamily="50" charset="-127"/>
                </a:rPr>
                <a:t>경미한 자산</a:t>
              </a:r>
              <a:endParaRPr lang="en-US" altLang="ko-KR" sz="1600" dirty="0">
                <a:solidFill>
                  <a:schemeClr val="tx1"/>
                </a:solidFill>
                <a:latin typeface="맑은 고딕" panose="020B0503020000020004" pitchFamily="50" charset="-127"/>
              </a:endParaRPr>
            </a:p>
            <a:p>
              <a:pPr marL="144000" indent="-144000" latinLnBrk="0">
                <a:lnSpc>
                  <a:spcPct val="12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600" dirty="0">
                  <a:latin typeface="맑은 고딕" panose="020B0503020000020004" pitchFamily="50" charset="-127"/>
                </a:rPr>
                <a:t>• 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재무상태표에는 현금과 현금성자산을 합해 </a:t>
              </a:r>
              <a:r>
                <a:rPr lang="ko-KR" altLang="en-US" sz="1600" b="1" dirty="0" err="1">
                  <a:latin typeface="맑은 고딕" panose="020B0503020000020004" pitchFamily="50" charset="-127"/>
                </a:rPr>
                <a:t>현금및현금성자산</a:t>
              </a:r>
              <a:r>
                <a:rPr lang="ko-KR" altLang="en-US" sz="1600" dirty="0" err="1">
                  <a:latin typeface="맑은 고딕" panose="020B0503020000020004" pitchFamily="50" charset="-127"/>
                </a:rPr>
                <a:t>이라고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 단일계정으로 보고함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.</a:t>
              </a:r>
            </a:p>
          </p:txBody>
        </p:sp>
        <p:sp>
          <p:nvSpPr>
            <p:cNvPr id="6" name="Rectangle 14"/>
            <p:cNvSpPr>
              <a:spLocks noChangeArrowheads="1"/>
            </p:cNvSpPr>
            <p:nvPr/>
          </p:nvSpPr>
          <p:spPr bwMode="auto">
            <a:xfrm>
              <a:off x="3011952" y="1772293"/>
              <a:ext cx="3562349" cy="431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4608" tIns="37301" rIns="74608" bIns="37301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 typeface="Wingdings" panose="05000000000000000000" pitchFamily="2" charset="2"/>
                <a:buNone/>
              </a:pPr>
              <a:r>
                <a:rPr lang="ko-KR" altLang="en-US" sz="2000" b="1" dirty="0" err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현금및현금성자산</a:t>
              </a:r>
              <a:endParaRPr lang="ko-KR" altLang="en-US" sz="2000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9" name="직사각형 8"/>
            <p:cNvSpPr/>
            <p:nvPr/>
          </p:nvSpPr>
          <p:spPr>
            <a:xfrm>
              <a:off x="2626908" y="1722059"/>
              <a:ext cx="281973" cy="425439"/>
            </a:xfrm>
            <a:prstGeom prst="rect">
              <a:avLst/>
            </a:prstGeom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ko-KR" altLang="en-US" sz="16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2</a:t>
            </a:fld>
            <a:endParaRPr lang="ko-KR" altLang="en-US" dirty="0"/>
          </a:p>
        </p:txBody>
      </p:sp>
      <p:sp>
        <p:nvSpPr>
          <p:cNvPr id="11" name="Rectangle 15">
            <a:extLst>
              <a:ext uri="{FF2B5EF4-FFF2-40B4-BE49-F238E27FC236}">
                <a16:creationId xmlns="" xmlns:a16="http://schemas.microsoft.com/office/drawing/2014/main" id="{98A3045B-C8BE-4363-A247-2D3C33D1AD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0625" y="4280535"/>
            <a:ext cx="8641369" cy="1828170"/>
          </a:xfrm>
          <a:prstGeom prst="rect">
            <a:avLst/>
          </a:prstGeom>
          <a:noFill/>
          <a:ln>
            <a:noFill/>
          </a:ln>
        </p:spPr>
        <p:txBody>
          <a:bodyPr lIns="74608" tIns="37301" rIns="74608" bIns="37301" anchor="t"/>
          <a:lstStyle>
            <a:lvl1pPr algn="l" defTabSz="995363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 defTabSz="995363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 defTabSz="995363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 defTabSz="995363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 defTabSz="995363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marL="144000" indent="-144000" latinLnBrk="0">
              <a:lnSpc>
                <a:spcPct val="120000"/>
              </a:lnSpc>
              <a:spcBef>
                <a:spcPts val="600"/>
              </a:spcBef>
              <a:buClrTx/>
              <a:buSzTx/>
              <a:buNone/>
            </a:pPr>
            <a:r>
              <a:rPr lang="en-US" altLang="ko-KR" sz="1600" b="1" dirty="0">
                <a:solidFill>
                  <a:schemeClr val="tx1"/>
                </a:solidFill>
                <a:latin typeface="맑은 고딕" panose="020B0503020000020004" pitchFamily="50" charset="-127"/>
              </a:rPr>
              <a:t>• </a:t>
            </a:r>
            <a:r>
              <a:rPr lang="ko-KR" altLang="en-US" sz="1600" b="1" dirty="0">
                <a:solidFill>
                  <a:schemeClr val="tx1"/>
                </a:solidFill>
                <a:latin typeface="맑은 고딕" panose="020B0503020000020004" pitchFamily="50" charset="-127"/>
              </a:rPr>
              <a:t>당좌예금 </a:t>
            </a:r>
            <a:r>
              <a:rPr lang="en-US" altLang="ko-KR" sz="1600" b="1" dirty="0">
                <a:solidFill>
                  <a:schemeClr val="tx1"/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1600" dirty="0">
                <a:solidFill>
                  <a:schemeClr val="tx1"/>
                </a:solidFill>
                <a:latin typeface="맑은 고딕" panose="020B0503020000020004" pitchFamily="50" charset="-127"/>
              </a:rPr>
              <a:t>수표</a:t>
            </a:r>
            <a:r>
              <a:rPr lang="en-US" altLang="ko-KR" sz="1600" dirty="0">
                <a:solidFill>
                  <a:schemeClr val="tx1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1600" dirty="0">
                <a:solidFill>
                  <a:schemeClr val="tx1"/>
                </a:solidFill>
                <a:latin typeface="맑은 고딕" panose="020B0503020000020004" pitchFamily="50" charset="-127"/>
              </a:rPr>
              <a:t>당좌수표</a:t>
            </a:r>
            <a:r>
              <a:rPr lang="en-US" altLang="ko-KR" sz="1600" dirty="0">
                <a:solidFill>
                  <a:schemeClr val="tx1"/>
                </a:solidFill>
                <a:latin typeface="맑은 고딕" panose="020B0503020000020004" pitchFamily="50" charset="-127"/>
              </a:rPr>
              <a:t>)</a:t>
            </a:r>
            <a:r>
              <a:rPr lang="ko-KR" altLang="en-US" sz="1600" dirty="0">
                <a:solidFill>
                  <a:schemeClr val="tx1"/>
                </a:solidFill>
                <a:latin typeface="맑은 고딕" panose="020B0503020000020004" pitchFamily="50" charset="-127"/>
              </a:rPr>
              <a:t>를 발행하여 예금을 지출할 수 있는 특수한 형태의 예금</a:t>
            </a:r>
            <a:r>
              <a:rPr lang="en-US" altLang="ko-KR" sz="1600" dirty="0">
                <a:solidFill>
                  <a:schemeClr val="tx1"/>
                </a:solidFill>
                <a:latin typeface="맑은 고딕" panose="020B0503020000020004" pitchFamily="50" charset="-127"/>
              </a:rPr>
              <a:t> </a:t>
            </a:r>
          </a:p>
          <a:p>
            <a:pPr marL="144000" indent="-144000" latinLnBrk="0">
              <a:lnSpc>
                <a:spcPct val="120000"/>
              </a:lnSpc>
              <a:spcBef>
                <a:spcPts val="600"/>
              </a:spcBef>
              <a:buClrTx/>
              <a:buSzTx/>
              <a:buNone/>
            </a:pPr>
            <a:r>
              <a:rPr lang="en-US" altLang="ko-KR" sz="1600" dirty="0">
                <a:solidFill>
                  <a:schemeClr val="tx1"/>
                </a:solidFill>
                <a:latin typeface="맑은 고딕" panose="020B0503020000020004" pitchFamily="50" charset="-127"/>
              </a:rPr>
              <a:t>• </a:t>
            </a:r>
            <a:r>
              <a:rPr lang="ko-KR" altLang="en-US" sz="1600" dirty="0">
                <a:solidFill>
                  <a:schemeClr val="tx1"/>
                </a:solidFill>
                <a:latin typeface="맑은 고딕" panose="020B0503020000020004" pitchFamily="50" charset="-127"/>
              </a:rPr>
              <a:t>사전에 은행과 당좌거래약정을 체결해야 하며</a:t>
            </a:r>
            <a:r>
              <a:rPr lang="en-US" altLang="ko-KR" sz="1600" dirty="0">
                <a:solidFill>
                  <a:schemeClr val="tx1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600" dirty="0">
                <a:solidFill>
                  <a:schemeClr val="tx1"/>
                </a:solidFill>
                <a:latin typeface="맑은 고딕" panose="020B0503020000020004" pitchFamily="50" charset="-127"/>
              </a:rPr>
              <a:t>당좌차월약정을 맺으면 잔액이 없어도 일정한도까지 당좌예금의 잔액을 초과하여 수표를 발행할 수 있는 </a:t>
            </a:r>
            <a:r>
              <a:rPr lang="ko-KR" altLang="en-US" sz="1600" b="1" dirty="0">
                <a:solidFill>
                  <a:schemeClr val="tx1"/>
                </a:solidFill>
                <a:latin typeface="맑은 고딕" panose="020B0503020000020004" pitchFamily="50" charset="-127"/>
              </a:rPr>
              <a:t>당좌차월</a:t>
            </a:r>
            <a:r>
              <a:rPr lang="ko-KR" altLang="en-US" sz="1600" dirty="0">
                <a:solidFill>
                  <a:schemeClr val="tx1"/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1600" dirty="0">
                <a:latin typeface="맑은 고딕" panose="020B0503020000020004" pitchFamily="50" charset="-127"/>
              </a:rPr>
              <a:t>(</a:t>
            </a:r>
            <a:r>
              <a:rPr lang="ko-KR" altLang="en-US" sz="1600" dirty="0">
                <a:latin typeface="맑은 고딕" panose="020B0503020000020004" pitchFamily="50" charset="-127"/>
              </a:rPr>
              <a:t>단기차입금</a:t>
            </a:r>
            <a:r>
              <a:rPr lang="en-US" altLang="ko-KR" sz="1600" dirty="0">
                <a:latin typeface="맑은 고딕" panose="020B0503020000020004" pitchFamily="50" charset="-127"/>
              </a:rPr>
              <a:t>)</a:t>
            </a:r>
            <a:r>
              <a:rPr lang="ko-KR" altLang="en-US" sz="1600" dirty="0">
                <a:latin typeface="맑은 고딕" panose="020B0503020000020004" pitchFamily="50" charset="-127"/>
              </a:rPr>
              <a:t> 발생</a:t>
            </a:r>
          </a:p>
        </p:txBody>
      </p:sp>
      <p:grpSp>
        <p:nvGrpSpPr>
          <p:cNvPr id="15" name="그룹 14">
            <a:extLst>
              <a:ext uri="{FF2B5EF4-FFF2-40B4-BE49-F238E27FC236}">
                <a16:creationId xmlns="" xmlns:a16="http://schemas.microsoft.com/office/drawing/2014/main" id="{66AD6CF6-D3C1-4A7A-870C-B14098D78DE0}"/>
              </a:ext>
            </a:extLst>
          </p:cNvPr>
          <p:cNvGrpSpPr/>
          <p:nvPr/>
        </p:nvGrpSpPr>
        <p:grpSpPr>
          <a:xfrm>
            <a:off x="353249" y="3888415"/>
            <a:ext cx="7520829" cy="323850"/>
            <a:chOff x="280097" y="1451539"/>
            <a:chExt cx="7520829" cy="323850"/>
          </a:xfrm>
        </p:grpSpPr>
        <p:sp>
          <p:nvSpPr>
            <p:cNvPr id="16" name="Rectangle 14">
              <a:extLst>
                <a:ext uri="{FF2B5EF4-FFF2-40B4-BE49-F238E27FC236}">
                  <a16:creationId xmlns="" xmlns:a16="http://schemas.microsoft.com/office/drawing/2014/main" id="{0F658E02-80EF-4D92-AAB8-DF54E3FBFF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1577" y="1451539"/>
              <a:ext cx="7309349" cy="323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4608" tIns="37301" rIns="74608" bIns="37301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None/>
              </a:pPr>
              <a:r>
                <a:rPr lang="ko-KR" altLang="en-US" sz="1800" b="1" dirty="0">
                  <a:latin typeface="맑은 고딕" panose="020B0503020000020004" pitchFamily="50" charset="-127"/>
                </a:rPr>
                <a:t>당좌예금과 당좌차월</a:t>
              </a:r>
              <a:endParaRPr lang="ko-KR" altLang="en-US" sz="1800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="" xmlns:a16="http://schemas.microsoft.com/office/drawing/2014/main" id="{8E4DD71F-B76C-410B-B8F9-9F7BE835C90A}"/>
                </a:ext>
              </a:extLst>
            </p:cNvPr>
            <p:cNvSpPr/>
            <p:nvPr/>
          </p:nvSpPr>
          <p:spPr>
            <a:xfrm>
              <a:off x="280097" y="1451539"/>
              <a:ext cx="211480" cy="319079"/>
            </a:xfrm>
            <a:prstGeom prst="rect">
              <a:avLst/>
            </a:prstGeom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ko-KR" altLang="en-US" sz="16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926163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/>
          <p:cNvGrpSpPr/>
          <p:nvPr/>
        </p:nvGrpSpPr>
        <p:grpSpPr>
          <a:xfrm>
            <a:off x="216270" y="1316865"/>
            <a:ext cx="8711460" cy="5150579"/>
            <a:chOff x="190714" y="1320886"/>
            <a:chExt cx="8711460" cy="5150579"/>
          </a:xfrm>
        </p:grpSpPr>
        <p:grpSp>
          <p:nvGrpSpPr>
            <p:cNvPr id="6" name="그룹 5"/>
            <p:cNvGrpSpPr/>
            <p:nvPr/>
          </p:nvGrpSpPr>
          <p:grpSpPr>
            <a:xfrm>
              <a:off x="361935" y="1461499"/>
              <a:ext cx="8540239" cy="5009966"/>
              <a:chOff x="269048" y="1722741"/>
              <a:chExt cx="8648775" cy="5009966"/>
            </a:xfrm>
          </p:grpSpPr>
          <p:sp>
            <p:nvSpPr>
              <p:cNvPr id="7" name="Rectangle 15"/>
              <p:cNvSpPr>
                <a:spLocks noChangeArrowheads="1"/>
              </p:cNvSpPr>
              <p:nvPr/>
            </p:nvSpPr>
            <p:spPr bwMode="auto">
              <a:xfrm>
                <a:off x="269048" y="1746441"/>
                <a:ext cx="8641369" cy="4986266"/>
              </a:xfrm>
              <a:prstGeom prst="foldedCorner">
                <a:avLst>
                  <a:gd name="adj" fmla="val 5125"/>
                </a:avLst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txBody>
              <a:bodyPr lIns="74608" tIns="37301" rIns="74608" bIns="37301" anchor="ctr"/>
              <a:lstStyle>
                <a:lvl1pPr algn="l" defTabSz="995363">
                  <a:spcBef>
                    <a:spcPct val="20000"/>
                  </a:spcBef>
                  <a:buClr>
                    <a:schemeClr val="tx2"/>
                  </a:buClr>
                  <a:buSzPct val="115000"/>
                  <a:buFont typeface="Wingdings" panose="05000000000000000000" pitchFamily="2" charset="2"/>
                  <a:buChar char="§"/>
                  <a:defRPr sz="28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 algn="l" defTabSz="995363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 algn="l" defTabSz="995363">
                  <a:spcBef>
                    <a:spcPct val="20000"/>
                  </a:spcBef>
                  <a:buChar char="•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 algn="l" defTabSz="995363">
                  <a:spcBef>
                    <a:spcPct val="20000"/>
                  </a:spcBef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 algn="l" defTabSz="995363">
                  <a:spcBef>
                    <a:spcPct val="20000"/>
                  </a:spcBef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ko-KR" altLang="en-US" sz="1400" dirty="0"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5" name="직사각형 4"/>
              <p:cNvSpPr/>
              <p:nvPr/>
            </p:nvSpPr>
            <p:spPr>
              <a:xfrm>
                <a:off x="277823" y="1722741"/>
                <a:ext cx="8640000" cy="45719"/>
              </a:xfrm>
              <a:prstGeom prst="rect">
                <a:avLst/>
              </a:prstGeom>
              <a:solidFill>
                <a:srgbClr val="2D61C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4" name="그룹 3"/>
            <p:cNvGrpSpPr/>
            <p:nvPr/>
          </p:nvGrpSpPr>
          <p:grpSpPr>
            <a:xfrm>
              <a:off x="190714" y="1320886"/>
              <a:ext cx="3421166" cy="326952"/>
              <a:chOff x="190714" y="1320889"/>
              <a:chExt cx="2926548" cy="290354"/>
            </a:xfrm>
            <a:solidFill>
              <a:srgbClr val="2D61C8"/>
            </a:solidFill>
          </p:grpSpPr>
          <p:grpSp>
            <p:nvGrpSpPr>
              <p:cNvPr id="23" name="그룹 22"/>
              <p:cNvGrpSpPr/>
              <p:nvPr/>
            </p:nvGrpSpPr>
            <p:grpSpPr>
              <a:xfrm>
                <a:off x="190714" y="1320889"/>
                <a:ext cx="2926548" cy="290354"/>
                <a:chOff x="405822" y="2237753"/>
                <a:chExt cx="2926548" cy="290354"/>
              </a:xfrm>
              <a:grpFill/>
            </p:grpSpPr>
            <p:sp>
              <p:nvSpPr>
                <p:cNvPr id="24" name="타원 23"/>
                <p:cNvSpPr/>
                <p:nvPr/>
              </p:nvSpPr>
              <p:spPr>
                <a:xfrm>
                  <a:off x="405822" y="2237753"/>
                  <a:ext cx="290351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5" name="타원 24"/>
                <p:cNvSpPr/>
                <p:nvPr/>
              </p:nvSpPr>
              <p:spPr>
                <a:xfrm>
                  <a:off x="3042019" y="2237753"/>
                  <a:ext cx="290351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6" name="직사각형 25"/>
                <p:cNvSpPr/>
                <p:nvPr/>
              </p:nvSpPr>
              <p:spPr>
                <a:xfrm>
                  <a:off x="542512" y="2237755"/>
                  <a:ext cx="2636197" cy="290352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1600" b="1" dirty="0"/>
                    <a:t>예제 </a:t>
                  </a:r>
                  <a:r>
                    <a:rPr lang="en-US" altLang="ko-KR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5-1</a:t>
                  </a:r>
                  <a:r>
                    <a:rPr lang="en-US" altLang="ko-KR" sz="1600" b="1" dirty="0"/>
                    <a:t> </a:t>
                  </a:r>
                  <a:r>
                    <a:rPr lang="ko-KR" altLang="en-US" sz="1600" b="1" dirty="0"/>
                    <a:t>당좌예금과 당좌차월</a:t>
                  </a:r>
                </a:p>
              </p:txBody>
            </p:sp>
            <p:sp>
              <p:nvSpPr>
                <p:cNvPr id="27" name="타원 26"/>
                <p:cNvSpPr/>
                <p:nvPr/>
              </p:nvSpPr>
              <p:spPr>
                <a:xfrm>
                  <a:off x="427833" y="2256153"/>
                  <a:ext cx="253549" cy="25354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pic>
            <p:nvPicPr>
              <p:cNvPr id="3" name="그림 2" descr="Log in | Sign Up Upload Clipart"/>
              <p:cNvPicPr>
                <a:picLocks noChangeAspect="1"/>
              </p:cNvPicPr>
              <p:nvPr/>
            </p:nvPicPr>
            <p:blipFill>
              <a:blip r:embed="rId2" cstate="email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265229" y="1359640"/>
                <a:ext cx="147147" cy="229618"/>
              </a:xfrm>
              <a:prstGeom prst="rect">
                <a:avLst/>
              </a:prstGeom>
            </p:spPr>
          </p:pic>
        </p:grpSp>
      </p:grpSp>
      <p:sp>
        <p:nvSpPr>
          <p:cNvPr id="79" name="Rectangle 12"/>
          <p:cNvSpPr>
            <a:spLocks noChangeArrowheads="1"/>
          </p:cNvSpPr>
          <p:nvPr/>
        </p:nvSpPr>
        <p:spPr bwMode="auto">
          <a:xfrm>
            <a:off x="684212" y="1791785"/>
            <a:ext cx="7775575" cy="1295400"/>
          </a:xfrm>
          <a:prstGeom prst="rect">
            <a:avLst/>
          </a:prstGeom>
          <a:noFill/>
          <a:ln>
            <a:noFill/>
          </a:ln>
        </p:spPr>
        <p:txBody>
          <a:bodyPr lIns="99477" tIns="49735" rIns="99477" bIns="49735"/>
          <a:lstStyle>
            <a:lvl1pPr algn="l" defTabSz="995363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 defTabSz="995363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 defTabSz="995363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 defTabSz="995363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 defTabSz="995363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95363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(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주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)</a:t>
            </a:r>
            <a:r>
              <a:rPr kumimoji="0" lang="ko-KR" altLang="en-US" sz="1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덕송은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 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20×1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년 당좌예금을 개설하고 다음의 거래를 하였다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. 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각 거래와 회계처리는 다음과 같다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.</a:t>
            </a:r>
          </a:p>
          <a:p>
            <a:pPr marL="0" marR="0" lvl="0" indent="0" algn="l" defTabSz="995363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</a:endParaRPr>
          </a:p>
          <a:p>
            <a:pPr marL="0" marR="0" lvl="0" indent="0" algn="l" defTabSz="995363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① </a:t>
            </a:r>
            <a:r>
              <a:rPr kumimoji="0" lang="ko-KR" altLang="en-US" sz="1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은행에 당좌예금계좌를 개설하고 현금 ￦</a:t>
            </a:r>
            <a:r>
              <a:rPr kumimoji="0" lang="en-US" altLang="ko-KR" sz="1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650,000</a:t>
            </a:r>
            <a:r>
              <a:rPr kumimoji="0" lang="ko-KR" altLang="en-US" sz="1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을 예입하였으며</a:t>
            </a:r>
            <a:r>
              <a:rPr kumimoji="0" lang="en-US" altLang="ko-KR" sz="1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, </a:t>
            </a:r>
            <a:r>
              <a:rPr kumimoji="0" lang="ko-KR" altLang="en-US" sz="1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당좌차월 한도는 </a:t>
            </a:r>
          </a:p>
          <a:p>
            <a:pPr marL="0" marR="0" lvl="0" indent="0" algn="l" defTabSz="995363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    ￦</a:t>
            </a:r>
            <a:r>
              <a:rPr kumimoji="0" lang="en-US" altLang="ko-KR" sz="1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2,000,000</a:t>
            </a:r>
            <a:r>
              <a:rPr kumimoji="0" lang="ko-KR" altLang="en-US" sz="1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이다</a:t>
            </a:r>
            <a:r>
              <a:rPr kumimoji="0" lang="en-US" altLang="ko-KR" sz="1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.</a:t>
            </a:r>
          </a:p>
        </p:txBody>
      </p:sp>
      <p:sp>
        <p:nvSpPr>
          <p:cNvPr id="80" name="Rectangle 12"/>
          <p:cNvSpPr>
            <a:spLocks noChangeArrowheads="1"/>
          </p:cNvSpPr>
          <p:nvPr/>
        </p:nvSpPr>
        <p:spPr bwMode="auto">
          <a:xfrm>
            <a:off x="971248" y="3000180"/>
            <a:ext cx="7200000" cy="4318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txBody>
          <a:bodyPr lIns="99477" tIns="49735" rIns="99477" bIns="49735"/>
          <a:lstStyle>
            <a:lvl1pPr algn="l" defTabSz="995363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 defTabSz="995363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 defTabSz="995363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 defTabSz="995363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 defTabSz="995363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95363" eaLnBrk="1" fontAlgn="base" latinLnBrk="0" hangingPunct="1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   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    (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차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) 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당 좌 예 금           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650,000          (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대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) 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현         금            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650,000</a:t>
            </a:r>
          </a:p>
        </p:txBody>
      </p:sp>
      <p:sp>
        <p:nvSpPr>
          <p:cNvPr id="81" name="Rectangle 12"/>
          <p:cNvSpPr>
            <a:spLocks noChangeArrowheads="1"/>
          </p:cNvSpPr>
          <p:nvPr/>
        </p:nvSpPr>
        <p:spPr bwMode="auto">
          <a:xfrm>
            <a:off x="684212" y="3447548"/>
            <a:ext cx="7775575" cy="360362"/>
          </a:xfrm>
          <a:prstGeom prst="rect">
            <a:avLst/>
          </a:prstGeom>
          <a:noFill/>
          <a:ln>
            <a:noFill/>
          </a:ln>
        </p:spPr>
        <p:txBody>
          <a:bodyPr lIns="99477" tIns="49735" rIns="99477" bIns="49735"/>
          <a:lstStyle>
            <a:lvl1pPr algn="l" defTabSz="995363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 defTabSz="995363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 defTabSz="995363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 defTabSz="995363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 defTabSz="995363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95363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② </a:t>
            </a:r>
            <a:r>
              <a:rPr kumimoji="0" lang="ko-KR" altLang="en-US" sz="1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비품을 구입하고 대금 ￦</a:t>
            </a:r>
            <a:r>
              <a:rPr kumimoji="0" lang="en-US" altLang="ko-KR" sz="1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900,000</a:t>
            </a:r>
            <a:r>
              <a:rPr kumimoji="0" lang="ko-KR" altLang="en-US" sz="1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을 당좌수표를 발행하여 지급하였다</a:t>
            </a:r>
            <a:r>
              <a:rPr kumimoji="0" lang="en-US" altLang="ko-KR" sz="1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.</a:t>
            </a:r>
          </a:p>
        </p:txBody>
      </p:sp>
      <p:sp>
        <p:nvSpPr>
          <p:cNvPr id="82" name="Rectangle 12"/>
          <p:cNvSpPr>
            <a:spLocks noChangeArrowheads="1"/>
          </p:cNvSpPr>
          <p:nvPr/>
        </p:nvSpPr>
        <p:spPr bwMode="auto">
          <a:xfrm>
            <a:off x="971248" y="3807910"/>
            <a:ext cx="7200000" cy="4318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txBody>
          <a:bodyPr lIns="99477" tIns="49735" rIns="99477" bIns="49735"/>
          <a:lstStyle>
            <a:lvl1pPr algn="l" defTabSz="995363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 defTabSz="995363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 defTabSz="995363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 defTabSz="995363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 defTabSz="995363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95363" eaLnBrk="1" fontAlgn="base" latinLnBrk="0" hangingPunct="1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   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    (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차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) 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비       품             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900,000          (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대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) 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당 좌 예 금            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900,000</a:t>
            </a:r>
          </a:p>
        </p:txBody>
      </p:sp>
      <p:sp>
        <p:nvSpPr>
          <p:cNvPr id="83" name="Rectangle 12"/>
          <p:cNvSpPr>
            <a:spLocks noChangeArrowheads="1"/>
          </p:cNvSpPr>
          <p:nvPr/>
        </p:nvSpPr>
        <p:spPr bwMode="auto">
          <a:xfrm>
            <a:off x="684212" y="4239710"/>
            <a:ext cx="7775575" cy="360363"/>
          </a:xfrm>
          <a:prstGeom prst="rect">
            <a:avLst/>
          </a:prstGeom>
          <a:noFill/>
          <a:ln>
            <a:noFill/>
          </a:ln>
        </p:spPr>
        <p:txBody>
          <a:bodyPr lIns="99477" tIns="49735" rIns="99477" bIns="49735"/>
          <a:lstStyle>
            <a:lvl1pPr algn="l" defTabSz="995363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 defTabSz="995363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 defTabSz="995363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 defTabSz="995363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 defTabSz="995363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95363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③ </a:t>
            </a:r>
            <a:r>
              <a:rPr kumimoji="0" lang="ko-KR" altLang="en-US" sz="1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거래처로부터 매출채권 ￦</a:t>
            </a:r>
            <a:r>
              <a:rPr kumimoji="0" lang="en-US" altLang="ko-KR" sz="1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150,000</a:t>
            </a:r>
            <a:r>
              <a:rPr kumimoji="0" lang="ko-KR" altLang="en-US" sz="1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을 당좌수표로 회수하여 당좌예금 계좌에 입금하다</a:t>
            </a:r>
            <a:r>
              <a:rPr kumimoji="0" lang="en-US" altLang="ko-KR" sz="1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.</a:t>
            </a:r>
          </a:p>
        </p:txBody>
      </p:sp>
      <p:sp>
        <p:nvSpPr>
          <p:cNvPr id="84" name="Rectangle 12"/>
          <p:cNvSpPr>
            <a:spLocks noChangeArrowheads="1"/>
          </p:cNvSpPr>
          <p:nvPr/>
        </p:nvSpPr>
        <p:spPr bwMode="auto">
          <a:xfrm>
            <a:off x="971248" y="4600073"/>
            <a:ext cx="7200000" cy="4318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txBody>
          <a:bodyPr lIns="99477" tIns="49735" rIns="99477" bIns="49735"/>
          <a:lstStyle>
            <a:lvl1pPr algn="l" defTabSz="995363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 defTabSz="995363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 defTabSz="995363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 defTabSz="995363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 defTabSz="995363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95363" eaLnBrk="1" fontAlgn="base" latinLnBrk="0" hangingPunct="1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   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    (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차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) 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당 좌 예 금           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150,000          (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대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) 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매 출 채 권            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150,000</a:t>
            </a:r>
          </a:p>
        </p:txBody>
      </p:sp>
      <p:sp>
        <p:nvSpPr>
          <p:cNvPr id="85" name="Rectangle 12"/>
          <p:cNvSpPr>
            <a:spLocks noChangeArrowheads="1"/>
          </p:cNvSpPr>
          <p:nvPr/>
        </p:nvSpPr>
        <p:spPr bwMode="auto">
          <a:xfrm>
            <a:off x="684212" y="5031873"/>
            <a:ext cx="7775575" cy="360362"/>
          </a:xfrm>
          <a:prstGeom prst="rect">
            <a:avLst/>
          </a:prstGeom>
          <a:noFill/>
          <a:ln>
            <a:noFill/>
          </a:ln>
        </p:spPr>
        <p:txBody>
          <a:bodyPr lIns="99477" tIns="49735" rIns="99477" bIns="49735"/>
          <a:lstStyle>
            <a:lvl1pPr algn="l" defTabSz="995363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 defTabSz="995363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 defTabSz="995363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 defTabSz="995363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 defTabSz="995363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95363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④ </a:t>
            </a:r>
            <a:r>
              <a:rPr kumimoji="0" lang="ko-KR" altLang="en-US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은행으로부터 당좌차월에 대한 이자비용 ￦</a:t>
            </a:r>
            <a:r>
              <a:rPr kumimoji="0" lang="en-US" altLang="ko-KR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50,000</a:t>
            </a:r>
            <a:r>
              <a:rPr kumimoji="0" lang="ko-KR" altLang="en-US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을 차감하였다는 통지를 받았다</a:t>
            </a:r>
            <a:r>
              <a:rPr kumimoji="0" lang="en-US" altLang="ko-KR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.</a:t>
            </a:r>
          </a:p>
        </p:txBody>
      </p:sp>
      <p:sp>
        <p:nvSpPr>
          <p:cNvPr id="86" name="Rectangle 12"/>
          <p:cNvSpPr>
            <a:spLocks noChangeArrowheads="1"/>
          </p:cNvSpPr>
          <p:nvPr/>
        </p:nvSpPr>
        <p:spPr bwMode="auto">
          <a:xfrm>
            <a:off x="971248" y="5392235"/>
            <a:ext cx="7200000" cy="4318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txBody>
          <a:bodyPr lIns="99477" tIns="49735" rIns="99477" bIns="49735"/>
          <a:lstStyle>
            <a:lvl1pPr algn="l" defTabSz="995363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 defTabSz="995363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 defTabSz="995363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 defTabSz="995363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 defTabSz="995363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95363" eaLnBrk="1" fontAlgn="base" latinLnBrk="0" hangingPunct="1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   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    (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차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) 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이 자 비 용            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50,000           (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대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) 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당 좌 예 금             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50,000</a:t>
            </a:r>
          </a:p>
        </p:txBody>
      </p:sp>
      <p:sp>
        <p:nvSpPr>
          <p:cNvPr id="87" name="Rectangle 12"/>
          <p:cNvSpPr>
            <a:spLocks noChangeArrowheads="1"/>
          </p:cNvSpPr>
          <p:nvPr/>
        </p:nvSpPr>
        <p:spPr bwMode="auto">
          <a:xfrm>
            <a:off x="878522" y="5891181"/>
            <a:ext cx="7775575" cy="576263"/>
          </a:xfrm>
          <a:prstGeom prst="rect">
            <a:avLst/>
          </a:prstGeom>
          <a:noFill/>
          <a:ln>
            <a:noFill/>
          </a:ln>
        </p:spPr>
        <p:txBody>
          <a:bodyPr lIns="99477" tIns="49735" rIns="99477" bIns="49735"/>
          <a:lstStyle>
            <a:lvl1pPr algn="l" defTabSz="995363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 defTabSz="995363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 defTabSz="995363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 defTabSz="995363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 defTabSz="995363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defTabSz="995363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당좌예금의 잔액은 다음과 같이 대변 ￦</a:t>
            </a:r>
            <a:r>
              <a:rPr kumimoji="0" lang="en-US" altLang="ko-KR" sz="1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150,000</a:t>
            </a:r>
            <a:r>
              <a:rPr kumimoji="0" lang="ko-KR" altLang="en-US" sz="1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이므로 이를 당좌차월로 분류하고 재무상태표에는 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맑은 고딕" panose="020B0503020000020004" pitchFamily="50" charset="-127"/>
              </a:rPr>
              <a:t>단기차입금</a:t>
            </a:r>
            <a:r>
              <a:rPr kumimoji="0" lang="ko-KR" altLang="en-US" sz="1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으로 표시</a:t>
            </a:r>
            <a:endParaRPr kumimoji="0" lang="en-US" altLang="ko-KR" sz="14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709962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/>
          <p:cNvGrpSpPr/>
          <p:nvPr/>
        </p:nvGrpSpPr>
        <p:grpSpPr>
          <a:xfrm>
            <a:off x="216270" y="1364521"/>
            <a:ext cx="8711460" cy="5150579"/>
            <a:chOff x="190714" y="1320886"/>
            <a:chExt cx="8711460" cy="5150579"/>
          </a:xfrm>
        </p:grpSpPr>
        <p:grpSp>
          <p:nvGrpSpPr>
            <p:cNvPr id="6" name="그룹 5"/>
            <p:cNvGrpSpPr/>
            <p:nvPr/>
          </p:nvGrpSpPr>
          <p:grpSpPr>
            <a:xfrm>
              <a:off x="361935" y="1461499"/>
              <a:ext cx="8540239" cy="5009966"/>
              <a:chOff x="269048" y="1722741"/>
              <a:chExt cx="8648775" cy="5009966"/>
            </a:xfrm>
          </p:grpSpPr>
          <p:sp>
            <p:nvSpPr>
              <p:cNvPr id="7" name="Rectangle 15"/>
              <p:cNvSpPr>
                <a:spLocks noChangeArrowheads="1"/>
              </p:cNvSpPr>
              <p:nvPr/>
            </p:nvSpPr>
            <p:spPr bwMode="auto">
              <a:xfrm>
                <a:off x="269048" y="1746441"/>
                <a:ext cx="8641369" cy="4986266"/>
              </a:xfrm>
              <a:prstGeom prst="foldedCorner">
                <a:avLst>
                  <a:gd name="adj" fmla="val 5125"/>
                </a:avLst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txBody>
              <a:bodyPr lIns="74608" tIns="37301" rIns="74608" bIns="37301" anchor="ctr"/>
              <a:lstStyle>
                <a:lvl1pPr algn="l" defTabSz="995363">
                  <a:spcBef>
                    <a:spcPct val="20000"/>
                  </a:spcBef>
                  <a:buClr>
                    <a:schemeClr val="tx2"/>
                  </a:buClr>
                  <a:buSzPct val="115000"/>
                  <a:buFont typeface="Wingdings" panose="05000000000000000000" pitchFamily="2" charset="2"/>
                  <a:buChar char="§"/>
                  <a:defRPr sz="28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 algn="l" defTabSz="995363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 algn="l" defTabSz="995363">
                  <a:spcBef>
                    <a:spcPct val="20000"/>
                  </a:spcBef>
                  <a:buChar char="•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 algn="l" defTabSz="995363">
                  <a:spcBef>
                    <a:spcPct val="20000"/>
                  </a:spcBef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 algn="l" defTabSz="995363">
                  <a:spcBef>
                    <a:spcPct val="20000"/>
                  </a:spcBef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ko-KR" altLang="en-US" sz="1400" dirty="0"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5" name="직사각형 4"/>
              <p:cNvSpPr/>
              <p:nvPr/>
            </p:nvSpPr>
            <p:spPr>
              <a:xfrm>
                <a:off x="277823" y="1722741"/>
                <a:ext cx="8640000" cy="45719"/>
              </a:xfrm>
              <a:prstGeom prst="rect">
                <a:avLst/>
              </a:prstGeom>
              <a:solidFill>
                <a:srgbClr val="2D61C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4" name="그룹 3"/>
            <p:cNvGrpSpPr/>
            <p:nvPr/>
          </p:nvGrpSpPr>
          <p:grpSpPr>
            <a:xfrm>
              <a:off x="190714" y="1320886"/>
              <a:ext cx="3421166" cy="326952"/>
              <a:chOff x="190714" y="1320889"/>
              <a:chExt cx="2926548" cy="290354"/>
            </a:xfrm>
            <a:solidFill>
              <a:srgbClr val="2D61C8"/>
            </a:solidFill>
          </p:grpSpPr>
          <p:grpSp>
            <p:nvGrpSpPr>
              <p:cNvPr id="23" name="그룹 22"/>
              <p:cNvGrpSpPr/>
              <p:nvPr/>
            </p:nvGrpSpPr>
            <p:grpSpPr>
              <a:xfrm>
                <a:off x="190714" y="1320889"/>
                <a:ext cx="2926548" cy="290354"/>
                <a:chOff x="405822" y="2237753"/>
                <a:chExt cx="2926548" cy="290354"/>
              </a:xfrm>
              <a:grpFill/>
            </p:grpSpPr>
            <p:sp>
              <p:nvSpPr>
                <p:cNvPr id="24" name="타원 23"/>
                <p:cNvSpPr/>
                <p:nvPr/>
              </p:nvSpPr>
              <p:spPr>
                <a:xfrm>
                  <a:off x="405822" y="2237753"/>
                  <a:ext cx="290351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5" name="타원 24"/>
                <p:cNvSpPr/>
                <p:nvPr/>
              </p:nvSpPr>
              <p:spPr>
                <a:xfrm>
                  <a:off x="3042019" y="2237753"/>
                  <a:ext cx="290351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6" name="직사각형 25"/>
                <p:cNvSpPr/>
                <p:nvPr/>
              </p:nvSpPr>
              <p:spPr>
                <a:xfrm>
                  <a:off x="542512" y="2237755"/>
                  <a:ext cx="2636197" cy="290352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1600" b="1" dirty="0"/>
                    <a:t>예제 </a:t>
                  </a:r>
                  <a:r>
                    <a:rPr lang="en-US" altLang="ko-KR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5-1</a:t>
                  </a:r>
                  <a:r>
                    <a:rPr lang="en-US" altLang="ko-KR" sz="1600" b="1" dirty="0"/>
                    <a:t> </a:t>
                  </a:r>
                  <a:r>
                    <a:rPr lang="ko-KR" altLang="en-US" sz="1600" b="1" dirty="0"/>
                    <a:t>당좌예금과 당좌차월</a:t>
                  </a:r>
                </a:p>
              </p:txBody>
            </p:sp>
            <p:sp>
              <p:nvSpPr>
                <p:cNvPr id="27" name="타원 26"/>
                <p:cNvSpPr/>
                <p:nvPr/>
              </p:nvSpPr>
              <p:spPr>
                <a:xfrm>
                  <a:off x="427833" y="2256153"/>
                  <a:ext cx="253549" cy="25354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pic>
            <p:nvPicPr>
              <p:cNvPr id="3" name="그림 2" descr="Log in | Sign Up Upload Clipart"/>
              <p:cNvPicPr>
                <a:picLocks noChangeAspect="1"/>
              </p:cNvPicPr>
              <p:nvPr/>
            </p:nvPicPr>
            <p:blipFill>
              <a:blip r:embed="rId2" cstate="email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265229" y="1359640"/>
                <a:ext cx="147147" cy="229618"/>
              </a:xfrm>
              <a:prstGeom prst="rect">
                <a:avLst/>
              </a:prstGeom>
            </p:spPr>
          </p:pic>
        </p:grpSp>
      </p:grpSp>
      <p:sp>
        <p:nvSpPr>
          <p:cNvPr id="33" name="Rectangle 12"/>
          <p:cNvSpPr>
            <a:spLocks noChangeArrowheads="1"/>
          </p:cNvSpPr>
          <p:nvPr/>
        </p:nvSpPr>
        <p:spPr bwMode="auto">
          <a:xfrm>
            <a:off x="684213" y="1844675"/>
            <a:ext cx="7775575" cy="1512888"/>
          </a:xfrm>
          <a:prstGeom prst="rect">
            <a:avLst/>
          </a:prstGeom>
          <a:noFill/>
          <a:ln>
            <a:noFill/>
          </a:ln>
        </p:spPr>
        <p:txBody>
          <a:bodyPr lIns="99477" tIns="49735" rIns="99477" bIns="49735"/>
          <a:lstStyle>
            <a:lvl1pPr algn="l" defTabSz="995363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 defTabSz="995363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 defTabSz="995363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 defTabSz="995363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 defTabSz="995363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95363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5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</a:endParaRPr>
          </a:p>
        </p:txBody>
      </p:sp>
      <p:graphicFrame>
        <p:nvGraphicFramePr>
          <p:cNvPr id="11" name="표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8776797"/>
              </p:ext>
            </p:extLst>
          </p:nvPr>
        </p:nvGraphicFramePr>
        <p:xfrm>
          <a:off x="953364" y="2238081"/>
          <a:ext cx="3618636" cy="1119484"/>
        </p:xfrm>
        <a:graphic>
          <a:graphicData uri="http://schemas.openxmlformats.org/drawingml/2006/table">
            <a:tbl>
              <a:tblPr/>
              <a:tblGrid>
                <a:gridCol w="904659">
                  <a:extLst>
                    <a:ext uri="{9D8B030D-6E8A-4147-A177-3AD203B41FA5}">
                      <a16:colId xmlns="" xmlns:a16="http://schemas.microsoft.com/office/drawing/2014/main" val="858798730"/>
                    </a:ext>
                  </a:extLst>
                </a:gridCol>
                <a:gridCol w="904659">
                  <a:extLst>
                    <a:ext uri="{9D8B030D-6E8A-4147-A177-3AD203B41FA5}">
                      <a16:colId xmlns="" xmlns:a16="http://schemas.microsoft.com/office/drawing/2014/main" val="3123149571"/>
                    </a:ext>
                  </a:extLst>
                </a:gridCol>
                <a:gridCol w="904659">
                  <a:extLst>
                    <a:ext uri="{9D8B030D-6E8A-4147-A177-3AD203B41FA5}">
                      <a16:colId xmlns="" xmlns:a16="http://schemas.microsoft.com/office/drawing/2014/main" val="1622677352"/>
                    </a:ext>
                  </a:extLst>
                </a:gridCol>
                <a:gridCol w="904659">
                  <a:extLst>
                    <a:ext uri="{9D8B030D-6E8A-4147-A177-3AD203B41FA5}">
                      <a16:colId xmlns="" xmlns:a16="http://schemas.microsoft.com/office/drawing/2014/main" val="54199181"/>
                    </a:ext>
                  </a:extLst>
                </a:gridCol>
              </a:tblGrid>
              <a:tr h="279871"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당 좌 예 금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263010031"/>
                  </a:ext>
                </a:extLst>
              </a:tr>
              <a:tr h="279871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①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₩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650,000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②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₩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900,000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4017358119"/>
                  </a:ext>
                </a:extLst>
              </a:tr>
              <a:tr h="279871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③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150,000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④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50,000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710144005"/>
                  </a:ext>
                </a:extLst>
              </a:tr>
              <a:tr h="279871">
                <a:tc>
                  <a:txBody>
                    <a:bodyPr/>
                    <a:lstStyle/>
                    <a:p>
                      <a:pPr algn="l" fontAlgn="ctr"/>
                      <a:endParaRPr lang="ko-KR" alt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잔액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₩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150,000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425846576"/>
                  </a:ext>
                </a:extLst>
              </a:tr>
            </a:tbl>
          </a:graphicData>
        </a:graphic>
      </p:graphicFrame>
      <p:graphicFrame>
        <p:nvGraphicFramePr>
          <p:cNvPr id="13" name="표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1731160"/>
              </p:ext>
            </p:extLst>
          </p:nvPr>
        </p:nvGraphicFramePr>
        <p:xfrm>
          <a:off x="5137873" y="2256798"/>
          <a:ext cx="3137447" cy="1103267"/>
        </p:xfrm>
        <a:graphic>
          <a:graphicData uri="http://schemas.openxmlformats.org/drawingml/2006/table">
            <a:tbl>
              <a:tblPr/>
              <a:tblGrid>
                <a:gridCol w="1451655">
                  <a:extLst>
                    <a:ext uri="{9D8B030D-6E8A-4147-A177-3AD203B41FA5}">
                      <a16:colId xmlns="" xmlns:a16="http://schemas.microsoft.com/office/drawing/2014/main" val="3824437698"/>
                    </a:ext>
                  </a:extLst>
                </a:gridCol>
                <a:gridCol w="842896">
                  <a:extLst>
                    <a:ext uri="{9D8B030D-6E8A-4147-A177-3AD203B41FA5}">
                      <a16:colId xmlns="" xmlns:a16="http://schemas.microsoft.com/office/drawing/2014/main" val="2583786147"/>
                    </a:ext>
                  </a:extLst>
                </a:gridCol>
                <a:gridCol w="842896">
                  <a:extLst>
                    <a:ext uri="{9D8B030D-6E8A-4147-A177-3AD203B41FA5}">
                      <a16:colId xmlns="" xmlns:a16="http://schemas.microsoft.com/office/drawing/2014/main" val="2542202398"/>
                    </a:ext>
                  </a:extLst>
                </a:gridCol>
              </a:tblGrid>
              <a:tr h="222051"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부분재무상태표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445465915"/>
                  </a:ext>
                </a:extLst>
              </a:tr>
              <a:tr h="222051"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(20×1</a:t>
                      </a: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 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</a:t>
                      </a: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 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31</a:t>
                      </a: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595298707"/>
                  </a:ext>
                </a:extLst>
              </a:tr>
              <a:tr h="222051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유동부채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286423678"/>
                  </a:ext>
                </a:extLst>
              </a:tr>
              <a:tr h="434612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단기차입금</a:t>
                      </a:r>
                    </a:p>
                  </a:txBody>
                  <a:tcPr marL="14287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4287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₩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150,000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2588722826"/>
                  </a:ext>
                </a:extLst>
              </a:tr>
            </a:tbl>
          </a:graphicData>
        </a:graphic>
      </p:graphicFrame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931424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그룹 27"/>
          <p:cNvGrpSpPr/>
          <p:nvPr/>
        </p:nvGrpSpPr>
        <p:grpSpPr>
          <a:xfrm>
            <a:off x="257304" y="1451539"/>
            <a:ext cx="8641369" cy="1360241"/>
            <a:chOff x="2626683" y="1722059"/>
            <a:chExt cx="11521825" cy="1813655"/>
          </a:xfrm>
        </p:grpSpPr>
        <p:sp>
          <p:nvSpPr>
            <p:cNvPr id="29" name="Rectangle 15"/>
            <p:cNvSpPr>
              <a:spLocks noChangeArrowheads="1"/>
            </p:cNvSpPr>
            <p:nvPr/>
          </p:nvSpPr>
          <p:spPr bwMode="auto">
            <a:xfrm>
              <a:off x="2626683" y="2125623"/>
              <a:ext cx="11521825" cy="1410091"/>
            </a:xfrm>
            <a:prstGeom prst="rect">
              <a:avLst/>
            </a:prstGeom>
            <a:noFill/>
            <a:ln>
              <a:noFill/>
            </a:ln>
          </p:spPr>
          <p:txBody>
            <a:bodyPr lIns="74608" tIns="37301" rIns="74608" bIns="37301" anchor="t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marL="144000" indent="-144000" latinLnBrk="0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Char char="•"/>
              </a:pP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  <a:sym typeface="Wingdings" panose="05000000000000000000" pitchFamily="2" charset="2"/>
                </a:rPr>
                <a:t>일정한 금액을 현금출납담당자가 보관하면서 소액의 현금지급이 필요한 경우 보관하고 있는 현금에서 지급하도록 하는 </a:t>
              </a:r>
              <a:r>
                <a:rPr lang="ko-KR" altLang="en-US" sz="1600" dirty="0" smtClean="0">
                  <a:solidFill>
                    <a:schemeClr val="tx1"/>
                  </a:solidFill>
                  <a:latin typeface="맑은 고딕" panose="020B0503020000020004" pitchFamily="50" charset="-127"/>
                  <a:sym typeface="Wingdings" panose="05000000000000000000" pitchFamily="2" charset="2"/>
                </a:rPr>
                <a:t>제도</a:t>
              </a:r>
              <a:r>
                <a:rPr lang="en-US" altLang="ko-KR" sz="1600" dirty="0" smtClean="0">
                  <a:solidFill>
                    <a:schemeClr val="tx1"/>
                  </a:solidFill>
                  <a:latin typeface="맑은 고딕" panose="020B0503020000020004" pitchFamily="50" charset="-127"/>
                  <a:sym typeface="Wingdings" panose="05000000000000000000" pitchFamily="2" charset="2"/>
                </a:rPr>
                <a:t> </a:t>
              </a:r>
              <a:endParaRPr lang="en-US" altLang="ko-KR" sz="1600" dirty="0">
                <a:solidFill>
                  <a:srgbClr val="FF0000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30" name="Rectangle 14"/>
            <p:cNvSpPr>
              <a:spLocks noChangeArrowheads="1"/>
            </p:cNvSpPr>
            <p:nvPr/>
          </p:nvSpPr>
          <p:spPr bwMode="auto">
            <a:xfrm>
              <a:off x="2908882" y="1729288"/>
              <a:ext cx="5005415" cy="431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4608" tIns="37301" rIns="74608" bIns="37301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None/>
              </a:pPr>
              <a:r>
                <a:rPr lang="ko-KR" altLang="en-US" sz="1800" b="1" dirty="0">
                  <a:latin typeface="맑은 고딕" panose="020B0503020000020004" pitchFamily="50" charset="-127"/>
                </a:rPr>
                <a:t>소액현금제도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(petty cash system)</a:t>
              </a:r>
              <a:endParaRPr lang="en-US" altLang="ko-KR" sz="1800" dirty="0">
                <a:latin typeface="맑은 고딕" panose="020B0503020000020004" pitchFamily="50" charset="-127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 typeface="Wingdings" panose="05000000000000000000" pitchFamily="2" charset="2"/>
                <a:buNone/>
              </a:pPr>
              <a:endParaRPr lang="ko-KR" altLang="en-US" sz="1800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2" name="직사각형 31"/>
            <p:cNvSpPr/>
            <p:nvPr/>
          </p:nvSpPr>
          <p:spPr>
            <a:xfrm>
              <a:off x="2626908" y="1722059"/>
              <a:ext cx="281973" cy="425439"/>
            </a:xfrm>
            <a:prstGeom prst="rect">
              <a:avLst/>
            </a:prstGeom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ko-KR" altLang="en-US" sz="16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4" name="그룹 33"/>
          <p:cNvGrpSpPr/>
          <p:nvPr/>
        </p:nvGrpSpPr>
        <p:grpSpPr>
          <a:xfrm>
            <a:off x="187213" y="2616105"/>
            <a:ext cx="8711460" cy="3114897"/>
            <a:chOff x="190714" y="1320886"/>
            <a:chExt cx="8711460" cy="3114897"/>
          </a:xfrm>
        </p:grpSpPr>
        <p:grpSp>
          <p:nvGrpSpPr>
            <p:cNvPr id="35" name="그룹 34"/>
            <p:cNvGrpSpPr/>
            <p:nvPr/>
          </p:nvGrpSpPr>
          <p:grpSpPr>
            <a:xfrm>
              <a:off x="361935" y="1461499"/>
              <a:ext cx="8540239" cy="2974284"/>
              <a:chOff x="269048" y="1722741"/>
              <a:chExt cx="8648775" cy="2974284"/>
            </a:xfrm>
          </p:grpSpPr>
          <p:sp>
            <p:nvSpPr>
              <p:cNvPr id="44" name="Rectangle 15"/>
              <p:cNvSpPr>
                <a:spLocks noChangeArrowheads="1"/>
              </p:cNvSpPr>
              <p:nvPr/>
            </p:nvSpPr>
            <p:spPr bwMode="auto">
              <a:xfrm>
                <a:off x="269048" y="1746441"/>
                <a:ext cx="8641369" cy="2950584"/>
              </a:xfrm>
              <a:prstGeom prst="foldedCorner">
                <a:avLst>
                  <a:gd name="adj" fmla="val 5125"/>
                </a:avLst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txBody>
              <a:bodyPr lIns="74608" tIns="37301" rIns="74608" bIns="37301" anchor="ctr"/>
              <a:lstStyle>
                <a:lvl1pPr algn="l" defTabSz="995363">
                  <a:spcBef>
                    <a:spcPct val="20000"/>
                  </a:spcBef>
                  <a:buClr>
                    <a:schemeClr val="tx2"/>
                  </a:buClr>
                  <a:buSzPct val="115000"/>
                  <a:buFont typeface="Wingdings" panose="05000000000000000000" pitchFamily="2" charset="2"/>
                  <a:buChar char="§"/>
                  <a:defRPr sz="28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 algn="l" defTabSz="995363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 algn="l" defTabSz="995363">
                  <a:spcBef>
                    <a:spcPct val="20000"/>
                  </a:spcBef>
                  <a:buChar char="•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 algn="l" defTabSz="995363">
                  <a:spcBef>
                    <a:spcPct val="20000"/>
                  </a:spcBef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 algn="l" defTabSz="995363">
                  <a:spcBef>
                    <a:spcPct val="20000"/>
                  </a:spcBef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ko-KR" altLang="en-US" sz="1400" dirty="0"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45" name="직사각형 44"/>
              <p:cNvSpPr/>
              <p:nvPr/>
            </p:nvSpPr>
            <p:spPr>
              <a:xfrm>
                <a:off x="277823" y="1722741"/>
                <a:ext cx="8640000" cy="45719"/>
              </a:xfrm>
              <a:prstGeom prst="rect">
                <a:avLst/>
              </a:prstGeom>
              <a:solidFill>
                <a:srgbClr val="2D61C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37" name="그룹 36"/>
            <p:cNvGrpSpPr/>
            <p:nvPr/>
          </p:nvGrpSpPr>
          <p:grpSpPr>
            <a:xfrm>
              <a:off x="190714" y="1320886"/>
              <a:ext cx="2329086" cy="326952"/>
              <a:chOff x="190714" y="1320889"/>
              <a:chExt cx="1992356" cy="290354"/>
            </a:xfrm>
            <a:solidFill>
              <a:srgbClr val="2D61C8"/>
            </a:solidFill>
          </p:grpSpPr>
          <p:grpSp>
            <p:nvGrpSpPr>
              <p:cNvPr id="38" name="그룹 37"/>
              <p:cNvGrpSpPr/>
              <p:nvPr/>
            </p:nvGrpSpPr>
            <p:grpSpPr>
              <a:xfrm>
                <a:off x="190714" y="1320889"/>
                <a:ext cx="1992356" cy="290354"/>
                <a:chOff x="405822" y="2237753"/>
                <a:chExt cx="1992356" cy="290354"/>
              </a:xfrm>
              <a:grpFill/>
            </p:grpSpPr>
            <p:sp>
              <p:nvSpPr>
                <p:cNvPr id="40" name="타원 39"/>
                <p:cNvSpPr/>
                <p:nvPr/>
              </p:nvSpPr>
              <p:spPr>
                <a:xfrm>
                  <a:off x="405822" y="2237753"/>
                  <a:ext cx="290351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1" name="타원 40"/>
                <p:cNvSpPr/>
                <p:nvPr/>
              </p:nvSpPr>
              <p:spPr>
                <a:xfrm>
                  <a:off x="2107827" y="2237753"/>
                  <a:ext cx="290351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2" name="직사각형 41"/>
                <p:cNvSpPr/>
                <p:nvPr/>
              </p:nvSpPr>
              <p:spPr>
                <a:xfrm>
                  <a:off x="542512" y="2237755"/>
                  <a:ext cx="1731208" cy="290352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1600" b="1" dirty="0"/>
                    <a:t>예제 </a:t>
                  </a:r>
                  <a:r>
                    <a:rPr lang="en-US" altLang="ko-KR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5-2</a:t>
                  </a:r>
                  <a:r>
                    <a:rPr lang="en-US" altLang="ko-KR" sz="1600" b="1" dirty="0"/>
                    <a:t> </a:t>
                  </a:r>
                  <a:r>
                    <a:rPr lang="ko-KR" altLang="en-US" sz="1600" b="1" dirty="0" err="1"/>
                    <a:t>소액현금</a:t>
                  </a:r>
                  <a:endParaRPr lang="ko-KR" altLang="en-US" sz="1600" b="1" dirty="0"/>
                </a:p>
              </p:txBody>
            </p:sp>
            <p:sp>
              <p:nvSpPr>
                <p:cNvPr id="43" name="타원 42"/>
                <p:cNvSpPr/>
                <p:nvPr/>
              </p:nvSpPr>
              <p:spPr>
                <a:xfrm>
                  <a:off x="427833" y="2256153"/>
                  <a:ext cx="253549" cy="25354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pic>
            <p:nvPicPr>
              <p:cNvPr id="39" name="그림 38" descr="Log in | Sign Up Upload Clipart"/>
              <p:cNvPicPr>
                <a:picLocks noChangeAspect="1"/>
              </p:cNvPicPr>
              <p:nvPr/>
            </p:nvPicPr>
            <p:blipFill>
              <a:blip r:embed="rId2" cstate="email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265229" y="1359640"/>
                <a:ext cx="147147" cy="229618"/>
              </a:xfrm>
              <a:prstGeom prst="rect">
                <a:avLst/>
              </a:prstGeom>
            </p:spPr>
          </p:pic>
        </p:grpSp>
      </p:grpSp>
      <p:sp>
        <p:nvSpPr>
          <p:cNvPr id="56" name="Rectangle 12"/>
          <p:cNvSpPr>
            <a:spLocks noChangeArrowheads="1"/>
          </p:cNvSpPr>
          <p:nvPr/>
        </p:nvSpPr>
        <p:spPr bwMode="auto">
          <a:xfrm>
            <a:off x="684213" y="3094686"/>
            <a:ext cx="7775575" cy="1295400"/>
          </a:xfrm>
          <a:prstGeom prst="rect">
            <a:avLst/>
          </a:prstGeom>
          <a:noFill/>
          <a:ln>
            <a:noFill/>
          </a:ln>
        </p:spPr>
        <p:txBody>
          <a:bodyPr lIns="99477" tIns="49735" rIns="99477" bIns="49735"/>
          <a:lstStyle>
            <a:lvl1pPr algn="l" defTabSz="995363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 defTabSz="995363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 defTabSz="995363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 defTabSz="995363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 defTabSz="995363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95363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(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주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)</a:t>
            </a:r>
            <a:r>
              <a:rPr kumimoji="0" lang="ko-KR" altLang="en-US" sz="1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덕송은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 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20×1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년 소액현금제도를 처음으로 실시하였다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. 20×1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년 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3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월과 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4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월 중에 다음 거래가 발생하였다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.</a:t>
            </a:r>
          </a:p>
          <a:p>
            <a:pPr marL="0" marR="0" lvl="0" indent="0" algn="just" defTabSz="995363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</a:endParaRPr>
          </a:p>
          <a:p>
            <a:pPr marL="180000" marR="0" lvl="0" indent="-180000" defTabSz="995363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① 3</a:t>
            </a:r>
            <a:r>
              <a:rPr kumimoji="0" lang="ko-KR" altLang="en-US" sz="1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월 </a:t>
            </a:r>
            <a:r>
              <a:rPr kumimoji="0" lang="en-US" altLang="ko-KR" sz="1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1</a:t>
            </a:r>
            <a:r>
              <a:rPr kumimoji="0" lang="ko-KR" altLang="en-US" sz="1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일에 ￦</a:t>
            </a:r>
            <a:r>
              <a:rPr kumimoji="0" lang="en-US" altLang="ko-KR" sz="1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200,000</a:t>
            </a:r>
            <a:r>
              <a:rPr kumimoji="0" lang="ko-KR" altLang="en-US" sz="1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을 소액현금기금으로 설정하기 위하여 당좌예금에서 현금을 인출하여 </a:t>
            </a:r>
            <a:r>
              <a:rPr kumimoji="0" lang="ko-KR" altLang="en-US" sz="140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일선부서에</a:t>
            </a:r>
            <a:r>
              <a:rPr kumimoji="0" lang="ko-KR" altLang="en-US" sz="1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 건네주었다</a:t>
            </a:r>
            <a:r>
              <a:rPr kumimoji="0" lang="en-US" altLang="ko-KR" sz="1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.</a:t>
            </a:r>
          </a:p>
        </p:txBody>
      </p:sp>
      <p:sp>
        <p:nvSpPr>
          <p:cNvPr id="57" name="Rectangle 12"/>
          <p:cNvSpPr>
            <a:spLocks noChangeArrowheads="1"/>
          </p:cNvSpPr>
          <p:nvPr/>
        </p:nvSpPr>
        <p:spPr bwMode="auto">
          <a:xfrm>
            <a:off x="1024897" y="4572955"/>
            <a:ext cx="7200000" cy="4318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txBody>
          <a:bodyPr lIns="99477" tIns="49735" rIns="99477" bIns="49735"/>
          <a:lstStyle>
            <a:lvl1pPr algn="l" defTabSz="995363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 defTabSz="995363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 defTabSz="995363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 defTabSz="995363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 defTabSz="995363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95363" eaLnBrk="1" fontAlgn="base" latinLnBrk="0" hangingPunct="1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ko-KR" altLang="en-US" sz="1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   </a:t>
            </a:r>
            <a:r>
              <a:rPr kumimoji="0" lang="en-US" altLang="ko-KR" sz="1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    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(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차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) 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소 액 현 금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           200,000            (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대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) 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당 좌 예 금            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200,000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876441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그룹 33"/>
          <p:cNvGrpSpPr/>
          <p:nvPr/>
        </p:nvGrpSpPr>
        <p:grpSpPr>
          <a:xfrm>
            <a:off x="216270" y="1350423"/>
            <a:ext cx="8711460" cy="4481966"/>
            <a:chOff x="190714" y="1320886"/>
            <a:chExt cx="8711460" cy="4481966"/>
          </a:xfrm>
        </p:grpSpPr>
        <p:grpSp>
          <p:nvGrpSpPr>
            <p:cNvPr id="35" name="그룹 34"/>
            <p:cNvGrpSpPr/>
            <p:nvPr/>
          </p:nvGrpSpPr>
          <p:grpSpPr>
            <a:xfrm>
              <a:off x="361935" y="1461499"/>
              <a:ext cx="8540239" cy="4341353"/>
              <a:chOff x="269048" y="1722741"/>
              <a:chExt cx="8648775" cy="4341353"/>
            </a:xfrm>
          </p:grpSpPr>
          <p:sp>
            <p:nvSpPr>
              <p:cNvPr id="44" name="Rectangle 15"/>
              <p:cNvSpPr>
                <a:spLocks noChangeArrowheads="1"/>
              </p:cNvSpPr>
              <p:nvPr/>
            </p:nvSpPr>
            <p:spPr bwMode="auto">
              <a:xfrm>
                <a:off x="269048" y="1746441"/>
                <a:ext cx="8641369" cy="4317653"/>
              </a:xfrm>
              <a:prstGeom prst="foldedCorner">
                <a:avLst>
                  <a:gd name="adj" fmla="val 5125"/>
                </a:avLst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txBody>
              <a:bodyPr lIns="74608" tIns="37301" rIns="74608" bIns="37301" anchor="ctr"/>
              <a:lstStyle>
                <a:lvl1pPr algn="l" defTabSz="995363">
                  <a:spcBef>
                    <a:spcPct val="20000"/>
                  </a:spcBef>
                  <a:buClr>
                    <a:schemeClr val="tx2"/>
                  </a:buClr>
                  <a:buSzPct val="115000"/>
                  <a:buFont typeface="Wingdings" panose="05000000000000000000" pitchFamily="2" charset="2"/>
                  <a:buChar char="§"/>
                  <a:defRPr sz="28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 algn="l" defTabSz="995363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 algn="l" defTabSz="995363">
                  <a:spcBef>
                    <a:spcPct val="20000"/>
                  </a:spcBef>
                  <a:buChar char="•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 algn="l" defTabSz="995363">
                  <a:spcBef>
                    <a:spcPct val="20000"/>
                  </a:spcBef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 algn="l" defTabSz="995363">
                  <a:spcBef>
                    <a:spcPct val="20000"/>
                  </a:spcBef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ko-KR" altLang="en-US" sz="1400" dirty="0"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45" name="직사각형 44"/>
              <p:cNvSpPr/>
              <p:nvPr/>
            </p:nvSpPr>
            <p:spPr>
              <a:xfrm>
                <a:off x="277823" y="1722741"/>
                <a:ext cx="8640000" cy="45719"/>
              </a:xfrm>
              <a:prstGeom prst="rect">
                <a:avLst/>
              </a:prstGeom>
              <a:solidFill>
                <a:srgbClr val="2D61C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37" name="그룹 36"/>
            <p:cNvGrpSpPr/>
            <p:nvPr/>
          </p:nvGrpSpPr>
          <p:grpSpPr>
            <a:xfrm>
              <a:off x="190714" y="1320886"/>
              <a:ext cx="2329086" cy="326952"/>
              <a:chOff x="190714" y="1320889"/>
              <a:chExt cx="1992356" cy="290354"/>
            </a:xfrm>
            <a:solidFill>
              <a:srgbClr val="2D61C8"/>
            </a:solidFill>
          </p:grpSpPr>
          <p:grpSp>
            <p:nvGrpSpPr>
              <p:cNvPr id="38" name="그룹 37"/>
              <p:cNvGrpSpPr/>
              <p:nvPr/>
            </p:nvGrpSpPr>
            <p:grpSpPr>
              <a:xfrm>
                <a:off x="190714" y="1320889"/>
                <a:ext cx="1992356" cy="290354"/>
                <a:chOff x="405822" y="2237753"/>
                <a:chExt cx="1992356" cy="290354"/>
              </a:xfrm>
              <a:grpFill/>
            </p:grpSpPr>
            <p:sp>
              <p:nvSpPr>
                <p:cNvPr id="40" name="타원 39"/>
                <p:cNvSpPr/>
                <p:nvPr/>
              </p:nvSpPr>
              <p:spPr>
                <a:xfrm>
                  <a:off x="405822" y="2237753"/>
                  <a:ext cx="290351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1" name="타원 40"/>
                <p:cNvSpPr/>
                <p:nvPr/>
              </p:nvSpPr>
              <p:spPr>
                <a:xfrm>
                  <a:off x="2107827" y="2237753"/>
                  <a:ext cx="290351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2" name="직사각형 41"/>
                <p:cNvSpPr/>
                <p:nvPr/>
              </p:nvSpPr>
              <p:spPr>
                <a:xfrm>
                  <a:off x="542512" y="2237755"/>
                  <a:ext cx="1731208" cy="290352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1600" b="1" dirty="0"/>
                    <a:t>예제 </a:t>
                  </a:r>
                  <a:r>
                    <a:rPr lang="en-US" altLang="ko-KR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5-2</a:t>
                  </a:r>
                  <a:r>
                    <a:rPr lang="en-US" altLang="ko-KR" sz="1600" b="1" dirty="0"/>
                    <a:t> </a:t>
                  </a:r>
                  <a:r>
                    <a:rPr lang="ko-KR" altLang="en-US" sz="1600" b="1" dirty="0" err="1"/>
                    <a:t>소액현금</a:t>
                  </a:r>
                  <a:endParaRPr lang="ko-KR" altLang="en-US" sz="1600" b="1" dirty="0"/>
                </a:p>
              </p:txBody>
            </p:sp>
            <p:sp>
              <p:nvSpPr>
                <p:cNvPr id="43" name="타원 42"/>
                <p:cNvSpPr/>
                <p:nvPr/>
              </p:nvSpPr>
              <p:spPr>
                <a:xfrm>
                  <a:off x="427833" y="2256153"/>
                  <a:ext cx="253549" cy="25354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pic>
            <p:nvPicPr>
              <p:cNvPr id="39" name="그림 38" descr="Log in | Sign Up Upload Clipart"/>
              <p:cNvPicPr>
                <a:picLocks noChangeAspect="1"/>
              </p:cNvPicPr>
              <p:nvPr/>
            </p:nvPicPr>
            <p:blipFill>
              <a:blip r:embed="rId2" cstate="email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265229" y="1359640"/>
                <a:ext cx="147147" cy="229618"/>
              </a:xfrm>
              <a:prstGeom prst="rect">
                <a:avLst/>
              </a:prstGeom>
            </p:spPr>
          </p:pic>
        </p:grpSp>
      </p:grpSp>
      <p:sp>
        <p:nvSpPr>
          <p:cNvPr id="49" name="Rectangle 12"/>
          <p:cNvSpPr>
            <a:spLocks noChangeArrowheads="1"/>
          </p:cNvSpPr>
          <p:nvPr/>
        </p:nvSpPr>
        <p:spPr bwMode="auto">
          <a:xfrm>
            <a:off x="745098" y="2032953"/>
            <a:ext cx="7775575" cy="1296987"/>
          </a:xfrm>
          <a:prstGeom prst="rect">
            <a:avLst/>
          </a:prstGeom>
          <a:noFill/>
          <a:ln>
            <a:noFill/>
          </a:ln>
        </p:spPr>
        <p:txBody>
          <a:bodyPr lIns="99477" tIns="49735" rIns="99477" bIns="49735"/>
          <a:lstStyle>
            <a:lvl1pPr algn="l" defTabSz="995363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 defTabSz="995363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 defTabSz="995363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 defTabSz="995363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 defTabSz="995363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95363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② 3</a:t>
            </a:r>
            <a:r>
              <a:rPr kumimoji="0" lang="ko-KR" altLang="en-US" sz="1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월 </a:t>
            </a:r>
            <a:r>
              <a:rPr kumimoji="0" lang="en-US" altLang="ko-KR" sz="1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31</a:t>
            </a:r>
            <a:r>
              <a:rPr kumimoji="0" lang="ko-KR" altLang="en-US" sz="1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일에 일선부서에서 총 ￦</a:t>
            </a:r>
            <a:r>
              <a:rPr kumimoji="0" lang="en-US" altLang="ko-KR" sz="1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150,000</a:t>
            </a:r>
            <a:r>
              <a:rPr kumimoji="0" lang="ko-KR" altLang="en-US" sz="1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의 </a:t>
            </a:r>
            <a:r>
              <a:rPr kumimoji="0" lang="ko-KR" altLang="en-US" sz="140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현금사용</a:t>
            </a:r>
            <a:r>
              <a:rPr kumimoji="0" lang="ko-KR" altLang="en-US" sz="1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 내역을 다음과 같이 보고하였다</a:t>
            </a:r>
            <a:r>
              <a:rPr kumimoji="0" lang="en-US" altLang="ko-KR" sz="1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.</a:t>
            </a:r>
          </a:p>
          <a:p>
            <a:pPr marL="0" marR="0" lvl="0" indent="0" algn="ctr" defTabSz="995363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</a:endParaRPr>
          </a:p>
          <a:p>
            <a:pPr marL="0" marR="0" lvl="0" indent="0" algn="ctr" defTabSz="995363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사무용품비</a:t>
            </a:r>
            <a:r>
              <a:rPr kumimoji="0" lang="ko-KR" altLang="en-US" sz="1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 ￦</a:t>
            </a:r>
            <a:r>
              <a:rPr kumimoji="0" lang="en-US" altLang="ko-KR" sz="1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30,000      </a:t>
            </a:r>
            <a:r>
              <a:rPr kumimoji="0" lang="ko-KR" altLang="en-US" sz="1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교통비 ￦</a:t>
            </a:r>
            <a:r>
              <a:rPr kumimoji="0" lang="en-US" altLang="ko-KR" sz="1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80,000        </a:t>
            </a:r>
            <a:r>
              <a:rPr kumimoji="0" lang="ko-KR" altLang="en-US" sz="1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통신비 ￦</a:t>
            </a:r>
            <a:r>
              <a:rPr kumimoji="0" lang="en-US" altLang="ko-KR" sz="1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40,000</a:t>
            </a:r>
          </a:p>
          <a:p>
            <a:pPr marL="0" marR="0" lvl="0" indent="0" algn="ctr" defTabSz="995363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</a:endParaRPr>
          </a:p>
          <a:p>
            <a:pPr marL="0" marR="0" lvl="0" indent="0" algn="l" defTabSz="995363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    지출 및 보고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(3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월 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1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일～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3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월 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31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일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)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：회계처리 없이 </a:t>
            </a:r>
            <a:r>
              <a:rPr kumimoji="0" lang="ko-KR" altLang="en-US" sz="1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증빙자료만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 보관 및 메모</a:t>
            </a:r>
            <a:endParaRPr kumimoji="0" lang="en-US" altLang="ko-KR" sz="1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</a:endParaRPr>
          </a:p>
        </p:txBody>
      </p:sp>
      <p:sp>
        <p:nvSpPr>
          <p:cNvPr id="52" name="Rectangle 12"/>
          <p:cNvSpPr>
            <a:spLocks noChangeArrowheads="1"/>
          </p:cNvSpPr>
          <p:nvPr/>
        </p:nvSpPr>
        <p:spPr bwMode="auto">
          <a:xfrm>
            <a:off x="745098" y="3678075"/>
            <a:ext cx="7775575" cy="360362"/>
          </a:xfrm>
          <a:prstGeom prst="rect">
            <a:avLst/>
          </a:prstGeom>
          <a:noFill/>
          <a:ln>
            <a:noFill/>
          </a:ln>
        </p:spPr>
        <p:txBody>
          <a:bodyPr lIns="99477" tIns="49735" rIns="99477" bIns="49735"/>
          <a:lstStyle>
            <a:lvl1pPr algn="l" defTabSz="995363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 defTabSz="995363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 defTabSz="995363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 defTabSz="995363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 defTabSz="995363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95363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③ 4</a:t>
            </a:r>
            <a:r>
              <a:rPr kumimoji="0" lang="ko-KR" altLang="en-US" sz="1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월 </a:t>
            </a:r>
            <a:r>
              <a:rPr kumimoji="0" lang="en-US" altLang="ko-KR" sz="1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1</a:t>
            </a:r>
            <a:r>
              <a:rPr kumimoji="0" lang="ko-KR" altLang="en-US" sz="1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일에 소액현금기금 ￦</a:t>
            </a:r>
            <a:r>
              <a:rPr kumimoji="0" lang="en-US" altLang="ko-KR" sz="1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150,000</a:t>
            </a:r>
            <a:r>
              <a:rPr kumimoji="0" lang="ko-KR" altLang="en-US" sz="1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을 당좌예금에서 인출하여 보충해주었다</a:t>
            </a:r>
            <a:r>
              <a:rPr kumimoji="0" lang="en-US" altLang="ko-KR" sz="1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.</a:t>
            </a:r>
          </a:p>
        </p:txBody>
      </p:sp>
      <p:sp>
        <p:nvSpPr>
          <p:cNvPr id="53" name="Rectangle 12"/>
          <p:cNvSpPr>
            <a:spLocks noChangeArrowheads="1"/>
          </p:cNvSpPr>
          <p:nvPr/>
        </p:nvSpPr>
        <p:spPr bwMode="auto">
          <a:xfrm>
            <a:off x="1032885" y="4142681"/>
            <a:ext cx="7200000" cy="10795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txBody>
          <a:bodyPr lIns="99477" tIns="49735" rIns="99477" bIns="49735"/>
          <a:lstStyle>
            <a:lvl1pPr algn="l" defTabSz="995363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 defTabSz="995363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 defTabSz="995363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 defTabSz="995363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 defTabSz="995363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95363" eaLnBrk="1" fontAlgn="base" latinLnBrk="0" hangingPunct="1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   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    (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차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) </a:t>
            </a:r>
            <a:r>
              <a:rPr kumimoji="0" lang="ko-KR" altLang="en-US" sz="1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사무용품비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             30,000            (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대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) 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당 좌 예 금            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150,000</a:t>
            </a:r>
          </a:p>
          <a:p>
            <a:pPr marL="0" marR="0" lvl="0" indent="0" algn="l" defTabSz="995363" eaLnBrk="1" fontAlgn="base" latinLnBrk="0" hangingPunct="1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             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교  통  비               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80,000</a:t>
            </a:r>
          </a:p>
          <a:p>
            <a:pPr marL="0" marR="0" lvl="0" indent="0" algn="l" defTabSz="995363" eaLnBrk="1" fontAlgn="base" latinLnBrk="0" hangingPunct="1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             통  신  비               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40,000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84085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그룹 27"/>
          <p:cNvGrpSpPr/>
          <p:nvPr/>
        </p:nvGrpSpPr>
        <p:grpSpPr>
          <a:xfrm>
            <a:off x="257304" y="1451539"/>
            <a:ext cx="8641369" cy="1360241"/>
            <a:chOff x="2626683" y="1722059"/>
            <a:chExt cx="11521825" cy="1813655"/>
          </a:xfrm>
        </p:grpSpPr>
        <p:sp>
          <p:nvSpPr>
            <p:cNvPr id="29" name="Rectangle 15"/>
            <p:cNvSpPr>
              <a:spLocks noChangeArrowheads="1"/>
            </p:cNvSpPr>
            <p:nvPr/>
          </p:nvSpPr>
          <p:spPr bwMode="auto">
            <a:xfrm>
              <a:off x="2626683" y="2125623"/>
              <a:ext cx="11521825" cy="1410091"/>
            </a:xfrm>
            <a:prstGeom prst="rect">
              <a:avLst/>
            </a:prstGeom>
            <a:noFill/>
            <a:ln>
              <a:noFill/>
            </a:ln>
          </p:spPr>
          <p:txBody>
            <a:bodyPr lIns="74608" tIns="37301" rIns="74608" bIns="37301" anchor="ctr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marL="144000" indent="-144000" latinLnBrk="0">
                <a:lnSpc>
                  <a:spcPct val="12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600" dirty="0">
                  <a:latin typeface="맑은 고딕" panose="020B0503020000020004" pitchFamily="50" charset="-127"/>
                </a:rPr>
                <a:t>• 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현금 실제보유액과 출납장 상의 잔액 일치 여부의 확인 결과 </a:t>
              </a: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발견된 </a:t>
              </a:r>
              <a:r>
                <a:rPr lang="ko-KR" altLang="en-US" sz="1600" b="1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차액</a:t>
              </a: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을 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임시로  회계처리하기 위한 계정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. 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원인이 밝혀지면 그 원인에 맞게 회계처리하고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, 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밝혀지지 않으면 </a:t>
              </a:r>
              <a:r>
                <a:rPr lang="ko-KR" altLang="en-US" sz="1600" dirty="0" err="1">
                  <a:latin typeface="맑은 고딕" panose="020B0503020000020004" pitchFamily="50" charset="-127"/>
                </a:rPr>
                <a:t>결산인이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 </a:t>
              </a:r>
              <a:r>
                <a:rPr lang="ko-KR" altLang="en-US" sz="1600" dirty="0" err="1">
                  <a:latin typeface="맑은 고딕" panose="020B0503020000020004" pitchFamily="50" charset="-127"/>
                </a:rPr>
                <a:t>잡이익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 또는 </a:t>
              </a:r>
              <a:r>
                <a:rPr lang="ko-KR" altLang="en-US" sz="1600" dirty="0" err="1">
                  <a:latin typeface="맑은 고딕" panose="020B0503020000020004" pitchFamily="50" charset="-127"/>
                </a:rPr>
                <a:t>잡손실로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 처리한다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.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 </a:t>
              </a:r>
              <a:endParaRPr lang="en-US" altLang="ko-KR" sz="1600" dirty="0">
                <a:latin typeface="맑은 고딕" panose="020B0503020000020004" pitchFamily="50" charset="-127"/>
              </a:endParaRPr>
            </a:p>
          </p:txBody>
        </p:sp>
        <p:sp>
          <p:nvSpPr>
            <p:cNvPr id="30" name="Rectangle 14"/>
            <p:cNvSpPr>
              <a:spLocks noChangeArrowheads="1"/>
            </p:cNvSpPr>
            <p:nvPr/>
          </p:nvSpPr>
          <p:spPr bwMode="auto">
            <a:xfrm>
              <a:off x="2908882" y="1722059"/>
              <a:ext cx="5005415" cy="431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4608" tIns="37301" rIns="74608" bIns="37301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None/>
              </a:pPr>
              <a:r>
                <a:rPr lang="ko-KR" altLang="en-US" sz="1800" b="1" dirty="0" err="1">
                  <a:latin typeface="맑은 고딕" panose="020B0503020000020004" pitchFamily="50" charset="-127"/>
                </a:rPr>
                <a:t>현금과부족</a:t>
              </a:r>
              <a:endParaRPr lang="en-US" altLang="ko-KR" sz="1800" b="1" dirty="0">
                <a:latin typeface="맑은 고딕" panose="020B0503020000020004" pitchFamily="50" charset="-127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 typeface="Wingdings" panose="05000000000000000000" pitchFamily="2" charset="2"/>
                <a:buNone/>
              </a:pPr>
              <a:endParaRPr lang="ko-KR" altLang="en-US" sz="1800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2" name="직사각형 31"/>
            <p:cNvSpPr/>
            <p:nvPr/>
          </p:nvSpPr>
          <p:spPr>
            <a:xfrm>
              <a:off x="2626908" y="1722059"/>
              <a:ext cx="281973" cy="425439"/>
            </a:xfrm>
            <a:prstGeom prst="rect">
              <a:avLst/>
            </a:prstGeom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ko-KR" altLang="en-US" sz="16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5" name="그룹 24"/>
          <p:cNvGrpSpPr/>
          <p:nvPr/>
        </p:nvGrpSpPr>
        <p:grpSpPr>
          <a:xfrm>
            <a:off x="257304" y="3295218"/>
            <a:ext cx="3051310" cy="338554"/>
            <a:chOff x="1287463" y="4776539"/>
            <a:chExt cx="3051310" cy="338554"/>
          </a:xfrm>
        </p:grpSpPr>
        <p:sp>
          <p:nvSpPr>
            <p:cNvPr id="26" name="오각형 25"/>
            <p:cNvSpPr/>
            <p:nvPr/>
          </p:nvSpPr>
          <p:spPr>
            <a:xfrm>
              <a:off x="1287463" y="4807765"/>
              <a:ext cx="590477" cy="245327"/>
            </a:xfrm>
            <a:prstGeom prst="homePlate">
              <a:avLst/>
            </a:prstGeom>
            <a:solidFill>
              <a:srgbClr val="2D61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 dirty="0"/>
                <a:t>표 </a:t>
              </a:r>
              <a:r>
                <a:rPr lang="en-US" altLang="ko-KR" sz="1400" b="1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ko-KR" altLang="en-US" sz="14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1877940" y="4776539"/>
              <a:ext cx="246083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600" b="1" dirty="0" err="1"/>
                <a:t>현금과부족</a:t>
              </a:r>
              <a:r>
                <a:rPr lang="ko-KR" altLang="en-US" sz="1600" b="1" dirty="0"/>
                <a:t> 회계처리</a:t>
              </a:r>
            </a:p>
          </p:txBody>
        </p:sp>
      </p:grpSp>
      <p:graphicFrame>
        <p:nvGraphicFramePr>
          <p:cNvPr id="46" name="Group 9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2440234"/>
              </p:ext>
            </p:extLst>
          </p:nvPr>
        </p:nvGraphicFramePr>
        <p:xfrm>
          <a:off x="257303" y="3694825"/>
          <a:ext cx="8641369" cy="2134475"/>
        </p:xfrm>
        <a:graphic>
          <a:graphicData uri="http://schemas.openxmlformats.org/drawingml/2006/table">
            <a:tbl>
              <a:tblPr>
                <a:tableStyleId>{B301B821-A1FF-4177-AEE7-76D212191A09}</a:tableStyleId>
              </a:tblPr>
              <a:tblGrid>
                <a:gridCol w="2678301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017656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94361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2001802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374626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구 분</a:t>
                      </a: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T="45731" marB="45731" anchor="ctr" horzOverflow="overflow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차이 발생시</a:t>
                      </a: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T="45731" marB="45731" anchor="ctr" horzOverflow="overflow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1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원인확인</a:t>
                      </a: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T="45731" marB="45731" anchor="ctr" horzOverflow="overflow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1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원인미확인</a:t>
                      </a:r>
                      <a:r>
                        <a:rPr kumimoji="0" lang="en-US" altLang="ko-KR" sz="14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(</a:t>
                      </a:r>
                      <a:r>
                        <a:rPr kumimoji="0" lang="ko-KR" altLang="en-US" sz="14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결산일</a:t>
                      </a:r>
                      <a:r>
                        <a:rPr kumimoji="0" lang="en-US" altLang="ko-KR" sz="14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)</a:t>
                      </a:r>
                      <a:endParaRPr kumimoji="0" lang="en-US" altLang="ko-KR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T="45731" marB="45731" anchor="ctr" horzOverflow="overflow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74857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1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실제보유액＜현금계정잔액</a:t>
                      </a: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T="45731" marB="45731"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(</a:t>
                      </a:r>
                      <a:r>
                        <a:rPr kumimoji="0" lang="ko-KR" altLang="en-US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차</a:t>
                      </a:r>
                      <a:r>
                        <a:rPr kumimoji="0" lang="en-US" altLang="ko-KR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) </a:t>
                      </a:r>
                      <a:r>
                        <a:rPr kumimoji="0" lang="ko-KR" altLang="en-US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현금과부족 </a:t>
                      </a:r>
                      <a:r>
                        <a:rPr kumimoji="0" lang="en-US" altLang="ko-KR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××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(</a:t>
                      </a:r>
                      <a:r>
                        <a:rPr kumimoji="0" lang="ko-KR" altLang="en-US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대</a:t>
                      </a:r>
                      <a:r>
                        <a:rPr kumimoji="0" lang="en-US" altLang="ko-KR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) </a:t>
                      </a:r>
                      <a:r>
                        <a:rPr kumimoji="0" lang="ko-KR" altLang="en-US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현 금           </a:t>
                      </a:r>
                      <a:r>
                        <a:rPr kumimoji="0" lang="en-US" altLang="ko-KR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××</a:t>
                      </a:r>
                      <a:endParaRPr kumimoji="0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T="45731" marB="45731"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(</a:t>
                      </a:r>
                      <a:r>
                        <a:rPr kumimoji="0" lang="ko-KR" altLang="en-US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차</a:t>
                      </a:r>
                      <a:r>
                        <a:rPr kumimoji="0" lang="en-US" altLang="ko-KR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) </a:t>
                      </a:r>
                      <a:r>
                        <a:rPr kumimoji="0" lang="ko-KR" altLang="en-US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비 용           </a:t>
                      </a:r>
                      <a:r>
                        <a:rPr kumimoji="0" lang="en-US" altLang="ko-KR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××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(</a:t>
                      </a:r>
                      <a:r>
                        <a:rPr kumimoji="0" lang="ko-KR" altLang="en-US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대</a:t>
                      </a:r>
                      <a:r>
                        <a:rPr kumimoji="0" lang="en-US" altLang="ko-KR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) </a:t>
                      </a:r>
                      <a:r>
                        <a:rPr kumimoji="0" lang="ko-KR" altLang="en-US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현금과부족 </a:t>
                      </a:r>
                      <a:r>
                        <a:rPr kumimoji="0" lang="en-US" altLang="ko-KR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××</a:t>
                      </a:r>
                      <a:endParaRPr kumimoji="0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T="45731" marB="45731"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(</a:t>
                      </a:r>
                      <a:r>
                        <a:rPr kumimoji="0" lang="ko-KR" altLang="en-US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차</a:t>
                      </a:r>
                      <a:r>
                        <a:rPr kumimoji="0" lang="en-US" altLang="ko-KR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) </a:t>
                      </a:r>
                      <a:r>
                        <a:rPr kumimoji="0" lang="ko-KR" altLang="en-US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잡 손 실      </a:t>
                      </a:r>
                      <a:r>
                        <a:rPr kumimoji="0" lang="en-US" altLang="ko-KR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××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(</a:t>
                      </a:r>
                      <a:r>
                        <a:rPr kumimoji="0" lang="ko-KR" altLang="en-US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대</a:t>
                      </a:r>
                      <a:r>
                        <a:rPr kumimoji="0" lang="en-US" altLang="ko-KR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) </a:t>
                      </a:r>
                      <a:r>
                        <a:rPr kumimoji="0" lang="ko-KR" altLang="en-US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현금과부족 </a:t>
                      </a:r>
                      <a:r>
                        <a:rPr kumimoji="0" lang="en-US" altLang="ko-KR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××</a:t>
                      </a:r>
                      <a:endParaRPr kumimoji="0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T="45731" marB="45731" anchor="ctr" horzOverflow="overflow"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101127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1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실제보유액</a:t>
                      </a:r>
                      <a:r>
                        <a:rPr kumimoji="0" lang="ko-KR" altLang="en-US" sz="14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 ＞현금계정잔액</a:t>
                      </a: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T="45731" marB="45731"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(</a:t>
                      </a:r>
                      <a:r>
                        <a:rPr kumimoji="0" lang="ko-KR" altLang="en-US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차</a:t>
                      </a:r>
                      <a:r>
                        <a:rPr kumimoji="0" lang="en-US" altLang="ko-KR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) </a:t>
                      </a:r>
                      <a:r>
                        <a:rPr kumimoji="0" lang="ko-KR" altLang="en-US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현 금           </a:t>
                      </a:r>
                      <a:r>
                        <a:rPr kumimoji="0" lang="en-US" altLang="ko-KR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××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(</a:t>
                      </a:r>
                      <a:r>
                        <a:rPr kumimoji="0" lang="ko-KR" altLang="en-US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대</a:t>
                      </a:r>
                      <a:r>
                        <a:rPr kumimoji="0" lang="en-US" altLang="ko-KR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) </a:t>
                      </a:r>
                      <a:r>
                        <a:rPr kumimoji="0" lang="ko-KR" altLang="en-US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현금과부족 </a:t>
                      </a:r>
                      <a:r>
                        <a:rPr kumimoji="0" lang="en-US" altLang="ko-KR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××</a:t>
                      </a:r>
                      <a:endParaRPr kumimoji="0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T="45731" marB="45731"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(</a:t>
                      </a:r>
                      <a:r>
                        <a:rPr kumimoji="0" lang="ko-KR" altLang="en-US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차</a:t>
                      </a:r>
                      <a:r>
                        <a:rPr kumimoji="0" lang="en-US" altLang="ko-KR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) </a:t>
                      </a:r>
                      <a:r>
                        <a:rPr kumimoji="0" lang="ko-KR" altLang="en-US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현금과부족 </a:t>
                      </a:r>
                      <a:r>
                        <a:rPr kumimoji="0" lang="en-US" altLang="ko-KR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××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(</a:t>
                      </a:r>
                      <a:r>
                        <a:rPr kumimoji="0" lang="ko-KR" altLang="en-US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대</a:t>
                      </a:r>
                      <a:r>
                        <a:rPr kumimoji="0" lang="en-US" altLang="ko-KR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) </a:t>
                      </a:r>
                      <a:r>
                        <a:rPr kumimoji="0" lang="ko-KR" altLang="en-US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수 </a:t>
                      </a:r>
                      <a:r>
                        <a:rPr kumimoji="0" lang="ko-KR" altLang="en-US" sz="14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익</a:t>
                      </a:r>
                      <a:r>
                        <a:rPr kumimoji="0" lang="ko-KR" altLang="en-US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           </a:t>
                      </a:r>
                      <a:r>
                        <a:rPr kumimoji="0" lang="en-US" altLang="ko-KR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××</a:t>
                      </a:r>
                      <a:endParaRPr kumimoji="0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T="45731" marB="45731"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(</a:t>
                      </a:r>
                      <a:r>
                        <a:rPr kumimoji="0" lang="ko-KR" altLang="en-US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차</a:t>
                      </a:r>
                      <a:r>
                        <a:rPr kumimoji="0" lang="en-US" altLang="ko-KR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) </a:t>
                      </a:r>
                      <a:r>
                        <a:rPr kumimoji="0" lang="ko-KR" altLang="en-US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현금과부족 </a:t>
                      </a:r>
                      <a:r>
                        <a:rPr kumimoji="0" lang="en-US" altLang="ko-KR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××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(</a:t>
                      </a:r>
                      <a:r>
                        <a:rPr kumimoji="0" lang="ko-KR" altLang="en-US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대</a:t>
                      </a:r>
                      <a:r>
                        <a:rPr kumimoji="0" lang="en-US" altLang="ko-KR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) </a:t>
                      </a:r>
                      <a:r>
                        <a:rPr kumimoji="0" lang="ko-KR" altLang="en-US" sz="14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잡</a:t>
                      </a:r>
                      <a:r>
                        <a:rPr kumimoji="0" lang="ko-KR" altLang="en-US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 이 </a:t>
                      </a:r>
                      <a:r>
                        <a:rPr kumimoji="0" lang="ko-KR" altLang="en-US" sz="14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익</a:t>
                      </a:r>
                      <a:r>
                        <a:rPr kumimoji="0" lang="ko-KR" altLang="en-US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      </a:t>
                      </a:r>
                      <a:r>
                        <a:rPr kumimoji="0" lang="en-US" altLang="ko-KR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××</a:t>
                      </a:r>
                      <a:endParaRPr kumimoji="0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T="45731" marB="45731" anchor="ctr" horzOverflow="overflow"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577832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그룹 33"/>
          <p:cNvGrpSpPr/>
          <p:nvPr/>
        </p:nvGrpSpPr>
        <p:grpSpPr>
          <a:xfrm>
            <a:off x="216270" y="1350423"/>
            <a:ext cx="8711460" cy="5050377"/>
            <a:chOff x="190714" y="1320886"/>
            <a:chExt cx="8711460" cy="5050377"/>
          </a:xfrm>
        </p:grpSpPr>
        <p:grpSp>
          <p:nvGrpSpPr>
            <p:cNvPr id="35" name="그룹 34"/>
            <p:cNvGrpSpPr/>
            <p:nvPr/>
          </p:nvGrpSpPr>
          <p:grpSpPr>
            <a:xfrm>
              <a:off x="361935" y="1461499"/>
              <a:ext cx="8540239" cy="4909764"/>
              <a:chOff x="269048" y="1722741"/>
              <a:chExt cx="8648775" cy="4909764"/>
            </a:xfrm>
          </p:grpSpPr>
          <p:sp>
            <p:nvSpPr>
              <p:cNvPr id="44" name="Rectangle 15"/>
              <p:cNvSpPr>
                <a:spLocks noChangeArrowheads="1"/>
              </p:cNvSpPr>
              <p:nvPr/>
            </p:nvSpPr>
            <p:spPr bwMode="auto">
              <a:xfrm>
                <a:off x="269048" y="1746441"/>
                <a:ext cx="8641369" cy="4886064"/>
              </a:xfrm>
              <a:prstGeom prst="foldedCorner">
                <a:avLst>
                  <a:gd name="adj" fmla="val 5125"/>
                </a:avLst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txBody>
              <a:bodyPr lIns="74608" tIns="37301" rIns="74608" bIns="37301" anchor="ctr"/>
              <a:lstStyle>
                <a:lvl1pPr algn="l" defTabSz="995363">
                  <a:spcBef>
                    <a:spcPct val="20000"/>
                  </a:spcBef>
                  <a:buClr>
                    <a:schemeClr val="tx2"/>
                  </a:buClr>
                  <a:buSzPct val="115000"/>
                  <a:buFont typeface="Wingdings" panose="05000000000000000000" pitchFamily="2" charset="2"/>
                  <a:buChar char="§"/>
                  <a:defRPr sz="28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 algn="l" defTabSz="995363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 algn="l" defTabSz="995363">
                  <a:spcBef>
                    <a:spcPct val="20000"/>
                  </a:spcBef>
                  <a:buChar char="•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 algn="l" defTabSz="995363">
                  <a:spcBef>
                    <a:spcPct val="20000"/>
                  </a:spcBef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 algn="l" defTabSz="995363">
                  <a:spcBef>
                    <a:spcPct val="20000"/>
                  </a:spcBef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ko-KR" altLang="en-US" sz="1400" dirty="0"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45" name="직사각형 44"/>
              <p:cNvSpPr/>
              <p:nvPr/>
            </p:nvSpPr>
            <p:spPr>
              <a:xfrm>
                <a:off x="277823" y="1722741"/>
                <a:ext cx="8640000" cy="45719"/>
              </a:xfrm>
              <a:prstGeom prst="rect">
                <a:avLst/>
              </a:prstGeom>
              <a:solidFill>
                <a:srgbClr val="2D61C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37" name="그룹 36"/>
            <p:cNvGrpSpPr/>
            <p:nvPr/>
          </p:nvGrpSpPr>
          <p:grpSpPr>
            <a:xfrm>
              <a:off x="190714" y="1320886"/>
              <a:ext cx="2592879" cy="326952"/>
              <a:chOff x="190714" y="1320889"/>
              <a:chExt cx="2218010" cy="290354"/>
            </a:xfrm>
            <a:solidFill>
              <a:srgbClr val="2D61C8"/>
            </a:solidFill>
          </p:grpSpPr>
          <p:grpSp>
            <p:nvGrpSpPr>
              <p:cNvPr id="38" name="그룹 37"/>
              <p:cNvGrpSpPr/>
              <p:nvPr/>
            </p:nvGrpSpPr>
            <p:grpSpPr>
              <a:xfrm>
                <a:off x="190714" y="1320889"/>
                <a:ext cx="2218010" cy="290354"/>
                <a:chOff x="405822" y="2237753"/>
                <a:chExt cx="2218010" cy="290354"/>
              </a:xfrm>
              <a:grpFill/>
            </p:grpSpPr>
            <p:sp>
              <p:nvSpPr>
                <p:cNvPr id="40" name="타원 39"/>
                <p:cNvSpPr/>
                <p:nvPr/>
              </p:nvSpPr>
              <p:spPr>
                <a:xfrm>
                  <a:off x="405822" y="2237753"/>
                  <a:ext cx="290351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1" name="타원 40"/>
                <p:cNvSpPr/>
                <p:nvPr/>
              </p:nvSpPr>
              <p:spPr>
                <a:xfrm>
                  <a:off x="2333481" y="2237753"/>
                  <a:ext cx="290351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2" name="직사각형 41"/>
                <p:cNvSpPr/>
                <p:nvPr/>
              </p:nvSpPr>
              <p:spPr>
                <a:xfrm>
                  <a:off x="542512" y="2237755"/>
                  <a:ext cx="1946686" cy="290352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1600" b="1" dirty="0"/>
                    <a:t>예제 </a:t>
                  </a:r>
                  <a:r>
                    <a:rPr lang="en-US" altLang="ko-KR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5-3</a:t>
                  </a:r>
                  <a:r>
                    <a:rPr lang="en-US" altLang="ko-KR" sz="1600" b="1" dirty="0"/>
                    <a:t> </a:t>
                  </a:r>
                  <a:r>
                    <a:rPr lang="ko-KR" altLang="en-US" sz="1600" b="1" dirty="0"/>
                    <a:t>현금과 부족</a:t>
                  </a:r>
                </a:p>
              </p:txBody>
            </p:sp>
            <p:sp>
              <p:nvSpPr>
                <p:cNvPr id="43" name="타원 42"/>
                <p:cNvSpPr/>
                <p:nvPr/>
              </p:nvSpPr>
              <p:spPr>
                <a:xfrm>
                  <a:off x="427833" y="2256153"/>
                  <a:ext cx="253549" cy="25354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pic>
            <p:nvPicPr>
              <p:cNvPr id="39" name="그림 38" descr="Log in | Sign Up Upload Clipart"/>
              <p:cNvPicPr>
                <a:picLocks noChangeAspect="1"/>
              </p:cNvPicPr>
              <p:nvPr/>
            </p:nvPicPr>
            <p:blipFill>
              <a:blip r:embed="rId3" cstate="email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265229" y="1359640"/>
                <a:ext cx="147147" cy="229618"/>
              </a:xfrm>
              <a:prstGeom prst="rect">
                <a:avLst/>
              </a:prstGeom>
            </p:spPr>
          </p:pic>
        </p:grpSp>
      </p:grpSp>
      <p:sp>
        <p:nvSpPr>
          <p:cNvPr id="23" name="Rectangle 12"/>
          <p:cNvSpPr>
            <a:spLocks noChangeArrowheads="1"/>
          </p:cNvSpPr>
          <p:nvPr/>
        </p:nvSpPr>
        <p:spPr bwMode="auto">
          <a:xfrm>
            <a:off x="1053953" y="3122264"/>
            <a:ext cx="7200000" cy="4320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txBody>
          <a:bodyPr lIns="99477" tIns="49735" rIns="99477" bIns="49735" anchor="ctr"/>
          <a:lstStyle>
            <a:lvl1pPr algn="l" defTabSz="995363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 defTabSz="995363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 defTabSz="995363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 defTabSz="995363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 defTabSz="995363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95363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       (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차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) </a:t>
            </a:r>
            <a:r>
              <a:rPr kumimoji="0" lang="ko-KR" altLang="en-US" sz="1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현금과부족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             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30,000           (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대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) 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현         금                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30,000</a:t>
            </a:r>
          </a:p>
        </p:txBody>
      </p:sp>
      <p:sp>
        <p:nvSpPr>
          <p:cNvPr id="24" name="Rectangle 12"/>
          <p:cNvSpPr>
            <a:spLocks noChangeArrowheads="1"/>
          </p:cNvSpPr>
          <p:nvPr/>
        </p:nvSpPr>
        <p:spPr bwMode="auto">
          <a:xfrm>
            <a:off x="676900" y="3729115"/>
            <a:ext cx="8001207" cy="719137"/>
          </a:xfrm>
          <a:prstGeom prst="rect">
            <a:avLst/>
          </a:prstGeom>
          <a:noFill/>
          <a:ln>
            <a:noFill/>
          </a:ln>
        </p:spPr>
        <p:txBody>
          <a:bodyPr lIns="99477" tIns="49735" rIns="99477" bIns="49735"/>
          <a:lstStyle>
            <a:lvl1pPr algn="l" defTabSz="995363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 defTabSz="995363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 defTabSz="995363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 defTabSz="995363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 defTabSz="995363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marL="285750" marR="0" lvl="0" indent="-285750" algn="l" defTabSz="995363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ko-KR" altLang="en-US" sz="1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현금계정 잔액과 실제보유액의 차이 중에서 ￦</a:t>
            </a:r>
            <a:r>
              <a:rPr kumimoji="0" lang="en-US" altLang="ko-KR" sz="1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25,000</a:t>
            </a:r>
            <a:r>
              <a:rPr kumimoji="0" lang="ko-KR" altLang="en-US" sz="1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은 출장사원에게 지출된 교통비가 회계처리되지 않은 것으로 밝혀졌다</a:t>
            </a:r>
            <a:r>
              <a:rPr kumimoji="0" lang="en-US" altLang="ko-KR" sz="1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. </a:t>
            </a:r>
          </a:p>
        </p:txBody>
      </p:sp>
      <p:sp>
        <p:nvSpPr>
          <p:cNvPr id="25" name="Rectangle 12"/>
          <p:cNvSpPr>
            <a:spLocks noChangeArrowheads="1"/>
          </p:cNvSpPr>
          <p:nvPr/>
        </p:nvSpPr>
        <p:spPr bwMode="auto">
          <a:xfrm>
            <a:off x="1053953" y="4448252"/>
            <a:ext cx="7200000" cy="4320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txBody>
          <a:bodyPr lIns="99477" tIns="49735" rIns="99477" bIns="49735" anchor="ctr"/>
          <a:lstStyle>
            <a:lvl1pPr algn="l" defTabSz="995363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 defTabSz="995363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 defTabSz="995363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 defTabSz="995363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 defTabSz="995363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95363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       (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차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) 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교  통  비               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25,000           (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대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) </a:t>
            </a:r>
            <a:r>
              <a:rPr kumimoji="0" lang="ko-KR" altLang="en-US" sz="1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현금과부족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                 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25,000</a:t>
            </a:r>
          </a:p>
        </p:txBody>
      </p:sp>
      <p:sp>
        <p:nvSpPr>
          <p:cNvPr id="26" name="Rectangle 12"/>
          <p:cNvSpPr>
            <a:spLocks noChangeArrowheads="1"/>
          </p:cNvSpPr>
          <p:nvPr/>
        </p:nvSpPr>
        <p:spPr bwMode="auto">
          <a:xfrm>
            <a:off x="676900" y="5017717"/>
            <a:ext cx="7775575" cy="431800"/>
          </a:xfrm>
          <a:prstGeom prst="rect">
            <a:avLst/>
          </a:prstGeom>
          <a:noFill/>
          <a:ln>
            <a:noFill/>
          </a:ln>
        </p:spPr>
        <p:txBody>
          <a:bodyPr lIns="99477" tIns="49735" rIns="99477" bIns="49735"/>
          <a:lstStyle>
            <a:lvl1pPr algn="l" defTabSz="995363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 defTabSz="995363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 defTabSz="995363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 defTabSz="995363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 defTabSz="995363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marL="285750" marR="0" lvl="0" indent="-285750" algn="l" defTabSz="995363" eaLnBrk="1" fontAlgn="base" latinLnBrk="0" hangingPunct="1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ko-KR" altLang="en-US" sz="1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결산일까지 차액 ￦</a:t>
            </a:r>
            <a:r>
              <a:rPr kumimoji="0" lang="en-US" altLang="ko-KR" sz="1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5,000</a:t>
            </a:r>
            <a:r>
              <a:rPr kumimoji="0" lang="ko-KR" altLang="en-US" sz="1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의 원인은 밝혀지지 않아 </a:t>
            </a:r>
            <a:r>
              <a:rPr kumimoji="0" lang="ko-KR" altLang="en-US" sz="140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잡손실로</a:t>
            </a:r>
            <a:r>
              <a:rPr kumimoji="0" lang="ko-KR" altLang="en-US" sz="1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 처리하였다</a:t>
            </a:r>
            <a:r>
              <a:rPr kumimoji="0" lang="en-US" altLang="ko-KR" sz="1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.</a:t>
            </a:r>
          </a:p>
        </p:txBody>
      </p:sp>
      <p:sp>
        <p:nvSpPr>
          <p:cNvPr id="27" name="Rectangle 12"/>
          <p:cNvSpPr>
            <a:spLocks noChangeArrowheads="1"/>
          </p:cNvSpPr>
          <p:nvPr/>
        </p:nvSpPr>
        <p:spPr bwMode="auto">
          <a:xfrm>
            <a:off x="1053953" y="5625801"/>
            <a:ext cx="7200000" cy="4320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txBody>
          <a:bodyPr lIns="99477" tIns="49735" rIns="99477" bIns="49735" anchor="ctr"/>
          <a:lstStyle>
            <a:lvl1pPr algn="l" defTabSz="995363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 defTabSz="995363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 defTabSz="995363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 defTabSz="995363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 defTabSz="995363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95363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       (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차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) 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잡  손  실                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5,000           (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대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) </a:t>
            </a:r>
            <a:r>
              <a:rPr kumimoji="0" lang="ko-KR" altLang="en-US" sz="1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현금과부족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                   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5,000</a:t>
            </a:r>
          </a:p>
        </p:txBody>
      </p:sp>
      <p:sp>
        <p:nvSpPr>
          <p:cNvPr id="28" name="Rectangle 12"/>
          <p:cNvSpPr>
            <a:spLocks noChangeArrowheads="1"/>
          </p:cNvSpPr>
          <p:nvPr/>
        </p:nvSpPr>
        <p:spPr bwMode="auto">
          <a:xfrm>
            <a:off x="629800" y="1880679"/>
            <a:ext cx="8048307" cy="1079500"/>
          </a:xfrm>
          <a:prstGeom prst="rect">
            <a:avLst/>
          </a:prstGeom>
          <a:noFill/>
          <a:ln>
            <a:noFill/>
          </a:ln>
        </p:spPr>
        <p:txBody>
          <a:bodyPr lIns="99477" tIns="49735" rIns="99477" bIns="49735"/>
          <a:lstStyle>
            <a:lvl1pPr algn="l" defTabSz="995363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 defTabSz="995363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 defTabSz="995363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 defTabSz="995363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 defTabSz="995363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95363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(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주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)</a:t>
            </a:r>
            <a:r>
              <a:rPr lang="ko-KR" altLang="en-US" sz="1400" b="1" kern="0" dirty="0" err="1">
                <a:latin typeface="맑은 고딕" panose="020B0503020000020004" pitchFamily="50" charset="-127"/>
              </a:rPr>
              <a:t>에코프로비엠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이 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20×1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년 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12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월 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31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일 현재 현금의 실제보유액을 조사한 결과 </a:t>
            </a:r>
            <a:r>
              <a:rPr kumimoji="0" lang="ko-KR" altLang="en-US" sz="1400" b="1" i="0" u="sng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￦</a:t>
            </a:r>
            <a:r>
              <a:rPr kumimoji="0" lang="en-US" altLang="ko-KR" sz="1400" b="1" i="0" u="sng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970,000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이었다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. </a:t>
            </a:r>
          </a:p>
          <a:p>
            <a:pPr marL="0" marR="0" lvl="0" indent="0" algn="just" defTabSz="995363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그러나 현금계정 잔액은 현재 </a:t>
            </a:r>
            <a:r>
              <a:rPr kumimoji="0" lang="ko-KR" altLang="en-US" sz="1400" b="1" i="0" u="sng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￦</a:t>
            </a:r>
            <a:r>
              <a:rPr kumimoji="0" lang="en-US" altLang="ko-KR" sz="1400" b="1" i="0" u="sng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1,000,000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이고 </a:t>
            </a:r>
            <a:r>
              <a:rPr kumimoji="0" lang="ko-KR" altLang="en-US" sz="1400" b="1" i="0" u="sng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그 차이의 원인은 현재 알 수 없다</a:t>
            </a:r>
            <a:r>
              <a:rPr kumimoji="0" lang="en-US" altLang="ko-KR" sz="1400" b="1" i="0" u="sng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.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 </a:t>
            </a:r>
          </a:p>
          <a:p>
            <a:pPr marL="0" marR="0" lvl="0" indent="0" algn="just" defTabSz="995363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</a:endParaRPr>
          </a:p>
          <a:p>
            <a:pPr marL="285750" indent="-28575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</a:pPr>
            <a:r>
              <a:rPr kumimoji="0" lang="ko-KR" altLang="en-US" sz="1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￦</a:t>
            </a:r>
            <a:r>
              <a:rPr kumimoji="0" lang="en-US" altLang="ko-KR" sz="1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30,000</a:t>
            </a:r>
            <a:r>
              <a:rPr kumimoji="0" lang="ko-KR" altLang="en-US" sz="1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의 현금부족액을 다음과 같이 현금과부족계정으로 처리하고 현금계정에서 차감한다</a:t>
            </a:r>
            <a:r>
              <a:rPr kumimoji="0" lang="en-US" altLang="ko-KR" sz="1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. </a:t>
            </a:r>
            <a:r>
              <a:rPr kumimoji="0" lang="ko-KR" altLang="en-US" sz="1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결과적으로 현금계정 잔액은 ￦</a:t>
            </a:r>
            <a:r>
              <a:rPr kumimoji="0" lang="en-US" altLang="ko-KR" sz="1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970,000</a:t>
            </a:r>
            <a:r>
              <a:rPr kumimoji="0" lang="ko-KR" altLang="en-US" sz="1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이 되어 실제보유액과 일치된다</a:t>
            </a:r>
            <a:r>
              <a:rPr kumimoji="0" lang="en-US" altLang="ko-KR" sz="1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.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01467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9</a:t>
            </a:fld>
            <a:endParaRPr lang="ko-KR" altLang="en-US" dirty="0"/>
          </a:p>
        </p:txBody>
      </p:sp>
      <p:grpSp>
        <p:nvGrpSpPr>
          <p:cNvPr id="3" name="그룹 2"/>
          <p:cNvGrpSpPr/>
          <p:nvPr/>
        </p:nvGrpSpPr>
        <p:grpSpPr>
          <a:xfrm>
            <a:off x="257304" y="1496173"/>
            <a:ext cx="8641369" cy="3615295"/>
            <a:chOff x="2626683" y="1785119"/>
            <a:chExt cx="11521825" cy="4820395"/>
          </a:xfrm>
        </p:grpSpPr>
        <p:sp>
          <p:nvSpPr>
            <p:cNvPr id="4" name="Rectangle 15"/>
            <p:cNvSpPr>
              <a:spLocks noChangeArrowheads="1"/>
            </p:cNvSpPr>
            <p:nvPr/>
          </p:nvSpPr>
          <p:spPr bwMode="auto">
            <a:xfrm>
              <a:off x="2626683" y="1785119"/>
              <a:ext cx="11521825" cy="1059571"/>
            </a:xfrm>
            <a:prstGeom prst="rect">
              <a:avLst/>
            </a:prstGeom>
            <a:noFill/>
            <a:ln>
              <a:noFill/>
            </a:ln>
          </p:spPr>
          <p:txBody>
            <a:bodyPr lIns="74608" tIns="37301" rIns="74608" bIns="37301" anchor="t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marL="144000" indent="-144000" latinLnBrk="0">
                <a:lnSpc>
                  <a:spcPts val="24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600" b="1" dirty="0">
                  <a:latin typeface="맑은 고딕" panose="020B0503020000020004" pitchFamily="50" charset="-127"/>
                </a:rPr>
                <a:t>• </a:t>
              </a:r>
              <a:r>
                <a:rPr lang="ko-KR" altLang="en-US" sz="16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내부통제제도의 </a:t>
              </a:r>
              <a:r>
                <a:rPr lang="ko-KR" altLang="en-US" sz="1600" b="1" dirty="0" smtClean="0">
                  <a:latin typeface="맑은 고딕" panose="020B0503020000020004" pitchFamily="50" charset="-127"/>
                </a:rPr>
                <a:t>정의 </a:t>
              </a:r>
              <a:r>
                <a:rPr lang="en-US" altLang="ko-KR" sz="1600" b="1" dirty="0">
                  <a:latin typeface="맑은 고딕" panose="020B0503020000020004" pitchFamily="50" charset="-127"/>
                </a:rPr>
                <a:t>: </a:t>
              </a: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기업의 </a:t>
              </a:r>
              <a:r>
                <a:rPr lang="ko-KR" altLang="en-US" sz="1600" b="1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자산을 보호</a:t>
              </a: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하고 </a:t>
              </a:r>
              <a:r>
                <a:rPr lang="ko-KR" altLang="en-US" sz="1600" b="1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회계기록의 신뢰성</a:t>
              </a: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을 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높이기 위하여 구축하는 모든 정책과 </a:t>
              </a:r>
              <a:r>
                <a:rPr lang="ko-KR" altLang="en-US" sz="1600" dirty="0" smtClean="0">
                  <a:latin typeface="맑은 고딕" panose="020B0503020000020004" pitchFamily="50" charset="-127"/>
                </a:rPr>
                <a:t>절차</a:t>
              </a:r>
              <a:r>
                <a:rPr lang="en-US" altLang="ko-KR" sz="1600" dirty="0" smtClean="0">
                  <a:latin typeface="맑은 고딕" panose="020B0503020000020004" pitchFamily="50" charset="-127"/>
                </a:rPr>
                <a:t> </a:t>
              </a:r>
              <a:endParaRPr lang="ko-KR" altLang="en-US" sz="1600" dirty="0">
                <a:latin typeface="맑은 고딕" panose="020B0503020000020004" pitchFamily="50" charset="-127"/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2626908" y="3457610"/>
              <a:ext cx="281973" cy="425439"/>
            </a:xfrm>
            <a:prstGeom prst="rect">
              <a:avLst/>
            </a:prstGeom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500" b="1" dirty="0" smtClean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ko-KR" altLang="en-US" sz="15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직사각형 17"/>
            <p:cNvSpPr/>
            <p:nvPr/>
          </p:nvSpPr>
          <p:spPr>
            <a:xfrm>
              <a:off x="2626908" y="6180075"/>
              <a:ext cx="281973" cy="425439"/>
            </a:xfrm>
            <a:prstGeom prst="rect">
              <a:avLst/>
            </a:prstGeom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500" b="1" dirty="0" smtClean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ko-KR" altLang="en-US" sz="15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8" name="그룹 7"/>
          <p:cNvGrpSpPr/>
          <p:nvPr/>
        </p:nvGrpSpPr>
        <p:grpSpPr>
          <a:xfrm>
            <a:off x="257305" y="2761376"/>
            <a:ext cx="8641368" cy="3971934"/>
            <a:chOff x="2626684" y="1732759"/>
            <a:chExt cx="5600527" cy="3922735"/>
          </a:xfrm>
        </p:grpSpPr>
        <p:sp>
          <p:nvSpPr>
            <p:cNvPr id="9" name="Rectangle 15"/>
            <p:cNvSpPr>
              <a:spLocks noChangeArrowheads="1"/>
            </p:cNvSpPr>
            <p:nvPr/>
          </p:nvSpPr>
          <p:spPr bwMode="auto">
            <a:xfrm>
              <a:off x="2626684" y="2125622"/>
              <a:ext cx="5600527" cy="3529872"/>
            </a:xfrm>
            <a:prstGeom prst="rect">
              <a:avLst/>
            </a:prstGeom>
            <a:noFill/>
            <a:ln>
              <a:noFill/>
            </a:ln>
          </p:spPr>
          <p:txBody>
            <a:bodyPr lIns="74608" tIns="37301" rIns="74608" bIns="37301" anchor="t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marL="144000" indent="-144000" latinLnBrk="0">
                <a:lnSpc>
                  <a:spcPts val="24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500" b="1" dirty="0">
                  <a:latin typeface="맑은 고딕" panose="020B0503020000020004" pitchFamily="50" charset="-127"/>
                </a:rPr>
                <a:t>• </a:t>
              </a:r>
              <a:r>
                <a:rPr lang="ko-KR" altLang="en-US" sz="1500" b="1" dirty="0">
                  <a:latin typeface="맑은 고딕" panose="020B0503020000020004" pitchFamily="50" charset="-127"/>
                </a:rPr>
                <a:t>권한과 책임의 부여 및 제한 </a:t>
              </a:r>
              <a:r>
                <a:rPr lang="en-US" altLang="ko-KR" sz="1500" dirty="0">
                  <a:latin typeface="맑은 고딕" panose="020B0503020000020004" pitchFamily="50" charset="-127"/>
                </a:rPr>
                <a:t>– </a:t>
              </a:r>
              <a:r>
                <a:rPr lang="ko-KR" altLang="en-US" sz="1500" dirty="0">
                  <a:latin typeface="맑은 고딕" panose="020B0503020000020004" pitchFamily="50" charset="-127"/>
                </a:rPr>
                <a:t>현금 입출금에 대해서는 소수의 지정된 인원에게만 권한과 책임을 부여해야 </a:t>
              </a:r>
              <a:r>
                <a:rPr lang="ko-KR" altLang="en-US" sz="1500" dirty="0" smtClean="0">
                  <a:latin typeface="맑은 고딕" panose="020B0503020000020004" pitchFamily="50" charset="-127"/>
                </a:rPr>
                <a:t>함</a:t>
              </a:r>
              <a:r>
                <a:rPr lang="en-US" altLang="ko-KR" sz="1500" dirty="0" smtClean="0">
                  <a:latin typeface="맑은 고딕" panose="020B0503020000020004" pitchFamily="50" charset="-127"/>
                </a:rPr>
                <a:t> </a:t>
              </a:r>
              <a:endParaRPr lang="en-US" altLang="ko-KR" sz="1500" dirty="0">
                <a:latin typeface="맑은 고딕" panose="020B0503020000020004" pitchFamily="50" charset="-127"/>
              </a:endParaRPr>
            </a:p>
            <a:p>
              <a:pPr marL="144000" indent="-144000" latinLnBrk="0">
                <a:lnSpc>
                  <a:spcPts val="24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500" b="1" dirty="0">
                  <a:latin typeface="맑은 고딕" panose="020B0503020000020004" pitchFamily="50" charset="-127"/>
                </a:rPr>
                <a:t>• </a:t>
              </a:r>
              <a:r>
                <a:rPr lang="ko-KR" altLang="en-US" sz="1500" b="1" dirty="0">
                  <a:latin typeface="맑은 고딕" panose="020B0503020000020004" pitchFamily="50" charset="-127"/>
                </a:rPr>
                <a:t>업무의 분장 </a:t>
              </a:r>
              <a:r>
                <a:rPr lang="en-US" altLang="ko-KR" sz="1500" dirty="0">
                  <a:latin typeface="맑은 고딕" panose="020B0503020000020004" pitchFamily="50" charset="-127"/>
                </a:rPr>
                <a:t>–</a:t>
              </a:r>
              <a:r>
                <a:rPr lang="ko-KR" altLang="en-US" sz="1500" dirty="0">
                  <a:latin typeface="맑은 고딕" panose="020B0503020000020004" pitchFamily="50" charset="-127"/>
                </a:rPr>
                <a:t>현금의 지급과 수취에 대한 업무영역별로 별도의 담당자가 지정되어야 </a:t>
              </a:r>
              <a:r>
                <a:rPr lang="ko-KR" altLang="en-US" sz="1500" dirty="0" smtClean="0">
                  <a:latin typeface="맑은 고딕" panose="020B0503020000020004" pitchFamily="50" charset="-127"/>
                </a:rPr>
                <a:t>함</a:t>
              </a:r>
              <a:r>
                <a:rPr lang="en-US" altLang="ko-KR" sz="1500" dirty="0" smtClean="0">
                  <a:latin typeface="맑은 고딕" panose="020B0503020000020004" pitchFamily="50" charset="-127"/>
                </a:rPr>
                <a:t> </a:t>
              </a:r>
              <a:endParaRPr lang="ko-KR" altLang="en-US" sz="1500" dirty="0">
                <a:latin typeface="맑은 고딕" panose="020B0503020000020004" pitchFamily="50" charset="-127"/>
              </a:endParaRPr>
            </a:p>
          </p:txBody>
        </p:sp>
        <p:sp>
          <p:nvSpPr>
            <p:cNvPr id="10" name="Rectangle 14"/>
            <p:cNvSpPr>
              <a:spLocks noChangeArrowheads="1"/>
            </p:cNvSpPr>
            <p:nvPr/>
          </p:nvSpPr>
          <p:spPr bwMode="auto">
            <a:xfrm>
              <a:off x="2785852" y="1732759"/>
              <a:ext cx="4243415" cy="431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4608" tIns="37301" rIns="74608" bIns="37301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 typeface="Wingdings" panose="05000000000000000000" pitchFamily="2" charset="2"/>
                <a:buNone/>
              </a:pPr>
              <a:r>
                <a:rPr lang="ko-KR" altLang="en-US" sz="15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현금 입출금에 대한 통제</a:t>
              </a:r>
            </a:p>
          </p:txBody>
        </p:sp>
      </p:grpSp>
      <p:grpSp>
        <p:nvGrpSpPr>
          <p:cNvPr id="13" name="그룹 12"/>
          <p:cNvGrpSpPr/>
          <p:nvPr/>
        </p:nvGrpSpPr>
        <p:grpSpPr>
          <a:xfrm>
            <a:off x="327534" y="4808175"/>
            <a:ext cx="8409558" cy="3850267"/>
            <a:chOff x="2626683" y="1693823"/>
            <a:chExt cx="5760913" cy="5096041"/>
          </a:xfrm>
        </p:grpSpPr>
        <p:sp>
          <p:nvSpPr>
            <p:cNvPr id="14" name="Rectangle 15"/>
            <p:cNvSpPr>
              <a:spLocks noChangeArrowheads="1"/>
            </p:cNvSpPr>
            <p:nvPr/>
          </p:nvSpPr>
          <p:spPr bwMode="auto">
            <a:xfrm>
              <a:off x="2626683" y="2125624"/>
              <a:ext cx="5760913" cy="4664240"/>
            </a:xfrm>
            <a:prstGeom prst="rect">
              <a:avLst/>
            </a:prstGeom>
            <a:noFill/>
            <a:ln>
              <a:noFill/>
            </a:ln>
          </p:spPr>
          <p:txBody>
            <a:bodyPr lIns="74608" tIns="37301" rIns="74608" bIns="37301" anchor="t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marL="144000" indent="-144000" latinLnBrk="0">
                <a:lnSpc>
                  <a:spcPts val="24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500" b="1" dirty="0">
                  <a:latin typeface="맑은 고딕" panose="020B0503020000020004" pitchFamily="50" charset="-127"/>
                </a:rPr>
                <a:t>• </a:t>
              </a:r>
              <a:r>
                <a:rPr lang="ko-KR" altLang="en-US" sz="1500" b="1" dirty="0">
                  <a:latin typeface="맑은 고딕" panose="020B0503020000020004" pitchFamily="50" charset="-127"/>
                </a:rPr>
                <a:t>문서화 </a:t>
              </a:r>
              <a:r>
                <a:rPr lang="en-US" altLang="ko-KR" sz="1500" dirty="0">
                  <a:latin typeface="맑은 고딕" panose="020B0503020000020004" pitchFamily="50" charset="-127"/>
                </a:rPr>
                <a:t>– </a:t>
              </a:r>
              <a:r>
                <a:rPr lang="ko-KR" altLang="en-US" sz="1500" dirty="0">
                  <a:latin typeface="맑은 고딕" panose="020B0503020000020004" pitchFamily="50" charset="-127"/>
                </a:rPr>
                <a:t>모든 현금의 입출금은 즉시 전산시스템 내의 현금출납장과 같은 </a:t>
              </a:r>
              <a:r>
                <a:rPr lang="ko-KR" altLang="en-US" sz="1500" dirty="0" err="1">
                  <a:latin typeface="맑은 고딕" panose="020B0503020000020004" pitchFamily="50" charset="-127"/>
                </a:rPr>
                <a:t>내부양식에</a:t>
              </a:r>
              <a:r>
                <a:rPr lang="ko-KR" altLang="en-US" sz="1500" dirty="0">
                  <a:latin typeface="맑은 고딕" panose="020B0503020000020004" pitchFamily="50" charset="-127"/>
                </a:rPr>
                <a:t> 기록</a:t>
              </a:r>
              <a:r>
                <a:rPr lang="en-US" altLang="ko-KR" sz="1500" dirty="0">
                  <a:latin typeface="맑은 고딕" panose="020B0503020000020004" pitchFamily="50" charset="-127"/>
                </a:rPr>
                <a:t>(</a:t>
              </a:r>
              <a:r>
                <a:rPr lang="ko-KR" altLang="en-US" sz="1500" dirty="0">
                  <a:latin typeface="맑은 고딕" panose="020B0503020000020004" pitchFamily="50" charset="-127"/>
                </a:rPr>
                <a:t>문서화</a:t>
              </a:r>
              <a:r>
                <a:rPr lang="en-US" altLang="ko-KR" sz="1500" dirty="0">
                  <a:latin typeface="맑은 고딕" panose="020B0503020000020004" pitchFamily="50" charset="-127"/>
                </a:rPr>
                <a:t>)</a:t>
              </a:r>
              <a:r>
                <a:rPr lang="ko-KR" altLang="en-US" sz="1500" dirty="0">
                  <a:latin typeface="맑은 고딕" panose="020B0503020000020004" pitchFamily="50" charset="-127"/>
                </a:rPr>
                <a:t>되어야 </a:t>
              </a:r>
              <a:r>
                <a:rPr lang="ko-KR" altLang="en-US" sz="1500" dirty="0" smtClean="0">
                  <a:latin typeface="맑은 고딕" panose="020B0503020000020004" pitchFamily="50" charset="-127"/>
                </a:rPr>
                <a:t>함</a:t>
              </a:r>
              <a:r>
                <a:rPr lang="en-US" altLang="ko-KR" sz="1500" dirty="0" smtClean="0">
                  <a:latin typeface="맑은 고딕" panose="020B0503020000020004" pitchFamily="50" charset="-127"/>
                </a:rPr>
                <a:t> </a:t>
              </a:r>
              <a:endParaRPr lang="en-US" altLang="ko-KR" sz="1500" dirty="0">
                <a:latin typeface="맑은 고딕" panose="020B0503020000020004" pitchFamily="50" charset="-127"/>
              </a:endParaRPr>
            </a:p>
            <a:p>
              <a:pPr marL="144000" indent="-144000" latinLnBrk="0">
                <a:lnSpc>
                  <a:spcPts val="24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500" b="1" dirty="0">
                  <a:latin typeface="맑은 고딕" panose="020B0503020000020004" pitchFamily="50" charset="-127"/>
                </a:rPr>
                <a:t>• </a:t>
              </a:r>
              <a:r>
                <a:rPr lang="ko-KR" altLang="en-US" sz="1500" b="1" dirty="0">
                  <a:latin typeface="맑은 고딕" panose="020B0503020000020004" pitchFamily="50" charset="-127"/>
                </a:rPr>
                <a:t>검증절차 </a:t>
              </a:r>
              <a:r>
                <a:rPr lang="en-US" altLang="ko-KR" sz="1500" dirty="0">
                  <a:latin typeface="맑은 고딕" panose="020B0503020000020004" pitchFamily="50" charset="-127"/>
                </a:rPr>
                <a:t>–</a:t>
              </a:r>
              <a:r>
                <a:rPr lang="ko-KR" altLang="en-US" sz="1500" dirty="0">
                  <a:latin typeface="맑은 고딕" panose="020B0503020000020004" pitchFamily="50" charset="-127"/>
                </a:rPr>
                <a:t>정기적으로 보유 현금의 잔액과 은행 계좌를 확인해야 함</a:t>
              </a:r>
            </a:p>
          </p:txBody>
        </p:sp>
        <p:sp>
          <p:nvSpPr>
            <p:cNvPr id="15" name="Rectangle 14"/>
            <p:cNvSpPr>
              <a:spLocks noChangeArrowheads="1"/>
            </p:cNvSpPr>
            <p:nvPr/>
          </p:nvSpPr>
          <p:spPr bwMode="auto">
            <a:xfrm>
              <a:off x="2762150" y="1693823"/>
              <a:ext cx="4243414" cy="4318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4608" tIns="37301" rIns="74608" bIns="37301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 typeface="Wingdings" panose="05000000000000000000" pitchFamily="2" charset="2"/>
                <a:buNone/>
              </a:pPr>
              <a:r>
                <a:rPr lang="ko-KR" altLang="en-US" sz="15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문서화 및 검증절차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931127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10</a:t>
            </a:fld>
            <a:endParaRPr lang="ko-KR" altLang="en-US" dirty="0"/>
          </a:p>
        </p:txBody>
      </p:sp>
      <p:grpSp>
        <p:nvGrpSpPr>
          <p:cNvPr id="3" name="그룹 2"/>
          <p:cNvGrpSpPr/>
          <p:nvPr/>
        </p:nvGrpSpPr>
        <p:grpSpPr>
          <a:xfrm>
            <a:off x="257304" y="1288718"/>
            <a:ext cx="8641370" cy="1585144"/>
            <a:chOff x="2626683" y="1694429"/>
            <a:chExt cx="11521825" cy="2113529"/>
          </a:xfrm>
        </p:grpSpPr>
        <p:sp>
          <p:nvSpPr>
            <p:cNvPr id="4" name="Rectangle 15"/>
            <p:cNvSpPr>
              <a:spLocks noChangeArrowheads="1"/>
            </p:cNvSpPr>
            <p:nvPr/>
          </p:nvSpPr>
          <p:spPr bwMode="auto">
            <a:xfrm>
              <a:off x="2626683" y="2125624"/>
              <a:ext cx="11521825" cy="1682334"/>
            </a:xfrm>
            <a:prstGeom prst="rect">
              <a:avLst/>
            </a:prstGeom>
            <a:noFill/>
            <a:ln>
              <a:noFill/>
            </a:ln>
          </p:spPr>
          <p:txBody>
            <a:bodyPr lIns="74608" tIns="37301" rIns="74608" bIns="37301" anchor="ctr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ts val="24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500" b="1" dirty="0">
                  <a:latin typeface="맑은 고딕" panose="020B0503020000020004" pitchFamily="50" charset="-127"/>
                </a:rPr>
                <a:t>• </a:t>
              </a:r>
              <a:r>
                <a:rPr lang="ko-KR" altLang="en-US" sz="1500" b="1" dirty="0">
                  <a:latin typeface="맑은 고딕" panose="020B0503020000020004" pitchFamily="50" charset="-127"/>
                </a:rPr>
                <a:t>정의 </a:t>
              </a:r>
              <a:r>
                <a:rPr lang="en-US" altLang="ko-KR" sz="1500" b="1" dirty="0">
                  <a:latin typeface="맑은 고딕" panose="020B0503020000020004" pitchFamily="50" charset="-127"/>
                </a:rPr>
                <a:t>: </a:t>
              </a:r>
              <a:r>
                <a:rPr lang="ko-KR" altLang="en-US" sz="1500" dirty="0" err="1">
                  <a:latin typeface="맑은 고딕" panose="020B0503020000020004" pitchFamily="50" charset="-127"/>
                </a:rPr>
                <a:t>수취채권</a:t>
              </a:r>
              <a:r>
                <a:rPr lang="ko-KR" altLang="en-US" sz="1500" dirty="0">
                  <a:latin typeface="맑은 고딕" panose="020B0503020000020004" pitchFamily="50" charset="-127"/>
                </a:rPr>
                <a:t> 중 상품</a:t>
              </a:r>
              <a:r>
                <a:rPr lang="en-US" altLang="ko-KR" sz="1500" dirty="0">
                  <a:latin typeface="맑은 고딕" panose="020B0503020000020004" pitchFamily="50" charset="-127"/>
                </a:rPr>
                <a:t>, </a:t>
              </a:r>
              <a:r>
                <a:rPr lang="ko-KR" altLang="en-US" sz="1500" dirty="0">
                  <a:latin typeface="맑은 고딕" panose="020B0503020000020004" pitchFamily="50" charset="-127"/>
                </a:rPr>
                <a:t>제품의 판매나 용역의 제공 등 </a:t>
              </a:r>
              <a:r>
                <a:rPr lang="ko-KR" altLang="en-US" sz="15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기업의 </a:t>
              </a:r>
              <a:r>
                <a:rPr lang="ko-KR" altLang="en-US" sz="1500" b="1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주된 영업활동</a:t>
              </a:r>
              <a:r>
                <a:rPr lang="ko-KR" altLang="en-US" sz="15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에서 발생하는 채권</a:t>
              </a:r>
              <a:endParaRPr lang="en-US" altLang="ko-KR" sz="1500" dirty="0">
                <a:solidFill>
                  <a:schemeClr val="tx1"/>
                </a:solidFill>
                <a:latin typeface="맑은 고딕" panose="020B0503020000020004" pitchFamily="50" charset="-127"/>
              </a:endParaRPr>
            </a:p>
            <a:p>
              <a:pPr>
                <a:lnSpc>
                  <a:spcPts val="24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500" b="1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• </a:t>
              </a:r>
              <a:r>
                <a:rPr lang="ko-KR" altLang="en-US" sz="1500" b="1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매출채권 </a:t>
              </a:r>
              <a:r>
                <a:rPr lang="en-US" altLang="ko-KR" sz="1500" b="1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= </a:t>
              </a:r>
              <a:r>
                <a:rPr lang="ko-KR" altLang="en-US" sz="1500" b="1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외상매출금 </a:t>
              </a:r>
              <a:r>
                <a:rPr lang="en-US" altLang="ko-KR" sz="1500" b="1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+ </a:t>
              </a:r>
              <a:r>
                <a:rPr lang="ko-KR" altLang="en-US" sz="1500" b="1" dirty="0" err="1">
                  <a:solidFill>
                    <a:schemeClr val="tx1"/>
                  </a:solidFill>
                  <a:latin typeface="맑은 고딕" panose="020B0503020000020004" pitchFamily="50" charset="-127"/>
                </a:rPr>
                <a:t>받을어음</a:t>
              </a:r>
              <a:endParaRPr lang="en-US" altLang="ko-KR" sz="1500" b="1" dirty="0">
                <a:solidFill>
                  <a:schemeClr val="tx1"/>
                </a:solidFill>
                <a:latin typeface="맑은 고딕" panose="020B0503020000020004" pitchFamily="50" charset="-127"/>
              </a:endParaRPr>
            </a:p>
            <a:p>
              <a:pPr marL="360000" indent="-252000" latinLnBrk="0">
                <a:lnSpc>
                  <a:spcPts val="24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500" dirty="0">
                  <a:latin typeface="맑은 고딕" panose="020B0503020000020004" pitchFamily="50" charset="-127"/>
                  <a:sym typeface="Wingdings" pitchFamily="2" charset="2"/>
                </a:rPr>
                <a:t></a:t>
              </a:r>
              <a:r>
                <a:rPr lang="en-US" altLang="ko-KR" sz="1500" dirty="0">
                  <a:latin typeface="맑은 고딕" panose="020B0503020000020004" pitchFamily="50" charset="-127"/>
                </a:rPr>
                <a:t> </a:t>
              </a:r>
              <a:r>
                <a:rPr lang="ko-KR" altLang="en-US" sz="1500" dirty="0">
                  <a:latin typeface="맑은 고딕" panose="020B0503020000020004" pitchFamily="50" charset="-127"/>
                </a:rPr>
                <a:t>기중에는 외상매출금과 </a:t>
              </a:r>
              <a:r>
                <a:rPr lang="ko-KR" altLang="en-US" sz="1500" dirty="0" err="1">
                  <a:latin typeface="맑은 고딕" panose="020B0503020000020004" pitchFamily="50" charset="-127"/>
                </a:rPr>
                <a:t>받을어음</a:t>
              </a:r>
              <a:r>
                <a:rPr lang="ko-KR" altLang="en-US" sz="1500" dirty="0">
                  <a:latin typeface="맑은 고딕" panose="020B0503020000020004" pitchFamily="50" charset="-127"/>
                </a:rPr>
                <a:t> 계정을 분리하여 </a:t>
              </a:r>
              <a:r>
                <a:rPr lang="ko-KR" altLang="en-US" sz="1500" dirty="0" err="1">
                  <a:latin typeface="맑은 고딕" panose="020B0503020000020004" pitchFamily="50" charset="-127"/>
                </a:rPr>
                <a:t>회계처리하며</a:t>
              </a:r>
              <a:r>
                <a:rPr lang="en-US" altLang="ko-KR" sz="1500" dirty="0">
                  <a:latin typeface="맑은 고딕" panose="020B0503020000020004" pitchFamily="50" charset="-127"/>
                </a:rPr>
                <a:t>, </a:t>
              </a:r>
              <a:r>
                <a:rPr lang="ko-KR" altLang="en-US" sz="1500" dirty="0">
                  <a:latin typeface="맑은 고딕" panose="020B0503020000020004" pitchFamily="50" charset="-127"/>
                </a:rPr>
                <a:t>재무상태표를 작성할 때에는 통합하여 </a:t>
              </a:r>
              <a:r>
                <a:rPr lang="ko-KR" altLang="en-US" sz="1500" b="1" dirty="0">
                  <a:latin typeface="맑은 고딕" panose="020B0503020000020004" pitchFamily="50" charset="-127"/>
                </a:rPr>
                <a:t>매출채권</a:t>
              </a:r>
              <a:r>
                <a:rPr lang="ko-KR" altLang="en-US" sz="1500" dirty="0">
                  <a:latin typeface="맑은 고딕" panose="020B0503020000020004" pitchFamily="50" charset="-127"/>
                </a:rPr>
                <a:t>이라는 단일계정으로 표시 </a:t>
              </a:r>
            </a:p>
          </p:txBody>
        </p:sp>
        <p:sp>
          <p:nvSpPr>
            <p:cNvPr id="5" name="Rectangle 14"/>
            <p:cNvSpPr>
              <a:spLocks noChangeArrowheads="1"/>
            </p:cNvSpPr>
            <p:nvPr/>
          </p:nvSpPr>
          <p:spPr bwMode="auto">
            <a:xfrm>
              <a:off x="2908882" y="1694429"/>
              <a:ext cx="4837775" cy="4318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4608" tIns="37301" rIns="74608" bIns="37301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None/>
              </a:pPr>
              <a:r>
                <a:rPr lang="ko-KR" altLang="en-US" sz="1500" b="1" dirty="0">
                  <a:latin typeface="맑은 고딕" panose="020B0503020000020004" pitchFamily="50" charset="-127"/>
                </a:rPr>
                <a:t>매출채권</a:t>
              </a:r>
              <a:r>
                <a:rPr lang="en-US" altLang="ko-KR" sz="1500" dirty="0">
                  <a:latin typeface="맑은 고딕" panose="020B0503020000020004" pitchFamily="50" charset="-127"/>
                </a:rPr>
                <a:t>(trade</a:t>
              </a:r>
              <a:r>
                <a:rPr lang="ko-KR" altLang="en-US" sz="1500" dirty="0">
                  <a:latin typeface="맑은 고딕" panose="020B0503020000020004" pitchFamily="50" charset="-127"/>
                </a:rPr>
                <a:t> </a:t>
              </a:r>
              <a:r>
                <a:rPr lang="en-US" altLang="ko-KR" sz="1500" dirty="0">
                  <a:latin typeface="맑은 고딕" panose="020B0503020000020004" pitchFamily="50" charset="-127"/>
                </a:rPr>
                <a:t>receivable)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 typeface="Wingdings" panose="05000000000000000000" pitchFamily="2" charset="2"/>
                <a:buNone/>
              </a:pPr>
              <a:endParaRPr lang="ko-KR" altLang="en-US" sz="1500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7" name="직사각형 6"/>
            <p:cNvSpPr/>
            <p:nvPr/>
          </p:nvSpPr>
          <p:spPr>
            <a:xfrm>
              <a:off x="2626908" y="1722059"/>
              <a:ext cx="281973" cy="425439"/>
            </a:xfrm>
            <a:prstGeom prst="rect">
              <a:avLst/>
            </a:prstGeom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500" b="1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ko-KR" altLang="en-US" sz="15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9" name="그룹 18"/>
          <p:cNvGrpSpPr/>
          <p:nvPr/>
        </p:nvGrpSpPr>
        <p:grpSpPr>
          <a:xfrm>
            <a:off x="187214" y="2936217"/>
            <a:ext cx="8711460" cy="3590313"/>
            <a:chOff x="190714" y="1320886"/>
            <a:chExt cx="8711460" cy="3590313"/>
          </a:xfrm>
        </p:grpSpPr>
        <p:grpSp>
          <p:nvGrpSpPr>
            <p:cNvPr id="20" name="그룹 19"/>
            <p:cNvGrpSpPr/>
            <p:nvPr/>
          </p:nvGrpSpPr>
          <p:grpSpPr>
            <a:xfrm>
              <a:off x="361935" y="1461499"/>
              <a:ext cx="8540239" cy="3449700"/>
              <a:chOff x="269048" y="1722741"/>
              <a:chExt cx="8648775" cy="3449700"/>
            </a:xfrm>
          </p:grpSpPr>
          <p:sp>
            <p:nvSpPr>
              <p:cNvPr id="28" name="Rectangle 15"/>
              <p:cNvSpPr>
                <a:spLocks noChangeArrowheads="1"/>
              </p:cNvSpPr>
              <p:nvPr/>
            </p:nvSpPr>
            <p:spPr bwMode="auto">
              <a:xfrm>
                <a:off x="269048" y="1746440"/>
                <a:ext cx="8641369" cy="3426001"/>
              </a:xfrm>
              <a:prstGeom prst="foldedCorner">
                <a:avLst>
                  <a:gd name="adj" fmla="val 5125"/>
                </a:avLst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txBody>
              <a:bodyPr lIns="74608" tIns="37301" rIns="74608" bIns="37301" anchor="ctr"/>
              <a:lstStyle>
                <a:lvl1pPr algn="l" defTabSz="995363">
                  <a:spcBef>
                    <a:spcPct val="20000"/>
                  </a:spcBef>
                  <a:buClr>
                    <a:schemeClr val="tx2"/>
                  </a:buClr>
                  <a:buSzPct val="115000"/>
                  <a:buFont typeface="Wingdings" panose="05000000000000000000" pitchFamily="2" charset="2"/>
                  <a:buChar char="§"/>
                  <a:defRPr sz="28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 algn="l" defTabSz="995363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 algn="l" defTabSz="995363">
                  <a:spcBef>
                    <a:spcPct val="20000"/>
                  </a:spcBef>
                  <a:buChar char="•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 algn="l" defTabSz="995363">
                  <a:spcBef>
                    <a:spcPct val="20000"/>
                  </a:spcBef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 algn="l" defTabSz="995363">
                  <a:spcBef>
                    <a:spcPct val="20000"/>
                  </a:spcBef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ko-KR" altLang="en-US" sz="1400" dirty="0"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29" name="직사각형 28"/>
              <p:cNvSpPr/>
              <p:nvPr/>
            </p:nvSpPr>
            <p:spPr>
              <a:xfrm>
                <a:off x="277823" y="1722741"/>
                <a:ext cx="8640000" cy="45719"/>
              </a:xfrm>
              <a:prstGeom prst="rect">
                <a:avLst/>
              </a:prstGeom>
              <a:solidFill>
                <a:srgbClr val="2D61C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21" name="그룹 20"/>
            <p:cNvGrpSpPr/>
            <p:nvPr/>
          </p:nvGrpSpPr>
          <p:grpSpPr>
            <a:xfrm>
              <a:off x="190714" y="1320886"/>
              <a:ext cx="3540492" cy="326952"/>
              <a:chOff x="190714" y="1320889"/>
              <a:chExt cx="3028622" cy="290354"/>
            </a:xfrm>
            <a:solidFill>
              <a:srgbClr val="2D61C8"/>
            </a:solidFill>
          </p:grpSpPr>
          <p:grpSp>
            <p:nvGrpSpPr>
              <p:cNvPr id="22" name="그룹 21"/>
              <p:cNvGrpSpPr/>
              <p:nvPr/>
            </p:nvGrpSpPr>
            <p:grpSpPr>
              <a:xfrm>
                <a:off x="190714" y="1320889"/>
                <a:ext cx="3028622" cy="290354"/>
                <a:chOff x="405822" y="2237753"/>
                <a:chExt cx="3028622" cy="290354"/>
              </a:xfrm>
              <a:grpFill/>
            </p:grpSpPr>
            <p:sp>
              <p:nvSpPr>
                <p:cNvPr id="24" name="타원 23"/>
                <p:cNvSpPr/>
                <p:nvPr/>
              </p:nvSpPr>
              <p:spPr>
                <a:xfrm>
                  <a:off x="405822" y="2237753"/>
                  <a:ext cx="290351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5" name="타원 24"/>
                <p:cNvSpPr/>
                <p:nvPr/>
              </p:nvSpPr>
              <p:spPr>
                <a:xfrm>
                  <a:off x="3144093" y="2237753"/>
                  <a:ext cx="290351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6" name="직사각형 25"/>
                <p:cNvSpPr/>
                <p:nvPr/>
              </p:nvSpPr>
              <p:spPr>
                <a:xfrm>
                  <a:off x="542512" y="2237755"/>
                  <a:ext cx="2763519" cy="290352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1600" b="1" dirty="0"/>
                    <a:t>예제 </a:t>
                  </a:r>
                  <a:r>
                    <a:rPr lang="en-US" altLang="ko-KR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5-4</a:t>
                  </a:r>
                  <a:r>
                    <a:rPr lang="en-US" altLang="ko-KR" sz="1600" b="1" dirty="0"/>
                    <a:t> </a:t>
                  </a:r>
                  <a:r>
                    <a:rPr lang="ko-KR" altLang="en-US" sz="1600" b="1" dirty="0"/>
                    <a:t>매출채권의 회계처리</a:t>
                  </a:r>
                </a:p>
              </p:txBody>
            </p:sp>
            <p:sp>
              <p:nvSpPr>
                <p:cNvPr id="27" name="타원 26"/>
                <p:cNvSpPr/>
                <p:nvPr/>
              </p:nvSpPr>
              <p:spPr>
                <a:xfrm>
                  <a:off x="427833" y="2256153"/>
                  <a:ext cx="253549" cy="25354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pic>
            <p:nvPicPr>
              <p:cNvPr id="23" name="그림 22" descr="Log in | Sign Up Upload Clipart"/>
              <p:cNvPicPr>
                <a:picLocks noChangeAspect="1"/>
              </p:cNvPicPr>
              <p:nvPr/>
            </p:nvPicPr>
            <p:blipFill>
              <a:blip r:embed="rId2" cstate="email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265229" y="1359640"/>
                <a:ext cx="147147" cy="229618"/>
              </a:xfrm>
              <a:prstGeom prst="rect">
                <a:avLst/>
              </a:prstGeom>
            </p:spPr>
          </p:pic>
        </p:grpSp>
      </p:grpSp>
      <p:sp>
        <p:nvSpPr>
          <p:cNvPr id="35" name="Rectangle 12"/>
          <p:cNvSpPr>
            <a:spLocks noChangeArrowheads="1"/>
          </p:cNvSpPr>
          <p:nvPr/>
        </p:nvSpPr>
        <p:spPr bwMode="auto">
          <a:xfrm>
            <a:off x="818217" y="5582760"/>
            <a:ext cx="7775575" cy="360362"/>
          </a:xfrm>
          <a:prstGeom prst="rect">
            <a:avLst/>
          </a:prstGeom>
          <a:noFill/>
          <a:ln>
            <a:noFill/>
          </a:ln>
        </p:spPr>
        <p:txBody>
          <a:bodyPr lIns="99477" tIns="49735" rIns="99477" bIns="49735"/>
          <a:lstStyle>
            <a:lvl1pPr algn="l" defTabSz="995363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 defTabSz="995363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 defTabSz="995363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 defTabSz="995363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 defTabSz="995363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95363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  ② </a:t>
            </a:r>
            <a:r>
              <a:rPr kumimoji="0" lang="ko-KR" altLang="en-US" sz="1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매출채권 </a:t>
            </a:r>
            <a:r>
              <a:rPr kumimoji="0" lang="ko-KR" altLang="en-US" sz="140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회수시</a:t>
            </a:r>
            <a:endParaRPr kumimoji="0" lang="en-US" altLang="ko-KR" sz="14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</a:endParaRPr>
          </a:p>
        </p:txBody>
      </p:sp>
      <p:sp>
        <p:nvSpPr>
          <p:cNvPr id="36" name="Rectangle 12"/>
          <p:cNvSpPr>
            <a:spLocks noChangeArrowheads="1"/>
          </p:cNvSpPr>
          <p:nvPr/>
        </p:nvSpPr>
        <p:spPr bwMode="auto">
          <a:xfrm>
            <a:off x="1270820" y="5848962"/>
            <a:ext cx="7200000" cy="54581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txBody>
          <a:bodyPr lIns="99477" tIns="49735" rIns="99477" bIns="49735"/>
          <a:lstStyle>
            <a:lvl1pPr algn="l" defTabSz="995363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 defTabSz="995363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 defTabSz="995363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 defTabSz="995363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 defTabSz="995363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95363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  </a:t>
            </a:r>
            <a:r>
              <a:rPr kumimoji="0" lang="en-US" altLang="ko-KR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     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(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차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) 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현         금        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1,500,000           (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대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)   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외상매출금   </a:t>
            </a:r>
            <a:r>
              <a:rPr kumimoji="0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  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    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500,000</a:t>
            </a:r>
          </a:p>
          <a:p>
            <a:pPr marL="0" marR="0" lvl="0" indent="0" algn="l" defTabSz="995363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                                                               </a:t>
            </a:r>
            <a:r>
              <a:rPr kumimoji="0" lang="en-US" altLang="ko-KR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     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받 을 어 음      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1,000,000</a:t>
            </a:r>
          </a:p>
        </p:txBody>
      </p:sp>
      <p:sp>
        <p:nvSpPr>
          <p:cNvPr id="37" name="Rectangle 12"/>
          <p:cNvSpPr>
            <a:spLocks noChangeArrowheads="1"/>
          </p:cNvSpPr>
          <p:nvPr/>
        </p:nvSpPr>
        <p:spPr bwMode="auto">
          <a:xfrm>
            <a:off x="468953" y="3325025"/>
            <a:ext cx="8507261" cy="556826"/>
          </a:xfrm>
          <a:prstGeom prst="rect">
            <a:avLst/>
          </a:prstGeom>
          <a:noFill/>
          <a:ln>
            <a:noFill/>
          </a:ln>
        </p:spPr>
        <p:txBody>
          <a:bodyPr lIns="99477" tIns="49735" rIns="99477" bIns="49735"/>
          <a:lstStyle>
            <a:lvl1pPr algn="l" defTabSz="995363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 defTabSz="995363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 defTabSz="995363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 defTabSz="995363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 defTabSz="995363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95363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(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주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)</a:t>
            </a:r>
            <a:r>
              <a:rPr lang="ko-KR" altLang="en-US" sz="1400" b="1" kern="0" dirty="0">
                <a:latin typeface="맑은 고딕" panose="020B0503020000020004" pitchFamily="50" charset="-127"/>
              </a:rPr>
              <a:t>마녀공장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은 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20×1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년 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12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월 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15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일 상품을 외상으로 ￦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500,000, 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어음을 받고 ￦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1,000,00 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판매하였으며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, 20×2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년 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1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월 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4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일에 전액을 회수하였다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. 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이에 따른 매출과 매출채권의 회계처리는 다음과 같다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. </a:t>
            </a:r>
          </a:p>
        </p:txBody>
      </p:sp>
      <p:sp>
        <p:nvSpPr>
          <p:cNvPr id="38" name="Rectangle 12"/>
          <p:cNvSpPr>
            <a:spLocks noChangeArrowheads="1"/>
          </p:cNvSpPr>
          <p:nvPr/>
        </p:nvSpPr>
        <p:spPr bwMode="auto">
          <a:xfrm>
            <a:off x="1142804" y="4105679"/>
            <a:ext cx="7200000" cy="54581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txBody>
          <a:bodyPr lIns="99477" tIns="49735" rIns="99477" bIns="49735"/>
          <a:lstStyle>
            <a:lvl1pPr algn="l" defTabSz="995363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 defTabSz="995363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 defTabSz="995363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 defTabSz="995363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 defTabSz="995363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95363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         (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차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) 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외상매출금          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500,000           (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대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) 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매        출          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1,500,000</a:t>
            </a:r>
          </a:p>
          <a:p>
            <a:pPr marL="0" marR="0" lvl="0" indent="0" algn="l" defTabSz="995363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               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받 을 어 음     </a:t>
            </a:r>
            <a:r>
              <a:rPr kumimoji="0" lang="ko-KR" altLang="en-US" sz="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 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  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1,000,000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753258" y="3838899"/>
            <a:ext cx="102784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 ① </a:t>
            </a:r>
            <a:r>
              <a:rPr lang="ko-KR" altLang="en-US" sz="1400" kern="0" dirty="0" err="1">
                <a:solidFill>
                  <a:srgbClr val="000000"/>
                </a:solidFill>
                <a:latin typeface="맑은 고딕" panose="020B0503020000020004" pitchFamily="50" charset="-127"/>
              </a:rPr>
              <a:t>매출시</a:t>
            </a:r>
            <a:endParaRPr lang="ko-KR" altLang="en-US" sz="1400" dirty="0"/>
          </a:p>
        </p:txBody>
      </p:sp>
      <p:graphicFrame>
        <p:nvGraphicFramePr>
          <p:cNvPr id="42" name="표 4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5960273"/>
              </p:ext>
            </p:extLst>
          </p:nvPr>
        </p:nvGraphicFramePr>
        <p:xfrm>
          <a:off x="2967155" y="4714710"/>
          <a:ext cx="3048000" cy="809625"/>
        </p:xfrm>
        <a:graphic>
          <a:graphicData uri="http://schemas.openxmlformats.org/drawingml/2006/table">
            <a:tbl>
              <a:tblPr/>
              <a:tblGrid>
                <a:gridCol w="1625600">
                  <a:extLst>
                    <a:ext uri="{9D8B030D-6E8A-4147-A177-3AD203B41FA5}">
                      <a16:colId xmlns="" xmlns:a16="http://schemas.microsoft.com/office/drawing/2014/main" val="3658063539"/>
                    </a:ext>
                  </a:extLst>
                </a:gridCol>
                <a:gridCol w="1422400">
                  <a:extLst>
                    <a:ext uri="{9D8B030D-6E8A-4147-A177-3AD203B41FA5}">
                      <a16:colId xmlns="" xmlns:a16="http://schemas.microsoft.com/office/drawing/2014/main" val="2123197501"/>
                    </a:ext>
                  </a:extLst>
                </a:gridCol>
              </a:tblGrid>
              <a:tr h="257175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부분재무상태표</a:t>
                      </a:r>
                      <a:r>
                        <a:rPr lang="en-US" altLang="ko-K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(20×1</a:t>
                      </a:r>
                      <a:r>
                        <a:rPr lang="ko-KR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 </a:t>
                      </a:r>
                      <a:r>
                        <a:rPr lang="en-US" altLang="ko-K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</a:t>
                      </a:r>
                      <a:r>
                        <a:rPr lang="ko-KR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 </a:t>
                      </a:r>
                      <a:r>
                        <a:rPr lang="en-US" altLang="ko-K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31</a:t>
                      </a:r>
                      <a:r>
                        <a:rPr lang="ko-KR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</a:t>
                      </a:r>
                      <a:r>
                        <a:rPr lang="en-US" altLang="ko-K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725733656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algn="just" rtl="0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유동자산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4139752783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just" rtl="0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매출채권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₩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1,500,000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8224173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497948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11</a:t>
            </a:fld>
            <a:endParaRPr lang="ko-KR" altLang="en-US" dirty="0"/>
          </a:p>
        </p:txBody>
      </p:sp>
      <p:grpSp>
        <p:nvGrpSpPr>
          <p:cNvPr id="3" name="그룹 2"/>
          <p:cNvGrpSpPr/>
          <p:nvPr/>
        </p:nvGrpSpPr>
        <p:grpSpPr>
          <a:xfrm>
            <a:off x="257473" y="1288264"/>
            <a:ext cx="8641370" cy="4964819"/>
            <a:chOff x="2626908" y="1693823"/>
            <a:chExt cx="11521825" cy="6619768"/>
          </a:xfrm>
        </p:grpSpPr>
        <p:sp>
          <p:nvSpPr>
            <p:cNvPr id="4" name="Rectangle 15"/>
            <p:cNvSpPr>
              <a:spLocks noChangeArrowheads="1"/>
            </p:cNvSpPr>
            <p:nvPr/>
          </p:nvSpPr>
          <p:spPr bwMode="auto">
            <a:xfrm>
              <a:off x="2626908" y="2147498"/>
              <a:ext cx="11521825" cy="6166093"/>
            </a:xfrm>
            <a:prstGeom prst="rect">
              <a:avLst/>
            </a:prstGeom>
            <a:noFill/>
            <a:ln>
              <a:noFill/>
            </a:ln>
          </p:spPr>
          <p:txBody>
            <a:bodyPr lIns="74608" tIns="37301" rIns="74608" bIns="37301" anchor="t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marL="144000" indent="-144000" latinLnBrk="0">
                <a:lnSpc>
                  <a:spcPct val="12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600" dirty="0">
                  <a:latin typeface="맑은 고딕" panose="020B0503020000020004" pitchFamily="50" charset="-127"/>
                </a:rPr>
                <a:t>• </a:t>
              </a:r>
              <a:r>
                <a:rPr lang="ko-KR" altLang="en-US" sz="1600" b="1" dirty="0">
                  <a:latin typeface="맑은 고딕" panose="020B0503020000020004" pitchFamily="50" charset="-127"/>
                </a:rPr>
                <a:t>어음의 정의 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: 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어음발행인이 수취인 또는 어음소지인에게 </a:t>
              </a:r>
              <a:r>
                <a:rPr lang="ko-KR" altLang="en-US" sz="1600" dirty="0" err="1">
                  <a:latin typeface="맑은 고딕" panose="020B0503020000020004" pitchFamily="50" charset="-127"/>
                </a:rPr>
                <a:t>일정기일에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 일정의 금액을 지급하겠다는 것을 약속한 증권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. 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실무상 전자어음이 </a:t>
              </a:r>
              <a:r>
                <a:rPr lang="ko-KR" altLang="en-US" sz="1600" dirty="0" smtClean="0">
                  <a:latin typeface="맑은 고딕" panose="020B0503020000020004" pitchFamily="50" charset="-127"/>
                </a:rPr>
                <a:t>사용됨</a:t>
              </a: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 marL="144000" indent="-144000" latinLnBrk="0">
                <a:lnSpc>
                  <a:spcPct val="120000"/>
                </a:lnSpc>
                <a:spcBef>
                  <a:spcPct val="0"/>
                </a:spcBef>
                <a:buClrTx/>
                <a:buSzTx/>
                <a:buNone/>
              </a:pPr>
              <a:endParaRPr lang="ko-KR" altLang="en-US" sz="1600" dirty="0">
                <a:latin typeface="맑은 고딕" panose="020B0503020000020004" pitchFamily="50" charset="-127"/>
              </a:endParaRPr>
            </a:p>
            <a:p>
              <a:pPr latinLnBrk="0">
                <a:lnSpc>
                  <a:spcPct val="12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600" dirty="0">
                  <a:latin typeface="맑은 고딕" panose="020B0503020000020004" pitchFamily="50" charset="-127"/>
                </a:rPr>
                <a:t>• </a:t>
              </a:r>
              <a:r>
                <a:rPr lang="ko-KR" altLang="en-US" sz="1600" b="1" dirty="0" err="1">
                  <a:latin typeface="맑은 고딕" panose="020B0503020000020004" pitchFamily="50" charset="-127"/>
                </a:rPr>
                <a:t>어음거래의</a:t>
              </a:r>
              <a:r>
                <a:rPr lang="ko-KR" altLang="en-US" sz="1600" b="1" dirty="0">
                  <a:latin typeface="맑은 고딕" panose="020B0503020000020004" pitchFamily="50" charset="-127"/>
                </a:rPr>
                <a:t> 구조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 </a:t>
              </a: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 latinLnBrk="0">
                <a:lnSpc>
                  <a:spcPct val="120000"/>
                </a:lnSpc>
                <a:spcBef>
                  <a:spcPct val="0"/>
                </a:spcBef>
                <a:buClrTx/>
                <a:buSzTx/>
                <a:buNone/>
              </a:pP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 latinLnBrk="0">
                <a:lnSpc>
                  <a:spcPct val="120000"/>
                </a:lnSpc>
                <a:spcBef>
                  <a:spcPct val="0"/>
                </a:spcBef>
                <a:buClrTx/>
                <a:buSzTx/>
                <a:buNone/>
              </a:pP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 latinLnBrk="0">
                <a:lnSpc>
                  <a:spcPct val="120000"/>
                </a:lnSpc>
                <a:spcBef>
                  <a:spcPct val="0"/>
                </a:spcBef>
                <a:buClrTx/>
                <a:buSzTx/>
                <a:buNone/>
              </a:pP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 latinLnBrk="0">
                <a:lnSpc>
                  <a:spcPct val="120000"/>
                </a:lnSpc>
                <a:spcBef>
                  <a:spcPct val="0"/>
                </a:spcBef>
                <a:buClrTx/>
                <a:buSzTx/>
                <a:buNone/>
              </a:pP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 latinLnBrk="0">
                <a:lnSpc>
                  <a:spcPct val="120000"/>
                </a:lnSpc>
                <a:spcBef>
                  <a:spcPct val="0"/>
                </a:spcBef>
                <a:buClrTx/>
                <a:buSzTx/>
                <a:buNone/>
              </a:pP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 latinLnBrk="0">
                <a:lnSpc>
                  <a:spcPct val="120000"/>
                </a:lnSpc>
                <a:spcBef>
                  <a:spcPct val="0"/>
                </a:spcBef>
                <a:buClrTx/>
                <a:buSzTx/>
                <a:buNone/>
              </a:pP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 latinLnBrk="0">
                <a:lnSpc>
                  <a:spcPct val="120000"/>
                </a:lnSpc>
                <a:spcBef>
                  <a:spcPct val="0"/>
                </a:spcBef>
                <a:buClrTx/>
                <a:buSzTx/>
                <a:buNone/>
              </a:pP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>
                <a:spcBef>
                  <a:spcPct val="0"/>
                </a:spcBef>
                <a:buClrTx/>
                <a:buSzTx/>
                <a:buNone/>
              </a:pPr>
              <a:endParaRPr lang="ko-KR" altLang="en-US" sz="1400" dirty="0">
                <a:latin typeface="맑은 고딕" panose="020B0503020000020004" pitchFamily="50" charset="-127"/>
              </a:endParaRPr>
            </a:p>
            <a:p>
              <a:pPr>
                <a:spcBef>
                  <a:spcPct val="0"/>
                </a:spcBef>
                <a:buClrTx/>
                <a:buSzTx/>
                <a:buNone/>
              </a:pPr>
              <a:endParaRPr lang="ko-KR" altLang="en-US" sz="1400" dirty="0">
                <a:latin typeface="맑은 고딕" panose="020B0503020000020004" pitchFamily="50" charset="-127"/>
              </a:endParaRPr>
            </a:p>
          </p:txBody>
        </p:sp>
        <p:sp>
          <p:nvSpPr>
            <p:cNvPr id="5" name="Rectangle 14"/>
            <p:cNvSpPr>
              <a:spLocks noChangeArrowheads="1"/>
            </p:cNvSpPr>
            <p:nvPr/>
          </p:nvSpPr>
          <p:spPr bwMode="auto">
            <a:xfrm>
              <a:off x="2871275" y="1693823"/>
              <a:ext cx="4837775" cy="431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4608" tIns="37301" rIns="74608" bIns="37301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None/>
              </a:pPr>
              <a:r>
                <a:rPr lang="ko-KR" altLang="en-US" sz="1800" b="1" dirty="0" err="1">
                  <a:latin typeface="맑은 고딕" panose="020B0503020000020004" pitchFamily="50" charset="-127"/>
                </a:rPr>
                <a:t>받을어음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(note receivable)</a:t>
              </a:r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7" name="직사각형 6"/>
            <p:cNvSpPr/>
            <p:nvPr/>
          </p:nvSpPr>
          <p:spPr>
            <a:xfrm>
              <a:off x="2626908" y="1722059"/>
              <a:ext cx="281973" cy="425439"/>
            </a:xfrm>
            <a:prstGeom prst="rect">
              <a:avLst/>
            </a:prstGeom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ko-KR" altLang="en-US" sz="16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4930" y="3377232"/>
            <a:ext cx="6506456" cy="23580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101724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12</a:t>
            </a:fld>
            <a:endParaRPr lang="ko-KR" altLang="en-US" dirty="0"/>
          </a:p>
        </p:txBody>
      </p:sp>
      <p:grpSp>
        <p:nvGrpSpPr>
          <p:cNvPr id="19" name="그룹 18"/>
          <p:cNvGrpSpPr/>
          <p:nvPr/>
        </p:nvGrpSpPr>
        <p:grpSpPr>
          <a:xfrm>
            <a:off x="187214" y="1246563"/>
            <a:ext cx="8711460" cy="3590313"/>
            <a:chOff x="190714" y="1320886"/>
            <a:chExt cx="8711460" cy="3590313"/>
          </a:xfrm>
        </p:grpSpPr>
        <p:grpSp>
          <p:nvGrpSpPr>
            <p:cNvPr id="20" name="그룹 19"/>
            <p:cNvGrpSpPr/>
            <p:nvPr/>
          </p:nvGrpSpPr>
          <p:grpSpPr>
            <a:xfrm>
              <a:off x="361935" y="1461499"/>
              <a:ext cx="8540239" cy="3449700"/>
              <a:chOff x="269048" y="1722741"/>
              <a:chExt cx="8648775" cy="3449700"/>
            </a:xfrm>
          </p:grpSpPr>
          <p:sp>
            <p:nvSpPr>
              <p:cNvPr id="28" name="Rectangle 15"/>
              <p:cNvSpPr>
                <a:spLocks noChangeArrowheads="1"/>
              </p:cNvSpPr>
              <p:nvPr/>
            </p:nvSpPr>
            <p:spPr bwMode="auto">
              <a:xfrm>
                <a:off x="269048" y="1746440"/>
                <a:ext cx="8641369" cy="3426001"/>
              </a:xfrm>
              <a:prstGeom prst="foldedCorner">
                <a:avLst>
                  <a:gd name="adj" fmla="val 5125"/>
                </a:avLst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txBody>
              <a:bodyPr lIns="74608" tIns="37301" rIns="74608" bIns="37301" anchor="ctr"/>
              <a:lstStyle>
                <a:lvl1pPr algn="l" defTabSz="995363">
                  <a:spcBef>
                    <a:spcPct val="20000"/>
                  </a:spcBef>
                  <a:buClr>
                    <a:schemeClr val="tx2"/>
                  </a:buClr>
                  <a:buSzPct val="115000"/>
                  <a:buFont typeface="Wingdings" panose="05000000000000000000" pitchFamily="2" charset="2"/>
                  <a:buChar char="§"/>
                  <a:defRPr sz="28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 algn="l" defTabSz="995363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 algn="l" defTabSz="995363">
                  <a:spcBef>
                    <a:spcPct val="20000"/>
                  </a:spcBef>
                  <a:buChar char="•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 algn="l" defTabSz="995363">
                  <a:spcBef>
                    <a:spcPct val="20000"/>
                  </a:spcBef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 algn="l" defTabSz="995363">
                  <a:spcBef>
                    <a:spcPct val="20000"/>
                  </a:spcBef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ko-KR" altLang="en-US" sz="1400" dirty="0"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29" name="직사각형 28"/>
              <p:cNvSpPr/>
              <p:nvPr/>
            </p:nvSpPr>
            <p:spPr>
              <a:xfrm>
                <a:off x="277823" y="1722741"/>
                <a:ext cx="8640000" cy="45719"/>
              </a:xfrm>
              <a:prstGeom prst="rect">
                <a:avLst/>
              </a:prstGeom>
              <a:solidFill>
                <a:srgbClr val="2D61C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21" name="그룹 20"/>
            <p:cNvGrpSpPr/>
            <p:nvPr/>
          </p:nvGrpSpPr>
          <p:grpSpPr>
            <a:xfrm>
              <a:off x="190714" y="1320886"/>
              <a:ext cx="2898658" cy="326952"/>
              <a:chOff x="190714" y="1320889"/>
              <a:chExt cx="2479582" cy="290354"/>
            </a:xfrm>
            <a:solidFill>
              <a:srgbClr val="2D61C8"/>
            </a:solidFill>
          </p:grpSpPr>
          <p:grpSp>
            <p:nvGrpSpPr>
              <p:cNvPr id="22" name="그룹 21"/>
              <p:cNvGrpSpPr/>
              <p:nvPr/>
            </p:nvGrpSpPr>
            <p:grpSpPr>
              <a:xfrm>
                <a:off x="190714" y="1320889"/>
                <a:ext cx="2479582" cy="290354"/>
                <a:chOff x="405822" y="2237753"/>
                <a:chExt cx="2479582" cy="290354"/>
              </a:xfrm>
              <a:grpFill/>
            </p:grpSpPr>
            <p:sp>
              <p:nvSpPr>
                <p:cNvPr id="24" name="타원 23"/>
                <p:cNvSpPr/>
                <p:nvPr/>
              </p:nvSpPr>
              <p:spPr>
                <a:xfrm>
                  <a:off x="405822" y="2237753"/>
                  <a:ext cx="290351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5" name="타원 24"/>
                <p:cNvSpPr/>
                <p:nvPr/>
              </p:nvSpPr>
              <p:spPr>
                <a:xfrm>
                  <a:off x="2595053" y="2237753"/>
                  <a:ext cx="290351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6" name="직사각형 25"/>
                <p:cNvSpPr/>
                <p:nvPr/>
              </p:nvSpPr>
              <p:spPr>
                <a:xfrm>
                  <a:off x="542512" y="2237755"/>
                  <a:ext cx="2206202" cy="290352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1600" b="1" dirty="0"/>
                    <a:t>예제 </a:t>
                  </a:r>
                  <a:r>
                    <a:rPr lang="en-US" altLang="ko-KR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5-5</a:t>
                  </a:r>
                  <a:r>
                    <a:rPr lang="en-US" altLang="ko-KR" sz="1600" b="1" dirty="0"/>
                    <a:t> </a:t>
                  </a:r>
                  <a:r>
                    <a:rPr lang="ko-KR" altLang="en-US" sz="1600" b="1" dirty="0"/>
                    <a:t>어음의 수취</a:t>
                  </a:r>
                </a:p>
              </p:txBody>
            </p:sp>
            <p:sp>
              <p:nvSpPr>
                <p:cNvPr id="27" name="타원 26"/>
                <p:cNvSpPr/>
                <p:nvPr/>
              </p:nvSpPr>
              <p:spPr>
                <a:xfrm>
                  <a:off x="427833" y="2256153"/>
                  <a:ext cx="253549" cy="25354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pic>
            <p:nvPicPr>
              <p:cNvPr id="23" name="그림 22" descr="Log in | Sign Up Upload Clipart"/>
              <p:cNvPicPr>
                <a:picLocks noChangeAspect="1"/>
              </p:cNvPicPr>
              <p:nvPr/>
            </p:nvPicPr>
            <p:blipFill>
              <a:blip r:embed="rId2" cstate="email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265229" y="1359640"/>
                <a:ext cx="147147" cy="229618"/>
              </a:xfrm>
              <a:prstGeom prst="rect">
                <a:avLst/>
              </a:prstGeom>
            </p:spPr>
          </p:pic>
        </p:grpSp>
      </p:grpSp>
      <p:sp>
        <p:nvSpPr>
          <p:cNvPr id="34" name="Rectangle 12"/>
          <p:cNvSpPr>
            <a:spLocks noChangeArrowheads="1"/>
          </p:cNvSpPr>
          <p:nvPr/>
        </p:nvSpPr>
        <p:spPr bwMode="auto">
          <a:xfrm>
            <a:off x="684213" y="1721026"/>
            <a:ext cx="7775575" cy="576263"/>
          </a:xfrm>
          <a:prstGeom prst="rect">
            <a:avLst/>
          </a:prstGeom>
          <a:noFill/>
          <a:ln>
            <a:noFill/>
          </a:ln>
        </p:spPr>
        <p:txBody>
          <a:bodyPr lIns="99477" tIns="49735" rIns="99477" bIns="49735"/>
          <a:lstStyle>
            <a:lvl1pPr algn="l" defTabSz="995363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 defTabSz="995363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 defTabSz="995363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 defTabSz="995363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 defTabSz="995363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95363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12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월 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1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일：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(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주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)</a:t>
            </a:r>
            <a:r>
              <a:rPr kumimoji="0" lang="ko-KR" altLang="en-US" sz="1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덕송은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 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(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주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)</a:t>
            </a:r>
            <a:r>
              <a:rPr lang="ko-KR" altLang="en-US" sz="1400" b="1" kern="0" dirty="0">
                <a:latin typeface="맑은 고딕" panose="020B0503020000020004" pitchFamily="50" charset="-127"/>
              </a:rPr>
              <a:t>농심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에 상품 ￦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200,000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을 매출하고 대금으로 ㈜농심이 발행한 어음을 받았다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. 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이 어음의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 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이자율은 연 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12%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이다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.</a:t>
            </a:r>
          </a:p>
        </p:txBody>
      </p:sp>
      <p:sp>
        <p:nvSpPr>
          <p:cNvPr id="39" name="Rectangle 12"/>
          <p:cNvSpPr>
            <a:spLocks noChangeArrowheads="1"/>
          </p:cNvSpPr>
          <p:nvPr/>
        </p:nvSpPr>
        <p:spPr bwMode="auto">
          <a:xfrm>
            <a:off x="1008513" y="2410926"/>
            <a:ext cx="7200000" cy="41291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txBody>
          <a:bodyPr lIns="99477" tIns="49735" rIns="99477" bIns="49735" anchor="ctr" anchorCtr="0"/>
          <a:lstStyle>
            <a:lvl1pPr algn="l" defTabSz="995363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 defTabSz="995363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 defTabSz="995363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 defTabSz="995363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 defTabSz="995363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95363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     (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차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) 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받 을 어 음             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200,000           (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대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) 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매         출            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200,000</a:t>
            </a:r>
          </a:p>
        </p:txBody>
      </p:sp>
      <p:sp>
        <p:nvSpPr>
          <p:cNvPr id="41" name="Rectangle 12"/>
          <p:cNvSpPr>
            <a:spLocks noChangeArrowheads="1"/>
          </p:cNvSpPr>
          <p:nvPr/>
        </p:nvSpPr>
        <p:spPr bwMode="auto">
          <a:xfrm>
            <a:off x="684213" y="3036945"/>
            <a:ext cx="7775575" cy="576263"/>
          </a:xfrm>
          <a:prstGeom prst="rect">
            <a:avLst/>
          </a:prstGeom>
          <a:noFill/>
          <a:ln>
            <a:noFill/>
          </a:ln>
        </p:spPr>
        <p:txBody>
          <a:bodyPr lIns="99477" tIns="49735" rIns="99477" bIns="49735"/>
          <a:lstStyle>
            <a:lvl1pPr algn="l" defTabSz="995363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 defTabSz="995363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 defTabSz="995363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 defTabSz="995363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 defTabSz="995363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95363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12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월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31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일：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(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주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)</a:t>
            </a:r>
            <a:r>
              <a:rPr lang="ko-KR" altLang="en-US" sz="1400" b="1" kern="0" dirty="0">
                <a:latin typeface="맑은 고딕" panose="020B0503020000020004" pitchFamily="50" charset="-127"/>
              </a:rPr>
              <a:t>농심</a:t>
            </a:r>
            <a:r>
              <a:rPr kumimoji="0" lang="ko-KR" altLang="en-US" sz="1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으로부터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 받은 어음 ￦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200,000 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및 관련 이자를 현금으로 지급받았다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.</a:t>
            </a:r>
          </a:p>
        </p:txBody>
      </p:sp>
      <p:sp>
        <p:nvSpPr>
          <p:cNvPr id="43" name="Rectangle 12"/>
          <p:cNvSpPr>
            <a:spLocks noChangeArrowheads="1"/>
          </p:cNvSpPr>
          <p:nvPr/>
        </p:nvSpPr>
        <p:spPr bwMode="auto">
          <a:xfrm>
            <a:off x="1008513" y="3492778"/>
            <a:ext cx="7200000" cy="49402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txBody>
          <a:bodyPr lIns="99477" tIns="49735" rIns="99477" bIns="49735"/>
          <a:lstStyle>
            <a:lvl1pPr algn="l" defTabSz="995363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 defTabSz="995363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 defTabSz="995363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 defTabSz="995363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 defTabSz="995363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95363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     (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차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) 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현         금             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202,000           (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대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) 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받 을 어 음          </a:t>
            </a:r>
            <a:r>
              <a:rPr kumimoji="0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  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200,000</a:t>
            </a:r>
          </a:p>
          <a:p>
            <a:pPr marL="0" marR="0" lvl="0" indent="0" algn="l" defTabSz="995363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                                                              </a:t>
            </a:r>
            <a:r>
              <a: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  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 </a:t>
            </a:r>
            <a:r>
              <a:rPr kumimoji="0" lang="en-US" altLang="ko-KR" sz="6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 </a:t>
            </a:r>
            <a:r>
              <a:rPr kumimoji="0" lang="en-US" altLang="ko-KR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 </a:t>
            </a:r>
            <a:r>
              <a:rPr kumimoji="0" lang="ko-KR" alt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이 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자 수 </a:t>
            </a:r>
            <a:r>
              <a:rPr kumimoji="0" lang="ko-KR" altLang="en-US" sz="1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익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         </a:t>
            </a:r>
            <a:r>
              <a:rPr kumimoji="0" lang="ko-KR" altLang="en-US" sz="9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  </a:t>
            </a:r>
            <a:r>
              <a:rPr kumimoji="0" lang="ko-KR" alt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     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2,000* </a:t>
            </a:r>
          </a:p>
          <a:p>
            <a:pPr marL="0" marR="0" lvl="0" indent="0" algn="l" defTabSz="995363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6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</a:endParaRPr>
          </a:p>
          <a:p>
            <a:pPr marL="0" marR="0" lvl="0" indent="0" algn="l" defTabSz="995363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        *</a:t>
            </a:r>
            <a:r>
              <a:rPr kumimoji="0" lang="ko-KR" altLang="en-US" sz="1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어음의 이자：￦</a:t>
            </a:r>
            <a:r>
              <a:rPr kumimoji="0" lang="en-US" altLang="ko-KR" sz="1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200,000×12%×1/12</a:t>
            </a:r>
            <a:r>
              <a:rPr kumimoji="0" lang="ko-KR" altLang="en-US" sz="1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＝￦</a:t>
            </a:r>
            <a:r>
              <a:rPr kumimoji="0" lang="en-US" altLang="ko-KR" sz="1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2,000   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                           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9104896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13</a:t>
            </a:fld>
            <a:endParaRPr lang="ko-KR" altLang="en-US" dirty="0"/>
          </a:p>
        </p:txBody>
      </p:sp>
      <p:grpSp>
        <p:nvGrpSpPr>
          <p:cNvPr id="3" name="그룹 2"/>
          <p:cNvGrpSpPr/>
          <p:nvPr/>
        </p:nvGrpSpPr>
        <p:grpSpPr>
          <a:xfrm>
            <a:off x="257304" y="1309441"/>
            <a:ext cx="8886696" cy="4176959"/>
            <a:chOff x="2626683" y="1722059"/>
            <a:chExt cx="11848926" cy="5569287"/>
          </a:xfrm>
        </p:grpSpPr>
        <p:sp>
          <p:nvSpPr>
            <p:cNvPr id="4" name="Rectangle 15"/>
            <p:cNvSpPr>
              <a:spLocks noChangeArrowheads="1"/>
            </p:cNvSpPr>
            <p:nvPr/>
          </p:nvSpPr>
          <p:spPr bwMode="auto">
            <a:xfrm>
              <a:off x="2626683" y="2125622"/>
              <a:ext cx="11521825" cy="5165724"/>
            </a:xfrm>
            <a:prstGeom prst="rect">
              <a:avLst/>
            </a:prstGeom>
            <a:noFill/>
            <a:ln>
              <a:noFill/>
            </a:ln>
          </p:spPr>
          <p:txBody>
            <a:bodyPr lIns="74608" tIns="37301" rIns="74608" bIns="37301" anchor="ctr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None/>
              </a:pPr>
              <a:endParaRPr lang="ko-KR" altLang="en-US" sz="1400" dirty="0">
                <a:latin typeface="맑은 고딕" panose="020B0503020000020004" pitchFamily="50" charset="-127"/>
              </a:endParaRPr>
            </a:p>
            <a:p>
              <a:pPr>
                <a:spcBef>
                  <a:spcPct val="0"/>
                </a:spcBef>
                <a:buClrTx/>
                <a:buSzTx/>
                <a:buNone/>
              </a:pPr>
              <a:endParaRPr lang="ko-KR" altLang="en-US" sz="1400" dirty="0">
                <a:latin typeface="맑은 고딕" panose="020B0503020000020004" pitchFamily="50" charset="-127"/>
              </a:endParaRPr>
            </a:p>
          </p:txBody>
        </p:sp>
        <p:sp>
          <p:nvSpPr>
            <p:cNvPr id="5" name="Rectangle 14"/>
            <p:cNvSpPr>
              <a:spLocks noChangeArrowheads="1"/>
            </p:cNvSpPr>
            <p:nvPr/>
          </p:nvSpPr>
          <p:spPr bwMode="auto">
            <a:xfrm>
              <a:off x="2871275" y="1727631"/>
              <a:ext cx="11604334" cy="4318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4608" tIns="37301" rIns="74608" bIns="37301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None/>
              </a:pPr>
              <a:r>
                <a:rPr lang="ko-KR" altLang="en-US" sz="1800" b="1" dirty="0" err="1">
                  <a:latin typeface="맑은 고딕" panose="020B0503020000020004" pitchFamily="50" charset="-127"/>
                </a:rPr>
                <a:t>매출에누리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(sales allowance)</a:t>
              </a:r>
              <a:r>
                <a:rPr lang="ko-KR" altLang="en-US" sz="1800" b="1" dirty="0">
                  <a:latin typeface="맑은 고딕" panose="020B0503020000020004" pitchFamily="50" charset="-127"/>
                </a:rPr>
                <a:t>와 환입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(sales return)</a:t>
              </a:r>
              <a:r>
                <a:rPr lang="ko-KR" altLang="en-US" sz="1800" b="1" dirty="0">
                  <a:latin typeface="맑은 고딕" panose="020B0503020000020004" pitchFamily="50" charset="-127"/>
                </a:rPr>
                <a:t> 및 </a:t>
              </a:r>
              <a:r>
                <a:rPr lang="ko-KR" altLang="en-US" sz="1800" b="1" dirty="0" err="1">
                  <a:latin typeface="맑은 고딕" panose="020B0503020000020004" pitchFamily="50" charset="-127"/>
                </a:rPr>
                <a:t>매출할인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(sales discount)</a:t>
              </a:r>
              <a:endParaRPr lang="en-US" altLang="ko-KR" sz="1800" dirty="0">
                <a:latin typeface="맑은 고딕" panose="020B0503020000020004" pitchFamily="50" charset="-127"/>
              </a:endParaRPr>
            </a:p>
            <a:p>
              <a:pPr>
                <a:spcBef>
                  <a:spcPct val="0"/>
                </a:spcBef>
                <a:buClrTx/>
                <a:buSzTx/>
                <a:buNone/>
              </a:pPr>
              <a:endParaRPr lang="ko-KR" altLang="en-US" sz="1800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7" name="직사각형 6"/>
            <p:cNvSpPr/>
            <p:nvPr/>
          </p:nvSpPr>
          <p:spPr>
            <a:xfrm>
              <a:off x="2626908" y="1722059"/>
              <a:ext cx="281973" cy="425439"/>
            </a:xfrm>
            <a:prstGeom prst="rect">
              <a:avLst/>
            </a:prstGeom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ko-KR" altLang="en-US" sz="16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9" name="직사각형 8"/>
          <p:cNvSpPr/>
          <p:nvPr/>
        </p:nvSpPr>
        <p:spPr>
          <a:xfrm>
            <a:off x="265639" y="1766615"/>
            <a:ext cx="8535461" cy="33855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4000" indent="-144000" latinLnBrk="0">
              <a:lnSpc>
                <a:spcPts val="2400"/>
              </a:lnSpc>
              <a:spcBef>
                <a:spcPts val="600"/>
              </a:spcBef>
            </a:pPr>
            <a:r>
              <a:rPr lang="en-US" altLang="ko-KR" sz="1600" dirty="0"/>
              <a:t>• </a:t>
            </a:r>
            <a:r>
              <a:rPr lang="ko-KR" altLang="en-US" sz="1600" b="1" dirty="0" err="1"/>
              <a:t>매출에누리</a:t>
            </a:r>
            <a:r>
              <a:rPr lang="ko-KR" altLang="en-US" sz="1600" dirty="0"/>
              <a:t> </a:t>
            </a:r>
            <a:r>
              <a:rPr lang="en-US" altLang="ko-KR" sz="1600" dirty="0"/>
              <a:t>: </a:t>
            </a:r>
            <a:r>
              <a:rPr lang="ko-KR" altLang="en-US" sz="1600" dirty="0"/>
              <a:t>매출한 상품에 하자가 발생하여 판매대금의 일부를 할인해주는 경우</a:t>
            </a:r>
          </a:p>
          <a:p>
            <a:pPr marL="144000" indent="-144000" latinLnBrk="0">
              <a:lnSpc>
                <a:spcPts val="2400"/>
              </a:lnSpc>
              <a:spcBef>
                <a:spcPts val="600"/>
              </a:spcBef>
            </a:pPr>
            <a:r>
              <a:rPr lang="en-US" altLang="ko-KR" sz="1600" dirty="0"/>
              <a:t>• </a:t>
            </a:r>
            <a:r>
              <a:rPr lang="ko-KR" altLang="en-US" sz="1600" b="1" dirty="0" err="1"/>
              <a:t>매출환입</a:t>
            </a:r>
            <a:r>
              <a:rPr lang="ko-KR" altLang="en-US" sz="1600" dirty="0"/>
              <a:t> </a:t>
            </a:r>
            <a:r>
              <a:rPr lang="en-US" altLang="ko-KR" sz="1600" dirty="0"/>
              <a:t>: </a:t>
            </a:r>
            <a:r>
              <a:rPr lang="ko-KR" altLang="en-US" sz="1600" dirty="0"/>
              <a:t>판매한 상품의 하자를 이유로 반품되는 경우</a:t>
            </a:r>
          </a:p>
          <a:p>
            <a:pPr marL="144000" indent="-144000" latinLnBrk="0">
              <a:lnSpc>
                <a:spcPts val="2400"/>
              </a:lnSpc>
              <a:spcBef>
                <a:spcPts val="600"/>
              </a:spcBef>
            </a:pPr>
            <a:r>
              <a:rPr lang="en-US" altLang="ko-KR" sz="1600" dirty="0"/>
              <a:t>• </a:t>
            </a:r>
            <a:r>
              <a:rPr lang="ko-KR" altLang="en-US" sz="1600" b="1" dirty="0" err="1"/>
              <a:t>매출할인</a:t>
            </a:r>
            <a:r>
              <a:rPr lang="ko-KR" altLang="en-US" sz="1600" dirty="0"/>
              <a:t> </a:t>
            </a:r>
            <a:r>
              <a:rPr lang="en-US" altLang="ko-KR" sz="1600" dirty="0"/>
              <a:t>: </a:t>
            </a:r>
            <a:r>
              <a:rPr lang="ko-KR" altLang="en-US" sz="1600" dirty="0"/>
              <a:t>신용 판매 시 </a:t>
            </a:r>
            <a:r>
              <a:rPr lang="ko-KR" altLang="en-US" sz="1600" b="1" dirty="0"/>
              <a:t>채권의 회수를 촉진</a:t>
            </a:r>
            <a:r>
              <a:rPr lang="ko-KR" altLang="en-US" sz="1600" dirty="0"/>
              <a:t>시키기 위해 구매자가 상품의 매입대금을 </a:t>
            </a:r>
            <a:r>
              <a:rPr lang="ko-KR" altLang="en-US" sz="1600" b="1" dirty="0"/>
              <a:t>조기에 지급하면 일정액을 할인</a:t>
            </a:r>
            <a:r>
              <a:rPr lang="ko-KR" altLang="en-US" sz="1600" dirty="0"/>
              <a:t>해주는 경우</a:t>
            </a:r>
            <a:endParaRPr lang="en-US" altLang="ko-KR" sz="1600" dirty="0"/>
          </a:p>
          <a:p>
            <a:pPr marL="324000" indent="-72000" latinLnBrk="0">
              <a:lnSpc>
                <a:spcPts val="2400"/>
              </a:lnSpc>
              <a:spcBef>
                <a:spcPts val="600"/>
              </a:spcBef>
            </a:pPr>
            <a:r>
              <a:rPr lang="en-US" altLang="ko-KR" sz="1600" dirty="0"/>
              <a:t>- </a:t>
            </a:r>
            <a:r>
              <a:rPr lang="ko-KR" altLang="en-US" sz="1600" dirty="0" err="1"/>
              <a:t>매출할인의</a:t>
            </a:r>
            <a:r>
              <a:rPr lang="ko-KR" altLang="en-US" sz="1600" dirty="0"/>
              <a:t> 조건은 </a:t>
            </a:r>
            <a:r>
              <a:rPr lang="en-US" altLang="ko-KR" sz="1600" dirty="0"/>
              <a:t>‘</a:t>
            </a:r>
            <a:r>
              <a:rPr lang="ko-KR" altLang="en-US" sz="1600" b="1" dirty="0"/>
              <a:t>할인율</a:t>
            </a:r>
            <a:r>
              <a:rPr lang="en-US" altLang="ko-KR" sz="1600" b="1" dirty="0"/>
              <a:t>/</a:t>
            </a:r>
            <a:r>
              <a:rPr lang="ko-KR" altLang="en-US" sz="1600" b="1" dirty="0" err="1"/>
              <a:t>할인기간</a:t>
            </a:r>
            <a:r>
              <a:rPr lang="en-US" altLang="ko-KR" sz="1600" b="1" dirty="0"/>
              <a:t>, n/</a:t>
            </a:r>
            <a:r>
              <a:rPr lang="ko-KR" altLang="en-US" sz="1600" b="1" dirty="0"/>
              <a:t>신용기간</a:t>
            </a:r>
            <a:r>
              <a:rPr lang="en-US" altLang="ko-KR" sz="1600" b="1" dirty="0"/>
              <a:t>’</a:t>
            </a:r>
            <a:r>
              <a:rPr lang="ko-KR" altLang="en-US" sz="1600" dirty="0"/>
              <a:t>의 형태로 표현됨</a:t>
            </a:r>
            <a:r>
              <a:rPr lang="en-US" altLang="ko-KR" sz="1600" dirty="0"/>
              <a:t>. </a:t>
            </a:r>
            <a:r>
              <a:rPr lang="ko-KR" altLang="en-US" sz="1600" dirty="0"/>
              <a:t>즉 </a:t>
            </a:r>
            <a:r>
              <a:rPr lang="en-US" altLang="ko-KR" sz="1600" b="1" dirty="0"/>
              <a:t>‘2/10, n/30’</a:t>
            </a:r>
            <a:r>
              <a:rPr lang="ko-KR" altLang="en-US" sz="1600" dirty="0"/>
              <a:t>의 조건은 </a:t>
            </a:r>
            <a:r>
              <a:rPr lang="en-US" altLang="ko-KR" sz="1600" dirty="0"/>
              <a:t>’10</a:t>
            </a:r>
            <a:r>
              <a:rPr lang="ko-KR" altLang="en-US" sz="1600" dirty="0"/>
              <a:t>일 이내에 대금을 지급하면 </a:t>
            </a:r>
            <a:r>
              <a:rPr lang="en-US" altLang="ko-KR" sz="1600" dirty="0"/>
              <a:t>2%</a:t>
            </a:r>
            <a:r>
              <a:rPr lang="ko-KR" altLang="en-US" sz="1600" dirty="0"/>
              <a:t>의 대금을 할인해주고</a:t>
            </a:r>
            <a:r>
              <a:rPr lang="en-US" altLang="ko-KR" sz="1600" dirty="0"/>
              <a:t>, 30</a:t>
            </a:r>
            <a:r>
              <a:rPr lang="ko-KR" altLang="en-US" sz="1600" dirty="0"/>
              <a:t>일 내에는 구매대금을 지급해야 한다</a:t>
            </a:r>
            <a:r>
              <a:rPr lang="en-US" altLang="ko-KR" sz="1600" dirty="0"/>
              <a:t>’</a:t>
            </a:r>
            <a:r>
              <a:rPr lang="ko-KR" altLang="en-US" sz="1600" dirty="0"/>
              <a:t>는 거래조건을 </a:t>
            </a:r>
            <a:r>
              <a:rPr lang="ko-KR" altLang="en-US" sz="1600" dirty="0" smtClean="0"/>
              <a:t>의미함</a:t>
            </a:r>
            <a:endParaRPr lang="en-US" altLang="ko-KR" sz="1600" dirty="0"/>
          </a:p>
          <a:p>
            <a:pPr marL="144000" indent="-144000" latinLnBrk="0">
              <a:lnSpc>
                <a:spcPts val="2400"/>
              </a:lnSpc>
              <a:spcBef>
                <a:spcPts val="600"/>
              </a:spcBef>
            </a:pPr>
            <a:r>
              <a:rPr lang="en-US" altLang="ko-KR" sz="1600" dirty="0"/>
              <a:t>• </a:t>
            </a:r>
            <a:r>
              <a:rPr lang="ko-KR" altLang="en-US" sz="1600" dirty="0"/>
              <a:t>포괄손익계산서에 매출액을 공시할 때는 매출에누리와 환입 및 매출할인을 </a:t>
            </a:r>
            <a:r>
              <a:rPr lang="ko-KR" altLang="en-US" sz="1600" b="1" dirty="0"/>
              <a:t>차감한 </a:t>
            </a:r>
            <a:r>
              <a:rPr lang="ko-KR" altLang="en-US" sz="1600" b="1" dirty="0" err="1"/>
              <a:t>순액</a:t>
            </a:r>
            <a:r>
              <a:rPr lang="ko-KR" altLang="en-US" sz="1600" dirty="0" err="1"/>
              <a:t>으로</a:t>
            </a:r>
            <a:r>
              <a:rPr lang="ko-KR" altLang="en-US" sz="1600" dirty="0"/>
              <a:t> 표시</a:t>
            </a:r>
            <a:endParaRPr lang="en-US" altLang="ko-KR" sz="1600" dirty="0"/>
          </a:p>
          <a:p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9398352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14</a:t>
            </a:fld>
            <a:endParaRPr lang="ko-KR" altLang="en-US" dirty="0"/>
          </a:p>
        </p:txBody>
      </p:sp>
      <p:grpSp>
        <p:nvGrpSpPr>
          <p:cNvPr id="3" name="그룹 2"/>
          <p:cNvGrpSpPr/>
          <p:nvPr/>
        </p:nvGrpSpPr>
        <p:grpSpPr>
          <a:xfrm>
            <a:off x="187213" y="1098616"/>
            <a:ext cx="8711460" cy="5267894"/>
            <a:chOff x="190714" y="1320886"/>
            <a:chExt cx="8711460" cy="5267894"/>
          </a:xfrm>
        </p:grpSpPr>
        <p:grpSp>
          <p:nvGrpSpPr>
            <p:cNvPr id="4" name="그룹 3"/>
            <p:cNvGrpSpPr/>
            <p:nvPr/>
          </p:nvGrpSpPr>
          <p:grpSpPr>
            <a:xfrm>
              <a:off x="361935" y="1461499"/>
              <a:ext cx="8540239" cy="5127281"/>
              <a:chOff x="269048" y="1722741"/>
              <a:chExt cx="8648775" cy="5127281"/>
            </a:xfrm>
          </p:grpSpPr>
          <p:sp>
            <p:nvSpPr>
              <p:cNvPr id="12" name="Rectangle 15"/>
              <p:cNvSpPr>
                <a:spLocks noChangeArrowheads="1"/>
              </p:cNvSpPr>
              <p:nvPr/>
            </p:nvSpPr>
            <p:spPr bwMode="auto">
              <a:xfrm>
                <a:off x="269048" y="1746440"/>
                <a:ext cx="8641369" cy="5103582"/>
              </a:xfrm>
              <a:prstGeom prst="foldedCorner">
                <a:avLst>
                  <a:gd name="adj" fmla="val 5125"/>
                </a:avLst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txBody>
              <a:bodyPr lIns="74608" tIns="37301" rIns="74608" bIns="37301" anchor="ctr"/>
              <a:lstStyle>
                <a:lvl1pPr algn="l" defTabSz="995363">
                  <a:spcBef>
                    <a:spcPct val="20000"/>
                  </a:spcBef>
                  <a:buClr>
                    <a:schemeClr val="tx2"/>
                  </a:buClr>
                  <a:buSzPct val="115000"/>
                  <a:buFont typeface="Wingdings" panose="05000000000000000000" pitchFamily="2" charset="2"/>
                  <a:buChar char="§"/>
                  <a:defRPr sz="28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 algn="l" defTabSz="995363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 algn="l" defTabSz="995363">
                  <a:spcBef>
                    <a:spcPct val="20000"/>
                  </a:spcBef>
                  <a:buChar char="•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 algn="l" defTabSz="995363">
                  <a:spcBef>
                    <a:spcPct val="20000"/>
                  </a:spcBef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 algn="l" defTabSz="995363">
                  <a:spcBef>
                    <a:spcPct val="20000"/>
                  </a:spcBef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ko-KR" altLang="en-US" sz="1400" dirty="0"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13" name="직사각형 12"/>
              <p:cNvSpPr/>
              <p:nvPr/>
            </p:nvSpPr>
            <p:spPr>
              <a:xfrm>
                <a:off x="277823" y="1722741"/>
                <a:ext cx="8640000" cy="45719"/>
              </a:xfrm>
              <a:prstGeom prst="rect">
                <a:avLst/>
              </a:prstGeom>
              <a:solidFill>
                <a:srgbClr val="2D61C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5" name="그룹 4"/>
            <p:cNvGrpSpPr/>
            <p:nvPr/>
          </p:nvGrpSpPr>
          <p:grpSpPr>
            <a:xfrm>
              <a:off x="190714" y="1320886"/>
              <a:ext cx="4555361" cy="326952"/>
              <a:chOff x="190714" y="1320889"/>
              <a:chExt cx="3896766" cy="290354"/>
            </a:xfrm>
            <a:solidFill>
              <a:srgbClr val="2D61C8"/>
            </a:solidFill>
          </p:grpSpPr>
          <p:grpSp>
            <p:nvGrpSpPr>
              <p:cNvPr id="6" name="그룹 5"/>
              <p:cNvGrpSpPr/>
              <p:nvPr/>
            </p:nvGrpSpPr>
            <p:grpSpPr>
              <a:xfrm>
                <a:off x="190714" y="1320889"/>
                <a:ext cx="3896766" cy="290354"/>
                <a:chOff x="405822" y="2237753"/>
                <a:chExt cx="3896766" cy="290354"/>
              </a:xfrm>
              <a:grpFill/>
            </p:grpSpPr>
            <p:sp>
              <p:nvSpPr>
                <p:cNvPr id="8" name="타원 7"/>
                <p:cNvSpPr/>
                <p:nvPr/>
              </p:nvSpPr>
              <p:spPr>
                <a:xfrm>
                  <a:off x="405822" y="2237753"/>
                  <a:ext cx="290351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9" name="타원 8"/>
                <p:cNvSpPr/>
                <p:nvPr/>
              </p:nvSpPr>
              <p:spPr>
                <a:xfrm>
                  <a:off x="4012237" y="2237753"/>
                  <a:ext cx="290351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0" name="직사각형 9"/>
                <p:cNvSpPr/>
                <p:nvPr/>
              </p:nvSpPr>
              <p:spPr>
                <a:xfrm>
                  <a:off x="542511" y="2237755"/>
                  <a:ext cx="3645398" cy="290352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1600" b="1" dirty="0"/>
                    <a:t>예제 </a:t>
                  </a:r>
                  <a:r>
                    <a:rPr lang="en-US" altLang="ko-KR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5-6 </a:t>
                  </a:r>
                  <a:r>
                    <a:rPr lang="ko-KR" altLang="en-US" sz="1600" b="1" dirty="0">
                      <a:latin typeface="맑은 고딕" panose="020B0503020000020004" pitchFamily="50" charset="-127"/>
                    </a:rPr>
                    <a:t>매출에누리와 환입 및 매출할인</a:t>
                  </a:r>
                  <a:endParaRPr lang="ko-KR" altLang="en-US" sz="1600" b="1" dirty="0"/>
                </a:p>
              </p:txBody>
            </p:sp>
            <p:sp>
              <p:nvSpPr>
                <p:cNvPr id="11" name="타원 10"/>
                <p:cNvSpPr/>
                <p:nvPr/>
              </p:nvSpPr>
              <p:spPr>
                <a:xfrm>
                  <a:off x="427833" y="2256153"/>
                  <a:ext cx="253549" cy="25354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pic>
            <p:nvPicPr>
              <p:cNvPr id="7" name="그림 6" descr="Log in | Sign Up Upload Clipart"/>
              <p:cNvPicPr>
                <a:picLocks noChangeAspect="1"/>
              </p:cNvPicPr>
              <p:nvPr/>
            </p:nvPicPr>
            <p:blipFill>
              <a:blip r:embed="rId2" cstate="email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265229" y="1359640"/>
                <a:ext cx="147147" cy="229618"/>
              </a:xfrm>
              <a:prstGeom prst="rect">
                <a:avLst/>
              </a:prstGeom>
            </p:spPr>
          </p:pic>
        </p:grpSp>
      </p:grpSp>
      <p:sp>
        <p:nvSpPr>
          <p:cNvPr id="14" name="Rectangle 12"/>
          <p:cNvSpPr>
            <a:spLocks noChangeArrowheads="1"/>
          </p:cNvSpPr>
          <p:nvPr/>
        </p:nvSpPr>
        <p:spPr bwMode="auto">
          <a:xfrm>
            <a:off x="568325" y="1522543"/>
            <a:ext cx="8232775" cy="1008063"/>
          </a:xfrm>
          <a:prstGeom prst="rect">
            <a:avLst/>
          </a:prstGeom>
          <a:noFill/>
          <a:ln>
            <a:noFill/>
          </a:ln>
        </p:spPr>
        <p:txBody>
          <a:bodyPr lIns="99477" tIns="49735" rIns="99477" bIns="49735"/>
          <a:lstStyle>
            <a:lvl1pPr algn="l" defTabSz="995363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 defTabSz="995363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 defTabSz="995363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 defTabSz="995363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 defTabSz="995363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95363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(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주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)</a:t>
            </a:r>
            <a:r>
              <a:rPr kumimoji="0" lang="ko-KR" altLang="en-US" sz="1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덕송은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 </a:t>
            </a:r>
            <a:r>
              <a:rPr kumimoji="0" lang="ko-KR" altLang="en-US" sz="1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현금회수를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 촉진하기 위해서 </a:t>
            </a:r>
            <a:r>
              <a:rPr kumimoji="0" lang="ko-KR" altLang="en-US" sz="1400" b="1" i="0" u="sng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‘</a:t>
            </a:r>
            <a:r>
              <a:rPr kumimoji="0" lang="en-US" altLang="ko-KR" sz="1400" b="1" i="0" u="sng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5/10, n/60’ </a:t>
            </a:r>
            <a:r>
              <a:rPr kumimoji="0" lang="ko-KR" altLang="en-US" sz="1400" b="1" i="0" u="sng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조건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으로 상품을 판매하고 있다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. </a:t>
            </a:r>
          </a:p>
          <a:p>
            <a:pPr marL="0" marR="0" lvl="0" indent="0" algn="l" defTabSz="995363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(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주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)</a:t>
            </a:r>
            <a:r>
              <a:rPr kumimoji="0" lang="ko-KR" altLang="en-US" sz="1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덕송은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 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20×1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년 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12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월 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15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일 상품을 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(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주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)</a:t>
            </a:r>
            <a:r>
              <a:rPr lang="ko-KR" altLang="en-US" sz="1400" b="1" kern="0" dirty="0">
                <a:latin typeface="맑은 고딕" panose="020B0503020000020004" pitchFamily="50" charset="-127"/>
              </a:rPr>
              <a:t>오리온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에게 외상으로 ￦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1,500,000 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판매하였다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. </a:t>
            </a:r>
          </a:p>
          <a:p>
            <a:pPr marL="0" marR="0" lvl="0" indent="0" algn="l" defTabSz="995363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20×1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년 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12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월 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17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일 ￦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20,000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만큼의 상품이 불량품이어서 반품되었다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. </a:t>
            </a:r>
          </a:p>
          <a:p>
            <a:pPr marL="0" marR="0" lvl="0" indent="0" algn="l" defTabSz="995363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(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주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)</a:t>
            </a:r>
            <a:r>
              <a:rPr lang="ko-KR" altLang="en-US" sz="1400" b="1" kern="0" dirty="0">
                <a:latin typeface="맑은 고딕" panose="020B0503020000020004" pitchFamily="50" charset="-127"/>
              </a:rPr>
              <a:t>오리온은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 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20×1 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년 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12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월 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20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일에 구매대금을 지급하였다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.</a:t>
            </a:r>
          </a:p>
          <a:p>
            <a:pPr marL="0" marR="0" lvl="0" indent="0" algn="l" defTabSz="995363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</a:endParaRPr>
          </a:p>
          <a:p>
            <a:pPr marL="0" marR="0" lvl="0" indent="0" algn="l" defTabSz="995363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① 20×1</a:t>
            </a:r>
            <a:r>
              <a:rPr kumimoji="0" lang="ko-KR" altLang="en-US" sz="1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년 </a:t>
            </a:r>
            <a:r>
              <a:rPr kumimoji="0" lang="en-US" altLang="ko-KR" sz="1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12</a:t>
            </a:r>
            <a:r>
              <a:rPr kumimoji="0" lang="ko-KR" altLang="en-US" sz="1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월 </a:t>
            </a:r>
            <a:r>
              <a:rPr kumimoji="0" lang="en-US" altLang="ko-KR" sz="1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15</a:t>
            </a:r>
            <a:r>
              <a:rPr kumimoji="0" lang="ko-KR" altLang="en-US" sz="1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일</a:t>
            </a:r>
            <a:endParaRPr kumimoji="0" lang="en-US" altLang="ko-KR" sz="14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</a:endParaRPr>
          </a:p>
        </p:txBody>
      </p:sp>
      <p:sp>
        <p:nvSpPr>
          <p:cNvPr id="15" name="Rectangle 12"/>
          <p:cNvSpPr>
            <a:spLocks noChangeArrowheads="1"/>
          </p:cNvSpPr>
          <p:nvPr/>
        </p:nvSpPr>
        <p:spPr bwMode="auto">
          <a:xfrm>
            <a:off x="1142574" y="3160242"/>
            <a:ext cx="7200000" cy="4320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lIns="99477" tIns="49735" rIns="99477" bIns="49735" anchor="ctr" anchorCtr="0"/>
          <a:lstStyle>
            <a:lvl1pPr algn="l" defTabSz="995363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 defTabSz="995363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 defTabSz="995363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 defTabSz="995363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 defTabSz="995363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95363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     (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차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) 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외 상 매 출 금       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1,500,000           (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대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) 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매         출         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1,500,000</a:t>
            </a:r>
          </a:p>
        </p:txBody>
      </p:sp>
      <p:sp>
        <p:nvSpPr>
          <p:cNvPr id="16" name="Rectangle 12"/>
          <p:cNvSpPr>
            <a:spLocks noChangeArrowheads="1"/>
          </p:cNvSpPr>
          <p:nvPr/>
        </p:nvSpPr>
        <p:spPr bwMode="auto">
          <a:xfrm>
            <a:off x="568325" y="3633108"/>
            <a:ext cx="8232775" cy="360362"/>
          </a:xfrm>
          <a:prstGeom prst="rect">
            <a:avLst/>
          </a:prstGeom>
          <a:noFill/>
          <a:ln>
            <a:noFill/>
          </a:ln>
        </p:spPr>
        <p:txBody>
          <a:bodyPr lIns="99477" tIns="49735" rIns="99477" bIns="49735"/>
          <a:lstStyle>
            <a:lvl1pPr algn="l" defTabSz="995363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 defTabSz="995363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 defTabSz="995363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 defTabSz="995363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 defTabSz="995363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95363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② 20×1</a:t>
            </a:r>
            <a:r>
              <a:rPr kumimoji="0" lang="ko-KR" altLang="en-US" sz="1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년 </a:t>
            </a:r>
            <a:r>
              <a:rPr kumimoji="0" lang="en-US" altLang="ko-KR" sz="1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12</a:t>
            </a:r>
            <a:r>
              <a:rPr kumimoji="0" lang="ko-KR" altLang="en-US" sz="1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월 </a:t>
            </a:r>
            <a:r>
              <a:rPr kumimoji="0" lang="en-US" altLang="ko-KR" sz="1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17</a:t>
            </a:r>
            <a:r>
              <a:rPr kumimoji="0" lang="ko-KR" altLang="en-US" sz="1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일</a:t>
            </a:r>
            <a:endParaRPr kumimoji="0" lang="en-US" altLang="ko-KR" sz="14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</a:endParaRPr>
          </a:p>
        </p:txBody>
      </p:sp>
      <p:sp>
        <p:nvSpPr>
          <p:cNvPr id="17" name="Rectangle 12"/>
          <p:cNvSpPr>
            <a:spLocks noChangeArrowheads="1"/>
          </p:cNvSpPr>
          <p:nvPr/>
        </p:nvSpPr>
        <p:spPr bwMode="auto">
          <a:xfrm>
            <a:off x="1142574" y="3976993"/>
            <a:ext cx="7200000" cy="4320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lIns="99477" tIns="49735" rIns="99477" bIns="49735" anchor="ctr" anchorCtr="0"/>
          <a:lstStyle>
            <a:lvl1pPr algn="l" defTabSz="995363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 defTabSz="995363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 defTabSz="995363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 defTabSz="995363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 defTabSz="995363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95363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     (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차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) 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매 출 환 입               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20,000           (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대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) 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외상매출금             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20,000</a:t>
            </a:r>
          </a:p>
        </p:txBody>
      </p:sp>
      <p:sp>
        <p:nvSpPr>
          <p:cNvPr id="21" name="Rectangle 12"/>
          <p:cNvSpPr>
            <a:spLocks noChangeArrowheads="1"/>
          </p:cNvSpPr>
          <p:nvPr/>
        </p:nvSpPr>
        <p:spPr bwMode="auto">
          <a:xfrm>
            <a:off x="611188" y="4484241"/>
            <a:ext cx="7775575" cy="360362"/>
          </a:xfrm>
          <a:prstGeom prst="rect">
            <a:avLst/>
          </a:prstGeom>
          <a:noFill/>
          <a:ln>
            <a:noFill/>
          </a:ln>
        </p:spPr>
        <p:txBody>
          <a:bodyPr lIns="99477" tIns="49735" rIns="99477" bIns="49735"/>
          <a:lstStyle>
            <a:lvl1pPr algn="l" defTabSz="995363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 defTabSz="995363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 defTabSz="995363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 defTabSz="995363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 defTabSz="995363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95363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③ 20×1</a:t>
            </a:r>
            <a:r>
              <a:rPr kumimoji="0" lang="ko-KR" altLang="en-US" sz="1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년 </a:t>
            </a:r>
            <a:r>
              <a:rPr kumimoji="0" lang="en-US" altLang="ko-KR" sz="1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12</a:t>
            </a:r>
            <a:r>
              <a:rPr kumimoji="0" lang="ko-KR" altLang="en-US" sz="1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월 </a:t>
            </a:r>
            <a:r>
              <a:rPr kumimoji="0" lang="en-US" altLang="ko-KR" sz="1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20</a:t>
            </a:r>
            <a:r>
              <a:rPr kumimoji="0" lang="ko-KR" altLang="en-US" sz="1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일</a:t>
            </a:r>
            <a:endParaRPr kumimoji="0" lang="en-US" altLang="ko-KR" sz="14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</a:endParaRPr>
          </a:p>
        </p:txBody>
      </p:sp>
      <p:sp>
        <p:nvSpPr>
          <p:cNvPr id="23" name="Rectangle 12"/>
          <p:cNvSpPr>
            <a:spLocks noChangeArrowheads="1"/>
          </p:cNvSpPr>
          <p:nvPr/>
        </p:nvSpPr>
        <p:spPr bwMode="auto">
          <a:xfrm>
            <a:off x="476168" y="5729131"/>
            <a:ext cx="8532812" cy="416297"/>
          </a:xfrm>
          <a:prstGeom prst="rect">
            <a:avLst/>
          </a:prstGeom>
          <a:noFill/>
          <a:ln>
            <a:noFill/>
          </a:ln>
        </p:spPr>
        <p:txBody>
          <a:bodyPr lIns="99477" tIns="49735" rIns="99477" bIns="49735"/>
          <a:lstStyle>
            <a:lvl1pPr algn="l" defTabSz="995363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 defTabSz="995363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 defTabSz="995363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 defTabSz="995363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 defTabSz="995363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95363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위 거래로 손익계산서상 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매출은 총판매대금에서 </a:t>
            </a:r>
            <a:r>
              <a:rPr kumimoji="0" lang="ko-KR" altLang="en-US" sz="1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매출환입과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 매출할인을 차감한 </a:t>
            </a:r>
            <a:r>
              <a:rPr kumimoji="0" lang="ko-KR" altLang="en-US" sz="1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￦</a:t>
            </a:r>
            <a:r>
              <a:rPr kumimoji="0" lang="en-US" altLang="ko-KR" sz="1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1,406,000</a:t>
            </a:r>
            <a:r>
              <a:rPr kumimoji="0" lang="ko-KR" altLang="en-US" sz="1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으로 표시</a:t>
            </a:r>
            <a:endParaRPr kumimoji="0" lang="en-US" altLang="ko-KR" sz="14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</a:endParaRPr>
          </a:p>
        </p:txBody>
      </p:sp>
      <p:sp>
        <p:nvSpPr>
          <p:cNvPr id="24" name="타원 23"/>
          <p:cNvSpPr/>
          <p:nvPr/>
        </p:nvSpPr>
        <p:spPr>
          <a:xfrm>
            <a:off x="400618" y="1857938"/>
            <a:ext cx="225668" cy="225668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ko-KR" alt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타원 24"/>
          <p:cNvSpPr/>
          <p:nvPr/>
        </p:nvSpPr>
        <p:spPr>
          <a:xfrm>
            <a:off x="400618" y="2160135"/>
            <a:ext cx="225668" cy="225668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ko-KR" alt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타원 25"/>
          <p:cNvSpPr/>
          <p:nvPr/>
        </p:nvSpPr>
        <p:spPr>
          <a:xfrm>
            <a:off x="400618" y="2445856"/>
            <a:ext cx="225668" cy="225668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ko-KR" alt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Rectangle 12"/>
          <p:cNvSpPr>
            <a:spLocks noChangeArrowheads="1"/>
          </p:cNvSpPr>
          <p:nvPr/>
        </p:nvSpPr>
        <p:spPr bwMode="auto">
          <a:xfrm>
            <a:off x="1142574" y="4829981"/>
            <a:ext cx="7200000" cy="77010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lIns="99477" tIns="49735" rIns="99477" bIns="49735"/>
          <a:lstStyle>
            <a:lvl1pPr algn="l" defTabSz="995363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 defTabSz="995363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 defTabSz="995363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 defTabSz="995363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 defTabSz="995363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95363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     (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차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) 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현         금       </a:t>
            </a:r>
            <a:r>
              <a:rPr kumimoji="0" lang="ko-KR" altLang="en-US" sz="105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  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  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1,406,000*          (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대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) 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외상매출금         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1,480,000</a:t>
            </a:r>
          </a:p>
          <a:p>
            <a:pPr marL="0" marR="0" lvl="0" indent="0" algn="l" defTabSz="995363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           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매 출 할 인           </a:t>
            </a:r>
            <a:r>
              <a:rPr kumimoji="0" lang="ko-KR" alt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    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74,000</a:t>
            </a:r>
          </a:p>
          <a:p>
            <a:pPr marL="0" marR="0" lvl="0" indent="0" algn="l" defTabSz="995363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*(</a:t>
            </a:r>
            <a:r>
              <a:rPr kumimoji="0" lang="ko-KR" altLang="en-US" sz="1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￦</a:t>
            </a:r>
            <a:r>
              <a:rPr kumimoji="0" lang="en-US" altLang="ko-KR" sz="1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1,500,000</a:t>
            </a:r>
            <a:r>
              <a:rPr kumimoji="0" lang="ko-KR" altLang="en-US" sz="1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－</a:t>
            </a:r>
            <a:r>
              <a:rPr kumimoji="0" lang="en-US" altLang="ko-KR" sz="1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20,000)×(1</a:t>
            </a:r>
            <a:r>
              <a:rPr kumimoji="0" lang="ko-KR" altLang="en-US" sz="1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－</a:t>
            </a:r>
            <a:r>
              <a:rPr kumimoji="0" lang="en-US" altLang="ko-KR" sz="1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5%)</a:t>
            </a:r>
            <a:r>
              <a:rPr kumimoji="0" lang="ko-KR" altLang="en-US" sz="1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＝￦</a:t>
            </a:r>
            <a:r>
              <a:rPr kumimoji="0" lang="en-US" altLang="ko-KR" sz="1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1,406,000</a:t>
            </a:r>
          </a:p>
        </p:txBody>
      </p:sp>
    </p:spTree>
    <p:extLst>
      <p:ext uri="{BB962C8B-B14F-4D97-AF65-F5344CB8AC3E}">
        <p14:creationId xmlns:p14="http://schemas.microsoft.com/office/powerpoint/2010/main" val="23365470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15</a:t>
            </a:fld>
            <a:endParaRPr lang="ko-KR" altLang="en-US" dirty="0"/>
          </a:p>
        </p:txBody>
      </p:sp>
      <p:grpSp>
        <p:nvGrpSpPr>
          <p:cNvPr id="3" name="그룹 2"/>
          <p:cNvGrpSpPr/>
          <p:nvPr/>
        </p:nvGrpSpPr>
        <p:grpSpPr>
          <a:xfrm>
            <a:off x="257304" y="1288264"/>
            <a:ext cx="8641370" cy="3761909"/>
            <a:chOff x="2626683" y="1693823"/>
            <a:chExt cx="11521825" cy="3970203"/>
          </a:xfrm>
        </p:grpSpPr>
        <p:sp>
          <p:nvSpPr>
            <p:cNvPr id="4" name="Rectangle 15"/>
            <p:cNvSpPr>
              <a:spLocks noChangeArrowheads="1"/>
            </p:cNvSpPr>
            <p:nvPr/>
          </p:nvSpPr>
          <p:spPr bwMode="auto">
            <a:xfrm>
              <a:off x="2626683" y="2125626"/>
              <a:ext cx="11521825" cy="3538400"/>
            </a:xfrm>
            <a:prstGeom prst="rect">
              <a:avLst/>
            </a:prstGeom>
            <a:noFill/>
            <a:ln>
              <a:noFill/>
            </a:ln>
          </p:spPr>
          <p:txBody>
            <a:bodyPr lIns="74608" tIns="37301" rIns="74608" bIns="37301" anchor="t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marL="144000" indent="-144000" latinLnBrk="0">
                <a:lnSpc>
                  <a:spcPts val="2400"/>
                </a:lnSpc>
                <a:spcBef>
                  <a:spcPts val="600"/>
                </a:spcBef>
                <a:buClrTx/>
                <a:buSzTx/>
                <a:buNone/>
              </a:pPr>
              <a:r>
                <a:rPr lang="en-US" altLang="ko-KR" sz="1600" b="1" dirty="0">
                  <a:latin typeface="맑은 고딕" panose="020B0503020000020004" pitchFamily="50" charset="-127"/>
                </a:rPr>
                <a:t>• 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거래 상대방의 경영상태 악화 등의 이유로 매출채권의 회수가능성이 낮아지는 경우를 대비해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,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 해당 매출채권에서 발생할 것으로 예상되는 손상예상금액을 추정하여 </a:t>
              </a:r>
              <a:r>
                <a:rPr lang="ko-KR" altLang="en-US" sz="1600" b="1" dirty="0">
                  <a:latin typeface="맑은 고딕" panose="020B0503020000020004" pitchFamily="50" charset="-127"/>
                </a:rPr>
                <a:t>손실충당금</a:t>
              </a:r>
              <a:r>
                <a:rPr lang="en-US" altLang="ko-KR" sz="1600" b="1" dirty="0">
                  <a:latin typeface="맑은 고딕" panose="020B0503020000020004" pitchFamily="50" charset="-127"/>
                </a:rPr>
                <a:t>(</a:t>
              </a:r>
              <a:r>
                <a:rPr lang="ko-KR" altLang="en-US" sz="1600" b="1" dirty="0">
                  <a:latin typeface="맑은 고딕" panose="020B0503020000020004" pitchFamily="50" charset="-127"/>
                </a:rPr>
                <a:t>대손충당금</a:t>
              </a:r>
              <a:r>
                <a:rPr lang="en-US" altLang="ko-KR" sz="1600" b="1" dirty="0">
                  <a:latin typeface="맑은 고딕" panose="020B0503020000020004" pitchFamily="50" charset="-127"/>
                </a:rPr>
                <a:t>)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을 설정하고 관련비용을 </a:t>
              </a:r>
              <a:r>
                <a:rPr lang="ko-KR" altLang="en-US" sz="1600" b="1" dirty="0" err="1">
                  <a:latin typeface="맑은 고딕" panose="020B0503020000020004" pitchFamily="50" charset="-127"/>
                </a:rPr>
                <a:t>손상차손</a:t>
              </a:r>
              <a:r>
                <a:rPr lang="en-US" altLang="ko-KR" sz="1600" b="1" dirty="0">
                  <a:latin typeface="맑은 고딕" panose="020B0503020000020004" pitchFamily="50" charset="-127"/>
                </a:rPr>
                <a:t>(</a:t>
              </a:r>
              <a:r>
                <a:rPr lang="ko-KR" altLang="en-US" sz="1600" b="1" dirty="0" err="1">
                  <a:latin typeface="맑은 고딕" panose="020B0503020000020004" pitchFamily="50" charset="-127"/>
                </a:rPr>
                <a:t>대손상각비</a:t>
              </a:r>
              <a:r>
                <a:rPr lang="en-US" altLang="ko-KR" sz="1600" b="1" dirty="0">
                  <a:latin typeface="맑은 고딕" panose="020B0503020000020004" pitchFamily="50" charset="-127"/>
                </a:rPr>
                <a:t>)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으로 </a:t>
              </a:r>
              <a:r>
                <a:rPr lang="ko-KR" altLang="en-US" sz="1600" dirty="0" smtClean="0">
                  <a:latin typeface="맑은 고딕" panose="020B0503020000020004" pitchFamily="50" charset="-127"/>
                </a:rPr>
                <a:t>인식함</a:t>
              </a:r>
              <a:r>
                <a:rPr lang="en-US" altLang="ko-KR" sz="1600" dirty="0" smtClean="0">
                  <a:latin typeface="맑은 고딕" panose="020B0503020000020004" pitchFamily="50" charset="-127"/>
                </a:rPr>
                <a:t> </a:t>
              </a: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 marL="144000" indent="-144000" latinLnBrk="0">
                <a:lnSpc>
                  <a:spcPts val="2400"/>
                </a:lnSpc>
                <a:spcBef>
                  <a:spcPts val="600"/>
                </a:spcBef>
                <a:buClrTx/>
                <a:buSzTx/>
                <a:buNone/>
              </a:pPr>
              <a:r>
                <a:rPr lang="en-US" altLang="ko-KR" sz="1600" b="1" dirty="0">
                  <a:latin typeface="맑은 고딕" panose="020B0503020000020004" pitchFamily="50" charset="-127"/>
                </a:rPr>
                <a:t>• 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손실충당금은 </a:t>
              </a:r>
              <a:r>
                <a:rPr lang="ko-KR" altLang="en-US" sz="1600" b="1" dirty="0">
                  <a:latin typeface="맑은 고딕" panose="020B0503020000020004" pitchFamily="50" charset="-127"/>
                </a:rPr>
                <a:t>매출채권에 대한 </a:t>
              </a:r>
              <a:r>
                <a:rPr lang="ko-KR" altLang="en-US" sz="1600" b="1" dirty="0" err="1">
                  <a:latin typeface="맑은 고딕" panose="020B0503020000020004" pitchFamily="50" charset="-127"/>
                </a:rPr>
                <a:t>차감계정</a:t>
              </a:r>
              <a:r>
                <a:rPr lang="ko-KR" altLang="en-US" sz="1600" dirty="0" err="1">
                  <a:latin typeface="맑은 고딕" panose="020B0503020000020004" pitchFamily="50" charset="-127"/>
                </a:rPr>
                <a:t>이며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, </a:t>
              </a:r>
              <a:r>
                <a:rPr lang="ko-KR" altLang="en-US" sz="1600" dirty="0" err="1">
                  <a:latin typeface="맑은 고딕" panose="020B0503020000020004" pitchFamily="50" charset="-127"/>
                </a:rPr>
                <a:t>손상차손은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 </a:t>
              </a:r>
              <a:r>
                <a:rPr lang="ko-KR" altLang="en-US" sz="1600" b="1" dirty="0">
                  <a:latin typeface="맑은 고딕" panose="020B0503020000020004" pitchFamily="50" charset="-127"/>
                </a:rPr>
                <a:t>비용계정</a:t>
              </a:r>
              <a:endParaRPr lang="en-US" altLang="ko-KR" sz="1600" b="1" dirty="0">
                <a:latin typeface="맑은 고딕" panose="020B0503020000020004" pitchFamily="50" charset="-127"/>
              </a:endParaRPr>
            </a:p>
            <a:p>
              <a:pPr marL="144000" indent="-144000" latinLnBrk="0">
                <a:lnSpc>
                  <a:spcPts val="2400"/>
                </a:lnSpc>
                <a:spcBef>
                  <a:spcPts val="600"/>
                </a:spcBef>
                <a:buClrTx/>
                <a:buSzTx/>
                <a:buNone/>
              </a:pPr>
              <a:r>
                <a:rPr lang="en-US" altLang="ko-KR" sz="1600" b="1" dirty="0">
                  <a:latin typeface="맑은 고딕" panose="020B0503020000020004" pitchFamily="50" charset="-127"/>
                </a:rPr>
                <a:t>• </a:t>
              </a:r>
              <a:r>
                <a:rPr lang="ko-KR" altLang="en-US" sz="1600" b="1" dirty="0">
                  <a:latin typeface="맑은 고딕" panose="020B0503020000020004" pitchFamily="50" charset="-127"/>
                </a:rPr>
                <a:t>수익비용대응의 원칙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에 따라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, 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매출과 관련해서 발생한 대손비용을 같은 기간에 비용으로 인식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. </a:t>
              </a:r>
              <a:r>
                <a:rPr lang="ko-KR" altLang="en-US" sz="1600" dirty="0" smtClean="0">
                  <a:latin typeface="맑은 고딕" panose="020B0503020000020004" pitchFamily="50" charset="-127"/>
                </a:rPr>
                <a:t>재무상태표상 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매출채권을 회수가능금액으로 </a:t>
              </a:r>
              <a:r>
                <a:rPr lang="ko-KR" altLang="en-US" sz="1600" dirty="0" smtClean="0">
                  <a:latin typeface="맑은 고딕" panose="020B0503020000020004" pitchFamily="50" charset="-127"/>
                </a:rPr>
                <a:t>표시</a:t>
              </a:r>
              <a:r>
                <a:rPr lang="en-US" altLang="ko-KR" sz="1600" dirty="0" smtClean="0">
                  <a:latin typeface="맑은 고딕" panose="020B0503020000020004" pitchFamily="50" charset="-127"/>
                </a:rPr>
                <a:t> </a:t>
              </a:r>
              <a:r>
                <a:rPr lang="ko-KR" altLang="en-US" sz="1600" dirty="0" smtClean="0">
                  <a:latin typeface="맑은 고딕" panose="020B0503020000020004" pitchFamily="50" charset="-127"/>
                </a:rPr>
                <a:t> </a:t>
              </a:r>
              <a:endParaRPr lang="en-US" altLang="ko-KR" sz="1600" dirty="0">
                <a:latin typeface="맑은 고딕" panose="020B0503020000020004" pitchFamily="50" charset="-127"/>
              </a:endParaRPr>
            </a:p>
          </p:txBody>
        </p:sp>
        <p:sp>
          <p:nvSpPr>
            <p:cNvPr id="5" name="Rectangle 14"/>
            <p:cNvSpPr>
              <a:spLocks noChangeArrowheads="1"/>
            </p:cNvSpPr>
            <p:nvPr/>
          </p:nvSpPr>
          <p:spPr bwMode="auto">
            <a:xfrm>
              <a:off x="2871274" y="1693823"/>
              <a:ext cx="10351580" cy="4318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4608" tIns="37301" rIns="74608" bIns="37301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None/>
              </a:pPr>
              <a:r>
                <a:rPr lang="ko-KR" altLang="en-US" sz="1800" b="1" dirty="0">
                  <a:latin typeface="맑은 고딕" panose="020B0503020000020004" pitchFamily="50" charset="-127"/>
                </a:rPr>
                <a:t>손실충당금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(loss allowance)</a:t>
              </a:r>
              <a:r>
                <a:rPr lang="ko-KR" altLang="en-US" sz="1800" b="1" dirty="0">
                  <a:latin typeface="맑은 고딕" panose="020B0503020000020004" pitchFamily="50" charset="-127"/>
                </a:rPr>
                <a:t>과 </a:t>
              </a:r>
              <a:r>
                <a:rPr lang="ko-KR" altLang="en-US" sz="1800" b="1" dirty="0" err="1">
                  <a:latin typeface="맑은 고딕" panose="020B0503020000020004" pitchFamily="50" charset="-127"/>
                </a:rPr>
                <a:t>손상차손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(impairment loss)</a:t>
              </a:r>
              <a:endParaRPr lang="en-US" altLang="ko-KR" sz="1800" dirty="0">
                <a:latin typeface="맑은 고딕" panose="020B0503020000020004" pitchFamily="50" charset="-127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 typeface="Wingdings" panose="05000000000000000000" pitchFamily="2" charset="2"/>
                <a:buNone/>
              </a:pPr>
              <a:endParaRPr lang="ko-KR" altLang="en-US" sz="1800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181378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16</a:t>
            </a:fld>
            <a:endParaRPr lang="ko-KR" altLang="en-US" dirty="0"/>
          </a:p>
        </p:txBody>
      </p:sp>
      <p:grpSp>
        <p:nvGrpSpPr>
          <p:cNvPr id="8" name="그룹 7"/>
          <p:cNvGrpSpPr/>
          <p:nvPr/>
        </p:nvGrpSpPr>
        <p:grpSpPr>
          <a:xfrm>
            <a:off x="257304" y="1285868"/>
            <a:ext cx="8641370" cy="2992834"/>
            <a:chOff x="2626683" y="1693823"/>
            <a:chExt cx="11521825" cy="3431956"/>
          </a:xfrm>
        </p:grpSpPr>
        <p:sp>
          <p:nvSpPr>
            <p:cNvPr id="9" name="Rectangle 15"/>
            <p:cNvSpPr>
              <a:spLocks noChangeArrowheads="1"/>
            </p:cNvSpPr>
            <p:nvPr/>
          </p:nvSpPr>
          <p:spPr bwMode="auto">
            <a:xfrm>
              <a:off x="2626683" y="2125622"/>
              <a:ext cx="11521825" cy="3000157"/>
            </a:xfrm>
            <a:prstGeom prst="rect">
              <a:avLst/>
            </a:prstGeom>
            <a:noFill/>
            <a:ln>
              <a:noFill/>
            </a:ln>
          </p:spPr>
          <p:txBody>
            <a:bodyPr lIns="74608" tIns="37301" rIns="74608" bIns="37301" anchor="t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marL="285750" indent="-285750"/>
              <a:r>
                <a:rPr lang="ko-KR" altLang="en-US" sz="1600" b="1" dirty="0">
                  <a:latin typeface="맑은 고딕" panose="020B0503020000020004" pitchFamily="50" charset="-127"/>
                </a:rPr>
                <a:t>신용손실</a:t>
              </a:r>
              <a:r>
                <a:rPr lang="en-US" altLang="ko-KR" sz="1600" dirty="0">
                  <a:solidFill>
                    <a:schemeClr val="tx1"/>
                  </a:solidFill>
                </a:rPr>
                <a:t> (credit loss) 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: </a:t>
              </a:r>
              <a:r>
                <a:rPr lang="ko-KR" altLang="en-US" sz="1600" dirty="0">
                  <a:solidFill>
                    <a:schemeClr val="tx1"/>
                  </a:solidFill>
                </a:rPr>
                <a:t>① 계약상 지급받기로 한 금액과 ② 수취할 것으로 예상되는 금액의 차이</a:t>
              </a:r>
            </a:p>
            <a:p>
              <a:pPr marL="285750" indent="-285750"/>
              <a:r>
                <a:rPr lang="ko-KR" altLang="en-US" sz="1600" dirty="0">
                  <a:solidFill>
                    <a:schemeClr val="tx1"/>
                  </a:solidFill>
                </a:rPr>
                <a:t>회계연도말 현재 매출채권에 대해 향후 발생할 것으로 예상되는 신용손실</a:t>
              </a:r>
              <a:r>
                <a:rPr lang="en-US" altLang="ko-KR" sz="1600" dirty="0">
                  <a:solidFill>
                    <a:schemeClr val="tx1"/>
                  </a:solidFill>
                </a:rPr>
                <a:t>(</a:t>
              </a:r>
              <a:r>
                <a:rPr lang="ko-KR" altLang="en-US" sz="1600" dirty="0">
                  <a:solidFill>
                    <a:schemeClr val="tx1"/>
                  </a:solidFill>
                </a:rPr>
                <a:t>손상예상금액</a:t>
              </a:r>
              <a:r>
                <a:rPr lang="en-US" altLang="ko-KR" sz="1600" dirty="0">
                  <a:solidFill>
                    <a:schemeClr val="tx1"/>
                  </a:solidFill>
                </a:rPr>
                <a:t>), </a:t>
              </a:r>
              <a:r>
                <a:rPr lang="ko-KR" altLang="en-US" sz="1600" dirty="0">
                  <a:solidFill>
                    <a:schemeClr val="tx1"/>
                  </a:solidFill>
                </a:rPr>
                <a:t>즉 </a:t>
              </a:r>
              <a:r>
                <a:rPr lang="ko-KR" altLang="en-US" sz="1600" b="1" dirty="0">
                  <a:solidFill>
                    <a:schemeClr val="tx1"/>
                  </a:solidFill>
                </a:rPr>
                <a:t>기대신용손실</a:t>
              </a:r>
              <a:r>
                <a:rPr lang="en-US" altLang="ko-KR" sz="1600" dirty="0">
                  <a:solidFill>
                    <a:schemeClr val="tx1"/>
                  </a:solidFill>
                </a:rPr>
                <a:t>(expected credit loss)</a:t>
              </a:r>
              <a:r>
                <a:rPr lang="ko-KR" altLang="en-US" sz="1600" dirty="0">
                  <a:solidFill>
                    <a:schemeClr val="tx1"/>
                  </a:solidFill>
                </a:rPr>
                <a:t>을 손실충당금으로 설정</a:t>
              </a:r>
              <a:endParaRPr lang="ko-KR" altLang="en-US" sz="1600" dirty="0"/>
            </a:p>
            <a:p>
              <a:pPr marL="285750" indent="-285750" latinLnBrk="0">
                <a:lnSpc>
                  <a:spcPts val="2400"/>
                </a:lnSpc>
                <a:spcBef>
                  <a:spcPts val="600"/>
                </a:spcBef>
                <a:buClrTx/>
                <a:buSzTx/>
              </a:pPr>
              <a:r>
                <a:rPr lang="ko-KR" altLang="en-US" sz="1600" dirty="0">
                  <a:latin typeface="맑은 고딕" panose="020B0503020000020004" pitchFamily="50" charset="-127"/>
                </a:rPr>
                <a:t>기대신용손실 금액을 추정하기 위한 방법으로 </a:t>
              </a:r>
              <a:r>
                <a:rPr lang="ko-KR" altLang="en-US" sz="1600" b="1" dirty="0">
                  <a:latin typeface="맑은 고딕" panose="020B0503020000020004" pitchFamily="50" charset="-127"/>
                </a:rPr>
                <a:t>연령분석법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(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매출채권의 연체일수에 따라 다른 </a:t>
              </a:r>
              <a:r>
                <a:rPr lang="ko-KR" altLang="en-US" sz="1600" dirty="0" err="1" smtClean="0">
                  <a:latin typeface="맑은 고딕" panose="020B0503020000020004" pitchFamily="50" charset="-127"/>
                </a:rPr>
                <a:t>충당률</a:t>
              </a:r>
              <a:r>
                <a:rPr lang="ko-KR" altLang="en-US" sz="1600" dirty="0" smtClean="0">
                  <a:latin typeface="맑은 고딕" panose="020B0503020000020004" pitchFamily="50" charset="-127"/>
                </a:rPr>
                <a:t> 설정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)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 등을 사용할 수 </a:t>
              </a:r>
              <a:r>
                <a:rPr lang="ko-KR" altLang="en-US" sz="1600" dirty="0" smtClean="0">
                  <a:latin typeface="맑은 고딕" panose="020B0503020000020004" pitchFamily="50" charset="-127"/>
                </a:rPr>
                <a:t>있음</a:t>
              </a: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 marL="144000" indent="-144000" latinLnBrk="0">
                <a:lnSpc>
                  <a:spcPts val="2400"/>
                </a:lnSpc>
                <a:spcBef>
                  <a:spcPts val="600"/>
                </a:spcBef>
                <a:buClrTx/>
                <a:buSzTx/>
                <a:buNone/>
              </a:pPr>
              <a:endParaRPr lang="en-US" altLang="ko-KR" sz="1600" dirty="0">
                <a:latin typeface="맑은 고딕" panose="020B0503020000020004" pitchFamily="50" charset="-127"/>
              </a:endParaRPr>
            </a:p>
          </p:txBody>
        </p:sp>
        <p:sp>
          <p:nvSpPr>
            <p:cNvPr id="10" name="Rectangle 14"/>
            <p:cNvSpPr>
              <a:spLocks noChangeArrowheads="1"/>
            </p:cNvSpPr>
            <p:nvPr/>
          </p:nvSpPr>
          <p:spPr bwMode="auto">
            <a:xfrm>
              <a:off x="2871275" y="1693823"/>
              <a:ext cx="9242135" cy="4318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4608" tIns="37301" rIns="74608" bIns="37301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None/>
              </a:pPr>
              <a:r>
                <a:rPr lang="ko-KR" altLang="en-US" sz="1800" b="1" dirty="0">
                  <a:latin typeface="맑은 고딕" panose="020B0503020000020004" pitchFamily="50" charset="-127"/>
                </a:rPr>
                <a:t>손실충당금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(loss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 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allowance)</a:t>
              </a:r>
              <a:r>
                <a:rPr lang="ko-KR" altLang="en-US" sz="1800" b="1" dirty="0">
                  <a:latin typeface="맑은 고딕" panose="020B0503020000020004" pitchFamily="50" charset="-127"/>
                </a:rPr>
                <a:t>의 추정과 설정 </a:t>
              </a:r>
            </a:p>
          </p:txBody>
        </p:sp>
        <p:sp>
          <p:nvSpPr>
            <p:cNvPr id="12" name="직사각형 11"/>
            <p:cNvSpPr/>
            <p:nvPr/>
          </p:nvSpPr>
          <p:spPr>
            <a:xfrm>
              <a:off x="2626908" y="1722059"/>
              <a:ext cx="281973" cy="425439"/>
            </a:xfrm>
            <a:prstGeom prst="rect">
              <a:avLst/>
            </a:prstGeom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ko-KR" altLang="en-US" sz="16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181378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17</a:t>
            </a:fld>
            <a:endParaRPr lang="ko-KR" altLang="en-US" dirty="0"/>
          </a:p>
        </p:txBody>
      </p:sp>
      <p:grpSp>
        <p:nvGrpSpPr>
          <p:cNvPr id="3" name="그룹 2"/>
          <p:cNvGrpSpPr/>
          <p:nvPr/>
        </p:nvGrpSpPr>
        <p:grpSpPr>
          <a:xfrm>
            <a:off x="187213" y="1098616"/>
            <a:ext cx="8711460" cy="5267894"/>
            <a:chOff x="190714" y="1320886"/>
            <a:chExt cx="8711460" cy="5267894"/>
          </a:xfrm>
        </p:grpSpPr>
        <p:grpSp>
          <p:nvGrpSpPr>
            <p:cNvPr id="4" name="그룹 3"/>
            <p:cNvGrpSpPr/>
            <p:nvPr/>
          </p:nvGrpSpPr>
          <p:grpSpPr>
            <a:xfrm>
              <a:off x="361935" y="1461499"/>
              <a:ext cx="8540239" cy="5127281"/>
              <a:chOff x="269048" y="1722741"/>
              <a:chExt cx="8648775" cy="5127281"/>
            </a:xfrm>
          </p:grpSpPr>
          <p:sp>
            <p:nvSpPr>
              <p:cNvPr id="12" name="Rectangle 15"/>
              <p:cNvSpPr>
                <a:spLocks noChangeArrowheads="1"/>
              </p:cNvSpPr>
              <p:nvPr/>
            </p:nvSpPr>
            <p:spPr bwMode="auto">
              <a:xfrm>
                <a:off x="269048" y="1746440"/>
                <a:ext cx="8641369" cy="5103582"/>
              </a:xfrm>
              <a:prstGeom prst="foldedCorner">
                <a:avLst>
                  <a:gd name="adj" fmla="val 5125"/>
                </a:avLst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txBody>
              <a:bodyPr lIns="74608" tIns="37301" rIns="74608" bIns="37301" anchor="ctr"/>
              <a:lstStyle>
                <a:lvl1pPr algn="l" defTabSz="995363">
                  <a:spcBef>
                    <a:spcPct val="20000"/>
                  </a:spcBef>
                  <a:buClr>
                    <a:schemeClr val="tx2"/>
                  </a:buClr>
                  <a:buSzPct val="115000"/>
                  <a:buFont typeface="Wingdings" panose="05000000000000000000" pitchFamily="2" charset="2"/>
                  <a:buChar char="§"/>
                  <a:defRPr sz="28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 algn="l" defTabSz="995363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 algn="l" defTabSz="995363">
                  <a:spcBef>
                    <a:spcPct val="20000"/>
                  </a:spcBef>
                  <a:buChar char="•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 algn="l" defTabSz="995363">
                  <a:spcBef>
                    <a:spcPct val="20000"/>
                  </a:spcBef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 algn="l" defTabSz="995363">
                  <a:spcBef>
                    <a:spcPct val="20000"/>
                  </a:spcBef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ko-KR" altLang="en-US" sz="1400" dirty="0"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13" name="직사각형 12"/>
              <p:cNvSpPr/>
              <p:nvPr/>
            </p:nvSpPr>
            <p:spPr>
              <a:xfrm>
                <a:off x="277823" y="1722741"/>
                <a:ext cx="8640000" cy="45719"/>
              </a:xfrm>
              <a:prstGeom prst="rect">
                <a:avLst/>
              </a:prstGeom>
              <a:solidFill>
                <a:srgbClr val="2D61C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5" name="그룹 4"/>
            <p:cNvGrpSpPr/>
            <p:nvPr/>
          </p:nvGrpSpPr>
          <p:grpSpPr>
            <a:xfrm>
              <a:off x="190714" y="1320886"/>
              <a:ext cx="4041013" cy="326952"/>
              <a:chOff x="190714" y="1320889"/>
              <a:chExt cx="3456780" cy="290354"/>
            </a:xfrm>
            <a:solidFill>
              <a:srgbClr val="2D61C8"/>
            </a:solidFill>
          </p:grpSpPr>
          <p:grpSp>
            <p:nvGrpSpPr>
              <p:cNvPr id="6" name="그룹 5"/>
              <p:cNvGrpSpPr/>
              <p:nvPr/>
            </p:nvGrpSpPr>
            <p:grpSpPr>
              <a:xfrm>
                <a:off x="190714" y="1320889"/>
                <a:ext cx="3456780" cy="290354"/>
                <a:chOff x="405822" y="2237753"/>
                <a:chExt cx="3456780" cy="290354"/>
              </a:xfrm>
              <a:grpFill/>
            </p:grpSpPr>
            <p:sp>
              <p:nvSpPr>
                <p:cNvPr id="8" name="타원 7"/>
                <p:cNvSpPr/>
                <p:nvPr/>
              </p:nvSpPr>
              <p:spPr>
                <a:xfrm>
                  <a:off x="405822" y="2237753"/>
                  <a:ext cx="290351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9" name="타원 8"/>
                <p:cNvSpPr/>
                <p:nvPr/>
              </p:nvSpPr>
              <p:spPr>
                <a:xfrm>
                  <a:off x="3572251" y="2237753"/>
                  <a:ext cx="290351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0" name="직사각형 9"/>
                <p:cNvSpPr/>
                <p:nvPr/>
              </p:nvSpPr>
              <p:spPr>
                <a:xfrm>
                  <a:off x="542512" y="2237755"/>
                  <a:ext cx="3144844" cy="290352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1600" b="1" dirty="0"/>
                    <a:t>예제 </a:t>
                  </a:r>
                  <a:r>
                    <a:rPr lang="en-US" altLang="ko-KR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5-7</a:t>
                  </a:r>
                  <a:r>
                    <a:rPr lang="ko-KR" altLang="en-US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 손실충당금의 추정과 설정</a:t>
                  </a:r>
                  <a:endParaRPr lang="ko-KR" altLang="en-US" sz="1600" b="1" dirty="0"/>
                </a:p>
              </p:txBody>
            </p:sp>
            <p:sp>
              <p:nvSpPr>
                <p:cNvPr id="11" name="타원 10"/>
                <p:cNvSpPr/>
                <p:nvPr/>
              </p:nvSpPr>
              <p:spPr>
                <a:xfrm>
                  <a:off x="427833" y="2256153"/>
                  <a:ext cx="253549" cy="25354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pic>
            <p:nvPicPr>
              <p:cNvPr id="7" name="그림 6" descr="Log in | Sign Up Upload Clipart"/>
              <p:cNvPicPr>
                <a:picLocks noChangeAspect="1"/>
              </p:cNvPicPr>
              <p:nvPr/>
            </p:nvPicPr>
            <p:blipFill>
              <a:blip r:embed="rId2" cstate="email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265229" y="1359640"/>
                <a:ext cx="147147" cy="229618"/>
              </a:xfrm>
              <a:prstGeom prst="rect">
                <a:avLst/>
              </a:prstGeom>
            </p:spPr>
          </p:pic>
        </p:grpSp>
      </p:grpSp>
      <p:sp>
        <p:nvSpPr>
          <p:cNvPr id="29" name="Rectangle 12"/>
          <p:cNvSpPr>
            <a:spLocks noChangeArrowheads="1"/>
          </p:cNvSpPr>
          <p:nvPr/>
        </p:nvSpPr>
        <p:spPr bwMode="auto">
          <a:xfrm>
            <a:off x="394618" y="1520705"/>
            <a:ext cx="8354763" cy="1223963"/>
          </a:xfrm>
          <a:prstGeom prst="rect">
            <a:avLst/>
          </a:prstGeom>
          <a:noFill/>
          <a:ln>
            <a:noFill/>
          </a:ln>
        </p:spPr>
        <p:txBody>
          <a:bodyPr lIns="99477" tIns="49735" rIns="99477" bIns="49735"/>
          <a:lstStyle>
            <a:lvl1pPr algn="l" defTabSz="995363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 defTabSz="995363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 defTabSz="995363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 defTabSz="995363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 defTabSz="995363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95363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5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(</a:t>
            </a:r>
            <a:r>
              <a:rPr kumimoji="0" lang="ko-KR" altLang="en-US" sz="15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주</a:t>
            </a:r>
            <a:r>
              <a:rPr kumimoji="0" lang="en-US" altLang="ko-KR" sz="15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)</a:t>
            </a:r>
            <a:r>
              <a:rPr kumimoji="0" lang="ko-KR" altLang="en-US" sz="15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덕송은</a:t>
            </a:r>
            <a:r>
              <a:rPr kumimoji="0" lang="ko-KR" altLang="en-US" sz="15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 </a:t>
            </a:r>
            <a:r>
              <a:rPr kumimoji="0" lang="en-US" altLang="ko-KR" sz="15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20×1</a:t>
            </a:r>
            <a:r>
              <a:rPr kumimoji="0" lang="ko-KR" altLang="en-US" sz="15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년 </a:t>
            </a:r>
            <a:r>
              <a:rPr kumimoji="0" lang="en-US" altLang="ko-KR" sz="15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1</a:t>
            </a:r>
            <a:r>
              <a:rPr kumimoji="0" lang="ko-KR" altLang="en-US" sz="15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월 </a:t>
            </a:r>
            <a:r>
              <a:rPr kumimoji="0" lang="en-US" altLang="ko-KR" sz="15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1</a:t>
            </a:r>
            <a:r>
              <a:rPr kumimoji="0" lang="ko-KR" altLang="en-US" sz="15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일 설립되어 </a:t>
            </a:r>
            <a:r>
              <a:rPr kumimoji="0" lang="ko-KR" altLang="en-US" sz="15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당기중</a:t>
            </a:r>
            <a:r>
              <a:rPr kumimoji="0" lang="ko-KR" altLang="en-US" sz="15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 다음의 상품거래를 기록하였다</a:t>
            </a:r>
            <a:r>
              <a:rPr kumimoji="0" lang="en-US" altLang="ko-KR" sz="15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.</a:t>
            </a:r>
          </a:p>
          <a:p>
            <a:pPr marL="0" marR="0" lvl="0" indent="0" algn="l" defTabSz="995363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5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</a:endParaRPr>
          </a:p>
          <a:p>
            <a:pPr marL="252000" marR="0" lvl="0" indent="-252000" algn="l" defTabSz="995363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5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① 20×1</a:t>
            </a:r>
            <a:r>
              <a:rPr kumimoji="0" lang="ko-KR" altLang="en-US" sz="15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년 </a:t>
            </a:r>
            <a:r>
              <a:rPr kumimoji="0" lang="en-US" altLang="ko-KR" sz="15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6</a:t>
            </a:r>
            <a:r>
              <a:rPr kumimoji="0" lang="ko-KR" altLang="en-US" sz="15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월 </a:t>
            </a:r>
            <a:r>
              <a:rPr kumimoji="0" lang="en-US" altLang="ko-KR" sz="15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5</a:t>
            </a:r>
            <a:r>
              <a:rPr kumimoji="0" lang="ko-KR" altLang="en-US" sz="15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일에 </a:t>
            </a:r>
            <a:r>
              <a:rPr kumimoji="0" lang="en-US" altLang="ko-KR" sz="15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(</a:t>
            </a:r>
            <a:r>
              <a:rPr kumimoji="0" lang="ko-KR" altLang="en-US" sz="15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주</a:t>
            </a:r>
            <a:r>
              <a:rPr kumimoji="0" lang="en-US" altLang="ko-KR" sz="15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)</a:t>
            </a:r>
            <a:r>
              <a:rPr kumimoji="0" lang="ko-KR" altLang="en-US" sz="150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덕송은</a:t>
            </a:r>
            <a:r>
              <a:rPr kumimoji="0" lang="ko-KR" altLang="en-US" sz="15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 거래처인 </a:t>
            </a:r>
            <a:r>
              <a:rPr kumimoji="0" lang="en-US" altLang="ko-KR" sz="15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(</a:t>
            </a:r>
            <a:r>
              <a:rPr kumimoji="0" lang="ko-KR" altLang="en-US" sz="15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주</a:t>
            </a:r>
            <a:r>
              <a:rPr kumimoji="0" lang="en-US" altLang="ko-KR" sz="15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)</a:t>
            </a:r>
            <a:r>
              <a:rPr lang="ko-KR" altLang="en-US" sz="1500" kern="0" dirty="0">
                <a:latin typeface="맑은 고딕" panose="020B0503020000020004" pitchFamily="50" charset="-127"/>
              </a:rPr>
              <a:t>크라운제과</a:t>
            </a:r>
            <a:r>
              <a:rPr kumimoji="0" lang="ko-KR" altLang="en-US" sz="15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에 상품 ￦</a:t>
            </a:r>
            <a:r>
              <a:rPr kumimoji="0" lang="en-US" altLang="ko-KR" sz="15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1,000,000</a:t>
            </a:r>
            <a:r>
              <a:rPr kumimoji="0" lang="ko-KR" altLang="en-US" sz="15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을 외상매출하고 ￦</a:t>
            </a:r>
            <a:r>
              <a:rPr kumimoji="0" lang="en-US" altLang="ko-KR" sz="15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400,000</a:t>
            </a:r>
            <a:r>
              <a:rPr kumimoji="0" lang="ko-KR" altLang="en-US" sz="15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은 </a:t>
            </a:r>
            <a:r>
              <a:rPr kumimoji="0" lang="en-US" altLang="ko-KR" sz="15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7</a:t>
            </a:r>
            <a:r>
              <a:rPr kumimoji="0" lang="ko-KR" altLang="en-US" sz="15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월 </a:t>
            </a:r>
            <a:r>
              <a:rPr kumimoji="0" lang="en-US" altLang="ko-KR" sz="15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1</a:t>
            </a:r>
            <a:r>
              <a:rPr kumimoji="0" lang="ko-KR" altLang="en-US" sz="15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일에 현금으로 회수하였다</a:t>
            </a:r>
            <a:r>
              <a:rPr kumimoji="0" lang="en-US" altLang="ko-KR" sz="15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.</a:t>
            </a:r>
          </a:p>
        </p:txBody>
      </p:sp>
      <p:sp>
        <p:nvSpPr>
          <p:cNvPr id="34" name="Rectangle 12"/>
          <p:cNvSpPr>
            <a:spLocks noChangeArrowheads="1"/>
          </p:cNvSpPr>
          <p:nvPr/>
        </p:nvSpPr>
        <p:spPr bwMode="auto">
          <a:xfrm>
            <a:off x="446338" y="3746735"/>
            <a:ext cx="8232775" cy="576263"/>
          </a:xfrm>
          <a:prstGeom prst="rect">
            <a:avLst/>
          </a:prstGeom>
          <a:noFill/>
          <a:ln>
            <a:noFill/>
          </a:ln>
        </p:spPr>
        <p:txBody>
          <a:bodyPr lIns="99477" tIns="49735" rIns="99477" bIns="49735"/>
          <a:lstStyle>
            <a:lvl1pPr algn="l" defTabSz="995363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 defTabSz="995363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 defTabSz="995363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 defTabSz="995363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 defTabSz="995363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marL="252000" marR="0" lvl="0" indent="-252000" defTabSz="995363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5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② 20×1</a:t>
            </a:r>
            <a:r>
              <a:rPr kumimoji="0" lang="ko-KR" altLang="en-US" sz="15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년 </a:t>
            </a:r>
            <a:r>
              <a:rPr kumimoji="0" lang="en-US" altLang="ko-KR" sz="15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12</a:t>
            </a:r>
            <a:r>
              <a:rPr kumimoji="0" lang="ko-KR" altLang="en-US" sz="15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월 </a:t>
            </a:r>
            <a:r>
              <a:rPr kumimoji="0" lang="en-US" altLang="ko-KR" sz="15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5</a:t>
            </a:r>
            <a:r>
              <a:rPr kumimoji="0" lang="ko-KR" altLang="en-US" sz="15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일에 </a:t>
            </a:r>
            <a:r>
              <a:rPr kumimoji="0" lang="en-US" altLang="ko-KR" sz="15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(</a:t>
            </a:r>
            <a:r>
              <a:rPr kumimoji="0" lang="ko-KR" altLang="en-US" sz="15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주</a:t>
            </a:r>
            <a:r>
              <a:rPr kumimoji="0" lang="en-US" altLang="ko-KR" sz="15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)</a:t>
            </a:r>
            <a:r>
              <a:rPr kumimoji="0" lang="ko-KR" altLang="en-US" sz="150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덕송은</a:t>
            </a:r>
            <a:r>
              <a:rPr kumimoji="0" lang="ko-KR" altLang="en-US" sz="15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 거래처인 </a:t>
            </a:r>
            <a:r>
              <a:rPr kumimoji="0" lang="en-US" altLang="ko-KR" sz="15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(</a:t>
            </a:r>
            <a:r>
              <a:rPr kumimoji="0" lang="ko-KR" altLang="en-US" sz="15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주</a:t>
            </a:r>
            <a:r>
              <a:rPr kumimoji="0" lang="en-US" altLang="ko-KR" sz="15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)</a:t>
            </a:r>
            <a:r>
              <a:rPr lang="ko-KR" altLang="en-US" sz="1500" kern="0" dirty="0" err="1">
                <a:latin typeface="맑은 고딕" panose="020B0503020000020004" pitchFamily="50" charset="-127"/>
              </a:rPr>
              <a:t>삼양식품</a:t>
            </a:r>
            <a:r>
              <a:rPr kumimoji="0" lang="ko-KR" altLang="en-US" sz="15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에 상품 ￦</a:t>
            </a:r>
            <a:r>
              <a:rPr kumimoji="0" lang="en-US" altLang="ko-KR" sz="15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500,000</a:t>
            </a:r>
            <a:r>
              <a:rPr kumimoji="0" lang="ko-KR" altLang="en-US" sz="15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을 </a:t>
            </a:r>
            <a:r>
              <a:rPr kumimoji="0" lang="ko-KR" altLang="en-US" sz="150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외상매출하였으며</a:t>
            </a:r>
            <a:r>
              <a:rPr kumimoji="0" lang="ko-KR" altLang="en-US" sz="15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 기말 현재 아직 회수되지 않았다</a:t>
            </a:r>
            <a:r>
              <a:rPr kumimoji="0" lang="en-US" altLang="ko-KR" sz="15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.</a:t>
            </a:r>
          </a:p>
        </p:txBody>
      </p:sp>
      <p:sp>
        <p:nvSpPr>
          <p:cNvPr id="35" name="Rectangle 12"/>
          <p:cNvSpPr>
            <a:spLocks noChangeArrowheads="1"/>
          </p:cNvSpPr>
          <p:nvPr/>
        </p:nvSpPr>
        <p:spPr bwMode="auto">
          <a:xfrm>
            <a:off x="951294" y="4325378"/>
            <a:ext cx="7200000" cy="4320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txBody>
          <a:bodyPr lIns="99477" tIns="49735" rIns="99477" bIns="49735" anchor="ctr"/>
          <a:lstStyle>
            <a:lvl1pPr algn="l" defTabSz="995363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 defTabSz="995363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 defTabSz="995363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 defTabSz="995363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 defTabSz="995363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95363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5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       (</a:t>
            </a:r>
            <a:r>
              <a:rPr kumimoji="0" lang="ko-KR" altLang="en-US" sz="15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차</a:t>
            </a:r>
            <a:r>
              <a:rPr kumimoji="0" lang="en-US" altLang="ko-KR" sz="15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) </a:t>
            </a:r>
            <a:r>
              <a:rPr kumimoji="0" lang="ko-KR" altLang="en-US" sz="15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외상매출금           </a:t>
            </a:r>
            <a:r>
              <a:rPr kumimoji="0" lang="en-US" altLang="ko-KR" sz="15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500,000            (</a:t>
            </a:r>
            <a:r>
              <a:rPr kumimoji="0" lang="ko-KR" altLang="en-US" sz="15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대</a:t>
            </a:r>
            <a:r>
              <a:rPr kumimoji="0" lang="en-US" altLang="ko-KR" sz="15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) </a:t>
            </a:r>
            <a:r>
              <a:rPr kumimoji="0" lang="ko-KR" altLang="en-US" sz="15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매        출             </a:t>
            </a:r>
            <a:r>
              <a:rPr kumimoji="0" lang="en-US" altLang="ko-KR" sz="15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500,000 </a:t>
            </a:r>
          </a:p>
        </p:txBody>
      </p:sp>
      <p:sp>
        <p:nvSpPr>
          <p:cNvPr id="39" name="Rectangle 12"/>
          <p:cNvSpPr>
            <a:spLocks noChangeArrowheads="1"/>
          </p:cNvSpPr>
          <p:nvPr/>
        </p:nvSpPr>
        <p:spPr bwMode="auto">
          <a:xfrm>
            <a:off x="962725" y="2671556"/>
            <a:ext cx="7200000" cy="37533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txBody>
          <a:bodyPr lIns="99477" tIns="49735" rIns="99477" bIns="49735" anchor="ctr"/>
          <a:lstStyle>
            <a:lvl1pPr algn="l" defTabSz="995363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 defTabSz="995363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 defTabSz="995363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 defTabSz="995363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 defTabSz="995363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95363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5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       (</a:t>
            </a:r>
            <a:r>
              <a:rPr kumimoji="0" lang="ko-KR" altLang="en-US" sz="15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차</a:t>
            </a:r>
            <a:r>
              <a:rPr kumimoji="0" lang="en-US" altLang="ko-KR" sz="15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) </a:t>
            </a:r>
            <a:r>
              <a:rPr kumimoji="0" lang="ko-KR" altLang="en-US" sz="15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외상매출금         </a:t>
            </a:r>
            <a:r>
              <a:rPr kumimoji="0" lang="en-US" altLang="ko-KR" sz="15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1,000,000            (</a:t>
            </a:r>
            <a:r>
              <a:rPr kumimoji="0" lang="ko-KR" altLang="en-US" sz="15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대</a:t>
            </a:r>
            <a:r>
              <a:rPr kumimoji="0" lang="en-US" altLang="ko-KR" sz="15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) </a:t>
            </a:r>
            <a:r>
              <a:rPr kumimoji="0" lang="ko-KR" altLang="en-US" sz="15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매        출          </a:t>
            </a:r>
            <a:r>
              <a:rPr kumimoji="0" lang="en-US" altLang="ko-KR" sz="15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1,000,000</a:t>
            </a:r>
          </a:p>
        </p:txBody>
      </p:sp>
      <p:sp>
        <p:nvSpPr>
          <p:cNvPr id="18" name="직사각형 17"/>
          <p:cNvSpPr/>
          <p:nvPr/>
        </p:nvSpPr>
        <p:spPr>
          <a:xfrm>
            <a:off x="962725" y="3144819"/>
            <a:ext cx="7200000" cy="41642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txBody>
          <a:bodyPr lIns="99477" tIns="49735" rIns="99477" bIns="49735" anchor="ctr"/>
          <a:lstStyle/>
          <a:p>
            <a:pPr defTabSz="995363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5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       (</a:t>
            </a:r>
            <a:r>
              <a:rPr lang="ko-KR" altLang="en-US" sz="15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차</a:t>
            </a:r>
            <a:r>
              <a:rPr lang="en-US" altLang="ko-KR" sz="15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) </a:t>
            </a:r>
            <a:r>
              <a:rPr lang="ko-KR" altLang="en-US" sz="15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현     금               </a:t>
            </a:r>
            <a:r>
              <a:rPr lang="en-US" altLang="ko-KR" sz="15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400,000            (</a:t>
            </a:r>
            <a:r>
              <a:rPr lang="ko-KR" altLang="en-US" sz="15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대</a:t>
            </a:r>
            <a:r>
              <a:rPr lang="en-US" altLang="ko-KR" sz="15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) </a:t>
            </a:r>
            <a:r>
              <a:rPr lang="ko-KR" altLang="en-US" sz="15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외상매출금            </a:t>
            </a:r>
            <a:r>
              <a:rPr lang="en-US" altLang="ko-KR" sz="15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400,000 </a:t>
            </a:r>
            <a:endParaRPr lang="ko-KR" altLang="en-US" sz="1500" b="1" kern="0" dirty="0">
              <a:solidFill>
                <a:srgbClr val="00000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31" name="Rectangle 12"/>
          <p:cNvSpPr>
            <a:spLocks noChangeArrowheads="1"/>
          </p:cNvSpPr>
          <p:nvPr/>
        </p:nvSpPr>
        <p:spPr bwMode="auto">
          <a:xfrm>
            <a:off x="4624897" y="5273812"/>
            <a:ext cx="4343257" cy="576263"/>
          </a:xfrm>
          <a:prstGeom prst="rect">
            <a:avLst/>
          </a:prstGeom>
          <a:noFill/>
          <a:ln>
            <a:noFill/>
          </a:ln>
        </p:spPr>
        <p:txBody>
          <a:bodyPr lIns="99477" tIns="49735" rIns="99477" bIns="49735"/>
          <a:lstStyle>
            <a:lvl1pPr algn="l" defTabSz="995363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 defTabSz="995363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 defTabSz="995363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 defTabSz="995363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 defTabSz="995363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95363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5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sym typeface="Wingdings" pitchFamily="2" charset="2"/>
              </a:rPr>
              <a:t></a:t>
            </a:r>
            <a:r>
              <a:rPr kumimoji="0" lang="en-US" altLang="ko-KR" sz="1500" b="1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 </a:t>
            </a:r>
            <a:r>
              <a:rPr lang="ko-KR" altLang="en-US" sz="1500" b="1" kern="0" dirty="0">
                <a:latin typeface="맑은 고딕" panose="020B0503020000020004" pitchFamily="50" charset="-127"/>
              </a:rPr>
              <a:t>매출채권 잔액 </a:t>
            </a:r>
            <a:endParaRPr lang="en-US" altLang="ko-KR" sz="1500" b="1" kern="0" dirty="0">
              <a:latin typeface="맑은 고딕" panose="020B0503020000020004" pitchFamily="50" charset="-127"/>
            </a:endParaRPr>
          </a:p>
          <a:p>
            <a:pPr marL="0" marR="0" lvl="0" indent="0" algn="just" defTabSz="995363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500" b="1" kern="0" dirty="0">
                <a:latin typeface="맑은 고딕" panose="020B0503020000020004" pitchFamily="50" charset="-127"/>
              </a:rPr>
              <a:t>1,000,000 – 400,000 + 500,000 = 1,100,000</a:t>
            </a:r>
            <a:endParaRPr kumimoji="0" lang="en-US" altLang="ko-KR" sz="15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</a:endParaRPr>
          </a:p>
        </p:txBody>
      </p:sp>
      <p:graphicFrame>
        <p:nvGraphicFramePr>
          <p:cNvPr id="15" name="표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8459626"/>
              </p:ext>
            </p:extLst>
          </p:nvPr>
        </p:nvGraphicFramePr>
        <p:xfrm>
          <a:off x="896747" y="4874542"/>
          <a:ext cx="3519211" cy="1374804"/>
        </p:xfrm>
        <a:graphic>
          <a:graphicData uri="http://schemas.openxmlformats.org/drawingml/2006/table">
            <a:tbl>
              <a:tblPr/>
              <a:tblGrid>
                <a:gridCol w="1056796">
                  <a:extLst>
                    <a:ext uri="{9D8B030D-6E8A-4147-A177-3AD203B41FA5}">
                      <a16:colId xmlns="" xmlns:a16="http://schemas.microsoft.com/office/drawing/2014/main" val="3374090522"/>
                    </a:ext>
                  </a:extLst>
                </a:gridCol>
                <a:gridCol w="924696">
                  <a:extLst>
                    <a:ext uri="{9D8B030D-6E8A-4147-A177-3AD203B41FA5}">
                      <a16:colId xmlns="" xmlns:a16="http://schemas.microsoft.com/office/drawing/2014/main" val="1971168282"/>
                    </a:ext>
                  </a:extLst>
                </a:gridCol>
                <a:gridCol w="677009">
                  <a:extLst>
                    <a:ext uri="{9D8B030D-6E8A-4147-A177-3AD203B41FA5}">
                      <a16:colId xmlns="" xmlns:a16="http://schemas.microsoft.com/office/drawing/2014/main" val="3601502634"/>
                    </a:ext>
                  </a:extLst>
                </a:gridCol>
                <a:gridCol w="860710">
                  <a:extLst>
                    <a:ext uri="{9D8B030D-6E8A-4147-A177-3AD203B41FA5}">
                      <a16:colId xmlns="" xmlns:a16="http://schemas.microsoft.com/office/drawing/2014/main" val="2509191756"/>
                    </a:ext>
                  </a:extLst>
                </a:gridCol>
              </a:tblGrid>
              <a:tr h="207438">
                <a:tc gridSpan="4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외상매출금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914020525"/>
                  </a:ext>
                </a:extLst>
              </a:tr>
              <a:tr h="207438"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 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₩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 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₩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400,000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156291325"/>
                  </a:ext>
                </a:extLst>
              </a:tr>
              <a:tr h="361344"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 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1,000,000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3506349437"/>
                  </a:ext>
                </a:extLst>
              </a:tr>
              <a:tr h="241621"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</a:t>
                      </a: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 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500,000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3449835026"/>
                  </a:ext>
                </a:extLst>
              </a:tr>
              <a:tr h="241621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잔액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₩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1,100,000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30481829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541765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/>
          <p:cNvGrpSpPr/>
          <p:nvPr/>
        </p:nvGrpSpPr>
        <p:grpSpPr>
          <a:xfrm>
            <a:off x="187213" y="1098616"/>
            <a:ext cx="8711460" cy="5267894"/>
            <a:chOff x="190714" y="1320886"/>
            <a:chExt cx="8711460" cy="5267894"/>
          </a:xfrm>
        </p:grpSpPr>
        <p:grpSp>
          <p:nvGrpSpPr>
            <p:cNvPr id="6" name="그룹 5"/>
            <p:cNvGrpSpPr/>
            <p:nvPr/>
          </p:nvGrpSpPr>
          <p:grpSpPr>
            <a:xfrm>
              <a:off x="361935" y="1461499"/>
              <a:ext cx="8540239" cy="5127281"/>
              <a:chOff x="269048" y="1722741"/>
              <a:chExt cx="8648775" cy="5127281"/>
            </a:xfrm>
          </p:grpSpPr>
          <p:sp>
            <p:nvSpPr>
              <p:cNvPr id="14" name="Rectangle 15"/>
              <p:cNvSpPr>
                <a:spLocks noChangeArrowheads="1"/>
              </p:cNvSpPr>
              <p:nvPr/>
            </p:nvSpPr>
            <p:spPr bwMode="auto">
              <a:xfrm>
                <a:off x="269048" y="1746440"/>
                <a:ext cx="8641369" cy="5103582"/>
              </a:xfrm>
              <a:prstGeom prst="foldedCorner">
                <a:avLst>
                  <a:gd name="adj" fmla="val 5125"/>
                </a:avLst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txBody>
              <a:bodyPr lIns="74608" tIns="37301" rIns="74608" bIns="37301" anchor="ctr"/>
              <a:lstStyle>
                <a:lvl1pPr algn="l" defTabSz="995363">
                  <a:spcBef>
                    <a:spcPct val="20000"/>
                  </a:spcBef>
                  <a:buClr>
                    <a:schemeClr val="tx2"/>
                  </a:buClr>
                  <a:buSzPct val="115000"/>
                  <a:buFont typeface="Wingdings" panose="05000000000000000000" pitchFamily="2" charset="2"/>
                  <a:buChar char="§"/>
                  <a:defRPr sz="28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 algn="l" defTabSz="995363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 algn="l" defTabSz="995363">
                  <a:spcBef>
                    <a:spcPct val="20000"/>
                  </a:spcBef>
                  <a:buChar char="•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 algn="l" defTabSz="995363">
                  <a:spcBef>
                    <a:spcPct val="20000"/>
                  </a:spcBef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 algn="l" defTabSz="995363">
                  <a:spcBef>
                    <a:spcPct val="20000"/>
                  </a:spcBef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ko-KR" altLang="en-US" sz="1400" dirty="0"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15" name="직사각형 14"/>
              <p:cNvSpPr/>
              <p:nvPr/>
            </p:nvSpPr>
            <p:spPr>
              <a:xfrm>
                <a:off x="277823" y="1722741"/>
                <a:ext cx="8640000" cy="45719"/>
              </a:xfrm>
              <a:prstGeom prst="rect">
                <a:avLst/>
              </a:prstGeom>
              <a:solidFill>
                <a:srgbClr val="2D61C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7" name="그룹 6"/>
            <p:cNvGrpSpPr/>
            <p:nvPr/>
          </p:nvGrpSpPr>
          <p:grpSpPr>
            <a:xfrm>
              <a:off x="190714" y="1320886"/>
              <a:ext cx="4041013" cy="326952"/>
              <a:chOff x="190714" y="1320889"/>
              <a:chExt cx="3456780" cy="290354"/>
            </a:xfrm>
            <a:solidFill>
              <a:srgbClr val="2D61C8"/>
            </a:solidFill>
          </p:grpSpPr>
          <p:grpSp>
            <p:nvGrpSpPr>
              <p:cNvPr id="8" name="그룹 7"/>
              <p:cNvGrpSpPr/>
              <p:nvPr/>
            </p:nvGrpSpPr>
            <p:grpSpPr>
              <a:xfrm>
                <a:off x="190714" y="1320889"/>
                <a:ext cx="3456780" cy="290354"/>
                <a:chOff x="405822" y="2237753"/>
                <a:chExt cx="3456780" cy="290354"/>
              </a:xfrm>
              <a:grpFill/>
            </p:grpSpPr>
            <p:sp>
              <p:nvSpPr>
                <p:cNvPr id="10" name="타원 9"/>
                <p:cNvSpPr/>
                <p:nvPr/>
              </p:nvSpPr>
              <p:spPr>
                <a:xfrm>
                  <a:off x="405822" y="2237753"/>
                  <a:ext cx="290351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1" name="타원 10"/>
                <p:cNvSpPr/>
                <p:nvPr/>
              </p:nvSpPr>
              <p:spPr>
                <a:xfrm>
                  <a:off x="3572251" y="2237753"/>
                  <a:ext cx="290351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2" name="직사각형 11"/>
                <p:cNvSpPr/>
                <p:nvPr/>
              </p:nvSpPr>
              <p:spPr>
                <a:xfrm>
                  <a:off x="542512" y="2237755"/>
                  <a:ext cx="3144844" cy="290352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1600" b="1" dirty="0"/>
                    <a:t>예제 </a:t>
                  </a:r>
                  <a:r>
                    <a:rPr lang="en-US" altLang="ko-KR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5-7</a:t>
                  </a:r>
                  <a:r>
                    <a:rPr lang="ko-KR" altLang="en-US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 손실충당금의 추정과 설정</a:t>
                  </a:r>
                  <a:endParaRPr lang="ko-KR" altLang="en-US" sz="1600" b="1" dirty="0"/>
                </a:p>
              </p:txBody>
            </p:sp>
            <p:sp>
              <p:nvSpPr>
                <p:cNvPr id="13" name="타원 12"/>
                <p:cNvSpPr/>
                <p:nvPr/>
              </p:nvSpPr>
              <p:spPr>
                <a:xfrm>
                  <a:off x="427833" y="2256153"/>
                  <a:ext cx="253549" cy="25354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pic>
            <p:nvPicPr>
              <p:cNvPr id="9" name="그림 8" descr="Log in | Sign Up Upload Clipart"/>
              <p:cNvPicPr>
                <a:picLocks noChangeAspect="1"/>
              </p:cNvPicPr>
              <p:nvPr/>
            </p:nvPicPr>
            <p:blipFill>
              <a:blip r:embed="rId2" cstate="email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265229" y="1359640"/>
                <a:ext cx="147147" cy="229618"/>
              </a:xfrm>
              <a:prstGeom prst="rect">
                <a:avLst/>
              </a:prstGeom>
            </p:spPr>
          </p:pic>
        </p:grpSp>
      </p:grp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18</a:t>
            </a:fld>
            <a:endParaRPr lang="ko-KR" altLang="en-US" dirty="0"/>
          </a:p>
        </p:txBody>
      </p:sp>
      <p:sp>
        <p:nvSpPr>
          <p:cNvPr id="22" name="Rectangle 12"/>
          <p:cNvSpPr>
            <a:spLocks noChangeArrowheads="1"/>
          </p:cNvSpPr>
          <p:nvPr/>
        </p:nvSpPr>
        <p:spPr bwMode="auto">
          <a:xfrm>
            <a:off x="446338" y="1564811"/>
            <a:ext cx="8013449" cy="2736850"/>
          </a:xfrm>
          <a:prstGeom prst="rect">
            <a:avLst/>
          </a:prstGeom>
          <a:noFill/>
          <a:ln>
            <a:noFill/>
          </a:ln>
        </p:spPr>
        <p:txBody>
          <a:bodyPr lIns="99477" tIns="49735" rIns="99477" bIns="49735"/>
          <a:lstStyle>
            <a:lvl1pPr algn="l" defTabSz="995363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 defTabSz="995363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 defTabSz="995363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 defTabSz="995363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 defTabSz="995363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95363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5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③ ㈜</a:t>
            </a:r>
            <a:r>
              <a:rPr kumimoji="0" lang="ko-KR" altLang="en-US" sz="150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덕송은</a:t>
            </a:r>
            <a:r>
              <a:rPr kumimoji="0" lang="ko-KR" altLang="en-US" sz="15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 기대신용손실을 추정하기 위해 연령분석법을 사용하고 있다</a:t>
            </a:r>
            <a:r>
              <a:rPr kumimoji="0" lang="en-US" altLang="ko-KR" sz="15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. </a:t>
            </a:r>
          </a:p>
          <a:p>
            <a:pPr marL="0" marR="0" lvl="0" indent="0" algn="l" defTabSz="995363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5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</a:endParaRPr>
          </a:p>
          <a:p>
            <a:pPr marL="0" marR="0" lvl="0" indent="0" algn="ctr" defTabSz="995363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5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&lt;(</a:t>
            </a:r>
            <a:r>
              <a:rPr kumimoji="0" lang="ko-KR" altLang="en-US" sz="15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주</a:t>
            </a:r>
            <a:r>
              <a:rPr kumimoji="0" lang="en-US" altLang="ko-KR" sz="15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)</a:t>
            </a:r>
            <a:r>
              <a:rPr kumimoji="0" lang="ko-KR" altLang="en-US" sz="150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덕송의</a:t>
            </a:r>
            <a:r>
              <a:rPr kumimoji="0" lang="ko-KR" altLang="en-US" sz="15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 </a:t>
            </a:r>
            <a:r>
              <a:rPr kumimoji="0" lang="ko-KR" altLang="en-US" sz="150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경과기간별</a:t>
            </a:r>
            <a:r>
              <a:rPr kumimoji="0" lang="ko-KR" altLang="en-US" sz="15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 미회수율 예상</a:t>
            </a:r>
            <a:r>
              <a:rPr kumimoji="0" lang="en-US" altLang="ko-KR" sz="15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&gt;</a:t>
            </a:r>
          </a:p>
        </p:txBody>
      </p:sp>
      <p:sp>
        <p:nvSpPr>
          <p:cNvPr id="24" name="Rectangle 12"/>
          <p:cNvSpPr>
            <a:spLocks noChangeArrowheads="1"/>
          </p:cNvSpPr>
          <p:nvPr/>
        </p:nvSpPr>
        <p:spPr bwMode="auto">
          <a:xfrm>
            <a:off x="526636" y="4215583"/>
            <a:ext cx="7775575" cy="1871663"/>
          </a:xfrm>
          <a:prstGeom prst="rect">
            <a:avLst/>
          </a:prstGeom>
          <a:noFill/>
          <a:ln>
            <a:noFill/>
          </a:ln>
        </p:spPr>
        <p:txBody>
          <a:bodyPr lIns="99477" tIns="49735" rIns="99477" bIns="49735"/>
          <a:lstStyle>
            <a:lvl1pPr algn="l" defTabSz="995363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 defTabSz="995363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 defTabSz="995363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 defTabSz="995363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 defTabSz="995363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95363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5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      </a:t>
            </a:r>
            <a:r>
              <a:rPr lang="ko-KR" altLang="en-US" sz="1500" b="1" kern="0" dirty="0">
                <a:latin typeface="맑은 고딕" panose="020B0503020000020004" pitchFamily="50" charset="-127"/>
              </a:rPr>
              <a:t>손실</a:t>
            </a:r>
            <a:r>
              <a:rPr kumimoji="0" lang="ko-KR" altLang="en-US" sz="15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충당금의 기말잔액</a:t>
            </a:r>
          </a:p>
        </p:txBody>
      </p:sp>
      <p:graphicFrame>
        <p:nvGraphicFramePr>
          <p:cNvPr id="17" name="표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4151669"/>
              </p:ext>
            </p:extLst>
          </p:nvPr>
        </p:nvGraphicFramePr>
        <p:xfrm>
          <a:off x="2149758" y="2422103"/>
          <a:ext cx="4699097" cy="1403625"/>
        </p:xfrm>
        <a:graphic>
          <a:graphicData uri="http://schemas.openxmlformats.org/drawingml/2006/table">
            <a:tbl>
              <a:tblPr>
                <a:tableStyleId>{B301B821-A1FF-4177-AEE7-76D212191A09}</a:tableStyleId>
              </a:tblPr>
              <a:tblGrid>
                <a:gridCol w="2506185">
                  <a:extLst>
                    <a:ext uri="{9D8B030D-6E8A-4147-A177-3AD203B41FA5}">
                      <a16:colId xmlns="" xmlns:a16="http://schemas.microsoft.com/office/drawing/2014/main" val="1249575751"/>
                    </a:ext>
                  </a:extLst>
                </a:gridCol>
                <a:gridCol w="2192912">
                  <a:extLst>
                    <a:ext uri="{9D8B030D-6E8A-4147-A177-3AD203B41FA5}">
                      <a16:colId xmlns="" xmlns:a16="http://schemas.microsoft.com/office/drawing/2014/main" val="766194299"/>
                    </a:ext>
                  </a:extLst>
                </a:gridCol>
              </a:tblGrid>
              <a:tr h="28072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1" u="none" strike="noStrike" dirty="0">
                          <a:effectLst/>
                        </a:rPr>
                        <a:t>매출채권의 경과기간</a:t>
                      </a:r>
                      <a:endParaRPr lang="ko-KR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1" u="none" strike="noStrike" dirty="0">
                          <a:effectLst/>
                        </a:rPr>
                        <a:t>예상 미회수율</a:t>
                      </a:r>
                      <a:endParaRPr lang="ko-KR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909493728"/>
                  </a:ext>
                </a:extLst>
              </a:tr>
              <a:tr h="28072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u="none" strike="noStrike">
                          <a:effectLst/>
                        </a:rPr>
                        <a:t>30</a:t>
                      </a:r>
                      <a:r>
                        <a:rPr lang="ko-KR" altLang="en-US" sz="1400" u="none" strike="noStrike">
                          <a:effectLst/>
                        </a:rPr>
                        <a:t>일 이내인 매출채권</a:t>
                      </a:r>
                      <a:endParaRPr lang="ko-KR" alt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u="none" strike="noStrike" dirty="0">
                          <a:effectLst/>
                        </a:rPr>
                        <a:t> 5%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="" xmlns:a16="http://schemas.microsoft.com/office/drawing/2014/main" val="1768976557"/>
                  </a:ext>
                </a:extLst>
              </a:tr>
              <a:tr h="28072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u="none" strike="noStrike">
                          <a:effectLst/>
                        </a:rPr>
                        <a:t>31</a:t>
                      </a:r>
                      <a:r>
                        <a:rPr lang="ko-KR" altLang="en-US" sz="1400" u="none" strike="noStrike">
                          <a:effectLst/>
                        </a:rPr>
                        <a:t>～</a:t>
                      </a:r>
                      <a:r>
                        <a:rPr lang="en-US" altLang="ko-KR" sz="1400" u="none" strike="noStrike">
                          <a:effectLst/>
                        </a:rPr>
                        <a:t>90</a:t>
                      </a:r>
                      <a:r>
                        <a:rPr lang="ko-KR" altLang="en-US" sz="1400" u="none" strike="noStrike">
                          <a:effectLst/>
                        </a:rPr>
                        <a:t>일인 매출채권</a:t>
                      </a:r>
                      <a:endParaRPr lang="ko-KR" alt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u="none" strike="noStrike">
                          <a:effectLst/>
                        </a:rPr>
                        <a:t>10%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="" xmlns:a16="http://schemas.microsoft.com/office/drawing/2014/main" val="255328546"/>
                  </a:ext>
                </a:extLst>
              </a:tr>
              <a:tr h="28072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u="none" strike="noStrike">
                          <a:effectLst/>
                        </a:rPr>
                        <a:t>91</a:t>
                      </a:r>
                      <a:r>
                        <a:rPr lang="ko-KR" altLang="en-US" sz="1400" u="none" strike="noStrike">
                          <a:effectLst/>
                        </a:rPr>
                        <a:t>～</a:t>
                      </a:r>
                      <a:r>
                        <a:rPr lang="en-US" altLang="ko-KR" sz="1400" u="none" strike="noStrike">
                          <a:effectLst/>
                        </a:rPr>
                        <a:t>120</a:t>
                      </a:r>
                      <a:r>
                        <a:rPr lang="ko-KR" altLang="en-US" sz="1400" u="none" strike="noStrike">
                          <a:effectLst/>
                        </a:rPr>
                        <a:t>일인 매출채권</a:t>
                      </a:r>
                      <a:endParaRPr lang="ko-KR" alt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u="none" strike="noStrike">
                          <a:effectLst/>
                        </a:rPr>
                        <a:t>25%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="" xmlns:a16="http://schemas.microsoft.com/office/drawing/2014/main" val="3844459401"/>
                  </a:ext>
                </a:extLst>
              </a:tr>
              <a:tr h="28072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u="none" strike="noStrike" dirty="0">
                          <a:effectLst/>
                        </a:rPr>
                        <a:t>121</a:t>
                      </a:r>
                      <a:r>
                        <a:rPr lang="ko-KR" altLang="en-US" sz="1400" u="none" strike="noStrike" dirty="0">
                          <a:effectLst/>
                        </a:rPr>
                        <a:t>일 이상인 매출채권</a:t>
                      </a:r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u="none" strike="noStrike" dirty="0">
                          <a:effectLst/>
                        </a:rPr>
                        <a:t>50%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="" xmlns:a16="http://schemas.microsoft.com/office/drawing/2014/main" val="2429057268"/>
                  </a:ext>
                </a:extLst>
              </a:tr>
            </a:tbl>
          </a:graphicData>
        </a:graphic>
      </p:graphicFrame>
      <p:graphicFrame>
        <p:nvGraphicFramePr>
          <p:cNvPr id="26" name="표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3439053"/>
              </p:ext>
            </p:extLst>
          </p:nvPr>
        </p:nvGraphicFramePr>
        <p:xfrm>
          <a:off x="3267460" y="4581524"/>
          <a:ext cx="5410200" cy="1323975"/>
        </p:xfrm>
        <a:graphic>
          <a:graphicData uri="http://schemas.openxmlformats.org/drawingml/2006/table">
            <a:tbl>
              <a:tblPr firstCol="1">
                <a:tableStyleId>{B301B821-A1FF-4177-AEE7-76D212191A09}</a:tableStyleId>
              </a:tblPr>
              <a:tblGrid>
                <a:gridCol w="1544909">
                  <a:extLst>
                    <a:ext uri="{9D8B030D-6E8A-4147-A177-3AD203B41FA5}">
                      <a16:colId xmlns="" xmlns:a16="http://schemas.microsoft.com/office/drawing/2014/main" val="1199965960"/>
                    </a:ext>
                  </a:extLst>
                </a:gridCol>
                <a:gridCol w="1351796">
                  <a:extLst>
                    <a:ext uri="{9D8B030D-6E8A-4147-A177-3AD203B41FA5}">
                      <a16:colId xmlns="" xmlns:a16="http://schemas.microsoft.com/office/drawing/2014/main" val="264094891"/>
                    </a:ext>
                  </a:extLst>
                </a:gridCol>
                <a:gridCol w="1255239">
                  <a:extLst>
                    <a:ext uri="{9D8B030D-6E8A-4147-A177-3AD203B41FA5}">
                      <a16:colId xmlns="" xmlns:a16="http://schemas.microsoft.com/office/drawing/2014/main" val="3945907110"/>
                    </a:ext>
                  </a:extLst>
                </a:gridCol>
                <a:gridCol w="1258256">
                  <a:extLst>
                    <a:ext uri="{9D8B030D-6E8A-4147-A177-3AD203B41FA5}">
                      <a16:colId xmlns="" xmlns:a16="http://schemas.microsoft.com/office/drawing/2014/main" val="3842701134"/>
                    </a:ext>
                  </a:extLst>
                </a:gridCol>
              </a:tblGrid>
              <a:tr h="257175"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400" u="none" strike="noStrike" dirty="0">
                          <a:effectLst/>
                        </a:rPr>
                        <a:t>매출채권의 </a:t>
                      </a:r>
                      <a:endParaRPr lang="en-US" altLang="ko-KR" sz="1400" u="none" strike="noStrike" dirty="0">
                        <a:effectLst/>
                      </a:endParaRPr>
                    </a:p>
                    <a:p>
                      <a:pPr algn="ctr" rtl="0" fontAlgn="ctr"/>
                      <a:r>
                        <a:rPr lang="ko-KR" altLang="en-US" sz="1400" u="none" strike="noStrike" dirty="0">
                          <a:effectLst/>
                        </a:rPr>
                        <a:t>경과기간</a:t>
                      </a:r>
                      <a:endParaRPr lang="ko-KR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400" u="none" strike="noStrike" dirty="0">
                          <a:effectLst/>
                        </a:rPr>
                        <a:t>매출채권액</a:t>
                      </a:r>
                      <a:endParaRPr lang="ko-KR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400" u="none" strike="noStrike" dirty="0" err="1">
                          <a:effectLst/>
                        </a:rPr>
                        <a:t>손상추정률</a:t>
                      </a:r>
                      <a:endParaRPr lang="ko-KR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400" u="none" strike="noStrike" dirty="0">
                          <a:effectLst/>
                        </a:rPr>
                        <a:t>손상추정액</a:t>
                      </a:r>
                      <a:endParaRPr lang="ko-KR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795539372"/>
                  </a:ext>
                </a:extLst>
              </a:tr>
              <a:tr h="25717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(A)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 dirty="0">
                          <a:effectLst/>
                        </a:rPr>
                        <a:t>(B)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 dirty="0">
                          <a:effectLst/>
                        </a:rPr>
                        <a:t>(A×B)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776699624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400" u="none" strike="noStrike" dirty="0">
                          <a:effectLst/>
                        </a:rPr>
                        <a:t>30</a:t>
                      </a:r>
                      <a:r>
                        <a:rPr lang="ko-KR" altLang="en-US" sz="1400" u="none" strike="noStrike" dirty="0">
                          <a:effectLst/>
                        </a:rPr>
                        <a:t>일 이내</a:t>
                      </a:r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400" u="none" strike="noStrike">
                          <a:effectLst/>
                        </a:rPr>
                        <a:t>₩</a:t>
                      </a:r>
                      <a:r>
                        <a:rPr lang="en-US" altLang="ko-KR" sz="1400" u="none" strike="noStrike">
                          <a:effectLst/>
                        </a:rPr>
                        <a:t>500,000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400" u="none" strike="noStrike" dirty="0">
                          <a:effectLst/>
                        </a:rPr>
                        <a:t>  5%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400" u="none" strike="noStrike" dirty="0">
                          <a:effectLst/>
                        </a:rPr>
                        <a:t>₩</a:t>
                      </a:r>
                      <a:r>
                        <a:rPr lang="en-US" altLang="ko-KR" sz="1400" u="none" strike="noStrike" dirty="0">
                          <a:effectLst/>
                        </a:rPr>
                        <a:t>25,000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="" xmlns:a16="http://schemas.microsoft.com/office/drawing/2014/main" val="290535903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400" u="none" strike="noStrike">
                          <a:effectLst/>
                        </a:rPr>
                        <a:t>121</a:t>
                      </a:r>
                      <a:r>
                        <a:rPr lang="ko-KR" altLang="en-US" sz="1400" u="none" strike="noStrike">
                          <a:effectLst/>
                        </a:rPr>
                        <a:t>일 이상</a:t>
                      </a:r>
                      <a:endParaRPr lang="ko-KR" alt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400" u="none" strike="noStrike" dirty="0">
                          <a:effectLst/>
                        </a:rPr>
                        <a:t>    600,000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400" u="none" strike="noStrike">
                          <a:effectLst/>
                        </a:rPr>
                        <a:t>50%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400" u="none" strike="noStrike" dirty="0">
                          <a:effectLst/>
                        </a:rPr>
                        <a:t>  300,000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="" xmlns:a16="http://schemas.microsoft.com/office/drawing/2014/main" val="1898286977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400" u="none" strike="noStrike">
                          <a:effectLst/>
                        </a:rPr>
                        <a:t>합계</a:t>
                      </a:r>
                      <a:endParaRPr lang="ko-KR" alt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400" u="none" strike="noStrike" dirty="0">
                          <a:effectLst/>
                        </a:rPr>
                        <a:t> </a:t>
                      </a:r>
                      <a:r>
                        <a:rPr lang="ko-KR" altLang="en-US" sz="1200" u="none" strike="noStrike" dirty="0">
                          <a:effectLst/>
                        </a:rPr>
                        <a:t> </a:t>
                      </a:r>
                      <a:r>
                        <a:rPr lang="ko-KR" altLang="en-US" sz="1050" u="none" strike="noStrike" dirty="0">
                          <a:effectLst/>
                        </a:rPr>
                        <a:t>  </a:t>
                      </a:r>
                      <a:r>
                        <a:rPr lang="ko-KR" altLang="en-US" sz="1200" u="none" strike="noStrike" dirty="0">
                          <a:effectLst/>
                        </a:rPr>
                        <a:t> </a:t>
                      </a:r>
                      <a:r>
                        <a:rPr lang="ko-KR" altLang="en-US" sz="1400" u="none" strike="noStrike" dirty="0">
                          <a:effectLst/>
                        </a:rPr>
                        <a:t>₩</a:t>
                      </a:r>
                      <a:r>
                        <a:rPr lang="en-US" altLang="ko-KR" sz="1400" u="none" strike="noStrike" dirty="0">
                          <a:effectLst/>
                        </a:rPr>
                        <a:t>1,100,000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u="none" strike="noStrike">
                          <a:effectLst/>
                        </a:rPr>
                        <a:t>　</a:t>
                      </a: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400" u="none" strike="noStrike" dirty="0">
                          <a:effectLst/>
                        </a:rPr>
                        <a:t>  </a:t>
                      </a:r>
                      <a:r>
                        <a:rPr lang="ko-KR" altLang="en-US" sz="1100" u="none" strike="noStrike" dirty="0">
                          <a:effectLst/>
                        </a:rPr>
                        <a:t>   </a:t>
                      </a:r>
                      <a:r>
                        <a:rPr lang="ko-KR" altLang="en-US" sz="1400" u="none" strike="noStrike" dirty="0">
                          <a:effectLst/>
                        </a:rPr>
                        <a:t> ₩</a:t>
                      </a:r>
                      <a:r>
                        <a:rPr lang="en-US" altLang="ko-KR" sz="1400" u="none" strike="noStrike" dirty="0">
                          <a:effectLst/>
                        </a:rPr>
                        <a:t>325,000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="" xmlns:a16="http://schemas.microsoft.com/office/drawing/2014/main" val="4156243139"/>
                  </a:ext>
                </a:extLst>
              </a:tr>
            </a:tbl>
          </a:graphicData>
        </a:graphic>
      </p:graphicFrame>
      <p:graphicFrame>
        <p:nvGraphicFramePr>
          <p:cNvPr id="29" name="표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3864579"/>
              </p:ext>
            </p:extLst>
          </p:nvPr>
        </p:nvGraphicFramePr>
        <p:xfrm>
          <a:off x="509346" y="4874503"/>
          <a:ext cx="2217006" cy="936922"/>
        </p:xfrm>
        <a:graphic>
          <a:graphicData uri="http://schemas.openxmlformats.org/drawingml/2006/table">
            <a:tbl>
              <a:tblPr/>
              <a:tblGrid>
                <a:gridCol w="1182403">
                  <a:extLst>
                    <a:ext uri="{9D8B030D-6E8A-4147-A177-3AD203B41FA5}">
                      <a16:colId xmlns="" xmlns:a16="http://schemas.microsoft.com/office/drawing/2014/main" val="800349277"/>
                    </a:ext>
                  </a:extLst>
                </a:gridCol>
                <a:gridCol w="1034603">
                  <a:extLst>
                    <a:ext uri="{9D8B030D-6E8A-4147-A177-3AD203B41FA5}">
                      <a16:colId xmlns="" xmlns:a16="http://schemas.microsoft.com/office/drawing/2014/main" val="1067218272"/>
                    </a:ext>
                  </a:extLst>
                </a:gridCol>
              </a:tblGrid>
              <a:tr h="154005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외상매출금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6857535"/>
                  </a:ext>
                </a:extLst>
              </a:tr>
              <a:tr h="268267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 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600,000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2809507050"/>
                  </a:ext>
                </a:extLst>
              </a:tr>
              <a:tr h="15400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</a:t>
                      </a: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 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500,000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926273854"/>
                  </a:ext>
                </a:extLst>
              </a:tr>
              <a:tr h="15400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잔액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₩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1,100,000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3261489195"/>
                  </a:ext>
                </a:extLst>
              </a:tr>
            </a:tbl>
          </a:graphicData>
        </a:graphic>
      </p:graphicFrame>
      <p:sp>
        <p:nvSpPr>
          <p:cNvPr id="30" name="오른쪽 화살표 29"/>
          <p:cNvSpPr/>
          <p:nvPr/>
        </p:nvSpPr>
        <p:spPr>
          <a:xfrm>
            <a:off x="2837836" y="4954446"/>
            <a:ext cx="340136" cy="774484"/>
          </a:xfrm>
          <a:prstGeom prst="rightArrow">
            <a:avLst/>
          </a:prstGeom>
          <a:solidFill>
            <a:srgbClr val="2D61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타원 30"/>
          <p:cNvSpPr/>
          <p:nvPr/>
        </p:nvSpPr>
        <p:spPr>
          <a:xfrm>
            <a:off x="3346174" y="5107691"/>
            <a:ext cx="225668" cy="225668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ko-KR" alt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타원 31"/>
          <p:cNvSpPr/>
          <p:nvPr/>
        </p:nvSpPr>
        <p:spPr>
          <a:xfrm>
            <a:off x="3346174" y="5381925"/>
            <a:ext cx="225668" cy="225668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ko-KR" alt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타원 32"/>
          <p:cNvSpPr/>
          <p:nvPr/>
        </p:nvSpPr>
        <p:spPr>
          <a:xfrm>
            <a:off x="519323" y="5364548"/>
            <a:ext cx="225668" cy="225668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ko-KR" alt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타원 33"/>
          <p:cNvSpPr/>
          <p:nvPr/>
        </p:nvSpPr>
        <p:spPr>
          <a:xfrm>
            <a:off x="519323" y="5107002"/>
            <a:ext cx="225668" cy="225668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ko-KR" alt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95330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/>
          <p:cNvGrpSpPr/>
          <p:nvPr/>
        </p:nvGrpSpPr>
        <p:grpSpPr>
          <a:xfrm>
            <a:off x="187213" y="1098616"/>
            <a:ext cx="8711460" cy="5421056"/>
            <a:chOff x="190714" y="1320886"/>
            <a:chExt cx="8711460" cy="5421056"/>
          </a:xfrm>
        </p:grpSpPr>
        <p:grpSp>
          <p:nvGrpSpPr>
            <p:cNvPr id="6" name="그룹 5"/>
            <p:cNvGrpSpPr/>
            <p:nvPr/>
          </p:nvGrpSpPr>
          <p:grpSpPr>
            <a:xfrm>
              <a:off x="361935" y="1461499"/>
              <a:ext cx="8540239" cy="5280443"/>
              <a:chOff x="269048" y="1722741"/>
              <a:chExt cx="8648775" cy="5280443"/>
            </a:xfrm>
          </p:grpSpPr>
          <p:sp>
            <p:nvSpPr>
              <p:cNvPr id="14" name="Rectangle 15"/>
              <p:cNvSpPr>
                <a:spLocks noChangeArrowheads="1"/>
              </p:cNvSpPr>
              <p:nvPr/>
            </p:nvSpPr>
            <p:spPr bwMode="auto">
              <a:xfrm>
                <a:off x="269048" y="1746440"/>
                <a:ext cx="8641369" cy="5256744"/>
              </a:xfrm>
              <a:prstGeom prst="foldedCorner">
                <a:avLst>
                  <a:gd name="adj" fmla="val 5125"/>
                </a:avLst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txBody>
              <a:bodyPr lIns="74608" tIns="37301" rIns="74608" bIns="37301" anchor="ctr"/>
              <a:lstStyle>
                <a:lvl1pPr algn="l" defTabSz="995363">
                  <a:spcBef>
                    <a:spcPct val="20000"/>
                  </a:spcBef>
                  <a:buClr>
                    <a:schemeClr val="tx2"/>
                  </a:buClr>
                  <a:buSzPct val="115000"/>
                  <a:buFont typeface="Wingdings" panose="05000000000000000000" pitchFamily="2" charset="2"/>
                  <a:buChar char="§"/>
                  <a:defRPr sz="28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 algn="l" defTabSz="995363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 algn="l" defTabSz="995363">
                  <a:spcBef>
                    <a:spcPct val="20000"/>
                  </a:spcBef>
                  <a:buChar char="•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 algn="l" defTabSz="995363">
                  <a:spcBef>
                    <a:spcPct val="20000"/>
                  </a:spcBef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 algn="l" defTabSz="995363">
                  <a:spcBef>
                    <a:spcPct val="20000"/>
                  </a:spcBef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ko-KR" altLang="en-US" sz="1400" dirty="0"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15" name="직사각형 14"/>
              <p:cNvSpPr/>
              <p:nvPr/>
            </p:nvSpPr>
            <p:spPr>
              <a:xfrm>
                <a:off x="277823" y="1722741"/>
                <a:ext cx="8640000" cy="45719"/>
              </a:xfrm>
              <a:prstGeom prst="rect">
                <a:avLst/>
              </a:prstGeom>
              <a:solidFill>
                <a:srgbClr val="2D61C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7" name="그룹 6"/>
            <p:cNvGrpSpPr/>
            <p:nvPr/>
          </p:nvGrpSpPr>
          <p:grpSpPr>
            <a:xfrm>
              <a:off x="190714" y="1320886"/>
              <a:ext cx="4041013" cy="326952"/>
              <a:chOff x="190714" y="1320889"/>
              <a:chExt cx="3456780" cy="290354"/>
            </a:xfrm>
            <a:solidFill>
              <a:srgbClr val="2D61C8"/>
            </a:solidFill>
          </p:grpSpPr>
          <p:grpSp>
            <p:nvGrpSpPr>
              <p:cNvPr id="8" name="그룹 7"/>
              <p:cNvGrpSpPr/>
              <p:nvPr/>
            </p:nvGrpSpPr>
            <p:grpSpPr>
              <a:xfrm>
                <a:off x="190714" y="1320889"/>
                <a:ext cx="3456780" cy="290354"/>
                <a:chOff x="405822" y="2237753"/>
                <a:chExt cx="3456780" cy="290354"/>
              </a:xfrm>
              <a:grpFill/>
            </p:grpSpPr>
            <p:sp>
              <p:nvSpPr>
                <p:cNvPr id="10" name="타원 9"/>
                <p:cNvSpPr/>
                <p:nvPr/>
              </p:nvSpPr>
              <p:spPr>
                <a:xfrm>
                  <a:off x="405822" y="2237753"/>
                  <a:ext cx="290351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1" name="타원 10"/>
                <p:cNvSpPr/>
                <p:nvPr/>
              </p:nvSpPr>
              <p:spPr>
                <a:xfrm>
                  <a:off x="3572251" y="2237753"/>
                  <a:ext cx="290351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2" name="직사각형 11"/>
                <p:cNvSpPr/>
                <p:nvPr/>
              </p:nvSpPr>
              <p:spPr>
                <a:xfrm>
                  <a:off x="542512" y="2237755"/>
                  <a:ext cx="3144844" cy="290352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1600" b="1" dirty="0"/>
                    <a:t>예제 </a:t>
                  </a:r>
                  <a:r>
                    <a:rPr lang="en-US" altLang="ko-KR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5-7</a:t>
                  </a:r>
                  <a:r>
                    <a:rPr lang="ko-KR" altLang="en-US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 손실충당금의 추정과 설정</a:t>
                  </a:r>
                  <a:endParaRPr lang="ko-KR" altLang="en-US" sz="1600" b="1" dirty="0"/>
                </a:p>
              </p:txBody>
            </p:sp>
            <p:sp>
              <p:nvSpPr>
                <p:cNvPr id="13" name="타원 12"/>
                <p:cNvSpPr/>
                <p:nvPr/>
              </p:nvSpPr>
              <p:spPr>
                <a:xfrm>
                  <a:off x="427833" y="2256153"/>
                  <a:ext cx="253549" cy="25354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pic>
            <p:nvPicPr>
              <p:cNvPr id="9" name="그림 8" descr="Log in | Sign Up Upload Clipart"/>
              <p:cNvPicPr>
                <a:picLocks noChangeAspect="1"/>
              </p:cNvPicPr>
              <p:nvPr/>
            </p:nvPicPr>
            <p:blipFill>
              <a:blip r:embed="rId2" cstate="email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265229" y="1359640"/>
                <a:ext cx="147147" cy="229618"/>
              </a:xfrm>
              <a:prstGeom prst="rect">
                <a:avLst/>
              </a:prstGeom>
            </p:spPr>
          </p:pic>
        </p:grpSp>
      </p:grp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z="1400" smtClean="0"/>
              <a:pPr/>
              <a:t>19</a:t>
            </a:fld>
            <a:endParaRPr lang="ko-KR" altLang="en-US" sz="1400" dirty="0"/>
          </a:p>
        </p:txBody>
      </p:sp>
      <p:sp>
        <p:nvSpPr>
          <p:cNvPr id="38" name="Rectangle 12"/>
          <p:cNvSpPr>
            <a:spLocks noChangeArrowheads="1"/>
          </p:cNvSpPr>
          <p:nvPr/>
        </p:nvSpPr>
        <p:spPr bwMode="auto">
          <a:xfrm>
            <a:off x="446338" y="1531121"/>
            <a:ext cx="8274753" cy="865187"/>
          </a:xfrm>
          <a:prstGeom prst="rect">
            <a:avLst/>
          </a:prstGeom>
          <a:noFill/>
          <a:ln>
            <a:noFill/>
          </a:ln>
        </p:spPr>
        <p:txBody>
          <a:bodyPr lIns="99477" tIns="49735" rIns="99477" bIns="49735"/>
          <a:lstStyle>
            <a:lvl1pPr algn="l" defTabSz="995363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 defTabSz="995363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 defTabSz="995363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 defTabSz="995363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 defTabSz="995363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95363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손실추정액이 ￦</a:t>
            </a:r>
            <a:r>
              <a:rPr kumimoji="0" lang="en-US" altLang="ko-KR" sz="1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325,000</a:t>
            </a:r>
            <a:r>
              <a:rPr kumimoji="0" lang="ko-KR" altLang="en-US" sz="1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이므로 손실충당금을 </a:t>
            </a:r>
            <a:r>
              <a:rPr kumimoji="0" lang="ko-KR" altLang="en-US" sz="140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설정</a:t>
            </a:r>
            <a:r>
              <a:rPr kumimoji="0" lang="en-US" altLang="ko-KR" sz="140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 </a:t>
            </a:r>
            <a:endParaRPr kumimoji="0" lang="en-US" altLang="ko-KR" sz="14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</a:endParaRPr>
          </a:p>
        </p:txBody>
      </p:sp>
      <p:sp>
        <p:nvSpPr>
          <p:cNvPr id="39" name="Rectangle 12"/>
          <p:cNvSpPr>
            <a:spLocks noChangeArrowheads="1"/>
          </p:cNvSpPr>
          <p:nvPr/>
        </p:nvSpPr>
        <p:spPr bwMode="auto">
          <a:xfrm>
            <a:off x="1032886" y="2144937"/>
            <a:ext cx="7200000" cy="32935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txBody>
          <a:bodyPr lIns="99477" tIns="49735" rIns="99477" bIns="49735" anchor="ctr"/>
          <a:lstStyle/>
          <a:p>
            <a:pPr defTabSz="995363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4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       (</a:t>
            </a:r>
            <a:r>
              <a:rPr lang="ko-KR" altLang="en-US" sz="14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차</a:t>
            </a:r>
            <a:r>
              <a:rPr lang="en-US" altLang="ko-KR" sz="14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) </a:t>
            </a:r>
            <a:r>
              <a:rPr lang="ko-KR" altLang="en-US" sz="1400" b="1" kern="0" dirty="0" err="1">
                <a:solidFill>
                  <a:srgbClr val="000000"/>
                </a:solidFill>
                <a:latin typeface="맑은 고딕" panose="020B0503020000020004" pitchFamily="50" charset="-127"/>
              </a:rPr>
              <a:t>매출채권손상차손</a:t>
            </a:r>
            <a:r>
              <a:rPr lang="ko-KR" altLang="en-US" sz="14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   </a:t>
            </a:r>
            <a:r>
              <a:rPr lang="en-US" altLang="ko-KR" sz="14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325,000             (</a:t>
            </a:r>
            <a:r>
              <a:rPr lang="ko-KR" altLang="en-US" sz="14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대</a:t>
            </a:r>
            <a:r>
              <a:rPr lang="en-US" altLang="ko-KR" sz="14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) </a:t>
            </a:r>
            <a:r>
              <a:rPr lang="ko-KR" altLang="en-US" sz="14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손실충당금             </a:t>
            </a:r>
            <a:r>
              <a:rPr lang="en-US" altLang="ko-KR" sz="14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325,000</a:t>
            </a:r>
          </a:p>
        </p:txBody>
      </p:sp>
      <p:sp>
        <p:nvSpPr>
          <p:cNvPr id="40" name="Rectangle 12"/>
          <p:cNvSpPr>
            <a:spLocks noChangeArrowheads="1"/>
          </p:cNvSpPr>
          <p:nvPr/>
        </p:nvSpPr>
        <p:spPr bwMode="auto">
          <a:xfrm>
            <a:off x="446339" y="2683646"/>
            <a:ext cx="8274752" cy="1655762"/>
          </a:xfrm>
          <a:prstGeom prst="rect">
            <a:avLst/>
          </a:prstGeom>
          <a:noFill/>
          <a:ln>
            <a:noFill/>
          </a:ln>
        </p:spPr>
        <p:txBody>
          <a:bodyPr lIns="99477" tIns="49735" rIns="99477" bIns="49735"/>
          <a:lstStyle>
            <a:lvl1pPr algn="l" defTabSz="995363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 defTabSz="995363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 defTabSz="995363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 defTabSz="995363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 defTabSz="995363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95363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      </a:t>
            </a: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9840958"/>
              </p:ext>
            </p:extLst>
          </p:nvPr>
        </p:nvGraphicFramePr>
        <p:xfrm>
          <a:off x="4583714" y="2894512"/>
          <a:ext cx="3501271" cy="1114425"/>
        </p:xfrm>
        <a:graphic>
          <a:graphicData uri="http://schemas.openxmlformats.org/drawingml/2006/table">
            <a:tbl>
              <a:tblPr/>
              <a:tblGrid>
                <a:gridCol w="1867345">
                  <a:extLst>
                    <a:ext uri="{9D8B030D-6E8A-4147-A177-3AD203B41FA5}">
                      <a16:colId xmlns="" xmlns:a16="http://schemas.microsoft.com/office/drawing/2014/main" val="162938245"/>
                    </a:ext>
                  </a:extLst>
                </a:gridCol>
                <a:gridCol w="1633926">
                  <a:extLst>
                    <a:ext uri="{9D8B030D-6E8A-4147-A177-3AD203B41FA5}">
                      <a16:colId xmlns="" xmlns:a16="http://schemas.microsoft.com/office/drawing/2014/main" val="3191722357"/>
                    </a:ext>
                  </a:extLst>
                </a:gridCol>
              </a:tblGrid>
              <a:tr h="144518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부분재무상태표</a:t>
                      </a:r>
                      <a:r>
                        <a:rPr lang="en-US" altLang="ko-K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(20×1</a:t>
                      </a:r>
                      <a:r>
                        <a:rPr lang="ko-KR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 </a:t>
                      </a:r>
                      <a:r>
                        <a:rPr lang="en-US" altLang="ko-K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</a:t>
                      </a:r>
                      <a:r>
                        <a:rPr lang="ko-KR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 </a:t>
                      </a:r>
                      <a:r>
                        <a:rPr lang="en-US" altLang="ko-K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31</a:t>
                      </a:r>
                      <a:r>
                        <a:rPr lang="ko-KR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</a:t>
                      </a:r>
                      <a:r>
                        <a:rPr lang="en-US" altLang="ko-K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4009294205"/>
                  </a:ext>
                </a:extLst>
              </a:tr>
              <a:tr h="144518">
                <a:tc>
                  <a:txBody>
                    <a:bodyPr/>
                    <a:lstStyle/>
                    <a:p>
                      <a:pPr algn="just" rtl="0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유동자산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4078543325"/>
                  </a:ext>
                </a:extLst>
              </a:tr>
              <a:tr h="144518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매출채권</a:t>
                      </a:r>
                    </a:p>
                  </a:txBody>
                  <a:tcPr marL="285750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   ₩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1,100,000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3224314552"/>
                  </a:ext>
                </a:extLst>
              </a:tr>
              <a:tr h="144518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400" b="0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손실충당금</a:t>
                      </a:r>
                    </a:p>
                  </a:txBody>
                  <a:tcPr marL="285750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400" b="0" i="0" u="sng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(325,000)</a:t>
                      </a:r>
                      <a:r>
                        <a:rPr lang="ko-KR" altLang="en-US" sz="1400" b="0" i="0" u="sng" strike="noStrike" baseline="30000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*</a:t>
                      </a:r>
                      <a:endParaRPr lang="ko-KR" altLang="en-US" sz="1400" b="0" i="0" u="sng" strike="noStrike" dirty="0">
                        <a:solidFill>
                          <a:srgbClr val="C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752327509"/>
                  </a:ext>
                </a:extLst>
              </a:tr>
              <a:tr h="144518">
                <a:tc>
                  <a:txBody>
                    <a:bodyPr/>
                    <a:lstStyle/>
                    <a:p>
                      <a:pPr algn="l" fontAlgn="ctr"/>
                      <a:endParaRPr lang="ko-KR" altLang="en-US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      ￦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775,000</a:t>
                      </a:r>
                      <a:r>
                        <a:rPr lang="ko-KR" altLang="en-US" sz="1400" b="0" i="0" u="none" strike="noStrike" baseline="3000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*</a:t>
                      </a:r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2442308287"/>
                  </a:ext>
                </a:extLst>
              </a:tr>
            </a:tbl>
          </a:graphicData>
        </a:graphic>
      </p:graphicFrame>
      <p:graphicFrame>
        <p:nvGraphicFramePr>
          <p:cNvPr id="18" name="표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9751453"/>
              </p:ext>
            </p:extLst>
          </p:nvPr>
        </p:nvGraphicFramePr>
        <p:xfrm>
          <a:off x="640080" y="2930256"/>
          <a:ext cx="3588144" cy="891540"/>
        </p:xfrm>
        <a:graphic>
          <a:graphicData uri="http://schemas.openxmlformats.org/drawingml/2006/table">
            <a:tbl>
              <a:tblPr/>
              <a:tblGrid>
                <a:gridCol w="1719072">
                  <a:extLst>
                    <a:ext uri="{9D8B030D-6E8A-4147-A177-3AD203B41FA5}">
                      <a16:colId xmlns="" xmlns:a16="http://schemas.microsoft.com/office/drawing/2014/main" val="2134509187"/>
                    </a:ext>
                  </a:extLst>
                </a:gridCol>
                <a:gridCol w="777028">
                  <a:extLst>
                    <a:ext uri="{9D8B030D-6E8A-4147-A177-3AD203B41FA5}">
                      <a16:colId xmlns="" xmlns:a16="http://schemas.microsoft.com/office/drawing/2014/main" val="4107355335"/>
                    </a:ext>
                  </a:extLst>
                </a:gridCol>
                <a:gridCol w="1092044">
                  <a:extLst>
                    <a:ext uri="{9D8B030D-6E8A-4147-A177-3AD203B41FA5}">
                      <a16:colId xmlns="" xmlns:a16="http://schemas.microsoft.com/office/drawing/2014/main" val="1835143833"/>
                    </a:ext>
                  </a:extLst>
                </a:gridCol>
              </a:tblGrid>
              <a:tr h="167015">
                <a:tc gridSpan="3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손실충당금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ko-KR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309841336"/>
                  </a:ext>
                </a:extLst>
              </a:tr>
              <a:tr h="167015">
                <a:tc>
                  <a:txBody>
                    <a:bodyPr/>
                    <a:lstStyle/>
                    <a:p>
                      <a:pPr algn="just" rtl="0" fontAlgn="ctr"/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 rtl="0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 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₩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3750845153"/>
                  </a:ext>
                </a:extLst>
              </a:tr>
              <a:tr h="167015">
                <a:tc>
                  <a:txBody>
                    <a:bodyPr/>
                    <a:lstStyle/>
                    <a:p>
                      <a:pPr algn="r" defTabSz="895350" rtl="0" fontAlgn="ctr"/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defTabSz="895350" rtl="0" fontAlgn="ctr"/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대손설정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325,000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2054661758"/>
                  </a:ext>
                </a:extLst>
              </a:tr>
              <a:tr h="167015">
                <a:tc>
                  <a:txBody>
                    <a:bodyPr/>
                    <a:lstStyle/>
                    <a:p>
                      <a:pPr algn="ctr" rtl="0" fontAlgn="ctr"/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잔액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400" b="0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₩</a:t>
                      </a:r>
                      <a:r>
                        <a:rPr lang="en-US" altLang="ko-KR" sz="1400" b="0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325,000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96722704"/>
                  </a:ext>
                </a:extLst>
              </a:tr>
            </a:tbl>
          </a:graphicData>
        </a:graphic>
      </p:graphicFrame>
      <p:sp>
        <p:nvSpPr>
          <p:cNvPr id="22" name="직사각형 21"/>
          <p:cNvSpPr/>
          <p:nvPr/>
        </p:nvSpPr>
        <p:spPr>
          <a:xfrm>
            <a:off x="4646137" y="4151457"/>
            <a:ext cx="369384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08000" indent="-108000" latinLnBrk="0"/>
            <a:r>
              <a:rPr lang="ko-KR" altLang="en-US" sz="1200" dirty="0"/>
              <a:t>* 손실충당금은 대손추정액과 일치하며</a:t>
            </a:r>
            <a:r>
              <a:rPr lang="en-US" altLang="ko-KR" sz="1200" dirty="0"/>
              <a:t>, </a:t>
            </a:r>
            <a:r>
              <a:rPr lang="ko-KR" altLang="en-US" sz="1200" dirty="0"/>
              <a:t>매출채권의 </a:t>
            </a:r>
            <a:r>
              <a:rPr lang="ko-KR" altLang="en-US" sz="1200" dirty="0" err="1"/>
              <a:t>순장부금액은</a:t>
            </a:r>
            <a:r>
              <a:rPr lang="ko-KR" altLang="en-US" sz="1200" dirty="0"/>
              <a:t> 회수가능금액을 반영</a:t>
            </a:r>
          </a:p>
        </p:txBody>
      </p:sp>
    </p:spTree>
    <p:extLst>
      <p:ext uri="{BB962C8B-B14F-4D97-AF65-F5344CB8AC3E}">
        <p14:creationId xmlns:p14="http://schemas.microsoft.com/office/powerpoint/2010/main" val="41826921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20</a:t>
            </a:fld>
            <a:endParaRPr lang="ko-KR" altLang="en-US" dirty="0"/>
          </a:p>
        </p:txBody>
      </p:sp>
      <p:grpSp>
        <p:nvGrpSpPr>
          <p:cNvPr id="3" name="그룹 2"/>
          <p:cNvGrpSpPr/>
          <p:nvPr/>
        </p:nvGrpSpPr>
        <p:grpSpPr>
          <a:xfrm>
            <a:off x="257304" y="1252330"/>
            <a:ext cx="8641370" cy="2112662"/>
            <a:chOff x="2626683" y="1645911"/>
            <a:chExt cx="11521825" cy="2816887"/>
          </a:xfrm>
        </p:grpSpPr>
        <p:sp>
          <p:nvSpPr>
            <p:cNvPr id="4" name="Rectangle 15"/>
            <p:cNvSpPr>
              <a:spLocks noChangeArrowheads="1"/>
            </p:cNvSpPr>
            <p:nvPr/>
          </p:nvSpPr>
          <p:spPr bwMode="auto">
            <a:xfrm>
              <a:off x="2626683" y="2125625"/>
              <a:ext cx="11521825" cy="2337173"/>
            </a:xfrm>
            <a:prstGeom prst="rect">
              <a:avLst/>
            </a:prstGeom>
            <a:noFill/>
            <a:ln>
              <a:noFill/>
            </a:ln>
          </p:spPr>
          <p:txBody>
            <a:bodyPr lIns="74608" tIns="37301" rIns="74608" bIns="37301" anchor="t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marL="180000" indent="-180000" latinLnBrk="0">
                <a:lnSpc>
                  <a:spcPct val="12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600" b="1" dirty="0">
                  <a:latin typeface="맑은 고딕" panose="020B0503020000020004" pitchFamily="50" charset="-127"/>
                </a:rPr>
                <a:t>•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 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거래처의 파산 등 </a:t>
              </a:r>
              <a:r>
                <a:rPr lang="ko-KR" altLang="en-US" sz="1600" b="1" dirty="0">
                  <a:latin typeface="맑은 고딕" panose="020B0503020000020004" pitchFamily="50" charset="-127"/>
                </a:rPr>
                <a:t>객관적인 사건의 결과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로 매출채권의 회수가 불가능한 것으로 </a:t>
              </a: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판명되면 </a:t>
              </a:r>
              <a:r>
                <a:rPr lang="ko-KR" altLang="en-US" sz="1600" b="1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매출채권과 손실충당금을 상계</a:t>
              </a:r>
              <a:endParaRPr lang="en-US" altLang="ko-KR" sz="1600" b="1" dirty="0">
                <a:solidFill>
                  <a:schemeClr val="tx1"/>
                </a:solidFill>
                <a:latin typeface="맑은 고딕" panose="020B0503020000020004" pitchFamily="50" charset="-127"/>
              </a:endParaRPr>
            </a:p>
            <a:p>
              <a:pPr marL="180000" indent="-180000" latinLnBrk="0">
                <a:lnSpc>
                  <a:spcPct val="120000"/>
                </a:lnSpc>
                <a:spcBef>
                  <a:spcPts val="600"/>
                </a:spcBef>
                <a:buClrTx/>
                <a:buSzTx/>
                <a:buNone/>
              </a:pPr>
              <a:r>
                <a:rPr lang="en-US" altLang="ko-KR" sz="1600" b="1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•</a:t>
              </a:r>
              <a:r>
                <a:rPr lang="en-US" altLang="ko-KR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 </a:t>
              </a: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만약 발생한 </a:t>
              </a:r>
              <a:r>
                <a:rPr lang="ko-KR" altLang="en-US" sz="1600" b="1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손상금액이 손상처리 전의 </a:t>
              </a:r>
              <a:r>
                <a:rPr lang="ko-KR" altLang="en-US" sz="1600" b="1" dirty="0" err="1">
                  <a:solidFill>
                    <a:schemeClr val="tx1"/>
                  </a:solidFill>
                  <a:latin typeface="맑은 고딕" panose="020B0503020000020004" pitchFamily="50" charset="-127"/>
                </a:rPr>
                <a:t>손실충당금계정</a:t>
              </a:r>
              <a:r>
                <a:rPr lang="ko-KR" altLang="en-US" sz="1600" b="1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 잔액을 초과</a:t>
              </a: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하는 경우에는            </a:t>
              </a:r>
              <a:r>
                <a:rPr lang="ko-KR" altLang="en-US" sz="1600" b="1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그 초과금액만큼은 </a:t>
              </a:r>
              <a:r>
                <a:rPr lang="ko-KR" altLang="en-US" sz="1600" b="1" dirty="0" err="1">
                  <a:solidFill>
                    <a:schemeClr val="tx1"/>
                  </a:solidFill>
                  <a:latin typeface="맑은 고딕" panose="020B0503020000020004" pitchFamily="50" charset="-127"/>
                </a:rPr>
                <a:t>손상차손으로</a:t>
              </a:r>
              <a:r>
                <a:rPr lang="ko-KR" altLang="en-US" sz="1600" b="1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 하여 당기비용</a:t>
              </a: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으로 처리</a:t>
              </a:r>
              <a:endParaRPr lang="en-US" altLang="ko-KR" sz="1600" dirty="0">
                <a:solidFill>
                  <a:schemeClr val="tx1"/>
                </a:solidFill>
                <a:latin typeface="맑은 고딕" panose="020B0503020000020004" pitchFamily="50" charset="-127"/>
              </a:endParaRPr>
            </a:p>
            <a:p>
              <a:pPr marL="144000" indent="-144000">
                <a:lnSpc>
                  <a:spcPct val="120000"/>
                </a:lnSpc>
                <a:spcBef>
                  <a:spcPts val="600"/>
                </a:spcBef>
                <a:buClrTx/>
                <a:buSzTx/>
                <a:buNone/>
              </a:pPr>
              <a:endParaRPr lang="en-US" altLang="ko-KR" sz="1600" dirty="0">
                <a:latin typeface="맑은 고딕" panose="020B0503020000020004" pitchFamily="50" charset="-127"/>
              </a:endParaRPr>
            </a:p>
          </p:txBody>
        </p:sp>
        <p:sp>
          <p:nvSpPr>
            <p:cNvPr id="5" name="Rectangle 14"/>
            <p:cNvSpPr>
              <a:spLocks noChangeArrowheads="1"/>
            </p:cNvSpPr>
            <p:nvPr/>
          </p:nvSpPr>
          <p:spPr bwMode="auto">
            <a:xfrm>
              <a:off x="2871275" y="1645911"/>
              <a:ext cx="6956135" cy="4318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4608" tIns="37301" rIns="74608" bIns="37301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None/>
              </a:pPr>
              <a:r>
                <a:rPr lang="ko-KR" altLang="en-US" sz="1800" b="1" dirty="0">
                  <a:latin typeface="맑은 고딕" panose="020B0503020000020004" pitchFamily="50" charset="-127"/>
                </a:rPr>
                <a:t>손상확정시의 회계처리</a:t>
              </a:r>
              <a:endParaRPr lang="en-US" altLang="ko-KR" sz="1800" b="1" dirty="0">
                <a:latin typeface="맑은 고딕" panose="020B0503020000020004" pitchFamily="50" charset="-127"/>
              </a:endParaRPr>
            </a:p>
            <a:p>
              <a:pPr eaLnBrk="1" latinLnBrk="0" hangingPunct="1">
                <a:spcBef>
                  <a:spcPct val="0"/>
                </a:spcBef>
                <a:buClrTx/>
                <a:buSzTx/>
                <a:buFont typeface="Wingdings" panose="05000000000000000000" pitchFamily="2" charset="2"/>
                <a:buNone/>
              </a:pPr>
              <a:endParaRPr lang="ko-KR" altLang="en-US" sz="1800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7" name="직사각형 6"/>
            <p:cNvSpPr/>
            <p:nvPr/>
          </p:nvSpPr>
          <p:spPr>
            <a:xfrm>
              <a:off x="2626908" y="1722059"/>
              <a:ext cx="281973" cy="425439"/>
            </a:xfrm>
            <a:prstGeom prst="rect">
              <a:avLst/>
            </a:prstGeom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ko-KR" altLang="en-US" sz="16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8" name="그룹 7"/>
          <p:cNvGrpSpPr/>
          <p:nvPr/>
        </p:nvGrpSpPr>
        <p:grpSpPr>
          <a:xfrm>
            <a:off x="251315" y="3400927"/>
            <a:ext cx="8641370" cy="1418027"/>
            <a:chOff x="2626683" y="1686898"/>
            <a:chExt cx="11521825" cy="1890706"/>
          </a:xfrm>
        </p:grpSpPr>
        <p:sp>
          <p:nvSpPr>
            <p:cNvPr id="9" name="Rectangle 15"/>
            <p:cNvSpPr>
              <a:spLocks noChangeArrowheads="1"/>
            </p:cNvSpPr>
            <p:nvPr/>
          </p:nvSpPr>
          <p:spPr bwMode="auto">
            <a:xfrm>
              <a:off x="2626683" y="2182859"/>
              <a:ext cx="11521825" cy="1394745"/>
            </a:xfrm>
            <a:prstGeom prst="rect">
              <a:avLst/>
            </a:prstGeom>
            <a:noFill/>
            <a:ln>
              <a:noFill/>
            </a:ln>
          </p:spPr>
          <p:txBody>
            <a:bodyPr lIns="74608" tIns="37301" rIns="74608" bIns="37301" anchor="ctr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marL="144000" indent="-144000" latinLnBrk="0">
                <a:lnSpc>
                  <a:spcPct val="12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600" dirty="0">
                  <a:latin typeface="맑은 고딕" panose="020B0503020000020004" pitchFamily="50" charset="-127"/>
                </a:rPr>
                <a:t>• 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손상이 확정되어 장부상에서 제거하였던 매출채권이 다시 회수되는 경우 </a:t>
              </a:r>
              <a:r>
                <a:rPr lang="en-US" altLang="ko-KR" sz="1600" dirty="0">
                  <a:latin typeface="맑은 고딕" panose="020B0503020000020004" pitchFamily="50" charset="-127"/>
                  <a:sym typeface="Wingdings" pitchFamily="2" charset="2"/>
                </a:rPr>
                <a:t>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 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손상발생시 실시하였던 분개를 취소하는 회계처리를 실시한 후 매출채권을 회수하는 회계처리를 추가로 실시함</a:t>
              </a:r>
            </a:p>
          </p:txBody>
        </p:sp>
        <p:sp>
          <p:nvSpPr>
            <p:cNvPr id="10" name="Rectangle 14"/>
            <p:cNvSpPr>
              <a:spLocks noChangeArrowheads="1"/>
            </p:cNvSpPr>
            <p:nvPr/>
          </p:nvSpPr>
          <p:spPr bwMode="auto">
            <a:xfrm>
              <a:off x="2871275" y="1686898"/>
              <a:ext cx="9242135" cy="4318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4608" tIns="37301" rIns="74608" bIns="37301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None/>
              </a:pPr>
              <a:r>
                <a:rPr lang="ko-KR" altLang="en-US" sz="1800" b="1" dirty="0">
                  <a:latin typeface="맑은 고딕" panose="020B0503020000020004" pitchFamily="50" charset="-127"/>
                </a:rPr>
                <a:t>손상처리한 채권의 회수</a:t>
              </a:r>
              <a:endParaRPr lang="ko-KR" altLang="en-US" sz="1800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2" name="직사각형 11"/>
            <p:cNvSpPr/>
            <p:nvPr/>
          </p:nvSpPr>
          <p:spPr>
            <a:xfrm>
              <a:off x="2626908" y="1722059"/>
              <a:ext cx="281973" cy="425439"/>
            </a:xfrm>
            <a:prstGeom prst="rect">
              <a:avLst/>
            </a:prstGeom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ko-KR" altLang="en-US" sz="16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686308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그룹 5"/>
          <p:cNvGrpSpPr/>
          <p:nvPr/>
        </p:nvGrpSpPr>
        <p:grpSpPr>
          <a:xfrm>
            <a:off x="358434" y="1239229"/>
            <a:ext cx="8540239" cy="5310161"/>
            <a:chOff x="269048" y="1722741"/>
            <a:chExt cx="8648775" cy="5310161"/>
          </a:xfrm>
        </p:grpSpPr>
        <p:sp>
          <p:nvSpPr>
            <p:cNvPr id="14" name="Rectangle 15"/>
            <p:cNvSpPr>
              <a:spLocks noChangeArrowheads="1"/>
            </p:cNvSpPr>
            <p:nvPr/>
          </p:nvSpPr>
          <p:spPr bwMode="auto">
            <a:xfrm>
              <a:off x="269048" y="1746440"/>
              <a:ext cx="8641369" cy="5286462"/>
            </a:xfrm>
            <a:prstGeom prst="foldedCorner">
              <a:avLst>
                <a:gd name="adj" fmla="val 5125"/>
              </a:avLst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txBody>
            <a:bodyPr lIns="74608" tIns="37301" rIns="74608" bIns="37301" anchor="ctr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None/>
              </a:pPr>
              <a:endParaRPr lang="en-US" altLang="ko-KR" sz="1400" dirty="0">
                <a:latin typeface="맑은 고딕" panose="020B0503020000020004" pitchFamily="50" charset="-127"/>
              </a:endParaRPr>
            </a:p>
            <a:p>
              <a:pPr>
                <a:spcBef>
                  <a:spcPct val="0"/>
                </a:spcBef>
                <a:buClrTx/>
                <a:buSzTx/>
                <a:buNone/>
              </a:pPr>
              <a:endParaRPr lang="ko-KR" altLang="en-US" sz="1400" dirty="0">
                <a:latin typeface="맑은 고딕" panose="020B0503020000020004" pitchFamily="50" charset="-127"/>
              </a:endParaRPr>
            </a:p>
          </p:txBody>
        </p:sp>
        <p:sp>
          <p:nvSpPr>
            <p:cNvPr id="15" name="직사각형 14"/>
            <p:cNvSpPr/>
            <p:nvPr/>
          </p:nvSpPr>
          <p:spPr>
            <a:xfrm>
              <a:off x="277823" y="1722741"/>
              <a:ext cx="8640000" cy="45719"/>
            </a:xfrm>
            <a:prstGeom prst="rect">
              <a:avLst/>
            </a:prstGeom>
            <a:solidFill>
              <a:srgbClr val="2D61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7" name="그룹 6"/>
          <p:cNvGrpSpPr/>
          <p:nvPr/>
        </p:nvGrpSpPr>
        <p:grpSpPr>
          <a:xfrm>
            <a:off x="187213" y="1098616"/>
            <a:ext cx="2784358" cy="326952"/>
            <a:chOff x="190714" y="1320889"/>
            <a:chExt cx="2381807" cy="290354"/>
          </a:xfrm>
          <a:solidFill>
            <a:srgbClr val="2D61C8"/>
          </a:solidFill>
        </p:grpSpPr>
        <p:grpSp>
          <p:nvGrpSpPr>
            <p:cNvPr id="8" name="그룹 7"/>
            <p:cNvGrpSpPr/>
            <p:nvPr/>
          </p:nvGrpSpPr>
          <p:grpSpPr>
            <a:xfrm>
              <a:off x="190714" y="1320889"/>
              <a:ext cx="2381807" cy="290354"/>
              <a:chOff x="405822" y="2237753"/>
              <a:chExt cx="2381807" cy="290354"/>
            </a:xfrm>
            <a:grpFill/>
          </p:grpSpPr>
          <p:sp>
            <p:nvSpPr>
              <p:cNvPr id="10" name="타원 9"/>
              <p:cNvSpPr/>
              <p:nvPr/>
            </p:nvSpPr>
            <p:spPr>
              <a:xfrm>
                <a:off x="405822" y="2237753"/>
                <a:ext cx="290351" cy="290351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1" name="타원 10"/>
              <p:cNvSpPr/>
              <p:nvPr/>
            </p:nvSpPr>
            <p:spPr>
              <a:xfrm>
                <a:off x="2497278" y="2237753"/>
                <a:ext cx="290351" cy="290351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" name="직사각형 11"/>
              <p:cNvSpPr/>
              <p:nvPr/>
            </p:nvSpPr>
            <p:spPr>
              <a:xfrm>
                <a:off x="542512" y="2237755"/>
                <a:ext cx="2098650" cy="290352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600" b="1" dirty="0"/>
                  <a:t>예제 </a:t>
                </a:r>
                <a:r>
                  <a:rPr lang="en-US" altLang="ko-KR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5-8</a:t>
                </a:r>
                <a:r>
                  <a:rPr lang="ko-KR" alt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손상의 발생</a:t>
                </a:r>
                <a:endParaRPr lang="ko-KR" altLang="en-US" sz="1600" b="1" dirty="0"/>
              </a:p>
            </p:txBody>
          </p:sp>
          <p:sp>
            <p:nvSpPr>
              <p:cNvPr id="13" name="타원 12"/>
              <p:cNvSpPr/>
              <p:nvPr/>
            </p:nvSpPr>
            <p:spPr>
              <a:xfrm>
                <a:off x="427833" y="2256153"/>
                <a:ext cx="253549" cy="253549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pic>
          <p:nvPicPr>
            <p:cNvPr id="9" name="그림 8" descr="Log in | Sign Up Upload Clipart"/>
            <p:cNvPicPr>
              <a:picLocks noChangeAspect="1"/>
            </p:cNvPicPr>
            <p:nvPr/>
          </p:nvPicPr>
          <p:blipFill>
            <a:blip r:embed="rId2" cstate="email">
              <a:duotone>
                <a:schemeClr val="accent5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65229" y="1359640"/>
              <a:ext cx="147147" cy="229618"/>
            </a:xfrm>
            <a:prstGeom prst="rect">
              <a:avLst/>
            </a:prstGeom>
          </p:spPr>
        </p:pic>
      </p:grp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21</a:t>
            </a:fld>
            <a:endParaRPr lang="ko-KR" altLang="en-US" dirty="0"/>
          </a:p>
        </p:txBody>
      </p:sp>
      <p:sp>
        <p:nvSpPr>
          <p:cNvPr id="40" name="Rectangle 12"/>
          <p:cNvSpPr>
            <a:spLocks noChangeArrowheads="1"/>
          </p:cNvSpPr>
          <p:nvPr/>
        </p:nvSpPr>
        <p:spPr bwMode="auto">
          <a:xfrm>
            <a:off x="446339" y="2683646"/>
            <a:ext cx="8274752" cy="1655762"/>
          </a:xfrm>
          <a:prstGeom prst="rect">
            <a:avLst/>
          </a:prstGeom>
          <a:noFill/>
          <a:ln>
            <a:noFill/>
          </a:ln>
        </p:spPr>
        <p:txBody>
          <a:bodyPr lIns="99477" tIns="49735" rIns="99477" bIns="49735"/>
          <a:lstStyle>
            <a:lvl1pPr algn="l" defTabSz="995363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 defTabSz="995363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 defTabSz="995363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 defTabSz="995363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 defTabSz="995363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95363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5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      </a:t>
            </a:r>
          </a:p>
        </p:txBody>
      </p:sp>
      <p:sp>
        <p:nvSpPr>
          <p:cNvPr id="42" name="Rectangle 12"/>
          <p:cNvSpPr>
            <a:spLocks noChangeArrowheads="1"/>
          </p:cNvSpPr>
          <p:nvPr/>
        </p:nvSpPr>
        <p:spPr bwMode="auto">
          <a:xfrm>
            <a:off x="446339" y="4339408"/>
            <a:ext cx="8274752" cy="1944688"/>
          </a:xfrm>
          <a:prstGeom prst="rect">
            <a:avLst/>
          </a:prstGeom>
          <a:noFill/>
          <a:ln>
            <a:noFill/>
          </a:ln>
        </p:spPr>
        <p:txBody>
          <a:bodyPr lIns="99477" tIns="49735" rIns="99477" bIns="49735"/>
          <a:lstStyle>
            <a:lvl1pPr algn="l" defTabSz="995363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 defTabSz="995363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 defTabSz="995363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 defTabSz="995363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 defTabSz="995363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95363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5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</a:endParaRPr>
          </a:p>
        </p:txBody>
      </p:sp>
      <p:sp>
        <p:nvSpPr>
          <p:cNvPr id="26" name="Rectangle 12"/>
          <p:cNvSpPr>
            <a:spLocks noChangeArrowheads="1"/>
          </p:cNvSpPr>
          <p:nvPr/>
        </p:nvSpPr>
        <p:spPr bwMode="auto">
          <a:xfrm>
            <a:off x="607737" y="1522406"/>
            <a:ext cx="8124783" cy="1512887"/>
          </a:xfrm>
          <a:prstGeom prst="rect">
            <a:avLst/>
          </a:prstGeom>
          <a:noFill/>
          <a:ln>
            <a:noFill/>
          </a:ln>
        </p:spPr>
        <p:txBody>
          <a:bodyPr lIns="99477" tIns="49735" rIns="99477" bIns="49735"/>
          <a:lstStyle>
            <a:lvl1pPr algn="l" defTabSz="995363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 defTabSz="995363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 defTabSz="995363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 defTabSz="995363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 defTabSz="995363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95363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5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(</a:t>
            </a:r>
            <a:r>
              <a:rPr kumimoji="0" lang="ko-KR" altLang="en-US" sz="15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주</a:t>
            </a:r>
            <a:r>
              <a:rPr kumimoji="0" lang="en-US" altLang="ko-KR" sz="15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)</a:t>
            </a:r>
            <a:r>
              <a:rPr kumimoji="0" lang="ko-KR" altLang="en-US" sz="15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덕송의</a:t>
            </a:r>
            <a:r>
              <a:rPr kumimoji="0" lang="ko-KR" altLang="en-US" sz="15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 </a:t>
            </a:r>
            <a:r>
              <a:rPr kumimoji="0" lang="en-US" altLang="ko-KR" sz="15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20×1</a:t>
            </a:r>
            <a:r>
              <a:rPr kumimoji="0" lang="ko-KR" altLang="en-US" sz="15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년 외상매출금 </a:t>
            </a:r>
            <a:r>
              <a:rPr kumimoji="0" lang="ko-KR" altLang="en-US" sz="15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기초금액은</a:t>
            </a:r>
            <a:r>
              <a:rPr kumimoji="0" lang="ko-KR" altLang="en-US" sz="15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 ￦</a:t>
            </a:r>
            <a:r>
              <a:rPr kumimoji="0" lang="en-US" altLang="ko-KR" sz="15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600,000(</a:t>
            </a:r>
            <a:r>
              <a:rPr kumimoji="0" lang="ko-KR" altLang="en-US" sz="15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대손충당금 ￦</a:t>
            </a:r>
            <a:r>
              <a:rPr kumimoji="0" lang="en-US" altLang="ko-KR" sz="15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30,000)</a:t>
            </a:r>
            <a:r>
              <a:rPr kumimoji="0" lang="ko-KR" altLang="en-US" sz="15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이다</a:t>
            </a:r>
            <a:r>
              <a:rPr kumimoji="0" lang="en-US" altLang="ko-KR" sz="15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. (</a:t>
            </a:r>
            <a:r>
              <a:rPr kumimoji="0" lang="ko-KR" altLang="en-US" sz="15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주</a:t>
            </a:r>
            <a:r>
              <a:rPr kumimoji="0" lang="en-US" altLang="ko-KR" sz="15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)</a:t>
            </a:r>
            <a:r>
              <a:rPr kumimoji="0" lang="ko-KR" altLang="en-US" sz="15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덕송은</a:t>
            </a:r>
            <a:r>
              <a:rPr kumimoji="0" lang="ko-KR" altLang="en-US" sz="15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 </a:t>
            </a:r>
            <a:r>
              <a:rPr kumimoji="0" lang="ko-KR" altLang="en-US" sz="15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매출채권의 기대신용손실금액을 기말채권 잔액의 </a:t>
            </a:r>
            <a:r>
              <a:rPr kumimoji="0" lang="en-US" altLang="ko-KR" sz="15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5% </a:t>
            </a:r>
            <a:r>
              <a:rPr kumimoji="0" lang="ko-KR" altLang="en-US" sz="15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수준으로 추정하였다</a:t>
            </a:r>
            <a:r>
              <a:rPr kumimoji="0" lang="en-US" altLang="ko-KR" sz="15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.</a:t>
            </a:r>
          </a:p>
          <a:p>
            <a:pPr marL="0" marR="0" lvl="0" indent="0" algn="l" defTabSz="995363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5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</a:endParaRPr>
          </a:p>
          <a:p>
            <a:pPr marL="0" marR="0" lvl="0" indent="0" algn="l" defTabSz="995363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5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① 20×1</a:t>
            </a:r>
            <a:r>
              <a:rPr kumimoji="0" lang="ko-KR" altLang="en-US" sz="15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년 </a:t>
            </a:r>
            <a:r>
              <a:rPr kumimoji="0" lang="en-US" altLang="ko-KR" sz="15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8</a:t>
            </a:r>
            <a:r>
              <a:rPr kumimoji="0" lang="ko-KR" altLang="en-US" sz="15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월 </a:t>
            </a:r>
            <a:r>
              <a:rPr kumimoji="0" lang="en-US" altLang="ko-KR" sz="15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2</a:t>
            </a:r>
            <a:r>
              <a:rPr kumimoji="0" lang="ko-KR" altLang="en-US" sz="15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일에 </a:t>
            </a:r>
            <a:r>
              <a:rPr kumimoji="0" lang="en-US" altLang="ko-KR" sz="15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(</a:t>
            </a:r>
            <a:r>
              <a:rPr kumimoji="0" lang="ko-KR" altLang="en-US" sz="15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주</a:t>
            </a:r>
            <a:r>
              <a:rPr kumimoji="0" lang="en-US" altLang="ko-KR" sz="15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)</a:t>
            </a:r>
            <a:r>
              <a:rPr kumimoji="0" lang="ko-KR" altLang="en-US" sz="150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덕송은</a:t>
            </a:r>
            <a:r>
              <a:rPr kumimoji="0" lang="ko-KR" altLang="en-US" sz="15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 거래처인 </a:t>
            </a:r>
            <a:r>
              <a:rPr kumimoji="0" lang="en-US" altLang="ko-KR" sz="15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(</a:t>
            </a:r>
            <a:r>
              <a:rPr kumimoji="0" lang="ko-KR" altLang="en-US" sz="15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주</a:t>
            </a:r>
            <a:r>
              <a:rPr kumimoji="0" lang="en-US" altLang="ko-KR" sz="15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)</a:t>
            </a:r>
            <a:r>
              <a:rPr lang="ko-KR" altLang="en-US" sz="1500" kern="0" dirty="0">
                <a:latin typeface="맑은 고딕" panose="020B0503020000020004" pitchFamily="50" charset="-127"/>
              </a:rPr>
              <a:t>팔도</a:t>
            </a:r>
            <a:r>
              <a:rPr kumimoji="0" lang="ko-KR" altLang="en-US" sz="15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에 상품 ￦</a:t>
            </a:r>
            <a:r>
              <a:rPr kumimoji="0" lang="en-US" altLang="ko-KR" sz="15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1,500,000</a:t>
            </a:r>
            <a:r>
              <a:rPr kumimoji="0" lang="ko-KR" altLang="en-US" sz="15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을 외상매출 </a:t>
            </a:r>
          </a:p>
          <a:p>
            <a:pPr marL="0" marR="0" lvl="0" indent="0" algn="l" defTabSz="995363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5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    하고 ￦</a:t>
            </a:r>
            <a:r>
              <a:rPr kumimoji="0" lang="en-US" altLang="ko-KR" sz="15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1,180,000</a:t>
            </a:r>
            <a:r>
              <a:rPr kumimoji="0" lang="ko-KR" altLang="en-US" sz="15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은 </a:t>
            </a:r>
            <a:r>
              <a:rPr kumimoji="0" lang="en-US" altLang="ko-KR" sz="15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9</a:t>
            </a:r>
            <a:r>
              <a:rPr kumimoji="0" lang="ko-KR" altLang="en-US" sz="15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월 </a:t>
            </a:r>
            <a:r>
              <a:rPr kumimoji="0" lang="en-US" altLang="ko-KR" sz="15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1</a:t>
            </a:r>
            <a:r>
              <a:rPr kumimoji="0" lang="ko-KR" altLang="en-US" sz="15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일에 현금으로 회수하였다</a:t>
            </a:r>
            <a:r>
              <a:rPr kumimoji="0" lang="en-US" altLang="ko-KR" sz="15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. </a:t>
            </a:r>
          </a:p>
        </p:txBody>
      </p:sp>
      <p:sp>
        <p:nvSpPr>
          <p:cNvPr id="27" name="Rectangle 12"/>
          <p:cNvSpPr>
            <a:spLocks noChangeArrowheads="1"/>
          </p:cNvSpPr>
          <p:nvPr/>
        </p:nvSpPr>
        <p:spPr bwMode="auto">
          <a:xfrm>
            <a:off x="1133517" y="2897458"/>
            <a:ext cx="7200000" cy="797108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txBody>
          <a:bodyPr lIns="99477" tIns="49735" rIns="99477" bIns="49735" anchor="ctr" anchorCtr="0"/>
          <a:lstStyle>
            <a:lvl1pPr algn="l" defTabSz="995363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 defTabSz="995363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 defTabSz="995363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 defTabSz="995363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 defTabSz="995363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95363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      (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차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) 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외상매출금           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1,500,000           (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대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) 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매        출             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1,500,000</a:t>
            </a:r>
          </a:p>
          <a:p>
            <a:pPr marL="0" marR="0" lvl="0" indent="0" algn="l" defTabSz="995363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      </a:t>
            </a:r>
          </a:p>
          <a:p>
            <a:pPr marL="0" marR="0" lvl="0" indent="0" algn="l" defTabSz="995363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      (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차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) 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현        금            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1,180,000           (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대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) 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외상매출금            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1,180,000</a:t>
            </a:r>
          </a:p>
        </p:txBody>
      </p:sp>
      <p:sp>
        <p:nvSpPr>
          <p:cNvPr id="28" name="Rectangle 12"/>
          <p:cNvSpPr>
            <a:spLocks noChangeArrowheads="1"/>
          </p:cNvSpPr>
          <p:nvPr/>
        </p:nvSpPr>
        <p:spPr bwMode="auto">
          <a:xfrm>
            <a:off x="607737" y="3827456"/>
            <a:ext cx="8124783" cy="576262"/>
          </a:xfrm>
          <a:prstGeom prst="rect">
            <a:avLst/>
          </a:prstGeom>
          <a:noFill/>
          <a:ln>
            <a:noFill/>
          </a:ln>
        </p:spPr>
        <p:txBody>
          <a:bodyPr lIns="99477" tIns="49735" rIns="99477" bIns="49735"/>
          <a:lstStyle>
            <a:lvl1pPr algn="l" defTabSz="995363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 defTabSz="995363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 defTabSz="995363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 defTabSz="995363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 defTabSz="995363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95363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5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② 20×1</a:t>
            </a:r>
            <a:r>
              <a:rPr kumimoji="0" lang="ko-KR" altLang="en-US" sz="15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년 </a:t>
            </a:r>
            <a:r>
              <a:rPr kumimoji="0" lang="en-US" altLang="ko-KR" sz="15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10</a:t>
            </a:r>
            <a:r>
              <a:rPr kumimoji="0" lang="ko-KR" altLang="en-US" sz="15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월 </a:t>
            </a:r>
            <a:r>
              <a:rPr kumimoji="0" lang="en-US" altLang="ko-KR" sz="15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5</a:t>
            </a:r>
            <a:r>
              <a:rPr kumimoji="0" lang="ko-KR" altLang="en-US" sz="15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일에 </a:t>
            </a:r>
            <a:r>
              <a:rPr kumimoji="0" lang="en-US" altLang="ko-KR" sz="15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(</a:t>
            </a:r>
            <a:r>
              <a:rPr kumimoji="0" lang="ko-KR" altLang="en-US" sz="15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주</a:t>
            </a:r>
            <a:r>
              <a:rPr kumimoji="0" lang="en-US" altLang="ko-KR" sz="15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)</a:t>
            </a:r>
            <a:r>
              <a:rPr lang="ko-KR" altLang="en-US" sz="1500" kern="0" dirty="0">
                <a:latin typeface="맑은 고딕" panose="020B0503020000020004" pitchFamily="50" charset="-127"/>
              </a:rPr>
              <a:t>팔도</a:t>
            </a:r>
            <a:r>
              <a:rPr kumimoji="0" lang="ko-KR" altLang="en-US" sz="15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의 파산으로 인하여 </a:t>
            </a:r>
            <a:r>
              <a:rPr kumimoji="0" lang="en-US" altLang="ko-KR" sz="15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(</a:t>
            </a:r>
            <a:r>
              <a:rPr kumimoji="0" lang="ko-KR" altLang="en-US" sz="15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주</a:t>
            </a:r>
            <a:r>
              <a:rPr kumimoji="0" lang="en-US" altLang="ko-KR" sz="15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)</a:t>
            </a:r>
            <a:r>
              <a:rPr lang="ko-KR" altLang="en-US" sz="1500" kern="0" dirty="0">
                <a:latin typeface="맑은 고딕" panose="020B0503020000020004" pitchFamily="50" charset="-127"/>
              </a:rPr>
              <a:t>팔도</a:t>
            </a:r>
            <a:r>
              <a:rPr kumimoji="0" lang="ko-KR" altLang="en-US" sz="15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에 대한 외상매출금 중 </a:t>
            </a:r>
          </a:p>
          <a:p>
            <a:pPr marL="0" marR="0" lvl="0" indent="0" algn="l" defTabSz="995363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5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    ￦</a:t>
            </a:r>
            <a:r>
              <a:rPr kumimoji="0" lang="en-US" altLang="ko-KR" sz="15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20,000</a:t>
            </a:r>
            <a:r>
              <a:rPr kumimoji="0" lang="ko-KR" altLang="en-US" sz="15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을 회수할 수 없게 되었다</a:t>
            </a:r>
            <a:r>
              <a:rPr kumimoji="0" lang="en-US" altLang="ko-KR" sz="15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.</a:t>
            </a:r>
          </a:p>
        </p:txBody>
      </p:sp>
      <p:sp>
        <p:nvSpPr>
          <p:cNvPr id="29" name="Rectangle 12"/>
          <p:cNvSpPr>
            <a:spLocks noChangeArrowheads="1"/>
          </p:cNvSpPr>
          <p:nvPr/>
        </p:nvSpPr>
        <p:spPr bwMode="auto">
          <a:xfrm>
            <a:off x="1133517" y="4403717"/>
            <a:ext cx="7200000" cy="4320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txBody>
          <a:bodyPr lIns="99477" tIns="49735" rIns="99477" bIns="49735" anchor="ctr" anchorCtr="0"/>
          <a:lstStyle>
            <a:lvl1pPr algn="l" defTabSz="995363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 defTabSz="995363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 defTabSz="995363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 defTabSz="995363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 defTabSz="995363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95363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      (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차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) 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손실충당금               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20,000           (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대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) 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외상매출금                 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20,000</a:t>
            </a:r>
          </a:p>
        </p:txBody>
      </p:sp>
      <p:sp>
        <p:nvSpPr>
          <p:cNvPr id="30" name="Rectangle 12"/>
          <p:cNvSpPr>
            <a:spLocks noChangeArrowheads="1"/>
          </p:cNvSpPr>
          <p:nvPr/>
        </p:nvSpPr>
        <p:spPr bwMode="auto">
          <a:xfrm>
            <a:off x="631183" y="5020421"/>
            <a:ext cx="8124783" cy="820207"/>
          </a:xfrm>
          <a:prstGeom prst="rect">
            <a:avLst/>
          </a:prstGeom>
          <a:noFill/>
          <a:ln>
            <a:noFill/>
          </a:ln>
        </p:spPr>
        <p:txBody>
          <a:bodyPr lIns="99477" tIns="49735" rIns="99477" bIns="49735"/>
          <a:lstStyle>
            <a:lvl1pPr algn="l" defTabSz="995363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 defTabSz="995363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 defTabSz="995363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 defTabSz="995363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 defTabSz="995363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fontAlgn="base" latinLnBrk="0">
              <a:buNone/>
            </a:pPr>
            <a:r>
              <a:rPr lang="ko-KR" altLang="en-US" sz="1500" dirty="0"/>
              <a:t>손상된 금액 ￦</a:t>
            </a:r>
            <a:r>
              <a:rPr lang="en-US" altLang="ko-KR" sz="1500" dirty="0"/>
              <a:t>20,000</a:t>
            </a:r>
            <a:r>
              <a:rPr lang="ko-KR" altLang="en-US" sz="1500" dirty="0"/>
              <a:t>이 손상처리 전의 손실충당금 잔액 ￦</a:t>
            </a:r>
            <a:r>
              <a:rPr lang="en-US" altLang="ko-KR" sz="1500" dirty="0"/>
              <a:t>30,000</a:t>
            </a:r>
            <a:r>
              <a:rPr lang="ko-KR" altLang="en-US" sz="1500" dirty="0"/>
              <a:t>보다 작다</a:t>
            </a:r>
            <a:r>
              <a:rPr lang="en-US" altLang="ko-KR" sz="1500" dirty="0"/>
              <a:t>. </a:t>
            </a:r>
            <a:r>
              <a:rPr lang="ko-KR" altLang="en-US" sz="1500" dirty="0"/>
              <a:t>따라서 ￦</a:t>
            </a:r>
            <a:r>
              <a:rPr lang="en-US" altLang="ko-KR" sz="1500" dirty="0"/>
              <a:t>20,000</a:t>
            </a:r>
            <a:r>
              <a:rPr lang="ko-KR" altLang="en-US" sz="1500" dirty="0"/>
              <a:t> 전액을 손실충당금과 상계처리한다</a:t>
            </a:r>
            <a:r>
              <a:rPr lang="en-US" altLang="ko-KR" sz="1500" dirty="0"/>
              <a:t>. </a:t>
            </a:r>
            <a:r>
              <a:rPr lang="ko-KR" altLang="en-US" sz="1500" dirty="0"/>
              <a:t>그러나 만약 손상된 금액이 ￦</a:t>
            </a:r>
            <a:r>
              <a:rPr lang="en-US" altLang="ko-KR" sz="1500" dirty="0"/>
              <a:t>40,000</a:t>
            </a:r>
            <a:r>
              <a:rPr lang="ko-KR" altLang="en-US" sz="1500" dirty="0"/>
              <a:t>이었다면 다음과 같이 회계처리한다</a:t>
            </a:r>
            <a:r>
              <a:rPr lang="en-US" altLang="ko-KR" sz="1500" dirty="0"/>
              <a:t>.</a:t>
            </a:r>
            <a:endParaRPr kumimoji="0" lang="en-US" altLang="ko-KR" sz="15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</a:endParaRPr>
          </a:p>
        </p:txBody>
      </p:sp>
      <p:sp>
        <p:nvSpPr>
          <p:cNvPr id="31" name="Rectangle 12"/>
          <p:cNvSpPr>
            <a:spLocks noChangeArrowheads="1"/>
          </p:cNvSpPr>
          <p:nvPr/>
        </p:nvSpPr>
        <p:spPr bwMode="auto">
          <a:xfrm>
            <a:off x="1133517" y="5932162"/>
            <a:ext cx="7200000" cy="52038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txBody>
          <a:bodyPr lIns="99477" tIns="49735" rIns="99477" bIns="49735"/>
          <a:lstStyle>
            <a:lvl1pPr algn="l" defTabSz="995363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 defTabSz="995363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 defTabSz="995363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 defTabSz="995363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 defTabSz="995363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95363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      (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차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) </a:t>
            </a:r>
            <a:r>
              <a:rPr lang="ko-KR" altLang="en-US" sz="1400" b="1" kern="0" dirty="0">
                <a:latin typeface="맑은 고딕" panose="020B0503020000020004" pitchFamily="50" charset="-127"/>
              </a:rPr>
              <a:t>손실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충당금               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30,000           (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대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) 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외상매출금                 </a:t>
            </a:r>
            <a:r>
              <a:rPr lang="en-US" altLang="ko-KR" sz="1400" b="1" kern="0" dirty="0">
                <a:latin typeface="맑은 고딕" panose="020B0503020000020004" pitchFamily="50" charset="-127"/>
              </a:rPr>
              <a:t>40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,000</a:t>
            </a:r>
          </a:p>
          <a:p>
            <a:pPr marL="0" marR="0" lvl="0" indent="0" algn="l" defTabSz="995363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400" b="1" kern="0" dirty="0">
                <a:latin typeface="맑은 고딕" panose="020B0503020000020004" pitchFamily="50" charset="-127"/>
              </a:rPr>
              <a:t>            </a:t>
            </a:r>
            <a:r>
              <a:rPr lang="ko-KR" altLang="en-US" sz="1400" b="1" kern="0" dirty="0" err="1">
                <a:latin typeface="맑은 고딕" panose="020B0503020000020004" pitchFamily="50" charset="-127"/>
              </a:rPr>
              <a:t>매출채권손상차손</a:t>
            </a:r>
            <a:r>
              <a:rPr lang="ko-KR" altLang="en-US" sz="1400" b="1" kern="0" dirty="0">
                <a:latin typeface="맑은 고딕" panose="020B0503020000020004" pitchFamily="50" charset="-127"/>
              </a:rPr>
              <a:t>      </a:t>
            </a:r>
            <a:r>
              <a:rPr lang="en-US" altLang="ko-KR" sz="1400" b="1" kern="0" dirty="0">
                <a:latin typeface="맑은 고딕" panose="020B0503020000020004" pitchFamily="50" charset="-127"/>
              </a:rPr>
              <a:t>10,000</a:t>
            </a:r>
            <a:endParaRPr kumimoji="0" lang="en-US" altLang="ko-KR" sz="1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378837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그룹 5"/>
          <p:cNvGrpSpPr/>
          <p:nvPr/>
        </p:nvGrpSpPr>
        <p:grpSpPr>
          <a:xfrm>
            <a:off x="358434" y="1239229"/>
            <a:ext cx="8540239" cy="5310161"/>
            <a:chOff x="269048" y="1722741"/>
            <a:chExt cx="8648775" cy="5310161"/>
          </a:xfrm>
        </p:grpSpPr>
        <p:sp>
          <p:nvSpPr>
            <p:cNvPr id="14" name="Rectangle 15"/>
            <p:cNvSpPr>
              <a:spLocks noChangeArrowheads="1"/>
            </p:cNvSpPr>
            <p:nvPr/>
          </p:nvSpPr>
          <p:spPr bwMode="auto">
            <a:xfrm>
              <a:off x="269048" y="1746440"/>
              <a:ext cx="8641369" cy="5286462"/>
            </a:xfrm>
            <a:prstGeom prst="foldedCorner">
              <a:avLst>
                <a:gd name="adj" fmla="val 5125"/>
              </a:avLst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txBody>
            <a:bodyPr lIns="74608" tIns="37301" rIns="74608" bIns="37301" anchor="ctr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None/>
              </a:pPr>
              <a:endParaRPr lang="en-US" altLang="ko-KR" sz="1400" dirty="0">
                <a:latin typeface="맑은 고딕" panose="020B0503020000020004" pitchFamily="50" charset="-127"/>
              </a:endParaRPr>
            </a:p>
            <a:p>
              <a:pPr>
                <a:spcBef>
                  <a:spcPct val="0"/>
                </a:spcBef>
                <a:buClrTx/>
                <a:buSzTx/>
                <a:buNone/>
              </a:pPr>
              <a:endParaRPr lang="ko-KR" altLang="en-US" sz="1400" dirty="0">
                <a:latin typeface="맑은 고딕" panose="020B0503020000020004" pitchFamily="50" charset="-127"/>
              </a:endParaRPr>
            </a:p>
          </p:txBody>
        </p:sp>
        <p:sp>
          <p:nvSpPr>
            <p:cNvPr id="15" name="직사각형 14"/>
            <p:cNvSpPr/>
            <p:nvPr/>
          </p:nvSpPr>
          <p:spPr>
            <a:xfrm>
              <a:off x="277823" y="1722741"/>
              <a:ext cx="8640000" cy="45719"/>
            </a:xfrm>
            <a:prstGeom prst="rect">
              <a:avLst/>
            </a:prstGeom>
            <a:solidFill>
              <a:srgbClr val="2D61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7" name="그룹 6"/>
          <p:cNvGrpSpPr/>
          <p:nvPr/>
        </p:nvGrpSpPr>
        <p:grpSpPr>
          <a:xfrm>
            <a:off x="187213" y="1098616"/>
            <a:ext cx="2784358" cy="326952"/>
            <a:chOff x="190714" y="1320889"/>
            <a:chExt cx="2381807" cy="290354"/>
          </a:xfrm>
          <a:solidFill>
            <a:srgbClr val="2D61C8"/>
          </a:solidFill>
        </p:grpSpPr>
        <p:grpSp>
          <p:nvGrpSpPr>
            <p:cNvPr id="8" name="그룹 7"/>
            <p:cNvGrpSpPr/>
            <p:nvPr/>
          </p:nvGrpSpPr>
          <p:grpSpPr>
            <a:xfrm>
              <a:off x="190714" y="1320889"/>
              <a:ext cx="2381807" cy="290354"/>
              <a:chOff x="405822" y="2237753"/>
              <a:chExt cx="2381807" cy="290354"/>
            </a:xfrm>
            <a:grpFill/>
          </p:grpSpPr>
          <p:sp>
            <p:nvSpPr>
              <p:cNvPr id="10" name="타원 9"/>
              <p:cNvSpPr/>
              <p:nvPr/>
            </p:nvSpPr>
            <p:spPr>
              <a:xfrm>
                <a:off x="405822" y="2237753"/>
                <a:ext cx="290351" cy="290351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1" name="타원 10"/>
              <p:cNvSpPr/>
              <p:nvPr/>
            </p:nvSpPr>
            <p:spPr>
              <a:xfrm>
                <a:off x="2497278" y="2237753"/>
                <a:ext cx="290351" cy="290351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" name="직사각형 11"/>
              <p:cNvSpPr/>
              <p:nvPr/>
            </p:nvSpPr>
            <p:spPr>
              <a:xfrm>
                <a:off x="542512" y="2237755"/>
                <a:ext cx="2098650" cy="290352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600" b="1" dirty="0"/>
                  <a:t>예제 </a:t>
                </a:r>
                <a:r>
                  <a:rPr lang="en-US" altLang="ko-KR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5-8</a:t>
                </a:r>
                <a:r>
                  <a:rPr lang="ko-KR" alt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손상의 발생</a:t>
                </a:r>
                <a:endParaRPr lang="ko-KR" altLang="en-US" sz="1600" b="1" dirty="0"/>
              </a:p>
            </p:txBody>
          </p:sp>
          <p:sp>
            <p:nvSpPr>
              <p:cNvPr id="13" name="타원 12"/>
              <p:cNvSpPr/>
              <p:nvPr/>
            </p:nvSpPr>
            <p:spPr>
              <a:xfrm>
                <a:off x="427833" y="2256153"/>
                <a:ext cx="253549" cy="253549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pic>
          <p:nvPicPr>
            <p:cNvPr id="9" name="그림 8" descr="Log in | Sign Up Upload Clipart"/>
            <p:cNvPicPr>
              <a:picLocks noChangeAspect="1"/>
            </p:cNvPicPr>
            <p:nvPr/>
          </p:nvPicPr>
          <p:blipFill>
            <a:blip r:embed="rId3" cstate="email">
              <a:duotone>
                <a:schemeClr val="accent5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65229" y="1359640"/>
              <a:ext cx="147147" cy="229618"/>
            </a:xfrm>
            <a:prstGeom prst="rect">
              <a:avLst/>
            </a:prstGeom>
          </p:spPr>
        </p:pic>
      </p:grp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22</a:t>
            </a:fld>
            <a:endParaRPr lang="ko-KR" altLang="en-US" dirty="0"/>
          </a:p>
        </p:txBody>
      </p:sp>
      <p:sp>
        <p:nvSpPr>
          <p:cNvPr id="40" name="Rectangle 12"/>
          <p:cNvSpPr>
            <a:spLocks noChangeArrowheads="1"/>
          </p:cNvSpPr>
          <p:nvPr/>
        </p:nvSpPr>
        <p:spPr bwMode="auto">
          <a:xfrm>
            <a:off x="446339" y="2683646"/>
            <a:ext cx="8274752" cy="1655762"/>
          </a:xfrm>
          <a:prstGeom prst="rect">
            <a:avLst/>
          </a:prstGeom>
          <a:noFill/>
          <a:ln>
            <a:noFill/>
          </a:ln>
        </p:spPr>
        <p:txBody>
          <a:bodyPr lIns="99477" tIns="49735" rIns="99477" bIns="49735"/>
          <a:lstStyle>
            <a:lvl1pPr algn="l" defTabSz="995363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 defTabSz="995363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 defTabSz="995363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 defTabSz="995363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 defTabSz="995363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95363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5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      </a:t>
            </a:r>
          </a:p>
        </p:txBody>
      </p:sp>
      <p:sp>
        <p:nvSpPr>
          <p:cNvPr id="42" name="Rectangle 12"/>
          <p:cNvSpPr>
            <a:spLocks noChangeArrowheads="1"/>
          </p:cNvSpPr>
          <p:nvPr/>
        </p:nvSpPr>
        <p:spPr bwMode="auto">
          <a:xfrm>
            <a:off x="446339" y="4339408"/>
            <a:ext cx="8274752" cy="1944688"/>
          </a:xfrm>
          <a:prstGeom prst="rect">
            <a:avLst/>
          </a:prstGeom>
          <a:noFill/>
          <a:ln>
            <a:noFill/>
          </a:ln>
        </p:spPr>
        <p:txBody>
          <a:bodyPr lIns="99477" tIns="49735" rIns="99477" bIns="49735"/>
          <a:lstStyle>
            <a:lvl1pPr algn="l" defTabSz="995363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 defTabSz="995363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 defTabSz="995363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 defTabSz="995363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 defTabSz="995363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95363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5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</a:endParaRPr>
          </a:p>
        </p:txBody>
      </p:sp>
      <p:sp>
        <p:nvSpPr>
          <p:cNvPr id="26" name="Rectangle 12"/>
          <p:cNvSpPr>
            <a:spLocks noChangeArrowheads="1"/>
          </p:cNvSpPr>
          <p:nvPr/>
        </p:nvSpPr>
        <p:spPr bwMode="auto">
          <a:xfrm>
            <a:off x="607737" y="1522406"/>
            <a:ext cx="8124783" cy="1512887"/>
          </a:xfrm>
          <a:prstGeom prst="rect">
            <a:avLst/>
          </a:prstGeom>
          <a:noFill/>
          <a:ln>
            <a:noFill/>
          </a:ln>
        </p:spPr>
        <p:txBody>
          <a:bodyPr lIns="99477" tIns="49735" rIns="99477" bIns="49735"/>
          <a:lstStyle>
            <a:lvl1pPr algn="l" defTabSz="995363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 defTabSz="995363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 defTabSz="995363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 defTabSz="995363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 defTabSz="995363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marL="252000" lvl="0" indent="-25200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ko-KR" sz="1500" kern="0" dirty="0">
                <a:latin typeface="맑은 고딕" panose="020B0503020000020004" pitchFamily="50" charset="-127"/>
              </a:rPr>
              <a:t>③ 20×1</a:t>
            </a:r>
            <a:r>
              <a:rPr lang="ko-KR" altLang="en-US" sz="1500" kern="0" dirty="0">
                <a:latin typeface="맑은 고딕" panose="020B0503020000020004" pitchFamily="50" charset="-127"/>
              </a:rPr>
              <a:t>년 기말 현재 외상매출금 잔액의 </a:t>
            </a:r>
            <a:r>
              <a:rPr lang="en-US" altLang="ko-KR" sz="1500" kern="0" dirty="0">
                <a:latin typeface="맑은 고딕" panose="020B0503020000020004" pitchFamily="50" charset="-127"/>
              </a:rPr>
              <a:t>5%</a:t>
            </a:r>
            <a:r>
              <a:rPr lang="ko-KR" altLang="en-US" sz="1500" kern="0" dirty="0">
                <a:latin typeface="맑은 고딕" panose="020B0503020000020004" pitchFamily="50" charset="-127"/>
              </a:rPr>
              <a:t>가 손상될 것으로 추정하였다</a:t>
            </a:r>
            <a:r>
              <a:rPr lang="en-US" altLang="ko-KR" sz="1500" kern="0" dirty="0">
                <a:latin typeface="맑은 고딕" panose="020B0503020000020004" pitchFamily="50" charset="-127"/>
              </a:rPr>
              <a:t>. </a:t>
            </a:r>
            <a:r>
              <a:rPr lang="ko-KR" altLang="en-US" sz="1500" kern="0" dirty="0">
                <a:latin typeface="맑은 고딕" panose="020B0503020000020004" pitchFamily="50" charset="-127"/>
              </a:rPr>
              <a:t>손실충당금의 기말 잔액은 외상매출금 잔액 ￦</a:t>
            </a:r>
            <a:r>
              <a:rPr lang="en-US" altLang="ko-KR" sz="1500" kern="0" dirty="0">
                <a:latin typeface="맑은 고딕" panose="020B0503020000020004" pitchFamily="50" charset="-127"/>
              </a:rPr>
              <a:t>900,000</a:t>
            </a:r>
            <a:r>
              <a:rPr lang="ko-KR" altLang="en-US" sz="1500" kern="0" dirty="0">
                <a:latin typeface="맑은 고딕" panose="020B0503020000020004" pitchFamily="50" charset="-127"/>
              </a:rPr>
              <a:t>의 </a:t>
            </a:r>
            <a:r>
              <a:rPr lang="en-US" altLang="ko-KR" sz="1500" kern="0" dirty="0">
                <a:latin typeface="맑은 고딕" panose="020B0503020000020004" pitchFamily="50" charset="-127"/>
              </a:rPr>
              <a:t>5%</a:t>
            </a:r>
            <a:r>
              <a:rPr lang="ko-KR" altLang="en-US" sz="1500" kern="0" dirty="0">
                <a:latin typeface="맑은 고딕" panose="020B0503020000020004" pitchFamily="50" charset="-127"/>
              </a:rPr>
              <a:t>이므로 ￦</a:t>
            </a:r>
            <a:r>
              <a:rPr lang="en-US" altLang="ko-KR" sz="1500" kern="0" dirty="0">
                <a:latin typeface="맑은 고딕" panose="020B0503020000020004" pitchFamily="50" charset="-127"/>
              </a:rPr>
              <a:t>45,000</a:t>
            </a:r>
            <a:r>
              <a:rPr lang="ko-KR" altLang="en-US" sz="1500" kern="0" dirty="0">
                <a:latin typeface="맑은 고딕" panose="020B0503020000020004" pitchFamily="50" charset="-127"/>
              </a:rPr>
              <a:t>이다</a:t>
            </a:r>
            <a:r>
              <a:rPr lang="en-US" altLang="ko-KR" sz="1500" kern="0" dirty="0">
                <a:latin typeface="맑은 고딕" panose="020B0503020000020004" pitchFamily="50" charset="-127"/>
              </a:rPr>
              <a:t>. 20×1</a:t>
            </a:r>
            <a:r>
              <a:rPr lang="ko-KR" altLang="en-US" sz="1500" kern="0" dirty="0">
                <a:latin typeface="맑은 고딕" panose="020B0503020000020004" pitchFamily="50" charset="-127"/>
              </a:rPr>
              <a:t>년 </a:t>
            </a:r>
            <a:r>
              <a:rPr lang="en-US" altLang="ko-KR" sz="1500" kern="0" dirty="0">
                <a:latin typeface="맑은 고딕" panose="020B0503020000020004" pitchFamily="50" charset="-127"/>
              </a:rPr>
              <a:t>12</a:t>
            </a:r>
            <a:r>
              <a:rPr lang="ko-KR" altLang="en-US" sz="1500" kern="0" dirty="0">
                <a:latin typeface="맑은 고딕" panose="020B0503020000020004" pitchFamily="50" charset="-127"/>
              </a:rPr>
              <a:t>월 </a:t>
            </a:r>
            <a:r>
              <a:rPr lang="en-US" altLang="ko-KR" sz="1500" kern="0" dirty="0">
                <a:latin typeface="맑은 고딕" panose="020B0503020000020004" pitchFamily="50" charset="-127"/>
              </a:rPr>
              <a:t>31</a:t>
            </a:r>
            <a:r>
              <a:rPr lang="ko-KR" altLang="en-US" sz="1500" kern="0" dirty="0">
                <a:latin typeface="맑은 고딕" panose="020B0503020000020004" pitchFamily="50" charset="-127"/>
              </a:rPr>
              <a:t>일의  </a:t>
            </a:r>
            <a:r>
              <a:rPr lang="ko-KR" altLang="en-US" sz="1500" kern="0" dirty="0" smtClean="0">
                <a:latin typeface="맑은 고딕" panose="020B0503020000020004" pitchFamily="50" charset="-127"/>
              </a:rPr>
              <a:t>손실충당금 </a:t>
            </a:r>
            <a:r>
              <a:rPr lang="ko-KR" altLang="en-US" sz="1500" kern="0" dirty="0">
                <a:latin typeface="맑은 고딕" panose="020B0503020000020004" pitchFamily="50" charset="-127"/>
              </a:rPr>
              <a:t>잔액이 ￦</a:t>
            </a:r>
            <a:r>
              <a:rPr lang="en-US" altLang="ko-KR" sz="1500" kern="0" dirty="0">
                <a:latin typeface="맑은 고딕" panose="020B0503020000020004" pitchFamily="50" charset="-127"/>
              </a:rPr>
              <a:t>45,000</a:t>
            </a:r>
            <a:r>
              <a:rPr lang="ko-KR" altLang="en-US" sz="1500" kern="0" dirty="0">
                <a:latin typeface="맑은 고딕" panose="020B0503020000020004" pitchFamily="50" charset="-127"/>
              </a:rPr>
              <a:t>이 되기 위해서는 ￦</a:t>
            </a:r>
            <a:r>
              <a:rPr lang="en-US" altLang="ko-KR" sz="1500" kern="0" dirty="0">
                <a:latin typeface="맑은 고딕" panose="020B0503020000020004" pitchFamily="50" charset="-127"/>
              </a:rPr>
              <a:t>35,000</a:t>
            </a:r>
            <a:r>
              <a:rPr lang="ko-KR" altLang="en-US" sz="1500" kern="0" dirty="0">
                <a:latin typeface="맑은 고딕" panose="020B0503020000020004" pitchFamily="50" charset="-127"/>
              </a:rPr>
              <a:t>만큼의 추가적인 충당금 설정이 </a:t>
            </a:r>
            <a:r>
              <a:rPr lang="ko-KR" altLang="en-US" sz="1500" kern="0" dirty="0" smtClean="0">
                <a:latin typeface="맑은 고딕" panose="020B0503020000020004" pitchFamily="50" charset="-127"/>
              </a:rPr>
              <a:t>필요하다</a:t>
            </a:r>
            <a:r>
              <a:rPr lang="en-US" altLang="ko-KR" sz="1500" kern="0" dirty="0">
                <a:latin typeface="맑은 고딕" panose="020B0503020000020004" pitchFamily="50" charset="-127"/>
              </a:rPr>
              <a:t>.</a:t>
            </a:r>
          </a:p>
        </p:txBody>
      </p:sp>
      <p:sp>
        <p:nvSpPr>
          <p:cNvPr id="27" name="Rectangle 12"/>
          <p:cNvSpPr>
            <a:spLocks noChangeArrowheads="1"/>
          </p:cNvSpPr>
          <p:nvPr/>
        </p:nvSpPr>
        <p:spPr bwMode="auto">
          <a:xfrm>
            <a:off x="1133517" y="2740443"/>
            <a:ext cx="7200000" cy="40961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txBody>
          <a:bodyPr lIns="99477" tIns="49735" rIns="99477" bIns="49735" anchor="ctr" anchorCtr="0"/>
          <a:lstStyle>
            <a:lvl1pPr algn="l" defTabSz="995363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 defTabSz="995363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 defTabSz="995363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 defTabSz="995363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 defTabSz="995363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95363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      (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차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) </a:t>
            </a:r>
            <a:r>
              <a:rPr lang="ko-KR" altLang="en-US" sz="1400" b="1" kern="0" dirty="0" err="1">
                <a:latin typeface="맑은 고딕" panose="020B0503020000020004" pitchFamily="50" charset="-127"/>
              </a:rPr>
              <a:t>매출채권손상차손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 </a:t>
            </a:r>
            <a:r>
              <a:rPr lang="en-US" altLang="ko-KR" sz="1400" b="1" kern="0" dirty="0">
                <a:latin typeface="맑은 고딕" panose="020B0503020000020004" pitchFamily="50" charset="-127"/>
              </a:rPr>
              <a:t>  </a:t>
            </a:r>
            <a:r>
              <a:rPr kumimoji="0" lang="en-US" altLang="ko-KR" sz="1400" b="1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   35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,000           (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대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) </a:t>
            </a:r>
            <a:r>
              <a:rPr lang="ko-KR" altLang="en-US" sz="1400" b="1" kern="0" dirty="0">
                <a:latin typeface="맑은 고딕" panose="020B0503020000020004" pitchFamily="50" charset="-127"/>
              </a:rPr>
              <a:t>손실충당금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             </a:t>
            </a:r>
            <a:r>
              <a:rPr lang="en-US" altLang="ko-KR" sz="1400" b="1" kern="0" dirty="0">
                <a:latin typeface="맑은 고딕" panose="020B0503020000020004" pitchFamily="50" charset="-127"/>
              </a:rPr>
              <a:t>   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35,000      </a:t>
            </a:r>
          </a:p>
        </p:txBody>
      </p:sp>
      <p:sp>
        <p:nvSpPr>
          <p:cNvPr id="28" name="Rectangle 12"/>
          <p:cNvSpPr>
            <a:spLocks noChangeArrowheads="1"/>
          </p:cNvSpPr>
          <p:nvPr/>
        </p:nvSpPr>
        <p:spPr bwMode="auto">
          <a:xfrm>
            <a:off x="607737" y="3520885"/>
            <a:ext cx="8124783" cy="882833"/>
          </a:xfrm>
          <a:prstGeom prst="rect">
            <a:avLst/>
          </a:prstGeom>
          <a:noFill/>
          <a:ln>
            <a:noFill/>
          </a:ln>
        </p:spPr>
        <p:txBody>
          <a:bodyPr lIns="99477" tIns="49735" rIns="99477" bIns="49735"/>
          <a:lstStyle>
            <a:lvl1pPr algn="l" defTabSz="995363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 defTabSz="995363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 defTabSz="995363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 defTabSz="995363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 defTabSz="995363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buNone/>
            </a:pPr>
            <a:r>
              <a:rPr lang="ko-KR" altLang="en-US" sz="1500" dirty="0"/>
              <a:t>만약 기대신용손실금액이 ￦</a:t>
            </a:r>
            <a:r>
              <a:rPr lang="en-US" altLang="ko-KR" sz="1500" dirty="0"/>
              <a:t>45,000</a:t>
            </a:r>
            <a:r>
              <a:rPr lang="ko-KR" altLang="en-US" sz="1500" dirty="0"/>
              <a:t>이 아니라 ￦</a:t>
            </a:r>
            <a:r>
              <a:rPr lang="en-US" altLang="ko-KR" sz="1500" dirty="0"/>
              <a:t>9,000</a:t>
            </a:r>
            <a:r>
              <a:rPr lang="ko-KR" altLang="en-US" sz="1500" dirty="0"/>
              <a:t>이라고 가정해보자</a:t>
            </a:r>
            <a:r>
              <a:rPr lang="en-US" altLang="ko-KR" sz="1500" dirty="0"/>
              <a:t>. </a:t>
            </a:r>
            <a:r>
              <a:rPr lang="ko-KR" altLang="en-US" sz="1500" dirty="0"/>
              <a:t>그렇다면 기말 회계처리 전 손실충당금 잔액이 ￦</a:t>
            </a:r>
            <a:r>
              <a:rPr lang="en-US" altLang="ko-KR" sz="1500" dirty="0"/>
              <a:t>10,000</a:t>
            </a:r>
            <a:r>
              <a:rPr lang="ko-KR" altLang="en-US" sz="1500" dirty="0"/>
              <a:t>이므로</a:t>
            </a:r>
            <a:r>
              <a:rPr lang="en-US" altLang="ko-KR" sz="1500" dirty="0"/>
              <a:t>, </a:t>
            </a:r>
            <a:r>
              <a:rPr lang="ko-KR" altLang="en-US" sz="1500" dirty="0"/>
              <a:t>￦</a:t>
            </a:r>
            <a:r>
              <a:rPr lang="en-US" altLang="ko-KR" sz="1500" dirty="0"/>
              <a:t>1,000</a:t>
            </a:r>
            <a:r>
              <a:rPr lang="ko-KR" altLang="en-US" sz="1500" dirty="0"/>
              <a:t>만큼은 불필요하다</a:t>
            </a:r>
            <a:r>
              <a:rPr lang="en-US" altLang="ko-KR" sz="1500" dirty="0"/>
              <a:t>. </a:t>
            </a:r>
            <a:r>
              <a:rPr lang="ko-KR" altLang="en-US" sz="1500" dirty="0"/>
              <a:t>이 불필요한 ￦</a:t>
            </a:r>
            <a:r>
              <a:rPr lang="en-US" altLang="ko-KR" sz="1500" dirty="0"/>
              <a:t>1,000</a:t>
            </a:r>
            <a:r>
              <a:rPr lang="ko-KR" altLang="en-US" sz="1500" dirty="0"/>
              <a:t>은 다음 회계처리를 통해 환입한다</a:t>
            </a:r>
            <a:r>
              <a:rPr lang="en-US" altLang="ko-KR" sz="1500" dirty="0"/>
              <a:t>.</a:t>
            </a:r>
            <a:endParaRPr lang="ko-KR" altLang="en-US" sz="1500" dirty="0"/>
          </a:p>
        </p:txBody>
      </p:sp>
      <p:sp>
        <p:nvSpPr>
          <p:cNvPr id="29" name="Rectangle 12"/>
          <p:cNvSpPr>
            <a:spLocks noChangeArrowheads="1"/>
          </p:cNvSpPr>
          <p:nvPr/>
        </p:nvSpPr>
        <p:spPr bwMode="auto">
          <a:xfrm>
            <a:off x="1133517" y="4403717"/>
            <a:ext cx="7200000" cy="4320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txBody>
          <a:bodyPr lIns="99477" tIns="49735" rIns="99477" bIns="49735" anchor="ctr" anchorCtr="0"/>
          <a:lstStyle>
            <a:lvl1pPr algn="l" defTabSz="995363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 defTabSz="995363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 defTabSz="995363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 defTabSz="995363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 defTabSz="995363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95363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      (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차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) 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손실충당금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	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         </a:t>
            </a:r>
            <a:r>
              <a:rPr lang="en-US" altLang="ko-KR" sz="1400" b="1" kern="0" dirty="0">
                <a:latin typeface="맑은 고딕" panose="020B0503020000020004" pitchFamily="50" charset="-127"/>
              </a:rPr>
              <a:t>1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,000           (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대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) 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손실</a:t>
            </a:r>
            <a:r>
              <a:rPr lang="ko-KR" altLang="en-US" sz="1400" b="1" kern="0" dirty="0">
                <a:latin typeface="맑은 고딕" panose="020B0503020000020004" pitchFamily="50" charset="-127"/>
              </a:rPr>
              <a:t>충당</a:t>
            </a:r>
            <a:r>
              <a:rPr kumimoji="0" lang="ko-KR" altLang="en-US" sz="1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금환입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            </a:t>
            </a:r>
            <a:r>
              <a:rPr lang="en-US" altLang="ko-KR" sz="1400" b="1" kern="0" dirty="0">
                <a:latin typeface="맑은 고딕" panose="020B0503020000020004" pitchFamily="50" charset="-127"/>
              </a:rPr>
              <a:t>1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,000</a:t>
            </a:r>
          </a:p>
        </p:txBody>
      </p:sp>
      <p:sp>
        <p:nvSpPr>
          <p:cNvPr id="30" name="Rectangle 12"/>
          <p:cNvSpPr>
            <a:spLocks noChangeArrowheads="1"/>
          </p:cNvSpPr>
          <p:nvPr/>
        </p:nvSpPr>
        <p:spPr bwMode="auto">
          <a:xfrm>
            <a:off x="607737" y="4924101"/>
            <a:ext cx="8124783" cy="1008062"/>
          </a:xfrm>
          <a:prstGeom prst="rect">
            <a:avLst/>
          </a:prstGeom>
          <a:noFill/>
          <a:ln>
            <a:noFill/>
          </a:ln>
        </p:spPr>
        <p:txBody>
          <a:bodyPr lIns="99477" tIns="49735" rIns="99477" bIns="49735"/>
          <a:lstStyle>
            <a:lvl1pPr algn="l" defTabSz="995363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 defTabSz="995363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 defTabSz="995363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 defTabSz="995363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 defTabSz="995363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buNone/>
            </a:pPr>
            <a:endParaRPr lang="en-US" altLang="ko-KR" sz="1500" dirty="0"/>
          </a:p>
          <a:p>
            <a:pPr fontAlgn="base">
              <a:buNone/>
            </a:pPr>
            <a:r>
              <a:rPr lang="ko-KR" altLang="en-US" sz="1500" b="1" dirty="0" err="1"/>
              <a:t>손실충당금환입계정은</a:t>
            </a:r>
            <a:r>
              <a:rPr lang="ko-KR" altLang="en-US" sz="1500" b="1" dirty="0"/>
              <a:t> 포괄손익계산서의 판매관리비에서 차감하는 차감계정이다</a:t>
            </a:r>
            <a:r>
              <a:rPr lang="en-US" altLang="ko-KR" sz="1500" dirty="0"/>
              <a:t>. </a:t>
            </a:r>
            <a:r>
              <a:rPr lang="ko-KR" altLang="en-US" sz="1500" dirty="0"/>
              <a:t>따라서 이 회계처리 후 판매관리비가 감소하기 때문에 이익이 증가하게 된다</a:t>
            </a:r>
            <a:r>
              <a:rPr lang="en-US" altLang="ko-KR" sz="1500" dirty="0"/>
              <a:t>.</a:t>
            </a:r>
            <a:endParaRPr lang="ko-KR" altLang="en-US" sz="1500" dirty="0"/>
          </a:p>
        </p:txBody>
      </p:sp>
    </p:spTree>
    <p:extLst>
      <p:ext uri="{BB962C8B-B14F-4D97-AF65-F5344CB8AC3E}">
        <p14:creationId xmlns:p14="http://schemas.microsoft.com/office/powerpoint/2010/main" val="41891105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/>
          <p:cNvGrpSpPr/>
          <p:nvPr/>
        </p:nvGrpSpPr>
        <p:grpSpPr>
          <a:xfrm>
            <a:off x="187213" y="1098616"/>
            <a:ext cx="8711460" cy="4074746"/>
            <a:chOff x="190714" y="1320886"/>
            <a:chExt cx="8711460" cy="4074746"/>
          </a:xfrm>
        </p:grpSpPr>
        <p:grpSp>
          <p:nvGrpSpPr>
            <p:cNvPr id="6" name="그룹 5"/>
            <p:cNvGrpSpPr/>
            <p:nvPr/>
          </p:nvGrpSpPr>
          <p:grpSpPr>
            <a:xfrm>
              <a:off x="361935" y="1461499"/>
              <a:ext cx="8540239" cy="3934133"/>
              <a:chOff x="269048" y="1722741"/>
              <a:chExt cx="8648775" cy="3934133"/>
            </a:xfrm>
          </p:grpSpPr>
          <p:sp>
            <p:nvSpPr>
              <p:cNvPr id="14" name="Rectangle 15"/>
              <p:cNvSpPr>
                <a:spLocks noChangeArrowheads="1"/>
              </p:cNvSpPr>
              <p:nvPr/>
            </p:nvSpPr>
            <p:spPr bwMode="auto">
              <a:xfrm>
                <a:off x="269048" y="1746440"/>
                <a:ext cx="8641369" cy="3910434"/>
              </a:xfrm>
              <a:prstGeom prst="foldedCorner">
                <a:avLst>
                  <a:gd name="adj" fmla="val 5125"/>
                </a:avLst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txBody>
              <a:bodyPr lIns="74608" tIns="37301" rIns="74608" bIns="37301" anchor="ctr"/>
              <a:lstStyle>
                <a:lvl1pPr algn="l" defTabSz="995363">
                  <a:spcBef>
                    <a:spcPct val="20000"/>
                  </a:spcBef>
                  <a:buClr>
                    <a:schemeClr val="tx2"/>
                  </a:buClr>
                  <a:buSzPct val="115000"/>
                  <a:buFont typeface="Wingdings" panose="05000000000000000000" pitchFamily="2" charset="2"/>
                  <a:buChar char="§"/>
                  <a:defRPr sz="28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 algn="l" defTabSz="995363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 algn="l" defTabSz="995363">
                  <a:spcBef>
                    <a:spcPct val="20000"/>
                  </a:spcBef>
                  <a:buChar char="•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 algn="l" defTabSz="995363">
                  <a:spcBef>
                    <a:spcPct val="20000"/>
                  </a:spcBef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 algn="l" defTabSz="995363">
                  <a:spcBef>
                    <a:spcPct val="20000"/>
                  </a:spcBef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ko-KR" altLang="en-US" sz="1400" dirty="0"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15" name="직사각형 14"/>
              <p:cNvSpPr/>
              <p:nvPr/>
            </p:nvSpPr>
            <p:spPr>
              <a:xfrm>
                <a:off x="277823" y="1722741"/>
                <a:ext cx="8640000" cy="45719"/>
              </a:xfrm>
              <a:prstGeom prst="rect">
                <a:avLst/>
              </a:prstGeom>
              <a:solidFill>
                <a:srgbClr val="2D61C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7" name="그룹 6"/>
            <p:cNvGrpSpPr/>
            <p:nvPr/>
          </p:nvGrpSpPr>
          <p:grpSpPr>
            <a:xfrm>
              <a:off x="190714" y="1320886"/>
              <a:ext cx="2784358" cy="326952"/>
              <a:chOff x="190714" y="1320889"/>
              <a:chExt cx="2381807" cy="290354"/>
            </a:xfrm>
            <a:solidFill>
              <a:srgbClr val="2D61C8"/>
            </a:solidFill>
          </p:grpSpPr>
          <p:grpSp>
            <p:nvGrpSpPr>
              <p:cNvPr id="8" name="그룹 7"/>
              <p:cNvGrpSpPr/>
              <p:nvPr/>
            </p:nvGrpSpPr>
            <p:grpSpPr>
              <a:xfrm>
                <a:off x="190714" y="1320889"/>
                <a:ext cx="2381807" cy="290354"/>
                <a:chOff x="405822" y="2237753"/>
                <a:chExt cx="2381807" cy="290354"/>
              </a:xfrm>
              <a:grpFill/>
            </p:grpSpPr>
            <p:sp>
              <p:nvSpPr>
                <p:cNvPr id="10" name="타원 9"/>
                <p:cNvSpPr/>
                <p:nvPr/>
              </p:nvSpPr>
              <p:spPr>
                <a:xfrm>
                  <a:off x="405822" y="2237753"/>
                  <a:ext cx="290351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1" name="타원 10"/>
                <p:cNvSpPr/>
                <p:nvPr/>
              </p:nvSpPr>
              <p:spPr>
                <a:xfrm>
                  <a:off x="2497278" y="2237753"/>
                  <a:ext cx="290351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2" name="직사각형 11"/>
                <p:cNvSpPr/>
                <p:nvPr/>
              </p:nvSpPr>
              <p:spPr>
                <a:xfrm>
                  <a:off x="542512" y="2237755"/>
                  <a:ext cx="2098650" cy="290352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1600" b="1" dirty="0"/>
                    <a:t>예제 </a:t>
                  </a:r>
                  <a:r>
                    <a:rPr lang="en-US" altLang="ko-KR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5-8</a:t>
                  </a:r>
                  <a:r>
                    <a:rPr lang="ko-KR" altLang="en-US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 손상의 발생</a:t>
                  </a:r>
                  <a:endParaRPr lang="ko-KR" altLang="en-US" sz="1600" b="1" dirty="0"/>
                </a:p>
              </p:txBody>
            </p:sp>
            <p:sp>
              <p:nvSpPr>
                <p:cNvPr id="13" name="타원 12"/>
                <p:cNvSpPr/>
                <p:nvPr/>
              </p:nvSpPr>
              <p:spPr>
                <a:xfrm>
                  <a:off x="427833" y="2256153"/>
                  <a:ext cx="253549" cy="25354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pic>
            <p:nvPicPr>
              <p:cNvPr id="9" name="그림 8" descr="Log in | Sign Up Upload Clipart"/>
              <p:cNvPicPr>
                <a:picLocks noChangeAspect="1"/>
              </p:cNvPicPr>
              <p:nvPr/>
            </p:nvPicPr>
            <p:blipFill>
              <a:blip r:embed="rId2" cstate="email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265229" y="1359640"/>
                <a:ext cx="147147" cy="229618"/>
              </a:xfrm>
              <a:prstGeom prst="rect">
                <a:avLst/>
              </a:prstGeom>
            </p:spPr>
          </p:pic>
        </p:grpSp>
      </p:grp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23</a:t>
            </a:fld>
            <a:endParaRPr lang="ko-KR" altLang="en-US" dirty="0"/>
          </a:p>
        </p:txBody>
      </p:sp>
      <p:sp>
        <p:nvSpPr>
          <p:cNvPr id="40" name="Rectangle 12"/>
          <p:cNvSpPr>
            <a:spLocks noChangeArrowheads="1"/>
          </p:cNvSpPr>
          <p:nvPr/>
        </p:nvSpPr>
        <p:spPr bwMode="auto">
          <a:xfrm>
            <a:off x="446339" y="2683646"/>
            <a:ext cx="8274752" cy="1655762"/>
          </a:xfrm>
          <a:prstGeom prst="rect">
            <a:avLst/>
          </a:prstGeom>
          <a:noFill/>
          <a:ln>
            <a:noFill/>
          </a:ln>
        </p:spPr>
        <p:txBody>
          <a:bodyPr lIns="99477" tIns="49735" rIns="99477" bIns="49735"/>
          <a:lstStyle>
            <a:lvl1pPr algn="l" defTabSz="995363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 defTabSz="995363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 defTabSz="995363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 defTabSz="995363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 defTabSz="995363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95363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5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      </a:t>
            </a:r>
          </a:p>
        </p:txBody>
      </p:sp>
      <p:sp>
        <p:nvSpPr>
          <p:cNvPr id="42" name="Rectangle 12"/>
          <p:cNvSpPr>
            <a:spLocks noChangeArrowheads="1"/>
          </p:cNvSpPr>
          <p:nvPr/>
        </p:nvSpPr>
        <p:spPr bwMode="auto">
          <a:xfrm>
            <a:off x="446339" y="4339408"/>
            <a:ext cx="8274752" cy="1944688"/>
          </a:xfrm>
          <a:prstGeom prst="rect">
            <a:avLst/>
          </a:prstGeom>
          <a:noFill/>
          <a:ln>
            <a:noFill/>
          </a:ln>
        </p:spPr>
        <p:txBody>
          <a:bodyPr lIns="99477" tIns="49735" rIns="99477" bIns="49735"/>
          <a:lstStyle>
            <a:lvl1pPr algn="l" defTabSz="995363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 defTabSz="995363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 defTabSz="995363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 defTabSz="995363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 defTabSz="995363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95363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5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</a:endParaRP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0149291"/>
              </p:ext>
            </p:extLst>
          </p:nvPr>
        </p:nvGraphicFramePr>
        <p:xfrm>
          <a:off x="613059" y="1710771"/>
          <a:ext cx="3850641" cy="1113491"/>
        </p:xfrm>
        <a:graphic>
          <a:graphicData uri="http://schemas.openxmlformats.org/drawingml/2006/table">
            <a:tbl>
              <a:tblPr/>
              <a:tblGrid>
                <a:gridCol w="869580">
                  <a:extLst>
                    <a:ext uri="{9D8B030D-6E8A-4147-A177-3AD203B41FA5}">
                      <a16:colId xmlns="" xmlns:a16="http://schemas.microsoft.com/office/drawing/2014/main" val="669908440"/>
                    </a:ext>
                  </a:extLst>
                </a:gridCol>
                <a:gridCol w="1119460">
                  <a:extLst>
                    <a:ext uri="{9D8B030D-6E8A-4147-A177-3AD203B41FA5}">
                      <a16:colId xmlns="" xmlns:a16="http://schemas.microsoft.com/office/drawing/2014/main" val="1872679745"/>
                    </a:ext>
                  </a:extLst>
                </a:gridCol>
                <a:gridCol w="819604">
                  <a:extLst>
                    <a:ext uri="{9D8B030D-6E8A-4147-A177-3AD203B41FA5}">
                      <a16:colId xmlns="" xmlns:a16="http://schemas.microsoft.com/office/drawing/2014/main" val="4272238239"/>
                    </a:ext>
                  </a:extLst>
                </a:gridCol>
                <a:gridCol w="1041997">
                  <a:extLst>
                    <a:ext uri="{9D8B030D-6E8A-4147-A177-3AD203B41FA5}">
                      <a16:colId xmlns="" xmlns:a16="http://schemas.microsoft.com/office/drawing/2014/main" val="2819414319"/>
                    </a:ext>
                  </a:extLst>
                </a:gridCol>
              </a:tblGrid>
              <a:tr h="281487">
                <a:tc gridSpan="4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외상매출금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19800540"/>
                  </a:ext>
                </a:extLst>
              </a:tr>
              <a:tr h="281487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 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₩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600,000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 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1,180,000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431895130"/>
                  </a:ext>
                </a:extLst>
              </a:tr>
              <a:tr h="242145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 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1,500,000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 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20,000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363616859"/>
                  </a:ext>
                </a:extLst>
              </a:tr>
              <a:tr h="308372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잔액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₩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900,000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20638229"/>
                  </a:ext>
                </a:extLst>
              </a:tr>
            </a:tbl>
          </a:graphicData>
        </a:graphic>
      </p:graphicFrame>
      <p:graphicFrame>
        <p:nvGraphicFramePr>
          <p:cNvPr id="17" name="표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5860032"/>
              </p:ext>
            </p:extLst>
          </p:nvPr>
        </p:nvGraphicFramePr>
        <p:xfrm>
          <a:off x="4892040" y="1768437"/>
          <a:ext cx="3840481" cy="1098179"/>
        </p:xfrm>
        <a:graphic>
          <a:graphicData uri="http://schemas.openxmlformats.org/drawingml/2006/table">
            <a:tbl>
              <a:tblPr/>
              <a:tblGrid>
                <a:gridCol w="1243446">
                  <a:extLst>
                    <a:ext uri="{9D8B030D-6E8A-4147-A177-3AD203B41FA5}">
                      <a16:colId xmlns="" xmlns:a16="http://schemas.microsoft.com/office/drawing/2014/main" val="3735298326"/>
                    </a:ext>
                  </a:extLst>
                </a:gridCol>
                <a:gridCol w="823168">
                  <a:extLst>
                    <a:ext uri="{9D8B030D-6E8A-4147-A177-3AD203B41FA5}">
                      <a16:colId xmlns="" xmlns:a16="http://schemas.microsoft.com/office/drawing/2014/main" val="3051439401"/>
                    </a:ext>
                  </a:extLst>
                </a:gridCol>
                <a:gridCol w="1147797">
                  <a:extLst>
                    <a:ext uri="{9D8B030D-6E8A-4147-A177-3AD203B41FA5}">
                      <a16:colId xmlns="" xmlns:a16="http://schemas.microsoft.com/office/drawing/2014/main" val="3328652597"/>
                    </a:ext>
                  </a:extLst>
                </a:gridCol>
                <a:gridCol w="626070">
                  <a:extLst>
                    <a:ext uri="{9D8B030D-6E8A-4147-A177-3AD203B41FA5}">
                      <a16:colId xmlns="" xmlns:a16="http://schemas.microsoft.com/office/drawing/2014/main" val="3259057289"/>
                    </a:ext>
                  </a:extLst>
                </a:gridCol>
              </a:tblGrid>
              <a:tr h="211583">
                <a:tc gridSpan="4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손실충당금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17471602"/>
                  </a:ext>
                </a:extLst>
              </a:tr>
              <a:tr h="211583">
                <a:tc>
                  <a:txBody>
                    <a:bodyPr/>
                    <a:lstStyle/>
                    <a:p>
                      <a:pPr algn="just" rtl="0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 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₩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20,000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 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30,000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4205231692"/>
                  </a:ext>
                </a:extLst>
              </a:tr>
              <a:tr h="368564">
                <a:tc>
                  <a:txBody>
                    <a:bodyPr/>
                    <a:lstStyle/>
                    <a:p>
                      <a:pPr algn="l" fontAlgn="ctr"/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대손설정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35,000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3885333714"/>
                  </a:ext>
                </a:extLst>
              </a:tr>
              <a:tr h="203393">
                <a:tc>
                  <a:txBody>
                    <a:bodyPr/>
                    <a:lstStyle/>
                    <a:p>
                      <a:pPr algn="l" fontAlgn="ctr"/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잔액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400" b="0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45,000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2145182817"/>
                  </a:ext>
                </a:extLst>
              </a:tr>
            </a:tbl>
          </a:graphicData>
        </a:graphic>
      </p:graphicFrame>
      <p:graphicFrame>
        <p:nvGraphicFramePr>
          <p:cNvPr id="19" name="표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3787941"/>
              </p:ext>
            </p:extLst>
          </p:nvPr>
        </p:nvGraphicFramePr>
        <p:xfrm>
          <a:off x="2577284" y="3312391"/>
          <a:ext cx="3914140" cy="1350170"/>
        </p:xfrm>
        <a:graphic>
          <a:graphicData uri="http://schemas.openxmlformats.org/drawingml/2006/table">
            <a:tbl>
              <a:tblPr/>
              <a:tblGrid>
                <a:gridCol w="2504546">
                  <a:extLst>
                    <a:ext uri="{9D8B030D-6E8A-4147-A177-3AD203B41FA5}">
                      <a16:colId xmlns="" xmlns:a16="http://schemas.microsoft.com/office/drawing/2014/main" val="885361905"/>
                    </a:ext>
                  </a:extLst>
                </a:gridCol>
                <a:gridCol w="1409594">
                  <a:extLst>
                    <a:ext uri="{9D8B030D-6E8A-4147-A177-3AD203B41FA5}">
                      <a16:colId xmlns="" xmlns:a16="http://schemas.microsoft.com/office/drawing/2014/main" val="1049745772"/>
                    </a:ext>
                  </a:extLst>
                </a:gridCol>
              </a:tblGrid>
              <a:tr h="191058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부분재무상태표</a:t>
                      </a:r>
                      <a:r>
                        <a:rPr lang="en-US" altLang="ko-K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(20×1</a:t>
                      </a:r>
                      <a:r>
                        <a:rPr lang="ko-KR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 </a:t>
                      </a:r>
                      <a:r>
                        <a:rPr lang="en-US" altLang="ko-K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</a:t>
                      </a:r>
                      <a:r>
                        <a:rPr lang="ko-KR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 </a:t>
                      </a:r>
                      <a:r>
                        <a:rPr lang="en-US" altLang="ko-K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31</a:t>
                      </a:r>
                      <a:r>
                        <a:rPr lang="ko-KR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</a:t>
                      </a:r>
                      <a:r>
                        <a:rPr lang="en-US" altLang="ko-K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539385682"/>
                  </a:ext>
                </a:extLst>
              </a:tr>
              <a:tr h="243314">
                <a:tc>
                  <a:txBody>
                    <a:bodyPr/>
                    <a:lstStyle/>
                    <a:p>
                      <a:pPr algn="just" rtl="0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유동자산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4159804907"/>
                  </a:ext>
                </a:extLst>
              </a:tr>
              <a:tr h="193296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매출채권</a:t>
                      </a:r>
                    </a:p>
                  </a:txBody>
                  <a:tcPr marL="285750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   ₩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900,000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996357806"/>
                  </a:ext>
                </a:extLst>
              </a:tr>
              <a:tr h="33671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400" b="0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손실충당금</a:t>
                      </a:r>
                    </a:p>
                  </a:txBody>
                  <a:tcPr marL="285750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(45,000)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2489855030"/>
                  </a:ext>
                </a:extLst>
              </a:tr>
              <a:tr h="243314">
                <a:tc>
                  <a:txBody>
                    <a:bodyPr/>
                    <a:lstStyle/>
                    <a:p>
                      <a:pPr algn="l" fontAlgn="ctr"/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   ₩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855,000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7285224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99423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/>
          <p:cNvGrpSpPr/>
          <p:nvPr/>
        </p:nvGrpSpPr>
        <p:grpSpPr>
          <a:xfrm>
            <a:off x="187213" y="1366200"/>
            <a:ext cx="8711460" cy="2599310"/>
            <a:chOff x="190714" y="1320886"/>
            <a:chExt cx="8711460" cy="2145964"/>
          </a:xfrm>
        </p:grpSpPr>
        <p:grpSp>
          <p:nvGrpSpPr>
            <p:cNvPr id="6" name="그룹 5"/>
            <p:cNvGrpSpPr/>
            <p:nvPr/>
          </p:nvGrpSpPr>
          <p:grpSpPr>
            <a:xfrm>
              <a:off x="361935" y="1461499"/>
              <a:ext cx="8540239" cy="2005351"/>
              <a:chOff x="269048" y="1722741"/>
              <a:chExt cx="8648775" cy="2005351"/>
            </a:xfrm>
          </p:grpSpPr>
          <p:sp>
            <p:nvSpPr>
              <p:cNvPr id="14" name="Rectangle 15"/>
              <p:cNvSpPr>
                <a:spLocks noChangeArrowheads="1"/>
              </p:cNvSpPr>
              <p:nvPr/>
            </p:nvSpPr>
            <p:spPr bwMode="auto">
              <a:xfrm>
                <a:off x="269048" y="1746440"/>
                <a:ext cx="8641369" cy="1981652"/>
              </a:xfrm>
              <a:prstGeom prst="foldedCorner">
                <a:avLst>
                  <a:gd name="adj" fmla="val 5125"/>
                </a:avLst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txBody>
              <a:bodyPr lIns="74608" tIns="37301" rIns="74608" bIns="37301" anchor="ctr"/>
              <a:lstStyle>
                <a:lvl1pPr algn="l" defTabSz="995363">
                  <a:spcBef>
                    <a:spcPct val="20000"/>
                  </a:spcBef>
                  <a:buClr>
                    <a:schemeClr val="tx2"/>
                  </a:buClr>
                  <a:buSzPct val="115000"/>
                  <a:buFont typeface="Wingdings" panose="05000000000000000000" pitchFamily="2" charset="2"/>
                  <a:buChar char="§"/>
                  <a:defRPr sz="28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 algn="l" defTabSz="995363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 algn="l" defTabSz="995363">
                  <a:spcBef>
                    <a:spcPct val="20000"/>
                  </a:spcBef>
                  <a:buChar char="•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 algn="l" defTabSz="995363">
                  <a:spcBef>
                    <a:spcPct val="20000"/>
                  </a:spcBef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 algn="l" defTabSz="995363">
                  <a:spcBef>
                    <a:spcPct val="20000"/>
                  </a:spcBef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ko-KR" altLang="en-US" sz="1400" dirty="0"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15" name="직사각형 14"/>
              <p:cNvSpPr/>
              <p:nvPr/>
            </p:nvSpPr>
            <p:spPr>
              <a:xfrm>
                <a:off x="277823" y="1722741"/>
                <a:ext cx="8640000" cy="45719"/>
              </a:xfrm>
              <a:prstGeom prst="rect">
                <a:avLst/>
              </a:prstGeom>
              <a:solidFill>
                <a:srgbClr val="2D61C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7" name="그룹 6"/>
            <p:cNvGrpSpPr/>
            <p:nvPr/>
          </p:nvGrpSpPr>
          <p:grpSpPr>
            <a:xfrm>
              <a:off x="190714" y="1320886"/>
              <a:ext cx="3573904" cy="326952"/>
              <a:chOff x="190714" y="1320889"/>
              <a:chExt cx="3057204" cy="290354"/>
            </a:xfrm>
            <a:solidFill>
              <a:srgbClr val="2D61C8"/>
            </a:solidFill>
          </p:grpSpPr>
          <p:grpSp>
            <p:nvGrpSpPr>
              <p:cNvPr id="8" name="그룹 7"/>
              <p:cNvGrpSpPr/>
              <p:nvPr/>
            </p:nvGrpSpPr>
            <p:grpSpPr>
              <a:xfrm>
                <a:off x="190714" y="1320889"/>
                <a:ext cx="3057204" cy="290354"/>
                <a:chOff x="405822" y="2237753"/>
                <a:chExt cx="3057204" cy="290354"/>
              </a:xfrm>
              <a:grpFill/>
            </p:grpSpPr>
            <p:sp>
              <p:nvSpPr>
                <p:cNvPr id="10" name="타원 9"/>
                <p:cNvSpPr/>
                <p:nvPr/>
              </p:nvSpPr>
              <p:spPr>
                <a:xfrm>
                  <a:off x="405822" y="2237753"/>
                  <a:ext cx="290351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1" name="타원 10"/>
                <p:cNvSpPr/>
                <p:nvPr/>
              </p:nvSpPr>
              <p:spPr>
                <a:xfrm>
                  <a:off x="2497278" y="2237753"/>
                  <a:ext cx="290351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2" name="직사각형 11"/>
                <p:cNvSpPr/>
                <p:nvPr/>
              </p:nvSpPr>
              <p:spPr>
                <a:xfrm>
                  <a:off x="542512" y="2237755"/>
                  <a:ext cx="2920514" cy="290352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1600" b="1" dirty="0"/>
                    <a:t>예제 </a:t>
                  </a:r>
                  <a:r>
                    <a:rPr lang="en-US" altLang="ko-KR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5-9</a:t>
                  </a:r>
                  <a:r>
                    <a:rPr lang="ko-KR" altLang="en-US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 손상처리한 채권의 회수</a:t>
                  </a:r>
                  <a:endParaRPr lang="ko-KR" altLang="en-US" sz="1600" b="1" dirty="0"/>
                </a:p>
              </p:txBody>
            </p:sp>
            <p:sp>
              <p:nvSpPr>
                <p:cNvPr id="13" name="타원 12"/>
                <p:cNvSpPr/>
                <p:nvPr/>
              </p:nvSpPr>
              <p:spPr>
                <a:xfrm>
                  <a:off x="427833" y="2256153"/>
                  <a:ext cx="253549" cy="25354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pic>
            <p:nvPicPr>
              <p:cNvPr id="9" name="그림 8" descr="Log in | Sign Up Upload Clipart"/>
              <p:cNvPicPr>
                <a:picLocks noChangeAspect="1"/>
              </p:cNvPicPr>
              <p:nvPr/>
            </p:nvPicPr>
            <p:blipFill>
              <a:blip r:embed="rId2" cstate="email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265229" y="1359640"/>
                <a:ext cx="147147" cy="229618"/>
              </a:xfrm>
              <a:prstGeom prst="rect">
                <a:avLst/>
              </a:prstGeom>
            </p:spPr>
          </p:pic>
        </p:grpSp>
      </p:grp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24</a:t>
            </a:fld>
            <a:endParaRPr lang="ko-KR" altLang="en-US" dirty="0"/>
          </a:p>
        </p:txBody>
      </p:sp>
      <p:sp>
        <p:nvSpPr>
          <p:cNvPr id="40" name="Rectangle 12"/>
          <p:cNvSpPr>
            <a:spLocks noChangeArrowheads="1"/>
          </p:cNvSpPr>
          <p:nvPr/>
        </p:nvSpPr>
        <p:spPr bwMode="auto">
          <a:xfrm>
            <a:off x="446339" y="2441275"/>
            <a:ext cx="8274752" cy="1655762"/>
          </a:xfrm>
          <a:prstGeom prst="rect">
            <a:avLst/>
          </a:prstGeom>
          <a:noFill/>
          <a:ln>
            <a:noFill/>
          </a:ln>
        </p:spPr>
        <p:txBody>
          <a:bodyPr lIns="99477" tIns="49735" rIns="99477" bIns="49735"/>
          <a:lstStyle>
            <a:lvl1pPr algn="l" defTabSz="995363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 defTabSz="995363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 defTabSz="995363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 defTabSz="995363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 defTabSz="995363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95363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5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      </a:t>
            </a:r>
          </a:p>
        </p:txBody>
      </p:sp>
      <p:sp>
        <p:nvSpPr>
          <p:cNvPr id="23" name="Rectangle 12"/>
          <p:cNvSpPr>
            <a:spLocks noChangeArrowheads="1"/>
          </p:cNvSpPr>
          <p:nvPr/>
        </p:nvSpPr>
        <p:spPr bwMode="auto">
          <a:xfrm>
            <a:off x="983715" y="2329367"/>
            <a:ext cx="7200000" cy="51592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txBody>
          <a:bodyPr lIns="99477" tIns="49735" rIns="99477" bIns="49735" anchor="ctr"/>
          <a:lstStyle/>
          <a:p>
            <a:pPr defTabSz="995363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5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       (</a:t>
            </a:r>
            <a:r>
              <a:rPr lang="ko-KR" altLang="en-US" sz="15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차</a:t>
            </a:r>
            <a:r>
              <a:rPr lang="en-US" altLang="ko-KR" sz="15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) </a:t>
            </a:r>
            <a:r>
              <a:rPr lang="ko-KR" altLang="en-US" sz="15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외상매출금       </a:t>
            </a:r>
            <a:r>
              <a:rPr lang="en-US" altLang="ko-KR" sz="15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18,000                 (</a:t>
            </a:r>
            <a:r>
              <a:rPr lang="ko-KR" altLang="en-US" sz="15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대</a:t>
            </a:r>
            <a:r>
              <a:rPr lang="en-US" altLang="ko-KR" sz="15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) </a:t>
            </a:r>
            <a:r>
              <a:rPr lang="ko-KR" altLang="en-US" sz="15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손실충당금          </a:t>
            </a:r>
            <a:r>
              <a:rPr lang="en-US" altLang="ko-KR" sz="15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18,000  </a:t>
            </a:r>
          </a:p>
          <a:p>
            <a:pPr defTabSz="995363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5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             </a:t>
            </a:r>
            <a:r>
              <a:rPr lang="ko-KR" altLang="en-US" sz="15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현         금   </a:t>
            </a:r>
            <a:r>
              <a:rPr lang="ko-KR" altLang="en-US" sz="12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sz="1200" b="1" kern="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sz="1500" b="1" kern="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  </a:t>
            </a:r>
            <a:r>
              <a:rPr lang="en-US" altLang="ko-KR" sz="15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18,000                       </a:t>
            </a:r>
            <a:r>
              <a:rPr lang="ko-KR" altLang="en-US" sz="15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외상매출금          </a:t>
            </a:r>
            <a:r>
              <a:rPr lang="en-US" altLang="ko-KR" sz="15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18,000</a:t>
            </a:r>
          </a:p>
        </p:txBody>
      </p:sp>
      <p:sp>
        <p:nvSpPr>
          <p:cNvPr id="24" name="Rectangle 12"/>
          <p:cNvSpPr>
            <a:spLocks noChangeArrowheads="1"/>
          </p:cNvSpPr>
          <p:nvPr/>
        </p:nvSpPr>
        <p:spPr bwMode="auto">
          <a:xfrm>
            <a:off x="983715" y="2719455"/>
            <a:ext cx="7775575" cy="360362"/>
          </a:xfrm>
          <a:prstGeom prst="rect">
            <a:avLst/>
          </a:prstGeom>
          <a:noFill/>
          <a:ln>
            <a:noFill/>
          </a:ln>
        </p:spPr>
        <p:txBody>
          <a:bodyPr lIns="99477" tIns="49735" rIns="99477" bIns="49735"/>
          <a:lstStyle>
            <a:lvl1pPr algn="l" defTabSz="995363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 defTabSz="995363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 defTabSz="995363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 defTabSz="995363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 defTabSz="995363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95363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5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</a:endParaRPr>
          </a:p>
          <a:p>
            <a:pPr marL="0" marR="0" lvl="0" indent="0" algn="just" defTabSz="995363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500" kern="0" dirty="0">
                <a:latin typeface="맑은 고딕" panose="020B0503020000020004" pitchFamily="50" charset="-127"/>
              </a:rPr>
              <a:t>위 분개를 합해 다음과 같이 간단히 </a:t>
            </a:r>
            <a:r>
              <a:rPr lang="ko-KR" altLang="en-US" sz="1500" kern="0" dirty="0" err="1">
                <a:latin typeface="맑은 고딕" panose="020B0503020000020004" pitchFamily="50" charset="-127"/>
              </a:rPr>
              <a:t>표시가능함</a:t>
            </a:r>
            <a:r>
              <a:rPr lang="en-US" altLang="ko-KR" sz="1500" kern="0" dirty="0">
                <a:latin typeface="맑은 고딕" panose="020B0503020000020004" pitchFamily="50" charset="-127"/>
              </a:rPr>
              <a:t>.</a:t>
            </a:r>
            <a:endParaRPr kumimoji="0" lang="ko-KR" altLang="en-US" sz="15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</a:endParaRPr>
          </a:p>
        </p:txBody>
      </p:sp>
      <p:sp>
        <p:nvSpPr>
          <p:cNvPr id="25" name="Rectangle 12"/>
          <p:cNvSpPr>
            <a:spLocks noChangeArrowheads="1"/>
          </p:cNvSpPr>
          <p:nvPr/>
        </p:nvSpPr>
        <p:spPr bwMode="auto">
          <a:xfrm>
            <a:off x="526636" y="1745926"/>
            <a:ext cx="8091584" cy="576262"/>
          </a:xfrm>
          <a:prstGeom prst="rect">
            <a:avLst/>
          </a:prstGeom>
          <a:noFill/>
          <a:ln>
            <a:noFill/>
          </a:ln>
        </p:spPr>
        <p:txBody>
          <a:bodyPr lIns="99477" tIns="49735" rIns="99477" bIns="49735"/>
          <a:lstStyle>
            <a:lvl1pPr algn="l" defTabSz="995363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 defTabSz="995363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 defTabSz="995363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 defTabSz="995363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 defTabSz="995363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95363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5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(</a:t>
            </a:r>
            <a:r>
              <a:rPr kumimoji="0" lang="ko-KR" altLang="en-US" sz="15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주</a:t>
            </a:r>
            <a:r>
              <a:rPr kumimoji="0" lang="en-US" altLang="ko-KR" sz="15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)</a:t>
            </a:r>
            <a:r>
              <a:rPr kumimoji="0" lang="ko-KR" altLang="en-US" sz="15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덕송이</a:t>
            </a:r>
            <a:r>
              <a:rPr kumimoji="0" lang="ko-KR" altLang="en-US" sz="15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 </a:t>
            </a:r>
            <a:r>
              <a:rPr kumimoji="0" lang="en-US" altLang="ko-KR" sz="15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20×1</a:t>
            </a:r>
            <a:r>
              <a:rPr kumimoji="0" lang="ko-KR" altLang="en-US" sz="15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년 </a:t>
            </a:r>
            <a:r>
              <a:rPr lang="ko-KR" altLang="en-US" sz="1500" b="1" kern="0" dirty="0">
                <a:latin typeface="맑은 고딕" panose="020B0503020000020004" pitchFamily="50" charset="-127"/>
              </a:rPr>
              <a:t>손상</a:t>
            </a:r>
            <a:r>
              <a:rPr kumimoji="0" lang="ko-KR" altLang="en-US" sz="15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처리한 </a:t>
            </a:r>
            <a:r>
              <a:rPr kumimoji="0" lang="en-US" altLang="ko-KR" sz="15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(</a:t>
            </a:r>
            <a:r>
              <a:rPr kumimoji="0" lang="ko-KR" altLang="en-US" sz="15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주</a:t>
            </a:r>
            <a:r>
              <a:rPr kumimoji="0" lang="en-US" altLang="ko-KR" sz="15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)</a:t>
            </a:r>
            <a:r>
              <a:rPr lang="ko-KR" altLang="en-US" sz="1500" b="1" kern="0" dirty="0">
                <a:latin typeface="맑은 고딕" panose="020B0503020000020004" pitchFamily="50" charset="-127"/>
              </a:rPr>
              <a:t>팔도</a:t>
            </a:r>
            <a:r>
              <a:rPr kumimoji="0" lang="ko-KR" altLang="en-US" sz="15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에 대한 외상매출금 중 ￦</a:t>
            </a:r>
            <a:r>
              <a:rPr kumimoji="0" lang="en-US" altLang="ko-KR" sz="15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18,000</a:t>
            </a:r>
            <a:r>
              <a:rPr kumimoji="0" lang="ko-KR" altLang="en-US" sz="15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이 </a:t>
            </a:r>
            <a:r>
              <a:rPr kumimoji="0" lang="en-US" altLang="ko-KR" sz="15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20×2</a:t>
            </a:r>
            <a:r>
              <a:rPr kumimoji="0" lang="ko-KR" altLang="en-US" sz="15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년 </a:t>
            </a:r>
            <a:r>
              <a:rPr kumimoji="0" lang="en-US" altLang="ko-KR" sz="15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1</a:t>
            </a:r>
            <a:r>
              <a:rPr kumimoji="0" lang="ko-KR" altLang="en-US" sz="15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월 </a:t>
            </a:r>
            <a:r>
              <a:rPr kumimoji="0" lang="en-US" altLang="ko-KR" sz="15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4</a:t>
            </a:r>
            <a:r>
              <a:rPr kumimoji="0" lang="ko-KR" altLang="en-US" sz="15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일 회수되었다</a:t>
            </a:r>
            <a:r>
              <a:rPr kumimoji="0" lang="en-US" altLang="ko-KR" sz="15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.</a:t>
            </a:r>
          </a:p>
        </p:txBody>
      </p:sp>
      <p:sp>
        <p:nvSpPr>
          <p:cNvPr id="30" name="Rectangle 12"/>
          <p:cNvSpPr>
            <a:spLocks noChangeArrowheads="1"/>
          </p:cNvSpPr>
          <p:nvPr/>
        </p:nvSpPr>
        <p:spPr bwMode="auto">
          <a:xfrm>
            <a:off x="983715" y="3333083"/>
            <a:ext cx="7200000" cy="38252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txBody>
          <a:bodyPr lIns="99477" tIns="49735" rIns="99477" bIns="49735" anchor="ctr"/>
          <a:lstStyle/>
          <a:p>
            <a:pPr defTabSz="995363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5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       (</a:t>
            </a:r>
            <a:r>
              <a:rPr lang="ko-KR" altLang="en-US" sz="15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차</a:t>
            </a:r>
            <a:r>
              <a:rPr lang="en-US" altLang="ko-KR" sz="15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) </a:t>
            </a:r>
            <a:r>
              <a:rPr lang="ko-KR" altLang="en-US" sz="15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현         금      </a:t>
            </a:r>
            <a:r>
              <a:rPr lang="en-US" altLang="ko-KR" sz="15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18,000                  (</a:t>
            </a:r>
            <a:r>
              <a:rPr lang="ko-KR" altLang="en-US" sz="15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대</a:t>
            </a:r>
            <a:r>
              <a:rPr lang="en-US" altLang="ko-KR" sz="15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) </a:t>
            </a:r>
            <a:r>
              <a:rPr lang="ko-KR" altLang="en-US" sz="15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손실충당금          </a:t>
            </a:r>
            <a:r>
              <a:rPr lang="en-US" altLang="ko-KR" sz="15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18,000  </a:t>
            </a:r>
          </a:p>
        </p:txBody>
      </p:sp>
    </p:spTree>
    <p:extLst>
      <p:ext uri="{BB962C8B-B14F-4D97-AF65-F5344CB8AC3E}">
        <p14:creationId xmlns:p14="http://schemas.microsoft.com/office/powerpoint/2010/main" val="34960846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25</a:t>
            </a:fld>
            <a:endParaRPr lang="ko-KR" altLang="en-US" dirty="0"/>
          </a:p>
        </p:txBody>
      </p:sp>
      <p:sp>
        <p:nvSpPr>
          <p:cNvPr id="40" name="Rectangle 12"/>
          <p:cNvSpPr>
            <a:spLocks noChangeArrowheads="1"/>
          </p:cNvSpPr>
          <p:nvPr/>
        </p:nvSpPr>
        <p:spPr bwMode="auto">
          <a:xfrm>
            <a:off x="446339" y="2441275"/>
            <a:ext cx="8274752" cy="1655762"/>
          </a:xfrm>
          <a:prstGeom prst="rect">
            <a:avLst/>
          </a:prstGeom>
          <a:noFill/>
          <a:ln>
            <a:noFill/>
          </a:ln>
        </p:spPr>
        <p:txBody>
          <a:bodyPr lIns="99477" tIns="49735" rIns="99477" bIns="49735"/>
          <a:lstStyle>
            <a:lvl1pPr algn="l" defTabSz="995363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 defTabSz="995363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 defTabSz="995363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 defTabSz="995363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 defTabSz="995363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95363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5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      </a:t>
            </a:r>
          </a:p>
        </p:txBody>
      </p:sp>
      <p:sp>
        <p:nvSpPr>
          <p:cNvPr id="42" name="Rectangle 12"/>
          <p:cNvSpPr>
            <a:spLocks noChangeArrowheads="1"/>
          </p:cNvSpPr>
          <p:nvPr/>
        </p:nvSpPr>
        <p:spPr bwMode="auto">
          <a:xfrm>
            <a:off x="446339" y="2325974"/>
            <a:ext cx="8274752" cy="1944688"/>
          </a:xfrm>
          <a:prstGeom prst="rect">
            <a:avLst/>
          </a:prstGeom>
          <a:noFill/>
          <a:ln>
            <a:noFill/>
          </a:ln>
        </p:spPr>
        <p:txBody>
          <a:bodyPr lIns="99477" tIns="49735" rIns="99477" bIns="49735"/>
          <a:lstStyle>
            <a:lvl1pPr algn="l" defTabSz="995363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 defTabSz="995363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 defTabSz="995363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 defTabSz="995363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 defTabSz="995363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95363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5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</a:endParaRP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9474953"/>
              </p:ext>
            </p:extLst>
          </p:nvPr>
        </p:nvGraphicFramePr>
        <p:xfrm>
          <a:off x="274322" y="1674023"/>
          <a:ext cx="8446769" cy="4098705"/>
        </p:xfrm>
        <a:graphic>
          <a:graphicData uri="http://schemas.openxmlformats.org/drawingml/2006/table">
            <a:tbl>
              <a:tblPr firstCol="1">
                <a:tableStyleId>{B301B821-A1FF-4177-AEE7-76D212191A09}</a:tableStyleId>
              </a:tblPr>
              <a:tblGrid>
                <a:gridCol w="2337351">
                  <a:extLst>
                    <a:ext uri="{9D8B030D-6E8A-4147-A177-3AD203B41FA5}">
                      <a16:colId xmlns="" xmlns:a16="http://schemas.microsoft.com/office/drawing/2014/main" val="2060441827"/>
                    </a:ext>
                  </a:extLst>
                </a:gridCol>
                <a:gridCol w="2997819">
                  <a:extLst>
                    <a:ext uri="{9D8B030D-6E8A-4147-A177-3AD203B41FA5}">
                      <a16:colId xmlns="" xmlns:a16="http://schemas.microsoft.com/office/drawing/2014/main" val="1410534955"/>
                    </a:ext>
                  </a:extLst>
                </a:gridCol>
                <a:gridCol w="3111599">
                  <a:extLst>
                    <a:ext uri="{9D8B030D-6E8A-4147-A177-3AD203B41FA5}">
                      <a16:colId xmlns="" xmlns:a16="http://schemas.microsoft.com/office/drawing/2014/main" val="2375963086"/>
                    </a:ext>
                  </a:extLst>
                </a:gridCol>
              </a:tblGrid>
              <a:tr h="517033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kern="0" spc="-30" dirty="0">
                          <a:effectLst/>
                        </a:rPr>
                        <a:t>손상의 추정</a:t>
                      </a:r>
                      <a:endParaRPr lang="ko-KR" altLang="en-US" sz="1500" b="1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3810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kern="0" spc="-30" dirty="0">
                          <a:effectLst/>
                        </a:rPr>
                        <a:t>연령분석법 등을 사용하여 기대신용손실</a:t>
                      </a:r>
                      <a:r>
                        <a:rPr lang="en-US" altLang="ko-KR" sz="1500" b="1" kern="0" spc="-30" dirty="0">
                          <a:effectLst/>
                        </a:rPr>
                        <a:t>(</a:t>
                      </a:r>
                      <a:r>
                        <a:rPr lang="ko-KR" altLang="en-US" sz="1500" b="1" kern="0" spc="-30" dirty="0">
                          <a:effectLst/>
                        </a:rPr>
                        <a:t>손상예상액</a:t>
                      </a:r>
                      <a:r>
                        <a:rPr lang="en-US" altLang="ko-KR" sz="1500" b="1" kern="0" spc="-30" dirty="0">
                          <a:effectLst/>
                        </a:rPr>
                        <a:t>)</a:t>
                      </a:r>
                      <a:r>
                        <a:rPr lang="ko-KR" altLang="en-US" sz="1500" b="1" kern="0" spc="-30" dirty="0">
                          <a:effectLst/>
                        </a:rPr>
                        <a:t> 추정</a:t>
                      </a:r>
                      <a:endParaRPr lang="ko-KR" altLang="en-US" sz="1500" b="1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545911736"/>
                  </a:ext>
                </a:extLst>
              </a:tr>
              <a:tr h="517033"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kern="0" spc="-30" dirty="0">
                          <a:effectLst/>
                        </a:rPr>
                        <a:t>손실충당금의 설정</a:t>
                      </a:r>
                      <a:endParaRPr lang="ko-KR" altLang="en-US" sz="1500" b="1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3810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kern="0" spc="-30" dirty="0" err="1">
                          <a:effectLst/>
                        </a:rPr>
                        <a:t>손상추정액＞손실충당금</a:t>
                      </a:r>
                      <a:r>
                        <a:rPr lang="ko-KR" altLang="en-US" sz="1500" kern="0" spc="-30" dirty="0">
                          <a:effectLst/>
                        </a:rPr>
                        <a:t> 잔액</a:t>
                      </a:r>
                      <a:endParaRPr lang="ko-KR" altLang="en-US" sz="1500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38100" marR="3810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277620" algn="r"/>
                        </a:tabLst>
                      </a:pPr>
                      <a:r>
                        <a:rPr lang="ko-KR" altLang="en-US" sz="1500" kern="0" spc="-30" dirty="0" err="1">
                          <a:effectLst/>
                        </a:rPr>
                        <a:t>손상차손</a:t>
                      </a:r>
                      <a:r>
                        <a:rPr lang="ko-KR" altLang="en-US" sz="1500" kern="0" spc="-30" dirty="0">
                          <a:effectLst/>
                        </a:rPr>
                        <a:t>  </a:t>
                      </a:r>
                      <a:r>
                        <a:rPr lang="ko-KR" altLang="en-US" sz="1500" kern="0" spc="-30" dirty="0" smtClean="0">
                          <a:effectLst/>
                        </a:rPr>
                        <a:t>         </a:t>
                      </a:r>
                      <a:r>
                        <a:rPr lang="en-US" altLang="ko-KR" sz="1500" kern="0" spc="-30" dirty="0" smtClean="0">
                          <a:effectLst/>
                        </a:rPr>
                        <a:t>×××</a:t>
                      </a:r>
                      <a:endParaRPr lang="ko-KR" altLang="en-US" sz="1500" kern="0" spc="-30" dirty="0">
                        <a:effectLst/>
                      </a:endParaRPr>
                    </a:p>
                    <a:p>
                      <a:pPr marL="38100" marR="3810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628140" algn="r"/>
                        </a:tabLst>
                      </a:pPr>
                      <a:r>
                        <a:rPr lang="ko-KR" altLang="en-US" sz="1500" kern="0" spc="-30" dirty="0">
                          <a:effectLst/>
                        </a:rPr>
                        <a:t>     손실충당금	</a:t>
                      </a:r>
                      <a:r>
                        <a:rPr lang="ko-KR" altLang="en-US" sz="1500" kern="0" spc="-30" dirty="0" smtClean="0">
                          <a:effectLst/>
                        </a:rPr>
                        <a:t>             </a:t>
                      </a:r>
                      <a:r>
                        <a:rPr lang="en-US" altLang="ko-KR" sz="1500" kern="0" spc="-30" dirty="0" smtClean="0">
                          <a:effectLst/>
                        </a:rPr>
                        <a:t>×××</a:t>
                      </a:r>
                      <a:endParaRPr lang="ko-KR" altLang="en-US" sz="1500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/>
                </a:tc>
                <a:extLst>
                  <a:ext uri="{0D108BD9-81ED-4DB2-BD59-A6C34878D82A}">
                    <a16:rowId xmlns="" xmlns:a16="http://schemas.microsoft.com/office/drawing/2014/main" val="2489347158"/>
                  </a:ext>
                </a:extLst>
              </a:tr>
              <a:tr h="51703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810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kern="0" spc="-30" dirty="0" err="1">
                          <a:effectLst/>
                        </a:rPr>
                        <a:t>손상추정액＜손실충당금</a:t>
                      </a:r>
                      <a:r>
                        <a:rPr lang="ko-KR" altLang="en-US" sz="1500" kern="0" spc="-30" dirty="0">
                          <a:effectLst/>
                        </a:rPr>
                        <a:t> 잔액</a:t>
                      </a:r>
                      <a:endParaRPr lang="ko-KR" altLang="en-US" sz="1500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38100" marR="3810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277620" algn="r"/>
                        </a:tabLst>
                      </a:pPr>
                      <a:r>
                        <a:rPr lang="ko-KR" altLang="en-US" sz="1500" kern="0" spc="-30" dirty="0">
                          <a:effectLst/>
                        </a:rPr>
                        <a:t>손실충당금	  </a:t>
                      </a:r>
                      <a:r>
                        <a:rPr lang="ko-KR" altLang="en-US" sz="1500" kern="0" spc="-30" dirty="0" smtClean="0">
                          <a:effectLst/>
                        </a:rPr>
                        <a:t>     </a:t>
                      </a:r>
                      <a:r>
                        <a:rPr lang="en-US" altLang="ko-KR" sz="1500" kern="0" spc="-30" dirty="0" smtClean="0">
                          <a:effectLst/>
                        </a:rPr>
                        <a:t>×××</a:t>
                      </a:r>
                      <a:endParaRPr lang="ko-KR" altLang="en-US" sz="1500" kern="0" spc="-30" dirty="0">
                        <a:effectLst/>
                      </a:endParaRPr>
                    </a:p>
                    <a:p>
                      <a:pPr marL="38100" marR="3810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628140" algn="r"/>
                        </a:tabLst>
                      </a:pPr>
                      <a:r>
                        <a:rPr lang="ko-KR" altLang="en-US" sz="1500" kern="0" spc="-30" dirty="0">
                          <a:effectLst/>
                        </a:rPr>
                        <a:t>     손실충당금환입  </a:t>
                      </a:r>
                      <a:r>
                        <a:rPr lang="ko-KR" altLang="en-US" sz="1500" kern="0" spc="-30" dirty="0" smtClean="0">
                          <a:effectLst/>
                        </a:rPr>
                        <a:t>  </a:t>
                      </a:r>
                      <a:r>
                        <a:rPr lang="en-US" altLang="ko-KR" sz="1500" kern="0" spc="-30" dirty="0" smtClean="0">
                          <a:effectLst/>
                        </a:rPr>
                        <a:t>×××</a:t>
                      </a:r>
                      <a:endParaRPr lang="ko-KR" altLang="en-US" sz="1500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/>
                </a:tc>
                <a:extLst>
                  <a:ext uri="{0D108BD9-81ED-4DB2-BD59-A6C34878D82A}">
                    <a16:rowId xmlns="" xmlns:a16="http://schemas.microsoft.com/office/drawing/2014/main" val="4225517555"/>
                  </a:ext>
                </a:extLst>
              </a:tr>
              <a:tr h="517033"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kern="0" spc="-30" dirty="0">
                          <a:effectLst/>
                        </a:rPr>
                        <a:t>손상의 확정</a:t>
                      </a:r>
                      <a:endParaRPr lang="ko-KR" altLang="en-US" sz="1500" b="1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3810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kern="0" spc="-30" dirty="0">
                          <a:effectLst/>
                        </a:rPr>
                        <a:t>손실충당금 </a:t>
                      </a:r>
                      <a:r>
                        <a:rPr lang="ko-KR" altLang="en-US" sz="1500" kern="0" spc="-30" dirty="0" err="1">
                          <a:effectLst/>
                        </a:rPr>
                        <a:t>잔액＞손상발생금액</a:t>
                      </a:r>
                      <a:endParaRPr lang="ko-KR" altLang="en-US" sz="1500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38100" marR="3810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277620" algn="r"/>
                        </a:tabLst>
                      </a:pPr>
                      <a:r>
                        <a:rPr lang="ko-KR" altLang="en-US" sz="1500" kern="0" spc="-30" dirty="0">
                          <a:effectLst/>
                        </a:rPr>
                        <a:t>손실충당금	 </a:t>
                      </a:r>
                      <a:r>
                        <a:rPr lang="ko-KR" altLang="en-US" sz="1500" kern="0" spc="-30" dirty="0" smtClean="0">
                          <a:effectLst/>
                        </a:rPr>
                        <a:t>      </a:t>
                      </a:r>
                      <a:r>
                        <a:rPr lang="en-US" altLang="ko-KR" sz="1500" kern="0" spc="-30" dirty="0">
                          <a:effectLst/>
                        </a:rPr>
                        <a:t>×××</a:t>
                      </a:r>
                      <a:endParaRPr lang="ko-KR" altLang="en-US" sz="1500" kern="0" spc="-30" dirty="0">
                        <a:effectLst/>
                      </a:endParaRPr>
                    </a:p>
                    <a:p>
                      <a:pPr marL="38100" marR="3810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628140" algn="r"/>
                        </a:tabLst>
                      </a:pPr>
                      <a:r>
                        <a:rPr lang="ko-KR" altLang="en-US" sz="1500" kern="0" spc="-30" dirty="0">
                          <a:effectLst/>
                        </a:rPr>
                        <a:t>     </a:t>
                      </a:r>
                      <a:r>
                        <a:rPr lang="ko-KR" altLang="en-US" sz="1500" kern="0" spc="270" dirty="0">
                          <a:effectLst/>
                        </a:rPr>
                        <a:t>매출채</a:t>
                      </a:r>
                      <a:r>
                        <a:rPr lang="ko-KR" altLang="en-US" sz="1500" kern="0" spc="-30" dirty="0">
                          <a:effectLst/>
                        </a:rPr>
                        <a:t>권	</a:t>
                      </a:r>
                      <a:r>
                        <a:rPr lang="ko-KR" altLang="en-US" sz="1500" kern="0" spc="-30" dirty="0" smtClean="0">
                          <a:effectLst/>
                        </a:rPr>
                        <a:t>               </a:t>
                      </a:r>
                      <a:r>
                        <a:rPr lang="en-US" altLang="ko-KR" sz="1500" kern="0" spc="-30" dirty="0" smtClean="0">
                          <a:effectLst/>
                        </a:rPr>
                        <a:t>×××</a:t>
                      </a:r>
                      <a:endParaRPr lang="ko-KR" altLang="en-US" sz="1500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/>
                </a:tc>
                <a:extLst>
                  <a:ext uri="{0D108BD9-81ED-4DB2-BD59-A6C34878D82A}">
                    <a16:rowId xmlns="" xmlns:a16="http://schemas.microsoft.com/office/drawing/2014/main" val="717232925"/>
                  </a:ext>
                </a:extLst>
              </a:tr>
              <a:tr h="75677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810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kern="0" spc="-30" dirty="0">
                          <a:effectLst/>
                        </a:rPr>
                        <a:t>손실충당금 </a:t>
                      </a:r>
                      <a:r>
                        <a:rPr lang="ko-KR" altLang="en-US" sz="1500" kern="0" spc="-30" dirty="0" err="1">
                          <a:effectLst/>
                        </a:rPr>
                        <a:t>잔액＜손상발생금액</a:t>
                      </a:r>
                      <a:endParaRPr lang="ko-KR" altLang="en-US" sz="1500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38100" marR="3810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277620" algn="r"/>
                        </a:tabLst>
                      </a:pPr>
                      <a:r>
                        <a:rPr lang="ko-KR" altLang="en-US" sz="1500" kern="0" spc="-30" dirty="0">
                          <a:effectLst/>
                        </a:rPr>
                        <a:t>손실충당금 </a:t>
                      </a:r>
                      <a:r>
                        <a:rPr lang="ko-KR" altLang="en-US" sz="1500" kern="0" spc="-30" dirty="0" smtClean="0">
                          <a:effectLst/>
                        </a:rPr>
                        <a:t>      </a:t>
                      </a:r>
                      <a:r>
                        <a:rPr lang="ko-KR" altLang="en-US" sz="1500" kern="0" spc="-30" dirty="0">
                          <a:effectLst/>
                        </a:rPr>
                        <a:t>	</a:t>
                      </a:r>
                      <a:r>
                        <a:rPr lang="ko-KR" altLang="en-US" sz="1500" kern="0" spc="-30" dirty="0" smtClean="0">
                          <a:effectLst/>
                        </a:rPr>
                        <a:t>         </a:t>
                      </a:r>
                      <a:r>
                        <a:rPr lang="en-US" altLang="ko-KR" sz="1500" kern="0" spc="-30" dirty="0" smtClean="0">
                          <a:effectLst/>
                        </a:rPr>
                        <a:t>×××</a:t>
                      </a:r>
                      <a:endParaRPr lang="ko-KR" altLang="en-US" sz="1500" kern="0" spc="-30" dirty="0">
                        <a:effectLst/>
                      </a:endParaRPr>
                    </a:p>
                    <a:p>
                      <a:pPr marL="38100" marR="3810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277620" algn="r"/>
                        </a:tabLst>
                      </a:pPr>
                      <a:r>
                        <a:rPr lang="ko-KR" altLang="en-US" sz="1500" kern="0" spc="-30" dirty="0" err="1">
                          <a:effectLst/>
                        </a:rPr>
                        <a:t>매출채권손상차손</a:t>
                      </a:r>
                      <a:r>
                        <a:rPr lang="ko-KR" altLang="en-US" sz="1500" kern="0" spc="-30" dirty="0">
                          <a:effectLst/>
                        </a:rPr>
                        <a:t> </a:t>
                      </a:r>
                      <a:r>
                        <a:rPr lang="ko-KR" altLang="en-US" sz="1500" kern="0" spc="-30" dirty="0" smtClean="0">
                          <a:effectLst/>
                        </a:rPr>
                        <a:t> </a:t>
                      </a:r>
                      <a:r>
                        <a:rPr lang="en-US" altLang="ko-KR" sz="1500" kern="0" spc="-30" dirty="0" smtClean="0">
                          <a:effectLst/>
                        </a:rPr>
                        <a:t>×××</a:t>
                      </a:r>
                      <a:endParaRPr lang="ko-KR" altLang="en-US" sz="1500" kern="0" spc="-30" dirty="0">
                        <a:effectLst/>
                      </a:endParaRPr>
                    </a:p>
                    <a:p>
                      <a:pPr marL="38100" marR="3810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628140" algn="r"/>
                        </a:tabLst>
                      </a:pPr>
                      <a:r>
                        <a:rPr lang="ko-KR" altLang="en-US" sz="1500" kern="0" spc="-30" dirty="0">
                          <a:effectLst/>
                        </a:rPr>
                        <a:t>     </a:t>
                      </a:r>
                      <a:r>
                        <a:rPr lang="ko-KR" altLang="en-US" sz="1500" kern="0" spc="270" dirty="0">
                          <a:effectLst/>
                        </a:rPr>
                        <a:t>매출채</a:t>
                      </a:r>
                      <a:r>
                        <a:rPr lang="ko-KR" altLang="en-US" sz="1500" kern="0" spc="-30" dirty="0">
                          <a:effectLst/>
                        </a:rPr>
                        <a:t>권	</a:t>
                      </a:r>
                      <a:r>
                        <a:rPr lang="ko-KR" altLang="en-US" sz="1500" kern="0" spc="-30" dirty="0" smtClean="0">
                          <a:effectLst/>
                        </a:rPr>
                        <a:t>                        </a:t>
                      </a:r>
                      <a:r>
                        <a:rPr lang="en-US" altLang="ko-KR" sz="1500" kern="0" spc="-30" dirty="0" smtClean="0">
                          <a:effectLst/>
                        </a:rPr>
                        <a:t>×××</a:t>
                      </a:r>
                      <a:endParaRPr lang="ko-KR" altLang="en-US" sz="1500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/>
                </a:tc>
                <a:extLst>
                  <a:ext uri="{0D108BD9-81ED-4DB2-BD59-A6C34878D82A}">
                    <a16:rowId xmlns="" xmlns:a16="http://schemas.microsoft.com/office/drawing/2014/main" val="2924841273"/>
                  </a:ext>
                </a:extLst>
              </a:tr>
              <a:tr h="517033"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kern="0" spc="-30" dirty="0">
                          <a:effectLst/>
                        </a:rPr>
                        <a:t>손상처리한</a:t>
                      </a:r>
                      <a:endParaRPr lang="en-US" altLang="ko-KR" sz="1500" kern="0" spc="-30" dirty="0"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kern="0" spc="-30" dirty="0">
                          <a:effectLst/>
                        </a:rPr>
                        <a:t>채권의 회수</a:t>
                      </a:r>
                      <a:endParaRPr lang="ko-KR" altLang="en-US" sz="1500" b="1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3810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kern="0" spc="-30" dirty="0">
                          <a:effectLst/>
                        </a:rPr>
                        <a:t>손상발생시：</a:t>
                      </a:r>
                    </a:p>
                    <a:p>
                      <a:pPr marL="3810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kern="0" spc="-30" dirty="0">
                          <a:effectLst/>
                        </a:rPr>
                        <a:t>손실충당금 </a:t>
                      </a:r>
                      <a:r>
                        <a:rPr lang="ko-KR" altLang="en-US" sz="1500" kern="0" spc="-30" dirty="0" err="1">
                          <a:effectLst/>
                        </a:rPr>
                        <a:t>잔액＞손상발생금액</a:t>
                      </a:r>
                      <a:endParaRPr lang="ko-KR" altLang="en-US" sz="1500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38100" marR="3810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277620" algn="r"/>
                        </a:tabLst>
                      </a:pPr>
                      <a:r>
                        <a:rPr lang="ko-KR" altLang="en-US" sz="1500" kern="0" spc="-30" dirty="0">
                          <a:effectLst/>
                        </a:rPr>
                        <a:t>현 금	      </a:t>
                      </a:r>
                      <a:r>
                        <a:rPr lang="ko-KR" altLang="en-US" sz="1500" kern="0" spc="-30" dirty="0" smtClean="0">
                          <a:effectLst/>
                        </a:rPr>
                        <a:t>              </a:t>
                      </a:r>
                      <a:r>
                        <a:rPr lang="en-US" altLang="ko-KR" sz="1500" kern="0" spc="-30" dirty="0" smtClean="0">
                          <a:effectLst/>
                        </a:rPr>
                        <a:t>×××</a:t>
                      </a:r>
                      <a:endParaRPr lang="ko-KR" altLang="en-US" sz="1500" kern="0" spc="-30" dirty="0">
                        <a:effectLst/>
                      </a:endParaRPr>
                    </a:p>
                    <a:p>
                      <a:pPr marL="38100" marR="3810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628140" algn="r"/>
                        </a:tabLst>
                      </a:pPr>
                      <a:r>
                        <a:rPr lang="ko-KR" altLang="en-US" sz="1500" kern="0" spc="-30" dirty="0">
                          <a:effectLst/>
                        </a:rPr>
                        <a:t>     손실충당금	</a:t>
                      </a:r>
                      <a:r>
                        <a:rPr lang="ko-KR" altLang="en-US" sz="1500" kern="0" spc="-30" dirty="0" smtClean="0">
                          <a:effectLst/>
                        </a:rPr>
                        <a:t>              </a:t>
                      </a:r>
                      <a:r>
                        <a:rPr lang="en-US" altLang="ko-KR" sz="1500" kern="0" spc="-30" dirty="0" smtClean="0">
                          <a:effectLst/>
                        </a:rPr>
                        <a:t>×××</a:t>
                      </a:r>
                      <a:endParaRPr lang="ko-KR" altLang="en-US" sz="1500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/>
                </a:tc>
                <a:extLst>
                  <a:ext uri="{0D108BD9-81ED-4DB2-BD59-A6C34878D82A}">
                    <a16:rowId xmlns="" xmlns:a16="http://schemas.microsoft.com/office/drawing/2014/main" val="2660174048"/>
                  </a:ext>
                </a:extLst>
              </a:tr>
              <a:tr h="75677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810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kern="0" spc="-30" dirty="0">
                          <a:effectLst/>
                        </a:rPr>
                        <a:t>손상발생시：</a:t>
                      </a:r>
                    </a:p>
                    <a:p>
                      <a:pPr marL="3810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kern="0" spc="-30" dirty="0">
                          <a:effectLst/>
                        </a:rPr>
                        <a:t>손실충당금 </a:t>
                      </a:r>
                      <a:r>
                        <a:rPr lang="ko-KR" altLang="en-US" sz="1500" kern="0" spc="-30" dirty="0" err="1">
                          <a:effectLst/>
                        </a:rPr>
                        <a:t>잔액＜손상발생금액</a:t>
                      </a:r>
                      <a:endParaRPr lang="ko-KR" altLang="en-US" sz="1500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38100" marR="3810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277620" algn="r"/>
                        </a:tabLst>
                      </a:pPr>
                      <a:r>
                        <a:rPr lang="ko-KR" altLang="en-US" sz="1500" kern="0" spc="-30" dirty="0">
                          <a:effectLst/>
                        </a:rPr>
                        <a:t>현 금	</a:t>
                      </a:r>
                      <a:r>
                        <a:rPr lang="ko-KR" altLang="en-US" sz="1500" kern="0" spc="-30" dirty="0" smtClean="0">
                          <a:effectLst/>
                        </a:rPr>
                        <a:t>                    </a:t>
                      </a:r>
                      <a:r>
                        <a:rPr lang="en-US" altLang="ko-KR" sz="1500" kern="0" spc="-30" dirty="0" smtClean="0">
                          <a:effectLst/>
                        </a:rPr>
                        <a:t>×××</a:t>
                      </a:r>
                      <a:endParaRPr lang="ko-KR" altLang="en-US" sz="1500" kern="0" spc="-30" dirty="0">
                        <a:effectLst/>
                      </a:endParaRPr>
                    </a:p>
                    <a:p>
                      <a:pPr marL="38100" marR="3810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628140" algn="r"/>
                        </a:tabLst>
                      </a:pPr>
                      <a:r>
                        <a:rPr lang="ko-KR" altLang="en-US" sz="1500" kern="0" spc="-30" dirty="0">
                          <a:effectLst/>
                        </a:rPr>
                        <a:t>     손실충당금	</a:t>
                      </a:r>
                      <a:r>
                        <a:rPr lang="ko-KR" altLang="en-US" sz="1500" kern="0" spc="-30" dirty="0" smtClean="0">
                          <a:effectLst/>
                        </a:rPr>
                        <a:t>                 </a:t>
                      </a:r>
                      <a:r>
                        <a:rPr lang="en-US" altLang="ko-KR" sz="1500" kern="0" spc="-30" dirty="0" smtClean="0">
                          <a:effectLst/>
                        </a:rPr>
                        <a:t>×××</a:t>
                      </a:r>
                      <a:endParaRPr lang="ko-KR" altLang="en-US" sz="1500" kern="0" spc="-30" dirty="0">
                        <a:effectLst/>
                      </a:endParaRPr>
                    </a:p>
                    <a:p>
                      <a:pPr marL="38100" marR="3810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628140" algn="r"/>
                        </a:tabLst>
                      </a:pPr>
                      <a:r>
                        <a:rPr lang="ko-KR" altLang="en-US" sz="1500" kern="0" spc="-30" dirty="0">
                          <a:effectLst/>
                        </a:rPr>
                        <a:t>     </a:t>
                      </a:r>
                      <a:r>
                        <a:rPr lang="ko-KR" altLang="en-US" sz="1500" kern="0" spc="-30" dirty="0" err="1">
                          <a:effectLst/>
                        </a:rPr>
                        <a:t>매출채권손상차손</a:t>
                      </a:r>
                      <a:r>
                        <a:rPr lang="ko-KR" altLang="en-US" sz="1500" kern="0" spc="-30" dirty="0">
                          <a:effectLst/>
                        </a:rPr>
                        <a:t>	</a:t>
                      </a:r>
                      <a:r>
                        <a:rPr lang="en-US" altLang="ko-KR" sz="1500" kern="0" spc="-30" dirty="0">
                          <a:effectLst/>
                        </a:rPr>
                        <a:t>×××</a:t>
                      </a:r>
                      <a:endParaRPr lang="ko-KR" altLang="en-US" sz="1500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/>
                </a:tc>
                <a:extLst>
                  <a:ext uri="{0D108BD9-81ED-4DB2-BD59-A6C34878D82A}">
                    <a16:rowId xmlns="" xmlns:a16="http://schemas.microsoft.com/office/drawing/2014/main" val="25916595"/>
                  </a:ext>
                </a:extLst>
              </a:tr>
            </a:tbl>
          </a:graphicData>
        </a:graphic>
      </p:graphicFrame>
      <p:grpSp>
        <p:nvGrpSpPr>
          <p:cNvPr id="22" name="그룹 21"/>
          <p:cNvGrpSpPr/>
          <p:nvPr/>
        </p:nvGrpSpPr>
        <p:grpSpPr>
          <a:xfrm>
            <a:off x="274322" y="1304243"/>
            <a:ext cx="4508960" cy="338554"/>
            <a:chOff x="1287463" y="4776539"/>
            <a:chExt cx="4508960" cy="338554"/>
          </a:xfrm>
        </p:grpSpPr>
        <p:sp>
          <p:nvSpPr>
            <p:cNvPr id="26" name="오각형 25"/>
            <p:cNvSpPr/>
            <p:nvPr/>
          </p:nvSpPr>
          <p:spPr>
            <a:xfrm>
              <a:off x="1287463" y="4807765"/>
              <a:ext cx="590477" cy="245327"/>
            </a:xfrm>
            <a:prstGeom prst="homePlate">
              <a:avLst/>
            </a:prstGeom>
            <a:solidFill>
              <a:srgbClr val="2D61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 dirty="0"/>
                <a:t>표 </a:t>
              </a:r>
              <a:r>
                <a:rPr lang="en-US" altLang="ko-KR" sz="1400" b="1" dirty="0"/>
                <a:t>3</a:t>
              </a:r>
              <a:endParaRPr lang="ko-KR" altLang="en-US" sz="14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1877940" y="4776539"/>
              <a:ext cx="391848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600" b="1" dirty="0"/>
                <a:t>손상회계처리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840020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26</a:t>
            </a:fld>
            <a:endParaRPr lang="ko-KR" altLang="en-US" dirty="0"/>
          </a:p>
        </p:txBody>
      </p:sp>
      <p:grpSp>
        <p:nvGrpSpPr>
          <p:cNvPr id="3" name="그룹 2"/>
          <p:cNvGrpSpPr/>
          <p:nvPr/>
        </p:nvGrpSpPr>
        <p:grpSpPr>
          <a:xfrm>
            <a:off x="257304" y="1185394"/>
            <a:ext cx="8641370" cy="1500656"/>
            <a:chOff x="2626683" y="1693823"/>
            <a:chExt cx="11521825" cy="2000878"/>
          </a:xfrm>
        </p:grpSpPr>
        <p:sp>
          <p:nvSpPr>
            <p:cNvPr id="4" name="Rectangle 15"/>
            <p:cNvSpPr>
              <a:spLocks noChangeArrowheads="1"/>
            </p:cNvSpPr>
            <p:nvPr/>
          </p:nvSpPr>
          <p:spPr bwMode="auto">
            <a:xfrm>
              <a:off x="2626683" y="2125624"/>
              <a:ext cx="11521825" cy="1569077"/>
            </a:xfrm>
            <a:prstGeom prst="rect">
              <a:avLst/>
            </a:prstGeom>
            <a:noFill/>
            <a:ln>
              <a:noFill/>
            </a:ln>
          </p:spPr>
          <p:txBody>
            <a:bodyPr lIns="74608" tIns="37301" rIns="74608" bIns="37301" anchor="ctr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ts val="24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600" b="1" dirty="0">
                  <a:latin typeface="맑은 고딕" panose="020B0503020000020004" pitchFamily="50" charset="-127"/>
                </a:rPr>
                <a:t>• 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매입채무 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: 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재고자산의 구매와 같이 주요 영업활동에 관하여 발생한 지급의무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(trade payable)</a:t>
              </a:r>
              <a:endParaRPr lang="en-US" altLang="ko-KR" sz="1600" b="1" dirty="0">
                <a:solidFill>
                  <a:srgbClr val="FF0000"/>
                </a:solidFill>
                <a:latin typeface="맑은 고딕" panose="020B0503020000020004" pitchFamily="50" charset="-127"/>
              </a:endParaRPr>
            </a:p>
            <a:p>
              <a:pPr algn="ctr">
                <a:lnSpc>
                  <a:spcPts val="24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ko-KR" altLang="en-US" sz="1600" b="1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매입채무 </a:t>
              </a:r>
              <a:r>
                <a:rPr lang="en-US" altLang="ko-KR" sz="1600" b="1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= </a:t>
              </a:r>
              <a:r>
                <a:rPr lang="ko-KR" altLang="en-US" sz="1600" b="1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외상매입금 </a:t>
              </a:r>
              <a:r>
                <a:rPr lang="en-US" altLang="ko-KR" sz="1600" b="1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+ </a:t>
              </a:r>
              <a:r>
                <a:rPr lang="ko-KR" altLang="en-US" sz="1600" b="1" dirty="0" err="1">
                  <a:solidFill>
                    <a:schemeClr val="tx1"/>
                  </a:solidFill>
                  <a:latin typeface="맑은 고딕" panose="020B0503020000020004" pitchFamily="50" charset="-127"/>
                </a:rPr>
                <a:t>지급어음</a:t>
              </a:r>
              <a:r>
                <a:rPr lang="ko-KR" altLang="en-US" sz="1600" b="1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 </a:t>
              </a:r>
            </a:p>
          </p:txBody>
        </p:sp>
        <p:sp>
          <p:nvSpPr>
            <p:cNvPr id="5" name="Rectangle 14"/>
            <p:cNvSpPr>
              <a:spLocks noChangeArrowheads="1"/>
            </p:cNvSpPr>
            <p:nvPr/>
          </p:nvSpPr>
          <p:spPr bwMode="auto">
            <a:xfrm>
              <a:off x="2871275" y="1693823"/>
              <a:ext cx="4837775" cy="431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4608" tIns="37301" rIns="74608" bIns="37301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 typeface="Wingdings" panose="05000000000000000000" pitchFamily="2" charset="2"/>
                <a:buNone/>
              </a:pPr>
              <a:r>
                <a:rPr lang="ko-KR" altLang="en-US" sz="18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매입채무</a:t>
              </a:r>
            </a:p>
          </p:txBody>
        </p:sp>
        <p:sp>
          <p:nvSpPr>
            <p:cNvPr id="7" name="직사각형 6"/>
            <p:cNvSpPr/>
            <p:nvPr/>
          </p:nvSpPr>
          <p:spPr>
            <a:xfrm>
              <a:off x="2626908" y="1722059"/>
              <a:ext cx="281973" cy="425439"/>
            </a:xfrm>
            <a:prstGeom prst="rect">
              <a:avLst/>
            </a:prstGeom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ko-KR" altLang="en-US" sz="16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2" name="그룹 31"/>
          <p:cNvGrpSpPr/>
          <p:nvPr/>
        </p:nvGrpSpPr>
        <p:grpSpPr>
          <a:xfrm>
            <a:off x="257304" y="2812199"/>
            <a:ext cx="8711460" cy="3172047"/>
            <a:chOff x="190714" y="1320886"/>
            <a:chExt cx="8711460" cy="3172047"/>
          </a:xfrm>
        </p:grpSpPr>
        <p:grpSp>
          <p:nvGrpSpPr>
            <p:cNvPr id="33" name="그룹 32"/>
            <p:cNvGrpSpPr/>
            <p:nvPr/>
          </p:nvGrpSpPr>
          <p:grpSpPr>
            <a:xfrm>
              <a:off x="361935" y="1461499"/>
              <a:ext cx="8540239" cy="3031434"/>
              <a:chOff x="269048" y="1722741"/>
              <a:chExt cx="8648775" cy="3031434"/>
            </a:xfrm>
          </p:grpSpPr>
          <p:sp>
            <p:nvSpPr>
              <p:cNvPr id="41" name="Rectangle 15"/>
              <p:cNvSpPr>
                <a:spLocks noChangeArrowheads="1"/>
              </p:cNvSpPr>
              <p:nvPr/>
            </p:nvSpPr>
            <p:spPr bwMode="auto">
              <a:xfrm>
                <a:off x="269048" y="1746439"/>
                <a:ext cx="8641369" cy="3007736"/>
              </a:xfrm>
              <a:prstGeom prst="foldedCorner">
                <a:avLst>
                  <a:gd name="adj" fmla="val 5125"/>
                </a:avLst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txBody>
              <a:bodyPr lIns="74608" tIns="37301" rIns="74608" bIns="37301" anchor="ctr"/>
              <a:lstStyle>
                <a:lvl1pPr algn="l" defTabSz="995363">
                  <a:spcBef>
                    <a:spcPct val="20000"/>
                  </a:spcBef>
                  <a:buClr>
                    <a:schemeClr val="tx2"/>
                  </a:buClr>
                  <a:buSzPct val="115000"/>
                  <a:buFont typeface="Wingdings" panose="05000000000000000000" pitchFamily="2" charset="2"/>
                  <a:buChar char="§"/>
                  <a:defRPr sz="28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 algn="l" defTabSz="995363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 algn="l" defTabSz="995363">
                  <a:spcBef>
                    <a:spcPct val="20000"/>
                  </a:spcBef>
                  <a:buChar char="•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 algn="l" defTabSz="995363">
                  <a:spcBef>
                    <a:spcPct val="20000"/>
                  </a:spcBef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 algn="l" defTabSz="995363">
                  <a:spcBef>
                    <a:spcPct val="20000"/>
                  </a:spcBef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ko-KR" altLang="en-US" sz="1400" dirty="0"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42" name="직사각형 41"/>
              <p:cNvSpPr/>
              <p:nvPr/>
            </p:nvSpPr>
            <p:spPr>
              <a:xfrm>
                <a:off x="277823" y="1722741"/>
                <a:ext cx="8640000" cy="45719"/>
              </a:xfrm>
              <a:prstGeom prst="rect">
                <a:avLst/>
              </a:prstGeom>
              <a:solidFill>
                <a:srgbClr val="2D61C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34" name="그룹 33"/>
            <p:cNvGrpSpPr/>
            <p:nvPr/>
          </p:nvGrpSpPr>
          <p:grpSpPr>
            <a:xfrm>
              <a:off x="190714" y="1320886"/>
              <a:ext cx="3647253" cy="326952"/>
              <a:chOff x="190714" y="1320889"/>
              <a:chExt cx="3119948" cy="290354"/>
            </a:xfrm>
            <a:solidFill>
              <a:srgbClr val="2D61C8"/>
            </a:solidFill>
          </p:grpSpPr>
          <p:grpSp>
            <p:nvGrpSpPr>
              <p:cNvPr id="35" name="그룹 34"/>
              <p:cNvGrpSpPr/>
              <p:nvPr/>
            </p:nvGrpSpPr>
            <p:grpSpPr>
              <a:xfrm>
                <a:off x="190714" y="1320889"/>
                <a:ext cx="3119948" cy="290354"/>
                <a:chOff x="405822" y="2237753"/>
                <a:chExt cx="3119948" cy="290354"/>
              </a:xfrm>
              <a:grpFill/>
            </p:grpSpPr>
            <p:sp>
              <p:nvSpPr>
                <p:cNvPr id="37" name="타원 36"/>
                <p:cNvSpPr/>
                <p:nvPr/>
              </p:nvSpPr>
              <p:spPr>
                <a:xfrm>
                  <a:off x="405822" y="2237753"/>
                  <a:ext cx="290351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8" name="타원 37"/>
                <p:cNvSpPr/>
                <p:nvPr/>
              </p:nvSpPr>
              <p:spPr>
                <a:xfrm>
                  <a:off x="3235419" y="2237753"/>
                  <a:ext cx="290351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9" name="직사각형 38"/>
                <p:cNvSpPr/>
                <p:nvPr/>
              </p:nvSpPr>
              <p:spPr>
                <a:xfrm>
                  <a:off x="542511" y="2237755"/>
                  <a:ext cx="2830671" cy="290352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1600" b="1" dirty="0"/>
                    <a:t>예제 </a:t>
                  </a:r>
                  <a:r>
                    <a:rPr lang="en-US" altLang="ko-KR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5-10 </a:t>
                  </a:r>
                  <a:r>
                    <a:rPr lang="ko-KR" altLang="en-US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매입채무와 매출채권</a:t>
                  </a:r>
                  <a:endParaRPr lang="ko-KR" altLang="en-US" sz="1600" b="1" dirty="0"/>
                </a:p>
              </p:txBody>
            </p:sp>
            <p:sp>
              <p:nvSpPr>
                <p:cNvPr id="40" name="타원 39"/>
                <p:cNvSpPr/>
                <p:nvPr/>
              </p:nvSpPr>
              <p:spPr>
                <a:xfrm>
                  <a:off x="427833" y="2256153"/>
                  <a:ext cx="253549" cy="25354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pic>
            <p:nvPicPr>
              <p:cNvPr id="36" name="그림 35" descr="Log in | Sign Up Upload Clipart"/>
              <p:cNvPicPr>
                <a:picLocks noChangeAspect="1"/>
              </p:cNvPicPr>
              <p:nvPr/>
            </p:nvPicPr>
            <p:blipFill>
              <a:blip r:embed="rId2" cstate="email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265229" y="1359640"/>
                <a:ext cx="147147" cy="229618"/>
              </a:xfrm>
              <a:prstGeom prst="rect">
                <a:avLst/>
              </a:prstGeom>
            </p:spPr>
          </p:pic>
        </p:grpSp>
      </p:grpSp>
      <p:sp>
        <p:nvSpPr>
          <p:cNvPr id="44" name="Rectangle 12"/>
          <p:cNvSpPr>
            <a:spLocks noChangeArrowheads="1"/>
          </p:cNvSpPr>
          <p:nvPr/>
        </p:nvSpPr>
        <p:spPr bwMode="auto">
          <a:xfrm>
            <a:off x="807200" y="3319785"/>
            <a:ext cx="7775575" cy="792163"/>
          </a:xfrm>
          <a:prstGeom prst="rect">
            <a:avLst/>
          </a:prstGeom>
          <a:noFill/>
          <a:ln>
            <a:noFill/>
          </a:ln>
        </p:spPr>
        <p:txBody>
          <a:bodyPr lIns="99477" tIns="49735" rIns="99477" bIns="49735"/>
          <a:lstStyle/>
          <a:p>
            <a:pPr defTabSz="995363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4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14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주</a:t>
            </a:r>
            <a:r>
              <a:rPr lang="en-US" altLang="ko-KR" sz="14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)</a:t>
            </a:r>
            <a:r>
              <a:rPr lang="ko-KR" altLang="en-US" sz="1400" b="1" kern="0" dirty="0" err="1">
                <a:solidFill>
                  <a:srgbClr val="000000"/>
                </a:solidFill>
                <a:latin typeface="맑은 고딕" panose="020B0503020000020004" pitchFamily="50" charset="-127"/>
              </a:rPr>
              <a:t>덕송은</a:t>
            </a:r>
            <a:r>
              <a:rPr lang="ko-KR" altLang="en-US" sz="14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14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20×1</a:t>
            </a:r>
            <a:r>
              <a:rPr lang="ko-KR" altLang="en-US" sz="14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년 </a:t>
            </a:r>
            <a:r>
              <a:rPr lang="en-US" altLang="ko-KR" sz="14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1</a:t>
            </a:r>
            <a:r>
              <a:rPr lang="ko-KR" altLang="en-US" sz="14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월 </a:t>
            </a:r>
            <a:r>
              <a:rPr lang="en-US" altLang="ko-KR" sz="14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5</a:t>
            </a:r>
            <a:r>
              <a:rPr lang="ko-KR" altLang="en-US" sz="14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일 </a:t>
            </a:r>
            <a:r>
              <a:rPr lang="en-US" altLang="ko-KR" sz="14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14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주</a:t>
            </a:r>
            <a:r>
              <a:rPr lang="en-US" altLang="ko-KR" sz="14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)</a:t>
            </a:r>
            <a:r>
              <a:rPr lang="ko-KR" altLang="en-US" sz="14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카카오로부터 상품 ￦</a:t>
            </a:r>
            <a:r>
              <a:rPr lang="en-US" altLang="ko-KR" sz="14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800,000</a:t>
            </a:r>
            <a:r>
              <a:rPr lang="ko-KR" altLang="en-US" sz="14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을 매입하였다</a:t>
            </a:r>
            <a:r>
              <a:rPr lang="en-US" altLang="ko-KR" sz="14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. </a:t>
            </a:r>
            <a:r>
              <a:rPr lang="ko-KR" altLang="en-US" sz="14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대금 중 ￦</a:t>
            </a:r>
            <a:r>
              <a:rPr lang="en-US" altLang="ko-KR" sz="14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300,000</a:t>
            </a:r>
            <a:r>
              <a:rPr lang="ko-KR" altLang="en-US" sz="14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은 현금으로 지급하고 나머지는 </a:t>
            </a:r>
            <a:r>
              <a:rPr lang="en-US" altLang="ko-KR" sz="14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3</a:t>
            </a:r>
            <a:r>
              <a:rPr lang="ko-KR" altLang="en-US" sz="14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개월 후 만기가 도래하는 어음을 발행하였다</a:t>
            </a:r>
            <a:r>
              <a:rPr lang="en-US" altLang="ko-KR" sz="14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.</a:t>
            </a:r>
          </a:p>
          <a:p>
            <a:pPr defTabSz="995363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4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20×1</a:t>
            </a:r>
            <a:r>
              <a:rPr lang="ko-KR" altLang="en-US" sz="14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년 </a:t>
            </a:r>
            <a:r>
              <a:rPr lang="en-US" altLang="ko-KR" sz="14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4</a:t>
            </a:r>
            <a:r>
              <a:rPr lang="ko-KR" altLang="en-US" sz="14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월 </a:t>
            </a:r>
            <a:r>
              <a:rPr lang="en-US" altLang="ko-KR" sz="14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4</a:t>
            </a:r>
            <a:r>
              <a:rPr lang="ko-KR" altLang="en-US" sz="14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일 </a:t>
            </a:r>
            <a:r>
              <a:rPr lang="en-US" altLang="ko-KR" sz="14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14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주</a:t>
            </a:r>
            <a:r>
              <a:rPr lang="en-US" altLang="ko-KR" sz="14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)</a:t>
            </a:r>
            <a:r>
              <a:rPr lang="ko-KR" altLang="en-US" sz="1400" b="1" kern="0" dirty="0" err="1">
                <a:solidFill>
                  <a:srgbClr val="000000"/>
                </a:solidFill>
                <a:latin typeface="맑은 고딕" panose="020B0503020000020004" pitchFamily="50" charset="-127"/>
              </a:rPr>
              <a:t>덕송이</a:t>
            </a:r>
            <a:r>
              <a:rPr lang="ko-KR" altLang="en-US" sz="14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 발행한 어음이 만기가 되어 당좌예금에서 지급하였다</a:t>
            </a:r>
            <a:r>
              <a:rPr lang="en-US" altLang="ko-KR" sz="14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.</a:t>
            </a:r>
          </a:p>
        </p:txBody>
      </p:sp>
      <p:graphicFrame>
        <p:nvGraphicFramePr>
          <p:cNvPr id="25" name="표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4160415"/>
              </p:ext>
            </p:extLst>
          </p:nvPr>
        </p:nvGraphicFramePr>
        <p:xfrm>
          <a:off x="807202" y="4238097"/>
          <a:ext cx="7775573" cy="1364097"/>
        </p:xfrm>
        <a:graphic>
          <a:graphicData uri="http://schemas.openxmlformats.org/drawingml/2006/table">
            <a:tbl>
              <a:tblPr/>
              <a:tblGrid>
                <a:gridCol w="2333745">
                  <a:extLst>
                    <a:ext uri="{9D8B030D-6E8A-4147-A177-3AD203B41FA5}">
                      <a16:colId xmlns="" xmlns:a16="http://schemas.microsoft.com/office/drawing/2014/main" val="1397789223"/>
                    </a:ext>
                  </a:extLst>
                </a:gridCol>
                <a:gridCol w="2719841">
                  <a:extLst>
                    <a:ext uri="{9D8B030D-6E8A-4147-A177-3AD203B41FA5}">
                      <a16:colId xmlns="" xmlns:a16="http://schemas.microsoft.com/office/drawing/2014/main" val="4116538885"/>
                    </a:ext>
                  </a:extLst>
                </a:gridCol>
                <a:gridCol w="2721987">
                  <a:extLst>
                    <a:ext uri="{9D8B030D-6E8A-4147-A177-3AD203B41FA5}">
                      <a16:colId xmlns="" xmlns:a16="http://schemas.microsoft.com/office/drawing/2014/main" val="592874650"/>
                    </a:ext>
                  </a:extLst>
                </a:gridCol>
              </a:tblGrid>
              <a:tr h="155549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 분</a:t>
                      </a:r>
                    </a:p>
                  </a:txBody>
                  <a:tcPr marL="8015" marR="8015" marT="8015" marB="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</a:t>
                      </a:r>
                      <a:r>
                        <a:rPr lang="en-US" altLang="ko-K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r>
                        <a:rPr lang="ko-KR" altLang="en-US" sz="14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덕송－매입</a:t>
                      </a:r>
                      <a:endParaRPr lang="ko-KR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015" marR="8015" marT="8015" marB="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</a:t>
                      </a:r>
                      <a:r>
                        <a:rPr lang="en-US" altLang="ko-K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r>
                        <a:rPr lang="ko-KR" altLang="en-US" sz="1400" b="1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카카오</a:t>
                      </a:r>
                      <a:r>
                        <a:rPr lang="ko-KR" altLang="en-US" sz="14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－매출</a:t>
                      </a:r>
                      <a:endParaRPr lang="ko-KR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015" marR="8015" marT="8015" marB="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168029911"/>
                  </a:ext>
                </a:extLst>
              </a:tr>
              <a:tr h="155549">
                <a:tc rowSpan="3">
                  <a:txBody>
                    <a:bodyPr/>
                    <a:lstStyle/>
                    <a:p>
                      <a:pPr algn="just" rtl="0" fontAlgn="ctr"/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① 매입채무 발생</a:t>
                      </a:r>
                    </a:p>
                  </a:txBody>
                  <a:tcPr marL="8015" marR="8015" marT="8015" marB="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rtl="0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매 입      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800,000</a:t>
                      </a:r>
                    </a:p>
                  </a:txBody>
                  <a:tcPr marL="8015" marR="8015" marT="8015" marB="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 rtl="0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현      금   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300,000</a:t>
                      </a:r>
                    </a:p>
                  </a:txBody>
                  <a:tcPr marL="8015" marR="8015" marT="8015" marB="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2016544637"/>
                  </a:ext>
                </a:extLst>
              </a:tr>
              <a:tr h="23332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rtl="0" fontAlgn="ctr"/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      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현     금  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300,000</a:t>
                      </a:r>
                    </a:p>
                  </a:txBody>
                  <a:tcPr marL="8015" marR="8015" marT="8015" marB="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 rtl="0" fontAlgn="ctr"/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 </a:t>
                      </a:r>
                      <a:r>
                        <a:rPr lang="ko-KR" alt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받을어음</a:t>
                      </a: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500,000</a:t>
                      </a:r>
                    </a:p>
                  </a:txBody>
                  <a:tcPr marL="8015" marR="8015" marT="8015" marB="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464371677"/>
                  </a:ext>
                </a:extLst>
              </a:tr>
              <a:tr h="23332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rtl="0" fontAlgn="ctr"/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           지급어음  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500,000</a:t>
                      </a:r>
                    </a:p>
                  </a:txBody>
                  <a:tcPr marL="8015" marR="8015" marT="8015" marB="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rtl="0" fontAlgn="ctr"/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        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매   출     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800,000</a:t>
                      </a:r>
                    </a:p>
                  </a:txBody>
                  <a:tcPr marL="8015" marR="8015" marT="8015" marB="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830974559"/>
                  </a:ext>
                </a:extLst>
              </a:tr>
              <a:tr h="155549">
                <a:tc rowSpan="2">
                  <a:txBody>
                    <a:bodyPr/>
                    <a:lstStyle/>
                    <a:p>
                      <a:pPr algn="just" rtl="0" fontAlgn="ctr"/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② 매입채무 상환</a:t>
                      </a:r>
                    </a:p>
                  </a:txBody>
                  <a:tcPr marL="8015" marR="8015" marT="8015" marB="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rtl="0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지급어음 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500,000</a:t>
                      </a:r>
                    </a:p>
                  </a:txBody>
                  <a:tcPr marL="8015" marR="8015" marT="8015" marB="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 rtl="0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현       금  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500,000</a:t>
                      </a:r>
                    </a:p>
                  </a:txBody>
                  <a:tcPr marL="8015" marR="8015" marT="8015" marB="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2838274460"/>
                  </a:ext>
                </a:extLst>
              </a:tr>
              <a:tr h="23332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rtl="0" fontAlgn="ctr"/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     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당좌예금  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500,000</a:t>
                      </a:r>
                    </a:p>
                  </a:txBody>
                  <a:tcPr marL="8015" marR="8015" marT="8015" marB="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rtl="0" fontAlgn="ctr"/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  </a:t>
                      </a:r>
                      <a:r>
                        <a:rPr lang="en-US" altLang="ko-KR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 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받을어음</a:t>
                      </a: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500,000</a:t>
                      </a:r>
                    </a:p>
                  </a:txBody>
                  <a:tcPr marL="8015" marR="8015" marT="8015" marB="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41242425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22894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27</a:t>
            </a:fld>
            <a:endParaRPr lang="ko-KR" altLang="en-US" dirty="0"/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514518" y="1597574"/>
            <a:ext cx="8223288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9477" tIns="49735" rIns="99477" bIns="49735"/>
          <a:lstStyle>
            <a:lvl1pPr algn="l" defTabSz="995363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 defTabSz="995363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 defTabSz="995363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 defTabSz="995363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 defTabSz="995363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ts val="24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① 대여금 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기업이 타인에게 대여한 </a:t>
            </a:r>
            <a:r>
              <a:rPr lang="ko-KR" altLang="en-US" sz="16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금전</a:t>
            </a:r>
            <a:r>
              <a:rPr lang="en-US" altLang="ko-KR" sz="16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eaLnBrk="1" hangingPunct="1">
              <a:lnSpc>
                <a:spcPts val="24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② 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차입금 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금전을 빌린 기업 입장에서는 차입금으로 기록</a:t>
            </a:r>
            <a:endParaRPr lang="en-US" altLang="ko-KR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eaLnBrk="1" hangingPunct="1">
              <a:lnSpc>
                <a:spcPts val="24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Rectangle 11"/>
          <p:cNvSpPr>
            <a:spLocks noChangeArrowheads="1"/>
          </p:cNvSpPr>
          <p:nvPr/>
        </p:nvSpPr>
        <p:spPr bwMode="auto">
          <a:xfrm>
            <a:off x="250993" y="1295400"/>
            <a:ext cx="3703736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9477" tIns="49735" rIns="99477" bIns="49735"/>
          <a:lstStyle>
            <a:lvl1pPr algn="l" defTabSz="995363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 defTabSz="995363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 defTabSz="995363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 defTabSz="995363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 defTabSz="995363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(1) 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대여금과 차입금</a:t>
            </a:r>
          </a:p>
        </p:txBody>
      </p:sp>
      <p:sp>
        <p:nvSpPr>
          <p:cNvPr id="15" name="Rectangle 11"/>
          <p:cNvSpPr>
            <a:spLocks noChangeArrowheads="1"/>
          </p:cNvSpPr>
          <p:nvPr/>
        </p:nvSpPr>
        <p:spPr bwMode="auto">
          <a:xfrm>
            <a:off x="250993" y="4011649"/>
            <a:ext cx="5052575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9477" tIns="49735" rIns="99477" bIns="49735"/>
          <a:lstStyle/>
          <a:p>
            <a:pPr defTabSz="995363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ko-KR" sz="16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(3) </a:t>
            </a:r>
            <a:r>
              <a:rPr lang="ko-KR" altLang="en-US" sz="1600" b="1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미수수익과</a:t>
            </a:r>
            <a:r>
              <a:rPr lang="ko-KR" altLang="en-US" sz="16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600" b="1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미지급비용</a:t>
            </a:r>
            <a:endParaRPr lang="ko-KR" altLang="en-US" sz="1600" b="1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Rectangle 11"/>
          <p:cNvSpPr>
            <a:spLocks noChangeArrowheads="1"/>
          </p:cNvSpPr>
          <p:nvPr/>
        </p:nvSpPr>
        <p:spPr bwMode="auto">
          <a:xfrm>
            <a:off x="253842" y="2450420"/>
            <a:ext cx="3703736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9477" tIns="49735" rIns="99477" bIns="49735"/>
          <a:lstStyle/>
          <a:p>
            <a:pPr defTabSz="995363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ko-KR" sz="16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(2) </a:t>
            </a:r>
            <a:r>
              <a:rPr lang="ko-KR" altLang="en-US" sz="16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미수금과 미지급금</a:t>
            </a:r>
          </a:p>
        </p:txBody>
      </p:sp>
      <p:sp>
        <p:nvSpPr>
          <p:cNvPr id="17" name="Rectangle 12"/>
          <p:cNvSpPr>
            <a:spLocks noChangeArrowheads="1"/>
          </p:cNvSpPr>
          <p:nvPr/>
        </p:nvSpPr>
        <p:spPr bwMode="auto">
          <a:xfrm>
            <a:off x="608302" y="2784893"/>
            <a:ext cx="8223288" cy="107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9477" tIns="49735" rIns="99477" bIns="49735"/>
          <a:lstStyle>
            <a:lvl1pPr algn="l" defTabSz="995363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 defTabSz="995363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 defTabSz="995363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 defTabSz="995363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 defTabSz="995363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marL="288000" indent="-288000" eaLnBrk="1" hangingPunct="1">
              <a:lnSpc>
                <a:spcPts val="24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① 미수금 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6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재고자산이 아닌 자산</a:t>
            </a:r>
            <a:r>
              <a:rPr lang="ko-KR" altLang="en-US" sz="16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을 외상으로 매각하는 등 </a:t>
            </a:r>
            <a:r>
              <a:rPr lang="ko-KR" altLang="en-US" sz="16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주요 상거래 이외의 원인</a:t>
            </a:r>
            <a:r>
              <a:rPr lang="ko-KR" altLang="en-US" sz="16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으로 발생한 채권</a:t>
            </a:r>
          </a:p>
          <a:p>
            <a:pPr marL="288000" indent="-288000" eaLnBrk="1" hangingPunct="1">
              <a:lnSpc>
                <a:spcPts val="24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en-US" altLang="ko-KR" sz="16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② </a:t>
            </a:r>
            <a:r>
              <a:rPr lang="ko-KR" altLang="en-US" sz="16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미지급금 </a:t>
            </a:r>
            <a:r>
              <a:rPr lang="en-US" altLang="ko-KR" sz="16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6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재고자산 이외</a:t>
            </a:r>
            <a:r>
              <a:rPr lang="ko-KR" altLang="en-US" sz="16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의 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자산을 구입할 때 발생하는 채무</a:t>
            </a:r>
          </a:p>
        </p:txBody>
      </p:sp>
      <p:sp>
        <p:nvSpPr>
          <p:cNvPr id="18" name="Rectangle 12"/>
          <p:cNvSpPr>
            <a:spLocks noChangeArrowheads="1"/>
          </p:cNvSpPr>
          <p:nvPr/>
        </p:nvSpPr>
        <p:spPr bwMode="auto">
          <a:xfrm>
            <a:off x="608302" y="4319515"/>
            <a:ext cx="8389394" cy="931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9477" tIns="49735" rIns="99477" bIns="49735"/>
          <a:lstStyle>
            <a:lvl1pPr algn="l" defTabSz="995363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 defTabSz="995363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 defTabSz="995363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 defTabSz="995363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 defTabSz="995363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marL="288000" indent="-288000" eaLnBrk="1" hangingPunct="1">
              <a:lnSpc>
                <a:spcPts val="24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① 미수수익 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발생주의에 의해 당기에 수익으로 인식하였으나 현금을 수취하지 못한 금액 </a:t>
            </a:r>
            <a:endParaRPr lang="en-US" altLang="ko-KR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88000" indent="-288000" eaLnBrk="1" hangingPunct="1">
              <a:lnSpc>
                <a:spcPts val="24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② </a:t>
            </a:r>
            <a:r>
              <a:rPr lang="ko-KR" altLang="en-US" sz="16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미지급비용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발생주의에 의해 당기의 비용으로 인식하였지만 지급이 이루어지지 않은 금액</a:t>
            </a:r>
          </a:p>
        </p:txBody>
      </p:sp>
    </p:spTree>
    <p:extLst>
      <p:ext uri="{BB962C8B-B14F-4D97-AF65-F5344CB8AC3E}">
        <p14:creationId xmlns:p14="http://schemas.microsoft.com/office/powerpoint/2010/main" val="2869364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28</a:t>
            </a:fld>
            <a:endParaRPr lang="ko-KR" altLang="en-US" dirty="0"/>
          </a:p>
        </p:txBody>
      </p:sp>
      <p:sp>
        <p:nvSpPr>
          <p:cNvPr id="11" name="Rectangle 12"/>
          <p:cNvSpPr>
            <a:spLocks noChangeArrowheads="1"/>
          </p:cNvSpPr>
          <p:nvPr/>
        </p:nvSpPr>
        <p:spPr bwMode="auto">
          <a:xfrm>
            <a:off x="465552" y="3349071"/>
            <a:ext cx="8416667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9477" tIns="49735" rIns="99477" bIns="49735"/>
          <a:lstStyle>
            <a:lvl1pPr algn="l" defTabSz="995363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 defTabSz="995363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 defTabSz="995363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 defTabSz="995363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 defTabSz="995363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marL="288000" indent="-288000" eaLnBrk="1" hangingPunct="1">
              <a:lnSpc>
                <a:spcPts val="24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① 선급비용 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6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선급임차료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선급보험료와 같이 미래에 발생하는 비용 중 미리 지급한 금액</a:t>
            </a:r>
          </a:p>
          <a:p>
            <a:pPr marL="288000" indent="-288000" eaLnBrk="1" hangingPunct="1">
              <a:lnSpc>
                <a:spcPts val="24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② 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선수수익 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미래에 발생할 수익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중 미리 수취한 금액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76627" y="3027250"/>
            <a:ext cx="3790833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9477" tIns="49735" rIns="99477" bIns="49735"/>
          <a:lstStyle/>
          <a:p>
            <a:pPr defTabSz="995363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ko-KR" sz="16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(5) </a:t>
            </a:r>
            <a:r>
              <a:rPr lang="ko-KR" altLang="en-US" sz="1600" b="1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선급비용과</a:t>
            </a:r>
            <a:r>
              <a:rPr lang="ko-KR" altLang="en-US" sz="16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600" b="1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선수수익</a:t>
            </a:r>
            <a:endParaRPr lang="ko-KR" altLang="en-US" sz="1600" b="1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" name="Rectangle 11"/>
          <p:cNvSpPr>
            <a:spLocks noChangeArrowheads="1"/>
          </p:cNvSpPr>
          <p:nvPr/>
        </p:nvSpPr>
        <p:spPr bwMode="auto">
          <a:xfrm>
            <a:off x="176627" y="4390759"/>
            <a:ext cx="3790833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9477" tIns="49735" rIns="99477" bIns="49735"/>
          <a:lstStyle/>
          <a:p>
            <a:pPr defTabSz="995363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ko-KR" sz="16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(6) </a:t>
            </a:r>
            <a:r>
              <a:rPr lang="ko-KR" altLang="en-US" sz="16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예수금</a:t>
            </a:r>
          </a:p>
        </p:txBody>
      </p:sp>
      <p:sp>
        <p:nvSpPr>
          <p:cNvPr id="22" name="Rectangle 15"/>
          <p:cNvSpPr>
            <a:spLocks noChangeArrowheads="1"/>
          </p:cNvSpPr>
          <p:nvPr/>
        </p:nvSpPr>
        <p:spPr bwMode="auto">
          <a:xfrm>
            <a:off x="492712" y="4723684"/>
            <a:ext cx="8416667" cy="284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9477" tIns="49735" rIns="99477" bIns="49735"/>
          <a:lstStyle>
            <a:lvl1pPr algn="l" defTabSz="995363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 defTabSz="995363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 defTabSz="995363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 defTabSz="995363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 defTabSz="995363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marL="360000" indent="-360000" eaLnBrk="1" latinLnBrk="0" hangingPunct="1">
              <a:lnSpc>
                <a:spcPts val="24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à"/>
            </a:pP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부가가치세 및 종업원의 근로소득세와 같이 </a:t>
            </a:r>
            <a:r>
              <a:rPr lang="ko-KR" altLang="en-US" sz="16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제</a:t>
            </a:r>
            <a:r>
              <a:rPr lang="en-US" altLang="ko-KR" sz="16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자에게 지급해야 할 금액을 기업이 미리 받아 일시적으로 보관하는 유동부채</a:t>
            </a:r>
          </a:p>
        </p:txBody>
      </p:sp>
      <p:sp>
        <p:nvSpPr>
          <p:cNvPr id="34" name="Rectangle 11"/>
          <p:cNvSpPr>
            <a:spLocks noChangeArrowheads="1"/>
          </p:cNvSpPr>
          <p:nvPr/>
        </p:nvSpPr>
        <p:spPr bwMode="auto">
          <a:xfrm>
            <a:off x="258651" y="5665641"/>
            <a:ext cx="3790833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9477" tIns="49735" rIns="99477" bIns="49735"/>
          <a:lstStyle/>
          <a:p>
            <a:pPr defTabSz="995363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ko-KR" sz="16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(7) </a:t>
            </a:r>
            <a:r>
              <a:rPr lang="ko-KR" altLang="en-US" sz="16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단기금융상품</a:t>
            </a:r>
          </a:p>
        </p:txBody>
      </p:sp>
      <p:sp>
        <p:nvSpPr>
          <p:cNvPr id="35" name="Rectangle 15"/>
          <p:cNvSpPr>
            <a:spLocks noChangeArrowheads="1"/>
          </p:cNvSpPr>
          <p:nvPr/>
        </p:nvSpPr>
        <p:spPr bwMode="auto">
          <a:xfrm>
            <a:off x="547576" y="6007430"/>
            <a:ext cx="8416667" cy="3675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9477" tIns="49735" rIns="99477" bIns="49735"/>
          <a:lstStyle>
            <a:lvl1pPr algn="l" defTabSz="995363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 defTabSz="995363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 defTabSz="995363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 defTabSz="995363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 defTabSz="995363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marL="360000" indent="-360000" eaLnBrk="1" hangingPunct="1">
              <a:lnSpc>
                <a:spcPts val="24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à"/>
            </a:pP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예금이나 적금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기타 단기투자상품들 중 만기가 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년 이내인 것</a:t>
            </a:r>
          </a:p>
        </p:txBody>
      </p:sp>
      <p:sp>
        <p:nvSpPr>
          <p:cNvPr id="9" name="Rectangle 11">
            <a:extLst>
              <a:ext uri="{FF2B5EF4-FFF2-40B4-BE49-F238E27FC236}">
                <a16:creationId xmlns="" xmlns:a16="http://schemas.microsoft.com/office/drawing/2014/main" id="{E30C463E-F9E8-428E-8EF7-5F60D5E328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572" y="1161694"/>
            <a:ext cx="2565707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9477" tIns="49735" rIns="99477" bIns="49735"/>
          <a:lstStyle/>
          <a:p>
            <a:pPr defTabSz="995363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ko-KR" sz="16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(4) </a:t>
            </a:r>
            <a:r>
              <a:rPr lang="ko-KR" altLang="en-US" sz="16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선급금과 선수금</a:t>
            </a:r>
          </a:p>
        </p:txBody>
      </p:sp>
      <p:sp>
        <p:nvSpPr>
          <p:cNvPr id="10" name="Rectangle 12">
            <a:extLst>
              <a:ext uri="{FF2B5EF4-FFF2-40B4-BE49-F238E27FC236}">
                <a16:creationId xmlns="" xmlns:a16="http://schemas.microsoft.com/office/drawing/2014/main" id="{2ADD4DC5-EA1C-4C32-B776-1F5BF868B0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2712" y="1506513"/>
            <a:ext cx="8125390" cy="10429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9477" tIns="49735" rIns="99477" bIns="49735"/>
          <a:lstStyle>
            <a:lvl1pPr algn="l" defTabSz="995363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 defTabSz="995363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 defTabSz="995363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 defTabSz="995363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 defTabSz="995363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marL="288000" indent="-288000" latinLnBrk="0">
              <a:lnSpc>
                <a:spcPts val="2400"/>
              </a:lnSpc>
              <a:spcBef>
                <a:spcPct val="0"/>
              </a:spcBef>
              <a:buClrTx/>
              <a:buSzTx/>
              <a:buNone/>
            </a:pP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① 선급금 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600" dirty="0">
                <a:latin typeface="맑은 고딕" panose="020B0503020000020004" pitchFamily="50" charset="-127"/>
              </a:rPr>
              <a:t>재화나 용역을 구입할 목적으로 미리 그 구입대금의 일부를 계약금 형태로 공급자에게 지급한 경우 </a:t>
            </a: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88000" indent="-288000">
              <a:lnSpc>
                <a:spcPts val="24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② 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선수금 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600" dirty="0">
                <a:latin typeface="맑은 고딕" panose="020B0503020000020004" pitchFamily="50" charset="-127"/>
              </a:rPr>
              <a:t>재화나 용역을 판매하기 전에 대금을 미리 수취한 경우</a:t>
            </a: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599610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그룹 22"/>
          <p:cNvGrpSpPr/>
          <p:nvPr/>
        </p:nvGrpSpPr>
        <p:grpSpPr>
          <a:xfrm>
            <a:off x="162248" y="1290581"/>
            <a:ext cx="8711460" cy="5158949"/>
            <a:chOff x="190714" y="1320886"/>
            <a:chExt cx="8711460" cy="5158949"/>
          </a:xfrm>
        </p:grpSpPr>
        <p:grpSp>
          <p:nvGrpSpPr>
            <p:cNvPr id="24" name="그룹 23"/>
            <p:cNvGrpSpPr/>
            <p:nvPr/>
          </p:nvGrpSpPr>
          <p:grpSpPr>
            <a:xfrm>
              <a:off x="360426" y="1461499"/>
              <a:ext cx="8541748" cy="5018336"/>
              <a:chOff x="267520" y="1722741"/>
              <a:chExt cx="8650303" cy="5018336"/>
            </a:xfrm>
          </p:grpSpPr>
          <p:sp>
            <p:nvSpPr>
              <p:cNvPr id="32" name="Rectangle 15"/>
              <p:cNvSpPr>
                <a:spLocks noChangeArrowheads="1"/>
              </p:cNvSpPr>
              <p:nvPr/>
            </p:nvSpPr>
            <p:spPr bwMode="auto">
              <a:xfrm>
                <a:off x="267520" y="1722741"/>
                <a:ext cx="8641369" cy="5018336"/>
              </a:xfrm>
              <a:prstGeom prst="foldedCorner">
                <a:avLst>
                  <a:gd name="adj" fmla="val 5125"/>
                </a:avLst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txBody>
              <a:bodyPr lIns="74608" tIns="37301" rIns="74608" bIns="37301" anchor="ctr"/>
              <a:lstStyle>
                <a:lvl1pPr algn="l" defTabSz="995363">
                  <a:spcBef>
                    <a:spcPct val="20000"/>
                  </a:spcBef>
                  <a:buClr>
                    <a:schemeClr val="tx2"/>
                  </a:buClr>
                  <a:buSzPct val="115000"/>
                  <a:buFont typeface="Wingdings" panose="05000000000000000000" pitchFamily="2" charset="2"/>
                  <a:buChar char="§"/>
                  <a:defRPr sz="28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 algn="l" defTabSz="995363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 algn="l" defTabSz="995363">
                  <a:spcBef>
                    <a:spcPct val="20000"/>
                  </a:spcBef>
                  <a:buChar char="•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 algn="l" defTabSz="995363">
                  <a:spcBef>
                    <a:spcPct val="20000"/>
                  </a:spcBef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 algn="l" defTabSz="995363">
                  <a:spcBef>
                    <a:spcPct val="20000"/>
                  </a:spcBef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33" name="직사각형 32"/>
              <p:cNvSpPr/>
              <p:nvPr/>
            </p:nvSpPr>
            <p:spPr>
              <a:xfrm>
                <a:off x="277823" y="1722741"/>
                <a:ext cx="8640000" cy="45719"/>
              </a:xfrm>
              <a:prstGeom prst="rect">
                <a:avLst/>
              </a:prstGeom>
              <a:solidFill>
                <a:srgbClr val="2D61C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25" name="그룹 24"/>
            <p:cNvGrpSpPr/>
            <p:nvPr/>
          </p:nvGrpSpPr>
          <p:grpSpPr>
            <a:xfrm>
              <a:off x="190714" y="1320886"/>
              <a:ext cx="4335600" cy="326952"/>
              <a:chOff x="190714" y="1320889"/>
              <a:chExt cx="3708776" cy="290354"/>
            </a:xfrm>
            <a:solidFill>
              <a:srgbClr val="2D61C8"/>
            </a:solidFill>
          </p:grpSpPr>
          <p:grpSp>
            <p:nvGrpSpPr>
              <p:cNvPr id="26" name="그룹 25"/>
              <p:cNvGrpSpPr/>
              <p:nvPr/>
            </p:nvGrpSpPr>
            <p:grpSpPr>
              <a:xfrm>
                <a:off x="190714" y="1320889"/>
                <a:ext cx="3708776" cy="290354"/>
                <a:chOff x="405822" y="2237753"/>
                <a:chExt cx="3708776" cy="290354"/>
              </a:xfrm>
              <a:grpFill/>
            </p:grpSpPr>
            <p:sp>
              <p:nvSpPr>
                <p:cNvPr id="28" name="타원 27"/>
                <p:cNvSpPr/>
                <p:nvPr/>
              </p:nvSpPr>
              <p:spPr>
                <a:xfrm>
                  <a:off x="405822" y="2237753"/>
                  <a:ext cx="290351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9" name="타원 28"/>
                <p:cNvSpPr/>
                <p:nvPr/>
              </p:nvSpPr>
              <p:spPr>
                <a:xfrm>
                  <a:off x="3824247" y="2237753"/>
                  <a:ext cx="290351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0" name="직사각형 29"/>
                <p:cNvSpPr/>
                <p:nvPr/>
              </p:nvSpPr>
              <p:spPr>
                <a:xfrm>
                  <a:off x="542511" y="2237755"/>
                  <a:ext cx="3411411" cy="290352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1600" b="1" dirty="0"/>
                    <a:t>예제 </a:t>
                  </a:r>
                  <a:r>
                    <a:rPr lang="en-US" altLang="ko-KR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5-11</a:t>
                  </a:r>
                  <a:r>
                    <a:rPr lang="ko-KR" altLang="en-US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 기타유동자산과 기타유동부채</a:t>
                  </a:r>
                  <a:endParaRPr lang="ko-KR" altLang="en-US" sz="1600" b="1" dirty="0"/>
                </a:p>
              </p:txBody>
            </p:sp>
            <p:sp>
              <p:nvSpPr>
                <p:cNvPr id="31" name="타원 30"/>
                <p:cNvSpPr/>
                <p:nvPr/>
              </p:nvSpPr>
              <p:spPr>
                <a:xfrm>
                  <a:off x="427833" y="2256153"/>
                  <a:ext cx="253549" cy="25354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pic>
            <p:nvPicPr>
              <p:cNvPr id="27" name="그림 26" descr="Log in | Sign Up Upload Clipart"/>
              <p:cNvPicPr>
                <a:picLocks noChangeAspect="1"/>
              </p:cNvPicPr>
              <p:nvPr/>
            </p:nvPicPr>
            <p:blipFill>
              <a:blip r:embed="rId3" cstate="email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265229" y="1359640"/>
                <a:ext cx="147147" cy="229618"/>
              </a:xfrm>
              <a:prstGeom prst="rect">
                <a:avLst/>
              </a:prstGeom>
            </p:spPr>
          </p:pic>
        </p:grpSp>
      </p:grpSp>
      <p:sp>
        <p:nvSpPr>
          <p:cNvPr id="37" name="Rectangle 12"/>
          <p:cNvSpPr>
            <a:spLocks noChangeArrowheads="1"/>
          </p:cNvSpPr>
          <p:nvPr/>
        </p:nvSpPr>
        <p:spPr bwMode="auto">
          <a:xfrm>
            <a:off x="673688" y="1695019"/>
            <a:ext cx="7775575" cy="1008062"/>
          </a:xfrm>
          <a:prstGeom prst="rect">
            <a:avLst/>
          </a:prstGeom>
          <a:noFill/>
          <a:ln>
            <a:noFill/>
          </a:ln>
        </p:spPr>
        <p:txBody>
          <a:bodyPr lIns="99477" tIns="49735" rIns="99477" bIns="49735"/>
          <a:lstStyle/>
          <a:p>
            <a:pPr defTabSz="995363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5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15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주</a:t>
            </a:r>
            <a:r>
              <a:rPr lang="en-US" altLang="ko-KR" sz="15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)</a:t>
            </a:r>
            <a:r>
              <a:rPr lang="ko-KR" altLang="en-US" sz="1500" b="1" kern="0" dirty="0" err="1">
                <a:solidFill>
                  <a:srgbClr val="000000"/>
                </a:solidFill>
                <a:latin typeface="맑은 고딕" panose="020B0503020000020004" pitchFamily="50" charset="-127"/>
              </a:rPr>
              <a:t>디섹은</a:t>
            </a:r>
            <a:r>
              <a:rPr lang="ko-KR" altLang="en-US" sz="15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 선박을 제조하여 판매한다</a:t>
            </a:r>
            <a:r>
              <a:rPr lang="en-US" altLang="ko-KR" sz="15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. 20×1</a:t>
            </a:r>
            <a:r>
              <a:rPr lang="ko-KR" altLang="en-US" sz="15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년 동안 다음의 거래가 발생하였다</a:t>
            </a:r>
            <a:r>
              <a:rPr lang="en-US" altLang="ko-KR" sz="15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.</a:t>
            </a:r>
          </a:p>
          <a:p>
            <a:pPr marL="180000" indent="-180000" defTabSz="995363" eaLnBrk="0" fontAlgn="base" latinLnBrk="0" hangingPunct="0">
              <a:spcBef>
                <a:spcPct val="0"/>
              </a:spcBef>
              <a:spcAft>
                <a:spcPct val="0"/>
              </a:spcAft>
            </a:pPr>
            <a:endParaRPr lang="en-US" altLang="ko-KR" sz="1500" kern="0" dirty="0">
              <a:solidFill>
                <a:srgbClr val="000000"/>
              </a:solidFill>
              <a:latin typeface="맑은 고딕" panose="020B0503020000020004" pitchFamily="50" charset="-127"/>
            </a:endParaRPr>
          </a:p>
          <a:p>
            <a:pPr marL="216000" indent="-216000" defTabSz="995363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5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① (</a:t>
            </a:r>
            <a:r>
              <a:rPr lang="ko-KR" altLang="en-US" sz="15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주</a:t>
            </a:r>
            <a:r>
              <a:rPr lang="en-US" altLang="ko-KR" sz="15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)</a:t>
            </a:r>
            <a:r>
              <a:rPr lang="ko-KR" altLang="en-US" sz="1500" kern="0" dirty="0" err="1">
                <a:solidFill>
                  <a:srgbClr val="000000"/>
                </a:solidFill>
                <a:latin typeface="맑은 고딕" panose="020B0503020000020004" pitchFamily="50" charset="-127"/>
              </a:rPr>
              <a:t>디섹은</a:t>
            </a:r>
            <a:r>
              <a:rPr lang="ko-KR" altLang="en-US" sz="15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15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20×1</a:t>
            </a:r>
            <a:r>
              <a:rPr lang="ko-KR" altLang="en-US" sz="15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년 </a:t>
            </a:r>
            <a:r>
              <a:rPr lang="en-US" altLang="ko-KR" sz="15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1</a:t>
            </a:r>
            <a:r>
              <a:rPr lang="ko-KR" altLang="en-US" sz="15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월 </a:t>
            </a:r>
            <a:r>
              <a:rPr lang="en-US" altLang="ko-KR" sz="15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1</a:t>
            </a:r>
            <a:r>
              <a:rPr lang="ko-KR" altLang="en-US" sz="15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일 </a:t>
            </a:r>
            <a:r>
              <a:rPr lang="en-US" altLang="ko-KR" sz="15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15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주</a:t>
            </a:r>
            <a:r>
              <a:rPr lang="en-US" altLang="ko-KR" sz="15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)</a:t>
            </a:r>
            <a:r>
              <a:rPr lang="ko-KR" altLang="en-US" sz="15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대우건설에 ￦</a:t>
            </a:r>
            <a:r>
              <a:rPr lang="en-US" altLang="ko-KR" sz="15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340,000</a:t>
            </a:r>
            <a:r>
              <a:rPr lang="ko-KR" altLang="en-US" sz="15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을 </a:t>
            </a:r>
            <a:r>
              <a:rPr lang="ko-KR" altLang="en-US" sz="1500" b="1" u="sng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대여</a:t>
            </a:r>
            <a:r>
              <a:rPr lang="ko-KR" altLang="en-US" sz="15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하고 이자는 연 </a:t>
            </a:r>
            <a:r>
              <a:rPr lang="en-US" altLang="ko-KR" sz="15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6%</a:t>
            </a:r>
            <a:r>
              <a:rPr lang="ko-KR" altLang="en-US" sz="15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를 받기로 하였다</a:t>
            </a:r>
            <a:r>
              <a:rPr lang="en-US" altLang="ko-KR" sz="15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. 20×1</a:t>
            </a:r>
            <a:r>
              <a:rPr lang="ko-KR" altLang="en-US" sz="15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년 기말 현재 ㈜대우건설은 이자를 지급하지 않았다</a:t>
            </a:r>
            <a:r>
              <a:rPr lang="en-US" altLang="ko-KR" sz="15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.</a:t>
            </a:r>
          </a:p>
        </p:txBody>
      </p:sp>
      <p:sp>
        <p:nvSpPr>
          <p:cNvPr id="38" name="Rectangle 12"/>
          <p:cNvSpPr>
            <a:spLocks noChangeArrowheads="1"/>
          </p:cNvSpPr>
          <p:nvPr/>
        </p:nvSpPr>
        <p:spPr bwMode="auto">
          <a:xfrm>
            <a:off x="1005158" y="2718218"/>
            <a:ext cx="7200000" cy="48551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txBody>
          <a:bodyPr lIns="99477" tIns="49735" rIns="99477" bIns="49735" anchor="ctr"/>
          <a:lstStyle/>
          <a:p>
            <a:pPr defTabSz="995363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6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16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∙ 20×1</a:t>
            </a:r>
            <a:r>
              <a:rPr lang="ko-KR" altLang="en-US" sz="16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년 </a:t>
            </a:r>
            <a:r>
              <a:rPr lang="en-US" altLang="ko-KR" sz="16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1</a:t>
            </a:r>
            <a:r>
              <a:rPr lang="ko-KR" altLang="en-US" sz="16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월 </a:t>
            </a:r>
            <a:r>
              <a:rPr lang="en-US" altLang="ko-KR" sz="16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1</a:t>
            </a:r>
            <a:r>
              <a:rPr lang="ko-KR" altLang="en-US" sz="16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일</a:t>
            </a:r>
            <a:r>
              <a:rPr lang="en-US" altLang="ko-KR" sz="15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  </a:t>
            </a:r>
          </a:p>
          <a:p>
            <a:pPr defTabSz="995363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5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     (</a:t>
            </a:r>
            <a:r>
              <a:rPr lang="ko-KR" altLang="en-US" sz="15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차</a:t>
            </a:r>
            <a:r>
              <a:rPr lang="en-US" altLang="ko-KR" sz="15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) </a:t>
            </a:r>
            <a:r>
              <a:rPr lang="ko-KR" altLang="en-US" sz="15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대   여   금              </a:t>
            </a:r>
            <a:r>
              <a:rPr lang="en-US" altLang="ko-KR" sz="15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340,000          (</a:t>
            </a:r>
            <a:r>
              <a:rPr lang="ko-KR" altLang="en-US" sz="15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대</a:t>
            </a:r>
            <a:r>
              <a:rPr lang="en-US" altLang="ko-KR" sz="15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) </a:t>
            </a:r>
            <a:r>
              <a:rPr lang="ko-KR" altLang="en-US" sz="15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현         금             </a:t>
            </a:r>
            <a:r>
              <a:rPr lang="en-US" altLang="ko-KR" sz="15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340,000</a:t>
            </a:r>
          </a:p>
        </p:txBody>
      </p:sp>
      <p:sp>
        <p:nvSpPr>
          <p:cNvPr id="39" name="Rectangle 12"/>
          <p:cNvSpPr>
            <a:spLocks noChangeArrowheads="1"/>
          </p:cNvSpPr>
          <p:nvPr/>
        </p:nvSpPr>
        <p:spPr bwMode="auto">
          <a:xfrm>
            <a:off x="1005158" y="3346541"/>
            <a:ext cx="7200000" cy="7012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txBody>
          <a:bodyPr lIns="99477" tIns="49735" rIns="99477" bIns="49735" anchor="ctr"/>
          <a:lstStyle/>
          <a:p>
            <a:pPr defTabSz="995363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6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 ∙ 20×1</a:t>
            </a:r>
            <a:r>
              <a:rPr lang="ko-KR" altLang="en-US" sz="16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년 </a:t>
            </a:r>
            <a:r>
              <a:rPr lang="en-US" altLang="ko-KR" sz="16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12</a:t>
            </a:r>
            <a:r>
              <a:rPr lang="ko-KR" altLang="en-US" sz="16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월 </a:t>
            </a:r>
            <a:r>
              <a:rPr lang="en-US" altLang="ko-KR" sz="16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31</a:t>
            </a:r>
            <a:r>
              <a:rPr lang="ko-KR" altLang="en-US" sz="16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일</a:t>
            </a:r>
            <a:r>
              <a:rPr lang="en-US" altLang="ko-KR" sz="15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    </a:t>
            </a:r>
          </a:p>
          <a:p>
            <a:pPr defTabSz="995363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5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     (</a:t>
            </a:r>
            <a:r>
              <a:rPr lang="ko-KR" altLang="en-US" sz="15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차</a:t>
            </a:r>
            <a:r>
              <a:rPr lang="en-US" altLang="ko-KR" sz="15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) </a:t>
            </a:r>
            <a:r>
              <a:rPr lang="ko-KR" altLang="en-US" sz="15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미 수 </a:t>
            </a:r>
            <a:r>
              <a:rPr lang="ko-KR" altLang="en-US" sz="1500" b="1" kern="0" dirty="0" err="1">
                <a:solidFill>
                  <a:srgbClr val="000000"/>
                </a:solidFill>
                <a:latin typeface="맑은 고딕" panose="020B0503020000020004" pitchFamily="50" charset="-127"/>
              </a:rPr>
              <a:t>수</a:t>
            </a:r>
            <a:r>
              <a:rPr lang="ko-KR" altLang="en-US" sz="15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 익               </a:t>
            </a:r>
            <a:r>
              <a:rPr lang="en-US" altLang="ko-KR" sz="15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20,400*          (</a:t>
            </a:r>
            <a:r>
              <a:rPr lang="ko-KR" altLang="en-US" sz="15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대</a:t>
            </a:r>
            <a:r>
              <a:rPr lang="en-US" altLang="ko-KR" sz="15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) </a:t>
            </a:r>
            <a:r>
              <a:rPr lang="ko-KR" altLang="en-US" sz="15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이 자 수 </a:t>
            </a:r>
            <a:r>
              <a:rPr lang="ko-KR" altLang="en-US" sz="1500" b="1" kern="0" dirty="0" err="1">
                <a:solidFill>
                  <a:srgbClr val="000000"/>
                </a:solidFill>
                <a:latin typeface="맑은 고딕" panose="020B0503020000020004" pitchFamily="50" charset="-127"/>
              </a:rPr>
              <a:t>익</a:t>
            </a:r>
            <a:r>
              <a:rPr lang="ko-KR" altLang="en-US" sz="15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              </a:t>
            </a:r>
            <a:r>
              <a:rPr lang="en-US" altLang="ko-KR" sz="15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20,400               </a:t>
            </a:r>
            <a:r>
              <a:rPr lang="en-US" altLang="ko-KR" sz="1500" b="1" kern="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                                                        </a:t>
            </a:r>
            <a:r>
              <a:rPr lang="en-US" altLang="ko-KR" sz="15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* </a:t>
            </a:r>
            <a:r>
              <a:rPr lang="ko-KR" altLang="en-US" sz="15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￦</a:t>
            </a:r>
            <a:r>
              <a:rPr lang="en-US" altLang="ko-KR" sz="15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340,000×6%</a:t>
            </a:r>
            <a:r>
              <a:rPr lang="ko-KR" altLang="en-US" sz="15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＝￦</a:t>
            </a:r>
            <a:r>
              <a:rPr lang="en-US" altLang="ko-KR" sz="15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20,400</a:t>
            </a:r>
          </a:p>
        </p:txBody>
      </p:sp>
      <p:sp>
        <p:nvSpPr>
          <p:cNvPr id="34" name="Rectangle 12"/>
          <p:cNvSpPr>
            <a:spLocks noChangeArrowheads="1"/>
          </p:cNvSpPr>
          <p:nvPr/>
        </p:nvSpPr>
        <p:spPr bwMode="auto">
          <a:xfrm>
            <a:off x="684213" y="4296285"/>
            <a:ext cx="7775575" cy="576262"/>
          </a:xfrm>
          <a:prstGeom prst="rect">
            <a:avLst/>
          </a:prstGeom>
          <a:noFill/>
          <a:ln>
            <a:noFill/>
          </a:ln>
        </p:spPr>
        <p:txBody>
          <a:bodyPr lIns="99477" tIns="49735" rIns="99477" bIns="49735"/>
          <a:lstStyle/>
          <a:p>
            <a:pPr marL="216000" indent="-216000" defTabSz="995363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en-US" sz="15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② </a:t>
            </a:r>
            <a:r>
              <a:rPr lang="en-US" altLang="ko-KR" sz="15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15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주</a:t>
            </a:r>
            <a:r>
              <a:rPr lang="en-US" altLang="ko-KR" sz="15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)</a:t>
            </a:r>
            <a:r>
              <a:rPr lang="ko-KR" altLang="en-US" sz="1500" kern="0" dirty="0" err="1">
                <a:solidFill>
                  <a:srgbClr val="000000"/>
                </a:solidFill>
                <a:latin typeface="맑은 고딕" panose="020B0503020000020004" pitchFamily="50" charset="-127"/>
              </a:rPr>
              <a:t>디섹은</a:t>
            </a:r>
            <a:r>
              <a:rPr lang="ko-KR" altLang="en-US" sz="15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15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20×1</a:t>
            </a:r>
            <a:r>
              <a:rPr lang="ko-KR" altLang="en-US" sz="15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년 </a:t>
            </a:r>
            <a:r>
              <a:rPr lang="en-US" altLang="ko-KR" sz="15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3</a:t>
            </a:r>
            <a:r>
              <a:rPr lang="ko-KR" altLang="en-US" sz="15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월 </a:t>
            </a:r>
            <a:r>
              <a:rPr lang="en-US" altLang="ko-KR" sz="15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6</a:t>
            </a:r>
            <a:r>
              <a:rPr lang="ko-KR" altLang="en-US" sz="15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일 </a:t>
            </a:r>
            <a:r>
              <a:rPr lang="ko-KR" altLang="en-US" sz="1500" kern="0" dirty="0" err="1">
                <a:solidFill>
                  <a:srgbClr val="000000"/>
                </a:solidFill>
                <a:latin typeface="맑은 고딕" panose="020B0503020000020004" pitchFamily="50" charset="-127"/>
              </a:rPr>
              <a:t>두산에너빌리티로부터</a:t>
            </a:r>
            <a:r>
              <a:rPr lang="ko-KR" altLang="en-US" sz="15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sz="15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기계장치</a:t>
            </a:r>
            <a:r>
              <a:rPr lang="ko-KR" altLang="en-US" sz="15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를 ￦</a:t>
            </a:r>
            <a:r>
              <a:rPr lang="en-US" altLang="ko-KR" sz="15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489,000</a:t>
            </a:r>
            <a:r>
              <a:rPr lang="ko-KR" altLang="en-US" sz="15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에 </a:t>
            </a:r>
            <a:r>
              <a:rPr lang="ko-KR" altLang="en-US" sz="15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외상으로 구입</a:t>
            </a:r>
            <a:r>
              <a:rPr lang="ko-KR" altLang="en-US" sz="15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하였으며</a:t>
            </a:r>
            <a:r>
              <a:rPr lang="en-US" altLang="ko-KR" sz="15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, 4</a:t>
            </a:r>
            <a:r>
              <a:rPr lang="ko-KR" altLang="en-US" sz="15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월 </a:t>
            </a:r>
            <a:r>
              <a:rPr lang="en-US" altLang="ko-KR" sz="15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3</a:t>
            </a:r>
            <a:r>
              <a:rPr lang="ko-KR" altLang="en-US" sz="15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일에 동 금액을 현금으로 지급하였다</a:t>
            </a:r>
            <a:r>
              <a:rPr lang="en-US" altLang="ko-KR" sz="15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.</a:t>
            </a:r>
          </a:p>
        </p:txBody>
      </p:sp>
      <p:sp>
        <p:nvSpPr>
          <p:cNvPr id="35" name="Rectangle 12"/>
          <p:cNvSpPr>
            <a:spLocks noChangeArrowheads="1"/>
          </p:cNvSpPr>
          <p:nvPr/>
        </p:nvSpPr>
        <p:spPr bwMode="auto">
          <a:xfrm>
            <a:off x="1005158" y="4896245"/>
            <a:ext cx="7200000" cy="46574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txBody>
          <a:bodyPr lIns="99477" tIns="49735" rIns="99477" bIns="49735" anchor="ctr"/>
          <a:lstStyle/>
          <a:p>
            <a:pPr defTabSz="995363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5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  ∙ 20×1</a:t>
            </a:r>
            <a:r>
              <a:rPr lang="ko-KR" altLang="en-US" sz="15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년 </a:t>
            </a:r>
            <a:r>
              <a:rPr lang="en-US" altLang="ko-KR" sz="15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3</a:t>
            </a:r>
            <a:r>
              <a:rPr lang="ko-KR" altLang="en-US" sz="15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월 </a:t>
            </a:r>
            <a:r>
              <a:rPr lang="en-US" altLang="ko-KR" sz="15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6</a:t>
            </a:r>
            <a:r>
              <a:rPr lang="ko-KR" altLang="en-US" sz="15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일</a:t>
            </a:r>
          </a:p>
          <a:p>
            <a:pPr defTabSz="995363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5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     (</a:t>
            </a:r>
            <a:r>
              <a:rPr lang="ko-KR" altLang="en-US" sz="15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차</a:t>
            </a:r>
            <a:r>
              <a:rPr lang="en-US" altLang="ko-KR" sz="15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) </a:t>
            </a:r>
            <a:r>
              <a:rPr lang="ko-KR" altLang="en-US" sz="15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기계장치                </a:t>
            </a:r>
            <a:r>
              <a:rPr lang="en-US" altLang="ko-KR" sz="15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489,000         (</a:t>
            </a:r>
            <a:r>
              <a:rPr lang="ko-KR" altLang="en-US" sz="15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대</a:t>
            </a:r>
            <a:r>
              <a:rPr lang="en-US" altLang="ko-KR" sz="15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) </a:t>
            </a:r>
            <a:r>
              <a:rPr lang="ko-KR" altLang="en-US" sz="15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미 지 급 금               </a:t>
            </a:r>
            <a:r>
              <a:rPr lang="en-US" altLang="ko-KR" sz="15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489,000</a:t>
            </a:r>
          </a:p>
        </p:txBody>
      </p:sp>
      <p:sp>
        <p:nvSpPr>
          <p:cNvPr id="36" name="Rectangle 12"/>
          <p:cNvSpPr>
            <a:spLocks noChangeArrowheads="1"/>
          </p:cNvSpPr>
          <p:nvPr/>
        </p:nvSpPr>
        <p:spPr bwMode="auto">
          <a:xfrm>
            <a:off x="1005158" y="5492281"/>
            <a:ext cx="7200000" cy="46574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txBody>
          <a:bodyPr lIns="99477" tIns="49735" rIns="99477" bIns="49735" anchor="ctr"/>
          <a:lstStyle/>
          <a:p>
            <a:pPr defTabSz="995363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5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  </a:t>
            </a:r>
            <a:r>
              <a:rPr lang="en-US" altLang="ko-KR" sz="15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∙ 20×1</a:t>
            </a:r>
            <a:r>
              <a:rPr lang="ko-KR" altLang="en-US" sz="15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년 </a:t>
            </a:r>
            <a:r>
              <a:rPr lang="en-US" altLang="ko-KR" sz="15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4</a:t>
            </a:r>
            <a:r>
              <a:rPr lang="ko-KR" altLang="en-US" sz="15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월 </a:t>
            </a:r>
            <a:r>
              <a:rPr lang="en-US" altLang="ko-KR" sz="15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3</a:t>
            </a:r>
            <a:r>
              <a:rPr lang="ko-KR" altLang="en-US" sz="15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일</a:t>
            </a:r>
          </a:p>
          <a:p>
            <a:pPr defTabSz="995363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5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     (</a:t>
            </a:r>
            <a:r>
              <a:rPr lang="ko-KR" altLang="en-US" sz="15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차</a:t>
            </a:r>
            <a:r>
              <a:rPr lang="en-US" altLang="ko-KR" sz="15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) </a:t>
            </a:r>
            <a:r>
              <a:rPr lang="ko-KR" altLang="en-US" sz="15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미 지 급 금             </a:t>
            </a:r>
            <a:r>
              <a:rPr lang="en-US" altLang="ko-KR" sz="15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489,000         (</a:t>
            </a:r>
            <a:r>
              <a:rPr lang="ko-KR" altLang="en-US" sz="15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대</a:t>
            </a:r>
            <a:r>
              <a:rPr lang="en-US" altLang="ko-KR" sz="15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) </a:t>
            </a:r>
            <a:r>
              <a:rPr lang="ko-KR" altLang="en-US" sz="15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현         금               </a:t>
            </a:r>
            <a:r>
              <a:rPr lang="en-US" altLang="ko-KR" sz="15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489,000</a:t>
            </a:r>
          </a:p>
        </p:txBody>
      </p:sp>
    </p:spTree>
    <p:extLst>
      <p:ext uri="{BB962C8B-B14F-4D97-AF65-F5344CB8AC3E}">
        <p14:creationId xmlns:p14="http://schemas.microsoft.com/office/powerpoint/2010/main" val="15312009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30</a:t>
            </a:fld>
            <a:endParaRPr lang="ko-KR" altLang="en-US" dirty="0"/>
          </a:p>
        </p:txBody>
      </p:sp>
      <p:grpSp>
        <p:nvGrpSpPr>
          <p:cNvPr id="24" name="그룹 23"/>
          <p:cNvGrpSpPr/>
          <p:nvPr/>
        </p:nvGrpSpPr>
        <p:grpSpPr>
          <a:xfrm>
            <a:off x="424004" y="1403406"/>
            <a:ext cx="8540239" cy="5077404"/>
            <a:chOff x="269048" y="1722741"/>
            <a:chExt cx="8648775" cy="5077404"/>
          </a:xfrm>
        </p:grpSpPr>
        <p:sp>
          <p:nvSpPr>
            <p:cNvPr id="32" name="Rectangle 15"/>
            <p:cNvSpPr>
              <a:spLocks noChangeArrowheads="1"/>
            </p:cNvSpPr>
            <p:nvPr/>
          </p:nvSpPr>
          <p:spPr bwMode="auto">
            <a:xfrm>
              <a:off x="269048" y="1746439"/>
              <a:ext cx="8641369" cy="5053706"/>
            </a:xfrm>
            <a:prstGeom prst="foldedCorner">
              <a:avLst>
                <a:gd name="adj" fmla="val 5125"/>
              </a:avLst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txBody>
            <a:bodyPr lIns="74608" tIns="37301" rIns="74608" bIns="37301" anchor="ctr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None/>
              </a:pPr>
              <a:endParaRPr lang="en-US" altLang="ko-KR" sz="1400" dirty="0">
                <a:latin typeface="맑은 고딕" panose="020B0503020000020004" pitchFamily="50" charset="-127"/>
              </a:endParaRPr>
            </a:p>
          </p:txBody>
        </p:sp>
        <p:sp>
          <p:nvSpPr>
            <p:cNvPr id="33" name="직사각형 32"/>
            <p:cNvSpPr/>
            <p:nvPr/>
          </p:nvSpPr>
          <p:spPr>
            <a:xfrm>
              <a:off x="277823" y="1722741"/>
              <a:ext cx="8640000" cy="45719"/>
            </a:xfrm>
            <a:prstGeom prst="rect">
              <a:avLst/>
            </a:prstGeom>
            <a:solidFill>
              <a:srgbClr val="2D61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5" name="그룹 24"/>
          <p:cNvGrpSpPr/>
          <p:nvPr/>
        </p:nvGrpSpPr>
        <p:grpSpPr>
          <a:xfrm>
            <a:off x="252783" y="1262793"/>
            <a:ext cx="4370853" cy="326952"/>
            <a:chOff x="190714" y="1320889"/>
            <a:chExt cx="3738933" cy="290354"/>
          </a:xfrm>
          <a:solidFill>
            <a:srgbClr val="2D61C8"/>
          </a:solidFill>
        </p:grpSpPr>
        <p:grpSp>
          <p:nvGrpSpPr>
            <p:cNvPr id="26" name="그룹 25"/>
            <p:cNvGrpSpPr/>
            <p:nvPr/>
          </p:nvGrpSpPr>
          <p:grpSpPr>
            <a:xfrm>
              <a:off x="190714" y="1320889"/>
              <a:ext cx="3738933" cy="290354"/>
              <a:chOff x="405822" y="2237753"/>
              <a:chExt cx="3738933" cy="290354"/>
            </a:xfrm>
            <a:grpFill/>
          </p:grpSpPr>
          <p:sp>
            <p:nvSpPr>
              <p:cNvPr id="28" name="타원 27"/>
              <p:cNvSpPr/>
              <p:nvPr/>
            </p:nvSpPr>
            <p:spPr>
              <a:xfrm>
                <a:off x="405822" y="2237753"/>
                <a:ext cx="290351" cy="290351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9" name="타원 28"/>
              <p:cNvSpPr/>
              <p:nvPr/>
            </p:nvSpPr>
            <p:spPr>
              <a:xfrm>
                <a:off x="3854404" y="2237753"/>
                <a:ext cx="290351" cy="290351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0" name="직사각형 29"/>
              <p:cNvSpPr/>
              <p:nvPr/>
            </p:nvSpPr>
            <p:spPr>
              <a:xfrm>
                <a:off x="542511" y="2237755"/>
                <a:ext cx="3487675" cy="290352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600" b="1" dirty="0"/>
                  <a:t>예제 </a:t>
                </a:r>
                <a:r>
                  <a:rPr lang="en-US" altLang="ko-KR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5-11</a:t>
                </a:r>
                <a:r>
                  <a:rPr lang="ko-KR" alt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기타유동자산과 기타유동부채</a:t>
                </a:r>
                <a:endParaRPr lang="ko-KR" altLang="en-US" sz="1600" b="1" dirty="0"/>
              </a:p>
            </p:txBody>
          </p:sp>
          <p:sp>
            <p:nvSpPr>
              <p:cNvPr id="31" name="타원 30"/>
              <p:cNvSpPr/>
              <p:nvPr/>
            </p:nvSpPr>
            <p:spPr>
              <a:xfrm>
                <a:off x="427833" y="2256153"/>
                <a:ext cx="253549" cy="253549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pic>
          <p:nvPicPr>
            <p:cNvPr id="27" name="그림 26" descr="Log in | Sign Up Upload Clipart"/>
            <p:cNvPicPr>
              <a:picLocks noChangeAspect="1"/>
            </p:cNvPicPr>
            <p:nvPr/>
          </p:nvPicPr>
          <p:blipFill>
            <a:blip r:embed="rId2" cstate="email">
              <a:duotone>
                <a:schemeClr val="accent5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65229" y="1359640"/>
              <a:ext cx="147147" cy="229618"/>
            </a:xfrm>
            <a:prstGeom prst="rect">
              <a:avLst/>
            </a:prstGeom>
          </p:spPr>
        </p:pic>
      </p:grpSp>
      <p:sp>
        <p:nvSpPr>
          <p:cNvPr id="46" name="Rectangle 12"/>
          <p:cNvSpPr>
            <a:spLocks noChangeArrowheads="1"/>
          </p:cNvSpPr>
          <p:nvPr/>
        </p:nvSpPr>
        <p:spPr bwMode="auto">
          <a:xfrm>
            <a:off x="684213" y="1730348"/>
            <a:ext cx="7775575" cy="863600"/>
          </a:xfrm>
          <a:prstGeom prst="rect">
            <a:avLst/>
          </a:prstGeom>
          <a:noFill/>
          <a:ln>
            <a:noFill/>
          </a:ln>
        </p:spPr>
        <p:txBody>
          <a:bodyPr lIns="99477" tIns="49735" rIns="99477" bIns="49735"/>
          <a:lstStyle/>
          <a:p>
            <a:pPr marL="216000" indent="-216000" defTabSz="995363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en-US" sz="14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③</a:t>
            </a:r>
            <a:r>
              <a:rPr lang="en-US" altLang="ko-KR" sz="14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14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주</a:t>
            </a:r>
            <a:r>
              <a:rPr lang="en-US" altLang="ko-KR" sz="14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)</a:t>
            </a:r>
            <a:r>
              <a:rPr lang="ko-KR" altLang="en-US" sz="1400" kern="0" dirty="0" err="1">
                <a:solidFill>
                  <a:srgbClr val="000000"/>
                </a:solidFill>
                <a:latin typeface="맑은 고딕" panose="020B0503020000020004" pitchFamily="50" charset="-127"/>
              </a:rPr>
              <a:t>디섹은</a:t>
            </a:r>
            <a:r>
              <a:rPr lang="ko-KR" altLang="en-US" sz="14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14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20×1</a:t>
            </a:r>
            <a:r>
              <a:rPr lang="ko-KR" altLang="en-US" sz="14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년 </a:t>
            </a:r>
            <a:r>
              <a:rPr lang="en-US" altLang="ko-KR" sz="14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3</a:t>
            </a:r>
            <a:r>
              <a:rPr lang="ko-KR" altLang="en-US" sz="14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월 </a:t>
            </a:r>
            <a:r>
              <a:rPr lang="en-US" altLang="ko-KR" sz="14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23</a:t>
            </a:r>
            <a:r>
              <a:rPr lang="ko-KR" altLang="en-US" sz="14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일 </a:t>
            </a:r>
            <a:r>
              <a:rPr lang="ko-KR" altLang="en-US" sz="14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요트 한 대를 공급</a:t>
            </a:r>
            <a:r>
              <a:rPr lang="ko-KR" altLang="en-US" sz="14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하기로 계약하였고</a:t>
            </a:r>
            <a:r>
              <a:rPr lang="en-US" altLang="ko-KR" sz="14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4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계약금</a:t>
            </a:r>
            <a:r>
              <a:rPr lang="ko-KR" altLang="en-US" sz="14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으로 ￦</a:t>
            </a:r>
            <a:r>
              <a:rPr lang="en-US" altLang="ko-KR" sz="14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100,000,000</a:t>
            </a:r>
            <a:r>
              <a:rPr lang="ko-KR" altLang="en-US" sz="14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을 수취하였다</a:t>
            </a:r>
            <a:r>
              <a:rPr lang="en-US" altLang="ko-KR" sz="14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. 20×1</a:t>
            </a:r>
            <a:r>
              <a:rPr lang="ko-KR" altLang="en-US" sz="14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년 </a:t>
            </a:r>
            <a:r>
              <a:rPr lang="en-US" altLang="ko-KR" sz="14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9</a:t>
            </a:r>
            <a:r>
              <a:rPr lang="ko-KR" altLang="en-US" sz="14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월 </a:t>
            </a:r>
            <a:r>
              <a:rPr lang="en-US" altLang="ko-KR" sz="14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30</a:t>
            </a:r>
            <a:r>
              <a:rPr lang="ko-KR" altLang="en-US" sz="14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일에 요트를 완성하여 인도하였고</a:t>
            </a:r>
            <a:r>
              <a:rPr lang="en-US" altLang="ko-KR" sz="14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4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이때 잔금 ￦</a:t>
            </a:r>
            <a:r>
              <a:rPr lang="en-US" altLang="ko-KR" sz="14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300,000,000</a:t>
            </a:r>
            <a:r>
              <a:rPr lang="ko-KR" altLang="en-US" sz="14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을 수취하였다</a:t>
            </a:r>
            <a:r>
              <a:rPr lang="en-US" altLang="ko-KR" sz="14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.</a:t>
            </a:r>
          </a:p>
        </p:txBody>
      </p:sp>
      <p:sp>
        <p:nvSpPr>
          <p:cNvPr id="47" name="Rectangle 12"/>
          <p:cNvSpPr>
            <a:spLocks noChangeArrowheads="1"/>
          </p:cNvSpPr>
          <p:nvPr/>
        </p:nvSpPr>
        <p:spPr bwMode="auto">
          <a:xfrm>
            <a:off x="959422" y="2584263"/>
            <a:ext cx="7200000" cy="46574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txBody>
          <a:bodyPr lIns="99477" tIns="49735" rIns="99477" bIns="49735" anchor="ctr"/>
          <a:lstStyle/>
          <a:p>
            <a:pPr defTabSz="995363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5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  ∙ 20×1</a:t>
            </a:r>
            <a:r>
              <a:rPr lang="ko-KR" altLang="en-US" sz="15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년 </a:t>
            </a:r>
            <a:r>
              <a:rPr lang="en-US" altLang="ko-KR" sz="15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3</a:t>
            </a:r>
            <a:r>
              <a:rPr lang="ko-KR" altLang="en-US" sz="15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월 </a:t>
            </a:r>
            <a:r>
              <a:rPr lang="en-US" altLang="ko-KR" sz="15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23</a:t>
            </a:r>
            <a:r>
              <a:rPr lang="ko-KR" altLang="en-US" sz="15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일</a:t>
            </a:r>
            <a:endParaRPr lang="en-US" altLang="ko-KR" sz="1500" kern="0" dirty="0">
              <a:solidFill>
                <a:srgbClr val="000000"/>
              </a:solidFill>
              <a:latin typeface="맑은 고딕" panose="020B0503020000020004" pitchFamily="50" charset="-127"/>
            </a:endParaRPr>
          </a:p>
          <a:p>
            <a:pPr defTabSz="995363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5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    (</a:t>
            </a:r>
            <a:r>
              <a:rPr lang="ko-KR" altLang="en-US" sz="15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차</a:t>
            </a:r>
            <a:r>
              <a:rPr lang="en-US" altLang="ko-KR" sz="15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) </a:t>
            </a:r>
            <a:r>
              <a:rPr lang="ko-KR" altLang="en-US" sz="15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현         금         </a:t>
            </a:r>
            <a:r>
              <a:rPr lang="en-US" altLang="ko-KR" sz="15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100,000,000        (</a:t>
            </a:r>
            <a:r>
              <a:rPr lang="ko-KR" altLang="en-US" sz="15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대</a:t>
            </a:r>
            <a:r>
              <a:rPr lang="en-US" altLang="ko-KR" sz="15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) </a:t>
            </a:r>
            <a:r>
              <a:rPr lang="ko-KR" altLang="en-US" sz="15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선  수  </a:t>
            </a:r>
            <a:r>
              <a:rPr lang="ko-KR" altLang="en-US" sz="1500" b="1" kern="0" dirty="0" err="1">
                <a:solidFill>
                  <a:srgbClr val="000000"/>
                </a:solidFill>
                <a:latin typeface="맑은 고딕" panose="020B0503020000020004" pitchFamily="50" charset="-127"/>
              </a:rPr>
              <a:t>수</a:t>
            </a:r>
            <a:r>
              <a:rPr lang="ko-KR" altLang="en-US" sz="15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 익       </a:t>
            </a:r>
            <a:r>
              <a:rPr lang="en-US" altLang="ko-KR" sz="15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100,000,000</a:t>
            </a:r>
            <a:r>
              <a:rPr lang="en-US" altLang="ko-KR" sz="15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     </a:t>
            </a:r>
            <a:endParaRPr lang="en-US" altLang="ko-KR" sz="1500" b="1" kern="0" dirty="0">
              <a:solidFill>
                <a:srgbClr val="00000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8" name="Rectangle 12"/>
          <p:cNvSpPr>
            <a:spLocks noChangeArrowheads="1"/>
          </p:cNvSpPr>
          <p:nvPr/>
        </p:nvSpPr>
        <p:spPr bwMode="auto">
          <a:xfrm>
            <a:off x="959422" y="3220987"/>
            <a:ext cx="7200000" cy="68293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txBody>
          <a:bodyPr lIns="99477" tIns="49735" rIns="99477" bIns="49735" anchor="ctr"/>
          <a:lstStyle/>
          <a:p>
            <a:pPr defTabSz="995363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5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  ∙ 20×1</a:t>
            </a:r>
            <a:r>
              <a:rPr lang="ko-KR" altLang="en-US" sz="15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년 </a:t>
            </a:r>
            <a:r>
              <a:rPr lang="en-US" altLang="ko-KR" sz="15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9</a:t>
            </a:r>
            <a:r>
              <a:rPr lang="ko-KR" altLang="en-US" sz="15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월 </a:t>
            </a:r>
            <a:r>
              <a:rPr lang="en-US" altLang="ko-KR" sz="15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30</a:t>
            </a:r>
            <a:r>
              <a:rPr lang="ko-KR" altLang="en-US" sz="15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일</a:t>
            </a:r>
          </a:p>
          <a:p>
            <a:pPr defTabSz="995363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5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     (</a:t>
            </a:r>
            <a:r>
              <a:rPr lang="ko-KR" altLang="en-US" sz="15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차</a:t>
            </a:r>
            <a:r>
              <a:rPr lang="en-US" altLang="ko-KR" sz="15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) </a:t>
            </a:r>
            <a:r>
              <a:rPr lang="ko-KR" altLang="en-US" sz="15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현         금         </a:t>
            </a:r>
            <a:r>
              <a:rPr lang="en-US" altLang="ko-KR" sz="15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300,000,000       (</a:t>
            </a:r>
            <a:r>
              <a:rPr lang="ko-KR" altLang="en-US" sz="15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대</a:t>
            </a:r>
            <a:r>
              <a:rPr lang="en-US" altLang="ko-KR" sz="15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) </a:t>
            </a:r>
            <a:r>
              <a:rPr lang="ko-KR" altLang="en-US" sz="15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매         출         </a:t>
            </a:r>
            <a:r>
              <a:rPr lang="en-US" altLang="ko-KR" sz="15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400,000,000</a:t>
            </a:r>
          </a:p>
          <a:p>
            <a:pPr defTabSz="995363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en-US" sz="15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           선 수 </a:t>
            </a:r>
            <a:r>
              <a:rPr lang="ko-KR" altLang="en-US" sz="1500" b="1" kern="0" dirty="0" err="1">
                <a:solidFill>
                  <a:srgbClr val="000000"/>
                </a:solidFill>
                <a:latin typeface="맑은 고딕" panose="020B0503020000020004" pitchFamily="50" charset="-127"/>
              </a:rPr>
              <a:t>수</a:t>
            </a:r>
            <a:r>
              <a:rPr lang="ko-KR" altLang="en-US" sz="15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 익         </a:t>
            </a:r>
            <a:r>
              <a:rPr lang="en-US" altLang="ko-KR" sz="15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100,000,000</a:t>
            </a:r>
          </a:p>
        </p:txBody>
      </p:sp>
      <p:sp>
        <p:nvSpPr>
          <p:cNvPr id="19" name="Rectangle 12"/>
          <p:cNvSpPr>
            <a:spLocks noChangeArrowheads="1"/>
          </p:cNvSpPr>
          <p:nvPr/>
        </p:nvSpPr>
        <p:spPr bwMode="auto">
          <a:xfrm>
            <a:off x="684213" y="4002368"/>
            <a:ext cx="7775575" cy="793750"/>
          </a:xfrm>
          <a:prstGeom prst="rect">
            <a:avLst/>
          </a:prstGeom>
          <a:noFill/>
          <a:ln>
            <a:noFill/>
          </a:ln>
        </p:spPr>
        <p:txBody>
          <a:bodyPr lIns="99477" tIns="49735" rIns="99477" bIns="49735"/>
          <a:lstStyle/>
          <a:p>
            <a:pPr marL="216000" indent="-216000" defTabSz="995363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en-US" sz="14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④ </a:t>
            </a:r>
            <a:r>
              <a:rPr lang="en-US" altLang="ko-KR" sz="14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14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주</a:t>
            </a:r>
            <a:r>
              <a:rPr lang="en-US" altLang="ko-KR" sz="14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)</a:t>
            </a:r>
            <a:r>
              <a:rPr lang="ko-KR" altLang="en-US" sz="1400" kern="0" dirty="0" err="1">
                <a:solidFill>
                  <a:srgbClr val="000000"/>
                </a:solidFill>
                <a:latin typeface="맑은 고딕" panose="020B0503020000020004" pitchFamily="50" charset="-127"/>
              </a:rPr>
              <a:t>디섹은</a:t>
            </a:r>
            <a:r>
              <a:rPr lang="ko-KR" altLang="en-US" sz="14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14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20×1</a:t>
            </a:r>
            <a:r>
              <a:rPr lang="ko-KR" altLang="en-US" sz="14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년 </a:t>
            </a:r>
            <a:r>
              <a:rPr lang="en-US" altLang="ko-KR" sz="14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3</a:t>
            </a:r>
            <a:r>
              <a:rPr lang="ko-KR" altLang="en-US" sz="14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월 </a:t>
            </a:r>
            <a:r>
              <a:rPr lang="en-US" altLang="ko-KR" sz="14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25</a:t>
            </a:r>
            <a:r>
              <a:rPr lang="ko-KR" altLang="en-US" sz="14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일 </a:t>
            </a:r>
            <a:r>
              <a:rPr lang="ko-KR" altLang="en-US" sz="14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급여 ￦</a:t>
            </a:r>
            <a:r>
              <a:rPr lang="en-US" altLang="ko-KR" sz="14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500,000</a:t>
            </a:r>
            <a:r>
              <a:rPr lang="ko-KR" altLang="en-US" sz="14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 중 소득세 원천징수 금액인 ￦</a:t>
            </a:r>
            <a:r>
              <a:rPr lang="en-US" altLang="ko-KR" sz="14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45,000</a:t>
            </a:r>
            <a:r>
              <a:rPr lang="ko-KR" altLang="en-US" sz="14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을 제외한 잔액을 직원에게 </a:t>
            </a:r>
            <a:r>
              <a:rPr lang="ko-KR" altLang="en-US" sz="14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지급하였다</a:t>
            </a:r>
            <a:r>
              <a:rPr lang="en-US" altLang="ko-KR" sz="14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. (</a:t>
            </a:r>
            <a:r>
              <a:rPr lang="ko-KR" altLang="en-US" sz="14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주</a:t>
            </a:r>
            <a:r>
              <a:rPr lang="en-US" altLang="ko-KR" sz="14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)</a:t>
            </a:r>
            <a:r>
              <a:rPr lang="ko-KR" altLang="en-US" sz="1400" kern="0" dirty="0" err="1">
                <a:solidFill>
                  <a:srgbClr val="000000"/>
                </a:solidFill>
                <a:latin typeface="맑은 고딕" panose="020B0503020000020004" pitchFamily="50" charset="-127"/>
              </a:rPr>
              <a:t>디섹은</a:t>
            </a:r>
            <a:r>
              <a:rPr lang="ko-KR" altLang="en-US" sz="14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14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4</a:t>
            </a:r>
            <a:r>
              <a:rPr lang="ko-KR" altLang="en-US" sz="14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월 </a:t>
            </a:r>
            <a:r>
              <a:rPr lang="en-US" altLang="ko-KR" sz="14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10</a:t>
            </a:r>
            <a:r>
              <a:rPr lang="ko-KR" altLang="en-US" sz="14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일  </a:t>
            </a:r>
            <a:r>
              <a:rPr lang="ko-KR" altLang="en-US" sz="1400" kern="0" dirty="0" err="1">
                <a:solidFill>
                  <a:srgbClr val="000000"/>
                </a:solidFill>
                <a:latin typeface="맑은 고딕" panose="020B0503020000020004" pitchFamily="50" charset="-127"/>
              </a:rPr>
              <a:t>원천징수했던</a:t>
            </a:r>
            <a:r>
              <a:rPr lang="ko-KR" altLang="en-US" sz="14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 금액을 세무서에 납부하였다</a:t>
            </a:r>
            <a:r>
              <a:rPr lang="en-US" altLang="ko-KR" sz="14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.</a:t>
            </a:r>
          </a:p>
        </p:txBody>
      </p:sp>
      <p:sp>
        <p:nvSpPr>
          <p:cNvPr id="20" name="Rectangle 12"/>
          <p:cNvSpPr>
            <a:spLocks noChangeArrowheads="1"/>
          </p:cNvSpPr>
          <p:nvPr/>
        </p:nvSpPr>
        <p:spPr bwMode="auto">
          <a:xfrm>
            <a:off x="959423" y="4819816"/>
            <a:ext cx="7200000" cy="73148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txBody>
          <a:bodyPr lIns="99477" tIns="49735" rIns="99477" bIns="49735" anchor="ctr"/>
          <a:lstStyle/>
          <a:p>
            <a:pPr defTabSz="995363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5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  ∙ 20×1</a:t>
            </a:r>
            <a:r>
              <a:rPr lang="ko-KR" altLang="en-US" sz="15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년 </a:t>
            </a:r>
            <a:r>
              <a:rPr lang="en-US" altLang="ko-KR" sz="15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3</a:t>
            </a:r>
            <a:r>
              <a:rPr lang="ko-KR" altLang="en-US" sz="15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월 </a:t>
            </a:r>
            <a:r>
              <a:rPr lang="en-US" altLang="ko-KR" sz="15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25</a:t>
            </a:r>
            <a:r>
              <a:rPr lang="ko-KR" altLang="en-US" sz="15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일</a:t>
            </a:r>
          </a:p>
          <a:p>
            <a:pPr defTabSz="995363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5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     </a:t>
            </a:r>
            <a:r>
              <a:rPr lang="en-US" altLang="ko-KR" sz="15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15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차</a:t>
            </a:r>
            <a:r>
              <a:rPr lang="en-US" altLang="ko-KR" sz="15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) </a:t>
            </a:r>
            <a:r>
              <a:rPr lang="ko-KR" altLang="en-US" sz="15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급        여               </a:t>
            </a:r>
            <a:r>
              <a:rPr lang="en-US" altLang="ko-KR" sz="15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500,000         (</a:t>
            </a:r>
            <a:r>
              <a:rPr lang="ko-KR" altLang="en-US" sz="15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대</a:t>
            </a:r>
            <a:r>
              <a:rPr lang="en-US" altLang="ko-KR" sz="15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) </a:t>
            </a:r>
            <a:r>
              <a:rPr lang="ko-KR" altLang="en-US" sz="15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현         금              </a:t>
            </a:r>
            <a:r>
              <a:rPr lang="en-US" altLang="ko-KR" sz="15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455,000</a:t>
            </a:r>
          </a:p>
          <a:p>
            <a:pPr defTabSz="995363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5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                                                                 </a:t>
            </a:r>
            <a:r>
              <a:rPr lang="ko-KR" altLang="en-US" sz="15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예   수   금                </a:t>
            </a:r>
            <a:r>
              <a:rPr lang="en-US" altLang="ko-KR" sz="15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45,000</a:t>
            </a:r>
          </a:p>
        </p:txBody>
      </p:sp>
      <p:sp>
        <p:nvSpPr>
          <p:cNvPr id="21" name="Rectangle 12"/>
          <p:cNvSpPr>
            <a:spLocks noChangeArrowheads="1"/>
          </p:cNvSpPr>
          <p:nvPr/>
        </p:nvSpPr>
        <p:spPr bwMode="auto">
          <a:xfrm>
            <a:off x="959423" y="5753265"/>
            <a:ext cx="7200000" cy="53212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txBody>
          <a:bodyPr lIns="99477" tIns="49735" rIns="99477" bIns="49735" anchor="ctr"/>
          <a:lstStyle/>
          <a:p>
            <a:pPr defTabSz="995363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5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  ∙ 20×1</a:t>
            </a:r>
            <a:r>
              <a:rPr lang="ko-KR" altLang="en-US" sz="15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년 </a:t>
            </a:r>
            <a:r>
              <a:rPr lang="en-US" altLang="ko-KR" sz="15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4</a:t>
            </a:r>
            <a:r>
              <a:rPr lang="ko-KR" altLang="en-US" sz="15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월 </a:t>
            </a:r>
            <a:r>
              <a:rPr lang="en-US" altLang="ko-KR" sz="15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10</a:t>
            </a:r>
            <a:r>
              <a:rPr lang="ko-KR" altLang="en-US" sz="15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일</a:t>
            </a:r>
          </a:p>
          <a:p>
            <a:pPr defTabSz="995363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5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     </a:t>
            </a:r>
            <a:r>
              <a:rPr lang="en-US" altLang="ko-KR" sz="15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15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차</a:t>
            </a:r>
            <a:r>
              <a:rPr lang="en-US" altLang="ko-KR" sz="15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) </a:t>
            </a:r>
            <a:r>
              <a:rPr lang="ko-KR" altLang="en-US" sz="15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예   수   금</a:t>
            </a:r>
            <a:r>
              <a:rPr lang="en-US" altLang="ko-KR" sz="15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               45,000         (</a:t>
            </a:r>
            <a:r>
              <a:rPr lang="ko-KR" altLang="en-US" sz="15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대</a:t>
            </a:r>
            <a:r>
              <a:rPr lang="en-US" altLang="ko-KR" sz="15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) </a:t>
            </a:r>
            <a:r>
              <a:rPr lang="ko-KR" altLang="en-US" sz="15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현         금                </a:t>
            </a:r>
            <a:r>
              <a:rPr lang="en-US" altLang="ko-KR" sz="15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45,000</a:t>
            </a:r>
          </a:p>
        </p:txBody>
      </p:sp>
    </p:spTree>
    <p:extLst>
      <p:ext uri="{BB962C8B-B14F-4D97-AF65-F5344CB8AC3E}">
        <p14:creationId xmlns:p14="http://schemas.microsoft.com/office/powerpoint/2010/main" val="33990679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31</a:t>
            </a:fld>
            <a:endParaRPr lang="ko-KR" altLang="en-US" dirty="0"/>
          </a:p>
        </p:txBody>
      </p:sp>
      <p:grpSp>
        <p:nvGrpSpPr>
          <p:cNvPr id="3" name="그룹 2"/>
          <p:cNvGrpSpPr/>
          <p:nvPr/>
        </p:nvGrpSpPr>
        <p:grpSpPr>
          <a:xfrm>
            <a:off x="710740" y="1604082"/>
            <a:ext cx="4508960" cy="338554"/>
            <a:chOff x="1287463" y="4776539"/>
            <a:chExt cx="4508960" cy="338554"/>
          </a:xfrm>
        </p:grpSpPr>
        <p:sp>
          <p:nvSpPr>
            <p:cNvPr id="4" name="오각형 3"/>
            <p:cNvSpPr/>
            <p:nvPr/>
          </p:nvSpPr>
          <p:spPr>
            <a:xfrm>
              <a:off x="1287463" y="4807765"/>
              <a:ext cx="590477" cy="245327"/>
            </a:xfrm>
            <a:prstGeom prst="homePlate">
              <a:avLst/>
            </a:prstGeom>
            <a:solidFill>
              <a:srgbClr val="2D61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 dirty="0"/>
                <a:t>표 </a:t>
              </a:r>
              <a:r>
                <a:rPr lang="en-US" altLang="ko-KR" sz="1400" b="1" dirty="0"/>
                <a:t>4</a:t>
              </a:r>
              <a:endParaRPr lang="ko-KR" altLang="en-US" sz="14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1877940" y="4776539"/>
              <a:ext cx="391848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600" b="1" dirty="0" err="1"/>
                <a:t>수취채권과</a:t>
              </a:r>
              <a:r>
                <a:rPr lang="ko-KR" altLang="en-US" sz="1600" b="1" dirty="0"/>
                <a:t> </a:t>
              </a:r>
              <a:r>
                <a:rPr lang="ko-KR" altLang="en-US" sz="1600" b="1" dirty="0" err="1"/>
                <a:t>지급채무의</a:t>
              </a:r>
              <a:r>
                <a:rPr lang="ko-KR" altLang="en-US" sz="1600" b="1" dirty="0"/>
                <a:t> 구분</a:t>
              </a:r>
            </a:p>
          </p:txBody>
        </p:sp>
      </p:grpSp>
      <p:graphicFrame>
        <p:nvGraphicFramePr>
          <p:cNvPr id="6" name="Group 1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4077835"/>
              </p:ext>
            </p:extLst>
          </p:nvPr>
        </p:nvGraphicFramePr>
        <p:xfrm>
          <a:off x="714374" y="2143125"/>
          <a:ext cx="7515225" cy="2560639"/>
        </p:xfrm>
        <a:graphic>
          <a:graphicData uri="http://schemas.openxmlformats.org/drawingml/2006/table">
            <a:tbl>
              <a:tblPr>
                <a:tableStyleId>{B301B821-A1FF-4177-AEE7-76D212191A09}</a:tableStyleId>
              </a:tblPr>
              <a:tblGrid>
                <a:gridCol w="2582051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580378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2352796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3048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726" marB="45726" anchor="ctr" horzOverflow="overflow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자산계정</a:t>
                      </a: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726" marB="45726" anchor="ctr" horzOverflow="overflow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1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부채계정</a:t>
                      </a: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726" marB="45726" anchor="ctr" horzOverflow="overflow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73161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상품의 외상거래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상품의 어음거래</a:t>
                      </a: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726" marB="45726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                              외상매출금</a:t>
                      </a:r>
                    </a:p>
                    <a:p>
                      <a:pPr marL="0" marR="0" lvl="0" indent="0" algn="ju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매출채권</a:t>
                      </a:r>
                    </a:p>
                    <a:p>
                      <a:pPr marL="0" marR="0" lvl="0" indent="0" algn="ju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                              </a:t>
                      </a:r>
                      <a:r>
                        <a:rPr kumimoji="0" lang="ko-KR" altLang="en-US" sz="14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받을어음</a:t>
                      </a: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726" marB="45726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                           외상매입금</a:t>
                      </a:r>
                    </a:p>
                    <a:p>
                      <a:pPr marL="0" marR="0" lvl="0" indent="0" algn="ju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매입채무</a:t>
                      </a:r>
                    </a:p>
                    <a:p>
                      <a:pPr marL="0" marR="0" lvl="0" indent="0" algn="ju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                            </a:t>
                      </a:r>
                      <a:r>
                        <a:rPr kumimoji="0" lang="ko-KR" altLang="en-US" sz="14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지급어음</a:t>
                      </a: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726" marB="45726" anchor="ctr" horzOverflow="overflow"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048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금전의 대여</a:t>
                      </a: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726" marB="45726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대여금</a:t>
                      </a: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726" marB="45726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차입금</a:t>
                      </a: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726" marB="45726" anchor="ctr" horzOverflow="overflow"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048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상품 이외의 외상거래</a:t>
                      </a: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726" marB="45726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미수금</a:t>
                      </a: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726" marB="45726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미지급금</a:t>
                      </a: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726" marB="45726" anchor="ctr" horzOverflow="overflow"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3048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계약이행 전 일부지급</a:t>
                      </a: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726" marB="45726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선급금</a:t>
                      </a: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726" marB="45726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선수금</a:t>
                      </a: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726" marB="45726" anchor="ctr" horzOverflow="overflow"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3048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수익과 비용의 이연</a:t>
                      </a: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726" marB="45726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선급비용</a:t>
                      </a: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726" marB="45726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선수수익</a:t>
                      </a: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726" marB="45726" anchor="ctr" horzOverflow="overflow"/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3048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수익과 비용의 발생</a:t>
                      </a: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726" marB="45726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미수수익</a:t>
                      </a: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726" marB="45726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미지급비용</a:t>
                      </a: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726" marB="45726" anchor="ctr" horzOverflow="overflow"/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7" name="Group 152"/>
          <p:cNvGrpSpPr>
            <a:grpSpLocks/>
          </p:cNvGrpSpPr>
          <p:nvPr/>
        </p:nvGrpSpPr>
        <p:grpSpPr bwMode="auto">
          <a:xfrm>
            <a:off x="4247198" y="2565400"/>
            <a:ext cx="215900" cy="433388"/>
            <a:chOff x="1292" y="3158"/>
            <a:chExt cx="182" cy="273"/>
          </a:xfrm>
        </p:grpSpPr>
        <p:sp>
          <p:nvSpPr>
            <p:cNvPr id="8" name="Line 148"/>
            <p:cNvSpPr>
              <a:spLocks noChangeShapeType="1"/>
            </p:cNvSpPr>
            <p:nvPr/>
          </p:nvSpPr>
          <p:spPr bwMode="gray">
            <a:xfrm>
              <a:off x="1292" y="3294"/>
              <a:ext cx="9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9" name="Line 149"/>
            <p:cNvSpPr>
              <a:spLocks noChangeShapeType="1"/>
            </p:cNvSpPr>
            <p:nvPr/>
          </p:nvSpPr>
          <p:spPr bwMode="gray">
            <a:xfrm flipV="1">
              <a:off x="1383" y="3158"/>
              <a:ext cx="0" cy="27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10" name="Line 150"/>
            <p:cNvSpPr>
              <a:spLocks noChangeShapeType="1"/>
            </p:cNvSpPr>
            <p:nvPr/>
          </p:nvSpPr>
          <p:spPr bwMode="gray">
            <a:xfrm>
              <a:off x="1383" y="3158"/>
              <a:ext cx="9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11" name="Line 151"/>
            <p:cNvSpPr>
              <a:spLocks noChangeShapeType="1"/>
            </p:cNvSpPr>
            <p:nvPr/>
          </p:nvSpPr>
          <p:spPr bwMode="gray">
            <a:xfrm>
              <a:off x="1383" y="3430"/>
              <a:ext cx="9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</p:grpSp>
      <p:grpSp>
        <p:nvGrpSpPr>
          <p:cNvPr id="12" name="Group 152"/>
          <p:cNvGrpSpPr>
            <a:grpSpLocks/>
          </p:cNvGrpSpPr>
          <p:nvPr/>
        </p:nvGrpSpPr>
        <p:grpSpPr bwMode="auto">
          <a:xfrm>
            <a:off x="6704648" y="2565400"/>
            <a:ext cx="215900" cy="433388"/>
            <a:chOff x="1292" y="3158"/>
            <a:chExt cx="182" cy="273"/>
          </a:xfrm>
        </p:grpSpPr>
        <p:sp>
          <p:nvSpPr>
            <p:cNvPr id="13" name="Line 148"/>
            <p:cNvSpPr>
              <a:spLocks noChangeShapeType="1"/>
            </p:cNvSpPr>
            <p:nvPr/>
          </p:nvSpPr>
          <p:spPr bwMode="gray">
            <a:xfrm>
              <a:off x="1292" y="3294"/>
              <a:ext cx="9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14" name="Line 149"/>
            <p:cNvSpPr>
              <a:spLocks noChangeShapeType="1"/>
            </p:cNvSpPr>
            <p:nvPr/>
          </p:nvSpPr>
          <p:spPr bwMode="gray">
            <a:xfrm flipV="1">
              <a:off x="1383" y="3158"/>
              <a:ext cx="0" cy="27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15" name="Line 150"/>
            <p:cNvSpPr>
              <a:spLocks noChangeShapeType="1"/>
            </p:cNvSpPr>
            <p:nvPr/>
          </p:nvSpPr>
          <p:spPr bwMode="gray">
            <a:xfrm>
              <a:off x="1383" y="3158"/>
              <a:ext cx="9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16" name="Line 151"/>
            <p:cNvSpPr>
              <a:spLocks noChangeShapeType="1"/>
            </p:cNvSpPr>
            <p:nvPr/>
          </p:nvSpPr>
          <p:spPr bwMode="gray">
            <a:xfrm>
              <a:off x="1383" y="3430"/>
              <a:ext cx="9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958553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그룹 19"/>
          <p:cNvGrpSpPr/>
          <p:nvPr/>
        </p:nvGrpSpPr>
        <p:grpSpPr>
          <a:xfrm>
            <a:off x="259553" y="1439517"/>
            <a:ext cx="8641369" cy="5141888"/>
            <a:chOff x="2626683" y="1693823"/>
            <a:chExt cx="11521825" cy="6855851"/>
          </a:xfrm>
        </p:grpSpPr>
        <p:sp>
          <p:nvSpPr>
            <p:cNvPr id="21" name="Rectangle 15"/>
            <p:cNvSpPr>
              <a:spLocks noChangeArrowheads="1"/>
            </p:cNvSpPr>
            <p:nvPr/>
          </p:nvSpPr>
          <p:spPr bwMode="auto">
            <a:xfrm>
              <a:off x="2626683" y="2125623"/>
              <a:ext cx="11521825" cy="6424051"/>
            </a:xfrm>
            <a:prstGeom prst="rect">
              <a:avLst/>
            </a:prstGeom>
            <a:noFill/>
            <a:ln>
              <a:noFill/>
            </a:ln>
          </p:spPr>
          <p:txBody>
            <a:bodyPr lIns="74608" tIns="37301" rIns="74608" bIns="37301" anchor="ctr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marL="144000" indent="-144000" latinLnBrk="0">
                <a:lnSpc>
                  <a:spcPts val="2400"/>
                </a:lnSpc>
                <a:spcBef>
                  <a:spcPts val="600"/>
                </a:spcBef>
                <a:buClrTx/>
                <a:buSzTx/>
                <a:buNone/>
              </a:pPr>
              <a:r>
                <a:rPr lang="en-US" altLang="ko-KR" sz="1400" b="1" dirty="0">
                  <a:latin typeface="맑은 고딕" panose="020B0503020000020004" pitchFamily="50" charset="-127"/>
                </a:rPr>
                <a:t>•</a:t>
              </a:r>
              <a:r>
                <a:rPr lang="en-US" altLang="ko-KR" sz="1600" b="1" dirty="0">
                  <a:latin typeface="맑은 고딕" panose="020B0503020000020004" pitchFamily="50" charset="-127"/>
                </a:rPr>
                <a:t> </a:t>
              </a:r>
              <a:r>
                <a:rPr lang="ko-KR" altLang="en-US" sz="1600" b="1" dirty="0">
                  <a:latin typeface="맑은 고딕" panose="020B0503020000020004" pitchFamily="50" charset="-127"/>
                </a:rPr>
                <a:t>정의 </a:t>
              </a:r>
              <a:r>
                <a:rPr lang="en-US" altLang="ko-KR" sz="1600" b="1" dirty="0">
                  <a:latin typeface="맑은 고딕" panose="020B0503020000020004" pitchFamily="50" charset="-127"/>
                </a:rPr>
                <a:t>: 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현금자산의 정확한 금액을 파악하기 위해 기업 </a:t>
              </a: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회계장부상의 </a:t>
              </a:r>
              <a:r>
                <a:rPr lang="ko-KR" altLang="en-US" sz="1600" b="1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예금거래 내역</a:t>
              </a: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과 은행이 제시하는 거래기록</a:t>
              </a:r>
              <a:r>
                <a:rPr lang="en-US" altLang="ko-KR" sz="1600" b="1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(</a:t>
              </a:r>
              <a:r>
                <a:rPr lang="ko-KR" altLang="en-US" sz="1600" b="1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은행거래내역서</a:t>
              </a:r>
              <a:r>
                <a:rPr lang="en-US" altLang="ko-KR" sz="1600" b="1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)</a:t>
              </a: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을 대조할 때 작성하는 표 </a:t>
              </a:r>
              <a:endParaRPr lang="en-US" altLang="ko-KR" sz="1600" dirty="0">
                <a:solidFill>
                  <a:schemeClr val="tx1"/>
                </a:solidFill>
                <a:latin typeface="맑은 고딕" panose="020B0503020000020004" pitchFamily="50" charset="-127"/>
              </a:endParaRPr>
            </a:p>
            <a:p>
              <a:pPr marL="144000" indent="-144000" latinLnBrk="0">
                <a:lnSpc>
                  <a:spcPts val="2400"/>
                </a:lnSpc>
                <a:spcBef>
                  <a:spcPts val="600"/>
                </a:spcBef>
                <a:buClrTx/>
                <a:buSzTx/>
                <a:buNone/>
              </a:pPr>
              <a:endParaRPr lang="ko-KR" altLang="en-US" sz="1600" dirty="0">
                <a:solidFill>
                  <a:schemeClr val="tx1"/>
                </a:solidFill>
                <a:latin typeface="맑은 고딕" panose="020B0503020000020004" pitchFamily="50" charset="-127"/>
              </a:endParaRPr>
            </a:p>
            <a:p>
              <a:pPr marL="144000" indent="-144000" latinLnBrk="0">
                <a:lnSpc>
                  <a:spcPts val="2400"/>
                </a:lnSpc>
                <a:spcBef>
                  <a:spcPts val="600"/>
                </a:spcBef>
                <a:buClrTx/>
                <a:buSzTx/>
                <a:buNone/>
              </a:pPr>
              <a:r>
                <a:rPr lang="en-US" altLang="ko-KR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• </a:t>
              </a:r>
              <a:r>
                <a:rPr lang="ko-KR" altLang="en-US" sz="1600" b="1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예금거래내역과 은행거래내역서상의 차이 원인 </a:t>
              </a:r>
              <a:r>
                <a:rPr lang="en-US" altLang="ko-KR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(</a:t>
              </a: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주로 양측의 기록시점의 차이 때문에 발생함</a:t>
              </a:r>
              <a:r>
                <a:rPr lang="en-US" altLang="ko-KR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)</a:t>
              </a:r>
              <a:endParaRPr lang="ko-KR" altLang="en-US" sz="1600" b="1" dirty="0">
                <a:solidFill>
                  <a:schemeClr val="tx1"/>
                </a:solidFill>
                <a:latin typeface="맑은 고딕" panose="020B0503020000020004" pitchFamily="50" charset="-127"/>
              </a:endParaRPr>
            </a:p>
            <a:p>
              <a:pPr marL="216000" indent="-216000" latinLnBrk="0">
                <a:lnSpc>
                  <a:spcPts val="2400"/>
                </a:lnSpc>
                <a:spcBef>
                  <a:spcPts val="600"/>
                </a:spcBef>
                <a:buClrTx/>
                <a:buSzTx/>
                <a:buNone/>
              </a:pPr>
              <a:r>
                <a:rPr lang="ko-KR" altLang="en-US" sz="1600" b="1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① </a:t>
              </a:r>
              <a:r>
                <a:rPr lang="ko-KR" altLang="en-US" sz="1600" b="1" dirty="0" err="1">
                  <a:solidFill>
                    <a:schemeClr val="tx1"/>
                  </a:solidFill>
                  <a:latin typeface="맑은 고딕" panose="020B0503020000020004" pitchFamily="50" charset="-127"/>
                </a:rPr>
                <a:t>미기록예금</a:t>
              </a: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 </a:t>
              </a:r>
              <a:r>
                <a:rPr lang="en-US" altLang="ko-KR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– </a:t>
              </a: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타사 </a:t>
              </a:r>
              <a:r>
                <a:rPr lang="ko-KR" altLang="en-US" sz="1600" dirty="0" err="1">
                  <a:solidFill>
                    <a:schemeClr val="tx1"/>
                  </a:solidFill>
                  <a:latin typeface="맑은 고딕" panose="020B0503020000020004" pitchFamily="50" charset="-127"/>
                </a:rPr>
                <a:t>발행수표를</a:t>
              </a: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 은행에 입금하면서 기업측에서는 당좌예금 계정에 기록하였으나</a:t>
              </a:r>
              <a:r>
                <a:rPr lang="en-US" altLang="ko-KR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,</a:t>
              </a: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 은행의 당좌예금계정에 아직 기록되지 않아 </a:t>
              </a:r>
              <a:r>
                <a:rPr lang="ko-KR" altLang="en-US" sz="1600" u="sng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은행측 잔액이 </a:t>
              </a:r>
              <a:r>
                <a:rPr lang="ko-KR" altLang="en-US" sz="1600" u="sng" dirty="0" err="1">
                  <a:solidFill>
                    <a:schemeClr val="tx1"/>
                  </a:solidFill>
                  <a:latin typeface="맑은 고딕" panose="020B0503020000020004" pitchFamily="50" charset="-127"/>
                </a:rPr>
                <a:t>과소계상</a:t>
              </a:r>
              <a:r>
                <a:rPr lang="ko-KR" altLang="en-US" sz="1600" dirty="0" err="1">
                  <a:solidFill>
                    <a:schemeClr val="tx1"/>
                  </a:solidFill>
                  <a:latin typeface="맑은 고딕" panose="020B0503020000020004" pitchFamily="50" charset="-127"/>
                </a:rPr>
                <a:t>된</a:t>
              </a: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 경우 </a:t>
              </a:r>
              <a:r>
                <a:rPr lang="en-US" altLang="ko-KR" sz="1600" dirty="0">
                  <a:solidFill>
                    <a:srgbClr val="C00000"/>
                  </a:solidFill>
                  <a:latin typeface="맑은 고딕" panose="020B0503020000020004" pitchFamily="50" charset="-127"/>
                  <a:sym typeface="Wingdings" pitchFamily="2" charset="2"/>
                </a:rPr>
                <a:t></a:t>
              </a:r>
              <a:r>
                <a:rPr lang="en-US" altLang="ko-KR" sz="1600" b="1" dirty="0">
                  <a:solidFill>
                    <a:srgbClr val="C00000"/>
                  </a:solidFill>
                  <a:latin typeface="맑은 고딕" panose="020B0503020000020004" pitchFamily="50" charset="-127"/>
                </a:rPr>
                <a:t> </a:t>
              </a:r>
              <a:r>
                <a:rPr lang="ko-KR" altLang="en-US" sz="1600" b="1" dirty="0">
                  <a:solidFill>
                    <a:srgbClr val="C00000"/>
                  </a:solidFill>
                  <a:latin typeface="맑은 고딕" panose="020B0503020000020004" pitchFamily="50" charset="-127"/>
                </a:rPr>
                <a:t>은행거래내역서상 잔액</a:t>
              </a:r>
              <a:r>
                <a:rPr lang="en-US" altLang="ko-KR" sz="1600" b="1" dirty="0">
                  <a:solidFill>
                    <a:srgbClr val="C00000"/>
                  </a:solidFill>
                  <a:latin typeface="맑은 고딕" panose="020B0503020000020004" pitchFamily="50" charset="-127"/>
                </a:rPr>
                <a:t> +</a:t>
              </a:r>
              <a:endParaRPr lang="ko-KR" altLang="en-US" sz="1600" dirty="0">
                <a:solidFill>
                  <a:srgbClr val="C00000"/>
                </a:solidFill>
                <a:latin typeface="맑은 고딕" panose="020B0503020000020004" pitchFamily="50" charset="-127"/>
              </a:endParaRPr>
            </a:p>
            <a:p>
              <a:pPr marL="216000" indent="-216000" latinLnBrk="0">
                <a:lnSpc>
                  <a:spcPts val="2400"/>
                </a:lnSpc>
                <a:spcBef>
                  <a:spcPts val="600"/>
                </a:spcBef>
                <a:buClrTx/>
                <a:buSzTx/>
                <a:buNone/>
              </a:pPr>
              <a:r>
                <a:rPr lang="ko-KR" altLang="en-US" sz="1600" b="1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② </a:t>
              </a:r>
              <a:r>
                <a:rPr lang="ko-KR" altLang="en-US" sz="1600" b="1" dirty="0" err="1">
                  <a:solidFill>
                    <a:schemeClr val="tx1"/>
                  </a:solidFill>
                  <a:latin typeface="맑은 고딕" panose="020B0503020000020004" pitchFamily="50" charset="-127"/>
                </a:rPr>
                <a:t>기발행미인출수표</a:t>
              </a: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 </a:t>
              </a:r>
              <a:r>
                <a:rPr lang="en-US" altLang="ko-KR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– </a:t>
              </a: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기업이 수표를 발행하였으나 수표수취인이 아직 은행에 지급을 요구하지 않아 </a:t>
              </a:r>
              <a:r>
                <a:rPr lang="ko-KR" altLang="en-US" sz="1600" u="sng" dirty="0" err="1">
                  <a:solidFill>
                    <a:schemeClr val="tx1"/>
                  </a:solidFill>
                  <a:latin typeface="맑은 고딕" panose="020B0503020000020004" pitchFamily="50" charset="-127"/>
                </a:rPr>
                <a:t>은행측</a:t>
              </a:r>
              <a:r>
                <a:rPr lang="ko-KR" altLang="en-US" sz="1600" u="sng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 잔액이 </a:t>
              </a:r>
              <a:r>
                <a:rPr lang="ko-KR" altLang="en-US" sz="1600" u="sng" dirty="0" err="1">
                  <a:solidFill>
                    <a:schemeClr val="tx1"/>
                  </a:solidFill>
                  <a:latin typeface="맑은 고딕" panose="020B0503020000020004" pitchFamily="50" charset="-127"/>
                </a:rPr>
                <a:t>과대계상</a:t>
              </a:r>
              <a:r>
                <a:rPr lang="ko-KR" altLang="en-US" sz="1600" dirty="0" err="1">
                  <a:solidFill>
                    <a:schemeClr val="tx1"/>
                  </a:solidFill>
                  <a:latin typeface="맑은 고딕" panose="020B0503020000020004" pitchFamily="50" charset="-127"/>
                </a:rPr>
                <a:t>된</a:t>
              </a: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 경우  </a:t>
              </a:r>
              <a:r>
                <a:rPr lang="en-US" altLang="ko-KR" sz="1600" dirty="0">
                  <a:solidFill>
                    <a:srgbClr val="C00000"/>
                  </a:solidFill>
                  <a:latin typeface="맑은 고딕" panose="020B0503020000020004" pitchFamily="50" charset="-127"/>
                  <a:sym typeface="Wingdings" pitchFamily="2" charset="2"/>
                </a:rPr>
                <a:t></a:t>
              </a:r>
              <a:r>
                <a:rPr lang="en-US" altLang="ko-KR" sz="1600" b="1" dirty="0">
                  <a:solidFill>
                    <a:srgbClr val="C00000"/>
                  </a:solidFill>
                  <a:latin typeface="맑은 고딕" panose="020B0503020000020004" pitchFamily="50" charset="-127"/>
                </a:rPr>
                <a:t> </a:t>
              </a:r>
              <a:r>
                <a:rPr lang="ko-KR" altLang="en-US" sz="1600" b="1" dirty="0">
                  <a:solidFill>
                    <a:srgbClr val="C00000"/>
                  </a:solidFill>
                  <a:latin typeface="맑은 고딕" panose="020B0503020000020004" pitchFamily="50" charset="-127"/>
                </a:rPr>
                <a:t>은행거래내역서상 잔액 </a:t>
              </a:r>
              <a:r>
                <a:rPr lang="en-US" altLang="ko-KR" sz="1600" b="1" dirty="0">
                  <a:solidFill>
                    <a:srgbClr val="C00000"/>
                  </a:solidFill>
                  <a:latin typeface="맑은 고딕" panose="020B0503020000020004" pitchFamily="50" charset="-127"/>
                </a:rPr>
                <a:t>-</a:t>
              </a:r>
              <a:endParaRPr lang="ko-KR" altLang="en-US" sz="1600" dirty="0">
                <a:solidFill>
                  <a:srgbClr val="C00000"/>
                </a:solidFill>
                <a:latin typeface="맑은 고딕" panose="020B0503020000020004" pitchFamily="50" charset="-127"/>
              </a:endParaRPr>
            </a:p>
            <a:p>
              <a:pPr marL="216000" indent="-216000" latinLnBrk="0">
                <a:lnSpc>
                  <a:spcPts val="2400"/>
                </a:lnSpc>
                <a:spcBef>
                  <a:spcPts val="600"/>
                </a:spcBef>
                <a:buClrTx/>
                <a:buSzTx/>
                <a:buNone/>
              </a:pPr>
              <a:r>
                <a:rPr lang="ko-KR" altLang="en-US" sz="1600" b="1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③ </a:t>
              </a:r>
              <a:r>
                <a:rPr lang="ko-KR" altLang="en-US" sz="1600" b="1" dirty="0" err="1">
                  <a:solidFill>
                    <a:schemeClr val="tx1"/>
                  </a:solidFill>
                  <a:latin typeface="맑은 고딕" panose="020B0503020000020004" pitchFamily="50" charset="-127"/>
                </a:rPr>
                <a:t>미통지예금</a:t>
              </a:r>
              <a:r>
                <a:rPr lang="ko-KR" altLang="en-US" sz="1600" b="1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 </a:t>
              </a:r>
              <a:r>
                <a:rPr lang="en-US" altLang="ko-KR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– </a:t>
              </a: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거래처에서 대금결제를 위해 기업의 당좌예금계좌에 직접 예입하였으나</a:t>
              </a:r>
              <a:r>
                <a:rPr lang="en-US" altLang="ko-KR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,</a:t>
              </a: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 기업이 이를 아직 </a:t>
              </a:r>
              <a:r>
                <a:rPr lang="ko-KR" altLang="en-US" sz="1600" dirty="0" err="1">
                  <a:solidFill>
                    <a:schemeClr val="tx1"/>
                  </a:solidFill>
                  <a:latin typeface="맑은 고딕" panose="020B0503020000020004" pitchFamily="50" charset="-127"/>
                </a:rPr>
                <a:t>통보받지</a:t>
              </a: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 않아 </a:t>
              </a:r>
              <a:r>
                <a:rPr lang="ko-KR" altLang="en-US" sz="1600" u="sng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기업측 잔액이 </a:t>
              </a:r>
              <a:r>
                <a:rPr lang="ko-KR" altLang="en-US" sz="1600" u="sng" dirty="0" err="1">
                  <a:solidFill>
                    <a:schemeClr val="tx1"/>
                  </a:solidFill>
                  <a:latin typeface="맑은 고딕" panose="020B0503020000020004" pitchFamily="50" charset="-127"/>
                </a:rPr>
                <a:t>과소계상</a:t>
              </a:r>
              <a:r>
                <a:rPr lang="ko-KR" altLang="en-US" sz="1600" dirty="0" err="1">
                  <a:solidFill>
                    <a:schemeClr val="tx1"/>
                  </a:solidFill>
                  <a:latin typeface="맑은 고딕" panose="020B0503020000020004" pitchFamily="50" charset="-127"/>
                </a:rPr>
                <a:t>된</a:t>
              </a: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 경우  </a:t>
              </a:r>
              <a:r>
                <a:rPr lang="en-US" altLang="ko-KR" sz="1600" dirty="0">
                  <a:solidFill>
                    <a:srgbClr val="C00000"/>
                  </a:solidFill>
                  <a:latin typeface="맑은 고딕" panose="020B0503020000020004" pitchFamily="50" charset="-127"/>
                  <a:sym typeface="Wingdings" pitchFamily="2" charset="2"/>
                </a:rPr>
                <a:t></a:t>
              </a:r>
              <a:r>
                <a:rPr lang="en-US" altLang="ko-KR" sz="1600" b="1" dirty="0">
                  <a:solidFill>
                    <a:srgbClr val="C00000"/>
                  </a:solidFill>
                  <a:latin typeface="맑은 고딕" panose="020B0503020000020004" pitchFamily="50" charset="-127"/>
                </a:rPr>
                <a:t> </a:t>
              </a:r>
              <a:r>
                <a:rPr lang="ko-KR" altLang="en-US" sz="1600" b="1" dirty="0">
                  <a:solidFill>
                    <a:srgbClr val="C00000"/>
                  </a:solidFill>
                  <a:latin typeface="맑은 고딕" panose="020B0503020000020004" pitchFamily="50" charset="-127"/>
                </a:rPr>
                <a:t>기업의 당좌예금 </a:t>
              </a:r>
              <a:r>
                <a:rPr lang="ko-KR" altLang="en-US" sz="1600" b="1" dirty="0" smtClean="0">
                  <a:solidFill>
                    <a:srgbClr val="C00000"/>
                  </a:solidFill>
                  <a:latin typeface="맑은 고딕" panose="020B0503020000020004" pitchFamily="50" charset="-127"/>
                </a:rPr>
                <a:t> 잔액 </a:t>
              </a:r>
              <a:r>
                <a:rPr lang="en-US" altLang="ko-KR" sz="1600" b="1" dirty="0">
                  <a:solidFill>
                    <a:srgbClr val="C00000"/>
                  </a:solidFill>
                  <a:latin typeface="맑은 고딕" panose="020B0503020000020004" pitchFamily="50" charset="-127"/>
                </a:rPr>
                <a:t>+</a:t>
              </a:r>
              <a:endParaRPr lang="ko-KR" altLang="en-US" sz="1600" dirty="0">
                <a:solidFill>
                  <a:srgbClr val="C00000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22" name="Rectangle 14"/>
            <p:cNvSpPr>
              <a:spLocks noChangeArrowheads="1"/>
            </p:cNvSpPr>
            <p:nvPr/>
          </p:nvSpPr>
          <p:spPr bwMode="auto">
            <a:xfrm>
              <a:off x="2871276" y="1693823"/>
              <a:ext cx="3562349" cy="431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4608" tIns="37301" rIns="74608" bIns="37301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 typeface="Wingdings" panose="05000000000000000000" pitchFamily="2" charset="2"/>
                <a:buNone/>
              </a:pPr>
              <a:r>
                <a:rPr lang="ko-KR" altLang="en-US" sz="18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은행계정조정표의 정의</a:t>
              </a:r>
            </a:p>
          </p:txBody>
        </p:sp>
        <p:sp>
          <p:nvSpPr>
            <p:cNvPr id="30" name="직사각형 29"/>
            <p:cNvSpPr/>
            <p:nvPr/>
          </p:nvSpPr>
          <p:spPr>
            <a:xfrm>
              <a:off x="2626908" y="1722059"/>
              <a:ext cx="281973" cy="425439"/>
            </a:xfrm>
            <a:prstGeom prst="rect">
              <a:avLst/>
            </a:prstGeom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ko-KR" altLang="en-US" sz="16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32</a:t>
            </a:fld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6B37ACB1-39B5-E1CF-8B60-2DB18EA8716A}"/>
              </a:ext>
            </a:extLst>
          </p:cNvPr>
          <p:cNvSpPr txBox="1"/>
          <p:nvPr/>
        </p:nvSpPr>
        <p:spPr>
          <a:xfrm>
            <a:off x="892114" y="289123"/>
            <a:ext cx="80232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/>
              <a:t>은행계정조정표</a:t>
            </a:r>
          </a:p>
        </p:txBody>
      </p:sp>
    </p:spTree>
    <p:extLst>
      <p:ext uri="{BB962C8B-B14F-4D97-AF65-F5344CB8AC3E}">
        <p14:creationId xmlns:p14="http://schemas.microsoft.com/office/powerpoint/2010/main" val="42244076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그룹 19"/>
          <p:cNvGrpSpPr/>
          <p:nvPr/>
        </p:nvGrpSpPr>
        <p:grpSpPr>
          <a:xfrm>
            <a:off x="257304" y="1430362"/>
            <a:ext cx="8641369" cy="5141888"/>
            <a:chOff x="2626683" y="1693823"/>
            <a:chExt cx="11521825" cy="6855851"/>
          </a:xfrm>
        </p:grpSpPr>
        <p:sp>
          <p:nvSpPr>
            <p:cNvPr id="21" name="Rectangle 15"/>
            <p:cNvSpPr>
              <a:spLocks noChangeArrowheads="1"/>
            </p:cNvSpPr>
            <p:nvPr/>
          </p:nvSpPr>
          <p:spPr bwMode="auto">
            <a:xfrm>
              <a:off x="2626683" y="2125623"/>
              <a:ext cx="11521825" cy="6424051"/>
            </a:xfrm>
            <a:prstGeom prst="rect">
              <a:avLst/>
            </a:prstGeom>
            <a:noFill/>
            <a:ln>
              <a:noFill/>
            </a:ln>
          </p:spPr>
          <p:txBody>
            <a:bodyPr lIns="74608" tIns="37301" rIns="74608" bIns="37301" anchor="ctr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marL="216000" indent="-216000" latinLnBrk="0">
                <a:lnSpc>
                  <a:spcPts val="2400"/>
                </a:lnSpc>
                <a:spcBef>
                  <a:spcPts val="600"/>
                </a:spcBef>
                <a:buClrTx/>
                <a:buSzTx/>
                <a:buNone/>
              </a:pPr>
              <a:r>
                <a:rPr lang="ko-KR" altLang="en-US" sz="1600" b="1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예금거래내역과 은행거래내역서상의 차이 원인 </a:t>
              </a:r>
              <a:r>
                <a:rPr lang="en-US" altLang="ko-KR" sz="1600" b="1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(</a:t>
              </a:r>
              <a:r>
                <a:rPr lang="ko-KR" altLang="en-US" sz="1600" b="1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계속</a:t>
              </a:r>
              <a:r>
                <a:rPr lang="en-US" altLang="ko-KR" sz="1600" b="1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)</a:t>
              </a:r>
            </a:p>
            <a:p>
              <a:pPr marL="216000" indent="-216000" latinLnBrk="0">
                <a:lnSpc>
                  <a:spcPts val="2400"/>
                </a:lnSpc>
                <a:spcBef>
                  <a:spcPts val="600"/>
                </a:spcBef>
                <a:buClrTx/>
                <a:buSzTx/>
                <a:buNone/>
              </a:pPr>
              <a:endParaRPr lang="en-US" altLang="ko-KR" sz="1600" b="1" dirty="0">
                <a:solidFill>
                  <a:schemeClr val="tx1"/>
                </a:solidFill>
                <a:latin typeface="맑은 고딕" panose="020B0503020000020004" pitchFamily="50" charset="-127"/>
              </a:endParaRPr>
            </a:p>
            <a:p>
              <a:pPr marL="216000" indent="-216000" latinLnBrk="0">
                <a:lnSpc>
                  <a:spcPts val="2400"/>
                </a:lnSpc>
                <a:spcBef>
                  <a:spcPts val="600"/>
                </a:spcBef>
                <a:buClrTx/>
                <a:buSzTx/>
                <a:buNone/>
              </a:pPr>
              <a:r>
                <a:rPr lang="ko-KR" altLang="en-US" sz="1600" b="1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④ 은행수수료 </a:t>
              </a:r>
              <a:r>
                <a:rPr lang="en-US" altLang="ko-KR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– </a:t>
              </a: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당좌차월에 대한 은행서비스 수수료가 당좌계좌에서 차감되었으나</a:t>
              </a:r>
              <a:r>
                <a:rPr lang="en-US" altLang="ko-KR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,</a:t>
              </a: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 기업은 아직 </a:t>
              </a:r>
              <a:r>
                <a:rPr lang="ko-KR" altLang="en-US" sz="1600" dirty="0" err="1">
                  <a:solidFill>
                    <a:schemeClr val="tx1"/>
                  </a:solidFill>
                  <a:latin typeface="맑은 고딕" panose="020B0503020000020004" pitchFamily="50" charset="-127"/>
                </a:rPr>
                <a:t>통보받지</a:t>
              </a: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 않아 기록하지 않게 되어 </a:t>
              </a:r>
              <a:r>
                <a:rPr lang="ko-KR" altLang="en-US" sz="1600" u="sng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기업측 잔액이 </a:t>
              </a:r>
              <a:r>
                <a:rPr lang="ko-KR" altLang="en-US" sz="1600" u="sng" dirty="0" err="1">
                  <a:solidFill>
                    <a:schemeClr val="tx1"/>
                  </a:solidFill>
                  <a:latin typeface="맑은 고딕" panose="020B0503020000020004" pitchFamily="50" charset="-127"/>
                </a:rPr>
                <a:t>과대계상</a:t>
              </a:r>
              <a:r>
                <a:rPr lang="ko-KR" altLang="en-US" sz="1600" dirty="0" err="1">
                  <a:solidFill>
                    <a:schemeClr val="tx1"/>
                  </a:solidFill>
                  <a:latin typeface="맑은 고딕" panose="020B0503020000020004" pitchFamily="50" charset="-127"/>
                </a:rPr>
                <a:t>된</a:t>
              </a: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 경우 </a:t>
              </a:r>
              <a:r>
                <a:rPr lang="en-US" altLang="ko-KR" sz="1600" dirty="0">
                  <a:solidFill>
                    <a:srgbClr val="C00000"/>
                  </a:solidFill>
                  <a:latin typeface="맑은 고딕" panose="020B0503020000020004" pitchFamily="50" charset="-127"/>
                  <a:sym typeface="Wingdings" pitchFamily="2" charset="2"/>
                </a:rPr>
                <a:t></a:t>
              </a:r>
              <a:r>
                <a:rPr lang="en-US" altLang="ko-KR" sz="1600" b="1" dirty="0">
                  <a:solidFill>
                    <a:srgbClr val="C00000"/>
                  </a:solidFill>
                  <a:latin typeface="맑은 고딕" panose="020B0503020000020004" pitchFamily="50" charset="-127"/>
                </a:rPr>
                <a:t> </a:t>
              </a:r>
              <a:r>
                <a:rPr lang="ko-KR" altLang="en-US" sz="1600" b="1" dirty="0">
                  <a:solidFill>
                    <a:srgbClr val="C00000"/>
                  </a:solidFill>
                  <a:latin typeface="맑은 고딕" panose="020B0503020000020004" pitchFamily="50" charset="-127"/>
                </a:rPr>
                <a:t>기업의 당좌예금 잔액 </a:t>
              </a:r>
              <a:r>
                <a:rPr lang="en-US" altLang="ko-KR" sz="1600" b="1" dirty="0">
                  <a:solidFill>
                    <a:srgbClr val="C00000"/>
                  </a:solidFill>
                  <a:latin typeface="맑은 고딕" panose="020B0503020000020004" pitchFamily="50" charset="-127"/>
                </a:rPr>
                <a:t>-</a:t>
              </a:r>
              <a:endParaRPr lang="ko-KR" altLang="en-US" sz="1600" dirty="0">
                <a:solidFill>
                  <a:srgbClr val="C00000"/>
                </a:solidFill>
                <a:latin typeface="맑은 고딕" panose="020B0503020000020004" pitchFamily="50" charset="-127"/>
              </a:endParaRPr>
            </a:p>
            <a:p>
              <a:pPr marL="216000" indent="-216000" latinLnBrk="0">
                <a:lnSpc>
                  <a:spcPts val="2400"/>
                </a:lnSpc>
                <a:spcBef>
                  <a:spcPts val="600"/>
                </a:spcBef>
                <a:buClrTx/>
                <a:buSzTx/>
                <a:buNone/>
              </a:pPr>
              <a:r>
                <a:rPr lang="ko-KR" altLang="en-US" sz="1600" b="1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⑤ 부도수표</a:t>
              </a: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 </a:t>
              </a:r>
              <a:r>
                <a:rPr lang="en-US" altLang="ko-KR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– </a:t>
              </a: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기업은 </a:t>
              </a:r>
              <a:r>
                <a:rPr lang="ko-KR" altLang="en-US" sz="1600" dirty="0" err="1">
                  <a:solidFill>
                    <a:schemeClr val="tx1"/>
                  </a:solidFill>
                  <a:latin typeface="맑은 고딕" panose="020B0503020000020004" pitchFamily="50" charset="-127"/>
                </a:rPr>
                <a:t>타사로부터</a:t>
              </a: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 받은 수표를 은행에 예입하고 당좌예금이 증가를 기록하였으나</a:t>
              </a:r>
              <a:r>
                <a:rPr lang="en-US" altLang="ko-KR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,</a:t>
              </a: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 타사의 은행잔고부족으로 지급이 거절되어 반송된 경우</a:t>
              </a:r>
              <a:r>
                <a:rPr lang="en-US" altLang="ko-KR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. </a:t>
              </a:r>
              <a:r>
                <a:rPr lang="ko-KR" altLang="en-US" sz="1600" dirty="0" err="1">
                  <a:solidFill>
                    <a:schemeClr val="tx1"/>
                  </a:solidFill>
                  <a:latin typeface="맑은 고딕" panose="020B0503020000020004" pitchFamily="50" charset="-127"/>
                </a:rPr>
                <a:t>은행측은</a:t>
              </a: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 당좌예금 계정에서 해당 금액을 차감하였으나 기업은 아직 이를 기록하지 않아서 </a:t>
              </a:r>
              <a:r>
                <a:rPr lang="ko-KR" altLang="en-US" sz="1600" u="sng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기업의 장부가 </a:t>
              </a:r>
              <a:r>
                <a:rPr lang="ko-KR" altLang="en-US" sz="1600" u="sng" dirty="0" err="1">
                  <a:solidFill>
                    <a:schemeClr val="tx1"/>
                  </a:solidFill>
                  <a:latin typeface="맑은 고딕" panose="020B0503020000020004" pitchFamily="50" charset="-127"/>
                </a:rPr>
                <a:t>과대계상</a:t>
              </a:r>
              <a:r>
                <a:rPr lang="ko-KR" altLang="en-US" sz="1600" dirty="0" err="1">
                  <a:solidFill>
                    <a:schemeClr val="tx1"/>
                  </a:solidFill>
                  <a:latin typeface="맑은 고딕" panose="020B0503020000020004" pitchFamily="50" charset="-127"/>
                </a:rPr>
                <a:t>되는</a:t>
              </a: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 경우 </a:t>
              </a:r>
              <a:r>
                <a:rPr lang="en-US" altLang="ko-KR" sz="1600" b="1" dirty="0">
                  <a:solidFill>
                    <a:srgbClr val="C00000"/>
                  </a:solidFill>
                  <a:latin typeface="맑은 고딕" panose="020B0503020000020004" pitchFamily="50" charset="-127"/>
                  <a:sym typeface="Wingdings" pitchFamily="2" charset="2"/>
                </a:rPr>
                <a:t></a:t>
              </a:r>
              <a:r>
                <a:rPr lang="en-US" altLang="ko-KR" sz="1600" b="1" dirty="0">
                  <a:solidFill>
                    <a:srgbClr val="C00000"/>
                  </a:solidFill>
                  <a:latin typeface="맑은 고딕" panose="020B0503020000020004" pitchFamily="50" charset="-127"/>
                </a:rPr>
                <a:t> </a:t>
              </a:r>
              <a:r>
                <a:rPr lang="ko-KR" altLang="en-US" sz="1600" b="1" dirty="0">
                  <a:solidFill>
                    <a:srgbClr val="C00000"/>
                  </a:solidFill>
                  <a:latin typeface="맑은 고딕" panose="020B0503020000020004" pitchFamily="50" charset="-127"/>
                </a:rPr>
                <a:t>기업의 당좌예금 잔액 </a:t>
              </a:r>
              <a:r>
                <a:rPr lang="en-US" altLang="ko-KR" sz="1600" b="1" dirty="0">
                  <a:solidFill>
                    <a:srgbClr val="C00000"/>
                  </a:solidFill>
                  <a:latin typeface="맑은 고딕" panose="020B0503020000020004" pitchFamily="50" charset="-127"/>
                </a:rPr>
                <a:t>-</a:t>
              </a:r>
            </a:p>
            <a:p>
              <a:pPr marL="216000" indent="-216000" latinLnBrk="0">
                <a:lnSpc>
                  <a:spcPts val="2400"/>
                </a:lnSpc>
                <a:spcBef>
                  <a:spcPts val="600"/>
                </a:spcBef>
                <a:buClrTx/>
                <a:buSzTx/>
                <a:buNone/>
              </a:pPr>
              <a:r>
                <a:rPr lang="ko-KR" altLang="en-US" sz="1600" b="1" dirty="0">
                  <a:latin typeface="맑은 고딕" panose="020B0503020000020004" pitchFamily="50" charset="-127"/>
                </a:rPr>
                <a:t>⑥ </a:t>
              </a:r>
              <a:r>
                <a:rPr lang="ko-KR" altLang="en-US" sz="1600" b="1" dirty="0" err="1">
                  <a:latin typeface="맑은 고딕" panose="020B0503020000020004" pitchFamily="50" charset="-127"/>
                </a:rPr>
                <a:t>기장오류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 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– 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기업과 은행 중 한 편에서 오류가 발생한 경우</a:t>
              </a: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 marL="216000" indent="-216000" latinLnBrk="0">
                <a:lnSpc>
                  <a:spcPts val="2400"/>
                </a:lnSpc>
                <a:spcBef>
                  <a:spcPts val="600"/>
                </a:spcBef>
                <a:buClrTx/>
                <a:buSzTx/>
                <a:buNone/>
              </a:pP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 marL="216000" indent="-216000" latinLnBrk="0">
                <a:lnSpc>
                  <a:spcPts val="2400"/>
                </a:lnSpc>
                <a:spcBef>
                  <a:spcPts val="600"/>
                </a:spcBef>
                <a:buClrTx/>
                <a:buSzTx/>
                <a:buNone/>
              </a:pP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 marL="216000" indent="-216000" latinLnBrk="0">
                <a:lnSpc>
                  <a:spcPts val="2400"/>
                </a:lnSpc>
                <a:spcBef>
                  <a:spcPts val="600"/>
                </a:spcBef>
                <a:buClrTx/>
                <a:buSzTx/>
                <a:buNone/>
              </a:pPr>
              <a:endParaRPr lang="ko-KR" altLang="en-US" sz="1600" dirty="0">
                <a:latin typeface="맑은 고딕" panose="020B0503020000020004" pitchFamily="50" charset="-127"/>
              </a:endParaRPr>
            </a:p>
          </p:txBody>
        </p:sp>
        <p:sp>
          <p:nvSpPr>
            <p:cNvPr id="22" name="Rectangle 14"/>
            <p:cNvSpPr>
              <a:spLocks noChangeArrowheads="1"/>
            </p:cNvSpPr>
            <p:nvPr/>
          </p:nvSpPr>
          <p:spPr bwMode="auto">
            <a:xfrm>
              <a:off x="2871276" y="1693823"/>
              <a:ext cx="3562349" cy="431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4608" tIns="37301" rIns="74608" bIns="37301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 typeface="Wingdings" panose="05000000000000000000" pitchFamily="2" charset="2"/>
                <a:buNone/>
              </a:pPr>
              <a:r>
                <a:rPr lang="ko-KR" altLang="en-US" sz="18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은행계정조정표의 정의</a:t>
              </a:r>
            </a:p>
          </p:txBody>
        </p:sp>
        <p:sp>
          <p:nvSpPr>
            <p:cNvPr id="30" name="직사각형 29"/>
            <p:cNvSpPr/>
            <p:nvPr/>
          </p:nvSpPr>
          <p:spPr>
            <a:xfrm>
              <a:off x="2626908" y="1722059"/>
              <a:ext cx="281973" cy="425439"/>
            </a:xfrm>
            <a:prstGeom prst="rect">
              <a:avLst/>
            </a:prstGeom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ko-KR" altLang="en-US" sz="16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33</a:t>
            </a:fld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040B41F7-67D4-571A-7963-16AD1FAE5A29}"/>
              </a:ext>
            </a:extLst>
          </p:cNvPr>
          <p:cNvSpPr txBox="1"/>
          <p:nvPr/>
        </p:nvSpPr>
        <p:spPr>
          <a:xfrm>
            <a:off x="892114" y="289123"/>
            <a:ext cx="80232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/>
              <a:t>은행계정조정표</a:t>
            </a:r>
          </a:p>
        </p:txBody>
      </p:sp>
    </p:spTree>
    <p:extLst>
      <p:ext uri="{BB962C8B-B14F-4D97-AF65-F5344CB8AC3E}">
        <p14:creationId xmlns:p14="http://schemas.microsoft.com/office/powerpoint/2010/main" val="10198819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5"/>
          <p:cNvSpPr>
            <a:spLocks noChangeArrowheads="1"/>
          </p:cNvSpPr>
          <p:nvPr/>
        </p:nvSpPr>
        <p:spPr bwMode="auto">
          <a:xfrm>
            <a:off x="257304" y="1754212"/>
            <a:ext cx="8641369" cy="634658"/>
          </a:xfrm>
          <a:prstGeom prst="rect">
            <a:avLst/>
          </a:prstGeom>
          <a:noFill/>
          <a:ln>
            <a:noFill/>
          </a:ln>
        </p:spPr>
        <p:txBody>
          <a:bodyPr lIns="74608" tIns="37301" rIns="74608" bIns="37301" anchor="ctr"/>
          <a:lstStyle>
            <a:lvl1pPr algn="l" defTabSz="995363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 defTabSz="995363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 defTabSz="995363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 defTabSz="995363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 defTabSz="995363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marL="285750" indent="-285750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맑은 고딕" panose="020B0503020000020004" pitchFamily="50" charset="-127"/>
              </a:rPr>
              <a:t>결산정리분개 </a:t>
            </a:r>
            <a:r>
              <a:rPr lang="en-US" altLang="ko-KR" sz="1600" dirty="0">
                <a:latin typeface="맑은 고딕" panose="020B0503020000020004" pitchFamily="50" charset="-127"/>
              </a:rPr>
              <a:t>: </a:t>
            </a:r>
            <a:r>
              <a:rPr lang="ko-KR" altLang="en-US" sz="1600" b="1" dirty="0">
                <a:solidFill>
                  <a:schemeClr val="tx1"/>
                </a:solidFill>
                <a:latin typeface="맑은 고딕" panose="020B0503020000020004" pitchFamily="50" charset="-127"/>
              </a:rPr>
              <a:t>기업측의 </a:t>
            </a:r>
            <a:r>
              <a:rPr lang="ko-KR" altLang="en-US" sz="1600" b="1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조정사항</a:t>
            </a:r>
            <a:r>
              <a:rPr lang="en-US" altLang="ko-KR" sz="1600" b="1" dirty="0">
                <a:solidFill>
                  <a:schemeClr val="tx1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600" b="1" dirty="0">
                <a:solidFill>
                  <a:schemeClr val="tx1"/>
                </a:solidFill>
                <a:latin typeface="맑은 고딕" panose="020B0503020000020004" pitchFamily="50" charset="-127"/>
              </a:rPr>
              <a:t>오류가 발생</a:t>
            </a:r>
            <a:r>
              <a:rPr lang="ko-KR" altLang="en-US" sz="1600" dirty="0">
                <a:solidFill>
                  <a:schemeClr val="tx1"/>
                </a:solidFill>
                <a:latin typeface="맑은 고딕" panose="020B0503020000020004" pitchFamily="50" charset="-127"/>
              </a:rPr>
              <a:t>한 </a:t>
            </a:r>
            <a:r>
              <a:rPr lang="ko-KR" altLang="en-US" sz="1600" dirty="0">
                <a:latin typeface="맑은 고딕" panose="020B0503020000020004" pitchFamily="50" charset="-127"/>
              </a:rPr>
              <a:t>경우에만 결산정리분개를 한다</a:t>
            </a:r>
            <a:r>
              <a:rPr lang="en-US" altLang="ko-KR" sz="1600" dirty="0">
                <a:latin typeface="맑은 고딕" panose="020B0503020000020004" pitchFamily="50" charset="-127"/>
              </a:rPr>
              <a:t>. </a:t>
            </a:r>
            <a:endParaRPr lang="ko-KR" altLang="en-US" sz="1600" dirty="0">
              <a:latin typeface="맑은 고딕" panose="020B0503020000020004" pitchFamily="50" charset="-127"/>
            </a:endParaRPr>
          </a:p>
        </p:txBody>
      </p:sp>
      <p:grpSp>
        <p:nvGrpSpPr>
          <p:cNvPr id="20" name="그룹 19"/>
          <p:cNvGrpSpPr/>
          <p:nvPr/>
        </p:nvGrpSpPr>
        <p:grpSpPr>
          <a:xfrm>
            <a:off x="257473" y="1430361"/>
            <a:ext cx="4577416" cy="340256"/>
            <a:chOff x="2626908" y="1693823"/>
            <a:chExt cx="6103221" cy="453675"/>
          </a:xfrm>
        </p:grpSpPr>
        <p:sp>
          <p:nvSpPr>
            <p:cNvPr id="22" name="Rectangle 14"/>
            <p:cNvSpPr>
              <a:spLocks noChangeArrowheads="1"/>
            </p:cNvSpPr>
            <p:nvPr/>
          </p:nvSpPr>
          <p:spPr bwMode="auto">
            <a:xfrm>
              <a:off x="2871275" y="1693823"/>
              <a:ext cx="5858854" cy="431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4608" tIns="37301" rIns="74608" bIns="37301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 typeface="Wingdings" panose="05000000000000000000" pitchFamily="2" charset="2"/>
                <a:buNone/>
              </a:pPr>
              <a:r>
                <a:rPr lang="ko-KR" altLang="en-US" sz="18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은행계정조정표의 작성과 결산정리분개</a:t>
              </a:r>
            </a:p>
          </p:txBody>
        </p:sp>
        <p:sp>
          <p:nvSpPr>
            <p:cNvPr id="30" name="직사각형 29"/>
            <p:cNvSpPr/>
            <p:nvPr/>
          </p:nvSpPr>
          <p:spPr>
            <a:xfrm>
              <a:off x="2626908" y="1722059"/>
              <a:ext cx="281973" cy="425439"/>
            </a:xfrm>
            <a:prstGeom prst="rect">
              <a:avLst/>
            </a:prstGeom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ko-KR" altLang="en-US" sz="16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aphicFrame>
        <p:nvGraphicFramePr>
          <p:cNvPr id="13" name="Group 6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7990778"/>
              </p:ext>
            </p:extLst>
          </p:nvPr>
        </p:nvGraphicFramePr>
        <p:xfrm>
          <a:off x="548404" y="3253180"/>
          <a:ext cx="7174471" cy="2595165"/>
        </p:xfrm>
        <a:graphic>
          <a:graphicData uri="http://schemas.openxmlformats.org/drawingml/2006/table">
            <a:tbl>
              <a:tblPr>
                <a:tableStyleId>{B301B821-A1FF-4177-AEE7-76D212191A09}</a:tableStyleId>
              </a:tblPr>
              <a:tblGrid>
                <a:gridCol w="1969692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602389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260239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3837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5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구 분</a:t>
                      </a:r>
                      <a:endParaRPr kumimoji="0" lang="ko-KR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5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은행거래내역서상 잔액</a:t>
                      </a:r>
                      <a:endParaRPr kumimoji="0" lang="ko-KR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5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기업의 당좌예금계정 잔액</a:t>
                      </a:r>
                      <a:endParaRPr kumimoji="0" lang="ko-KR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657794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5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․</a:t>
                      </a:r>
                      <a:r>
                        <a:rPr kumimoji="0" lang="ko-KR" altLang="en-US" sz="1500" b="1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미기록예금</a:t>
                      </a:r>
                      <a:endParaRPr kumimoji="0" lang="ko-KR" altLang="en-US" sz="1500" b="1" u="none" strike="noStrike" cap="none" normalizeH="0" baseline="0" dirty="0">
                        <a:ln>
                          <a:noFill/>
                        </a:ln>
                        <a:effectLst/>
                      </a:endParaRPr>
                    </a:p>
                    <a:p>
                      <a:pPr marL="0" marR="0" lvl="0" indent="0" algn="just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5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․</a:t>
                      </a:r>
                      <a:r>
                        <a:rPr kumimoji="0" lang="ko-KR" altLang="en-US" sz="1500" b="1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기발행미인출수표</a:t>
                      </a:r>
                      <a:endParaRPr kumimoji="0" lang="ko-KR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5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가산</a:t>
                      </a:r>
                      <a:r>
                        <a:rPr kumimoji="0" lang="en-US" altLang="ko-KR" sz="15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(</a:t>
                      </a:r>
                      <a:r>
                        <a:rPr kumimoji="0" lang="ko-KR" altLang="en-US" sz="15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＋</a:t>
                      </a:r>
                      <a:r>
                        <a:rPr kumimoji="0" lang="en-US" altLang="ko-KR" sz="15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)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5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차감</a:t>
                      </a:r>
                      <a:r>
                        <a:rPr kumimoji="0" lang="en-US" altLang="ko-KR" sz="15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(</a:t>
                      </a:r>
                      <a:r>
                        <a:rPr kumimoji="0" lang="ko-KR" altLang="en-US" sz="15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－</a:t>
                      </a:r>
                      <a:r>
                        <a:rPr kumimoji="0" lang="en-US" altLang="ko-KR" sz="15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)</a:t>
                      </a:r>
                      <a:endParaRPr kumimoji="0" lang="en-US" altLang="ko-KR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5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조정 없음</a:t>
                      </a:r>
                      <a:endParaRPr kumimoji="0" lang="ko-KR" alt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1480036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5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․</a:t>
                      </a:r>
                      <a:r>
                        <a:rPr kumimoji="0" lang="ko-KR" altLang="en-US" sz="1500" b="1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미통지예금</a:t>
                      </a:r>
                      <a:endParaRPr kumimoji="0" lang="ko-KR" altLang="en-US" sz="1500" b="1" u="none" strike="noStrike" cap="none" normalizeH="0" baseline="0" dirty="0">
                        <a:ln>
                          <a:noFill/>
                        </a:ln>
                        <a:effectLst/>
                      </a:endParaRPr>
                    </a:p>
                    <a:p>
                      <a:pPr marL="0" marR="0" lvl="0" indent="0" algn="just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5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․</a:t>
                      </a:r>
                      <a:r>
                        <a:rPr kumimoji="0" lang="ko-KR" altLang="en-US" sz="15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이자수익</a:t>
                      </a:r>
                    </a:p>
                    <a:p>
                      <a:pPr marL="0" marR="0" lvl="0" indent="0" algn="just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5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․</a:t>
                      </a:r>
                      <a:r>
                        <a:rPr kumimoji="0" lang="ko-KR" altLang="en-US" sz="1500" b="1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은행수수료</a:t>
                      </a:r>
                      <a:endParaRPr kumimoji="0" lang="ko-KR" altLang="en-US" sz="1500" b="1" u="none" strike="noStrike" cap="none" normalizeH="0" baseline="0" dirty="0">
                        <a:ln>
                          <a:noFill/>
                        </a:ln>
                        <a:effectLst/>
                      </a:endParaRPr>
                    </a:p>
                    <a:p>
                      <a:pPr marL="0" marR="0" lvl="0" indent="0" algn="just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5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․</a:t>
                      </a:r>
                      <a:r>
                        <a:rPr kumimoji="0" lang="ko-KR" altLang="en-US" sz="15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부도수표</a:t>
                      </a:r>
                    </a:p>
                    <a:p>
                      <a:pPr marL="0" marR="0" lvl="0" indent="0" algn="just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5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․</a:t>
                      </a:r>
                      <a:r>
                        <a:rPr kumimoji="0" lang="ko-KR" altLang="en-US" sz="15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당좌차월이자</a:t>
                      </a:r>
                      <a:endParaRPr kumimoji="0" lang="ko-KR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5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조정 없음</a:t>
                      </a:r>
                      <a:endParaRPr kumimoji="0" lang="ko-KR" alt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5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가산</a:t>
                      </a:r>
                      <a:r>
                        <a:rPr kumimoji="0" lang="en-US" altLang="ko-KR" sz="15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(</a:t>
                      </a:r>
                      <a:r>
                        <a:rPr kumimoji="0" lang="ko-KR" altLang="en-US" sz="15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＋</a:t>
                      </a:r>
                      <a:r>
                        <a:rPr kumimoji="0" lang="en-US" altLang="ko-KR" sz="15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)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5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가산</a:t>
                      </a:r>
                      <a:r>
                        <a:rPr kumimoji="0" lang="en-US" altLang="ko-KR" sz="15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(</a:t>
                      </a:r>
                      <a:r>
                        <a:rPr kumimoji="0" lang="ko-KR" altLang="en-US" sz="15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＋</a:t>
                      </a:r>
                      <a:r>
                        <a:rPr kumimoji="0" lang="en-US" altLang="ko-KR" sz="15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)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5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차감</a:t>
                      </a:r>
                      <a:r>
                        <a:rPr kumimoji="0" lang="en-US" altLang="ko-KR" sz="15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(</a:t>
                      </a:r>
                      <a:r>
                        <a:rPr kumimoji="0" lang="ko-KR" altLang="en-US" sz="15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－</a:t>
                      </a:r>
                      <a:r>
                        <a:rPr kumimoji="0" lang="en-US" altLang="ko-KR" sz="15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)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5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차감</a:t>
                      </a:r>
                      <a:r>
                        <a:rPr kumimoji="0" lang="en-US" altLang="ko-KR" sz="15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(</a:t>
                      </a:r>
                      <a:r>
                        <a:rPr kumimoji="0" lang="ko-KR" altLang="en-US" sz="15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－</a:t>
                      </a:r>
                      <a:r>
                        <a:rPr kumimoji="0" lang="en-US" altLang="ko-KR" sz="15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)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5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차감</a:t>
                      </a:r>
                      <a:r>
                        <a:rPr kumimoji="0" lang="en-US" altLang="ko-KR" sz="15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(</a:t>
                      </a:r>
                      <a:r>
                        <a:rPr kumimoji="0" lang="ko-KR" altLang="en-US" sz="15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－</a:t>
                      </a:r>
                      <a:r>
                        <a:rPr kumimoji="0" lang="en-US" altLang="ko-KR" sz="15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)</a:t>
                      </a:r>
                      <a:endParaRPr kumimoji="0" lang="en-US" altLang="ko-KR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14" name="그룹 13"/>
          <p:cNvGrpSpPr/>
          <p:nvPr/>
        </p:nvGrpSpPr>
        <p:grpSpPr>
          <a:xfrm>
            <a:off x="494870" y="2796029"/>
            <a:ext cx="3263136" cy="338554"/>
            <a:chOff x="1287463" y="4776539"/>
            <a:chExt cx="3263136" cy="338554"/>
          </a:xfrm>
        </p:grpSpPr>
        <p:sp>
          <p:nvSpPr>
            <p:cNvPr id="15" name="오각형 14"/>
            <p:cNvSpPr/>
            <p:nvPr/>
          </p:nvSpPr>
          <p:spPr>
            <a:xfrm>
              <a:off x="1287463" y="4807765"/>
              <a:ext cx="590477" cy="245327"/>
            </a:xfrm>
            <a:prstGeom prst="homePlate">
              <a:avLst/>
            </a:prstGeom>
            <a:solidFill>
              <a:srgbClr val="2D61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 dirty="0">
                  <a:latin typeface="+mn-ea"/>
                </a:rPr>
                <a:t>표 </a:t>
              </a:r>
              <a:r>
                <a:rPr lang="en-US" altLang="ko-KR" sz="1400" b="1" dirty="0">
                  <a:latin typeface="+mn-ea"/>
                  <a:cs typeface="Arial" panose="020B0604020202020204" pitchFamily="34" charset="0"/>
                </a:rPr>
                <a:t>5</a:t>
              </a:r>
              <a:endParaRPr lang="ko-KR" altLang="en-US" sz="1400" b="1" dirty="0">
                <a:latin typeface="+mn-ea"/>
                <a:cs typeface="Arial" panose="020B0604020202020204" pitchFamily="34" charset="0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877940" y="4776539"/>
              <a:ext cx="267265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600" b="1" dirty="0"/>
                <a:t>은행계정조정표 </a:t>
              </a:r>
              <a:r>
                <a:rPr lang="ko-KR" altLang="en-US" sz="1600" b="1" dirty="0" err="1"/>
                <a:t>조정방향</a:t>
              </a:r>
              <a:endParaRPr lang="ko-KR" altLang="en-US" sz="1600" b="1" dirty="0"/>
            </a:p>
          </p:txBody>
        </p:sp>
      </p:grp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34</a:t>
            </a:fld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656A13FD-6F2F-33D5-C363-001518C3B924}"/>
              </a:ext>
            </a:extLst>
          </p:cNvPr>
          <p:cNvSpPr txBox="1"/>
          <p:nvPr/>
        </p:nvSpPr>
        <p:spPr>
          <a:xfrm>
            <a:off x="892114" y="289123"/>
            <a:ext cx="80232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/>
              <a:t>은행계정조정표</a:t>
            </a:r>
          </a:p>
        </p:txBody>
      </p:sp>
    </p:spTree>
    <p:extLst>
      <p:ext uri="{BB962C8B-B14F-4D97-AF65-F5344CB8AC3E}">
        <p14:creationId xmlns:p14="http://schemas.microsoft.com/office/powerpoint/2010/main" val="29095058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그룹 33"/>
          <p:cNvGrpSpPr/>
          <p:nvPr/>
        </p:nvGrpSpPr>
        <p:grpSpPr>
          <a:xfrm>
            <a:off x="216270" y="1350423"/>
            <a:ext cx="8711460" cy="5050377"/>
            <a:chOff x="190714" y="1320886"/>
            <a:chExt cx="8711460" cy="5050377"/>
          </a:xfrm>
        </p:grpSpPr>
        <p:grpSp>
          <p:nvGrpSpPr>
            <p:cNvPr id="35" name="그룹 34"/>
            <p:cNvGrpSpPr/>
            <p:nvPr/>
          </p:nvGrpSpPr>
          <p:grpSpPr>
            <a:xfrm>
              <a:off x="361935" y="1461499"/>
              <a:ext cx="8540239" cy="4909764"/>
              <a:chOff x="269048" y="1722741"/>
              <a:chExt cx="8648775" cy="4909764"/>
            </a:xfrm>
          </p:grpSpPr>
          <p:sp>
            <p:nvSpPr>
              <p:cNvPr id="44" name="Rectangle 15"/>
              <p:cNvSpPr>
                <a:spLocks noChangeArrowheads="1"/>
              </p:cNvSpPr>
              <p:nvPr/>
            </p:nvSpPr>
            <p:spPr bwMode="auto">
              <a:xfrm>
                <a:off x="269048" y="1746441"/>
                <a:ext cx="8641369" cy="4886064"/>
              </a:xfrm>
              <a:prstGeom prst="foldedCorner">
                <a:avLst>
                  <a:gd name="adj" fmla="val 5125"/>
                </a:avLst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txBody>
              <a:bodyPr lIns="74608" tIns="37301" rIns="74608" bIns="37301" anchor="ctr"/>
              <a:lstStyle>
                <a:lvl1pPr algn="l" defTabSz="995363">
                  <a:spcBef>
                    <a:spcPct val="20000"/>
                  </a:spcBef>
                  <a:buClr>
                    <a:schemeClr val="tx2"/>
                  </a:buClr>
                  <a:buSzPct val="115000"/>
                  <a:buFont typeface="Wingdings" panose="05000000000000000000" pitchFamily="2" charset="2"/>
                  <a:buChar char="§"/>
                  <a:defRPr sz="28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 algn="l" defTabSz="995363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 algn="l" defTabSz="995363">
                  <a:spcBef>
                    <a:spcPct val="20000"/>
                  </a:spcBef>
                  <a:buChar char="•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 algn="l" defTabSz="995363">
                  <a:spcBef>
                    <a:spcPct val="20000"/>
                  </a:spcBef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 algn="l" defTabSz="995363">
                  <a:spcBef>
                    <a:spcPct val="20000"/>
                  </a:spcBef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ko-KR" altLang="en-US" sz="1400" dirty="0"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45" name="직사각형 44"/>
              <p:cNvSpPr/>
              <p:nvPr/>
            </p:nvSpPr>
            <p:spPr>
              <a:xfrm>
                <a:off x="277823" y="1722741"/>
                <a:ext cx="8640000" cy="45719"/>
              </a:xfrm>
              <a:prstGeom prst="rect">
                <a:avLst/>
              </a:prstGeom>
              <a:solidFill>
                <a:srgbClr val="2D61C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37" name="그룹 36"/>
            <p:cNvGrpSpPr/>
            <p:nvPr/>
          </p:nvGrpSpPr>
          <p:grpSpPr>
            <a:xfrm>
              <a:off x="190714" y="1320886"/>
              <a:ext cx="2946134" cy="326952"/>
              <a:chOff x="190714" y="1320889"/>
              <a:chExt cx="2520193" cy="290354"/>
            </a:xfrm>
            <a:solidFill>
              <a:srgbClr val="2D61C8"/>
            </a:solidFill>
          </p:grpSpPr>
          <p:grpSp>
            <p:nvGrpSpPr>
              <p:cNvPr id="38" name="그룹 37"/>
              <p:cNvGrpSpPr/>
              <p:nvPr/>
            </p:nvGrpSpPr>
            <p:grpSpPr>
              <a:xfrm>
                <a:off x="190714" y="1320889"/>
                <a:ext cx="2520193" cy="290354"/>
                <a:chOff x="405822" y="2237753"/>
                <a:chExt cx="2520193" cy="290354"/>
              </a:xfrm>
              <a:grpFill/>
            </p:grpSpPr>
            <p:sp>
              <p:nvSpPr>
                <p:cNvPr id="40" name="타원 39"/>
                <p:cNvSpPr/>
                <p:nvPr/>
              </p:nvSpPr>
              <p:spPr>
                <a:xfrm>
                  <a:off x="405822" y="2237753"/>
                  <a:ext cx="290351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1" name="타원 40"/>
                <p:cNvSpPr/>
                <p:nvPr/>
              </p:nvSpPr>
              <p:spPr>
                <a:xfrm>
                  <a:off x="2635664" y="2237753"/>
                  <a:ext cx="290351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2" name="직사각형 41"/>
                <p:cNvSpPr/>
                <p:nvPr/>
              </p:nvSpPr>
              <p:spPr>
                <a:xfrm>
                  <a:off x="542512" y="2237755"/>
                  <a:ext cx="2259566" cy="290352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1600" b="1" dirty="0"/>
                    <a:t>예제 </a:t>
                  </a:r>
                  <a:r>
                    <a:rPr lang="en-US" altLang="ko-KR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5-12</a:t>
                  </a:r>
                  <a:r>
                    <a:rPr lang="en-US" altLang="ko-KR" sz="1600" b="1" dirty="0"/>
                    <a:t> </a:t>
                  </a:r>
                  <a:r>
                    <a:rPr lang="ko-KR" altLang="en-US" sz="1600" b="1" dirty="0"/>
                    <a:t>은행계정조정표</a:t>
                  </a:r>
                </a:p>
              </p:txBody>
            </p:sp>
            <p:sp>
              <p:nvSpPr>
                <p:cNvPr id="43" name="타원 42"/>
                <p:cNvSpPr/>
                <p:nvPr/>
              </p:nvSpPr>
              <p:spPr>
                <a:xfrm>
                  <a:off x="427833" y="2256153"/>
                  <a:ext cx="253549" cy="25354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pic>
            <p:nvPicPr>
              <p:cNvPr id="39" name="그림 38" descr="Log in | Sign Up Upload Clipart"/>
              <p:cNvPicPr>
                <a:picLocks noChangeAspect="1"/>
              </p:cNvPicPr>
              <p:nvPr/>
            </p:nvPicPr>
            <p:blipFill>
              <a:blip r:embed="rId3" cstate="email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265229" y="1359640"/>
                <a:ext cx="147147" cy="229618"/>
              </a:xfrm>
              <a:prstGeom prst="rect">
                <a:avLst/>
              </a:prstGeom>
            </p:spPr>
          </p:pic>
        </p:grpSp>
      </p:grpSp>
      <p:sp>
        <p:nvSpPr>
          <p:cNvPr id="3" name="직사각형 2"/>
          <p:cNvSpPr/>
          <p:nvPr/>
        </p:nvSpPr>
        <p:spPr>
          <a:xfrm>
            <a:off x="598504" y="1774350"/>
            <a:ext cx="8329226" cy="46289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0"/>
            <a:r>
              <a:rPr lang="en-US" altLang="ko-KR" sz="1500" b="1" dirty="0"/>
              <a:t>20×1</a:t>
            </a:r>
            <a:r>
              <a:rPr lang="ko-KR" altLang="en-US" sz="1500" b="1" dirty="0"/>
              <a:t>년 </a:t>
            </a:r>
            <a:r>
              <a:rPr lang="en-US" altLang="ko-KR" sz="1500" b="1" dirty="0"/>
              <a:t>12</a:t>
            </a:r>
            <a:r>
              <a:rPr lang="ko-KR" altLang="en-US" sz="1500" b="1" dirty="0"/>
              <a:t>월 </a:t>
            </a:r>
            <a:r>
              <a:rPr lang="en-US" altLang="ko-KR" sz="1500" b="1" dirty="0"/>
              <a:t>31</a:t>
            </a:r>
            <a:r>
              <a:rPr lang="ko-KR" altLang="en-US" sz="1500" b="1" dirty="0"/>
              <a:t>일 현재 </a:t>
            </a:r>
            <a:r>
              <a:rPr lang="en-US" altLang="ko-KR" sz="1500" b="1" dirty="0"/>
              <a:t>(</a:t>
            </a:r>
            <a:r>
              <a:rPr lang="ko-KR" altLang="en-US" sz="1500" b="1" dirty="0"/>
              <a:t>주</a:t>
            </a:r>
            <a:r>
              <a:rPr lang="en-US" altLang="ko-KR" sz="1500" b="1" dirty="0"/>
              <a:t>)</a:t>
            </a:r>
            <a:r>
              <a:rPr lang="ko-KR" altLang="en-US" sz="1500" b="1" dirty="0" err="1"/>
              <a:t>덕송의</a:t>
            </a:r>
            <a:r>
              <a:rPr lang="ko-KR" altLang="en-US" sz="1500" b="1" dirty="0"/>
              <a:t> 주거래은행인 </a:t>
            </a:r>
            <a:r>
              <a:rPr lang="en-US" altLang="ko-KR" sz="1500" b="1" dirty="0"/>
              <a:t>IBK</a:t>
            </a:r>
            <a:r>
              <a:rPr lang="ko-KR" altLang="en-US" sz="1500" b="1" dirty="0"/>
              <a:t>기업은행에서 은행거래내역서를 송부해 왔다</a:t>
            </a:r>
            <a:r>
              <a:rPr lang="en-US" altLang="ko-KR" sz="1500" b="1" dirty="0"/>
              <a:t>.  </a:t>
            </a:r>
            <a:r>
              <a:rPr lang="ko-KR" altLang="en-US" sz="1500" b="1" dirty="0"/>
              <a:t>이를 확인한 결과 </a:t>
            </a:r>
            <a:r>
              <a:rPr lang="en-US" altLang="ko-KR" sz="1500" b="1" dirty="0"/>
              <a:t>IBK</a:t>
            </a:r>
            <a:r>
              <a:rPr lang="ko-KR" altLang="en-US" sz="1500" b="1" dirty="0"/>
              <a:t>기업</a:t>
            </a:r>
            <a:r>
              <a:rPr lang="ko-KR" altLang="en-US" sz="1500" b="1" u="sng" dirty="0"/>
              <a:t>은행의 당좌예금 잔액은 ￦</a:t>
            </a:r>
            <a:r>
              <a:rPr lang="en-US" altLang="ko-KR" sz="1500" b="1" u="sng" dirty="0"/>
              <a:t>58,920,000</a:t>
            </a:r>
            <a:r>
              <a:rPr lang="ko-KR" altLang="en-US" sz="1500" b="1" dirty="0"/>
              <a:t>인 것으로 나타나</a:t>
            </a:r>
            <a:r>
              <a:rPr lang="en-US" altLang="ko-KR" sz="1500" b="1" dirty="0"/>
              <a:t>, </a:t>
            </a:r>
            <a:r>
              <a:rPr lang="en-US" altLang="ko-KR" sz="1500" b="1" u="sng" dirty="0"/>
              <a:t>(</a:t>
            </a:r>
            <a:r>
              <a:rPr lang="ko-KR" altLang="en-US" sz="1500" b="1" u="sng" dirty="0"/>
              <a:t>주</a:t>
            </a:r>
            <a:r>
              <a:rPr lang="en-US" altLang="ko-KR" sz="1500" b="1" u="sng" dirty="0"/>
              <a:t>) </a:t>
            </a:r>
            <a:r>
              <a:rPr lang="ko-KR" altLang="en-US" sz="1500" b="1" u="sng" dirty="0" err="1"/>
              <a:t>덕송의</a:t>
            </a:r>
            <a:r>
              <a:rPr lang="ko-KR" altLang="en-US" sz="1500" b="1" u="sng" dirty="0"/>
              <a:t> 당좌예금 잔액 ￦</a:t>
            </a:r>
            <a:r>
              <a:rPr lang="en-US" altLang="ko-KR" sz="1500" b="1" u="sng" dirty="0"/>
              <a:t>57,840,000</a:t>
            </a:r>
            <a:r>
              <a:rPr lang="ko-KR" altLang="en-US" sz="1500" b="1" u="sng" dirty="0"/>
              <a:t>과는 ￦</a:t>
            </a:r>
            <a:r>
              <a:rPr lang="en-US" altLang="ko-KR" sz="1500" b="1" u="sng" dirty="0"/>
              <a:t>1,080,000</a:t>
            </a:r>
            <a:r>
              <a:rPr lang="ko-KR" altLang="en-US" sz="1500" b="1" u="sng" dirty="0"/>
              <a:t>의 차이가 있었다</a:t>
            </a:r>
            <a:r>
              <a:rPr lang="en-US" altLang="ko-KR" sz="1500" b="1" u="sng" dirty="0"/>
              <a:t>.</a:t>
            </a:r>
            <a:r>
              <a:rPr lang="en-US" altLang="ko-KR" sz="1500" b="1" dirty="0"/>
              <a:t>  </a:t>
            </a:r>
            <a:r>
              <a:rPr lang="ko-KR" altLang="en-US" sz="1500" b="1" dirty="0"/>
              <a:t>이러한 당좌예금 잔액의 차이를 가져온 원인은 다음 자료와 같다</a:t>
            </a:r>
            <a:r>
              <a:rPr lang="en-US" altLang="ko-KR" sz="1500" b="1" dirty="0"/>
              <a:t>.</a:t>
            </a:r>
            <a:endParaRPr lang="en-US" altLang="ko-KR" sz="1500" dirty="0"/>
          </a:p>
          <a:p>
            <a:r>
              <a:rPr lang="en-US" altLang="ko-KR" sz="1600" b="1" dirty="0"/>
              <a:t> &lt;</a:t>
            </a:r>
            <a:r>
              <a:rPr lang="ko-KR" altLang="en-US" sz="1600" b="1" dirty="0"/>
              <a:t>자료</a:t>
            </a:r>
            <a:r>
              <a:rPr lang="en-US" altLang="ko-KR" sz="1600" b="1" dirty="0"/>
              <a:t>&gt;</a:t>
            </a:r>
          </a:p>
          <a:p>
            <a:pPr marL="216000" indent="-216000" latinLnBrk="0">
              <a:lnSpc>
                <a:spcPct val="120000"/>
              </a:lnSpc>
              <a:spcBef>
                <a:spcPts val="600"/>
              </a:spcBef>
            </a:pPr>
            <a:r>
              <a:rPr lang="en-US" altLang="ko-KR" sz="1400" dirty="0"/>
              <a:t>① 12</a:t>
            </a:r>
            <a:r>
              <a:rPr lang="ko-KR" altLang="en-US" sz="1400" dirty="0"/>
              <a:t>월 </a:t>
            </a:r>
            <a:r>
              <a:rPr lang="en-US" altLang="ko-KR" sz="1400" dirty="0"/>
              <a:t>29</a:t>
            </a:r>
            <a:r>
              <a:rPr lang="ko-KR" altLang="en-US" sz="1400" dirty="0"/>
              <a:t>일에 </a:t>
            </a:r>
            <a:r>
              <a:rPr lang="en-US" altLang="ko-KR" sz="1400" dirty="0"/>
              <a:t>(</a:t>
            </a:r>
            <a:r>
              <a:rPr lang="ko-KR" altLang="en-US" sz="1400" dirty="0"/>
              <a:t>주</a:t>
            </a:r>
            <a:r>
              <a:rPr lang="en-US" altLang="ko-KR" sz="1400" dirty="0"/>
              <a:t>)</a:t>
            </a:r>
            <a:r>
              <a:rPr lang="ko-KR" altLang="en-US" sz="1400" dirty="0" err="1"/>
              <a:t>덕송은</a:t>
            </a:r>
            <a:r>
              <a:rPr lang="ko-KR" altLang="en-US" sz="1400" dirty="0"/>
              <a:t> 거래처에서 발행한 수표 ￦</a:t>
            </a:r>
            <a:r>
              <a:rPr lang="en-US" altLang="ko-KR" sz="1400" dirty="0"/>
              <a:t>8,480,000</a:t>
            </a:r>
            <a:r>
              <a:rPr lang="ko-KR" altLang="en-US" sz="1400" dirty="0"/>
              <a:t>을 </a:t>
            </a:r>
            <a:r>
              <a:rPr lang="en-US" altLang="ko-KR" sz="1400" dirty="0"/>
              <a:t>IBK</a:t>
            </a:r>
            <a:r>
              <a:rPr lang="ko-KR" altLang="en-US" sz="1400" dirty="0"/>
              <a:t>기업은행에 당좌 예금하였으나</a:t>
            </a:r>
            <a:r>
              <a:rPr lang="en-US" altLang="ko-KR" sz="1400" dirty="0"/>
              <a:t>, IBK</a:t>
            </a:r>
            <a:r>
              <a:rPr lang="ko-KR" altLang="en-US" sz="1400" dirty="0"/>
              <a:t>기업은행은 연말 전산처리지연으로 현재까지 입금 처리하지 않았다</a:t>
            </a:r>
            <a:r>
              <a:rPr lang="en-US" altLang="ko-KR" sz="1400" dirty="0">
                <a:solidFill>
                  <a:srgbClr val="C00000"/>
                </a:solidFill>
              </a:rPr>
              <a:t>. </a:t>
            </a:r>
            <a:r>
              <a:rPr lang="en-US" altLang="ko-KR" sz="1400" dirty="0">
                <a:solidFill>
                  <a:srgbClr val="C00000"/>
                </a:solidFill>
                <a:latin typeface="맑은 고딕" panose="020B0503020000020004" pitchFamily="50" charset="-127"/>
                <a:sym typeface="Wingdings" pitchFamily="2" charset="2"/>
              </a:rPr>
              <a:t></a:t>
            </a:r>
            <a:r>
              <a:rPr lang="en-US" altLang="ko-KR" sz="1400" b="1" dirty="0">
                <a:solidFill>
                  <a:srgbClr val="C00000"/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sz="1400" b="1" dirty="0">
                <a:solidFill>
                  <a:srgbClr val="C00000"/>
                </a:solidFill>
                <a:latin typeface="맑은 고딕" panose="020B0503020000020004" pitchFamily="50" charset="-127"/>
              </a:rPr>
              <a:t>은행 잔액</a:t>
            </a:r>
            <a:r>
              <a:rPr lang="en-US" altLang="ko-KR" sz="1400" b="1" dirty="0">
                <a:solidFill>
                  <a:srgbClr val="C00000"/>
                </a:solidFill>
                <a:latin typeface="맑은 고딕" panose="020B0503020000020004" pitchFamily="50" charset="-127"/>
              </a:rPr>
              <a:t> +</a:t>
            </a:r>
            <a:endParaRPr lang="en-US" altLang="ko-KR" sz="1400" dirty="0">
              <a:solidFill>
                <a:srgbClr val="C00000"/>
              </a:solidFill>
            </a:endParaRPr>
          </a:p>
          <a:p>
            <a:pPr marL="216000" indent="-216000" latinLnBrk="0">
              <a:lnSpc>
                <a:spcPct val="120000"/>
              </a:lnSpc>
              <a:spcBef>
                <a:spcPts val="600"/>
              </a:spcBef>
            </a:pPr>
            <a:r>
              <a:rPr lang="ko-KR" altLang="en-US" sz="1400" dirty="0"/>
              <a:t>② </a:t>
            </a:r>
            <a:r>
              <a:rPr lang="en-US" altLang="ko-KR" sz="1400" dirty="0"/>
              <a:t>12</a:t>
            </a:r>
            <a:r>
              <a:rPr lang="ko-KR" altLang="en-US" sz="1400" dirty="0"/>
              <a:t>월 </a:t>
            </a:r>
            <a:r>
              <a:rPr lang="en-US" altLang="ko-KR" sz="1400" dirty="0"/>
              <a:t>30</a:t>
            </a:r>
            <a:r>
              <a:rPr lang="ko-KR" altLang="en-US" sz="1400" dirty="0"/>
              <a:t>일에 </a:t>
            </a:r>
            <a:r>
              <a:rPr lang="en-US" altLang="ko-KR" sz="1400" dirty="0"/>
              <a:t>IBK</a:t>
            </a:r>
            <a:r>
              <a:rPr lang="ko-KR" altLang="en-US" sz="1400" dirty="0"/>
              <a:t>기업은행은 직원 실수로 </a:t>
            </a:r>
            <a:r>
              <a:rPr lang="en-US" altLang="ko-KR" sz="1400" dirty="0"/>
              <a:t>(</a:t>
            </a:r>
            <a:r>
              <a:rPr lang="ko-KR" altLang="en-US" sz="1400" dirty="0"/>
              <a:t>주</a:t>
            </a:r>
            <a:r>
              <a:rPr lang="en-US" altLang="ko-KR" sz="1400" dirty="0"/>
              <a:t>)</a:t>
            </a:r>
            <a:r>
              <a:rPr lang="ko-KR" altLang="en-US" sz="1400" dirty="0"/>
              <a:t>동경이 발행한 수표 ￦</a:t>
            </a:r>
            <a:r>
              <a:rPr lang="en-US" altLang="ko-KR" sz="1400" dirty="0"/>
              <a:t>900,000</a:t>
            </a:r>
            <a:r>
              <a:rPr lang="ko-KR" altLang="en-US" sz="1400" dirty="0"/>
              <a:t>을 </a:t>
            </a:r>
            <a:r>
              <a:rPr lang="en-US" altLang="ko-KR" sz="1400" dirty="0"/>
              <a:t>(</a:t>
            </a:r>
            <a:r>
              <a:rPr lang="ko-KR" altLang="en-US" sz="1400" dirty="0"/>
              <a:t>주</a:t>
            </a:r>
            <a:r>
              <a:rPr lang="en-US" altLang="ko-KR" sz="1400" dirty="0"/>
              <a:t>)</a:t>
            </a:r>
            <a:r>
              <a:rPr lang="ko-KR" altLang="en-US" sz="1400" dirty="0" err="1"/>
              <a:t>덕송의</a:t>
            </a:r>
            <a:r>
              <a:rPr lang="ko-KR" altLang="en-US" sz="1400" dirty="0"/>
              <a:t> 당좌예금계좌에서 인출하였으나</a:t>
            </a:r>
            <a:r>
              <a:rPr lang="en-US" altLang="ko-KR" sz="1400" dirty="0"/>
              <a:t>, </a:t>
            </a:r>
            <a:r>
              <a:rPr lang="ko-KR" altLang="en-US" sz="1400" dirty="0"/>
              <a:t>현재까지 조정하지 않았다</a:t>
            </a:r>
            <a:r>
              <a:rPr lang="en-US" altLang="ko-KR" sz="1400" dirty="0"/>
              <a:t>. </a:t>
            </a:r>
            <a:r>
              <a:rPr lang="en-US" altLang="ko-KR" sz="1400" dirty="0">
                <a:solidFill>
                  <a:srgbClr val="C00000"/>
                </a:solidFill>
                <a:latin typeface="맑은 고딕" panose="020B0503020000020004" pitchFamily="50" charset="-127"/>
                <a:sym typeface="Wingdings" pitchFamily="2" charset="2"/>
              </a:rPr>
              <a:t></a:t>
            </a:r>
            <a:r>
              <a:rPr lang="en-US" altLang="ko-KR" sz="1400" b="1" dirty="0">
                <a:solidFill>
                  <a:srgbClr val="C00000"/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sz="1400" b="1" dirty="0">
                <a:solidFill>
                  <a:srgbClr val="C00000"/>
                </a:solidFill>
                <a:latin typeface="맑은 고딕" panose="020B0503020000020004" pitchFamily="50" charset="-127"/>
              </a:rPr>
              <a:t>은행 잔액</a:t>
            </a:r>
            <a:r>
              <a:rPr lang="en-US" altLang="ko-KR" sz="1400" b="1" dirty="0">
                <a:solidFill>
                  <a:srgbClr val="C00000"/>
                </a:solidFill>
                <a:latin typeface="맑은 고딕" panose="020B0503020000020004" pitchFamily="50" charset="-127"/>
              </a:rPr>
              <a:t> +</a:t>
            </a:r>
            <a:endParaRPr lang="en-US" altLang="ko-KR" sz="1400" dirty="0">
              <a:solidFill>
                <a:srgbClr val="C00000"/>
              </a:solidFill>
            </a:endParaRPr>
          </a:p>
          <a:p>
            <a:pPr marL="216000" indent="-216000" latinLnBrk="0">
              <a:lnSpc>
                <a:spcPct val="120000"/>
              </a:lnSpc>
              <a:spcBef>
                <a:spcPts val="600"/>
              </a:spcBef>
            </a:pPr>
            <a:r>
              <a:rPr lang="en-US" altLang="ko-KR" sz="1400" dirty="0"/>
              <a:t>③ 12</a:t>
            </a:r>
            <a:r>
              <a:rPr lang="ko-KR" altLang="en-US" sz="1400" dirty="0"/>
              <a:t>월에 </a:t>
            </a:r>
            <a:r>
              <a:rPr lang="en-US" altLang="ko-KR" sz="1400" dirty="0"/>
              <a:t>(</a:t>
            </a:r>
            <a:r>
              <a:rPr lang="ko-KR" altLang="en-US" sz="1400" dirty="0"/>
              <a:t>주</a:t>
            </a:r>
            <a:r>
              <a:rPr lang="en-US" altLang="ko-KR" sz="1400" dirty="0"/>
              <a:t>)</a:t>
            </a:r>
            <a:r>
              <a:rPr lang="ko-KR" altLang="en-US" sz="1400" dirty="0" err="1"/>
              <a:t>덕송이</a:t>
            </a:r>
            <a:r>
              <a:rPr lang="ko-KR" altLang="en-US" sz="1400" dirty="0"/>
              <a:t> 발행한 수표 중 현재까지 인출되지 않은 금액은 ￦</a:t>
            </a:r>
            <a:r>
              <a:rPr lang="en-US" altLang="ko-KR" sz="1400" dirty="0"/>
              <a:t>12,000,000</a:t>
            </a:r>
            <a:r>
              <a:rPr lang="ko-KR" altLang="en-US" sz="1400" dirty="0"/>
              <a:t>이다</a:t>
            </a:r>
            <a:r>
              <a:rPr lang="en-US" altLang="ko-KR" sz="1400" dirty="0"/>
              <a:t>.</a:t>
            </a:r>
            <a:r>
              <a:rPr lang="ko-KR" altLang="en-US" sz="1400" dirty="0">
                <a:solidFill>
                  <a:srgbClr val="FF0000"/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1400" dirty="0">
                <a:solidFill>
                  <a:srgbClr val="C00000"/>
                </a:solidFill>
                <a:latin typeface="맑은 고딕" panose="020B0503020000020004" pitchFamily="50" charset="-127"/>
                <a:sym typeface="Wingdings" pitchFamily="2" charset="2"/>
              </a:rPr>
              <a:t></a:t>
            </a:r>
            <a:r>
              <a:rPr lang="en-US" altLang="ko-KR" sz="1400" b="1" dirty="0">
                <a:solidFill>
                  <a:srgbClr val="C00000"/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sz="1400" b="1" dirty="0">
                <a:solidFill>
                  <a:srgbClr val="C00000"/>
                </a:solidFill>
                <a:latin typeface="맑은 고딕" panose="020B0503020000020004" pitchFamily="50" charset="-127"/>
              </a:rPr>
              <a:t>은행 잔액</a:t>
            </a:r>
            <a:r>
              <a:rPr lang="en-US" altLang="ko-KR" sz="1400" b="1" dirty="0">
                <a:solidFill>
                  <a:srgbClr val="C00000"/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1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−</a:t>
            </a:r>
            <a:endParaRPr lang="en-US" altLang="ko-KR" sz="1400" dirty="0">
              <a:solidFill>
                <a:srgbClr val="C00000"/>
              </a:solidFill>
            </a:endParaRPr>
          </a:p>
          <a:p>
            <a:pPr marL="216000" indent="-216000" latinLnBrk="0">
              <a:lnSpc>
                <a:spcPct val="120000"/>
              </a:lnSpc>
              <a:spcBef>
                <a:spcPts val="600"/>
              </a:spcBef>
            </a:pPr>
            <a:r>
              <a:rPr lang="en-US" altLang="ko-KR" sz="1400" dirty="0"/>
              <a:t>④ IBK</a:t>
            </a:r>
            <a:r>
              <a:rPr lang="ko-KR" altLang="en-US" sz="1400" dirty="0"/>
              <a:t>기업은행에서 예금에 대한 이자수익 ￦</a:t>
            </a:r>
            <a:r>
              <a:rPr lang="en-US" altLang="ko-KR" sz="1400" dirty="0"/>
              <a:t>500,000</a:t>
            </a:r>
            <a:r>
              <a:rPr lang="ko-KR" altLang="en-US" sz="1400" dirty="0"/>
              <a:t>을 당좌예금 계좌에 가산하였으나</a:t>
            </a:r>
            <a:r>
              <a:rPr lang="en-US" altLang="ko-KR" sz="1400" dirty="0"/>
              <a:t>, </a:t>
            </a:r>
            <a:r>
              <a:rPr lang="ko-KR" altLang="en-US" sz="1400" dirty="0"/>
              <a:t>㈜</a:t>
            </a:r>
            <a:r>
              <a:rPr lang="ko-KR" altLang="en-US" sz="1400" dirty="0" err="1"/>
              <a:t>덕송은</a:t>
            </a:r>
            <a:r>
              <a:rPr lang="ko-KR" altLang="en-US" sz="1400" dirty="0"/>
              <a:t> 아직 이를 </a:t>
            </a:r>
            <a:r>
              <a:rPr lang="ko-KR" altLang="en-US" sz="1400" dirty="0" err="1"/>
              <a:t>톨보받지</a:t>
            </a:r>
            <a:r>
              <a:rPr lang="ko-KR" altLang="en-US" sz="1400" dirty="0"/>
              <a:t> 못해 현재까지 회계장부에 반영하지 않았다</a:t>
            </a:r>
            <a:r>
              <a:rPr lang="en-US" altLang="ko-KR" sz="1400" dirty="0"/>
              <a:t>. </a:t>
            </a:r>
            <a:r>
              <a:rPr lang="en-US" altLang="ko-KR" sz="1400" dirty="0">
                <a:solidFill>
                  <a:srgbClr val="C00000"/>
                </a:solidFill>
                <a:latin typeface="맑은 고딕" panose="020B0503020000020004" pitchFamily="50" charset="-127"/>
                <a:sym typeface="Wingdings" pitchFamily="2" charset="2"/>
              </a:rPr>
              <a:t></a:t>
            </a:r>
            <a:r>
              <a:rPr lang="en-US" altLang="ko-KR" sz="1400" b="1" dirty="0">
                <a:solidFill>
                  <a:srgbClr val="C00000"/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sz="1400" b="1" dirty="0">
                <a:solidFill>
                  <a:srgbClr val="C00000"/>
                </a:solidFill>
                <a:latin typeface="맑은 고딕" panose="020B0503020000020004" pitchFamily="50" charset="-127"/>
              </a:rPr>
              <a:t>기업 잔액</a:t>
            </a:r>
            <a:r>
              <a:rPr lang="en-US" altLang="ko-KR" sz="1400" b="1" dirty="0">
                <a:solidFill>
                  <a:srgbClr val="C00000"/>
                </a:solidFill>
                <a:latin typeface="맑은 고딕" panose="020B0503020000020004" pitchFamily="50" charset="-127"/>
              </a:rPr>
              <a:t> +</a:t>
            </a:r>
            <a:endParaRPr lang="en-US" altLang="ko-KR" sz="1400" dirty="0">
              <a:solidFill>
                <a:srgbClr val="C00000"/>
              </a:solidFill>
            </a:endParaRPr>
          </a:p>
          <a:p>
            <a:pPr marL="216000" indent="-216000" latinLnBrk="0">
              <a:lnSpc>
                <a:spcPct val="120000"/>
              </a:lnSpc>
              <a:spcBef>
                <a:spcPts val="600"/>
              </a:spcBef>
            </a:pPr>
            <a:r>
              <a:rPr lang="en-US" altLang="ko-KR" sz="1400" dirty="0"/>
              <a:t>⑤ 12</a:t>
            </a:r>
            <a:r>
              <a:rPr lang="ko-KR" altLang="en-US" sz="1400" dirty="0"/>
              <a:t>월 중 은행수수료는 ￦</a:t>
            </a:r>
            <a:r>
              <a:rPr lang="en-US" altLang="ko-KR" sz="1400" dirty="0"/>
              <a:t>40,000</a:t>
            </a:r>
            <a:r>
              <a:rPr lang="ko-KR" altLang="en-US" sz="1400" dirty="0"/>
              <a:t>인데</a:t>
            </a:r>
            <a:r>
              <a:rPr lang="en-US" altLang="ko-KR" sz="1400" dirty="0"/>
              <a:t>, </a:t>
            </a:r>
            <a:r>
              <a:rPr lang="ko-KR" altLang="en-US" sz="1400" dirty="0"/>
              <a:t>은행은 이 금액을 당좌예금 계좌에서 차감하였으나 ㈜덕성을 이에 대해 통보를 받지 못해 현재까지 회사장부에 반영하지 않음</a:t>
            </a:r>
            <a:r>
              <a:rPr lang="en-US" altLang="ko-KR" sz="1400" dirty="0"/>
              <a:t>.</a:t>
            </a:r>
            <a:r>
              <a:rPr lang="ko-KR" altLang="en-US" sz="1400" dirty="0">
                <a:solidFill>
                  <a:srgbClr val="FF0000"/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1400" dirty="0">
                <a:solidFill>
                  <a:srgbClr val="C00000"/>
                </a:solidFill>
                <a:latin typeface="맑은 고딕" panose="020B0503020000020004" pitchFamily="50" charset="-127"/>
                <a:sym typeface="Wingdings" pitchFamily="2" charset="2"/>
              </a:rPr>
              <a:t></a:t>
            </a:r>
            <a:r>
              <a:rPr lang="en-US" altLang="ko-KR" sz="1400" b="1" dirty="0">
                <a:solidFill>
                  <a:srgbClr val="C00000"/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sz="1400" b="1" dirty="0">
                <a:solidFill>
                  <a:srgbClr val="C00000"/>
                </a:solidFill>
                <a:latin typeface="맑은 고딕" panose="020B0503020000020004" pitchFamily="50" charset="-127"/>
              </a:rPr>
              <a:t>기업 잔액</a:t>
            </a:r>
            <a:r>
              <a:rPr lang="en-US" altLang="ko-KR" sz="1400" b="1" dirty="0">
                <a:solidFill>
                  <a:srgbClr val="C00000"/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1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−</a:t>
            </a:r>
            <a:endParaRPr lang="en-US" altLang="ko-KR" sz="1400" dirty="0">
              <a:solidFill>
                <a:srgbClr val="C00000"/>
              </a:solidFill>
            </a:endParaRPr>
          </a:p>
          <a:p>
            <a:pPr marL="216000" indent="-216000" latinLnBrk="0">
              <a:lnSpc>
                <a:spcPct val="120000"/>
              </a:lnSpc>
              <a:spcBef>
                <a:spcPts val="600"/>
              </a:spcBef>
            </a:pPr>
            <a:r>
              <a:rPr lang="en-US" altLang="ko-KR" sz="1400" dirty="0"/>
              <a:t>⑥ (</a:t>
            </a:r>
            <a:r>
              <a:rPr lang="ko-KR" altLang="en-US" sz="1400" dirty="0"/>
              <a:t>주</a:t>
            </a:r>
            <a:r>
              <a:rPr lang="en-US" altLang="ko-KR" sz="1400" dirty="0"/>
              <a:t>)</a:t>
            </a:r>
            <a:r>
              <a:rPr lang="ko-KR" altLang="en-US" sz="1400" dirty="0" err="1"/>
              <a:t>덕송이</a:t>
            </a:r>
            <a:r>
              <a:rPr lang="ko-KR" altLang="en-US" sz="1400" dirty="0"/>
              <a:t> 입금한 수표 중 부도처리가 되어 돌아온 것은 ￦</a:t>
            </a:r>
            <a:r>
              <a:rPr lang="en-US" altLang="ko-KR" sz="1400" dirty="0"/>
              <a:t>2,000,000</a:t>
            </a:r>
            <a:r>
              <a:rPr lang="ko-KR" altLang="en-US" sz="1400" dirty="0"/>
              <a:t>이며</a:t>
            </a:r>
            <a:r>
              <a:rPr lang="en-US" altLang="ko-KR" sz="1400" dirty="0"/>
              <a:t>,</a:t>
            </a:r>
            <a:r>
              <a:rPr lang="ko-KR" altLang="en-US" sz="1400" dirty="0"/>
              <a:t> </a:t>
            </a:r>
            <a:r>
              <a:rPr lang="en-US" altLang="ko-KR" sz="1400" dirty="0"/>
              <a:t>(</a:t>
            </a:r>
            <a:r>
              <a:rPr lang="ko-KR" altLang="en-US" sz="1400" dirty="0"/>
              <a:t>주</a:t>
            </a:r>
            <a:r>
              <a:rPr lang="en-US" altLang="ko-KR" sz="1400" dirty="0"/>
              <a:t>)</a:t>
            </a:r>
            <a:r>
              <a:rPr lang="ko-KR" altLang="en-US" sz="1400" dirty="0" err="1"/>
              <a:t>덕송은</a:t>
            </a:r>
            <a:r>
              <a:rPr lang="ko-KR" altLang="en-US" sz="1400" dirty="0"/>
              <a:t> 이에 대해 통보를 아직 받지 못했다</a:t>
            </a:r>
            <a:r>
              <a:rPr lang="en-US" altLang="ko-KR" sz="1400" dirty="0"/>
              <a:t>. </a:t>
            </a:r>
            <a:r>
              <a:rPr lang="en-US" altLang="ko-KR" sz="1400" dirty="0">
                <a:solidFill>
                  <a:srgbClr val="C00000"/>
                </a:solidFill>
                <a:latin typeface="맑은 고딕" panose="020B0503020000020004" pitchFamily="50" charset="-127"/>
                <a:sym typeface="Wingdings" pitchFamily="2" charset="2"/>
              </a:rPr>
              <a:t></a:t>
            </a:r>
            <a:r>
              <a:rPr lang="en-US" altLang="ko-KR" sz="1400" b="1" dirty="0">
                <a:solidFill>
                  <a:srgbClr val="C00000"/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sz="1400" b="1" dirty="0">
                <a:solidFill>
                  <a:srgbClr val="C00000"/>
                </a:solidFill>
                <a:latin typeface="맑은 고딕" panose="020B0503020000020004" pitchFamily="50" charset="-127"/>
              </a:rPr>
              <a:t>기업 잔액</a:t>
            </a:r>
            <a:r>
              <a:rPr lang="en-US" altLang="ko-KR" sz="1400" b="1" dirty="0">
                <a:solidFill>
                  <a:srgbClr val="C00000"/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1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−</a:t>
            </a:r>
            <a:endParaRPr lang="en-US" altLang="ko-KR" sz="1400" dirty="0">
              <a:solidFill>
                <a:srgbClr val="C00000"/>
              </a:solidFill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35</a:t>
            </a:fld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8C53D871-4D41-012F-98C4-31E77E63EF43}"/>
              </a:ext>
            </a:extLst>
          </p:cNvPr>
          <p:cNvSpPr txBox="1"/>
          <p:nvPr/>
        </p:nvSpPr>
        <p:spPr>
          <a:xfrm>
            <a:off x="892114" y="289123"/>
            <a:ext cx="80232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/>
              <a:t>은행계정조정표</a:t>
            </a:r>
          </a:p>
        </p:txBody>
      </p:sp>
    </p:spTree>
    <p:extLst>
      <p:ext uri="{BB962C8B-B14F-4D97-AF65-F5344CB8AC3E}">
        <p14:creationId xmlns:p14="http://schemas.microsoft.com/office/powerpoint/2010/main" val="13922213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그룹 33"/>
          <p:cNvGrpSpPr/>
          <p:nvPr/>
        </p:nvGrpSpPr>
        <p:grpSpPr>
          <a:xfrm>
            <a:off x="216270" y="1390073"/>
            <a:ext cx="8711460" cy="5050377"/>
            <a:chOff x="190714" y="1320886"/>
            <a:chExt cx="8711460" cy="5050377"/>
          </a:xfrm>
        </p:grpSpPr>
        <p:grpSp>
          <p:nvGrpSpPr>
            <p:cNvPr id="35" name="그룹 34"/>
            <p:cNvGrpSpPr/>
            <p:nvPr/>
          </p:nvGrpSpPr>
          <p:grpSpPr>
            <a:xfrm>
              <a:off x="361935" y="1461499"/>
              <a:ext cx="8540239" cy="4909764"/>
              <a:chOff x="269048" y="1722741"/>
              <a:chExt cx="8648775" cy="4909764"/>
            </a:xfrm>
          </p:grpSpPr>
          <p:sp>
            <p:nvSpPr>
              <p:cNvPr id="44" name="Rectangle 15"/>
              <p:cNvSpPr>
                <a:spLocks noChangeArrowheads="1"/>
              </p:cNvSpPr>
              <p:nvPr/>
            </p:nvSpPr>
            <p:spPr bwMode="auto">
              <a:xfrm>
                <a:off x="269048" y="1746441"/>
                <a:ext cx="8641369" cy="4886064"/>
              </a:xfrm>
              <a:prstGeom prst="foldedCorner">
                <a:avLst>
                  <a:gd name="adj" fmla="val 5125"/>
                </a:avLst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txBody>
              <a:bodyPr lIns="74608" tIns="37301" rIns="74608" bIns="37301" anchor="ctr"/>
              <a:lstStyle>
                <a:lvl1pPr algn="l" defTabSz="995363">
                  <a:spcBef>
                    <a:spcPct val="20000"/>
                  </a:spcBef>
                  <a:buClr>
                    <a:schemeClr val="tx2"/>
                  </a:buClr>
                  <a:buSzPct val="115000"/>
                  <a:buFont typeface="Wingdings" panose="05000000000000000000" pitchFamily="2" charset="2"/>
                  <a:buChar char="§"/>
                  <a:defRPr sz="28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 algn="l" defTabSz="995363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 algn="l" defTabSz="995363">
                  <a:spcBef>
                    <a:spcPct val="20000"/>
                  </a:spcBef>
                  <a:buChar char="•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 algn="l" defTabSz="995363">
                  <a:spcBef>
                    <a:spcPct val="20000"/>
                  </a:spcBef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 algn="l" defTabSz="995363">
                  <a:spcBef>
                    <a:spcPct val="20000"/>
                  </a:spcBef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ko-KR" altLang="en-US" sz="1400" dirty="0"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45" name="직사각형 44"/>
              <p:cNvSpPr/>
              <p:nvPr/>
            </p:nvSpPr>
            <p:spPr>
              <a:xfrm>
                <a:off x="277823" y="1722741"/>
                <a:ext cx="8640000" cy="45719"/>
              </a:xfrm>
              <a:prstGeom prst="rect">
                <a:avLst/>
              </a:prstGeom>
              <a:solidFill>
                <a:srgbClr val="2D61C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37" name="그룹 36"/>
            <p:cNvGrpSpPr/>
            <p:nvPr/>
          </p:nvGrpSpPr>
          <p:grpSpPr>
            <a:xfrm>
              <a:off x="190714" y="1320886"/>
              <a:ext cx="2946134" cy="326952"/>
              <a:chOff x="190714" y="1320889"/>
              <a:chExt cx="2520193" cy="290354"/>
            </a:xfrm>
            <a:solidFill>
              <a:srgbClr val="2D61C8"/>
            </a:solidFill>
          </p:grpSpPr>
          <p:grpSp>
            <p:nvGrpSpPr>
              <p:cNvPr id="38" name="그룹 37"/>
              <p:cNvGrpSpPr/>
              <p:nvPr/>
            </p:nvGrpSpPr>
            <p:grpSpPr>
              <a:xfrm>
                <a:off x="190714" y="1320889"/>
                <a:ext cx="2520193" cy="290354"/>
                <a:chOff x="405822" y="2237753"/>
                <a:chExt cx="2520193" cy="290354"/>
              </a:xfrm>
              <a:grpFill/>
            </p:grpSpPr>
            <p:sp>
              <p:nvSpPr>
                <p:cNvPr id="40" name="타원 39"/>
                <p:cNvSpPr/>
                <p:nvPr/>
              </p:nvSpPr>
              <p:spPr>
                <a:xfrm>
                  <a:off x="405822" y="2237753"/>
                  <a:ext cx="290351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1" name="타원 40"/>
                <p:cNvSpPr/>
                <p:nvPr/>
              </p:nvSpPr>
              <p:spPr>
                <a:xfrm>
                  <a:off x="2635664" y="2237753"/>
                  <a:ext cx="290351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2" name="직사각형 41"/>
                <p:cNvSpPr/>
                <p:nvPr/>
              </p:nvSpPr>
              <p:spPr>
                <a:xfrm>
                  <a:off x="542512" y="2237755"/>
                  <a:ext cx="2259566" cy="290352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1600" b="1" dirty="0"/>
                    <a:t>예제 </a:t>
                  </a:r>
                  <a:r>
                    <a:rPr lang="en-US" altLang="ko-KR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5-12</a:t>
                  </a:r>
                  <a:r>
                    <a:rPr lang="en-US" altLang="ko-KR" sz="1600" b="1" dirty="0"/>
                    <a:t> </a:t>
                  </a:r>
                  <a:r>
                    <a:rPr lang="ko-KR" altLang="en-US" sz="1600" b="1" dirty="0"/>
                    <a:t>은행계정조정표</a:t>
                  </a:r>
                </a:p>
              </p:txBody>
            </p:sp>
            <p:sp>
              <p:nvSpPr>
                <p:cNvPr id="43" name="타원 42"/>
                <p:cNvSpPr/>
                <p:nvPr/>
              </p:nvSpPr>
              <p:spPr>
                <a:xfrm>
                  <a:off x="427833" y="2256153"/>
                  <a:ext cx="253549" cy="25354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pic>
            <p:nvPicPr>
              <p:cNvPr id="39" name="그림 38" descr="Log in | Sign Up Upload Clipart"/>
              <p:cNvPicPr>
                <a:picLocks noChangeAspect="1"/>
              </p:cNvPicPr>
              <p:nvPr/>
            </p:nvPicPr>
            <p:blipFill>
              <a:blip r:embed="rId3" cstate="email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265229" y="1359640"/>
                <a:ext cx="147147" cy="229618"/>
              </a:xfrm>
              <a:prstGeom prst="rect">
                <a:avLst/>
              </a:prstGeom>
            </p:spPr>
          </p:pic>
        </p:grpSp>
      </p:grpSp>
      <p:graphicFrame>
        <p:nvGraphicFramePr>
          <p:cNvPr id="7" name="표 6"/>
          <p:cNvGraphicFramePr>
            <a:graphicFrameLocks noGrp="1"/>
          </p:cNvGraphicFramePr>
          <p:nvPr/>
        </p:nvGraphicFramePr>
        <p:xfrm>
          <a:off x="470459" y="2034264"/>
          <a:ext cx="8366989" cy="3031407"/>
        </p:xfrm>
        <a:graphic>
          <a:graphicData uri="http://schemas.openxmlformats.org/drawingml/2006/table">
            <a:tbl>
              <a:tblPr/>
              <a:tblGrid>
                <a:gridCol w="2296389">
                  <a:extLst>
                    <a:ext uri="{9D8B030D-6E8A-4147-A177-3AD203B41FA5}">
                      <a16:colId xmlns="" xmlns:a16="http://schemas.microsoft.com/office/drawing/2014/main" val="3742162278"/>
                    </a:ext>
                  </a:extLst>
                </a:gridCol>
                <a:gridCol w="1041400">
                  <a:extLst>
                    <a:ext uri="{9D8B030D-6E8A-4147-A177-3AD203B41FA5}">
                      <a16:colId xmlns="" xmlns:a16="http://schemas.microsoft.com/office/drawing/2014/main" val="3952793410"/>
                    </a:ext>
                  </a:extLst>
                </a:gridCol>
                <a:gridCol w="1143000">
                  <a:extLst>
                    <a:ext uri="{9D8B030D-6E8A-4147-A177-3AD203B41FA5}">
                      <a16:colId xmlns="" xmlns:a16="http://schemas.microsoft.com/office/drawing/2014/main" val="2906694081"/>
                    </a:ext>
                  </a:extLst>
                </a:gridCol>
                <a:gridCol w="1651000">
                  <a:extLst>
                    <a:ext uri="{9D8B030D-6E8A-4147-A177-3AD203B41FA5}">
                      <a16:colId xmlns="" xmlns:a16="http://schemas.microsoft.com/office/drawing/2014/main" val="192049618"/>
                    </a:ext>
                  </a:extLst>
                </a:gridCol>
                <a:gridCol w="965200">
                  <a:extLst>
                    <a:ext uri="{9D8B030D-6E8A-4147-A177-3AD203B41FA5}">
                      <a16:colId xmlns="" xmlns:a16="http://schemas.microsoft.com/office/drawing/2014/main" val="355748734"/>
                    </a:ext>
                  </a:extLst>
                </a:gridCol>
                <a:gridCol w="1270000">
                  <a:extLst>
                    <a:ext uri="{9D8B030D-6E8A-4147-A177-3AD203B41FA5}">
                      <a16:colId xmlns="" xmlns:a16="http://schemas.microsoft.com/office/drawing/2014/main" val="2459768632"/>
                    </a:ext>
                  </a:extLst>
                </a:gridCol>
              </a:tblGrid>
              <a:tr h="224553">
                <a:tc gridSpan="6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은행계정조정표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231594946"/>
                  </a:ext>
                </a:extLst>
              </a:tr>
              <a:tr h="224553">
                <a:tc gridSpan="6">
                  <a:txBody>
                    <a:bodyPr/>
                    <a:lstStyle/>
                    <a:p>
                      <a:pPr algn="just" rtl="0" fontAlgn="ctr"/>
                      <a:r>
                        <a:rPr lang="en-US" altLang="ko-K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</a:t>
                      </a:r>
                      <a:r>
                        <a:rPr lang="en-US" altLang="ko-K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r>
                        <a:rPr lang="ko-KR" altLang="en-US" sz="14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덕송</a:t>
                      </a:r>
                      <a:r>
                        <a:rPr lang="ko-KR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                   </a:t>
                      </a:r>
                      <a:r>
                        <a:rPr lang="ko-KR" altLang="en-US" sz="14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             </a:t>
                      </a:r>
                      <a:r>
                        <a:rPr lang="en-US" altLang="ko-K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20×1</a:t>
                      </a:r>
                      <a:r>
                        <a:rPr lang="ko-KR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 </a:t>
                      </a:r>
                      <a:r>
                        <a:rPr lang="en-US" altLang="ko-K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</a:t>
                      </a:r>
                      <a:r>
                        <a:rPr lang="ko-KR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 </a:t>
                      </a:r>
                      <a:r>
                        <a:rPr lang="en-US" altLang="ko-K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31</a:t>
                      </a:r>
                      <a:r>
                        <a:rPr lang="ko-KR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 현재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836588649"/>
                  </a:ext>
                </a:extLst>
              </a:tr>
              <a:tr h="422591">
                <a:tc>
                  <a:txBody>
                    <a:bodyPr/>
                    <a:lstStyle/>
                    <a:p>
                      <a:pPr algn="just" rtl="0" fontAlgn="ctr"/>
                      <a:r>
                        <a:rPr lang="ko-KR" altLang="en-US" sz="14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조정전</a:t>
                      </a:r>
                      <a:r>
                        <a:rPr lang="ko-KR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은행 잔액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₩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58,920,000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 rtl="0" fontAlgn="ctr"/>
                      <a:r>
                        <a:rPr lang="ko-KR" altLang="en-US" sz="14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조정전</a:t>
                      </a:r>
                      <a:r>
                        <a:rPr lang="ko-KR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기업 잔액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₩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57,840,000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61277338"/>
                  </a:ext>
                </a:extLst>
              </a:tr>
              <a:tr h="286033">
                <a:tc>
                  <a:txBody>
                    <a:bodyPr/>
                    <a:lstStyle/>
                    <a:p>
                      <a:pPr algn="just" rtl="0" fontAlgn="ctr"/>
                      <a:r>
                        <a:rPr lang="ko-KR" altLang="en-US" sz="14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가산조정</a:t>
                      </a:r>
                      <a:endParaRPr lang="ko-KR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9,380,000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 rtl="0" fontAlgn="ctr"/>
                      <a:r>
                        <a:rPr lang="ko-KR" altLang="en-US" sz="14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가산조정</a:t>
                      </a:r>
                      <a:endParaRPr lang="ko-KR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500,000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2744041166"/>
                  </a:ext>
                </a:extLst>
              </a:tr>
              <a:tr h="439510">
                <a:tc>
                  <a:txBody>
                    <a:bodyPr/>
                    <a:lstStyle/>
                    <a:p>
                      <a:pPr lvl="1" algn="l" rtl="0" fontAlgn="ctr"/>
                      <a:r>
                        <a:rPr lang="ko-KR" alt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미기록예금</a:t>
                      </a:r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5750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₩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8,480,000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lvl="1" algn="l" rtl="0" fontAlgn="ctr"/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예금이자</a:t>
                      </a:r>
                    </a:p>
                  </a:txBody>
                  <a:tcPr marL="28575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₩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500,000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648984033"/>
                  </a:ext>
                </a:extLst>
              </a:tr>
              <a:tr h="286033">
                <a:tc>
                  <a:txBody>
                    <a:bodyPr/>
                    <a:lstStyle/>
                    <a:p>
                      <a:pPr lvl="1" algn="l" rtl="0" fontAlgn="ctr"/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은행측 오류</a:t>
                      </a:r>
                    </a:p>
                  </a:txBody>
                  <a:tcPr marL="285750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900,000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4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차감조정</a:t>
                      </a:r>
                      <a:endParaRPr lang="ko-KR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-2,040,000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56943749"/>
                  </a:ext>
                </a:extLst>
              </a:tr>
              <a:tr h="286033">
                <a:tc>
                  <a:txBody>
                    <a:bodyPr/>
                    <a:lstStyle/>
                    <a:p>
                      <a:pPr algn="just" rtl="0" fontAlgn="ctr"/>
                      <a:r>
                        <a:rPr lang="ko-KR" altLang="en-US" sz="14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차감조정</a:t>
                      </a:r>
                      <a:endParaRPr lang="ko-KR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-12,000,000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lvl="1" algn="l" rtl="0" fontAlgn="ctr"/>
                      <a:r>
                        <a:rPr lang="ko-KR" alt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은행수수료</a:t>
                      </a:r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575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₩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40,000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779326612"/>
                  </a:ext>
                </a:extLst>
              </a:tr>
              <a:tr h="439510">
                <a:tc>
                  <a:txBody>
                    <a:bodyPr/>
                    <a:lstStyle/>
                    <a:p>
                      <a:pPr lvl="1" algn="l" rtl="0" fontAlgn="ctr"/>
                      <a:r>
                        <a:rPr lang="ko-KR" alt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기발행미인출수표</a:t>
                      </a:r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5750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₩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12,000,000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1" algn="l" rtl="0" fontAlgn="ctr"/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부도수표</a:t>
                      </a:r>
                    </a:p>
                  </a:txBody>
                  <a:tcPr marL="28575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2,000,000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846296318"/>
                  </a:ext>
                </a:extLst>
              </a:tr>
              <a:tr h="422591">
                <a:tc>
                  <a:txBody>
                    <a:bodyPr/>
                    <a:lstStyle/>
                    <a:p>
                      <a:pPr algn="just" rtl="0" fontAlgn="ctr"/>
                      <a:r>
                        <a:rPr lang="ko-KR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조정후 은행 잔액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₩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56,300,000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rtl="0" fontAlgn="ctr"/>
                      <a:r>
                        <a:rPr lang="ko-KR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조정후 기업 잔액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₩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56,300,000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759082430"/>
                  </a:ext>
                </a:extLst>
              </a:tr>
            </a:tbl>
          </a:graphicData>
        </a:graphic>
      </p:graphicFrame>
      <p:sp>
        <p:nvSpPr>
          <p:cNvPr id="5" name="타원 4"/>
          <p:cNvSpPr/>
          <p:nvPr/>
        </p:nvSpPr>
        <p:spPr>
          <a:xfrm>
            <a:off x="881382" y="3325057"/>
            <a:ext cx="247650" cy="247650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ko-KR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타원 17"/>
          <p:cNvSpPr/>
          <p:nvPr/>
        </p:nvSpPr>
        <p:spPr>
          <a:xfrm>
            <a:off x="881382" y="3615415"/>
            <a:ext cx="247650" cy="247650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ko-KR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타원 18"/>
          <p:cNvSpPr/>
          <p:nvPr/>
        </p:nvSpPr>
        <p:spPr>
          <a:xfrm>
            <a:off x="881382" y="4317576"/>
            <a:ext cx="247650" cy="247650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ko-KR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타원 19"/>
          <p:cNvSpPr/>
          <p:nvPr/>
        </p:nvSpPr>
        <p:spPr>
          <a:xfrm>
            <a:off x="5377180" y="3302318"/>
            <a:ext cx="247650" cy="247650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lang="ko-KR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타원 22"/>
          <p:cNvSpPr/>
          <p:nvPr/>
        </p:nvSpPr>
        <p:spPr>
          <a:xfrm>
            <a:off x="5377180" y="3989493"/>
            <a:ext cx="247650" cy="247650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endParaRPr lang="ko-KR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타원 23"/>
          <p:cNvSpPr/>
          <p:nvPr/>
        </p:nvSpPr>
        <p:spPr>
          <a:xfrm>
            <a:off x="5377180" y="4300211"/>
            <a:ext cx="247650" cy="247650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ko-KR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434111" y="5953178"/>
            <a:ext cx="848630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altLang="ko-KR" sz="1400" dirty="0"/>
              <a:t>(</a:t>
            </a:r>
            <a:r>
              <a:rPr lang="ko-KR" altLang="en-US" sz="1400" dirty="0"/>
              <a:t>주</a:t>
            </a:r>
            <a:r>
              <a:rPr lang="en-US" altLang="ko-KR" sz="1400" dirty="0"/>
              <a:t>)</a:t>
            </a:r>
            <a:r>
              <a:rPr lang="ko-KR" altLang="en-US" sz="1400" dirty="0" err="1"/>
              <a:t>덕송에서는</a:t>
            </a:r>
            <a:r>
              <a:rPr lang="ko-KR" altLang="en-US" sz="1400" dirty="0"/>
              <a:t> 기업 잔액에서 조정하는 위 </a:t>
            </a:r>
            <a:r>
              <a:rPr lang="en-US" altLang="ko-KR" sz="1400" dirty="0"/>
              <a:t>3</a:t>
            </a:r>
            <a:r>
              <a:rPr lang="ko-KR" altLang="en-US" sz="1400" dirty="0"/>
              <a:t>건</a:t>
            </a:r>
            <a:r>
              <a:rPr lang="en-US" altLang="ko-KR" sz="1400" dirty="0"/>
              <a:t>(④ , ⑤, ⑥ )</a:t>
            </a:r>
            <a:r>
              <a:rPr lang="ko-KR" altLang="en-US" sz="1400" dirty="0"/>
              <a:t>에 대해서 다음과 같이 </a:t>
            </a:r>
            <a:r>
              <a:rPr lang="ko-KR" altLang="en-US" sz="1400" b="1" dirty="0"/>
              <a:t>결산정리분개</a:t>
            </a:r>
            <a:r>
              <a:rPr lang="ko-KR" altLang="en-US" sz="1400" dirty="0"/>
              <a:t>가 필요</a:t>
            </a:r>
          </a:p>
        </p:txBody>
      </p:sp>
      <p:sp>
        <p:nvSpPr>
          <p:cNvPr id="46" name="Rectangle 12"/>
          <p:cNvSpPr>
            <a:spLocks noChangeArrowheads="1"/>
          </p:cNvSpPr>
          <p:nvPr/>
        </p:nvSpPr>
        <p:spPr bwMode="auto">
          <a:xfrm>
            <a:off x="423461" y="5273560"/>
            <a:ext cx="8258418" cy="792163"/>
          </a:xfrm>
          <a:prstGeom prst="rect">
            <a:avLst/>
          </a:prstGeom>
          <a:noFill/>
          <a:ln>
            <a:noFill/>
          </a:ln>
        </p:spPr>
        <p:txBody>
          <a:bodyPr lIns="99477" tIns="49735" rIns="99477" bIns="49735"/>
          <a:lstStyle>
            <a:lvl1pPr algn="l" defTabSz="995363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 defTabSz="995363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 defTabSz="995363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 defTabSz="995363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 defTabSz="995363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marL="285750" marR="0" lvl="0" indent="-285750" algn="l" defTabSz="995363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ko-KR" altLang="en-US" sz="1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미기록예금과 은행측 오류</a:t>
            </a:r>
            <a:r>
              <a:rPr kumimoji="0" lang="en-US" altLang="ko-KR" sz="1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, </a:t>
            </a:r>
            <a:r>
              <a:rPr kumimoji="0" lang="ko-KR" altLang="en-US" sz="140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기발행미인출수표에</a:t>
            </a:r>
            <a:r>
              <a:rPr kumimoji="0" lang="ko-KR" altLang="en-US" sz="1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 대해서는 은행 잔액에서 조정하고</a:t>
            </a:r>
            <a:r>
              <a:rPr kumimoji="0" lang="en-US" altLang="ko-KR" sz="1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, </a:t>
            </a:r>
            <a:r>
              <a:rPr kumimoji="0" lang="ko-KR" altLang="en-US" sz="1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예금 이자와 </a:t>
            </a:r>
            <a:r>
              <a:rPr kumimoji="0" lang="ko-KR" altLang="en-US" sz="140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은행수수료</a:t>
            </a:r>
            <a:r>
              <a:rPr kumimoji="0" lang="en-US" altLang="ko-KR" sz="1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, </a:t>
            </a:r>
            <a:r>
              <a:rPr kumimoji="0" lang="ko-KR" altLang="en-US" sz="1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부도수표에 대해서는 기업 잔액에서 </a:t>
            </a:r>
            <a:r>
              <a:rPr kumimoji="0" lang="ko-KR" altLang="en-US" sz="140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조정함</a:t>
            </a:r>
            <a:r>
              <a:rPr kumimoji="0" lang="en-US" altLang="ko-KR" sz="140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 </a:t>
            </a:r>
            <a:endParaRPr kumimoji="0" lang="en-US" altLang="ko-KR" sz="14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</a:endParaRPr>
          </a:p>
          <a:p>
            <a:pPr marL="285750" marR="0" lvl="0" indent="-285750" algn="l" defTabSz="995363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ko-KR" altLang="en-US" sz="1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조정결과 은행과 기업의 잔액이 ￦</a:t>
            </a:r>
            <a:r>
              <a:rPr kumimoji="0" lang="en-US" altLang="ko-KR" sz="1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56,300,000</a:t>
            </a:r>
            <a:r>
              <a:rPr kumimoji="0" lang="ko-KR" altLang="en-US" sz="1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으로 </a:t>
            </a:r>
            <a:r>
              <a:rPr kumimoji="0" lang="ko-KR" altLang="en-US" sz="140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일치</a:t>
            </a:r>
            <a:endParaRPr kumimoji="0" lang="en-US" altLang="ko-KR" sz="14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36</a:t>
            </a:fld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270AD25E-67AE-FBDB-C6C6-8C2530FC2808}"/>
              </a:ext>
            </a:extLst>
          </p:cNvPr>
          <p:cNvSpPr txBox="1"/>
          <p:nvPr/>
        </p:nvSpPr>
        <p:spPr>
          <a:xfrm>
            <a:off x="892114" y="289123"/>
            <a:ext cx="80232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/>
              <a:t>은행계정조정표</a:t>
            </a:r>
          </a:p>
        </p:txBody>
      </p:sp>
    </p:spTree>
    <p:extLst>
      <p:ext uri="{BB962C8B-B14F-4D97-AF65-F5344CB8AC3E}">
        <p14:creationId xmlns:p14="http://schemas.microsoft.com/office/powerpoint/2010/main" val="34282592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그룹 33"/>
          <p:cNvGrpSpPr/>
          <p:nvPr/>
        </p:nvGrpSpPr>
        <p:grpSpPr>
          <a:xfrm>
            <a:off x="216270" y="1390073"/>
            <a:ext cx="8711460" cy="5050377"/>
            <a:chOff x="190714" y="1320886"/>
            <a:chExt cx="8711460" cy="5050377"/>
          </a:xfrm>
        </p:grpSpPr>
        <p:grpSp>
          <p:nvGrpSpPr>
            <p:cNvPr id="35" name="그룹 34"/>
            <p:cNvGrpSpPr/>
            <p:nvPr/>
          </p:nvGrpSpPr>
          <p:grpSpPr>
            <a:xfrm>
              <a:off x="361935" y="1461499"/>
              <a:ext cx="8540239" cy="4909764"/>
              <a:chOff x="269048" y="1722741"/>
              <a:chExt cx="8648775" cy="4909764"/>
            </a:xfrm>
          </p:grpSpPr>
          <p:sp>
            <p:nvSpPr>
              <p:cNvPr id="44" name="Rectangle 15"/>
              <p:cNvSpPr>
                <a:spLocks noChangeArrowheads="1"/>
              </p:cNvSpPr>
              <p:nvPr/>
            </p:nvSpPr>
            <p:spPr bwMode="auto">
              <a:xfrm>
                <a:off x="269048" y="1746441"/>
                <a:ext cx="8641369" cy="4886064"/>
              </a:xfrm>
              <a:prstGeom prst="foldedCorner">
                <a:avLst>
                  <a:gd name="adj" fmla="val 5125"/>
                </a:avLst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txBody>
              <a:bodyPr lIns="74608" tIns="37301" rIns="74608" bIns="37301" anchor="ctr"/>
              <a:lstStyle>
                <a:lvl1pPr algn="l" defTabSz="995363">
                  <a:spcBef>
                    <a:spcPct val="20000"/>
                  </a:spcBef>
                  <a:buClr>
                    <a:schemeClr val="tx2"/>
                  </a:buClr>
                  <a:buSzPct val="115000"/>
                  <a:buFont typeface="Wingdings" panose="05000000000000000000" pitchFamily="2" charset="2"/>
                  <a:buChar char="§"/>
                  <a:defRPr sz="28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 algn="l" defTabSz="995363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 algn="l" defTabSz="995363">
                  <a:spcBef>
                    <a:spcPct val="20000"/>
                  </a:spcBef>
                  <a:buChar char="•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 algn="l" defTabSz="995363">
                  <a:spcBef>
                    <a:spcPct val="20000"/>
                  </a:spcBef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 algn="l" defTabSz="995363">
                  <a:spcBef>
                    <a:spcPct val="20000"/>
                  </a:spcBef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ko-KR" altLang="en-US" sz="1400" dirty="0"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45" name="직사각형 44"/>
              <p:cNvSpPr/>
              <p:nvPr/>
            </p:nvSpPr>
            <p:spPr>
              <a:xfrm>
                <a:off x="277823" y="1722741"/>
                <a:ext cx="8640000" cy="45719"/>
              </a:xfrm>
              <a:prstGeom prst="rect">
                <a:avLst/>
              </a:prstGeom>
              <a:solidFill>
                <a:srgbClr val="2D61C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37" name="그룹 36"/>
            <p:cNvGrpSpPr/>
            <p:nvPr/>
          </p:nvGrpSpPr>
          <p:grpSpPr>
            <a:xfrm>
              <a:off x="190714" y="1320886"/>
              <a:ext cx="2946134" cy="326952"/>
              <a:chOff x="190714" y="1320889"/>
              <a:chExt cx="2520193" cy="290354"/>
            </a:xfrm>
            <a:solidFill>
              <a:srgbClr val="2D61C8"/>
            </a:solidFill>
          </p:grpSpPr>
          <p:grpSp>
            <p:nvGrpSpPr>
              <p:cNvPr id="38" name="그룹 37"/>
              <p:cNvGrpSpPr/>
              <p:nvPr/>
            </p:nvGrpSpPr>
            <p:grpSpPr>
              <a:xfrm>
                <a:off x="190714" y="1320889"/>
                <a:ext cx="2520193" cy="290354"/>
                <a:chOff x="405822" y="2237753"/>
                <a:chExt cx="2520193" cy="290354"/>
              </a:xfrm>
              <a:grpFill/>
            </p:grpSpPr>
            <p:sp>
              <p:nvSpPr>
                <p:cNvPr id="40" name="타원 39"/>
                <p:cNvSpPr/>
                <p:nvPr/>
              </p:nvSpPr>
              <p:spPr>
                <a:xfrm>
                  <a:off x="405822" y="2237753"/>
                  <a:ext cx="290351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1" name="타원 40"/>
                <p:cNvSpPr/>
                <p:nvPr/>
              </p:nvSpPr>
              <p:spPr>
                <a:xfrm>
                  <a:off x="2635664" y="2237753"/>
                  <a:ext cx="290351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2" name="직사각형 41"/>
                <p:cNvSpPr/>
                <p:nvPr/>
              </p:nvSpPr>
              <p:spPr>
                <a:xfrm>
                  <a:off x="542512" y="2237755"/>
                  <a:ext cx="2259566" cy="290352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1600" b="1" dirty="0"/>
                    <a:t>예제 </a:t>
                  </a:r>
                  <a:r>
                    <a:rPr lang="en-US" altLang="ko-KR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5-12</a:t>
                  </a:r>
                  <a:r>
                    <a:rPr lang="en-US" altLang="ko-KR" sz="1600" b="1" dirty="0"/>
                    <a:t> </a:t>
                  </a:r>
                  <a:r>
                    <a:rPr lang="ko-KR" altLang="en-US" sz="1600" b="1" dirty="0"/>
                    <a:t>은행계정조정표</a:t>
                  </a:r>
                </a:p>
              </p:txBody>
            </p:sp>
            <p:sp>
              <p:nvSpPr>
                <p:cNvPr id="43" name="타원 42"/>
                <p:cNvSpPr/>
                <p:nvPr/>
              </p:nvSpPr>
              <p:spPr>
                <a:xfrm>
                  <a:off x="427833" y="2256153"/>
                  <a:ext cx="253549" cy="25354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pic>
            <p:nvPicPr>
              <p:cNvPr id="39" name="그림 38" descr="Log in | Sign Up Upload Clipart"/>
              <p:cNvPicPr>
                <a:picLocks noChangeAspect="1"/>
              </p:cNvPicPr>
              <p:nvPr/>
            </p:nvPicPr>
            <p:blipFill>
              <a:blip r:embed="rId3" cstate="email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265229" y="1359640"/>
                <a:ext cx="147147" cy="229618"/>
              </a:xfrm>
              <a:prstGeom prst="rect">
                <a:avLst/>
              </a:prstGeom>
            </p:spPr>
          </p:pic>
        </p:grpSp>
      </p:grpSp>
      <p:sp>
        <p:nvSpPr>
          <p:cNvPr id="20" name="타원 19"/>
          <p:cNvSpPr/>
          <p:nvPr/>
        </p:nvSpPr>
        <p:spPr>
          <a:xfrm>
            <a:off x="778043" y="2305379"/>
            <a:ext cx="247650" cy="247650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lang="ko-KR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타원 22"/>
          <p:cNvSpPr/>
          <p:nvPr/>
        </p:nvSpPr>
        <p:spPr>
          <a:xfrm>
            <a:off x="778043" y="3440636"/>
            <a:ext cx="247650" cy="247650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endParaRPr lang="ko-KR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타원 23"/>
          <p:cNvSpPr/>
          <p:nvPr/>
        </p:nvSpPr>
        <p:spPr>
          <a:xfrm>
            <a:off x="778043" y="4519039"/>
            <a:ext cx="247650" cy="247650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ko-KR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Rectangle 12"/>
          <p:cNvSpPr>
            <a:spLocks noChangeArrowheads="1"/>
          </p:cNvSpPr>
          <p:nvPr/>
        </p:nvSpPr>
        <p:spPr bwMode="auto">
          <a:xfrm>
            <a:off x="919436" y="2270412"/>
            <a:ext cx="1554709" cy="294452"/>
          </a:xfrm>
          <a:prstGeom prst="rect">
            <a:avLst/>
          </a:prstGeom>
          <a:noFill/>
          <a:ln>
            <a:noFill/>
          </a:ln>
        </p:spPr>
        <p:txBody>
          <a:bodyPr lIns="99477" tIns="49735" rIns="99477" bIns="49735"/>
          <a:lstStyle>
            <a:lvl1pPr algn="l" defTabSz="995363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 defTabSz="995363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 defTabSz="995363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 defTabSz="995363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 defTabSz="995363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95363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 </a:t>
            </a:r>
            <a:r>
              <a:rPr kumimoji="0" lang="ko-KR" altLang="en-US" sz="1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예금이자</a:t>
            </a:r>
            <a:endParaRPr kumimoji="0" lang="en-US" altLang="ko-KR" sz="14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</a:endParaRPr>
          </a:p>
        </p:txBody>
      </p:sp>
      <p:sp>
        <p:nvSpPr>
          <p:cNvPr id="51" name="Rectangle 12"/>
          <p:cNvSpPr>
            <a:spLocks noChangeArrowheads="1"/>
          </p:cNvSpPr>
          <p:nvPr/>
        </p:nvSpPr>
        <p:spPr bwMode="auto">
          <a:xfrm>
            <a:off x="1096743" y="2688471"/>
            <a:ext cx="7200000" cy="4320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txBody>
          <a:bodyPr lIns="99477" tIns="49735" rIns="99477" bIns="49735" anchor="ctr"/>
          <a:lstStyle>
            <a:lvl1pPr algn="l" defTabSz="995363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 defTabSz="995363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 defTabSz="995363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 defTabSz="995363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 defTabSz="995363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95363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       (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차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) 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당 좌 예 금             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500,000              (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대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) 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이 자 수 익           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500,000</a:t>
            </a:r>
          </a:p>
        </p:txBody>
      </p:sp>
      <p:sp>
        <p:nvSpPr>
          <p:cNvPr id="52" name="Rectangle 12"/>
          <p:cNvSpPr>
            <a:spLocks noChangeArrowheads="1"/>
          </p:cNvSpPr>
          <p:nvPr/>
        </p:nvSpPr>
        <p:spPr bwMode="auto">
          <a:xfrm>
            <a:off x="1096743" y="3787044"/>
            <a:ext cx="7200000" cy="4320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txBody>
          <a:bodyPr lIns="99477" tIns="49735" rIns="99477" bIns="49735" anchor="ctr"/>
          <a:lstStyle>
            <a:lvl1pPr algn="l" defTabSz="995363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 defTabSz="995363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 defTabSz="995363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 defTabSz="995363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 defTabSz="995363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95363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       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(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차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) </a:t>
            </a:r>
            <a:r>
              <a:rPr kumimoji="0" lang="ko-KR" altLang="en-US" sz="1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은행수수료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               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40,000              (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대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) 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당 좌 예 금             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40,000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376062" y="1896879"/>
            <a:ext cx="848690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altLang="ko-KR" sz="1400" dirty="0"/>
              <a:t>(</a:t>
            </a:r>
            <a:r>
              <a:rPr lang="ko-KR" altLang="en-US" sz="1400" dirty="0"/>
              <a:t>주</a:t>
            </a:r>
            <a:r>
              <a:rPr lang="en-US" altLang="ko-KR" sz="1400" dirty="0"/>
              <a:t>)</a:t>
            </a:r>
            <a:r>
              <a:rPr lang="ko-KR" altLang="en-US" sz="1400" dirty="0" err="1"/>
              <a:t>덕송에서는</a:t>
            </a:r>
            <a:r>
              <a:rPr lang="ko-KR" altLang="en-US" sz="1400" dirty="0"/>
              <a:t> 기업 잔액에서 조정하는 위 </a:t>
            </a:r>
            <a:r>
              <a:rPr lang="en-US" altLang="ko-KR" sz="1400" dirty="0"/>
              <a:t>3</a:t>
            </a:r>
            <a:r>
              <a:rPr lang="ko-KR" altLang="en-US" sz="1400" dirty="0"/>
              <a:t>건</a:t>
            </a:r>
            <a:r>
              <a:rPr lang="en-US" altLang="ko-KR" sz="1400" dirty="0"/>
              <a:t>(④ , ⑤, ⑥ )</a:t>
            </a:r>
            <a:r>
              <a:rPr lang="ko-KR" altLang="en-US" sz="1400" dirty="0"/>
              <a:t>에 대해서 다음과 같이 </a:t>
            </a:r>
            <a:r>
              <a:rPr lang="ko-KR" altLang="en-US" sz="1400" b="1" dirty="0"/>
              <a:t>결산정리분개</a:t>
            </a:r>
            <a:r>
              <a:rPr lang="ko-KR" altLang="en-US" sz="1400" dirty="0"/>
              <a:t>가 필요</a:t>
            </a:r>
          </a:p>
        </p:txBody>
      </p:sp>
      <p:sp>
        <p:nvSpPr>
          <p:cNvPr id="55" name="Rectangle 12"/>
          <p:cNvSpPr>
            <a:spLocks noChangeArrowheads="1"/>
          </p:cNvSpPr>
          <p:nvPr/>
        </p:nvSpPr>
        <p:spPr bwMode="auto">
          <a:xfrm>
            <a:off x="1025693" y="4514623"/>
            <a:ext cx="7775575" cy="265075"/>
          </a:xfrm>
          <a:prstGeom prst="rect">
            <a:avLst/>
          </a:prstGeom>
          <a:noFill/>
          <a:ln>
            <a:noFill/>
          </a:ln>
        </p:spPr>
        <p:txBody>
          <a:bodyPr lIns="99477" tIns="49735" rIns="99477" bIns="49735"/>
          <a:lstStyle>
            <a:lvl1pPr algn="l" defTabSz="995363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 defTabSz="995363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 defTabSz="995363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 defTabSz="995363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 defTabSz="995363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95363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부도수표</a:t>
            </a:r>
          </a:p>
        </p:txBody>
      </p:sp>
      <p:sp>
        <p:nvSpPr>
          <p:cNvPr id="3" name="직사각형 2"/>
          <p:cNvSpPr/>
          <p:nvPr/>
        </p:nvSpPr>
        <p:spPr>
          <a:xfrm>
            <a:off x="1096743" y="4949698"/>
            <a:ext cx="7200000" cy="36085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square" tIns="72000" bIns="72000" anchor="ctr">
            <a:spAutoFit/>
          </a:bodyPr>
          <a:lstStyle/>
          <a:p>
            <a:pPr lvl="0" defTabSz="995363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14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       (</a:t>
            </a:r>
            <a:r>
              <a:rPr lang="ko-KR" altLang="en-US" sz="14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차</a:t>
            </a:r>
            <a:r>
              <a:rPr lang="en-US" altLang="ko-KR" sz="14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) </a:t>
            </a:r>
            <a:r>
              <a:rPr lang="ko-KR" altLang="en-US" sz="14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부 도 수 표           </a:t>
            </a:r>
            <a:r>
              <a:rPr lang="en-US" altLang="ko-KR" sz="14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2,000,000              (</a:t>
            </a:r>
            <a:r>
              <a:rPr lang="ko-KR" altLang="en-US" sz="14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대</a:t>
            </a:r>
            <a:r>
              <a:rPr lang="en-US" altLang="ko-KR" sz="14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) </a:t>
            </a:r>
            <a:r>
              <a:rPr lang="ko-KR" altLang="en-US" sz="14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당 좌 예 </a:t>
            </a:r>
            <a:r>
              <a:rPr lang="ko-KR" altLang="en-US" sz="1400" b="1" kern="0">
                <a:solidFill>
                  <a:srgbClr val="000000"/>
                </a:solidFill>
                <a:latin typeface="맑은 고딕" panose="020B0503020000020004" pitchFamily="50" charset="-127"/>
              </a:rPr>
              <a:t>금     </a:t>
            </a:r>
            <a:r>
              <a:rPr lang="ko-KR" altLang="en-US" sz="1400" b="1" kern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    </a:t>
            </a:r>
            <a:r>
              <a:rPr lang="en-US" altLang="ko-KR" sz="14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2,000,000</a:t>
            </a:r>
            <a:endParaRPr lang="ko-KR" altLang="en-US" sz="1400" b="1" kern="0" dirty="0">
              <a:solidFill>
                <a:srgbClr val="00000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1025693" y="3417458"/>
            <a:ext cx="108234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defTabSz="995363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 sz="1400" kern="0" dirty="0" err="1">
                <a:solidFill>
                  <a:srgbClr val="000000"/>
                </a:solidFill>
                <a:latin typeface="맑은 고딕" panose="020B0503020000020004" pitchFamily="50" charset="-127"/>
              </a:rPr>
              <a:t>은행수수료</a:t>
            </a:r>
            <a:endParaRPr lang="ko-KR" altLang="en-US" sz="1400" kern="0" dirty="0">
              <a:solidFill>
                <a:srgbClr val="00000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37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E2EBD9DC-F9D1-75EF-CEE9-F349D7B9BD17}"/>
              </a:ext>
            </a:extLst>
          </p:cNvPr>
          <p:cNvSpPr txBox="1"/>
          <p:nvPr/>
        </p:nvSpPr>
        <p:spPr>
          <a:xfrm>
            <a:off x="892114" y="289123"/>
            <a:ext cx="80232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/>
              <a:t>은행계정조정표</a:t>
            </a:r>
          </a:p>
        </p:txBody>
      </p:sp>
    </p:spTree>
    <p:extLst>
      <p:ext uri="{BB962C8B-B14F-4D97-AF65-F5344CB8AC3E}">
        <p14:creationId xmlns:p14="http://schemas.microsoft.com/office/powerpoint/2010/main" val="32988505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>
          <a:xfrm>
            <a:off x="8789670" y="6636525"/>
            <a:ext cx="2057400" cy="365125"/>
          </a:xfrm>
        </p:spPr>
        <p:txBody>
          <a:bodyPr/>
          <a:lstStyle/>
          <a:p>
            <a:fld id="{0EEB826C-2140-4E69-8666-7BFCAA9ECB18}" type="slidenum">
              <a:rPr lang="ko-KR" altLang="en-US" smtClean="0"/>
              <a:pPr/>
              <a:t>38</a:t>
            </a:fld>
            <a:endParaRPr lang="ko-KR" altLang="en-US" dirty="0"/>
          </a:p>
        </p:txBody>
      </p:sp>
      <p:sp>
        <p:nvSpPr>
          <p:cNvPr id="4" name="Rectangle 15"/>
          <p:cNvSpPr>
            <a:spLocks noChangeArrowheads="1"/>
          </p:cNvSpPr>
          <p:nvPr/>
        </p:nvSpPr>
        <p:spPr bwMode="auto">
          <a:xfrm>
            <a:off x="251315" y="1380417"/>
            <a:ext cx="8641370" cy="1295208"/>
          </a:xfrm>
          <a:prstGeom prst="rect">
            <a:avLst/>
          </a:prstGeom>
          <a:noFill/>
          <a:ln>
            <a:noFill/>
          </a:ln>
        </p:spPr>
        <p:txBody>
          <a:bodyPr lIns="74608" tIns="37301" rIns="74608" bIns="37301" anchor="ctr"/>
          <a:lstStyle>
            <a:lvl1pPr algn="l" defTabSz="995363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 defTabSz="995363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 defTabSz="995363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 defTabSz="995363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 defTabSz="995363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marL="180000" indent="-180000" latinLnBrk="0">
              <a:lnSpc>
                <a:spcPts val="24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ko-KR" altLang="en-US" sz="1600" dirty="0" err="1">
                <a:latin typeface="맑은 고딕" panose="020B0503020000020004" pitchFamily="50" charset="-127"/>
              </a:rPr>
              <a:t>외상판매를</a:t>
            </a:r>
            <a:r>
              <a:rPr lang="ko-KR" altLang="en-US" sz="1600" dirty="0">
                <a:latin typeface="맑은 고딕" panose="020B0503020000020004" pitchFamily="50" charset="-127"/>
              </a:rPr>
              <a:t> 위주로 하는 기업들이 매출채권에 많은 자금이 묶여있어 영업활동에 필요한 자금이 부족할 경우</a:t>
            </a:r>
            <a:r>
              <a:rPr lang="en-US" altLang="ko-KR" sz="1600" dirty="0">
                <a:latin typeface="맑은 고딕" panose="020B0503020000020004" pitchFamily="50" charset="-127"/>
              </a:rPr>
              <a:t>, </a:t>
            </a:r>
            <a:r>
              <a:rPr lang="ko-KR" altLang="en-US" sz="1600" dirty="0">
                <a:latin typeface="맑은 고딕" panose="020B0503020000020004" pitchFamily="50" charset="-127"/>
              </a:rPr>
              <a:t>부족한 현금을 마련하기 위해 </a:t>
            </a:r>
            <a:r>
              <a:rPr lang="ko-KR" altLang="en-US" sz="1600" dirty="0" err="1">
                <a:latin typeface="맑은 고딕" panose="020B0503020000020004" pitchFamily="50" charset="-127"/>
              </a:rPr>
              <a:t>받을어음의</a:t>
            </a:r>
            <a:r>
              <a:rPr lang="ko-KR" altLang="en-US" sz="1600" dirty="0">
                <a:latin typeface="맑은 고딕" panose="020B0503020000020004" pitchFamily="50" charset="-127"/>
              </a:rPr>
              <a:t> </a:t>
            </a:r>
            <a:r>
              <a:rPr lang="ko-KR" altLang="en-US" sz="1600" dirty="0" err="1">
                <a:latin typeface="맑은 고딕" panose="020B0503020000020004" pitchFamily="50" charset="-127"/>
              </a:rPr>
              <a:t>배서양도</a:t>
            </a:r>
            <a:r>
              <a:rPr lang="en-US" altLang="ko-KR" sz="1600" dirty="0">
                <a:latin typeface="맑은 고딕" panose="020B0503020000020004" pitchFamily="50" charset="-127"/>
              </a:rPr>
              <a:t>, </a:t>
            </a:r>
            <a:r>
              <a:rPr lang="ko-KR" altLang="en-US" sz="1600" dirty="0">
                <a:latin typeface="맑은 고딕" panose="020B0503020000020004" pitchFamily="50" charset="-127"/>
              </a:rPr>
              <a:t>어음의 할인</a:t>
            </a:r>
            <a:r>
              <a:rPr lang="en-US" altLang="ko-KR" sz="1600" dirty="0">
                <a:latin typeface="맑은 고딕" panose="020B0503020000020004" pitchFamily="50" charset="-127"/>
              </a:rPr>
              <a:t>, </a:t>
            </a:r>
            <a:r>
              <a:rPr lang="ko-KR" altLang="en-US" sz="1600" dirty="0" err="1">
                <a:latin typeface="맑은 고딕" panose="020B0503020000020004" pitchFamily="50" charset="-127"/>
              </a:rPr>
              <a:t>팩토링</a:t>
            </a:r>
            <a:r>
              <a:rPr lang="en-US" altLang="ko-KR" sz="1600" dirty="0">
                <a:latin typeface="맑은 고딕" panose="020B0503020000020004" pitchFamily="50" charset="-127"/>
              </a:rPr>
              <a:t>,</a:t>
            </a:r>
            <a:r>
              <a:rPr lang="ko-KR" altLang="en-US" sz="1600" dirty="0">
                <a:latin typeface="맑은 고딕" panose="020B0503020000020004" pitchFamily="50" charset="-127"/>
              </a:rPr>
              <a:t> 자산담보부 증권발행 등의 방법을 사용 </a:t>
            </a:r>
            <a:r>
              <a:rPr lang="en-US" altLang="ko-KR" sz="1600" dirty="0">
                <a:latin typeface="맑은 고딕" panose="020B0503020000020004" pitchFamily="50" charset="-127"/>
              </a:rPr>
              <a:t>– </a:t>
            </a:r>
            <a:r>
              <a:rPr lang="ko-KR" altLang="en-US" sz="1600" dirty="0">
                <a:latin typeface="맑은 고딕" panose="020B0503020000020004" pitchFamily="50" charset="-127"/>
              </a:rPr>
              <a:t>차입하여 현금을 마련하는 것보다 이자율이 낮으므로 이들 방법을 사용하는 것임</a:t>
            </a:r>
            <a:endParaRPr lang="en-US" altLang="ko-KR" sz="1600" dirty="0">
              <a:latin typeface="맑은 고딕" panose="020B0503020000020004" pitchFamily="50" charset="-127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74225" y="3116738"/>
            <a:ext cx="8641370" cy="1666277"/>
            <a:chOff x="2626683" y="1693823"/>
            <a:chExt cx="11521825" cy="1856129"/>
          </a:xfrm>
        </p:grpSpPr>
        <p:sp>
          <p:nvSpPr>
            <p:cNvPr id="11" name="Rectangle 15"/>
            <p:cNvSpPr>
              <a:spLocks noChangeArrowheads="1"/>
            </p:cNvSpPr>
            <p:nvPr/>
          </p:nvSpPr>
          <p:spPr bwMode="auto">
            <a:xfrm>
              <a:off x="2626683" y="2125623"/>
              <a:ext cx="11521825" cy="1424329"/>
            </a:xfrm>
            <a:prstGeom prst="rect">
              <a:avLst/>
            </a:prstGeom>
            <a:noFill/>
            <a:ln>
              <a:noFill/>
            </a:ln>
          </p:spPr>
          <p:txBody>
            <a:bodyPr lIns="74608" tIns="37301" rIns="74608" bIns="37301" anchor="ctr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marL="216000" indent="-216000">
                <a:lnSpc>
                  <a:spcPts val="24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Char char="•"/>
              </a:pPr>
              <a:r>
                <a:rPr lang="ko-KR" altLang="en-US" sz="1600" dirty="0">
                  <a:latin typeface="맑은 고딕" panose="020B0503020000020004" pitchFamily="50" charset="-127"/>
                </a:rPr>
                <a:t>배서양도 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: 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만기일 이전에 다른 사람에게 보유하고 있던 어음의 뒷면에 서명하여 양도하는 것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. 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그러면 어음의 </a:t>
              </a:r>
              <a:r>
                <a:rPr lang="ko-KR" altLang="en-US" sz="1600" dirty="0" err="1">
                  <a:latin typeface="맑은 고딕" panose="020B0503020000020004" pitchFamily="50" charset="-127"/>
                </a:rPr>
                <a:t>수취권이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 어음을 받은 다른 사람에게 이전됨</a:t>
              </a: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 marL="216000" indent="-216000">
                <a:lnSpc>
                  <a:spcPts val="24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Char char="•"/>
              </a:pPr>
              <a:r>
                <a:rPr lang="ko-KR" altLang="en-US" sz="1600" dirty="0">
                  <a:latin typeface="맑은 고딕" panose="020B0503020000020004" pitchFamily="50" charset="-127"/>
                </a:rPr>
                <a:t>예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: 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비품을 구입하면서 그 대가로 현금을 지급하는 대신 다른 거래처로 부터 받아 보유하고 있던 어음을 지급하는 것</a:t>
              </a:r>
              <a:endParaRPr lang="en-US" altLang="ko-KR" sz="1600" dirty="0">
                <a:latin typeface="맑은 고딕" panose="020B0503020000020004" pitchFamily="50" charset="-127"/>
              </a:endParaRPr>
            </a:p>
          </p:txBody>
        </p:sp>
        <p:sp>
          <p:nvSpPr>
            <p:cNvPr id="12" name="Rectangle 14"/>
            <p:cNvSpPr>
              <a:spLocks noChangeArrowheads="1"/>
            </p:cNvSpPr>
            <p:nvPr/>
          </p:nvSpPr>
          <p:spPr bwMode="auto">
            <a:xfrm>
              <a:off x="2871275" y="1693823"/>
              <a:ext cx="4837775" cy="431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4608" tIns="37301" rIns="74608" bIns="37301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ts val="24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ko-KR" altLang="en-US" sz="1800" b="1" dirty="0" err="1">
                  <a:latin typeface="맑은 고딕" panose="020B0503020000020004" pitchFamily="50" charset="-127"/>
                </a:rPr>
                <a:t>받을어음의</a:t>
              </a:r>
              <a:r>
                <a:rPr lang="ko-KR" altLang="en-US" sz="1800" b="1" dirty="0">
                  <a:latin typeface="맑은 고딕" panose="020B0503020000020004" pitchFamily="50" charset="-127"/>
                </a:rPr>
                <a:t> </a:t>
              </a:r>
              <a:r>
                <a:rPr lang="ko-KR" altLang="en-US" sz="1800" b="1" dirty="0" err="1">
                  <a:latin typeface="맑은 고딕" panose="020B0503020000020004" pitchFamily="50" charset="-127"/>
                </a:rPr>
                <a:t>배서양도</a:t>
              </a:r>
              <a:endParaRPr lang="ko-KR" altLang="en-US" sz="1800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4" name="직사각형 13"/>
            <p:cNvSpPr/>
            <p:nvPr/>
          </p:nvSpPr>
          <p:spPr>
            <a:xfrm>
              <a:off x="2626908" y="1722059"/>
              <a:ext cx="281973" cy="425439"/>
            </a:xfrm>
            <a:prstGeom prst="rect">
              <a:avLst/>
            </a:prstGeom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ts val="2400"/>
                </a:lnSpc>
              </a:pPr>
              <a:r>
                <a:rPr lang="en-US" altLang="ko-KR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ko-KR" altLang="en-US" sz="16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5" name="그룹 24"/>
          <p:cNvGrpSpPr/>
          <p:nvPr/>
        </p:nvGrpSpPr>
        <p:grpSpPr>
          <a:xfrm>
            <a:off x="266182" y="5037753"/>
            <a:ext cx="8641370" cy="1574061"/>
            <a:chOff x="2626683" y="1722059"/>
            <a:chExt cx="11521825" cy="2098753"/>
          </a:xfrm>
        </p:grpSpPr>
        <p:sp>
          <p:nvSpPr>
            <p:cNvPr id="26" name="Rectangle 15"/>
            <p:cNvSpPr>
              <a:spLocks noChangeArrowheads="1"/>
            </p:cNvSpPr>
            <p:nvPr/>
          </p:nvSpPr>
          <p:spPr bwMode="auto">
            <a:xfrm>
              <a:off x="2626683" y="2125623"/>
              <a:ext cx="11521825" cy="1695189"/>
            </a:xfrm>
            <a:prstGeom prst="rect">
              <a:avLst/>
            </a:prstGeom>
            <a:noFill/>
            <a:ln>
              <a:noFill/>
            </a:ln>
          </p:spPr>
          <p:txBody>
            <a:bodyPr lIns="74608" tIns="37301" rIns="74608" bIns="37301" anchor="ctr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marL="216000" indent="-216000" latinLnBrk="0">
                <a:lnSpc>
                  <a:spcPts val="24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Char char="•"/>
              </a:pPr>
              <a:r>
                <a:rPr lang="ko-KR" altLang="en-US" sz="1600" dirty="0">
                  <a:latin typeface="맑은 고딕" panose="020B0503020000020004" pitchFamily="50" charset="-127"/>
                </a:rPr>
                <a:t>어음을 만기일이 되기 전에 은행 또는 그 밖의 금융기관에게 양도하고 일정한 이자 및 수수료를 차감한 잔액을 받는 경우</a:t>
              </a: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 marL="216000" indent="-216000" latinLnBrk="0">
                <a:lnSpc>
                  <a:spcPts val="24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Char char="•"/>
              </a:pPr>
              <a:r>
                <a:rPr lang="ko-KR" altLang="en-US" sz="1600" dirty="0">
                  <a:latin typeface="맑은 고딕" panose="020B0503020000020004" pitchFamily="50" charset="-127"/>
                </a:rPr>
                <a:t>어음의 </a:t>
              </a:r>
              <a:r>
                <a:rPr lang="ko-KR" altLang="en-US" sz="1600" dirty="0" err="1">
                  <a:latin typeface="맑은 고딕" panose="020B0503020000020004" pitchFamily="50" charset="-127"/>
                </a:rPr>
                <a:t>배서양도와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 유사하나 그 대상이 은행이라는 점이 다름</a:t>
              </a: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 marL="216000" indent="-216000" latinLnBrk="0">
                <a:lnSpc>
                  <a:spcPts val="24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Char char="•"/>
              </a:pPr>
              <a:r>
                <a:rPr lang="ko-KR" altLang="en-US" sz="1600" dirty="0">
                  <a:latin typeface="맑은 고딕" panose="020B0503020000020004" pitchFamily="50" charset="-127"/>
                </a:rPr>
                <a:t>추심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: 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위임을 받은 은행 등이 어음과 수표의 </a:t>
              </a:r>
              <a:r>
                <a:rPr lang="ko-KR" altLang="en-US" sz="1600" dirty="0" err="1">
                  <a:latin typeface="맑은 고딕" panose="020B0503020000020004" pitchFamily="50" charset="-127"/>
                </a:rPr>
                <a:t>발행사에게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 대금 지급을 요구하는 일련의 절차</a:t>
              </a:r>
              <a:endParaRPr lang="en-US" altLang="ko-KR" sz="1600" dirty="0">
                <a:latin typeface="맑은 고딕" panose="020B0503020000020004" pitchFamily="50" charset="-127"/>
              </a:endParaRPr>
            </a:p>
          </p:txBody>
        </p:sp>
        <p:sp>
          <p:nvSpPr>
            <p:cNvPr id="27" name="Rectangle 14"/>
            <p:cNvSpPr>
              <a:spLocks noChangeArrowheads="1"/>
            </p:cNvSpPr>
            <p:nvPr/>
          </p:nvSpPr>
          <p:spPr bwMode="auto">
            <a:xfrm>
              <a:off x="2908882" y="1732171"/>
              <a:ext cx="4837775" cy="431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4608" tIns="37301" rIns="74608" bIns="37301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ts val="24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ko-KR" altLang="en-US" sz="1800" b="1" dirty="0" err="1">
                  <a:latin typeface="맑은 고딕" panose="020B0503020000020004" pitchFamily="50" charset="-127"/>
                </a:rPr>
                <a:t>받을어음의</a:t>
              </a:r>
              <a:r>
                <a:rPr lang="ko-KR" altLang="en-US" sz="1800" b="1" dirty="0">
                  <a:latin typeface="맑은 고딕" panose="020B0503020000020004" pitchFamily="50" charset="-127"/>
                </a:rPr>
                <a:t> 할인</a:t>
              </a:r>
            </a:p>
          </p:txBody>
        </p:sp>
        <p:sp>
          <p:nvSpPr>
            <p:cNvPr id="29" name="직사각형 28"/>
            <p:cNvSpPr/>
            <p:nvPr/>
          </p:nvSpPr>
          <p:spPr>
            <a:xfrm>
              <a:off x="2626908" y="1722059"/>
              <a:ext cx="281973" cy="425439"/>
            </a:xfrm>
            <a:prstGeom prst="rect">
              <a:avLst/>
            </a:prstGeom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ts val="2400"/>
                </a:lnSpc>
              </a:pPr>
              <a:r>
                <a:rPr lang="en-US" altLang="ko-KR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ko-KR" altLang="en-US" sz="16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48" name="TextBox 247"/>
          <p:cNvSpPr txBox="1"/>
          <p:nvPr/>
        </p:nvSpPr>
        <p:spPr>
          <a:xfrm>
            <a:off x="892114" y="289123"/>
            <a:ext cx="80232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/>
              <a:t>현금이 부족한 상황에서의 매출채권 활용</a:t>
            </a:r>
          </a:p>
        </p:txBody>
      </p:sp>
    </p:spTree>
    <p:extLst>
      <p:ext uri="{BB962C8B-B14F-4D97-AF65-F5344CB8AC3E}">
        <p14:creationId xmlns:p14="http://schemas.microsoft.com/office/powerpoint/2010/main" val="13987960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/>
          <p:cNvGrpSpPr/>
          <p:nvPr/>
        </p:nvGrpSpPr>
        <p:grpSpPr>
          <a:xfrm>
            <a:off x="270072" y="4018758"/>
            <a:ext cx="8641370" cy="2839241"/>
            <a:chOff x="2626683" y="1642448"/>
            <a:chExt cx="11521825" cy="3773935"/>
          </a:xfrm>
        </p:grpSpPr>
        <p:sp>
          <p:nvSpPr>
            <p:cNvPr id="9" name="Rectangle 15"/>
            <p:cNvSpPr>
              <a:spLocks noChangeArrowheads="1"/>
            </p:cNvSpPr>
            <p:nvPr/>
          </p:nvSpPr>
          <p:spPr bwMode="auto">
            <a:xfrm>
              <a:off x="2626683" y="2125626"/>
              <a:ext cx="11521825" cy="3290757"/>
            </a:xfrm>
            <a:prstGeom prst="rect">
              <a:avLst/>
            </a:prstGeom>
            <a:noFill/>
            <a:ln>
              <a:noFill/>
            </a:ln>
          </p:spPr>
          <p:txBody>
            <a:bodyPr lIns="74608" tIns="37301" rIns="74608" bIns="37301" anchor="ctr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marL="180000" indent="-180000" latinLnBrk="0">
                <a:lnSpc>
                  <a:spcPts val="2400"/>
                </a:lnSpc>
                <a:spcBef>
                  <a:spcPts val="600"/>
                </a:spcBef>
                <a:buClrTx/>
                <a:buSzTx/>
                <a:buNone/>
              </a:pPr>
              <a:r>
                <a:rPr lang="en-US" altLang="ko-KR" sz="1600" dirty="0">
                  <a:latin typeface="맑은 고딕" panose="020B0503020000020004" pitchFamily="50" charset="-127"/>
                </a:rPr>
                <a:t>•  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자금조달을 목적으로 보유자산을 자산유동화 전문기업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(special purpose company; SPC)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나 </a:t>
              </a:r>
              <a:r>
                <a:rPr lang="ko-KR" altLang="en-US" sz="1600" dirty="0" err="1">
                  <a:latin typeface="맑은 고딕" panose="020B0503020000020004" pitchFamily="50" charset="-127"/>
                </a:rPr>
                <a:t>신탁기업에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 양도하고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, SPC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나 신탁기업들은 해당 자산의 현금흐름 및 신용도를 바탕으로 증권을 발행하는 것</a:t>
              </a: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 marL="468000" indent="-180000" latinLnBrk="0">
                <a:lnSpc>
                  <a:spcPts val="2400"/>
                </a:lnSpc>
                <a:spcBef>
                  <a:spcPts val="600"/>
                </a:spcBef>
                <a:buClrTx/>
                <a:buSzTx/>
                <a:buNone/>
              </a:pPr>
              <a:r>
                <a:rPr lang="en-US" altLang="ko-KR" sz="1400" dirty="0">
                  <a:latin typeface="맑은 고딕" panose="020B0503020000020004" pitchFamily="50" charset="-127"/>
                </a:rPr>
                <a:t>* </a:t>
              </a:r>
              <a:r>
                <a:rPr lang="ko-KR" altLang="en-US" sz="1400" dirty="0">
                  <a:latin typeface="맑은 고딕" panose="020B0503020000020004" pitchFamily="50" charset="-127"/>
                </a:rPr>
                <a:t>증권</a:t>
              </a:r>
              <a:r>
                <a:rPr lang="en-US" altLang="ko-KR" sz="1400" dirty="0">
                  <a:latin typeface="맑은 고딕" panose="020B0503020000020004" pitchFamily="50" charset="-127"/>
                </a:rPr>
                <a:t>(securities)</a:t>
              </a:r>
              <a:r>
                <a:rPr lang="ko-KR" altLang="en-US" sz="1400" dirty="0">
                  <a:latin typeface="맑은 고딕" panose="020B0503020000020004" pitchFamily="50" charset="-127"/>
                </a:rPr>
                <a:t>이란 보유한 사람에게 해당 증권에 정해진 특별한 권리가 부여되는 증서다</a:t>
              </a:r>
              <a:r>
                <a:rPr lang="en-US" altLang="ko-KR" sz="1400" dirty="0">
                  <a:latin typeface="맑은 고딕" panose="020B0503020000020004" pitchFamily="50" charset="-127"/>
                </a:rPr>
                <a:t>. </a:t>
              </a:r>
              <a:r>
                <a:rPr lang="ko-KR" altLang="en-US" sz="1400" dirty="0">
                  <a:latin typeface="맑은 고딕" panose="020B0503020000020004" pitchFamily="50" charset="-127"/>
                </a:rPr>
                <a:t>주식이나 채권이 증권의 대표적인 예</a:t>
              </a:r>
              <a:endParaRPr lang="ko-KR" altLang="en-US" sz="1800" dirty="0">
                <a:latin typeface="맑은 고딕" panose="020B0503020000020004" pitchFamily="50" charset="-127"/>
              </a:endParaRPr>
            </a:p>
            <a:p>
              <a:pPr marL="180000" indent="-180000" latinLnBrk="0">
                <a:lnSpc>
                  <a:spcPts val="2400"/>
                </a:lnSpc>
                <a:spcBef>
                  <a:spcPts val="600"/>
                </a:spcBef>
                <a:buClrTx/>
                <a:buSzTx/>
                <a:buNone/>
              </a:pPr>
              <a:r>
                <a:rPr lang="en-US" altLang="ko-KR" sz="1600" dirty="0">
                  <a:latin typeface="맑은 고딕" panose="020B0503020000020004" pitchFamily="50" charset="-127"/>
                </a:rPr>
                <a:t>• 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자산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 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보유 </a:t>
              </a:r>
              <a:r>
                <a:rPr lang="ko-KR" altLang="en-US" sz="1600" dirty="0">
                  <a:solidFill>
                    <a:srgbClr val="051034"/>
                  </a:solidFill>
                  <a:latin typeface="맑은 고딕" panose="020B0503020000020004" pitchFamily="50" charset="-127"/>
                </a:rPr>
                <a:t>기업 </a:t>
              </a:r>
              <a:r>
                <a:rPr lang="en-US" altLang="ko-KR" sz="1600" dirty="0">
                  <a:solidFill>
                    <a:srgbClr val="051034"/>
                  </a:solidFill>
                  <a:latin typeface="맑은 고딕" panose="020B0503020000020004" pitchFamily="50" charset="-127"/>
                </a:rPr>
                <a:t>: </a:t>
              </a:r>
              <a:r>
                <a:rPr lang="ko-KR" altLang="en-US" sz="1600" dirty="0">
                  <a:solidFill>
                    <a:srgbClr val="051034"/>
                  </a:solidFill>
                  <a:latin typeface="맑은 고딕" panose="020B0503020000020004" pitchFamily="50" charset="-127"/>
                </a:rPr>
                <a:t>자금조달 비용을 절감하고 일시에 대규모 자금을 확보</a:t>
              </a:r>
              <a:endParaRPr lang="en-US" altLang="ko-KR" sz="1600" dirty="0">
                <a:solidFill>
                  <a:srgbClr val="051034"/>
                </a:solidFill>
                <a:latin typeface="맑은 고딕" panose="020B0503020000020004" pitchFamily="50" charset="-127"/>
              </a:endParaRPr>
            </a:p>
            <a:p>
              <a:pPr marL="180000" indent="-180000" latinLnBrk="0">
                <a:lnSpc>
                  <a:spcPts val="2400"/>
                </a:lnSpc>
                <a:spcBef>
                  <a:spcPts val="600"/>
                </a:spcBef>
                <a:buClrTx/>
                <a:buSzTx/>
                <a:buNone/>
              </a:pPr>
              <a:r>
                <a:rPr lang="en-US" altLang="ko-KR" sz="1600" dirty="0">
                  <a:latin typeface="맑은 고딕" panose="020B0503020000020004" pitchFamily="50" charset="-127"/>
                </a:rPr>
                <a:t>• 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금융기관 </a:t>
              </a:r>
              <a:r>
                <a:rPr lang="ko-KR" altLang="en-US" sz="1600" dirty="0">
                  <a:solidFill>
                    <a:srgbClr val="051034"/>
                  </a:solidFill>
                  <a:latin typeface="맑은 고딕" panose="020B0503020000020004" pitchFamily="50" charset="-127"/>
                </a:rPr>
                <a:t>등 투자자 </a:t>
              </a:r>
              <a:r>
                <a:rPr lang="en-US" altLang="ko-KR" sz="1600" dirty="0">
                  <a:solidFill>
                    <a:srgbClr val="051034"/>
                  </a:solidFill>
                  <a:latin typeface="맑은 고딕" panose="020B0503020000020004" pitchFamily="50" charset="-127"/>
                </a:rPr>
                <a:t>: </a:t>
              </a:r>
              <a:r>
                <a:rPr lang="ko-KR" altLang="en-US" sz="1600" dirty="0">
                  <a:solidFill>
                    <a:srgbClr val="051034"/>
                  </a:solidFill>
                  <a:latin typeface="맑은 고딕" panose="020B0503020000020004" pitchFamily="50" charset="-127"/>
                </a:rPr>
                <a:t>자산보유자의 신용도와 상관없이 양질의 투자대상을 확보</a:t>
              </a:r>
              <a:endParaRPr lang="en-US" altLang="ko-KR" sz="1600" dirty="0">
                <a:solidFill>
                  <a:srgbClr val="051034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0" name="Rectangle 14"/>
            <p:cNvSpPr>
              <a:spLocks noChangeArrowheads="1"/>
            </p:cNvSpPr>
            <p:nvPr/>
          </p:nvSpPr>
          <p:spPr bwMode="auto">
            <a:xfrm>
              <a:off x="2871275" y="1642448"/>
              <a:ext cx="4837775" cy="431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4608" tIns="37301" rIns="74608" bIns="37301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ts val="24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ko-KR" altLang="en-US" sz="1800" b="1" dirty="0">
                  <a:latin typeface="맑은 고딕" panose="020B0503020000020004" pitchFamily="50" charset="-127"/>
                </a:rPr>
                <a:t>자산담보부증권</a:t>
              </a:r>
              <a:r>
                <a:rPr lang="en-US" altLang="ko-KR" sz="1800" b="1" dirty="0">
                  <a:latin typeface="맑은 고딕" panose="020B0503020000020004" pitchFamily="50" charset="-127"/>
                </a:rPr>
                <a:t>(ABS)</a:t>
              </a:r>
              <a:r>
                <a:rPr lang="ko-KR" altLang="en-US" sz="18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의 발행</a:t>
              </a:r>
              <a:endParaRPr lang="ko-KR" altLang="en-US" sz="1800" b="1" dirty="0">
                <a:latin typeface="맑은 고딕" panose="020B0503020000020004" pitchFamily="50" charset="-127"/>
              </a:endParaRPr>
            </a:p>
          </p:txBody>
        </p:sp>
        <p:sp>
          <p:nvSpPr>
            <p:cNvPr id="12" name="직사각형 11"/>
            <p:cNvSpPr/>
            <p:nvPr/>
          </p:nvSpPr>
          <p:spPr>
            <a:xfrm>
              <a:off x="2626908" y="1722059"/>
              <a:ext cx="281973" cy="425439"/>
            </a:xfrm>
            <a:prstGeom prst="rect">
              <a:avLst/>
            </a:prstGeom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ts val="2400"/>
                </a:lnSpc>
              </a:pPr>
              <a:r>
                <a:rPr lang="en-US" altLang="ko-KR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  <a:endParaRPr lang="ko-KR" altLang="en-US" sz="16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39</a:t>
            </a:fld>
            <a:endParaRPr lang="ko-KR" altLang="en-US" dirty="0"/>
          </a:p>
        </p:txBody>
      </p:sp>
      <p:grpSp>
        <p:nvGrpSpPr>
          <p:cNvPr id="13" name="그룹 12"/>
          <p:cNvGrpSpPr/>
          <p:nvPr/>
        </p:nvGrpSpPr>
        <p:grpSpPr>
          <a:xfrm>
            <a:off x="249498" y="1323322"/>
            <a:ext cx="8659673" cy="2406628"/>
            <a:chOff x="2602279" y="1612147"/>
            <a:chExt cx="11546229" cy="3574241"/>
          </a:xfrm>
        </p:grpSpPr>
        <p:sp>
          <p:nvSpPr>
            <p:cNvPr id="14" name="Rectangle 15"/>
            <p:cNvSpPr>
              <a:spLocks noChangeArrowheads="1"/>
            </p:cNvSpPr>
            <p:nvPr/>
          </p:nvSpPr>
          <p:spPr bwMode="auto">
            <a:xfrm>
              <a:off x="2626683" y="2125626"/>
              <a:ext cx="11521825" cy="3060762"/>
            </a:xfrm>
            <a:prstGeom prst="rect">
              <a:avLst/>
            </a:prstGeom>
            <a:noFill/>
            <a:ln>
              <a:noFill/>
            </a:ln>
          </p:spPr>
          <p:txBody>
            <a:bodyPr lIns="74608" tIns="37301" rIns="74608" bIns="37301" anchor="ctr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marL="180000" indent="-180000">
                <a:lnSpc>
                  <a:spcPts val="2400"/>
                </a:lnSpc>
                <a:spcBef>
                  <a:spcPts val="600"/>
                </a:spcBef>
                <a:buClrTx/>
                <a:buSzTx/>
                <a:buFont typeface="Arial" panose="020B0604020202020204" pitchFamily="34" charset="0"/>
                <a:buChar char="•"/>
              </a:pPr>
              <a:r>
                <a:rPr lang="ko-KR" altLang="en-US" sz="1600" b="1" dirty="0">
                  <a:latin typeface="맑은 고딕" panose="020B0503020000020004" pitchFamily="50" charset="-127"/>
                </a:rPr>
                <a:t>보유하고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 있던 외상매출금을 은행이나 기타 금융기관에 양도하고 일정한 이자 및 수수료를 차감한 잔액을 현금으로 받는 것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.</a:t>
              </a:r>
            </a:p>
            <a:p>
              <a:pPr marL="180000" indent="-180000">
                <a:lnSpc>
                  <a:spcPts val="2400"/>
                </a:lnSpc>
                <a:spcBef>
                  <a:spcPts val="600"/>
                </a:spcBef>
                <a:buClrTx/>
                <a:buSzTx/>
                <a:buFont typeface="Arial" panose="020B0604020202020204" pitchFamily="34" charset="0"/>
                <a:buChar char="•"/>
              </a:pPr>
              <a:r>
                <a:rPr lang="ko-KR" altLang="en-US" sz="1600" dirty="0">
                  <a:latin typeface="맑은 고딕" panose="020B0503020000020004" pitchFamily="50" charset="-127"/>
                </a:rPr>
                <a:t>매출채권에 대한 위험과 보상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(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의무와 권리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)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이 대부분 금융기관에 이전된 경우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: 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 매출채권을 매각한 것으로 보아 장부에서 제거 </a:t>
              </a:r>
              <a:r>
                <a:rPr lang="en-US" altLang="ko-KR" sz="1600" dirty="0">
                  <a:latin typeface="맑은 고딕" panose="020B0503020000020004" pitchFamily="50" charset="-127"/>
                  <a:sym typeface="Wingdings" panose="05000000000000000000" pitchFamily="2" charset="2"/>
                </a:rPr>
                <a:t>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 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‘眞性賣却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(</a:t>
              </a:r>
              <a:r>
                <a:rPr lang="ko-KR" altLang="en-US" sz="1600" dirty="0" err="1">
                  <a:latin typeface="맑은 고딕" panose="020B0503020000020004" pitchFamily="50" charset="-127"/>
                </a:rPr>
                <a:t>진성매각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, true sales)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이 발생했다’라고 표현</a:t>
              </a:r>
            </a:p>
            <a:p>
              <a:pPr marL="180000" indent="-180000" latinLnBrk="0">
                <a:lnSpc>
                  <a:spcPts val="2400"/>
                </a:lnSpc>
                <a:spcBef>
                  <a:spcPts val="600"/>
                </a:spcBef>
                <a:buClrTx/>
                <a:buSzTx/>
                <a:buFont typeface="Arial" panose="020B0604020202020204" pitchFamily="34" charset="0"/>
                <a:buChar char="•"/>
              </a:pPr>
              <a:r>
                <a:rPr lang="ko-KR" altLang="en-US" sz="1600" dirty="0">
                  <a:latin typeface="맑은 고딕" panose="020B0503020000020004" pitchFamily="50" charset="-127"/>
                </a:rPr>
                <a:t>매출채권에 대한 위험과 보상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(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의무와 권리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)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이 이전되지 않는 경우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: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 매출채권을 담보로 차입한 것으로 보아 매출채권을 장부에서 제거하지 않고 차입금으로 회계처리 </a:t>
              </a:r>
            </a:p>
          </p:txBody>
        </p:sp>
        <p:sp>
          <p:nvSpPr>
            <p:cNvPr id="15" name="Rectangle 14"/>
            <p:cNvSpPr>
              <a:spLocks noChangeArrowheads="1"/>
            </p:cNvSpPr>
            <p:nvPr/>
          </p:nvSpPr>
          <p:spPr bwMode="auto">
            <a:xfrm>
              <a:off x="2864347" y="1612147"/>
              <a:ext cx="4908203" cy="5045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4608" tIns="37301" rIns="74608" bIns="37301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ts val="24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ko-KR" altLang="en-US" sz="1800" b="1" dirty="0" err="1">
                  <a:latin typeface="맑은 고딕" panose="020B0503020000020004" pitchFamily="50" charset="-127"/>
                </a:rPr>
                <a:t>팩토링</a:t>
              </a:r>
              <a:endParaRPr lang="ko-KR" altLang="en-US" sz="1800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7" name="직사각형 16"/>
            <p:cNvSpPr/>
            <p:nvPr/>
          </p:nvSpPr>
          <p:spPr>
            <a:xfrm>
              <a:off x="2602279" y="1639757"/>
              <a:ext cx="281973" cy="425439"/>
            </a:xfrm>
            <a:prstGeom prst="rect">
              <a:avLst/>
            </a:prstGeom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ts val="2400"/>
                </a:lnSpc>
              </a:pPr>
              <a:r>
                <a:rPr lang="en-US" altLang="ko-KR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ko-KR" altLang="en-US" sz="16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08720891-33A2-CE44-C135-4E87B072FC15}"/>
              </a:ext>
            </a:extLst>
          </p:cNvPr>
          <p:cNvSpPr txBox="1"/>
          <p:nvPr/>
        </p:nvSpPr>
        <p:spPr>
          <a:xfrm>
            <a:off x="892114" y="289123"/>
            <a:ext cx="80232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/>
              <a:t>현금이 부족한 상황에서의 매출채권 활용</a:t>
            </a:r>
          </a:p>
        </p:txBody>
      </p:sp>
    </p:spTree>
    <p:extLst>
      <p:ext uri="{BB962C8B-B14F-4D97-AF65-F5344CB8AC3E}">
        <p14:creationId xmlns:p14="http://schemas.microsoft.com/office/powerpoint/2010/main" val="4082680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40</a:t>
            </a:fld>
            <a:endParaRPr lang="ko-KR" altLang="en-US" dirty="0"/>
          </a:p>
        </p:txBody>
      </p:sp>
      <p:grpSp>
        <p:nvGrpSpPr>
          <p:cNvPr id="13" name="그룹 12"/>
          <p:cNvGrpSpPr/>
          <p:nvPr/>
        </p:nvGrpSpPr>
        <p:grpSpPr>
          <a:xfrm>
            <a:off x="235028" y="1301796"/>
            <a:ext cx="8711460" cy="4956961"/>
            <a:chOff x="190714" y="1320886"/>
            <a:chExt cx="8711460" cy="4956961"/>
          </a:xfrm>
        </p:grpSpPr>
        <p:grpSp>
          <p:nvGrpSpPr>
            <p:cNvPr id="14" name="그룹 13"/>
            <p:cNvGrpSpPr/>
            <p:nvPr/>
          </p:nvGrpSpPr>
          <p:grpSpPr>
            <a:xfrm>
              <a:off x="361935" y="1461499"/>
              <a:ext cx="8540239" cy="4816348"/>
              <a:chOff x="269048" y="1722741"/>
              <a:chExt cx="8648775" cy="4816348"/>
            </a:xfrm>
          </p:grpSpPr>
          <p:sp>
            <p:nvSpPr>
              <p:cNvPr id="22" name="Rectangle 15"/>
              <p:cNvSpPr>
                <a:spLocks noChangeArrowheads="1"/>
              </p:cNvSpPr>
              <p:nvPr/>
            </p:nvSpPr>
            <p:spPr bwMode="auto">
              <a:xfrm>
                <a:off x="269048" y="1746439"/>
                <a:ext cx="8641369" cy="4792650"/>
              </a:xfrm>
              <a:prstGeom prst="foldedCorner">
                <a:avLst>
                  <a:gd name="adj" fmla="val 5125"/>
                </a:avLst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txBody>
              <a:bodyPr lIns="74608" tIns="37301" rIns="74608" bIns="37301" anchor="ctr"/>
              <a:lstStyle>
                <a:lvl1pPr algn="l" defTabSz="995363">
                  <a:spcBef>
                    <a:spcPct val="20000"/>
                  </a:spcBef>
                  <a:buClr>
                    <a:schemeClr val="tx2"/>
                  </a:buClr>
                  <a:buSzPct val="115000"/>
                  <a:buFont typeface="Wingdings" panose="05000000000000000000" pitchFamily="2" charset="2"/>
                  <a:buChar char="§"/>
                  <a:defRPr sz="28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 algn="l" defTabSz="995363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 algn="l" defTabSz="995363">
                  <a:spcBef>
                    <a:spcPct val="20000"/>
                  </a:spcBef>
                  <a:buChar char="•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 algn="l" defTabSz="995363">
                  <a:spcBef>
                    <a:spcPct val="20000"/>
                  </a:spcBef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 algn="l" defTabSz="995363">
                  <a:spcBef>
                    <a:spcPct val="20000"/>
                  </a:spcBef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ko-KR" altLang="en-US" sz="1400" dirty="0"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23" name="직사각형 22"/>
              <p:cNvSpPr/>
              <p:nvPr/>
            </p:nvSpPr>
            <p:spPr>
              <a:xfrm>
                <a:off x="277823" y="1722741"/>
                <a:ext cx="8640000" cy="45719"/>
              </a:xfrm>
              <a:prstGeom prst="rect">
                <a:avLst/>
              </a:prstGeom>
              <a:solidFill>
                <a:srgbClr val="2D61C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5" name="그룹 14"/>
            <p:cNvGrpSpPr/>
            <p:nvPr/>
          </p:nvGrpSpPr>
          <p:grpSpPr>
            <a:xfrm>
              <a:off x="190714" y="1320886"/>
              <a:ext cx="4456232" cy="326952"/>
              <a:chOff x="190714" y="1320889"/>
              <a:chExt cx="3811968" cy="290354"/>
            </a:xfrm>
            <a:solidFill>
              <a:srgbClr val="2D61C8"/>
            </a:solidFill>
          </p:grpSpPr>
          <p:grpSp>
            <p:nvGrpSpPr>
              <p:cNvPr id="16" name="그룹 15"/>
              <p:cNvGrpSpPr/>
              <p:nvPr/>
            </p:nvGrpSpPr>
            <p:grpSpPr>
              <a:xfrm>
                <a:off x="190714" y="1320889"/>
                <a:ext cx="3811968" cy="290354"/>
                <a:chOff x="405822" y="2237753"/>
                <a:chExt cx="3811968" cy="290354"/>
              </a:xfrm>
              <a:grpFill/>
            </p:grpSpPr>
            <p:sp>
              <p:nvSpPr>
                <p:cNvPr id="18" name="타원 17"/>
                <p:cNvSpPr/>
                <p:nvPr/>
              </p:nvSpPr>
              <p:spPr>
                <a:xfrm>
                  <a:off x="405822" y="2237753"/>
                  <a:ext cx="290351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9" name="타원 18"/>
                <p:cNvSpPr/>
                <p:nvPr/>
              </p:nvSpPr>
              <p:spPr>
                <a:xfrm>
                  <a:off x="3927439" y="2237753"/>
                  <a:ext cx="290351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0" name="직사각형 19"/>
                <p:cNvSpPr/>
                <p:nvPr/>
              </p:nvSpPr>
              <p:spPr>
                <a:xfrm>
                  <a:off x="542511" y="2237755"/>
                  <a:ext cx="3558073" cy="290352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1600" b="1" dirty="0"/>
                    <a:t>예제 </a:t>
                  </a:r>
                  <a:r>
                    <a:rPr lang="en-US" altLang="ko-KR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5-13</a:t>
                  </a:r>
                  <a:r>
                    <a:rPr lang="ko-KR" altLang="en-US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 어음의 할인에 대한 회계처리</a:t>
                  </a:r>
                  <a:endParaRPr lang="ko-KR" altLang="en-US" sz="1600" b="1" dirty="0"/>
                </a:p>
              </p:txBody>
            </p:sp>
            <p:sp>
              <p:nvSpPr>
                <p:cNvPr id="21" name="타원 20"/>
                <p:cNvSpPr/>
                <p:nvPr/>
              </p:nvSpPr>
              <p:spPr>
                <a:xfrm>
                  <a:off x="427833" y="2256153"/>
                  <a:ext cx="253549" cy="25354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pic>
            <p:nvPicPr>
              <p:cNvPr id="17" name="그림 16" descr="Log in | Sign Up Upload Clipart"/>
              <p:cNvPicPr>
                <a:picLocks noChangeAspect="1"/>
              </p:cNvPicPr>
              <p:nvPr/>
            </p:nvPicPr>
            <p:blipFill>
              <a:blip r:embed="rId2" cstate="email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265229" y="1359640"/>
                <a:ext cx="147147" cy="229618"/>
              </a:xfrm>
              <a:prstGeom prst="rect">
                <a:avLst/>
              </a:prstGeom>
            </p:spPr>
          </p:pic>
        </p:grpSp>
      </p:grpSp>
      <p:sp>
        <p:nvSpPr>
          <p:cNvPr id="28" name="Rectangle 12"/>
          <p:cNvSpPr>
            <a:spLocks noChangeArrowheads="1"/>
          </p:cNvSpPr>
          <p:nvPr/>
        </p:nvSpPr>
        <p:spPr bwMode="auto">
          <a:xfrm>
            <a:off x="1091606" y="3002272"/>
            <a:ext cx="7200000" cy="55858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txBody>
          <a:bodyPr lIns="99477" tIns="49735" rIns="99477" bIns="49735" anchor="ctr"/>
          <a:lstStyle/>
          <a:p>
            <a:pPr defTabSz="995363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5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     (</a:t>
            </a:r>
            <a:r>
              <a:rPr lang="ko-KR" altLang="en-US" sz="15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차</a:t>
            </a:r>
            <a:r>
              <a:rPr lang="en-US" altLang="ko-KR" sz="15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) </a:t>
            </a:r>
            <a:r>
              <a:rPr lang="ko-KR" altLang="en-US" sz="15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현         금                   </a:t>
            </a:r>
            <a:r>
              <a:rPr lang="en-US" altLang="ko-KR" sz="15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98,000       (</a:t>
            </a:r>
            <a:r>
              <a:rPr lang="ko-KR" altLang="en-US" sz="15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대</a:t>
            </a:r>
            <a:r>
              <a:rPr lang="en-US" altLang="ko-KR" sz="15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) </a:t>
            </a:r>
            <a:r>
              <a:rPr lang="ko-KR" altLang="en-US" sz="15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받을 어음               </a:t>
            </a:r>
            <a:r>
              <a:rPr lang="en-US" altLang="ko-KR" sz="15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100,000</a:t>
            </a:r>
          </a:p>
          <a:p>
            <a:pPr defTabSz="995363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5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           </a:t>
            </a:r>
            <a:r>
              <a:rPr lang="ko-KR" altLang="en-US" sz="15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매출채권처분손실            </a:t>
            </a:r>
            <a:r>
              <a:rPr lang="en-US" altLang="ko-KR" sz="15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2,000*</a:t>
            </a:r>
          </a:p>
        </p:txBody>
      </p:sp>
      <p:sp>
        <p:nvSpPr>
          <p:cNvPr id="29" name="Rectangle 12"/>
          <p:cNvSpPr>
            <a:spLocks noChangeArrowheads="1"/>
          </p:cNvSpPr>
          <p:nvPr/>
        </p:nvSpPr>
        <p:spPr bwMode="auto">
          <a:xfrm>
            <a:off x="554396" y="4284602"/>
            <a:ext cx="8228949" cy="358775"/>
          </a:xfrm>
          <a:prstGeom prst="rect">
            <a:avLst/>
          </a:prstGeom>
          <a:noFill/>
          <a:ln>
            <a:noFill/>
          </a:ln>
        </p:spPr>
        <p:txBody>
          <a:bodyPr lIns="99477" tIns="49735" rIns="99477" bIns="49735"/>
          <a:lstStyle>
            <a:lvl1pPr algn="l" defTabSz="995363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 defTabSz="995363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 defTabSz="995363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 defTabSz="995363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 defTabSz="995363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95363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② 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상환청구조건이 있을 때</a:t>
            </a:r>
            <a:endParaRPr kumimoji="0" lang="en-US" altLang="ko-KR" sz="1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</a:endParaRPr>
          </a:p>
        </p:txBody>
      </p:sp>
      <p:sp>
        <p:nvSpPr>
          <p:cNvPr id="30" name="Rectangle 12"/>
          <p:cNvSpPr>
            <a:spLocks noChangeArrowheads="1"/>
          </p:cNvSpPr>
          <p:nvPr/>
        </p:nvSpPr>
        <p:spPr bwMode="auto">
          <a:xfrm>
            <a:off x="1091606" y="4652354"/>
            <a:ext cx="7200000" cy="57406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txBody>
          <a:bodyPr lIns="99477" tIns="49735" rIns="99477" bIns="49735" anchor="ctr"/>
          <a:lstStyle/>
          <a:p>
            <a:pPr defTabSz="995363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5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     (</a:t>
            </a:r>
            <a:r>
              <a:rPr lang="ko-KR" altLang="en-US" sz="15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차</a:t>
            </a:r>
            <a:r>
              <a:rPr lang="en-US" altLang="ko-KR" sz="15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) </a:t>
            </a:r>
            <a:r>
              <a:rPr lang="ko-KR" altLang="en-US" sz="15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현         금                    </a:t>
            </a:r>
            <a:r>
              <a:rPr lang="en-US" altLang="ko-KR" sz="15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98,000      (</a:t>
            </a:r>
            <a:r>
              <a:rPr lang="ko-KR" altLang="en-US" sz="15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대</a:t>
            </a:r>
            <a:r>
              <a:rPr lang="en-US" altLang="ko-KR" sz="15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) </a:t>
            </a:r>
            <a:r>
              <a:rPr lang="ko-KR" altLang="en-US" sz="15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단기차입금             </a:t>
            </a:r>
            <a:r>
              <a:rPr lang="en-US" altLang="ko-KR" sz="15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100,000</a:t>
            </a:r>
          </a:p>
          <a:p>
            <a:pPr defTabSz="995363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5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           </a:t>
            </a:r>
            <a:r>
              <a:rPr lang="ko-KR" altLang="en-US" sz="15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이 자 비 용                </a:t>
            </a:r>
            <a:r>
              <a:rPr lang="ko-KR" altLang="en-US" sz="12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   </a:t>
            </a:r>
            <a:r>
              <a:rPr lang="ko-KR" altLang="en-US" sz="15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   </a:t>
            </a:r>
            <a:r>
              <a:rPr lang="en-US" altLang="ko-KR" sz="15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2,000</a:t>
            </a:r>
          </a:p>
        </p:txBody>
      </p:sp>
      <p:sp>
        <p:nvSpPr>
          <p:cNvPr id="31" name="Rectangle 12"/>
          <p:cNvSpPr>
            <a:spLocks noChangeArrowheads="1"/>
          </p:cNvSpPr>
          <p:nvPr/>
        </p:nvSpPr>
        <p:spPr bwMode="auto">
          <a:xfrm>
            <a:off x="566226" y="1678165"/>
            <a:ext cx="8228949" cy="1368425"/>
          </a:xfrm>
          <a:prstGeom prst="rect">
            <a:avLst/>
          </a:prstGeom>
          <a:noFill/>
          <a:ln>
            <a:noFill/>
          </a:ln>
        </p:spPr>
        <p:txBody>
          <a:bodyPr lIns="99477" tIns="49735" rIns="99477" bIns="49735"/>
          <a:lstStyle>
            <a:lvl1pPr algn="l" defTabSz="995363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 defTabSz="995363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 defTabSz="995363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 defTabSz="995363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 defTabSz="995363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95363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(</a:t>
            </a:r>
            <a:r>
              <a:rPr kumimoji="0" lang="ko-KR" altLang="en-US" sz="1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주</a:t>
            </a:r>
            <a:r>
              <a:rPr kumimoji="0" lang="en-US" altLang="ko-KR" sz="1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)</a:t>
            </a:r>
            <a:r>
              <a:rPr lang="en-US" altLang="ko-KR" sz="1400" kern="0" dirty="0">
                <a:latin typeface="맑은 고딕" panose="020B0503020000020004" pitchFamily="50" charset="-127"/>
              </a:rPr>
              <a:t>DL</a:t>
            </a:r>
            <a:r>
              <a:rPr kumimoji="0" lang="ko-KR" altLang="en-US" sz="1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은 </a:t>
            </a:r>
            <a:r>
              <a:rPr kumimoji="0" lang="en-US" altLang="ko-KR" sz="1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20X1</a:t>
            </a:r>
            <a:r>
              <a:rPr kumimoji="0" lang="ko-KR" altLang="en-US" sz="1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년 </a:t>
            </a:r>
            <a:r>
              <a:rPr kumimoji="0" lang="en-US" altLang="ko-KR" sz="1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1</a:t>
            </a:r>
            <a:r>
              <a:rPr kumimoji="0" lang="ko-KR" altLang="en-US" sz="1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월 </a:t>
            </a:r>
            <a:r>
              <a:rPr kumimoji="0" lang="en-US" altLang="ko-KR" sz="1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1</a:t>
            </a:r>
            <a:r>
              <a:rPr kumimoji="0" lang="ko-KR" altLang="en-US" sz="1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일 ㈜</a:t>
            </a:r>
            <a:r>
              <a:rPr lang="ko-KR" altLang="en-US" sz="1400" kern="0" dirty="0" err="1">
                <a:latin typeface="맑은 고딕" panose="020B0503020000020004" pitchFamily="50" charset="-127"/>
              </a:rPr>
              <a:t>코웨이</a:t>
            </a:r>
            <a:r>
              <a:rPr kumimoji="0" lang="ko-KR" altLang="en-US" sz="1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에 상품을 매출하고 </a:t>
            </a:r>
            <a:r>
              <a:rPr kumimoji="0" lang="en-US" altLang="ko-KR" sz="1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3</a:t>
            </a:r>
            <a:r>
              <a:rPr kumimoji="0" lang="ko-KR" altLang="en-US" sz="1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개월 만기 </a:t>
            </a:r>
            <a:r>
              <a:rPr kumimoji="0" lang="en-US" altLang="ko-KR" sz="1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\100,000</a:t>
            </a:r>
            <a:r>
              <a:rPr kumimoji="0" lang="ko-KR" altLang="en-US" sz="1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의 어음을 받았다</a:t>
            </a:r>
            <a:r>
              <a:rPr kumimoji="0" lang="en-US" altLang="ko-KR" sz="1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. </a:t>
            </a:r>
            <a:r>
              <a:rPr kumimoji="0" lang="ko-KR" altLang="en-US" sz="1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㈜</a:t>
            </a:r>
            <a:r>
              <a:rPr kumimoji="0" lang="ko-KR" altLang="en-US" sz="140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덕송은</a:t>
            </a:r>
            <a:r>
              <a:rPr kumimoji="0" lang="ko-KR" altLang="en-US" sz="1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 이 어음을 보유하고 있다가 현금이 필요하자 </a:t>
            </a:r>
            <a:r>
              <a:rPr kumimoji="0" lang="en-US" altLang="ko-KR" sz="1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2</a:t>
            </a:r>
            <a:r>
              <a:rPr kumimoji="0" lang="ko-KR" altLang="en-US" sz="1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월 </a:t>
            </a:r>
            <a:r>
              <a:rPr kumimoji="0" lang="en-US" altLang="ko-KR" sz="1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1</a:t>
            </a:r>
            <a:r>
              <a:rPr kumimoji="0" lang="ko-KR" altLang="en-US" sz="1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일 ㈜</a:t>
            </a:r>
            <a:r>
              <a:rPr lang="ko-KR" altLang="en-US" sz="1400" kern="0" dirty="0">
                <a:latin typeface="맑은 고딕" panose="020B0503020000020004" pitchFamily="50" charset="-127"/>
              </a:rPr>
              <a:t>신한</a:t>
            </a:r>
            <a:r>
              <a:rPr kumimoji="0" lang="ko-KR" altLang="en-US" sz="1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은행에 이 어음을 </a:t>
            </a:r>
            <a:r>
              <a:rPr kumimoji="0" lang="en-US" altLang="ko-KR" sz="1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12%</a:t>
            </a:r>
            <a:r>
              <a:rPr kumimoji="0" lang="ko-KR" altLang="en-US" sz="1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의 이자율로 할인하였다</a:t>
            </a:r>
            <a:r>
              <a:rPr kumimoji="0" lang="en-US" altLang="ko-KR" sz="1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</a:rPr>
              <a:t>.</a:t>
            </a:r>
          </a:p>
          <a:p>
            <a:pPr marL="0" marR="0" lvl="0" indent="0" algn="l" defTabSz="995363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554396" y="2650287"/>
            <a:ext cx="234711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defTabSz="995363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14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① </a:t>
            </a:r>
            <a:r>
              <a:rPr lang="ko-KR" altLang="en-US" sz="14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상환청구조건이 없을 때</a:t>
            </a:r>
            <a:endParaRPr lang="en-US" altLang="ko-KR" sz="1400" b="1" kern="0" dirty="0">
              <a:solidFill>
                <a:srgbClr val="00000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941893" y="3560854"/>
            <a:ext cx="7349713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상환청구조건이 없다면 어음 회수에 대한 책임을 ㈜</a:t>
            </a:r>
            <a:r>
              <a:rPr lang="ko-KR" altLang="en-US" sz="1400" kern="0" dirty="0" err="1">
                <a:solidFill>
                  <a:srgbClr val="000000"/>
                </a:solidFill>
                <a:latin typeface="맑은 고딕" panose="020B0503020000020004" pitchFamily="50" charset="-127"/>
              </a:rPr>
              <a:t>신한은행이</a:t>
            </a:r>
            <a:r>
              <a:rPr lang="ko-KR" altLang="en-US" sz="14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 지게 된다</a:t>
            </a:r>
            <a:r>
              <a:rPr lang="en-US" altLang="ko-KR" sz="14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. </a:t>
            </a:r>
            <a:r>
              <a:rPr lang="ko-KR" altLang="en-US" sz="14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그렇다면 매출채권에 대한 위험과 보상이 ㈜</a:t>
            </a:r>
            <a:r>
              <a:rPr lang="ko-KR" altLang="en-US" sz="1400" kern="0" dirty="0" err="1">
                <a:solidFill>
                  <a:srgbClr val="000000"/>
                </a:solidFill>
                <a:latin typeface="맑은 고딕" panose="020B0503020000020004" pitchFamily="50" charset="-127"/>
              </a:rPr>
              <a:t>신한은행에게</a:t>
            </a:r>
            <a:r>
              <a:rPr lang="ko-KR" altLang="en-US" sz="14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 이전된 것이므로 </a:t>
            </a:r>
            <a:r>
              <a:rPr lang="ko-KR" altLang="en-US" sz="1400" kern="0" dirty="0" err="1">
                <a:solidFill>
                  <a:srgbClr val="000000"/>
                </a:solidFill>
                <a:latin typeface="맑은 고딕" panose="020B0503020000020004" pitchFamily="50" charset="-127"/>
              </a:rPr>
              <a:t>매각거래로</a:t>
            </a:r>
            <a:r>
              <a:rPr lang="ko-KR" altLang="en-US" sz="14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 회계처리한다</a:t>
            </a:r>
            <a:r>
              <a:rPr lang="en-US" altLang="ko-KR" sz="14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.</a:t>
            </a:r>
          </a:p>
          <a:p>
            <a:r>
              <a:rPr lang="en-US" altLang="ko-KR" sz="14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*\100,000 * 12% * 2/12 = \2,000</a:t>
            </a:r>
            <a:endParaRPr lang="ko-KR" altLang="en-US" sz="1400" dirty="0"/>
          </a:p>
        </p:txBody>
      </p:sp>
      <p:sp>
        <p:nvSpPr>
          <p:cNvPr id="32" name="직사각형 31"/>
          <p:cNvSpPr/>
          <p:nvPr/>
        </p:nvSpPr>
        <p:spPr>
          <a:xfrm>
            <a:off x="941893" y="5226422"/>
            <a:ext cx="7349713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0"/>
            <a:r>
              <a:rPr lang="ko-KR" altLang="en-US" sz="14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상환청구조건이 있다면 어음 회수가 안 될 경우 ㈜</a:t>
            </a:r>
            <a:r>
              <a:rPr lang="en-US" altLang="ko-KR" sz="14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DL</a:t>
            </a:r>
            <a:r>
              <a:rPr lang="ko-KR" altLang="en-US" sz="14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이 ㈜신한은행에 </a:t>
            </a:r>
            <a:r>
              <a:rPr lang="en-US" altLang="ko-KR" sz="14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\100,000</a:t>
            </a:r>
            <a:r>
              <a:rPr lang="ko-KR" altLang="en-US" sz="14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을 지급해야 한다</a:t>
            </a:r>
            <a:r>
              <a:rPr lang="en-US" altLang="ko-KR" sz="14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. </a:t>
            </a:r>
            <a:r>
              <a:rPr lang="ko-KR" altLang="en-US" sz="14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따라서 어음의 위험과 보상이 실질적으로 이전된 것으로 볼 수 없으므로 </a:t>
            </a:r>
            <a:r>
              <a:rPr lang="ko-KR" altLang="en-US" sz="1400" kern="0" dirty="0" err="1">
                <a:solidFill>
                  <a:srgbClr val="000000"/>
                </a:solidFill>
                <a:latin typeface="맑은 고딕" panose="020B0503020000020004" pitchFamily="50" charset="-127"/>
              </a:rPr>
              <a:t>차입거래로</a:t>
            </a:r>
            <a:r>
              <a:rPr lang="ko-KR" altLang="en-US" sz="14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 회계처리한다</a:t>
            </a:r>
            <a:r>
              <a:rPr lang="en-US" altLang="ko-KR" sz="14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.</a:t>
            </a:r>
            <a:endParaRPr lang="ko-KR" altLang="en-US" sz="1400" dirty="0"/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0D1CB3B0-CC30-0549-46CB-9CCA9911353A}"/>
              </a:ext>
            </a:extLst>
          </p:cNvPr>
          <p:cNvSpPr txBox="1"/>
          <p:nvPr/>
        </p:nvSpPr>
        <p:spPr>
          <a:xfrm>
            <a:off x="892114" y="289123"/>
            <a:ext cx="80232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/>
              <a:t>현금이 부족한 상황에서의 매출채권 활용</a:t>
            </a:r>
          </a:p>
        </p:txBody>
      </p:sp>
    </p:spTree>
    <p:extLst>
      <p:ext uri="{BB962C8B-B14F-4D97-AF65-F5344CB8AC3E}">
        <p14:creationId xmlns:p14="http://schemas.microsoft.com/office/powerpoint/2010/main" val="16006251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x.1 - 1.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x.1 - 2.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x.1 - 3.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x.1 - 4.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x.2 - 1.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x.2 - 2.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x.2 - 3.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x.2 - 4.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1_x.2 - 4.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x.3 - 1.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4338</Words>
  <Application>Microsoft Office PowerPoint</Application>
  <PresentationFormat>화면 슬라이드 쇼(4:3)</PresentationFormat>
  <Paragraphs>650</Paragraphs>
  <Slides>40</Slides>
  <Notes>11</Notes>
  <HiddenSlides>0</HiddenSlides>
  <MMClips>0</MMClips>
  <ScaleCrop>false</ScaleCrop>
  <HeadingPairs>
    <vt:vector size="4" baseType="variant">
      <vt:variant>
        <vt:lpstr>테마</vt:lpstr>
      </vt:variant>
      <vt:variant>
        <vt:i4>11</vt:i4>
      </vt:variant>
      <vt:variant>
        <vt:lpstr>슬라이드 제목</vt:lpstr>
      </vt:variant>
      <vt:variant>
        <vt:i4>40</vt:i4>
      </vt:variant>
    </vt:vector>
  </HeadingPairs>
  <TitlesOfParts>
    <vt:vector size="51" baseType="lpstr">
      <vt:lpstr>디자인 사용자 지정</vt:lpstr>
      <vt:lpstr>x.1 - 1.</vt:lpstr>
      <vt:lpstr>x.1 - 2.</vt:lpstr>
      <vt:lpstr>x.1 - 3.</vt:lpstr>
      <vt:lpstr>x.1 - 4.</vt:lpstr>
      <vt:lpstr>x.2 - 1.</vt:lpstr>
      <vt:lpstr>x.2 - 2.</vt:lpstr>
      <vt:lpstr>x.2 - 3.</vt:lpstr>
      <vt:lpstr>x.2 - 4.</vt:lpstr>
      <vt:lpstr>1_x.2 - 4.</vt:lpstr>
      <vt:lpstr>x.3 - 1.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2024-07-23T07:14:19Z</dcterms:created>
  <dcterms:modified xsi:type="dcterms:W3CDTF">2024-07-25T01:45:55Z</dcterms:modified>
</cp:coreProperties>
</file>