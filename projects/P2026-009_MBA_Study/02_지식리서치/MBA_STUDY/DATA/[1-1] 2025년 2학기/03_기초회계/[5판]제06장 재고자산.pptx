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slideLayouts/slideLayout7.xml" ContentType="application/vnd.openxmlformats-officedocument.presentationml.slideLayout+xml"/>
  <Override PartName="/ppt/theme/theme6.xml" ContentType="application/vnd.openxmlformats-officedocument.theme+xml"/>
  <Override PartName="/ppt/slideLayouts/slideLayout8.xml" ContentType="application/vnd.openxmlformats-officedocument.presentationml.slideLayout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  <p:sldMasterId id="2147483660" r:id="rId2"/>
    <p:sldMasterId id="2147483720" r:id="rId3"/>
    <p:sldMasterId id="2147483672" r:id="rId4"/>
    <p:sldMasterId id="2147483722" r:id="rId5"/>
    <p:sldMasterId id="2147483710" r:id="rId6"/>
    <p:sldMasterId id="2147483724" r:id="rId7"/>
    <p:sldMasterId id="2147483726" r:id="rId8"/>
  </p:sldMasterIdLst>
  <p:notesMasterIdLst>
    <p:notesMasterId r:id="rId47"/>
  </p:notesMasterIdLst>
  <p:handoutMasterIdLst>
    <p:handoutMasterId r:id="rId48"/>
  </p:handoutMasterIdLst>
  <p:sldIdLst>
    <p:sldId id="380" r:id="rId9"/>
    <p:sldId id="260" r:id="rId10"/>
    <p:sldId id="341" r:id="rId11"/>
    <p:sldId id="342" r:id="rId12"/>
    <p:sldId id="343" r:id="rId13"/>
    <p:sldId id="345" r:id="rId14"/>
    <p:sldId id="348" r:id="rId15"/>
    <p:sldId id="346" r:id="rId16"/>
    <p:sldId id="349" r:id="rId17"/>
    <p:sldId id="344" r:id="rId18"/>
    <p:sldId id="351" r:id="rId19"/>
    <p:sldId id="352" r:id="rId20"/>
    <p:sldId id="257" r:id="rId21"/>
    <p:sldId id="360" r:id="rId22"/>
    <p:sldId id="361" r:id="rId23"/>
    <p:sldId id="362" r:id="rId24"/>
    <p:sldId id="356" r:id="rId25"/>
    <p:sldId id="357" r:id="rId26"/>
    <p:sldId id="382" r:id="rId27"/>
    <p:sldId id="358" r:id="rId28"/>
    <p:sldId id="359" r:id="rId29"/>
    <p:sldId id="314" r:id="rId30"/>
    <p:sldId id="363" r:id="rId31"/>
    <p:sldId id="364" r:id="rId32"/>
    <p:sldId id="365" r:id="rId33"/>
    <p:sldId id="366" r:id="rId34"/>
    <p:sldId id="367" r:id="rId35"/>
    <p:sldId id="368" r:id="rId36"/>
    <p:sldId id="369" r:id="rId37"/>
    <p:sldId id="315" r:id="rId38"/>
    <p:sldId id="371" r:id="rId39"/>
    <p:sldId id="372" r:id="rId40"/>
    <p:sldId id="373" r:id="rId41"/>
    <p:sldId id="374" r:id="rId42"/>
    <p:sldId id="375" r:id="rId43"/>
    <p:sldId id="376" r:id="rId44"/>
    <p:sldId id="377" r:id="rId45"/>
    <p:sldId id="378" r:id="rId46"/>
  </p:sldIdLst>
  <p:sldSz cx="9144000" cy="6858000" type="screen4x3"/>
  <p:notesSz cx="6788150" cy="99234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9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2D61C8"/>
    <a:srgbClr val="257679"/>
    <a:srgbClr val="A0B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00" autoAdjust="0"/>
    <p:restoredTop sz="94710" autoAdjust="0"/>
  </p:normalViewPr>
  <p:slideViewPr>
    <p:cSldViewPr snapToGrid="0">
      <p:cViewPr varScale="1">
        <p:scale>
          <a:sx n="77" d="100"/>
          <a:sy n="77" d="100"/>
        </p:scale>
        <p:origin x="1440" y="267"/>
      </p:cViewPr>
      <p:guideLst>
        <p:guide orient="horz" pos="2137"/>
        <p:guide pos="290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57" d="100"/>
          <a:sy n="57" d="100"/>
        </p:scale>
        <p:origin x="3274" y="77"/>
      </p:cViewPr>
      <p:guideLst>
        <p:guide orient="horz" pos="3126"/>
        <p:guide pos="21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slide" Target="slides/slide31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slide" Target="slides/slide34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presProps" Target="presProp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handoutMaster" Target="handoutMasters/handoutMaster1.xml"/><Relationship Id="rId8" Type="http://schemas.openxmlformats.org/officeDocument/2006/relationships/slideMaster" Target="slideMasters/slideMaster8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1532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5047" y="0"/>
            <a:ext cx="2941532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D4E82-9012-4813-A800-96A0B7AF5900}" type="datetimeFigureOut">
              <a:rPr lang="ko-KR" altLang="en-US" smtClean="0"/>
              <a:pPr/>
              <a:t>2025-10-18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5568"/>
            <a:ext cx="2941532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5047" y="9425568"/>
            <a:ext cx="2941532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443CE8-4923-4E1A-85CA-D89EAFE5109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465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1532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5047" y="0"/>
            <a:ext cx="2941532" cy="49789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C95B5-18C1-42EE-BB0C-37AB4DC6D577}" type="datetimeFigureOut">
              <a:rPr lang="ko-KR" altLang="en-US" smtClean="0"/>
              <a:pPr/>
              <a:t>2025-10-18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2050" y="1239838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8815" y="4775666"/>
            <a:ext cx="5430520" cy="39073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5568"/>
            <a:ext cx="2941532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5047" y="9425568"/>
            <a:ext cx="2941532" cy="4978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4AB4DE-ADC0-48AC-BA49-A9E5E6D44F6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011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2840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471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3062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4705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93045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59995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14783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671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06832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98318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037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73866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9270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3229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5320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5953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0725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3536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61796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3711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35330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31268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774308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25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910662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3551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89980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74750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06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93199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4AB4DE-ADC0-48AC-BA49-A9E5E6D44F64}" type="slidenum">
              <a:rPr lang="ko-KR" altLang="en-US" smtClean="0"/>
              <a:pPr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094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5BB52F-B602-4BB5-98B1-6E5705B7728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3550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6390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5BB52F-B602-4BB5-98B1-6E5705B7728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4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467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8671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458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9202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0061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630833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글로벌 회계원리 </a:t>
            </a:r>
            <a:r>
              <a:rPr lang="en-US" altLang="ko-KR"/>
              <a:t>12e</a:t>
            </a:r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8184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8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4080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직사각형 226"/>
          <p:cNvSpPr/>
          <p:nvPr userDrawn="1"/>
        </p:nvSpPr>
        <p:spPr>
          <a:xfrm>
            <a:off x="0" y="0"/>
            <a:ext cx="9144001" cy="11349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9" name="그룹 228"/>
          <p:cNvGrpSpPr/>
          <p:nvPr userDrawn="1"/>
        </p:nvGrpSpPr>
        <p:grpSpPr>
          <a:xfrm>
            <a:off x="2136597" y="776824"/>
            <a:ext cx="3096814" cy="369332"/>
            <a:chOff x="2107219" y="613082"/>
            <a:chExt cx="3096814" cy="369332"/>
          </a:xfrm>
        </p:grpSpPr>
        <p:sp>
          <p:nvSpPr>
            <p:cNvPr id="224" name="TextBox 223"/>
            <p:cNvSpPr txBox="1"/>
            <p:nvPr userDrawn="1"/>
          </p:nvSpPr>
          <p:spPr>
            <a:xfrm>
              <a:off x="2376946" y="613082"/>
              <a:ext cx="28270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재고자산의 의의와 종류</a:t>
              </a:r>
            </a:p>
          </p:txBody>
        </p:sp>
        <p:sp>
          <p:nvSpPr>
            <p:cNvPr id="226" name="눈물 방울 225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0" name="그룹 249"/>
          <p:cNvGrpSpPr/>
          <p:nvPr userDrawn="1"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재고자산의 의의와 취득원가</a:t>
              </a:r>
            </a:p>
          </p:txBody>
        </p:sp>
      </p:grpSp>
      <p:sp>
        <p:nvSpPr>
          <p:cNvPr id="245" name="직사각형 244"/>
          <p:cNvSpPr/>
          <p:nvPr userDrawn="1"/>
        </p:nvSpPr>
        <p:spPr>
          <a:xfrm>
            <a:off x="7772400" y="-2"/>
            <a:ext cx="1371601" cy="20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6. </a:t>
            </a:r>
            <a:r>
              <a:rPr lang="ko-KR" altLang="en-US" sz="1200" b="1" dirty="0">
                <a:solidFill>
                  <a:schemeClr val="tx1"/>
                </a:solidFill>
              </a:rPr>
              <a:t>재고자산</a:t>
            </a:r>
          </a:p>
        </p:txBody>
      </p:sp>
      <p:sp>
        <p:nvSpPr>
          <p:cNvPr id="24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9745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28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직사각형 226"/>
          <p:cNvSpPr/>
          <p:nvPr userDrawn="1"/>
        </p:nvSpPr>
        <p:spPr>
          <a:xfrm>
            <a:off x="0" y="9236"/>
            <a:ext cx="9144001" cy="11349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29" name="그룹 228"/>
          <p:cNvGrpSpPr/>
          <p:nvPr userDrawn="1"/>
        </p:nvGrpSpPr>
        <p:grpSpPr>
          <a:xfrm>
            <a:off x="2136597" y="775727"/>
            <a:ext cx="3096814" cy="369332"/>
            <a:chOff x="2107219" y="611985"/>
            <a:chExt cx="3096814" cy="369332"/>
          </a:xfrm>
        </p:grpSpPr>
        <p:sp>
          <p:nvSpPr>
            <p:cNvPr id="224" name="TextBox 223"/>
            <p:cNvSpPr txBox="1"/>
            <p:nvPr userDrawn="1"/>
          </p:nvSpPr>
          <p:spPr>
            <a:xfrm>
              <a:off x="2376946" y="611985"/>
              <a:ext cx="28270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재고자산의 취득원가</a:t>
              </a:r>
            </a:p>
          </p:txBody>
        </p:sp>
        <p:sp>
          <p:nvSpPr>
            <p:cNvPr id="226" name="눈물 방울 225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0" name="그룹 249"/>
          <p:cNvGrpSpPr/>
          <p:nvPr userDrawn="1"/>
        </p:nvGrpSpPr>
        <p:grpSpPr>
          <a:xfrm>
            <a:off x="91285" y="145881"/>
            <a:ext cx="6661944" cy="769441"/>
            <a:chOff x="80163" y="415932"/>
            <a:chExt cx="6661944" cy="769441"/>
          </a:xfrm>
        </p:grpSpPr>
        <p:sp>
          <p:nvSpPr>
            <p:cNvPr id="251" name="TextBox 250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01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직사각형 251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53" name="TextBox 252"/>
            <p:cNvSpPr txBox="1"/>
            <p:nvPr userDrawn="1"/>
          </p:nvSpPr>
          <p:spPr>
            <a:xfrm>
              <a:off x="875385" y="520029"/>
              <a:ext cx="58667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재고자산의 의의와 취득원가</a:t>
              </a:r>
            </a:p>
          </p:txBody>
        </p:sp>
      </p:grpSp>
      <p:sp>
        <p:nvSpPr>
          <p:cNvPr id="245" name="직사각형 244"/>
          <p:cNvSpPr/>
          <p:nvPr userDrawn="1"/>
        </p:nvSpPr>
        <p:spPr>
          <a:xfrm>
            <a:off x="7772400" y="-2"/>
            <a:ext cx="1371601" cy="20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6. </a:t>
            </a:r>
            <a:r>
              <a:rPr lang="ko-KR" altLang="en-US" sz="1200" b="1" dirty="0">
                <a:solidFill>
                  <a:schemeClr val="tx1"/>
                </a:solidFill>
              </a:rPr>
              <a:t>재고자산</a:t>
            </a:r>
          </a:p>
        </p:txBody>
      </p:sp>
      <p:sp>
        <p:nvSpPr>
          <p:cNvPr id="24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01100" y="6630833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0EEB826C-2140-4E69-8666-7BFCAA9ECB1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8538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직사각형 223"/>
          <p:cNvSpPr/>
          <p:nvPr userDrawn="1"/>
        </p:nvSpPr>
        <p:spPr>
          <a:xfrm>
            <a:off x="0" y="0"/>
            <a:ext cx="9144001" cy="11349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0" name="그룹 259"/>
          <p:cNvGrpSpPr/>
          <p:nvPr userDrawn="1"/>
        </p:nvGrpSpPr>
        <p:grpSpPr>
          <a:xfrm>
            <a:off x="4829288" y="382804"/>
            <a:ext cx="3063185" cy="369332"/>
            <a:chOff x="2107219" y="601866"/>
            <a:chExt cx="3063185" cy="369332"/>
          </a:xfrm>
        </p:grpSpPr>
        <p:sp>
          <p:nvSpPr>
            <p:cNvPr id="261" name="TextBox 260"/>
            <p:cNvSpPr txBox="1"/>
            <p:nvPr userDrawn="1"/>
          </p:nvSpPr>
          <p:spPr>
            <a:xfrm>
              <a:off x="2343317" y="601866"/>
              <a:ext cx="28270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1" dirty="0" err="1">
                  <a:latin typeface="맑은 고딕" panose="020B0503020000020004" pitchFamily="50" charset="-127"/>
                  <a:ea typeface="+mn-ea"/>
                </a:rPr>
                <a:t>계속기록법</a:t>
              </a:r>
              <a:endParaRPr lang="ko-KR" altLang="en-US" b="1" dirty="0"/>
            </a:p>
          </p:txBody>
        </p:sp>
        <p:sp>
          <p:nvSpPr>
            <p:cNvPr id="264" name="눈물 방울 263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5" name="그룹 264"/>
          <p:cNvGrpSpPr/>
          <p:nvPr userDrawn="1"/>
        </p:nvGrpSpPr>
        <p:grpSpPr>
          <a:xfrm>
            <a:off x="91285" y="145881"/>
            <a:ext cx="5890414" cy="769441"/>
            <a:chOff x="80163" y="415932"/>
            <a:chExt cx="5890414" cy="769441"/>
          </a:xfrm>
        </p:grpSpPr>
        <p:sp>
          <p:nvSpPr>
            <p:cNvPr id="266" name="TextBox 26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7" name="직사각형 26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68" name="TextBox 267"/>
            <p:cNvSpPr txBox="1"/>
            <p:nvPr userDrawn="1"/>
          </p:nvSpPr>
          <p:spPr>
            <a:xfrm>
              <a:off x="841614" y="531177"/>
              <a:ext cx="512896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재고자산의 기록방법</a:t>
              </a:r>
            </a:p>
          </p:txBody>
        </p:sp>
      </p:grpSp>
      <p:sp>
        <p:nvSpPr>
          <p:cNvPr id="245" name="직사각형 244"/>
          <p:cNvSpPr/>
          <p:nvPr userDrawn="1"/>
        </p:nvSpPr>
        <p:spPr>
          <a:xfrm>
            <a:off x="7772400" y="-2"/>
            <a:ext cx="1371601" cy="20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6. </a:t>
            </a:r>
            <a:r>
              <a:rPr lang="ko-KR" altLang="en-US" sz="1200" b="1" dirty="0">
                <a:solidFill>
                  <a:schemeClr val="tx1"/>
                </a:solidFill>
              </a:rPr>
              <a:t>재고자산</a:t>
            </a:r>
          </a:p>
        </p:txBody>
      </p:sp>
    </p:spTree>
    <p:extLst>
      <p:ext uri="{BB962C8B-B14F-4D97-AF65-F5344CB8AC3E}">
        <p14:creationId xmlns:p14="http://schemas.microsoft.com/office/powerpoint/2010/main" val="3922562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직사각형 223"/>
          <p:cNvSpPr/>
          <p:nvPr userDrawn="1"/>
        </p:nvSpPr>
        <p:spPr>
          <a:xfrm>
            <a:off x="0" y="0"/>
            <a:ext cx="9144001" cy="11349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0" name="그룹 259"/>
          <p:cNvGrpSpPr/>
          <p:nvPr userDrawn="1"/>
        </p:nvGrpSpPr>
        <p:grpSpPr>
          <a:xfrm>
            <a:off x="4755423" y="423521"/>
            <a:ext cx="3063185" cy="369332"/>
            <a:chOff x="2107219" y="601866"/>
            <a:chExt cx="3063185" cy="369332"/>
          </a:xfrm>
        </p:grpSpPr>
        <p:sp>
          <p:nvSpPr>
            <p:cNvPr id="261" name="TextBox 260"/>
            <p:cNvSpPr txBox="1"/>
            <p:nvPr userDrawn="1"/>
          </p:nvSpPr>
          <p:spPr>
            <a:xfrm>
              <a:off x="2343317" y="601866"/>
              <a:ext cx="28270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1" dirty="0">
                  <a:latin typeface="맑은 고딕" panose="020B0503020000020004" pitchFamily="50" charset="-127"/>
                  <a:ea typeface="+mn-ea"/>
                </a:rPr>
                <a:t>실지재고조사법</a:t>
              </a:r>
              <a:endParaRPr lang="ko-KR" altLang="en-US" b="1" dirty="0"/>
            </a:p>
          </p:txBody>
        </p:sp>
        <p:grpSp>
          <p:nvGrpSpPr>
            <p:cNvPr id="262" name="그룹 261"/>
            <p:cNvGrpSpPr/>
            <p:nvPr userDrawn="1"/>
          </p:nvGrpSpPr>
          <p:grpSpPr>
            <a:xfrm>
              <a:off x="2107219" y="661472"/>
              <a:ext cx="2952664" cy="272552"/>
              <a:chOff x="2695066" y="1323731"/>
              <a:chExt cx="2952664" cy="272552"/>
            </a:xfrm>
          </p:grpSpPr>
          <p:sp>
            <p:nvSpPr>
              <p:cNvPr id="263" name="직사각형 262"/>
              <p:cNvSpPr/>
              <p:nvPr userDrawn="1"/>
            </p:nvSpPr>
            <p:spPr>
              <a:xfrm flipV="1">
                <a:off x="2839730" y="1579463"/>
                <a:ext cx="2808000" cy="16820"/>
              </a:xfrm>
              <a:prstGeom prst="rect">
                <a:avLst/>
              </a:prstGeom>
              <a:gradFill>
                <a:gsLst>
                  <a:gs pos="0">
                    <a:srgbClr val="257679">
                      <a:lumMod val="99000"/>
                    </a:srgbClr>
                  </a:gs>
                  <a:gs pos="44000">
                    <a:srgbClr val="4C979A"/>
                  </a:gs>
                  <a:gs pos="68000">
                    <a:srgbClr val="C8CED3"/>
                  </a:gs>
                  <a:gs pos="90000">
                    <a:srgbClr val="FDEAF0"/>
                  </a:gs>
                </a:gsLst>
                <a:lin ang="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  <p:sp>
            <p:nvSpPr>
              <p:cNvPr id="264" name="눈물 방울 263"/>
              <p:cNvSpPr/>
              <p:nvPr userDrawn="1"/>
            </p:nvSpPr>
            <p:spPr>
              <a:xfrm>
                <a:off x="2695066" y="1323731"/>
                <a:ext cx="272552" cy="272552"/>
              </a:xfrm>
              <a:prstGeom prst="teardrop">
                <a:avLst/>
              </a:prstGeom>
              <a:solidFill>
                <a:srgbClr val="25767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3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ko-KR" altLang="en-US" sz="13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65" name="그룹 264"/>
          <p:cNvGrpSpPr/>
          <p:nvPr userDrawn="1"/>
        </p:nvGrpSpPr>
        <p:grpSpPr>
          <a:xfrm>
            <a:off x="91285" y="145881"/>
            <a:ext cx="5890414" cy="769441"/>
            <a:chOff x="80163" y="415932"/>
            <a:chExt cx="5890414" cy="769441"/>
          </a:xfrm>
        </p:grpSpPr>
        <p:sp>
          <p:nvSpPr>
            <p:cNvPr id="266" name="TextBox 265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7" name="직사각형 266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68" name="TextBox 267"/>
            <p:cNvSpPr txBox="1"/>
            <p:nvPr userDrawn="1"/>
          </p:nvSpPr>
          <p:spPr>
            <a:xfrm>
              <a:off x="841614" y="531177"/>
              <a:ext cx="512896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재고자산의 기록방법</a:t>
              </a:r>
            </a:p>
          </p:txBody>
        </p:sp>
      </p:grpSp>
      <p:sp>
        <p:nvSpPr>
          <p:cNvPr id="245" name="직사각형 244"/>
          <p:cNvSpPr/>
          <p:nvPr userDrawn="1"/>
        </p:nvSpPr>
        <p:spPr>
          <a:xfrm>
            <a:off x="7772400" y="-2"/>
            <a:ext cx="1371601" cy="20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6. </a:t>
            </a:r>
            <a:r>
              <a:rPr lang="ko-KR" altLang="en-US" sz="1200" b="1" dirty="0">
                <a:solidFill>
                  <a:schemeClr val="tx1"/>
                </a:solidFill>
              </a:rPr>
              <a:t>재고자산</a:t>
            </a:r>
          </a:p>
        </p:txBody>
      </p:sp>
    </p:spTree>
    <p:extLst>
      <p:ext uri="{BB962C8B-B14F-4D97-AF65-F5344CB8AC3E}">
        <p14:creationId xmlns:p14="http://schemas.microsoft.com/office/powerpoint/2010/main" val="2533948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직사각형 223"/>
          <p:cNvSpPr/>
          <p:nvPr userDrawn="1"/>
        </p:nvSpPr>
        <p:spPr>
          <a:xfrm>
            <a:off x="0" y="0"/>
            <a:ext cx="9144001" cy="11349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0" name="그룹 259"/>
          <p:cNvGrpSpPr/>
          <p:nvPr userDrawn="1"/>
        </p:nvGrpSpPr>
        <p:grpSpPr>
          <a:xfrm>
            <a:off x="5631311" y="382804"/>
            <a:ext cx="3018148" cy="369332"/>
            <a:chOff x="2107219" y="607853"/>
            <a:chExt cx="3018148" cy="369332"/>
          </a:xfrm>
        </p:grpSpPr>
        <p:sp>
          <p:nvSpPr>
            <p:cNvPr id="261" name="TextBox 260"/>
            <p:cNvSpPr txBox="1"/>
            <p:nvPr userDrawn="1"/>
          </p:nvSpPr>
          <p:spPr>
            <a:xfrm>
              <a:off x="2298280" y="607853"/>
              <a:ext cx="28270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1" dirty="0">
                  <a:latin typeface="맑은 고딕" panose="020B0503020000020004" pitchFamily="50" charset="-127"/>
                  <a:ea typeface="+mn-ea"/>
                </a:rPr>
                <a:t>실제원가흐름</a:t>
              </a:r>
              <a:r>
                <a:rPr kumimoji="0" lang="en-US" altLang="ko-KR" sz="1800" b="1" dirty="0">
                  <a:latin typeface="맑은 고딕" panose="020B0503020000020004" pitchFamily="50" charset="-127"/>
                  <a:ea typeface="+mn-ea"/>
                </a:rPr>
                <a:t>: </a:t>
              </a:r>
              <a:r>
                <a:rPr kumimoji="0" lang="ko-KR" altLang="en-US" sz="1800" b="1" dirty="0" err="1">
                  <a:latin typeface="맑은 고딕" panose="020B0503020000020004" pitchFamily="50" charset="-127"/>
                  <a:ea typeface="+mn-ea"/>
                </a:rPr>
                <a:t>개별법</a:t>
              </a:r>
              <a:endParaRPr lang="ko-KR" altLang="en-US" b="1" dirty="0"/>
            </a:p>
          </p:txBody>
        </p:sp>
        <p:sp>
          <p:nvSpPr>
            <p:cNvPr id="264" name="눈물 방울 263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3" name="그룹 242"/>
          <p:cNvGrpSpPr/>
          <p:nvPr userDrawn="1"/>
        </p:nvGrpSpPr>
        <p:grpSpPr>
          <a:xfrm>
            <a:off x="91285" y="145881"/>
            <a:ext cx="5890414" cy="769441"/>
            <a:chOff x="80163" y="415932"/>
            <a:chExt cx="5890414" cy="769441"/>
          </a:xfrm>
        </p:grpSpPr>
        <p:sp>
          <p:nvSpPr>
            <p:cNvPr id="245" name="TextBox 244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6" name="직사각형 245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7" name="TextBox 246"/>
            <p:cNvSpPr txBox="1"/>
            <p:nvPr userDrawn="1"/>
          </p:nvSpPr>
          <p:spPr>
            <a:xfrm>
              <a:off x="841614" y="531177"/>
              <a:ext cx="512896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재고자산의 원가배분방법</a:t>
              </a:r>
            </a:p>
          </p:txBody>
        </p:sp>
      </p:grpSp>
      <p:sp>
        <p:nvSpPr>
          <p:cNvPr id="249" name="직사각형 248"/>
          <p:cNvSpPr/>
          <p:nvPr userDrawn="1"/>
        </p:nvSpPr>
        <p:spPr>
          <a:xfrm>
            <a:off x="7772400" y="-2"/>
            <a:ext cx="1371601" cy="20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6. </a:t>
            </a:r>
            <a:r>
              <a:rPr lang="ko-KR" altLang="en-US" sz="1200" b="1" dirty="0">
                <a:solidFill>
                  <a:schemeClr val="tx1"/>
                </a:solidFill>
              </a:rPr>
              <a:t>재고자산</a:t>
            </a:r>
          </a:p>
        </p:txBody>
      </p:sp>
    </p:spTree>
    <p:extLst>
      <p:ext uri="{BB962C8B-B14F-4D97-AF65-F5344CB8AC3E}">
        <p14:creationId xmlns:p14="http://schemas.microsoft.com/office/powerpoint/2010/main" val="2319932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직사각형 223"/>
          <p:cNvSpPr/>
          <p:nvPr userDrawn="1"/>
        </p:nvSpPr>
        <p:spPr>
          <a:xfrm>
            <a:off x="0" y="-2"/>
            <a:ext cx="9144001" cy="11349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0" name="그룹 259"/>
          <p:cNvGrpSpPr/>
          <p:nvPr userDrawn="1"/>
        </p:nvGrpSpPr>
        <p:grpSpPr>
          <a:xfrm>
            <a:off x="5588263" y="448357"/>
            <a:ext cx="3034982" cy="369332"/>
            <a:chOff x="2107219" y="613082"/>
            <a:chExt cx="3034982" cy="369332"/>
          </a:xfrm>
        </p:grpSpPr>
        <p:sp>
          <p:nvSpPr>
            <p:cNvPr id="261" name="TextBox 260"/>
            <p:cNvSpPr txBox="1"/>
            <p:nvPr userDrawn="1"/>
          </p:nvSpPr>
          <p:spPr>
            <a:xfrm>
              <a:off x="2315114" y="613082"/>
              <a:ext cx="282708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1" dirty="0">
                  <a:latin typeface="맑은 고딕" panose="020B0503020000020004" pitchFamily="50" charset="-127"/>
                  <a:ea typeface="+mn-ea"/>
                </a:rPr>
                <a:t>원가흐름의 가정</a:t>
              </a:r>
              <a:endParaRPr lang="ko-KR" altLang="en-US" b="1" dirty="0"/>
            </a:p>
          </p:txBody>
        </p:sp>
        <p:sp>
          <p:nvSpPr>
            <p:cNvPr id="264" name="눈물 방울 263"/>
            <p:cNvSpPr/>
            <p:nvPr userDrawn="1"/>
          </p:nvSpPr>
          <p:spPr>
            <a:xfrm>
              <a:off x="2107219" y="661472"/>
              <a:ext cx="272552" cy="272552"/>
            </a:xfrm>
            <a:prstGeom prst="teardrop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35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3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3" name="그룹 242"/>
          <p:cNvGrpSpPr/>
          <p:nvPr userDrawn="1"/>
        </p:nvGrpSpPr>
        <p:grpSpPr>
          <a:xfrm>
            <a:off x="0" y="145881"/>
            <a:ext cx="6878782" cy="769441"/>
            <a:chOff x="80163" y="415932"/>
            <a:chExt cx="6903887" cy="769441"/>
          </a:xfrm>
        </p:grpSpPr>
        <p:sp>
          <p:nvSpPr>
            <p:cNvPr id="245" name="TextBox 244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03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6" name="직사각형 245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7" name="TextBox 246"/>
            <p:cNvSpPr txBox="1"/>
            <p:nvPr userDrawn="1"/>
          </p:nvSpPr>
          <p:spPr>
            <a:xfrm>
              <a:off x="946898" y="531177"/>
              <a:ext cx="603715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재고자산의 원가배분방법</a:t>
              </a:r>
            </a:p>
          </p:txBody>
        </p:sp>
      </p:grpSp>
      <p:sp>
        <p:nvSpPr>
          <p:cNvPr id="249" name="직사각형 248"/>
          <p:cNvSpPr/>
          <p:nvPr userDrawn="1"/>
        </p:nvSpPr>
        <p:spPr>
          <a:xfrm>
            <a:off x="7772400" y="-2"/>
            <a:ext cx="1371601" cy="20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6. </a:t>
            </a:r>
            <a:r>
              <a:rPr lang="ko-KR" altLang="en-US" sz="1200" b="1" dirty="0">
                <a:solidFill>
                  <a:schemeClr val="tx1"/>
                </a:solidFill>
              </a:rPr>
              <a:t>재고자산</a:t>
            </a:r>
          </a:p>
        </p:txBody>
      </p:sp>
    </p:spTree>
    <p:extLst>
      <p:ext uri="{BB962C8B-B14F-4D97-AF65-F5344CB8AC3E}">
        <p14:creationId xmlns:p14="http://schemas.microsoft.com/office/powerpoint/2010/main" val="41545467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직사각형 218"/>
          <p:cNvSpPr/>
          <p:nvPr userDrawn="1"/>
        </p:nvSpPr>
        <p:spPr>
          <a:xfrm>
            <a:off x="0" y="0"/>
            <a:ext cx="9144001" cy="11349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3" name="그룹 242"/>
          <p:cNvGrpSpPr/>
          <p:nvPr userDrawn="1"/>
        </p:nvGrpSpPr>
        <p:grpSpPr>
          <a:xfrm>
            <a:off x="91285" y="145881"/>
            <a:ext cx="5890414" cy="769441"/>
            <a:chOff x="80163" y="415932"/>
            <a:chExt cx="5890414" cy="769441"/>
          </a:xfrm>
        </p:grpSpPr>
        <p:sp>
          <p:nvSpPr>
            <p:cNvPr id="245" name="TextBox 244"/>
            <p:cNvSpPr txBox="1"/>
            <p:nvPr userDrawn="1"/>
          </p:nvSpPr>
          <p:spPr>
            <a:xfrm>
              <a:off x="80163" y="415932"/>
              <a:ext cx="83244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b="1" dirty="0">
                  <a:latin typeface="Arial" panose="020B0604020202020204" pitchFamily="34" charset="0"/>
                  <a:cs typeface="Arial" panose="020B0604020202020204" pitchFamily="34" charset="0"/>
                </a:rPr>
                <a:t>04</a:t>
              </a:r>
              <a:endParaRPr lang="ko-KR" altLang="en-US" sz="32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6" name="직사각형 245"/>
            <p:cNvSpPr/>
            <p:nvPr userDrawn="1"/>
          </p:nvSpPr>
          <p:spPr>
            <a:xfrm rot="16200000">
              <a:off x="552635" y="783508"/>
              <a:ext cx="611833" cy="3428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350"/>
            </a:p>
          </p:txBody>
        </p:sp>
        <p:sp>
          <p:nvSpPr>
            <p:cNvPr id="247" name="TextBox 246"/>
            <p:cNvSpPr txBox="1"/>
            <p:nvPr userDrawn="1"/>
          </p:nvSpPr>
          <p:spPr>
            <a:xfrm>
              <a:off x="841614" y="531177"/>
              <a:ext cx="512896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3200" b="1" dirty="0"/>
                <a:t>재고자산의 저가평가</a:t>
              </a:r>
            </a:p>
          </p:txBody>
        </p:sp>
      </p:grpSp>
      <p:sp>
        <p:nvSpPr>
          <p:cNvPr id="232" name="직사각형 231"/>
          <p:cNvSpPr/>
          <p:nvPr userDrawn="1"/>
        </p:nvSpPr>
        <p:spPr>
          <a:xfrm>
            <a:off x="7772400" y="-2"/>
            <a:ext cx="1371601" cy="208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6. </a:t>
            </a:r>
            <a:r>
              <a:rPr lang="ko-KR" altLang="en-US" sz="1200" b="1" dirty="0">
                <a:solidFill>
                  <a:schemeClr val="tx1"/>
                </a:solidFill>
              </a:rPr>
              <a:t>재고자산</a:t>
            </a:r>
          </a:p>
        </p:txBody>
      </p:sp>
    </p:spTree>
    <p:extLst>
      <p:ext uri="{BB962C8B-B14F-4D97-AF65-F5344CB8AC3E}">
        <p14:creationId xmlns:p14="http://schemas.microsoft.com/office/powerpoint/2010/main" val="3928823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6238431"/>
            <a:ext cx="9144000" cy="619569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1027679" y="1230649"/>
            <a:ext cx="7161667" cy="1618301"/>
            <a:chOff x="1226912" y="2130843"/>
            <a:chExt cx="7161667" cy="1618301"/>
          </a:xfrm>
        </p:grpSpPr>
        <p:sp>
          <p:nvSpPr>
            <p:cNvPr id="9" name="TextBox 8"/>
            <p:cNvSpPr txBox="1"/>
            <p:nvPr/>
          </p:nvSpPr>
          <p:spPr>
            <a:xfrm>
              <a:off x="2526164" y="2274456"/>
              <a:ext cx="586241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54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재고자산</a:t>
              </a:r>
            </a:p>
          </p:txBody>
        </p:sp>
        <p:cxnSp>
          <p:nvCxnSpPr>
            <p:cNvPr id="10" name="직선 연결선 9"/>
            <p:cNvCxnSpPr/>
            <p:nvPr/>
          </p:nvCxnSpPr>
          <p:spPr>
            <a:xfrm>
              <a:off x="2901872" y="3400037"/>
              <a:ext cx="3147235" cy="0"/>
            </a:xfrm>
            <a:prstGeom prst="line">
              <a:avLst/>
            </a:prstGeom>
            <a:ln w="38100">
              <a:solidFill>
                <a:srgbClr val="406FA7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9"/>
            <p:cNvSpPr txBox="1">
              <a:spLocks noChangeArrowheads="1"/>
            </p:cNvSpPr>
            <p:nvPr/>
          </p:nvSpPr>
          <p:spPr bwMode="auto">
            <a:xfrm>
              <a:off x="2901872" y="3472118"/>
              <a:ext cx="3147236" cy="277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algn="l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dist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굴림" panose="020B0600000101010101" pitchFamily="50" charset="-127"/>
                  <a:cs typeface="Arial" panose="020B0604020202020204" pitchFamily="34" charset="0"/>
                </a:rPr>
                <a:t>INVENTORY</a:t>
              </a:r>
            </a:p>
          </p:txBody>
        </p:sp>
        <p:grpSp>
          <p:nvGrpSpPr>
            <p:cNvPr id="3" name="그룹 2"/>
            <p:cNvGrpSpPr/>
            <p:nvPr/>
          </p:nvGrpSpPr>
          <p:grpSpPr>
            <a:xfrm>
              <a:off x="1226912" y="2130843"/>
              <a:ext cx="1174535" cy="1329738"/>
              <a:chOff x="1226912" y="2281318"/>
              <a:chExt cx="1174535" cy="1329738"/>
            </a:xfrm>
          </p:grpSpPr>
          <p:sp>
            <p:nvSpPr>
              <p:cNvPr id="20" name="자유형 19"/>
              <p:cNvSpPr/>
              <p:nvPr/>
            </p:nvSpPr>
            <p:spPr>
              <a:xfrm>
                <a:off x="1226912" y="2281318"/>
                <a:ext cx="1174535" cy="1329738"/>
              </a:xfrm>
              <a:custGeom>
                <a:avLst/>
                <a:gdLst>
                  <a:gd name="connsiteX0" fmla="*/ 687736 w 1174535"/>
                  <a:gd name="connsiteY0" fmla="*/ 178488 h 1329738"/>
                  <a:gd name="connsiteX1" fmla="*/ 1174535 w 1174535"/>
                  <a:gd name="connsiteY1" fmla="*/ 665287 h 1329738"/>
                  <a:gd name="connsiteX2" fmla="*/ 687736 w 1174535"/>
                  <a:gd name="connsiteY2" fmla="*/ 1152086 h 1329738"/>
                  <a:gd name="connsiteX3" fmla="*/ 200937 w 1174535"/>
                  <a:gd name="connsiteY3" fmla="*/ 665287 h 1329738"/>
                  <a:gd name="connsiteX4" fmla="*/ 687736 w 1174535"/>
                  <a:gd name="connsiteY4" fmla="*/ 178488 h 1329738"/>
                  <a:gd name="connsiteX5" fmla="*/ 664869 w 1174535"/>
                  <a:gd name="connsiteY5" fmla="*/ 0 h 1329738"/>
                  <a:gd name="connsiteX6" fmla="*/ 664869 w 1174535"/>
                  <a:gd name="connsiteY6" fmla="*/ 107437 h 1329738"/>
                  <a:gd name="connsiteX7" fmla="*/ 107437 w 1174535"/>
                  <a:gd name="connsiteY7" fmla="*/ 664869 h 1329738"/>
                  <a:gd name="connsiteX8" fmla="*/ 664869 w 1174535"/>
                  <a:gd name="connsiteY8" fmla="*/ 1222301 h 1329738"/>
                  <a:gd name="connsiteX9" fmla="*/ 664869 w 1174535"/>
                  <a:gd name="connsiteY9" fmla="*/ 1329738 h 1329738"/>
                  <a:gd name="connsiteX10" fmla="*/ 0 w 1174535"/>
                  <a:gd name="connsiteY10" fmla="*/ 664869 h 1329738"/>
                  <a:gd name="connsiteX11" fmla="*/ 664869 w 1174535"/>
                  <a:gd name="connsiteY11" fmla="*/ 0 h 1329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74535" h="1329738">
                    <a:moveTo>
                      <a:pt x="687736" y="178488"/>
                    </a:moveTo>
                    <a:cubicBezTo>
                      <a:pt x="956588" y="178488"/>
                      <a:pt x="1174535" y="396435"/>
                      <a:pt x="1174535" y="665287"/>
                    </a:cubicBezTo>
                    <a:cubicBezTo>
                      <a:pt x="1174535" y="934139"/>
                      <a:pt x="956588" y="1152086"/>
                      <a:pt x="687736" y="1152086"/>
                    </a:cubicBezTo>
                    <a:cubicBezTo>
                      <a:pt x="418884" y="1152086"/>
                      <a:pt x="200937" y="934139"/>
                      <a:pt x="200937" y="665287"/>
                    </a:cubicBezTo>
                    <a:cubicBezTo>
                      <a:pt x="200937" y="396435"/>
                      <a:pt x="418884" y="178488"/>
                      <a:pt x="687736" y="178488"/>
                    </a:cubicBezTo>
                    <a:close/>
                    <a:moveTo>
                      <a:pt x="664869" y="0"/>
                    </a:moveTo>
                    <a:lnTo>
                      <a:pt x="664869" y="107437"/>
                    </a:lnTo>
                    <a:cubicBezTo>
                      <a:pt x="357008" y="107437"/>
                      <a:pt x="107437" y="357008"/>
                      <a:pt x="107437" y="664869"/>
                    </a:cubicBezTo>
                    <a:cubicBezTo>
                      <a:pt x="107437" y="972730"/>
                      <a:pt x="357008" y="1222301"/>
                      <a:pt x="664869" y="1222301"/>
                    </a:cubicBezTo>
                    <a:lnTo>
                      <a:pt x="664869" y="1329738"/>
                    </a:lnTo>
                    <a:cubicBezTo>
                      <a:pt x="297672" y="1329738"/>
                      <a:pt x="0" y="1032066"/>
                      <a:pt x="0" y="664869"/>
                    </a:cubicBezTo>
                    <a:cubicBezTo>
                      <a:pt x="0" y="297672"/>
                      <a:pt x="297672" y="0"/>
                      <a:pt x="664869" y="0"/>
                    </a:cubicBezTo>
                    <a:close/>
                  </a:path>
                </a:pathLst>
              </a:custGeom>
              <a:gradFill>
                <a:gsLst>
                  <a:gs pos="37000">
                    <a:srgbClr val="406FA7"/>
                  </a:gs>
                  <a:gs pos="52000">
                    <a:srgbClr val="4C979A"/>
                  </a:gs>
                  <a:gs pos="100000">
                    <a:schemeClr val="bg1">
                      <a:lumMod val="85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" name="TextBox 1"/>
              <p:cNvSpPr txBox="1"/>
              <p:nvPr/>
            </p:nvSpPr>
            <p:spPr>
              <a:xfrm>
                <a:off x="1518125" y="2560075"/>
                <a:ext cx="81806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44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06</a:t>
                </a:r>
                <a:endParaRPr lang="ko-KR" altLang="en-US" sz="4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EFE60EE-D416-4C87-A47F-51FA89CA6507}"/>
              </a:ext>
            </a:extLst>
          </p:cNvPr>
          <p:cNvSpPr txBox="1"/>
          <p:nvPr/>
        </p:nvSpPr>
        <p:spPr>
          <a:xfrm>
            <a:off x="5852160" y="6356703"/>
            <a:ext cx="329184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사례와 함께하는 </a:t>
            </a:r>
            <a:r>
              <a:rPr lang="ko-KR" altLang="en-US" sz="2600" b="1" dirty="0">
                <a:solidFill>
                  <a:schemeClr val="bg1"/>
                </a:solidFill>
                <a:latin typeface="함초롬바탕 확장" panose="02030504000101010101" pitchFamily="18" charset="-127"/>
                <a:ea typeface="함초롬바탕 확장" panose="02030504000101010101" pitchFamily="18" charset="-127"/>
              </a:rPr>
              <a:t>회계원리</a:t>
            </a:r>
          </a:p>
        </p:txBody>
      </p:sp>
    </p:spTree>
    <p:extLst>
      <p:ext uri="{BB962C8B-B14F-4D97-AF65-F5344CB8AC3E}">
        <p14:creationId xmlns:p14="http://schemas.microsoft.com/office/powerpoint/2010/main" val="3641230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5"/>
          <p:cNvSpPr>
            <a:spLocks noChangeArrowheads="1"/>
          </p:cNvSpPr>
          <p:nvPr/>
        </p:nvSpPr>
        <p:spPr bwMode="auto">
          <a:xfrm>
            <a:off x="159333" y="1278403"/>
            <a:ext cx="8435759" cy="5210258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360000" indent="-180000" latinLnBrk="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50" charset="-127"/>
              </a:rPr>
              <a:t>정의 </a:t>
            </a:r>
            <a:r>
              <a:rPr lang="en-US" altLang="ko-KR" sz="1600" dirty="0">
                <a:latin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</a:rPr>
              <a:t>기업이 정상적인 영업활동중에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’</a:t>
            </a: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판매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’</a:t>
            </a:r>
            <a:r>
              <a:rPr lang="ko-KR" altLang="en-US" sz="1600" dirty="0">
                <a:latin typeface="맑은 고딕" panose="020B0503020000020004" pitchFamily="50" charset="-127"/>
              </a:rPr>
              <a:t>할 목적으로 보유하는 자산 </a:t>
            </a:r>
            <a:r>
              <a:rPr lang="en-US" altLang="ko-KR" sz="1600" dirty="0">
                <a:latin typeface="맑은 고딕" panose="020B0503020000020004" pitchFamily="50" charset="-127"/>
              </a:rPr>
              <a:t>          </a:t>
            </a:r>
          </a:p>
          <a:p>
            <a:pPr marL="360000" indent="-180000" latinLnBrk="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50" charset="-127"/>
              </a:rPr>
              <a:t>분류 </a:t>
            </a:r>
            <a:r>
              <a:rPr lang="en-US" altLang="ko-KR" sz="1600" dirty="0">
                <a:latin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</a:rPr>
              <a:t>기업의 형태에 따라 달라짐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    &lt;</a:t>
            </a:r>
            <a:r>
              <a:rPr lang="ko-KR" altLang="en-US" sz="1600" dirty="0">
                <a:latin typeface="맑은 고딕" panose="020B0503020000020004" pitchFamily="50" charset="-127"/>
              </a:rPr>
              <a:t>상품매매기업 또는 유통기업</a:t>
            </a:r>
            <a:r>
              <a:rPr lang="en-US" altLang="ko-KR" sz="1600" dirty="0">
                <a:latin typeface="맑은 고딕" panose="020B0503020000020004" pitchFamily="50" charset="-127"/>
              </a:rPr>
              <a:t>&gt;</a:t>
            </a:r>
          </a:p>
          <a:p>
            <a:pPr lvl="1" latinLnBrk="0">
              <a:lnSpc>
                <a:spcPts val="2400"/>
              </a:lnSpc>
              <a:spcBef>
                <a:spcPct val="0"/>
              </a:spcBef>
              <a:buClr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① </a:t>
            </a:r>
            <a:r>
              <a:rPr lang="ko-KR" altLang="en-US" sz="1600" b="1" dirty="0">
                <a:latin typeface="맑은 고딕" panose="020B0503020000020004" pitchFamily="50" charset="-127"/>
              </a:rPr>
              <a:t>상품</a:t>
            </a: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</a:rPr>
              <a:t>완성된 상품을 외부에서 구입하여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재판매하는</a:t>
            </a:r>
            <a:r>
              <a:rPr lang="ko-KR" altLang="en-US" sz="1600" dirty="0">
                <a:latin typeface="맑은 고딕" panose="020B0503020000020004" pitchFamily="50" charset="-127"/>
              </a:rPr>
              <a:t> 재고자산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    &lt;</a:t>
            </a:r>
            <a:r>
              <a:rPr lang="ko-KR" altLang="en-US" sz="1600" dirty="0">
                <a:latin typeface="맑은 고딕" panose="020B0503020000020004" pitchFamily="50" charset="-127"/>
              </a:rPr>
              <a:t>제조기업</a:t>
            </a:r>
            <a:r>
              <a:rPr lang="en-US" altLang="ko-KR" sz="1600" dirty="0">
                <a:latin typeface="맑은 고딕" panose="020B0503020000020004" pitchFamily="50" charset="-127"/>
              </a:rPr>
              <a:t>&gt;</a:t>
            </a: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lvl="1" latinLnBrk="0">
              <a:lnSpc>
                <a:spcPts val="2400"/>
              </a:lnSpc>
              <a:spcBef>
                <a:spcPct val="0"/>
              </a:spcBef>
              <a:buClr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② </a:t>
            </a:r>
            <a:r>
              <a:rPr lang="ko-KR" altLang="en-US" sz="1600" b="1" dirty="0">
                <a:latin typeface="맑은 고딕" panose="020B0503020000020004" pitchFamily="50" charset="-127"/>
              </a:rPr>
              <a:t>원재료</a:t>
            </a: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</a:rPr>
              <a:t>제조활동에 투입되어 완제품을 제조할 목적으로 구입한 원료와 재료</a:t>
            </a:r>
          </a:p>
          <a:p>
            <a:pPr lvl="1" latinLnBrk="0">
              <a:lnSpc>
                <a:spcPts val="2400"/>
              </a:lnSpc>
              <a:spcBef>
                <a:spcPct val="0"/>
              </a:spcBef>
              <a:buClrTx/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③ 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재공품</a:t>
            </a: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</a:rPr>
              <a:t>:</a:t>
            </a:r>
            <a:r>
              <a:rPr lang="ko-KR" altLang="en-US" sz="1600" dirty="0">
                <a:latin typeface="맑은 고딕" panose="020B0503020000020004" pitchFamily="50" charset="-127"/>
              </a:rPr>
              <a:t> 생산공정에 있는 미완성품 </a:t>
            </a:r>
          </a:p>
          <a:p>
            <a:pPr lvl="1" latinLnBrk="0">
              <a:lnSpc>
                <a:spcPts val="2400"/>
              </a:lnSpc>
              <a:spcBef>
                <a:spcPct val="0"/>
              </a:spcBef>
              <a:buClr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④ </a:t>
            </a:r>
            <a:r>
              <a:rPr lang="ko-KR" altLang="en-US" sz="1600" b="1" dirty="0">
                <a:latin typeface="맑은 고딕" panose="020B0503020000020004" pitchFamily="50" charset="-127"/>
              </a:rPr>
              <a:t>제품</a:t>
            </a: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</a:rPr>
              <a:t>생산이 완료된 완제품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648000" lvl="1" indent="-108000" latinLnBrk="0">
              <a:lnSpc>
                <a:spcPts val="1800"/>
              </a:lnSpc>
              <a:spcBef>
                <a:spcPts val="600"/>
              </a:spcBef>
              <a:buClrTx/>
              <a:buNone/>
            </a:pPr>
            <a:r>
              <a:rPr lang="en-US" altLang="ko-KR" sz="1200" dirty="0">
                <a:latin typeface="맑은 고딕" panose="020B0503020000020004" pitchFamily="50" charset="-127"/>
              </a:rPr>
              <a:t>* </a:t>
            </a:r>
            <a:r>
              <a:rPr lang="ko-KR" altLang="en-US" sz="1200" dirty="0">
                <a:latin typeface="맑은 고딕" panose="020B0503020000020004" pitchFamily="50" charset="-127"/>
              </a:rPr>
              <a:t>본 장에서는 상품매매기업을 대상으로 재고자산 관련 회계처리를 살펴볼 것임</a:t>
            </a:r>
            <a:endParaRPr lang="en-US" altLang="ko-KR" sz="1200" dirty="0">
              <a:latin typeface="맑은 고딕" panose="020B0503020000020004" pitchFamily="50" charset="-127"/>
            </a:endParaRPr>
          </a:p>
          <a:p>
            <a:pPr lvl="1" latinLnBrk="0">
              <a:lnSpc>
                <a:spcPts val="2400"/>
              </a:lnSpc>
              <a:spcBef>
                <a:spcPct val="0"/>
              </a:spcBef>
              <a:buClrTx/>
              <a:buNone/>
            </a:pPr>
            <a:endParaRPr lang="en-US" altLang="ko-KR" sz="1200" dirty="0">
              <a:latin typeface="맑은 고딕" panose="020B0503020000020004" pitchFamily="50" charset="-127"/>
            </a:endParaRPr>
          </a:p>
          <a:p>
            <a:pPr lvl="1" latinLnBrk="0">
              <a:lnSpc>
                <a:spcPts val="2400"/>
              </a:lnSpc>
              <a:spcBef>
                <a:spcPct val="0"/>
              </a:spcBef>
              <a:buClrTx/>
              <a:buNone/>
            </a:pPr>
            <a:endParaRPr lang="en-US" altLang="ko-KR" sz="1200" dirty="0">
              <a:latin typeface="맑은 고딕" panose="020B0503020000020004" pitchFamily="50" charset="-127"/>
            </a:endParaRPr>
          </a:p>
          <a:p>
            <a:pPr lvl="1" latinLnBrk="0">
              <a:lnSpc>
                <a:spcPts val="2400"/>
              </a:lnSpc>
              <a:spcBef>
                <a:spcPct val="0"/>
              </a:spcBef>
              <a:buClrTx/>
              <a:buNone/>
            </a:pPr>
            <a:endParaRPr lang="en-US" altLang="ko-KR" sz="15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endParaRPr lang="ko-KR" altLang="en-US" sz="15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endParaRPr lang="en-US" altLang="ko-KR" sz="1800" dirty="0">
              <a:latin typeface="맑은 고딕" panose="020B0503020000020004" pitchFamily="50" charset="-127"/>
            </a:endParaRPr>
          </a:p>
        </p:txBody>
      </p:sp>
      <p:grpSp>
        <p:nvGrpSpPr>
          <p:cNvPr id="25" name="그룹 24"/>
          <p:cNvGrpSpPr/>
          <p:nvPr/>
        </p:nvGrpSpPr>
        <p:grpSpPr>
          <a:xfrm>
            <a:off x="426194" y="4417166"/>
            <a:ext cx="8291612" cy="365100"/>
            <a:chOff x="1287462" y="4737466"/>
            <a:chExt cx="8291612" cy="365100"/>
          </a:xfrm>
        </p:grpSpPr>
        <p:sp>
          <p:nvSpPr>
            <p:cNvPr id="26" name="오각형 25"/>
            <p:cNvSpPr/>
            <p:nvPr/>
          </p:nvSpPr>
          <p:spPr>
            <a:xfrm>
              <a:off x="1287462" y="4807765"/>
              <a:ext cx="792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그림 </a:t>
              </a:r>
              <a:r>
                <a:rPr lang="en-US" altLang="ko-KR" sz="1400" b="1" dirty="0"/>
                <a:t>1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062447" y="4737466"/>
              <a:ext cx="7516627" cy="3651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0">
                <a:lnSpc>
                  <a:spcPts val="2400"/>
                </a:lnSpc>
                <a:spcBef>
                  <a:spcPct val="0"/>
                </a:spcBef>
                <a:buClrTx/>
                <a:buSzTx/>
              </a:pPr>
              <a:r>
                <a:rPr lang="ko-KR" altLang="en-US" sz="1400" b="1" dirty="0">
                  <a:latin typeface="맑은 고딕" panose="020B0503020000020004" pitchFamily="50" charset="-127"/>
                </a:rPr>
                <a:t>상품매매기업의 영업순환과정</a:t>
              </a:r>
              <a:endParaRPr lang="en-US" altLang="ko-KR" sz="1400" b="1" dirty="0">
                <a:latin typeface="맑은 고딕" panose="020B0503020000020004" pitchFamily="50" charset="-127"/>
              </a:endParaRP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 l="5143" t="26794" r="10714" b="32190"/>
          <a:stretch>
            <a:fillRect/>
          </a:stretch>
        </p:blipFill>
        <p:spPr bwMode="auto">
          <a:xfrm>
            <a:off x="1302186" y="4792929"/>
            <a:ext cx="5506620" cy="1429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92616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5"/>
          <p:cNvSpPr>
            <a:spLocks noChangeArrowheads="1"/>
          </p:cNvSpPr>
          <p:nvPr/>
        </p:nvSpPr>
        <p:spPr bwMode="auto">
          <a:xfrm>
            <a:off x="257594" y="1389240"/>
            <a:ext cx="8621230" cy="5210258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600" b="1" dirty="0">
                <a:latin typeface="맑은 고딕" panose="020B0503020000020004" pitchFamily="50" charset="-127"/>
              </a:rPr>
              <a:t>상품매매기업</a:t>
            </a:r>
            <a:endParaRPr lang="en-US" altLang="ko-KR" sz="1600" b="1" dirty="0">
              <a:latin typeface="맑은 고딕" panose="020B0503020000020004" pitchFamily="50" charset="-127"/>
            </a:endParaRPr>
          </a:p>
          <a:p>
            <a:pPr marL="285750" indent="-285750" latinLnBrk="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50" charset="-127"/>
              </a:rPr>
              <a:t>외부에서 상품을 구입하고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이를 판매하여 대금을 회수하는 것이 주요 영업활동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576000" indent="-288000" latinLnBrk="0">
              <a:lnSpc>
                <a:spcPts val="24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예</a:t>
            </a:r>
            <a:r>
              <a:rPr lang="en-US" altLang="ko-KR" sz="1600" dirty="0">
                <a:latin typeface="맑은 고딕" panose="020B0503020000020004" pitchFamily="50" charset="-127"/>
              </a:rPr>
              <a:t>) </a:t>
            </a:r>
            <a:r>
              <a:rPr lang="ko-KR" altLang="en-US" sz="1600" dirty="0">
                <a:latin typeface="맑은 고딕" panose="020B0503020000020004" pitchFamily="50" charset="-127"/>
              </a:rPr>
              <a:t>상품 </a:t>
            </a:r>
            <a:r>
              <a:rPr lang="en-US" altLang="ko-KR" sz="1600" dirty="0">
                <a:latin typeface="맑은 고딕" panose="020B0503020000020004" pitchFamily="50" charset="-127"/>
              </a:rPr>
              <a:t>100</a:t>
            </a:r>
            <a:r>
              <a:rPr lang="ko-KR" altLang="en-US" sz="1600" dirty="0">
                <a:latin typeface="맑은 고딕" panose="020B0503020000020004" pitchFamily="50" charset="-127"/>
              </a:rPr>
              <a:t>개를 원가 </a:t>
            </a:r>
            <a:r>
              <a:rPr lang="en-US" altLang="ko-KR" sz="1600" dirty="0">
                <a:latin typeface="맑은 고딕" panose="020B0503020000020004" pitchFamily="50" charset="-127"/>
              </a:rPr>
              <a:t>\100</a:t>
            </a:r>
            <a:r>
              <a:rPr lang="ko-KR" altLang="en-US" sz="1600" dirty="0">
                <a:latin typeface="맑은 고딕" panose="020B0503020000020004" pitchFamily="50" charset="-127"/>
              </a:rPr>
              <a:t>원에 구입하여 이중 </a:t>
            </a:r>
            <a:r>
              <a:rPr lang="en-US" altLang="ko-KR" sz="1600" dirty="0">
                <a:latin typeface="맑은 고딕" panose="020B0503020000020004" pitchFamily="50" charset="-127"/>
              </a:rPr>
              <a:t>80</a:t>
            </a:r>
            <a:r>
              <a:rPr lang="ko-KR" altLang="en-US" sz="1600" dirty="0">
                <a:latin typeface="맑은 고딕" panose="020B0503020000020004" pitchFamily="50" charset="-127"/>
              </a:rPr>
              <a:t>개를 개당 </a:t>
            </a:r>
            <a:r>
              <a:rPr lang="en-US" altLang="ko-KR" sz="1600" dirty="0">
                <a:latin typeface="맑은 고딕" panose="020B0503020000020004" pitchFamily="50" charset="-127"/>
              </a:rPr>
              <a:t>\150</a:t>
            </a:r>
            <a:r>
              <a:rPr lang="ko-KR" altLang="en-US" sz="1600" dirty="0">
                <a:latin typeface="맑은 고딕" panose="020B0503020000020004" pitchFamily="50" charset="-127"/>
              </a:rPr>
              <a:t>에 판매</a:t>
            </a:r>
            <a:r>
              <a:rPr lang="en-US" altLang="ko-KR" sz="1600" dirty="0">
                <a:latin typeface="맑은 고딕" panose="020B0503020000020004" pitchFamily="50" charset="-127"/>
              </a:rPr>
              <a:t>.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미판매된</a:t>
            </a: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</a:rPr>
              <a:t>20</a:t>
            </a:r>
            <a:r>
              <a:rPr lang="ko-KR" altLang="en-US" sz="1600" dirty="0">
                <a:latin typeface="맑은 고딕" panose="020B0503020000020004" pitchFamily="50" charset="-127"/>
              </a:rPr>
              <a:t>개는 기말재고자산으로 기록됨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285750" indent="-285750" latinLnBrk="0">
              <a:lnSpc>
                <a:spcPts val="24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50" charset="-127"/>
              </a:rPr>
              <a:t>구입한 상품이 </a:t>
            </a: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재고자산</a:t>
            </a:r>
            <a:r>
              <a:rPr lang="ko-KR" altLang="en-US" sz="1600" dirty="0">
                <a:latin typeface="맑은 고딕" panose="020B0503020000020004" pitchFamily="50" charset="-127"/>
              </a:rPr>
              <a:t>으로 표시되었다가</a:t>
            </a:r>
            <a:r>
              <a:rPr lang="en-US" altLang="ko-KR" sz="1600" dirty="0">
                <a:latin typeface="맑은 고딕" panose="020B0503020000020004" pitchFamily="50" charset="-127"/>
              </a:rPr>
              <a:t>,</a:t>
            </a: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매출</a:t>
            </a:r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수익</a:t>
            </a:r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) </a:t>
            </a:r>
            <a:r>
              <a:rPr lang="ko-KR" altLang="en-US" sz="1600" dirty="0">
                <a:latin typeface="맑은 고딕" panose="020B0503020000020004" pitchFamily="50" charset="-127"/>
              </a:rPr>
              <a:t>시점에 </a:t>
            </a: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매출원가</a:t>
            </a:r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비용</a:t>
            </a:r>
            <a:r>
              <a: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600" dirty="0">
                <a:latin typeface="맑은 고딕" panose="020B0503020000020004" pitchFamily="50" charset="-127"/>
              </a:rPr>
              <a:t>으로 전환됨</a:t>
            </a:r>
            <a:r>
              <a:rPr lang="en-US" altLang="ko-KR" sz="1600" dirty="0">
                <a:latin typeface="맑은 고딕" panose="020B0503020000020004" pitchFamily="50" charset="-127"/>
              </a:rPr>
              <a:t> </a:t>
            </a:r>
          </a:p>
          <a:p>
            <a:pPr lvl="1" latinLnBrk="0">
              <a:lnSpc>
                <a:spcPts val="2400"/>
              </a:lnSpc>
              <a:spcBef>
                <a:spcPct val="0"/>
              </a:spcBef>
              <a:buClr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① 매출원가 </a:t>
            </a:r>
            <a:r>
              <a:rPr lang="en-US" altLang="ko-KR" sz="1600" dirty="0">
                <a:latin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</a:rPr>
              <a:t>판매된 상품의 원가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lvl="1" latinLnBrk="0">
              <a:lnSpc>
                <a:spcPts val="2400"/>
              </a:lnSpc>
              <a:spcBef>
                <a:spcPct val="0"/>
              </a:spcBef>
              <a:buClr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② 매출총이익 </a:t>
            </a:r>
            <a:r>
              <a:rPr lang="en-US" altLang="ko-KR" sz="1600" dirty="0">
                <a:latin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</a:rPr>
              <a:t>매출에서 매출원가를 차감한 금액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lvl="1" latinLnBrk="0">
              <a:lnSpc>
                <a:spcPts val="2400"/>
              </a:lnSpc>
              <a:spcBef>
                <a:spcPct val="0"/>
              </a:spcBef>
              <a:buClr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③ 판매가능재고자산 </a:t>
            </a:r>
            <a:r>
              <a:rPr lang="en-US" altLang="ko-KR" sz="1600" dirty="0">
                <a:latin typeface="맑은 고딕" panose="020B0503020000020004" pitchFamily="50" charset="-127"/>
              </a:rPr>
              <a:t>: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기초재고액과</a:t>
            </a: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당기매입액을</a:t>
            </a:r>
            <a:r>
              <a:rPr lang="ko-KR" altLang="en-US" sz="1600" dirty="0">
                <a:latin typeface="맑은 고딕" panose="020B0503020000020004" pitchFamily="50" charset="-127"/>
              </a:rPr>
              <a:t> 합한 금액</a:t>
            </a:r>
          </a:p>
          <a:p>
            <a:pPr marL="285750" indent="-285750" latinLnBrk="0">
              <a:lnSpc>
                <a:spcPts val="24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50" charset="-127"/>
              </a:rPr>
              <a:t>기초재고자산과 당기에 매입한 재고자산을 </a:t>
            </a:r>
            <a:r>
              <a:rPr lang="ko-KR" altLang="en-US" sz="1600" b="1" dirty="0">
                <a:latin typeface="맑은 고딕" panose="020B0503020000020004" pitchFamily="50" charset="-127"/>
              </a:rPr>
              <a:t>매출원가</a:t>
            </a:r>
            <a:r>
              <a:rPr lang="en-US" altLang="ko-KR" sz="1600" dirty="0">
                <a:latin typeface="맑은 고딕" panose="020B0503020000020004" pitchFamily="50" charset="-127"/>
              </a:rPr>
              <a:t>(</a:t>
            </a:r>
            <a:r>
              <a:rPr lang="ko-KR" altLang="en-US" sz="1600" dirty="0">
                <a:latin typeface="맑은 고딕" panose="020B0503020000020004" pitchFamily="50" charset="-127"/>
              </a:rPr>
              <a:t>판매된 부분</a:t>
            </a:r>
            <a:r>
              <a:rPr lang="en-US" altLang="ko-KR" sz="1600" dirty="0">
                <a:latin typeface="맑은 고딕" panose="020B0503020000020004" pitchFamily="50" charset="-127"/>
              </a:rPr>
              <a:t>)</a:t>
            </a:r>
            <a:r>
              <a:rPr lang="ko-KR" altLang="en-US" sz="1600" dirty="0">
                <a:latin typeface="맑은 고딕" panose="020B0503020000020004" pitchFamily="50" charset="-127"/>
              </a:rPr>
              <a:t>와 </a:t>
            </a:r>
            <a:r>
              <a:rPr lang="ko-KR" altLang="en-US" sz="1600" b="1" dirty="0">
                <a:latin typeface="맑은 고딕" panose="020B0503020000020004" pitchFamily="50" charset="-127"/>
              </a:rPr>
              <a:t>재고자산</a:t>
            </a:r>
            <a:r>
              <a:rPr lang="en-US" altLang="ko-KR" sz="1600" dirty="0">
                <a:latin typeface="맑은 고딕" panose="020B0503020000020004" pitchFamily="50" charset="-127"/>
              </a:rPr>
              <a:t>(</a:t>
            </a:r>
            <a:r>
              <a:rPr lang="ko-KR" altLang="en-US" sz="1600" dirty="0" err="1">
                <a:latin typeface="맑은 고딕" panose="020B0503020000020004" pitchFamily="50" charset="-127"/>
              </a:rPr>
              <a:t>미판매된</a:t>
            </a:r>
            <a:r>
              <a:rPr lang="ko-KR" altLang="en-US" sz="1600" dirty="0">
                <a:latin typeface="맑은 고딕" panose="020B0503020000020004" pitchFamily="50" charset="-127"/>
              </a:rPr>
              <a:t> 부분</a:t>
            </a:r>
            <a:r>
              <a:rPr lang="en-US" altLang="ko-KR" sz="1600" dirty="0">
                <a:latin typeface="맑은 고딕" panose="020B0503020000020004" pitchFamily="50" charset="-127"/>
              </a:rPr>
              <a:t>)</a:t>
            </a:r>
            <a:r>
              <a:rPr lang="ko-KR" altLang="en-US" sz="1600" dirty="0">
                <a:latin typeface="맑은 고딕" panose="020B0503020000020004" pitchFamily="50" charset="-127"/>
              </a:rPr>
              <a:t>으로 배분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285750" indent="-285750" latinLnBrk="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marL="285750" indent="-285750" latinLnBrk="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500" dirty="0">
                <a:latin typeface="맑은 고딕" panose="020B0503020000020004" pitchFamily="50" charset="-127"/>
              </a:rPr>
              <a:t>    </a:t>
            </a:r>
            <a:endParaRPr lang="en-US" altLang="ko-KR" sz="1800" dirty="0">
              <a:latin typeface="맑은 고딕" panose="020B0503020000020004" pitchFamily="50" charset="-127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38E0413-D2E4-4887-B31B-79DB3AA1263C}"/>
              </a:ext>
            </a:extLst>
          </p:cNvPr>
          <p:cNvSpPr/>
          <p:nvPr/>
        </p:nvSpPr>
        <p:spPr>
          <a:xfrm>
            <a:off x="1846719" y="4974798"/>
            <a:ext cx="5098472" cy="8682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ko-KR" sz="1600" b="1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기초재고＋당기매입＝판매가능재고자산</a:t>
            </a:r>
            <a:endParaRPr lang="ko-KR" altLang="ko-KR" sz="1600" b="1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 algn="ctr" latinLnBrk="0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ko-KR" altLang="ko-KR" sz="1600" b="1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판매가능재고자산−기말재고＝매출원가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597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5"/>
          <p:cNvSpPr>
            <a:spLocks noChangeArrowheads="1"/>
          </p:cNvSpPr>
          <p:nvPr/>
        </p:nvSpPr>
        <p:spPr bwMode="auto">
          <a:xfrm>
            <a:off x="257594" y="1389240"/>
            <a:ext cx="8435759" cy="5210258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ctr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lvl="1" latinLnBrk="0">
              <a:lnSpc>
                <a:spcPts val="2400"/>
              </a:lnSpc>
              <a:spcBef>
                <a:spcPct val="0"/>
              </a:spcBef>
              <a:buClrTx/>
              <a:buNone/>
            </a:pPr>
            <a:endParaRPr lang="en-US" altLang="ko-KR" sz="1200" b="1" dirty="0">
              <a:latin typeface="맑은 고딕" panose="020B0503020000020004" pitchFamily="50" charset="-127"/>
            </a:endParaRPr>
          </a:p>
          <a:p>
            <a:pPr lvl="1" latinLnBrk="0">
              <a:lnSpc>
                <a:spcPts val="2400"/>
              </a:lnSpc>
              <a:spcBef>
                <a:spcPct val="0"/>
              </a:spcBef>
              <a:buClrTx/>
              <a:buNone/>
            </a:pPr>
            <a:endParaRPr lang="en-US" altLang="ko-KR" sz="1200" b="1" dirty="0">
              <a:latin typeface="맑은 고딕" panose="020B0503020000020004" pitchFamily="50" charset="-127"/>
            </a:endParaRPr>
          </a:p>
          <a:p>
            <a:pPr lvl="1" latinLnBrk="0">
              <a:lnSpc>
                <a:spcPts val="2400"/>
              </a:lnSpc>
              <a:spcBef>
                <a:spcPct val="0"/>
              </a:spcBef>
              <a:buClrTx/>
              <a:buNone/>
            </a:pPr>
            <a:endParaRPr lang="en-US" altLang="ko-KR" sz="1500" b="1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endParaRPr lang="ko-KR" altLang="en-US" sz="1500" b="1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endParaRPr lang="en-US" altLang="ko-KR" sz="1800" b="1" dirty="0">
              <a:latin typeface="맑은 고딕" panose="020B0503020000020004" pitchFamily="50" charset="-127"/>
            </a:endParaRPr>
          </a:p>
        </p:txBody>
      </p:sp>
      <p:grpSp>
        <p:nvGrpSpPr>
          <p:cNvPr id="25" name="그룹 24"/>
          <p:cNvGrpSpPr/>
          <p:nvPr/>
        </p:nvGrpSpPr>
        <p:grpSpPr>
          <a:xfrm>
            <a:off x="536029" y="1685514"/>
            <a:ext cx="8291612" cy="367858"/>
            <a:chOff x="1287462" y="4730896"/>
            <a:chExt cx="8291612" cy="367858"/>
          </a:xfrm>
        </p:grpSpPr>
        <p:sp>
          <p:nvSpPr>
            <p:cNvPr id="26" name="오각형 25"/>
            <p:cNvSpPr/>
            <p:nvPr/>
          </p:nvSpPr>
          <p:spPr>
            <a:xfrm>
              <a:off x="1287462" y="4807765"/>
              <a:ext cx="792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그림 </a:t>
              </a:r>
              <a:r>
                <a:rPr lang="en-US" altLang="ko-KR" sz="1400" b="1" dirty="0"/>
                <a:t>2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062447" y="4730896"/>
              <a:ext cx="7516627" cy="3678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0">
                <a:lnSpc>
                  <a:spcPts val="2400"/>
                </a:lnSpc>
                <a:spcBef>
                  <a:spcPct val="0"/>
                </a:spcBef>
                <a:buClrTx/>
                <a:buSzTx/>
              </a:pPr>
              <a:r>
                <a:rPr lang="ko-KR" altLang="en-US" sz="1600" b="1" dirty="0">
                  <a:latin typeface="맑은 고딕" panose="020B0503020000020004" pitchFamily="50" charset="-127"/>
                </a:rPr>
                <a:t>판매가능재고자산의 배분</a:t>
              </a:r>
              <a:endParaRPr lang="en-US" altLang="ko-KR" sz="1600" b="1" dirty="0">
                <a:latin typeface="맑은 고딕" panose="020B0503020000020004" pitchFamily="50" charset="-127"/>
              </a:endParaRP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 l="11357" t="21206" r="12286" b="19238"/>
          <a:stretch>
            <a:fillRect/>
          </a:stretch>
        </p:blipFill>
        <p:spPr bwMode="auto">
          <a:xfrm>
            <a:off x="501494" y="2109570"/>
            <a:ext cx="7893551" cy="3463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55234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232110"/>
            <a:ext cx="8711460" cy="5137518"/>
            <a:chOff x="190714" y="1320882"/>
            <a:chExt cx="8711460" cy="5137518"/>
          </a:xfrm>
          <a:noFill/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4996901"/>
              <a:chOff x="269048" y="1722741"/>
              <a:chExt cx="8648775" cy="4996901"/>
            </a:xfrm>
            <a:grpFill/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4973201"/>
              </a:xfrm>
              <a:prstGeom prst="foldedCorner">
                <a:avLst>
                  <a:gd name="adj" fmla="val 5125"/>
                </a:avLst>
              </a:prstGeom>
              <a:grp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1" name="그룹 30"/>
            <p:cNvGrpSpPr/>
            <p:nvPr/>
          </p:nvGrpSpPr>
          <p:grpSpPr>
            <a:xfrm>
              <a:off x="190714" y="1320882"/>
              <a:ext cx="5488234" cy="326949"/>
              <a:chOff x="405822" y="2237753"/>
              <a:chExt cx="4694777" cy="290352"/>
            </a:xfrm>
            <a:grpFill/>
          </p:grpSpPr>
          <p:sp>
            <p:nvSpPr>
              <p:cNvPr id="33" name="타원 32"/>
              <p:cNvSpPr/>
              <p:nvPr/>
            </p:nvSpPr>
            <p:spPr>
              <a:xfrm>
                <a:off x="405822" y="2237753"/>
                <a:ext cx="290351" cy="29035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34" name="타원 33"/>
              <p:cNvSpPr/>
              <p:nvPr/>
            </p:nvSpPr>
            <p:spPr>
              <a:xfrm>
                <a:off x="4820212" y="2237754"/>
                <a:ext cx="280387" cy="29035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35" name="직사각형 34"/>
              <p:cNvSpPr/>
              <p:nvPr/>
            </p:nvSpPr>
            <p:spPr>
              <a:xfrm>
                <a:off x="542511" y="2237755"/>
                <a:ext cx="4418079" cy="290348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1600" b="1" dirty="0"/>
                  <a:t>    예제 </a:t>
                </a:r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6-1 </a:t>
                </a:r>
                <a:r>
                  <a:rPr lang="ko-KR" altLang="en-US" sz="1600" b="1" dirty="0"/>
                  <a:t>상품매매기업의 </a:t>
                </a:r>
                <a:r>
                  <a:rPr lang="ko-KR" altLang="en-US" sz="1600" b="1" dirty="0" err="1"/>
                  <a:t>매출총이익과</a:t>
                </a:r>
                <a:r>
                  <a:rPr lang="ko-KR" altLang="en-US" sz="1600" b="1" dirty="0"/>
                  <a:t> 재고자산</a:t>
                </a:r>
              </a:p>
            </p:txBody>
          </p:sp>
          <p:sp>
            <p:nvSpPr>
              <p:cNvPr id="36" name="타원 35"/>
              <p:cNvSpPr/>
              <p:nvPr/>
            </p:nvSpPr>
            <p:spPr>
              <a:xfrm>
                <a:off x="427833" y="2256153"/>
                <a:ext cx="253549" cy="25354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66918" y="1601649"/>
            <a:ext cx="7932239" cy="4529275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ct val="120000"/>
              </a:lnSpc>
              <a:spcBef>
                <a:spcPct val="0"/>
              </a:spcBef>
            </a:pPr>
            <a:r>
              <a:rPr lang="en-US" altLang="ko-KR" sz="1600" b="1" dirty="0">
                <a:latin typeface="맑은 고딕" panose="020B0503020000020004" pitchFamily="50" charset="-127"/>
              </a:rPr>
              <a:t>㈜SSG.com</a:t>
            </a:r>
            <a:r>
              <a:rPr lang="ko-KR" altLang="en-US" sz="1600" b="1" dirty="0">
                <a:latin typeface="맑은 고딕" panose="020B0503020000020004" pitchFamily="50" charset="-127"/>
              </a:rPr>
              <a:t>은 </a:t>
            </a:r>
            <a:r>
              <a:rPr lang="en-US" altLang="ko-KR" sz="1600" b="1" dirty="0">
                <a:latin typeface="맑은 고딕" panose="020B0503020000020004" pitchFamily="50" charset="-127"/>
              </a:rPr>
              <a:t>20X1</a:t>
            </a:r>
            <a:r>
              <a:rPr lang="ko-KR" altLang="en-US" sz="1600" b="1" dirty="0">
                <a:latin typeface="맑은 고딕" panose="020B0503020000020004" pitchFamily="50" charset="-127"/>
              </a:rPr>
              <a:t>년 동안 개당 원가 </a:t>
            </a:r>
            <a:r>
              <a:rPr lang="en-US" altLang="ko-KR" sz="1600" b="1" dirty="0">
                <a:latin typeface="맑은 고딕" panose="020B0503020000020004" pitchFamily="50" charset="-127"/>
              </a:rPr>
              <a:t>\100</a:t>
            </a:r>
            <a:r>
              <a:rPr lang="ko-KR" altLang="en-US" sz="1600" b="1" dirty="0">
                <a:latin typeface="맑은 고딕" panose="020B0503020000020004" pitchFamily="50" charset="-127"/>
              </a:rPr>
              <a:t>의 상품을 </a:t>
            </a:r>
            <a:r>
              <a:rPr lang="en-US" altLang="ko-KR" sz="1600" b="1" dirty="0">
                <a:latin typeface="맑은 고딕" panose="020B0503020000020004" pitchFamily="50" charset="-127"/>
              </a:rPr>
              <a:t>100</a:t>
            </a:r>
            <a:r>
              <a:rPr lang="ko-KR" altLang="en-US" sz="1600" b="1" dirty="0">
                <a:latin typeface="맑은 고딕" panose="020B0503020000020004" pitchFamily="50" charset="-127"/>
              </a:rPr>
              <a:t>개 구입하고</a:t>
            </a:r>
            <a:r>
              <a:rPr lang="en-US" altLang="ko-KR" sz="1600" b="1" dirty="0">
                <a:latin typeface="맑은 고딕" panose="020B0503020000020004" pitchFamily="50" charset="-127"/>
              </a:rPr>
              <a:t>, </a:t>
            </a:r>
            <a:r>
              <a:rPr lang="ko-KR" altLang="en-US" sz="1600" b="1" dirty="0">
                <a:latin typeface="맑은 고딕" panose="020B0503020000020004" pitchFamily="50" charset="-127"/>
              </a:rPr>
              <a:t>이 중 </a:t>
            </a:r>
            <a:r>
              <a:rPr lang="en-US" altLang="ko-KR" sz="1600" b="1" dirty="0">
                <a:latin typeface="맑은 고딕" panose="020B0503020000020004" pitchFamily="50" charset="-127"/>
              </a:rPr>
              <a:t>60</a:t>
            </a:r>
            <a:r>
              <a:rPr lang="ko-KR" altLang="en-US" sz="1600" b="1" dirty="0">
                <a:latin typeface="맑은 고딕" panose="020B0503020000020004" pitchFamily="50" charset="-127"/>
              </a:rPr>
              <a:t>개를 개당 </a:t>
            </a:r>
            <a:r>
              <a:rPr lang="en-US" altLang="ko-KR" sz="1600" b="1" dirty="0">
                <a:latin typeface="맑은 고딕" panose="020B0503020000020004" pitchFamily="50" charset="-127"/>
              </a:rPr>
              <a:t>\150</a:t>
            </a:r>
            <a:r>
              <a:rPr lang="ko-KR" altLang="en-US" sz="1600" b="1" dirty="0">
                <a:latin typeface="맑은 고딕" panose="020B0503020000020004" pitchFamily="50" charset="-127"/>
              </a:rPr>
              <a:t>에 판매하였다</a:t>
            </a:r>
            <a:r>
              <a:rPr lang="en-US" altLang="ko-KR" sz="1600" b="1" dirty="0">
                <a:latin typeface="맑은 고딕" panose="020B0503020000020004" pitchFamily="50" charset="-127"/>
              </a:rPr>
              <a:t>.</a:t>
            </a:r>
          </a:p>
          <a:p>
            <a:pPr algn="just" latinLnBrk="0"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algn="ctr"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400" dirty="0">
                <a:latin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sysClr val="windowText" lastClr="000000"/>
                </a:solidFill>
                <a:latin typeface="맑은 고딕" panose="020B0503020000020004" pitchFamily="50" charset="-127"/>
              </a:rPr>
              <a:t>매출액          </a:t>
            </a:r>
            <a:r>
              <a:rPr lang="en-US" altLang="ko-KR" sz="1400" dirty="0">
                <a:solidFill>
                  <a:sysClr val="windowText" lastClr="000000"/>
                </a:solidFill>
                <a:latin typeface="맑은 고딕" panose="020B0503020000020004" pitchFamily="50" charset="-127"/>
              </a:rPr>
              <a:t>60</a:t>
            </a:r>
            <a:r>
              <a:rPr lang="ko-KR" altLang="en-US" sz="1400" dirty="0">
                <a:solidFill>
                  <a:sysClr val="windowText" lastClr="000000"/>
                </a:solidFill>
                <a:latin typeface="맑은 고딕" panose="020B0503020000020004" pitchFamily="50" charset="-127"/>
              </a:rPr>
              <a:t>개</a:t>
            </a:r>
            <a:r>
              <a:rPr lang="en-US" altLang="ko-KR" sz="1400" dirty="0">
                <a:solidFill>
                  <a:sysClr val="windowText" lastClr="000000"/>
                </a:solidFill>
                <a:latin typeface="맑은 고딕" panose="020B0503020000020004" pitchFamily="50" charset="-127"/>
              </a:rPr>
              <a:t> ×</a:t>
            </a:r>
            <a:r>
              <a:rPr lang="en-US" altLang="ko-KR" sz="1400" dirty="0">
                <a:solidFill>
                  <a:sysClr val="windowText" lastClr="000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1400" dirty="0">
                <a:solidFill>
                  <a:sysClr val="windowText" lastClr="000000"/>
                </a:solidFill>
                <a:latin typeface="맑은 고딕" panose="020B0503020000020004" pitchFamily="50" charset="-127"/>
              </a:rPr>
              <a:t>\150 = 9,000</a:t>
            </a:r>
          </a:p>
          <a:p>
            <a:pPr algn="ctr"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400" dirty="0">
                <a:solidFill>
                  <a:sysClr val="windowText" lastClr="000000"/>
                </a:solidFill>
                <a:latin typeface="맑은 고딕" panose="020B0503020000020004" pitchFamily="50" charset="-127"/>
              </a:rPr>
              <a:t> 매출원가       </a:t>
            </a:r>
            <a:r>
              <a:rPr lang="en-US" altLang="ko-KR" sz="1400" dirty="0">
                <a:solidFill>
                  <a:sysClr val="windowText" lastClr="000000"/>
                </a:solidFill>
                <a:latin typeface="맑은 고딕" panose="020B0503020000020004" pitchFamily="50" charset="-127"/>
              </a:rPr>
              <a:t>60</a:t>
            </a:r>
            <a:r>
              <a:rPr lang="ko-KR" altLang="en-US" sz="1400" dirty="0">
                <a:solidFill>
                  <a:sysClr val="windowText" lastClr="000000"/>
                </a:solidFill>
                <a:latin typeface="맑은 고딕" panose="020B0503020000020004" pitchFamily="50" charset="-127"/>
              </a:rPr>
              <a:t>개 </a:t>
            </a:r>
            <a:r>
              <a:rPr lang="en-US" altLang="ko-KR" sz="1400" dirty="0">
                <a:solidFill>
                  <a:sysClr val="windowText" lastClr="000000"/>
                </a:solidFill>
                <a:latin typeface="맑은 고딕" panose="020B0503020000020004" pitchFamily="50" charset="-127"/>
              </a:rPr>
              <a:t>× \100 =</a:t>
            </a:r>
            <a:r>
              <a:rPr lang="en-US" altLang="ko-KR" sz="1400" u="sng" dirty="0">
                <a:solidFill>
                  <a:sysClr val="windowText" lastClr="0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400" u="sng" dirty="0">
                <a:latin typeface="맑은 고딕" panose="020B0503020000020004" pitchFamily="50" charset="-127"/>
              </a:rPr>
              <a:t>6,000     </a:t>
            </a:r>
            <a:r>
              <a:rPr lang="en-US" altLang="ko-KR" sz="1400" dirty="0">
                <a:latin typeface="맑은 고딕" panose="020B0503020000020004" pitchFamily="50" charset="-127"/>
              </a:rPr>
              <a:t>    </a:t>
            </a:r>
            <a:r>
              <a:rPr lang="en-US" altLang="ko-KR" sz="1400" u="sng" dirty="0">
                <a:latin typeface="맑은 고딕" panose="020B0503020000020004" pitchFamily="50" charset="-127"/>
              </a:rPr>
              <a:t>  </a:t>
            </a:r>
          </a:p>
          <a:p>
            <a:pPr algn="ctr"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400" dirty="0">
                <a:latin typeface="맑은 고딕" panose="020B0503020000020004" pitchFamily="50" charset="-127"/>
              </a:rPr>
              <a:t> </a:t>
            </a:r>
            <a:r>
              <a:rPr lang="ko-KR" altLang="en-US" sz="1400" dirty="0" err="1">
                <a:latin typeface="맑은 고딕" panose="020B0503020000020004" pitchFamily="50" charset="-127"/>
              </a:rPr>
              <a:t>매출총이익</a:t>
            </a:r>
            <a:r>
              <a:rPr lang="ko-KR" altLang="en-US" sz="1400" dirty="0">
                <a:latin typeface="맑은 고딕" panose="020B0503020000020004" pitchFamily="50" charset="-127"/>
              </a:rPr>
              <a:t>                        </a:t>
            </a:r>
            <a:r>
              <a:rPr lang="en-US" altLang="ko-KR" sz="1400" dirty="0">
                <a:latin typeface="맑은 고딕" panose="020B0503020000020004" pitchFamily="50" charset="-127"/>
              </a:rPr>
              <a:t>\3,000</a:t>
            </a:r>
            <a:r>
              <a:rPr lang="ko-KR" altLang="en-US" sz="1400" dirty="0">
                <a:latin typeface="맑은 고딕" panose="020B0503020000020004" pitchFamily="50" charset="-127"/>
              </a:rPr>
              <a:t>   </a:t>
            </a: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algn="just" latinLnBrk="0">
              <a:lnSpc>
                <a:spcPts val="2400"/>
              </a:lnSpc>
              <a:spcBef>
                <a:spcPct val="0"/>
              </a:spcBef>
            </a:pPr>
            <a:endParaRPr lang="en-US" altLang="ko-KR" sz="1400" dirty="0">
              <a:latin typeface="맑은 고딕" panose="020B0503020000020004" pitchFamily="50" charset="-127"/>
            </a:endParaRPr>
          </a:p>
        </p:txBody>
      </p:sp>
      <p:grpSp>
        <p:nvGrpSpPr>
          <p:cNvPr id="43" name="그룹 34"/>
          <p:cNvGrpSpPr>
            <a:grpSpLocks/>
          </p:cNvGrpSpPr>
          <p:nvPr/>
        </p:nvGrpSpPr>
        <p:grpSpPr bwMode="auto">
          <a:xfrm>
            <a:off x="755806" y="3883027"/>
            <a:ext cx="7786687" cy="1514619"/>
            <a:chOff x="714348" y="4572008"/>
            <a:chExt cx="7786742" cy="1514630"/>
          </a:xfrm>
        </p:grpSpPr>
        <p:sp>
          <p:nvSpPr>
            <p:cNvPr id="44" name="Rectangle 12"/>
            <p:cNvSpPr>
              <a:spLocks noChangeArrowheads="1"/>
            </p:cNvSpPr>
            <p:nvPr/>
          </p:nvSpPr>
          <p:spPr bwMode="auto">
            <a:xfrm>
              <a:off x="714348" y="4572008"/>
              <a:ext cx="3714913" cy="140473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477" tIns="49735" rIns="99477" bIns="49735"/>
            <a:lstStyle>
              <a:lvl1pPr defTabSz="995363" eaLnBrk="0" hangingPunct="0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defTabSz="995363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defTabSz="995363" eaLnBrk="0" hangingPunct="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defTabSz="995363" eaLnBrk="0" hangingPunct="0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defTabSz="995363" eaLnBrk="0" hangingPunct="0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latinLnBrk="0" hangingPunct="1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kumimoji="0" lang="ko-KR" altLang="en-US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부분재무상태표</a:t>
              </a:r>
              <a:endParaRPr kumimoji="0"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 eaLnBrk="1" latinLnBrk="0" hangingPunct="1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kumimoji="0" lang="en-US" altLang="ko-KR" sz="1400" u="sng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(20X1</a:t>
              </a:r>
              <a:r>
                <a:rPr kumimoji="0" lang="ko-KR" altLang="en-US" sz="1400" u="sng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년 </a:t>
              </a:r>
              <a:r>
                <a:rPr kumimoji="0" lang="en-US" altLang="ko-KR" sz="1400" u="sng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12</a:t>
              </a:r>
              <a:r>
                <a:rPr kumimoji="0" lang="ko-KR" altLang="en-US" sz="1400" u="sng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월 </a:t>
              </a:r>
              <a:r>
                <a:rPr kumimoji="0" lang="en-US" altLang="ko-KR" sz="1400" u="sng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31</a:t>
              </a:r>
              <a:r>
                <a:rPr kumimoji="0" lang="ko-KR" altLang="en-US" sz="1400" u="sng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일</a:t>
              </a:r>
              <a:r>
                <a:rPr kumimoji="0" lang="en-US" altLang="ko-KR" sz="1400" u="sng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  </a:t>
              </a:r>
              <a:r>
                <a:rPr kumimoji="0" lang="en-US" altLang="ko-KR" sz="1400" u="sng" dirty="0">
                  <a:solidFill>
                    <a:schemeClr val="tx2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kumimoji="0" lang="en-US" altLang="ko-KR" sz="1400" u="sng" dirty="0"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</a:t>
              </a:r>
              <a:endParaRPr kumimoji="0" lang="ko-KR" altLang="en-US" sz="1400" u="sng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eaLnBrk="1" latinLnBrk="0" hangingPunct="1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kumimoji="0"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유동자산</a:t>
              </a:r>
              <a:endParaRPr kumimoji="0"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eaLnBrk="1" latinLnBrk="0" hangingPunct="1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kumimoji="0"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재고자산                </a:t>
              </a:r>
              <a:r>
                <a:rPr kumimoji="0"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\</a:t>
              </a:r>
              <a:r>
                <a:rPr kumimoji="0"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kumimoji="0"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4,000</a:t>
              </a:r>
              <a:r>
                <a:rPr kumimoji="0"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</a:t>
              </a:r>
              <a:endParaRPr kumimoji="0"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eaLnBrk="1" latinLnBrk="0" hangingPunct="1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endParaRPr kumimoji="0"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5" name="Rectangle 12"/>
            <p:cNvSpPr>
              <a:spLocks noChangeArrowheads="1"/>
            </p:cNvSpPr>
            <p:nvPr/>
          </p:nvSpPr>
          <p:spPr bwMode="auto">
            <a:xfrm>
              <a:off x="4357686" y="4572008"/>
              <a:ext cx="4143404" cy="1514630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9477" tIns="49735" rIns="99477" bIns="49735"/>
            <a:lstStyle>
              <a:lvl1pPr defTabSz="995363" eaLnBrk="0" hangingPunct="0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defTabSz="995363" eaLnBrk="0" hangingPunct="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defTabSz="995363" eaLnBrk="0" hangingPunct="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defTabSz="995363" eaLnBrk="0" hangingPunct="0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defTabSz="995363" eaLnBrk="0" hangingPunct="0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latinLnBrk="0" hangingPunct="1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kumimoji="0" lang="ko-KR" altLang="en-US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부분포괄손익계산서</a:t>
              </a:r>
              <a:r>
                <a:rPr kumimoji="0" lang="en-US" altLang="ko-KR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</a:p>
            <a:p>
              <a:pPr algn="ctr" eaLnBrk="1" latinLnBrk="0" hangingPunct="1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kumimoji="0" lang="en-US" altLang="ko-KR" sz="1400" u="sng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(20X1</a:t>
              </a:r>
              <a:r>
                <a:rPr kumimoji="0" lang="ko-KR" altLang="en-US" sz="1400" u="sng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년</a:t>
              </a:r>
              <a:r>
                <a:rPr kumimoji="0" lang="en-US" altLang="ko-KR" sz="1400" u="sng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)</a:t>
              </a:r>
            </a:p>
            <a:p>
              <a:pPr eaLnBrk="1" latinLnBrk="0" hangingPunct="1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kumimoji="0"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매출                           </a:t>
              </a:r>
              <a:r>
                <a:rPr kumimoji="0"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\9,000</a:t>
              </a:r>
            </a:p>
            <a:p>
              <a:pPr eaLnBrk="1" latinLnBrk="0" hangingPunct="1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kumimoji="0"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매출원가                      </a:t>
              </a:r>
              <a:r>
                <a:rPr kumimoji="0" lang="ko-KR" altLang="en-US" sz="1400" u="sng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</a:t>
              </a:r>
              <a:r>
                <a:rPr kumimoji="0" lang="en-US" altLang="ko-KR" sz="1400" u="sng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6,000</a:t>
              </a:r>
              <a:r>
                <a:rPr kumimoji="0"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</a:t>
              </a:r>
              <a:r>
                <a:rPr kumimoji="0" lang="en-US" altLang="ko-KR" sz="1400" u="sng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</a:t>
              </a:r>
            </a:p>
            <a:p>
              <a:pPr eaLnBrk="1" latinLnBrk="0" hangingPunct="1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kumimoji="0"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</a:t>
              </a:r>
              <a:r>
                <a:rPr kumimoji="0" lang="ko-KR" altLang="en-US" sz="14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매출총이익</a:t>
              </a:r>
              <a:r>
                <a:rPr kumimoji="0" lang="ko-KR" altLang="en-US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                </a:t>
              </a:r>
              <a:r>
                <a:rPr kumimoji="0"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\3,000</a:t>
              </a:r>
              <a:endParaRPr kumimoji="0"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86991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5"/>
          <p:cNvSpPr>
            <a:spLocks noChangeArrowheads="1"/>
          </p:cNvSpPr>
          <p:nvPr/>
        </p:nvSpPr>
        <p:spPr bwMode="auto">
          <a:xfrm>
            <a:off x="310110" y="1438439"/>
            <a:ext cx="8490990" cy="4412751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285750" indent="-285750" latinLnBrk="0">
              <a:lnSpc>
                <a:spcPct val="12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맑은 고딕" panose="020B0503020000020004" pitchFamily="50" charset="-127"/>
              </a:rPr>
              <a:t>취득원가 </a:t>
            </a:r>
            <a:r>
              <a:rPr lang="en-US" altLang="ko-KR" sz="1600" dirty="0">
                <a:latin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</a:rPr>
              <a:t>매입원가뿐만 아니라 재고자산을 현재의 장소에 </a:t>
            </a:r>
            <a:r>
              <a:rPr lang="ko-KR" altLang="en-US" sz="16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현재의 상태로 이르게 하는 데 발생한 기타 원가 모두를 포함</a:t>
            </a:r>
            <a:r>
              <a:rPr lang="en-US" altLang="ko-KR" sz="1600" b="1" dirty="0">
                <a:solidFill>
                  <a:srgbClr val="0000FF"/>
                </a:solidFill>
                <a:latin typeface="맑은 고딕" panose="020B0503020000020004" pitchFamily="50" charset="-127"/>
              </a:rPr>
              <a:t> </a:t>
            </a:r>
          </a:p>
          <a:p>
            <a:pPr marL="285750" indent="-285750" latinLnBrk="0">
              <a:lnSpc>
                <a:spcPct val="12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50" charset="-127"/>
              </a:rPr>
              <a:t>판매활동과 관련하여 발생한 비용은 당기비용으로 처리함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285750" indent="-285750" latinLnBrk="0">
              <a:lnSpc>
                <a:spcPct val="12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800" dirty="0">
              <a:latin typeface="맑은 고딕" panose="020B0503020000020004" pitchFamily="50" charset="-127"/>
            </a:endParaRPr>
          </a:p>
          <a:p>
            <a:pPr marL="285750" indent="-285750" latinLnBrk="0">
              <a:lnSpc>
                <a:spcPct val="12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800" dirty="0">
              <a:latin typeface="맑은 고딕" panose="020B0503020000020004" pitchFamily="50" charset="-127"/>
            </a:endParaRPr>
          </a:p>
          <a:p>
            <a:pPr marL="285750" indent="-285750" latinLnBrk="0">
              <a:lnSpc>
                <a:spcPct val="12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None/>
            </a:pPr>
            <a:endParaRPr lang="en-US" altLang="ko-KR" sz="1800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None/>
            </a:pPr>
            <a:endParaRPr lang="en-US" altLang="ko-KR" sz="1800" dirty="0">
              <a:latin typeface="맑은 고딕" panose="020B0503020000020004" pitchFamily="50" charset="-127"/>
            </a:endParaRPr>
          </a:p>
          <a:p>
            <a:pPr marL="285750" indent="-285750" latinLnBrk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800" dirty="0">
              <a:latin typeface="맑은 고딕" panose="020B0503020000020004" pitchFamily="50" charset="-127"/>
            </a:endParaRPr>
          </a:p>
          <a:p>
            <a:pPr marL="285750" indent="-285750" latinLnBrk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800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None/>
            </a:pPr>
            <a:endParaRPr lang="ko-KR" altLang="en-US" sz="1800" dirty="0">
              <a:latin typeface="맑은 고딕" panose="020B0503020000020004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994770" y="2782669"/>
            <a:ext cx="7154460" cy="129266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eaLnBrk="0" latinLnBrk="0" hangingPunct="0">
              <a:defRPr/>
            </a:pPr>
            <a:r>
              <a:rPr lang="ko-KR" altLang="en-US" sz="1600" b="1" dirty="0">
                <a:latin typeface="맑은 고딕" pitchFamily="50" charset="-127"/>
              </a:rPr>
              <a:t>재고자산의 취득원가</a:t>
            </a:r>
            <a:r>
              <a:rPr lang="en-US" altLang="ko-KR" sz="1600" b="1" dirty="0">
                <a:latin typeface="맑은 고딕" pitchFamily="50" charset="-127"/>
              </a:rPr>
              <a:t>(</a:t>
            </a:r>
            <a:r>
              <a:rPr lang="ko-KR" altLang="en-US" sz="1600" b="1" dirty="0" err="1">
                <a:latin typeface="맑은 고딕" pitchFamily="50" charset="-127"/>
              </a:rPr>
              <a:t>순매입액</a:t>
            </a:r>
            <a:r>
              <a:rPr lang="en-US" altLang="ko-KR" sz="1600" b="1" dirty="0">
                <a:latin typeface="맑은 고딕" pitchFamily="50" charset="-127"/>
              </a:rPr>
              <a:t>)</a:t>
            </a:r>
          </a:p>
          <a:p>
            <a:pPr eaLnBrk="0" latinLnBrk="0" hangingPunct="0">
              <a:defRPr/>
            </a:pPr>
            <a:endParaRPr lang="en-US" altLang="ko-KR" sz="1600" b="1" dirty="0">
              <a:latin typeface="맑은 고딕" pitchFamily="50" charset="-127"/>
            </a:endParaRPr>
          </a:p>
          <a:p>
            <a:pPr eaLnBrk="0" latinLnBrk="0" hangingPunct="0">
              <a:defRPr/>
            </a:pPr>
            <a:r>
              <a:rPr lang="ko-KR" altLang="en-US" sz="1600" b="1" dirty="0">
                <a:latin typeface="맑은 고딕" pitchFamily="50" charset="-127"/>
              </a:rPr>
              <a:t>   ＝</a:t>
            </a:r>
            <a:r>
              <a:rPr lang="ko-KR" altLang="en-US" sz="1600" b="1" dirty="0" err="1">
                <a:latin typeface="맑은 고딕" pitchFamily="50" charset="-127"/>
              </a:rPr>
              <a:t>매입가격＋직접부대비용</a:t>
            </a:r>
            <a:r>
              <a:rPr lang="ko-KR" altLang="en-US" sz="1600" b="1" baseline="30000" dirty="0">
                <a:latin typeface="맑은 고딕" pitchFamily="50" charset="-127"/>
              </a:rPr>
              <a:t>*</a:t>
            </a:r>
            <a:r>
              <a:rPr lang="ko-KR" altLang="en-US" sz="1600" b="1" baseline="30000" dirty="0">
                <a:latin typeface="맑은 고딕" pitchFamily="50" charset="-127"/>
                <a:cs typeface="Times New Roman" panose="02020603050405020304" pitchFamily="18" charset="0"/>
              </a:rPr>
              <a:t>− </a:t>
            </a:r>
            <a:r>
              <a:rPr lang="ko-KR" altLang="en-US" sz="1600" b="1" dirty="0" err="1">
                <a:latin typeface="맑은 고딕" pitchFamily="50" charset="-127"/>
              </a:rPr>
              <a:t>매입에누리와</a:t>
            </a:r>
            <a:r>
              <a:rPr lang="ko-KR" altLang="en-US" sz="1600" b="1" dirty="0">
                <a:latin typeface="맑은 고딕" pitchFamily="50" charset="-127"/>
              </a:rPr>
              <a:t> </a:t>
            </a:r>
            <a:r>
              <a:rPr lang="ko-KR" altLang="en-US" sz="1600" b="1" dirty="0" err="1">
                <a:latin typeface="맑은 고딕" pitchFamily="50" charset="-127"/>
              </a:rPr>
              <a:t>환출</a:t>
            </a:r>
            <a:r>
              <a:rPr lang="en-US" altLang="ko-KR" sz="1600" b="1" dirty="0">
                <a:latin typeface="맑은 고딕" pitchFamily="50" charset="-127"/>
              </a:rPr>
              <a:t>, </a:t>
            </a:r>
            <a:r>
              <a:rPr lang="ko-KR" altLang="en-US" sz="1600" b="1" dirty="0">
                <a:latin typeface="맑은 고딕" pitchFamily="50" charset="-127"/>
              </a:rPr>
              <a:t>매입할인</a:t>
            </a:r>
            <a:br>
              <a:rPr lang="en-US" altLang="ko-KR" sz="1600" b="1" dirty="0">
                <a:latin typeface="맑은 고딕" pitchFamily="50" charset="-127"/>
              </a:rPr>
            </a:br>
            <a:endParaRPr lang="en-US" altLang="ko-KR" sz="1600" b="1" dirty="0">
              <a:latin typeface="맑은 고딕" pitchFamily="50" charset="-127"/>
            </a:endParaRPr>
          </a:p>
          <a:p>
            <a:pPr eaLnBrk="0" latinLnBrk="0" hangingPunct="0">
              <a:defRPr/>
            </a:pPr>
            <a:r>
              <a:rPr lang="ko-KR" altLang="en-US" sz="1400" b="1" dirty="0">
                <a:latin typeface="맑은 고딕" pitchFamily="50" charset="-127"/>
              </a:rPr>
              <a:t>   * 직접부대비용：매입운반비</a:t>
            </a:r>
            <a:r>
              <a:rPr lang="en-US" altLang="ko-KR" sz="1400" b="1" dirty="0">
                <a:latin typeface="맑은 고딕" pitchFamily="50" charset="-127"/>
              </a:rPr>
              <a:t>, </a:t>
            </a:r>
            <a:r>
              <a:rPr lang="ko-KR" altLang="en-US" sz="1400" b="1" dirty="0" err="1">
                <a:latin typeface="맑은 고딕" pitchFamily="50" charset="-127"/>
              </a:rPr>
              <a:t>하역비</a:t>
            </a:r>
            <a:r>
              <a:rPr lang="en-US" altLang="ko-KR" sz="1400" b="1" dirty="0">
                <a:latin typeface="맑은 고딕" pitchFamily="50" charset="-127"/>
              </a:rPr>
              <a:t>, </a:t>
            </a:r>
            <a:r>
              <a:rPr lang="ko-KR" altLang="en-US" sz="1400" b="1" dirty="0">
                <a:latin typeface="맑은 고딕" pitchFamily="50" charset="-127"/>
              </a:rPr>
              <a:t>설치비</a:t>
            </a:r>
            <a:r>
              <a:rPr lang="en-US" altLang="ko-KR" sz="1400" b="1" dirty="0">
                <a:latin typeface="맑은 고딕" pitchFamily="50" charset="-127"/>
              </a:rPr>
              <a:t>, </a:t>
            </a:r>
            <a:r>
              <a:rPr lang="ko-KR" altLang="en-US" sz="1400" b="1" dirty="0" err="1">
                <a:latin typeface="맑은 고딕" pitchFamily="50" charset="-127"/>
              </a:rPr>
              <a:t>창고비</a:t>
            </a:r>
            <a:r>
              <a:rPr lang="en-US" altLang="ko-KR" sz="1400" b="1" dirty="0">
                <a:latin typeface="맑은 고딕" pitchFamily="50" charset="-127"/>
              </a:rPr>
              <a:t>, </a:t>
            </a:r>
            <a:r>
              <a:rPr lang="ko-KR" altLang="en-US" sz="1400" b="1" dirty="0">
                <a:latin typeface="맑은 고딕" pitchFamily="50" charset="-127"/>
              </a:rPr>
              <a:t>등기비용</a:t>
            </a:r>
            <a:r>
              <a:rPr lang="en-US" altLang="ko-KR" sz="1400" b="1" dirty="0">
                <a:latin typeface="맑은 고딕" pitchFamily="50" charset="-127"/>
              </a:rPr>
              <a:t>, </a:t>
            </a:r>
            <a:r>
              <a:rPr lang="ko-KR" altLang="en-US" sz="1400" b="1" dirty="0">
                <a:latin typeface="맑은 고딕" pitchFamily="50" charset="-127"/>
              </a:rPr>
              <a:t>보험료</a:t>
            </a:r>
            <a:r>
              <a:rPr lang="en-US" altLang="ko-KR" sz="1400" b="1" dirty="0">
                <a:latin typeface="맑은 고딕" pitchFamily="50" charset="-127"/>
              </a:rPr>
              <a:t>, </a:t>
            </a:r>
            <a:r>
              <a:rPr lang="ko-KR" altLang="en-US" sz="1400" b="1" dirty="0">
                <a:latin typeface="맑은 고딕" pitchFamily="50" charset="-127"/>
              </a:rPr>
              <a:t>세금 등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3165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410423"/>
            <a:ext cx="8532314" cy="3886508"/>
            <a:chOff x="190714" y="1320882"/>
            <a:chExt cx="8711460" cy="4318746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4178129"/>
              <a:chOff x="269048" y="1722741"/>
              <a:chExt cx="8648775" cy="4178129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2"/>
                <a:ext cx="8641369" cy="4154428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3993055" cy="326949"/>
              <a:chOff x="190714" y="1320889"/>
              <a:chExt cx="3415764" cy="290352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3415764" cy="290352"/>
                <a:chOff x="405822" y="2237753"/>
                <a:chExt cx="3415764" cy="290352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3541199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42513" y="2237755"/>
                  <a:ext cx="3142571" cy="29034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6-2 </a:t>
                  </a:r>
                  <a:r>
                    <a:rPr lang="ko-KR" altLang="en-US" sz="1600" b="1" dirty="0"/>
                    <a:t>재고자산의 취득원가</a:t>
                  </a:r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66918" y="1748789"/>
            <a:ext cx="7775575" cy="3655233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600" b="1" dirty="0">
                <a:latin typeface="맑은 고딕" panose="020B0503020000020004" pitchFamily="50" charset="-127"/>
              </a:rPr>
              <a:t>㈜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쿠팡은</a:t>
            </a:r>
            <a:r>
              <a:rPr lang="ko-KR" altLang="en-US" sz="1600" b="1" dirty="0">
                <a:latin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</a:rPr>
              <a:t>20X1</a:t>
            </a:r>
            <a:r>
              <a:rPr lang="ko-KR" altLang="en-US" sz="1600" b="1" dirty="0">
                <a:latin typeface="맑은 고딕" panose="020B0503020000020004" pitchFamily="50" charset="-127"/>
              </a:rPr>
              <a:t>년 </a:t>
            </a:r>
            <a:r>
              <a:rPr lang="en-US" altLang="ko-KR" sz="1600" b="1" dirty="0">
                <a:latin typeface="맑은 고딕" panose="020B0503020000020004" pitchFamily="50" charset="-127"/>
              </a:rPr>
              <a:t>7</a:t>
            </a:r>
            <a:r>
              <a:rPr lang="ko-KR" altLang="en-US" sz="1600" b="1" dirty="0">
                <a:latin typeface="맑은 고딕" panose="020B0503020000020004" pitchFamily="50" charset="-127"/>
              </a:rPr>
              <a:t>월 </a:t>
            </a:r>
            <a:r>
              <a:rPr lang="en-US" altLang="ko-KR" sz="1600" b="1" dirty="0">
                <a:latin typeface="맑은 고딕" panose="020B0503020000020004" pitchFamily="50" charset="-127"/>
              </a:rPr>
              <a:t>11</a:t>
            </a:r>
            <a:r>
              <a:rPr lang="ko-KR" altLang="en-US" sz="1600" b="1" dirty="0">
                <a:latin typeface="맑은 고딕" panose="020B0503020000020004" pitchFamily="50" charset="-127"/>
              </a:rPr>
              <a:t>일에 재고자산 </a:t>
            </a:r>
            <a:r>
              <a:rPr lang="en-US" altLang="ko-KR" sz="1600" b="1" dirty="0">
                <a:latin typeface="맑은 고딕" panose="020B0503020000020004" pitchFamily="50" charset="-127"/>
              </a:rPr>
              <a:t>1,000</a:t>
            </a:r>
            <a:r>
              <a:rPr lang="ko-KR" altLang="en-US" sz="1600" b="1" dirty="0">
                <a:latin typeface="맑은 고딕" panose="020B0503020000020004" pitchFamily="50" charset="-127"/>
              </a:rPr>
              <a:t>개를 매입하여 이를 단위당 ￦</a:t>
            </a:r>
            <a:r>
              <a:rPr lang="en-US" altLang="ko-KR" sz="1600" b="1" dirty="0">
                <a:latin typeface="맑은 고딕" panose="020B0503020000020004" pitchFamily="50" charset="-127"/>
              </a:rPr>
              <a:t>1,300</a:t>
            </a:r>
            <a:r>
              <a:rPr lang="ko-KR" altLang="en-US" sz="1600" b="1" dirty="0">
                <a:latin typeface="맑은 고딕" panose="020B0503020000020004" pitchFamily="50" charset="-127"/>
              </a:rPr>
              <a:t>에 판매하였다</a:t>
            </a:r>
            <a:r>
              <a:rPr lang="en-US" altLang="ko-KR" sz="1600" b="1" dirty="0">
                <a:latin typeface="맑은 고딕" panose="020B0503020000020004" pitchFamily="50" charset="-127"/>
              </a:rPr>
              <a:t>.  </a:t>
            </a:r>
          </a:p>
          <a:p>
            <a:pPr algn="just" latinLnBrk="0">
              <a:lnSpc>
                <a:spcPts val="2400"/>
              </a:lnSpc>
              <a:spcBef>
                <a:spcPct val="0"/>
              </a:spcBef>
            </a:pPr>
            <a:endParaRPr lang="en-US" altLang="ko-KR" sz="1400" b="1" dirty="0">
              <a:latin typeface="맑은 고딕" panose="020B0503020000020004" pitchFamily="50" charset="-127"/>
            </a:endParaRPr>
          </a:p>
          <a:p>
            <a:pPr algn="just" latinLnBrk="0">
              <a:lnSpc>
                <a:spcPts val="2400"/>
              </a:lnSpc>
              <a:spcBef>
                <a:spcPct val="0"/>
              </a:spcBef>
            </a:pPr>
            <a:endParaRPr lang="en-US" altLang="ko-KR" sz="1400" b="1" dirty="0">
              <a:latin typeface="맑은 고딕" panose="020B0503020000020004" pitchFamily="50" charset="-127"/>
            </a:endParaRPr>
          </a:p>
          <a:p>
            <a:pPr algn="just" latinLnBrk="0">
              <a:lnSpc>
                <a:spcPts val="2400"/>
              </a:lnSpc>
              <a:spcBef>
                <a:spcPct val="0"/>
              </a:spcBef>
            </a:pPr>
            <a:endParaRPr lang="en-US" altLang="ko-KR" sz="1400" b="1" dirty="0">
              <a:latin typeface="맑은 고딕" panose="020B0503020000020004" pitchFamily="50" charset="-127"/>
            </a:endParaRPr>
          </a:p>
          <a:p>
            <a:pPr algn="just" latinLnBrk="0">
              <a:lnSpc>
                <a:spcPts val="2400"/>
              </a:lnSpc>
              <a:spcBef>
                <a:spcPct val="0"/>
              </a:spcBef>
            </a:pPr>
            <a:endParaRPr lang="en-US" altLang="ko-KR" sz="1400" b="1" dirty="0">
              <a:latin typeface="맑은 고딕" panose="020B0503020000020004" pitchFamily="50" charset="-127"/>
            </a:endParaRPr>
          </a:p>
          <a:p>
            <a:pPr algn="ctr"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400" dirty="0">
                <a:latin typeface="맑은 고딕" panose="020B0503020000020004" pitchFamily="50" charset="-127"/>
              </a:rPr>
              <a:t>재고자산의 단위당 취득원가 </a:t>
            </a:r>
            <a:r>
              <a:rPr lang="en-US" altLang="ko-KR" sz="1400" dirty="0">
                <a:latin typeface="맑은 고딕" panose="020B0503020000020004" pitchFamily="50" charset="-127"/>
              </a:rPr>
              <a:t>= (</a:t>
            </a:r>
            <a:r>
              <a:rPr lang="ko-KR" altLang="en-US" sz="1400" dirty="0">
                <a:latin typeface="맑은 고딕" panose="020B0503020000020004" pitchFamily="50" charset="-127"/>
              </a:rPr>
              <a:t>단위당</a:t>
            </a:r>
            <a:r>
              <a:rPr lang="en-US" altLang="ko-KR" sz="1400" dirty="0">
                <a:latin typeface="맑은 고딕" panose="020B0503020000020004" pitchFamily="50" charset="-127"/>
              </a:rPr>
              <a:t>) </a:t>
            </a:r>
            <a:r>
              <a:rPr lang="ko-KR" altLang="en-US" sz="1400" dirty="0">
                <a:latin typeface="맑은 고딕" panose="020B0503020000020004" pitchFamily="50" charset="-127"/>
              </a:rPr>
              <a:t>매입가격</a:t>
            </a:r>
            <a:r>
              <a:rPr lang="en-US" altLang="ko-KR" sz="1400" dirty="0">
                <a:latin typeface="맑은 고딕" panose="020B0503020000020004" pitchFamily="50" charset="-127"/>
              </a:rPr>
              <a:t>+</a:t>
            </a:r>
            <a:r>
              <a:rPr lang="ko-KR" altLang="en-US" sz="1400" dirty="0">
                <a:latin typeface="맑은 고딕" panose="020B0503020000020004" pitchFamily="50" charset="-127"/>
              </a:rPr>
              <a:t>운송비</a:t>
            </a:r>
            <a:r>
              <a:rPr lang="en-US" altLang="ko-KR" sz="1400" dirty="0">
                <a:latin typeface="맑은 고딕" panose="020B0503020000020004" pitchFamily="50" charset="-127"/>
              </a:rPr>
              <a:t>-</a:t>
            </a:r>
            <a:r>
              <a:rPr lang="ko-KR" altLang="en-US" sz="1400" dirty="0">
                <a:latin typeface="맑은 고딕" panose="020B0503020000020004" pitchFamily="50" charset="-127"/>
              </a:rPr>
              <a:t>매입에누리</a:t>
            </a: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dirty="0">
                <a:latin typeface="맑은 고딕" panose="020B0503020000020004" pitchFamily="50" charset="-127"/>
              </a:rPr>
              <a:t>                                                      = </a:t>
            </a:r>
            <a:r>
              <a:rPr lang="ko-KR" altLang="en-US" sz="1400" dirty="0">
                <a:latin typeface="맑은 고딕" panose="020B0503020000020004" pitchFamily="50" charset="-127"/>
              </a:rPr>
              <a:t>￦</a:t>
            </a:r>
            <a:r>
              <a:rPr lang="en-US" altLang="ko-KR" sz="1400" dirty="0">
                <a:latin typeface="맑은 고딕" panose="020B0503020000020004" pitchFamily="50" charset="-127"/>
              </a:rPr>
              <a:t>800 +</a:t>
            </a:r>
            <a:r>
              <a:rPr lang="ko-KR" altLang="en-US" sz="1400" dirty="0">
                <a:latin typeface="맑은 고딕" panose="020B0503020000020004" pitchFamily="50" charset="-127"/>
              </a:rPr>
              <a:t> ￦</a:t>
            </a:r>
            <a:r>
              <a:rPr lang="en-US" altLang="ko-KR" sz="1400" dirty="0">
                <a:latin typeface="맑은 고딕" panose="020B0503020000020004" pitchFamily="50" charset="-127"/>
              </a:rPr>
              <a:t>300 - </a:t>
            </a:r>
            <a:r>
              <a:rPr lang="ko-KR" altLang="en-US" sz="1400" dirty="0">
                <a:latin typeface="맑은 고딕" panose="020B0503020000020004" pitchFamily="50" charset="-127"/>
              </a:rPr>
              <a:t>￦</a:t>
            </a:r>
            <a:r>
              <a:rPr lang="en-US" altLang="ko-KR" sz="1400" dirty="0">
                <a:latin typeface="맑은 고딕" panose="020B0503020000020004" pitchFamily="50" charset="-127"/>
              </a:rPr>
              <a:t>100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dirty="0">
                <a:latin typeface="맑은 고딕" panose="020B0503020000020004" pitchFamily="50" charset="-127"/>
              </a:rPr>
              <a:t>                                                      = </a:t>
            </a:r>
            <a:r>
              <a:rPr lang="ko-KR" altLang="en-US" sz="1400" dirty="0">
                <a:latin typeface="맑은 고딕" panose="020B0503020000020004" pitchFamily="50" charset="-127"/>
              </a:rPr>
              <a:t>￦</a:t>
            </a:r>
            <a:r>
              <a:rPr lang="en-US" altLang="ko-KR" sz="1400" dirty="0">
                <a:latin typeface="맑은 고딕" panose="020B0503020000020004" pitchFamily="50" charset="-127"/>
              </a:rPr>
              <a:t>1,000</a:t>
            </a:r>
          </a:p>
          <a:p>
            <a:pPr algn="ctr"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dirty="0">
                <a:latin typeface="맑은 고딕" panose="020B0503020000020004" pitchFamily="50" charset="-127"/>
              </a:rPr>
              <a:t>* </a:t>
            </a:r>
            <a:r>
              <a:rPr lang="ko-KR" altLang="en-US" sz="1400" dirty="0">
                <a:latin typeface="맑은 고딕" panose="020B0503020000020004" pitchFamily="50" charset="-127"/>
              </a:rPr>
              <a:t>판매운임은 재고자산 취득을 위해 발생한 것이 아니므로 판매비로 분류</a:t>
            </a:r>
            <a:endParaRPr lang="en-US" altLang="ko-KR" sz="120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27" name="표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865386"/>
              </p:ext>
            </p:extLst>
          </p:nvPr>
        </p:nvGraphicFramePr>
        <p:xfrm>
          <a:off x="1500188" y="2624794"/>
          <a:ext cx="6286500" cy="725487"/>
        </p:xfrm>
        <a:graphic>
          <a:graphicData uri="http://schemas.openxmlformats.org/drawingml/2006/table">
            <a:tbl>
              <a:tblPr/>
              <a:tblGrid>
                <a:gridCol w="628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5487">
                <a:tc>
                  <a:txBody>
                    <a:bodyPr/>
                    <a:lstStyle/>
                    <a:p>
                      <a:pPr marL="76200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단위당 매입가격：￦</a:t>
                      </a:r>
                      <a:r>
                        <a:rPr lang="en-US" altLang="ko-KR" sz="1500" b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800         </a:t>
                      </a:r>
                      <a:r>
                        <a:rPr lang="ko-KR" altLang="en-US" sz="1500" b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단위당 운송비：￦</a:t>
                      </a:r>
                      <a:r>
                        <a:rPr lang="en-US" altLang="ko-KR" sz="1500" b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300</a:t>
                      </a:r>
                      <a:endParaRPr lang="ko-KR" altLang="en-US" sz="1500" b="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76200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단위당 판매운임：￦</a:t>
                      </a:r>
                      <a:r>
                        <a:rPr lang="en-US" altLang="ko-KR" sz="1500" b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150         </a:t>
                      </a:r>
                      <a:r>
                        <a:rPr lang="ko-KR" altLang="en-US" sz="1500" b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단위당 매입에누리：￦</a:t>
                      </a:r>
                      <a:r>
                        <a:rPr lang="en-US" altLang="ko-KR" sz="1500" b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lang="ko-KR" altLang="en-US" sz="1500" b="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843" marB="17843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8590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/>
          <p:cNvGrpSpPr/>
          <p:nvPr/>
        </p:nvGrpSpPr>
        <p:grpSpPr>
          <a:xfrm>
            <a:off x="251315" y="1444332"/>
            <a:ext cx="8641369" cy="1339908"/>
            <a:chOff x="2618697" y="1693823"/>
            <a:chExt cx="11521825" cy="1786544"/>
          </a:xfrm>
        </p:grpSpPr>
        <p:sp>
          <p:nvSpPr>
            <p:cNvPr id="28" name="Rectangle 15"/>
            <p:cNvSpPr>
              <a:spLocks noChangeArrowheads="1"/>
            </p:cNvSpPr>
            <p:nvPr/>
          </p:nvSpPr>
          <p:spPr bwMode="auto">
            <a:xfrm>
              <a:off x="2618697" y="2227619"/>
              <a:ext cx="11521825" cy="1252748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28575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상품 구입회사가 운반비를 부담하는 경우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상품의 구입원가에 가산됨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85750" indent="-28575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800" dirty="0">
                <a:latin typeface="맑은 고딕" panose="020B0503020000020004" pitchFamily="50" charset="-127"/>
              </a:endParaRPr>
            </a:p>
          </p:txBody>
        </p:sp>
        <p:sp>
          <p:nvSpPr>
            <p:cNvPr id="30" name="Rectangle 14"/>
            <p:cNvSpPr>
              <a:spLocks noChangeArrowheads="1"/>
            </p:cNvSpPr>
            <p:nvPr/>
          </p:nvSpPr>
          <p:spPr bwMode="auto">
            <a:xfrm>
              <a:off x="2871276" y="1693823"/>
              <a:ext cx="3562349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매입운반비</a:t>
              </a:r>
              <a:endPara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그룹 32"/>
          <p:cNvGrpSpPr/>
          <p:nvPr/>
        </p:nvGrpSpPr>
        <p:grpSpPr>
          <a:xfrm>
            <a:off x="251314" y="2372220"/>
            <a:ext cx="8641369" cy="1609525"/>
            <a:chOff x="2626683" y="1693823"/>
            <a:chExt cx="11521825" cy="2146034"/>
          </a:xfrm>
        </p:grpSpPr>
        <p:sp>
          <p:nvSpPr>
            <p:cNvPr id="34" name="Rectangle 15"/>
            <p:cNvSpPr>
              <a:spLocks noChangeArrowheads="1"/>
            </p:cNvSpPr>
            <p:nvPr/>
          </p:nvSpPr>
          <p:spPr bwMode="auto">
            <a:xfrm>
              <a:off x="2626683" y="2167663"/>
              <a:ext cx="11521825" cy="1672194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285750" indent="-180000" algn="just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b="1" dirty="0">
                  <a:latin typeface="맑은 고딕" panose="020B0503020000020004" pitchFamily="50" charset="-127"/>
                </a:rPr>
                <a:t>매입에누리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매입한 상품에 하자 발생시 구입대금을 일부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할인받은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경우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85750" indent="-180000" algn="just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b="1" dirty="0" err="1">
                  <a:latin typeface="맑은 고딕" panose="020B0503020000020004" pitchFamily="50" charset="-127"/>
                </a:rPr>
                <a:t>매입환출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상품의 하자를 이유로 반품하는 경우</a:t>
              </a:r>
              <a:endParaRPr lang="en-US" altLang="ko-KR" sz="1400" dirty="0">
                <a:latin typeface="맑은 고딕" panose="020B0503020000020004" pitchFamily="50" charset="-127"/>
              </a:endParaRPr>
            </a:p>
            <a:p>
              <a:pPr marL="285750" indent="-180000" algn="just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위 두 항목을 </a:t>
              </a:r>
              <a:r>
                <a:rPr lang="ko-KR" altLang="en-US" sz="1600" b="1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매입에누리와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</a:t>
              </a:r>
              <a:r>
                <a:rPr lang="ko-KR" altLang="en-US" sz="1600" b="1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환출</a:t>
              </a:r>
              <a:r>
                <a:rPr lang="ko-KR" altLang="en-US" sz="16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이라는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단일계정으로 통합하여 기록하기도 함</a:t>
              </a:r>
              <a:endParaRPr lang="en-US" altLang="ko-KR" sz="1500" dirty="0">
                <a:latin typeface="맑은 고딕" panose="020B0503020000020004" pitchFamily="50" charset="-127"/>
              </a:endParaRPr>
            </a:p>
          </p:txBody>
        </p:sp>
        <p:sp>
          <p:nvSpPr>
            <p:cNvPr id="35" name="Rectangle 14"/>
            <p:cNvSpPr>
              <a:spLocks noChangeArrowheads="1"/>
            </p:cNvSpPr>
            <p:nvPr/>
          </p:nvSpPr>
          <p:spPr bwMode="auto">
            <a:xfrm>
              <a:off x="2871276" y="1693823"/>
              <a:ext cx="5470235" cy="264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매입에누리와 </a:t>
              </a:r>
              <a:r>
                <a:rPr lang="ko-KR" altLang="en-US" sz="1800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환출</a:t>
              </a:r>
              <a:endPara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4472821-189E-47D0-9E5D-70D0FE2E8EF5}"/>
              </a:ext>
            </a:extLst>
          </p:cNvPr>
          <p:cNvGrpSpPr/>
          <p:nvPr/>
        </p:nvGrpSpPr>
        <p:grpSpPr>
          <a:xfrm>
            <a:off x="285224" y="3912799"/>
            <a:ext cx="8650725" cy="3764480"/>
            <a:chOff x="2626908" y="1707942"/>
            <a:chExt cx="11534300" cy="5019307"/>
          </a:xfrm>
        </p:grpSpPr>
        <p:sp>
          <p:nvSpPr>
            <p:cNvPr id="12" name="Rectangle 15">
              <a:extLst>
                <a:ext uri="{FF2B5EF4-FFF2-40B4-BE49-F238E27FC236}">
                  <a16:creationId xmlns:a16="http://schemas.microsoft.com/office/drawing/2014/main" id="{D90393AB-854C-4F49-8152-612830AB7D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9383" y="2125623"/>
              <a:ext cx="11521825" cy="4601626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28575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b="1" dirty="0">
                  <a:latin typeface="맑은 고딕" panose="020B0503020000020004" pitchFamily="50" charset="-127"/>
                </a:rPr>
                <a:t>정의 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재고자산을 외상으로 구입시 상품의 매입대금을 정해진 기간 내에 지급하면 </a:t>
              </a:r>
              <a:br>
                <a:rPr lang="en-US" altLang="ko-KR" sz="1600" b="1" dirty="0">
                  <a:latin typeface="맑은 고딕" panose="020B0503020000020004" pitchFamily="50" charset="-127"/>
                </a:rPr>
              </a:br>
              <a:r>
                <a:rPr lang="en-US" altLang="ko-KR" sz="1600" b="1" dirty="0">
                  <a:latin typeface="맑은 고딕" panose="020B0503020000020004" pitchFamily="50" charset="-127"/>
                </a:rPr>
                <a:t>       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일정액을 </a:t>
              </a:r>
              <a:r>
                <a:rPr lang="ko-KR" altLang="en-US" sz="1600" b="1" dirty="0" err="1">
                  <a:latin typeface="맑은 고딕" panose="020B0503020000020004" pitchFamily="50" charset="-127"/>
                </a:rPr>
                <a:t>할인받는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 것</a:t>
              </a: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 marL="28575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매입할인의 조건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‘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할인율</a:t>
              </a: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할인기간</a:t>
              </a: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, n/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신용기간</a:t>
              </a: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’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의  형태로 표현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8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   </a:t>
              </a:r>
              <a:r>
                <a:rPr lang="ko-KR" altLang="en-US" sz="18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예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) </a:t>
              </a: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2/10, n/30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: 1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0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일 내에 구매대금을 지급하면 구매대금의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2%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를 할인해주고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br>
                <a:rPr lang="en-US" altLang="ko-KR" sz="1600" dirty="0">
                  <a:latin typeface="맑은 고딕" panose="020B0503020000020004" pitchFamily="50" charset="-127"/>
                </a:rPr>
              </a:br>
              <a:r>
                <a:rPr lang="en-US" altLang="ko-KR" sz="1600" dirty="0">
                  <a:latin typeface="맑은 고딕" panose="020B0503020000020004" pitchFamily="50" charset="-127"/>
                </a:rPr>
                <a:t>                         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늦어도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30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일 내에는 구매대금을 지급해야 한다</a:t>
              </a:r>
              <a:endParaRPr lang="en-US" altLang="ko-KR" sz="1600" dirty="0">
                <a:latin typeface="맑은 고딕" panose="020B0503020000020004" pitchFamily="50" charset="-127"/>
              </a:endParaRPr>
            </a:p>
          </p:txBody>
        </p:sp>
        <p:sp>
          <p:nvSpPr>
            <p:cNvPr id="13" name="Rectangle 14">
              <a:extLst>
                <a:ext uri="{FF2B5EF4-FFF2-40B4-BE49-F238E27FC236}">
                  <a16:creationId xmlns:a16="http://schemas.microsoft.com/office/drawing/2014/main" id="{355EDDBD-1580-4040-B26F-BB1C0B0D7A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8881" y="1707942"/>
              <a:ext cx="3562349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매입할인</a:t>
              </a:r>
              <a:endParaRPr lang="en-US" altLang="ko-KR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3B6F911-18DE-4A0F-9090-6F55F0A36431}"/>
                </a:ext>
              </a:extLst>
            </p:cNvPr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23682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347363"/>
            <a:ext cx="8671356" cy="4949510"/>
            <a:chOff x="190714" y="1320882"/>
            <a:chExt cx="8711460" cy="5408997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268380"/>
              <a:chOff x="269048" y="1722741"/>
              <a:chExt cx="8648775" cy="5268380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5244680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4510326" cy="326949"/>
              <a:chOff x="190714" y="1320889"/>
              <a:chExt cx="3858251" cy="290352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3858251" cy="290352"/>
                <a:chOff x="405822" y="2237753"/>
                <a:chExt cx="3858251" cy="290352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3983686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42513" y="2237755"/>
                  <a:ext cx="3585056" cy="29034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6-3 </a:t>
                  </a:r>
                  <a:r>
                    <a:rPr lang="ko-KR" altLang="en-US" sz="1600" b="1" dirty="0"/>
                    <a:t>매입에누리와 </a:t>
                  </a:r>
                  <a:r>
                    <a:rPr lang="ko-KR" altLang="en-US" sz="1600" b="1" dirty="0" err="1"/>
                    <a:t>환출</a:t>
                  </a:r>
                  <a:r>
                    <a:rPr lang="en-US" altLang="ko-KR" sz="1600" b="1" dirty="0"/>
                    <a:t>, </a:t>
                  </a:r>
                  <a:r>
                    <a:rPr lang="ko-KR" altLang="en-US" sz="1600" b="1" dirty="0"/>
                    <a:t>매입할인</a:t>
                  </a:r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66919" y="1685729"/>
            <a:ext cx="7589681" cy="4484162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600" b="1" dirty="0">
                <a:latin typeface="맑은 고딕" panose="020B0503020000020004" pitchFamily="50" charset="-127"/>
              </a:rPr>
              <a:t>㈜무신사는 </a:t>
            </a:r>
            <a:r>
              <a:rPr lang="en-US" altLang="ko-KR" sz="1600" b="1" dirty="0">
                <a:latin typeface="맑은 고딕" panose="020B0503020000020004" pitchFamily="50" charset="-127"/>
              </a:rPr>
              <a:t>20X1</a:t>
            </a:r>
            <a:r>
              <a:rPr lang="ko-KR" altLang="en-US" sz="1600" b="1" dirty="0">
                <a:latin typeface="맑은 고딕" panose="020B0503020000020004" pitchFamily="50" charset="-127"/>
              </a:rPr>
              <a:t>년 </a:t>
            </a:r>
            <a:r>
              <a:rPr lang="en-US" altLang="ko-KR" sz="1600" b="1" dirty="0">
                <a:latin typeface="맑은 고딕" panose="020B0503020000020004" pitchFamily="50" charset="-127"/>
              </a:rPr>
              <a:t>12</a:t>
            </a:r>
            <a:r>
              <a:rPr lang="ko-KR" altLang="en-US" sz="1600" b="1" dirty="0">
                <a:latin typeface="맑은 고딕" panose="020B0503020000020004" pitchFamily="50" charset="-127"/>
              </a:rPr>
              <a:t>월 </a:t>
            </a:r>
            <a:r>
              <a:rPr lang="en-US" altLang="ko-KR" sz="1600" b="1" dirty="0">
                <a:latin typeface="맑은 고딕" panose="020B0503020000020004" pitchFamily="50" charset="-127"/>
              </a:rPr>
              <a:t>15</a:t>
            </a:r>
            <a:r>
              <a:rPr lang="ko-KR" altLang="en-US" sz="1600" b="1" dirty="0">
                <a:latin typeface="맑은 고딕" panose="020B0503020000020004" pitchFamily="50" charset="-127"/>
              </a:rPr>
              <a:t>일 상품을 외상으로 ￦</a:t>
            </a:r>
            <a:r>
              <a:rPr lang="en-US" altLang="ko-KR" sz="1600" b="1" dirty="0">
                <a:latin typeface="맑은 고딕" panose="020B0503020000020004" pitchFamily="50" charset="-127"/>
              </a:rPr>
              <a:t>1,500,000 </a:t>
            </a:r>
            <a:r>
              <a:rPr lang="ko-KR" altLang="en-US" sz="1600" b="1" dirty="0">
                <a:latin typeface="맑은 고딕" panose="020B0503020000020004" pitchFamily="50" charset="-127"/>
              </a:rPr>
              <a:t>매입하였다</a:t>
            </a:r>
            <a:r>
              <a:rPr lang="en-US" altLang="ko-KR" sz="1600" b="1" dirty="0">
                <a:latin typeface="맑은 고딕" panose="020B0503020000020004" pitchFamily="50" charset="-127"/>
              </a:rPr>
              <a:t>. </a:t>
            </a:r>
            <a:r>
              <a:rPr lang="ko-KR" altLang="en-US" sz="1600" b="1" dirty="0">
                <a:latin typeface="맑은 고딕" panose="020B0503020000020004" pitchFamily="50" charset="-127"/>
              </a:rPr>
              <a:t>대금은 </a:t>
            </a:r>
            <a:r>
              <a:rPr lang="en-US" altLang="ko-KR" sz="1600" b="1" dirty="0">
                <a:latin typeface="맑은 고딕" panose="020B0503020000020004" pitchFamily="50" charset="-127"/>
              </a:rPr>
              <a:t>5/10, n/60 </a:t>
            </a:r>
            <a:r>
              <a:rPr lang="ko-KR" altLang="en-US" sz="1600" b="1" dirty="0">
                <a:latin typeface="맑은 고딕" panose="020B0503020000020004" pitchFamily="50" charset="-127"/>
              </a:rPr>
              <a:t>조건이다</a:t>
            </a:r>
            <a:r>
              <a:rPr lang="en-US" altLang="ko-KR" sz="1600" b="1" dirty="0">
                <a:latin typeface="맑은 고딕" panose="020B0503020000020004" pitchFamily="50" charset="-127"/>
              </a:rPr>
              <a:t>. 20X1</a:t>
            </a:r>
            <a:r>
              <a:rPr lang="ko-KR" altLang="en-US" sz="1600" b="1" dirty="0">
                <a:latin typeface="맑은 고딕" panose="020B0503020000020004" pitchFamily="50" charset="-127"/>
              </a:rPr>
              <a:t>년 </a:t>
            </a:r>
            <a:r>
              <a:rPr lang="en-US" altLang="ko-KR" sz="1600" b="1" dirty="0">
                <a:latin typeface="맑은 고딕" panose="020B0503020000020004" pitchFamily="50" charset="-127"/>
              </a:rPr>
              <a:t>12</a:t>
            </a:r>
            <a:r>
              <a:rPr lang="ko-KR" altLang="en-US" sz="1600" b="1" dirty="0">
                <a:latin typeface="맑은 고딕" panose="020B0503020000020004" pitchFamily="50" charset="-127"/>
              </a:rPr>
              <a:t>월 </a:t>
            </a:r>
            <a:r>
              <a:rPr lang="en-US" altLang="ko-KR" sz="1600" b="1" dirty="0">
                <a:latin typeface="맑은 고딕" panose="020B0503020000020004" pitchFamily="50" charset="-127"/>
              </a:rPr>
              <a:t>17</a:t>
            </a:r>
            <a:r>
              <a:rPr lang="ko-KR" altLang="en-US" sz="1600" b="1" dirty="0">
                <a:latin typeface="맑은 고딕" panose="020B0503020000020004" pitchFamily="50" charset="-127"/>
              </a:rPr>
              <a:t>일 ￦</a:t>
            </a:r>
            <a:r>
              <a:rPr lang="en-US" altLang="ko-KR" sz="1600" b="1" dirty="0">
                <a:latin typeface="맑은 고딕" panose="020B0503020000020004" pitchFamily="50" charset="-127"/>
              </a:rPr>
              <a:t>20,000</a:t>
            </a:r>
            <a:r>
              <a:rPr lang="ko-KR" altLang="en-US" sz="1600" b="1" dirty="0">
                <a:latin typeface="맑은 고딕" panose="020B0503020000020004" pitchFamily="50" charset="-127"/>
              </a:rPr>
              <a:t>만큼의 상품이 불량인 것으로 확인되어 반품하였다</a:t>
            </a:r>
            <a:r>
              <a:rPr lang="en-US" altLang="ko-KR" sz="1600" b="1" dirty="0">
                <a:latin typeface="맑은 고딕" panose="020B0503020000020004" pitchFamily="50" charset="-127"/>
              </a:rPr>
              <a:t>. </a:t>
            </a:r>
            <a:r>
              <a:rPr lang="ko-KR" altLang="en-US" sz="1600" b="1" dirty="0">
                <a:latin typeface="맑은 고딕" panose="020B0503020000020004" pitchFamily="50" charset="-127"/>
              </a:rPr>
              <a:t>㈜무신사는 </a:t>
            </a:r>
            <a:r>
              <a:rPr lang="en-US" altLang="ko-KR" sz="1600" b="1" dirty="0">
                <a:latin typeface="맑은 고딕" panose="020B0503020000020004" pitchFamily="50" charset="-127"/>
              </a:rPr>
              <a:t>20X1</a:t>
            </a:r>
            <a:r>
              <a:rPr lang="ko-KR" altLang="en-US" sz="1600" b="1" dirty="0">
                <a:latin typeface="맑은 고딕" panose="020B0503020000020004" pitchFamily="50" charset="-127"/>
              </a:rPr>
              <a:t>년 </a:t>
            </a:r>
            <a:r>
              <a:rPr lang="en-US" altLang="ko-KR" sz="1600" b="1" dirty="0">
                <a:latin typeface="맑은 고딕" panose="020B0503020000020004" pitchFamily="50" charset="-127"/>
              </a:rPr>
              <a:t>12</a:t>
            </a:r>
            <a:r>
              <a:rPr lang="ko-KR" altLang="en-US" sz="1600" b="1" dirty="0">
                <a:latin typeface="맑은 고딕" panose="020B0503020000020004" pitchFamily="50" charset="-127"/>
              </a:rPr>
              <a:t>월 </a:t>
            </a:r>
            <a:r>
              <a:rPr lang="en-US" altLang="ko-KR" sz="1600" b="1" dirty="0">
                <a:latin typeface="맑은 고딕" panose="020B0503020000020004" pitchFamily="50" charset="-127"/>
              </a:rPr>
              <a:t>20</a:t>
            </a:r>
            <a:r>
              <a:rPr lang="ko-KR" altLang="en-US" sz="1600" b="1" dirty="0">
                <a:latin typeface="맑은 고딕" panose="020B0503020000020004" pitchFamily="50" charset="-127"/>
              </a:rPr>
              <a:t>일에 구매대금을 지급하였다</a:t>
            </a:r>
            <a:r>
              <a:rPr lang="en-US" altLang="ko-KR" sz="1600" b="1" dirty="0">
                <a:latin typeface="맑은 고딕" panose="020B0503020000020004" pitchFamily="50" charset="-127"/>
              </a:rPr>
              <a:t>. </a:t>
            </a: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 dirty="0"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</a:p>
          <a:p>
            <a:pPr marL="0" lvl="1" latinLnBrk="0">
              <a:spcBef>
                <a:spcPct val="0"/>
              </a:spcBef>
            </a:pPr>
            <a:endParaRPr lang="en-US" altLang="ko-KR" sz="1300" dirty="0">
              <a:latin typeface="맑은 고딕" panose="020B0503020000020004" pitchFamily="50" charset="-127"/>
            </a:endParaRPr>
          </a:p>
          <a:p>
            <a:pPr marL="0" lvl="1" latinLnBrk="0">
              <a:spcBef>
                <a:spcPct val="0"/>
              </a:spcBef>
            </a:pPr>
            <a:r>
              <a:rPr lang="ko-KR" altLang="en-US" sz="1500" b="1" dirty="0">
                <a:latin typeface="맑은 고딕" panose="020B0503020000020004" pitchFamily="50" charset="-127"/>
              </a:rPr>
              <a:t>상품의 취득원가 </a:t>
            </a:r>
            <a:r>
              <a:rPr lang="en-US" altLang="ko-KR" sz="1500" b="1" dirty="0">
                <a:latin typeface="맑은 고딕" panose="020B0503020000020004" pitchFamily="50" charset="-127"/>
              </a:rPr>
              <a:t>= </a:t>
            </a:r>
            <a:r>
              <a:rPr lang="ko-KR" altLang="en-US" sz="1500" b="1" dirty="0">
                <a:latin typeface="맑은 고딕" panose="020B0503020000020004" pitchFamily="50" charset="-127"/>
              </a:rPr>
              <a:t>매입가격 </a:t>
            </a:r>
            <a:r>
              <a:rPr lang="en-US" altLang="ko-KR" sz="1500" b="1" dirty="0">
                <a:latin typeface="맑은 고딕" panose="020B0503020000020004" pitchFamily="50" charset="-127"/>
              </a:rPr>
              <a:t>– </a:t>
            </a:r>
            <a:r>
              <a:rPr lang="ko-KR" altLang="en-US" sz="1500" b="1" dirty="0" err="1">
                <a:latin typeface="맑은 고딕" panose="020B0503020000020004" pitchFamily="50" charset="-127"/>
              </a:rPr>
              <a:t>매입환출</a:t>
            </a:r>
            <a:r>
              <a:rPr lang="en-US" altLang="ko-KR" sz="1500" b="1" dirty="0">
                <a:latin typeface="맑은 고딕" panose="020B0503020000020004" pitchFamily="50" charset="-127"/>
              </a:rPr>
              <a:t> – </a:t>
            </a:r>
            <a:r>
              <a:rPr lang="ko-KR" altLang="en-US" sz="1500" b="1" dirty="0">
                <a:latin typeface="맑은 고딕" panose="020B0503020000020004" pitchFamily="50" charset="-127"/>
              </a:rPr>
              <a:t>매입할인   </a:t>
            </a:r>
            <a:endParaRPr lang="en-US" altLang="ko-KR" sz="1500" b="1" dirty="0">
              <a:latin typeface="맑은 고딕" panose="020B0503020000020004" pitchFamily="50" charset="-127"/>
            </a:endParaRPr>
          </a:p>
          <a:p>
            <a:pPr marL="0" lvl="1" latinLnBrk="0">
              <a:spcBef>
                <a:spcPct val="0"/>
              </a:spcBef>
            </a:pPr>
            <a:r>
              <a:rPr lang="en-US" altLang="ko-KR" sz="1500" b="1" dirty="0">
                <a:latin typeface="맑은 고딕" panose="020B0503020000020004" pitchFamily="50" charset="-127"/>
              </a:rPr>
              <a:t>                      = </a:t>
            </a:r>
            <a:r>
              <a:rPr lang="ko-KR" altLang="en-US" sz="1500" b="1" dirty="0">
                <a:latin typeface="맑은 고딕" panose="020B0503020000020004" pitchFamily="50" charset="-127"/>
              </a:rPr>
              <a:t>￦</a:t>
            </a:r>
            <a:r>
              <a:rPr lang="en-US" altLang="ko-KR" sz="1500" b="1" dirty="0">
                <a:latin typeface="맑은 고딕" panose="020B0503020000020004" pitchFamily="50" charset="-127"/>
              </a:rPr>
              <a:t>1,500,000 -</a:t>
            </a:r>
            <a:r>
              <a:rPr lang="ko-KR" altLang="en-US" sz="1500" b="1" dirty="0">
                <a:latin typeface="맑은 고딕" panose="020B0503020000020004" pitchFamily="50" charset="-127"/>
              </a:rPr>
              <a:t> ￦</a:t>
            </a:r>
            <a:r>
              <a:rPr lang="en-US" altLang="ko-KR" sz="1500" b="1" dirty="0">
                <a:latin typeface="맑은 고딕" panose="020B0503020000020004" pitchFamily="50" charset="-127"/>
              </a:rPr>
              <a:t>20,000 - </a:t>
            </a:r>
            <a:r>
              <a:rPr lang="ko-KR" altLang="en-US" sz="1500" b="1" dirty="0">
                <a:latin typeface="맑은 고딕" panose="020B0503020000020004" pitchFamily="50" charset="-127"/>
              </a:rPr>
              <a:t>￦</a:t>
            </a:r>
            <a:r>
              <a:rPr lang="en-US" altLang="ko-KR" sz="1500" b="1" dirty="0">
                <a:latin typeface="맑은 고딕" panose="020B0503020000020004" pitchFamily="50" charset="-127"/>
              </a:rPr>
              <a:t>74,000 = </a:t>
            </a:r>
            <a:r>
              <a:rPr lang="ko-KR" altLang="en-US" sz="1500" b="1" dirty="0">
                <a:latin typeface="맑은 고딕" panose="020B0503020000020004" pitchFamily="50" charset="-127"/>
              </a:rPr>
              <a:t>￦</a:t>
            </a:r>
            <a:r>
              <a:rPr lang="en-US" altLang="ko-KR" sz="1500" b="1" dirty="0">
                <a:latin typeface="맑은 고딕" panose="020B0503020000020004" pitchFamily="50" charset="-127"/>
              </a:rPr>
              <a:t>1,406,000 </a:t>
            </a: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b="1" dirty="0">
              <a:latin typeface="맑은 고딕" panose="020B0503020000020004" pitchFamily="50" charset="-127"/>
            </a:endParaRPr>
          </a:p>
          <a:p>
            <a:pPr algn="just" latinLnBrk="0">
              <a:lnSpc>
                <a:spcPts val="2400"/>
              </a:lnSpc>
              <a:spcBef>
                <a:spcPct val="0"/>
              </a:spcBef>
            </a:pPr>
            <a:endParaRPr lang="en-US" altLang="ko-KR" sz="1400" b="1" dirty="0">
              <a:latin typeface="맑은 고딕" panose="020B0503020000020004" pitchFamily="50" charset="-127"/>
            </a:endParaRPr>
          </a:p>
          <a:p>
            <a:pPr algn="just" latinLnBrk="0">
              <a:lnSpc>
                <a:spcPts val="2400"/>
              </a:lnSpc>
              <a:spcBef>
                <a:spcPct val="0"/>
              </a:spcBef>
            </a:pPr>
            <a:endParaRPr lang="en-US" altLang="ko-KR" sz="1400" b="1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400" b="1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400" b="1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400" b="1" dirty="0">
                <a:latin typeface="맑은 고딕" panose="020B0503020000020004" pitchFamily="50" charset="-127"/>
              </a:rPr>
              <a:t> </a:t>
            </a:r>
            <a:endParaRPr lang="en-US" altLang="ko-KR" sz="1200" b="1" dirty="0">
              <a:latin typeface="맑은 고딕" panose="020B0503020000020004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645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5"/>
          <p:cNvSpPr>
            <a:spLocks noChangeArrowheads="1"/>
          </p:cNvSpPr>
          <p:nvPr/>
        </p:nvSpPr>
        <p:spPr bwMode="auto">
          <a:xfrm>
            <a:off x="257593" y="1367641"/>
            <a:ext cx="8435759" cy="5210258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285750" indent="-285750" latinLnBrk="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맑은 고딕" panose="020B0503020000020004" pitchFamily="50" charset="-127"/>
              </a:rPr>
              <a:t>계속기록법</a:t>
            </a:r>
            <a:r>
              <a:rPr lang="en-US" altLang="ko-KR" sz="1600" dirty="0">
                <a:latin typeface="맑은 고딕" panose="020B0503020000020004" pitchFamily="50" charset="-127"/>
              </a:rPr>
              <a:t>(perpetual inventory system): </a:t>
            </a:r>
            <a:r>
              <a:rPr lang="ko-KR" altLang="en-US" sz="1600" b="1" dirty="0">
                <a:latin typeface="맑은 고딕" panose="020B0503020000020004" pitchFamily="50" charset="-127"/>
              </a:rPr>
              <a:t>재고자산의 매입과 매출이 발생할 때마다 재고자산의 증감을 기록하고</a:t>
            </a:r>
            <a:r>
              <a:rPr lang="en-US" altLang="ko-KR" sz="1600" b="1" dirty="0">
                <a:latin typeface="맑은 고딕" panose="020B0503020000020004" pitchFamily="50" charset="-127"/>
              </a:rPr>
              <a:t>, </a:t>
            </a:r>
            <a:r>
              <a:rPr lang="ko-KR" altLang="en-US" sz="1600" b="1" dirty="0">
                <a:latin typeface="맑은 고딕" panose="020B0503020000020004" pitchFamily="50" charset="-127"/>
              </a:rPr>
              <a:t>매출과 매출원가를 기록하는 방법</a:t>
            </a: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en-US" altLang="ko-KR" sz="1600" dirty="0">
                <a:latin typeface="맑은 고딕" panose="020B0503020000020004" pitchFamily="50" charset="-127"/>
              </a:rPr>
              <a:t>① </a:t>
            </a:r>
            <a:r>
              <a:rPr lang="ko-KR" altLang="en-US" sz="1600" dirty="0">
                <a:latin typeface="맑은 고딕" panose="020B0503020000020004" pitchFamily="50" charset="-127"/>
              </a:rPr>
              <a:t>상품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매입시</a:t>
            </a: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</a:rPr>
              <a:t>: </a:t>
            </a:r>
            <a:r>
              <a:rPr lang="ko-KR" altLang="en-US" sz="1600" b="1" dirty="0">
                <a:latin typeface="맑은 고딕" panose="020B0503020000020004" pitchFamily="50" charset="-127"/>
              </a:rPr>
              <a:t>상품</a:t>
            </a:r>
            <a:r>
              <a:rPr lang="ko-KR" altLang="en-US" sz="1600" dirty="0">
                <a:latin typeface="맑은 고딕" panose="020B0503020000020004" pitchFamily="50" charset="-127"/>
              </a:rPr>
              <a:t>계정의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차변에</a:t>
            </a:r>
            <a:r>
              <a:rPr lang="ko-KR" altLang="en-US" sz="1600" dirty="0">
                <a:latin typeface="맑은 고딕" panose="020B0503020000020004" pitchFamily="50" charset="-127"/>
              </a:rPr>
              <a:t> 기록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288000" indent="-288000"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② 상품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매출시</a:t>
            </a: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</a:rPr>
              <a:t>판매대금을 매출계정 대변에 기록하면서</a:t>
            </a:r>
            <a:r>
              <a:rPr lang="en-US" altLang="ko-KR" sz="1600" dirty="0">
                <a:latin typeface="맑은 고딕" panose="020B0503020000020004" pitchFamily="50" charset="-127"/>
              </a:rPr>
              <a:t>,</a:t>
            </a:r>
            <a:r>
              <a:rPr lang="ko-KR" altLang="en-US" sz="1600" dirty="0">
                <a:latin typeface="맑은 고딕" panose="020B0503020000020004" pitchFamily="50" charset="-127"/>
              </a:rPr>
              <a:t> 동시에 판매된 상품의 원가를 비용계정인 </a:t>
            </a:r>
            <a:r>
              <a:rPr lang="ko-KR" altLang="en-US" sz="1600" b="1" dirty="0">
                <a:latin typeface="맑은 고딕" panose="020B0503020000020004" pitchFamily="50" charset="-127"/>
              </a:rPr>
              <a:t>매출원가</a:t>
            </a:r>
            <a:r>
              <a:rPr lang="ko-KR" altLang="en-US" sz="1600" dirty="0">
                <a:latin typeface="맑은 고딕" panose="020B0503020000020004" pitchFamily="50" charset="-127"/>
              </a:rPr>
              <a:t>계정의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차변에</a:t>
            </a:r>
            <a:r>
              <a:rPr lang="ko-KR" altLang="en-US" sz="1600" dirty="0">
                <a:latin typeface="맑은 고딕" panose="020B0503020000020004" pitchFamily="50" charset="-127"/>
              </a:rPr>
              <a:t> 기록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lvl="1" latinLnBrk="0">
              <a:lnSpc>
                <a:spcPts val="2400"/>
              </a:lnSpc>
              <a:spcBef>
                <a:spcPct val="0"/>
              </a:spcBef>
              <a:buClrTx/>
              <a:buNone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marL="468000" indent="-216000" latinLnBrk="0">
              <a:lnSpc>
                <a:spcPts val="2400"/>
              </a:lnSpc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50" charset="-127"/>
              </a:rPr>
              <a:t>단점 </a:t>
            </a:r>
            <a:r>
              <a:rPr lang="en-US" altLang="ko-KR" sz="1600" dirty="0">
                <a:latin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</a:rPr>
              <a:t>매매가 다양하고 빈번하게 이루어지는 경우 등에는 적용이 불편 </a:t>
            </a:r>
            <a:r>
              <a:rPr lang="en-US" altLang="ko-KR" sz="1600" dirty="0">
                <a:latin typeface="맑은 고딕" panose="020B0503020000020004" pitchFamily="50" charset="-127"/>
              </a:rPr>
              <a:t>(</a:t>
            </a:r>
            <a:r>
              <a:rPr lang="ko-KR" altLang="en-US" sz="1600" dirty="0">
                <a:latin typeface="맑은 고딕" panose="020B0503020000020004" pitchFamily="50" charset="-127"/>
              </a:rPr>
              <a:t>현재는 컴퓨터 시스템의 사용으로 널리 사용됨</a:t>
            </a:r>
            <a:r>
              <a:rPr lang="en-US" altLang="ko-KR" sz="1600" dirty="0">
                <a:latin typeface="맑은 고딕" panose="020B0503020000020004" pitchFamily="50" charset="-127"/>
              </a:rPr>
              <a:t>)</a:t>
            </a: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  <a:buClrTx/>
              <a:buSzTx/>
              <a:buNone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marL="285750" indent="-285750" latinLnBrk="0">
              <a:lnSpc>
                <a:spcPts val="24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b="1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재고자산감모손실</a:t>
            </a:r>
            <a:endParaRPr lang="en-US" altLang="ko-KR" sz="1600" b="1" dirty="0">
              <a:solidFill>
                <a:schemeClr val="tx1"/>
              </a:solidFill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ts val="600"/>
              </a:spcBef>
              <a:buClrTx/>
              <a:buSzTx/>
              <a:buNone/>
            </a:pPr>
            <a:r>
              <a:rPr lang="ko-KR" altLang="ko-KR" sz="1600" dirty="0">
                <a:latin typeface="맑은 고딕" panose="020B0503020000020004" pitchFamily="50" charset="-127"/>
              </a:rPr>
              <a:t>①</a:t>
            </a:r>
            <a:r>
              <a:rPr lang="en-US" altLang="ko-KR" sz="1600" dirty="0">
                <a:latin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</a:rPr>
              <a:t>재고 실사 금액이 장부금액보다 적은</a:t>
            </a:r>
            <a:r>
              <a:rPr lang="en-US" altLang="ko-KR" sz="1600" dirty="0">
                <a:latin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</a:rPr>
              <a:t>경우</a:t>
            </a:r>
            <a:r>
              <a:rPr lang="en-US" altLang="ko-KR" sz="1600" dirty="0">
                <a:latin typeface="맑은 고딕" panose="020B0503020000020004" pitchFamily="50" charset="-127"/>
              </a:rPr>
              <a:t>(</a:t>
            </a:r>
            <a:r>
              <a:rPr lang="ko-KR" altLang="en-US" sz="1600" dirty="0">
                <a:latin typeface="맑은 고딕" panose="020B0503020000020004" pitchFamily="50" charset="-127"/>
              </a:rPr>
              <a:t>도난이나 마모</a:t>
            </a:r>
            <a:r>
              <a:rPr lang="en-US" altLang="ko-KR" sz="1600" dirty="0">
                <a:latin typeface="맑은 고딕" panose="020B0503020000020004" pitchFamily="50" charset="-127"/>
              </a:rPr>
              <a:t>) </a:t>
            </a:r>
            <a:r>
              <a:rPr lang="ko-KR" altLang="en-US" sz="1600" dirty="0">
                <a:latin typeface="맑은 고딕" panose="020B0503020000020004" pitchFamily="50" charset="-127"/>
              </a:rPr>
              <a:t>감모손실 인식</a:t>
            </a:r>
            <a:r>
              <a:rPr lang="en-US" altLang="ko-KR" sz="1600" dirty="0">
                <a:latin typeface="맑은 고딕" panose="020B0503020000020004" pitchFamily="50" charset="-127"/>
              </a:rPr>
              <a:t> </a:t>
            </a:r>
          </a:p>
          <a:p>
            <a:pPr latinLnBrk="0">
              <a:lnSpc>
                <a:spcPts val="2400"/>
              </a:lnSpc>
              <a:spcBef>
                <a:spcPts val="600"/>
              </a:spcBef>
              <a:buClrTx/>
              <a:buSz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② 당기 매출원가에 가산하여 비용 처리 </a:t>
            </a:r>
            <a:endParaRPr lang="en-US" altLang="ko-KR" sz="1600" dirty="0">
              <a:latin typeface="맑은 고딕" panose="020B0503020000020004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766375" y="3337447"/>
            <a:ext cx="4083169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wrap="none">
            <a:spAutoFit/>
          </a:bodyPr>
          <a:lstStyle/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 dirty="0">
                <a:latin typeface="맑은 고딕" panose="020B0503020000020004" pitchFamily="50" charset="-127"/>
              </a:rPr>
              <a:t>기초재고＋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당기매입</a:t>
            </a:r>
            <a:r>
              <a:rPr lang="ko-KR" altLang="en-US" sz="1600" b="1" dirty="0">
                <a:latin typeface="맑은 고딕" panose="020B0503020000020004" pitchFamily="50" charset="-127"/>
              </a:rPr>
              <a:t>－매출원가＝기말재고</a:t>
            </a:r>
            <a:endParaRPr lang="ko-KR" altLang="en-US" sz="1600" dirty="0">
              <a:latin typeface="Verdana" panose="020B0604030504040204" pitchFamily="34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3535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368383"/>
            <a:ext cx="8788030" cy="4578717"/>
            <a:chOff x="190714" y="1320882"/>
            <a:chExt cx="8711460" cy="5408997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268380"/>
              <a:chOff x="269048" y="1722741"/>
              <a:chExt cx="8648775" cy="5268380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5244680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4510326" cy="326949"/>
              <a:chOff x="190714" y="1320889"/>
              <a:chExt cx="3858251" cy="290352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3858251" cy="290352"/>
                <a:chOff x="405822" y="2237753"/>
                <a:chExt cx="3858251" cy="290352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3983686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42513" y="2237755"/>
                  <a:ext cx="3585056" cy="29034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6-4 </a:t>
                  </a:r>
                  <a:r>
                    <a:rPr lang="ko-KR" altLang="en-US" sz="1600" b="1" dirty="0" err="1"/>
                    <a:t>계속기록법</a:t>
                  </a:r>
                  <a:endParaRPr lang="ko-KR" altLang="en-US" sz="1600" b="1" dirty="0"/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66919" y="1770249"/>
            <a:ext cx="7881781" cy="3746457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 dirty="0">
                <a:latin typeface="맑은 고딕" panose="020B0503020000020004" pitchFamily="50" charset="-127"/>
              </a:rPr>
              <a:t>㈜ 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덕송은</a:t>
            </a:r>
            <a:r>
              <a:rPr lang="ko-KR" altLang="en-US" sz="1600" b="1" dirty="0">
                <a:latin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</a:rPr>
              <a:t>20X1</a:t>
            </a:r>
            <a:r>
              <a:rPr lang="ko-KR" altLang="en-US" sz="1600" b="1" dirty="0">
                <a:latin typeface="맑은 고딕" panose="020B0503020000020004" pitchFamily="50" charset="-127"/>
              </a:rPr>
              <a:t>년 </a:t>
            </a:r>
            <a:r>
              <a:rPr lang="en-US" altLang="ko-KR" sz="1600" b="1" dirty="0">
                <a:latin typeface="맑은 고딕" panose="020B0503020000020004" pitchFamily="50" charset="-127"/>
              </a:rPr>
              <a:t>2</a:t>
            </a:r>
            <a:r>
              <a:rPr lang="ko-KR" altLang="en-US" sz="1600" b="1" dirty="0">
                <a:latin typeface="맑은 고딕" panose="020B0503020000020004" pitchFamily="50" charset="-127"/>
              </a:rPr>
              <a:t>월 </a:t>
            </a:r>
            <a:r>
              <a:rPr lang="en-US" altLang="ko-KR" sz="1600" b="1" dirty="0">
                <a:latin typeface="맑은 고딕" panose="020B0503020000020004" pitchFamily="50" charset="-127"/>
              </a:rPr>
              <a:t>1</a:t>
            </a:r>
            <a:r>
              <a:rPr lang="ko-KR" altLang="en-US" sz="1600" b="1" dirty="0">
                <a:latin typeface="맑은 고딕" panose="020B0503020000020004" pitchFamily="50" charset="-127"/>
              </a:rPr>
              <a:t>일 상품 </a:t>
            </a:r>
            <a:r>
              <a:rPr lang="en-US" altLang="ko-KR" sz="1600" b="1" dirty="0">
                <a:latin typeface="맑은 고딕" panose="020B0503020000020004" pitchFamily="50" charset="-127"/>
              </a:rPr>
              <a:t>100</a:t>
            </a:r>
            <a:r>
              <a:rPr lang="ko-KR" altLang="en-US" sz="1600" b="1" dirty="0">
                <a:latin typeface="맑은 고딕" panose="020B0503020000020004" pitchFamily="50" charset="-127"/>
              </a:rPr>
              <a:t>개를 개당 ￦</a:t>
            </a:r>
            <a:r>
              <a:rPr lang="en-US" altLang="ko-KR" sz="1600" b="1" dirty="0">
                <a:latin typeface="맑은 고딕" panose="020B0503020000020004" pitchFamily="50" charset="-127"/>
              </a:rPr>
              <a:t>100</a:t>
            </a:r>
            <a:r>
              <a:rPr lang="ko-KR" altLang="en-US" sz="1600" b="1" dirty="0">
                <a:latin typeface="맑은 고딕" panose="020B0503020000020004" pitchFamily="50" charset="-127"/>
              </a:rPr>
              <a:t>에 현금으로 매입하였으며</a:t>
            </a:r>
            <a:r>
              <a:rPr lang="en-US" altLang="ko-KR" sz="1600" b="1" dirty="0">
                <a:latin typeface="맑은 고딕" panose="020B0503020000020004" pitchFamily="50" charset="-127"/>
              </a:rPr>
              <a:t>, 2</a:t>
            </a:r>
            <a:r>
              <a:rPr lang="ko-KR" altLang="en-US" sz="1600" b="1" dirty="0">
                <a:latin typeface="맑은 고딕" panose="020B0503020000020004" pitchFamily="50" charset="-127"/>
              </a:rPr>
              <a:t>월 </a:t>
            </a:r>
            <a:r>
              <a:rPr lang="en-US" altLang="ko-KR" sz="1600" b="1" dirty="0">
                <a:latin typeface="맑은 고딕" panose="020B0503020000020004" pitchFamily="50" charset="-127"/>
              </a:rPr>
              <a:t>4</a:t>
            </a:r>
            <a:r>
              <a:rPr lang="ko-KR" altLang="en-US" sz="1600" b="1" dirty="0">
                <a:latin typeface="맑은 고딕" panose="020B0503020000020004" pitchFamily="50" charset="-127"/>
              </a:rPr>
              <a:t>일 이 중 </a:t>
            </a:r>
            <a:r>
              <a:rPr lang="en-US" altLang="ko-KR" sz="1600" b="1" dirty="0">
                <a:latin typeface="맑은 고딕" panose="020B0503020000020004" pitchFamily="50" charset="-127"/>
              </a:rPr>
              <a:t>60</a:t>
            </a:r>
            <a:r>
              <a:rPr lang="ko-KR" altLang="en-US" sz="1600" b="1" dirty="0">
                <a:latin typeface="맑은 고딕" panose="020B0503020000020004" pitchFamily="50" charset="-127"/>
              </a:rPr>
              <a:t>개를 개당 ￦</a:t>
            </a:r>
            <a:r>
              <a:rPr lang="en-US" altLang="ko-KR" sz="1600" b="1" dirty="0">
                <a:latin typeface="맑은 고딕" panose="020B0503020000020004" pitchFamily="50" charset="-127"/>
              </a:rPr>
              <a:t>150</a:t>
            </a:r>
            <a:r>
              <a:rPr lang="ko-KR" altLang="en-US" sz="1600" b="1" dirty="0">
                <a:latin typeface="맑은 고딕" panose="020B0503020000020004" pitchFamily="50" charset="-127"/>
              </a:rPr>
              <a:t>에 현금을 받고 판매하였다</a:t>
            </a:r>
            <a:r>
              <a:rPr lang="en-US" altLang="ko-KR" sz="1600" b="1" dirty="0">
                <a:latin typeface="맑은 고딕" panose="020B0503020000020004" pitchFamily="50" charset="-127"/>
              </a:rPr>
              <a:t>. 20X1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년초에는</a:t>
            </a:r>
            <a:r>
              <a:rPr lang="ko-KR" altLang="en-US" sz="1600" b="1" dirty="0">
                <a:latin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</a:rPr>
              <a:t>30</a:t>
            </a:r>
            <a:r>
              <a:rPr lang="ko-KR" altLang="en-US" sz="1600" b="1" dirty="0">
                <a:latin typeface="맑은 고딕" panose="020B0503020000020004" pitchFamily="50" charset="-127"/>
              </a:rPr>
              <a:t>개</a:t>
            </a:r>
            <a:r>
              <a:rPr lang="en-US" altLang="ko-KR" sz="1600" b="1" dirty="0">
                <a:latin typeface="맑은 고딕" panose="020B0503020000020004" pitchFamily="50" charset="-127"/>
              </a:rPr>
              <a:t>(</a:t>
            </a:r>
            <a:r>
              <a:rPr lang="ko-KR" altLang="en-US" sz="1600" b="1" dirty="0">
                <a:latin typeface="맑은 고딕" panose="020B0503020000020004" pitchFamily="50" charset="-127"/>
              </a:rPr>
              <a:t>개당 ￦</a:t>
            </a:r>
            <a:r>
              <a:rPr lang="en-US" altLang="ko-KR" sz="1600" b="1" dirty="0">
                <a:latin typeface="맑은 고딕" panose="020B0503020000020004" pitchFamily="50" charset="-127"/>
              </a:rPr>
              <a:t>100)</a:t>
            </a:r>
            <a:r>
              <a:rPr lang="ko-KR" altLang="en-US" sz="1600" b="1" dirty="0">
                <a:latin typeface="맑은 고딕" panose="020B0503020000020004" pitchFamily="50" charset="-127"/>
              </a:rPr>
              <a:t>의 상품을 보유하고 있었으며</a:t>
            </a:r>
            <a:r>
              <a:rPr lang="en-US" altLang="ko-KR" sz="1600" b="1" dirty="0">
                <a:latin typeface="맑은 고딕" panose="020B0503020000020004" pitchFamily="50" charset="-127"/>
              </a:rPr>
              <a:t>,</a:t>
            </a:r>
            <a:r>
              <a:rPr lang="ko-KR" altLang="en-US" sz="1600" b="1" dirty="0">
                <a:latin typeface="맑은 고딕" panose="020B0503020000020004" pitchFamily="50" charset="-127"/>
              </a:rPr>
              <a:t> </a:t>
            </a:r>
            <a:r>
              <a:rPr lang="ko-KR" altLang="en-US" sz="1600" b="1" dirty="0" err="1">
                <a:solidFill>
                  <a:srgbClr val="C00000"/>
                </a:solidFill>
                <a:latin typeface="맑은 고딕" panose="020B0503020000020004" pitchFamily="50" charset="-127"/>
              </a:rPr>
              <a:t>계속기록법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을</a:t>
            </a:r>
            <a:r>
              <a:rPr lang="ko-KR" altLang="en-US" sz="1600" b="1" dirty="0">
                <a:latin typeface="맑은 고딕" panose="020B0503020000020004" pitchFamily="50" charset="-127"/>
              </a:rPr>
              <a:t> 사용한다</a:t>
            </a:r>
            <a:r>
              <a:rPr lang="en-US" altLang="ko-KR" sz="1600" b="1" dirty="0">
                <a:latin typeface="맑은 고딕" panose="020B0503020000020004" pitchFamily="50" charset="-127"/>
              </a:rPr>
              <a:t>.</a:t>
            </a: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㈜</a:t>
            </a:r>
            <a:r>
              <a:rPr lang="ko-KR" altLang="en-US" sz="1600" dirty="0" err="1">
                <a:latin typeface="맑은 고딕" panose="020B0503020000020004" pitchFamily="50" charset="-127"/>
              </a:rPr>
              <a:t>덕송의</a:t>
            </a:r>
            <a:r>
              <a:rPr lang="ko-KR" altLang="en-US" sz="1600" dirty="0">
                <a:latin typeface="맑은 고딕" panose="020B0503020000020004" pitchFamily="50" charset="-127"/>
              </a:rPr>
              <a:t> 상품거래를 정리하면 다음과 같다</a:t>
            </a:r>
            <a:r>
              <a:rPr lang="en-US" altLang="ko-KR" sz="1600" dirty="0">
                <a:latin typeface="맑은 고딕" panose="020B0503020000020004" pitchFamily="50" charset="-127"/>
              </a:rPr>
              <a:t>.</a:t>
            </a: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b="1" dirty="0">
              <a:latin typeface="맑은 고딕" panose="020B0503020000020004" pitchFamily="50" charset="-127"/>
            </a:endParaRPr>
          </a:p>
          <a:p>
            <a:pPr algn="just"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b="1" dirty="0">
              <a:latin typeface="맑은 고딕" panose="020B0503020000020004" pitchFamily="50" charset="-127"/>
            </a:endParaRPr>
          </a:p>
          <a:p>
            <a:pPr algn="just"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상품의 매입과 판매에 대한 분개를 하고</a:t>
            </a:r>
            <a:r>
              <a:rPr lang="en-US" altLang="ko-KR" sz="1600" dirty="0">
                <a:latin typeface="맑은 고딕" panose="020B0503020000020004" pitchFamily="50" charset="-127"/>
              </a:rPr>
              <a:t>,</a:t>
            </a:r>
            <a:r>
              <a:rPr lang="ko-KR" altLang="en-US" sz="1600" dirty="0">
                <a:latin typeface="맑은 고딕" panose="020B0503020000020004" pitchFamily="50" charset="-127"/>
              </a:rPr>
              <a:t> 그 결과를 </a:t>
            </a:r>
            <a:r>
              <a:rPr lang="en-US" altLang="ko-KR" sz="1600" dirty="0">
                <a:latin typeface="맑은 고딕" panose="020B0503020000020004" pitchFamily="50" charset="-127"/>
              </a:rPr>
              <a:t>T-</a:t>
            </a:r>
            <a:r>
              <a:rPr lang="ko-KR" altLang="en-US" sz="1600" dirty="0">
                <a:latin typeface="맑은 고딕" panose="020B0503020000020004" pitchFamily="50" charset="-127"/>
              </a:rPr>
              <a:t>계정으로 나타내어라</a:t>
            </a:r>
            <a:r>
              <a:rPr lang="en-US" altLang="ko-KR" sz="1600" dirty="0">
                <a:latin typeface="맑은 고딕" panose="020B0503020000020004" pitchFamily="50" charset="-127"/>
              </a:rPr>
              <a:t>.</a:t>
            </a: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endParaRPr lang="en-US" altLang="ko-KR" sz="160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24" name="내용 개체 틀 3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0946873"/>
              </p:ext>
            </p:extLst>
          </p:nvPr>
        </p:nvGraphicFramePr>
        <p:xfrm>
          <a:off x="1285875" y="3147238"/>
          <a:ext cx="6643688" cy="1744660"/>
        </p:xfrm>
        <a:graphic>
          <a:graphicData uri="http://schemas.openxmlformats.org/drawingml/2006/table">
            <a:tbl>
              <a:tblPr/>
              <a:tblGrid>
                <a:gridCol w="1106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30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887" marB="1788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887" marB="1788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수량</a:t>
                      </a:r>
                    </a:p>
                  </a:txBody>
                  <a:tcPr marL="64770" marR="64770" marT="17887" marB="1788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단가</a:t>
                      </a:r>
                    </a:p>
                  </a:txBody>
                  <a:tcPr marL="64770" marR="64770" marT="17887" marB="1788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금액</a:t>
                      </a:r>
                    </a:p>
                  </a:txBody>
                  <a:tcPr marL="64770" marR="64770" marT="17887" marB="1788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8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64770" marR="64770" marT="17887" marB="1788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기초재고</a:t>
                      </a:r>
                    </a:p>
                  </a:txBody>
                  <a:tcPr marL="64770" marR="64770" marT="17887" marB="1788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30</a:t>
                      </a:r>
                    </a:p>
                  </a:txBody>
                  <a:tcPr marL="64770" marR="64770" marT="17887" marB="1788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887" marB="1788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3,000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887" marB="1788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8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64770" marR="64770" marT="17887" marB="178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당기매입</a:t>
                      </a:r>
                    </a:p>
                  </a:txBody>
                  <a:tcPr marL="64770" marR="64770" marT="17887" marB="178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</a:p>
                  </a:txBody>
                  <a:tcPr marL="64770" marR="64770" marT="17887" marB="178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100</a:t>
                      </a:r>
                    </a:p>
                  </a:txBody>
                  <a:tcPr marL="64770" marR="64770" marT="17887" marB="178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10,000</a:t>
                      </a:r>
                    </a:p>
                  </a:txBody>
                  <a:tcPr marL="64770" marR="64770" marT="17887" marB="178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8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64770" marR="64770" marT="17887" marB="178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판 매</a:t>
                      </a:r>
                    </a:p>
                  </a:txBody>
                  <a:tcPr marL="64770" marR="64770" marT="17887" marB="178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(60)</a:t>
                      </a:r>
                    </a:p>
                  </a:txBody>
                  <a:tcPr marL="64770" marR="64770" marT="17887" marB="178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887" marB="178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887" marB="178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89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64770" marR="64770" marT="17887" marB="1788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기말재고</a:t>
                      </a:r>
                    </a:p>
                  </a:txBody>
                  <a:tcPr marL="64770" marR="64770" marT="17887" marB="1788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70</a:t>
                      </a:r>
                    </a:p>
                  </a:txBody>
                  <a:tcPr marL="64770" marR="64770" marT="17887" marB="1788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887" marB="1788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7,000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887" marB="1788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061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368383"/>
            <a:ext cx="8788030" cy="4578717"/>
            <a:chOff x="190714" y="1320882"/>
            <a:chExt cx="8711460" cy="5408997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268380"/>
              <a:chOff x="269048" y="1722741"/>
              <a:chExt cx="8648775" cy="5268380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5244680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2"/>
              <a:ext cx="4510326" cy="326949"/>
              <a:chOff x="190714" y="1320889"/>
              <a:chExt cx="3858251" cy="290352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3858251" cy="290352"/>
                <a:chOff x="405822" y="2237753"/>
                <a:chExt cx="3858251" cy="290352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3983686" y="2237754"/>
                  <a:ext cx="280387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42513" y="2237755"/>
                  <a:ext cx="3585056" cy="290349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6-4 </a:t>
                  </a:r>
                  <a:r>
                    <a:rPr lang="ko-KR" altLang="en-US" sz="1600" b="1" dirty="0" err="1"/>
                    <a:t>계속기록법</a:t>
                  </a:r>
                  <a:endParaRPr lang="ko-KR" altLang="en-US" sz="1600" b="1" dirty="0"/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825349" y="1821209"/>
            <a:ext cx="7881781" cy="3746457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b="1" dirty="0">
                <a:latin typeface="맑은 고딕" panose="020B0503020000020004" pitchFamily="50" charset="-127"/>
              </a:rPr>
              <a:t>① </a:t>
            </a:r>
            <a:r>
              <a:rPr lang="ko-KR" altLang="en-US" sz="1400" b="1" dirty="0" err="1">
                <a:latin typeface="맑은 고딕" panose="020B0503020000020004" pitchFamily="50" charset="-127"/>
              </a:rPr>
              <a:t>상품매입시</a:t>
            </a:r>
            <a:endParaRPr lang="en-US" altLang="ko-KR" sz="14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 b="1" dirty="0">
                <a:latin typeface="맑은 고딕" panose="020B0503020000020004" pitchFamily="50" charset="-127"/>
              </a:rPr>
              <a:t>     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차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상    품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10,000       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대</a:t>
            </a:r>
            <a:r>
              <a:rPr lang="en-US" altLang="ko-KR" sz="1400" b="1" dirty="0">
                <a:latin typeface="맑은 고딕" panose="020B0503020000020004" pitchFamily="50" charset="-127"/>
              </a:rPr>
              <a:t>)  </a:t>
            </a:r>
            <a:r>
              <a:rPr lang="ko-KR" altLang="en-US" sz="1400" b="1" dirty="0">
                <a:latin typeface="맑은 고딕" panose="020B0503020000020004" pitchFamily="50" charset="-127"/>
              </a:rPr>
              <a:t>현    금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10,000</a:t>
            </a: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b="1" dirty="0">
                <a:latin typeface="맑은 고딕" panose="020B0503020000020004" pitchFamily="50" charset="-127"/>
              </a:rPr>
              <a:t>② </a:t>
            </a:r>
            <a:r>
              <a:rPr lang="ko-KR" altLang="en-US" sz="1400" b="1" dirty="0" err="1">
                <a:latin typeface="맑은 고딕" panose="020B0503020000020004" pitchFamily="50" charset="-127"/>
              </a:rPr>
              <a:t>상품매출시</a:t>
            </a:r>
            <a:endParaRPr lang="en-US" altLang="ko-KR" sz="14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 b="1" dirty="0">
                <a:latin typeface="맑은 고딕" panose="020B0503020000020004" pitchFamily="50" charset="-127"/>
              </a:rPr>
              <a:t>     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차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현    금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9,000       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대</a:t>
            </a:r>
            <a:r>
              <a:rPr lang="en-US" altLang="ko-KR" sz="1400" b="1" dirty="0">
                <a:latin typeface="맑은 고딕" panose="020B0503020000020004" pitchFamily="50" charset="-127"/>
              </a:rPr>
              <a:t>)  </a:t>
            </a:r>
            <a:r>
              <a:rPr lang="ko-KR" altLang="en-US" sz="1400" b="1" dirty="0">
                <a:latin typeface="맑은 고딕" panose="020B0503020000020004" pitchFamily="50" charset="-127"/>
              </a:rPr>
              <a:t>매    출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9,000</a:t>
            </a: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 b="1" dirty="0">
                <a:latin typeface="맑은 고딕" panose="020B0503020000020004" pitchFamily="50" charset="-127"/>
              </a:rPr>
              <a:t>               </a:t>
            </a:r>
            <a:r>
              <a:rPr lang="ko-KR" altLang="en-US" sz="1400" b="1" dirty="0">
                <a:latin typeface="맑은 고딕" panose="020B0503020000020004" pitchFamily="50" charset="-127"/>
              </a:rPr>
              <a:t>매 출 원 가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6,000           </a:t>
            </a:r>
            <a:r>
              <a:rPr lang="en-US" altLang="ko-KR" sz="1100" b="1" dirty="0">
                <a:latin typeface="맑은 고딕" panose="020B0503020000020004" pitchFamily="50" charset="-127"/>
              </a:rPr>
              <a:t>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    </a:t>
            </a:r>
            <a:r>
              <a:rPr lang="ko-KR" altLang="en-US" sz="1400" b="1" dirty="0">
                <a:latin typeface="맑은 고딕" panose="020B0503020000020004" pitchFamily="50" charset="-127"/>
              </a:rPr>
              <a:t>상    품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6,000</a:t>
            </a: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42" name="표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9472226"/>
              </p:ext>
            </p:extLst>
          </p:nvPr>
        </p:nvGraphicFramePr>
        <p:xfrm>
          <a:off x="1143000" y="3694438"/>
          <a:ext cx="6786563" cy="1209676"/>
        </p:xfrm>
        <a:graphic>
          <a:graphicData uri="http://schemas.openxmlformats.org/drawingml/2006/table">
            <a:tbl>
              <a:tblPr/>
              <a:tblGrid>
                <a:gridCol w="892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0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22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3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30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32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84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691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612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3601">
                <a:tc gridSpan="4"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                       상 품</a:t>
                      </a: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매출원가</a:t>
                      </a: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02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기초재고</a:t>
                      </a: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3,000</a:t>
                      </a:r>
                    </a:p>
                  </a:txBody>
                  <a:tcPr marL="64770" marR="64770" marT="17910" marB="1791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②매출원가</a:t>
                      </a:r>
                    </a:p>
                  </a:txBody>
                  <a:tcPr marL="64770" marR="64770" marT="17910" marB="179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6,000</a:t>
                      </a: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②상 품</a:t>
                      </a: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6,000</a:t>
                      </a:r>
                    </a:p>
                  </a:txBody>
                  <a:tcPr marL="64770" marR="64770" marT="17910" marB="1791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02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①현 금</a:t>
                      </a: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10,000</a:t>
                      </a:r>
                    </a:p>
                  </a:txBody>
                  <a:tcPr marL="64770" marR="64770" marT="17910" marB="1791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02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7,000</a:t>
                      </a:r>
                    </a:p>
                  </a:txBody>
                  <a:tcPr marL="64770" marR="64770" marT="17910" marB="1791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6,000</a:t>
                      </a:r>
                    </a:p>
                  </a:txBody>
                  <a:tcPr marL="64770" marR="64770" marT="17910" marB="1791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3" name="표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2546156"/>
              </p:ext>
            </p:extLst>
          </p:nvPr>
        </p:nvGraphicFramePr>
        <p:xfrm>
          <a:off x="1143000" y="4980313"/>
          <a:ext cx="6143626" cy="896936"/>
        </p:xfrm>
        <a:graphic>
          <a:graphicData uri="http://schemas.openxmlformats.org/drawingml/2006/table">
            <a:tbl>
              <a:tblPr/>
              <a:tblGrid>
                <a:gridCol w="907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1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3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5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084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95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14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7543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3378">
                <a:tc gridSpan="4">
                  <a:txBody>
                    <a:bodyPr/>
                    <a:lstStyle/>
                    <a:p>
                      <a:pPr marL="0" marR="0" algn="l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                       매 출   </a:t>
                      </a:r>
                    </a:p>
                  </a:txBody>
                  <a:tcPr marL="64770" marR="64770" marT="17869" marB="17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>
                        <a:solidFill>
                          <a:srgbClr val="000000"/>
                        </a:solidFill>
                        <a:latin typeface="휴먼고딕"/>
                      </a:endParaRPr>
                    </a:p>
                  </a:txBody>
                  <a:tcPr marL="64770" marR="64770" marT="17869" marB="17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>
                        <a:solidFill>
                          <a:srgbClr val="000000"/>
                        </a:solidFill>
                        <a:latin typeface="휴먼고딕"/>
                      </a:endParaRPr>
                    </a:p>
                  </a:txBody>
                  <a:tcPr marL="64770" marR="64770" marT="17869" marB="17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77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dirty="0">
                        <a:solidFill>
                          <a:srgbClr val="000000"/>
                        </a:solidFill>
                        <a:latin typeface="신명 신명조"/>
                      </a:endParaRPr>
                    </a:p>
                  </a:txBody>
                  <a:tcPr marL="64770" marR="64770" marT="17869" marB="17869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869" marB="17869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②현 금</a:t>
                      </a:r>
                    </a:p>
                  </a:txBody>
                  <a:tcPr marL="64770" marR="64770" marT="17869" marB="1786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9,000</a:t>
                      </a:r>
                    </a:p>
                  </a:txBody>
                  <a:tcPr marL="64770" marR="64770" marT="17869" marB="17869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>
                        <a:solidFill>
                          <a:srgbClr val="000000"/>
                        </a:solidFill>
                        <a:latin typeface="신명 신명조"/>
                      </a:endParaRPr>
                    </a:p>
                  </a:txBody>
                  <a:tcPr marL="64770" marR="64770" marT="17869" marB="17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>
                        <a:solidFill>
                          <a:srgbClr val="000000"/>
                        </a:solidFill>
                        <a:latin typeface="신명 신명조"/>
                      </a:endParaRPr>
                    </a:p>
                  </a:txBody>
                  <a:tcPr marL="64770" marR="64770" marT="17869" marB="17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dirty="0">
                        <a:solidFill>
                          <a:srgbClr val="000000"/>
                        </a:solidFill>
                        <a:latin typeface="신명 신명조"/>
                      </a:endParaRPr>
                    </a:p>
                  </a:txBody>
                  <a:tcPr marL="64770" marR="64770" marT="17869" marB="17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>
                        <a:solidFill>
                          <a:srgbClr val="000000"/>
                        </a:solidFill>
                        <a:latin typeface="신명 신명조"/>
                      </a:endParaRPr>
                    </a:p>
                  </a:txBody>
                  <a:tcPr marL="64770" marR="64770" marT="17869" marB="17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dirty="0">
                        <a:solidFill>
                          <a:srgbClr val="000000"/>
                        </a:solidFill>
                        <a:latin typeface="신명 신명조"/>
                      </a:endParaRPr>
                    </a:p>
                  </a:txBody>
                  <a:tcPr marL="64770" marR="64770" marT="17869" marB="17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77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>
                        <a:solidFill>
                          <a:srgbClr val="000000"/>
                        </a:solidFill>
                        <a:latin typeface="신명 신명조"/>
                      </a:endParaRPr>
                    </a:p>
                  </a:txBody>
                  <a:tcPr marL="64770" marR="64770" marT="17869" marB="17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869" marB="17869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869" marB="17869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869" marB="17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dirty="0">
                        <a:solidFill>
                          <a:srgbClr val="000000"/>
                        </a:solidFill>
                        <a:latin typeface="신명 신명조"/>
                      </a:endParaRPr>
                    </a:p>
                  </a:txBody>
                  <a:tcPr marL="64770" marR="64770" marT="17869" marB="17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dirty="0">
                        <a:solidFill>
                          <a:srgbClr val="000000"/>
                        </a:solidFill>
                        <a:latin typeface="신명 신명조"/>
                      </a:endParaRPr>
                    </a:p>
                  </a:txBody>
                  <a:tcPr marL="64770" marR="64770" marT="17869" marB="17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dirty="0">
                        <a:solidFill>
                          <a:srgbClr val="000000"/>
                        </a:solidFill>
                        <a:latin typeface="신명 신명조"/>
                      </a:endParaRPr>
                    </a:p>
                  </a:txBody>
                  <a:tcPr marL="64770" marR="64770" marT="17869" marB="17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dirty="0">
                        <a:solidFill>
                          <a:srgbClr val="000000"/>
                        </a:solidFill>
                        <a:latin typeface="신명 신명조"/>
                      </a:endParaRPr>
                    </a:p>
                  </a:txBody>
                  <a:tcPr marL="64770" marR="64770" marT="17869" marB="17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dirty="0">
                        <a:solidFill>
                          <a:srgbClr val="000000"/>
                        </a:solidFill>
                        <a:latin typeface="신명 신명조"/>
                      </a:endParaRPr>
                    </a:p>
                  </a:txBody>
                  <a:tcPr marL="64770" marR="64770" marT="17869" marB="17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65596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159731" y="1051210"/>
            <a:ext cx="8641369" cy="5299037"/>
            <a:chOff x="288455" y="1430362"/>
            <a:chExt cx="8641369" cy="5299037"/>
          </a:xfrm>
        </p:grpSpPr>
        <p:sp>
          <p:nvSpPr>
            <p:cNvPr id="7" name="Rectangle 15"/>
            <p:cNvSpPr>
              <a:spLocks noChangeArrowheads="1"/>
            </p:cNvSpPr>
            <p:nvPr/>
          </p:nvSpPr>
          <p:spPr bwMode="auto">
            <a:xfrm>
              <a:off x="288455" y="1777936"/>
              <a:ext cx="8641369" cy="4951463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285750" indent="-285750" latinLnBrk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b="1" dirty="0">
                  <a:latin typeface="맑은 고딕" panose="020B0503020000020004" pitchFamily="50" charset="-127"/>
                </a:rPr>
                <a:t>실지재고조사법</a:t>
              </a:r>
              <a:r>
                <a:rPr lang="en-US" altLang="ko-KR" sz="1400" dirty="0">
                  <a:latin typeface="맑은 고딕" panose="020B0503020000020004" pitchFamily="50" charset="-127"/>
                </a:rPr>
                <a:t>(periodic inventory system) 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상품 매입시에는 이를 매번 기록하지만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,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 상품 매출시에는 재고자산의 감소나 매출원가의 발생을 기록하지 않고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대신 기말 재고자산 실사를 통해 파악한 재고량으로 기말재고와 매출원가를 파악하는 방법</a:t>
              </a: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 ①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상품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매입시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비용계정인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매입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계정의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차변에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기록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 ② 상품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매출시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수익계정인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매출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계정에 기록하지만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매출원가에 대한 기록은 하지 않음</a:t>
              </a: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           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429750" indent="-285750" latinLnBrk="0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Char char="è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따라서 기말결산시까지 재고자산 계정 잔액은 기초 재고자산 금액이며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매출원가 계정 잔액은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0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임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429750" indent="-285750" latinLnBrk="0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Char char="è"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None/>
              </a:pPr>
              <a:r>
                <a:rPr lang="en-US" altLang="ko-KR" sz="1600" dirty="0">
                  <a:latin typeface="맑은 고딕" panose="020B0503020000020004" pitchFamily="50" charset="-127"/>
                </a:rPr>
                <a:t> ③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기말결산시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latinLnBrk="0"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기초재고와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당기매입액을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매출원가계정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차변으로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대체하고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기말실사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를 통해 파악된  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360000" latinLnBrk="0"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기말재고는 매출원가계정 대변으로 대체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85750" indent="-285750" latinLnBrk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장점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매출원가를 기말에 일괄 계산하기 때문에 사용이 간편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85750" indent="-285750" latinLnBrk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단점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재고자산의 감소를 모두 판매된 것으로 간주하기 때문에 분실이나 파손으로 인한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재고감모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양을 정확히 파악할 수 없음</a:t>
              </a:r>
              <a:r>
                <a:rPr lang="ko-KR" altLang="en-US" sz="1600" dirty="0">
                  <a:latin typeface="Verdana" panose="020B0604030504040204" pitchFamily="34" charset="0"/>
                </a:rPr>
                <a:t>    </a:t>
              </a:r>
              <a:endParaRPr lang="ko-KR" altLang="en-US" sz="1600" dirty="0">
                <a:latin typeface="맑은 고딕" panose="020B0503020000020004" pitchFamily="50" charset="-127"/>
              </a:endParaRPr>
            </a:p>
          </p:txBody>
        </p:sp>
        <p:sp>
          <p:nvSpPr>
            <p:cNvPr id="29" name="Rectangle 14"/>
            <p:cNvSpPr>
              <a:spLocks noChangeArrowheads="1"/>
            </p:cNvSpPr>
            <p:nvPr/>
          </p:nvSpPr>
          <p:spPr bwMode="auto">
            <a:xfrm>
              <a:off x="440748" y="1430362"/>
              <a:ext cx="7309349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endPara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" name="직사각형 3"/>
          <p:cNvSpPr/>
          <p:nvPr/>
        </p:nvSpPr>
        <p:spPr>
          <a:xfrm>
            <a:off x="2530415" y="4671266"/>
            <a:ext cx="4083169" cy="3385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기초재고＋</a:t>
            </a:r>
            <a:r>
              <a:rPr lang="ko-KR" altLang="en-US" sz="1600" b="1" dirty="0" err="1">
                <a:solidFill>
                  <a:srgbClr val="000000"/>
                </a:solidFill>
                <a:latin typeface="맑은 고딕" panose="020B0503020000020004" pitchFamily="50" charset="-127"/>
              </a:rPr>
              <a:t>당기매입</a:t>
            </a:r>
            <a:r>
              <a:rPr lang="ko-KR" altLang="en-US" sz="1600" b="1" dirty="0">
                <a:solidFill>
                  <a:srgbClr val="000000"/>
                </a:solidFill>
                <a:latin typeface="맑은 고딕" panose="020B0503020000020004" pitchFamily="50" charset="-127"/>
              </a:rPr>
              <a:t>－매출원가＝기말재고</a:t>
            </a:r>
            <a:endParaRPr lang="ko-KR" altLang="en-US" sz="1600" dirty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0356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368383"/>
            <a:ext cx="8788030" cy="4979863"/>
            <a:chOff x="190714" y="1320882"/>
            <a:chExt cx="8711460" cy="5127621"/>
          </a:xfrm>
          <a:noFill/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4987004"/>
              <a:chOff x="269048" y="1722741"/>
              <a:chExt cx="8648775" cy="4987004"/>
            </a:xfrm>
            <a:grpFill/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2"/>
                <a:ext cx="8641369" cy="4963303"/>
              </a:xfrm>
              <a:prstGeom prst="foldedCorner">
                <a:avLst>
                  <a:gd name="adj" fmla="val 5125"/>
                </a:avLst>
              </a:prstGeom>
              <a:grp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1" name="그룹 30"/>
            <p:cNvGrpSpPr/>
            <p:nvPr/>
          </p:nvGrpSpPr>
          <p:grpSpPr>
            <a:xfrm>
              <a:off x="190714" y="1320882"/>
              <a:ext cx="4510326" cy="326949"/>
              <a:chOff x="405822" y="2237753"/>
              <a:chExt cx="3858251" cy="290352"/>
            </a:xfrm>
            <a:grpFill/>
          </p:grpSpPr>
          <p:sp>
            <p:nvSpPr>
              <p:cNvPr id="33" name="타원 32"/>
              <p:cNvSpPr/>
              <p:nvPr/>
            </p:nvSpPr>
            <p:spPr>
              <a:xfrm>
                <a:off x="405822" y="2237753"/>
                <a:ext cx="290351" cy="29035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34" name="타원 33"/>
              <p:cNvSpPr/>
              <p:nvPr/>
            </p:nvSpPr>
            <p:spPr>
              <a:xfrm>
                <a:off x="3983686" y="2237754"/>
                <a:ext cx="280387" cy="29035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35" name="직사각형 34"/>
              <p:cNvSpPr/>
              <p:nvPr/>
            </p:nvSpPr>
            <p:spPr>
              <a:xfrm>
                <a:off x="542513" y="2237755"/>
                <a:ext cx="3585056" cy="290349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1600" b="1" dirty="0"/>
                  <a:t>    예제 </a:t>
                </a:r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6-5 </a:t>
                </a:r>
                <a:r>
                  <a:rPr lang="ko-KR" altLang="en-US" sz="1600" b="1" dirty="0"/>
                  <a:t>실지재고조사법</a:t>
                </a:r>
              </a:p>
            </p:txBody>
          </p:sp>
          <p:sp>
            <p:nvSpPr>
              <p:cNvPr id="36" name="타원 35"/>
              <p:cNvSpPr/>
              <p:nvPr/>
            </p:nvSpPr>
            <p:spPr>
              <a:xfrm>
                <a:off x="427833" y="2256153"/>
                <a:ext cx="253549" cy="25354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655783" y="1770249"/>
            <a:ext cx="7992918" cy="4651568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 dirty="0">
                <a:latin typeface="맑은 고딕" panose="020B0503020000020004" pitchFamily="50" charset="-127"/>
              </a:rPr>
              <a:t>㈜ 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덕송은</a:t>
            </a:r>
            <a:r>
              <a:rPr lang="ko-KR" altLang="en-US" sz="1600" b="1" dirty="0">
                <a:latin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</a:rPr>
              <a:t>20X1</a:t>
            </a:r>
            <a:r>
              <a:rPr lang="ko-KR" altLang="en-US" sz="1600" b="1" dirty="0">
                <a:latin typeface="맑은 고딕" panose="020B0503020000020004" pitchFamily="50" charset="-127"/>
              </a:rPr>
              <a:t>년 </a:t>
            </a:r>
            <a:r>
              <a:rPr lang="en-US" altLang="ko-KR" sz="1600" b="1" dirty="0">
                <a:latin typeface="맑은 고딕" panose="020B0503020000020004" pitchFamily="50" charset="-127"/>
              </a:rPr>
              <a:t>2</a:t>
            </a:r>
            <a:r>
              <a:rPr lang="ko-KR" altLang="en-US" sz="1600" b="1" dirty="0">
                <a:latin typeface="맑은 고딕" panose="020B0503020000020004" pitchFamily="50" charset="-127"/>
              </a:rPr>
              <a:t>월 </a:t>
            </a:r>
            <a:r>
              <a:rPr lang="en-US" altLang="ko-KR" sz="1600" b="1" dirty="0">
                <a:latin typeface="맑은 고딕" panose="020B0503020000020004" pitchFamily="50" charset="-127"/>
              </a:rPr>
              <a:t>1</a:t>
            </a:r>
            <a:r>
              <a:rPr lang="ko-KR" altLang="en-US" sz="1600" b="1" dirty="0">
                <a:latin typeface="맑은 고딕" panose="020B0503020000020004" pitchFamily="50" charset="-127"/>
              </a:rPr>
              <a:t>일 상품 </a:t>
            </a:r>
            <a:r>
              <a:rPr lang="en-US" altLang="ko-KR" sz="1600" b="1" dirty="0">
                <a:latin typeface="맑은 고딕" panose="020B0503020000020004" pitchFamily="50" charset="-127"/>
              </a:rPr>
              <a:t>100</a:t>
            </a:r>
            <a:r>
              <a:rPr lang="ko-KR" altLang="en-US" sz="1600" b="1" dirty="0">
                <a:latin typeface="맑은 고딕" panose="020B0503020000020004" pitchFamily="50" charset="-127"/>
              </a:rPr>
              <a:t>개를 개당 ￦</a:t>
            </a:r>
            <a:r>
              <a:rPr lang="en-US" altLang="ko-KR" sz="1600" b="1" dirty="0">
                <a:latin typeface="맑은 고딕" panose="020B0503020000020004" pitchFamily="50" charset="-127"/>
              </a:rPr>
              <a:t>100</a:t>
            </a:r>
            <a:r>
              <a:rPr lang="ko-KR" altLang="en-US" sz="1600" b="1" dirty="0">
                <a:latin typeface="맑은 고딕" panose="020B0503020000020004" pitchFamily="50" charset="-127"/>
              </a:rPr>
              <a:t>에 현금으로 매입하였으며</a:t>
            </a:r>
            <a:r>
              <a:rPr lang="en-US" altLang="ko-KR" sz="1600" b="1" dirty="0">
                <a:latin typeface="맑은 고딕" panose="020B0503020000020004" pitchFamily="50" charset="-127"/>
              </a:rPr>
              <a:t>, 2</a:t>
            </a:r>
            <a:r>
              <a:rPr lang="ko-KR" altLang="en-US" sz="1600" b="1" dirty="0">
                <a:latin typeface="맑은 고딕" panose="020B0503020000020004" pitchFamily="50" charset="-127"/>
              </a:rPr>
              <a:t>월 </a:t>
            </a:r>
            <a:r>
              <a:rPr lang="en-US" altLang="ko-KR" sz="1600" b="1" dirty="0">
                <a:latin typeface="맑은 고딕" panose="020B0503020000020004" pitchFamily="50" charset="-127"/>
              </a:rPr>
              <a:t>4</a:t>
            </a:r>
            <a:r>
              <a:rPr lang="ko-KR" altLang="en-US" sz="1600" b="1" dirty="0">
                <a:latin typeface="맑은 고딕" panose="020B0503020000020004" pitchFamily="50" charset="-127"/>
              </a:rPr>
              <a:t>일 이 중 </a:t>
            </a:r>
            <a:r>
              <a:rPr lang="en-US" altLang="ko-KR" sz="1600" b="1" dirty="0">
                <a:latin typeface="맑은 고딕" panose="020B0503020000020004" pitchFamily="50" charset="-127"/>
              </a:rPr>
              <a:t>60</a:t>
            </a:r>
            <a:r>
              <a:rPr lang="ko-KR" altLang="en-US" sz="1600" b="1" dirty="0">
                <a:latin typeface="맑은 고딕" panose="020B0503020000020004" pitchFamily="50" charset="-127"/>
              </a:rPr>
              <a:t>개를 개당 ￦</a:t>
            </a:r>
            <a:r>
              <a:rPr lang="en-US" altLang="ko-KR" sz="1600" b="1" dirty="0">
                <a:latin typeface="맑은 고딕" panose="020B0503020000020004" pitchFamily="50" charset="-127"/>
              </a:rPr>
              <a:t>150</a:t>
            </a:r>
            <a:r>
              <a:rPr lang="ko-KR" altLang="en-US" sz="1600" b="1" dirty="0">
                <a:latin typeface="맑은 고딕" panose="020B0503020000020004" pitchFamily="50" charset="-127"/>
              </a:rPr>
              <a:t>에 현금을 받고 판매하였다</a:t>
            </a:r>
            <a:r>
              <a:rPr lang="en-US" altLang="ko-KR" sz="1600" b="1" dirty="0">
                <a:latin typeface="맑은 고딕" panose="020B0503020000020004" pitchFamily="50" charset="-127"/>
              </a:rPr>
              <a:t>. 20X1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년초에는</a:t>
            </a:r>
            <a:r>
              <a:rPr lang="ko-KR" altLang="en-US" sz="1600" b="1" dirty="0">
                <a:latin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</a:rPr>
              <a:t>30</a:t>
            </a:r>
            <a:r>
              <a:rPr lang="ko-KR" altLang="en-US" sz="1600" b="1" dirty="0">
                <a:latin typeface="맑은 고딕" panose="020B0503020000020004" pitchFamily="50" charset="-127"/>
              </a:rPr>
              <a:t>개</a:t>
            </a:r>
            <a:r>
              <a:rPr lang="en-US" altLang="ko-KR" sz="1600" b="1" dirty="0">
                <a:latin typeface="맑은 고딕" panose="020B0503020000020004" pitchFamily="50" charset="-127"/>
              </a:rPr>
              <a:t>(</a:t>
            </a:r>
            <a:r>
              <a:rPr lang="ko-KR" altLang="en-US" sz="1600" b="1" dirty="0">
                <a:latin typeface="맑은 고딕" panose="020B0503020000020004" pitchFamily="50" charset="-127"/>
              </a:rPr>
              <a:t>개당 ￦</a:t>
            </a:r>
            <a:r>
              <a:rPr lang="en-US" altLang="ko-KR" sz="1600" b="1" dirty="0">
                <a:latin typeface="맑은 고딕" panose="020B0503020000020004" pitchFamily="50" charset="-127"/>
              </a:rPr>
              <a:t>100)</a:t>
            </a:r>
            <a:r>
              <a:rPr lang="ko-KR" altLang="en-US" sz="1600" b="1" dirty="0">
                <a:latin typeface="맑은 고딕" panose="020B0503020000020004" pitchFamily="50" charset="-127"/>
              </a:rPr>
              <a:t>의 상품을 보유하고 있었으며</a:t>
            </a:r>
            <a:r>
              <a:rPr lang="en-US" altLang="ko-KR" sz="1600" b="1" dirty="0">
                <a:latin typeface="맑은 고딕" panose="020B0503020000020004" pitchFamily="50" charset="-127"/>
              </a:rPr>
              <a:t>,</a:t>
            </a:r>
            <a:r>
              <a:rPr lang="ko-KR" altLang="en-US" sz="1600" b="1" dirty="0">
                <a:latin typeface="맑은 고딕" panose="020B0503020000020004" pitchFamily="50" charset="-127"/>
              </a:rPr>
              <a:t> </a:t>
            </a:r>
            <a:r>
              <a:rPr lang="ko-KR" altLang="en-US" sz="16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실지재고조사법</a:t>
            </a:r>
            <a:r>
              <a:rPr lang="ko-KR" altLang="en-US" sz="1600" b="1" dirty="0">
                <a:latin typeface="맑은 고딕" panose="020B0503020000020004" pitchFamily="50" charset="-127"/>
              </a:rPr>
              <a:t>을 사용한다</a:t>
            </a:r>
            <a:r>
              <a:rPr lang="en-US" altLang="ko-KR" sz="1600" b="1" dirty="0">
                <a:latin typeface="맑은 고딕" panose="020B0503020000020004" pitchFamily="50" charset="-127"/>
              </a:rPr>
              <a:t>. 20X1</a:t>
            </a:r>
            <a:r>
              <a:rPr lang="ko-KR" altLang="en-US" sz="1600" b="1" dirty="0">
                <a:latin typeface="맑은 고딕" panose="020B0503020000020004" pitchFamily="50" charset="-127"/>
              </a:rPr>
              <a:t>년 </a:t>
            </a:r>
            <a:r>
              <a:rPr lang="en-US" altLang="ko-KR" sz="1600" b="1" dirty="0">
                <a:latin typeface="맑은 고딕" panose="020B0503020000020004" pitchFamily="50" charset="-127"/>
              </a:rPr>
              <a:t>12</a:t>
            </a:r>
            <a:r>
              <a:rPr lang="ko-KR" altLang="en-US" sz="1600" b="1" dirty="0">
                <a:latin typeface="맑은 고딕" panose="020B0503020000020004" pitchFamily="50" charset="-127"/>
              </a:rPr>
              <a:t>월 </a:t>
            </a:r>
            <a:r>
              <a:rPr lang="en-US" altLang="ko-KR" sz="1600" b="1" dirty="0">
                <a:latin typeface="맑은 고딕" panose="020B0503020000020004" pitchFamily="50" charset="-127"/>
              </a:rPr>
              <a:t>31</a:t>
            </a:r>
            <a:r>
              <a:rPr lang="ko-KR" altLang="en-US" sz="1600" b="1" dirty="0">
                <a:latin typeface="맑은 고딕" panose="020B0503020000020004" pitchFamily="50" charset="-127"/>
              </a:rPr>
              <a:t>일 창고 실사결과 </a:t>
            </a:r>
            <a:r>
              <a:rPr lang="en-US" altLang="ko-KR" sz="1600" b="1" dirty="0">
                <a:latin typeface="맑은 고딕" panose="020B0503020000020004" pitchFamily="50" charset="-127"/>
              </a:rPr>
              <a:t>70</a:t>
            </a:r>
            <a:r>
              <a:rPr lang="ko-KR" altLang="en-US" sz="1600" b="1" dirty="0">
                <a:latin typeface="맑은 고딕" panose="020B0503020000020004" pitchFamily="50" charset="-127"/>
              </a:rPr>
              <a:t>개의 재고자산이 남아 있었다</a:t>
            </a:r>
            <a:r>
              <a:rPr lang="en-US" altLang="ko-KR" sz="1600" b="1" dirty="0">
                <a:latin typeface="맑은 고딕" panose="020B0503020000020004" pitchFamily="50" charset="-127"/>
              </a:rPr>
              <a:t>. </a:t>
            </a: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㈜</a:t>
            </a:r>
            <a:r>
              <a:rPr lang="ko-KR" altLang="en-US" sz="1600" dirty="0" err="1">
                <a:latin typeface="맑은 고딕" panose="020B0503020000020004" pitchFamily="50" charset="-127"/>
              </a:rPr>
              <a:t>덕송의</a:t>
            </a:r>
            <a:r>
              <a:rPr lang="ko-KR" altLang="en-US" sz="1600" dirty="0">
                <a:latin typeface="맑은 고딕" panose="020B0503020000020004" pitchFamily="50" charset="-127"/>
              </a:rPr>
              <a:t> 상품거래를 정리하면 다음과 같다</a:t>
            </a:r>
            <a:r>
              <a:rPr lang="en-US" altLang="ko-KR" sz="1600" dirty="0">
                <a:latin typeface="맑은 고딕" panose="020B0503020000020004" pitchFamily="50" charset="-127"/>
              </a:rPr>
              <a:t>.</a:t>
            </a: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상품의 매입과 판매에 대한 분개를 하고</a:t>
            </a:r>
            <a:r>
              <a:rPr lang="en-US" altLang="ko-KR" sz="1600" dirty="0">
                <a:latin typeface="맑은 고딕" panose="020B0503020000020004" pitchFamily="50" charset="-127"/>
              </a:rPr>
              <a:t>,</a:t>
            </a:r>
            <a:r>
              <a:rPr lang="ko-KR" altLang="en-US" sz="1600" dirty="0">
                <a:latin typeface="맑은 고딕" panose="020B0503020000020004" pitchFamily="50" charset="-127"/>
              </a:rPr>
              <a:t> 매출원가를 계산하라</a:t>
            </a:r>
            <a:r>
              <a:rPr lang="en-US" altLang="ko-KR" sz="1600" dirty="0">
                <a:latin typeface="맑은 고딕" panose="020B0503020000020004" pitchFamily="50" charset="-127"/>
              </a:rPr>
              <a:t>. 20X1</a:t>
            </a:r>
            <a:r>
              <a:rPr lang="ko-KR" altLang="en-US" sz="1600" dirty="0">
                <a:latin typeface="맑은 고딕" panose="020B0503020000020004" pitchFamily="50" charset="-127"/>
              </a:rPr>
              <a:t>년 결산수정분개를 하고</a:t>
            </a:r>
            <a:r>
              <a:rPr lang="en-US" altLang="ko-KR" sz="1600" dirty="0">
                <a:latin typeface="맑은 고딕" panose="020B0503020000020004" pitchFamily="50" charset="-127"/>
              </a:rPr>
              <a:t>,</a:t>
            </a:r>
            <a:r>
              <a:rPr lang="ko-KR" altLang="en-US" sz="1600" dirty="0">
                <a:latin typeface="맑은 고딕" panose="020B0503020000020004" pitchFamily="50" charset="-127"/>
              </a:rPr>
              <a:t> 그 결과를 </a:t>
            </a:r>
            <a:r>
              <a:rPr lang="en-US" altLang="ko-KR" sz="1600" dirty="0">
                <a:latin typeface="맑은 고딕" panose="020B0503020000020004" pitchFamily="50" charset="-127"/>
              </a:rPr>
              <a:t>T-</a:t>
            </a:r>
            <a:r>
              <a:rPr lang="ko-KR" altLang="en-US" sz="1600" dirty="0">
                <a:latin typeface="맑은 고딕" panose="020B0503020000020004" pitchFamily="50" charset="-127"/>
              </a:rPr>
              <a:t>계정으로 나타내라</a:t>
            </a:r>
            <a:r>
              <a:rPr lang="en-US" altLang="ko-KR" sz="1600" dirty="0">
                <a:latin typeface="맑은 고딕" panose="020B0503020000020004" pitchFamily="50" charset="-127"/>
              </a:rPr>
              <a:t>.</a:t>
            </a:r>
            <a:r>
              <a:rPr lang="ko-KR" altLang="en-US" sz="1600" dirty="0">
                <a:latin typeface="맑은 고딕" panose="020B0503020000020004" pitchFamily="50" charset="-127"/>
              </a:rPr>
              <a:t> </a:t>
            </a:r>
            <a:endParaRPr lang="en-US" altLang="ko-KR" sz="160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26" name="내용 개체 틀 3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747078"/>
              </p:ext>
            </p:extLst>
          </p:nvPr>
        </p:nvGraphicFramePr>
        <p:xfrm>
          <a:off x="1349375" y="3524948"/>
          <a:ext cx="6643688" cy="1765300"/>
        </p:xfrm>
        <a:graphic>
          <a:graphicData uri="http://schemas.openxmlformats.org/drawingml/2006/table">
            <a:tbl>
              <a:tblPr/>
              <a:tblGrid>
                <a:gridCol w="1106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수량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단가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금액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기초재고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30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3,000</a:t>
                      </a: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당기매입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100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10,000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판 매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(60)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기말재고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70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7,000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789895D3-BCAC-4AE3-9886-1F75F23B58F6}"/>
              </a:ext>
            </a:extLst>
          </p:cNvPr>
          <p:cNvSpPr/>
          <p:nvPr/>
        </p:nvSpPr>
        <p:spPr>
          <a:xfrm>
            <a:off x="218991" y="1371103"/>
            <a:ext cx="339549" cy="300762"/>
          </a:xfrm>
          <a:prstGeom prst="ellipse">
            <a:avLst/>
          </a:prstGeom>
          <a:solidFill>
            <a:srgbClr val="2D61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082C1C26-BD8B-4919-8195-B34C6DC9B96A}"/>
              </a:ext>
            </a:extLst>
          </p:cNvPr>
          <p:cNvSpPr/>
          <p:nvPr/>
        </p:nvSpPr>
        <p:spPr>
          <a:xfrm>
            <a:off x="244722" y="1388504"/>
            <a:ext cx="296511" cy="26264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그림 19" descr="Log in | Sign Up Upload Clipart">
            <a:extLst>
              <a:ext uri="{FF2B5EF4-FFF2-40B4-BE49-F238E27FC236}">
                <a16:creationId xmlns:a16="http://schemas.microsoft.com/office/drawing/2014/main" id="{404D3612-E7CD-457C-9C5E-0D6D31F97C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00" y="1388457"/>
            <a:ext cx="172080" cy="25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930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368383"/>
            <a:ext cx="8788030" cy="4578717"/>
            <a:chOff x="190714" y="1320882"/>
            <a:chExt cx="8711460" cy="5408997"/>
          </a:xfrm>
          <a:noFill/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268380"/>
              <a:chOff x="269048" y="1722741"/>
              <a:chExt cx="8648775" cy="5268380"/>
            </a:xfrm>
            <a:grpFill/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5244680"/>
              </a:xfrm>
              <a:prstGeom prst="foldedCorner">
                <a:avLst>
                  <a:gd name="adj" fmla="val 5125"/>
                </a:avLst>
              </a:prstGeom>
              <a:grp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1" name="그룹 30"/>
            <p:cNvGrpSpPr/>
            <p:nvPr/>
          </p:nvGrpSpPr>
          <p:grpSpPr>
            <a:xfrm>
              <a:off x="190714" y="1320882"/>
              <a:ext cx="4510326" cy="326949"/>
              <a:chOff x="405822" y="2237753"/>
              <a:chExt cx="3858251" cy="290352"/>
            </a:xfrm>
            <a:grpFill/>
          </p:grpSpPr>
          <p:sp>
            <p:nvSpPr>
              <p:cNvPr id="33" name="타원 32"/>
              <p:cNvSpPr/>
              <p:nvPr/>
            </p:nvSpPr>
            <p:spPr>
              <a:xfrm>
                <a:off x="405822" y="2237753"/>
                <a:ext cx="290351" cy="29035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34" name="타원 33"/>
              <p:cNvSpPr/>
              <p:nvPr/>
            </p:nvSpPr>
            <p:spPr>
              <a:xfrm>
                <a:off x="3983686" y="2237754"/>
                <a:ext cx="280387" cy="29035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35" name="직사각형 34"/>
              <p:cNvSpPr/>
              <p:nvPr/>
            </p:nvSpPr>
            <p:spPr>
              <a:xfrm>
                <a:off x="542513" y="2237755"/>
                <a:ext cx="3585056" cy="290349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1600" b="1" dirty="0"/>
                  <a:t>    예제 </a:t>
                </a:r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6-5 </a:t>
                </a:r>
                <a:r>
                  <a:rPr lang="ko-KR" altLang="en-US" sz="1600" b="1" dirty="0"/>
                  <a:t>실지재고조사법</a:t>
                </a:r>
              </a:p>
            </p:txBody>
          </p:sp>
          <p:sp>
            <p:nvSpPr>
              <p:cNvPr id="36" name="타원 35"/>
              <p:cNvSpPr/>
              <p:nvPr/>
            </p:nvSpPr>
            <p:spPr>
              <a:xfrm>
                <a:off x="427833" y="2256153"/>
                <a:ext cx="253549" cy="25354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66919" y="1770249"/>
            <a:ext cx="7881781" cy="3746457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b="1" dirty="0">
                <a:latin typeface="맑은 고딕" panose="020B0503020000020004" pitchFamily="50" charset="-127"/>
              </a:rPr>
              <a:t>① </a:t>
            </a:r>
            <a:r>
              <a:rPr lang="ko-KR" altLang="en-US" sz="1400" b="1" dirty="0" err="1">
                <a:latin typeface="맑은 고딕" panose="020B0503020000020004" pitchFamily="50" charset="-127"/>
              </a:rPr>
              <a:t>상품매입시</a:t>
            </a:r>
            <a:endParaRPr lang="en-US" altLang="ko-KR" sz="14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 dirty="0">
                <a:latin typeface="맑은 고딕" panose="020B0503020000020004" pitchFamily="50" charset="-127"/>
              </a:rPr>
              <a:t>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(</a:t>
            </a:r>
            <a:r>
              <a:rPr lang="ko-KR" altLang="en-US" sz="1400" b="1" dirty="0">
                <a:latin typeface="맑은 고딕" panose="020B0503020000020004" pitchFamily="50" charset="-127"/>
              </a:rPr>
              <a:t>차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매    입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10,000       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대</a:t>
            </a:r>
            <a:r>
              <a:rPr lang="en-US" altLang="ko-KR" sz="1400" b="1" dirty="0">
                <a:latin typeface="맑은 고딕" panose="020B0503020000020004" pitchFamily="50" charset="-127"/>
              </a:rPr>
              <a:t>)  </a:t>
            </a:r>
            <a:r>
              <a:rPr lang="ko-KR" altLang="en-US" sz="1400" b="1" dirty="0">
                <a:latin typeface="맑은 고딕" panose="020B0503020000020004" pitchFamily="50" charset="-127"/>
              </a:rPr>
              <a:t>현    금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10,000</a:t>
            </a: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b="1" dirty="0">
                <a:latin typeface="맑은 고딕" panose="020B0503020000020004" pitchFamily="50" charset="-127"/>
              </a:rPr>
              <a:t>② </a:t>
            </a:r>
            <a:r>
              <a:rPr lang="ko-KR" altLang="en-US" sz="1400" b="1" dirty="0" err="1">
                <a:latin typeface="맑은 고딕" panose="020B0503020000020004" pitchFamily="50" charset="-127"/>
              </a:rPr>
              <a:t>상품매출시</a:t>
            </a:r>
            <a:endParaRPr lang="en-US" altLang="ko-KR" sz="14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 b="1" dirty="0">
                <a:latin typeface="맑은 고딕" panose="020B0503020000020004" pitchFamily="50" charset="-127"/>
              </a:rPr>
              <a:t>     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차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현    금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9,000       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대</a:t>
            </a:r>
            <a:r>
              <a:rPr lang="en-US" altLang="ko-KR" sz="1400" b="1" dirty="0">
                <a:latin typeface="맑은 고딕" panose="020B0503020000020004" pitchFamily="50" charset="-127"/>
              </a:rPr>
              <a:t>)  </a:t>
            </a:r>
            <a:r>
              <a:rPr lang="ko-KR" altLang="en-US" sz="1400" b="1" dirty="0">
                <a:latin typeface="맑은 고딕" panose="020B0503020000020004" pitchFamily="50" charset="-127"/>
              </a:rPr>
              <a:t>매    출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9,000</a:t>
            </a: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 b="1" dirty="0">
                <a:latin typeface="맑은 고딕" panose="020B0503020000020004" pitchFamily="50" charset="-127"/>
              </a:rPr>
              <a:t>&lt;</a:t>
            </a:r>
            <a:r>
              <a:rPr lang="ko-KR" altLang="en-US" sz="1400" b="1" dirty="0" err="1">
                <a:latin typeface="맑은 고딕" panose="020B0503020000020004" pitchFamily="50" charset="-127"/>
              </a:rPr>
              <a:t>기말결산시</a:t>
            </a:r>
            <a:r>
              <a:rPr lang="en-US" altLang="ko-KR" sz="1400" dirty="0">
                <a:latin typeface="맑은 고딕" panose="020B0503020000020004" pitchFamily="50" charset="-127"/>
              </a:rPr>
              <a:t>&gt;</a:t>
            </a:r>
          </a:p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dirty="0">
                <a:latin typeface="맑은 고딕" panose="020B0503020000020004" pitchFamily="50" charset="-127"/>
              </a:rPr>
              <a:t>매출원가＝</a:t>
            </a:r>
            <a:r>
              <a:rPr lang="ko-KR" altLang="en-US" sz="1400" dirty="0" err="1">
                <a:latin typeface="맑은 고딕" panose="020B0503020000020004" pitchFamily="50" charset="-127"/>
              </a:rPr>
              <a:t>기초재고액</a:t>
            </a:r>
            <a:r>
              <a:rPr lang="ko-KR" altLang="en-US" sz="1400" dirty="0">
                <a:latin typeface="맑은 고딕" panose="020B0503020000020004" pitchFamily="50" charset="-127"/>
              </a:rPr>
              <a:t>＋</a:t>
            </a:r>
            <a:r>
              <a:rPr lang="ko-KR" altLang="en-US" sz="1400" dirty="0" err="1">
                <a:latin typeface="맑은 고딕" panose="020B0503020000020004" pitchFamily="50" charset="-127"/>
              </a:rPr>
              <a:t>당기매입액</a:t>
            </a:r>
            <a:r>
              <a:rPr lang="ko-KR" altLang="en-US" sz="1400" dirty="0">
                <a:latin typeface="맑은 고딕" panose="020B0503020000020004" pitchFamily="50" charset="-127"/>
              </a:rPr>
              <a:t>－</a:t>
            </a:r>
            <a:r>
              <a:rPr lang="ko-KR" altLang="en-US" sz="1400" dirty="0" err="1">
                <a:latin typeface="맑은 고딕" panose="020B0503020000020004" pitchFamily="50" charset="-127"/>
              </a:rPr>
              <a:t>기말재고액</a:t>
            </a: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dirty="0">
                <a:latin typeface="맑은 고딕" panose="020B0503020000020004" pitchFamily="50" charset="-127"/>
              </a:rPr>
              <a:t>                                          ＝￦</a:t>
            </a:r>
            <a:r>
              <a:rPr lang="en-US" altLang="ko-KR" sz="1400" dirty="0">
                <a:latin typeface="맑은 고딕" panose="020B0503020000020004" pitchFamily="50" charset="-127"/>
              </a:rPr>
              <a:t>3,000</a:t>
            </a:r>
            <a:r>
              <a:rPr lang="ko-KR" altLang="en-US" sz="1400" dirty="0">
                <a:latin typeface="맑은 고딕" panose="020B0503020000020004" pitchFamily="50" charset="-127"/>
              </a:rPr>
              <a:t>＋</a:t>
            </a:r>
            <a:r>
              <a:rPr lang="en-US" altLang="ko-KR" sz="1400" dirty="0">
                <a:latin typeface="맑은 고딕" panose="020B0503020000020004" pitchFamily="50" charset="-127"/>
              </a:rPr>
              <a:t>10,000</a:t>
            </a:r>
            <a:r>
              <a:rPr lang="ko-KR" altLang="en-US" sz="1400" dirty="0">
                <a:latin typeface="맑은 고딕" panose="020B0503020000020004" pitchFamily="50" charset="-127"/>
              </a:rPr>
              <a:t>－</a:t>
            </a:r>
            <a:r>
              <a:rPr lang="en-US" altLang="ko-KR" sz="1400" dirty="0">
                <a:latin typeface="맑은 고딕" panose="020B0503020000020004" pitchFamily="50" charset="-127"/>
              </a:rPr>
              <a:t>7,000</a:t>
            </a: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dirty="0">
                <a:latin typeface="맑은 고딕" panose="020B0503020000020004" pitchFamily="50" charset="-127"/>
              </a:rPr>
              <a:t>                                          ＝￦</a:t>
            </a:r>
            <a:r>
              <a:rPr lang="en-US" altLang="ko-KR" sz="1400" dirty="0">
                <a:latin typeface="맑은 고딕" panose="020B0503020000020004" pitchFamily="50" charset="-127"/>
              </a:rPr>
              <a:t>6,000</a:t>
            </a: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defTabSz="995363"/>
            <a:r>
              <a:rPr lang="ko-KR" altLang="en-US" sz="1400" b="1" dirty="0">
                <a:latin typeface="맑은 고딕" panose="020B0503020000020004" pitchFamily="50" charset="-127"/>
              </a:rPr>
              <a:t>③ 기초재고를 매출원가로 대체</a:t>
            </a:r>
            <a:endParaRPr lang="en-US" altLang="ko-KR" sz="1400" b="1" dirty="0">
              <a:latin typeface="맑은 고딕" panose="020B0503020000020004" pitchFamily="50" charset="-127"/>
            </a:endParaRPr>
          </a:p>
          <a:p>
            <a:pPr defTabSz="995363"/>
            <a:endParaRPr lang="en-US" altLang="ko-KR" sz="1400" dirty="0">
              <a:latin typeface="맑은 고딕" panose="020B0503020000020004" pitchFamily="50" charset="-127"/>
            </a:endParaRPr>
          </a:p>
          <a:p>
            <a:pPr defTabSz="995363"/>
            <a:r>
              <a:rPr lang="en-US" altLang="ko-KR" sz="1400" b="1" dirty="0">
                <a:latin typeface="맑은 고딕" panose="020B0503020000020004" pitchFamily="50" charset="-127"/>
              </a:rPr>
              <a:t>     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차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매 출 원 가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3,000       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대</a:t>
            </a:r>
            <a:r>
              <a:rPr lang="en-US" altLang="ko-KR" sz="1400" b="1" dirty="0">
                <a:latin typeface="맑은 고딕" panose="020B0503020000020004" pitchFamily="50" charset="-127"/>
              </a:rPr>
              <a:t>)  </a:t>
            </a:r>
            <a:r>
              <a:rPr lang="ko-KR" altLang="en-US" sz="1400" b="1" dirty="0">
                <a:latin typeface="맑은 고딕" panose="020B0503020000020004" pitchFamily="50" charset="-127"/>
              </a:rPr>
              <a:t>상    품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3,000</a:t>
            </a: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dirty="0">
              <a:latin typeface="맑은 고딕" panose="020B0503020000020004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A10ED16E-74F4-4C00-8DE8-BAD3CB449C64}"/>
              </a:ext>
            </a:extLst>
          </p:cNvPr>
          <p:cNvSpPr/>
          <p:nvPr/>
        </p:nvSpPr>
        <p:spPr>
          <a:xfrm>
            <a:off x="216270" y="1373675"/>
            <a:ext cx="286949" cy="260095"/>
          </a:xfrm>
          <a:prstGeom prst="ellipse">
            <a:avLst/>
          </a:prstGeom>
          <a:solidFill>
            <a:srgbClr val="2D61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A8B4911E-355B-4C6E-A572-7D9E1E011777}"/>
              </a:ext>
            </a:extLst>
          </p:cNvPr>
          <p:cNvSpPr/>
          <p:nvPr/>
        </p:nvSpPr>
        <p:spPr>
          <a:xfrm>
            <a:off x="242002" y="1385921"/>
            <a:ext cx="250578" cy="2271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그림 21" descr="Log in | Sign Up Upload Clipart">
            <a:extLst>
              <a:ext uri="{FF2B5EF4-FFF2-40B4-BE49-F238E27FC236}">
                <a16:creationId xmlns:a16="http://schemas.microsoft.com/office/drawing/2014/main" id="{DB23EB01-8B94-4851-8AE7-B5A6CD0615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379" y="1390430"/>
            <a:ext cx="145423" cy="218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555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368383"/>
            <a:ext cx="8788030" cy="4578717"/>
            <a:chOff x="190714" y="1320882"/>
            <a:chExt cx="8711460" cy="5408997"/>
          </a:xfrm>
          <a:noFill/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268380"/>
              <a:chOff x="269048" y="1722741"/>
              <a:chExt cx="8648775" cy="5268380"/>
            </a:xfrm>
            <a:grpFill/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5244680"/>
              </a:xfrm>
              <a:prstGeom prst="foldedCorner">
                <a:avLst>
                  <a:gd name="adj" fmla="val 5125"/>
                </a:avLst>
              </a:prstGeom>
              <a:grp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1" name="그룹 30"/>
            <p:cNvGrpSpPr/>
            <p:nvPr/>
          </p:nvGrpSpPr>
          <p:grpSpPr>
            <a:xfrm>
              <a:off x="190714" y="1320882"/>
              <a:ext cx="4510326" cy="326949"/>
              <a:chOff x="405822" y="2237753"/>
              <a:chExt cx="3858251" cy="290352"/>
            </a:xfrm>
            <a:grpFill/>
          </p:grpSpPr>
          <p:sp>
            <p:nvSpPr>
              <p:cNvPr id="33" name="타원 32"/>
              <p:cNvSpPr/>
              <p:nvPr/>
            </p:nvSpPr>
            <p:spPr>
              <a:xfrm>
                <a:off x="405822" y="2237753"/>
                <a:ext cx="290351" cy="29035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34" name="타원 33"/>
              <p:cNvSpPr/>
              <p:nvPr/>
            </p:nvSpPr>
            <p:spPr>
              <a:xfrm>
                <a:off x="3983686" y="2237754"/>
                <a:ext cx="280387" cy="29035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35" name="직사각형 34"/>
              <p:cNvSpPr/>
              <p:nvPr/>
            </p:nvSpPr>
            <p:spPr>
              <a:xfrm>
                <a:off x="542513" y="2237755"/>
                <a:ext cx="3585056" cy="290349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1600" b="1" dirty="0"/>
                  <a:t>    예제 </a:t>
                </a:r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6-5 </a:t>
                </a:r>
                <a:r>
                  <a:rPr lang="ko-KR" altLang="en-US" sz="1600" b="1" dirty="0"/>
                  <a:t>실지재고조사법</a:t>
                </a:r>
              </a:p>
            </p:txBody>
          </p:sp>
          <p:sp>
            <p:nvSpPr>
              <p:cNvPr id="36" name="타원 35"/>
              <p:cNvSpPr/>
              <p:nvPr/>
            </p:nvSpPr>
            <p:spPr>
              <a:xfrm>
                <a:off x="427833" y="2256153"/>
                <a:ext cx="253549" cy="25354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66919" y="1770249"/>
            <a:ext cx="7881781" cy="3746457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b="1" dirty="0">
                <a:latin typeface="맑은 고딕" panose="020B0503020000020004" pitchFamily="50" charset="-127"/>
              </a:rPr>
              <a:t>④ </a:t>
            </a:r>
            <a:r>
              <a:rPr lang="ko-KR" altLang="en-US" sz="1400" b="1" dirty="0" err="1">
                <a:latin typeface="맑은 고딕" panose="020B0503020000020004" pitchFamily="50" charset="-127"/>
              </a:rPr>
              <a:t>당기매입을</a:t>
            </a:r>
            <a:r>
              <a:rPr lang="ko-KR" altLang="en-US" sz="1400" b="1" dirty="0">
                <a:latin typeface="맑은 고딕" panose="020B0503020000020004" pitchFamily="50" charset="-127"/>
              </a:rPr>
              <a:t> 매출원가로 대체</a:t>
            </a:r>
            <a:endParaRPr lang="en-US" altLang="ko-KR" sz="14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 b="1" dirty="0">
                <a:latin typeface="맑은 고딕" panose="020B0503020000020004" pitchFamily="50" charset="-127"/>
              </a:rPr>
              <a:t>     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차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매 출 원 가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10,000      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대</a:t>
            </a:r>
            <a:r>
              <a:rPr lang="en-US" altLang="ko-KR" sz="1400" b="1" dirty="0">
                <a:latin typeface="맑은 고딕" panose="020B0503020000020004" pitchFamily="50" charset="-127"/>
              </a:rPr>
              <a:t>)  </a:t>
            </a:r>
            <a:r>
              <a:rPr lang="ko-KR" altLang="en-US" sz="1400" b="1" dirty="0">
                <a:latin typeface="맑은 고딕" panose="020B0503020000020004" pitchFamily="50" charset="-127"/>
              </a:rPr>
              <a:t>매    입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10,000</a:t>
            </a: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400" b="1" dirty="0">
                <a:latin typeface="맑은 고딕" panose="020B0503020000020004" pitchFamily="50" charset="-127"/>
              </a:rPr>
              <a:t>⑤ 기말재고만큼 매출원가를 감소시키고 상품을 증가시킴</a:t>
            </a:r>
            <a:endParaRPr lang="en-US" altLang="ko-KR" sz="14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400" b="1" dirty="0">
                <a:latin typeface="맑은 고딕" panose="020B0503020000020004" pitchFamily="50" charset="-127"/>
              </a:rPr>
              <a:t>     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차</a:t>
            </a:r>
            <a:r>
              <a:rPr lang="en-US" altLang="ko-KR" sz="1400" b="1" dirty="0">
                <a:latin typeface="맑은 고딕" panose="020B0503020000020004" pitchFamily="50" charset="-127"/>
              </a:rPr>
              <a:t>) </a:t>
            </a:r>
            <a:r>
              <a:rPr lang="ko-KR" altLang="en-US" sz="1400" b="1" dirty="0">
                <a:latin typeface="맑은 고딕" panose="020B0503020000020004" pitchFamily="50" charset="-127"/>
              </a:rPr>
              <a:t>상    품     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7,000          (</a:t>
            </a:r>
            <a:r>
              <a:rPr lang="ko-KR" altLang="en-US" sz="1400" b="1" dirty="0">
                <a:latin typeface="맑은 고딕" panose="020B0503020000020004" pitchFamily="50" charset="-127"/>
              </a:rPr>
              <a:t>대</a:t>
            </a:r>
            <a:r>
              <a:rPr lang="en-US" altLang="ko-KR" sz="1400" b="1" dirty="0">
                <a:latin typeface="맑은 고딕" panose="020B0503020000020004" pitchFamily="50" charset="-127"/>
              </a:rPr>
              <a:t>)  </a:t>
            </a:r>
            <a:r>
              <a:rPr lang="ko-KR" altLang="en-US" sz="1400" b="1" dirty="0">
                <a:latin typeface="맑은 고딕" panose="020B0503020000020004" pitchFamily="50" charset="-127"/>
              </a:rPr>
              <a:t>매 출 원 가              </a:t>
            </a:r>
            <a:r>
              <a:rPr lang="en-US" altLang="ko-KR" sz="1400" b="1" dirty="0">
                <a:latin typeface="맑은 고딕" panose="020B0503020000020004" pitchFamily="50" charset="-127"/>
              </a:rPr>
              <a:t>7,000</a:t>
            </a: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40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142949"/>
              </p:ext>
            </p:extLst>
          </p:nvPr>
        </p:nvGraphicFramePr>
        <p:xfrm>
          <a:off x="1257300" y="3543625"/>
          <a:ext cx="6643687" cy="1209676"/>
        </p:xfrm>
        <a:graphic>
          <a:graphicData uri="http://schemas.openxmlformats.org/drawingml/2006/table">
            <a:tbl>
              <a:tblPr/>
              <a:tblGrid>
                <a:gridCol w="960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5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3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19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49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51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83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3601"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상 품</a:t>
                      </a: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매출원가</a:t>
                      </a: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02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기초재고</a:t>
                      </a: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3,000</a:t>
                      </a:r>
                    </a:p>
                  </a:txBody>
                  <a:tcPr marL="64770" marR="64770" marT="17910" marB="1791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③매출원가</a:t>
                      </a:r>
                    </a:p>
                  </a:txBody>
                  <a:tcPr marL="64770" marR="64770" marT="17910" marB="179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3,000</a:t>
                      </a: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③기초재고</a:t>
                      </a: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3,000</a:t>
                      </a:r>
                    </a:p>
                  </a:txBody>
                  <a:tcPr marL="64770" marR="64770" marT="17910" marB="1791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⑤상 품</a:t>
                      </a:r>
                    </a:p>
                  </a:txBody>
                  <a:tcPr marL="64770" marR="64770" marT="17910" marB="179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7,000</a:t>
                      </a: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02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⑤매출원가</a:t>
                      </a: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7,000</a:t>
                      </a:r>
                    </a:p>
                  </a:txBody>
                  <a:tcPr marL="64770" marR="64770" marT="17910" marB="1791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④매 입</a:t>
                      </a: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10,000</a:t>
                      </a:r>
                    </a:p>
                  </a:txBody>
                  <a:tcPr marL="64770" marR="64770" marT="17910" marB="1791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02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7,000</a:t>
                      </a:r>
                    </a:p>
                  </a:txBody>
                  <a:tcPr marL="64770" marR="64770" marT="17910" marB="1791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6,000</a:t>
                      </a:r>
                    </a:p>
                  </a:txBody>
                  <a:tcPr marL="64770" marR="64770" marT="17910" marB="17910" anchor="ctr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0" marB="1791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913196"/>
              </p:ext>
            </p:extLst>
          </p:nvPr>
        </p:nvGraphicFramePr>
        <p:xfrm>
          <a:off x="1185863" y="4829500"/>
          <a:ext cx="6786562" cy="1014414"/>
        </p:xfrm>
        <a:graphic>
          <a:graphicData uri="http://schemas.openxmlformats.org/drawingml/2006/table">
            <a:tbl>
              <a:tblPr/>
              <a:tblGrid>
                <a:gridCol w="85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9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51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48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8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99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57652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                 매 입</a:t>
                      </a:r>
                    </a:p>
                  </a:txBody>
                  <a:tcPr marL="64770" marR="64770" marT="17901" marB="17901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1" marB="17901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매 출</a:t>
                      </a:r>
                    </a:p>
                  </a:txBody>
                  <a:tcPr marL="64770" marR="64770" marT="17901" marB="17901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38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①현 금</a:t>
                      </a:r>
                    </a:p>
                  </a:txBody>
                  <a:tcPr marL="64770" marR="64770" marT="17901" marB="17901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10,000</a:t>
                      </a:r>
                    </a:p>
                  </a:txBody>
                  <a:tcPr marL="64770" marR="64770" marT="17901" marB="17901" anchor="ctr" horzOverflow="overflow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④매출원가</a:t>
                      </a:r>
                    </a:p>
                  </a:txBody>
                  <a:tcPr marL="64770" marR="64770" marT="17901" marB="17901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10,000</a:t>
                      </a:r>
                    </a:p>
                  </a:txBody>
                  <a:tcPr marL="64770" marR="64770" marT="17901" marB="17901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1" marB="17901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1" marB="17901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1" marB="17901" anchor="ctr" horzOverflow="overflow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②현 금</a:t>
                      </a:r>
                    </a:p>
                  </a:txBody>
                  <a:tcPr marL="64770" marR="64770" marT="17901" marB="17901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9,000</a:t>
                      </a:r>
                    </a:p>
                  </a:txBody>
                  <a:tcPr marL="64770" marR="64770" marT="17901" marB="17901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38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1" marB="17901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</a:p>
                  </a:txBody>
                  <a:tcPr marL="64770" marR="64770" marT="17901" marB="17901" anchor="ctr" horzOverflow="overflow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1" marB="17901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1" marB="17901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1" marB="17901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1" marB="17901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1" marB="17901" anchor="ctr" horzOverflow="overflow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1" marB="17901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1" marB="17901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B264640A-960E-44B0-9542-85E85713DDD7}"/>
              </a:ext>
            </a:extLst>
          </p:cNvPr>
          <p:cNvSpPr/>
          <p:nvPr/>
        </p:nvSpPr>
        <p:spPr>
          <a:xfrm>
            <a:off x="216270" y="1368382"/>
            <a:ext cx="299007" cy="284437"/>
          </a:xfrm>
          <a:prstGeom prst="ellipse">
            <a:avLst/>
          </a:prstGeom>
          <a:solidFill>
            <a:srgbClr val="2D61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09ED5147-423B-41C6-ADA3-3C68FB55BE5A}"/>
              </a:ext>
            </a:extLst>
          </p:cNvPr>
          <p:cNvSpPr/>
          <p:nvPr/>
        </p:nvSpPr>
        <p:spPr>
          <a:xfrm>
            <a:off x="242002" y="1383714"/>
            <a:ext cx="261108" cy="24838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그림 20" descr="Log in | Sign Up Upload Clipart">
            <a:extLst>
              <a:ext uri="{FF2B5EF4-FFF2-40B4-BE49-F238E27FC236}">
                <a16:creationId xmlns:a16="http://schemas.microsoft.com/office/drawing/2014/main" id="{434A2772-F0FD-4BEA-AA3C-D4698DCB6F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379" y="1400293"/>
            <a:ext cx="151534" cy="22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074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159731" y="1122387"/>
            <a:ext cx="8641369" cy="5553848"/>
            <a:chOff x="226490" y="1430362"/>
            <a:chExt cx="8641369" cy="5553848"/>
          </a:xfrm>
        </p:grpSpPr>
        <p:sp>
          <p:nvSpPr>
            <p:cNvPr id="7" name="Rectangle 15"/>
            <p:cNvSpPr>
              <a:spLocks noChangeArrowheads="1"/>
            </p:cNvSpPr>
            <p:nvPr/>
          </p:nvSpPr>
          <p:spPr bwMode="auto">
            <a:xfrm>
              <a:off x="226490" y="1791843"/>
              <a:ext cx="8641369" cy="5192367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28575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b="1" dirty="0">
                  <a:latin typeface="맑은 고딕" panose="020B0503020000020004" pitchFamily="50" charset="-127"/>
                </a:rPr>
                <a:t>실무에서는 계속기록법과 실지재고조사법을 혼용하여 사용하기도 함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.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즉 계속기록법을 사용하지만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기말에 재고자산 실사를 실시해서 장부상의 금액과 실제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재고금액을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확인하는 과정을 통해 재고자산에 대한 통제와 파손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/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감모분을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 파악함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85750" indent="-285750" algn="just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 marL="285750" indent="-285750" algn="just" latinLnBrk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 marL="285750" indent="-285750" algn="just" latinLnBrk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 marL="285750" indent="-285750" algn="just" latinLnBrk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 marL="285750" indent="-285750" algn="just" latinLnBrk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 marL="285750" indent="-285750" algn="just" latinLnBrk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 marL="285750" indent="-285750" algn="just" latinLnBrk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 algn="just" latinLnBrk="0">
                <a:spcBef>
                  <a:spcPct val="0"/>
                </a:spcBef>
                <a:buClrTx/>
                <a:buSzTx/>
                <a:buNone/>
              </a:pP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 algn="just" latinLnBrk="0">
                <a:spcBef>
                  <a:spcPct val="0"/>
                </a:spcBef>
                <a:buClrTx/>
                <a:buSzTx/>
                <a:buNone/>
              </a:pP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 algn="just" latinLnBrk="0">
                <a:spcBef>
                  <a:spcPct val="0"/>
                </a:spcBef>
                <a:buClrTx/>
                <a:buSzTx/>
                <a:buNone/>
              </a:pPr>
              <a:endParaRPr lang="en-US" altLang="ko-KR" sz="1500" b="1" dirty="0">
                <a:latin typeface="맑은 고딕" panose="020B0503020000020004" pitchFamily="50" charset="-127"/>
              </a:endParaRPr>
            </a:p>
            <a:p>
              <a:pPr algn="just" latinLnBrk="0">
                <a:spcBef>
                  <a:spcPct val="0"/>
                </a:spcBef>
                <a:buClrTx/>
                <a:buSzTx/>
                <a:buNone/>
              </a:pPr>
              <a:endParaRPr lang="en-US" altLang="ko-KR" sz="1500" b="1" dirty="0">
                <a:latin typeface="맑은 고딕" panose="020B0503020000020004" pitchFamily="50" charset="-127"/>
              </a:endParaRPr>
            </a:p>
            <a:p>
              <a:pPr algn="just" latinLnBrk="0">
                <a:spcBef>
                  <a:spcPct val="0"/>
                </a:spcBef>
                <a:buClrTx/>
                <a:buSzTx/>
                <a:buNone/>
              </a:pPr>
              <a:endParaRPr lang="en-US" altLang="ko-KR" sz="1500" b="1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ko-KR" altLang="en-US" sz="1600" dirty="0">
                  <a:latin typeface="Verdana" panose="020B0604030504040204" pitchFamily="34" charset="0"/>
                </a:rPr>
                <a:t>     </a:t>
              </a:r>
              <a:endParaRPr lang="ko-KR" altLang="en-US" sz="1600" b="1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ko-KR" sz="1500" b="1" dirty="0">
                <a:latin typeface="맑은 고딕" panose="020B0503020000020004" pitchFamily="50" charset="-127"/>
              </a:endParaRPr>
            </a:p>
            <a:p>
              <a:pPr latinLnBrk="0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ko-KR" sz="1500" b="1" dirty="0">
                  <a:latin typeface="맑은 고딕" panose="020B0503020000020004" pitchFamily="50" charset="-127"/>
                </a:rPr>
                <a:t>        </a:t>
              </a:r>
              <a:endParaRPr lang="ko-KR" altLang="en-US" sz="1500" b="1" dirty="0">
                <a:latin typeface="맑은 고딕" panose="020B0503020000020004" pitchFamily="50" charset="-127"/>
              </a:endParaRPr>
            </a:p>
          </p:txBody>
        </p:sp>
        <p:sp>
          <p:nvSpPr>
            <p:cNvPr id="29" name="Rectangle 14"/>
            <p:cNvSpPr>
              <a:spLocks noChangeArrowheads="1"/>
            </p:cNvSpPr>
            <p:nvPr/>
          </p:nvSpPr>
          <p:spPr bwMode="auto">
            <a:xfrm>
              <a:off x="440748" y="1430362"/>
              <a:ext cx="7309349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endPara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417687" y="2962122"/>
            <a:ext cx="8308626" cy="314653"/>
            <a:chOff x="1287462" y="4738439"/>
            <a:chExt cx="8308626" cy="314653"/>
          </a:xfrm>
        </p:grpSpPr>
        <p:sp>
          <p:nvSpPr>
            <p:cNvPr id="20" name="오각형 19"/>
            <p:cNvSpPr/>
            <p:nvPr/>
          </p:nvSpPr>
          <p:spPr>
            <a:xfrm>
              <a:off x="1287462" y="4807765"/>
              <a:ext cx="792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표 </a:t>
              </a:r>
              <a:r>
                <a:rPr lang="en-US" altLang="ko-KR" sz="1400" b="1" dirty="0"/>
                <a:t>1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079461" y="4738439"/>
              <a:ext cx="75166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 err="1">
                  <a:latin typeface="맑은 고딕" panose="020B0503020000020004" pitchFamily="50" charset="-127"/>
                </a:rPr>
                <a:t>계속기록법과</a:t>
              </a:r>
              <a:r>
                <a:rPr lang="ko-KR" altLang="en-US" sz="1400" b="1" dirty="0">
                  <a:latin typeface="맑은 고딕" panose="020B0503020000020004" pitchFamily="50" charset="-127"/>
                </a:rPr>
                <a:t> 실지재고조사법의 비교</a:t>
              </a:r>
            </a:p>
          </p:txBody>
        </p:sp>
      </p:grpSp>
      <p:graphicFrame>
        <p:nvGraphicFramePr>
          <p:cNvPr id="35" name="표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9356698"/>
              </p:ext>
            </p:extLst>
          </p:nvPr>
        </p:nvGraphicFramePr>
        <p:xfrm>
          <a:off x="932226" y="3491241"/>
          <a:ext cx="7165569" cy="2195452"/>
        </p:xfrm>
        <a:graphic>
          <a:graphicData uri="http://schemas.openxmlformats.org/drawingml/2006/table">
            <a:tbl>
              <a:tblPr/>
              <a:tblGrid>
                <a:gridCol w="10201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7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7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246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5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실지재고조사법</a:t>
                      </a:r>
                    </a:p>
                  </a:txBody>
                  <a:tcPr marL="64770" marR="64770" marT="17907" marB="17907" anchor="ctr">
                    <a:lnL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계속기록법</a:t>
                      </a:r>
                    </a:p>
                  </a:txBody>
                  <a:tcPr marL="64770" marR="64770" marT="17907" marB="17907" anchor="ctr">
                    <a:lnL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12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기초재고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0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전기말에서</a:t>
                      </a:r>
                      <a:r>
                        <a:rPr lang="ko-KR" altLang="en-US" sz="1500" b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이월됨</a:t>
                      </a:r>
                    </a:p>
                  </a:txBody>
                  <a:tcPr marL="64770" marR="64770" marT="17907" marB="17907" anchor="ctr">
                    <a:lnL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전기말에서 이월됨</a:t>
                      </a:r>
                    </a:p>
                  </a:txBody>
                  <a:tcPr marL="64770" marR="64770" marT="17907" marB="17907" anchor="ctr">
                    <a:lnL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12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당기매입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>
                    <a:lnL>
                      <a:noFill/>
                    </a:lnL>
                    <a:lnR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‘매입’계정에 기록</a:t>
                      </a:r>
                    </a:p>
                  </a:txBody>
                  <a:tcPr marL="64770" marR="64770" marT="17907" marB="17907" anchor="ctr">
                    <a:lnL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‘재고자산’계정에 기록</a:t>
                      </a:r>
                    </a:p>
                  </a:txBody>
                  <a:tcPr marL="64770" marR="64770" marT="17907" marB="17907" anchor="ctr">
                    <a:lnL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327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기말재고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기말에 실사를 통해서 파악</a:t>
                      </a:r>
                    </a:p>
                  </a:txBody>
                  <a:tcPr marL="64770" marR="64770" marT="17907" marB="17907" anchor="ctr">
                    <a:lnL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기초재고와 </a:t>
                      </a:r>
                      <a:r>
                        <a:rPr lang="ko-KR" altLang="en-US" sz="1500" b="0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당기매입재고의</a:t>
                      </a:r>
                      <a:r>
                        <a:rPr lang="ko-KR" altLang="en-US" sz="1500" b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합에서 매출원가를 차감하여 계산됨</a:t>
                      </a:r>
                      <a:r>
                        <a:rPr lang="en-US" altLang="ko-KR" sz="1500" b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lang="ko-KR" altLang="en-US" sz="1500" b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매출이 발생할 때마다 계산됨</a:t>
                      </a:r>
                    </a:p>
                  </a:txBody>
                  <a:tcPr marL="64770" marR="64770" marT="17907" marB="17907" anchor="ctr">
                    <a:lnL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69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매출원가</a:t>
                      </a:r>
                    </a:p>
                  </a:txBody>
                  <a:tcPr marL="64770" marR="64770" marT="17907" marB="17907" anchor="ctr">
                    <a:lnL>
                      <a:noFill/>
                    </a:lnL>
                    <a:lnR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0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당기판매가능재고에서</a:t>
                      </a:r>
                      <a:r>
                        <a:rPr lang="ko-KR" altLang="en-US" sz="1500" b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기말재고를 차감하여 계산됨</a:t>
                      </a:r>
                      <a:r>
                        <a:rPr lang="en-US" altLang="ko-KR" sz="1500" b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500" b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기말</a:t>
                      </a:r>
                      <a:r>
                        <a:rPr lang="en-US" altLang="ko-KR" sz="1500" b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64770" marR="64770" marT="17907" marB="17907" anchor="ctr">
                    <a:lnL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매출이 발생할 때마다 계산됨</a:t>
                      </a:r>
                    </a:p>
                  </a:txBody>
                  <a:tcPr marL="64770" marR="64770" marT="17907" marB="17907" anchor="ctr">
                    <a:lnL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82044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232427" y="1076695"/>
            <a:ext cx="8588550" cy="5489384"/>
            <a:chOff x="163260" y="1430362"/>
            <a:chExt cx="8588550" cy="5489384"/>
          </a:xfrm>
        </p:grpSpPr>
        <p:sp>
          <p:nvSpPr>
            <p:cNvPr id="7" name="Rectangle 15"/>
            <p:cNvSpPr>
              <a:spLocks noChangeArrowheads="1"/>
            </p:cNvSpPr>
            <p:nvPr/>
          </p:nvSpPr>
          <p:spPr bwMode="auto">
            <a:xfrm>
              <a:off x="163260" y="1754212"/>
              <a:ext cx="8588550" cy="5165534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28575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재고자산의 단위당 원가를 결정하는 방법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개별법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선입선출법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 err="1">
                  <a:latin typeface="맑은 고딕" panose="020B0503020000020004" pitchFamily="50" charset="-127"/>
                </a:rPr>
                <a:t>후입선출법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가중평균법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8575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b="1" dirty="0">
                  <a:latin typeface="맑은 고딕" panose="020B0503020000020004" pitchFamily="50" charset="-127"/>
                </a:rPr>
                <a:t>재고자산과 매출원가 결정의 핵심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기초재고와 당기재고의 합을 기말재고와 매출원가로 배분하는 것 </a:t>
              </a: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 marL="28575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 marL="28575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 marL="28575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 marL="28575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600" b="1" dirty="0">
                <a:latin typeface="맑은 고딕" panose="020B0503020000020004" pitchFamily="50" charset="-127"/>
              </a:endParaRPr>
            </a:p>
            <a:p>
              <a:pPr marL="285750" indent="-285750" latinLnBrk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800" b="1" dirty="0">
                <a:latin typeface="맑은 고딕" panose="020B0503020000020004" pitchFamily="50" charset="-127"/>
              </a:endParaRPr>
            </a:p>
            <a:p>
              <a:pPr marL="285750" indent="-285750" latinLnBrk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800" b="1" dirty="0">
                <a:latin typeface="맑은 고딕" panose="020B0503020000020004" pitchFamily="50" charset="-127"/>
              </a:endParaRPr>
            </a:p>
            <a:p>
              <a:pPr marL="285750" indent="-285750" latinLnBrk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800" b="1" dirty="0">
                <a:latin typeface="맑은 고딕" panose="020B0503020000020004" pitchFamily="50" charset="-127"/>
              </a:endParaRPr>
            </a:p>
            <a:p>
              <a:pPr marL="285750" indent="-285750" latinLnBrk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800" b="1" dirty="0">
                <a:latin typeface="맑은 고딕" panose="020B0503020000020004" pitchFamily="50" charset="-127"/>
              </a:endParaRPr>
            </a:p>
            <a:p>
              <a:pPr marL="285750" indent="-285750" latinLnBrk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800" b="1" dirty="0">
                <a:latin typeface="맑은 고딕" panose="020B0503020000020004" pitchFamily="50" charset="-127"/>
              </a:endParaRPr>
            </a:p>
            <a:p>
              <a:pPr marL="285750" indent="-285750" latinLnBrk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800" b="1" dirty="0">
                <a:latin typeface="맑은 고딕" panose="020B0503020000020004" pitchFamily="50" charset="-127"/>
              </a:endParaRPr>
            </a:p>
            <a:p>
              <a:pPr marL="285750" indent="-285750" latinLnBrk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800" b="1" dirty="0">
                <a:latin typeface="맑은 고딕" panose="020B0503020000020004" pitchFamily="50" charset="-127"/>
              </a:endParaRPr>
            </a:p>
            <a:p>
              <a:pPr marL="285750" indent="-285750" latinLnBrk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800" b="1" dirty="0">
                <a:latin typeface="맑은 고딕" panose="020B0503020000020004" pitchFamily="50" charset="-127"/>
              </a:endParaRPr>
            </a:p>
            <a:p>
              <a:pPr marL="285750" indent="-285750" latinLnBrk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800" b="1" dirty="0">
                <a:latin typeface="맑은 고딕" panose="020B0503020000020004" pitchFamily="50" charset="-127"/>
              </a:endParaRPr>
            </a:p>
          </p:txBody>
        </p:sp>
        <p:sp>
          <p:nvSpPr>
            <p:cNvPr id="29" name="Rectangle 14"/>
            <p:cNvSpPr>
              <a:spLocks noChangeArrowheads="1"/>
            </p:cNvSpPr>
            <p:nvPr/>
          </p:nvSpPr>
          <p:spPr bwMode="auto">
            <a:xfrm>
              <a:off x="440748" y="1430362"/>
              <a:ext cx="7309349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endPara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841AA24E-E03F-4951-975E-365F8D015E5B}"/>
              </a:ext>
            </a:extLst>
          </p:cNvPr>
          <p:cNvGrpSpPr/>
          <p:nvPr/>
        </p:nvGrpSpPr>
        <p:grpSpPr>
          <a:xfrm>
            <a:off x="492474" y="2723267"/>
            <a:ext cx="8308626" cy="314653"/>
            <a:chOff x="1287462" y="4738439"/>
            <a:chExt cx="8308626" cy="314653"/>
          </a:xfrm>
        </p:grpSpPr>
        <p:sp>
          <p:nvSpPr>
            <p:cNvPr id="13" name="오각형 19">
              <a:extLst>
                <a:ext uri="{FF2B5EF4-FFF2-40B4-BE49-F238E27FC236}">
                  <a16:creationId xmlns:a16="http://schemas.microsoft.com/office/drawing/2014/main" id="{3562738B-AECA-4633-9C5F-77F2F7F4B886}"/>
                </a:ext>
              </a:extLst>
            </p:cNvPr>
            <p:cNvSpPr/>
            <p:nvPr/>
          </p:nvSpPr>
          <p:spPr>
            <a:xfrm>
              <a:off x="1287462" y="4807765"/>
              <a:ext cx="792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표 </a:t>
              </a:r>
              <a:r>
                <a:rPr lang="en-US" altLang="ko-KR" sz="1400" b="1" dirty="0"/>
                <a:t>2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30ECEC5-BDB6-423A-A352-9431949D9EC5}"/>
                </a:ext>
              </a:extLst>
            </p:cNvPr>
            <p:cNvSpPr txBox="1"/>
            <p:nvPr/>
          </p:nvSpPr>
          <p:spPr>
            <a:xfrm>
              <a:off x="2079461" y="4738439"/>
              <a:ext cx="75166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>
                  <a:latin typeface="맑은 고딕" panose="020B0503020000020004" pitchFamily="50" charset="-127"/>
                </a:rPr>
                <a:t>재고자산의 원가배분방법</a:t>
              </a:r>
            </a:p>
          </p:txBody>
        </p:sp>
      </p:grp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E6B347BD-718E-4170-B439-7B660DAC6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653897"/>
              </p:ext>
            </p:extLst>
          </p:nvPr>
        </p:nvGraphicFramePr>
        <p:xfrm>
          <a:off x="847671" y="3160552"/>
          <a:ext cx="7358062" cy="3620407"/>
        </p:xfrm>
        <a:graphic>
          <a:graphicData uri="http://schemas.openxmlformats.org/drawingml/2006/table">
            <a:tbl>
              <a:tblPr/>
              <a:tblGrid>
                <a:gridCol w="1490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0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57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1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 분</a:t>
                      </a:r>
                    </a:p>
                  </a:txBody>
                  <a:tcPr marL="17517" marR="17517" marT="17518" marB="17518" anchor="ctr">
                    <a:lnL>
                      <a:noFill/>
                    </a:lnL>
                    <a:lnR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원가배분방법</a:t>
                      </a:r>
                    </a:p>
                  </a:txBody>
                  <a:tcPr marL="17517" marR="17517" marT="17518" marB="17518" anchor="ctr">
                    <a:lnL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설 명</a:t>
                      </a:r>
                    </a:p>
                  </a:txBody>
                  <a:tcPr marL="17517" marR="17517" marT="17518" marB="17518" anchor="ctr">
                    <a:lnL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27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실제 </a:t>
                      </a:r>
                      <a:r>
                        <a:rPr lang="ko-KR" altLang="en-US" sz="1400" b="1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원가흐름을</a:t>
                      </a: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사용하는 방법</a:t>
                      </a:r>
                    </a:p>
                  </a:txBody>
                  <a:tcPr marL="17517" marR="17517" marT="17518" marB="17518" anchor="ctr">
                    <a:lnL>
                      <a:noFill/>
                    </a:lnL>
                    <a:lnR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개별법</a:t>
                      </a: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</a:p>
                  </a:txBody>
                  <a:tcPr marL="17517" marR="17517" marT="17518" marB="17518" anchor="ctr">
                    <a:lnL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판매된 개별 재고자산의 취득단가를 추적하여 매출원가와 기말재고를 결정하는 방법 </a:t>
                      </a:r>
                    </a:p>
                  </a:txBody>
                  <a:tcPr marL="17517" marR="17517" marT="17518" marB="17518" anchor="ctr">
                    <a:lnL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333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원가흐름에</a:t>
                      </a: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대한 가정을 사용하는 방법</a:t>
                      </a:r>
                    </a:p>
                  </a:txBody>
                  <a:tcPr marL="17517" marR="17517" marT="17518" marB="17518" anchor="ctr">
                    <a:lnL>
                      <a:noFill/>
                    </a:lnL>
                    <a:lnR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선입선출법</a:t>
                      </a:r>
                    </a:p>
                  </a:txBody>
                  <a:tcPr marL="17517" marR="17517" marT="17518" marB="17518" anchor="ctr">
                    <a:lnL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먼저 매입한 재고자산이 먼저 판매되고 기말재고는 가장 최근에 매입한 항목이라고 가정하는 방법</a:t>
                      </a:r>
                    </a:p>
                  </a:txBody>
                  <a:tcPr marL="17517" marR="17517" marT="17518" marB="17518" anchor="ctr">
                    <a:lnL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3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후입선출법</a:t>
                      </a:r>
                      <a:endParaRPr lang="ko-KR" altLang="en-US" sz="14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517" marR="17517" marT="17518" marB="17518" anchor="ctr">
                    <a:lnL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가장 최근에 매입한 재고자산이 먼저 판매되고 기말재고는 가장 </a:t>
                      </a:r>
                      <a:r>
                        <a:rPr lang="ko-KR" altLang="en-US" sz="1400" b="0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오래전에</a:t>
                      </a:r>
                      <a:r>
                        <a:rPr lang="ko-KR" altLang="en-US" sz="1400" b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매입한 항목이라고 가정하는 방법</a:t>
                      </a:r>
                    </a:p>
                  </a:txBody>
                  <a:tcPr marL="17517" marR="17517" marT="17518" marB="17518" anchor="ctr">
                    <a:lnL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241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가중평균법</a:t>
                      </a:r>
                    </a:p>
                  </a:txBody>
                  <a:tcPr marL="17517" marR="17517" marT="17518" marB="17518" anchor="ctr">
                    <a:lnL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기초재고와 당기에 매입한 재고자산이 구분되지 않고 평균적으로 판매된다는 가정하에 기초재고와 </a:t>
                      </a:r>
                      <a:r>
                        <a:rPr lang="ko-KR" altLang="en-US" sz="1400" b="0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당기매입의</a:t>
                      </a:r>
                      <a:r>
                        <a:rPr lang="ko-KR" altLang="en-US" sz="1400" b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원가를 평균하여 단위원가를 결정하는 방법</a:t>
                      </a:r>
                      <a:r>
                        <a:rPr lang="en-US" altLang="ko-KR" sz="1400" b="0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endParaRPr lang="ko-KR" altLang="en-US" sz="1400" b="0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517" marR="17517" marT="17518" marB="17518" anchor="ctr">
                    <a:lnL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154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517" marR="17517" marT="17518" marB="17518" anchor="ctr">
                    <a:lnL>
                      <a:noFill/>
                    </a:lnL>
                    <a:lnR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517" marR="17517" marT="17518" marB="17518" anchor="ctr">
                    <a:lnL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517" marR="17517" marT="17518" marB="17518" anchor="ctr">
                    <a:lnL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738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0099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277488" y="1110742"/>
            <a:ext cx="8190728" cy="3215382"/>
            <a:chOff x="440748" y="1430362"/>
            <a:chExt cx="8190728" cy="3215382"/>
          </a:xfrm>
        </p:grpSpPr>
        <p:sp>
          <p:nvSpPr>
            <p:cNvPr id="7" name="Rectangle 15"/>
            <p:cNvSpPr>
              <a:spLocks noChangeArrowheads="1"/>
            </p:cNvSpPr>
            <p:nvPr/>
          </p:nvSpPr>
          <p:spPr bwMode="auto">
            <a:xfrm>
              <a:off x="468953" y="2406306"/>
              <a:ext cx="8162523" cy="2239438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285750" indent="-180000" latinLnBrk="0">
                <a:lnSpc>
                  <a:spcPts val="2400"/>
                </a:lnSpc>
                <a:spcBef>
                  <a:spcPts val="60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어떤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단가를 가진 재고자산이 매입되고 판매되는지를 개별적으로 파악하여 매출원가와 기말재고를 결정하는 방법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85750" indent="-180000" latinLnBrk="0">
                <a:lnSpc>
                  <a:spcPts val="2400"/>
                </a:lnSpc>
                <a:spcBef>
                  <a:spcPts val="60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실제 물량의 흐름과 동일하게 회계기록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85750" indent="-180000" latinLnBrk="0">
                <a:lnSpc>
                  <a:spcPts val="2400"/>
                </a:lnSpc>
                <a:spcBef>
                  <a:spcPts val="600"/>
                </a:spcBef>
                <a:buClrTx/>
                <a:buSzTx/>
                <a:buFont typeface="Arial" panose="020B0604020202020204" pitchFamily="34" charset="0"/>
                <a:buChar char="•"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상호 교환될 수 없는 소량의 재고항목이나 특정 프로젝트별로 생산되는 고가의 제품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등에 적절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.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단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상호교환 가능한 대량의 동질적인 상품에 대해 사용하는 것은 적절하지 않음</a:t>
              </a:r>
              <a:endParaRPr lang="en-US" altLang="ko-KR" sz="1800" b="1" dirty="0">
                <a:latin typeface="맑은 고딕" panose="020B0503020000020004" pitchFamily="50" charset="-127"/>
              </a:endParaRPr>
            </a:p>
            <a:p>
              <a:pPr marL="285750" indent="-285750" latinLnBrk="0"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</a:pPr>
              <a:endParaRPr lang="en-US" altLang="ko-KR" sz="1800" b="1" dirty="0">
                <a:latin typeface="맑은 고딕" panose="020B0503020000020004" pitchFamily="50" charset="-127"/>
              </a:endParaRPr>
            </a:p>
          </p:txBody>
        </p:sp>
        <p:sp>
          <p:nvSpPr>
            <p:cNvPr id="29" name="Rectangle 14"/>
            <p:cNvSpPr>
              <a:spLocks noChangeArrowheads="1"/>
            </p:cNvSpPr>
            <p:nvPr/>
          </p:nvSpPr>
          <p:spPr bwMode="auto">
            <a:xfrm>
              <a:off x="440748" y="1430362"/>
              <a:ext cx="7309349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endPara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8" name="Rectangle 14">
            <a:extLst>
              <a:ext uri="{FF2B5EF4-FFF2-40B4-BE49-F238E27FC236}">
                <a16:creationId xmlns:a16="http://schemas.microsoft.com/office/drawing/2014/main" id="{19CA4031-1257-4E6D-8632-0FB2CA617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488" y="1680849"/>
            <a:ext cx="4964969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4608" tIns="37301" rIns="74608" bIns="37301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ko-KR" altLang="en-US" sz="18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개별법</a:t>
            </a:r>
            <a:r>
              <a: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(specific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identification</a:t>
            </a:r>
            <a:r>
              <a: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method)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CB2EC15-D393-415B-852A-386C9E28B83B}"/>
              </a:ext>
            </a:extLst>
          </p:cNvPr>
          <p:cNvSpPr/>
          <p:nvPr/>
        </p:nvSpPr>
        <p:spPr>
          <a:xfrm>
            <a:off x="94213" y="1702026"/>
            <a:ext cx="211480" cy="319079"/>
          </a:xfrm>
          <a:prstGeom prst="rect">
            <a:avLst/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ko-KR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9979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/>
          <p:cNvGrpSpPr/>
          <p:nvPr/>
        </p:nvGrpSpPr>
        <p:grpSpPr>
          <a:xfrm>
            <a:off x="257304" y="1477954"/>
            <a:ext cx="8641369" cy="1501524"/>
            <a:chOff x="2626683" y="1693823"/>
            <a:chExt cx="11521825" cy="2002032"/>
          </a:xfrm>
        </p:grpSpPr>
        <p:sp>
          <p:nvSpPr>
            <p:cNvPr id="28" name="Rectangle 15"/>
            <p:cNvSpPr>
              <a:spLocks noChangeArrowheads="1"/>
            </p:cNvSpPr>
            <p:nvPr/>
          </p:nvSpPr>
          <p:spPr bwMode="auto">
            <a:xfrm>
              <a:off x="2626683" y="2125623"/>
              <a:ext cx="11521825" cy="1570232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28575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먼저 매입한 재고자산이 먼저 판매되고 기말재고는 가장 최근에 매입한 항목이라고 가정 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8575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재무상태표상의 기말재고금액은 최근의 구입원가로 계산됨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8575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손익계산서상의 매출원가는 상대적으로 오래 전에 구입한 상품들의 구입원가로 계산됨</a:t>
              </a:r>
              <a:r>
                <a:rPr lang="en-US" altLang="ko-KR" sz="1600" dirty="0">
                  <a:latin typeface="맑은 고딕" pitchFamily="50" charset="-127"/>
                </a:rPr>
                <a:t> </a:t>
              </a:r>
            </a:p>
          </p:txBody>
        </p:sp>
        <p:sp>
          <p:nvSpPr>
            <p:cNvPr id="30" name="Rectangle 14"/>
            <p:cNvSpPr>
              <a:spLocks noChangeArrowheads="1"/>
            </p:cNvSpPr>
            <p:nvPr/>
          </p:nvSpPr>
          <p:spPr bwMode="auto">
            <a:xfrm>
              <a:off x="2871275" y="1693823"/>
              <a:ext cx="6619958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선입선출법 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(first-in first-out method, FIFO)</a:t>
              </a: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3" name="그룹 32"/>
          <p:cNvGrpSpPr/>
          <p:nvPr/>
        </p:nvGrpSpPr>
        <p:grpSpPr>
          <a:xfrm>
            <a:off x="257304" y="3414214"/>
            <a:ext cx="8641369" cy="2608806"/>
            <a:chOff x="2626683" y="1693823"/>
            <a:chExt cx="11521825" cy="2506297"/>
          </a:xfrm>
        </p:grpSpPr>
        <p:sp>
          <p:nvSpPr>
            <p:cNvPr id="34" name="Rectangle 15"/>
            <p:cNvSpPr>
              <a:spLocks noChangeArrowheads="1"/>
            </p:cNvSpPr>
            <p:nvPr/>
          </p:nvSpPr>
          <p:spPr bwMode="auto">
            <a:xfrm>
              <a:off x="2626683" y="2056433"/>
              <a:ext cx="11521825" cy="2143687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marL="28575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가장 최근에 매입한 재고자산이 먼저 판매되고 기말재고는 가정 먼저 매입한 항목이라고 가정하는 방법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8575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재무상태표상의 기말재고금액은 과거의 구입원가로 계산됨</a:t>
              </a:r>
              <a:endParaRPr lang="en-US" altLang="ko-KR" sz="1600" dirty="0">
                <a:latin typeface="맑은 고딕" panose="020B0503020000020004" pitchFamily="50" charset="-127"/>
              </a:endParaRPr>
            </a:p>
            <a:p>
              <a:pPr marL="28575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손익계산서상의 매출원가는 상대적으로 최근에 구입한 상품들의 구입원가로 계산됨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 </a:t>
              </a:r>
            </a:p>
            <a:p>
              <a:pPr marL="285750" indent="-180000"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lang="ko-KR" altLang="en-US" sz="1600" b="1" dirty="0">
                  <a:latin typeface="맑은 고딕" panose="020B0503020000020004" pitchFamily="50" charset="-127"/>
                </a:rPr>
                <a:t>국제회계기준에서는 후입선출법을 허용하지 않음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.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나중에 매입된 상품부터 판매한다는 비현실적인 원가흐름을 가정하고 있기 때문임</a:t>
              </a:r>
              <a:endParaRPr lang="en-US" altLang="ko-KR" sz="1600" dirty="0">
                <a:latin typeface="맑은 고딕" pitchFamily="50" charset="-127"/>
              </a:endParaRPr>
            </a:p>
          </p:txBody>
        </p:sp>
        <p:sp>
          <p:nvSpPr>
            <p:cNvPr id="35" name="Rectangle 14"/>
            <p:cNvSpPr>
              <a:spLocks noChangeArrowheads="1"/>
            </p:cNvSpPr>
            <p:nvPr/>
          </p:nvSpPr>
          <p:spPr bwMode="auto">
            <a:xfrm>
              <a:off x="2871276" y="1693823"/>
              <a:ext cx="8330274" cy="264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후입선출법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(last-in first-out method, LIFO)</a:t>
              </a: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64401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그룹 26"/>
          <p:cNvGrpSpPr/>
          <p:nvPr/>
        </p:nvGrpSpPr>
        <p:grpSpPr>
          <a:xfrm>
            <a:off x="257473" y="1619048"/>
            <a:ext cx="8342831" cy="3907432"/>
            <a:chOff x="2626908" y="1693823"/>
            <a:chExt cx="11123774" cy="5209908"/>
          </a:xfrm>
        </p:grpSpPr>
        <p:sp>
          <p:nvSpPr>
            <p:cNvPr id="28" name="Rectangle 15"/>
            <p:cNvSpPr>
              <a:spLocks noChangeArrowheads="1"/>
            </p:cNvSpPr>
            <p:nvPr/>
          </p:nvSpPr>
          <p:spPr bwMode="auto">
            <a:xfrm>
              <a:off x="2638995" y="2250312"/>
              <a:ext cx="11111687" cy="4653419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기초재고와 당기매입 재고자산의 구분없이 동시에 판매된다는 가정하에 기초재고와 당기매입 재고의 원가를 평균하여 단위당 원가를 결정   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latinLnBrk="0">
                <a:lnSpc>
                  <a:spcPts val="2400"/>
                </a:lnSpc>
                <a:spcBef>
                  <a:spcPts val="1200"/>
                </a:spcBef>
                <a:buClrTx/>
                <a:buSzTx/>
                <a:buNone/>
              </a:pPr>
              <a:r>
                <a:rPr lang="ko-KR" altLang="en-US" sz="1600" b="1" dirty="0">
                  <a:latin typeface="맑은 고딕" panose="020B0503020000020004" pitchFamily="50" charset="-127"/>
                </a:rPr>
                <a:t>① 실지재고조사법</a:t>
              </a:r>
              <a:r>
                <a:rPr lang="en-US" altLang="ko-KR" sz="1600" b="1" dirty="0">
                  <a:latin typeface="맑은 고딕" panose="020B0503020000020004" pitchFamily="50" charset="-127"/>
                </a:rPr>
                <a:t>: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총평균법</a:t>
              </a:r>
              <a:endPara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285750" indent="-285750" latinLnBrk="0">
                <a:lnSpc>
                  <a:spcPts val="2400"/>
                </a:lnSpc>
                <a:spcBef>
                  <a:spcPct val="0"/>
                </a:spcBef>
                <a:buClrTx/>
                <a:buSzTx/>
              </a:pPr>
              <a:r>
                <a:rPr lang="ko-KR" altLang="en-US" sz="1600" dirty="0" err="1">
                  <a:solidFill>
                    <a:schemeClr val="tx1"/>
                  </a:solidFill>
                  <a:latin typeface="맑은 고딕" panose="020B0503020000020004" pitchFamily="50" charset="-127"/>
                </a:rPr>
                <a:t>결산시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 판매가능상품의 총금액을 총수량으로 나누어 하나의 가중평균단가를 구하고</a:t>
              </a:r>
              <a:r>
                <a:rPr lang="en-US" altLang="ko-KR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, </a:t>
              </a:r>
              <a:r>
                <a:rPr lang="ko-KR" altLang="en-US" sz="1600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그 단가를 기말재고액과 매출원가의 계산을 위한 단위원가로 사용</a:t>
              </a: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endPara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latinLnBrk="0">
                <a:lnSpc>
                  <a:spcPts val="2400"/>
                </a:lnSpc>
                <a:spcBef>
                  <a:spcPct val="0"/>
                </a:spcBef>
                <a:buClrTx/>
                <a:buSzTx/>
                <a:buNone/>
              </a:pP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② 계속기록법 </a:t>
              </a:r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: </a:t>
              </a:r>
              <a:r>
                <a:rPr lang="ko-KR" altLang="en-US" sz="1600" b="1" dirty="0">
                  <a:solidFill>
                    <a:schemeClr val="tx1"/>
                  </a:solidFill>
                  <a:latin typeface="맑은 고딕" panose="020B0503020000020004" pitchFamily="50" charset="-127"/>
                </a:rPr>
                <a:t>이동평균법</a:t>
              </a:r>
              <a:endParaRPr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</a:endParaRPr>
            </a:p>
            <a:p>
              <a:pPr marL="285750" indent="-285750" latinLnBrk="0">
                <a:lnSpc>
                  <a:spcPts val="2400"/>
                </a:lnSpc>
                <a:spcBef>
                  <a:spcPct val="0"/>
                </a:spcBef>
                <a:buClrTx/>
                <a:buSzTx/>
              </a:pPr>
              <a:r>
                <a:rPr lang="ko-KR" altLang="en-US" sz="1600" dirty="0">
                  <a:latin typeface="맑은 고딕" panose="020B0503020000020004" pitchFamily="50" charset="-127"/>
                </a:rPr>
                <a:t>상품을 구입할 때마다 기존의 재고와 새로 구입한 재고를 포함한 전체 재고에 대하여 </a:t>
              </a:r>
              <a:r>
                <a:rPr lang="en-US" altLang="ko-KR" sz="1600" dirty="0">
                  <a:latin typeface="맑은 고딕" panose="020B0503020000020004" pitchFamily="50" charset="-127"/>
                </a:rPr>
                <a:t>   </a:t>
              </a:r>
              <a:r>
                <a:rPr lang="ko-KR" altLang="en-US" sz="1600" dirty="0">
                  <a:latin typeface="맑은 고딕" panose="020B0503020000020004" pitchFamily="50" charset="-127"/>
                </a:rPr>
                <a:t>새로운 평균단위원가를 계산</a:t>
              </a:r>
              <a:endParaRPr lang="en-US" altLang="ko-KR" sz="1600" dirty="0">
                <a:latin typeface="맑은 고딕" panose="020B0503020000020004" pitchFamily="50" charset="-127"/>
              </a:endParaRPr>
            </a:p>
          </p:txBody>
        </p:sp>
        <p:sp>
          <p:nvSpPr>
            <p:cNvPr id="30" name="Rectangle 14"/>
            <p:cNvSpPr>
              <a:spLocks noChangeArrowheads="1"/>
            </p:cNvSpPr>
            <p:nvPr/>
          </p:nvSpPr>
          <p:spPr bwMode="auto">
            <a:xfrm>
              <a:off x="2871275" y="1693823"/>
              <a:ext cx="7709668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 typeface="Wingdings" panose="05000000000000000000" pitchFamily="2" charset="2"/>
                <a:buNone/>
              </a:pPr>
              <a:r>
                <a:rPr lang="ko-KR" altLang="en-US" sz="1800" b="1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가중평균법</a:t>
              </a:r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(weighted average method)</a:t>
              </a: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2626908" y="1722059"/>
              <a:ext cx="281973" cy="425439"/>
            </a:xfrm>
            <a:prstGeom prst="rect">
              <a:avLst/>
            </a:prstGeom>
            <a:ln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ko-KR" altLang="en-US" sz="16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865F1C2-1A9A-4072-98EE-9F596359E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713" y="3901080"/>
            <a:ext cx="6219235" cy="78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0679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263283"/>
            <a:ext cx="8711460" cy="5150582"/>
            <a:chOff x="190714" y="1320883"/>
            <a:chExt cx="8711460" cy="5150582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009966"/>
              <a:chOff x="269048" y="1722741"/>
              <a:chExt cx="8648775" cy="5009966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4986266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3"/>
              <a:ext cx="4257230" cy="326948"/>
              <a:chOff x="190714" y="1320889"/>
              <a:chExt cx="3641745" cy="290351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3641745" cy="290351"/>
                <a:chOff x="405822" y="2237753"/>
                <a:chExt cx="3641745" cy="290351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3767179" y="2237753"/>
                  <a:ext cx="280388" cy="26836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54927" y="2237753"/>
                  <a:ext cx="3390661" cy="274857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6-6 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선입선출법</a:t>
                  </a:r>
                  <a:endParaRPr lang="ko-KR" altLang="en-US" sz="1600" b="1" dirty="0"/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66918" y="1690549"/>
            <a:ext cx="8034182" cy="4529275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 dirty="0">
                <a:latin typeface="맑은 고딕" panose="020B0503020000020004" pitchFamily="50" charset="-127"/>
              </a:rPr>
              <a:t>㈜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티몬의</a:t>
            </a:r>
            <a:r>
              <a:rPr lang="ko-KR" altLang="en-US" sz="1600" b="1" dirty="0">
                <a:latin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</a:rPr>
              <a:t>20X1</a:t>
            </a:r>
            <a:r>
              <a:rPr lang="ko-KR" altLang="en-US" sz="1600" b="1" dirty="0">
                <a:latin typeface="맑은 고딕" panose="020B0503020000020004" pitchFamily="50" charset="-127"/>
              </a:rPr>
              <a:t>년 기초재고와 당기매입 내용은 다음의 표와 같다</a:t>
            </a:r>
            <a:r>
              <a:rPr lang="en-US" altLang="ko-KR" sz="1600" b="1" dirty="0">
                <a:latin typeface="맑은 고딕" panose="020B0503020000020004" pitchFamily="50" charset="-127"/>
              </a:rPr>
              <a:t>. </a:t>
            </a:r>
            <a:r>
              <a:rPr lang="ko-KR" altLang="en-US" sz="1600" b="1" dirty="0">
                <a:latin typeface="맑은 고딕" panose="020B0503020000020004" pitchFamily="50" charset="-127"/>
              </a:rPr>
              <a:t>㈜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티몬은</a:t>
            </a:r>
            <a:r>
              <a:rPr lang="ko-KR" altLang="en-US" sz="1600" b="1" dirty="0">
                <a:latin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</a:rPr>
              <a:t>6</a:t>
            </a:r>
            <a:r>
              <a:rPr lang="ko-KR" altLang="en-US" sz="1600" b="1" dirty="0">
                <a:latin typeface="맑은 고딕" panose="020B0503020000020004" pitchFamily="50" charset="-127"/>
              </a:rPr>
              <a:t>월 </a:t>
            </a:r>
            <a:r>
              <a:rPr lang="en-US" altLang="ko-KR" sz="1600" b="1" dirty="0">
                <a:latin typeface="맑은 고딕" panose="020B0503020000020004" pitchFamily="50" charset="-127"/>
              </a:rPr>
              <a:t>14</a:t>
            </a:r>
            <a:r>
              <a:rPr lang="ko-KR" altLang="en-US" sz="1600" b="1" dirty="0">
                <a:latin typeface="맑은 고딕" panose="020B0503020000020004" pitchFamily="50" charset="-127"/>
              </a:rPr>
              <a:t>일 </a:t>
            </a:r>
            <a:r>
              <a:rPr lang="en-US" altLang="ko-KR" sz="1600" b="1" dirty="0">
                <a:latin typeface="맑은 고딕" panose="020B0503020000020004" pitchFamily="50" charset="-127"/>
              </a:rPr>
              <a:t>170</a:t>
            </a:r>
            <a:r>
              <a:rPr lang="ko-KR" altLang="en-US" sz="1600" b="1" dirty="0">
                <a:latin typeface="맑은 고딕" panose="020B0503020000020004" pitchFamily="50" charset="-127"/>
              </a:rPr>
              <a:t>개의 상품을 판매하였다</a:t>
            </a:r>
            <a:r>
              <a:rPr lang="en-US" altLang="ko-KR" sz="1600" b="1" dirty="0">
                <a:latin typeface="맑은 고딕" panose="020B0503020000020004" pitchFamily="50" charset="-127"/>
              </a:rPr>
              <a:t>. </a:t>
            </a:r>
            <a:r>
              <a:rPr lang="ko-KR" altLang="en-US" sz="1600" b="1" dirty="0">
                <a:latin typeface="맑은 고딕" panose="020B0503020000020004" pitchFamily="50" charset="-127"/>
              </a:rPr>
              <a:t>단위당 원가 결정방법으로 </a:t>
            </a:r>
            <a:r>
              <a:rPr lang="ko-KR" altLang="en-US" sz="16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선입선출법</a:t>
            </a:r>
            <a:r>
              <a:rPr lang="ko-KR" altLang="en-US" sz="1600" b="1" dirty="0">
                <a:latin typeface="맑은 고딕" panose="020B0503020000020004" pitchFamily="50" charset="-127"/>
              </a:rPr>
              <a:t>을 사용한다</a:t>
            </a:r>
            <a:r>
              <a:rPr lang="en-US" altLang="ko-KR" sz="1600" b="1" dirty="0">
                <a:latin typeface="맑은 고딕" panose="020B0503020000020004" pitchFamily="50" charset="-127"/>
              </a:rPr>
              <a:t>. </a:t>
            </a:r>
          </a:p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endParaRPr lang="ko-KR" altLang="en-US" sz="1600" dirty="0">
              <a:latin typeface="Verdana" panose="020B0604030504040204" pitchFamily="34" charset="0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just"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just"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just"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just"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just"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just"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just"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just"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 dirty="0" err="1">
                <a:latin typeface="맑은 고딕" panose="020B0503020000020004" pitchFamily="50" charset="-127"/>
              </a:rPr>
              <a:t>계속기록법</a:t>
            </a:r>
            <a:r>
              <a:rPr lang="ko-KR" altLang="en-US" sz="1600" dirty="0" err="1">
                <a:latin typeface="맑은 고딕" panose="020B0503020000020004" pitchFamily="50" charset="-127"/>
              </a:rPr>
              <a:t>을</a:t>
            </a:r>
            <a:r>
              <a:rPr lang="ko-KR" altLang="en-US" sz="1600" dirty="0">
                <a:latin typeface="맑은 고딕" panose="020B0503020000020004" pitchFamily="50" charset="-127"/>
              </a:rPr>
              <a:t> 사용하는 경우와 </a:t>
            </a:r>
            <a:r>
              <a:rPr lang="ko-KR" altLang="en-US" sz="1600" b="1" dirty="0">
                <a:latin typeface="맑은 고딕" panose="020B0503020000020004" pitchFamily="50" charset="-127"/>
              </a:rPr>
              <a:t>실지재고조사법</a:t>
            </a:r>
            <a:r>
              <a:rPr lang="ko-KR" altLang="en-US" sz="1600" dirty="0">
                <a:latin typeface="맑은 고딕" panose="020B0503020000020004" pitchFamily="50" charset="-127"/>
              </a:rPr>
              <a:t>을 사용하는 경우 각각 기말재고와 매출원가를 계산하라</a:t>
            </a:r>
            <a:r>
              <a:rPr lang="en-US" altLang="ko-KR" sz="1600" dirty="0">
                <a:latin typeface="맑은 고딕" panose="020B0503020000020004" pitchFamily="50" charset="-127"/>
              </a:rPr>
              <a:t>.</a:t>
            </a: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092738"/>
              </p:ext>
            </p:extLst>
          </p:nvPr>
        </p:nvGraphicFramePr>
        <p:xfrm>
          <a:off x="1357312" y="2398870"/>
          <a:ext cx="6429375" cy="2060260"/>
        </p:xfrm>
        <a:graphic>
          <a:graphicData uri="http://schemas.openxmlformats.org/drawingml/2006/table">
            <a:tbl>
              <a:tblPr/>
              <a:tblGrid>
                <a:gridCol w="995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34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68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61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75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5486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수량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단가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금액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기초재고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30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90</a:t>
                      </a: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2,700</a:t>
                      </a:r>
                      <a:endParaRPr kumimoji="0" lang="ko-KR" alt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 입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60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100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6,000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 입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105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10,500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 입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30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120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3,600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합계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220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￦</a:t>
                      </a: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22,800</a:t>
                      </a: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858773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263283"/>
            <a:ext cx="8711460" cy="5150582"/>
            <a:chOff x="190714" y="1320883"/>
            <a:chExt cx="8711460" cy="5150582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009966"/>
              <a:chOff x="269048" y="1722741"/>
              <a:chExt cx="8648775" cy="5009966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4986266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3"/>
              <a:ext cx="4257230" cy="326948"/>
              <a:chOff x="190714" y="1320889"/>
              <a:chExt cx="3641745" cy="290351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3641745" cy="290351"/>
                <a:chOff x="405822" y="2237753"/>
                <a:chExt cx="3641745" cy="290351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3767179" y="2237753"/>
                  <a:ext cx="280388" cy="26836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54927" y="2237753"/>
                  <a:ext cx="3390661" cy="274857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6-6 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선입선출법</a:t>
                  </a:r>
                  <a:endParaRPr lang="ko-KR" altLang="en-US" sz="1600" b="1" dirty="0"/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66918" y="1690549"/>
            <a:ext cx="7775575" cy="4529275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defTabSz="995363" eaLnBrk="0" latinLnBrk="0" hangingPunct="0">
              <a:buFontTx/>
              <a:buAutoNum type="arabicParenBoth"/>
              <a:defRPr/>
            </a:pPr>
            <a:r>
              <a:rPr lang="ko-KR" altLang="en-US" sz="1600" b="1" dirty="0" err="1">
                <a:solidFill>
                  <a:srgbClr val="000000"/>
                </a:solidFill>
                <a:latin typeface="맑은 고딕" pitchFamily="50" charset="-127"/>
              </a:rPr>
              <a:t>계속기록법</a:t>
            </a:r>
            <a:r>
              <a:rPr lang="en-US" altLang="ko-KR" sz="1600" b="1" dirty="0">
                <a:solidFill>
                  <a:srgbClr val="000000"/>
                </a:solidFill>
                <a:latin typeface="맑은 고딕" pitchFamily="50" charset="-127"/>
              </a:rPr>
              <a:t> </a:t>
            </a:r>
          </a:p>
          <a:p>
            <a:pPr marL="342900" indent="-342900"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r>
              <a:rPr lang="ko-KR" altLang="en-US" sz="1600" b="1" dirty="0">
                <a:solidFill>
                  <a:srgbClr val="000000"/>
                </a:solidFill>
                <a:latin typeface="맑은 고딕" pitchFamily="50" charset="-127"/>
              </a:rPr>
              <a:t>① 매출원가의 결정</a:t>
            </a: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algn="ctr" eaLnBrk="0" latinLnBrk="0" hangingPunct="0">
              <a:defRPr/>
            </a:pPr>
            <a:endParaRPr lang="ko-KR" altLang="en-US" sz="1600" dirty="0"/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r>
              <a:rPr lang="en-US" altLang="ko-KR" sz="1600" b="1" dirty="0">
                <a:solidFill>
                  <a:srgbClr val="000000"/>
                </a:solidFill>
                <a:latin typeface="맑은 고딕" pitchFamily="50" charset="-127"/>
              </a:rPr>
              <a:t>② </a:t>
            </a:r>
            <a:r>
              <a:rPr lang="ko-KR" altLang="en-US" sz="1600" b="1" dirty="0">
                <a:solidFill>
                  <a:srgbClr val="000000"/>
                </a:solidFill>
                <a:latin typeface="맑은 고딕" pitchFamily="50" charset="-127"/>
              </a:rPr>
              <a:t>기말재고의 결정</a:t>
            </a: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270989"/>
              </p:ext>
            </p:extLst>
          </p:nvPr>
        </p:nvGraphicFramePr>
        <p:xfrm>
          <a:off x="1785938" y="2590800"/>
          <a:ext cx="5572125" cy="1843088"/>
        </p:xfrm>
        <a:graphic>
          <a:graphicData uri="http://schemas.openxmlformats.org/drawingml/2006/table">
            <a:tbl>
              <a:tblPr/>
              <a:tblGrid>
                <a:gridCol w="1147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70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3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284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수량</a:t>
                      </a: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단가</a:t>
                      </a: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금액</a:t>
                      </a: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9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기초재고</a:t>
                      </a: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30</a:t>
                      </a: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2,700</a:t>
                      </a: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9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 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60</a:t>
                      </a: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100</a:t>
                      </a: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6,000</a:t>
                      </a: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9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 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80</a:t>
                      </a: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105</a:t>
                      </a: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8,400</a:t>
                      </a: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95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17,100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001590"/>
              </p:ext>
            </p:extLst>
          </p:nvPr>
        </p:nvGraphicFramePr>
        <p:xfrm>
          <a:off x="2714625" y="4929188"/>
          <a:ext cx="3429000" cy="1431924"/>
        </p:xfrm>
        <a:graphic>
          <a:graphicData uri="http://schemas.openxmlformats.org/drawingml/2006/table">
            <a:tbl>
              <a:tblPr/>
              <a:tblGrid>
                <a:gridCol w="226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798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기초재고</a:t>
                      </a:r>
                    </a:p>
                  </a:txBody>
                  <a:tcPr marL="64770" marR="64770" marT="17902" marB="1790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2,700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2" marB="1790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98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＋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0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당기매입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2" marB="1790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16,500</a:t>
                      </a:r>
                    </a:p>
                  </a:txBody>
                  <a:tcPr marL="64770" marR="64770" marT="17902" marB="1790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98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－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매출원가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(6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2" marB="1790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(17,100)</a:t>
                      </a:r>
                    </a:p>
                  </a:txBody>
                  <a:tcPr marL="64770" marR="64770" marT="17902" marB="1790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98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기말재고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(6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64770" marR="64770" marT="17902" marB="1790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2,100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2" marB="1790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753419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263283"/>
            <a:ext cx="8711460" cy="5150582"/>
            <a:chOff x="190714" y="1320883"/>
            <a:chExt cx="8711460" cy="5150582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009966"/>
              <a:chOff x="269048" y="1722741"/>
              <a:chExt cx="8648775" cy="5009966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4986266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3"/>
              <a:ext cx="4257230" cy="326948"/>
              <a:chOff x="190714" y="1320889"/>
              <a:chExt cx="3641745" cy="290351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3641745" cy="290351"/>
                <a:chOff x="405822" y="2237753"/>
                <a:chExt cx="3641745" cy="290351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3767179" y="2237753"/>
                  <a:ext cx="280388" cy="26836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54927" y="2237753"/>
                  <a:ext cx="3390661" cy="274857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6-6 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선입선출법</a:t>
                  </a:r>
                  <a:endParaRPr lang="ko-KR" altLang="en-US" sz="1600" b="1" dirty="0"/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66918" y="1690549"/>
            <a:ext cx="7775575" cy="4529275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defTabSz="995363" eaLnBrk="0" latinLnBrk="0" hangingPunct="0">
              <a:defRPr/>
            </a:pPr>
            <a:r>
              <a:rPr lang="en-US" altLang="ko-KR" sz="1600" b="1" dirty="0">
                <a:solidFill>
                  <a:srgbClr val="000000"/>
                </a:solidFill>
                <a:latin typeface="맑은 고딕" pitchFamily="50" charset="-127"/>
              </a:rPr>
              <a:t>(2) </a:t>
            </a:r>
            <a:r>
              <a:rPr lang="ko-KR" altLang="en-US" sz="1600" b="1" dirty="0">
                <a:solidFill>
                  <a:srgbClr val="000000"/>
                </a:solidFill>
                <a:latin typeface="맑은 고딕" pitchFamily="50" charset="-127"/>
              </a:rPr>
              <a:t>실지재고조사법 </a:t>
            </a:r>
            <a:r>
              <a:rPr lang="en-US" altLang="ko-KR" sz="1600" b="1" dirty="0">
                <a:solidFill>
                  <a:srgbClr val="000000"/>
                </a:solidFill>
                <a:latin typeface="맑은 고딕" pitchFamily="50" charset="-127"/>
              </a:rPr>
              <a:t>: </a:t>
            </a:r>
            <a:r>
              <a:rPr lang="ko-KR" altLang="en-US" sz="1600" b="1" dirty="0">
                <a:solidFill>
                  <a:srgbClr val="000000"/>
                </a:solidFill>
                <a:latin typeface="맑은 고딕" pitchFamily="50" charset="-127"/>
              </a:rPr>
              <a:t>기말창고실사 결과 </a:t>
            </a:r>
            <a:r>
              <a:rPr lang="en-US" altLang="ko-KR" sz="1600" b="1" dirty="0">
                <a:solidFill>
                  <a:srgbClr val="000000"/>
                </a:solidFill>
                <a:latin typeface="맑은 고딕" pitchFamily="50" charset="-127"/>
              </a:rPr>
              <a:t>50</a:t>
            </a:r>
            <a:r>
              <a:rPr lang="ko-KR" altLang="en-US" sz="1600" b="1" dirty="0">
                <a:solidFill>
                  <a:srgbClr val="000000"/>
                </a:solidFill>
                <a:latin typeface="맑은 고딕" pitchFamily="50" charset="-127"/>
              </a:rPr>
              <a:t>개의 상품이 남아 있다</a:t>
            </a:r>
            <a:r>
              <a:rPr lang="en-US" altLang="ko-KR" sz="1600" b="1" dirty="0">
                <a:solidFill>
                  <a:srgbClr val="000000"/>
                </a:solidFill>
                <a:latin typeface="맑은 고딕" pitchFamily="50" charset="-127"/>
              </a:rPr>
              <a:t>.</a:t>
            </a:r>
          </a:p>
          <a:p>
            <a:pPr marL="342900" indent="-342900"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 dirty="0">
                <a:latin typeface="맑은 고딕" panose="020B0503020000020004" pitchFamily="50" charset="-127"/>
              </a:rPr>
              <a:t>① 기말재고의 결정</a:t>
            </a: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marL="342900" indent="-342900"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marL="342900" indent="-342900"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marL="342900" indent="-342900"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marL="342900" indent="-342900"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marL="342900" indent="-342900"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 dirty="0">
                <a:latin typeface="맑은 고딕" panose="020B0503020000020004" pitchFamily="50" charset="-127"/>
              </a:rPr>
              <a:t>② 매출원가의 결정</a:t>
            </a: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marL="342900" indent="-342900"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marL="342900" indent="-342900" defTabSz="995363" eaLnBrk="0" latinLnBrk="0" hangingPunct="0">
              <a:defRPr/>
            </a:pPr>
            <a:r>
              <a:rPr lang="en-US" altLang="ko-KR" sz="1600" b="1" dirty="0">
                <a:solidFill>
                  <a:srgbClr val="000000"/>
                </a:solidFill>
                <a:latin typeface="맑은 고딕" pitchFamily="50" charset="-127"/>
              </a:rPr>
              <a:t> </a:t>
            </a: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3185158"/>
              </p:ext>
            </p:extLst>
          </p:nvPr>
        </p:nvGraphicFramePr>
        <p:xfrm>
          <a:off x="1677924" y="2561702"/>
          <a:ext cx="6143625" cy="1485899"/>
        </p:xfrm>
        <a:graphic>
          <a:graphicData uri="http://schemas.openxmlformats.org/drawingml/2006/table">
            <a:tbl>
              <a:tblPr/>
              <a:tblGrid>
                <a:gridCol w="10588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1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6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6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94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3" marB="17913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수량</a:t>
                      </a:r>
                    </a:p>
                  </a:txBody>
                  <a:tcPr marL="64770" marR="64770" marT="17913" marB="17913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단가</a:t>
                      </a:r>
                    </a:p>
                  </a:txBody>
                  <a:tcPr marL="64770" marR="64770" marT="17913" marB="17913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금액</a:t>
                      </a:r>
                    </a:p>
                  </a:txBody>
                  <a:tcPr marL="64770" marR="64770" marT="17913" marB="17913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64770" marR="64770" marT="17913" marB="17913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30</a:t>
                      </a:r>
                    </a:p>
                  </a:txBody>
                  <a:tcPr marL="64770" marR="64770" marT="17913" marB="17913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3" marB="17913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3,600</a:t>
                      </a: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3" marB="17913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64770" marR="64770" marT="17913" marB="1791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</a:t>
                      </a:r>
                    </a:p>
                  </a:txBody>
                  <a:tcPr marL="64770" marR="64770" marT="17913" marB="1791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105</a:t>
                      </a:r>
                    </a:p>
                  </a:txBody>
                  <a:tcPr marL="64770" marR="64770" marT="17913" marB="1791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2,100</a:t>
                      </a:r>
                    </a:p>
                  </a:txBody>
                  <a:tcPr marL="64770" marR="64770" marT="17913" marB="17913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기말재고</a:t>
                      </a:r>
                    </a:p>
                  </a:txBody>
                  <a:tcPr marL="64770" marR="64770" marT="17913" marB="17913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50</a:t>
                      </a:r>
                    </a:p>
                  </a:txBody>
                  <a:tcPr marL="64770" marR="64770" marT="17913" marB="17913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3" marB="17913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5,700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3" marB="17913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141848"/>
              </p:ext>
            </p:extLst>
          </p:nvPr>
        </p:nvGraphicFramePr>
        <p:xfrm>
          <a:off x="2786063" y="4857750"/>
          <a:ext cx="2714625" cy="1431924"/>
        </p:xfrm>
        <a:graphic>
          <a:graphicData uri="http://schemas.openxmlformats.org/drawingml/2006/table">
            <a:tbl>
              <a:tblPr/>
              <a:tblGrid>
                <a:gridCol w="1581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798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기초재고</a:t>
                      </a:r>
                    </a:p>
                  </a:txBody>
                  <a:tcPr marL="64770" marR="64770" marT="17902" marB="1790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2,700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2" marB="1790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98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＋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당기매입</a:t>
                      </a:r>
                    </a:p>
                  </a:txBody>
                  <a:tcPr marL="64770" marR="64770" marT="17902" marB="1790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20,100</a:t>
                      </a:r>
                    </a:p>
                  </a:txBody>
                  <a:tcPr marL="64770" marR="64770" marT="17902" marB="1790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98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－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기말재고</a:t>
                      </a:r>
                    </a:p>
                  </a:txBody>
                  <a:tcPr marL="64770" marR="64770" marT="17902" marB="1790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(5,700)</a:t>
                      </a:r>
                    </a:p>
                  </a:txBody>
                  <a:tcPr marL="64770" marR="64770" marT="17902" marB="1790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98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매출원가</a:t>
                      </a:r>
                    </a:p>
                  </a:txBody>
                  <a:tcPr marL="64770" marR="64770" marT="17902" marB="1790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17,100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2" marB="1790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689735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263283"/>
            <a:ext cx="8711460" cy="5150582"/>
            <a:chOff x="190714" y="1320883"/>
            <a:chExt cx="8711460" cy="5150582"/>
          </a:xfrm>
          <a:noFill/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009966"/>
              <a:chOff x="269048" y="1722741"/>
              <a:chExt cx="8648775" cy="5009966"/>
            </a:xfrm>
            <a:grpFill/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4986266"/>
              </a:xfrm>
              <a:prstGeom prst="foldedCorner">
                <a:avLst>
                  <a:gd name="adj" fmla="val 5125"/>
                </a:avLst>
              </a:prstGeom>
              <a:grp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1" name="그룹 30"/>
            <p:cNvGrpSpPr/>
            <p:nvPr/>
          </p:nvGrpSpPr>
          <p:grpSpPr>
            <a:xfrm>
              <a:off x="190714" y="1320883"/>
              <a:ext cx="4257230" cy="326948"/>
              <a:chOff x="405822" y="2237753"/>
              <a:chExt cx="3641745" cy="290351"/>
            </a:xfrm>
            <a:grpFill/>
          </p:grpSpPr>
          <p:sp>
            <p:nvSpPr>
              <p:cNvPr id="33" name="타원 32"/>
              <p:cNvSpPr/>
              <p:nvPr/>
            </p:nvSpPr>
            <p:spPr>
              <a:xfrm>
                <a:off x="405822" y="2237753"/>
                <a:ext cx="290351" cy="290351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34" name="타원 33"/>
              <p:cNvSpPr/>
              <p:nvPr/>
            </p:nvSpPr>
            <p:spPr>
              <a:xfrm>
                <a:off x="3767179" y="2237753"/>
                <a:ext cx="280388" cy="26836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35" name="직사각형 34"/>
              <p:cNvSpPr/>
              <p:nvPr/>
            </p:nvSpPr>
            <p:spPr>
              <a:xfrm>
                <a:off x="554927" y="2237753"/>
                <a:ext cx="3390661" cy="274857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1600" b="1" dirty="0"/>
                  <a:t>    예제 </a:t>
                </a:r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6-7 </a:t>
                </a:r>
                <a:r>
                  <a:rPr lang="ko-KR" altLang="en-US" sz="16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후입선출법</a:t>
                </a:r>
                <a:endParaRPr lang="ko-KR" altLang="en-US" sz="1600" b="1" dirty="0"/>
              </a:p>
            </p:txBody>
          </p:sp>
          <p:sp>
            <p:nvSpPr>
              <p:cNvPr id="36" name="타원 35"/>
              <p:cNvSpPr/>
              <p:nvPr/>
            </p:nvSpPr>
            <p:spPr>
              <a:xfrm>
                <a:off x="427833" y="2256153"/>
                <a:ext cx="253549" cy="25354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sz="16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66918" y="1690549"/>
            <a:ext cx="7775575" cy="4529275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 dirty="0">
                <a:latin typeface="맑은 고딕" panose="020B0503020000020004" pitchFamily="50" charset="-127"/>
              </a:rPr>
              <a:t>㈜</a:t>
            </a:r>
            <a:r>
              <a:rPr lang="en-US" altLang="ko-KR" sz="1600" b="1" dirty="0">
                <a:latin typeface="맑은 고딕" panose="020B0503020000020004" pitchFamily="50" charset="-127"/>
              </a:rPr>
              <a:t>CU</a:t>
            </a:r>
            <a:r>
              <a:rPr lang="ko-KR" altLang="en-US" sz="1600" b="1" dirty="0">
                <a:latin typeface="맑은 고딕" panose="020B0503020000020004" pitchFamily="50" charset="-127"/>
              </a:rPr>
              <a:t>의 </a:t>
            </a:r>
            <a:r>
              <a:rPr lang="en-US" altLang="ko-KR" sz="1600" b="1" dirty="0">
                <a:latin typeface="맑은 고딕" panose="020B0503020000020004" pitchFamily="50" charset="-127"/>
              </a:rPr>
              <a:t>20X1</a:t>
            </a:r>
            <a:r>
              <a:rPr lang="ko-KR" altLang="en-US" sz="1600" b="1" dirty="0">
                <a:latin typeface="맑은 고딕" panose="020B0503020000020004" pitchFamily="50" charset="-127"/>
              </a:rPr>
              <a:t>년 기초재고와 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당기매입은</a:t>
            </a:r>
            <a:r>
              <a:rPr lang="ko-KR" altLang="en-US" sz="1600" b="1" dirty="0">
                <a:latin typeface="맑은 고딕" panose="020B0503020000020004" pitchFamily="50" charset="-127"/>
              </a:rPr>
              <a:t> 다음의 표와 같다</a:t>
            </a:r>
            <a:r>
              <a:rPr lang="en-US" altLang="ko-KR" sz="1600" b="1" dirty="0">
                <a:latin typeface="맑은 고딕" panose="020B0503020000020004" pitchFamily="50" charset="-127"/>
              </a:rPr>
              <a:t>. </a:t>
            </a:r>
            <a:r>
              <a:rPr lang="ko-KR" altLang="en-US" sz="1600" b="1" dirty="0">
                <a:latin typeface="맑은 고딕" panose="020B0503020000020004" pitchFamily="50" charset="-127"/>
              </a:rPr>
              <a:t>㈜</a:t>
            </a:r>
            <a:r>
              <a:rPr lang="en-US" altLang="ko-KR" sz="1600" b="1" dirty="0">
                <a:latin typeface="맑은 고딕" panose="020B0503020000020004" pitchFamily="50" charset="-127"/>
              </a:rPr>
              <a:t>CU</a:t>
            </a:r>
            <a:r>
              <a:rPr lang="ko-KR" altLang="en-US" sz="1600" b="1" dirty="0">
                <a:latin typeface="맑은 고딕" panose="020B0503020000020004" pitchFamily="50" charset="-127"/>
              </a:rPr>
              <a:t>는 </a:t>
            </a:r>
            <a:r>
              <a:rPr lang="en-US" altLang="ko-KR" sz="1600" b="1" dirty="0">
                <a:latin typeface="맑은 고딕" panose="020B0503020000020004" pitchFamily="50" charset="-127"/>
              </a:rPr>
              <a:t>6</a:t>
            </a:r>
            <a:r>
              <a:rPr lang="ko-KR" altLang="en-US" sz="1600" b="1" dirty="0">
                <a:latin typeface="맑은 고딕" panose="020B0503020000020004" pitchFamily="50" charset="-127"/>
              </a:rPr>
              <a:t>월 </a:t>
            </a:r>
            <a:r>
              <a:rPr lang="en-US" altLang="ko-KR" sz="1600" b="1" dirty="0">
                <a:latin typeface="맑은 고딕" panose="020B0503020000020004" pitchFamily="50" charset="-127"/>
              </a:rPr>
              <a:t>14</a:t>
            </a:r>
            <a:r>
              <a:rPr lang="ko-KR" altLang="en-US" sz="1600" b="1" dirty="0">
                <a:latin typeface="맑은 고딕" panose="020B0503020000020004" pitchFamily="50" charset="-127"/>
              </a:rPr>
              <a:t>일 </a:t>
            </a:r>
            <a:r>
              <a:rPr lang="en-US" altLang="ko-KR" sz="1600" b="1" dirty="0">
                <a:latin typeface="맑은 고딕" panose="020B0503020000020004" pitchFamily="50" charset="-127"/>
              </a:rPr>
              <a:t>170</a:t>
            </a:r>
            <a:r>
              <a:rPr lang="ko-KR" altLang="en-US" sz="1600" b="1" dirty="0">
                <a:latin typeface="맑은 고딕" panose="020B0503020000020004" pitchFamily="50" charset="-127"/>
              </a:rPr>
              <a:t>개의 상품을 판매하였다</a:t>
            </a:r>
            <a:r>
              <a:rPr lang="en-US" altLang="ko-KR" sz="1600" b="1" dirty="0">
                <a:latin typeface="맑은 고딕" panose="020B0503020000020004" pitchFamily="50" charset="-127"/>
              </a:rPr>
              <a:t>. </a:t>
            </a:r>
            <a:r>
              <a:rPr lang="ko-KR" altLang="en-US" sz="1600" b="1" dirty="0">
                <a:latin typeface="맑은 고딕" panose="020B0503020000020004" pitchFamily="50" charset="-127"/>
              </a:rPr>
              <a:t>단위원가</a:t>
            </a:r>
            <a:r>
              <a:rPr lang="en-US" altLang="ko-KR" sz="1600" b="1" dirty="0">
                <a:latin typeface="맑은 고딕" panose="020B0503020000020004" pitchFamily="50" charset="-127"/>
              </a:rPr>
              <a:t> </a:t>
            </a:r>
            <a:r>
              <a:rPr lang="ko-KR" altLang="en-US" sz="1600" b="1" dirty="0">
                <a:latin typeface="맑은 고딕" panose="020B0503020000020004" pitchFamily="50" charset="-127"/>
              </a:rPr>
              <a:t>결정방법으로 </a:t>
            </a:r>
            <a:r>
              <a:rPr lang="ko-KR" altLang="en-US" sz="1600" b="1" dirty="0" err="1">
                <a:solidFill>
                  <a:srgbClr val="C00000"/>
                </a:solidFill>
                <a:latin typeface="맑은 고딕" panose="020B0503020000020004" pitchFamily="50" charset="-127"/>
              </a:rPr>
              <a:t>후입선출법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을</a:t>
            </a:r>
            <a:r>
              <a:rPr lang="ko-KR" altLang="en-US" sz="1600" b="1" dirty="0">
                <a:latin typeface="맑은 고딕" panose="020B0503020000020004" pitchFamily="50" charset="-127"/>
              </a:rPr>
              <a:t> 사용한다</a:t>
            </a:r>
            <a:r>
              <a:rPr lang="en-US" altLang="ko-KR" sz="1600" b="1" dirty="0">
                <a:latin typeface="맑은 고딕" panose="020B0503020000020004" pitchFamily="50" charset="-127"/>
              </a:rPr>
              <a:t>. </a:t>
            </a:r>
          </a:p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endParaRPr lang="ko-KR" altLang="en-US" sz="1600" dirty="0">
              <a:latin typeface="Verdana" panose="020B0604030504040204" pitchFamily="34" charset="0"/>
            </a:endParaRPr>
          </a:p>
          <a:p>
            <a:pPr algn="ctr" fontAlgn="ctr">
              <a:spcBef>
                <a:spcPct val="0"/>
              </a:spcBef>
            </a:pPr>
            <a:endParaRPr lang="ko-KR" altLang="ko-KR" sz="1600" b="1" dirty="0">
              <a:latin typeface="Verdana" panose="020B0604030504040204" pitchFamily="34" charset="0"/>
            </a:endParaRPr>
          </a:p>
          <a:p>
            <a:pPr algn="just"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just"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just"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just"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just"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just"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just"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just"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just"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just"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 dirty="0" err="1">
                <a:latin typeface="맑은 고딕" panose="020B0503020000020004" pitchFamily="50" charset="-127"/>
              </a:rPr>
              <a:t>계속기록법</a:t>
            </a:r>
            <a:r>
              <a:rPr lang="ko-KR" altLang="en-US" sz="1600" dirty="0" err="1">
                <a:latin typeface="맑은 고딕" panose="020B0503020000020004" pitchFamily="50" charset="-127"/>
              </a:rPr>
              <a:t>을</a:t>
            </a:r>
            <a:r>
              <a:rPr lang="ko-KR" altLang="en-US" sz="1600" dirty="0">
                <a:latin typeface="맑은 고딕" panose="020B0503020000020004" pitchFamily="50" charset="-127"/>
              </a:rPr>
              <a:t> 사용하는 경우와 </a:t>
            </a:r>
            <a:r>
              <a:rPr lang="ko-KR" altLang="en-US" sz="1600" b="1" dirty="0">
                <a:latin typeface="맑은 고딕" panose="020B0503020000020004" pitchFamily="50" charset="-127"/>
              </a:rPr>
              <a:t>실지재고조사법</a:t>
            </a:r>
            <a:r>
              <a:rPr lang="ko-KR" altLang="en-US" sz="1600" dirty="0">
                <a:latin typeface="맑은 고딕" panose="020B0503020000020004" pitchFamily="50" charset="-127"/>
              </a:rPr>
              <a:t>을 사용하는 경우 각각 기말재고와 매출원가를 계산하라</a:t>
            </a:r>
            <a:r>
              <a:rPr lang="en-US" altLang="ko-KR" sz="1600" dirty="0">
                <a:latin typeface="맑은 고딕" panose="020B0503020000020004" pitchFamily="50" charset="-127"/>
              </a:rPr>
              <a:t>.</a:t>
            </a:r>
          </a:p>
        </p:txBody>
      </p:sp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833358"/>
              </p:ext>
            </p:extLst>
          </p:nvPr>
        </p:nvGraphicFramePr>
        <p:xfrm>
          <a:off x="1285875" y="2424113"/>
          <a:ext cx="6429375" cy="2060260"/>
        </p:xfrm>
        <a:graphic>
          <a:graphicData uri="http://schemas.openxmlformats.org/drawingml/2006/table">
            <a:tbl>
              <a:tblPr/>
              <a:tblGrid>
                <a:gridCol w="995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5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6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29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수량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단가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금액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기초재고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30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90</a:t>
                      </a: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2,700</a:t>
                      </a:r>
                      <a:endParaRPr kumimoji="0" lang="ko-KR" alt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 입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60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100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6,000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 입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105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0" lang="en-US" altLang="ko-KR" sz="105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10,500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 입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30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120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3,600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합계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220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￦</a:t>
                      </a: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22,800</a:t>
                      </a: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1592A119-9531-49D4-A2AE-7EC3B187B33A}"/>
              </a:ext>
            </a:extLst>
          </p:cNvPr>
          <p:cNvSpPr/>
          <p:nvPr/>
        </p:nvSpPr>
        <p:spPr>
          <a:xfrm>
            <a:off x="216270" y="1263283"/>
            <a:ext cx="339423" cy="326948"/>
          </a:xfrm>
          <a:prstGeom prst="ellipse">
            <a:avLst/>
          </a:prstGeom>
          <a:solidFill>
            <a:srgbClr val="2D61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B12E005-9B74-41FC-85DD-47A2DA6AEDF9}"/>
              </a:ext>
            </a:extLst>
          </p:cNvPr>
          <p:cNvSpPr/>
          <p:nvPr/>
        </p:nvSpPr>
        <p:spPr>
          <a:xfrm>
            <a:off x="242001" y="1284002"/>
            <a:ext cx="296401" cy="28550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그림 19" descr="Log in | Sign Up Upload Clipart">
            <a:extLst>
              <a:ext uri="{FF2B5EF4-FFF2-40B4-BE49-F238E27FC236}">
                <a16:creationId xmlns:a16="http://schemas.microsoft.com/office/drawing/2014/main" id="{61559EC8-E703-4E55-B717-045CF483E0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379" y="1306918"/>
            <a:ext cx="172016" cy="25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7849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263283"/>
            <a:ext cx="8711460" cy="5150582"/>
            <a:chOff x="190714" y="1320883"/>
            <a:chExt cx="8711460" cy="5150582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009966"/>
              <a:chOff x="269048" y="1722741"/>
              <a:chExt cx="8648775" cy="5009966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4986266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3"/>
              <a:ext cx="4257230" cy="326948"/>
              <a:chOff x="190714" y="1320889"/>
              <a:chExt cx="3641745" cy="290351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3641745" cy="290351"/>
                <a:chOff x="405822" y="2237753"/>
                <a:chExt cx="3641745" cy="290351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3767179" y="2237753"/>
                  <a:ext cx="280388" cy="26836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54927" y="2237753"/>
                  <a:ext cx="3390661" cy="274857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6-7 </a:t>
                  </a:r>
                  <a:r>
                    <a:rPr lang="ko-KR" altLang="en-US" sz="1600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후입선출법</a:t>
                  </a:r>
                  <a:endParaRPr lang="ko-KR" altLang="en-US" sz="1600" b="1" dirty="0"/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66918" y="1690549"/>
            <a:ext cx="7775575" cy="4529275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defTabSz="995363" eaLnBrk="0" latinLnBrk="0" hangingPunct="0">
              <a:buAutoNum type="arabicParenBoth"/>
              <a:defRPr/>
            </a:pPr>
            <a:r>
              <a:rPr lang="ko-KR" altLang="en-US" sz="1600" b="1" dirty="0" err="1">
                <a:solidFill>
                  <a:srgbClr val="000000"/>
                </a:solidFill>
                <a:latin typeface="맑은 고딕" pitchFamily="50" charset="-127"/>
              </a:rPr>
              <a:t>계속기록법</a:t>
            </a: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marL="342900" indent="-342900" defTabSz="995363" eaLnBrk="0" latinLnBrk="0" hangingPunct="0">
              <a:buAutoNum type="arabicParenBoth"/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 dirty="0">
                <a:latin typeface="맑은 고딕" panose="020B0503020000020004" pitchFamily="50" charset="-127"/>
              </a:rPr>
              <a:t>① 매출원가의 결정</a:t>
            </a: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 dirty="0">
                <a:latin typeface="맑은 고딕" panose="020B0503020000020004" pitchFamily="50" charset="-127"/>
              </a:rPr>
              <a:t>② 기말재고의 결정</a:t>
            </a: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defTabSz="995363" eaLnBrk="0" latinLnBrk="0" hangingPunct="0">
              <a:defRPr/>
            </a:pPr>
            <a:r>
              <a:rPr lang="ko-KR" altLang="en-US" sz="1600" b="1" dirty="0">
                <a:solidFill>
                  <a:srgbClr val="000000"/>
                </a:solidFill>
                <a:latin typeface="맑은 고딕" pitchFamily="50" charset="-127"/>
              </a:rPr>
              <a:t> </a:t>
            </a: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marL="342900" indent="-342900"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marL="342900" indent="-342900" defTabSz="995363" eaLnBrk="0" latinLnBrk="0" hangingPunct="0">
              <a:defRPr/>
            </a:pPr>
            <a:r>
              <a:rPr lang="en-US" altLang="ko-KR" sz="1600" b="1" dirty="0">
                <a:solidFill>
                  <a:srgbClr val="000000"/>
                </a:solidFill>
                <a:latin typeface="맑은 고딕" pitchFamily="50" charset="-127"/>
              </a:rPr>
              <a:t> </a:t>
            </a: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5077533"/>
              </p:ext>
            </p:extLst>
          </p:nvPr>
        </p:nvGraphicFramePr>
        <p:xfrm>
          <a:off x="1714500" y="2533650"/>
          <a:ext cx="5857875" cy="1843088"/>
        </p:xfrm>
        <a:graphic>
          <a:graphicData uri="http://schemas.openxmlformats.org/drawingml/2006/table">
            <a:tbl>
              <a:tblPr/>
              <a:tblGrid>
                <a:gridCol w="1401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1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9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5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284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수량</a:t>
                      </a: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단가</a:t>
                      </a: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금액</a:t>
                      </a: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9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105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10,500</a:t>
                      </a: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9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60</a:t>
                      </a: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100</a:t>
                      </a: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6,000</a:t>
                      </a: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9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기초재고</a:t>
                      </a: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10</a:t>
                      </a: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90</a:t>
                      </a: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900</a:t>
                      </a: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95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17,400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897" marB="1789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7" name="표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335927"/>
              </p:ext>
            </p:extLst>
          </p:nvPr>
        </p:nvGraphicFramePr>
        <p:xfrm>
          <a:off x="2714625" y="4929188"/>
          <a:ext cx="3357563" cy="1431924"/>
        </p:xfrm>
        <a:graphic>
          <a:graphicData uri="http://schemas.openxmlformats.org/drawingml/2006/table">
            <a:tbl>
              <a:tblPr/>
              <a:tblGrid>
                <a:gridCol w="2212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4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798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기초재고</a:t>
                      </a:r>
                    </a:p>
                  </a:txBody>
                  <a:tcPr marL="64770" marR="64770" marT="17902" marB="1790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2,700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2" marB="1790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98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＋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당기매입</a:t>
                      </a:r>
                    </a:p>
                  </a:txBody>
                  <a:tcPr marL="64770" marR="64770" marT="17902" marB="1790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16,500</a:t>
                      </a:r>
                    </a:p>
                  </a:txBody>
                  <a:tcPr marL="64770" marR="64770" marT="17902" marB="1790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98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－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매출원가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(6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2" marB="1790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(17,400)</a:t>
                      </a:r>
                    </a:p>
                  </a:txBody>
                  <a:tcPr marL="64770" marR="64770" marT="17902" marB="1790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98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기말재고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(6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64770" marR="64770" marT="17902" marB="1790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1,800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2" marB="1790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39438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263283"/>
            <a:ext cx="8711460" cy="5150582"/>
            <a:chOff x="190714" y="1320883"/>
            <a:chExt cx="8711460" cy="5150582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009966"/>
              <a:chOff x="269048" y="1722741"/>
              <a:chExt cx="8648775" cy="5009966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4986266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3"/>
              <a:ext cx="4257230" cy="326948"/>
              <a:chOff x="190714" y="1320889"/>
              <a:chExt cx="3641745" cy="290351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3641745" cy="290351"/>
                <a:chOff x="405822" y="2237753"/>
                <a:chExt cx="3641745" cy="290351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3767179" y="2237753"/>
                  <a:ext cx="280388" cy="26836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54927" y="2237753"/>
                  <a:ext cx="3390661" cy="274857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6-7 </a:t>
                  </a:r>
                  <a:r>
                    <a:rPr lang="ko-KR" altLang="en-US" sz="1600" b="1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후입선출법</a:t>
                  </a:r>
                  <a:endParaRPr lang="ko-KR" altLang="en-US" sz="1600" b="1" dirty="0"/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66918" y="1690549"/>
            <a:ext cx="7775575" cy="4529275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defTabSz="995363" eaLnBrk="0" latinLnBrk="0" hangingPunct="0">
              <a:defRPr/>
            </a:pPr>
            <a:r>
              <a:rPr lang="en-US" altLang="ko-KR" sz="1600" b="1" dirty="0">
                <a:solidFill>
                  <a:srgbClr val="000000"/>
                </a:solidFill>
                <a:latin typeface="맑은 고딕" pitchFamily="50" charset="-127"/>
              </a:rPr>
              <a:t>(2) </a:t>
            </a:r>
            <a:r>
              <a:rPr lang="ko-KR" altLang="en-US" sz="1600" b="1" dirty="0">
                <a:solidFill>
                  <a:srgbClr val="000000"/>
                </a:solidFill>
                <a:latin typeface="맑은 고딕" pitchFamily="50" charset="-127"/>
              </a:rPr>
              <a:t>실지재고조사법 </a:t>
            </a:r>
            <a:r>
              <a:rPr lang="en-US" altLang="ko-KR" sz="1600" b="1" dirty="0">
                <a:solidFill>
                  <a:srgbClr val="000000"/>
                </a:solidFill>
                <a:latin typeface="맑은 고딕" pitchFamily="50" charset="-127"/>
              </a:rPr>
              <a:t>: </a:t>
            </a:r>
            <a:r>
              <a:rPr lang="ko-KR" altLang="en-US" sz="1600" b="1" dirty="0">
                <a:solidFill>
                  <a:srgbClr val="000000"/>
                </a:solidFill>
                <a:latin typeface="맑은 고딕" pitchFamily="50" charset="-127"/>
              </a:rPr>
              <a:t>기말창고실사 결과 </a:t>
            </a:r>
            <a:r>
              <a:rPr lang="en-US" altLang="ko-KR" sz="1600" b="1" dirty="0">
                <a:solidFill>
                  <a:srgbClr val="000000"/>
                </a:solidFill>
                <a:latin typeface="맑은 고딕" pitchFamily="50" charset="-127"/>
              </a:rPr>
              <a:t>50</a:t>
            </a:r>
            <a:r>
              <a:rPr lang="ko-KR" altLang="en-US" sz="1600" b="1" dirty="0">
                <a:solidFill>
                  <a:srgbClr val="000000"/>
                </a:solidFill>
                <a:latin typeface="맑은 고딕" pitchFamily="50" charset="-127"/>
              </a:rPr>
              <a:t>개의 상품이 남아 있다</a:t>
            </a:r>
            <a:r>
              <a:rPr lang="en-US" altLang="ko-KR" sz="1600" b="1" dirty="0">
                <a:solidFill>
                  <a:srgbClr val="000000"/>
                </a:solidFill>
                <a:latin typeface="맑은 고딕" pitchFamily="50" charset="-127"/>
              </a:rPr>
              <a:t>.</a:t>
            </a:r>
          </a:p>
          <a:p>
            <a:pPr marL="342900" indent="-342900"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marL="342900" indent="-342900" defTabSz="995363" eaLnBrk="0" latinLnBrk="0" hangingPunct="0">
              <a:defRPr/>
            </a:pPr>
            <a:r>
              <a:rPr lang="ko-KR" altLang="en-US" sz="1600" b="1" dirty="0">
                <a:latin typeface="맑은 고딕" panose="020B0503020000020004" pitchFamily="50" charset="-127"/>
              </a:rPr>
              <a:t>① 기말재고의 결정</a:t>
            </a:r>
            <a:endParaRPr lang="en-US" altLang="ko-KR" sz="1600" b="1" dirty="0">
              <a:latin typeface="맑은 고딕" panose="020B0503020000020004" pitchFamily="50" charset="-127"/>
            </a:endParaRPr>
          </a:p>
          <a:p>
            <a:pPr marL="342900" indent="-342900"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marL="342900" indent="-342900"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marL="342900" indent="-342900"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marL="342900" indent="-342900"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marL="342900" indent="-342900"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marL="342900" indent="-342900"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marL="342900" indent="-342900"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marL="342900" indent="-342900"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 dirty="0">
                <a:latin typeface="맑은 고딕" panose="020B0503020000020004" pitchFamily="50" charset="-127"/>
              </a:rPr>
              <a:t>② 매출원가의 결정</a:t>
            </a: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marL="342900" indent="-342900"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marL="342900" indent="-342900"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marL="342900" indent="-342900" defTabSz="995363" eaLnBrk="0" latinLnBrk="0" hangingPunct="0">
              <a:defRPr/>
            </a:pPr>
            <a:r>
              <a:rPr lang="en-US" altLang="ko-KR" sz="1600" b="1" dirty="0">
                <a:solidFill>
                  <a:srgbClr val="000000"/>
                </a:solidFill>
                <a:latin typeface="맑은 고딕" pitchFamily="50" charset="-127"/>
              </a:rPr>
              <a:t> </a:t>
            </a: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defTabSz="995363"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4940286"/>
              </p:ext>
            </p:extLst>
          </p:nvPr>
        </p:nvGraphicFramePr>
        <p:xfrm>
          <a:off x="2143125" y="2605088"/>
          <a:ext cx="5357813" cy="1395411"/>
        </p:xfrm>
        <a:graphic>
          <a:graphicData uri="http://schemas.openxmlformats.org/drawingml/2006/table">
            <a:tbl>
              <a:tblPr/>
              <a:tblGrid>
                <a:gridCol w="976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9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67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8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6" marB="17916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수량</a:t>
                      </a:r>
                    </a:p>
                  </a:txBody>
                  <a:tcPr marL="64770" marR="64770" marT="17916" marB="17916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단가</a:t>
                      </a:r>
                    </a:p>
                  </a:txBody>
                  <a:tcPr marL="64770" marR="64770" marT="17916" marB="17916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금액</a:t>
                      </a:r>
                    </a:p>
                  </a:txBody>
                  <a:tcPr marL="64770" marR="64770" marT="17916" marB="17916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기초재고</a:t>
                      </a:r>
                    </a:p>
                  </a:txBody>
                  <a:tcPr marL="64770" marR="64770" marT="17916" marB="17916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30</a:t>
                      </a:r>
                    </a:p>
                  </a:txBody>
                  <a:tcPr marL="64770" marR="64770" marT="17916" marB="17916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6" marB="17916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2,700</a:t>
                      </a: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6" marB="17916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64770" marR="64770" marT="17916" marB="1791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</a:t>
                      </a:r>
                    </a:p>
                  </a:txBody>
                  <a:tcPr marL="64770" marR="64770" marT="17916" marB="1791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100</a:t>
                      </a:r>
                    </a:p>
                  </a:txBody>
                  <a:tcPr marL="64770" marR="64770" marT="17916" marB="1791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2,000</a:t>
                      </a:r>
                    </a:p>
                  </a:txBody>
                  <a:tcPr marL="64770" marR="64770" marT="17916" marB="1791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6" marB="17916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50</a:t>
                      </a:r>
                    </a:p>
                  </a:txBody>
                  <a:tcPr marL="64770" marR="64770" marT="17916" marB="17916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6" marB="17916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4,700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6" marB="17916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7" name="표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134228"/>
              </p:ext>
            </p:extLst>
          </p:nvPr>
        </p:nvGraphicFramePr>
        <p:xfrm>
          <a:off x="2372430" y="4751180"/>
          <a:ext cx="2643188" cy="1431924"/>
        </p:xfrm>
        <a:graphic>
          <a:graphicData uri="http://schemas.openxmlformats.org/drawingml/2006/table">
            <a:tbl>
              <a:tblPr/>
              <a:tblGrid>
                <a:gridCol w="1482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0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798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기초재고</a:t>
                      </a:r>
                    </a:p>
                  </a:txBody>
                  <a:tcPr marL="64770" marR="64770" marT="17902" marB="1790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2,700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2" marB="1790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98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＋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당기매입</a:t>
                      </a:r>
                    </a:p>
                  </a:txBody>
                  <a:tcPr marL="64770" marR="64770" marT="17902" marB="1790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20,100</a:t>
                      </a:r>
                    </a:p>
                  </a:txBody>
                  <a:tcPr marL="64770" marR="64770" marT="17902" marB="1790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98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－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기말재고</a:t>
                      </a:r>
                    </a:p>
                  </a:txBody>
                  <a:tcPr marL="64770" marR="64770" marT="17902" marB="1790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(4,700)</a:t>
                      </a:r>
                    </a:p>
                  </a:txBody>
                  <a:tcPr marL="64770" marR="64770" marT="17902" marB="1790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981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매출원가</a:t>
                      </a:r>
                    </a:p>
                  </a:txBody>
                  <a:tcPr marL="64770" marR="64770" marT="17902" marB="1790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18,100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2" marB="1790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37872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263283"/>
            <a:ext cx="8711460" cy="5150582"/>
            <a:chOff x="190714" y="1320883"/>
            <a:chExt cx="8711460" cy="5150582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009966"/>
              <a:chOff x="269048" y="1722741"/>
              <a:chExt cx="8648775" cy="5009966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4986266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3"/>
              <a:ext cx="4257230" cy="326948"/>
              <a:chOff x="190714" y="1320889"/>
              <a:chExt cx="3641745" cy="290351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3641745" cy="290351"/>
                <a:chOff x="405822" y="2237753"/>
                <a:chExt cx="3641745" cy="290351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3767179" y="2237753"/>
                  <a:ext cx="280388" cy="26836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54927" y="2237753"/>
                  <a:ext cx="3390661" cy="274857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6-8 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가중평균법</a:t>
                  </a:r>
                  <a:endParaRPr lang="ko-KR" altLang="en-US" sz="1600" b="1" dirty="0"/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66918" y="1690549"/>
            <a:ext cx="7775575" cy="4529275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 dirty="0">
                <a:latin typeface="맑은 고딕" panose="020B0503020000020004" pitchFamily="50" charset="-127"/>
              </a:rPr>
              <a:t>㈜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휴스틸의</a:t>
            </a:r>
            <a:r>
              <a:rPr lang="ko-KR" altLang="en-US" sz="1600" b="1" dirty="0">
                <a:latin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</a:rPr>
              <a:t>20X1</a:t>
            </a:r>
            <a:r>
              <a:rPr lang="ko-KR" altLang="en-US" sz="1600" b="1" dirty="0">
                <a:latin typeface="맑은 고딕" panose="020B0503020000020004" pitchFamily="50" charset="-127"/>
              </a:rPr>
              <a:t>년 기초재고와 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당기매입은</a:t>
            </a:r>
            <a:r>
              <a:rPr lang="ko-KR" altLang="en-US" sz="1600" b="1" dirty="0">
                <a:latin typeface="맑은 고딕" panose="020B0503020000020004" pitchFamily="50" charset="-127"/>
              </a:rPr>
              <a:t> 다음의 표와 같다</a:t>
            </a:r>
            <a:r>
              <a:rPr lang="en-US" altLang="ko-KR" sz="1600" b="1" dirty="0">
                <a:latin typeface="맑은 고딕" panose="020B0503020000020004" pitchFamily="50" charset="-127"/>
              </a:rPr>
              <a:t>. </a:t>
            </a:r>
            <a:r>
              <a:rPr lang="ko-KR" altLang="en-US" sz="1600" b="1" dirty="0">
                <a:latin typeface="맑은 고딕" panose="020B0503020000020004" pitchFamily="50" charset="-127"/>
              </a:rPr>
              <a:t>㈜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휴스틸은</a:t>
            </a:r>
            <a:r>
              <a:rPr lang="ko-KR" altLang="en-US" sz="1600" b="1" dirty="0">
                <a:latin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</a:rPr>
              <a:t>6</a:t>
            </a:r>
            <a:r>
              <a:rPr lang="ko-KR" altLang="en-US" sz="1600" b="1" dirty="0">
                <a:latin typeface="맑은 고딕" panose="020B0503020000020004" pitchFamily="50" charset="-127"/>
              </a:rPr>
              <a:t>월 </a:t>
            </a:r>
            <a:r>
              <a:rPr lang="en-US" altLang="ko-KR" sz="1600" b="1" dirty="0">
                <a:latin typeface="맑은 고딕" panose="020B0503020000020004" pitchFamily="50" charset="-127"/>
              </a:rPr>
              <a:t>14</a:t>
            </a:r>
            <a:r>
              <a:rPr lang="ko-KR" altLang="en-US" sz="1600" b="1" dirty="0">
                <a:latin typeface="맑은 고딕" panose="020B0503020000020004" pitchFamily="50" charset="-127"/>
              </a:rPr>
              <a:t>일 </a:t>
            </a:r>
            <a:r>
              <a:rPr lang="en-US" altLang="ko-KR" sz="1600" b="1" dirty="0">
                <a:latin typeface="맑은 고딕" panose="020B0503020000020004" pitchFamily="50" charset="-127"/>
              </a:rPr>
              <a:t>170</a:t>
            </a:r>
            <a:r>
              <a:rPr lang="ko-KR" altLang="en-US" sz="1600" b="1" dirty="0">
                <a:latin typeface="맑은 고딕" panose="020B0503020000020004" pitchFamily="50" charset="-127"/>
              </a:rPr>
              <a:t>개의 상품을 판매하였다</a:t>
            </a:r>
            <a:r>
              <a:rPr lang="en-US" altLang="ko-KR" sz="1600" b="1" dirty="0">
                <a:latin typeface="맑은 고딕" panose="020B0503020000020004" pitchFamily="50" charset="-127"/>
              </a:rPr>
              <a:t>. </a:t>
            </a:r>
            <a:r>
              <a:rPr lang="ko-KR" altLang="en-US" sz="1600" b="1" dirty="0">
                <a:latin typeface="맑은 고딕" panose="020B0503020000020004" pitchFamily="50" charset="-127"/>
              </a:rPr>
              <a:t>단위원가</a:t>
            </a:r>
            <a:r>
              <a:rPr lang="en-US" altLang="ko-KR" sz="1600" b="1" dirty="0">
                <a:latin typeface="맑은 고딕" panose="020B0503020000020004" pitchFamily="50" charset="-127"/>
              </a:rPr>
              <a:t> </a:t>
            </a:r>
            <a:r>
              <a:rPr lang="ko-KR" altLang="en-US" sz="1600" b="1" dirty="0">
                <a:latin typeface="맑은 고딕" panose="020B0503020000020004" pitchFamily="50" charset="-127"/>
              </a:rPr>
              <a:t>결정방법으로 </a:t>
            </a:r>
            <a:r>
              <a:rPr lang="ko-KR" altLang="en-US" sz="16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가중평균법</a:t>
            </a:r>
            <a:r>
              <a:rPr lang="ko-KR" altLang="en-US" sz="1600" b="1" dirty="0">
                <a:latin typeface="맑은 고딕" panose="020B0503020000020004" pitchFamily="50" charset="-127"/>
              </a:rPr>
              <a:t>을 사용한다</a:t>
            </a:r>
            <a:r>
              <a:rPr lang="en-US" altLang="ko-KR" sz="1600" b="1" dirty="0">
                <a:latin typeface="맑은 고딕" panose="020B0503020000020004" pitchFamily="50" charset="-127"/>
              </a:rPr>
              <a:t>. </a:t>
            </a: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just"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계속기록법을 사용하는 경우와 실지재고조사법을 사용하는 경우 각각 기말재고와 매출원가를 계산하라</a:t>
            </a:r>
            <a:r>
              <a:rPr lang="en-US" altLang="ko-KR" sz="1600" dirty="0">
                <a:latin typeface="맑은 고딕" panose="020B0503020000020004" pitchFamily="50" charset="-127"/>
              </a:rPr>
              <a:t>.</a:t>
            </a:r>
          </a:p>
        </p:txBody>
      </p:sp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362701"/>
              </p:ext>
            </p:extLst>
          </p:nvPr>
        </p:nvGraphicFramePr>
        <p:xfrm>
          <a:off x="1285875" y="2424113"/>
          <a:ext cx="6429375" cy="2060260"/>
        </p:xfrm>
        <a:graphic>
          <a:graphicData uri="http://schemas.openxmlformats.org/drawingml/2006/table">
            <a:tbl>
              <a:tblPr/>
              <a:tblGrid>
                <a:gridCol w="995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5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15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09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61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수량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단가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금액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기초재고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30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90</a:t>
                      </a: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2,700</a:t>
                      </a:r>
                      <a:endParaRPr kumimoji="0" lang="ko-KR" alt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 입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60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100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6,000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 입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105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10,500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 입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30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120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3,600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합계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220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22,800</a:t>
                      </a: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11178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263283"/>
            <a:ext cx="8711460" cy="5150582"/>
            <a:chOff x="190714" y="1320883"/>
            <a:chExt cx="8711460" cy="5150582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009966"/>
              <a:chOff x="269048" y="1722741"/>
              <a:chExt cx="8648775" cy="5009966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4986266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3"/>
              <a:ext cx="4257230" cy="326948"/>
              <a:chOff x="190714" y="1320889"/>
              <a:chExt cx="3641745" cy="290351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3641745" cy="290351"/>
                <a:chOff x="405822" y="2237753"/>
                <a:chExt cx="3641745" cy="290351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3767179" y="2237753"/>
                  <a:ext cx="280388" cy="26836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54927" y="2237753"/>
                  <a:ext cx="3390661" cy="274857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6-8 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가중평균법</a:t>
                  </a:r>
                  <a:endParaRPr lang="ko-KR" altLang="en-US" sz="1600" b="1" dirty="0"/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66918" y="1690549"/>
            <a:ext cx="7775575" cy="4529275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b="1" dirty="0">
                <a:latin typeface="맑은 고딕" panose="020B0503020000020004" pitchFamily="50" charset="-127"/>
              </a:rPr>
              <a:t>(1) 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계속기록법</a:t>
            </a:r>
            <a:r>
              <a:rPr lang="ko-KR" altLang="en-US" sz="1600" b="1" dirty="0">
                <a:latin typeface="맑은 고딕" panose="020B0503020000020004" pitchFamily="50" charset="-127"/>
              </a:rPr>
              <a:t>－이동평균법</a:t>
            </a: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 dirty="0">
                <a:latin typeface="맑은 고딕" panose="020B0503020000020004" pitchFamily="50" charset="-127"/>
              </a:rPr>
              <a:t>평균단위원가＝</a:t>
            </a:r>
            <a:r>
              <a:rPr lang="en-US" altLang="ko-KR" sz="1600" b="1" dirty="0">
                <a:latin typeface="맑은 고딕" panose="020B0503020000020004" pitchFamily="50" charset="-127"/>
              </a:rPr>
              <a:t>(</a:t>
            </a:r>
            <a:r>
              <a:rPr lang="ko-KR" altLang="en-US" sz="1600" b="1" dirty="0">
                <a:latin typeface="맑은 고딕" panose="020B0503020000020004" pitchFamily="50" charset="-127"/>
              </a:rPr>
              <a:t>￦</a:t>
            </a:r>
            <a:r>
              <a:rPr lang="en-US" altLang="ko-KR" sz="1600" b="1" dirty="0">
                <a:latin typeface="맑은 고딕" panose="020B0503020000020004" pitchFamily="50" charset="-127"/>
              </a:rPr>
              <a:t>2,700</a:t>
            </a:r>
            <a:r>
              <a:rPr lang="ko-KR" altLang="en-US" sz="1600" b="1" dirty="0">
                <a:latin typeface="맑은 고딕" panose="020B0503020000020004" pitchFamily="50" charset="-127"/>
              </a:rPr>
              <a:t>＋</a:t>
            </a:r>
            <a:r>
              <a:rPr lang="en-US" altLang="ko-KR" sz="1600" b="1" dirty="0">
                <a:latin typeface="맑은 고딕" panose="020B0503020000020004" pitchFamily="50" charset="-127"/>
              </a:rPr>
              <a:t>6,000</a:t>
            </a:r>
            <a:r>
              <a:rPr lang="ko-KR" altLang="en-US" sz="1600" b="1" dirty="0">
                <a:latin typeface="맑은 고딕" panose="020B0503020000020004" pitchFamily="50" charset="-127"/>
              </a:rPr>
              <a:t>＋</a:t>
            </a:r>
            <a:r>
              <a:rPr lang="en-US" altLang="ko-KR" sz="1600" b="1" dirty="0">
                <a:latin typeface="맑은 고딕" panose="020B0503020000020004" pitchFamily="50" charset="-127"/>
              </a:rPr>
              <a:t>10,500)÷190</a:t>
            </a: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 dirty="0">
                <a:latin typeface="맑은 고딕" panose="020B0503020000020004" pitchFamily="50" charset="-127"/>
              </a:rPr>
              <a:t>                                        ＝￦</a:t>
            </a:r>
            <a:r>
              <a:rPr lang="en-US" altLang="ko-KR" sz="1600" b="1" dirty="0">
                <a:latin typeface="맑은 고딕" panose="020B0503020000020004" pitchFamily="50" charset="-127"/>
              </a:rPr>
              <a:t>101.05/</a:t>
            </a:r>
            <a:r>
              <a:rPr lang="ko-KR" altLang="en-US" sz="1600" b="1" dirty="0">
                <a:latin typeface="맑은 고딕" panose="020B0503020000020004" pitchFamily="50" charset="-127"/>
              </a:rPr>
              <a:t>개</a:t>
            </a: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b="1" dirty="0">
                <a:latin typeface="맑은 고딕" panose="020B0503020000020004" pitchFamily="50" charset="-127"/>
              </a:rPr>
              <a:t>(2) </a:t>
            </a:r>
            <a:r>
              <a:rPr lang="ko-KR" altLang="en-US" sz="1600" b="1" dirty="0">
                <a:latin typeface="맑은 고딕" panose="020B0503020000020004" pitchFamily="50" charset="-127"/>
              </a:rPr>
              <a:t>실지재고조사법－총평균법</a:t>
            </a: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 dirty="0">
                <a:latin typeface="맑은 고딕" panose="020B0503020000020004" pitchFamily="50" charset="-127"/>
              </a:rPr>
              <a:t>평균단위원가＝￦</a:t>
            </a:r>
            <a:r>
              <a:rPr lang="en-US" altLang="ko-KR" sz="1600" b="1" dirty="0">
                <a:latin typeface="맑은 고딕" panose="020B0503020000020004" pitchFamily="50" charset="-127"/>
              </a:rPr>
              <a:t>22,800÷220</a:t>
            </a:r>
            <a:r>
              <a:rPr lang="ko-KR" altLang="en-US" sz="1600" b="1" dirty="0">
                <a:latin typeface="맑은 고딕" panose="020B0503020000020004" pitchFamily="50" charset="-127"/>
              </a:rPr>
              <a:t>개</a:t>
            </a: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b="1" dirty="0">
                <a:latin typeface="맑은 고딕" panose="020B0503020000020004" pitchFamily="50" charset="-127"/>
              </a:rPr>
              <a:t>            ＝￦</a:t>
            </a:r>
            <a:r>
              <a:rPr lang="en-US" altLang="ko-KR" sz="1600" b="1" dirty="0">
                <a:latin typeface="맑은 고딕" panose="020B0503020000020004" pitchFamily="50" charset="-127"/>
              </a:rPr>
              <a:t>103.64/</a:t>
            </a:r>
            <a:r>
              <a:rPr lang="ko-KR" altLang="en-US" sz="1600" b="1" dirty="0">
                <a:latin typeface="맑은 고딕" panose="020B0503020000020004" pitchFamily="50" charset="-127"/>
              </a:rPr>
              <a:t>개</a:t>
            </a:r>
          </a:p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endParaRPr lang="ko-KR" altLang="en-US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ko-KR" altLang="en-US" sz="1600" b="1" dirty="0">
              <a:latin typeface="맑은 고딕" panose="020B0503020000020004" pitchFamily="50" charset="-127"/>
            </a:endParaRPr>
          </a:p>
        </p:txBody>
      </p:sp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0360093"/>
              </p:ext>
            </p:extLst>
          </p:nvPr>
        </p:nvGraphicFramePr>
        <p:xfrm>
          <a:off x="1546422" y="2578609"/>
          <a:ext cx="6215063" cy="1443532"/>
        </p:xfrm>
        <a:graphic>
          <a:graphicData uri="http://schemas.openxmlformats.org/drawingml/2006/table">
            <a:tbl>
              <a:tblPr/>
              <a:tblGrid>
                <a:gridCol w="186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0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2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0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30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수량</a:t>
                      </a:r>
                    </a:p>
                  </a:txBody>
                  <a:tcPr marL="64770" marR="64770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단가</a:t>
                      </a:r>
                    </a:p>
                  </a:txBody>
                  <a:tcPr marL="64770" marR="64770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금액</a:t>
                      </a:r>
                    </a:p>
                  </a:txBody>
                  <a:tcPr marL="64770" marR="64770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9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기말재고</a:t>
                      </a: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(6</a:t>
                      </a: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0" lang="ko-KR" alt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20</a:t>
                      </a:r>
                    </a:p>
                  </a:txBody>
                  <a:tcPr marL="64770" marR="64770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101.05</a:t>
                      </a: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2,021</a:t>
                      </a: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9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매출원가</a:t>
                      </a:r>
                    </a:p>
                  </a:txBody>
                  <a:tcPr marL="64770" marR="64770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170</a:t>
                      </a:r>
                    </a:p>
                  </a:txBody>
                  <a:tcPr marL="64770" marR="64770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101.05</a:t>
                      </a:r>
                    </a:p>
                  </a:txBody>
                  <a:tcPr marL="64770" marR="64770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17,179</a:t>
                      </a:r>
                    </a:p>
                  </a:txBody>
                  <a:tcPr marL="64770" marR="64770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98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￦</a:t>
                      </a: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19,200</a:t>
                      </a: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7" name="표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991838"/>
              </p:ext>
            </p:extLst>
          </p:nvPr>
        </p:nvGraphicFramePr>
        <p:xfrm>
          <a:off x="1500188" y="4933950"/>
          <a:ext cx="6215062" cy="1476374"/>
        </p:xfrm>
        <a:graphic>
          <a:graphicData uri="http://schemas.openxmlformats.org/drawingml/2006/table">
            <a:tbl>
              <a:tblPr/>
              <a:tblGrid>
                <a:gridCol w="191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1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3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1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30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수량</a:t>
                      </a:r>
                    </a:p>
                  </a:txBody>
                  <a:tcPr marL="64770" marR="64770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단가</a:t>
                      </a:r>
                    </a:p>
                  </a:txBody>
                  <a:tcPr marL="64770" marR="64770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금액</a:t>
                      </a:r>
                    </a:p>
                  </a:txBody>
                  <a:tcPr marL="64770" marR="64770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기말재고</a:t>
                      </a:r>
                    </a:p>
                  </a:txBody>
                  <a:tcPr marL="64770" marR="64770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50</a:t>
                      </a:r>
                    </a:p>
                  </a:txBody>
                  <a:tcPr marL="64770" marR="64770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103.64</a:t>
                      </a: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5,182</a:t>
                      </a: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매출원가</a:t>
                      </a:r>
                    </a:p>
                  </a:txBody>
                  <a:tcPr marL="64770" marR="64770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170</a:t>
                      </a:r>
                    </a:p>
                  </a:txBody>
                  <a:tcPr marL="64770" marR="64770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103.64</a:t>
                      </a:r>
                    </a:p>
                  </a:txBody>
                  <a:tcPr marL="64770" marR="64770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17,618</a:t>
                      </a:r>
                    </a:p>
                  </a:txBody>
                  <a:tcPr marL="64770" marR="64770" marT="17912" marB="179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5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￦</a:t>
                      </a:r>
                      <a:r>
                        <a:rPr kumimoji="0" lang="en-US" altLang="ko-KR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22,800</a:t>
                      </a:r>
                      <a:endParaRPr kumimoji="0" lang="ko-KR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12" marB="17912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369559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190714" y="1468970"/>
            <a:ext cx="8641369" cy="5043947"/>
            <a:chOff x="257473" y="1421345"/>
            <a:chExt cx="8641369" cy="5043947"/>
          </a:xfrm>
        </p:grpSpPr>
        <p:sp>
          <p:nvSpPr>
            <p:cNvPr id="7" name="Rectangle 15"/>
            <p:cNvSpPr>
              <a:spLocks noChangeArrowheads="1"/>
            </p:cNvSpPr>
            <p:nvPr/>
          </p:nvSpPr>
          <p:spPr bwMode="auto">
            <a:xfrm>
              <a:off x="257473" y="1801408"/>
              <a:ext cx="8641369" cy="4663884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t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latinLnBrk="0">
                <a:lnSpc>
                  <a:spcPts val="2400"/>
                </a:lnSpc>
                <a:buNone/>
                <a:defRPr/>
              </a:pPr>
              <a:r>
                <a:rPr lang="ko-KR" altLang="en-US" sz="1600" b="1" dirty="0" err="1">
                  <a:latin typeface="+mn-ea"/>
                </a:rPr>
                <a:t>물가상승시</a:t>
              </a:r>
              <a:r>
                <a:rPr lang="ko-KR" altLang="en-US" sz="1600" dirty="0">
                  <a:latin typeface="+mn-ea"/>
                </a:rPr>
                <a:t> 원가흐름의 가정이 재무제표에 미치는 영향</a:t>
              </a:r>
              <a:r>
                <a:rPr lang="en-US" altLang="ko-KR" sz="1600" dirty="0">
                  <a:latin typeface="+mn-ea"/>
                </a:rPr>
                <a:t>(</a:t>
              </a:r>
              <a:r>
                <a:rPr lang="ko-KR" altLang="en-US" sz="1600" dirty="0">
                  <a:latin typeface="+mn-ea"/>
                </a:rPr>
                <a:t>물가하락시라면 영향이 반대로 나타남</a:t>
              </a:r>
              <a:r>
                <a:rPr lang="en-US" altLang="ko-KR" sz="1600" dirty="0">
                  <a:latin typeface="+mn-ea"/>
                </a:rPr>
                <a:t>)</a:t>
              </a:r>
            </a:p>
            <a:p>
              <a:pPr algn="just" latinLnBrk="0">
                <a:lnSpc>
                  <a:spcPts val="2400"/>
                </a:lnSpc>
                <a:buNone/>
                <a:defRPr/>
              </a:pPr>
              <a:endParaRPr lang="en-US" altLang="ko-KR" sz="1800" dirty="0">
                <a:latin typeface="맑은 고딕" pitchFamily="50" charset="-127"/>
              </a:endParaRPr>
            </a:p>
            <a:p>
              <a:pPr algn="just" latinLnBrk="0">
                <a:lnSpc>
                  <a:spcPts val="2400"/>
                </a:lnSpc>
                <a:buNone/>
                <a:defRPr/>
              </a:pPr>
              <a:endParaRPr lang="en-US" altLang="ko-KR" sz="1800" dirty="0">
                <a:latin typeface="맑은 고딕" pitchFamily="50" charset="-127"/>
              </a:endParaRPr>
            </a:p>
            <a:p>
              <a:pPr algn="just" latinLnBrk="0">
                <a:lnSpc>
                  <a:spcPts val="2400"/>
                </a:lnSpc>
                <a:buNone/>
                <a:defRPr/>
              </a:pPr>
              <a:endParaRPr lang="en-US" altLang="ko-KR" sz="1800" dirty="0">
                <a:latin typeface="맑은 고딕" pitchFamily="50" charset="-127"/>
              </a:endParaRPr>
            </a:p>
            <a:p>
              <a:pPr algn="just" latinLnBrk="0">
                <a:lnSpc>
                  <a:spcPts val="2400"/>
                </a:lnSpc>
                <a:buNone/>
                <a:defRPr/>
              </a:pPr>
              <a:endParaRPr lang="en-US" altLang="ko-KR" sz="1800" dirty="0">
                <a:latin typeface="맑은 고딕" pitchFamily="50" charset="-127"/>
              </a:endParaRPr>
            </a:p>
            <a:p>
              <a:pPr algn="just" latinLnBrk="0">
                <a:lnSpc>
                  <a:spcPts val="2400"/>
                </a:lnSpc>
                <a:buNone/>
                <a:defRPr/>
              </a:pPr>
              <a:endParaRPr lang="en-US" altLang="ko-KR" sz="1600" dirty="0">
                <a:latin typeface="맑은 고딕" pitchFamily="50" charset="-127"/>
              </a:endParaRPr>
            </a:p>
            <a:p>
              <a:pPr algn="just" latinLnBrk="0">
                <a:lnSpc>
                  <a:spcPts val="2400"/>
                </a:lnSpc>
                <a:buNone/>
                <a:defRPr/>
              </a:pPr>
              <a:endParaRPr lang="en-US" altLang="ko-KR" sz="1600" dirty="0">
                <a:latin typeface="맑은 고딕" pitchFamily="50" charset="-127"/>
              </a:endParaRPr>
            </a:p>
            <a:p>
              <a:pPr marL="288000" indent="-288000" algn="just" eaLnBrk="0" latinLnBrk="0" hangingPunct="0">
                <a:lnSpc>
                  <a:spcPts val="2400"/>
                </a:lnSpc>
                <a:buNone/>
                <a:defRPr/>
              </a:pPr>
              <a:r>
                <a:rPr lang="ko-KR" altLang="en-US" sz="1600" dirty="0">
                  <a:latin typeface="맑은 고딕" pitchFamily="50" charset="-127"/>
                </a:rPr>
                <a:t>① 선입선출법을 사용하는 경우에는 실지재고조사법과 계속기록법의 결과가 동일</a:t>
              </a:r>
              <a:endParaRPr lang="en-US" altLang="ko-KR" sz="1600" dirty="0">
                <a:latin typeface="맑은 고딕" pitchFamily="50" charset="-127"/>
              </a:endParaRPr>
            </a:p>
            <a:p>
              <a:pPr marL="288000" indent="-288000" eaLnBrk="0" latinLnBrk="0" hangingPunct="0">
                <a:lnSpc>
                  <a:spcPts val="2400"/>
                </a:lnSpc>
                <a:buNone/>
                <a:defRPr/>
              </a:pPr>
              <a:r>
                <a:rPr lang="ko-KR" altLang="en-US" sz="1600" dirty="0">
                  <a:latin typeface="맑은 고딕" pitchFamily="50" charset="-127"/>
                </a:rPr>
                <a:t>② </a:t>
              </a:r>
              <a:r>
                <a:rPr lang="ko-KR" altLang="en-US" sz="1600" dirty="0" err="1">
                  <a:latin typeface="맑은 고딕" pitchFamily="50" charset="-127"/>
                </a:rPr>
                <a:t>후입선출법과</a:t>
              </a:r>
              <a:r>
                <a:rPr lang="ko-KR" altLang="en-US" sz="1600" dirty="0">
                  <a:latin typeface="맑은 고딕" pitchFamily="50" charset="-127"/>
                </a:rPr>
                <a:t> 가중평균법을 사용하는 경우에는 실지재고조사법과 계속기록법하에서의 재고재산과 매출원가에 배분되는 금액이 달라짐</a:t>
              </a:r>
            </a:p>
          </p:txBody>
        </p:sp>
        <p:grpSp>
          <p:nvGrpSpPr>
            <p:cNvPr id="2" name="그룹 1"/>
            <p:cNvGrpSpPr/>
            <p:nvPr/>
          </p:nvGrpSpPr>
          <p:grpSpPr>
            <a:xfrm>
              <a:off x="257473" y="1421345"/>
              <a:ext cx="7520829" cy="349273"/>
              <a:chOff x="257473" y="1421345"/>
              <a:chExt cx="7520829" cy="349273"/>
            </a:xfrm>
          </p:grpSpPr>
          <p:sp>
            <p:nvSpPr>
              <p:cNvPr id="29" name="Rectangle 14"/>
              <p:cNvSpPr>
                <a:spLocks noChangeArrowheads="1"/>
              </p:cNvSpPr>
              <p:nvPr/>
            </p:nvSpPr>
            <p:spPr bwMode="auto">
              <a:xfrm>
                <a:off x="468953" y="1421345"/>
                <a:ext cx="7309349" cy="3238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74608" tIns="37301" rIns="74608" bIns="37301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r>
                  <a:rPr lang="ko-KR" altLang="en-US" sz="1800" b="1" dirty="0">
                    <a:latin typeface="맑은 고딕" panose="020B0503020000020004" pitchFamily="50" charset="-127"/>
                  </a:rPr>
                  <a:t>원가흐름 가정의 비교</a:t>
                </a:r>
                <a:endPara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8" name="직사각형 37"/>
              <p:cNvSpPr/>
              <p:nvPr/>
            </p:nvSpPr>
            <p:spPr>
              <a:xfrm>
                <a:off x="257473" y="1451539"/>
                <a:ext cx="211480" cy="319079"/>
              </a:xfrm>
              <a:prstGeom prst="rect">
                <a:avLst/>
              </a:prstGeom>
              <a:ln/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6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  <a:endParaRPr lang="ko-KR" altLang="en-US" sz="1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053601"/>
              </p:ext>
            </p:extLst>
          </p:nvPr>
        </p:nvGraphicFramePr>
        <p:xfrm>
          <a:off x="1335966" y="3018361"/>
          <a:ext cx="5057529" cy="1476374"/>
        </p:xfrm>
        <a:graphic>
          <a:graphicData uri="http://schemas.openxmlformats.org/drawingml/2006/table">
            <a:tbl>
              <a:tblPr/>
              <a:tblGrid>
                <a:gridCol w="147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5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0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재무제표 항목</a:t>
                      </a:r>
                    </a:p>
                  </a:txBody>
                  <a:tcPr marL="17907" marR="17907" marT="17912" marB="17912" anchor="ctr">
                    <a:lnL>
                      <a:noFill/>
                    </a:lnL>
                    <a:lnR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원가흐름의 가정에 따른 크기</a:t>
                      </a:r>
                    </a:p>
                  </a:txBody>
                  <a:tcPr marL="17907" marR="17907" marT="17912" marB="17912" anchor="ctr">
                    <a:lnL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기말재고</a:t>
                      </a:r>
                    </a:p>
                  </a:txBody>
                  <a:tcPr marL="17907" marR="17907" marT="17912" marB="17912" anchor="ctr">
                    <a:lnL>
                      <a:noFill/>
                    </a:lnL>
                    <a:lnR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선입선출법＞가중평균법＞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후입선출법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17912" marB="17912" anchor="ctr">
                    <a:lnL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매출원가</a:t>
                      </a:r>
                    </a:p>
                  </a:txBody>
                  <a:tcPr marL="17907" marR="17907" marT="17912" marB="17912" anchor="ctr">
                    <a:lnL>
                      <a:noFill/>
                    </a:lnL>
                    <a:lnR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선입선출법＜가중평균법＜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후입선출법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17912" marB="17912" anchor="ctr">
                    <a:lnL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9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당기순이익</a:t>
                      </a:r>
                    </a:p>
                  </a:txBody>
                  <a:tcPr marL="17907" marR="17907" marT="17912" marB="17912" anchor="ctr">
                    <a:lnL>
                      <a:noFill/>
                    </a:lnL>
                    <a:lnR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500" b="1" dirty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선입선출법＞가중평균법＞</a:t>
                      </a:r>
                      <a:r>
                        <a:rPr lang="ko-KR" altLang="en-US" sz="1500" b="1" dirty="0" err="1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후입선출법</a:t>
                      </a:r>
                      <a:endParaRPr lang="ko-KR" altLang="en-US" sz="1500" b="1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7907" marR="17907" marT="17912" marB="17912" anchor="ctr">
                    <a:lnL w="14351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9" name="그룹 18"/>
          <p:cNvGrpSpPr/>
          <p:nvPr/>
        </p:nvGrpSpPr>
        <p:grpSpPr>
          <a:xfrm>
            <a:off x="484354" y="2626369"/>
            <a:ext cx="8308626" cy="338554"/>
            <a:chOff x="1287462" y="4738439"/>
            <a:chExt cx="8308626" cy="338554"/>
          </a:xfrm>
        </p:grpSpPr>
        <p:sp>
          <p:nvSpPr>
            <p:cNvPr id="20" name="오각형 19"/>
            <p:cNvSpPr/>
            <p:nvPr/>
          </p:nvSpPr>
          <p:spPr>
            <a:xfrm>
              <a:off x="1287462" y="4807765"/>
              <a:ext cx="792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표 </a:t>
              </a:r>
              <a:r>
                <a:rPr lang="en-US" altLang="ko-KR" sz="1400" b="1" dirty="0"/>
                <a:t>4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079461" y="4738439"/>
              <a:ext cx="75166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 err="1">
                  <a:latin typeface="맑은 고딕" panose="020B0503020000020004" pitchFamily="50" charset="-127"/>
                </a:rPr>
                <a:t>물가상승시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 </a:t>
              </a:r>
              <a:r>
                <a:rPr lang="ko-KR" altLang="en-US" sz="1600" b="1" dirty="0" err="1">
                  <a:latin typeface="맑은 고딕" panose="020B0503020000020004" pitchFamily="50" charset="-127"/>
                </a:rPr>
                <a:t>원가흐름의</a:t>
              </a:r>
              <a:r>
                <a:rPr lang="ko-KR" altLang="en-US" sz="1600" b="1" dirty="0">
                  <a:latin typeface="맑은 고딕" panose="020B0503020000020004" pitchFamily="50" charset="-127"/>
                </a:rPr>
                <a:t> 가정이 재무제표에 미치는 영향</a:t>
              </a: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15186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263283"/>
            <a:ext cx="8711460" cy="5150582"/>
            <a:chOff x="190714" y="1320883"/>
            <a:chExt cx="8711460" cy="5150582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009966"/>
              <a:chOff x="269048" y="1722741"/>
              <a:chExt cx="8648775" cy="5009966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4986266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3"/>
              <a:ext cx="4257230" cy="326948"/>
              <a:chOff x="190714" y="1320889"/>
              <a:chExt cx="3641745" cy="290351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3641745" cy="290351"/>
                <a:chOff x="405822" y="2237753"/>
                <a:chExt cx="3641745" cy="290351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3767179" y="2237753"/>
                  <a:ext cx="280388" cy="26836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54927" y="2237753"/>
                  <a:ext cx="3390661" cy="274857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6-9 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재고자산에 대한 회계처리</a:t>
                  </a:r>
                  <a:endParaRPr lang="ko-KR" altLang="en-US" sz="1600" b="1" dirty="0"/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66918" y="1690549"/>
            <a:ext cx="7775575" cy="4529275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ko-KR" sz="1600" b="1" dirty="0">
                <a:latin typeface="맑은 고딕" panose="020B0503020000020004" pitchFamily="50" charset="-127"/>
              </a:rPr>
              <a:t>(</a:t>
            </a:r>
            <a:r>
              <a:rPr lang="ko-KR" altLang="en-US" sz="1600" b="1" dirty="0">
                <a:latin typeface="맑은 고딕" panose="020B0503020000020004" pitchFamily="50" charset="-127"/>
              </a:rPr>
              <a:t>주</a:t>
            </a:r>
            <a:r>
              <a:rPr lang="en-US" altLang="ko-KR" sz="1600" b="1" dirty="0">
                <a:latin typeface="맑은 고딕" panose="020B0503020000020004" pitchFamily="50" charset="-127"/>
              </a:rPr>
              <a:t>)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펄어비스의</a:t>
            </a:r>
            <a:r>
              <a:rPr lang="ko-KR" altLang="en-US" sz="1600" b="1" dirty="0">
                <a:latin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</a:rPr>
              <a:t>20×1</a:t>
            </a:r>
            <a:r>
              <a:rPr lang="ko-KR" altLang="en-US" sz="1600" b="1" dirty="0">
                <a:latin typeface="맑은 고딕" panose="020B0503020000020004" pitchFamily="50" charset="-127"/>
              </a:rPr>
              <a:t>년 기초재고와 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당기매입은</a:t>
            </a:r>
            <a:r>
              <a:rPr lang="ko-KR" altLang="en-US" sz="1600" b="1" dirty="0">
                <a:latin typeface="맑은 고딕" panose="020B0503020000020004" pitchFamily="50" charset="-127"/>
              </a:rPr>
              <a:t> 다음의 표와 같다</a:t>
            </a:r>
            <a:r>
              <a:rPr lang="en-US" altLang="ko-KR" sz="1600" b="1" dirty="0">
                <a:latin typeface="맑은 고딕" panose="020B0503020000020004" pitchFamily="50" charset="-127"/>
              </a:rPr>
              <a:t>. 6</a:t>
            </a:r>
            <a:r>
              <a:rPr lang="ko-KR" altLang="en-US" sz="1600" b="1" dirty="0">
                <a:latin typeface="맑은 고딕" panose="020B0503020000020004" pitchFamily="50" charset="-127"/>
              </a:rPr>
              <a:t>월 </a:t>
            </a:r>
            <a:r>
              <a:rPr lang="en-US" altLang="ko-KR" sz="1600" b="1" dirty="0">
                <a:latin typeface="맑은 고딕" panose="020B0503020000020004" pitchFamily="50" charset="-127"/>
              </a:rPr>
              <a:t>3</a:t>
            </a:r>
            <a:r>
              <a:rPr lang="ko-KR" altLang="en-US" sz="1600" b="1" dirty="0">
                <a:latin typeface="맑은 고딕" panose="020B0503020000020004" pitchFamily="50" charset="-127"/>
              </a:rPr>
              <a:t>일 </a:t>
            </a:r>
            <a:r>
              <a:rPr lang="en-US" altLang="ko-KR" sz="1600" b="1" dirty="0">
                <a:latin typeface="맑은 고딕" panose="020B0503020000020004" pitchFamily="50" charset="-127"/>
              </a:rPr>
              <a:t>2,000</a:t>
            </a:r>
            <a:r>
              <a:rPr lang="ko-KR" altLang="en-US" sz="1600" b="1" dirty="0">
                <a:latin typeface="맑은 고딕" panose="020B0503020000020004" pitchFamily="50" charset="-127"/>
              </a:rPr>
              <a:t>개의 상품을 개당 ￦</a:t>
            </a:r>
            <a:r>
              <a:rPr lang="en-US" altLang="ko-KR" sz="1600" b="1" dirty="0">
                <a:latin typeface="맑은 고딕" panose="020B0503020000020004" pitchFamily="50" charset="-127"/>
              </a:rPr>
              <a:t>1,200</a:t>
            </a:r>
            <a:r>
              <a:rPr lang="ko-KR" altLang="en-US" sz="1600" b="1" dirty="0">
                <a:latin typeface="맑은 고딕" panose="020B0503020000020004" pitchFamily="50" charset="-127"/>
              </a:rPr>
              <a:t>에 판매했으며</a:t>
            </a:r>
            <a:r>
              <a:rPr lang="en-US" altLang="ko-KR" sz="1600" b="1" dirty="0">
                <a:latin typeface="맑은 고딕" panose="020B0503020000020004" pitchFamily="50" charset="-127"/>
              </a:rPr>
              <a:t>, </a:t>
            </a:r>
            <a:r>
              <a:rPr lang="ko-KR" altLang="en-US" sz="1600" b="1" dirty="0">
                <a:latin typeface="맑은 고딕" panose="020B0503020000020004" pitchFamily="50" charset="-127"/>
              </a:rPr>
              <a:t>기말 창고실사 결과 </a:t>
            </a:r>
            <a:r>
              <a:rPr lang="en-US" altLang="ko-KR" sz="1600" b="1" dirty="0">
                <a:latin typeface="맑은 고딕" panose="020B0503020000020004" pitchFamily="50" charset="-127"/>
              </a:rPr>
              <a:t>1,200</a:t>
            </a:r>
            <a:r>
              <a:rPr lang="ko-KR" altLang="en-US" sz="1600" b="1" dirty="0">
                <a:latin typeface="맑은 고딕" panose="020B0503020000020004" pitchFamily="50" charset="-127"/>
              </a:rPr>
              <a:t>개의 상품이 남아 있었다</a:t>
            </a:r>
            <a:r>
              <a:rPr lang="en-US" altLang="ko-KR" sz="1600" b="1" dirty="0">
                <a:latin typeface="맑은 고딕" panose="020B0503020000020004" pitchFamily="50" charset="-127"/>
              </a:rPr>
              <a:t>. </a:t>
            </a:r>
            <a:r>
              <a:rPr lang="ko-KR" altLang="en-US" sz="1600" b="1" dirty="0">
                <a:latin typeface="맑은 고딕" panose="020B0503020000020004" pitchFamily="50" charset="-127"/>
              </a:rPr>
              <a:t>매입과 매출은 현금거래를 가정한다</a:t>
            </a:r>
            <a:r>
              <a:rPr lang="en-US" altLang="ko-KR" sz="1600" b="1" dirty="0">
                <a:latin typeface="맑은 고딕" panose="020B0503020000020004" pitchFamily="50" charset="-127"/>
              </a:rPr>
              <a:t>. </a:t>
            </a:r>
            <a:r>
              <a:rPr lang="ko-KR" altLang="en-US" sz="1600" b="1" dirty="0">
                <a:latin typeface="맑은 고딕" panose="020B0503020000020004" pitchFamily="50" charset="-127"/>
              </a:rPr>
              <a:t>단위원가 결정방법으로 선입선출법을 사용한다</a:t>
            </a:r>
            <a:r>
              <a:rPr lang="en-US" altLang="ko-KR" sz="1600" b="1" dirty="0">
                <a:latin typeface="맑은 고딕" panose="020B0503020000020004" pitchFamily="50" charset="-127"/>
              </a:rPr>
              <a:t>. </a:t>
            </a:r>
          </a:p>
          <a:p>
            <a:pPr algn="just"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just"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just"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just"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just"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just"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just"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just"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just"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just"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r>
              <a:rPr lang="ko-KR" altLang="en-US" sz="1600" dirty="0" err="1">
                <a:latin typeface="맑은 고딕" panose="020B0503020000020004" pitchFamily="50" charset="-127"/>
              </a:rPr>
              <a:t>계속기록법과</a:t>
            </a:r>
            <a:r>
              <a:rPr lang="ko-KR" altLang="en-US" sz="1600" dirty="0">
                <a:latin typeface="맑은 고딕" panose="020B0503020000020004" pitchFamily="50" charset="-127"/>
              </a:rPr>
              <a:t> 실지재고조사법을 사용하는 경우 각각의 기말재고와 매출원가를 구하고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분개하라</a:t>
            </a:r>
            <a:r>
              <a:rPr lang="en-US" altLang="ko-KR" sz="1600" dirty="0">
                <a:latin typeface="맑은 고딕" panose="020B0503020000020004" pitchFamily="50" charset="-127"/>
              </a:rPr>
              <a:t>.</a:t>
            </a: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spcBef>
                <a:spcPct val="0"/>
              </a:spcBef>
              <a:buClrTx/>
              <a:buSzTx/>
              <a:buFontTx/>
              <a:buNone/>
            </a:pPr>
            <a:endParaRPr lang="ko-KR" altLang="en-US" sz="1600" b="1" dirty="0">
              <a:latin typeface="맑은 고딕" panose="020B0503020000020004" pitchFamily="50" charset="-127"/>
            </a:endParaRPr>
          </a:p>
          <a:p>
            <a:pPr algn="ctr" latinLnBrk="0">
              <a:spcBef>
                <a:spcPct val="0"/>
              </a:spcBef>
              <a:buClrTx/>
              <a:buSzTx/>
              <a:buFontTx/>
              <a:buNone/>
            </a:pPr>
            <a:endParaRPr lang="en-US" altLang="ko-KR" sz="1600" b="1" dirty="0">
              <a:latin typeface="맑은 고딕" panose="020B0503020000020004" pitchFamily="50" charset="-127"/>
            </a:endParaRPr>
          </a:p>
        </p:txBody>
      </p:sp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9907"/>
              </p:ext>
            </p:extLst>
          </p:nvPr>
        </p:nvGraphicFramePr>
        <p:xfrm>
          <a:off x="1285875" y="2928938"/>
          <a:ext cx="6715125" cy="1843088"/>
        </p:xfrm>
        <a:graphic>
          <a:graphicData uri="http://schemas.openxmlformats.org/drawingml/2006/table">
            <a:tbl>
              <a:tblPr/>
              <a:tblGrid>
                <a:gridCol w="97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6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09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37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6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284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896" marB="17896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7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896" marB="17896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수량</a:t>
                      </a:r>
                    </a:p>
                  </a:txBody>
                  <a:tcPr marL="64770" marR="64770" marT="17896" marB="17896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단가</a:t>
                      </a:r>
                    </a:p>
                  </a:txBody>
                  <a:tcPr marL="64770" marR="64770" marT="17896" marB="17896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금액</a:t>
                      </a:r>
                    </a:p>
                  </a:txBody>
                  <a:tcPr marL="64770" marR="64770" marT="17896" marB="17896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951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64770" marR="64770" marT="17896" marB="17896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기초재고</a:t>
                      </a:r>
                    </a:p>
                  </a:txBody>
                  <a:tcPr marL="64770" marR="64770" marT="17896" marB="17896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400</a:t>
                      </a:r>
                    </a:p>
                  </a:txBody>
                  <a:tcPr marL="64770" marR="64770" marT="17896" marB="17896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600</a:t>
                      </a: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896" marB="17896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240,000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896" marB="17896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951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64770" marR="64770" marT="17896" marB="1789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 입</a:t>
                      </a:r>
                    </a:p>
                  </a:txBody>
                  <a:tcPr marL="64770" marR="64770" marT="17896" marB="1789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1,800</a:t>
                      </a:r>
                    </a:p>
                  </a:txBody>
                  <a:tcPr marL="64770" marR="64770" marT="17896" marB="1789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800</a:t>
                      </a:r>
                    </a:p>
                  </a:txBody>
                  <a:tcPr marL="64770" marR="64770" marT="17896" marB="1789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1,440,000</a:t>
                      </a:r>
                    </a:p>
                  </a:txBody>
                  <a:tcPr marL="64770" marR="64770" marT="17896" marB="1789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951"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</a:p>
                  </a:txBody>
                  <a:tcPr marL="64770" marR="64770" marT="17896" marB="1789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 입</a:t>
                      </a:r>
                    </a:p>
                  </a:txBody>
                  <a:tcPr marL="64770" marR="64770" marT="17896" marB="1789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1,000</a:t>
                      </a:r>
                    </a:p>
                  </a:txBody>
                  <a:tcPr marL="64770" marR="64770" marT="17896" marB="1789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1,000</a:t>
                      </a:r>
                    </a:p>
                  </a:txBody>
                  <a:tcPr marL="64770" marR="64770" marT="17896" marB="1789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1,000,000</a:t>
                      </a:r>
                    </a:p>
                  </a:txBody>
                  <a:tcPr marL="64770" marR="64770" marT="17896" marB="17896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9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합계</a:t>
                      </a:r>
                    </a:p>
                  </a:txBody>
                  <a:tcPr marL="64770" marR="64770" marT="17896" marB="17896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896" marB="17896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896" marB="17896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896" marB="17896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0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2,680,000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64770" marT="17896" marB="17896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84164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263283"/>
            <a:ext cx="8711460" cy="5150582"/>
            <a:chOff x="190714" y="1320883"/>
            <a:chExt cx="8711460" cy="5150582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009966"/>
              <a:chOff x="269048" y="1722741"/>
              <a:chExt cx="8648775" cy="5009966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4986266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3"/>
              <a:ext cx="4257230" cy="326948"/>
              <a:chOff x="190714" y="1320889"/>
              <a:chExt cx="3641745" cy="290351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3641745" cy="290351"/>
                <a:chOff x="405822" y="2237753"/>
                <a:chExt cx="3641745" cy="290351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3767179" y="2237753"/>
                  <a:ext cx="280388" cy="26836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54927" y="2237753"/>
                  <a:ext cx="3390661" cy="274857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6-9 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재고자산에 대한 회계처리</a:t>
                  </a:r>
                  <a:endParaRPr lang="ko-KR" altLang="en-US" sz="1600" b="1" dirty="0"/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578205" y="1692681"/>
            <a:ext cx="8237611" cy="4443551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 eaLnBrk="0" latinLnBrk="0" hangingPunct="0">
              <a:buFontTx/>
              <a:buAutoNum type="arabicParenBoth"/>
              <a:defRPr/>
            </a:pPr>
            <a:r>
              <a:rPr lang="ko-KR" altLang="en-US" sz="1600" b="1" dirty="0" err="1">
                <a:solidFill>
                  <a:srgbClr val="000000"/>
                </a:solidFill>
                <a:latin typeface="맑은 고딕" pitchFamily="50" charset="-127"/>
              </a:rPr>
              <a:t>계속기록법</a:t>
            </a: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marL="342900" indent="-342900" algn="just" eaLnBrk="0" latinLnBrk="0" hangingPunct="0">
              <a:buFontTx/>
              <a:buAutoNum type="arabicParenBoth"/>
              <a:defRPr/>
            </a:pPr>
            <a:endParaRPr lang="en-US" altLang="ko-KR" sz="1600" dirty="0">
              <a:solidFill>
                <a:srgbClr val="000000"/>
              </a:solidFill>
              <a:latin typeface="맑은 고딕" pitchFamily="50" charset="-127"/>
            </a:endParaRPr>
          </a:p>
          <a:p>
            <a:pPr marL="342900" indent="-342900" algn="just" eaLnBrk="0" latinLnBrk="0" hangingPunct="0">
              <a:defRPr/>
            </a:pP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          매출원가＝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400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개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×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￦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600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＋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1,600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개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×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￦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800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＝￦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1,520,000</a:t>
            </a:r>
          </a:p>
          <a:p>
            <a:pPr marL="342900" indent="-342900" algn="just" eaLnBrk="0" latinLnBrk="0" hangingPunct="0">
              <a:defRPr/>
            </a:pP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          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기말재고＝판매가능재고자산－매출원가</a:t>
            </a:r>
          </a:p>
          <a:p>
            <a:pPr algn="ctr" eaLnBrk="0" latinLnBrk="0" hangingPunct="0">
              <a:defRPr/>
            </a:pP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                ＝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(400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개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×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￦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600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＋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1,800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개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×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￦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800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＋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1,000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개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×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￦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1,000)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－￦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1,520,000</a:t>
            </a:r>
          </a:p>
          <a:p>
            <a:pPr eaLnBrk="0" latinLnBrk="0" hangingPunct="0">
              <a:defRPr/>
            </a:pP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                     ＝￦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1,160,000</a:t>
            </a:r>
          </a:p>
          <a:p>
            <a:pPr eaLnBrk="0" latinLnBrk="0" hangingPunct="0">
              <a:defRPr/>
            </a:pPr>
            <a:endParaRPr lang="en-US" altLang="ko-KR" sz="1600" dirty="0">
              <a:solidFill>
                <a:srgbClr val="000000"/>
              </a:solidFill>
              <a:latin typeface="맑은 고딕" pitchFamily="50" charset="-127"/>
            </a:endParaRPr>
          </a:p>
          <a:p>
            <a:pPr eaLnBrk="0" latinLnBrk="0" hangingPunct="0">
              <a:defRPr/>
            </a:pPr>
            <a:r>
              <a:rPr lang="en-US" altLang="ko-KR" sz="1600" dirty="0">
                <a:latin typeface="맑은 고딕" panose="020B0503020000020004" pitchFamily="50" charset="-127"/>
              </a:rPr>
              <a:t>4/6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(</a:t>
            </a:r>
            <a:r>
              <a:rPr lang="ko-KR" altLang="en-US" sz="1600" b="1" dirty="0">
                <a:latin typeface="맑은 고딕" panose="020B0503020000020004" pitchFamily="50" charset="-127"/>
              </a:rPr>
              <a:t>차</a:t>
            </a:r>
            <a:r>
              <a:rPr lang="en-US" altLang="ko-KR" sz="1600" b="1" dirty="0">
                <a:latin typeface="맑은 고딕" panose="020B0503020000020004" pitchFamily="50" charset="-127"/>
              </a:rPr>
              <a:t>) </a:t>
            </a:r>
            <a:r>
              <a:rPr lang="ko-KR" altLang="en-US" sz="1600" b="1" dirty="0">
                <a:latin typeface="맑은 고딕" panose="020B0503020000020004" pitchFamily="50" charset="-127"/>
              </a:rPr>
              <a:t>상  품                   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1,440,000    (</a:t>
            </a:r>
            <a:r>
              <a:rPr lang="ko-KR" altLang="en-US" sz="1600" b="1" dirty="0">
                <a:latin typeface="맑은 고딕" panose="020B0503020000020004" pitchFamily="50" charset="-127"/>
              </a:rPr>
              <a:t>대</a:t>
            </a:r>
            <a:r>
              <a:rPr lang="en-US" altLang="ko-KR" sz="1600" b="1" dirty="0">
                <a:latin typeface="맑은 고딕" panose="020B0503020000020004" pitchFamily="50" charset="-127"/>
              </a:rPr>
              <a:t>) </a:t>
            </a:r>
            <a:r>
              <a:rPr lang="ko-KR" altLang="en-US" sz="1600" b="1" dirty="0">
                <a:latin typeface="맑은 고딕" panose="020B0503020000020004" pitchFamily="50" charset="-127"/>
              </a:rPr>
              <a:t>현  금                    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1,440,000</a:t>
            </a:r>
          </a:p>
          <a:p>
            <a:pPr eaLnBrk="0" latinLnBrk="0" hangingPunct="0">
              <a:defRPr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eaLnBrk="0" latinLnBrk="0" hangingPunct="0">
              <a:defRPr/>
            </a:pPr>
            <a:r>
              <a:rPr lang="en-US" altLang="ko-KR" sz="1600" dirty="0">
                <a:latin typeface="맑은 고딕" panose="020B0503020000020004" pitchFamily="50" charset="-127"/>
              </a:rPr>
              <a:t>6/3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(</a:t>
            </a:r>
            <a:r>
              <a:rPr lang="ko-KR" altLang="en-US" sz="1600" b="1" dirty="0">
                <a:latin typeface="맑은 고딕" panose="020B0503020000020004" pitchFamily="50" charset="-127"/>
              </a:rPr>
              <a:t>차</a:t>
            </a:r>
            <a:r>
              <a:rPr lang="en-US" altLang="ko-KR" sz="1600" b="1" dirty="0">
                <a:latin typeface="맑은 고딕" panose="020B0503020000020004" pitchFamily="50" charset="-127"/>
              </a:rPr>
              <a:t>) </a:t>
            </a:r>
            <a:r>
              <a:rPr lang="ko-KR" altLang="en-US" sz="1600" b="1" dirty="0">
                <a:latin typeface="맑은 고딕" panose="020B0503020000020004" pitchFamily="50" charset="-127"/>
              </a:rPr>
              <a:t>현   금                  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2,400,000    (</a:t>
            </a:r>
            <a:r>
              <a:rPr lang="ko-KR" altLang="en-US" sz="1600" b="1" dirty="0">
                <a:latin typeface="맑은 고딕" panose="020B0503020000020004" pitchFamily="50" charset="-127"/>
              </a:rPr>
              <a:t>대</a:t>
            </a:r>
            <a:r>
              <a:rPr lang="en-US" altLang="ko-KR" sz="1600" b="1" dirty="0">
                <a:latin typeface="맑은 고딕" panose="020B0503020000020004" pitchFamily="50" charset="-127"/>
              </a:rPr>
              <a:t>) </a:t>
            </a:r>
            <a:r>
              <a:rPr lang="ko-KR" altLang="en-US" sz="1600" b="1" dirty="0">
                <a:latin typeface="맑은 고딕" panose="020B0503020000020004" pitchFamily="50" charset="-127"/>
              </a:rPr>
              <a:t>매  출                    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2,400,000</a:t>
            </a:r>
          </a:p>
          <a:p>
            <a:pPr eaLnBrk="0" latinLnBrk="0" hangingPunct="0">
              <a:defRPr/>
            </a:pPr>
            <a:r>
              <a:rPr lang="en-US" altLang="ko-KR" sz="1600" b="1" dirty="0">
                <a:latin typeface="맑은 고딕" panose="020B0503020000020004" pitchFamily="50" charset="-127"/>
              </a:rPr>
              <a:t>      </a:t>
            </a:r>
            <a:r>
              <a:rPr lang="en-US" altLang="ko-KR" sz="1100" b="1" dirty="0">
                <a:latin typeface="맑은 고딕" panose="020B0503020000020004" pitchFamily="50" charset="-127"/>
              </a:rPr>
              <a:t>  </a:t>
            </a:r>
            <a:r>
              <a:rPr lang="en-US" altLang="ko-KR" sz="1600" b="1" dirty="0">
                <a:latin typeface="맑은 고딕" panose="020B0503020000020004" pitchFamily="50" charset="-127"/>
              </a:rPr>
              <a:t>(</a:t>
            </a:r>
            <a:r>
              <a:rPr lang="ko-KR" altLang="en-US" sz="1600" b="1" dirty="0">
                <a:latin typeface="맑은 고딕" panose="020B0503020000020004" pitchFamily="50" charset="-127"/>
              </a:rPr>
              <a:t>차</a:t>
            </a:r>
            <a:r>
              <a:rPr lang="en-US" altLang="ko-KR" sz="1600" b="1" dirty="0">
                <a:latin typeface="맑은 고딕" panose="020B0503020000020004" pitchFamily="50" charset="-127"/>
              </a:rPr>
              <a:t>) </a:t>
            </a:r>
            <a:r>
              <a:rPr lang="ko-KR" altLang="en-US" sz="1600" b="1" dirty="0">
                <a:latin typeface="맑은 고딕" panose="020B0503020000020004" pitchFamily="50" charset="-127"/>
              </a:rPr>
              <a:t>매 출 원 가            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1,520,000   </a:t>
            </a:r>
            <a:r>
              <a:rPr lang="en-US" altLang="ko-KR" sz="1050" b="1" dirty="0">
                <a:latin typeface="맑은 고딕" panose="020B0503020000020004" pitchFamily="50" charset="-127"/>
              </a:rPr>
              <a:t>  </a:t>
            </a:r>
            <a:r>
              <a:rPr lang="en-US" altLang="ko-KR" sz="1600" b="1" dirty="0">
                <a:latin typeface="맑은 고딕" panose="020B0503020000020004" pitchFamily="50" charset="-127"/>
              </a:rPr>
              <a:t>(</a:t>
            </a:r>
            <a:r>
              <a:rPr lang="ko-KR" altLang="en-US" sz="1600" b="1" dirty="0">
                <a:latin typeface="맑은 고딕" panose="020B0503020000020004" pitchFamily="50" charset="-127"/>
              </a:rPr>
              <a:t>대</a:t>
            </a:r>
            <a:r>
              <a:rPr lang="en-US" altLang="ko-KR" sz="1600" b="1" dirty="0">
                <a:latin typeface="맑은 고딕" panose="020B0503020000020004" pitchFamily="50" charset="-127"/>
              </a:rPr>
              <a:t>) </a:t>
            </a:r>
            <a:r>
              <a:rPr lang="ko-KR" altLang="en-US" sz="1600" b="1" dirty="0">
                <a:latin typeface="맑은 고딕" panose="020B0503020000020004" pitchFamily="50" charset="-127"/>
              </a:rPr>
              <a:t>상  품                    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1,520,000</a:t>
            </a:r>
          </a:p>
          <a:p>
            <a:pPr eaLnBrk="0" latinLnBrk="0" hangingPunct="0">
              <a:defRPr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eaLnBrk="0" latinLnBrk="0" hangingPunct="0">
              <a:defRPr/>
            </a:pPr>
            <a:r>
              <a:rPr lang="en-US" altLang="ko-KR" sz="1600" dirty="0">
                <a:latin typeface="맑은 고딕" panose="020B0503020000020004" pitchFamily="50" charset="-127"/>
              </a:rPr>
              <a:t>7/11 </a:t>
            </a:r>
            <a:r>
              <a:rPr lang="en-US" altLang="ko-KR" sz="1600" b="1" dirty="0">
                <a:latin typeface="맑은 고딕" panose="020B0503020000020004" pitchFamily="50" charset="-127"/>
              </a:rPr>
              <a:t>(</a:t>
            </a:r>
            <a:r>
              <a:rPr lang="ko-KR" altLang="en-US" sz="1600" b="1" dirty="0">
                <a:latin typeface="맑은 고딕" panose="020B0503020000020004" pitchFamily="50" charset="-127"/>
              </a:rPr>
              <a:t>차</a:t>
            </a:r>
            <a:r>
              <a:rPr lang="en-US" altLang="ko-KR" sz="1600" b="1" dirty="0">
                <a:latin typeface="맑은 고딕" panose="020B0503020000020004" pitchFamily="50" charset="-127"/>
              </a:rPr>
              <a:t>) </a:t>
            </a:r>
            <a:r>
              <a:rPr lang="ko-KR" altLang="en-US" sz="1600" b="1" dirty="0">
                <a:latin typeface="맑은 고딕" panose="020B0503020000020004" pitchFamily="50" charset="-127"/>
              </a:rPr>
              <a:t>상  품                </a:t>
            </a:r>
            <a:r>
              <a:rPr lang="ko-KR" altLang="en-US" sz="1100" b="1" dirty="0">
                <a:latin typeface="맑은 고딕" panose="020B0503020000020004" pitchFamily="50" charset="-127"/>
              </a:rPr>
              <a:t>  </a:t>
            </a:r>
            <a:r>
              <a:rPr lang="ko-KR" altLang="en-US" sz="1600" b="1" dirty="0">
                <a:latin typeface="맑은 고딕" panose="020B0503020000020004" pitchFamily="50" charset="-127"/>
              </a:rPr>
              <a:t>  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1,000,000 </a:t>
            </a:r>
            <a:r>
              <a:rPr lang="en-US" altLang="ko-KR" sz="1200" b="1" dirty="0">
                <a:latin typeface="맑은 고딕" panose="020B0503020000020004" pitchFamily="50" charset="-127"/>
              </a:rPr>
              <a:t>  </a:t>
            </a:r>
            <a:r>
              <a:rPr lang="en-US" altLang="ko-KR" sz="1600" b="1" dirty="0">
                <a:latin typeface="맑은 고딕" panose="020B0503020000020004" pitchFamily="50" charset="-127"/>
              </a:rPr>
              <a:t>  (</a:t>
            </a:r>
            <a:r>
              <a:rPr lang="ko-KR" altLang="en-US" sz="1600" b="1" dirty="0">
                <a:latin typeface="맑은 고딕" panose="020B0503020000020004" pitchFamily="50" charset="-127"/>
              </a:rPr>
              <a:t>대</a:t>
            </a:r>
            <a:r>
              <a:rPr lang="en-US" altLang="ko-KR" sz="1600" b="1" dirty="0">
                <a:latin typeface="맑은 고딕" panose="020B0503020000020004" pitchFamily="50" charset="-127"/>
              </a:rPr>
              <a:t>) </a:t>
            </a:r>
            <a:r>
              <a:rPr lang="ko-KR" altLang="en-US" sz="1600" b="1" dirty="0">
                <a:latin typeface="맑은 고딕" panose="020B0503020000020004" pitchFamily="50" charset="-127"/>
              </a:rPr>
              <a:t>현  금                    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1,000,000</a:t>
            </a:r>
          </a:p>
          <a:p>
            <a:pPr eaLnBrk="0" latinLnBrk="0" hangingPunct="0">
              <a:defRPr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eaLnBrk="0" latinLnBrk="0" hangingPunct="0">
              <a:defRPr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eaLnBrk="0" latinLnBrk="0" hangingPunct="0">
              <a:defRPr/>
            </a:pPr>
            <a:r>
              <a:rPr lang="en-US" altLang="ko-KR" sz="1600" dirty="0">
                <a:latin typeface="맑은 고딕" panose="020B0503020000020004" pitchFamily="50" charset="-127"/>
              </a:rPr>
              <a:t>&lt;</a:t>
            </a:r>
            <a:r>
              <a:rPr lang="ko-KR" altLang="en-US" sz="1600" dirty="0">
                <a:latin typeface="맑은 고딕" panose="020B0503020000020004" pitchFamily="50" charset="-127"/>
              </a:rPr>
              <a:t>기말 결산 수정분개</a:t>
            </a:r>
            <a:r>
              <a:rPr lang="en-US" altLang="ko-KR" sz="1600" dirty="0">
                <a:latin typeface="맑은 고딕" panose="020B0503020000020004" pitchFamily="50" charset="-127"/>
              </a:rPr>
              <a:t>&gt;</a:t>
            </a:r>
            <a:r>
              <a:rPr lang="ko-KR" altLang="en-US" sz="1600" dirty="0">
                <a:latin typeface="맑은 고딕" panose="020B0503020000020004" pitchFamily="50" charset="-127"/>
              </a:rPr>
              <a:t> 필요 없음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eaLnBrk="0" latinLnBrk="0" hangingPunct="0">
              <a:defRPr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eaLnBrk="0" latinLnBrk="0" hangingPunct="0">
              <a:defRPr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eaLnBrk="0" latinLnBrk="0" hangingPunct="0">
              <a:defRPr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eaLnBrk="0" latinLnBrk="0" hangingPunct="0">
              <a:defRPr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eaLnBrk="0" latinLnBrk="0" hangingPunct="0">
              <a:defRPr/>
            </a:pPr>
            <a:endParaRPr lang="en-US" altLang="ko-KR" sz="1600" dirty="0">
              <a:solidFill>
                <a:srgbClr val="000000"/>
              </a:solidFill>
              <a:latin typeface="맑은 고딕" pitchFamily="50" charset="-127"/>
            </a:endParaRPr>
          </a:p>
          <a:p>
            <a:pPr eaLnBrk="0" latinLnBrk="0" hangingPunct="0">
              <a:defRPr/>
            </a:pPr>
            <a:endParaRPr lang="en-US" altLang="ko-KR" sz="1600" dirty="0">
              <a:solidFill>
                <a:srgbClr val="000000"/>
              </a:solidFill>
              <a:latin typeface="맑은 고딕" pitchFamily="50" charset="-127"/>
            </a:endParaRPr>
          </a:p>
          <a:p>
            <a:pPr eaLnBrk="0" latinLnBrk="0" hangingPunct="0">
              <a:defRPr/>
            </a:pPr>
            <a:endParaRPr lang="ko-KR" altLang="en-US" sz="1600" dirty="0">
              <a:solidFill>
                <a:srgbClr val="000000"/>
              </a:solidFill>
              <a:latin typeface="맑은 고딕" pitchFamily="50" charset="-127"/>
            </a:endParaRPr>
          </a:p>
          <a:p>
            <a:pPr algn="ctr" eaLnBrk="0" latinLnBrk="0" hangingPunct="0">
              <a:defRPr/>
            </a:pPr>
            <a:endParaRPr lang="en-US" altLang="ko-KR" sz="1600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34882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263283"/>
            <a:ext cx="8711460" cy="5150582"/>
            <a:chOff x="190714" y="1320883"/>
            <a:chExt cx="8711460" cy="5150582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009966"/>
              <a:chOff x="269048" y="1722741"/>
              <a:chExt cx="8648775" cy="5009966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4986266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3"/>
              <a:ext cx="4257230" cy="326948"/>
              <a:chOff x="190714" y="1320889"/>
              <a:chExt cx="3641745" cy="290351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3641745" cy="290351"/>
                <a:chOff x="405822" y="2237753"/>
                <a:chExt cx="3641745" cy="290351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3767179" y="2237753"/>
                  <a:ext cx="280388" cy="26836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54927" y="2237753"/>
                  <a:ext cx="3390661" cy="274857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6-9 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재고자산에 대한 회계처리</a:t>
                  </a:r>
                  <a:endParaRPr lang="ko-KR" altLang="en-US" sz="1600" b="1" dirty="0"/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538402" y="1590231"/>
            <a:ext cx="8237611" cy="4443551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 eaLnBrk="0" latinLnBrk="0" hangingPunct="0">
              <a:defRPr/>
            </a:pPr>
            <a:r>
              <a:rPr lang="en-US" altLang="ko-KR" sz="1600" b="1" dirty="0">
                <a:solidFill>
                  <a:srgbClr val="000000"/>
                </a:solidFill>
                <a:latin typeface="맑은 고딕" pitchFamily="50" charset="-127"/>
              </a:rPr>
              <a:t>(2) </a:t>
            </a:r>
            <a:r>
              <a:rPr lang="ko-KR" altLang="en-US" sz="1600" b="1" dirty="0">
                <a:solidFill>
                  <a:srgbClr val="000000"/>
                </a:solidFill>
                <a:latin typeface="맑은 고딕" pitchFamily="50" charset="-127"/>
              </a:rPr>
              <a:t>실지재고조사법</a:t>
            </a: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marL="342900" indent="-342900" algn="just" eaLnBrk="0" latinLnBrk="0" hangingPunct="0">
              <a:defRPr/>
            </a:pPr>
            <a:endParaRPr lang="en-US" altLang="ko-KR" sz="1600" dirty="0">
              <a:solidFill>
                <a:srgbClr val="000000"/>
              </a:solidFill>
              <a:latin typeface="맑은 고딕" pitchFamily="50" charset="-127"/>
            </a:endParaRPr>
          </a:p>
          <a:p>
            <a:pPr marL="342900" indent="-342900" algn="just" eaLnBrk="0" latinLnBrk="0" hangingPunct="0">
              <a:defRPr/>
            </a:pP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     기말재고 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= 1,000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개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×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￦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1,000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＋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200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개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×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￦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800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＝￦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1,160,000</a:t>
            </a:r>
            <a:endParaRPr lang="ko-KR" altLang="en-US" sz="1600" dirty="0">
              <a:solidFill>
                <a:srgbClr val="000000"/>
              </a:solidFill>
              <a:latin typeface="맑은 고딕" pitchFamily="50" charset="-127"/>
            </a:endParaRPr>
          </a:p>
          <a:p>
            <a:pPr marL="342900" indent="-342900" algn="just" eaLnBrk="0" latinLnBrk="0" hangingPunct="0">
              <a:defRPr/>
            </a:pP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     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매출원가 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= </a:t>
            </a:r>
            <a:r>
              <a:rPr lang="ko-KR" altLang="en-US" sz="1600" dirty="0" err="1">
                <a:solidFill>
                  <a:srgbClr val="000000"/>
                </a:solidFill>
                <a:latin typeface="맑은 고딕" pitchFamily="50" charset="-127"/>
              </a:rPr>
              <a:t>판매가능재고자산－기말재고</a:t>
            </a:r>
            <a:endParaRPr lang="ko-KR" altLang="en-US" sz="1600" dirty="0">
              <a:solidFill>
                <a:srgbClr val="000000"/>
              </a:solidFill>
              <a:latin typeface="맑은 고딕" pitchFamily="50" charset="-127"/>
            </a:endParaRPr>
          </a:p>
          <a:p>
            <a:pPr algn="ctr" eaLnBrk="0" latinLnBrk="0" hangingPunct="0">
              <a:defRPr/>
            </a:pP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         ＝ 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(400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개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×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￦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600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＋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1,800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개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×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￦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800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＋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1,000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개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×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￦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1,000)</a:t>
            </a: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－￦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1,160,000</a:t>
            </a:r>
          </a:p>
          <a:p>
            <a:pPr eaLnBrk="0" latinLnBrk="0" hangingPunct="0">
              <a:defRPr/>
            </a:pPr>
            <a:r>
              <a:rPr lang="ko-KR" altLang="en-US" sz="1600" dirty="0">
                <a:solidFill>
                  <a:srgbClr val="000000"/>
                </a:solidFill>
                <a:latin typeface="맑은 고딕" pitchFamily="50" charset="-127"/>
              </a:rPr>
              <a:t>                 ＝ ￦</a:t>
            </a:r>
            <a:r>
              <a:rPr lang="en-US" altLang="ko-KR" sz="1600" dirty="0">
                <a:solidFill>
                  <a:srgbClr val="000000"/>
                </a:solidFill>
                <a:latin typeface="맑은 고딕" pitchFamily="50" charset="-127"/>
              </a:rPr>
              <a:t>1,520,000</a:t>
            </a:r>
          </a:p>
          <a:p>
            <a:pPr eaLnBrk="0" latinLnBrk="0" hangingPunct="0">
              <a:defRPr/>
            </a:pPr>
            <a:endParaRPr lang="en-US" altLang="ko-KR" sz="1600" dirty="0">
              <a:solidFill>
                <a:srgbClr val="000000"/>
              </a:solidFill>
              <a:latin typeface="맑은 고딕" pitchFamily="50" charset="-127"/>
            </a:endParaRPr>
          </a:p>
          <a:p>
            <a:pPr eaLnBrk="0" latinLnBrk="0" hangingPunct="0">
              <a:defRPr/>
            </a:pPr>
            <a:r>
              <a:rPr lang="en-US" altLang="ko-KR" sz="1600" dirty="0">
                <a:latin typeface="맑은 고딕" panose="020B0503020000020004" pitchFamily="50" charset="-127"/>
              </a:rPr>
              <a:t>4/6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(</a:t>
            </a:r>
            <a:r>
              <a:rPr lang="ko-KR" altLang="en-US" sz="1600" b="1" dirty="0">
                <a:latin typeface="맑은 고딕" panose="020B0503020000020004" pitchFamily="50" charset="-127"/>
              </a:rPr>
              <a:t>차</a:t>
            </a:r>
            <a:r>
              <a:rPr lang="en-US" altLang="ko-KR" sz="1600" b="1" dirty="0">
                <a:latin typeface="맑은 고딕" panose="020B0503020000020004" pitchFamily="50" charset="-127"/>
              </a:rPr>
              <a:t>) </a:t>
            </a:r>
            <a:r>
              <a:rPr lang="ko-KR" altLang="en-US" sz="1600" b="1" dirty="0">
                <a:latin typeface="맑은 고딕" panose="020B0503020000020004" pitchFamily="50" charset="-127"/>
              </a:rPr>
              <a:t>매   입                   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1,440,000    (</a:t>
            </a:r>
            <a:r>
              <a:rPr lang="ko-KR" altLang="en-US" sz="1600" b="1" dirty="0">
                <a:latin typeface="맑은 고딕" panose="020B0503020000020004" pitchFamily="50" charset="-127"/>
              </a:rPr>
              <a:t>대</a:t>
            </a:r>
            <a:r>
              <a:rPr lang="en-US" altLang="ko-KR" sz="1600" b="1" dirty="0">
                <a:latin typeface="맑은 고딕" panose="020B0503020000020004" pitchFamily="50" charset="-127"/>
              </a:rPr>
              <a:t>) </a:t>
            </a:r>
            <a:r>
              <a:rPr lang="ko-KR" altLang="en-US" sz="1600" b="1" dirty="0">
                <a:latin typeface="맑은 고딕" panose="020B0503020000020004" pitchFamily="50" charset="-127"/>
              </a:rPr>
              <a:t>현  금                    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1,440,000</a:t>
            </a:r>
          </a:p>
          <a:p>
            <a:pPr eaLnBrk="0" latinLnBrk="0" hangingPunct="0">
              <a:defRPr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eaLnBrk="0" latinLnBrk="0" hangingPunct="0">
              <a:defRPr/>
            </a:pPr>
            <a:r>
              <a:rPr lang="en-US" altLang="ko-KR" sz="1600" dirty="0">
                <a:latin typeface="맑은 고딕" panose="020B0503020000020004" pitchFamily="50" charset="-127"/>
              </a:rPr>
              <a:t>6/3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(</a:t>
            </a:r>
            <a:r>
              <a:rPr lang="ko-KR" altLang="en-US" sz="1600" b="1" dirty="0">
                <a:latin typeface="맑은 고딕" panose="020B0503020000020004" pitchFamily="50" charset="-127"/>
              </a:rPr>
              <a:t>차</a:t>
            </a:r>
            <a:r>
              <a:rPr lang="en-US" altLang="ko-KR" sz="1600" b="1" dirty="0">
                <a:latin typeface="맑은 고딕" panose="020B0503020000020004" pitchFamily="50" charset="-127"/>
              </a:rPr>
              <a:t>) </a:t>
            </a:r>
            <a:r>
              <a:rPr lang="ko-KR" altLang="en-US" sz="1600" b="1" dirty="0">
                <a:latin typeface="맑은 고딕" panose="020B0503020000020004" pitchFamily="50" charset="-127"/>
              </a:rPr>
              <a:t>현   금                   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2,400,000    (</a:t>
            </a:r>
            <a:r>
              <a:rPr lang="ko-KR" altLang="en-US" sz="1600" b="1" dirty="0">
                <a:latin typeface="맑은 고딕" panose="020B0503020000020004" pitchFamily="50" charset="-127"/>
              </a:rPr>
              <a:t>대</a:t>
            </a:r>
            <a:r>
              <a:rPr lang="en-US" altLang="ko-KR" sz="1600" b="1" dirty="0">
                <a:latin typeface="맑은 고딕" panose="020B0503020000020004" pitchFamily="50" charset="-127"/>
              </a:rPr>
              <a:t>) </a:t>
            </a:r>
            <a:r>
              <a:rPr lang="ko-KR" altLang="en-US" sz="1600" b="1" dirty="0">
                <a:latin typeface="맑은 고딕" panose="020B0503020000020004" pitchFamily="50" charset="-127"/>
              </a:rPr>
              <a:t>매  출                    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2,400,000</a:t>
            </a:r>
          </a:p>
          <a:p>
            <a:pPr eaLnBrk="0" latinLnBrk="0" hangingPunct="0">
              <a:defRPr/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eaLnBrk="0" latinLnBrk="0" hangingPunct="0">
              <a:defRPr/>
            </a:pPr>
            <a:r>
              <a:rPr lang="en-US" altLang="ko-KR" sz="1600" dirty="0">
                <a:latin typeface="맑은 고딕" panose="020B0503020000020004" pitchFamily="50" charset="-127"/>
              </a:rPr>
              <a:t>7/11  </a:t>
            </a:r>
            <a:r>
              <a:rPr lang="en-US" altLang="ko-KR" sz="1600" b="1" dirty="0">
                <a:latin typeface="맑은 고딕" panose="020B0503020000020004" pitchFamily="50" charset="-127"/>
              </a:rPr>
              <a:t>(</a:t>
            </a:r>
            <a:r>
              <a:rPr lang="ko-KR" altLang="en-US" sz="1600" b="1" dirty="0">
                <a:latin typeface="맑은 고딕" panose="020B0503020000020004" pitchFamily="50" charset="-127"/>
              </a:rPr>
              <a:t>차</a:t>
            </a:r>
            <a:r>
              <a:rPr lang="en-US" altLang="ko-KR" sz="1600" b="1" dirty="0">
                <a:latin typeface="맑은 고딕" panose="020B0503020000020004" pitchFamily="50" charset="-127"/>
              </a:rPr>
              <a:t>) </a:t>
            </a:r>
            <a:r>
              <a:rPr lang="ko-KR" altLang="en-US" sz="1600" b="1" dirty="0">
                <a:latin typeface="맑은 고딕" panose="020B0503020000020004" pitchFamily="50" charset="-127"/>
              </a:rPr>
              <a:t>매  입                   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1,000,000    (</a:t>
            </a:r>
            <a:r>
              <a:rPr lang="ko-KR" altLang="en-US" sz="1600" b="1" dirty="0">
                <a:latin typeface="맑은 고딕" panose="020B0503020000020004" pitchFamily="50" charset="-127"/>
              </a:rPr>
              <a:t>대</a:t>
            </a:r>
            <a:r>
              <a:rPr lang="en-US" altLang="ko-KR" sz="1600" b="1" dirty="0">
                <a:latin typeface="맑은 고딕" panose="020B0503020000020004" pitchFamily="50" charset="-127"/>
              </a:rPr>
              <a:t>) </a:t>
            </a:r>
            <a:r>
              <a:rPr lang="ko-KR" altLang="en-US" sz="1600" b="1" dirty="0">
                <a:latin typeface="맑은 고딕" panose="020B0503020000020004" pitchFamily="50" charset="-127"/>
              </a:rPr>
              <a:t>현  금                    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1,000,000</a:t>
            </a:r>
          </a:p>
          <a:p>
            <a:pPr eaLnBrk="0" latinLnBrk="0" hangingPunct="0">
              <a:defRPr/>
            </a:pPr>
            <a:endParaRPr lang="en-US" altLang="ko-KR" sz="1600" b="1" dirty="0">
              <a:solidFill>
                <a:srgbClr val="000000"/>
              </a:solidFill>
              <a:latin typeface="맑은 고딕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600" dirty="0">
                <a:latin typeface="맑은 고딕" panose="020B0503020000020004" pitchFamily="50" charset="-127"/>
              </a:rPr>
              <a:t>&lt;</a:t>
            </a:r>
            <a:r>
              <a:rPr lang="ko-KR" altLang="en-US" sz="1600" dirty="0">
                <a:latin typeface="맑은 고딕" panose="020B0503020000020004" pitchFamily="50" charset="-127"/>
              </a:rPr>
              <a:t>기말 결산 수정분개</a:t>
            </a:r>
            <a:r>
              <a:rPr lang="en-US" altLang="ko-KR" sz="1600" dirty="0">
                <a:latin typeface="맑은 고딕" panose="020B0503020000020004" pitchFamily="50" charset="-127"/>
              </a:rPr>
              <a:t>&gt;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600" dirty="0">
                <a:latin typeface="맑은 고딕" panose="020B0503020000020004" pitchFamily="50" charset="-127"/>
              </a:rPr>
              <a:t>     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(</a:t>
            </a:r>
            <a:r>
              <a:rPr lang="ko-KR" altLang="en-US" sz="1600" b="1" dirty="0">
                <a:latin typeface="맑은 고딕" panose="020B0503020000020004" pitchFamily="50" charset="-127"/>
              </a:rPr>
              <a:t>차</a:t>
            </a:r>
            <a:r>
              <a:rPr lang="en-US" altLang="ko-KR" sz="1600" b="1" dirty="0">
                <a:latin typeface="맑은 고딕" panose="020B0503020000020004" pitchFamily="50" charset="-127"/>
              </a:rPr>
              <a:t>) </a:t>
            </a:r>
            <a:r>
              <a:rPr lang="ko-KR" altLang="en-US" sz="1600" b="1" dirty="0">
                <a:latin typeface="맑은 고딕" panose="020B0503020000020004" pitchFamily="50" charset="-127"/>
              </a:rPr>
              <a:t>매 출 원 가               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240,000    (</a:t>
            </a:r>
            <a:r>
              <a:rPr lang="ko-KR" altLang="en-US" sz="1600" b="1" dirty="0">
                <a:latin typeface="맑은 고딕" panose="020B0503020000020004" pitchFamily="50" charset="-127"/>
              </a:rPr>
              <a:t>대</a:t>
            </a:r>
            <a:r>
              <a:rPr lang="en-US" altLang="ko-KR" sz="1600" b="1" dirty="0">
                <a:latin typeface="맑은 고딕" panose="020B0503020000020004" pitchFamily="50" charset="-127"/>
              </a:rPr>
              <a:t>) </a:t>
            </a:r>
            <a:r>
              <a:rPr lang="ko-KR" altLang="en-US" sz="1600" b="1" dirty="0">
                <a:latin typeface="맑은 고딕" panose="020B0503020000020004" pitchFamily="50" charset="-127"/>
              </a:rPr>
              <a:t>상  품                      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240,000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600" b="1" dirty="0">
                <a:latin typeface="맑은 고딕" panose="020B0503020000020004" pitchFamily="50" charset="-127"/>
              </a:rPr>
              <a:t>        (</a:t>
            </a:r>
            <a:r>
              <a:rPr lang="ko-KR" altLang="en-US" sz="1600" b="1" dirty="0">
                <a:latin typeface="맑은 고딕" panose="020B0503020000020004" pitchFamily="50" charset="-127"/>
              </a:rPr>
              <a:t>차</a:t>
            </a:r>
            <a:r>
              <a:rPr lang="en-US" altLang="ko-KR" sz="1600" b="1" dirty="0">
                <a:latin typeface="맑은 고딕" panose="020B0503020000020004" pitchFamily="50" charset="-127"/>
              </a:rPr>
              <a:t>) </a:t>
            </a:r>
            <a:r>
              <a:rPr lang="ko-KR" altLang="en-US" sz="1600" b="1" dirty="0">
                <a:latin typeface="맑은 고딕" panose="020B0503020000020004" pitchFamily="50" charset="-127"/>
              </a:rPr>
              <a:t>매 출 원 가             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2,440,000    (</a:t>
            </a:r>
            <a:r>
              <a:rPr lang="ko-KR" altLang="en-US" sz="1600" b="1" dirty="0">
                <a:latin typeface="맑은 고딕" panose="020B0503020000020004" pitchFamily="50" charset="-127"/>
              </a:rPr>
              <a:t>대</a:t>
            </a:r>
            <a:r>
              <a:rPr lang="en-US" altLang="ko-KR" sz="1600" b="1" dirty="0">
                <a:latin typeface="맑은 고딕" panose="020B0503020000020004" pitchFamily="50" charset="-127"/>
              </a:rPr>
              <a:t>) </a:t>
            </a:r>
            <a:r>
              <a:rPr lang="ko-KR" altLang="en-US" sz="1600" b="1" dirty="0">
                <a:latin typeface="맑은 고딕" panose="020B0503020000020004" pitchFamily="50" charset="-127"/>
              </a:rPr>
              <a:t>매  입                   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2,440,000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600" b="1" dirty="0">
                <a:latin typeface="맑은 고딕" panose="020B0503020000020004" pitchFamily="50" charset="-127"/>
              </a:rPr>
              <a:t>        (</a:t>
            </a:r>
            <a:r>
              <a:rPr lang="ko-KR" altLang="en-US" sz="1600" b="1" dirty="0">
                <a:latin typeface="맑은 고딕" panose="020B0503020000020004" pitchFamily="50" charset="-127"/>
              </a:rPr>
              <a:t>차</a:t>
            </a:r>
            <a:r>
              <a:rPr lang="en-US" altLang="ko-KR" sz="1600" b="1" dirty="0">
                <a:latin typeface="맑은 고딕" panose="020B0503020000020004" pitchFamily="50" charset="-127"/>
              </a:rPr>
              <a:t>) </a:t>
            </a:r>
            <a:r>
              <a:rPr lang="ko-KR" altLang="en-US" sz="1600" b="1" dirty="0">
                <a:latin typeface="맑은 고딕" panose="020B0503020000020004" pitchFamily="50" charset="-127"/>
              </a:rPr>
              <a:t>상   품                   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1,160,000    (</a:t>
            </a:r>
            <a:r>
              <a:rPr lang="ko-KR" altLang="en-US" sz="1600" b="1" dirty="0">
                <a:latin typeface="맑은 고딕" panose="020B0503020000020004" pitchFamily="50" charset="-127"/>
              </a:rPr>
              <a:t>대</a:t>
            </a:r>
            <a:r>
              <a:rPr lang="en-US" altLang="ko-KR" sz="1600" b="1" dirty="0">
                <a:latin typeface="맑은 고딕" panose="020B0503020000020004" pitchFamily="50" charset="-127"/>
              </a:rPr>
              <a:t>) </a:t>
            </a:r>
            <a:r>
              <a:rPr lang="ko-KR" altLang="en-US" sz="1600" b="1" dirty="0">
                <a:latin typeface="맑은 고딕" panose="020B0503020000020004" pitchFamily="50" charset="-127"/>
              </a:rPr>
              <a:t>매 출 원 가            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1,160,000</a:t>
            </a:r>
            <a:r>
              <a:rPr lang="ko-KR" altLang="en-US" sz="1600" b="1" dirty="0">
                <a:latin typeface="맑은 고딕" panose="020B0503020000020004" pitchFamily="50" charset="-127"/>
              </a:rPr>
              <a:t> </a:t>
            </a: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600" b="1" dirty="0">
                <a:latin typeface="맑은 고딕" panose="020B0503020000020004" pitchFamily="50" charset="-127"/>
              </a:rPr>
              <a:t>  </a:t>
            </a:r>
          </a:p>
          <a:p>
            <a:pPr eaLnBrk="0" latinLnBrk="0" hangingPunct="0">
              <a:defRPr/>
            </a:pPr>
            <a:endParaRPr lang="ko-KR" altLang="en-US" sz="1600" dirty="0">
              <a:solidFill>
                <a:srgbClr val="000000"/>
              </a:solidFill>
              <a:latin typeface="맑은 고딕" pitchFamily="50" charset="-127"/>
            </a:endParaRPr>
          </a:p>
          <a:p>
            <a:pPr algn="ctr" eaLnBrk="0" latinLnBrk="0" hangingPunct="0">
              <a:defRPr/>
            </a:pPr>
            <a:endParaRPr lang="en-US" altLang="ko-KR" sz="1600" dirty="0">
              <a:solidFill>
                <a:srgbClr val="000000"/>
              </a:solidFill>
              <a:latin typeface="맑은 고딕" pitchFamily="50" charset="-127"/>
            </a:endParaRPr>
          </a:p>
          <a:p>
            <a:pPr eaLnBrk="0" latinLnBrk="0" hangingPunct="0">
              <a:defRPr/>
            </a:pPr>
            <a:endParaRPr lang="en-US" altLang="ko-KR" sz="1600" dirty="0">
              <a:solidFill>
                <a:srgbClr val="000000"/>
              </a:solidFill>
              <a:latin typeface="맑은 고딕" pitchFamily="50" charset="-127"/>
            </a:endParaRPr>
          </a:p>
          <a:p>
            <a:pPr eaLnBrk="0" latinLnBrk="0" hangingPunct="0">
              <a:defRPr/>
            </a:pPr>
            <a:endParaRPr lang="ko-KR" altLang="en-US" sz="1600" dirty="0">
              <a:solidFill>
                <a:srgbClr val="000000"/>
              </a:solidFill>
              <a:latin typeface="맑은 고딕" pitchFamily="50" charset="-127"/>
            </a:endParaRPr>
          </a:p>
          <a:p>
            <a:pPr algn="ctr" eaLnBrk="0" latinLnBrk="0" hangingPunct="0">
              <a:defRPr/>
            </a:pPr>
            <a:endParaRPr lang="en-US" altLang="ko-KR" sz="1600" dirty="0">
              <a:solidFill>
                <a:srgbClr val="000000"/>
              </a:solidFill>
              <a:latin typeface="맑은 고딕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22422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190714" y="1001737"/>
            <a:ext cx="8824949" cy="5527400"/>
            <a:chOff x="257473" y="1430362"/>
            <a:chExt cx="8641369" cy="4979963"/>
          </a:xfrm>
        </p:grpSpPr>
        <p:sp>
          <p:nvSpPr>
            <p:cNvPr id="7" name="Rectangle 15"/>
            <p:cNvSpPr>
              <a:spLocks noChangeArrowheads="1"/>
            </p:cNvSpPr>
            <p:nvPr/>
          </p:nvSpPr>
          <p:spPr bwMode="auto">
            <a:xfrm>
              <a:off x="257473" y="1746441"/>
              <a:ext cx="8641369" cy="4663884"/>
            </a:xfrm>
            <a:prstGeom prst="rect">
              <a:avLst/>
            </a:prstGeom>
            <a:noFill/>
            <a:ln>
              <a:noFill/>
            </a:ln>
          </p:spPr>
          <p:txBody>
            <a:bodyPr lIns="74608" tIns="37301" rIns="74608" bIns="37301" anchor="ctr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just" latinLnBrk="0">
                <a:buNone/>
                <a:defRPr/>
              </a:pPr>
              <a:endParaRPr lang="ko-KR" altLang="en-US" sz="1600" b="1" dirty="0">
                <a:latin typeface="맑은 고딕" pitchFamily="50" charset="-127"/>
              </a:endParaRPr>
            </a:p>
          </p:txBody>
        </p:sp>
        <p:sp>
          <p:nvSpPr>
            <p:cNvPr id="29" name="Rectangle 14"/>
            <p:cNvSpPr>
              <a:spLocks noChangeArrowheads="1"/>
            </p:cNvSpPr>
            <p:nvPr/>
          </p:nvSpPr>
          <p:spPr bwMode="auto">
            <a:xfrm>
              <a:off x="440748" y="1430362"/>
              <a:ext cx="7309349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4608" tIns="37301" rIns="74608" bIns="37301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None/>
              </a:pPr>
              <a:endParaRPr lang="ko-KR" altLang="en-US" sz="18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470638" y="1547516"/>
            <a:ext cx="8308626" cy="307777"/>
            <a:chOff x="1287462" y="4789239"/>
            <a:chExt cx="8308626" cy="307777"/>
          </a:xfrm>
        </p:grpSpPr>
        <p:sp>
          <p:nvSpPr>
            <p:cNvPr id="20" name="오각형 19"/>
            <p:cNvSpPr/>
            <p:nvPr/>
          </p:nvSpPr>
          <p:spPr>
            <a:xfrm>
              <a:off x="1287462" y="4807765"/>
              <a:ext cx="792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그림 </a:t>
              </a:r>
              <a:r>
                <a:rPr lang="en-US" altLang="ko-KR" sz="1400" b="1" dirty="0"/>
                <a:t>4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079461" y="4789239"/>
              <a:ext cx="75166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 dirty="0">
                  <a:latin typeface="맑은 고딕" panose="020B0503020000020004" pitchFamily="50" charset="-127"/>
                </a:rPr>
                <a:t>재고자산의 평가 요약</a:t>
              </a:r>
            </a:p>
          </p:txBody>
        </p:sp>
      </p:grp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7528" y="1863824"/>
            <a:ext cx="6366844" cy="48227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221237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190714" y="1001737"/>
            <a:ext cx="8641369" cy="4979963"/>
            <a:chOff x="257473" y="1430362"/>
            <a:chExt cx="8641369" cy="4979963"/>
          </a:xfrm>
          <a:noFill/>
        </p:grpSpPr>
        <p:sp>
          <p:nvSpPr>
            <p:cNvPr id="7" name="Rectangle 15"/>
            <p:cNvSpPr>
              <a:spLocks noChangeArrowheads="1"/>
            </p:cNvSpPr>
            <p:nvPr/>
          </p:nvSpPr>
          <p:spPr bwMode="auto">
            <a:xfrm>
              <a:off x="257473" y="1746441"/>
              <a:ext cx="8641369" cy="4663884"/>
            </a:xfrm>
            <a:prstGeom prst="rect">
              <a:avLst/>
            </a:prstGeom>
            <a:grpFill/>
            <a:ln>
              <a:noFill/>
            </a:ln>
          </p:spPr>
          <p:txBody>
            <a:bodyPr lIns="74608" tIns="37301" rIns="74608" bIns="37301" anchor="ctr"/>
            <a:lstStyle>
              <a:lvl1pPr algn="l" defTabSz="995363">
                <a:spcBef>
                  <a:spcPct val="20000"/>
                </a:spcBef>
                <a:buClr>
                  <a:schemeClr val="tx2"/>
                </a:buClr>
                <a:buSzPct val="115000"/>
                <a:buFont typeface="Wingdings" panose="05000000000000000000" pitchFamily="2" charset="2"/>
                <a:buChar char="§"/>
                <a:defRPr sz="2800">
                  <a:solidFill>
                    <a:srgbClr val="000000"/>
                  </a:solidFill>
                  <a:latin typeface="Arial" panose="020B0604020202020204" pitchFamily="34" charset="0"/>
                </a:defRPr>
              </a:lvl1pPr>
              <a:lvl2pPr marL="742950" indent="-285750" algn="l" defTabSz="995363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rgbClr val="000000"/>
                  </a:solidFill>
                  <a:latin typeface="Arial" panose="020B0604020202020204" pitchFamily="34" charset="0"/>
                </a:defRPr>
              </a:lvl2pPr>
              <a:lvl3pPr marL="1143000" indent="-228600" algn="l" defTabSz="995363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3pPr>
              <a:lvl4pPr marL="1600200" indent="-228600" algn="l" defTabSz="995363">
                <a:spcBef>
                  <a:spcPct val="20000"/>
                </a:spcBef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4pPr>
              <a:lvl5pPr marL="2057400" indent="-228600" algn="l" defTabSz="995363">
                <a:spcBef>
                  <a:spcPct val="20000"/>
                </a:spcBef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5pPr>
              <a:lvl6pPr marL="25146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6pPr>
              <a:lvl7pPr marL="29718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7pPr>
              <a:lvl8pPr marL="34290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8pPr>
              <a:lvl9pPr marL="3886200" indent="-228600" defTabSz="995363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</a:defRPr>
              </a:lvl9pPr>
            </a:lstStyle>
            <a:p>
              <a:pPr algn="just" latinLnBrk="0">
                <a:buNone/>
                <a:defRPr/>
              </a:pPr>
              <a:endParaRPr lang="ko-KR" altLang="en-US" sz="1600" b="1" dirty="0">
                <a:latin typeface="맑은 고딕" pitchFamily="50" charset="-127"/>
              </a:endParaRPr>
            </a:p>
          </p:txBody>
        </p:sp>
        <p:grpSp>
          <p:nvGrpSpPr>
            <p:cNvPr id="2" name="그룹 1"/>
            <p:cNvGrpSpPr/>
            <p:nvPr/>
          </p:nvGrpSpPr>
          <p:grpSpPr>
            <a:xfrm>
              <a:off x="257594" y="1430362"/>
              <a:ext cx="7492503" cy="347186"/>
              <a:chOff x="257594" y="1430362"/>
              <a:chExt cx="7492503" cy="347186"/>
            </a:xfrm>
            <a:grpFill/>
          </p:grpSpPr>
          <p:sp>
            <p:nvSpPr>
              <p:cNvPr id="29" name="Rectangle 14"/>
              <p:cNvSpPr>
                <a:spLocks noChangeArrowheads="1"/>
              </p:cNvSpPr>
              <p:nvPr/>
            </p:nvSpPr>
            <p:spPr bwMode="auto">
              <a:xfrm>
                <a:off x="440748" y="1430362"/>
                <a:ext cx="7309349" cy="32385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74608" tIns="37301" rIns="74608" bIns="37301"/>
              <a:lstStyle>
                <a:lvl1pPr algn="l" defTabSz="995363">
                  <a:spcBef>
                    <a:spcPct val="20000"/>
                  </a:spcBef>
                  <a:buClr>
                    <a:schemeClr val="tx2"/>
                  </a:buClr>
                  <a:buSzPct val="115000"/>
                  <a:buFont typeface="Wingdings" panose="05000000000000000000" pitchFamily="2" charset="2"/>
                  <a:buChar char="§"/>
                  <a:defRPr sz="28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1pPr>
                <a:lvl2pPr marL="742950" indent="-285750" algn="l" defTabSz="995363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2pPr>
                <a:lvl3pPr marL="1143000" indent="-228600" algn="l" defTabSz="995363">
                  <a:spcBef>
                    <a:spcPct val="20000"/>
                  </a:spcBef>
                  <a:buChar char="•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3pPr>
                <a:lvl4pPr marL="1600200" indent="-228600" algn="l" defTabSz="995363">
                  <a:spcBef>
                    <a:spcPct val="20000"/>
                  </a:spcBef>
                  <a:buChar char="–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4pPr>
                <a:lvl5pPr marL="2057400" indent="-228600" algn="l" defTabSz="995363">
                  <a:spcBef>
                    <a:spcPct val="20000"/>
                  </a:spcBef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5pPr>
                <a:lvl6pPr marL="25146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6pPr>
                <a:lvl7pPr marL="29718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7pPr>
                <a:lvl8pPr marL="34290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8pPr>
                <a:lvl9pPr marL="3886200" indent="-228600" defTabSz="995363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rgbClr val="000000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8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7" name="직사각형 36"/>
              <p:cNvSpPr/>
              <p:nvPr/>
            </p:nvSpPr>
            <p:spPr>
              <a:xfrm flipV="1">
                <a:off x="257594" y="1755948"/>
                <a:ext cx="2262830" cy="216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350"/>
              </a:p>
            </p:txBody>
          </p:sp>
        </p:grpSp>
      </p:grpSp>
      <p:grpSp>
        <p:nvGrpSpPr>
          <p:cNvPr id="19" name="그룹 18"/>
          <p:cNvGrpSpPr/>
          <p:nvPr/>
        </p:nvGrpSpPr>
        <p:grpSpPr>
          <a:xfrm>
            <a:off x="470638" y="1547516"/>
            <a:ext cx="8308626" cy="307777"/>
            <a:chOff x="1287462" y="4789239"/>
            <a:chExt cx="8308626" cy="307777"/>
          </a:xfrm>
        </p:grpSpPr>
        <p:sp>
          <p:nvSpPr>
            <p:cNvPr id="20" name="오각형 19"/>
            <p:cNvSpPr/>
            <p:nvPr/>
          </p:nvSpPr>
          <p:spPr>
            <a:xfrm>
              <a:off x="1287462" y="4807765"/>
              <a:ext cx="792000" cy="245327"/>
            </a:xfrm>
            <a:prstGeom prst="homePlate">
              <a:avLst/>
            </a:prstGeom>
            <a:solidFill>
              <a:srgbClr val="2D61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b="1" dirty="0"/>
                <a:t>그림 </a:t>
              </a:r>
              <a:r>
                <a:rPr lang="en-US" altLang="ko-KR" sz="1400" b="1" dirty="0"/>
                <a:t>5</a:t>
              </a:r>
              <a:endParaRPr lang="ko-KR" altLang="en-US" sz="1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079461" y="4789239"/>
              <a:ext cx="75166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ct val="0"/>
                </a:spcBef>
              </a:pPr>
              <a:r>
                <a:rPr lang="ko-KR" altLang="en-US" sz="1400" b="1" dirty="0">
                  <a:latin typeface="맑은 고딕" panose="020B0503020000020004" pitchFamily="50" charset="-127"/>
                </a:rPr>
                <a:t>재고자산의 과대평가가 재무제표에 미치는 영향</a:t>
              </a:r>
            </a:p>
          </p:txBody>
        </p:sp>
      </p:grpSp>
      <p:sp>
        <p:nvSpPr>
          <p:cNvPr id="23" name="Rectangle 11"/>
          <p:cNvSpPr>
            <a:spLocks noChangeArrowheads="1"/>
          </p:cNvSpPr>
          <p:nvPr/>
        </p:nvSpPr>
        <p:spPr bwMode="auto">
          <a:xfrm>
            <a:off x="1575522" y="4959732"/>
            <a:ext cx="5721205" cy="76681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lIns="99477" tIns="49735" rIns="99477" bIns="49735"/>
          <a:lstStyle>
            <a:lvl1pPr eaLnBrk="0" hangingPunct="0">
              <a:defRPr kumimoj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Verdana" pitchFamily="34" charset="0"/>
                <a:ea typeface="굴림" pitchFamily="50" charset="-127"/>
              </a:defRPr>
            </a:lvl9pPr>
          </a:lstStyle>
          <a:p>
            <a:pPr algn="ctr" eaLnBrk="1" hangingPunct="1">
              <a:lnSpc>
                <a:spcPts val="2400"/>
              </a:lnSpc>
              <a:defRPr/>
            </a:pPr>
            <a:r>
              <a:rPr lang="ko-KR" altLang="en-US" sz="15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당기 기말 재고자산의 </a:t>
            </a:r>
            <a:r>
              <a:rPr lang="ko-KR" altLang="en-US" sz="15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rPr>
              <a:t>과대</a:t>
            </a:r>
            <a:r>
              <a:rPr lang="ko-KR" altLang="en-US" sz="15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평가 </a:t>
            </a:r>
            <a:r>
              <a:rPr lang="en-US" altLang="ko-KR" sz="15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5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당기 매출원가의 </a:t>
            </a:r>
            <a:r>
              <a:rPr lang="ko-KR" altLang="en-US" sz="15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과소</a:t>
            </a:r>
            <a:r>
              <a:rPr lang="ko-KR" altLang="en-US" sz="15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평가</a:t>
            </a:r>
            <a:endParaRPr lang="en-US" altLang="ko-KR" sz="15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sym typeface="Wingdings" panose="05000000000000000000" pitchFamily="2" charset="2"/>
            </a:endParaRPr>
          </a:p>
          <a:p>
            <a:pPr algn="ctr" eaLnBrk="1" hangingPunct="1">
              <a:lnSpc>
                <a:spcPts val="2400"/>
              </a:lnSpc>
              <a:defRPr/>
            </a:pPr>
            <a:r>
              <a:rPr kumimoji="0" lang="ko-KR" altLang="en-US" sz="15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차기 기초 재고자산의 </a:t>
            </a:r>
            <a:r>
              <a:rPr kumimoji="0" lang="ko-KR" altLang="en-US" sz="15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과대</a:t>
            </a:r>
            <a:r>
              <a:rPr kumimoji="0" lang="ko-KR" altLang="en-US" sz="15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평가</a:t>
            </a:r>
            <a:r>
              <a:rPr kumimoji="0" lang="en-US" altLang="ko-KR" sz="15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  </a:t>
            </a:r>
            <a:r>
              <a:rPr kumimoji="0" lang="ko-KR" altLang="en-US" sz="15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차기 매출원가의 </a:t>
            </a:r>
            <a:r>
              <a:rPr kumimoji="0" lang="ko-KR" altLang="en-US" sz="1500" b="1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과대</a:t>
            </a:r>
            <a:r>
              <a:rPr kumimoji="0" lang="ko-KR" altLang="en-US" sz="1500" b="1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sym typeface="Wingdings" panose="05000000000000000000" pitchFamily="2" charset="2"/>
              </a:rPr>
              <a:t>평가</a:t>
            </a:r>
            <a:endParaRPr kumimoji="0" lang="en-US" altLang="ko-KR" sz="1500" b="1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198" y="2151256"/>
            <a:ext cx="8020187" cy="2611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15978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5"/>
          <p:cNvSpPr>
            <a:spLocks noChangeArrowheads="1"/>
          </p:cNvSpPr>
          <p:nvPr/>
        </p:nvSpPr>
        <p:spPr bwMode="auto">
          <a:xfrm>
            <a:off x="257596" y="1478422"/>
            <a:ext cx="8607128" cy="4929345"/>
          </a:xfrm>
          <a:prstGeom prst="rect">
            <a:avLst/>
          </a:prstGeom>
          <a:noFill/>
          <a:ln>
            <a:noFill/>
          </a:ln>
        </p:spPr>
        <p:txBody>
          <a:bodyPr lIns="74608" tIns="37301" rIns="74608" bIns="37301" anchor="t"/>
          <a:lstStyle>
            <a:lvl1pPr algn="l" defTabSz="995363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algn="l" defTabSz="9953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algn="l" defTabSz="995363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algn="l" defTabSz="995363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algn="l" defTabSz="995363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5363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marL="144000" indent="-144000" latinLnBrk="0">
              <a:lnSpc>
                <a:spcPct val="120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맑은 고딕" panose="020B0503020000020004" pitchFamily="50" charset="-127"/>
              </a:rPr>
              <a:t>저가법</a:t>
            </a:r>
            <a:r>
              <a:rPr lang="en-US" altLang="ko-KR" sz="1600" dirty="0">
                <a:latin typeface="맑은 고딕" panose="020B0503020000020004" pitchFamily="50" charset="-127"/>
              </a:rPr>
              <a:t>: </a:t>
            </a:r>
            <a:r>
              <a:rPr lang="ko-KR" altLang="en-US" sz="1600" dirty="0">
                <a:latin typeface="맑은 고딕" panose="020B0503020000020004" pitchFamily="50" charset="-127"/>
              </a:rPr>
              <a:t>재고자산의 </a:t>
            </a:r>
            <a:r>
              <a:rPr lang="ko-KR" altLang="en-US" sz="1600" b="1" dirty="0">
                <a:latin typeface="맑은 고딕" panose="020B0503020000020004" pitchFamily="50" charset="-127"/>
              </a:rPr>
              <a:t>취득원가</a:t>
            </a:r>
            <a:r>
              <a:rPr lang="ko-KR" altLang="en-US" sz="1600" dirty="0">
                <a:latin typeface="맑은 고딕" panose="020B0503020000020004" pitchFamily="50" charset="-127"/>
              </a:rPr>
              <a:t>와 </a:t>
            </a:r>
            <a:r>
              <a:rPr lang="ko-KR" altLang="en-US" sz="1600" b="1" dirty="0">
                <a:latin typeface="맑은 고딕" panose="020B0503020000020004" pitchFamily="50" charset="-127"/>
              </a:rPr>
              <a:t>순실현가치</a:t>
            </a:r>
            <a:r>
              <a:rPr lang="ko-KR" altLang="en-US" sz="1600" dirty="0">
                <a:latin typeface="맑은 고딕" panose="020B0503020000020004" pitchFamily="50" charset="-127"/>
              </a:rPr>
              <a:t>를 비교하여 이중 </a:t>
            </a:r>
            <a:r>
              <a:rPr lang="ko-KR" altLang="en-US" sz="1600" b="1" dirty="0">
                <a:latin typeface="맑은 고딕" panose="020B0503020000020004" pitchFamily="50" charset="-127"/>
              </a:rPr>
              <a:t>낮은 금액</a:t>
            </a:r>
            <a:r>
              <a:rPr lang="ko-KR" altLang="en-US" sz="1600" dirty="0">
                <a:latin typeface="맑은 고딕" panose="020B0503020000020004" pitchFamily="50" charset="-127"/>
              </a:rPr>
              <a:t>으로 재고자산을 측정하는 것 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latinLnBrk="0">
              <a:lnSpc>
                <a:spcPct val="120000"/>
              </a:lnSpc>
              <a:spcBef>
                <a:spcPts val="600"/>
              </a:spcBef>
              <a:buClrTx/>
              <a:buSzTx/>
              <a:buNone/>
            </a:pPr>
            <a:r>
              <a:rPr lang="ko-KR" altLang="en-US" sz="1600" dirty="0">
                <a:latin typeface="맑은 고딕" panose="020B0503020000020004" pitchFamily="50" charset="-127"/>
              </a:rPr>
              <a:t>예</a:t>
            </a:r>
            <a:r>
              <a:rPr lang="en-US" altLang="ko-KR" sz="1600" dirty="0">
                <a:latin typeface="맑은 고딕" panose="020B0503020000020004" pitchFamily="50" charset="-127"/>
              </a:rPr>
              <a:t>) </a:t>
            </a:r>
            <a:r>
              <a:rPr lang="ko-KR" altLang="en-US" sz="1600" dirty="0">
                <a:latin typeface="맑은 고딕" panose="020B0503020000020004" pitchFamily="50" charset="-127"/>
              </a:rPr>
              <a:t>재고자산의 판매가격이 하락한 경우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 err="1">
                <a:latin typeface="맑은 고딕" panose="020B0503020000020004" pitchFamily="50" charset="-127"/>
              </a:rPr>
              <a:t>진부화된</a:t>
            </a:r>
            <a:r>
              <a:rPr lang="ko-KR" altLang="en-US" sz="1600" dirty="0">
                <a:latin typeface="맑은 고딕" panose="020B0503020000020004" pitchFamily="50" charset="-127"/>
              </a:rPr>
              <a:t> 경우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물리적으로 손상된 경우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144000" indent="-144000" latinLnBrk="0">
              <a:lnSpc>
                <a:spcPct val="120000"/>
              </a:lnSpc>
              <a:spcBef>
                <a:spcPts val="600"/>
              </a:spcBef>
              <a:buClrTx/>
              <a:buSzTx/>
              <a:buNone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marL="144000" indent="-144000" latinLnBrk="0">
              <a:lnSpc>
                <a:spcPct val="120000"/>
              </a:lnSpc>
              <a:spcBef>
                <a:spcPts val="600"/>
              </a:spcBef>
              <a:buClrTx/>
              <a:buSzTx/>
              <a:buNone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marL="144000" indent="-144000" latinLnBrk="0">
              <a:lnSpc>
                <a:spcPct val="120000"/>
              </a:lnSpc>
              <a:spcBef>
                <a:spcPts val="600"/>
              </a:spcBef>
              <a:buClrTx/>
              <a:buSzTx/>
              <a:buNone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marL="144000" indent="-144000" latinLnBrk="0">
              <a:lnSpc>
                <a:spcPct val="120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marL="144000" indent="-144000" latinLnBrk="0">
              <a:lnSpc>
                <a:spcPct val="120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marL="144000" indent="-144000" latinLnBrk="0">
              <a:lnSpc>
                <a:spcPct val="120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50" charset="-127"/>
              </a:rPr>
              <a:t>재고자산평가손실은 매출원가에 가산하고</a:t>
            </a:r>
            <a:r>
              <a:rPr lang="en-US" altLang="ko-KR" sz="1600" dirty="0">
                <a:latin typeface="맑은 고딕" panose="020B0503020000020004" pitchFamily="50" charset="-127"/>
              </a:rPr>
              <a:t>, </a:t>
            </a:r>
            <a:r>
              <a:rPr lang="ko-KR" altLang="en-US" sz="1600" dirty="0">
                <a:latin typeface="맑은 고딕" panose="020B0503020000020004" pitchFamily="50" charset="-127"/>
              </a:rPr>
              <a:t>동 금액을 </a:t>
            </a:r>
            <a:r>
              <a:rPr lang="ko-KR" altLang="en-US" sz="1600" b="1" dirty="0">
                <a:latin typeface="맑은 고딕" panose="020B0503020000020004" pitchFamily="50" charset="-127"/>
              </a:rPr>
              <a:t>재고자산평가충당금</a:t>
            </a:r>
            <a:r>
              <a:rPr lang="ko-KR" altLang="en-US" sz="1600" dirty="0">
                <a:latin typeface="맑은 고딕" panose="020B0503020000020004" pitchFamily="50" charset="-127"/>
              </a:rPr>
              <a:t>으로 기록하여 재고자산의 차감항목으로 표시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144000" indent="-144000" latinLnBrk="0">
              <a:lnSpc>
                <a:spcPct val="120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맑은 고딕" panose="020B0503020000020004" pitchFamily="50" charset="-127"/>
              </a:rPr>
              <a:t>재고자산의 가치하락이나 상승이 종목에 따라 다를 수 있으므로 재고자산에 대한</a:t>
            </a:r>
            <a:r>
              <a:rPr lang="en-US" altLang="ko-KR" sz="1600" dirty="0">
                <a:latin typeface="맑은 고딕" panose="020B0503020000020004" pitchFamily="50" charset="-127"/>
              </a:rPr>
              <a:t> </a:t>
            </a:r>
            <a:r>
              <a:rPr lang="ko-KR" altLang="en-US" sz="1600" dirty="0">
                <a:latin typeface="맑은 고딕" panose="020B0503020000020004" pitchFamily="50" charset="-127"/>
              </a:rPr>
              <a:t>저가법은 </a:t>
            </a:r>
            <a:r>
              <a:rPr lang="ko-KR" altLang="en-US" sz="1600" b="1" dirty="0">
                <a:solidFill>
                  <a:srgbClr val="C00000"/>
                </a:solidFill>
                <a:latin typeface="맑은 고딕" panose="020B0503020000020004" pitchFamily="50" charset="-127"/>
              </a:rPr>
              <a:t>항목별</a:t>
            </a:r>
            <a:r>
              <a:rPr lang="ko-KR" altLang="en-US" sz="1600" dirty="0">
                <a:latin typeface="맑은 고딕" panose="020B0503020000020004" pitchFamily="50" charset="-127"/>
              </a:rPr>
              <a:t>로 적용</a:t>
            </a:r>
            <a:endParaRPr lang="en-US" altLang="ko-KR" sz="1600" dirty="0">
              <a:latin typeface="맑은 고딕" panose="020B0503020000020004" pitchFamily="50" charset="-127"/>
            </a:endParaRPr>
          </a:p>
          <a:p>
            <a:pPr marL="285750" indent="-285750" latinLnBrk="0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endParaRPr lang="en-US" altLang="ko-KR" sz="1600" dirty="0">
              <a:latin typeface="맑은 고딕" panose="020B0503020000020004" pitchFamily="50" charset="-127"/>
            </a:endParaRP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1161819" y="2748068"/>
            <a:ext cx="6218695" cy="119256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 algn="ctr">
            <a:noFill/>
            <a:miter lim="800000"/>
            <a:headEnd/>
            <a:tailEnd/>
          </a:ln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115000"/>
              <a:buFont typeface="Wingdings" panose="05000000000000000000" pitchFamily="2" charset="2"/>
              <a:buChar char="§"/>
              <a:defRPr sz="2800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latinLnBrk="0">
              <a:lnSpc>
                <a:spcPts val="24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기말재고＝</a:t>
            </a:r>
            <a:r>
              <a:rPr kumimoji="0"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min(</a:t>
            </a:r>
            <a:r>
              <a:rPr kumimoji="0" lang="ko-KR" altLang="en-US" sz="16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순실현가치</a:t>
            </a:r>
            <a:r>
              <a:rPr kumimoji="0"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kumimoji="0"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취득원가</a:t>
            </a:r>
            <a:r>
              <a:rPr kumimoji="0" lang="en-US" altLang="ko-KR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latinLnBrk="0">
              <a:lnSpc>
                <a:spcPts val="24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재고자산평가손실＝</a:t>
            </a:r>
            <a:r>
              <a:rPr kumimoji="0" lang="ko-KR" altLang="en-US" sz="16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순취득원가</a:t>
            </a:r>
            <a:r>
              <a:rPr kumimoji="0" lang="ko-KR" altLang="en-US" sz="1600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－</a:t>
            </a:r>
            <a:r>
              <a:rPr kumimoji="0" lang="ko-KR" altLang="en-US" sz="16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순실현가치</a:t>
            </a:r>
            <a:endParaRPr kumimoji="0" lang="en-US" altLang="ko-KR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latinLnBrk="0">
              <a:spcBef>
                <a:spcPct val="0"/>
              </a:spcBef>
              <a:buClrTx/>
              <a:buSzTx/>
              <a:buNone/>
            </a:pPr>
            <a:r>
              <a:rPr lang="en-US" altLang="ko-KR" sz="1300" dirty="0">
                <a:solidFill>
                  <a:srgbClr val="C00000"/>
                </a:solidFill>
                <a:latin typeface="맑은 고딕" panose="020B0503020000020004" pitchFamily="50" charset="-127"/>
              </a:rPr>
              <a:t>* </a:t>
            </a:r>
            <a:r>
              <a:rPr lang="ko-KR" altLang="en-US" sz="1300" dirty="0" err="1">
                <a:solidFill>
                  <a:srgbClr val="C00000"/>
                </a:solidFill>
                <a:latin typeface="맑은 고딕" panose="020B0503020000020004" pitchFamily="50" charset="-127"/>
              </a:rPr>
              <a:t>순실현가치</a:t>
            </a:r>
            <a:r>
              <a:rPr lang="ko-KR" altLang="en-US" sz="1300" dirty="0">
                <a:solidFill>
                  <a:srgbClr val="C0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300" dirty="0">
                <a:latin typeface="맑은 고딕" panose="020B0503020000020004" pitchFamily="50" charset="-127"/>
              </a:rPr>
              <a:t>: </a:t>
            </a:r>
            <a:r>
              <a:rPr lang="ko-KR" altLang="en-US" sz="1300" dirty="0">
                <a:latin typeface="맑은 고딕" panose="020B0503020000020004" pitchFamily="50" charset="-127"/>
              </a:rPr>
              <a:t>재고자산의 판매를 통해 실현할 것으로 기대하는 </a:t>
            </a:r>
            <a:r>
              <a:rPr lang="ko-KR" altLang="en-US" sz="1300" dirty="0" err="1">
                <a:latin typeface="맑은 고딕" panose="020B0503020000020004" pitchFamily="50" charset="-127"/>
              </a:rPr>
              <a:t>순매각금액</a:t>
            </a:r>
            <a:r>
              <a:rPr lang="en-US" altLang="ko-KR" sz="1300" dirty="0">
                <a:latin typeface="맑은 고딕" panose="020B0503020000020004" pitchFamily="50" charset="-127"/>
              </a:rPr>
              <a:t>(</a:t>
            </a:r>
            <a:r>
              <a:rPr lang="ko-KR" altLang="en-US" sz="1300" dirty="0">
                <a:latin typeface="맑은 고딕" panose="020B0503020000020004" pitchFamily="50" charset="-127"/>
              </a:rPr>
              <a:t>예상판매가격 </a:t>
            </a:r>
            <a:r>
              <a:rPr lang="en-US" altLang="ko-KR" sz="1300" dirty="0">
                <a:latin typeface="맑은 고딕" panose="020B0503020000020004" pitchFamily="50" charset="-127"/>
              </a:rPr>
              <a:t>– </a:t>
            </a:r>
            <a:r>
              <a:rPr lang="ko-KR" altLang="en-US" sz="1300" dirty="0">
                <a:latin typeface="맑은 고딕" panose="020B0503020000020004" pitchFamily="50" charset="-127"/>
              </a:rPr>
              <a:t>예상판매비용</a:t>
            </a:r>
            <a:r>
              <a:rPr lang="en-US" altLang="ko-KR" sz="1300" dirty="0">
                <a:latin typeface="맑은 고딕" panose="020B0503020000020004" pitchFamily="50" charset="-127"/>
              </a:rPr>
              <a:t>)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60088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263282"/>
            <a:ext cx="8711460" cy="5145756"/>
            <a:chOff x="190714" y="1320883"/>
            <a:chExt cx="8711460" cy="4985454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4844838"/>
              <a:chOff x="269048" y="1722741"/>
              <a:chExt cx="8648775" cy="4844838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2"/>
                <a:ext cx="8641369" cy="4821137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3"/>
              <a:ext cx="4257230" cy="326948"/>
              <a:chOff x="190714" y="1320889"/>
              <a:chExt cx="3641745" cy="290351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3641745" cy="290351"/>
                <a:chOff x="405822" y="2237753"/>
                <a:chExt cx="3641745" cy="290351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3767179" y="2237753"/>
                  <a:ext cx="280388" cy="26836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54927" y="2237753"/>
                  <a:ext cx="3390661" cy="274857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6-10 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재고자산의 저가법</a:t>
                  </a:r>
                  <a:endParaRPr lang="ko-KR" altLang="en-US" sz="1600" b="1" dirty="0"/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538402" y="1590232"/>
            <a:ext cx="8237611" cy="4316298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600" b="1" dirty="0">
                <a:latin typeface="맑은 고딕" panose="020B0503020000020004" pitchFamily="50" charset="-127"/>
              </a:rPr>
              <a:t>㈜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세아제강은</a:t>
            </a:r>
            <a:r>
              <a:rPr lang="ko-KR" altLang="en-US" sz="1600" b="1" dirty="0">
                <a:latin typeface="맑은 고딕" panose="020B0503020000020004" pitchFamily="50" charset="-127"/>
              </a:rPr>
              <a:t> </a:t>
            </a:r>
            <a:r>
              <a:rPr lang="en-US" altLang="ko-KR" sz="1600" b="1" dirty="0">
                <a:latin typeface="맑은 고딕" panose="020B0503020000020004" pitchFamily="50" charset="-127"/>
              </a:rPr>
              <a:t>20X1</a:t>
            </a:r>
            <a:r>
              <a:rPr lang="ko-KR" altLang="en-US" sz="1600" b="1" dirty="0">
                <a:latin typeface="맑은 고딕" panose="020B0503020000020004" pitchFamily="50" charset="-127"/>
              </a:rPr>
              <a:t>년말 다음 네 가지 항목의 상품을 재고자산으로 보유하고 있다</a:t>
            </a:r>
            <a:r>
              <a:rPr lang="en-US" altLang="ko-KR" sz="1600" b="1" dirty="0">
                <a:latin typeface="맑은 고딕" panose="020B0503020000020004" pitchFamily="50" charset="-127"/>
              </a:rPr>
              <a:t>.</a:t>
            </a:r>
          </a:p>
          <a:p>
            <a:pPr algn="just" latinLnBrk="0">
              <a:lnSpc>
                <a:spcPts val="2400"/>
              </a:lnSpc>
              <a:spcBef>
                <a:spcPct val="0"/>
              </a:spcBef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just" latinLnBrk="0">
              <a:lnSpc>
                <a:spcPts val="2400"/>
              </a:lnSpc>
              <a:spcBef>
                <a:spcPct val="0"/>
              </a:spcBef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just" latinLnBrk="0">
              <a:lnSpc>
                <a:spcPts val="2400"/>
              </a:lnSpc>
              <a:spcBef>
                <a:spcPct val="0"/>
              </a:spcBef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just" latinLnBrk="0">
              <a:lnSpc>
                <a:spcPts val="2400"/>
              </a:lnSpc>
              <a:spcBef>
                <a:spcPct val="0"/>
              </a:spcBef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just" latinLnBrk="0">
              <a:lnSpc>
                <a:spcPts val="2400"/>
              </a:lnSpc>
              <a:spcBef>
                <a:spcPct val="0"/>
              </a:spcBef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just" latinLnBrk="0">
              <a:lnSpc>
                <a:spcPts val="2400"/>
              </a:lnSpc>
              <a:spcBef>
                <a:spcPct val="0"/>
              </a:spcBef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just" latinLnBrk="0">
              <a:lnSpc>
                <a:spcPts val="2400"/>
              </a:lnSpc>
              <a:spcBef>
                <a:spcPct val="0"/>
              </a:spcBef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just" latinLnBrk="0">
              <a:lnSpc>
                <a:spcPts val="2400"/>
              </a:lnSpc>
              <a:spcBef>
                <a:spcPts val="1800"/>
              </a:spcBef>
            </a:pPr>
            <a:r>
              <a:rPr lang="en-US" altLang="ko-KR" sz="1600" dirty="0">
                <a:latin typeface="맑은 고딕" panose="020B0503020000020004" pitchFamily="50" charset="-127"/>
              </a:rPr>
              <a:t>20X1</a:t>
            </a:r>
            <a:r>
              <a:rPr lang="ko-KR" altLang="en-US" sz="1600" dirty="0">
                <a:latin typeface="맑은 고딕" panose="020B0503020000020004" pitchFamily="50" charset="-127"/>
              </a:rPr>
              <a:t>년말 저가법을 적용한 분개와 부분재무상태표를 작성하라</a:t>
            </a:r>
            <a:r>
              <a:rPr lang="en-US" altLang="ko-KR" sz="1600" dirty="0">
                <a:latin typeface="맑은 고딕" panose="020B0503020000020004" pitchFamily="50" charset="-127"/>
              </a:rPr>
              <a:t>.</a:t>
            </a:r>
          </a:p>
          <a:p>
            <a:pPr algn="just" latinLnBrk="0">
              <a:lnSpc>
                <a:spcPts val="2400"/>
              </a:lnSpc>
              <a:spcBef>
                <a:spcPct val="0"/>
              </a:spcBef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algn="just"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600" b="1" dirty="0">
                <a:latin typeface="맑은 고딕" panose="020B0503020000020004" pitchFamily="50" charset="-127"/>
              </a:rPr>
              <a:t> </a:t>
            </a:r>
          </a:p>
          <a:p>
            <a:pPr algn="just" latinLnBrk="0">
              <a:lnSpc>
                <a:spcPts val="2400"/>
              </a:lnSpc>
              <a:spcBef>
                <a:spcPct val="0"/>
              </a:spcBef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600" b="1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600" b="1" dirty="0">
                <a:latin typeface="맑은 고딕" panose="020B0503020000020004" pitchFamily="50" charset="-127"/>
              </a:rPr>
              <a:t> </a:t>
            </a: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8815232"/>
              </p:ext>
            </p:extLst>
          </p:nvPr>
        </p:nvGraphicFramePr>
        <p:xfrm>
          <a:off x="1214438" y="2043776"/>
          <a:ext cx="6715125" cy="1871806"/>
        </p:xfrm>
        <a:graphic>
          <a:graphicData uri="http://schemas.openxmlformats.org/drawingml/2006/table">
            <a:tbl>
              <a:tblPr/>
              <a:tblGrid>
                <a:gridCol w="16779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9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79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34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상품 항목</a:t>
                      </a:r>
                    </a:p>
                  </a:txBody>
                  <a:tcPr marL="17907" marR="17907" marT="17887" marB="1788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취득원가 ①</a:t>
                      </a:r>
                    </a:p>
                  </a:txBody>
                  <a:tcPr marL="17907" marR="17907" marT="17887" marB="1788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순실현가치 ②</a:t>
                      </a:r>
                    </a:p>
                  </a:txBody>
                  <a:tcPr marL="17907" marR="17907" marT="17887" marB="1788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차이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(②</a:t>
                      </a: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－①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marL="17907" marR="17907" marT="17887" marB="1788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8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맑은 고딕" pitchFamily="50" charset="-127"/>
                        </a:rPr>
                        <a:t>A</a:t>
                      </a:r>
                    </a:p>
                  </a:txBody>
                  <a:tcPr marL="17907" marR="17907" marT="17887" marB="1788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맑은 고딕" pitchFamily="50" charset="-127"/>
                        </a:rPr>
                        <a:t>7,000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맑은 고딕" pitchFamily="50" charset="-127"/>
                      </a:endParaRPr>
                    </a:p>
                  </a:txBody>
                  <a:tcPr marL="17907" marR="17907" marT="17887" marB="1788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맑은 고딕" pitchFamily="50" charset="-127"/>
                        </a:rPr>
                        <a:t>9,500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맑은 고딕" pitchFamily="50" charset="-127"/>
                      </a:endParaRPr>
                    </a:p>
                  </a:txBody>
                  <a:tcPr marL="17907" marR="17907" marT="17887" marB="1788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맑은 고딕" pitchFamily="50" charset="-127"/>
                        </a:rPr>
                        <a:t>￦</a:t>
                      </a:r>
                      <a:r>
                        <a:rPr kumimoji="0" lang="en-US" altLang="ko-K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맑은 고딕" pitchFamily="50" charset="-127"/>
                        </a:rPr>
                        <a:t>2,500</a:t>
                      </a: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맑은 고딕" pitchFamily="50" charset="-127"/>
                      </a:endParaRPr>
                    </a:p>
                  </a:txBody>
                  <a:tcPr marL="17907" marR="17907" marT="17887" marB="1788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9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맑은 고딕" pitchFamily="50" charset="-127"/>
                        </a:rPr>
                        <a:t>B</a:t>
                      </a:r>
                    </a:p>
                  </a:txBody>
                  <a:tcPr marL="17907" marR="17907" marT="17887" marB="178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맑은 고딕" pitchFamily="50" charset="-127"/>
                        </a:rPr>
                        <a:t>   5,000</a:t>
                      </a:r>
                    </a:p>
                  </a:txBody>
                  <a:tcPr marL="17907" marR="17907" marT="17887" marB="178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맑은 고딕" pitchFamily="50" charset="-127"/>
                        </a:rPr>
                        <a:t>   4,000</a:t>
                      </a:r>
                    </a:p>
                  </a:txBody>
                  <a:tcPr marL="17907" marR="17907" marT="17887" marB="178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맑은 고딕" pitchFamily="50" charset="-127"/>
                        </a:rPr>
                        <a:t>－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맑은 고딕" pitchFamily="50" charset="-127"/>
                        </a:rPr>
                        <a:t>1,000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맑은 고딕" pitchFamily="50" charset="-127"/>
                      </a:endParaRPr>
                    </a:p>
                  </a:txBody>
                  <a:tcPr marL="17907" marR="17907" marT="17887" marB="178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95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맑은 고딕" pitchFamily="50" charset="-127"/>
                        </a:rPr>
                        <a:t>C</a:t>
                      </a:r>
                    </a:p>
                  </a:txBody>
                  <a:tcPr marL="17907" marR="17907" marT="17887" marB="178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</a:rPr>
                        <a:t>   8,500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맑은 고딕" pitchFamily="50" charset="-127"/>
                      </a:endParaRPr>
                    </a:p>
                  </a:txBody>
                  <a:tcPr marL="17907" marR="17907" marT="17887" marB="178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</a:rPr>
                        <a:t>   7,000</a:t>
                      </a:r>
                      <a:endParaRPr kumimoji="0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맑은 고딕" pitchFamily="50" charset="-127"/>
                      </a:endParaRPr>
                    </a:p>
                  </a:txBody>
                  <a:tcPr marL="17907" marR="17907" marT="17887" marB="178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</a:rPr>
                        <a:t>－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+mn-ea"/>
                        </a:rPr>
                        <a:t>1,500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+mn-ea"/>
                      </a:endParaRPr>
                    </a:p>
                  </a:txBody>
                  <a:tcPr marL="17907" marR="17907" marT="17887" marB="178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60357"/>
                  </a:ext>
                </a:extLst>
              </a:tr>
              <a:tr h="3118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맑은 고딕" pitchFamily="50" charset="-127"/>
                        </a:rPr>
                        <a:t>D</a:t>
                      </a:r>
                    </a:p>
                  </a:txBody>
                  <a:tcPr marL="17907" marR="17907" marT="17887" marB="178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맑은 고딕" pitchFamily="50" charset="-127"/>
                        </a:rPr>
                        <a:t>  1,000</a:t>
                      </a:r>
                    </a:p>
                  </a:txBody>
                  <a:tcPr marL="17907" marR="17907" marT="17887" marB="178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맑은 고딕" pitchFamily="50" charset="-127"/>
                        </a:rPr>
                        <a:t>  1,000</a:t>
                      </a:r>
                    </a:p>
                  </a:txBody>
                  <a:tcPr marL="17907" marR="17907" marT="17887" marB="178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맑은 고딕" pitchFamily="50" charset="-127"/>
                        </a:rPr>
                        <a:t>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맑은 고딕" pitchFamily="50" charset="-127"/>
                      </a:endParaRPr>
                    </a:p>
                  </a:txBody>
                  <a:tcPr marL="17907" marR="17907" marT="17887" marB="1788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8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맑은 고딕" pitchFamily="50" charset="-127"/>
                        </a:rPr>
                        <a:t>합계</a:t>
                      </a:r>
                    </a:p>
                  </a:txBody>
                  <a:tcPr marL="17907" marR="17907" marT="17887" marB="1788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맑은 고딕" pitchFamily="50" charset="-127"/>
                        </a:rPr>
                        <a:t>        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맑은 고딕" pitchFamily="50" charset="-127"/>
                        </a:rPr>
                        <a:t>21,500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맑은 고딕" pitchFamily="50" charset="-127"/>
                      </a:endParaRPr>
                    </a:p>
                  </a:txBody>
                  <a:tcPr marL="17907" marR="17907" marT="17887" marB="1788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맑은 고딕" pitchFamily="50" charset="-127"/>
                        </a:rPr>
                        <a:t>        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맑은 고딕" pitchFamily="50" charset="-127"/>
                        </a:rPr>
                        <a:t>21,500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맑은 고딕" pitchFamily="50" charset="-127"/>
                      </a:endParaRPr>
                    </a:p>
                  </a:txBody>
                  <a:tcPr marL="17907" marR="17907" marT="17887" marB="1788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맑은 고딕" pitchFamily="50" charset="-127"/>
                        </a:rPr>
                        <a:t>－</a:t>
                      </a:r>
                    </a:p>
                  </a:txBody>
                  <a:tcPr marL="17907" marR="17907" marT="17887" marB="1788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45193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/>
          <p:cNvGrpSpPr/>
          <p:nvPr/>
        </p:nvGrpSpPr>
        <p:grpSpPr>
          <a:xfrm>
            <a:off x="216270" y="1263283"/>
            <a:ext cx="8711460" cy="5150582"/>
            <a:chOff x="190714" y="1320883"/>
            <a:chExt cx="8711460" cy="5150582"/>
          </a:xfrm>
        </p:grpSpPr>
        <p:grpSp>
          <p:nvGrpSpPr>
            <p:cNvPr id="28" name="그룹 27"/>
            <p:cNvGrpSpPr/>
            <p:nvPr/>
          </p:nvGrpSpPr>
          <p:grpSpPr>
            <a:xfrm>
              <a:off x="361935" y="1461499"/>
              <a:ext cx="8540239" cy="5009966"/>
              <a:chOff x="269048" y="1722741"/>
              <a:chExt cx="8648775" cy="5009966"/>
            </a:xfrm>
          </p:grpSpPr>
          <p:sp>
            <p:nvSpPr>
              <p:cNvPr id="40" name="Rectangle 15"/>
              <p:cNvSpPr>
                <a:spLocks noChangeArrowheads="1"/>
              </p:cNvSpPr>
              <p:nvPr/>
            </p:nvSpPr>
            <p:spPr bwMode="auto">
              <a:xfrm>
                <a:off x="269048" y="1746441"/>
                <a:ext cx="8641369" cy="4986266"/>
              </a:xfrm>
              <a:prstGeom prst="foldedCorner">
                <a:avLst>
                  <a:gd name="adj" fmla="val 5125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txBody>
              <a:bodyPr lIns="74608" tIns="37301" rIns="74608" bIns="37301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en-US" altLang="ko-KR" sz="1400" dirty="0">
                  <a:latin typeface="맑은 고딕" panose="020B0503020000020004" pitchFamily="50" charset="-127"/>
                </a:endParaRPr>
              </a:p>
              <a:p>
                <a:pPr>
                  <a:spcBef>
                    <a:spcPct val="0"/>
                  </a:spcBef>
                  <a:buClrTx/>
                  <a:buSzTx/>
                  <a:buNone/>
                </a:pPr>
                <a:endParaRPr lang="ko-KR" altLang="en-US" sz="14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277823" y="1722741"/>
                <a:ext cx="8640000" cy="45719"/>
              </a:xfrm>
              <a:prstGeom prst="rect">
                <a:avLst/>
              </a:prstGeom>
              <a:solidFill>
                <a:srgbClr val="2D61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  <p:grpSp>
          <p:nvGrpSpPr>
            <p:cNvPr id="30" name="그룹 29"/>
            <p:cNvGrpSpPr/>
            <p:nvPr/>
          </p:nvGrpSpPr>
          <p:grpSpPr>
            <a:xfrm>
              <a:off x="190714" y="1320883"/>
              <a:ext cx="4257230" cy="326948"/>
              <a:chOff x="190714" y="1320889"/>
              <a:chExt cx="3641745" cy="290351"/>
            </a:xfrm>
            <a:solidFill>
              <a:srgbClr val="2D61C8"/>
            </a:solidFill>
          </p:grpSpPr>
          <p:grpSp>
            <p:nvGrpSpPr>
              <p:cNvPr id="31" name="그룹 30"/>
              <p:cNvGrpSpPr/>
              <p:nvPr/>
            </p:nvGrpSpPr>
            <p:grpSpPr>
              <a:xfrm>
                <a:off x="190714" y="1320889"/>
                <a:ext cx="3641745" cy="290351"/>
                <a:chOff x="405822" y="2237753"/>
                <a:chExt cx="3641745" cy="290351"/>
              </a:xfrm>
              <a:grpFill/>
            </p:grpSpPr>
            <p:sp>
              <p:nvSpPr>
                <p:cNvPr id="33" name="타원 32"/>
                <p:cNvSpPr/>
                <p:nvPr/>
              </p:nvSpPr>
              <p:spPr>
                <a:xfrm>
                  <a:off x="405822" y="2237753"/>
                  <a:ext cx="290351" cy="290351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4" name="타원 33"/>
                <p:cNvSpPr/>
                <p:nvPr/>
              </p:nvSpPr>
              <p:spPr>
                <a:xfrm>
                  <a:off x="3767179" y="2237753"/>
                  <a:ext cx="280388" cy="26836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/>
                </a:p>
              </p:txBody>
            </p:sp>
            <p:sp>
              <p:nvSpPr>
                <p:cNvPr id="35" name="직사각형 34"/>
                <p:cNvSpPr/>
                <p:nvPr/>
              </p:nvSpPr>
              <p:spPr>
                <a:xfrm>
                  <a:off x="554927" y="2237753"/>
                  <a:ext cx="3390661" cy="274857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ko-KR" altLang="en-US" sz="1600" b="1" dirty="0"/>
                    <a:t>    예제 </a:t>
                  </a:r>
                  <a:r>
                    <a:rPr lang="en-US" altLang="ko-KR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6-10 </a:t>
                  </a:r>
                  <a:r>
                    <a:rPr lang="ko-KR" alt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재고자산의 저가법</a:t>
                  </a:r>
                  <a:endParaRPr lang="ko-KR" altLang="en-US" sz="1600" b="1" dirty="0"/>
                </a:p>
              </p:txBody>
            </p:sp>
            <p:sp>
              <p:nvSpPr>
                <p:cNvPr id="36" name="타원 35"/>
                <p:cNvSpPr/>
                <p:nvPr/>
              </p:nvSpPr>
              <p:spPr>
                <a:xfrm>
                  <a:off x="427833" y="2256153"/>
                  <a:ext cx="253549" cy="253549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ko-KR"/>
                  </a:defPPr>
                  <a:lvl1pPr marL="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1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6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pic>
            <p:nvPicPr>
              <p:cNvPr id="32" name="그림 31" descr="Log in | Sign Up Upload Clipart"/>
              <p:cNvPicPr>
                <a:picLocks noChangeAspect="1"/>
              </p:cNvPicPr>
              <p:nvPr/>
            </p:nvPicPr>
            <p:blipFill>
              <a:blip r:embed="rId3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5229" y="1359640"/>
                <a:ext cx="147147" cy="229618"/>
              </a:xfrm>
              <a:prstGeom prst="rect">
                <a:avLst/>
              </a:prstGeom>
            </p:spPr>
          </p:pic>
        </p:grpSp>
      </p:grp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538402" y="1594803"/>
            <a:ext cx="8237611" cy="4443551"/>
          </a:xfrm>
          <a:prstGeom prst="rect">
            <a:avLst/>
          </a:prstGeom>
          <a:noFill/>
          <a:ln>
            <a:noFill/>
          </a:ln>
        </p:spPr>
        <p:txBody>
          <a:bodyPr lIns="99477" tIns="49735" rIns="99477" bIns="49735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ko-KR" altLang="en-US" sz="1600" b="1" dirty="0">
                <a:latin typeface="맑은 고딕" panose="020B0503020000020004" pitchFamily="50" charset="-127"/>
              </a:rPr>
              <a:t>상품 </a:t>
            </a:r>
            <a:r>
              <a:rPr lang="en-US" altLang="ko-KR" sz="1600" b="1" dirty="0">
                <a:latin typeface="맑은 고딕" panose="020B0503020000020004" pitchFamily="50" charset="-127"/>
              </a:rPr>
              <a:t>B</a:t>
            </a:r>
            <a:r>
              <a:rPr lang="ko-KR" altLang="en-US" sz="1600" b="1" dirty="0">
                <a:latin typeface="맑은 고딕" panose="020B0503020000020004" pitchFamily="50" charset="-127"/>
              </a:rPr>
              <a:t>와 상품 </a:t>
            </a:r>
            <a:r>
              <a:rPr lang="en-US" altLang="ko-KR" sz="1600" b="1" dirty="0">
                <a:latin typeface="맑은 고딕" panose="020B0503020000020004" pitchFamily="50" charset="-127"/>
              </a:rPr>
              <a:t>C</a:t>
            </a:r>
            <a:r>
              <a:rPr lang="ko-KR" altLang="en-US" sz="1600" b="1" dirty="0">
                <a:latin typeface="맑은 고딕" panose="020B0503020000020004" pitchFamily="50" charset="-127"/>
              </a:rPr>
              <a:t>의</a:t>
            </a:r>
            <a:r>
              <a:rPr lang="en-US" altLang="ko-KR" sz="1600" b="1" dirty="0">
                <a:latin typeface="맑은 고딕" panose="020B0503020000020004" pitchFamily="50" charset="-127"/>
              </a:rPr>
              <a:t> 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순실현가치가</a:t>
            </a:r>
            <a:r>
              <a:rPr lang="ko-KR" altLang="en-US" sz="1600" b="1" dirty="0">
                <a:latin typeface="맑은 고딕" panose="020B0503020000020004" pitchFamily="50" charset="-127"/>
              </a:rPr>
              <a:t> 취득원가보다 낮으므로 그 차이를 재고자산평가손실로 인식하고</a:t>
            </a:r>
            <a:r>
              <a:rPr lang="en-US" altLang="ko-KR" sz="1600" b="1" dirty="0">
                <a:latin typeface="맑은 고딕" panose="020B0503020000020004" pitchFamily="50" charset="-127"/>
              </a:rPr>
              <a:t>, </a:t>
            </a:r>
            <a:r>
              <a:rPr lang="ko-KR" altLang="en-US" sz="1600" b="1" dirty="0" err="1">
                <a:latin typeface="맑은 고딕" panose="020B0503020000020004" pitchFamily="50" charset="-127"/>
              </a:rPr>
              <a:t>재무상태표에는</a:t>
            </a:r>
            <a:r>
              <a:rPr lang="ko-KR" altLang="en-US" sz="1600" b="1" dirty="0">
                <a:latin typeface="맑은 고딕" panose="020B0503020000020004" pitchFamily="50" charset="-127"/>
              </a:rPr>
              <a:t> 상품평가충당금을 상품의 차감계정으로 표시</a:t>
            </a:r>
            <a:r>
              <a:rPr lang="en-US" altLang="ko-KR" sz="1600" b="1" dirty="0">
                <a:latin typeface="맑은 고딕" panose="020B0503020000020004" pitchFamily="50" charset="-127"/>
              </a:rPr>
              <a:t>   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endParaRPr lang="en-US" altLang="ko-KR" sz="1600" dirty="0">
              <a:latin typeface="맑은 고딕" panose="020B0503020000020004" pitchFamily="50" charset="-127"/>
            </a:endParaRP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600" b="1" dirty="0">
                <a:latin typeface="맑은 고딕" panose="020B0503020000020004" pitchFamily="50" charset="-127"/>
              </a:rPr>
              <a:t>       (</a:t>
            </a:r>
            <a:r>
              <a:rPr lang="ko-KR" altLang="en-US" sz="1600" b="1" dirty="0">
                <a:latin typeface="맑은 고딕" panose="020B0503020000020004" pitchFamily="50" charset="-127"/>
              </a:rPr>
              <a:t>차</a:t>
            </a:r>
            <a:r>
              <a:rPr lang="en-US" altLang="ko-KR" sz="1600" b="1" dirty="0">
                <a:latin typeface="맑은 고딕" panose="020B0503020000020004" pitchFamily="50" charset="-127"/>
              </a:rPr>
              <a:t>) </a:t>
            </a:r>
            <a:r>
              <a:rPr lang="ko-KR" altLang="en-US" sz="1600" b="1" dirty="0">
                <a:latin typeface="맑은 고딕" panose="020B0503020000020004" pitchFamily="50" charset="-127"/>
              </a:rPr>
              <a:t>상품평가손실       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2,500    (</a:t>
            </a:r>
            <a:r>
              <a:rPr lang="ko-KR" altLang="en-US" sz="1600" b="1" dirty="0">
                <a:latin typeface="맑은 고딕" panose="020B0503020000020004" pitchFamily="50" charset="-127"/>
              </a:rPr>
              <a:t>대</a:t>
            </a:r>
            <a:r>
              <a:rPr lang="en-US" altLang="ko-KR" sz="1600" b="1" dirty="0">
                <a:latin typeface="맑은 고딕" panose="020B0503020000020004" pitchFamily="50" charset="-127"/>
              </a:rPr>
              <a:t>) </a:t>
            </a:r>
            <a:r>
              <a:rPr lang="ko-KR" altLang="en-US" sz="1600" b="1" dirty="0">
                <a:latin typeface="맑은 고딕" panose="020B0503020000020004" pitchFamily="50" charset="-127"/>
              </a:rPr>
              <a:t>상품평가충당금               </a:t>
            </a:r>
            <a:r>
              <a:rPr lang="en-US" altLang="ko-KR" sz="1600" b="1" dirty="0">
                <a:latin typeface="맑은 고딕" panose="020B0503020000020004" pitchFamily="50" charset="-127"/>
              </a:rPr>
              <a:t>2,500</a:t>
            </a:r>
          </a:p>
          <a:p>
            <a:pPr latinLnBrk="0">
              <a:lnSpc>
                <a:spcPts val="2400"/>
              </a:lnSpc>
              <a:spcBef>
                <a:spcPct val="0"/>
              </a:spcBef>
            </a:pPr>
            <a:r>
              <a:rPr lang="en-US" altLang="ko-KR" sz="1600" dirty="0">
                <a:latin typeface="맑은 고딕" panose="020B0503020000020004" pitchFamily="50" charset="-127"/>
              </a:rPr>
              <a:t>      </a:t>
            </a:r>
          </a:p>
        </p:txBody>
      </p:sp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656754"/>
              </p:ext>
            </p:extLst>
          </p:nvPr>
        </p:nvGraphicFramePr>
        <p:xfrm>
          <a:off x="2143125" y="3509282"/>
          <a:ext cx="5244646" cy="1547815"/>
        </p:xfrm>
        <a:graphic>
          <a:graphicData uri="http://schemas.openxmlformats.org/drawingml/2006/table">
            <a:tbl>
              <a:tblPr/>
              <a:tblGrid>
                <a:gridCol w="15505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85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72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858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부분재무상태표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(20×1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 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</a:t>
                      </a: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66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유동자산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66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상 품 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21,500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873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상품평가충당금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(2,500)</a:t>
                      </a: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1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669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￦</a:t>
                      </a:r>
                      <a:r>
                        <a:rPr kumimoji="0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19,000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51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64770" marR="64770" marT="17907" marB="17907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B826C-2140-4E69-8666-7BFCAA9ECB18}" type="slidenum">
              <a:rPr lang="ko-KR" altLang="en-US" smtClean="0"/>
              <a:pPr/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7484753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7_x.1 - 1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x.1 - 2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x.1 - 2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x.1 - 2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4_x.1 - 2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5_x.1 - 2.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</TotalTime>
  <Words>3063</Words>
  <Application>Microsoft Office PowerPoint</Application>
  <PresentationFormat>화면 슬라이드 쇼(4:3)</PresentationFormat>
  <Paragraphs>952</Paragraphs>
  <Slides>38</Slides>
  <Notes>31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38</vt:i4>
      </vt:variant>
    </vt:vector>
  </HeadingPairs>
  <TitlesOfParts>
    <vt:vector size="57" baseType="lpstr">
      <vt:lpstr>HY견고딕</vt:lpstr>
      <vt:lpstr>굴림</vt:lpstr>
      <vt:lpstr>맑은 고딕</vt:lpstr>
      <vt:lpstr>바탕</vt:lpstr>
      <vt:lpstr>신명 신명조</vt:lpstr>
      <vt:lpstr>함초롬바탕 확장</vt:lpstr>
      <vt:lpstr>휴먼고딕</vt:lpstr>
      <vt:lpstr>Arial</vt:lpstr>
      <vt:lpstr>Calibri</vt:lpstr>
      <vt:lpstr>Verdana</vt:lpstr>
      <vt:lpstr>Wingdings</vt:lpstr>
      <vt:lpstr>디자인 사용자 지정</vt:lpstr>
      <vt:lpstr>x.1 - 1.</vt:lpstr>
      <vt:lpstr>7_x.1 - 1.</vt:lpstr>
      <vt:lpstr>x.1 - 2.</vt:lpstr>
      <vt:lpstr>3_x.1 - 2.</vt:lpstr>
      <vt:lpstr>1_x.1 - 2.</vt:lpstr>
      <vt:lpstr>4_x.1 - 2.</vt:lpstr>
      <vt:lpstr>5_x.1 - 2.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석주 이</cp:lastModifiedBy>
  <cp:revision>2</cp:revision>
  <dcterms:created xsi:type="dcterms:W3CDTF">2024-07-23T07:28:26Z</dcterms:created>
  <dcterms:modified xsi:type="dcterms:W3CDTF">2025-10-18T06:01:47Z</dcterms:modified>
</cp:coreProperties>
</file>