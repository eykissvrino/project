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8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  <p:sldMasterId id="2147483827" r:id="rId2"/>
    <p:sldMasterId id="2147483660" r:id="rId3"/>
    <p:sldMasterId id="2147483799" r:id="rId4"/>
    <p:sldMasterId id="2147483802" r:id="rId5"/>
    <p:sldMasterId id="2147483830" r:id="rId6"/>
    <p:sldMasterId id="2147483805" r:id="rId7"/>
    <p:sldMasterId id="2147483808" r:id="rId8"/>
    <p:sldMasterId id="2147483811" r:id="rId9"/>
    <p:sldMasterId id="2147483814" r:id="rId10"/>
    <p:sldMasterId id="2147483834" r:id="rId11"/>
    <p:sldMasterId id="2147483817" r:id="rId12"/>
    <p:sldMasterId id="2147483820" r:id="rId13"/>
  </p:sldMasterIdLst>
  <p:notesMasterIdLst>
    <p:notesMasterId r:id="rId29"/>
  </p:notesMasterIdLst>
  <p:handoutMasterIdLst>
    <p:handoutMasterId r:id="rId30"/>
  </p:handoutMasterIdLst>
  <p:sldIdLst>
    <p:sldId id="470" r:id="rId14"/>
    <p:sldId id="437" r:id="rId15"/>
    <p:sldId id="471" r:id="rId16"/>
    <p:sldId id="493" r:id="rId17"/>
    <p:sldId id="474" r:id="rId18"/>
    <p:sldId id="475" r:id="rId19"/>
    <p:sldId id="492" r:id="rId20"/>
    <p:sldId id="476" r:id="rId21"/>
    <p:sldId id="499" r:id="rId22"/>
    <p:sldId id="478" r:id="rId23"/>
    <p:sldId id="501" r:id="rId24"/>
    <p:sldId id="485" r:id="rId25"/>
    <p:sldId id="496" r:id="rId26"/>
    <p:sldId id="491" r:id="rId27"/>
    <p:sldId id="500" r:id="rId28"/>
  </p:sldIdLst>
  <p:sldSz cx="9144000" cy="6858000" type="screen4x3"/>
  <p:notesSz cx="6788150" cy="9923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15" autoAdjust="0"/>
    <p:restoredTop sz="96400" autoAdjust="0"/>
  </p:normalViewPr>
  <p:slideViewPr>
    <p:cSldViewPr snapToGrid="0">
      <p:cViewPr varScale="1">
        <p:scale>
          <a:sx n="107" d="100"/>
          <a:sy n="107" d="100"/>
        </p:scale>
        <p:origin x="1638" y="102"/>
      </p:cViewPr>
      <p:guideLst>
        <p:guide orient="horz" pos="2137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96" y="114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handoutMaster" Target="handoutMasters/handoutMaster1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2025-09-26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39838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5" y="4775666"/>
            <a:ext cx="543052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85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332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09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038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353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60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1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26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246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332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713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17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6230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755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9356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758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6361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578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1677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654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5314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88486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23167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83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6926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60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43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재무보고를</a:t>
              </a:r>
              <a:r>
                <a:rPr lang="ko-KR" altLang="en-US" sz="3200" b="1" dirty="0"/>
                <a:t> 위한 </a:t>
              </a:r>
              <a:r>
                <a:rPr lang="ko-KR" altLang="en-US" sz="3200" b="1" dirty="0" err="1"/>
                <a:t>개념체계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3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재무보고를</a:t>
              </a:r>
              <a:r>
                <a:rPr lang="ko-KR" altLang="en-US" sz="3200" b="1" dirty="0"/>
                <a:t> 위한 </a:t>
              </a:r>
              <a:r>
                <a:rPr lang="ko-KR" altLang="en-US" sz="3200" b="1" dirty="0" err="1"/>
                <a:t>개념체계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/>
                <a:t>재무보고를</a:t>
              </a:r>
              <a:r>
                <a:rPr lang="ko-KR" altLang="en-US" b="1" dirty="0"/>
                <a:t> 위한 </a:t>
              </a:r>
              <a:r>
                <a:rPr lang="ko-KR" altLang="en-US" b="1" dirty="0" err="1"/>
                <a:t>개념체계</a:t>
              </a:r>
              <a:endParaRPr lang="ko-KR" altLang="en-US" b="1" dirty="0"/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96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-330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재무보고를</a:t>
              </a:r>
              <a:r>
                <a:rPr lang="ko-KR" altLang="en-US" sz="3200" b="1" dirty="0"/>
                <a:t> 위한 </a:t>
              </a:r>
              <a:r>
                <a:rPr lang="ko-KR" altLang="en-US" sz="3200" b="1" dirty="0" err="1"/>
                <a:t>개념체계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4729837" cy="369332"/>
            <a:chOff x="2107219" y="601867"/>
            <a:chExt cx="4729837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4493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재무보고의 목적 </a:t>
              </a:r>
              <a:r>
                <a:rPr lang="en-US" altLang="ko-KR" b="1" dirty="0"/>
                <a:t>&amp; </a:t>
              </a:r>
              <a:r>
                <a:rPr lang="ko-KR" altLang="en-US" b="1" dirty="0"/>
                <a:t>재무제표의 기본가정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개념체계와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0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487526" cy="769441"/>
            <a:chOff x="80163" y="415932"/>
            <a:chExt cx="7487526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재무제표의 작성 및 표시의 일반원칙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02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487526" cy="769441"/>
            <a:chOff x="80163" y="415932"/>
            <a:chExt cx="7487526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재무상태표의 </a:t>
              </a:r>
              <a:r>
                <a:rPr lang="ko-KR" altLang="en-US" sz="3200" b="1" dirty="0" err="1"/>
                <a:t>작성원칙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08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487526" cy="769441"/>
            <a:chOff x="80163" y="415932"/>
            <a:chExt cx="7487526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재무상태표의 </a:t>
              </a:r>
              <a:r>
                <a:rPr lang="ko-KR" altLang="en-US" sz="3200" b="1" dirty="0" err="1"/>
                <a:t>작성원칙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220" name="그룹 219"/>
          <p:cNvGrpSpPr/>
          <p:nvPr userDrawn="1"/>
        </p:nvGrpSpPr>
        <p:grpSpPr>
          <a:xfrm>
            <a:off x="2571916" y="730656"/>
            <a:ext cx="3695045" cy="369332"/>
            <a:chOff x="2107219" y="613082"/>
            <a:chExt cx="3695045" cy="369332"/>
          </a:xfrm>
        </p:grpSpPr>
        <p:sp>
          <p:nvSpPr>
            <p:cNvPr id="221" name="TextBox 220"/>
            <p:cNvSpPr txBox="1"/>
            <p:nvPr userDrawn="1"/>
          </p:nvSpPr>
          <p:spPr>
            <a:xfrm>
              <a:off x="2379771" y="613082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재무상태표의 표시</a:t>
              </a:r>
            </a:p>
          </p:txBody>
        </p:sp>
        <p:sp>
          <p:nvSpPr>
            <p:cNvPr id="224" name="눈물 방울 22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730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487526" cy="769441"/>
            <a:chOff x="80163" y="415932"/>
            <a:chExt cx="7487526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재무상태표의 </a:t>
              </a:r>
              <a:r>
                <a:rPr lang="ko-KR" altLang="en-US" sz="3200" b="1" dirty="0" err="1"/>
                <a:t>작성원칙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220" name="그룹 219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21" name="TextBox 220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재무상태표의 계정과목</a:t>
              </a:r>
            </a:p>
          </p:txBody>
        </p:sp>
        <p:sp>
          <p:nvSpPr>
            <p:cNvPr id="224" name="눈물 방울 22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449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487526" cy="769441"/>
            <a:chOff x="80163" y="415932"/>
            <a:chExt cx="7487526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포괄손익계산서의 </a:t>
              </a:r>
              <a:r>
                <a:rPr lang="ko-KR" altLang="en-US" sz="3200" b="1" dirty="0" err="1"/>
                <a:t>작성원칙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220" name="그룹 219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21" name="TextBox 220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포괄손익계산서의 표시</a:t>
              </a:r>
            </a:p>
          </p:txBody>
        </p:sp>
        <p:sp>
          <p:nvSpPr>
            <p:cNvPr id="224" name="눈물 방울 22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83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487526" cy="769441"/>
            <a:chOff x="80163" y="415932"/>
            <a:chExt cx="7487526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포괄손익계산서의 </a:t>
              </a:r>
              <a:r>
                <a:rPr lang="ko-KR" altLang="en-US" sz="3200" b="1" dirty="0" err="1"/>
                <a:t>작성원칙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220" name="그룹 219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21" name="TextBox 220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포괄손익계산서의 계정과목</a:t>
              </a:r>
            </a:p>
          </p:txBody>
        </p:sp>
        <p:sp>
          <p:nvSpPr>
            <p:cNvPr id="224" name="눈물 방울 22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6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3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7487526" cy="769441"/>
            <a:chOff x="80163" y="415932"/>
            <a:chExt cx="7487526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포괄손익계산서의 </a:t>
              </a:r>
              <a:r>
                <a:rPr lang="ko-KR" altLang="en-US" sz="3200" b="1" dirty="0" err="1"/>
                <a:t>작성원칙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220" name="그룹 219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21" name="TextBox 220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주당이익과 주가이익비율</a:t>
              </a:r>
            </a:p>
          </p:txBody>
        </p:sp>
        <p:sp>
          <p:nvSpPr>
            <p:cNvPr id="224" name="눈물 방울 22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553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852529" y="224685"/>
            <a:ext cx="6726282" cy="611833"/>
            <a:chOff x="841407" y="494736"/>
            <a:chExt cx="6726282" cy="611833"/>
          </a:xfrm>
        </p:grpSpPr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별도재무제표와 연결재무제표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FD48FFAD-33C6-4639-805C-E2DDD1716B02}"/>
              </a:ext>
            </a:extLst>
          </p:cNvPr>
          <p:cNvSpPr txBox="1"/>
          <p:nvPr userDrawn="1"/>
        </p:nvSpPr>
        <p:spPr>
          <a:xfrm>
            <a:off x="91285" y="145881"/>
            <a:ext cx="8324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ko-KR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03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852529" y="224685"/>
            <a:ext cx="6726282" cy="611833"/>
            <a:chOff x="841407" y="494736"/>
            <a:chExt cx="6726282" cy="611833"/>
          </a:xfrm>
        </p:grpSpPr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재무제표 형식의 변경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1AC4F47-5C0E-454E-8041-B0774DAD4714}"/>
              </a:ext>
            </a:extLst>
          </p:cNvPr>
          <p:cNvSpPr txBox="1"/>
          <p:nvPr userDrawn="1"/>
        </p:nvSpPr>
        <p:spPr>
          <a:xfrm>
            <a:off x="91285" y="330498"/>
            <a:ext cx="83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보론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45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24198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52618" y="1073080"/>
            <a:ext cx="7111790" cy="1802940"/>
            <a:chOff x="1226912" y="2130843"/>
            <a:chExt cx="7111790" cy="1802940"/>
          </a:xfrm>
        </p:grpSpPr>
        <p:sp>
          <p:nvSpPr>
            <p:cNvPr id="9" name="TextBox 8"/>
            <p:cNvSpPr txBox="1"/>
            <p:nvPr/>
          </p:nvSpPr>
          <p:spPr>
            <a:xfrm>
              <a:off x="2476287" y="2264811"/>
              <a:ext cx="58624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재무보고를</a:t>
              </a:r>
              <a:r>
                <a:rPr lang="ko-KR" altLang="en-US" sz="3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위한 </a:t>
              </a:r>
              <a:r>
                <a:rPr lang="ko-KR" altLang="en-US" sz="32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개념체계와</a:t>
              </a:r>
              <a:r>
                <a:rPr lang="ko-KR" altLang="en-US" sz="3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재무제표 표시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00037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472118"/>
              <a:ext cx="31472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schemeClr val="tx1"/>
                  </a:solidFill>
                  <a:ea typeface="굴림" panose="020B0600000101010101" pitchFamily="50" charset="-127"/>
                  <a:cs typeface="Arial" panose="020B0604020202020204" pitchFamily="34" charset="0"/>
                </a:rPr>
                <a:t>FRAMEWORK AND PRESENTATION OF FINANCIAL STATMENTS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2130843"/>
              <a:ext cx="1174535" cy="1329738"/>
              <a:chOff x="1226912" y="2281318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2281318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560075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0F27E2-5F26-489E-88AE-555CF565959D}"/>
              </a:ext>
            </a:extLst>
          </p:cNvPr>
          <p:cNvSpPr txBox="1"/>
          <p:nvPr/>
        </p:nvSpPr>
        <p:spPr>
          <a:xfrm>
            <a:off x="5852160" y="6356703"/>
            <a:ext cx="32918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308175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33449" y="1368916"/>
            <a:ext cx="4059659" cy="3754289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b="1" dirty="0">
                <a:latin typeface="맑은 고딕" panose="020B0503020000020004" pitchFamily="50" charset="-127"/>
              </a:rPr>
              <a:t>재무보고를 위한 개념체계</a:t>
            </a:r>
            <a:endParaRPr lang="en-US" altLang="ko-KR" sz="1800" b="1" dirty="0">
              <a:latin typeface="맑은 고딕" panose="020B0503020000020004" pitchFamily="50" charset="-127"/>
            </a:endParaRPr>
          </a:p>
          <a:p>
            <a:pPr marL="252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회계기준을 제정하고 이를 실무에 적용할 때 판단과 해석의 기준이 되는 핵심 개념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52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재무보고의 목적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재무제표의 기본가정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유용한 재무정보의 질적 특성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재무제표를 구성하는 요소의 정의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인식 및 측정 등에 관한 내용 포함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342900" indent="-3429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5173580" y="1368916"/>
            <a:ext cx="3326763" cy="307777"/>
            <a:chOff x="1392562" y="4786064"/>
            <a:chExt cx="3326763" cy="307777"/>
          </a:xfrm>
        </p:grpSpPr>
        <p:sp>
          <p:nvSpPr>
            <p:cNvPr id="12" name="오각형 11"/>
            <p:cNvSpPr/>
            <p:nvPr/>
          </p:nvSpPr>
          <p:spPr>
            <a:xfrm>
              <a:off x="13925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63542" y="4786064"/>
              <a:ext cx="25557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err="1">
                  <a:latin typeface="맑은 고딕" panose="020B0503020000020004" pitchFamily="50" charset="-127"/>
                </a:rPr>
                <a:t>재무보고를</a:t>
              </a:r>
              <a:r>
                <a:rPr lang="ko-KR" altLang="en-US" sz="1400" b="1" dirty="0">
                  <a:latin typeface="맑은 고딕" panose="020B0503020000020004" pitchFamily="50" charset="-127"/>
                </a:rPr>
                <a:t> 위한 </a:t>
              </a:r>
              <a:r>
                <a:rPr lang="ko-KR" altLang="en-US" sz="1400" b="1" dirty="0" err="1">
                  <a:latin typeface="맑은 고딕" panose="020B0503020000020004" pitchFamily="50" charset="-127"/>
                </a:rPr>
                <a:t>개념체계</a:t>
              </a:r>
              <a:endParaRPr lang="ko-KR" altLang="en-US" sz="1400" b="1" dirty="0">
                <a:latin typeface="맑은 고딕" panose="020B0503020000020004" pitchFamily="50" charset="-127"/>
              </a:endParaRPr>
            </a:p>
          </p:txBody>
        </p:sp>
      </p:grp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25092"/>
              </p:ext>
            </p:extLst>
          </p:nvPr>
        </p:nvGraphicFramePr>
        <p:xfrm>
          <a:off x="4572000" y="1741812"/>
          <a:ext cx="3995928" cy="4384667"/>
        </p:xfrm>
        <a:graphic>
          <a:graphicData uri="http://schemas.openxmlformats.org/drawingml/2006/table">
            <a:tbl>
              <a:tblPr/>
              <a:tblGrid>
                <a:gridCol w="189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5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재무보고의 목적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283">
                <a:tc gridSpan="3">
                  <a:txBody>
                    <a:bodyPr/>
                    <a:lstStyle/>
                    <a:p>
                      <a:pPr marL="0" marR="0" indent="-70104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기업 외부의 정보이용자가</a:t>
                      </a:r>
                      <a:r>
                        <a:rPr lang="en-US" altLang="ko-KR" sz="1400" kern="0" spc="-3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kern="0" spc="-3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기업에 자원을 제공하는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의사결정을 내리는 데 유용한 정보제공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↓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재무제표의 기본가정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12">
                <a:tc gridSpan="3">
                  <a:txBody>
                    <a:bodyPr/>
                    <a:lstStyle/>
                    <a:p>
                      <a:pPr marL="0" marR="0" indent="-70104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계속기업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12">
                <a:tc gridSpan="3">
                  <a:txBody>
                    <a:bodyPr/>
                    <a:lstStyle/>
                    <a:p>
                      <a:pPr marL="0" marR="0" indent="-70104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↓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유용한 재무정보의 질적 특성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목적적합성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충실한 표현</a:t>
                      </a:r>
                    </a:p>
                  </a:txBody>
                  <a:tcPr marL="64761" marR="64761" marT="17912" marB="1791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12">
                <a:tc gridSpan="3">
                  <a:txBody>
                    <a:bodyPr/>
                    <a:lstStyle/>
                    <a:p>
                      <a:pPr marL="0" marR="0" indent="-70104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비교가능성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검증가능성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적시성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이해가능성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112">
                <a:tc gridSpan="3">
                  <a:txBody>
                    <a:bodyPr/>
                    <a:lstStyle/>
                    <a:p>
                      <a:pPr marL="0" marR="0" indent="-70104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↓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52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재무제표의 구성요소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52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재무상태표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1" marR="64761" marT="17912" marB="17912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</a:p>
                  </a:txBody>
                  <a:tcPr marL="64761" marR="64761" marT="17912" marB="1791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11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부채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자본</a:t>
                      </a:r>
                    </a:p>
                  </a:txBody>
                  <a:tcPr marL="64761" marR="64761" marT="17912" marB="17912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수익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비용</a:t>
                      </a:r>
                    </a:p>
                  </a:txBody>
                  <a:tcPr marL="64761" marR="64761" marT="17912" marB="1791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86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6012" y="1343273"/>
            <a:ext cx="8641369" cy="476108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2000" b="1" dirty="0" err="1">
                <a:latin typeface="맑은 고딕" panose="020B0503020000020004" pitchFamily="50" charset="-127"/>
              </a:rPr>
              <a:t>재무보고의</a:t>
            </a:r>
            <a:r>
              <a:rPr lang="ko-KR" altLang="en-US" sz="2000" b="1" dirty="0">
                <a:latin typeface="맑은 고딕" panose="020B0503020000020004" pitchFamily="50" charset="-127"/>
              </a:rPr>
              <a:t> 목적</a:t>
            </a:r>
            <a:endParaRPr lang="en-US" altLang="ko-KR" sz="2000" b="1" dirty="0">
              <a:latin typeface="맑은 고딕" panose="020B0503020000020004" pitchFamily="50" charset="-127"/>
            </a:endParaRPr>
          </a:p>
          <a:p>
            <a:pPr marL="288000" indent="-180000" latinLnBrk="0">
              <a:lnSpc>
                <a:spcPts val="24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기업 외부의 정보이용자가 기업에 자원을 제공하는 의사결정을 하는데 유용한 정보를 제공하는 것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8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주요 정보이용자</a:t>
            </a:r>
            <a:r>
              <a:rPr lang="en-US" altLang="ko-KR" sz="1600" b="1" dirty="0">
                <a:latin typeface="맑은 고딕" panose="020B0503020000020004" pitchFamily="50" charset="-127"/>
              </a:rPr>
              <a:t>: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현재 및 잠재적 주주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대여자</a:t>
            </a:r>
            <a:r>
              <a:rPr lang="en-US" altLang="ko-KR" sz="1600" dirty="0">
                <a:latin typeface="맑은 고딕" panose="020B0503020000020004" pitchFamily="50" charset="-127"/>
              </a:rPr>
              <a:t>(lender)</a:t>
            </a:r>
            <a:r>
              <a:rPr lang="ko-KR" altLang="en-US" sz="1600" dirty="0">
                <a:latin typeface="맑은 고딕" panose="020B0503020000020004" pitchFamily="50" charset="-127"/>
              </a:rPr>
              <a:t>와 </a:t>
            </a:r>
            <a:r>
              <a:rPr lang="ko-KR" altLang="en-US" sz="1600" b="1" dirty="0">
                <a:latin typeface="맑은 고딕" panose="020B0503020000020004" pitchFamily="50" charset="-127"/>
              </a:rPr>
              <a:t>기타 채권자</a:t>
            </a:r>
            <a:r>
              <a:rPr lang="en-US" altLang="ko-KR" sz="1600" dirty="0">
                <a:latin typeface="맑은 고딕" panose="020B0503020000020004" pitchFamily="50" charset="-127"/>
              </a:rPr>
              <a:t>(other creditor)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8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8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2000" b="1" dirty="0">
                <a:latin typeface="맑은 고딕" panose="020B0503020000020004" pitchFamily="50" charset="-127"/>
              </a:rPr>
              <a:t>재무제표의 </a:t>
            </a:r>
            <a:r>
              <a:rPr lang="ko-KR" altLang="en-US" sz="2000" b="1" dirty="0" err="1">
                <a:latin typeface="맑은 고딕" panose="020B0503020000020004" pitchFamily="50" charset="-127"/>
              </a:rPr>
              <a:t>기본가정</a:t>
            </a:r>
            <a:r>
              <a:rPr lang="en-US" altLang="ko-KR" sz="2000" b="1" dirty="0">
                <a:latin typeface="맑은 고딕" panose="020B0503020000020004" pitchFamily="50" charset="-127"/>
              </a:rPr>
              <a:t>: </a:t>
            </a:r>
            <a:r>
              <a:rPr lang="ko-KR" altLang="en-US" sz="2000" b="1" dirty="0" err="1">
                <a:latin typeface="맑은 고딕" panose="020B0503020000020004" pitchFamily="50" charset="-127"/>
              </a:rPr>
              <a:t>계속기업의</a:t>
            </a:r>
            <a:r>
              <a:rPr lang="ko-KR" altLang="en-US" sz="2000" b="1" dirty="0">
                <a:latin typeface="맑은 고딕" panose="020B0503020000020004" pitchFamily="50" charset="-127"/>
              </a:rPr>
              <a:t> 가정</a:t>
            </a:r>
            <a:endParaRPr lang="en-US" altLang="ko-KR" sz="2000" b="1" dirty="0">
              <a:latin typeface="맑은 고딕" panose="020B0503020000020004" pitchFamily="50" charset="-127"/>
            </a:endParaRPr>
          </a:p>
          <a:p>
            <a:pPr marL="285750" indent="-180000" latinLnBrk="0">
              <a:lnSpc>
                <a:spcPts val="24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latin typeface="맑은 고딕" panose="020B0503020000020004" pitchFamily="50" charset="-127"/>
              </a:rPr>
              <a:t>계속기업</a:t>
            </a:r>
            <a:r>
              <a:rPr lang="en-US" altLang="ko-KR" sz="1600" dirty="0">
                <a:latin typeface="맑은 고딕" panose="020B0503020000020004" pitchFamily="50" charset="-127"/>
              </a:rPr>
              <a:t>(going concern) : </a:t>
            </a:r>
            <a:r>
              <a:rPr lang="ko-KR" altLang="en-US" sz="1600" dirty="0">
                <a:latin typeface="맑은 고딕" panose="020B0503020000020004" pitchFamily="50" charset="-127"/>
              </a:rPr>
              <a:t>기업이 </a:t>
            </a:r>
            <a:r>
              <a:rPr lang="ko-KR" altLang="en-US" sz="1600" b="1" dirty="0">
                <a:latin typeface="맑은 고딕" panose="020B0503020000020004" pitchFamily="50" charset="-127"/>
              </a:rPr>
              <a:t>예상가능한 미래기간 동안 존속하여 영업을 계속할 것이라는 가정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28575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재무제표항목들을 역사적 원가나 사용가치로 기록하는 것에 대한 정당성을 제공</a:t>
            </a:r>
            <a:endParaRPr lang="en-US" altLang="ko-KR" sz="14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464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6012" y="1300140"/>
            <a:ext cx="8641369" cy="515321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2000" b="1" dirty="0">
                <a:latin typeface="맑은 고딕" panose="020B0503020000020004" pitchFamily="50" charset="-127"/>
              </a:rPr>
              <a:t>유용한 재무제표의 질적 특성</a:t>
            </a:r>
            <a:endParaRPr lang="en-US" altLang="ko-KR" sz="2000" b="1" dirty="0">
              <a:latin typeface="맑은 고딕" panose="020B0503020000020004" pitchFamily="50" charset="-127"/>
            </a:endParaRPr>
          </a:p>
          <a:p>
            <a:pPr marL="396000" indent="-180000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재무정보가 이용자에게 유용한 정보가 되기 위해 갖추어야 할 속성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8000" indent="-288000" latinLnBrk="0">
              <a:lnSpc>
                <a:spcPts val="2600"/>
              </a:lnSpc>
              <a:spcBef>
                <a:spcPts val="1200"/>
              </a:spcBef>
              <a:buClrTx/>
              <a:buSz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근본적 질적 특성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①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목적적합성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(relevance)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정보이용자의 경제적 의사결정에 차이를 가져올 수 있는 정보이어야 함 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②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충실한 표현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(faithful representation)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측정대상인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거래나 회계사건을 완전하고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중립적이며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오류가 없게 표현해야 함</a:t>
            </a:r>
            <a:endParaRPr lang="en-US" altLang="ko-KR" sz="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latinLnBrk="0">
              <a:lnSpc>
                <a:spcPts val="2600"/>
              </a:lnSpc>
              <a:spcBef>
                <a:spcPts val="1200"/>
              </a:spcBef>
              <a:buClrTx/>
              <a:buSzTx/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보강적 질적 특성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①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비교가능성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(comparability)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한 기업의 기간별 비교나 다른 기업과의 기업간 비교가 가능해야 함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②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검증가능성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(verifiability)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여러 정보이용자가 동일한 거래나 </a:t>
            </a:r>
            <a:r>
              <a:rPr lang="ko-KR" altLang="en-US" sz="16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회계사건을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동일한 측정방법으로 독립적으로 측정 했을 때 유사한 결과가 나와야 함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③ </a:t>
            </a: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적시성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(timeliness)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정보가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의사결정에 미치는 영향이 소멸되기 전에 제공되어야 함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④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이해가능성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(understandability)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: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회계정보이용자가 </a:t>
            </a:r>
            <a:r>
              <a:rPr lang="ko-KR" altLang="en-US" sz="1600" dirty="0">
                <a:latin typeface="맑은 고딕" panose="020B0503020000020004" pitchFamily="50" charset="-127"/>
              </a:rPr>
              <a:t>정보를 쉽게 이해할 수 있어야 함 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CB33287-2522-4211-9EFA-7D22CD41DDE5}"/>
              </a:ext>
            </a:extLst>
          </p:cNvPr>
          <p:cNvGrpSpPr/>
          <p:nvPr/>
        </p:nvGrpSpPr>
        <p:grpSpPr>
          <a:xfrm>
            <a:off x="2168056" y="714528"/>
            <a:ext cx="4729837" cy="369332"/>
            <a:chOff x="2107219" y="601867"/>
            <a:chExt cx="4729837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34A643-6CA8-4AFB-A305-27CADD2C2EEA}"/>
                </a:ext>
              </a:extLst>
            </p:cNvPr>
            <p:cNvSpPr txBox="1"/>
            <p:nvPr userDrawn="1"/>
          </p:nvSpPr>
          <p:spPr>
            <a:xfrm>
              <a:off x="2343317" y="601867"/>
              <a:ext cx="4493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유용한 재무제표의 질적 특성</a:t>
              </a:r>
            </a:p>
          </p:txBody>
        </p:sp>
        <p:sp>
          <p:nvSpPr>
            <p:cNvPr id="13" name="눈물 방울 12">
              <a:extLst>
                <a:ext uri="{FF2B5EF4-FFF2-40B4-BE49-F238E27FC236}">
                  <a16:creationId xmlns:a16="http://schemas.microsoft.com/office/drawing/2014/main" id="{8D978B2B-7E37-414F-98A6-4EBF69C2FECF}"/>
                </a:ext>
              </a:extLst>
            </p:cNvPr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676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86560" y="1719076"/>
            <a:ext cx="6042852" cy="307777"/>
            <a:chOff x="1287462" y="4786064"/>
            <a:chExt cx="6042852" cy="307777"/>
          </a:xfrm>
        </p:grpSpPr>
        <p:sp>
          <p:nvSpPr>
            <p:cNvPr id="7" name="오각형 6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79462" y="4786064"/>
              <a:ext cx="525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재무상태표와 포괄손익계산서의 계정과목의 예시</a:t>
              </a:r>
            </a:p>
          </p:txBody>
        </p:sp>
      </p:grp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6145"/>
              </p:ext>
            </p:extLst>
          </p:nvPr>
        </p:nvGraphicFramePr>
        <p:xfrm>
          <a:off x="686560" y="2152137"/>
          <a:ext cx="7938410" cy="3308211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96">
                  <a:extLst>
                    <a:ext uri="{9D8B030D-6E8A-4147-A177-3AD203B41FA5}">
                      <a16:colId xmlns:a16="http://schemas.microsoft.com/office/drawing/2014/main" val="2117303735"/>
                    </a:ext>
                  </a:extLst>
                </a:gridCol>
                <a:gridCol w="1286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9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446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구 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계정과목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324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err="1"/>
                        <a:t>재무상태표</a:t>
                      </a:r>
                      <a:r>
                        <a:rPr lang="ko-KR" altLang="en-US" sz="1400" b="1" dirty="0"/>
                        <a:t> 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자산 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유동자산：재고자산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매출채권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현금및현금성자산</a:t>
                      </a:r>
                      <a:endParaRPr lang="ko-KR" altLang="en-US" sz="1400" dirty="0"/>
                    </a:p>
                    <a:p>
                      <a:pPr marL="1080000" marR="0" indent="-108000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err="1"/>
                        <a:t>비유동자산</a:t>
                      </a:r>
                      <a:r>
                        <a:rPr lang="ko-KR" altLang="en-US" sz="1400" dirty="0"/>
                        <a:t>：유형자산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영업권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기타무형자산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기타포괄손익</a:t>
                      </a: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공정가치측정금융자산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부채 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err="1"/>
                        <a:t>유동부채：매입채무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단기차입금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미지급법인세</a:t>
                      </a:r>
                    </a:p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err="1"/>
                        <a:t>비유동부채：장기차입금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장기충당부채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자본 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자본금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자본잉여금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이익잉여금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기타포괄손익누계액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455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포괄손익</a:t>
                      </a:r>
                      <a:endParaRPr lang="en-US" altLang="ko-KR" sz="1400" b="1" dirty="0"/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계산서 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수익 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매출액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임대료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이자수익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4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비용 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매출원가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급여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감가상각비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광고선전비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이자비용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4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dirty="0"/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기타포괄손익</a:t>
                      </a:r>
                      <a:endParaRPr lang="en-US" altLang="ko-KR" sz="1400" b="1" dirty="0"/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8398" marR="58398" marT="16147" marB="1614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effectLst/>
                        </a:rPr>
                        <a:t>기타포괄손익</a:t>
                      </a:r>
                      <a:r>
                        <a:rPr lang="en-US" altLang="ko-KR" sz="1400" kern="1200" dirty="0">
                          <a:effectLst/>
                        </a:rPr>
                        <a:t>-</a:t>
                      </a:r>
                      <a:r>
                        <a:rPr lang="ko-KR" altLang="en-US" sz="1400" kern="1200" dirty="0" err="1">
                          <a:effectLst/>
                        </a:rPr>
                        <a:t>공정가치측정금융자산평가손익</a:t>
                      </a:r>
                      <a:r>
                        <a:rPr lang="en-US" altLang="ko-KR" sz="1400" kern="1200" dirty="0">
                          <a:effectLst/>
                        </a:rPr>
                        <a:t>,</a:t>
                      </a:r>
                      <a:r>
                        <a:rPr lang="ko-KR" altLang="en-US" sz="1400" kern="1200" baseline="0" dirty="0">
                          <a:effectLst/>
                        </a:rPr>
                        <a:t> </a:t>
                      </a:r>
                      <a:r>
                        <a:rPr lang="ko-KR" altLang="en-US" sz="1400" dirty="0"/>
                        <a:t>유형자산재평가손익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8398" marR="58398" marT="16147" marB="1614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33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91046" y="1501310"/>
            <a:ext cx="8348457" cy="1094745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latin typeface="맑은 고딕" panose="020B0503020000020004" pitchFamily="50" charset="-127"/>
              </a:rPr>
              <a:t>재무상태표</a:t>
            </a:r>
            <a:r>
              <a:rPr lang="en-US" altLang="ko-KR" sz="1600" b="1" dirty="0">
                <a:latin typeface="맑은 고딕" panose="020B0503020000020004" pitchFamily="50" charset="-127"/>
              </a:rPr>
              <a:t> : </a:t>
            </a:r>
            <a:r>
              <a:rPr lang="ko-KR" altLang="en-US" sz="1600" dirty="0">
                <a:latin typeface="맑은 고딕" panose="020B0503020000020004" pitchFamily="50" charset="-127"/>
              </a:rPr>
              <a:t>특정시점 현재 기업이 보유하고 있는 자산과 부채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그리고 자본에 대한 정보를 제공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04576" y="2477904"/>
            <a:ext cx="8334847" cy="1418282"/>
            <a:chOff x="2626683" y="1739411"/>
            <a:chExt cx="10092807" cy="1891043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0092807" cy="150483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288000" latinLnBrk="0">
                <a:lnSpc>
                  <a:spcPts val="2400"/>
                </a:lnSpc>
                <a:buNone/>
                <a:defRPr/>
              </a:pPr>
              <a:r>
                <a:rPr lang="ko-KR" altLang="ko-KR" sz="1600" dirty="0">
                  <a:latin typeface="맑은 고딕" pitchFamily="50" charset="-127"/>
                </a:rPr>
                <a:t>①</a:t>
              </a:r>
              <a:r>
                <a:rPr lang="en-US" altLang="ko-KR" sz="1600" dirty="0">
                  <a:latin typeface="맑은 고딕" pitchFamily="50" charset="-127"/>
                </a:rPr>
                <a:t> </a:t>
              </a:r>
              <a:r>
                <a:rPr lang="ko-KR" altLang="en-US" sz="1600" b="1" dirty="0">
                  <a:latin typeface="맑은 고딕" pitchFamily="50" charset="-127"/>
                </a:rPr>
                <a:t>계정식</a:t>
              </a:r>
              <a:r>
                <a:rPr lang="ko-KR" altLang="en-US" sz="1600" dirty="0">
                  <a:latin typeface="맑은 고딕" pitchFamily="50" charset="-127"/>
                </a:rPr>
                <a:t> </a:t>
              </a:r>
              <a:r>
                <a:rPr lang="en-US" altLang="ko-KR" sz="1600" dirty="0">
                  <a:latin typeface="맑은 고딕" pitchFamily="50" charset="-127"/>
                </a:rPr>
                <a:t>: </a:t>
              </a:r>
              <a:r>
                <a:rPr lang="ko-KR" altLang="en-US" sz="1600" dirty="0" err="1">
                  <a:latin typeface="맑은 고딕" pitchFamily="50" charset="-127"/>
                </a:rPr>
                <a:t>차변에는</a:t>
              </a:r>
              <a:r>
                <a:rPr lang="ko-KR" altLang="en-US" sz="1600" dirty="0">
                  <a:latin typeface="맑은 고딕" pitchFamily="50" charset="-127"/>
                </a:rPr>
                <a:t> 자산계정을 표시하고 대변에는 부채와 자본 계정을 배열</a:t>
              </a:r>
              <a:endParaRPr lang="en-US" altLang="ko-KR" sz="1600" dirty="0">
                <a:latin typeface="맑은 고딕" pitchFamily="50" charset="-127"/>
              </a:endParaRPr>
            </a:p>
            <a:p>
              <a:pPr marL="360000" indent="-288000" latinLnBrk="0">
                <a:lnSpc>
                  <a:spcPts val="2400"/>
                </a:lnSpc>
                <a:buNone/>
                <a:defRPr/>
              </a:pPr>
              <a:r>
                <a:rPr lang="en-US" altLang="ko-KR" sz="1600" dirty="0">
                  <a:latin typeface="맑은 고딕" pitchFamily="50" charset="-127"/>
                </a:rPr>
                <a:t>②</a:t>
              </a:r>
              <a:r>
                <a:rPr lang="en-US" altLang="ko-KR" sz="1600" b="1" dirty="0">
                  <a:latin typeface="맑은 고딕" pitchFamily="50" charset="-127"/>
                </a:rPr>
                <a:t> </a:t>
              </a:r>
              <a:r>
                <a:rPr lang="ko-KR" altLang="en-US" sz="1600" b="1" dirty="0">
                  <a:latin typeface="맑은 고딕" pitchFamily="50" charset="-127"/>
                </a:rPr>
                <a:t>보고식 </a:t>
              </a:r>
              <a:r>
                <a:rPr lang="en-US" altLang="ko-KR" sz="1600" dirty="0">
                  <a:latin typeface="맑은 고딕" pitchFamily="50" charset="-127"/>
                </a:rPr>
                <a:t>: </a:t>
              </a:r>
              <a:r>
                <a:rPr lang="ko-KR" altLang="en-US" sz="1600" dirty="0">
                  <a:latin typeface="맑은 고딕" pitchFamily="50" charset="-127"/>
                </a:rPr>
                <a:t>자산계정</a:t>
              </a:r>
              <a:r>
                <a:rPr lang="en-US" altLang="ko-KR" sz="1600" dirty="0">
                  <a:latin typeface="맑은 고딕" pitchFamily="50" charset="-127"/>
                </a:rPr>
                <a:t>, </a:t>
              </a:r>
              <a:r>
                <a:rPr lang="ko-KR" altLang="en-US" sz="1600" dirty="0" err="1">
                  <a:latin typeface="맑은 고딕" pitchFamily="50" charset="-127"/>
                </a:rPr>
                <a:t>부채계정</a:t>
              </a:r>
              <a:r>
                <a:rPr lang="en-US" altLang="ko-KR" sz="1600" dirty="0">
                  <a:latin typeface="맑은 고딕" pitchFamily="50" charset="-127"/>
                </a:rPr>
                <a:t>, </a:t>
              </a:r>
              <a:r>
                <a:rPr lang="ko-KR" altLang="en-US" sz="1600" dirty="0" err="1">
                  <a:latin typeface="맑은 고딕" pitchFamily="50" charset="-127"/>
                </a:rPr>
                <a:t>자본계정을</a:t>
              </a:r>
              <a:r>
                <a:rPr lang="ko-KR" altLang="en-US" sz="1600" dirty="0">
                  <a:latin typeface="맑은 고딕" pitchFamily="50" charset="-127"/>
                </a:rPr>
                <a:t> 상하로 차례로 배열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82768" y="1739411"/>
              <a:ext cx="8613993" cy="46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재무상태표의 </a:t>
              </a:r>
              <a:r>
                <a:rPr lang="ko-KR" altLang="en-US" sz="18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작성양식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직사각형 14"/>
          <p:cNvSpPr/>
          <p:nvPr/>
        </p:nvSpPr>
        <p:spPr>
          <a:xfrm>
            <a:off x="395510" y="2477904"/>
            <a:ext cx="211480" cy="31907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87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6" name="그룹 15"/>
          <p:cNvGrpSpPr/>
          <p:nvPr/>
        </p:nvGrpSpPr>
        <p:grpSpPr>
          <a:xfrm>
            <a:off x="179439" y="1486497"/>
            <a:ext cx="4424093" cy="523220"/>
            <a:chOff x="-4020262" y="4786064"/>
            <a:chExt cx="4424093" cy="523220"/>
          </a:xfrm>
        </p:grpSpPr>
        <p:sp>
          <p:nvSpPr>
            <p:cNvPr id="17" name="오각형 16"/>
            <p:cNvSpPr/>
            <p:nvPr/>
          </p:nvSpPr>
          <p:spPr>
            <a:xfrm>
              <a:off x="-40202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3123158" y="4786064"/>
              <a:ext cx="3526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err="1">
                  <a:latin typeface="맑은 고딕" panose="020B0503020000020004" pitchFamily="50" charset="-127"/>
                </a:rPr>
                <a:t>재무상태표</a:t>
              </a:r>
              <a:r>
                <a:rPr lang="ko-KR" altLang="en-US" sz="1400" b="1" dirty="0">
                  <a:latin typeface="맑은 고딕" panose="020B0503020000020004" pitchFamily="50" charset="-127"/>
                </a:rPr>
                <a:t> 예시</a:t>
              </a:r>
              <a:endParaRPr lang="en-US" altLang="ko-KR" sz="1400" b="1" dirty="0">
                <a:latin typeface="맑은 고딕" panose="020B0503020000020004" pitchFamily="50" charset="-127"/>
              </a:endParaRPr>
            </a:p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400" b="1" dirty="0">
                  <a:latin typeface="맑은 고딕" panose="020B0503020000020004" pitchFamily="50" charset="-127"/>
                </a:rPr>
                <a:t>- </a:t>
              </a:r>
              <a:r>
                <a:rPr lang="ko-KR" altLang="en-US" sz="1400" b="1" dirty="0">
                  <a:latin typeface="맑은 고딕" panose="020B0503020000020004" pitchFamily="50" charset="-127"/>
                </a:rPr>
                <a:t>보고식</a:t>
              </a: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3FC8AB1-D9E7-43FA-BD9E-FCFEFE2B5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906543"/>
              </p:ext>
            </p:extLst>
          </p:nvPr>
        </p:nvGraphicFramePr>
        <p:xfrm>
          <a:off x="2926013" y="1014991"/>
          <a:ext cx="5646673" cy="5850855"/>
        </p:xfrm>
        <a:graphic>
          <a:graphicData uri="http://schemas.openxmlformats.org/drawingml/2006/table">
            <a:tbl>
              <a:tblPr/>
              <a:tblGrid>
                <a:gridCol w="2572774">
                  <a:extLst>
                    <a:ext uri="{9D8B030D-6E8A-4147-A177-3AD203B41FA5}">
                      <a16:colId xmlns:a16="http://schemas.microsoft.com/office/drawing/2014/main" val="184060945"/>
                    </a:ext>
                  </a:extLst>
                </a:gridCol>
                <a:gridCol w="121454">
                  <a:extLst>
                    <a:ext uri="{9D8B030D-6E8A-4147-A177-3AD203B41FA5}">
                      <a16:colId xmlns:a16="http://schemas.microsoft.com/office/drawing/2014/main" val="1980698987"/>
                    </a:ext>
                  </a:extLst>
                </a:gridCol>
                <a:gridCol w="978914">
                  <a:extLst>
                    <a:ext uri="{9D8B030D-6E8A-4147-A177-3AD203B41FA5}">
                      <a16:colId xmlns:a16="http://schemas.microsoft.com/office/drawing/2014/main" val="95438394"/>
                    </a:ext>
                  </a:extLst>
                </a:gridCol>
                <a:gridCol w="121454">
                  <a:extLst>
                    <a:ext uri="{9D8B030D-6E8A-4147-A177-3AD203B41FA5}">
                      <a16:colId xmlns:a16="http://schemas.microsoft.com/office/drawing/2014/main" val="3403905376"/>
                    </a:ext>
                  </a:extLst>
                </a:gridCol>
                <a:gridCol w="480832">
                  <a:extLst>
                    <a:ext uri="{9D8B030D-6E8A-4147-A177-3AD203B41FA5}">
                      <a16:colId xmlns:a16="http://schemas.microsoft.com/office/drawing/2014/main" val="1467685230"/>
                    </a:ext>
                  </a:extLst>
                </a:gridCol>
                <a:gridCol w="121454">
                  <a:extLst>
                    <a:ext uri="{9D8B030D-6E8A-4147-A177-3AD203B41FA5}">
                      <a16:colId xmlns:a16="http://schemas.microsoft.com/office/drawing/2014/main" val="1073907757"/>
                    </a:ext>
                  </a:extLst>
                </a:gridCol>
                <a:gridCol w="978914">
                  <a:extLst>
                    <a:ext uri="{9D8B030D-6E8A-4147-A177-3AD203B41FA5}">
                      <a16:colId xmlns:a16="http://schemas.microsoft.com/office/drawing/2014/main" val="183179218"/>
                    </a:ext>
                  </a:extLst>
                </a:gridCol>
                <a:gridCol w="121454">
                  <a:extLst>
                    <a:ext uri="{9D8B030D-6E8A-4147-A177-3AD203B41FA5}">
                      <a16:colId xmlns:a16="http://schemas.microsoft.com/office/drawing/2014/main" val="2517326853"/>
                    </a:ext>
                  </a:extLst>
                </a:gridCol>
                <a:gridCol w="149423">
                  <a:extLst>
                    <a:ext uri="{9D8B030D-6E8A-4147-A177-3AD203B41FA5}">
                      <a16:colId xmlns:a16="http://schemas.microsoft.com/office/drawing/2014/main" val="2849201487"/>
                    </a:ext>
                  </a:extLst>
                </a:gridCol>
              </a:tblGrid>
              <a:tr h="346854"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kern="0" spc="-30" dirty="0">
                          <a:solidFill>
                            <a:srgbClr val="000000"/>
                          </a:solidFill>
                          <a:effectLst/>
                          <a:latin typeface="휴먼고딕"/>
                          <a:ea typeface="휴먼고딕"/>
                        </a:rPr>
                        <a:t>재무상태표</a:t>
                      </a:r>
                      <a:endParaRPr lang="ko-KR" altLang="en-US" sz="850" b="1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1" kern="0" spc="-3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신명 신명조"/>
                        </a:rPr>
                        <a:t>(</a:t>
                      </a:r>
                      <a:r>
                        <a:rPr lang="ko-KR" altLang="en-US" sz="85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주</a:t>
                      </a:r>
                      <a:r>
                        <a:rPr lang="en-US" altLang="ko-KR" sz="850" b="1" kern="0" spc="-3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신명 신명조"/>
                        </a:rPr>
                        <a:t>)</a:t>
                      </a:r>
                      <a:r>
                        <a:rPr lang="ko-KR" altLang="en-US" sz="85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덕송</a:t>
                      </a:r>
                      <a:r>
                        <a:rPr lang="ko-KR" altLang="en-US" sz="85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                                                                                                                                   </a:t>
                      </a:r>
                      <a:r>
                        <a:rPr lang="en-US" altLang="ko-KR" sz="850" b="1" kern="0" spc="-3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신명 신명조"/>
                        </a:rPr>
                        <a:t>(</a:t>
                      </a:r>
                      <a:r>
                        <a:rPr lang="ko-KR" altLang="en-US" sz="85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단위：원</a:t>
                      </a:r>
                      <a:r>
                        <a:rPr lang="en-US" altLang="ko-KR" sz="850" b="1" kern="0" spc="-3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신명 신명조"/>
                        </a:rPr>
                        <a:t>)</a:t>
                      </a:r>
                      <a:endParaRPr lang="ko-KR" altLang="en-US" sz="850" b="1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115346"/>
                  </a:ext>
                </a:extLst>
              </a:tr>
              <a:tr h="1803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20×1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년 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12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월 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31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일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20×0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년 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12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월 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31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일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401852"/>
                  </a:ext>
                </a:extLst>
              </a:tr>
              <a:tr h="180336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 산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021302"/>
                  </a:ext>
                </a:extLst>
              </a:tr>
              <a:tr h="180336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27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유동자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051800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</a:t>
                      </a:r>
                      <a:r>
                        <a:rPr lang="ko-KR" altLang="en-US" sz="850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현금및현금성자산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332,000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302,900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14356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27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매출채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권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86,500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75,600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413972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27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재고자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125,000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132,500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644707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543,500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511,000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60480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비유동자산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852185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27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유형자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565,000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550,000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792997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27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무형자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55,000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86,000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399167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620,000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636,000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54401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자산총계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1,163,500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1,147,000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306988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부 채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20483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27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유동부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채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518823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3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매입채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무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79,400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76,000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016968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  단기차입금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160,000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186,000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341802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  유동성장기차입금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30,000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30,000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16082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269,400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292,000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06132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비유동부채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746851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  장기차입금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90,000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120,000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827884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90,000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120,000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231661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부채총계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359,400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412,000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030092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 본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52995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27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납입자</a:t>
                      </a: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본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500,000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500,000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111041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이익잉여금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293,100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221,000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132683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</a:t>
                      </a:r>
                      <a:r>
                        <a:rPr lang="ko-KR" altLang="en-US" sz="850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기타포괄이익누계액</a:t>
                      </a: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  <a:ea typeface="신명 신명조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11,000</a:t>
                      </a:r>
                      <a:endParaRPr 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14,000</a:t>
                      </a:r>
                      <a:endParaRPr 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819403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자본총계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804,100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735,000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897971"/>
                  </a:ext>
                </a:extLst>
              </a:tr>
              <a:tr h="190992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부채와 자본총계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1,163,500</a:t>
                      </a:r>
                      <a:endParaRPr lang="ko-KR" altLang="en-US" sz="850" kern="0" spc="-3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85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1,147,000</a:t>
                      </a:r>
                      <a:endParaRPr lang="ko-KR" altLang="en-US" sz="850" kern="0" spc="-30" dirty="0">
                        <a:solidFill>
                          <a:srgbClr val="0066CC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477399"/>
                  </a:ext>
                </a:extLst>
              </a:tr>
              <a:tr h="180336">
                <a:tc gridSpan="2"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635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35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50" kern="0" spc="-30" dirty="0">
                        <a:solidFill>
                          <a:srgbClr val="000000"/>
                        </a:solidFill>
                        <a:effectLst/>
                        <a:latin typeface="휴먼태고딕"/>
                      </a:endParaRPr>
                    </a:p>
                  </a:txBody>
                  <a:tcPr marL="11023" marR="1102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026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87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6012" y="2120533"/>
            <a:ext cx="8525088" cy="3739092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None/>
            </a:pPr>
            <a:r>
              <a:rPr lang="ko-KR" altLang="en-US" sz="1800" b="1" dirty="0"/>
              <a:t>자산의 분류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유동성</a:t>
            </a:r>
            <a:r>
              <a:rPr lang="en-US" altLang="ko-KR" sz="1600" b="1" dirty="0">
                <a:latin typeface="맑은 고딕" panose="020B0503020000020004" pitchFamily="50" charset="-127"/>
              </a:rPr>
              <a:t>/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비유동성으로</a:t>
            </a:r>
            <a:r>
              <a:rPr lang="ko-KR" altLang="en-US" sz="1600" b="1" dirty="0">
                <a:latin typeface="맑은 고딕" panose="020B0503020000020004" pitchFamily="50" charset="-127"/>
              </a:rPr>
              <a:t> 분류하여 표시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자산을 유동자산과 비유동자산으로 구분하여 표시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/>
            <a:r>
              <a:rPr lang="ko-KR" altLang="en-US" sz="1600" b="1" dirty="0">
                <a:latin typeface="맑은 고딕" pitchFamily="50" charset="-127"/>
              </a:rPr>
              <a:t>유동자산 </a:t>
            </a:r>
            <a:r>
              <a:rPr lang="en-US" altLang="ko-KR" sz="1600" b="1" dirty="0">
                <a:latin typeface="맑은 고딕" pitchFamily="50" charset="-127"/>
              </a:rPr>
              <a:t>: </a:t>
            </a:r>
            <a:r>
              <a:rPr lang="ko-KR" altLang="en-US" sz="1600" dirty="0">
                <a:latin typeface="+mn-ea"/>
              </a:rPr>
              <a:t>단기간</a:t>
            </a:r>
            <a:r>
              <a:rPr lang="en-US" altLang="ko-KR" sz="1600" dirty="0">
                <a:latin typeface="+mn-ea"/>
              </a:rPr>
              <a:t>(12</a:t>
            </a:r>
            <a:r>
              <a:rPr lang="ko-KR" altLang="en-US" sz="1600" dirty="0">
                <a:latin typeface="+mn-ea"/>
              </a:rPr>
              <a:t>개월 이내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dirty="0">
                <a:latin typeface="+mn-ea"/>
              </a:rPr>
              <a:t>또는 정상적인 영업주기</a:t>
            </a:r>
            <a:r>
              <a:rPr lang="en-US" altLang="ko-KR" sz="1600" dirty="0">
                <a:latin typeface="+mn-ea"/>
              </a:rPr>
              <a:t>(normal operating cycle) </a:t>
            </a:r>
            <a:r>
              <a:rPr lang="ko-KR" altLang="en-US" sz="1600" dirty="0">
                <a:latin typeface="+mn-ea"/>
              </a:rPr>
              <a:t>내에 실현되거나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판매하거나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또는 소비할 것으로 예상되는 자산</a:t>
            </a:r>
            <a:endParaRPr lang="en-US" altLang="ko-KR" sz="1600" dirty="0">
              <a:latin typeface="+mn-ea"/>
            </a:endParaRPr>
          </a:p>
          <a:p>
            <a:pPr marL="285750" indent="-285750"/>
            <a:r>
              <a:rPr lang="ko-KR" altLang="en-US" sz="1600" b="1" dirty="0">
                <a:latin typeface="+mn-ea"/>
              </a:rPr>
              <a:t>비유동자산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유동자산에 해당되지 않는 자산</a:t>
            </a:r>
            <a:endParaRPr lang="en-US" altLang="ko-KR" sz="1600" dirty="0">
              <a:latin typeface="+mn-ea"/>
            </a:endParaRPr>
          </a:p>
          <a:p>
            <a:pPr marL="285750" indent="-285750"/>
            <a:endParaRPr lang="en-US" altLang="ko-KR" sz="1600" dirty="0">
              <a:latin typeface="+mn-ea"/>
            </a:endParaRPr>
          </a:p>
          <a:p>
            <a:pPr>
              <a:lnSpc>
                <a:spcPts val="2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None/>
            </a:pPr>
            <a:r>
              <a:rPr lang="ko-KR" altLang="en-US" sz="1800" b="1" dirty="0"/>
              <a:t>부채의 분류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유동성</a:t>
            </a:r>
            <a:r>
              <a:rPr lang="en-US" altLang="ko-KR" sz="1600" b="1" dirty="0">
                <a:latin typeface="맑은 고딕" panose="020B0503020000020004" pitchFamily="50" charset="-127"/>
              </a:rPr>
              <a:t>/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비유동성으로</a:t>
            </a:r>
            <a:r>
              <a:rPr lang="ko-KR" altLang="en-US" sz="1600" b="1" dirty="0">
                <a:latin typeface="맑은 고딕" panose="020B0503020000020004" pitchFamily="50" charset="-127"/>
              </a:rPr>
              <a:t> 분류하여 표시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부채를 유동부채와 비유동부채로 구분하여 표시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/>
            <a:r>
              <a:rPr lang="ko-KR" altLang="en-US" sz="1600" b="1" dirty="0">
                <a:latin typeface="맑은 고딕" pitchFamily="50" charset="-127"/>
              </a:rPr>
              <a:t>유동부채 </a:t>
            </a:r>
            <a:r>
              <a:rPr lang="en-US" altLang="ko-KR" sz="1600" b="1" dirty="0">
                <a:latin typeface="맑은 고딕" pitchFamily="50" charset="-127"/>
              </a:rPr>
              <a:t>: </a:t>
            </a:r>
            <a:r>
              <a:rPr lang="ko-KR" altLang="en-US" sz="1600" dirty="0">
                <a:latin typeface="+mn-ea"/>
              </a:rPr>
              <a:t>단기간</a:t>
            </a:r>
            <a:r>
              <a:rPr lang="en-US" altLang="ko-KR" sz="1600" dirty="0">
                <a:latin typeface="+mn-ea"/>
              </a:rPr>
              <a:t>(12</a:t>
            </a:r>
            <a:r>
              <a:rPr lang="ko-KR" altLang="en-US" sz="1600" dirty="0">
                <a:latin typeface="+mn-ea"/>
              </a:rPr>
              <a:t>개월 이내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dirty="0">
                <a:latin typeface="+mn-ea"/>
              </a:rPr>
              <a:t>또는 정상적인 영업주기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내에 결제될 것으로 예상되는 부채</a:t>
            </a:r>
            <a:endParaRPr lang="en-US" altLang="ko-KR" sz="1600" dirty="0">
              <a:latin typeface="+mn-ea"/>
            </a:endParaRPr>
          </a:p>
          <a:p>
            <a:pPr marL="285750" indent="-285750"/>
            <a:r>
              <a:rPr lang="ko-KR" altLang="en-US" sz="1600" b="1" dirty="0">
                <a:latin typeface="+mn-ea"/>
              </a:rPr>
              <a:t>비유동자산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유동부채에 해당되지 않는 부채</a:t>
            </a:r>
            <a:endParaRPr lang="en-US" altLang="ko-KR" sz="1600" dirty="0">
              <a:latin typeface="+mn-ea"/>
            </a:endParaRPr>
          </a:p>
          <a:p>
            <a:pPr marL="360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/>
            <a:endParaRPr lang="en-US" altLang="ko-KR" sz="1600" dirty="0">
              <a:latin typeface="+mn-ea"/>
            </a:endParaRPr>
          </a:p>
          <a:p>
            <a:pPr marL="360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360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400" dirty="0">
              <a:latin typeface="맑은 고딕" panose="020B0503020000020004" pitchFamily="50" charset="-127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461779" y="1594028"/>
            <a:ext cx="6548293" cy="416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08" tIns="37301" rIns="74608" bIns="37301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재무상태표의 분류</a:t>
            </a:r>
            <a:endParaRPr lang="en-US" altLang="ko-KR" sz="1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76012" y="1614586"/>
            <a:ext cx="185767" cy="341235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6012" y="2120532"/>
            <a:ext cx="8525088" cy="451030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288000" latinLnBrk="0">
              <a:buNone/>
              <a:defRPr/>
            </a:pPr>
            <a:endParaRPr lang="en-US" altLang="ko-KR" sz="1400" dirty="0">
              <a:latin typeface="맑은 고딕" pitchFamily="50" charset="-127"/>
            </a:endParaRPr>
          </a:p>
          <a:p>
            <a:pPr marL="360000" indent="-288000" latinLnBrk="0">
              <a:buNone/>
              <a:defRPr/>
            </a:pPr>
            <a:endParaRPr lang="en-US" altLang="ko-KR" sz="1400" dirty="0">
              <a:latin typeface="맑은 고딕" pitchFamily="50" charset="-127"/>
            </a:endParaRPr>
          </a:p>
          <a:p>
            <a:pPr marL="360000" indent="-288000" latinLnBrk="0">
              <a:buNone/>
              <a:defRPr/>
            </a:pPr>
            <a:endParaRPr lang="en-US" altLang="ko-KR" sz="1400" dirty="0">
              <a:latin typeface="맑은 고딕" pitchFamily="50" charset="-127"/>
            </a:endParaRPr>
          </a:p>
          <a:p>
            <a:pPr marL="360000" indent="-288000" latinLnBrk="0">
              <a:buNone/>
              <a:defRPr/>
            </a:pPr>
            <a:endParaRPr lang="en-US" altLang="ko-KR" sz="1400" dirty="0">
              <a:latin typeface="맑은 고딕" pitchFamily="50" charset="-127"/>
            </a:endParaRPr>
          </a:p>
          <a:p>
            <a:pPr marL="360000" indent="-288000" latinLnBrk="0">
              <a:buNone/>
              <a:defRPr/>
            </a:pPr>
            <a:endParaRPr lang="en-US" altLang="ko-KR" sz="1400" dirty="0">
              <a:latin typeface="맑은 고딕" pitchFamily="50" charset="-127"/>
            </a:endParaRPr>
          </a:p>
          <a:p>
            <a:pPr marL="360000" indent="-288000" latinLnBrk="0">
              <a:buNone/>
              <a:defRPr/>
            </a:pPr>
            <a:endParaRPr lang="en-US" altLang="ko-KR" sz="1400" dirty="0">
              <a:latin typeface="맑은 고딕" pitchFamily="50" charset="-127"/>
            </a:endParaRPr>
          </a:p>
          <a:p>
            <a:pPr marL="360000" indent="-288000" latinLnBrk="0">
              <a:buNone/>
              <a:defRPr/>
            </a:pPr>
            <a:endParaRPr lang="en-US" altLang="ko-KR" sz="1400" dirty="0">
              <a:latin typeface="맑은 고딕" pitchFamily="50" charset="-127"/>
            </a:endParaRPr>
          </a:p>
          <a:p>
            <a:pPr marL="360000" indent="-288000" latinLnBrk="0">
              <a:buNone/>
              <a:defRPr/>
            </a:pPr>
            <a:endParaRPr lang="en-US" altLang="ko-KR" sz="12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4C06EC-9FA3-4D0D-9EFA-F590F37DB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8545"/>
              </p:ext>
            </p:extLst>
          </p:nvPr>
        </p:nvGraphicFramePr>
        <p:xfrm>
          <a:off x="2202924" y="1789032"/>
          <a:ext cx="6383074" cy="190661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310331">
                  <a:extLst>
                    <a:ext uri="{9D8B030D-6E8A-4147-A177-3AD203B41FA5}">
                      <a16:colId xmlns:a16="http://schemas.microsoft.com/office/drawing/2014/main" val="2498708231"/>
                    </a:ext>
                  </a:extLst>
                </a:gridCol>
                <a:gridCol w="5072743">
                  <a:extLst>
                    <a:ext uri="{9D8B030D-6E8A-4147-A177-3AD203B41FA5}">
                      <a16:colId xmlns:a16="http://schemas.microsoft.com/office/drawing/2014/main" val="2032101619"/>
                    </a:ext>
                  </a:extLst>
                </a:gridCol>
              </a:tblGrid>
              <a:tr h="18091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유동자산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</a:txBody>
                  <a:tcPr marL="63546" marR="63546" marT="17569" marB="1756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-30" dirty="0" err="1">
                          <a:effectLst/>
                        </a:rPr>
                        <a:t>현금및현금성자산：현금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예금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63546" marR="63546" marT="17569" marB="17569" anchor="ctr"/>
                </a:tc>
                <a:extLst>
                  <a:ext uri="{0D108BD9-81ED-4DB2-BD59-A6C34878D82A}">
                    <a16:rowId xmlns:a16="http://schemas.microsoft.com/office/drawing/2014/main" val="59207966"/>
                  </a:ext>
                </a:extLst>
              </a:tr>
              <a:tr h="1809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270" dirty="0" err="1">
                          <a:effectLst/>
                        </a:rPr>
                        <a:t>매출채</a:t>
                      </a:r>
                      <a:r>
                        <a:rPr lang="ko-KR" altLang="en-US" sz="1400" kern="0" spc="-30" dirty="0" err="1">
                          <a:effectLst/>
                        </a:rPr>
                        <a:t>권：외상매출금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 err="1">
                          <a:effectLst/>
                        </a:rPr>
                        <a:t>받을어음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63546" marR="63546" marT="17569" marB="17569" anchor="ctr"/>
                </a:tc>
                <a:extLst>
                  <a:ext uri="{0D108BD9-81ED-4DB2-BD59-A6C34878D82A}">
                    <a16:rowId xmlns:a16="http://schemas.microsoft.com/office/drawing/2014/main" val="992143740"/>
                  </a:ext>
                </a:extLst>
              </a:tr>
              <a:tr h="1809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270" dirty="0" err="1">
                          <a:effectLst/>
                        </a:rPr>
                        <a:t>재고자</a:t>
                      </a:r>
                      <a:r>
                        <a:rPr lang="ko-KR" altLang="en-US" sz="1400" kern="0" spc="-30" dirty="0" err="1">
                          <a:effectLst/>
                        </a:rPr>
                        <a:t>산：상품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제품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반제품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재공품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원재료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63546" marR="63546" marT="17569" marB="17569" anchor="ctr"/>
                </a:tc>
                <a:extLst>
                  <a:ext uri="{0D108BD9-81ED-4DB2-BD59-A6C34878D82A}">
                    <a16:rowId xmlns:a16="http://schemas.microsoft.com/office/drawing/2014/main" val="2775090050"/>
                  </a:ext>
                </a:extLst>
              </a:tr>
              <a:tr h="2658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-30" dirty="0" err="1">
                          <a:effectLst/>
                        </a:rPr>
                        <a:t>기타유동자산：미수금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미수수익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63546" marR="63546" marT="17569" marB="17569" anchor="ctr"/>
                </a:tc>
                <a:extLst>
                  <a:ext uri="{0D108BD9-81ED-4DB2-BD59-A6C34878D82A}">
                    <a16:rowId xmlns:a16="http://schemas.microsoft.com/office/drawing/2014/main" val="440121969"/>
                  </a:ext>
                </a:extLst>
              </a:tr>
              <a:tr h="18091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effectLst/>
                        </a:rPr>
                        <a:t>비유동자산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</a:txBody>
                  <a:tcPr marL="63546" marR="63546" marT="17569" marB="1756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-30" dirty="0" err="1">
                          <a:effectLst/>
                        </a:rPr>
                        <a:t>장기금융자산：단기에</a:t>
                      </a:r>
                      <a:r>
                        <a:rPr lang="ko-KR" altLang="en-US" sz="1400" kern="0" spc="-30" dirty="0">
                          <a:effectLst/>
                        </a:rPr>
                        <a:t> 매각할 목적이 아닌 주식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채권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63546" marR="63546" marT="17569" marB="17569" anchor="ctr"/>
                </a:tc>
                <a:extLst>
                  <a:ext uri="{0D108BD9-81ED-4DB2-BD59-A6C34878D82A}">
                    <a16:rowId xmlns:a16="http://schemas.microsoft.com/office/drawing/2014/main" val="2742779533"/>
                  </a:ext>
                </a:extLst>
              </a:tr>
              <a:tr h="1809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270" dirty="0" err="1">
                          <a:effectLst/>
                        </a:rPr>
                        <a:t>유형자</a:t>
                      </a:r>
                      <a:r>
                        <a:rPr lang="ko-KR" altLang="en-US" sz="1400" kern="0" spc="-30" dirty="0" err="1">
                          <a:effectLst/>
                        </a:rPr>
                        <a:t>산：토지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건물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기계장치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차량운반구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63546" marR="63546" marT="17569" marB="17569" anchor="ctr"/>
                </a:tc>
                <a:extLst>
                  <a:ext uri="{0D108BD9-81ED-4DB2-BD59-A6C34878D82A}">
                    <a16:rowId xmlns:a16="http://schemas.microsoft.com/office/drawing/2014/main" val="2320543657"/>
                  </a:ext>
                </a:extLst>
              </a:tr>
              <a:tr h="1809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270" dirty="0" err="1">
                          <a:effectLst/>
                        </a:rPr>
                        <a:t>무형자</a:t>
                      </a:r>
                      <a:r>
                        <a:rPr lang="ko-KR" altLang="en-US" sz="1400" kern="0" spc="-30" dirty="0" err="1">
                          <a:effectLst/>
                        </a:rPr>
                        <a:t>산：특허권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영업권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휴먼태고딕"/>
                      </a:endParaRPr>
                    </a:p>
                  </a:txBody>
                  <a:tcPr marL="63546" marR="63546" marT="17569" marB="17569" anchor="ctr"/>
                </a:tc>
                <a:extLst>
                  <a:ext uri="{0D108BD9-81ED-4DB2-BD59-A6C34878D82A}">
                    <a16:rowId xmlns:a16="http://schemas.microsoft.com/office/drawing/2014/main" val="390982200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C29F8A1-4ED2-4A94-9159-CB06855DC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435947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C6F9C70-E581-4A22-9894-1F258B70AA02}"/>
              </a:ext>
            </a:extLst>
          </p:cNvPr>
          <p:cNvGrpSpPr/>
          <p:nvPr/>
        </p:nvGrpSpPr>
        <p:grpSpPr>
          <a:xfrm>
            <a:off x="204303" y="1720538"/>
            <a:ext cx="6042852" cy="307777"/>
            <a:chOff x="1287462" y="4786064"/>
            <a:chExt cx="6042852" cy="307777"/>
          </a:xfrm>
        </p:grpSpPr>
        <p:sp>
          <p:nvSpPr>
            <p:cNvPr id="14" name="오각형 6">
              <a:extLst>
                <a:ext uri="{FF2B5EF4-FFF2-40B4-BE49-F238E27FC236}">
                  <a16:creationId xmlns:a16="http://schemas.microsoft.com/office/drawing/2014/main" id="{26DCB3DC-483C-4D15-A8A6-C3D4BE57B53C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D0A0A6-BF91-4803-968C-79A2E6D92634}"/>
                </a:ext>
              </a:extLst>
            </p:cNvPr>
            <p:cNvSpPr txBox="1"/>
            <p:nvPr/>
          </p:nvSpPr>
          <p:spPr>
            <a:xfrm>
              <a:off x="2079462" y="4786064"/>
              <a:ext cx="525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자산의 분류</a:t>
              </a: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986D98C-836A-47A0-A4F9-ACB844F15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900685"/>
              </p:ext>
            </p:extLst>
          </p:nvPr>
        </p:nvGraphicFramePr>
        <p:xfrm>
          <a:off x="2202924" y="4165609"/>
          <a:ext cx="6383074" cy="189433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298157">
                  <a:extLst>
                    <a:ext uri="{9D8B030D-6E8A-4147-A177-3AD203B41FA5}">
                      <a16:colId xmlns:a16="http://schemas.microsoft.com/office/drawing/2014/main" val="2498708231"/>
                    </a:ext>
                  </a:extLst>
                </a:gridCol>
                <a:gridCol w="5084917">
                  <a:extLst>
                    <a:ext uri="{9D8B030D-6E8A-4147-A177-3AD203B41FA5}">
                      <a16:colId xmlns:a16="http://schemas.microsoft.com/office/drawing/2014/main" val="2032101619"/>
                    </a:ext>
                  </a:extLst>
                </a:gridCol>
              </a:tblGrid>
              <a:tr h="195748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effectLst/>
                        </a:rPr>
                        <a:t>유동부채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</a:txBody>
                  <a:tcPr marL="63546" marR="63546" marT="17569" marB="1756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270" dirty="0" err="1">
                          <a:effectLst/>
                        </a:rPr>
                        <a:t>매입채</a:t>
                      </a:r>
                      <a:r>
                        <a:rPr lang="ko-KR" altLang="en-US" sz="1400" kern="0" spc="-30" dirty="0" err="1">
                          <a:effectLst/>
                        </a:rPr>
                        <a:t>무：외상매입금</a:t>
                      </a:r>
                      <a:r>
                        <a:rPr lang="en-US" altLang="ko-KR" sz="1400" kern="0" spc="-30" dirty="0">
                          <a:effectLst/>
                        </a:rPr>
                        <a:t>, </a:t>
                      </a:r>
                      <a:r>
                        <a:rPr lang="ko-KR" altLang="en-US" sz="1400" kern="0" spc="-30" dirty="0">
                          <a:effectLst/>
                        </a:rPr>
                        <a:t>지급어음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59207966"/>
                  </a:ext>
                </a:extLst>
              </a:tr>
              <a:tr h="3918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0488" marR="0" indent="-90488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270" dirty="0" err="1">
                          <a:effectLst/>
                        </a:rPr>
                        <a:t>미지급</a:t>
                      </a:r>
                      <a:r>
                        <a:rPr lang="ko-KR" altLang="en-US" sz="1400" kern="0" spc="-30" dirty="0" err="1">
                          <a:effectLst/>
                        </a:rPr>
                        <a:t>금：주된</a:t>
                      </a:r>
                      <a:r>
                        <a:rPr lang="ko-KR" altLang="en-US" sz="1400" kern="0" spc="-30" dirty="0">
                          <a:effectLst/>
                        </a:rPr>
                        <a:t> 영업활동 이외의 거래에서 매입대금을 아직 지급하지 않은 경우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992143740"/>
                  </a:ext>
                </a:extLst>
              </a:tr>
              <a:tr h="1957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-30" dirty="0" err="1">
                          <a:effectLst/>
                        </a:rPr>
                        <a:t>단기차입금：만기가</a:t>
                      </a:r>
                      <a:r>
                        <a:rPr lang="ko-KR" altLang="en-US" sz="1400" kern="0" spc="-30" dirty="0">
                          <a:effectLst/>
                        </a:rPr>
                        <a:t> </a:t>
                      </a:r>
                      <a:r>
                        <a:rPr lang="en-US" altLang="ko-KR" sz="1400" kern="0" spc="-30" dirty="0">
                          <a:effectLst/>
                        </a:rPr>
                        <a:t>1</a:t>
                      </a:r>
                      <a:r>
                        <a:rPr lang="ko-KR" altLang="en-US" sz="1400" kern="0" spc="-30" dirty="0">
                          <a:effectLst/>
                        </a:rPr>
                        <a:t>년 이내 도래하는 은행차입금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775090050"/>
                  </a:ext>
                </a:extLst>
              </a:tr>
              <a:tr h="1957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-30" dirty="0">
                          <a:effectLst/>
                        </a:rPr>
                        <a:t>유동성장기차입금</a:t>
                      </a:r>
                      <a:r>
                        <a:rPr lang="en-US" altLang="ko-KR" sz="1400" kern="0" spc="-30" dirty="0">
                          <a:effectLst/>
                        </a:rPr>
                        <a:t>:</a:t>
                      </a:r>
                      <a:r>
                        <a:rPr lang="ko-KR" altLang="en-US" sz="1400" kern="0" spc="-30" dirty="0">
                          <a:effectLst/>
                        </a:rPr>
                        <a:t> 장기차입금 중 만기가 </a:t>
                      </a:r>
                      <a:r>
                        <a:rPr lang="en-US" altLang="ko-KR" sz="1400" kern="0" spc="-30" dirty="0">
                          <a:effectLst/>
                        </a:rPr>
                        <a:t>1</a:t>
                      </a:r>
                      <a:r>
                        <a:rPr lang="ko-KR" altLang="en-US" sz="1400" kern="0" spc="-30" dirty="0">
                          <a:effectLst/>
                        </a:rPr>
                        <a:t>년 이내 도래하는 부분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40121969"/>
                  </a:ext>
                </a:extLst>
              </a:tr>
              <a:tr h="19574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effectLst/>
                        </a:rPr>
                        <a:t>비유동부채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</a:txBody>
                  <a:tcPr marL="63546" marR="63546" marT="17569" marB="1756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-30" dirty="0" err="1">
                          <a:effectLst/>
                        </a:rPr>
                        <a:t>장기차입금：만기가</a:t>
                      </a:r>
                      <a:r>
                        <a:rPr lang="ko-KR" altLang="en-US" sz="1400" kern="0" spc="-30" dirty="0">
                          <a:effectLst/>
                        </a:rPr>
                        <a:t> </a:t>
                      </a:r>
                      <a:r>
                        <a:rPr lang="en-US" altLang="ko-KR" sz="1400" kern="0" spc="-30" dirty="0">
                          <a:effectLst/>
                        </a:rPr>
                        <a:t>1</a:t>
                      </a:r>
                      <a:r>
                        <a:rPr lang="ko-KR" altLang="en-US" sz="1400" kern="0" spc="-30" dirty="0">
                          <a:effectLst/>
                        </a:rPr>
                        <a:t>년 이후 도래하는 은행차입금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742779533"/>
                  </a:ext>
                </a:extLst>
              </a:tr>
              <a:tr h="1957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52500" algn="l"/>
                        </a:tabLst>
                      </a:pPr>
                      <a:r>
                        <a:rPr lang="ko-KR" altLang="en-US" sz="1400" kern="0" spc="-30" dirty="0" err="1">
                          <a:effectLst/>
                        </a:rPr>
                        <a:t>장기충당부채：제품보증충당부채</a:t>
                      </a:r>
                      <a:r>
                        <a:rPr lang="ko-KR" altLang="en-US" sz="1400" kern="0" spc="-30" dirty="0">
                          <a:effectLst/>
                        </a:rPr>
                        <a:t> 등</a:t>
                      </a:r>
                      <a:endParaRPr lang="ko-KR" altLang="en-US" sz="1400" kern="0" spc="-30" dirty="0">
                        <a:solidFill>
                          <a:srgbClr val="0066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320543657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8B1C2ADC-15BD-4774-AC38-719AE3E07D6D}"/>
              </a:ext>
            </a:extLst>
          </p:cNvPr>
          <p:cNvGrpSpPr/>
          <p:nvPr/>
        </p:nvGrpSpPr>
        <p:grpSpPr>
          <a:xfrm>
            <a:off x="204303" y="4109141"/>
            <a:ext cx="6042852" cy="307777"/>
            <a:chOff x="1287462" y="4786064"/>
            <a:chExt cx="6042852" cy="307777"/>
          </a:xfrm>
        </p:grpSpPr>
        <p:sp>
          <p:nvSpPr>
            <p:cNvPr id="17" name="오각형 6">
              <a:extLst>
                <a:ext uri="{FF2B5EF4-FFF2-40B4-BE49-F238E27FC236}">
                  <a16:creationId xmlns:a16="http://schemas.microsoft.com/office/drawing/2014/main" id="{481CB16E-7BB3-4DC7-A070-EFFF30A1DD97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5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CA28A3-4503-460F-9FC6-FE8A802E60A8}"/>
                </a:ext>
              </a:extLst>
            </p:cNvPr>
            <p:cNvSpPr txBox="1"/>
            <p:nvPr/>
          </p:nvSpPr>
          <p:spPr>
            <a:xfrm>
              <a:off x="2079462" y="4786064"/>
              <a:ext cx="525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부채의 분류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84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6012" y="1500718"/>
            <a:ext cx="8641369" cy="5130109"/>
            <a:chOff x="2626908" y="1569415"/>
            <a:chExt cx="11521825" cy="6840152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908" y="2127935"/>
              <a:ext cx="11521825" cy="628163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/>
                <a:t>자본의 분류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①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납입자본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회사가 주식을 발행할 때 발행한 주식의 액면금액의 합을 나타내는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자본금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과 액면금액을 초과하여 납입한 금액인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자본잉여금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을 포함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② 이익잉여금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ts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기업이 일정기간 동안 벌어들인 순이익 중에서 주주들에게 배당하지 않고 기업 내에 유보된 부분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③ 기타자본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자본조정과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기타포괄손익누계액을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포함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569415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재무상태표의 분류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597651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97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549150-8C43-4FD5-B7F1-75CB35E73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311" y="1540764"/>
            <a:ext cx="3477543" cy="4742104"/>
          </a:xfrm>
          <a:prstGeom prst="rect">
            <a:avLst/>
          </a:prstGeom>
        </p:spPr>
      </p:pic>
      <p:sp>
        <p:nvSpPr>
          <p:cNvPr id="10" name="Rectangle 15">
            <a:extLst>
              <a:ext uri="{FF2B5EF4-FFF2-40B4-BE49-F238E27FC236}">
                <a16:creationId xmlns:a16="http://schemas.microsoft.com/office/drawing/2014/main" id="{8EEAD7B1-CDA0-4C22-90CC-4692300A4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56" y="1540764"/>
            <a:ext cx="4244175" cy="270223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latinLnBrk="0">
              <a:lnSpc>
                <a:spcPts val="26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일반적인 포괄손익계산서는 수익과 비용을 분류하고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아래와 같이 여러 단계의 이익을 표시함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6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매출총이익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6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영업이익 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6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법인세차감전순이익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6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 당기순이익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6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 총포괄이익</a:t>
            </a: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1609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394613" y="4975654"/>
            <a:ext cx="8516215" cy="1882346"/>
            <a:chOff x="362197" y="1467215"/>
            <a:chExt cx="8516215" cy="1882346"/>
          </a:xfrm>
        </p:grpSpPr>
        <p:grpSp>
          <p:nvGrpSpPr>
            <p:cNvPr id="14" name="그룹 13"/>
            <p:cNvGrpSpPr/>
            <p:nvPr/>
          </p:nvGrpSpPr>
          <p:grpSpPr>
            <a:xfrm>
              <a:off x="371458" y="1467215"/>
              <a:ext cx="8506954" cy="1882346"/>
              <a:chOff x="2627070" y="1671810"/>
              <a:chExt cx="16959094" cy="2509795"/>
            </a:xfrm>
          </p:grpSpPr>
          <p:sp>
            <p:nvSpPr>
              <p:cNvPr id="17" name="Rectangle 15"/>
              <p:cNvSpPr>
                <a:spLocks noChangeArrowheads="1"/>
              </p:cNvSpPr>
              <p:nvPr/>
            </p:nvSpPr>
            <p:spPr bwMode="auto">
              <a:xfrm>
                <a:off x="2627070" y="2150837"/>
                <a:ext cx="16959094" cy="2030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4608" tIns="37301" rIns="74608" bIns="37301" anchor="t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latinLnBrk="0">
                  <a:lnSpc>
                    <a:spcPts val="26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맑은 고딕" panose="020B0503020000020004" pitchFamily="50" charset="-127"/>
                  </a:rPr>
                  <a:t> 1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년 단위 회계기간을 대상으로 하는 재무제표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연차재무제표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 </a:t>
                </a:r>
              </a:p>
              <a:p>
                <a:pPr latinLnBrk="0">
                  <a:lnSpc>
                    <a:spcPts val="26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맑은 고딕" panose="020B0503020000020004" pitchFamily="50" charset="-127"/>
                  </a:rPr>
                  <a:t> 1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년보다 짧은 회계기간을 대상으로 하는 재무제표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중간재무보고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latinLnBrk="0">
                  <a:lnSpc>
                    <a:spcPts val="26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→ 분기 또는 반기 재무제표</a:t>
                </a:r>
                <a:endParaRPr lang="en-US" altLang="ko-KR" sz="16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3087304" y="1671810"/>
                <a:ext cx="8613993" cy="4629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손익계산서 작성기간</a:t>
                </a:r>
                <a:endParaRPr lang="en-US" altLang="ko-KR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6" name="직사각형 15"/>
            <p:cNvSpPr/>
            <p:nvPr/>
          </p:nvSpPr>
          <p:spPr>
            <a:xfrm>
              <a:off x="362197" y="1507406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460BA79-3415-4D0E-AF16-CC08F060EE0D}"/>
              </a:ext>
            </a:extLst>
          </p:cNvPr>
          <p:cNvGrpSpPr/>
          <p:nvPr/>
        </p:nvGrpSpPr>
        <p:grpSpPr>
          <a:xfrm>
            <a:off x="144867" y="1215299"/>
            <a:ext cx="6042852" cy="307777"/>
            <a:chOff x="1287462" y="4786064"/>
            <a:chExt cx="6042852" cy="307777"/>
          </a:xfrm>
        </p:grpSpPr>
        <p:sp>
          <p:nvSpPr>
            <p:cNvPr id="20" name="오각형 6">
              <a:extLst>
                <a:ext uri="{FF2B5EF4-FFF2-40B4-BE49-F238E27FC236}">
                  <a16:creationId xmlns:a16="http://schemas.microsoft.com/office/drawing/2014/main" id="{5290C005-9E15-49DD-BBAA-103BD6F9FEAB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7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34F905-FB97-4F26-B54A-79D45F4A36FB}"/>
                </a:ext>
              </a:extLst>
            </p:cNvPr>
            <p:cNvSpPr txBox="1"/>
            <p:nvPr/>
          </p:nvSpPr>
          <p:spPr>
            <a:xfrm>
              <a:off x="2079462" y="4786064"/>
              <a:ext cx="525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손익계산서 양식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693" y="1237000"/>
            <a:ext cx="5957721" cy="367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75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6011" y="1378127"/>
            <a:ext cx="8460665" cy="2529844"/>
            <a:chOff x="2626908" y="1693823"/>
            <a:chExt cx="11280886" cy="28893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15"/>
                <p:cNvSpPr>
                  <a:spLocks noChangeArrowheads="1"/>
                </p:cNvSpPr>
                <p:nvPr/>
              </p:nvSpPr>
              <p:spPr bwMode="auto">
                <a:xfrm>
                  <a:off x="2626908" y="2127938"/>
                  <a:ext cx="11280886" cy="24552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74608" tIns="37301" rIns="74608" bIns="37301" anchor="t"/>
                <a:lstStyle>
                  <a:lvl1pPr algn="l" defTabSz="995363">
                    <a:spcBef>
                      <a:spcPct val="20000"/>
                    </a:spcBef>
                    <a:buClr>
                      <a:schemeClr val="tx2"/>
                    </a:buClr>
                    <a:buSzPct val="115000"/>
                    <a:buFont typeface="Wingdings" panose="05000000000000000000" pitchFamily="2" charset="2"/>
                    <a:buChar char="§"/>
                    <a:defRPr sz="28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 algn="l" defTabSz="995363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l" defTabSz="995363">
                    <a:spcBef>
                      <a:spcPct val="20000"/>
                    </a:spcBef>
                    <a:buChar char="•"/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l" defTabSz="995363">
                    <a:spcBef>
                      <a:spcPct val="20000"/>
                    </a:spcBef>
                    <a:buChar char="–"/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l" defTabSz="995363">
                    <a:spcBef>
                      <a:spcPct val="20000"/>
                    </a:spcBef>
                    <a:buChar char="»"/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9953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9953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9953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9953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180000" indent="-180000" latinLnBrk="0">
                    <a:lnSpc>
                      <a:spcPts val="2400"/>
                    </a:lnSpc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주당이익</a:t>
                  </a:r>
                  <a:r>
                    <a:rPr lang="en-US" altLang="ko-KR" sz="1600" dirty="0">
                      <a:latin typeface="맑은 고딕" panose="020B0503020000020004" pitchFamily="50" charset="-127"/>
                    </a:rPr>
                    <a:t>(earnings per share; EPS)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</a:rPr>
                    <a:t>: </a:t>
                  </a:r>
                  <a:r>
                    <a:rPr lang="ko-KR" altLang="en-US" sz="1600" dirty="0">
                      <a:latin typeface="맑은 고딕" panose="020B0503020000020004" pitchFamily="50" charset="-127"/>
                    </a:rPr>
                    <a:t>주식 </a:t>
                  </a:r>
                  <a:r>
                    <a:rPr lang="en-US" altLang="ko-KR" sz="1600" dirty="0">
                      <a:latin typeface="맑은 고딕" panose="020B0503020000020004" pitchFamily="50" charset="-127"/>
                    </a:rPr>
                    <a:t>1</a:t>
                  </a:r>
                  <a:r>
                    <a:rPr lang="ko-KR" altLang="en-US" sz="1600" dirty="0">
                      <a:latin typeface="맑은 고딕" panose="020B0503020000020004" pitchFamily="50" charset="-127"/>
                    </a:rPr>
                    <a:t>주당 </a:t>
                  </a:r>
                  <a:r>
                    <a:rPr lang="ko-KR" altLang="en-US" sz="1600" dirty="0" err="1">
                      <a:latin typeface="맑은 고딕" panose="020B0503020000020004" pitchFamily="50" charset="-127"/>
                    </a:rPr>
                    <a:t>당기순손익</a:t>
                  </a:r>
                  <a:endParaRPr lang="en-US" altLang="ko-KR" sz="1600" dirty="0">
                    <a:latin typeface="맑은 고딕" panose="020B0503020000020004" pitchFamily="50" charset="-127"/>
                  </a:endParaRPr>
                </a:p>
                <a:p>
                  <a:pPr marL="180000" indent="-180000" latinLnBrk="0">
                    <a:lnSpc>
                      <a:spcPts val="2400"/>
                    </a:lnSpc>
                    <a:spcBef>
                      <a:spcPts val="600"/>
                    </a:spcBef>
                    <a:buClrTx/>
                    <a:buSzTx/>
                    <a:buFont typeface="Arial" panose="020B0604020202020204" pitchFamily="34" charset="0"/>
                    <a:buChar char="•"/>
                  </a:pPr>
                  <a:endParaRPr lang="en-US" altLang="ko-KR" sz="1600" dirty="0">
                    <a:latin typeface="맑은 고딕" panose="020B0503020000020004" pitchFamily="50" charset="-127"/>
                  </a:endParaRPr>
                </a:p>
                <a:p>
                  <a:pPr latinLnBrk="0">
                    <a:lnSpc>
                      <a:spcPts val="2400"/>
                    </a:lnSpc>
                    <a:spcBef>
                      <a:spcPts val="1200"/>
                    </a:spcBef>
                    <a:buClrTx/>
                    <a:buSzTx/>
                    <a:buNone/>
                  </a:pPr>
                  <a14:m>
                    <m:oMath xmlns:m="http://schemas.openxmlformats.org/officeDocument/2006/math">
                      <m:r>
                        <a:rPr lang="en-US" altLang="ko-KR" sz="1600" i="1" dirty="0" smtClean="0">
                          <a:latin typeface="Cambria Math" panose="02040503050406030204" pitchFamily="18" charset="0"/>
                        </a:rPr>
                        <m:t>                                    </m:t>
                      </m:r>
                      <m:r>
                        <a:rPr lang="ko-KR" altLang="en-US" sz="1600" i="1" dirty="0" smtClean="0">
                          <a:latin typeface="Cambria Math" panose="02040503050406030204" pitchFamily="18" charset="0"/>
                        </a:rPr>
                        <m:t>주</m:t>
                      </m:r>
                    </m:oMath>
                  </a14:m>
                  <a:r>
                    <a:rPr lang="ko-KR" altLang="en-US" sz="1600" dirty="0">
                      <a:latin typeface="맑은 고딕" panose="020B0503020000020004" pitchFamily="50" charset="-127"/>
                    </a:rPr>
                    <a:t>당이익</a:t>
                  </a:r>
                  <a:r>
                    <a:rPr lang="en-US" altLang="ko-KR" sz="1600" dirty="0">
                      <a:latin typeface="맑은 고딕" panose="020B0503020000020004" pitchFamily="50" charset="-127"/>
                    </a:rPr>
                    <a:t>(EPS)=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 dirty="0" smtClean="0">
                              <a:latin typeface="Cambria Math" panose="02040503050406030204" pitchFamily="18" charset="0"/>
                            </a:rPr>
                            <m:t>당기순손익</m:t>
                          </m:r>
                        </m:num>
                        <m:den>
                          <m:r>
                            <a:rPr lang="ko-KR" altLang="en-US" sz="1600" i="1" dirty="0" smtClean="0">
                              <a:latin typeface="Cambria Math" panose="02040503050406030204" pitchFamily="18" charset="0"/>
                            </a:rPr>
                            <m:t>주식수</m:t>
                          </m:r>
                        </m:den>
                      </m:f>
                    </m:oMath>
                  </a14:m>
                  <a:endParaRPr lang="en-US" altLang="ko-KR" sz="1600" dirty="0">
                    <a:latin typeface="맑은 고딕" panose="020B0503020000020004" pitchFamily="50" charset="-127"/>
                  </a:endParaRPr>
                </a:p>
                <a:p>
                  <a:pPr marL="180000" indent="-180000" latinLnBrk="0">
                    <a:lnSpc>
                      <a:spcPts val="2400"/>
                    </a:lnSpc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Char char="•"/>
                  </a:pPr>
                  <a:endParaRPr lang="en-US" altLang="ko-KR" sz="1600" dirty="0">
                    <a:latin typeface="맑은 고딕" panose="020B0503020000020004" pitchFamily="50" charset="-127"/>
                  </a:endParaRPr>
                </a:p>
                <a:p>
                  <a:pPr marL="180000" indent="-180000" latinLnBrk="0">
                    <a:lnSpc>
                      <a:spcPts val="2400"/>
                    </a:lnSpc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ko-KR" altLang="en-US" sz="1600" dirty="0" err="1">
                      <a:latin typeface="맑은 고딕" panose="020B0503020000020004" pitchFamily="50" charset="-127"/>
                    </a:rPr>
                    <a:t>포괄손익계산서</a:t>
                  </a:r>
                  <a:r>
                    <a:rPr lang="ko-KR" altLang="en-US" sz="1600" dirty="0">
                      <a:latin typeface="맑은 고딕" panose="020B0503020000020004" pitchFamily="50" charset="-127"/>
                    </a:rPr>
                    <a:t> 제일 하단부에 공시됨 </a:t>
                  </a:r>
                  <a:endParaRPr lang="en-US" altLang="ko-KR" sz="1600" dirty="0">
                    <a:latin typeface="맑은 고딕" panose="020B0503020000020004" pitchFamily="50" charset="-127"/>
                  </a:endParaRPr>
                </a:p>
                <a:p>
                  <a:pPr latinLnBrk="0">
                    <a:lnSpc>
                      <a:spcPts val="2400"/>
                    </a:lnSpc>
                    <a:spcBef>
                      <a:spcPts val="1200"/>
                    </a:spcBef>
                    <a:buClrTx/>
                    <a:buSzTx/>
                    <a:buNone/>
                  </a:pPr>
                  <a:endParaRPr lang="en-US" altLang="ko-KR" sz="1600" dirty="0">
                    <a:latin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10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6908" y="2127938"/>
                  <a:ext cx="11280886" cy="2455223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43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주당이익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76011" y="3847065"/>
            <a:ext cx="8641369" cy="1608085"/>
            <a:chOff x="2626908" y="1623675"/>
            <a:chExt cx="11521825" cy="2683311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626908" y="2180551"/>
              <a:ext cx="11521825" cy="2126435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주가이익비율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(price-earnings ratio; PER):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주가를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EPS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로 나누어서 계산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주가가 주당이익과 비교할 때 얼마나 높은 수준인지를 나타냄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성장성이 높은 산업일수록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PER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높음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주가장부가치비율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(price-book value ratio; PBR): 1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주당 주가를 주당자본으로 나눈 값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871276" y="1623675"/>
              <a:ext cx="8613994" cy="46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주가이익비율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334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51315" y="1585855"/>
            <a:ext cx="8641369" cy="3897865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별도재무제표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개별 기업을 하나의 경제실체로 하여 작성하는 재무제표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연결재무제표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법률적으로 독립적인 회사들이라 하더라도 실질적으로 지배와 종속의 관계에 있는 회사들을 하나의 경제적 실체로 간주하여 작성하는 재무제표</a:t>
            </a:r>
            <a:r>
              <a:rPr lang="en-US" altLang="ko-KR" sz="1600" dirty="0">
                <a:latin typeface="맑은 고딕" panose="020B0503020000020004" pitchFamily="50" charset="-127"/>
              </a:rPr>
              <a:t>. </a:t>
            </a:r>
            <a:r>
              <a:rPr lang="ko-KR" altLang="en-US" sz="1600" dirty="0">
                <a:latin typeface="맑은 고딕" panose="020B0503020000020004" pitchFamily="50" charset="-127"/>
              </a:rPr>
              <a:t>즉 모든 회사는 별도재무제표를 작성하며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이 중에서 지배회사의 경우에는 연결재무제표를 추가로 작성해야 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- </a:t>
            </a:r>
            <a:r>
              <a:rPr lang="ko-KR" altLang="en-US" sz="1600" b="1" dirty="0">
                <a:latin typeface="맑은 고딕" panose="020B0503020000020004" pitchFamily="50" charset="-127"/>
              </a:rPr>
              <a:t>지배회사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타회사를 지배하는 투자회사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- </a:t>
            </a:r>
            <a:r>
              <a:rPr lang="ko-KR" altLang="en-US" sz="1600" b="1" dirty="0">
                <a:latin typeface="맑은 고딕" panose="020B0503020000020004" pitchFamily="50" charset="-127"/>
              </a:rPr>
              <a:t>종속회사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지배받는</a:t>
            </a:r>
            <a:r>
              <a:rPr lang="ko-KR" altLang="en-US" sz="1600" dirty="0">
                <a:latin typeface="맑은 고딕" panose="020B0503020000020004" pitchFamily="50" charset="-127"/>
              </a:rPr>
              <a:t> 피투자회사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국제회계기준에서는 투자회사가 피투자회사에 대한 지배력을 행사하는 경우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이들 피투자회사를 포함하여 작성한 </a:t>
            </a:r>
            <a:r>
              <a:rPr lang="ko-KR" altLang="en-US" sz="1600" b="1" dirty="0">
                <a:latin typeface="맑은 고딕" panose="020B0503020000020004" pitchFamily="50" charset="-127"/>
              </a:rPr>
              <a:t>연결재무제표를 주된 재무제표로 작성하여 공시해야 </a:t>
            </a:r>
            <a:r>
              <a:rPr lang="ko-KR" altLang="en-US" sz="1600" dirty="0">
                <a:latin typeface="맑은 고딕" panose="020B0503020000020004" pitchFamily="50" charset="-127"/>
              </a:rPr>
              <a:t>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슬라이드 번호 개체 틀 1"/>
          <p:cNvSpPr txBox="1">
            <a:spLocks/>
          </p:cNvSpPr>
          <p:nvPr/>
        </p:nvSpPr>
        <p:spPr>
          <a:xfrm>
            <a:off x="8654451" y="6492875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857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912F6BC-E636-9619-C806-3F170981CFB0}"/>
              </a:ext>
            </a:extLst>
          </p:cNvPr>
          <p:cNvSpPr/>
          <p:nvPr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E212993-6D54-B3F9-21D6-62D44F158E21}"/>
              </a:ext>
            </a:extLst>
          </p:cNvPr>
          <p:cNvGrpSpPr/>
          <p:nvPr/>
        </p:nvGrpSpPr>
        <p:grpSpPr>
          <a:xfrm>
            <a:off x="852529" y="224685"/>
            <a:ext cx="6726282" cy="611833"/>
            <a:chOff x="841407" y="494736"/>
            <a:chExt cx="6726282" cy="61183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50292FD-2D6F-D145-31F5-911E84B5ADD7}"/>
                </a:ext>
              </a:extLst>
            </p:cNvPr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D25264-3E1D-98A0-F268-8B2C4A839321}"/>
                </a:ext>
              </a:extLst>
            </p:cNvPr>
            <p:cNvSpPr txBox="1"/>
            <p:nvPr userDrawn="1"/>
          </p:nvSpPr>
          <p:spPr>
            <a:xfrm>
              <a:off x="875384" y="520029"/>
              <a:ext cx="6692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재무제표 형식의 변경</a:t>
              </a:r>
            </a:p>
          </p:txBody>
        </p:sp>
      </p:grp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5A5F1F-3DF9-0369-CF85-CD2EA29E03DC}"/>
              </a:ext>
            </a:extLst>
          </p:cNvPr>
          <p:cNvSpPr txBox="1">
            <a:spLocks/>
          </p:cNvSpPr>
          <p:nvPr/>
        </p:nvSpPr>
        <p:spPr>
          <a:xfrm>
            <a:off x="8697583" y="6423799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2D837C-B2D5-E928-6E05-A1668669427F}"/>
              </a:ext>
            </a:extLst>
          </p:cNvPr>
          <p:cNvSpPr/>
          <p:nvPr/>
        </p:nvSpPr>
        <p:spPr>
          <a:xfrm>
            <a:off x="7578812" y="-2"/>
            <a:ext cx="1565190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4.</a:t>
            </a:r>
            <a:r>
              <a:rPr lang="en-US" altLang="ko-KR" sz="1200" b="1" baseline="0" dirty="0">
                <a:solidFill>
                  <a:schemeClr val="tx1"/>
                </a:solidFill>
              </a:rPr>
              <a:t> </a:t>
            </a:r>
            <a:r>
              <a:rPr lang="ko-KR" altLang="en-US" sz="1200" b="1" baseline="0" dirty="0" err="1">
                <a:solidFill>
                  <a:schemeClr val="tx1"/>
                </a:solidFill>
              </a:rPr>
              <a:t>개념체계와</a:t>
            </a:r>
            <a:r>
              <a:rPr lang="ko-KR" altLang="en-US" sz="1200" b="1" baseline="0" dirty="0">
                <a:solidFill>
                  <a:schemeClr val="tx1"/>
                </a:solidFill>
              </a:rPr>
              <a:t> 표시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A153F-DDB6-6FC5-77EE-E10AA3F780F8}"/>
              </a:ext>
            </a:extLst>
          </p:cNvPr>
          <p:cNvSpPr txBox="1"/>
          <p:nvPr/>
        </p:nvSpPr>
        <p:spPr>
          <a:xfrm>
            <a:off x="91285" y="330498"/>
            <a:ext cx="83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보론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5476F215-24DF-DF61-56FB-DC8ACA96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33" y="3353636"/>
            <a:ext cx="3213134" cy="138430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dirty="0">
                <a:latin typeface="맑은 고딕" panose="020B0503020000020004" pitchFamily="50" charset="-127"/>
              </a:rPr>
              <a:t>국제회계기준위원회</a:t>
            </a:r>
            <a:r>
              <a:rPr lang="en-US" altLang="ko-KR" sz="1600" dirty="0">
                <a:latin typeface="맑은 고딕" panose="020B0503020000020004" pitchFamily="50" charset="-127"/>
              </a:rPr>
              <a:t>(IASB)</a:t>
            </a:r>
            <a:r>
              <a:rPr lang="ko-KR" altLang="en-US" sz="1600" dirty="0">
                <a:latin typeface="맑은 고딕" panose="020B0503020000020004" pitchFamily="50" charset="-127"/>
              </a:rPr>
              <a:t>는 </a:t>
            </a:r>
            <a:r>
              <a:rPr lang="en-US" altLang="ko-KR" sz="1600" dirty="0">
                <a:latin typeface="맑은 고딕" panose="020B0503020000020004" pitchFamily="50" charset="-127"/>
              </a:rPr>
              <a:t>2024</a:t>
            </a:r>
            <a:r>
              <a:rPr lang="ko-KR" altLang="en-US" sz="1600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IFRS 18 </a:t>
            </a:r>
            <a:r>
              <a:rPr lang="en-US" altLang="ko-KR" sz="1600" dirty="0">
                <a:latin typeface="맑은 고딕" panose="020B0503020000020004" pitchFamily="50" charset="-127"/>
              </a:rPr>
              <a:t>‘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재무제표의 표시와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공시</a:t>
            </a:r>
            <a:r>
              <a:rPr lang="ko-KR" altLang="en-US" sz="1600" dirty="0" err="1">
                <a:latin typeface="맑은 고딕" panose="020B0503020000020004" pitchFamily="50" charset="-127"/>
              </a:rPr>
              <a:t>’를</a:t>
            </a:r>
            <a:r>
              <a:rPr lang="ko-KR" altLang="en-US" sz="1600" dirty="0">
                <a:latin typeface="맑은 고딕" panose="020B0503020000020004" pitchFamily="50" charset="-127"/>
              </a:rPr>
              <a:t> 제정하여 재무제표의 표시방법을 변경하기로 하였고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이는 </a:t>
            </a:r>
            <a:r>
              <a:rPr lang="en-US" altLang="ko-KR" sz="1600" dirty="0">
                <a:latin typeface="맑은 고딕" panose="020B0503020000020004" pitchFamily="50" charset="-127"/>
              </a:rPr>
              <a:t>2027</a:t>
            </a:r>
            <a:r>
              <a:rPr lang="ko-KR" altLang="en-US" sz="1600" dirty="0">
                <a:latin typeface="맑은 고딕" panose="020B0503020000020004" pitchFamily="50" charset="-127"/>
              </a:rPr>
              <a:t>년부터 적용될 예정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IFRS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18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에 따르면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포괄손익계산서의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표시방법이 상당부분 변경됨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342900" indent="-3429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영업활동의 정의가 확대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342900" indent="-3429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투자활동에서 필수적 관계기업과 기타기업에서 발생하는 투자수익을 구분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endParaRPr lang="ko-KR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오각형 6">
            <a:extLst>
              <a:ext uri="{FF2B5EF4-FFF2-40B4-BE49-F238E27FC236}">
                <a16:creationId xmlns:a16="http://schemas.microsoft.com/office/drawing/2014/main" id="{1168AAF8-6EE8-3773-FD17-0533B84D9869}"/>
              </a:ext>
            </a:extLst>
          </p:cNvPr>
          <p:cNvSpPr/>
          <p:nvPr/>
        </p:nvSpPr>
        <p:spPr>
          <a:xfrm>
            <a:off x="3717775" y="1355539"/>
            <a:ext cx="792000" cy="245327"/>
          </a:xfrm>
          <a:prstGeom prst="homePlat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표 </a:t>
            </a:r>
            <a:r>
              <a:rPr lang="en-US" altLang="ko-KR" sz="1400" b="1" dirty="0"/>
              <a:t>9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81F04E-A4C9-6BAA-CC3C-7AA547D5C746}"/>
              </a:ext>
            </a:extLst>
          </p:cNvPr>
          <p:cNvSpPr txBox="1"/>
          <p:nvPr/>
        </p:nvSpPr>
        <p:spPr>
          <a:xfrm>
            <a:off x="4509775" y="1333838"/>
            <a:ext cx="52508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</a:rPr>
              <a:t>변경예정 손익계산서 예시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25" y="1724746"/>
            <a:ext cx="5332757" cy="476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568045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0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6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1027</Words>
  <Application>Microsoft Office PowerPoint</Application>
  <PresentationFormat>On-screen Show (4:3)</PresentationFormat>
  <Paragraphs>252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15</vt:i4>
      </vt:variant>
    </vt:vector>
  </HeadingPairs>
  <TitlesOfParts>
    <vt:vector size="40" baseType="lpstr">
      <vt:lpstr>HY견고딕</vt:lpstr>
      <vt:lpstr>굴림</vt:lpstr>
      <vt:lpstr>맑은 고딕</vt:lpstr>
      <vt:lpstr>신명 신명조</vt:lpstr>
      <vt:lpstr>한양신명조</vt:lpstr>
      <vt:lpstr>함초롬바탕 확장</vt:lpstr>
      <vt:lpstr>휴먼고딕</vt:lpstr>
      <vt:lpstr>휴먼태고딕</vt:lpstr>
      <vt:lpstr>Arial</vt:lpstr>
      <vt:lpstr>Calibri</vt:lpstr>
      <vt:lpstr>Cambria Math</vt:lpstr>
      <vt:lpstr>Times New Roman</vt:lpstr>
      <vt:lpstr>디자인 사용자 지정</vt:lpstr>
      <vt:lpstr>9_x.1 - 1.</vt:lpstr>
      <vt:lpstr>x.1 - 1.</vt:lpstr>
      <vt:lpstr>1_x.1 - 1.</vt:lpstr>
      <vt:lpstr>2_x.1 - 1.</vt:lpstr>
      <vt:lpstr>10_x.1 - 1.</vt:lpstr>
      <vt:lpstr>3_x.1 - 1.</vt:lpstr>
      <vt:lpstr>4_x.1 - 1.</vt:lpstr>
      <vt:lpstr>5_x.1 - 1.</vt:lpstr>
      <vt:lpstr>6_x.1 - 1.</vt:lpstr>
      <vt:lpstr>11_x.1 - 1.</vt:lpstr>
      <vt:lpstr>7_x.1 - 1.</vt:lpstr>
      <vt:lpstr>8_x.1 - 1.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심충진</cp:lastModifiedBy>
  <cp:revision>2</cp:revision>
  <dcterms:created xsi:type="dcterms:W3CDTF">2024-07-23T07:28:53Z</dcterms:created>
  <dcterms:modified xsi:type="dcterms:W3CDTF">2025-09-26T07:45:22Z</dcterms:modified>
</cp:coreProperties>
</file>