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theme/theme7.xml" ContentType="application/vnd.openxmlformats-officedocument.theme+xml"/>
  <Override PartName="/ppt/slideLayouts/slideLayout12.xml" ContentType="application/vnd.openxmlformats-officedocument.presentationml.slideLayout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  <p:sldMasterId id="2147483660" r:id="rId2"/>
    <p:sldMasterId id="2147483672" r:id="rId3"/>
    <p:sldMasterId id="2147483678" r:id="rId4"/>
    <p:sldMasterId id="2147483686" r:id="rId5"/>
    <p:sldMasterId id="2147483723" r:id="rId6"/>
    <p:sldMasterId id="2147483692" r:id="rId7"/>
    <p:sldMasterId id="2147483721" r:id="rId8"/>
    <p:sldMasterId id="2147483717" r:id="rId9"/>
    <p:sldMasterId id="2147483719" r:id="rId10"/>
  </p:sldMasterIdLst>
  <p:notesMasterIdLst>
    <p:notesMasterId r:id="rId45"/>
  </p:notesMasterIdLst>
  <p:handoutMasterIdLst>
    <p:handoutMasterId r:id="rId46"/>
  </p:handoutMasterIdLst>
  <p:sldIdLst>
    <p:sldId id="337" r:id="rId11"/>
    <p:sldId id="260" r:id="rId12"/>
    <p:sldId id="366" r:id="rId13"/>
    <p:sldId id="367" r:id="rId14"/>
    <p:sldId id="368" r:id="rId15"/>
    <p:sldId id="338" r:id="rId16"/>
    <p:sldId id="340" r:id="rId17"/>
    <p:sldId id="369" r:id="rId18"/>
    <p:sldId id="315" r:id="rId19"/>
    <p:sldId id="370" r:id="rId20"/>
    <p:sldId id="341" r:id="rId21"/>
    <p:sldId id="342" r:id="rId22"/>
    <p:sldId id="344" r:id="rId23"/>
    <p:sldId id="371" r:id="rId24"/>
    <p:sldId id="345" r:id="rId25"/>
    <p:sldId id="316" r:id="rId26"/>
    <p:sldId id="363" r:id="rId27"/>
    <p:sldId id="346" r:id="rId28"/>
    <p:sldId id="347" r:id="rId29"/>
    <p:sldId id="348" r:id="rId30"/>
    <p:sldId id="349" r:id="rId31"/>
    <p:sldId id="372" r:id="rId32"/>
    <p:sldId id="359" r:id="rId33"/>
    <p:sldId id="350" r:id="rId34"/>
    <p:sldId id="317" r:id="rId35"/>
    <p:sldId id="351" r:id="rId36"/>
    <p:sldId id="365" r:id="rId37"/>
    <p:sldId id="352" r:id="rId38"/>
    <p:sldId id="353" r:id="rId39"/>
    <p:sldId id="354" r:id="rId40"/>
    <p:sldId id="360" r:id="rId41"/>
    <p:sldId id="318" r:id="rId42"/>
    <p:sldId id="355" r:id="rId43"/>
    <p:sldId id="356" r:id="rId44"/>
  </p:sldIdLst>
  <p:sldSz cx="9144000" cy="6858000" type="screen4x3"/>
  <p:notesSz cx="6788150" cy="99234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2D6FC1A-26A7-4C45-A4EF-60ECDB4F57B9}">
          <p14:sldIdLst>
            <p14:sldId id="337"/>
            <p14:sldId id="260"/>
            <p14:sldId id="366"/>
            <p14:sldId id="367"/>
            <p14:sldId id="368"/>
            <p14:sldId id="338"/>
            <p14:sldId id="340"/>
            <p14:sldId id="369"/>
            <p14:sldId id="315"/>
            <p14:sldId id="370"/>
            <p14:sldId id="341"/>
            <p14:sldId id="342"/>
            <p14:sldId id="344"/>
            <p14:sldId id="371"/>
            <p14:sldId id="345"/>
            <p14:sldId id="316"/>
            <p14:sldId id="363"/>
            <p14:sldId id="346"/>
            <p14:sldId id="347"/>
            <p14:sldId id="348"/>
            <p14:sldId id="349"/>
            <p14:sldId id="372"/>
            <p14:sldId id="359"/>
            <p14:sldId id="350"/>
            <p14:sldId id="317"/>
            <p14:sldId id="351"/>
            <p14:sldId id="365"/>
            <p14:sldId id="352"/>
            <p14:sldId id="353"/>
            <p14:sldId id="354"/>
            <p14:sldId id="360"/>
            <p14:sldId id="318"/>
            <p14:sldId id="355"/>
            <p14:sldId id="356"/>
          </p14:sldIdLst>
        </p14:section>
      </p14:sectionLst>
    </p:ext>
    <p:ext uri="{EFAFB233-063F-42B5-8137-9DF3F51BA10A}">
      <p15:sldGuideLst xmlns:p15="http://schemas.microsoft.com/office/powerpoint/2012/main">
        <p15:guide id="2" pos="2925" userDrawn="1">
          <p15:clr>
            <a:srgbClr val="A4A3A4"/>
          </p15:clr>
        </p15:guide>
        <p15:guide id="3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26" autoAdjust="0"/>
    <p:restoredTop sz="97674" autoAdjust="0"/>
  </p:normalViewPr>
  <p:slideViewPr>
    <p:cSldViewPr snapToGrid="0">
      <p:cViewPr varScale="1">
        <p:scale>
          <a:sx n="73" d="100"/>
          <a:sy n="73" d="100"/>
        </p:scale>
        <p:origin x="1260" y="267"/>
      </p:cViewPr>
      <p:guideLst>
        <p:guide pos="2925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1266" y="60"/>
      </p:cViewPr>
      <p:guideLst>
        <p:guide orient="horz" pos="3126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mod">
      <pc:chgData name="석주 이" userId="b6553f64e91d015d" providerId="LiveId" clId="{7E74A06A-B2AA-4EEC-A19D-AA52293F645A}" dt="2025-11-22T04:57:06.389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39838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5" y="4775666"/>
            <a:ext cx="543052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03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600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701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751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310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2A908-D6BE-47C7-9666-DB694B233D8B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EDF8-72CE-4D87-AC77-D9C987847BC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17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6D8ED-A0BF-4FE8-B951-710B3BF0F278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EDF8-72CE-4D87-AC77-D9C987847BC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411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4BFEF-2A93-4FD9-9C79-607EA38D1383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EDF8-72CE-4D87-AC77-D9C987847BC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92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E4F1-913E-4590-A113-91303EE83BCD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EDF8-72CE-4D87-AC77-D9C987847BC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40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678AE78-1995-44B1-9E6F-DF50402068E8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C884A51-0D4E-4D48-A36A-53F6C0A0B958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56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F72DC7F-8259-430E-881F-6EB46E3678CD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67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A4D9230-A69C-4C26-8042-94C1E65775D7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29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D7022F1-2BAB-4A1C-98EC-D9E3EF56140C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236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D7022F1-2BAB-4A1C-98EC-D9E3EF56140C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7667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AA8414B-4A60-44AA-97B6-107E8C32E22C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4569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3685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4040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90B6763-DC28-4EBC-8DC8-915BCC196E25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884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1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2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3D71B-4C2C-4299-A6FC-AA63F672EA3D}" type="datetime1">
              <a:rPr lang="ko-KR" altLang="en-US" smtClean="0"/>
              <a:pPr/>
              <a:t>2025-11-22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7EDF8-72CE-4D87-AC77-D9C987847BC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32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직사각형 226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9" name="그룹 228"/>
          <p:cNvGrpSpPr/>
          <p:nvPr userDrawn="1"/>
        </p:nvGrpSpPr>
        <p:grpSpPr>
          <a:xfrm>
            <a:off x="5416778" y="476569"/>
            <a:ext cx="3063185" cy="369332"/>
            <a:chOff x="2107219" y="601866"/>
            <a:chExt cx="3063185" cy="369332"/>
          </a:xfrm>
        </p:grpSpPr>
        <p:sp>
          <p:nvSpPr>
            <p:cNvPr id="224" name="TextBox 223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금융자산의 정의</a:t>
              </a:r>
            </a:p>
          </p:txBody>
        </p:sp>
        <p:sp>
          <p:nvSpPr>
            <p:cNvPr id="226" name="눈물 방울 225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5" name="그룹 244"/>
          <p:cNvGrpSpPr/>
          <p:nvPr userDrawn="1"/>
        </p:nvGrpSpPr>
        <p:grpSpPr>
          <a:xfrm>
            <a:off x="91285" y="145881"/>
            <a:ext cx="5325493" cy="769441"/>
            <a:chOff x="80163" y="415932"/>
            <a:chExt cx="5325493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31177"/>
              <a:ext cx="45640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금융자산의 정의 및 분류</a:t>
              </a:r>
            </a:p>
          </p:txBody>
        </p:sp>
      </p:grpSp>
      <p:sp>
        <p:nvSpPr>
          <p:cNvPr id="249" name="직사각형 248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직사각형 225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4" name="그룹 223"/>
          <p:cNvGrpSpPr/>
          <p:nvPr userDrawn="1"/>
        </p:nvGrpSpPr>
        <p:grpSpPr>
          <a:xfrm>
            <a:off x="5427993" y="477581"/>
            <a:ext cx="3063185" cy="369332"/>
            <a:chOff x="2107219" y="601866"/>
            <a:chExt cx="3063185" cy="369332"/>
          </a:xfrm>
        </p:grpSpPr>
        <p:sp>
          <p:nvSpPr>
            <p:cNvPr id="235" name="TextBox 234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금융자산의 분류</a:t>
              </a:r>
            </a:p>
          </p:txBody>
        </p:sp>
        <p:sp>
          <p:nvSpPr>
            <p:cNvPr id="238" name="눈물 방울 237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9" name="그룹 238"/>
          <p:cNvGrpSpPr/>
          <p:nvPr userDrawn="1"/>
        </p:nvGrpSpPr>
        <p:grpSpPr>
          <a:xfrm>
            <a:off x="91285" y="145881"/>
            <a:ext cx="5325493" cy="769441"/>
            <a:chOff x="80163" y="415932"/>
            <a:chExt cx="5325493" cy="769441"/>
          </a:xfrm>
        </p:grpSpPr>
        <p:sp>
          <p:nvSpPr>
            <p:cNvPr id="240" name="TextBox 239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직사각형 240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2" name="TextBox 241"/>
            <p:cNvSpPr txBox="1"/>
            <p:nvPr userDrawn="1"/>
          </p:nvSpPr>
          <p:spPr>
            <a:xfrm>
              <a:off x="841614" y="531177"/>
              <a:ext cx="45640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금융자산의 정의 및 분류</a:t>
              </a:r>
            </a:p>
          </p:txBody>
        </p:sp>
      </p:grpSp>
      <p:sp>
        <p:nvSpPr>
          <p:cNvPr id="243" name="직사각형 242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56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5632829" cy="769441"/>
            <a:chOff x="80163" y="415932"/>
            <a:chExt cx="5632829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4" y="565467"/>
              <a:ext cx="48713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상각후원가측정금융자산</a:t>
              </a:r>
              <a:endParaRPr lang="ko-KR" altLang="en-US" sz="3200" b="1" dirty="0"/>
            </a:p>
          </p:txBody>
        </p:sp>
      </p:grpSp>
      <p:sp>
        <p:nvSpPr>
          <p:cNvPr id="226" name="직사각형 225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47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직사각형 220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935115" cy="769441"/>
            <a:chOff x="80163" y="415932"/>
            <a:chExt cx="7935115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717366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맑은 고딕" panose="020B0503020000020004" pitchFamily="50" charset="-127"/>
                </a:rPr>
                <a:t>기타포괄손익</a:t>
              </a:r>
              <a:r>
                <a:rPr lang="en-US" altLang="ko-KR" sz="2800" b="1" dirty="0">
                  <a:latin typeface="맑은 고딕" panose="020B0503020000020004" pitchFamily="50" charset="-127"/>
                </a:rPr>
                <a:t>-</a:t>
              </a:r>
              <a:r>
                <a:rPr lang="ko-KR" altLang="en-US" sz="2800" b="1" dirty="0">
                  <a:latin typeface="맑은 고딕" panose="020B0503020000020004" pitchFamily="50" charset="-127"/>
                </a:rPr>
                <a:t>공정가치측정금융자산</a:t>
              </a:r>
              <a:endParaRPr lang="ko-KR" altLang="en-US" sz="2800" b="1" dirty="0"/>
            </a:p>
          </p:txBody>
        </p:sp>
      </p:grpSp>
      <p:sp>
        <p:nvSpPr>
          <p:cNvPr id="219" name="직사각형 218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50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직사각형 220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1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224685"/>
            <a:ext cx="9146232" cy="611833"/>
            <a:chOff x="80163" y="494736"/>
            <a:chExt cx="9146232" cy="611833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46" name="TextBox 245"/>
            <p:cNvSpPr txBox="1"/>
            <p:nvPr userDrawn="1"/>
          </p:nvSpPr>
          <p:spPr>
            <a:xfrm>
              <a:off x="80163" y="696489"/>
              <a:ext cx="832446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보론</a:t>
              </a: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2" y="565467"/>
              <a:ext cx="8384783" cy="49244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ko-KR" altLang="en-US" sz="2600" b="1" spc="-210" baseline="0" dirty="0">
                  <a:solidFill>
                    <a:schemeClr val="tx1"/>
                  </a:solidFill>
                  <a:latin typeface="+mj-ea"/>
                  <a:ea typeface="+mj-ea"/>
                </a:rPr>
                <a:t>기타포괄손익</a:t>
              </a:r>
              <a:r>
                <a:rPr lang="en-US" altLang="ko-KR" sz="2600" b="1" spc="-210" baseline="0" dirty="0">
                  <a:solidFill>
                    <a:schemeClr val="tx1"/>
                  </a:solidFill>
                  <a:latin typeface="+mj-ea"/>
                  <a:ea typeface="+mj-ea"/>
                </a:rPr>
                <a:t>-</a:t>
              </a:r>
              <a:r>
                <a:rPr lang="ko-KR" altLang="en-US" sz="2600" b="1" spc="-210" baseline="0" dirty="0" err="1">
                  <a:solidFill>
                    <a:schemeClr val="tx1"/>
                  </a:solidFill>
                  <a:latin typeface="+mj-ea"/>
                  <a:ea typeface="+mj-ea"/>
                </a:rPr>
                <a:t>공정가치평가금융자산평가손익의</a:t>
              </a:r>
              <a:r>
                <a:rPr lang="ko-KR" altLang="en-US" sz="2600" b="1" spc="-210" baseline="0" dirty="0">
                  <a:solidFill>
                    <a:schemeClr val="tx1"/>
                  </a:solidFill>
                  <a:latin typeface="+mj-ea"/>
                  <a:ea typeface="+mj-ea"/>
                </a:rPr>
                <a:t> </a:t>
              </a:r>
              <a:r>
                <a:rPr lang="ko-KR" altLang="en-US" sz="2600" b="1" spc="-210" baseline="0" dirty="0" err="1">
                  <a:solidFill>
                    <a:schemeClr val="tx1"/>
                  </a:solidFill>
                  <a:latin typeface="+mj-ea"/>
                  <a:ea typeface="+mj-ea"/>
                </a:rPr>
                <a:t>재분류조정</a:t>
              </a:r>
              <a:endParaRPr lang="ko-KR" altLang="en-US" sz="2600" b="1" spc="-210" baseline="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19" name="직사각형 218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19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당기손익</a:t>
              </a:r>
              <a:r>
                <a:rPr lang="en-US" altLang="ko-KR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ko-KR" alt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공정가치측정금융자산</a:t>
              </a:r>
              <a:endParaRPr lang="ko-KR" altLang="en-US" sz="3200" b="1" dirty="0"/>
            </a:p>
          </p:txBody>
        </p:sp>
      </p:grpSp>
      <p:sp>
        <p:nvSpPr>
          <p:cNvPr id="224" name="직사각형 223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16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05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금융자산의 범주 </a:t>
              </a:r>
              <a:r>
                <a:rPr lang="ko-KR" altLang="en-US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재분류</a:t>
              </a:r>
              <a:endParaRPr lang="ko-KR" altLang="en-US" sz="3200" b="1" dirty="0"/>
            </a:p>
          </p:txBody>
        </p:sp>
      </p:grpSp>
      <p:sp>
        <p:nvSpPr>
          <p:cNvPr id="224" name="직사각형 223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99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직사각형 218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5" name="그룹 244"/>
          <p:cNvGrpSpPr/>
          <p:nvPr userDrawn="1"/>
        </p:nvGrpSpPr>
        <p:grpSpPr>
          <a:xfrm>
            <a:off x="91285" y="145881"/>
            <a:ext cx="7467754" cy="769441"/>
            <a:chOff x="80163" y="415932"/>
            <a:chExt cx="7467754" cy="769441"/>
          </a:xfrm>
        </p:grpSpPr>
        <p:sp>
          <p:nvSpPr>
            <p:cNvPr id="246" name="TextBox 24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06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직사각형 24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8" name="TextBox 247"/>
            <p:cNvSpPr txBox="1"/>
            <p:nvPr userDrawn="1"/>
          </p:nvSpPr>
          <p:spPr>
            <a:xfrm>
              <a:off x="841613" y="565467"/>
              <a:ext cx="6706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관계기업과</a:t>
              </a:r>
              <a:r>
                <a:rPr lang="ko-KR" altLang="en-US" sz="3200" b="1" dirty="0"/>
                <a:t> </a:t>
              </a:r>
              <a:r>
                <a:rPr lang="ko-KR" altLang="en-US" sz="3200" b="1" dirty="0" err="1"/>
                <a:t>종속기업</a:t>
              </a:r>
              <a:r>
                <a:rPr lang="ko-KR" altLang="en-US" sz="3200" b="1" dirty="0"/>
                <a:t> 투자</a:t>
              </a:r>
            </a:p>
          </p:txBody>
        </p:sp>
      </p:grpSp>
      <p:sp>
        <p:nvSpPr>
          <p:cNvPr id="224" name="직사각형 223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37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915322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직사각형 223"/>
          <p:cNvSpPr/>
          <p:nvPr userDrawn="1"/>
        </p:nvSpPr>
        <p:spPr>
          <a:xfrm>
            <a:off x="7812000" y="0"/>
            <a:ext cx="1332000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09.</a:t>
            </a:r>
            <a:r>
              <a:rPr lang="en-US" altLang="ko-KR" sz="1350" b="1" baseline="0" dirty="0">
                <a:solidFill>
                  <a:schemeClr val="tx1"/>
                </a:solidFill>
              </a:rPr>
              <a:t> </a:t>
            </a:r>
            <a:r>
              <a:rPr lang="ko-KR" altLang="en-US" sz="1350" b="1" baseline="0" dirty="0">
                <a:solidFill>
                  <a:schemeClr val="tx1"/>
                </a:solidFill>
              </a:rPr>
              <a:t>금융자산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A444C1EE-CCBA-4779-8499-8235147E1E6C}"/>
              </a:ext>
            </a:extLst>
          </p:cNvPr>
          <p:cNvGrpSpPr/>
          <p:nvPr userDrawn="1"/>
        </p:nvGrpSpPr>
        <p:grpSpPr>
          <a:xfrm>
            <a:off x="91285" y="291546"/>
            <a:ext cx="9052715" cy="628097"/>
            <a:chOff x="80163" y="561597"/>
            <a:chExt cx="8045735" cy="628097"/>
          </a:xfrm>
        </p:grpSpPr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2D3294B3-0340-481F-BF40-7A2D621C3908}"/>
                </a:ext>
              </a:extLst>
            </p:cNvPr>
            <p:cNvSpPr txBox="1"/>
            <p:nvPr userDrawn="1"/>
          </p:nvSpPr>
          <p:spPr>
            <a:xfrm>
              <a:off x="80163" y="684121"/>
              <a:ext cx="832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보론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D55B16F2-ECA9-4776-994D-C31497FA5D75}"/>
                </a:ext>
              </a:extLst>
            </p:cNvPr>
            <p:cNvSpPr/>
            <p:nvPr userDrawn="1"/>
          </p:nvSpPr>
          <p:spPr>
            <a:xfrm rot="16200000">
              <a:off x="552635" y="866633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AD548B58-1118-4F86-A41F-240EF21AA3E0}"/>
                </a:ext>
              </a:extLst>
            </p:cNvPr>
            <p:cNvSpPr txBox="1"/>
            <p:nvPr userDrawn="1"/>
          </p:nvSpPr>
          <p:spPr>
            <a:xfrm>
              <a:off x="875383" y="561597"/>
              <a:ext cx="72505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spc="-450" baseline="0" dirty="0">
                  <a:latin typeface="맑은 고딕" panose="020B0503020000020004" pitchFamily="50" charset="-127"/>
                </a:rPr>
                <a:t>기타포괄손익</a:t>
              </a:r>
              <a:r>
                <a:rPr lang="en-US" altLang="ko-KR" sz="3200" b="1" spc="-450" baseline="0" dirty="0">
                  <a:latin typeface="맑은 고딕" panose="020B0503020000020004" pitchFamily="50" charset="-127"/>
                </a:rPr>
                <a:t>-</a:t>
              </a:r>
              <a:r>
                <a:rPr lang="ko-KR" altLang="en-US" sz="3200" b="1" spc="-450" baseline="0" dirty="0">
                  <a:latin typeface="맑은 고딕" panose="020B0503020000020004" pitchFamily="50" charset="-127"/>
                </a:rPr>
                <a:t>공정가치측정금융자산의 재분류조정</a:t>
              </a:r>
              <a:endParaRPr lang="ko-KR" altLang="en-US" sz="3200" b="1" spc="-450" baseline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2927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38430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027679" y="693147"/>
            <a:ext cx="7161667" cy="2144128"/>
            <a:chOff x="1226912" y="1785991"/>
            <a:chExt cx="7161667" cy="2144128"/>
          </a:xfrm>
        </p:grpSpPr>
        <p:sp>
          <p:nvSpPr>
            <p:cNvPr id="9" name="TextBox 8"/>
            <p:cNvSpPr txBox="1"/>
            <p:nvPr/>
          </p:nvSpPr>
          <p:spPr>
            <a:xfrm>
              <a:off x="2526164" y="1850629"/>
              <a:ext cx="5862415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6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금융자산</a:t>
              </a:r>
              <a:endParaRPr lang="en-US" altLang="ko-KR" sz="66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r>
                <a:rPr lang="en-US" altLang="ko-KR" sz="3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(</a:t>
              </a:r>
              <a:r>
                <a:rPr lang="ko-KR" altLang="en-US" sz="3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지분투자와 채권투자</a:t>
              </a:r>
              <a:r>
                <a:rPr lang="en-US" altLang="ko-KR" sz="3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)</a:t>
              </a: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496046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653093"/>
              <a:ext cx="3147236" cy="2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schemeClr val="tx1"/>
                  </a:solidFill>
                  <a:ea typeface="굴림" panose="020B0600000101010101" pitchFamily="50" charset="-127"/>
                  <a:cs typeface="Arial" panose="020B0604020202020204" pitchFamily="34" charset="0"/>
                </a:rPr>
                <a:t>FINANCIAL ASSETS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226912" y="1785991"/>
              <a:ext cx="1174535" cy="1329738"/>
              <a:chOff x="1226912" y="1936466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226912" y="1936466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18125" y="2215223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09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EDF8-72CE-4D87-AC77-D9C987847BC0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EFC65-48E1-46E1-9DFC-D2D07833D5C9}"/>
              </a:ext>
            </a:extLst>
          </p:cNvPr>
          <p:cNvSpPr txBox="1"/>
          <p:nvPr/>
        </p:nvSpPr>
        <p:spPr>
          <a:xfrm>
            <a:off x="5801710" y="6356703"/>
            <a:ext cx="33422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93960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-230764" y="-14605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257473" y="1746443"/>
            <a:ext cx="8641369" cy="1155660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80000" indent="-180000" latinLnBrk="0">
              <a:lnSpc>
                <a:spcPts val="2400"/>
              </a:lnSpc>
              <a:spcBef>
                <a:spcPct val="0"/>
              </a:spcBef>
              <a:buClrTx/>
              <a:buSzTx/>
            </a:pPr>
            <a:r>
              <a:rPr lang="ko-KR" altLang="en-US" sz="1600" dirty="0">
                <a:latin typeface="맑은 고딕" panose="020B0503020000020004" pitchFamily="50" charset="-127"/>
              </a:rPr>
              <a:t>금융자산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현금 및 기타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현금성자산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다른 기업의 지분이나 채권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또는 거래상대방으로부터 다른 금융자산을 수취할 수 있는 계약상의 권리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257473" y="1430362"/>
            <a:ext cx="7492624" cy="340256"/>
            <a:chOff x="257473" y="1430362"/>
            <a:chExt cx="7492624" cy="340256"/>
          </a:xfrm>
        </p:grpSpPr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</a:rPr>
                <a:t>금융자산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57473" y="1451539"/>
              <a:ext cx="211480" cy="31907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257473" y="2694083"/>
            <a:ext cx="8641369" cy="1160439"/>
            <a:chOff x="257473" y="2814662"/>
            <a:chExt cx="8641369" cy="1160439"/>
          </a:xfrm>
        </p:grpSpPr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257473" y="3130743"/>
              <a:ext cx="8641369" cy="84435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지분투자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다른 기업이 발행한 </a:t>
              </a: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주식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을 매수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채권투자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기업이나 국가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공공단체가 발행한 </a:t>
              </a: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사채나 국채</a:t>
              </a:r>
              <a:r>
                <a:rPr lang="en-US" altLang="ko-KR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공채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를 매수</a:t>
              </a: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257473" y="2814662"/>
              <a:ext cx="7492624" cy="340256"/>
              <a:chOff x="257473" y="1430362"/>
              <a:chExt cx="7492624" cy="340256"/>
            </a:xfrm>
          </p:grpSpPr>
          <p:sp>
            <p:nvSpPr>
              <p:cNvPr id="28" name="Rectangle 14"/>
              <p:cNvSpPr>
                <a:spLocks noChangeArrowheads="1"/>
              </p:cNvSpPr>
              <p:nvPr/>
            </p:nvSpPr>
            <p:spPr bwMode="auto">
              <a:xfrm>
                <a:off x="440748" y="1430362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</a:rPr>
                  <a:t>지분투자와 채권투자의 비교</a:t>
                </a: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31" name="Group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75373"/>
              </p:ext>
            </p:extLst>
          </p:nvPr>
        </p:nvGraphicFramePr>
        <p:xfrm>
          <a:off x="257473" y="4781256"/>
          <a:ext cx="8543626" cy="134112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89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3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구분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종류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투자수익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만기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원금상환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지분투자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주식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배당금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처분손익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만기 없음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원금상환이 보장되지 않음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채권투자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사채나 국채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공채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이자수익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처분손익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만기 존재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만기에 원금을 </a:t>
                      </a:r>
                      <a:r>
                        <a:rPr kumimoji="0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상환받음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EC89A0D-1713-45A1-B626-031656D5FD62}"/>
              </a:ext>
            </a:extLst>
          </p:cNvPr>
          <p:cNvGrpSpPr/>
          <p:nvPr/>
        </p:nvGrpSpPr>
        <p:grpSpPr>
          <a:xfrm>
            <a:off x="257473" y="4316400"/>
            <a:ext cx="4716112" cy="338554"/>
            <a:chOff x="1287462" y="4776539"/>
            <a:chExt cx="4716112" cy="338554"/>
          </a:xfrm>
        </p:grpSpPr>
        <p:sp>
          <p:nvSpPr>
            <p:cNvPr id="18" name="오각형 30">
              <a:extLst>
                <a:ext uri="{FF2B5EF4-FFF2-40B4-BE49-F238E27FC236}">
                  <a16:creationId xmlns:a16="http://schemas.microsoft.com/office/drawing/2014/main" id="{6825B560-258E-4AD8-89E5-5830B510B4C5}"/>
                </a:ext>
              </a:extLst>
            </p:cNvPr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1735BFE-499B-47E7-90A4-7472373DB942}"/>
                </a:ext>
              </a:extLst>
            </p:cNvPr>
            <p:cNvSpPr txBox="1"/>
            <p:nvPr/>
          </p:nvSpPr>
          <p:spPr>
            <a:xfrm>
              <a:off x="2079462" y="4776539"/>
              <a:ext cx="39241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지분투자와 채권투자의 비교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61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26251" y="1050196"/>
            <a:ext cx="8711460" cy="5436329"/>
            <a:chOff x="190714" y="1320886"/>
            <a:chExt cx="8711460" cy="5436329"/>
          </a:xfrm>
        </p:grpSpPr>
        <p:grpSp>
          <p:nvGrpSpPr>
            <p:cNvPr id="16" name="그룹 15"/>
            <p:cNvGrpSpPr/>
            <p:nvPr/>
          </p:nvGrpSpPr>
          <p:grpSpPr>
            <a:xfrm>
              <a:off x="361935" y="1461499"/>
              <a:ext cx="8540239" cy="5295716"/>
              <a:chOff x="269048" y="1722741"/>
              <a:chExt cx="8648775" cy="5295716"/>
            </a:xfrm>
          </p:grpSpPr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t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285750" indent="-28575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r>
                  <a:rPr lang="ko-KR" altLang="en-US" sz="1600" dirty="0">
                    <a:latin typeface="맑은 고딕" panose="020B0503020000020004" pitchFamily="50" charset="-127"/>
                  </a:rPr>
                  <a:t>투자목적으로 취득한 금융자산은 다음과 같은 세 가지 범주로 분류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285750" indent="-28575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285750" indent="-28575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285750" indent="-28575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r>
                  <a:rPr lang="ko-KR" altLang="en-US" sz="1600" dirty="0">
                    <a:latin typeface="맑은 고딕" panose="020B0503020000020004" pitchFamily="50" charset="-127"/>
                  </a:rPr>
                  <a:t>위의 범주 분류는 회사가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금융자산을 취득하여 보유하는 목적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과 금융자산으로부터 발생하는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현금흐름의 특성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에 따라서 결정 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285750" indent="-28575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933750" lvl="1" latinLnBrk="0">
                  <a:spcBef>
                    <a:spcPct val="0"/>
                  </a:spcBef>
                  <a:buClrTx/>
                  <a:buFont typeface="Arial" panose="020B0604020202020204" pitchFamily="34" charset="0"/>
                  <a:buChar char="•"/>
                </a:pPr>
                <a:endParaRPr lang="en-US" altLang="ko-KR" sz="1300" dirty="0">
                  <a:latin typeface="맑은 고딕" panose="020B0503020000020004" pitchFamily="50" charset="-127"/>
                </a:endParaRPr>
              </a:p>
              <a:p>
                <a:pPr marL="933750" lvl="1" latinLnBrk="0">
                  <a:spcBef>
                    <a:spcPct val="0"/>
                  </a:spcBef>
                  <a:buClrTx/>
                  <a:buFont typeface="Arial" panose="020B0604020202020204" pitchFamily="34" charset="0"/>
                  <a:buChar char="•"/>
                </a:pPr>
                <a:endParaRPr lang="en-US" altLang="ko-KR" sz="13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190714" y="1320886"/>
              <a:ext cx="2443760" cy="326952"/>
              <a:chOff x="190714" y="1320889"/>
              <a:chExt cx="2090452" cy="290354"/>
            </a:xfrm>
            <a:solidFill>
              <a:srgbClr val="2D61C8"/>
            </a:solidFill>
          </p:grpSpPr>
          <p:grpSp>
            <p:nvGrpSpPr>
              <p:cNvPr id="18" name="그룹 17"/>
              <p:cNvGrpSpPr/>
              <p:nvPr/>
            </p:nvGrpSpPr>
            <p:grpSpPr>
              <a:xfrm>
                <a:off x="190714" y="1320889"/>
                <a:ext cx="2090452" cy="290354"/>
                <a:chOff x="405822" y="2237753"/>
                <a:chExt cx="2090452" cy="290354"/>
              </a:xfrm>
              <a:grpFill/>
            </p:grpSpPr>
            <p:sp>
              <p:nvSpPr>
                <p:cNvPr id="20" name="타원 1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2205923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542510" y="2237755"/>
                  <a:ext cx="1808589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/>
                    <a:t>금융자산의 분류</a:t>
                  </a:r>
                  <a:endParaRPr lang="ko-KR" altLang="en-US" sz="1600" b="1" dirty="0"/>
                </a:p>
              </p:txBody>
            </p:sp>
            <p:sp>
              <p:nvSpPr>
                <p:cNvPr id="23" name="타원 2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9" name="그림 1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직사각형 1"/>
          <p:cNvSpPr/>
          <p:nvPr/>
        </p:nvSpPr>
        <p:spPr>
          <a:xfrm>
            <a:off x="657477" y="2108618"/>
            <a:ext cx="7506854" cy="13104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 anchor="ctr" anchorCtr="0"/>
          <a:lstStyle/>
          <a:p>
            <a:pPr lvl="1">
              <a:lnSpc>
                <a:spcPts val="2400"/>
              </a:lnSpc>
            </a:pPr>
            <a:r>
              <a:rPr lang="ko-KR" altLang="en-US" sz="1600" b="1" dirty="0"/>
              <a:t>① </a:t>
            </a:r>
            <a:r>
              <a:rPr lang="ko-KR" altLang="en-US" sz="1600" b="1" dirty="0" err="1"/>
              <a:t>상각후원가측정</a:t>
            </a:r>
            <a:r>
              <a:rPr lang="en-US" altLang="ko-KR" sz="1600" b="1" dirty="0"/>
              <a:t>(AC)</a:t>
            </a:r>
            <a:r>
              <a:rPr lang="ko-KR" altLang="en-US" sz="1600" b="1" dirty="0"/>
              <a:t>금융자산                 </a:t>
            </a:r>
            <a:endParaRPr lang="en-US" altLang="ko-KR" sz="1600" b="1" dirty="0"/>
          </a:p>
          <a:p>
            <a:pPr lvl="1">
              <a:lnSpc>
                <a:spcPts val="2400"/>
              </a:lnSpc>
            </a:pPr>
            <a:r>
              <a:rPr lang="ko-KR" altLang="en-US" sz="1600" b="1" dirty="0"/>
              <a:t>② 기타포괄손익</a:t>
            </a:r>
            <a:r>
              <a:rPr lang="en-US" altLang="ko-KR" sz="1600" b="1" dirty="0"/>
              <a:t>-</a:t>
            </a:r>
            <a:r>
              <a:rPr lang="ko-KR" altLang="en-US" sz="1600" b="1" dirty="0"/>
              <a:t>공정가치측정</a:t>
            </a:r>
            <a:r>
              <a:rPr lang="en-US" altLang="ko-KR" sz="1600" b="1" dirty="0"/>
              <a:t>(FVOCI)</a:t>
            </a:r>
            <a:r>
              <a:rPr lang="ko-KR" altLang="en-US" sz="1600" b="1" dirty="0"/>
              <a:t>금융자산 </a:t>
            </a:r>
            <a:endParaRPr lang="en-US" altLang="ko-KR" sz="1600" b="1" dirty="0"/>
          </a:p>
          <a:p>
            <a:pPr lvl="1">
              <a:lnSpc>
                <a:spcPts val="2400"/>
              </a:lnSpc>
            </a:pPr>
            <a:r>
              <a:rPr lang="ko-KR" altLang="en-US" sz="1600" b="1" dirty="0"/>
              <a:t>③ </a:t>
            </a:r>
            <a:r>
              <a:rPr lang="ko-KR" altLang="en-US" sz="1600" b="1" dirty="0" err="1"/>
              <a:t>당기손익</a:t>
            </a:r>
            <a:r>
              <a:rPr lang="en-US" altLang="ko-KR" sz="1600" b="1" dirty="0"/>
              <a:t>-</a:t>
            </a:r>
            <a:r>
              <a:rPr lang="ko-KR" altLang="en-US" sz="1600" b="1" dirty="0"/>
              <a:t>공정가치측정</a:t>
            </a:r>
            <a:r>
              <a:rPr lang="en-US" altLang="ko-KR" sz="1600" b="1" dirty="0"/>
              <a:t>(FVPL)</a:t>
            </a:r>
            <a:r>
              <a:rPr lang="ko-KR" altLang="en-US" sz="1600" b="1" dirty="0"/>
              <a:t>금융자산</a:t>
            </a:r>
            <a:endParaRPr lang="en-US" altLang="ko-KR" sz="1600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E8E536-0AD5-49B0-99A6-BA5667DB777D}"/>
              </a:ext>
            </a:extLst>
          </p:cNvPr>
          <p:cNvSpPr/>
          <p:nvPr/>
        </p:nvSpPr>
        <p:spPr>
          <a:xfrm>
            <a:off x="612426" y="4651609"/>
            <a:ext cx="7551905" cy="15170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>
                <a:solidFill>
                  <a:schemeClr val="tx1"/>
                </a:solidFill>
              </a:rPr>
              <a:t>금융자산 범주의 명칭은 후속기간 측정방법과 회계처리를 나타냄</a:t>
            </a:r>
            <a:r>
              <a:rPr lang="en-US" altLang="ko-KR" sz="1500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chemeClr val="tx1"/>
                </a:solidFill>
              </a:rPr>
              <a:t>AC</a:t>
            </a:r>
            <a:r>
              <a:rPr lang="ko-KR" altLang="en-US" sz="1500" b="1" dirty="0">
                <a:solidFill>
                  <a:schemeClr val="tx1"/>
                </a:solidFill>
              </a:rPr>
              <a:t>는 </a:t>
            </a:r>
            <a:r>
              <a:rPr lang="ko-KR" altLang="en-US" sz="1500" b="1" dirty="0" err="1">
                <a:solidFill>
                  <a:schemeClr val="tx1"/>
                </a:solidFill>
              </a:rPr>
              <a:t>상각후원가</a:t>
            </a:r>
            <a:r>
              <a:rPr lang="en-US" altLang="ko-KR" sz="1500" b="1" dirty="0">
                <a:solidFill>
                  <a:schemeClr val="tx1"/>
                </a:solidFill>
              </a:rPr>
              <a:t>(amortized cost), FV</a:t>
            </a:r>
            <a:r>
              <a:rPr lang="ko-KR" altLang="en-US" sz="1500" b="1" dirty="0">
                <a:solidFill>
                  <a:schemeClr val="tx1"/>
                </a:solidFill>
              </a:rPr>
              <a:t>는 공정가치</a:t>
            </a:r>
            <a:r>
              <a:rPr lang="en-US" altLang="ko-KR" sz="1500" b="1" dirty="0">
                <a:solidFill>
                  <a:schemeClr val="tx1"/>
                </a:solidFill>
              </a:rPr>
              <a:t>(fair value)</a:t>
            </a:r>
            <a:r>
              <a:rPr lang="ko-KR" altLang="en-US" sz="1500" b="1" dirty="0">
                <a:solidFill>
                  <a:schemeClr val="tx1"/>
                </a:solidFill>
              </a:rPr>
              <a:t>로 측정한다는 것을 나타냄</a:t>
            </a:r>
            <a:r>
              <a:rPr lang="en-US" altLang="ko-KR" sz="1500" b="1" dirty="0">
                <a:solidFill>
                  <a:schemeClr val="tx1"/>
                </a:solidFill>
              </a:rPr>
              <a:t> </a:t>
            </a:r>
          </a:p>
          <a:p>
            <a:pPr marL="285750" indent="-285750" latinLnBrk="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500" b="1" dirty="0">
                <a:solidFill>
                  <a:schemeClr val="tx1"/>
                </a:solidFill>
              </a:rPr>
              <a:t>또한 </a:t>
            </a:r>
            <a:r>
              <a:rPr lang="en-US" altLang="ko-KR" sz="1500" b="1" dirty="0">
                <a:solidFill>
                  <a:schemeClr val="tx1"/>
                </a:solidFill>
              </a:rPr>
              <a:t>OCI</a:t>
            </a:r>
            <a:r>
              <a:rPr lang="ko-KR" altLang="en-US" sz="1500" b="1" dirty="0">
                <a:solidFill>
                  <a:schemeClr val="tx1"/>
                </a:solidFill>
              </a:rPr>
              <a:t>는 평가손익을 기타포괄손익</a:t>
            </a:r>
            <a:r>
              <a:rPr lang="en-US" altLang="ko-KR" sz="1500" b="1" dirty="0">
                <a:solidFill>
                  <a:schemeClr val="tx1"/>
                </a:solidFill>
              </a:rPr>
              <a:t>(other comprehensive income)</a:t>
            </a:r>
            <a:r>
              <a:rPr lang="ko-KR" altLang="en-US" sz="1500" b="1" dirty="0">
                <a:solidFill>
                  <a:schemeClr val="tx1"/>
                </a:solidFill>
              </a:rPr>
              <a:t>으로</a:t>
            </a:r>
            <a:r>
              <a:rPr lang="en-US" altLang="ko-KR" sz="1500" b="1" dirty="0">
                <a:solidFill>
                  <a:schemeClr val="tx1"/>
                </a:solidFill>
              </a:rPr>
              <a:t>, PL</a:t>
            </a:r>
            <a:r>
              <a:rPr lang="ko-KR" altLang="en-US" sz="1500" b="1" dirty="0">
                <a:solidFill>
                  <a:schemeClr val="tx1"/>
                </a:solidFill>
              </a:rPr>
              <a:t>은 평가손익을 당기손익</a:t>
            </a:r>
            <a:r>
              <a:rPr lang="en-US" altLang="ko-KR" sz="1500" b="1" dirty="0">
                <a:solidFill>
                  <a:schemeClr val="tx1"/>
                </a:solidFill>
              </a:rPr>
              <a:t>(profit or loss)</a:t>
            </a:r>
            <a:r>
              <a:rPr lang="ko-KR" altLang="en-US" sz="1500" b="1" dirty="0">
                <a:solidFill>
                  <a:schemeClr val="tx1"/>
                </a:solidFill>
              </a:rPr>
              <a:t>으로 </a:t>
            </a:r>
            <a:r>
              <a:rPr lang="ko-KR" altLang="en-US" sz="1500" b="1" dirty="0" err="1">
                <a:solidFill>
                  <a:schemeClr val="tx1"/>
                </a:solidFill>
              </a:rPr>
              <a:t>회계처리함을</a:t>
            </a:r>
            <a:r>
              <a:rPr lang="ko-KR" altLang="en-US" sz="1500" b="1" dirty="0">
                <a:solidFill>
                  <a:schemeClr val="tx1"/>
                </a:solidFill>
              </a:rPr>
              <a:t> 나타냄</a:t>
            </a:r>
          </a:p>
        </p:txBody>
      </p:sp>
    </p:spTree>
    <p:extLst>
      <p:ext uri="{BB962C8B-B14F-4D97-AF65-F5344CB8AC3E}">
        <p14:creationId xmlns:p14="http://schemas.microsoft.com/office/powerpoint/2010/main" val="1590539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26251" y="1050196"/>
            <a:ext cx="8711460" cy="5580637"/>
            <a:chOff x="190714" y="1320886"/>
            <a:chExt cx="8711460" cy="5580637"/>
          </a:xfrm>
        </p:grpSpPr>
        <p:grpSp>
          <p:nvGrpSpPr>
            <p:cNvPr id="16" name="그룹 15"/>
            <p:cNvGrpSpPr/>
            <p:nvPr/>
          </p:nvGrpSpPr>
          <p:grpSpPr>
            <a:xfrm>
              <a:off x="361935" y="1461499"/>
              <a:ext cx="8540239" cy="5440024"/>
              <a:chOff x="269048" y="1722741"/>
              <a:chExt cx="8648775" cy="5440024"/>
            </a:xfrm>
          </p:grpSpPr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269048" y="1875745"/>
                <a:ext cx="8641369" cy="528702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t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</a:pPr>
                <a:endParaRPr lang="en-US" altLang="ko-KR" sz="1600" dirty="0">
                  <a:latin typeface="+mj-ea"/>
                  <a:ea typeface="+mj-ea"/>
                </a:endParaRPr>
              </a:p>
              <a:p>
                <a:pPr latinLnBrk="0"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600" b="1" dirty="0">
                    <a:latin typeface="+mj-ea"/>
                    <a:ea typeface="+mj-ea"/>
                  </a:rPr>
                  <a:t>채무상품</a:t>
                </a:r>
                <a:endParaRPr lang="en-US" altLang="ko-KR" sz="1600" b="1" dirty="0">
                  <a:latin typeface="+mj-ea"/>
                  <a:ea typeface="+mj-ea"/>
                </a:endParaRPr>
              </a:p>
              <a:p>
                <a:pPr latinLnBrk="0"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b="1" dirty="0">
                  <a:latin typeface="+mj-ea"/>
                  <a:ea typeface="+mj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r>
                  <a:rPr lang="ko-KR" altLang="en-US" sz="1600" b="1" dirty="0">
                    <a:latin typeface="+mj-ea"/>
                    <a:ea typeface="+mj-ea"/>
                  </a:rPr>
                  <a:t>① </a:t>
                </a:r>
                <a:r>
                  <a:rPr lang="ko-KR" altLang="en-US" sz="1600" b="1" dirty="0" err="1">
                    <a:latin typeface="+mn-ea"/>
                  </a:rPr>
                  <a:t>상각후원가측정</a:t>
                </a:r>
                <a:r>
                  <a:rPr lang="en-US" altLang="ko-KR" sz="1600" b="1" dirty="0">
                    <a:latin typeface="+mn-ea"/>
                  </a:rPr>
                  <a:t>(</a:t>
                </a:r>
                <a:r>
                  <a:rPr lang="en-US" altLang="ko-KR" sz="1600" b="0" i="0" u="none" strike="noStrike" baseline="0" dirty="0">
                    <a:latin typeface="+mn-ea"/>
                  </a:rPr>
                  <a:t>financial assets carried at amortized cost; </a:t>
                </a:r>
                <a:r>
                  <a:rPr lang="en-US" altLang="ko-KR" sz="1600" b="1" dirty="0">
                    <a:latin typeface="+mn-ea"/>
                  </a:rPr>
                  <a:t>AC)</a:t>
                </a:r>
                <a:r>
                  <a:rPr lang="ko-KR" altLang="en-US" sz="1600" b="1" dirty="0">
                    <a:latin typeface="+mn-ea"/>
                  </a:rPr>
                  <a:t>금융자산</a:t>
                </a:r>
                <a:r>
                  <a:rPr lang="en-US" altLang="ko-KR" sz="1600" b="1" dirty="0">
                    <a:latin typeface="+mn-ea"/>
                  </a:rPr>
                  <a:t> : </a:t>
                </a:r>
                <a:r>
                  <a:rPr lang="ko-KR" altLang="en-US" sz="1600" dirty="0">
                    <a:latin typeface="+mn-ea"/>
                  </a:rPr>
                  <a:t>계약상 사전에 정해진 이자와 원금을 수취하기 위한 목적으로 매수하여 보유하는 채권</a:t>
                </a:r>
                <a:endParaRPr lang="en-US" altLang="ko-KR" sz="1600" dirty="0">
                  <a:latin typeface="+mn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r>
                  <a:rPr lang="ko-KR" altLang="en-US" sz="1600" dirty="0">
                    <a:latin typeface="+mn-ea"/>
                  </a:rPr>
                  <a:t>    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ko-KR" altLang="en-US" sz="1600" dirty="0">
                    <a:latin typeface="+mn-ea"/>
                  </a:rPr>
                  <a:t>예</a:t>
                </a:r>
                <a:r>
                  <a:rPr lang="en-US" altLang="ko-KR" sz="1600" dirty="0">
                    <a:latin typeface="+mn-ea"/>
                  </a:rPr>
                  <a:t>. </a:t>
                </a:r>
                <a:r>
                  <a:rPr lang="ko-KR" altLang="en-US" sz="1600" dirty="0">
                    <a:latin typeface="+mn-ea"/>
                  </a:rPr>
                  <a:t>만기까지 보유할 목적으로 취득한 채권</a:t>
                </a:r>
                <a:r>
                  <a:rPr lang="en-US" altLang="ko-KR" sz="1600" dirty="0">
                    <a:latin typeface="+mn-ea"/>
                  </a:rPr>
                  <a:t>)</a:t>
                </a: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endParaRPr lang="en-US" altLang="ko-KR" sz="1600" dirty="0">
                  <a:latin typeface="+mn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r>
                  <a:rPr lang="ko-KR" altLang="en-US" sz="1600" b="1" dirty="0">
                    <a:latin typeface="+mn-ea"/>
                  </a:rPr>
                  <a:t>② 기타포괄손익</a:t>
                </a:r>
                <a:r>
                  <a:rPr lang="en-US" altLang="ko-KR" sz="1600" b="1" dirty="0">
                    <a:latin typeface="+mn-ea"/>
                  </a:rPr>
                  <a:t>-</a:t>
                </a:r>
                <a:r>
                  <a:rPr lang="ko-KR" altLang="en-US" sz="1600" b="1" dirty="0">
                    <a:latin typeface="+mn-ea"/>
                  </a:rPr>
                  <a:t>공정가치측정</a:t>
                </a:r>
                <a:r>
                  <a:rPr lang="en-US" altLang="ko-KR" sz="1600" dirty="0">
                    <a:latin typeface="+mn-ea"/>
                  </a:rPr>
                  <a:t>(</a:t>
                </a:r>
                <a:r>
                  <a:rPr lang="en-US" altLang="ko-KR" sz="1600" i="0" u="none" strike="noStrike" baseline="0" dirty="0">
                    <a:latin typeface="+mn-ea"/>
                  </a:rPr>
                  <a:t>financial </a:t>
                </a:r>
                <a:r>
                  <a:rPr lang="en-US" altLang="ko-KR" sz="1600" b="0" i="0" u="none" strike="noStrike" baseline="0" dirty="0">
                    <a:latin typeface="+mn-ea"/>
                  </a:rPr>
                  <a:t>assets at fair value through other comprehensive income, </a:t>
                </a:r>
                <a:r>
                  <a:rPr lang="en-US" altLang="ko-KR" sz="1600" b="1" dirty="0">
                    <a:latin typeface="+mn-ea"/>
                  </a:rPr>
                  <a:t>FVOCI)</a:t>
                </a:r>
                <a:r>
                  <a:rPr lang="ko-KR" altLang="en-US" sz="1600" b="1" dirty="0">
                    <a:latin typeface="+mn-ea"/>
                  </a:rPr>
                  <a:t>금융자산 </a:t>
                </a:r>
                <a:r>
                  <a:rPr lang="en-US" altLang="ko-KR" sz="1600" b="1" dirty="0">
                    <a:latin typeface="+mn-ea"/>
                  </a:rPr>
                  <a:t>: </a:t>
                </a:r>
                <a:r>
                  <a:rPr lang="ko-KR" altLang="en-US" sz="1600" dirty="0">
                    <a:latin typeface="+mn-ea"/>
                  </a:rPr>
                  <a:t>계약상 정해진 이자와 원금을 수취할 수도 있지만</a:t>
                </a:r>
                <a:r>
                  <a:rPr lang="en-US" altLang="ko-KR" sz="1600" dirty="0">
                    <a:latin typeface="+mn-ea"/>
                  </a:rPr>
                  <a:t>, </a:t>
                </a:r>
                <a:r>
                  <a:rPr lang="ko-KR" altLang="en-US" sz="1600" dirty="0">
                    <a:latin typeface="+mn-ea"/>
                  </a:rPr>
                  <a:t>경우에 따라서는 특정시점에 금융자산을 매도하려는 목적으로 보유하는 채권</a:t>
                </a:r>
                <a:endParaRPr lang="en-US" altLang="ko-KR" sz="1600" dirty="0">
                  <a:latin typeface="+mn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r>
                  <a:rPr lang="en-US" altLang="ko-KR" sz="1600" dirty="0">
                    <a:latin typeface="+mn-ea"/>
                  </a:rPr>
                  <a:t>     (</a:t>
                </a:r>
                <a:r>
                  <a:rPr lang="ko-KR" altLang="en-US" sz="1600" dirty="0">
                    <a:latin typeface="+mn-ea"/>
                  </a:rPr>
                  <a:t>예</a:t>
                </a:r>
                <a:r>
                  <a:rPr lang="en-US" altLang="ko-KR" sz="1600" dirty="0">
                    <a:latin typeface="+mn-ea"/>
                  </a:rPr>
                  <a:t>. </a:t>
                </a:r>
                <a:r>
                  <a:rPr lang="ko-KR" altLang="en-US" sz="1600" dirty="0">
                    <a:latin typeface="+mn-ea"/>
                  </a:rPr>
                  <a:t>보유기간 동안 이자를 수취하다가 만기이전에 매각하여 시세차익을 얻기 위해 취득한 채권</a:t>
                </a:r>
                <a:r>
                  <a:rPr lang="en-US" altLang="ko-KR" sz="1600" dirty="0">
                    <a:latin typeface="+mn-ea"/>
                  </a:rPr>
                  <a:t>)</a:t>
                </a: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endParaRPr lang="en-US" altLang="ko-KR" sz="1600" dirty="0">
                  <a:latin typeface="+mn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r>
                  <a:rPr lang="ko-KR" altLang="en-US" sz="1600" b="1" dirty="0">
                    <a:latin typeface="+mn-ea"/>
                  </a:rPr>
                  <a:t>③ </a:t>
                </a:r>
                <a:r>
                  <a:rPr lang="ko-KR" altLang="en-US" sz="1600" b="1" dirty="0" err="1">
                    <a:latin typeface="+mn-ea"/>
                  </a:rPr>
                  <a:t>당기손익</a:t>
                </a:r>
                <a:r>
                  <a:rPr lang="en-US" altLang="ko-KR" sz="1600" b="1" dirty="0">
                    <a:latin typeface="+mn-ea"/>
                  </a:rPr>
                  <a:t>-</a:t>
                </a:r>
                <a:r>
                  <a:rPr lang="ko-KR" altLang="en-US" sz="1600" b="1" dirty="0">
                    <a:latin typeface="+mn-ea"/>
                  </a:rPr>
                  <a:t>공정가치측정</a:t>
                </a:r>
                <a:r>
                  <a:rPr lang="en-US" altLang="ko-KR" sz="1600" b="1" dirty="0">
                    <a:latin typeface="+mn-ea"/>
                  </a:rPr>
                  <a:t>(</a:t>
                </a:r>
                <a:r>
                  <a:rPr lang="en-US" altLang="ko-KR" sz="1600" b="0" i="0" u="none" strike="noStrike" baseline="0" dirty="0">
                    <a:latin typeface="+mn-ea"/>
                  </a:rPr>
                  <a:t>financial assets at fair value through profit or loss, </a:t>
                </a:r>
                <a:r>
                  <a:rPr lang="en-US" altLang="ko-KR" sz="1600" b="1" dirty="0">
                    <a:latin typeface="+mn-ea"/>
                  </a:rPr>
                  <a:t>FVPL)</a:t>
                </a:r>
                <a:r>
                  <a:rPr lang="ko-KR" altLang="en-US" sz="1600" b="1" dirty="0">
                    <a:latin typeface="+mn-ea"/>
                  </a:rPr>
                  <a:t>금융자산 </a:t>
                </a:r>
                <a:r>
                  <a:rPr lang="en-US" altLang="ko-KR" sz="1600" b="1" dirty="0">
                    <a:latin typeface="+mn-ea"/>
                  </a:rPr>
                  <a:t>: </a:t>
                </a:r>
                <a:r>
                  <a:rPr lang="ko-KR" altLang="en-US" sz="1600" dirty="0">
                    <a:latin typeface="+mn-ea"/>
                  </a:rPr>
                  <a:t>위의 두 가지 분류에 해당되지 않는 채권</a:t>
                </a:r>
                <a:endParaRPr lang="en-US" altLang="ko-KR" sz="1600" dirty="0">
                  <a:latin typeface="+mn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r>
                  <a:rPr lang="en-US" altLang="ko-KR" sz="1600" dirty="0">
                    <a:latin typeface="+mn-ea"/>
                  </a:rPr>
                  <a:t>    (</a:t>
                </a:r>
                <a:r>
                  <a:rPr lang="ko-KR" altLang="en-US" sz="1600" dirty="0">
                    <a:latin typeface="+mn-ea"/>
                  </a:rPr>
                  <a:t>예</a:t>
                </a:r>
                <a:r>
                  <a:rPr lang="en-US" altLang="ko-KR" sz="1600" dirty="0">
                    <a:latin typeface="+mn-ea"/>
                  </a:rPr>
                  <a:t>. </a:t>
                </a:r>
                <a:r>
                  <a:rPr lang="ko-KR" altLang="en-US" sz="1600" dirty="0">
                    <a:latin typeface="+mn-ea"/>
                  </a:rPr>
                  <a:t>단기간 보유하다가 매도하여 시세차익을 얻으려는 목적으로 취득한 채권</a:t>
                </a:r>
                <a:r>
                  <a:rPr lang="en-US" altLang="ko-KR" sz="1600" dirty="0">
                    <a:latin typeface="+mn-ea"/>
                  </a:rPr>
                  <a:t>)</a:t>
                </a:r>
                <a:endParaRPr lang="en-US" altLang="ko-KR" sz="1600" dirty="0">
                  <a:latin typeface="+mj-ea"/>
                  <a:ea typeface="+mj-ea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190714" y="1320886"/>
              <a:ext cx="2443760" cy="326952"/>
              <a:chOff x="190714" y="1320889"/>
              <a:chExt cx="2090452" cy="290354"/>
            </a:xfrm>
            <a:solidFill>
              <a:srgbClr val="2D61C8"/>
            </a:solidFill>
          </p:grpSpPr>
          <p:grpSp>
            <p:nvGrpSpPr>
              <p:cNvPr id="18" name="그룹 17"/>
              <p:cNvGrpSpPr/>
              <p:nvPr/>
            </p:nvGrpSpPr>
            <p:grpSpPr>
              <a:xfrm>
                <a:off x="190714" y="1320889"/>
                <a:ext cx="2090452" cy="290354"/>
                <a:chOff x="405822" y="2237753"/>
                <a:chExt cx="2090452" cy="290354"/>
              </a:xfrm>
              <a:grpFill/>
            </p:grpSpPr>
            <p:sp>
              <p:nvSpPr>
                <p:cNvPr id="20" name="타원 1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2205923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542510" y="2237755"/>
                  <a:ext cx="1808589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/>
                    <a:t>금융자산의 분류</a:t>
                  </a:r>
                  <a:endParaRPr lang="ko-KR" altLang="en-US" sz="1600" b="1" dirty="0"/>
                </a:p>
              </p:txBody>
            </p:sp>
            <p:sp>
              <p:nvSpPr>
                <p:cNvPr id="23" name="타원 2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9" name="그림 1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239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26251" y="1050195"/>
            <a:ext cx="8721300" cy="3875771"/>
            <a:chOff x="190714" y="1320886"/>
            <a:chExt cx="8721300" cy="3732276"/>
          </a:xfrm>
        </p:grpSpPr>
        <p:grpSp>
          <p:nvGrpSpPr>
            <p:cNvPr id="16" name="그룹 15"/>
            <p:cNvGrpSpPr/>
            <p:nvPr/>
          </p:nvGrpSpPr>
          <p:grpSpPr>
            <a:xfrm>
              <a:off x="370600" y="1461499"/>
              <a:ext cx="8541414" cy="3591663"/>
              <a:chOff x="277823" y="1722741"/>
              <a:chExt cx="8649965" cy="3591663"/>
            </a:xfrm>
          </p:grpSpPr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286419" y="1981301"/>
                <a:ext cx="8641369" cy="3333103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t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600" b="1" dirty="0">
                    <a:latin typeface="+mj-ea"/>
                    <a:ea typeface="+mj-ea"/>
                  </a:rPr>
                  <a:t>지분상품</a:t>
                </a:r>
                <a:endParaRPr lang="en-US" altLang="ko-KR" sz="1600" b="1" dirty="0">
                  <a:latin typeface="+mj-ea"/>
                  <a:ea typeface="+mj-ea"/>
                </a:endParaRPr>
              </a:p>
              <a:p>
                <a:pPr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600" b="1" dirty="0">
                  <a:latin typeface="+mj-ea"/>
                  <a:ea typeface="+mj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r>
                  <a:rPr lang="ko-KR" altLang="en-US" sz="1600" b="1" dirty="0">
                    <a:latin typeface="+mj-ea"/>
                    <a:ea typeface="+mj-ea"/>
                  </a:rPr>
                  <a:t>① 기타포괄손익</a:t>
                </a:r>
                <a:r>
                  <a:rPr lang="en-US" altLang="ko-KR" sz="1600" b="1" dirty="0">
                    <a:latin typeface="+mj-ea"/>
                    <a:ea typeface="+mj-ea"/>
                  </a:rPr>
                  <a:t>-</a:t>
                </a:r>
                <a:r>
                  <a:rPr lang="ko-KR" altLang="en-US" sz="1600" b="1" dirty="0">
                    <a:latin typeface="+mj-ea"/>
                    <a:ea typeface="+mj-ea"/>
                  </a:rPr>
                  <a:t>공정가치측정</a:t>
                </a:r>
                <a:r>
                  <a:rPr lang="en-US" altLang="ko-KR" sz="1600" b="1" dirty="0">
                    <a:latin typeface="+mj-ea"/>
                    <a:ea typeface="+mj-ea"/>
                  </a:rPr>
                  <a:t>(FVOCI)</a:t>
                </a:r>
                <a:r>
                  <a:rPr lang="ko-KR" altLang="en-US" sz="1600" b="1" dirty="0">
                    <a:latin typeface="+mj-ea"/>
                    <a:ea typeface="+mj-ea"/>
                  </a:rPr>
                  <a:t>금융자산 </a:t>
                </a:r>
                <a:r>
                  <a:rPr lang="en-US" altLang="ko-KR" sz="1600" b="1" dirty="0">
                    <a:latin typeface="+mj-ea"/>
                    <a:ea typeface="+mj-ea"/>
                  </a:rPr>
                  <a:t>: </a:t>
                </a:r>
                <a:r>
                  <a:rPr lang="ko-KR" altLang="en-US" sz="1600" dirty="0">
                    <a:latin typeface="+mj-ea"/>
                    <a:ea typeface="+mj-ea"/>
                  </a:rPr>
                  <a:t>주식을 단기매매 이외의 목적으로 취득한 경우 회사의 선택에 의해서 예외적으로 해당 주식을 </a:t>
                </a:r>
                <a:r>
                  <a:rPr lang="en-US" altLang="ko-KR" sz="1600" dirty="0">
                    <a:latin typeface="+mj-ea"/>
                    <a:ea typeface="+mj-ea"/>
                  </a:rPr>
                  <a:t>FVOCI</a:t>
                </a:r>
                <a:r>
                  <a:rPr lang="ko-KR" altLang="en-US" sz="1600" dirty="0">
                    <a:latin typeface="+mj-ea"/>
                    <a:ea typeface="+mj-ea"/>
                  </a:rPr>
                  <a:t>금융자산으로 분류할 수 있음</a:t>
                </a:r>
                <a:endParaRPr lang="en-US" altLang="ko-KR" sz="1600" b="1" dirty="0">
                  <a:latin typeface="+mj-ea"/>
                  <a:ea typeface="+mj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endParaRPr lang="en-US" altLang="ko-KR" sz="1600" b="1" dirty="0">
                  <a:latin typeface="+mj-ea"/>
                  <a:ea typeface="+mj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r>
                  <a:rPr lang="ko-KR" altLang="en-US" sz="1600" b="1" dirty="0">
                    <a:latin typeface="+mj-ea"/>
                    <a:ea typeface="+mj-ea"/>
                  </a:rPr>
                  <a:t>② </a:t>
                </a:r>
                <a:r>
                  <a:rPr lang="ko-KR" altLang="en-US" sz="1600" b="1" dirty="0" err="1">
                    <a:latin typeface="+mj-ea"/>
                    <a:ea typeface="+mj-ea"/>
                  </a:rPr>
                  <a:t>당기손익</a:t>
                </a:r>
                <a:r>
                  <a:rPr lang="en-US" altLang="ko-KR" sz="1600" b="1" dirty="0">
                    <a:latin typeface="+mj-ea"/>
                    <a:ea typeface="+mj-ea"/>
                  </a:rPr>
                  <a:t>-</a:t>
                </a:r>
                <a:r>
                  <a:rPr lang="ko-KR" altLang="en-US" sz="1600" b="1" dirty="0">
                    <a:latin typeface="+mj-ea"/>
                    <a:ea typeface="+mj-ea"/>
                  </a:rPr>
                  <a:t>공정가치측정</a:t>
                </a:r>
                <a:r>
                  <a:rPr lang="en-US" altLang="ko-KR" sz="1600" b="1" dirty="0">
                    <a:latin typeface="+mj-ea"/>
                    <a:ea typeface="+mj-ea"/>
                  </a:rPr>
                  <a:t>(FVPL)</a:t>
                </a:r>
                <a:r>
                  <a:rPr lang="ko-KR" altLang="en-US" sz="1600" b="1" dirty="0">
                    <a:latin typeface="+mj-ea"/>
                    <a:ea typeface="+mj-ea"/>
                  </a:rPr>
                  <a:t>금융자산 </a:t>
                </a:r>
                <a:r>
                  <a:rPr lang="en-US" altLang="ko-KR" sz="1600" b="1" dirty="0">
                    <a:latin typeface="+mj-ea"/>
                    <a:ea typeface="+mj-ea"/>
                  </a:rPr>
                  <a:t>: </a:t>
                </a:r>
                <a:r>
                  <a:rPr lang="ko-KR" altLang="en-US" sz="1600" dirty="0">
                    <a:latin typeface="+mj-ea"/>
                    <a:ea typeface="+mj-ea"/>
                  </a:rPr>
                  <a:t>주식의 경우에는 </a:t>
                </a:r>
                <a:r>
                  <a:rPr lang="ko-KR" altLang="en-US" sz="1600" b="1" dirty="0">
                    <a:latin typeface="+mj-ea"/>
                    <a:ea typeface="+mj-ea"/>
                  </a:rPr>
                  <a:t>원칙적으로</a:t>
                </a:r>
                <a:r>
                  <a:rPr lang="ko-KR" altLang="en-US" sz="1600" dirty="0">
                    <a:latin typeface="+mj-ea"/>
                    <a:ea typeface="+mj-ea"/>
                  </a:rPr>
                  <a:t> </a:t>
                </a:r>
                <a:r>
                  <a:rPr lang="en-US" altLang="ko-KR" sz="1600" dirty="0">
                    <a:latin typeface="+mj-ea"/>
                    <a:ea typeface="+mj-ea"/>
                  </a:rPr>
                  <a:t>FVPL</a:t>
                </a:r>
                <a:r>
                  <a:rPr lang="ko-KR" altLang="en-US" sz="1600" dirty="0">
                    <a:latin typeface="+mj-ea"/>
                    <a:ea typeface="+mj-ea"/>
                  </a:rPr>
                  <a:t>금융자산으로 분류</a:t>
                </a:r>
                <a:endParaRPr lang="en-US" altLang="ko-KR" sz="1600" dirty="0">
                  <a:latin typeface="+mj-ea"/>
                  <a:ea typeface="+mj-ea"/>
                </a:endParaRPr>
              </a:p>
              <a:p>
                <a:pPr lvl="1" latinLnBrk="0">
                  <a:lnSpc>
                    <a:spcPts val="2400"/>
                  </a:lnSpc>
                  <a:spcBef>
                    <a:spcPct val="0"/>
                  </a:spcBef>
                  <a:buClrTx/>
                  <a:buNone/>
                </a:pPr>
                <a:endParaRPr lang="en-US" altLang="ko-KR" sz="1600" dirty="0">
                  <a:latin typeface="+mj-ea"/>
                  <a:ea typeface="+mj-ea"/>
                </a:endParaRPr>
              </a:p>
              <a:p>
                <a:pPr marL="792000" lvl="1" indent="-180000" latinLnBrk="0">
                  <a:spcBef>
                    <a:spcPct val="0"/>
                  </a:spcBef>
                  <a:buClrTx/>
                  <a:buFont typeface="Arial" panose="020B0604020202020204" pitchFamily="34" charset="0"/>
                  <a:buChar char="•"/>
                </a:pPr>
                <a:r>
                  <a:rPr lang="ko-KR" altLang="en-US" sz="1300" dirty="0">
                    <a:latin typeface="+mj-ea"/>
                    <a:ea typeface="+mj-ea"/>
                  </a:rPr>
                  <a:t>주식의 경우에는 사전적으로 정해진 현금흐름</a:t>
                </a:r>
                <a:r>
                  <a:rPr lang="en-US" altLang="ko-KR" sz="1300" dirty="0">
                    <a:latin typeface="+mj-ea"/>
                    <a:ea typeface="+mj-ea"/>
                  </a:rPr>
                  <a:t>(</a:t>
                </a:r>
                <a:r>
                  <a:rPr lang="ko-KR" altLang="en-US" sz="1300" dirty="0">
                    <a:latin typeface="+mj-ea"/>
                    <a:ea typeface="+mj-ea"/>
                  </a:rPr>
                  <a:t>즉 일정한 이자의 지급이나 원금의 상환</a:t>
                </a:r>
                <a:r>
                  <a:rPr lang="en-US" altLang="ko-KR" sz="1300" dirty="0">
                    <a:latin typeface="+mj-ea"/>
                    <a:ea typeface="+mj-ea"/>
                  </a:rPr>
                  <a:t>)</a:t>
                </a:r>
                <a:r>
                  <a:rPr lang="ko-KR" altLang="en-US" sz="1300" dirty="0">
                    <a:latin typeface="+mj-ea"/>
                    <a:ea typeface="+mj-ea"/>
                  </a:rPr>
                  <a:t>이 없고 정해진 만기도 없기 때문에 </a:t>
                </a:r>
                <a:r>
                  <a:rPr lang="en-US" altLang="ko-KR" sz="1300" dirty="0">
                    <a:latin typeface="+mj-ea"/>
                    <a:ea typeface="+mj-ea"/>
                  </a:rPr>
                  <a:t>AC</a:t>
                </a:r>
                <a:r>
                  <a:rPr lang="ko-KR" altLang="en-US" sz="1300" dirty="0">
                    <a:latin typeface="+mj-ea"/>
                    <a:ea typeface="+mj-ea"/>
                  </a:rPr>
                  <a:t>금융자산으로 분류할 수 없음</a:t>
                </a:r>
                <a:r>
                  <a:rPr lang="en-US" altLang="ko-KR" sz="1300" dirty="0">
                    <a:latin typeface="+mj-ea"/>
                    <a:ea typeface="+mj-ea"/>
                  </a:rPr>
                  <a:t>.</a:t>
                </a: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190714" y="1320886"/>
              <a:ext cx="2443760" cy="326952"/>
              <a:chOff x="190714" y="1320889"/>
              <a:chExt cx="2090452" cy="290354"/>
            </a:xfrm>
            <a:solidFill>
              <a:srgbClr val="2D61C8"/>
            </a:solidFill>
          </p:grpSpPr>
          <p:grpSp>
            <p:nvGrpSpPr>
              <p:cNvPr id="18" name="그룹 17"/>
              <p:cNvGrpSpPr/>
              <p:nvPr/>
            </p:nvGrpSpPr>
            <p:grpSpPr>
              <a:xfrm>
                <a:off x="190714" y="1320889"/>
                <a:ext cx="2090452" cy="290354"/>
                <a:chOff x="405822" y="2237753"/>
                <a:chExt cx="2090452" cy="290354"/>
              </a:xfrm>
              <a:grpFill/>
            </p:grpSpPr>
            <p:sp>
              <p:nvSpPr>
                <p:cNvPr id="20" name="타원 1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2205923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542510" y="2237755"/>
                  <a:ext cx="1808589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/>
                    <a:t>금융자산의 분류</a:t>
                  </a:r>
                  <a:endParaRPr lang="ko-KR" altLang="en-US" sz="1600" b="1" dirty="0"/>
                </a:p>
              </p:txBody>
            </p:sp>
            <p:sp>
              <p:nvSpPr>
                <p:cNvPr id="23" name="타원 2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9" name="그림 1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323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368703" y="1196579"/>
            <a:ext cx="4716112" cy="338554"/>
            <a:chOff x="1287462" y="4776539"/>
            <a:chExt cx="4716112" cy="338554"/>
          </a:xfrm>
        </p:grpSpPr>
        <p:sp>
          <p:nvSpPr>
            <p:cNvPr id="31" name="오각형 30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079462" y="4776539"/>
              <a:ext cx="392411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/>
                <a:t>채무상품과</a:t>
              </a:r>
              <a:r>
                <a:rPr lang="ko-KR" altLang="en-US" sz="1600" b="1" dirty="0"/>
                <a:t> 지분상품의 분류와 측정</a:t>
              </a: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703" y="1610127"/>
            <a:ext cx="6937816" cy="4984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3576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26251" y="1050196"/>
            <a:ext cx="8711460" cy="3174528"/>
            <a:chOff x="190714" y="1320886"/>
            <a:chExt cx="8711460" cy="3174528"/>
          </a:xfrm>
        </p:grpSpPr>
        <p:grpSp>
          <p:nvGrpSpPr>
            <p:cNvPr id="16" name="그룹 15"/>
            <p:cNvGrpSpPr/>
            <p:nvPr/>
          </p:nvGrpSpPr>
          <p:grpSpPr>
            <a:xfrm>
              <a:off x="361935" y="1461499"/>
              <a:ext cx="8540239" cy="3033915"/>
              <a:chOff x="269048" y="1722741"/>
              <a:chExt cx="8648775" cy="3033915"/>
            </a:xfrm>
          </p:grpSpPr>
          <p:sp>
            <p:nvSpPr>
              <p:cNvPr id="24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3010215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marL="180000" indent="-18000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r>
                  <a:rPr lang="ko-KR" altLang="en-US" sz="1600" dirty="0">
                    <a:latin typeface="맑은 고딕" panose="020B0503020000020004" pitchFamily="50" charset="-127"/>
                  </a:rPr>
                  <a:t>다른 기업의 주식을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순수 투자목적이 아닌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“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경영권에 대해 영향력을 행사할 목적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”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으로 취득한 경우에는 위의 분류기준을 적용하지 않고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, 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별도로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관계기업투자주식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으로 구분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180000" indent="-18000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180000" indent="-18000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r>
                  <a:rPr lang="ko-KR" altLang="en-US" sz="1600" dirty="0">
                    <a:latin typeface="맑은 고딕" panose="020B0503020000020004" pitchFamily="50" charset="-127"/>
                  </a:rPr>
                  <a:t>다른 기업의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지분 </a:t>
                </a:r>
                <a:r>
                  <a:rPr lang="en-US" altLang="ko-KR" sz="1600" b="1" dirty="0">
                    <a:latin typeface="맑은 고딕" panose="020B0503020000020004" pitchFamily="50" charset="-127"/>
                  </a:rPr>
                  <a:t>20%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이상을 소유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하여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중요한 영향력을 행사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하는 경우에는 </a:t>
                </a:r>
                <a:r>
                  <a:rPr lang="ko-KR" altLang="en-US" sz="1600" b="1" dirty="0">
                    <a:solidFill>
                      <a:srgbClr val="C00000"/>
                    </a:solidFill>
                    <a:latin typeface="맑은 고딕" panose="020B0503020000020004" pitchFamily="50" charset="-127"/>
                  </a:rPr>
                  <a:t>지분법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맑은 고딕" panose="020B0503020000020004" pitchFamily="50" charset="-127"/>
                  </a:rPr>
                  <a:t>(equity method)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을 사용하여 회계처리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180000" indent="-18000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180000" indent="-180000" latinLnBrk="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r>
                  <a:rPr lang="ko-KR" altLang="en-US" sz="1600" dirty="0">
                    <a:latin typeface="맑은 고딕" panose="020B0503020000020004" pitchFamily="50" charset="-127"/>
                  </a:rPr>
                  <a:t>지분법이란 피투자회사의 순자산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자본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의 장부금액의 변동을 원천에 따라 투자회사의 당기손익 또는 기타포괄손익으로 인식하는 방법임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. </a:t>
                </a: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/>
            <p:cNvGrpSpPr/>
            <p:nvPr/>
          </p:nvGrpSpPr>
          <p:grpSpPr>
            <a:xfrm>
              <a:off x="190714" y="1320886"/>
              <a:ext cx="2443760" cy="326952"/>
              <a:chOff x="190714" y="1320889"/>
              <a:chExt cx="2090452" cy="290354"/>
            </a:xfrm>
            <a:solidFill>
              <a:srgbClr val="2D61C8"/>
            </a:solidFill>
          </p:grpSpPr>
          <p:grpSp>
            <p:nvGrpSpPr>
              <p:cNvPr id="18" name="그룹 17"/>
              <p:cNvGrpSpPr/>
              <p:nvPr/>
            </p:nvGrpSpPr>
            <p:grpSpPr>
              <a:xfrm>
                <a:off x="190714" y="1320889"/>
                <a:ext cx="2090452" cy="290354"/>
                <a:chOff x="405822" y="2237753"/>
                <a:chExt cx="2090452" cy="290354"/>
              </a:xfrm>
              <a:grpFill/>
            </p:grpSpPr>
            <p:sp>
              <p:nvSpPr>
                <p:cNvPr id="20" name="타원 1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2205923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542510" y="2237755"/>
                  <a:ext cx="1808589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금융자산의 분류</a:t>
                  </a:r>
                </a:p>
              </p:txBody>
            </p:sp>
            <p:sp>
              <p:nvSpPr>
                <p:cNvPr id="23" name="타원 2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9" name="그림 1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971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126251" y="1198350"/>
            <a:ext cx="8711460" cy="1001555"/>
            <a:chOff x="190714" y="1320886"/>
            <a:chExt cx="8711460" cy="1001555"/>
          </a:xfrm>
        </p:grpSpPr>
        <p:grpSp>
          <p:nvGrpSpPr>
            <p:cNvPr id="27" name="그룹 26"/>
            <p:cNvGrpSpPr/>
            <p:nvPr/>
          </p:nvGrpSpPr>
          <p:grpSpPr>
            <a:xfrm>
              <a:off x="361935" y="1461499"/>
              <a:ext cx="8540239" cy="860942"/>
              <a:chOff x="269048" y="1722741"/>
              <a:chExt cx="8648775" cy="860942"/>
            </a:xfrm>
          </p:grpSpPr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83724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  <a:buClrTx/>
                  <a:buSzTx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marL="180000" indent="-18000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r>
                  <a:rPr lang="ko-KR" altLang="en-US" sz="1600" dirty="0">
                    <a:latin typeface="맑은 고딕" panose="020B0503020000020004" pitchFamily="50" charset="-127"/>
                  </a:rPr>
                  <a:t>금융자산은 위 분류와 상관없이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최초로 취득</a:t>
                </a:r>
                <a:r>
                  <a:rPr lang="ko-KR" altLang="en-US" sz="1600" dirty="0">
                    <a:latin typeface="맑은 고딕" panose="020B0503020000020004" pitchFamily="50" charset="-127"/>
                  </a:rPr>
                  <a:t>할 때 </a:t>
                </a:r>
                <a:r>
                  <a:rPr lang="ko-KR" altLang="en-US" sz="1600" b="1" dirty="0">
                    <a:latin typeface="맑은 고딕" panose="020B0503020000020004" pitchFamily="50" charset="-127"/>
                  </a:rPr>
                  <a:t>공정가치로 측정</a:t>
                </a:r>
                <a:endParaRPr lang="en-US" altLang="ko-KR" sz="1600" dirty="0">
                  <a:latin typeface="맑은 고딕" panose="020B0503020000020004" pitchFamily="50" charset="-127"/>
                </a:endParaRPr>
              </a:p>
              <a:p>
                <a:pPr marL="180000" indent="-180000">
                  <a:lnSpc>
                    <a:spcPts val="2400"/>
                  </a:lnSpc>
                  <a:spcBef>
                    <a:spcPct val="0"/>
                  </a:spcBef>
                  <a:buClrTx/>
                  <a:buSzTx/>
                </a:pPr>
                <a:r>
                  <a:rPr lang="ko-KR" altLang="en-US" sz="1600" dirty="0">
                    <a:latin typeface="맑은 고딕" panose="020B0503020000020004" pitchFamily="50" charset="-127"/>
                  </a:rPr>
                  <a:t>최초 인식 후의 측정방법은 금융자산별로 각각 다름</a:t>
                </a:r>
                <a:r>
                  <a:rPr lang="en-US" altLang="ko-KR" sz="1600" dirty="0">
                    <a:latin typeface="맑은 고딕" panose="020B0503020000020004" pitchFamily="50" charset="-127"/>
                  </a:rPr>
                  <a:t> </a:t>
                </a: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8" name="그룹 27"/>
            <p:cNvGrpSpPr/>
            <p:nvPr/>
          </p:nvGrpSpPr>
          <p:grpSpPr>
            <a:xfrm>
              <a:off x="190714" y="1320886"/>
              <a:ext cx="2443760" cy="326952"/>
              <a:chOff x="190714" y="1320889"/>
              <a:chExt cx="2090452" cy="290354"/>
            </a:xfrm>
            <a:solidFill>
              <a:srgbClr val="2D61C8"/>
            </a:solidFill>
          </p:grpSpPr>
          <p:grpSp>
            <p:nvGrpSpPr>
              <p:cNvPr id="29" name="그룹 28"/>
              <p:cNvGrpSpPr/>
              <p:nvPr/>
            </p:nvGrpSpPr>
            <p:grpSpPr>
              <a:xfrm>
                <a:off x="190714" y="1320889"/>
                <a:ext cx="2090452" cy="290354"/>
                <a:chOff x="405822" y="2237753"/>
                <a:chExt cx="2090452" cy="290354"/>
              </a:xfrm>
              <a:grpFill/>
            </p:grpSpPr>
            <p:sp>
              <p:nvSpPr>
                <p:cNvPr id="31" name="타원 3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타원 31"/>
                <p:cNvSpPr/>
                <p:nvPr/>
              </p:nvSpPr>
              <p:spPr>
                <a:xfrm>
                  <a:off x="2205923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직사각형 32"/>
                <p:cNvSpPr/>
                <p:nvPr/>
              </p:nvSpPr>
              <p:spPr>
                <a:xfrm>
                  <a:off x="542510" y="2237755"/>
                  <a:ext cx="1808589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금융자산의 측정</a:t>
                  </a:r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0" name="그림 29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pSp>
        <p:nvGrpSpPr>
          <p:cNvPr id="37" name="그룹 36"/>
          <p:cNvGrpSpPr/>
          <p:nvPr/>
        </p:nvGrpSpPr>
        <p:grpSpPr>
          <a:xfrm>
            <a:off x="35482" y="2344651"/>
            <a:ext cx="2128329" cy="830997"/>
            <a:chOff x="1287462" y="4776539"/>
            <a:chExt cx="2128329" cy="830997"/>
          </a:xfrm>
        </p:grpSpPr>
        <p:sp>
          <p:nvSpPr>
            <p:cNvPr id="38" name="오각형 37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79462" y="4776539"/>
              <a:ext cx="133632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금융자산의 </a:t>
              </a:r>
              <a:br>
                <a:rPr lang="en-US" altLang="ko-KR" sz="1600" b="1" dirty="0"/>
              </a:br>
              <a:r>
                <a:rPr lang="ko-KR" altLang="en-US" sz="1600" b="1" dirty="0"/>
                <a:t>평가손익 </a:t>
              </a:r>
              <a:endParaRPr lang="en-US" altLang="ko-KR" sz="1600" b="1" dirty="0"/>
            </a:p>
            <a:p>
              <a:r>
                <a:rPr lang="ko-KR" altLang="en-US" sz="1600" b="1" dirty="0"/>
                <a:t>회계처리</a:t>
              </a: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C12F515-9C0D-4C0D-B800-0727049CB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57832"/>
              </p:ext>
            </p:extLst>
          </p:nvPr>
        </p:nvGraphicFramePr>
        <p:xfrm>
          <a:off x="2384660" y="2375877"/>
          <a:ext cx="6382707" cy="4222372"/>
        </p:xfrm>
        <a:graphic>
          <a:graphicData uri="http://schemas.openxmlformats.org/drawingml/2006/table">
            <a:tbl>
              <a:tblPr/>
              <a:tblGrid>
                <a:gridCol w="1630810">
                  <a:extLst>
                    <a:ext uri="{9D8B030D-6E8A-4147-A177-3AD203B41FA5}">
                      <a16:colId xmlns:a16="http://schemas.microsoft.com/office/drawing/2014/main" val="470376410"/>
                    </a:ext>
                  </a:extLst>
                </a:gridCol>
                <a:gridCol w="197069">
                  <a:extLst>
                    <a:ext uri="{9D8B030D-6E8A-4147-A177-3AD203B41FA5}">
                      <a16:colId xmlns:a16="http://schemas.microsoft.com/office/drawing/2014/main" val="1362076367"/>
                    </a:ext>
                  </a:extLst>
                </a:gridCol>
                <a:gridCol w="1103790">
                  <a:extLst>
                    <a:ext uri="{9D8B030D-6E8A-4147-A177-3AD203B41FA5}">
                      <a16:colId xmlns:a16="http://schemas.microsoft.com/office/drawing/2014/main" val="1642941129"/>
                    </a:ext>
                  </a:extLst>
                </a:gridCol>
                <a:gridCol w="197069">
                  <a:extLst>
                    <a:ext uri="{9D8B030D-6E8A-4147-A177-3AD203B41FA5}">
                      <a16:colId xmlns:a16="http://schemas.microsoft.com/office/drawing/2014/main" val="3576278323"/>
                    </a:ext>
                  </a:extLst>
                </a:gridCol>
                <a:gridCol w="3253969">
                  <a:extLst>
                    <a:ext uri="{9D8B030D-6E8A-4147-A177-3AD203B41FA5}">
                      <a16:colId xmlns:a16="http://schemas.microsoft.com/office/drawing/2014/main" val="4036425905"/>
                    </a:ext>
                  </a:extLst>
                </a:gridCol>
              </a:tblGrid>
              <a:tr h="436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구 분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B8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평가손익 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인식방법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1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공정가치 변동분의 회계처리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C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982429"/>
                  </a:ext>
                </a:extLst>
              </a:tr>
              <a:tr h="11612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b="1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b="1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 w="32385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848262"/>
                  </a:ext>
                </a:extLst>
              </a:tr>
              <a:tr h="2660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AC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금융자산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B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 err="1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상각후원가법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B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공정가치 변동을 장부에 인식하지 않음</a:t>
                      </a:r>
                      <a:endParaRPr lang="ko-KR" altLang="en-US" sz="1200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880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b="1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b="1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042361"/>
                  </a:ext>
                </a:extLst>
              </a:tr>
              <a:tr h="436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FVOCI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금융자산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B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공정가치법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B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공정가치 변동에 의해 발생한 평가손익을 기타포괄손익으로 인식함</a:t>
                      </a:r>
                      <a:endParaRPr lang="ko-KR" altLang="en-US" sz="1200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35187"/>
                  </a:ext>
                </a:extLst>
              </a:tr>
              <a:tr h="6607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b="1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b="1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688657"/>
                  </a:ext>
                </a:extLst>
              </a:tr>
              <a:tr h="2660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FVPL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금융자산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B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공정가치법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B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공정가치 변동에 의해 발생한 평가손익을 당기손익으로 인식함</a:t>
                      </a:r>
                      <a:endParaRPr lang="ko-KR" altLang="en-US" sz="1200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87908"/>
                  </a:ext>
                </a:extLst>
              </a:tr>
              <a:tr h="12605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b="1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b="1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7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301532"/>
                  </a:ext>
                </a:extLst>
              </a:tr>
              <a:tr h="436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관계기업투자주식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B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-윤고딕320"/>
                          <a:ea typeface="-윤고딕320"/>
                        </a:rPr>
                        <a:t>지분법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1BF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피투자회사 순자산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＝자본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)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의 변동을 원천에 따라 당기손익 또는 기타포괄손익으로 인식함</a:t>
                      </a:r>
                      <a:endParaRPr lang="ko-KR" altLang="en-US" sz="1200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601228"/>
                  </a:ext>
                </a:extLst>
              </a:tr>
              <a:tr h="6131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" kern="0" spc="-3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75426"/>
                  </a:ext>
                </a:extLst>
              </a:tr>
              <a:tr h="1283975">
                <a:tc gridSpan="5">
                  <a:txBody>
                    <a:bodyPr/>
                    <a:lstStyle/>
                    <a:p>
                      <a:pPr marL="144000" marR="0" indent="-1440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－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상각후원가법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： 금융상품을 최초로 인식하는 시점의 취득원가와 만기의 상환금액의 차이를 보유기간 동안 유효이자율법에 따라서 조정하는 방법</a:t>
                      </a:r>
                      <a:endParaRPr lang="ko-KR" altLang="en-US" sz="1200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  <a:p>
                      <a:pPr marL="144000" marR="0" indent="-1440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－공정가치법： 결산일 현재의 공정가치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＝시가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)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로 금융상품을 평가하는 방법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.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금융상품의 공정가치 변동분을 금융상품의 장부금액에서 직접 가감하고 동 금액을 평가손익으로 인식</a:t>
                      </a:r>
                      <a:endParaRPr lang="ko-KR" altLang="en-US" sz="1200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  <a:p>
                      <a:pPr marL="144000" marR="0" indent="-1440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－지분법： 지분을 최초로 인식할 때에는 원가로 측정하고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신명 신명조"/>
                        </a:rPr>
                        <a:t>,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취득시점 이후 발생한 피투자회사의 순자산가치 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변동액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 중 투자자의 지분만큼 해당 투자자산에 가감</a:t>
                      </a:r>
                      <a:endParaRPr lang="ko-KR" altLang="en-US" sz="1200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17255" marR="17255" marT="17255" marB="172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973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664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57473" y="1227241"/>
            <a:ext cx="8641369" cy="4983059"/>
            <a:chOff x="257473" y="2814662"/>
            <a:chExt cx="8641369" cy="4983059"/>
          </a:xfrm>
        </p:grpSpPr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257473" y="3130742"/>
              <a:ext cx="8641369" cy="466697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b="1" dirty="0">
                  <a:latin typeface="맑은 고딕" panose="020B0503020000020004" pitchFamily="50" charset="-127"/>
                </a:rPr>
                <a:t>•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AC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금융자산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계약상 정해진 이자와 원금을 수취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하기 위한 목적으로 보유하는 금융자산  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채권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 </a:t>
              </a:r>
            </a:p>
            <a:p>
              <a:pPr marL="180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975" indent="-180975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최초로 인식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시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공정가치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로 측정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특정시점의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AC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금융자산의 공정가치는 특정시점 이후에 발생하는 미래현금흐름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이자 및 원금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을 유효이자율로 할인한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현재가치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이는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8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장에서 공부한 사채의 현재가치를 계산하는 방법과 동일함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</a:t>
              </a:r>
            </a:p>
            <a:p>
              <a:pPr lvl="1" indent="0" latinLnBrk="0">
                <a:lnSpc>
                  <a:spcPts val="2400"/>
                </a:lnSpc>
                <a:spcBef>
                  <a:spcPct val="0"/>
                </a:spcBef>
                <a:buClr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975" indent="-180975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AC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금융상품의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만기까지 남은 기간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년 이내라면 유동자산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1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년보다 길다면 비유동자산으로 구분</a:t>
              </a: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57473" y="2814662"/>
              <a:ext cx="7492624" cy="340256"/>
              <a:chOff x="257473" y="1430362"/>
              <a:chExt cx="7492624" cy="340256"/>
            </a:xfrm>
          </p:grpSpPr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440748" y="1430362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 err="1">
                    <a:latin typeface="맑은 고딕" panose="020B0503020000020004" pitchFamily="50" charset="-127"/>
                  </a:rPr>
                  <a:t>상각후원가측정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(AC)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취득</a:t>
                </a: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504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51315" y="1227241"/>
            <a:ext cx="8641369" cy="4861853"/>
            <a:chOff x="251315" y="2814662"/>
            <a:chExt cx="8641369" cy="3418642"/>
          </a:xfrm>
        </p:grpSpPr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251315" y="3204895"/>
              <a:ext cx="8641369" cy="302840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 dirty="0">
                  <a:latin typeface="맑은 고딕" panose="020B0503020000020004" pitchFamily="50" charset="-127"/>
                </a:rPr>
                <a:t>•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AC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금융자산의 공정가치 변동은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평가손익으로 인식하지 않음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396000" indent="-36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∵ 금융상품을 만기까지 보유할 것이므로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보유기간 동안 공정가치의 변동에 상관없이 만기에 채권 액면금액을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상환받을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예정이기 때문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975" indent="-180975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매 회계연도말에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유효이자율법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을 사용하여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상각후원가를 측정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하고 이자수익을 계산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936000" lvl="1" indent="-180000" latinLnBrk="0">
                <a:lnSpc>
                  <a:spcPts val="24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r>
                <a:rPr lang="ko-KR" altLang="en-US" sz="1600" b="1" dirty="0" err="1">
                  <a:latin typeface="맑은 고딕" panose="020B0503020000020004" pitchFamily="50" charset="-127"/>
                </a:rPr>
                <a:t>상각후원가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채권의 취득금액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에서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상환된 원금을 차감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하고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취득금액과 만기금액의 차액에 유효이자율법을 적용하여 계산된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상각액을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가감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한 금액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유효이자율법은 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8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장에서 살펴본 바와 같음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</a:p>
            <a:p>
              <a:pPr marL="936000" lvl="1" indent="-180000" latinLnBrk="0">
                <a:lnSpc>
                  <a:spcPts val="2400"/>
                </a:lnSpc>
                <a:spcBef>
                  <a:spcPct val="0"/>
                </a:spcBef>
                <a:buClrTx/>
                <a:buFont typeface="Wingdings" panose="05000000000000000000" pitchFamily="2" charset="2"/>
                <a:buChar char="ü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756000" lvl="1" indent="0" latinLnBrk="0">
                <a:lnSpc>
                  <a:spcPts val="2400"/>
                </a:lnSpc>
                <a:spcBef>
                  <a:spcPct val="0"/>
                </a:spcBef>
                <a:buClrTx/>
                <a:buNone/>
              </a:pPr>
              <a:endParaRPr lang="ko-KR" altLang="en-US" sz="1600" dirty="0">
                <a:latin typeface="맑은 고딕" panose="020B0503020000020004" pitchFamily="50" charset="-127"/>
              </a:endParaRPr>
            </a:p>
            <a:p>
              <a:pPr marL="180975" indent="-180975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975" indent="-180975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975" indent="-180975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채권을 보유한 투자자 입장에서 채권에 대해 유효이자율법을 적용할 때는 별도의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차금계정을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사용하지 않고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AC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금융자산의 장부금액을 직접 조정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57473" y="2814662"/>
              <a:ext cx="7492624" cy="340256"/>
              <a:chOff x="257473" y="1430362"/>
              <a:chExt cx="7492624" cy="340256"/>
            </a:xfrm>
          </p:grpSpPr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440748" y="1430362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 anchor="t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 err="1">
                    <a:latin typeface="맑은 고딕" panose="020B0503020000020004" pitchFamily="50" charset="-127"/>
                  </a:rPr>
                  <a:t>상각후원가측정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(AC)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평가</a:t>
                </a: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5D568E-E4F6-44BF-BD67-54947A37810B}"/>
              </a:ext>
            </a:extLst>
          </p:cNvPr>
          <p:cNvSpPr/>
          <p:nvPr/>
        </p:nvSpPr>
        <p:spPr>
          <a:xfrm>
            <a:off x="1389009" y="4479619"/>
            <a:ext cx="6912428" cy="8799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56000" lvl="1" latinLnBrk="0">
              <a:lnSpc>
                <a:spcPts val="2400"/>
              </a:lnSpc>
              <a:spcBef>
                <a:spcPct val="0"/>
              </a:spcBef>
              <a:buClrTx/>
            </a:pP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유효이자율법에 의한 이자수익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marL="756000" lvl="1" latinLnBrk="0">
              <a:lnSpc>
                <a:spcPts val="2400"/>
              </a:lnSpc>
              <a:spcBef>
                <a:spcPct val="0"/>
              </a:spcBef>
              <a:buClrTx/>
            </a:pP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       =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채권의 기초장부금액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상각후원가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)</a:t>
            </a:r>
            <a:r>
              <a:rPr lang="en-US" altLang="ko-KR" sz="1600" b="1" kern="0" dirty="0">
                <a:solidFill>
                  <a:schemeClr val="tx1"/>
                </a:solidFill>
                <a:latin typeface="맑은 고딕" panose="020B0503020000020004" pitchFamily="50" charset="-127"/>
              </a:rPr>
              <a:t> ×</a:t>
            </a:r>
            <a:r>
              <a:rPr lang="ko-KR" altLang="en-US" sz="1600" b="1" kern="0" dirty="0">
                <a:solidFill>
                  <a:schemeClr val="tx1"/>
                </a:solidFill>
                <a:latin typeface="맑은 고딕" panose="020B0503020000020004" pitchFamily="50" charset="-127"/>
              </a:rPr>
              <a:t>유효이자율</a:t>
            </a:r>
            <a:endParaRPr lang="en-US" altLang="ko-KR" sz="1600" b="1" kern="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4102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502631" y="1447667"/>
            <a:ext cx="8641369" cy="2231704"/>
            <a:chOff x="257473" y="2814662"/>
            <a:chExt cx="8641369" cy="1789902"/>
          </a:xfrm>
        </p:grpSpPr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257473" y="3130742"/>
              <a:ext cx="8641369" cy="147382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보유기간 동안 유효이자율법에 의해 채권의 장부금액을 조정하므로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만기일에는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AC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금융자산의 장부금액이 액면금액과 일치함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만기시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액면금액의 수취를 기록하고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AC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금융자산을 장부에서 제거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257473" y="2814662"/>
              <a:ext cx="7492624" cy="340256"/>
              <a:chOff x="257473" y="1430362"/>
              <a:chExt cx="7492624" cy="340256"/>
            </a:xfrm>
          </p:grpSpPr>
          <p:sp>
            <p:nvSpPr>
              <p:cNvPr id="19" name="Rectangle 14"/>
              <p:cNvSpPr>
                <a:spLocks noChangeArrowheads="1"/>
              </p:cNvSpPr>
              <p:nvPr/>
            </p:nvSpPr>
            <p:spPr bwMode="auto">
              <a:xfrm>
                <a:off x="440748" y="1430362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 err="1">
                    <a:latin typeface="맑은 고딕" panose="020B0503020000020004" pitchFamily="50" charset="-127"/>
                  </a:rPr>
                  <a:t>상각후원가측정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(AC)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처분</a:t>
                </a: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279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126251" y="983521"/>
            <a:ext cx="8786101" cy="5436329"/>
            <a:chOff x="190714" y="1320886"/>
            <a:chExt cx="8786101" cy="5436329"/>
          </a:xfrm>
        </p:grpSpPr>
        <p:grpSp>
          <p:nvGrpSpPr>
            <p:cNvPr id="11" name="그룹 10"/>
            <p:cNvGrpSpPr/>
            <p:nvPr/>
          </p:nvGrpSpPr>
          <p:grpSpPr>
            <a:xfrm>
              <a:off x="361935" y="1461499"/>
              <a:ext cx="8614880" cy="5295716"/>
              <a:chOff x="269048" y="1722741"/>
              <a:chExt cx="8724365" cy="5295716"/>
            </a:xfrm>
          </p:grpSpPr>
          <p:sp>
            <p:nvSpPr>
              <p:cNvPr id="25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724365" cy="527201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latinLnBrk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500" b="1" dirty="0">
                    <a:latin typeface="맑은 고딕" panose="020B0503020000020004" pitchFamily="50" charset="-127"/>
                  </a:rPr>
                  <a:t>(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주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500" b="1" dirty="0" err="1">
                    <a:latin typeface="맑은 고딕" panose="020B0503020000020004" pitchFamily="50" charset="-127"/>
                  </a:rPr>
                  <a:t>신한은행은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20×1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일 ㈜한국타이어가 발행한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3</a:t>
                </a:r>
                <a:r>
                  <a:rPr lang="ko-KR" altLang="en-US" sz="1500" b="1" dirty="0" err="1">
                    <a:latin typeface="맑은 고딕" panose="020B0503020000020004" pitchFamily="50" charset="-127"/>
                  </a:rPr>
                  <a:t>년만기의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 채권을 ￦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950,244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에 취득하였다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이 채권은 </a:t>
                </a:r>
                <a:r>
                  <a:rPr lang="ko-KR" altLang="en-US" sz="1500" b="1" dirty="0" err="1">
                    <a:latin typeface="맑은 고딕" panose="020B0503020000020004" pitchFamily="50" charset="-127"/>
                  </a:rPr>
                  <a:t>액면금액이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 ￦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1,000,000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이고 액면이자율이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8%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이며 </a:t>
                </a:r>
                <a:r>
                  <a:rPr lang="ko-KR" altLang="en-US" sz="1500" b="1" dirty="0" err="1">
                    <a:latin typeface="맑은 고딕" panose="020B0503020000020004" pitchFamily="50" charset="-127"/>
                  </a:rPr>
                  <a:t>매년말에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 이자가 지급되는 조건이다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유효이자율은 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10%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이다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㈜</a:t>
                </a:r>
                <a:r>
                  <a:rPr lang="ko-KR" altLang="en-US" sz="1500" b="1" dirty="0" err="1">
                    <a:latin typeface="맑은 고딕" panose="020B0503020000020004" pitchFamily="50" charset="-127"/>
                  </a:rPr>
                  <a:t>신한은행은</a:t>
                </a:r>
                <a:r>
                  <a:rPr lang="ko-KR" altLang="en-US" sz="1500" b="1" dirty="0">
                    <a:latin typeface="맑은 고딕" panose="020B0503020000020004" pitchFamily="50" charset="-127"/>
                  </a:rPr>
                  <a:t> 취득한 채권을 만기까지 보유하면서 계약상 정해진 원금과 이자만을 수취할 목적이다</a:t>
                </a:r>
                <a:r>
                  <a:rPr lang="en-US" altLang="ko-KR" sz="1500" b="1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400" b="1" dirty="0">
                    <a:latin typeface="맑은 고딕" panose="020B0503020000020004" pitchFamily="50" charset="-127"/>
                  </a:rPr>
                  <a:t>①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20×1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년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월 </a:t>
                </a:r>
                <a:r>
                  <a:rPr lang="en-US" altLang="ko-KR" sz="1400" b="1" dirty="0">
                    <a:latin typeface="맑은 고딕" panose="020B0503020000020004" pitchFamily="50" charset="-127"/>
                  </a:rPr>
                  <a:t>1</a:t>
                </a:r>
                <a:r>
                  <a:rPr lang="ko-KR" altLang="en-US" sz="1400" b="1" dirty="0">
                    <a:latin typeface="맑은 고딕" panose="020B0503020000020004" pitchFamily="50" charset="-127"/>
                  </a:rPr>
                  <a:t>일：채권의 취득</a:t>
                </a:r>
                <a:endParaRPr lang="en-US" altLang="ko-KR" sz="1400" b="1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lvl="1" indent="-396000">
                  <a:spcBef>
                    <a:spcPct val="0"/>
                  </a:spcBef>
                  <a:buClrTx/>
                  <a:buNone/>
                </a:pPr>
                <a:r>
                  <a:rPr lang="ko-KR" altLang="en-US" sz="1200" dirty="0">
                    <a:latin typeface="맑은 고딕" panose="020B0503020000020004" pitchFamily="50" charset="-127"/>
                  </a:rPr>
                  <a:t>     * </a:t>
                </a:r>
                <a:r>
                  <a:rPr lang="ko-KR" altLang="en-US" sz="1200" dirty="0" err="1">
                    <a:latin typeface="맑은 고딕" panose="020B0503020000020004" pitchFamily="50" charset="-127"/>
                  </a:rPr>
                  <a:t>상각후원가측정금융자산의</a:t>
                </a:r>
                <a:r>
                  <a:rPr lang="ko-KR" altLang="en-US" sz="1200" dirty="0">
                    <a:latin typeface="맑은 고딕" panose="020B0503020000020004" pitchFamily="50" charset="-127"/>
                  </a:rPr>
                  <a:t> 취득원가＝원금의 현가＋이자의 현가＝￦</a:t>
                </a:r>
                <a:r>
                  <a:rPr lang="en-US" altLang="ko-KR" sz="1200" dirty="0">
                    <a:latin typeface="맑은 고딕" panose="020B0503020000020004" pitchFamily="50" charset="-127"/>
                  </a:rPr>
                  <a:t>1,000,000×0.7513(3</a:t>
                </a:r>
                <a:r>
                  <a:rPr lang="ko-KR" altLang="en-US" sz="1200" dirty="0">
                    <a:latin typeface="맑은 고딕" panose="020B0503020000020004" pitchFamily="50" charset="-127"/>
                  </a:rPr>
                  <a:t>년</a:t>
                </a:r>
                <a:r>
                  <a:rPr lang="en-US" altLang="ko-KR" sz="1200" dirty="0">
                    <a:latin typeface="맑은 고딕" panose="020B0503020000020004" pitchFamily="50" charset="-127"/>
                  </a:rPr>
                  <a:t>, 10%, </a:t>
                </a:r>
                <a:r>
                  <a:rPr lang="ko-KR" altLang="en-US" sz="1200" dirty="0" err="1">
                    <a:latin typeface="맑은 고딕" panose="020B0503020000020004" pitchFamily="50" charset="-127"/>
                  </a:rPr>
                  <a:t>현가계수</a:t>
                </a:r>
                <a:r>
                  <a:rPr lang="en-US" altLang="ko-KR" sz="12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200" dirty="0">
                    <a:latin typeface="맑은 고딕" panose="020B0503020000020004" pitchFamily="50" charset="-127"/>
                  </a:rPr>
                  <a:t>＋￦</a:t>
                </a:r>
                <a:r>
                  <a:rPr lang="en-US" altLang="ko-KR" sz="1200" dirty="0">
                    <a:latin typeface="맑은 고딕" panose="020B0503020000020004" pitchFamily="50" charset="-127"/>
                  </a:rPr>
                  <a:t>80,000×2.4868(3</a:t>
                </a:r>
                <a:r>
                  <a:rPr lang="ko-KR" altLang="en-US" sz="1200" dirty="0">
                    <a:latin typeface="맑은 고딕" panose="020B0503020000020004" pitchFamily="50" charset="-127"/>
                  </a:rPr>
                  <a:t>년</a:t>
                </a:r>
                <a:r>
                  <a:rPr lang="en-US" altLang="ko-KR" sz="1200" dirty="0">
                    <a:latin typeface="맑은 고딕" panose="020B0503020000020004" pitchFamily="50" charset="-127"/>
                  </a:rPr>
                  <a:t>, 10%, </a:t>
                </a:r>
                <a:r>
                  <a:rPr lang="ko-KR" altLang="en-US" sz="1200" dirty="0">
                    <a:latin typeface="맑은 고딕" panose="020B0503020000020004" pitchFamily="50" charset="-127"/>
                  </a:rPr>
                  <a:t>연금현가계수</a:t>
                </a:r>
                <a:r>
                  <a:rPr lang="en-US" altLang="ko-KR" sz="1200" dirty="0">
                    <a:latin typeface="맑은 고딕" panose="020B0503020000020004" pitchFamily="50" charset="-127"/>
                  </a:rPr>
                  <a:t>)</a:t>
                </a:r>
                <a:r>
                  <a:rPr lang="ko-KR" altLang="en-US" sz="1200" dirty="0">
                    <a:latin typeface="맑은 고딕" panose="020B0503020000020004" pitchFamily="50" charset="-127"/>
                  </a:rPr>
                  <a:t>＝￦</a:t>
                </a:r>
                <a:r>
                  <a:rPr lang="en-US" altLang="ko-KR" sz="1200" dirty="0">
                    <a:latin typeface="맑은 고딕" panose="020B0503020000020004" pitchFamily="50" charset="-127"/>
                  </a:rPr>
                  <a:t>950,244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 latinLnBrk="0"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400" dirty="0">
                    <a:latin typeface="맑은 고딕" panose="020B0503020000020004" pitchFamily="50" charset="-127"/>
                  </a:rPr>
                  <a:t>채권의 보유기간 동안 계약상 정해진 원금과 이자만을 수취할 목적으로 채권을 </a:t>
                </a:r>
                <a:r>
                  <a:rPr lang="ko-KR" altLang="en-US" sz="1400" dirty="0" err="1">
                    <a:latin typeface="맑은 고딕" panose="020B0503020000020004" pitchFamily="50" charset="-127"/>
                  </a:rPr>
                  <a:t>취득하였으므로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AC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금융자산으로 분류함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 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채권의 </a:t>
                </a:r>
                <a:r>
                  <a:rPr lang="ko-KR" altLang="en-US" sz="1400" dirty="0" err="1">
                    <a:latin typeface="맑은 고딕" panose="020B0503020000020004" pitchFamily="50" charset="-127"/>
                  </a:rPr>
                  <a:t>상각표는</a:t>
                </a:r>
                <a:r>
                  <a:rPr lang="ko-KR" altLang="en-US" sz="1400" dirty="0">
                    <a:latin typeface="맑은 고딕" panose="020B0503020000020004" pitchFamily="50" charset="-127"/>
                  </a:rPr>
                  <a:t> 다음과 같음</a:t>
                </a:r>
                <a:r>
                  <a:rPr lang="en-US" altLang="ko-KR" sz="1400" dirty="0">
                    <a:latin typeface="맑은 고딕" panose="020B0503020000020004" pitchFamily="50" charset="-127"/>
                  </a:rPr>
                  <a:t>.</a:t>
                </a: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90714" y="1320886"/>
              <a:ext cx="4052461" cy="326952"/>
              <a:chOff x="190714" y="1320889"/>
              <a:chExt cx="3466574" cy="290354"/>
            </a:xfrm>
            <a:solidFill>
              <a:srgbClr val="2D61C8"/>
            </a:solidFill>
          </p:grpSpPr>
          <p:grpSp>
            <p:nvGrpSpPr>
              <p:cNvPr id="19" name="그룹 18"/>
              <p:cNvGrpSpPr/>
              <p:nvPr/>
            </p:nvGrpSpPr>
            <p:grpSpPr>
              <a:xfrm>
                <a:off x="190714" y="1320889"/>
                <a:ext cx="3466574" cy="290354"/>
                <a:chOff x="405822" y="2237753"/>
                <a:chExt cx="3466574" cy="290354"/>
              </a:xfrm>
              <a:grpFill/>
            </p:grpSpPr>
            <p:sp>
              <p:nvSpPr>
                <p:cNvPr id="21" name="타원 2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3582045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42510" y="2237755"/>
                  <a:ext cx="3167520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9-1 AC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endParaRPr lang="ko-KR" altLang="en-US" sz="1600" b="1" dirty="0"/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0" name="그림 19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88356" y="269057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232107" y="2916389"/>
            <a:ext cx="6298246" cy="4201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AC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금융자산	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950,244*	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금	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950,244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297465"/>
              </p:ext>
            </p:extLst>
          </p:nvPr>
        </p:nvGraphicFramePr>
        <p:xfrm>
          <a:off x="385376" y="4690514"/>
          <a:ext cx="5485520" cy="1627378"/>
        </p:xfrm>
        <a:graphic>
          <a:graphicData uri="http://schemas.openxmlformats.org/drawingml/2006/table">
            <a:tbl>
              <a:tblPr/>
              <a:tblGrid>
                <a:gridCol w="613433">
                  <a:extLst>
                    <a:ext uri="{9D8B030D-6E8A-4147-A177-3AD203B41FA5}">
                      <a16:colId xmlns:a16="http://schemas.microsoft.com/office/drawing/2014/main" val="1602961924"/>
                    </a:ext>
                  </a:extLst>
                </a:gridCol>
                <a:gridCol w="1068953">
                  <a:extLst>
                    <a:ext uri="{9D8B030D-6E8A-4147-A177-3AD203B41FA5}">
                      <a16:colId xmlns:a16="http://schemas.microsoft.com/office/drawing/2014/main" val="2537081806"/>
                    </a:ext>
                  </a:extLst>
                </a:gridCol>
                <a:gridCol w="940041">
                  <a:extLst>
                    <a:ext uri="{9D8B030D-6E8A-4147-A177-3AD203B41FA5}">
                      <a16:colId xmlns:a16="http://schemas.microsoft.com/office/drawing/2014/main" val="1842664704"/>
                    </a:ext>
                  </a:extLst>
                </a:gridCol>
                <a:gridCol w="940041">
                  <a:extLst>
                    <a:ext uri="{9D8B030D-6E8A-4147-A177-3AD203B41FA5}">
                      <a16:colId xmlns:a16="http://schemas.microsoft.com/office/drawing/2014/main" val="3007822838"/>
                    </a:ext>
                  </a:extLst>
                </a:gridCol>
                <a:gridCol w="854099">
                  <a:extLst>
                    <a:ext uri="{9D8B030D-6E8A-4147-A177-3AD203B41FA5}">
                      <a16:colId xmlns:a16="http://schemas.microsoft.com/office/drawing/2014/main" val="3916179543"/>
                    </a:ext>
                  </a:extLst>
                </a:gridCol>
                <a:gridCol w="1068953">
                  <a:extLst>
                    <a:ext uri="{9D8B030D-6E8A-4147-A177-3AD203B41FA5}">
                      <a16:colId xmlns:a16="http://schemas.microsoft.com/office/drawing/2014/main" val="3080200875"/>
                    </a:ext>
                  </a:extLst>
                </a:gridCol>
              </a:tblGrid>
              <a:tr h="3227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①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기초장부금액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②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유효이자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③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액면이자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④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상각액</a:t>
                      </a:r>
                      <a:endParaRPr lang="ko-KR" altLang="en-US" sz="11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⑤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기말장부금액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454956"/>
                  </a:ext>
                </a:extLst>
              </a:tr>
              <a:tr h="1976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20×1</a:t>
                      </a:r>
                      <a:r>
                        <a:rPr lang="ko-KR" alt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8923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950,244</a:t>
                      </a: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71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95,024</a:t>
                      </a:r>
                      <a:endParaRPr lang="ko-KR" altLang="en-US" sz="11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47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80,000</a:t>
                      </a: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71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15,024</a:t>
                      </a: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879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965,268</a:t>
                      </a:r>
                      <a:endParaRPr lang="ko-KR" altLang="en-US" sz="11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755474"/>
                  </a:ext>
                </a:extLst>
              </a:tr>
              <a:tr h="1976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20×2</a:t>
                      </a:r>
                      <a:r>
                        <a:rPr lang="ko-KR" alt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8923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965,268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71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96,527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447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371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16,527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879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981,795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102546"/>
                  </a:ext>
                </a:extLst>
              </a:tr>
              <a:tr h="1976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20×3</a:t>
                      </a:r>
                      <a:r>
                        <a:rPr lang="ko-KR" alt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8923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981,795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71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98,205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47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71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18,205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879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1,000,000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103632"/>
                  </a:ext>
                </a:extLst>
              </a:tr>
              <a:tr h="1976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합계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8923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71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1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289,756</a:t>
                      </a: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4478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71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1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49,756</a:t>
                      </a:r>
                      <a:endParaRPr lang="ko-KR" altLang="en-US" sz="11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8796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778309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5870896" y="4735505"/>
            <a:ext cx="31234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① 기초장부금액</a:t>
            </a:r>
          </a:p>
          <a:p>
            <a:r>
              <a:rPr lang="ko-KR" altLang="en-US" sz="1200" dirty="0"/>
              <a:t>② </a:t>
            </a:r>
            <a:r>
              <a:rPr lang="ko-KR" altLang="en-US" sz="1200" dirty="0" err="1"/>
              <a:t>유효이자＝기초장부금액</a:t>
            </a:r>
            <a:r>
              <a:rPr lang="en-US" altLang="ko-KR" sz="1200" dirty="0"/>
              <a:t>×</a:t>
            </a:r>
            <a:r>
              <a:rPr lang="ko-KR" altLang="en-US" sz="1200" dirty="0" err="1"/>
              <a:t>유효이자율</a:t>
            </a:r>
            <a:r>
              <a:rPr lang="en-US" altLang="ko-KR" sz="1200" dirty="0"/>
              <a:t>(10%)</a:t>
            </a:r>
          </a:p>
          <a:p>
            <a:r>
              <a:rPr lang="en-US" altLang="ko-KR" sz="1200" dirty="0"/>
              <a:t>③ </a:t>
            </a:r>
            <a:r>
              <a:rPr lang="ko-KR" altLang="en-US" sz="1200" dirty="0" err="1"/>
              <a:t>액면이자＝액면금액</a:t>
            </a:r>
            <a:r>
              <a:rPr lang="en-US" altLang="ko-KR" sz="1200" dirty="0"/>
              <a:t>×</a:t>
            </a:r>
            <a:r>
              <a:rPr lang="ko-KR" altLang="en-US" sz="1200" dirty="0" err="1"/>
              <a:t>액면이자율</a:t>
            </a:r>
            <a:r>
              <a:rPr lang="en-US" altLang="ko-KR" sz="1200" dirty="0"/>
              <a:t>(8%)</a:t>
            </a:r>
          </a:p>
          <a:p>
            <a:r>
              <a:rPr lang="en-US" altLang="ko-KR" sz="1200" dirty="0"/>
              <a:t>④ </a:t>
            </a:r>
            <a:r>
              <a:rPr lang="ko-KR" altLang="en-US" sz="1200" dirty="0" err="1"/>
              <a:t>상각액</a:t>
            </a:r>
            <a:r>
              <a:rPr lang="ko-KR" altLang="en-US" sz="1200" dirty="0"/>
              <a:t>＝②</a:t>
            </a:r>
            <a:r>
              <a:rPr lang="ko-KR" altLang="en-US" sz="1200" dirty="0" err="1"/>
              <a:t>유효이자</a:t>
            </a:r>
            <a:r>
              <a:rPr lang="ko-KR" altLang="en-US" sz="1200" dirty="0"/>
              <a:t>－③</a:t>
            </a:r>
            <a:r>
              <a:rPr lang="ko-KR" altLang="en-US" sz="1200" dirty="0" err="1"/>
              <a:t>액면이자</a:t>
            </a:r>
            <a:endParaRPr lang="ko-KR" altLang="en-US" sz="1200" dirty="0"/>
          </a:p>
          <a:p>
            <a:r>
              <a:rPr lang="ko-KR" altLang="en-US" sz="1200" dirty="0"/>
              <a:t>⑤ 기말장부금액＝①기초장부금액＋④</a:t>
            </a:r>
            <a:r>
              <a:rPr lang="ko-KR" altLang="en-US" sz="1200" dirty="0" err="1"/>
              <a:t>상각액</a:t>
            </a:r>
            <a:endParaRPr lang="ko-KR" altLang="en-US" sz="12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941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126251" y="983521"/>
            <a:ext cx="8786101" cy="5617303"/>
            <a:chOff x="190714" y="1320886"/>
            <a:chExt cx="8786101" cy="5617303"/>
          </a:xfrm>
        </p:grpSpPr>
        <p:grpSp>
          <p:nvGrpSpPr>
            <p:cNvPr id="11" name="그룹 10"/>
            <p:cNvGrpSpPr/>
            <p:nvPr/>
          </p:nvGrpSpPr>
          <p:grpSpPr>
            <a:xfrm>
              <a:off x="361935" y="1461499"/>
              <a:ext cx="8614880" cy="5476690"/>
              <a:chOff x="269048" y="1722741"/>
              <a:chExt cx="8724365" cy="5476690"/>
            </a:xfrm>
          </p:grpSpPr>
          <p:sp>
            <p:nvSpPr>
              <p:cNvPr id="25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724365" cy="545299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90714" y="1320886"/>
              <a:ext cx="4052461" cy="326952"/>
              <a:chOff x="190714" y="1320889"/>
              <a:chExt cx="3466574" cy="290354"/>
            </a:xfrm>
            <a:solidFill>
              <a:srgbClr val="2D61C8"/>
            </a:solidFill>
          </p:grpSpPr>
          <p:grpSp>
            <p:nvGrpSpPr>
              <p:cNvPr id="19" name="그룹 18"/>
              <p:cNvGrpSpPr/>
              <p:nvPr/>
            </p:nvGrpSpPr>
            <p:grpSpPr>
              <a:xfrm>
                <a:off x="190714" y="1320889"/>
                <a:ext cx="3466574" cy="290354"/>
                <a:chOff x="405822" y="2237753"/>
                <a:chExt cx="3466574" cy="290354"/>
              </a:xfrm>
              <a:grpFill/>
            </p:grpSpPr>
            <p:sp>
              <p:nvSpPr>
                <p:cNvPr id="21" name="타원 2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3582045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42510" y="2237755"/>
                  <a:ext cx="3167520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9-1 AC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endParaRPr lang="ko-KR" altLang="en-US" sz="1600" b="1" dirty="0"/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0" name="그림 19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88356" y="2598647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00"/>
          </a:p>
        </p:txBody>
      </p:sp>
      <p:sp>
        <p:nvSpPr>
          <p:cNvPr id="4" name="직사각형 3"/>
          <p:cNvSpPr/>
          <p:nvPr/>
        </p:nvSpPr>
        <p:spPr>
          <a:xfrm>
            <a:off x="1205536" y="2482757"/>
            <a:ext cx="7097484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현      금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80,000	 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이자수익	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95,024</a:t>
            </a: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AC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금융자산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	15,024	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712285"/>
              </p:ext>
            </p:extLst>
          </p:nvPr>
        </p:nvGraphicFramePr>
        <p:xfrm>
          <a:off x="968084" y="3975559"/>
          <a:ext cx="7042663" cy="1029208"/>
        </p:xfrm>
        <a:graphic>
          <a:graphicData uri="http://schemas.openxmlformats.org/drawingml/2006/table">
            <a:tbl>
              <a:tblPr/>
              <a:tblGrid>
                <a:gridCol w="172880">
                  <a:extLst>
                    <a:ext uri="{9D8B030D-6E8A-4147-A177-3AD203B41FA5}">
                      <a16:colId xmlns:a16="http://schemas.microsoft.com/office/drawing/2014/main" val="903626108"/>
                    </a:ext>
                  </a:extLst>
                </a:gridCol>
                <a:gridCol w="2369002">
                  <a:extLst>
                    <a:ext uri="{9D8B030D-6E8A-4147-A177-3AD203B41FA5}">
                      <a16:colId xmlns:a16="http://schemas.microsoft.com/office/drawing/2014/main" val="1548722135"/>
                    </a:ext>
                  </a:extLst>
                </a:gridCol>
                <a:gridCol w="985354">
                  <a:extLst>
                    <a:ext uri="{9D8B030D-6E8A-4147-A177-3AD203B41FA5}">
                      <a16:colId xmlns:a16="http://schemas.microsoft.com/office/drawing/2014/main" val="3553574638"/>
                    </a:ext>
                  </a:extLst>
                </a:gridCol>
                <a:gridCol w="441873">
                  <a:extLst>
                    <a:ext uri="{9D8B030D-6E8A-4147-A177-3AD203B41FA5}">
                      <a16:colId xmlns:a16="http://schemas.microsoft.com/office/drawing/2014/main" val="2942433167"/>
                    </a:ext>
                  </a:extLst>
                </a:gridCol>
                <a:gridCol w="1767283">
                  <a:extLst>
                    <a:ext uri="{9D8B030D-6E8A-4147-A177-3AD203B41FA5}">
                      <a16:colId xmlns:a16="http://schemas.microsoft.com/office/drawing/2014/main" val="2340574194"/>
                    </a:ext>
                  </a:extLst>
                </a:gridCol>
                <a:gridCol w="1133391">
                  <a:extLst>
                    <a:ext uri="{9D8B030D-6E8A-4147-A177-3AD203B41FA5}">
                      <a16:colId xmlns:a16="http://schemas.microsoft.com/office/drawing/2014/main" val="3398092003"/>
                    </a:ext>
                  </a:extLst>
                </a:gridCol>
                <a:gridCol w="172880">
                  <a:extLst>
                    <a:ext uri="{9D8B030D-6E8A-4147-A177-3AD203B41FA5}">
                      <a16:colId xmlns:a16="http://schemas.microsoft.com/office/drawing/2014/main" val="898193141"/>
                    </a:ext>
                  </a:extLst>
                </a:gridCol>
              </a:tblGrid>
              <a:tr h="22279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부분재무상태표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부분포괄손익계산서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380150"/>
                  </a:ext>
                </a:extLst>
              </a:tr>
              <a:tr h="25469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비유동자산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27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이자수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익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95,024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475453"/>
                  </a:ext>
                </a:extLst>
              </a:tr>
              <a:tr h="25469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AC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965,268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625949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257175" y="1479387"/>
            <a:ext cx="8629650" cy="896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500" b="1" dirty="0">
                <a:latin typeface="+mj-ea"/>
                <a:ea typeface="+mj-ea"/>
              </a:rPr>
              <a:t>② </a:t>
            </a:r>
            <a:r>
              <a:rPr lang="en-US" altLang="ko-KR" sz="1500" b="1" dirty="0">
                <a:latin typeface="+mj-ea"/>
                <a:ea typeface="+mj-ea"/>
              </a:rPr>
              <a:t>20×1</a:t>
            </a:r>
            <a:r>
              <a:rPr lang="ko-KR" altLang="en-US" sz="1500" b="1" dirty="0">
                <a:latin typeface="+mj-ea"/>
                <a:ea typeface="+mj-ea"/>
              </a:rPr>
              <a:t>년 </a:t>
            </a:r>
            <a:r>
              <a:rPr lang="en-US" altLang="ko-KR" sz="1500" b="1" dirty="0">
                <a:latin typeface="+mj-ea"/>
                <a:ea typeface="+mj-ea"/>
              </a:rPr>
              <a:t>12</a:t>
            </a:r>
            <a:r>
              <a:rPr lang="ko-KR" altLang="en-US" sz="1500" b="1" dirty="0">
                <a:latin typeface="+mj-ea"/>
                <a:ea typeface="+mj-ea"/>
              </a:rPr>
              <a:t>월 </a:t>
            </a:r>
            <a:r>
              <a:rPr lang="en-US" altLang="ko-KR" sz="1500" b="1" dirty="0">
                <a:latin typeface="+mj-ea"/>
                <a:ea typeface="+mj-ea"/>
              </a:rPr>
              <a:t>31</a:t>
            </a:r>
            <a:r>
              <a:rPr lang="ko-KR" altLang="en-US" sz="1500" b="1" dirty="0">
                <a:latin typeface="+mj-ea"/>
                <a:ea typeface="+mj-ea"/>
              </a:rPr>
              <a:t>일</a:t>
            </a:r>
          </a:p>
          <a:p>
            <a:pPr latinLnBrk="0">
              <a:lnSpc>
                <a:spcPct val="120000"/>
              </a:lnSpc>
            </a:pPr>
            <a:r>
              <a:rPr lang="en-US" altLang="ko-KR" sz="1500" dirty="0">
                <a:latin typeface="+mj-ea"/>
                <a:ea typeface="+mj-ea"/>
              </a:rPr>
              <a:t>20×1</a:t>
            </a:r>
            <a:r>
              <a:rPr lang="ko-KR" altLang="en-US" sz="1500" dirty="0">
                <a:latin typeface="+mj-ea"/>
                <a:ea typeface="+mj-ea"/>
              </a:rPr>
              <a:t>년에 해당하는 </a:t>
            </a:r>
            <a:r>
              <a:rPr lang="ko-KR" altLang="en-US" sz="1500" dirty="0" err="1">
                <a:latin typeface="+mj-ea"/>
                <a:ea typeface="+mj-ea"/>
              </a:rPr>
              <a:t>유효이자만큼을</a:t>
            </a:r>
            <a:r>
              <a:rPr lang="ko-KR" altLang="en-US" sz="1500" dirty="0">
                <a:latin typeface="+mj-ea"/>
                <a:ea typeface="+mj-ea"/>
              </a:rPr>
              <a:t> 이자수익으로 인식하고</a:t>
            </a:r>
            <a:r>
              <a:rPr lang="en-US" altLang="ko-KR" sz="1500" dirty="0">
                <a:latin typeface="+mj-ea"/>
                <a:ea typeface="+mj-ea"/>
              </a:rPr>
              <a:t>, 20×1</a:t>
            </a:r>
            <a:r>
              <a:rPr lang="ko-KR" altLang="en-US" sz="1500" dirty="0">
                <a:latin typeface="+mj-ea"/>
                <a:ea typeface="+mj-ea"/>
              </a:rPr>
              <a:t>년말에 수취한 </a:t>
            </a:r>
            <a:r>
              <a:rPr lang="ko-KR" altLang="en-US" sz="1500" dirty="0" err="1">
                <a:latin typeface="+mj-ea"/>
                <a:ea typeface="+mj-ea"/>
              </a:rPr>
              <a:t>현금이자와</a:t>
            </a:r>
            <a:r>
              <a:rPr lang="ko-KR" altLang="en-US" sz="1500" dirty="0">
                <a:latin typeface="+mj-ea"/>
                <a:ea typeface="+mj-ea"/>
              </a:rPr>
              <a:t> </a:t>
            </a:r>
            <a:r>
              <a:rPr lang="ko-KR" altLang="en-US" sz="1500" dirty="0" err="1">
                <a:latin typeface="+mj-ea"/>
                <a:ea typeface="+mj-ea"/>
              </a:rPr>
              <a:t>유효이자의</a:t>
            </a:r>
            <a:r>
              <a:rPr lang="ko-KR" altLang="en-US" sz="1500" dirty="0">
                <a:latin typeface="+mj-ea"/>
                <a:ea typeface="+mj-ea"/>
              </a:rPr>
              <a:t> 차이만큼 채권의 장부금액을 조정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56802" y="3422330"/>
            <a:ext cx="844429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20×1</a:t>
            </a:r>
            <a:r>
              <a:rPr lang="ko-KR" altLang="en-US" sz="1500" dirty="0">
                <a:latin typeface="맑은 고딕" panose="020B0503020000020004" pitchFamily="50" charset="-127"/>
              </a:rPr>
              <a:t>년말 부분재무상태표와 포괄손익계산서는 다음과 같음</a:t>
            </a:r>
            <a:r>
              <a:rPr lang="en-US" altLang="ko-KR" sz="1500" dirty="0">
                <a:latin typeface="맑은 고딕" panose="020B0503020000020004" pitchFamily="50" charset="-127"/>
              </a:rPr>
              <a:t>.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921882" y="4890786"/>
            <a:ext cx="61340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 </a:t>
            </a:r>
            <a:endParaRPr lang="ko-KR" altLang="en-US" sz="1400" dirty="0"/>
          </a:p>
          <a:p>
            <a:r>
              <a:rPr lang="ko-KR" altLang="en-US" sz="1400" dirty="0"/>
              <a:t>* 채권의 취득금액</a:t>
            </a:r>
            <a:r>
              <a:rPr lang="en-US" altLang="ko-KR" sz="1400" dirty="0"/>
              <a:t>(</a:t>
            </a:r>
            <a:r>
              <a:rPr lang="ko-KR" altLang="en-US" sz="1400" dirty="0"/>
              <a:t>￦</a:t>
            </a:r>
            <a:r>
              <a:rPr lang="en-US" altLang="ko-KR" sz="1400" dirty="0"/>
              <a:t>950,244)</a:t>
            </a:r>
            <a:r>
              <a:rPr lang="ko-KR" altLang="en-US" sz="1400" dirty="0"/>
              <a:t>에 </a:t>
            </a:r>
            <a:r>
              <a:rPr lang="ko-KR" altLang="en-US" sz="1400" dirty="0" err="1"/>
              <a:t>상각액</a:t>
            </a:r>
            <a:r>
              <a:rPr lang="en-US" altLang="ko-KR" sz="1400" dirty="0"/>
              <a:t>(</a:t>
            </a:r>
            <a:r>
              <a:rPr lang="ko-KR" altLang="en-US" sz="1400" dirty="0"/>
              <a:t>￦</a:t>
            </a:r>
            <a:r>
              <a:rPr lang="en-US" altLang="ko-KR" sz="1400" dirty="0"/>
              <a:t>15,024)</a:t>
            </a:r>
            <a:r>
              <a:rPr lang="ko-KR" altLang="en-US" sz="1400" dirty="0"/>
              <a:t>을 가산한 금액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968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126251" y="983521"/>
            <a:ext cx="8786101" cy="5617303"/>
            <a:chOff x="190714" y="1320886"/>
            <a:chExt cx="8786101" cy="5617303"/>
          </a:xfrm>
        </p:grpSpPr>
        <p:grpSp>
          <p:nvGrpSpPr>
            <p:cNvPr id="11" name="그룹 10"/>
            <p:cNvGrpSpPr/>
            <p:nvPr/>
          </p:nvGrpSpPr>
          <p:grpSpPr>
            <a:xfrm>
              <a:off x="361935" y="1461499"/>
              <a:ext cx="8614880" cy="5476690"/>
              <a:chOff x="269048" y="1722741"/>
              <a:chExt cx="8724365" cy="5476690"/>
            </a:xfrm>
          </p:grpSpPr>
          <p:sp>
            <p:nvSpPr>
              <p:cNvPr id="25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724365" cy="545299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90714" y="1320886"/>
              <a:ext cx="4052461" cy="326952"/>
              <a:chOff x="190714" y="1320889"/>
              <a:chExt cx="3466574" cy="290354"/>
            </a:xfrm>
            <a:solidFill>
              <a:srgbClr val="2D61C8"/>
            </a:solidFill>
          </p:grpSpPr>
          <p:grpSp>
            <p:nvGrpSpPr>
              <p:cNvPr id="19" name="그룹 18"/>
              <p:cNvGrpSpPr/>
              <p:nvPr/>
            </p:nvGrpSpPr>
            <p:grpSpPr>
              <a:xfrm>
                <a:off x="190714" y="1320889"/>
                <a:ext cx="3466574" cy="290354"/>
                <a:chOff x="405822" y="2237753"/>
                <a:chExt cx="3466574" cy="290354"/>
              </a:xfrm>
              <a:grpFill/>
            </p:grpSpPr>
            <p:sp>
              <p:nvSpPr>
                <p:cNvPr id="21" name="타원 2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3582045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42510" y="2237755"/>
                  <a:ext cx="3167520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9-1 AC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endParaRPr lang="ko-KR" altLang="en-US" sz="1600" b="1" dirty="0"/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0" name="그림 19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88356" y="2598647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200"/>
          </a:p>
        </p:txBody>
      </p:sp>
      <p:sp>
        <p:nvSpPr>
          <p:cNvPr id="9" name="직사각형 8"/>
          <p:cNvSpPr/>
          <p:nvPr/>
        </p:nvSpPr>
        <p:spPr>
          <a:xfrm>
            <a:off x="696686" y="2577014"/>
            <a:ext cx="7173685" cy="4998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현    금	    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80,000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	 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이자수익	    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96,527</a:t>
            </a:r>
            <a:endParaRPr lang="ko-KR" altLang="en-US" sz="1400" b="1" kern="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      AC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금융자산	   </a:t>
            </a:r>
            <a:r>
              <a:rPr lang="en-US" altLang="ko-KR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16,527</a:t>
            </a:r>
            <a:r>
              <a:rPr lang="ko-KR" altLang="en-US" sz="1400" b="1" kern="0" dirty="0">
                <a:solidFill>
                  <a:srgbClr val="000000"/>
                </a:solidFill>
                <a:latin typeface="맑은 고딕" panose="020B0503020000020004" pitchFamily="50" charset="-127"/>
              </a:rPr>
              <a:t>		</a:t>
            </a: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022768"/>
              </p:ext>
            </p:extLst>
          </p:nvPr>
        </p:nvGraphicFramePr>
        <p:xfrm>
          <a:off x="1128322" y="3613867"/>
          <a:ext cx="6434563" cy="1029208"/>
        </p:xfrm>
        <a:graphic>
          <a:graphicData uri="http://schemas.openxmlformats.org/drawingml/2006/table">
            <a:tbl>
              <a:tblPr/>
              <a:tblGrid>
                <a:gridCol w="156904">
                  <a:extLst>
                    <a:ext uri="{9D8B030D-6E8A-4147-A177-3AD203B41FA5}">
                      <a16:colId xmlns:a16="http://schemas.microsoft.com/office/drawing/2014/main" val="585760087"/>
                    </a:ext>
                  </a:extLst>
                </a:gridCol>
                <a:gridCol w="2157853">
                  <a:extLst>
                    <a:ext uri="{9D8B030D-6E8A-4147-A177-3AD203B41FA5}">
                      <a16:colId xmlns:a16="http://schemas.microsoft.com/office/drawing/2014/main" val="1914709596"/>
                    </a:ext>
                  </a:extLst>
                </a:gridCol>
                <a:gridCol w="1186071">
                  <a:extLst>
                    <a:ext uri="{9D8B030D-6E8A-4147-A177-3AD203B41FA5}">
                      <a16:colId xmlns:a16="http://schemas.microsoft.com/office/drawing/2014/main" val="2148239998"/>
                    </a:ext>
                  </a:extLst>
                </a:gridCol>
                <a:gridCol w="109269">
                  <a:extLst>
                    <a:ext uri="{9D8B030D-6E8A-4147-A177-3AD203B41FA5}">
                      <a16:colId xmlns:a16="http://schemas.microsoft.com/office/drawing/2014/main" val="187489118"/>
                    </a:ext>
                  </a:extLst>
                </a:gridCol>
                <a:gridCol w="1603974">
                  <a:extLst>
                    <a:ext uri="{9D8B030D-6E8A-4147-A177-3AD203B41FA5}">
                      <a16:colId xmlns:a16="http://schemas.microsoft.com/office/drawing/2014/main" val="2494783207"/>
                    </a:ext>
                  </a:extLst>
                </a:gridCol>
                <a:gridCol w="1028659">
                  <a:extLst>
                    <a:ext uri="{9D8B030D-6E8A-4147-A177-3AD203B41FA5}">
                      <a16:colId xmlns:a16="http://schemas.microsoft.com/office/drawing/2014/main" val="3266743219"/>
                    </a:ext>
                  </a:extLst>
                </a:gridCol>
                <a:gridCol w="191833">
                  <a:extLst>
                    <a:ext uri="{9D8B030D-6E8A-4147-A177-3AD203B41FA5}">
                      <a16:colId xmlns:a16="http://schemas.microsoft.com/office/drawing/2014/main" val="4170092441"/>
                    </a:ext>
                  </a:extLst>
                </a:gridCol>
              </a:tblGrid>
              <a:tr h="17195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부분재무상태표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(20×2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부분포괄손익계산서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(20×2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50805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27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유동자산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27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이자수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익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96,527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436900"/>
                  </a:ext>
                </a:extLst>
              </a:tr>
              <a:tr h="20849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AC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금융자산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981,795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*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086489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287457" y="1496293"/>
            <a:ext cx="8624895" cy="896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500" b="1" dirty="0">
                <a:latin typeface="맑은 고딕" panose="020B0503020000020004" pitchFamily="50" charset="-127"/>
              </a:rPr>
              <a:t>③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20×2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500" b="1" dirty="0">
                <a:latin typeface="맑은 고딕" panose="020B0503020000020004" pitchFamily="50" charset="-127"/>
              </a:rPr>
              <a:t>12</a:t>
            </a:r>
            <a:r>
              <a:rPr lang="ko-KR" altLang="en-US" sz="15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500" b="1" dirty="0">
                <a:latin typeface="맑은 고딕" panose="020B0503020000020004" pitchFamily="50" charset="-127"/>
              </a:rPr>
              <a:t>31</a:t>
            </a:r>
            <a:r>
              <a:rPr lang="ko-KR" altLang="en-US" sz="1500" b="1" dirty="0">
                <a:latin typeface="맑은 고딕" panose="020B0503020000020004" pitchFamily="50" charset="-127"/>
              </a:rPr>
              <a:t>일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20×2</a:t>
            </a:r>
            <a:r>
              <a:rPr lang="ko-KR" altLang="en-US" sz="1500" dirty="0">
                <a:latin typeface="맑은 고딕" panose="020B0503020000020004" pitchFamily="50" charset="-127"/>
              </a:rPr>
              <a:t>년에 인식할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유효이자는</a:t>
            </a:r>
            <a:r>
              <a:rPr lang="ko-KR" altLang="en-US" sz="1500" dirty="0">
                <a:latin typeface="맑은 고딕" panose="020B0503020000020004" pitchFamily="50" charset="-127"/>
              </a:rPr>
              <a:t> 채권의 기초장부금액 ￦</a:t>
            </a:r>
            <a:r>
              <a:rPr lang="en-US" altLang="ko-KR" sz="1500" dirty="0">
                <a:latin typeface="맑은 고딕" panose="020B0503020000020004" pitchFamily="50" charset="-127"/>
              </a:rPr>
              <a:t>965,268</a:t>
            </a:r>
            <a:r>
              <a:rPr lang="ko-KR" altLang="en-US" sz="1500" dirty="0">
                <a:latin typeface="맑은 고딕" panose="020B0503020000020004" pitchFamily="50" charset="-127"/>
              </a:rPr>
              <a:t>에 유효이자율인 </a:t>
            </a:r>
            <a:r>
              <a:rPr lang="en-US" altLang="ko-KR" sz="1500" dirty="0">
                <a:latin typeface="맑은 고딕" panose="020B0503020000020004" pitchFamily="50" charset="-127"/>
              </a:rPr>
              <a:t>10%</a:t>
            </a:r>
            <a:r>
              <a:rPr lang="ko-KR" altLang="en-US" sz="1500" dirty="0">
                <a:latin typeface="맑은 고딕" panose="020B0503020000020004" pitchFamily="50" charset="-127"/>
              </a:rPr>
              <a:t>를 곱한 금액인 ￦</a:t>
            </a:r>
            <a:r>
              <a:rPr lang="en-US" altLang="ko-KR" sz="1500" dirty="0">
                <a:latin typeface="맑은 고딕" panose="020B0503020000020004" pitchFamily="50" charset="-127"/>
              </a:rPr>
              <a:t>96,527</a:t>
            </a:r>
            <a:r>
              <a:rPr lang="ko-KR" altLang="en-US" sz="1500" dirty="0">
                <a:latin typeface="맑은 고딕" panose="020B0503020000020004" pitchFamily="50" charset="-127"/>
              </a:rPr>
              <a:t>이며</a:t>
            </a:r>
            <a:r>
              <a:rPr lang="en-US" altLang="ko-KR" sz="1500" dirty="0">
                <a:latin typeface="맑은 고딕" panose="020B0503020000020004" pitchFamily="50" charset="-127"/>
              </a:rPr>
              <a:t>, </a:t>
            </a:r>
            <a:r>
              <a:rPr lang="ko-KR" altLang="en-US" sz="1500" dirty="0" err="1">
                <a:latin typeface="맑은 고딕" panose="020B0503020000020004" pitchFamily="50" charset="-127"/>
              </a:rPr>
              <a:t>현금이자</a:t>
            </a:r>
            <a:r>
              <a:rPr lang="ko-KR" altLang="en-US" sz="1500" dirty="0">
                <a:latin typeface="맑은 고딕" panose="020B0503020000020004" pitchFamily="50" charset="-127"/>
              </a:rPr>
              <a:t> ￦</a:t>
            </a:r>
            <a:r>
              <a:rPr lang="en-US" altLang="ko-KR" sz="1500" dirty="0">
                <a:latin typeface="맑은 고딕" panose="020B0503020000020004" pitchFamily="50" charset="-127"/>
              </a:rPr>
              <a:t>80,000</a:t>
            </a:r>
            <a:r>
              <a:rPr lang="ko-KR" altLang="en-US" sz="1500" dirty="0">
                <a:latin typeface="맑은 고딕" panose="020B0503020000020004" pitchFamily="50" charset="-127"/>
              </a:rPr>
              <a:t>과의 차이인 ￦</a:t>
            </a:r>
            <a:r>
              <a:rPr lang="en-US" altLang="ko-KR" sz="1500" dirty="0">
                <a:latin typeface="맑은 고딕" panose="020B0503020000020004" pitchFamily="50" charset="-127"/>
              </a:rPr>
              <a:t>16,527</a:t>
            </a:r>
            <a:r>
              <a:rPr lang="ko-KR" altLang="en-US" sz="1500" dirty="0">
                <a:latin typeface="맑은 고딕" panose="020B0503020000020004" pitchFamily="50" charset="-127"/>
              </a:rPr>
              <a:t>만큼 채권의 장부금액에 가산함</a:t>
            </a:r>
            <a:endParaRPr lang="en-US" altLang="ko-KR" sz="1500" dirty="0">
              <a:latin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02288" y="4664283"/>
            <a:ext cx="753942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dirty="0"/>
              <a:t>* </a:t>
            </a:r>
            <a:r>
              <a:rPr lang="ko-KR" altLang="en-US" sz="1400" dirty="0"/>
              <a:t>채권의</a:t>
            </a:r>
            <a:r>
              <a:rPr lang="ko-KR" altLang="en-US" sz="1500" dirty="0"/>
              <a:t> 기초장부금액</a:t>
            </a:r>
            <a:r>
              <a:rPr lang="en-US" altLang="ko-KR" sz="1500" dirty="0"/>
              <a:t>(</a:t>
            </a:r>
            <a:r>
              <a:rPr lang="ko-KR" altLang="en-US" sz="1500" dirty="0"/>
              <a:t>￦</a:t>
            </a:r>
            <a:r>
              <a:rPr lang="en-US" altLang="ko-KR" sz="1500" dirty="0"/>
              <a:t>965,268)</a:t>
            </a:r>
            <a:r>
              <a:rPr lang="ko-KR" altLang="en-US" sz="1500" dirty="0"/>
              <a:t>에 당기 </a:t>
            </a:r>
            <a:r>
              <a:rPr lang="ko-KR" altLang="en-US" sz="1500" dirty="0" err="1"/>
              <a:t>상각액</a:t>
            </a:r>
            <a:r>
              <a:rPr lang="en-US" altLang="ko-KR" sz="1500" dirty="0"/>
              <a:t>(</a:t>
            </a:r>
            <a:r>
              <a:rPr lang="ko-KR" altLang="en-US" sz="1500" dirty="0"/>
              <a:t>￦</a:t>
            </a:r>
            <a:r>
              <a:rPr lang="en-US" altLang="ko-KR" sz="1500" dirty="0"/>
              <a:t>16,527)</a:t>
            </a:r>
            <a:r>
              <a:rPr lang="ko-KR" altLang="en-US" sz="1500" dirty="0"/>
              <a:t>을 가산한 금액</a:t>
            </a:r>
            <a:endParaRPr lang="en-US" altLang="ko-KR" sz="150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097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126251" y="983521"/>
            <a:ext cx="8786101" cy="4872993"/>
            <a:chOff x="190714" y="1320886"/>
            <a:chExt cx="8786101" cy="3771359"/>
          </a:xfrm>
        </p:grpSpPr>
        <p:grpSp>
          <p:nvGrpSpPr>
            <p:cNvPr id="11" name="그룹 10"/>
            <p:cNvGrpSpPr/>
            <p:nvPr/>
          </p:nvGrpSpPr>
          <p:grpSpPr>
            <a:xfrm>
              <a:off x="361935" y="1461499"/>
              <a:ext cx="8614880" cy="3630746"/>
              <a:chOff x="269048" y="1722741"/>
              <a:chExt cx="8724365" cy="3630746"/>
            </a:xfrm>
          </p:grpSpPr>
          <p:sp>
            <p:nvSpPr>
              <p:cNvPr id="25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724365" cy="3607047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" name="그룹 17"/>
            <p:cNvGrpSpPr/>
            <p:nvPr/>
          </p:nvGrpSpPr>
          <p:grpSpPr>
            <a:xfrm>
              <a:off x="190714" y="1320886"/>
              <a:ext cx="4052461" cy="326952"/>
              <a:chOff x="190714" y="1320889"/>
              <a:chExt cx="3466574" cy="290354"/>
            </a:xfrm>
            <a:solidFill>
              <a:srgbClr val="2D61C8"/>
            </a:solidFill>
          </p:grpSpPr>
          <p:grpSp>
            <p:nvGrpSpPr>
              <p:cNvPr id="19" name="그룹 18"/>
              <p:cNvGrpSpPr/>
              <p:nvPr/>
            </p:nvGrpSpPr>
            <p:grpSpPr>
              <a:xfrm>
                <a:off x="190714" y="1320889"/>
                <a:ext cx="3466574" cy="290354"/>
                <a:chOff x="405822" y="2237753"/>
                <a:chExt cx="3466574" cy="290354"/>
              </a:xfrm>
              <a:grpFill/>
            </p:grpSpPr>
            <p:sp>
              <p:nvSpPr>
                <p:cNvPr id="21" name="타원 20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3582045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542510" y="2237755"/>
                  <a:ext cx="3167520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9-1 AC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endParaRPr lang="ko-KR" altLang="en-US" sz="1600" b="1" dirty="0"/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0" name="그림 19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5" name="직사각형 4"/>
          <p:cNvSpPr/>
          <p:nvPr/>
        </p:nvSpPr>
        <p:spPr>
          <a:xfrm>
            <a:off x="126251" y="1534395"/>
            <a:ext cx="8658225" cy="1173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marR="127000" algn="just" fontAlgn="base">
              <a:lnSpc>
                <a:spcPct val="120000"/>
              </a:lnSpc>
              <a:spcBef>
                <a:spcPts val="850"/>
              </a:spcBef>
            </a:pPr>
            <a:r>
              <a:rPr lang="ko-KR" altLang="en-US" sz="1500" b="1" kern="0" spc="-30" dirty="0">
                <a:solidFill>
                  <a:srgbClr val="000000"/>
                </a:solidFill>
                <a:latin typeface="+mj-ea"/>
                <a:ea typeface="+mj-ea"/>
              </a:rPr>
              <a:t>④ 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j-ea"/>
                <a:ea typeface="+mj-ea"/>
              </a:rPr>
              <a:t>20×3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j-ea"/>
                <a:ea typeface="+mj-ea"/>
              </a:rPr>
              <a:t>년 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j-ea"/>
                <a:ea typeface="+mj-ea"/>
              </a:rPr>
              <a:t>12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j-ea"/>
                <a:ea typeface="+mj-ea"/>
              </a:rPr>
              <a:t>월 </a:t>
            </a:r>
            <a:r>
              <a:rPr lang="en-US" altLang="ko-KR" sz="1500" b="1" kern="0" spc="-30" dirty="0">
                <a:solidFill>
                  <a:srgbClr val="000000"/>
                </a:solidFill>
                <a:latin typeface="+mj-ea"/>
                <a:ea typeface="+mj-ea"/>
              </a:rPr>
              <a:t>31</a:t>
            </a:r>
            <a:r>
              <a:rPr lang="ko-KR" altLang="en-US" sz="1500" b="1" kern="0" spc="-30" dirty="0">
                <a:solidFill>
                  <a:srgbClr val="000000"/>
                </a:solidFill>
                <a:latin typeface="+mj-ea"/>
                <a:ea typeface="+mj-ea"/>
              </a:rPr>
              <a:t>일</a:t>
            </a:r>
          </a:p>
          <a:p>
            <a:pPr marL="447675" marR="127000" indent="1588" algn="just" fontAlgn="base">
              <a:lnSpc>
                <a:spcPct val="120000"/>
              </a:lnSpc>
            </a:pP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20×3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년에 인식할 </a:t>
            </a:r>
            <a:r>
              <a:rPr lang="ko-KR" altLang="en-US" sz="1500" kern="0" spc="-30" dirty="0" err="1">
                <a:solidFill>
                  <a:srgbClr val="000000"/>
                </a:solidFill>
                <a:latin typeface="+mj-ea"/>
                <a:ea typeface="+mj-ea"/>
              </a:rPr>
              <a:t>유효이자는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 채권의 기초장부금액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981,795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과 액면금액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1,000,000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의 차이인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18,205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에 </a:t>
            </a:r>
            <a:r>
              <a:rPr lang="ko-KR" altLang="en-US" sz="1500" kern="0" spc="-30" dirty="0" err="1">
                <a:solidFill>
                  <a:srgbClr val="000000"/>
                </a:solidFill>
                <a:latin typeface="+mj-ea"/>
                <a:ea typeface="+mj-ea"/>
              </a:rPr>
              <a:t>현금이자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80,000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을 더한 금액인 ￦</a:t>
            </a: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98,205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이며</a:t>
            </a: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￦</a:t>
            </a: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18,205</a:t>
            </a:r>
            <a:r>
              <a:rPr lang="ko-KR" altLang="en-US" sz="1500" kern="0" spc="-30" dirty="0">
                <a:solidFill>
                  <a:srgbClr val="000000"/>
                </a:solidFill>
                <a:latin typeface="+mj-ea"/>
                <a:ea typeface="+mj-ea"/>
              </a:rPr>
              <a:t>만큼 채권의 장부금액에 가산함</a:t>
            </a:r>
            <a:r>
              <a:rPr lang="en-US" altLang="ko-KR" sz="1500" kern="0" spc="-30" dirty="0">
                <a:solidFill>
                  <a:srgbClr val="000000"/>
                </a:solidFill>
                <a:latin typeface="+mj-ea"/>
                <a:ea typeface="+mj-ea"/>
              </a:rPr>
              <a:t>.</a:t>
            </a:r>
            <a:endParaRPr lang="ko-KR" altLang="en-US" sz="1500" kern="0" spc="-3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314069" y="2797587"/>
            <a:ext cx="7318157" cy="6198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현      금	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80,000	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이자수익	   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98,205</a:t>
            </a: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       AC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	     18,205</a:t>
            </a:r>
            <a:r>
              <a:rPr lang="en-US" altLang="ko-KR" sz="1200" b="1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endParaRPr lang="ko-KR" altLang="en-US" sz="12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65674" y="3689148"/>
            <a:ext cx="8097301" cy="619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500" dirty="0">
                <a:latin typeface="+mj-ea"/>
                <a:ea typeface="+mj-ea"/>
              </a:rPr>
              <a:t>만기일에는 채권의 장부금액 </a:t>
            </a:r>
            <a:r>
              <a:rPr lang="en-US" altLang="ko-KR" sz="1500" dirty="0">
                <a:latin typeface="+mj-ea"/>
                <a:ea typeface="+mj-ea"/>
              </a:rPr>
              <a:t>= </a:t>
            </a:r>
            <a:r>
              <a:rPr lang="ko-KR" altLang="en-US" sz="1500" dirty="0">
                <a:latin typeface="+mj-ea"/>
                <a:ea typeface="+mj-ea"/>
              </a:rPr>
              <a:t> 액면금액 ￦</a:t>
            </a:r>
            <a:r>
              <a:rPr lang="en-US" altLang="ko-KR" sz="1500" dirty="0">
                <a:latin typeface="+mj-ea"/>
                <a:ea typeface="+mj-ea"/>
              </a:rPr>
              <a:t>1,000,000. </a:t>
            </a:r>
            <a:r>
              <a:rPr lang="ko-KR" altLang="en-US" sz="1500" dirty="0">
                <a:latin typeface="+mj-ea"/>
                <a:ea typeface="+mj-ea"/>
              </a:rPr>
              <a:t>만기일에 </a:t>
            </a:r>
            <a:r>
              <a:rPr lang="ko-KR" altLang="en-US" sz="1500" dirty="0" err="1">
                <a:latin typeface="+mj-ea"/>
                <a:ea typeface="+mj-ea"/>
              </a:rPr>
              <a:t>액면금액을</a:t>
            </a:r>
            <a:r>
              <a:rPr lang="ko-KR" altLang="en-US" sz="1500" dirty="0">
                <a:latin typeface="+mj-ea"/>
                <a:ea typeface="+mj-ea"/>
              </a:rPr>
              <a:t> </a:t>
            </a:r>
            <a:r>
              <a:rPr lang="ko-KR" altLang="en-US" sz="1500" dirty="0" err="1">
                <a:latin typeface="+mj-ea"/>
                <a:ea typeface="+mj-ea"/>
              </a:rPr>
              <a:t>상환받으면</a:t>
            </a:r>
            <a:r>
              <a:rPr lang="ko-KR" altLang="en-US" sz="1500" dirty="0">
                <a:latin typeface="+mj-ea"/>
                <a:ea typeface="+mj-ea"/>
              </a:rPr>
              <a:t> 다음과 같이 </a:t>
            </a:r>
            <a:r>
              <a:rPr lang="en-US" altLang="ko-KR" sz="1500" dirty="0">
                <a:latin typeface="+mj-ea"/>
                <a:ea typeface="+mj-ea"/>
              </a:rPr>
              <a:t>AC</a:t>
            </a:r>
            <a:r>
              <a:rPr lang="ko-KR" altLang="en-US" sz="1500" dirty="0">
                <a:latin typeface="+mj-ea"/>
                <a:ea typeface="+mj-ea"/>
              </a:rPr>
              <a:t>금융자산을 장부에서 제거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383321" y="4478156"/>
            <a:ext cx="7179654" cy="35740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현      금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1,000,000	       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AC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	   1,000,000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818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57473" y="1225234"/>
            <a:ext cx="8671724" cy="3290582"/>
            <a:chOff x="257473" y="2835839"/>
            <a:chExt cx="8671724" cy="2478775"/>
          </a:xfrm>
        </p:grpSpPr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287828" y="3221427"/>
              <a:ext cx="8641369" cy="209318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FVOCI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금융자산은 계약상 정해진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이자와 원금을 수취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하는 것은 물론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경우에 따라서는 특정시점에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금융자산을 매도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하려는 목적으로 보유하는 금융자산임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일반 기업이 채권에 투자하여 일정기간 동안 이자를 수취하다가 만기 이전에 시장에서 매도하여 현금화하기 위해 보유하는 경우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FVOCI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금융자산을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최초로 인식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할 때에는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공정가치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로 측정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57473" y="2835839"/>
              <a:ext cx="7492624" cy="347320"/>
              <a:chOff x="257473" y="1451539"/>
              <a:chExt cx="7492624" cy="347320"/>
            </a:xfrm>
          </p:grpSpPr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440748" y="1475009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</a:rPr>
                  <a:t>기타포괄손익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-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공정가치측정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(FVOCI)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취득</a:t>
                </a: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102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36138" y="1206278"/>
            <a:ext cx="8671724" cy="4372420"/>
            <a:chOff x="257473" y="2835839"/>
            <a:chExt cx="8671724" cy="2739766"/>
          </a:xfrm>
        </p:grpSpPr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287828" y="3138513"/>
              <a:ext cx="8641369" cy="243709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FVOCI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금융자산은 회계연도말에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공정가치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로 평가하되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그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평가손익을 포괄손익계산서상의 기타포괄손익 항목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인식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 </a:t>
              </a:r>
            </a:p>
            <a:p>
              <a:pPr marL="468000" indent="-216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∵ 해당 금융자산 보유 목적상 단기간 보유할 것이 아니므로 공정가치의 변동을 매 회계기간의 당기손익에 반영할 실익이 별로 없기 때문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FVOCI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금융자산으로 분류한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채권의 평가</a:t>
              </a:r>
            </a:p>
            <a:p>
              <a:pPr lvl="1" latinLnBrk="0">
                <a:lnSpc>
                  <a:spcPts val="2400"/>
                </a:lnSpc>
                <a:spcBef>
                  <a:spcPct val="0"/>
                </a:spcBef>
                <a:buClr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(1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단계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유효이자율법을 적용하여 채권의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상각후원가계산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vl="1" latinLnBrk="0">
                <a:lnSpc>
                  <a:spcPts val="2400"/>
                </a:lnSpc>
                <a:spcBef>
                  <a:spcPct val="0"/>
                </a:spcBef>
                <a:buClrTx/>
                <a:buNone/>
              </a:pPr>
              <a:r>
                <a:rPr lang="en-US" altLang="ko-KR" sz="1600" b="1" dirty="0">
                  <a:latin typeface="맑은 고딕" panose="020B0503020000020004" pitchFamily="50" charset="-127"/>
                </a:rPr>
                <a:t>(2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단계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공정가치와 상각후원가를 비교하여 평가손익 계산 </a:t>
              </a:r>
              <a:r>
                <a:rPr lang="en-US" altLang="ko-KR" sz="1600" b="1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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기타포괄손익으로 분류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lvl="1" latinLnBrk="0">
                <a:lnSpc>
                  <a:spcPts val="2400"/>
                </a:lnSpc>
                <a:spcBef>
                  <a:spcPct val="0"/>
                </a:spcBef>
                <a:buClrTx/>
                <a:buNone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FVOCI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금융자산으로 분류한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주식의 평가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공정가치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(=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기말시점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주식의 시장가격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와 장부금액을 비교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 </a:t>
              </a:r>
              <a:r>
                <a:rPr lang="ko-KR" altLang="en-US" sz="16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평가손익을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기타포괄손익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에 포함</a:t>
              </a: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257473" y="2835839"/>
              <a:ext cx="7520829" cy="372123"/>
              <a:chOff x="257473" y="1451539"/>
              <a:chExt cx="7520829" cy="372123"/>
            </a:xfrm>
          </p:grpSpPr>
          <p:sp>
            <p:nvSpPr>
              <p:cNvPr id="21" name="Rectangle 14"/>
              <p:cNvSpPr>
                <a:spLocks noChangeArrowheads="1"/>
              </p:cNvSpPr>
              <p:nvPr/>
            </p:nvSpPr>
            <p:spPr bwMode="auto">
              <a:xfrm>
                <a:off x="468953" y="1499812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</a:rPr>
                  <a:t>기타포괄손익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-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공정가치측정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(FVOCI)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평가</a:t>
                </a: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2888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57473" y="1250404"/>
            <a:ext cx="8671724" cy="4115175"/>
            <a:chOff x="257473" y="2931955"/>
            <a:chExt cx="8671724" cy="3460442"/>
          </a:xfrm>
        </p:grpSpPr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287828" y="3367595"/>
              <a:ext cx="8641369" cy="302480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42900" indent="-3429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+mj-lt"/>
                <a:buAutoNum type="arabicPeriod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먼저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금융자산을 공정가치로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재측정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하여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평가손익을 기타포괄손익으로 인식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한 뒤 처분 회계처리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42900" indent="-3429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+mj-lt"/>
                <a:buAutoNum type="arabicPeriod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이때 처분시점까지의 누적적으로 인식한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평가손익누계액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있다면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미실현손익이 관련자산의 처분으로 실현되었으므로 아래와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같이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조정함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800100" lvl="1" indent="-342900" latinLnBrk="0">
                <a:lnSpc>
                  <a:spcPts val="2400"/>
                </a:lnSpc>
                <a:spcBef>
                  <a:spcPct val="0"/>
                </a:spcBef>
                <a:buClrTx/>
                <a:buFont typeface="+mj-ea"/>
                <a:buAutoNum type="circleNumDbPlain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채권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기타포괄손익으로 인식한 평가손익 누계액을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당기손익으로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인식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재분류조정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또는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재순환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이라고 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 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800100" lvl="1" indent="-342900" latinLnBrk="0">
                <a:lnSpc>
                  <a:spcPts val="2400"/>
                </a:lnSpc>
                <a:spcBef>
                  <a:spcPct val="0"/>
                </a:spcBef>
                <a:buClrTx/>
                <a:buFont typeface="+mj-ea"/>
                <a:buAutoNum type="circleNumDbPlain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주식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위와 같은 재분류조정이 허용되지 않으며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즉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처분손이을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당기손익으로 인식불가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남아있는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기타포괄손익누계액을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보통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이익잉여금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대체함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자본내에서 이전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57050" indent="-144000" latinLnBrk="0">
                <a:lnSpc>
                  <a:spcPts val="2400"/>
                </a:lnSpc>
                <a:spcBef>
                  <a:spcPct val="0"/>
                </a:spcBef>
                <a:buClrTx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FVOCI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금융자산으로 지정한 주식으로부터 배당금을 수취하면 배당금수익으로 기록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endParaRPr lang="en-US" altLang="ko-KR" sz="1500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57473" y="2931955"/>
              <a:ext cx="7492624" cy="344505"/>
              <a:chOff x="257473" y="1547655"/>
              <a:chExt cx="7492624" cy="344505"/>
            </a:xfrm>
          </p:grpSpPr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440748" y="1568310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</a:rPr>
                  <a:t>기타포괄손익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-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공정가치측정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(FVOCI)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처분</a:t>
                </a: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257473" y="1547655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2677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719729"/>
              </p:ext>
            </p:extLst>
          </p:nvPr>
        </p:nvGraphicFramePr>
        <p:xfrm>
          <a:off x="228600" y="1479191"/>
          <a:ext cx="8686800" cy="4471799"/>
        </p:xfrm>
        <a:graphic>
          <a:graphicData uri="http://schemas.openxmlformats.org/drawingml/2006/table">
            <a:tbl>
              <a:tblPr firstCol="1">
                <a:tableStyleId>{B301B821-A1FF-4177-AEE7-76D212191A09}</a:tableStyleId>
              </a:tblPr>
              <a:tblGrid>
                <a:gridCol w="1486092">
                  <a:extLst>
                    <a:ext uri="{9D8B030D-6E8A-4147-A177-3AD203B41FA5}">
                      <a16:colId xmlns:a16="http://schemas.microsoft.com/office/drawing/2014/main" val="789206887"/>
                    </a:ext>
                  </a:extLst>
                </a:gridCol>
                <a:gridCol w="7200708">
                  <a:extLst>
                    <a:ext uri="{9D8B030D-6E8A-4147-A177-3AD203B41FA5}">
                      <a16:colId xmlns:a16="http://schemas.microsoft.com/office/drawing/2014/main" val="1214314854"/>
                    </a:ext>
                  </a:extLst>
                </a:gridCol>
              </a:tblGrid>
              <a:tr h="4642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취득시</a:t>
                      </a:r>
                      <a:endParaRPr lang="en-US" altLang="ko-KR" sz="12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2018" marR="12018" marT="12018" marB="12018" anchor="ctr"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                  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r>
                        <a:rPr lang="en-US" altLang="ko-KR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현  금	                   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18" marR="12018" marT="12018" marB="1201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84550611"/>
                  </a:ext>
                </a:extLst>
              </a:tr>
              <a:tr h="9044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결산시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18" marR="12018" marT="12018" marB="12018" anchor="ctr"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공정가치와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장부금액의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차액을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FVOCI 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금융자산평가손익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기타포괄손익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으로 처리</a:t>
                      </a:r>
                    </a:p>
                    <a:p>
                      <a:pPr marL="38100" marR="381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 	          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r>
                        <a:rPr lang="ko-KR" altLang="en-US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금융자산평가이익</a:t>
                      </a:r>
                      <a:r>
                        <a:rPr lang="ko-KR" altLang="en-US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금융자산평가손실	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r>
                        <a:rPr lang="en-US" altLang="ko-KR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               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18" marR="12018" marT="12018" marB="1201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77348656"/>
                  </a:ext>
                </a:extLst>
              </a:tr>
              <a:tr h="3174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배당금 수령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주식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18" marR="12018" marT="12018" marB="12018" anchor="ctr"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현 금	                          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r>
                        <a:rPr lang="en-US" altLang="ko-KR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  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배당금수익                       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18" marR="12018" marT="12018" marB="1201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4064588"/>
                  </a:ext>
                </a:extLst>
              </a:tr>
              <a:tr h="26651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처분시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18" marR="12018" marT="12018" marB="12018" anchor="ctr"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74650" marR="38100" indent="-168910" algn="l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2208530" algn="r"/>
                          <a:tab pos="2307590" algn="l"/>
                          <a:tab pos="4371340" algn="r"/>
                        </a:tabLs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① </a:t>
                      </a: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</a:rPr>
                        <a:t>장부금액의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 측정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： 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금융자산을 </a:t>
                      </a: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</a:rPr>
                        <a:t>재측정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하여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장부금액을 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처분시점의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공정가치로 조정하고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장부금액과 공정가치의 차액은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평가손익으로 인식</a:t>
                      </a:r>
                      <a:endParaRPr lang="en-US" altLang="ko-KR" sz="120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74650" marR="38100" indent="-168910" algn="l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2208530" algn="r"/>
                          <a:tab pos="2307590" algn="l"/>
                          <a:tab pos="4371340" algn="r"/>
                        </a:tabLs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	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r>
                        <a:rPr lang="ko-KR" altLang="en-US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     </a:t>
                      </a:r>
                      <a:endParaRPr lang="en-US" altLang="ko-KR" sz="1200" kern="0" spc="-30" baseline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495300" marR="38100" lvl="1" indent="0" algn="l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</a:pPr>
                      <a:r>
                        <a:rPr lang="en-US" altLang="ko-KR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금융자산평가이익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기타포괄손익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	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endParaRPr lang="en-US" altLang="ko-KR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74650" marR="38100" indent="-168910" algn="l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2208530" algn="r"/>
                          <a:tab pos="2307590" algn="l"/>
                          <a:tab pos="4371340" algn="r"/>
                        </a:tabLs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② </a:t>
                      </a: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</a:rPr>
                        <a:t>처분거래의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 기록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： 공정가치로 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재측정된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금융자산의 장부금액을 제거하고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거래비용으로 인해 수취한 현금과 공정가치의 차이는 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처분손익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으로 인식</a:t>
                      </a:r>
                    </a:p>
                    <a:p>
                      <a:pPr marL="495300" marR="38100" lvl="1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  <a:defRPr/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현 금 	               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         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금융자산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	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 </a:t>
                      </a:r>
                    </a:p>
                    <a:p>
                      <a:pPr marL="495300" marR="38100" lvl="1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  <a:defRPr/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        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처분손실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당기손익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b="1" kern="0" spc="-30" baseline="30000" dirty="0">
                          <a:solidFill>
                            <a:srgbClr val="000000"/>
                          </a:solidFill>
                          <a:effectLst/>
                        </a:rPr>
                        <a:t> *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   ×××                 </a:t>
                      </a:r>
                    </a:p>
                    <a:p>
                      <a:pPr marL="374400" marR="38100" lvl="0" indent="-16920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  <a:defRPr/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③ </a:t>
                      </a: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</a:rPr>
                        <a:t>재분류조정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</a:rPr>
                        <a:t>**： </a:t>
                      </a:r>
                      <a:r>
                        <a:rPr lang="ko-KR" altLang="en-US" sz="1200" b="0" kern="0" spc="-30" dirty="0">
                          <a:solidFill>
                            <a:srgbClr val="000000"/>
                          </a:solidFill>
                          <a:effectLst/>
                        </a:rPr>
                        <a:t>제거된 금융자산에 해당되는 </a:t>
                      </a:r>
                      <a:r>
                        <a:rPr lang="en-US" altLang="ko-KR" sz="1200" b="0" kern="0" spc="-30" dirty="0">
                          <a:solidFill>
                            <a:srgbClr val="000000"/>
                          </a:solidFill>
                          <a:effectLst/>
                        </a:rPr>
                        <a:t>FVOCI </a:t>
                      </a:r>
                      <a:r>
                        <a:rPr lang="ko-KR" altLang="en-US" sz="1200" b="0" kern="0" spc="-30" dirty="0">
                          <a:solidFill>
                            <a:srgbClr val="000000"/>
                          </a:solidFill>
                          <a:effectLst/>
                        </a:rPr>
                        <a:t>평가손익</a:t>
                      </a:r>
                      <a:r>
                        <a:rPr lang="en-US" altLang="ko-KR" sz="1200" b="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0" kern="0" spc="-30" dirty="0">
                          <a:solidFill>
                            <a:srgbClr val="000000"/>
                          </a:solidFill>
                          <a:effectLst/>
                        </a:rPr>
                        <a:t>기타포괄손익</a:t>
                      </a:r>
                      <a:r>
                        <a:rPr lang="en-US" altLang="ko-KR" sz="1200" b="0" kern="0" spc="-3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b="0" kern="0" spc="-30" dirty="0">
                          <a:solidFill>
                            <a:srgbClr val="000000"/>
                          </a:solidFill>
                          <a:effectLst/>
                        </a:rPr>
                        <a:t>은 당기손익으로 </a:t>
                      </a:r>
                      <a:r>
                        <a:rPr lang="ko-KR" altLang="en-US" sz="1200" b="0" kern="0" spc="-30" dirty="0" err="1">
                          <a:solidFill>
                            <a:srgbClr val="000000"/>
                          </a:solidFill>
                          <a:effectLst/>
                        </a:rPr>
                        <a:t>재분류됨</a:t>
                      </a:r>
                      <a:endParaRPr lang="ko-KR" altLang="en-US" sz="1200" b="0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495300" marR="38100" lvl="1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  <a:tab pos="3027680" algn="r"/>
                        </a:tabLst>
                      </a:pP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FVOCI </a:t>
                      </a:r>
                      <a:r>
                        <a:rPr lang="en-US" altLang="ko-KR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금융자산평가손익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strike="noStrike" kern="0" spc="-30" dirty="0" err="1">
                          <a:solidFill>
                            <a:srgbClr val="000000"/>
                          </a:solidFill>
                          <a:effectLst/>
                        </a:rPr>
                        <a:t>재분류조정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r>
                        <a:rPr lang="ko-KR" altLang="en-US" sz="1200" kern="0" spc="-30" baseline="0" dirty="0">
                          <a:solidFill>
                            <a:srgbClr val="000000"/>
                          </a:solidFill>
                          <a:effectLst/>
                        </a:rPr>
                        <a:t>      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처분이익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30" dirty="0" err="1">
                          <a:solidFill>
                            <a:srgbClr val="000000"/>
                          </a:solidFill>
                          <a:effectLst/>
                        </a:rPr>
                        <a:t>당기손익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	</a:t>
                      </a:r>
                      <a:r>
                        <a:rPr lang="en-US" altLang="ko-KR" sz="1200" kern="0" spc="-30" dirty="0">
                          <a:solidFill>
                            <a:srgbClr val="000000"/>
                          </a:solidFill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2018" marR="12018" marT="12018" marB="1201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6013314"/>
                  </a:ext>
                </a:extLst>
              </a:tr>
            </a:tbl>
          </a:graphicData>
        </a:graphic>
      </p:graphicFrame>
      <p:grpSp>
        <p:nvGrpSpPr>
          <p:cNvPr id="18" name="그룹 17"/>
          <p:cNvGrpSpPr/>
          <p:nvPr/>
        </p:nvGrpSpPr>
        <p:grpSpPr>
          <a:xfrm>
            <a:off x="228563" y="1098302"/>
            <a:ext cx="6687409" cy="338554"/>
            <a:chOff x="1287463" y="4776539"/>
            <a:chExt cx="6687409" cy="338554"/>
          </a:xfrm>
        </p:grpSpPr>
        <p:sp>
          <p:nvSpPr>
            <p:cNvPr id="19" name="오각형 18"/>
            <p:cNvSpPr/>
            <p:nvPr/>
          </p:nvSpPr>
          <p:spPr>
            <a:xfrm>
              <a:off x="128746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77939" y="4776539"/>
              <a:ext cx="60969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/>
                <a:t>기타포괄손익</a:t>
              </a:r>
              <a:r>
                <a:rPr lang="en-US" altLang="ko-KR" sz="1600" b="1" dirty="0"/>
                <a:t>-</a:t>
              </a:r>
              <a:r>
                <a:rPr lang="ko-KR" altLang="en-US" sz="1600" b="1" dirty="0"/>
                <a:t>공정가치측정</a:t>
              </a:r>
              <a:r>
                <a:rPr lang="en-US" altLang="ko-KR" sz="1600" b="1" dirty="0"/>
                <a:t>(FVOCI) </a:t>
              </a:r>
              <a:r>
                <a:rPr lang="ko-KR" altLang="en-US" sz="1600" b="1" dirty="0"/>
                <a:t>금융자산의 회계처리 요약</a:t>
              </a: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0" y="6055209"/>
            <a:ext cx="856297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/>
            <a:r>
              <a:rPr lang="ko-KR" altLang="en-US" sz="1100" dirty="0"/>
              <a:t>   * 채권투자의 경우에만 해당한다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지분투자의</a:t>
            </a:r>
            <a:r>
              <a:rPr lang="ko-KR" altLang="en-US" sz="1100" dirty="0"/>
              <a:t> 경우라면 기타포괄손익으로 분류한다</a:t>
            </a:r>
            <a:r>
              <a:rPr lang="en-US" altLang="ko-KR" sz="1100" dirty="0"/>
              <a:t>.</a:t>
            </a:r>
          </a:p>
          <a:p>
            <a:pPr marL="216000" indent="-216000"/>
            <a:r>
              <a:rPr lang="en-US" altLang="ko-KR" sz="1100" dirty="0"/>
              <a:t> ** </a:t>
            </a:r>
            <a:r>
              <a:rPr lang="ko-KR" altLang="en-US" sz="1100" dirty="0"/>
              <a:t>채권투자의 경우에만 해당한다</a:t>
            </a:r>
            <a:r>
              <a:rPr lang="en-US" altLang="ko-KR" sz="1100" dirty="0"/>
              <a:t>. </a:t>
            </a:r>
            <a:r>
              <a:rPr lang="ko-KR" altLang="en-US" sz="1100" dirty="0" err="1"/>
              <a:t>지분투자의</a:t>
            </a:r>
            <a:r>
              <a:rPr lang="ko-KR" altLang="en-US" sz="1100" dirty="0"/>
              <a:t> 경우라면 </a:t>
            </a:r>
            <a:r>
              <a:rPr lang="ko-KR" altLang="en-US" sz="1100" dirty="0" err="1"/>
              <a:t>당기손익에</a:t>
            </a:r>
            <a:r>
              <a:rPr lang="ko-KR" altLang="en-US" sz="1100" dirty="0"/>
              <a:t> 반영하지 않고</a:t>
            </a:r>
            <a:r>
              <a:rPr lang="en-US" altLang="ko-KR" sz="1100" dirty="0"/>
              <a:t>, </a:t>
            </a:r>
            <a:r>
              <a:rPr lang="ko-KR" altLang="en-US" sz="1100" dirty="0"/>
              <a:t>이익잉여금으로 대체하거나</a:t>
            </a:r>
            <a:r>
              <a:rPr lang="en-US" altLang="ko-KR" sz="1100" dirty="0"/>
              <a:t>(</a:t>
            </a:r>
            <a:r>
              <a:rPr lang="ko-KR" altLang="en-US" sz="1100" dirty="0"/>
              <a:t>본서에서 사용한 방법</a:t>
            </a:r>
            <a:r>
              <a:rPr lang="en-US" altLang="ko-KR" sz="1100" dirty="0"/>
              <a:t>) </a:t>
            </a:r>
            <a:r>
              <a:rPr lang="ko-KR" altLang="en-US" sz="1100" dirty="0"/>
              <a:t>계속 </a:t>
            </a:r>
            <a:r>
              <a:rPr lang="ko-KR" altLang="en-US" sz="1100" dirty="0" err="1"/>
              <a:t>기타포괄손익누계액으로</a:t>
            </a:r>
            <a:r>
              <a:rPr lang="ko-KR" altLang="en-US" sz="1100" dirty="0"/>
              <a:t> 남겨 놓을 수 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8002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15493" y="983521"/>
            <a:ext cx="8786101" cy="5617303"/>
            <a:chOff x="190714" y="1320886"/>
            <a:chExt cx="8786101" cy="5617303"/>
          </a:xfrm>
        </p:grpSpPr>
        <p:grpSp>
          <p:nvGrpSpPr>
            <p:cNvPr id="9" name="그룹 8"/>
            <p:cNvGrpSpPr/>
            <p:nvPr/>
          </p:nvGrpSpPr>
          <p:grpSpPr>
            <a:xfrm>
              <a:off x="361935" y="1461499"/>
              <a:ext cx="8614880" cy="5476690"/>
              <a:chOff x="269048" y="1722741"/>
              <a:chExt cx="8724365" cy="5476690"/>
            </a:xfrm>
          </p:grpSpPr>
          <p:sp>
            <p:nvSpPr>
              <p:cNvPr id="23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724365" cy="5452991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190714" y="1320886"/>
              <a:ext cx="4989852" cy="326952"/>
              <a:chOff x="190714" y="1320889"/>
              <a:chExt cx="4268441" cy="290354"/>
            </a:xfrm>
            <a:solidFill>
              <a:srgbClr val="2D61C8"/>
            </a:solidFill>
          </p:grpSpPr>
          <p:grpSp>
            <p:nvGrpSpPr>
              <p:cNvPr id="11" name="그룹 10"/>
              <p:cNvGrpSpPr/>
              <p:nvPr/>
            </p:nvGrpSpPr>
            <p:grpSpPr>
              <a:xfrm>
                <a:off x="190714" y="1320889"/>
                <a:ext cx="4268441" cy="290354"/>
                <a:chOff x="405822" y="2237753"/>
                <a:chExt cx="4268441" cy="290354"/>
              </a:xfrm>
              <a:grpFill/>
            </p:grpSpPr>
            <p:sp>
              <p:nvSpPr>
                <p:cNvPr id="19" name="타원 18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타원 19"/>
                <p:cNvSpPr/>
                <p:nvPr/>
              </p:nvSpPr>
              <p:spPr>
                <a:xfrm>
                  <a:off x="438391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직사각형 20"/>
                <p:cNvSpPr/>
                <p:nvPr/>
              </p:nvSpPr>
              <p:spPr>
                <a:xfrm>
                  <a:off x="542510" y="2237755"/>
                  <a:ext cx="399506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9-2 FVOCI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지분투자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1600" b="1" dirty="0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8" name="그림 17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3" name="직사각형 2"/>
          <p:cNvSpPr/>
          <p:nvPr/>
        </p:nvSpPr>
        <p:spPr>
          <a:xfrm>
            <a:off x="370815" y="1405610"/>
            <a:ext cx="8446678" cy="14570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500" b="1" dirty="0"/>
              <a:t>(</a:t>
            </a:r>
            <a:r>
              <a:rPr lang="ko-KR" altLang="en-US" sz="1500" b="1" dirty="0"/>
              <a:t>주</a:t>
            </a:r>
            <a:r>
              <a:rPr lang="en-US" altLang="ko-KR" sz="1500" b="1" dirty="0"/>
              <a:t>)</a:t>
            </a:r>
            <a:r>
              <a:rPr lang="ko-KR" altLang="en-US" sz="1500" b="1" dirty="0"/>
              <a:t>한국투자증권은 </a:t>
            </a:r>
            <a:r>
              <a:rPr lang="en-US" altLang="ko-KR" sz="1500" b="1" dirty="0"/>
              <a:t>20×1</a:t>
            </a:r>
            <a:r>
              <a:rPr lang="ko-KR" altLang="en-US" sz="1500" b="1" dirty="0"/>
              <a:t>년 </a:t>
            </a:r>
            <a:r>
              <a:rPr lang="en-US" altLang="ko-KR" sz="1500" b="1" dirty="0"/>
              <a:t>12</a:t>
            </a:r>
            <a:r>
              <a:rPr lang="ko-KR" altLang="en-US" sz="1500" b="1" dirty="0"/>
              <a:t>월 </a:t>
            </a:r>
            <a:r>
              <a:rPr lang="en-US" altLang="ko-KR" sz="1500" b="1" dirty="0"/>
              <a:t>20</a:t>
            </a:r>
            <a:r>
              <a:rPr lang="ko-KR" altLang="en-US" sz="1500" b="1" dirty="0"/>
              <a:t>일에 ㈜</a:t>
            </a:r>
            <a:r>
              <a:rPr lang="ko-KR" altLang="en-US" sz="1500" b="1" dirty="0" err="1"/>
              <a:t>에듀윌의</a:t>
            </a:r>
            <a:r>
              <a:rPr lang="ko-KR" altLang="en-US" sz="1500" b="1" dirty="0"/>
              <a:t> 주식을 취득하고 현금을 지급하였다</a:t>
            </a:r>
            <a:r>
              <a:rPr lang="en-US" altLang="ko-KR" sz="1500" b="1" dirty="0"/>
              <a:t>. </a:t>
            </a:r>
            <a:r>
              <a:rPr lang="ko-KR" altLang="en-US" sz="1500" b="1" dirty="0"/>
              <a:t>㈜한국투자증권은 이 주식을 장기간 보유하다가 매각하여 차액을 얻고자 한다</a:t>
            </a:r>
            <a:r>
              <a:rPr lang="en-US" altLang="ko-KR" sz="1500" b="1" dirty="0"/>
              <a:t>. </a:t>
            </a:r>
            <a:r>
              <a:rPr lang="ko-KR" altLang="en-US" sz="1500" b="1" dirty="0"/>
              <a:t>㈜한국투자증권은 이 주식을 취득하고 최초에 인식할 때 </a:t>
            </a:r>
            <a:r>
              <a:rPr lang="en-US" altLang="ko-KR" sz="1500" b="1" dirty="0"/>
              <a:t>FVOCI </a:t>
            </a:r>
            <a:r>
              <a:rPr lang="ko-KR" altLang="en-US" sz="1500" b="1" dirty="0"/>
              <a:t>금융자산으로 지정하고 공정가치의 </a:t>
            </a:r>
            <a:r>
              <a:rPr lang="ko-KR" altLang="en-US" sz="1500" b="1" dirty="0" err="1"/>
              <a:t>변동분을</a:t>
            </a:r>
            <a:r>
              <a:rPr lang="ko-KR" altLang="en-US" sz="1500" b="1" dirty="0"/>
              <a:t> 기타포괄손익으로 반영하기로 하였으며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처분된 금융자산의 </a:t>
            </a:r>
            <a:r>
              <a:rPr lang="ko-KR" altLang="en-US" sz="1500" b="1" dirty="0" err="1"/>
              <a:t>기타포괄손익누계액은</a:t>
            </a:r>
            <a:r>
              <a:rPr lang="ko-KR" altLang="en-US" sz="1500" b="1" dirty="0"/>
              <a:t> 자본 내의 이익잉여금으로 대체하기로 하였다</a:t>
            </a:r>
            <a:r>
              <a:rPr lang="en-US" altLang="ko-KR" sz="1500" b="1" dirty="0"/>
              <a:t>. </a:t>
            </a:r>
            <a:r>
              <a:rPr lang="ko-KR" altLang="en-US" sz="1500" b="1" dirty="0"/>
              <a:t>㈜한국투자증권은 동 주식을 </a:t>
            </a:r>
            <a:r>
              <a:rPr lang="en-US" altLang="ko-KR" sz="1500" b="1" dirty="0"/>
              <a:t>20×3</a:t>
            </a:r>
            <a:r>
              <a:rPr lang="ko-KR" altLang="en-US" sz="1500" b="1" dirty="0"/>
              <a:t>년 </a:t>
            </a:r>
            <a:r>
              <a:rPr lang="en-US" altLang="ko-KR" sz="1500" b="1" dirty="0"/>
              <a:t>1</a:t>
            </a:r>
            <a:r>
              <a:rPr lang="ko-KR" altLang="en-US" sz="1500" b="1" dirty="0"/>
              <a:t>월 </a:t>
            </a:r>
            <a:r>
              <a:rPr lang="en-US" altLang="ko-KR" sz="1500" b="1" dirty="0"/>
              <a:t>1</a:t>
            </a:r>
            <a:r>
              <a:rPr lang="ko-KR" altLang="en-US" sz="1500" b="1" dirty="0"/>
              <a:t>일에 처분하였다</a:t>
            </a:r>
            <a:r>
              <a:rPr lang="en-US" altLang="ko-KR" sz="1500" b="1" dirty="0"/>
              <a:t>.</a:t>
            </a:r>
            <a:endParaRPr lang="ko-KR" altLang="en-US" sz="1500" b="1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179857"/>
              </p:ext>
            </p:extLst>
          </p:nvPr>
        </p:nvGraphicFramePr>
        <p:xfrm>
          <a:off x="454917" y="3069162"/>
          <a:ext cx="8121516" cy="1270762"/>
        </p:xfrm>
        <a:graphic>
          <a:graphicData uri="http://schemas.openxmlformats.org/drawingml/2006/table">
            <a:tbl>
              <a:tblPr/>
              <a:tblGrid>
                <a:gridCol w="1290146">
                  <a:extLst>
                    <a:ext uri="{9D8B030D-6E8A-4147-A177-3AD203B41FA5}">
                      <a16:colId xmlns:a16="http://schemas.microsoft.com/office/drawing/2014/main" val="1997836215"/>
                    </a:ext>
                  </a:extLst>
                </a:gridCol>
                <a:gridCol w="1735636">
                  <a:extLst>
                    <a:ext uri="{9D8B030D-6E8A-4147-A177-3AD203B41FA5}">
                      <a16:colId xmlns:a16="http://schemas.microsoft.com/office/drawing/2014/main" val="3107234471"/>
                    </a:ext>
                  </a:extLst>
                </a:gridCol>
                <a:gridCol w="1735636">
                  <a:extLst>
                    <a:ext uri="{9D8B030D-6E8A-4147-A177-3AD203B41FA5}">
                      <a16:colId xmlns:a16="http://schemas.microsoft.com/office/drawing/2014/main" val="2581799258"/>
                    </a:ext>
                  </a:extLst>
                </a:gridCol>
                <a:gridCol w="1736425">
                  <a:extLst>
                    <a:ext uri="{9D8B030D-6E8A-4147-A177-3AD203B41FA5}">
                      <a16:colId xmlns:a16="http://schemas.microsoft.com/office/drawing/2014/main" val="1828501035"/>
                    </a:ext>
                  </a:extLst>
                </a:gridCol>
                <a:gridCol w="1623673">
                  <a:extLst>
                    <a:ext uri="{9D8B030D-6E8A-4147-A177-3AD203B41FA5}">
                      <a16:colId xmlns:a16="http://schemas.microsoft.com/office/drawing/2014/main" val="356902665"/>
                    </a:ext>
                  </a:extLst>
                </a:gridCol>
              </a:tblGrid>
              <a:tr h="4557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취득원가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공정가치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공정가치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처분가격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(20×3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752730"/>
                  </a:ext>
                </a:extLst>
              </a:tr>
              <a:tr h="5195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에듀윌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주식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5,000,000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5,600,000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5,200,000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5,200,000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392579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413832" y="4614348"/>
            <a:ext cx="623992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 dirty="0"/>
              <a:t>① </a:t>
            </a:r>
            <a:r>
              <a:rPr lang="en-US" altLang="ko-KR" sz="1500" b="1" dirty="0"/>
              <a:t>20×1</a:t>
            </a:r>
            <a:r>
              <a:rPr lang="ko-KR" altLang="en-US" sz="1500" b="1" dirty="0"/>
              <a:t>년 </a:t>
            </a:r>
            <a:r>
              <a:rPr lang="en-US" altLang="ko-KR" sz="1500" b="1" dirty="0"/>
              <a:t>12</a:t>
            </a:r>
            <a:r>
              <a:rPr lang="ko-KR" altLang="en-US" sz="1500" b="1" dirty="0"/>
              <a:t>월 </a:t>
            </a:r>
            <a:r>
              <a:rPr lang="en-US" altLang="ko-KR" sz="1500" b="1" dirty="0"/>
              <a:t>20</a:t>
            </a:r>
            <a:r>
              <a:rPr lang="ko-KR" altLang="en-US" sz="1500" b="1" dirty="0"/>
              <a:t>일</a:t>
            </a:r>
            <a:r>
              <a:rPr lang="ko-KR" altLang="en-US" sz="1500" dirty="0"/>
              <a:t>：</a:t>
            </a:r>
            <a:r>
              <a:rPr lang="en-US" altLang="ko-KR" sz="1500" dirty="0"/>
              <a:t>FVOCI</a:t>
            </a:r>
            <a:r>
              <a:rPr lang="ko-KR" altLang="en-US" sz="1500" dirty="0"/>
              <a:t>금융자산 취득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208125" y="5031961"/>
            <a:ext cx="6259475" cy="58831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FVOCI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 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5,000,000     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현      금	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5,000,000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6287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13151" y="980780"/>
            <a:ext cx="8786101" cy="5235349"/>
            <a:chOff x="190714" y="1320880"/>
            <a:chExt cx="8786101" cy="5235349"/>
          </a:xfrm>
        </p:grpSpPr>
        <p:grpSp>
          <p:nvGrpSpPr>
            <p:cNvPr id="9" name="그룹 8"/>
            <p:cNvGrpSpPr/>
            <p:nvPr/>
          </p:nvGrpSpPr>
          <p:grpSpPr>
            <a:xfrm>
              <a:off x="361935" y="1461499"/>
              <a:ext cx="8614880" cy="5094730"/>
              <a:chOff x="269048" y="1722741"/>
              <a:chExt cx="8724365" cy="5094730"/>
            </a:xfrm>
          </p:grpSpPr>
          <p:sp>
            <p:nvSpPr>
              <p:cNvPr id="23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724365" cy="507103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190714" y="1320880"/>
              <a:ext cx="5769170" cy="326954"/>
              <a:chOff x="190714" y="1320889"/>
              <a:chExt cx="4935091" cy="290356"/>
            </a:xfrm>
            <a:solidFill>
              <a:srgbClr val="2D61C8"/>
            </a:solidFill>
          </p:grpSpPr>
          <p:grpSp>
            <p:nvGrpSpPr>
              <p:cNvPr id="11" name="그룹 10"/>
              <p:cNvGrpSpPr/>
              <p:nvPr/>
            </p:nvGrpSpPr>
            <p:grpSpPr>
              <a:xfrm>
                <a:off x="190714" y="1320889"/>
                <a:ext cx="4935091" cy="290356"/>
                <a:chOff x="405822" y="2237753"/>
                <a:chExt cx="4935091" cy="290356"/>
              </a:xfrm>
              <a:grpFill/>
            </p:grpSpPr>
            <p:sp>
              <p:nvSpPr>
                <p:cNvPr id="19" name="타원 18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타원 19"/>
                <p:cNvSpPr/>
                <p:nvPr/>
              </p:nvSpPr>
              <p:spPr>
                <a:xfrm>
                  <a:off x="505056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직사각형 20"/>
                <p:cNvSpPr/>
                <p:nvPr/>
              </p:nvSpPr>
              <p:spPr>
                <a:xfrm>
                  <a:off x="542510" y="2237757"/>
                  <a:ext cx="4638138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9-2 FVOCI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지분투자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1600" b="1" dirty="0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8" name="그림 17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4" name="직사각형 3"/>
          <p:cNvSpPr/>
          <p:nvPr/>
        </p:nvSpPr>
        <p:spPr>
          <a:xfrm>
            <a:off x="316894" y="1509860"/>
            <a:ext cx="837861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 dirty="0">
                <a:latin typeface="+mj-ea"/>
                <a:ea typeface="+mj-ea"/>
              </a:rPr>
              <a:t>② </a:t>
            </a:r>
            <a:r>
              <a:rPr lang="en-US" altLang="ko-KR" sz="1500" b="1" dirty="0">
                <a:latin typeface="+mj-ea"/>
                <a:ea typeface="+mj-ea"/>
              </a:rPr>
              <a:t>20×1</a:t>
            </a:r>
            <a:r>
              <a:rPr lang="ko-KR" altLang="en-US" sz="1500" b="1" dirty="0">
                <a:latin typeface="+mj-ea"/>
                <a:ea typeface="+mj-ea"/>
              </a:rPr>
              <a:t>년 </a:t>
            </a:r>
            <a:r>
              <a:rPr lang="en-US" altLang="ko-KR" sz="1500" b="1" dirty="0">
                <a:latin typeface="+mj-ea"/>
                <a:ea typeface="+mj-ea"/>
              </a:rPr>
              <a:t>12</a:t>
            </a:r>
            <a:r>
              <a:rPr lang="ko-KR" altLang="en-US" sz="1500" b="1" dirty="0">
                <a:latin typeface="+mj-ea"/>
                <a:ea typeface="+mj-ea"/>
              </a:rPr>
              <a:t>월 </a:t>
            </a:r>
            <a:r>
              <a:rPr lang="en-US" altLang="ko-KR" sz="1500" b="1" dirty="0">
                <a:latin typeface="+mj-ea"/>
                <a:ea typeface="+mj-ea"/>
              </a:rPr>
              <a:t>31</a:t>
            </a:r>
            <a:r>
              <a:rPr lang="ko-KR" altLang="en-US" sz="1500" b="1" dirty="0">
                <a:latin typeface="+mj-ea"/>
                <a:ea typeface="+mj-ea"/>
              </a:rPr>
              <a:t>일</a:t>
            </a:r>
            <a:r>
              <a:rPr lang="ko-KR" altLang="en-US" sz="1500" dirty="0">
                <a:latin typeface="+mj-ea"/>
                <a:ea typeface="+mj-ea"/>
              </a:rPr>
              <a:t>：</a:t>
            </a:r>
            <a:r>
              <a:rPr lang="en-US" altLang="ko-KR" sz="1500" dirty="0">
                <a:latin typeface="+mj-ea"/>
                <a:ea typeface="+mj-ea"/>
              </a:rPr>
              <a:t>FVOCI </a:t>
            </a:r>
            <a:r>
              <a:rPr lang="ko-KR" altLang="en-US" sz="1500" dirty="0">
                <a:latin typeface="+mj-ea"/>
                <a:ea typeface="+mj-ea"/>
              </a:rPr>
              <a:t>금융자산 기말평가</a:t>
            </a:r>
            <a:endParaRPr lang="en-US" altLang="ko-KR" sz="1500" dirty="0">
              <a:latin typeface="+mj-ea"/>
              <a:ea typeface="+mj-ea"/>
            </a:endParaRPr>
          </a:p>
          <a:p>
            <a:endParaRPr lang="en-US" altLang="ko-KR" sz="1500" dirty="0">
              <a:latin typeface="+mj-ea"/>
              <a:ea typeface="+mj-ea"/>
            </a:endParaRPr>
          </a:p>
          <a:p>
            <a:r>
              <a:rPr lang="ko-KR" altLang="en-US" sz="1500" dirty="0">
                <a:latin typeface="+mj-ea"/>
                <a:ea typeface="+mj-ea"/>
              </a:rPr>
              <a:t>평가손익＝</a:t>
            </a:r>
            <a:r>
              <a:rPr lang="en-US" altLang="ko-KR" sz="1500" dirty="0">
                <a:latin typeface="+mj-ea"/>
                <a:ea typeface="+mj-ea"/>
              </a:rPr>
              <a:t>20×1</a:t>
            </a:r>
            <a:r>
              <a:rPr lang="ko-KR" altLang="en-US" sz="1500" dirty="0">
                <a:latin typeface="+mj-ea"/>
                <a:ea typeface="+mj-ea"/>
              </a:rPr>
              <a:t>년말 </a:t>
            </a:r>
            <a:r>
              <a:rPr lang="ko-KR" altLang="en-US" sz="1500" dirty="0" err="1">
                <a:latin typeface="+mj-ea"/>
                <a:ea typeface="+mj-ea"/>
              </a:rPr>
              <a:t>공정가치－취득원가</a:t>
            </a:r>
            <a:r>
              <a:rPr lang="ko-KR" altLang="en-US" sz="1500" dirty="0">
                <a:latin typeface="+mj-ea"/>
                <a:ea typeface="+mj-ea"/>
              </a:rPr>
              <a:t> ＝￦</a:t>
            </a:r>
            <a:r>
              <a:rPr lang="en-US" altLang="ko-KR" sz="1500" dirty="0">
                <a:latin typeface="+mj-ea"/>
                <a:ea typeface="+mj-ea"/>
              </a:rPr>
              <a:t>5,600,000</a:t>
            </a:r>
            <a:r>
              <a:rPr lang="ko-KR" altLang="en-US" sz="1500" dirty="0">
                <a:latin typeface="+mj-ea"/>
                <a:ea typeface="+mj-ea"/>
              </a:rPr>
              <a:t>－￦</a:t>
            </a:r>
            <a:r>
              <a:rPr lang="en-US" altLang="ko-KR" sz="1500" dirty="0">
                <a:latin typeface="+mj-ea"/>
                <a:ea typeface="+mj-ea"/>
              </a:rPr>
              <a:t>5,000,000</a:t>
            </a:r>
            <a:r>
              <a:rPr lang="ko-KR" altLang="en-US" sz="1500" dirty="0">
                <a:latin typeface="+mj-ea"/>
                <a:ea typeface="+mj-ea"/>
              </a:rPr>
              <a:t>＝￦</a:t>
            </a:r>
            <a:r>
              <a:rPr lang="en-US" altLang="ko-KR" sz="1500" dirty="0">
                <a:latin typeface="+mj-ea"/>
                <a:ea typeface="+mj-ea"/>
              </a:rPr>
              <a:t>600,000(</a:t>
            </a:r>
            <a:r>
              <a:rPr lang="ko-KR" altLang="en-US" sz="1500" dirty="0">
                <a:latin typeface="+mj-ea"/>
                <a:ea typeface="+mj-ea"/>
              </a:rPr>
              <a:t>이익</a:t>
            </a:r>
            <a:r>
              <a:rPr lang="en-US" altLang="ko-KR" sz="1500" dirty="0">
                <a:latin typeface="+mj-ea"/>
                <a:ea typeface="+mj-ea"/>
              </a:rPr>
              <a:t>)</a:t>
            </a:r>
            <a:endParaRPr lang="ko-KR" altLang="en-US" sz="1500" dirty="0">
              <a:latin typeface="+mj-ea"/>
              <a:ea typeface="+mj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0731" y="2571115"/>
            <a:ext cx="8219079" cy="3656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FVOCI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  	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600,000      	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FVOCI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금융자산평가이익	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600,000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2276" y="3322851"/>
            <a:ext cx="833753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500" dirty="0">
                <a:latin typeface="+mj-ea"/>
                <a:ea typeface="+mj-ea"/>
              </a:rPr>
              <a:t>FVOCI</a:t>
            </a:r>
            <a:r>
              <a:rPr lang="ko-KR" altLang="en-US" sz="1500" dirty="0">
                <a:latin typeface="+mj-ea"/>
                <a:ea typeface="+mj-ea"/>
              </a:rPr>
              <a:t>금융자산평가이익은 재무상태표에 </a:t>
            </a:r>
            <a:r>
              <a:rPr lang="ko-KR" altLang="en-US" sz="1500" b="1" dirty="0" err="1">
                <a:latin typeface="+mj-ea"/>
                <a:ea typeface="+mj-ea"/>
              </a:rPr>
              <a:t>기타포괄손익누계액</a:t>
            </a:r>
            <a:r>
              <a:rPr lang="ko-KR" altLang="en-US" sz="1500" dirty="0" err="1">
                <a:latin typeface="+mj-ea"/>
                <a:ea typeface="+mj-ea"/>
              </a:rPr>
              <a:t>으로</a:t>
            </a:r>
            <a:r>
              <a:rPr lang="ko-KR" altLang="en-US" sz="1500" dirty="0">
                <a:latin typeface="+mj-ea"/>
                <a:ea typeface="+mj-ea"/>
              </a:rPr>
              <a:t> 분류되고 포괄손익계산서의 </a:t>
            </a:r>
            <a:r>
              <a:rPr lang="ko-KR" altLang="en-US" sz="1500" b="1" dirty="0">
                <a:latin typeface="+mj-ea"/>
                <a:ea typeface="+mj-ea"/>
              </a:rPr>
              <a:t>기타포괄손익</a:t>
            </a:r>
            <a:r>
              <a:rPr lang="ko-KR" altLang="en-US" sz="1500" dirty="0">
                <a:latin typeface="+mj-ea"/>
                <a:ea typeface="+mj-ea"/>
              </a:rPr>
              <a:t>에 반영됨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  <a:endParaRPr lang="ko-KR" altLang="en-US" sz="1500" dirty="0">
              <a:latin typeface="+mj-ea"/>
              <a:ea typeface="+mj-ea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880108"/>
              </p:ext>
            </p:extLst>
          </p:nvPr>
        </p:nvGraphicFramePr>
        <p:xfrm>
          <a:off x="372276" y="4200331"/>
          <a:ext cx="8082639" cy="1245870"/>
        </p:xfrm>
        <a:graphic>
          <a:graphicData uri="http://schemas.openxmlformats.org/drawingml/2006/table">
            <a:tbl>
              <a:tblPr/>
              <a:tblGrid>
                <a:gridCol w="154979">
                  <a:extLst>
                    <a:ext uri="{9D8B030D-6E8A-4147-A177-3AD203B41FA5}">
                      <a16:colId xmlns:a16="http://schemas.microsoft.com/office/drawing/2014/main" val="1313040921"/>
                    </a:ext>
                  </a:extLst>
                </a:gridCol>
                <a:gridCol w="2909365">
                  <a:extLst>
                    <a:ext uri="{9D8B030D-6E8A-4147-A177-3AD203B41FA5}">
                      <a16:colId xmlns:a16="http://schemas.microsoft.com/office/drawing/2014/main" val="3278670721"/>
                    </a:ext>
                  </a:extLst>
                </a:gridCol>
                <a:gridCol w="1063001">
                  <a:extLst>
                    <a:ext uri="{9D8B030D-6E8A-4147-A177-3AD203B41FA5}">
                      <a16:colId xmlns:a16="http://schemas.microsoft.com/office/drawing/2014/main" val="2241234178"/>
                    </a:ext>
                  </a:extLst>
                </a:gridCol>
                <a:gridCol w="64496">
                  <a:extLst>
                    <a:ext uri="{9D8B030D-6E8A-4147-A177-3AD203B41FA5}">
                      <a16:colId xmlns:a16="http://schemas.microsoft.com/office/drawing/2014/main" val="2136599535"/>
                    </a:ext>
                  </a:extLst>
                </a:gridCol>
                <a:gridCol w="2888243">
                  <a:extLst>
                    <a:ext uri="{9D8B030D-6E8A-4147-A177-3AD203B41FA5}">
                      <a16:colId xmlns:a16="http://schemas.microsoft.com/office/drawing/2014/main" val="2130352732"/>
                    </a:ext>
                  </a:extLst>
                </a:gridCol>
                <a:gridCol w="910720">
                  <a:extLst>
                    <a:ext uri="{9D8B030D-6E8A-4147-A177-3AD203B41FA5}">
                      <a16:colId xmlns:a16="http://schemas.microsoft.com/office/drawing/2014/main" val="2887375480"/>
                    </a:ext>
                  </a:extLst>
                </a:gridCol>
                <a:gridCol w="91835">
                  <a:extLst>
                    <a:ext uri="{9D8B030D-6E8A-4147-A177-3AD203B41FA5}">
                      <a16:colId xmlns:a16="http://schemas.microsoft.com/office/drawing/2014/main" val="3186537036"/>
                    </a:ext>
                  </a:extLst>
                </a:gridCol>
              </a:tblGrid>
              <a:tr h="17195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부분재무상태표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부분포괄손익계산서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94424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자산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FVOCI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평가이익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기타포괄손익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724588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FVOCI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5,600,000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75068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자본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기타포괄손익누계액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237689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FVOCI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금융자산평가이익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600,000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34449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8038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13151" y="980780"/>
            <a:ext cx="8786101" cy="5235349"/>
            <a:chOff x="190714" y="1320880"/>
            <a:chExt cx="8786101" cy="5235349"/>
          </a:xfrm>
        </p:grpSpPr>
        <p:grpSp>
          <p:nvGrpSpPr>
            <p:cNvPr id="9" name="그룹 8"/>
            <p:cNvGrpSpPr/>
            <p:nvPr/>
          </p:nvGrpSpPr>
          <p:grpSpPr>
            <a:xfrm>
              <a:off x="361935" y="1461499"/>
              <a:ext cx="8614880" cy="5094730"/>
              <a:chOff x="269048" y="1722741"/>
              <a:chExt cx="8724365" cy="5094730"/>
            </a:xfrm>
          </p:grpSpPr>
          <p:sp>
            <p:nvSpPr>
              <p:cNvPr id="23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724365" cy="507103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190714" y="1320880"/>
              <a:ext cx="5769170" cy="326954"/>
              <a:chOff x="190714" y="1320889"/>
              <a:chExt cx="4935091" cy="290356"/>
            </a:xfrm>
            <a:solidFill>
              <a:srgbClr val="2D61C8"/>
            </a:solidFill>
          </p:grpSpPr>
          <p:grpSp>
            <p:nvGrpSpPr>
              <p:cNvPr id="11" name="그룹 10"/>
              <p:cNvGrpSpPr/>
              <p:nvPr/>
            </p:nvGrpSpPr>
            <p:grpSpPr>
              <a:xfrm>
                <a:off x="190714" y="1320889"/>
                <a:ext cx="4935091" cy="290356"/>
                <a:chOff x="405822" y="2237753"/>
                <a:chExt cx="4935091" cy="290356"/>
              </a:xfrm>
              <a:grpFill/>
            </p:grpSpPr>
            <p:sp>
              <p:nvSpPr>
                <p:cNvPr id="19" name="타원 18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타원 19"/>
                <p:cNvSpPr/>
                <p:nvPr/>
              </p:nvSpPr>
              <p:spPr>
                <a:xfrm>
                  <a:off x="505056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직사각형 20"/>
                <p:cNvSpPr/>
                <p:nvPr/>
              </p:nvSpPr>
              <p:spPr>
                <a:xfrm>
                  <a:off x="542510" y="2237757"/>
                  <a:ext cx="4638138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9-2 FVOCI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지분투자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1600" b="1" dirty="0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8" name="그림 17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7" name="직사각형 16"/>
          <p:cNvSpPr/>
          <p:nvPr/>
        </p:nvSpPr>
        <p:spPr>
          <a:xfrm>
            <a:off x="476753" y="1580229"/>
            <a:ext cx="8382875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 dirty="0">
                <a:latin typeface="+mn-ea"/>
              </a:rPr>
              <a:t>③ </a:t>
            </a:r>
            <a:r>
              <a:rPr lang="en-US" altLang="ko-KR" sz="1500" b="1" dirty="0">
                <a:latin typeface="+mn-ea"/>
              </a:rPr>
              <a:t>20×2</a:t>
            </a:r>
            <a:r>
              <a:rPr lang="ko-KR" altLang="en-US" sz="1500" b="1" dirty="0">
                <a:latin typeface="+mn-ea"/>
              </a:rPr>
              <a:t>년 </a:t>
            </a:r>
            <a:r>
              <a:rPr lang="en-US" altLang="ko-KR" sz="1500" b="1" dirty="0">
                <a:latin typeface="+mn-ea"/>
              </a:rPr>
              <a:t>12</a:t>
            </a:r>
            <a:r>
              <a:rPr lang="ko-KR" altLang="en-US" sz="1500" b="1" dirty="0">
                <a:latin typeface="+mn-ea"/>
              </a:rPr>
              <a:t>월 </a:t>
            </a:r>
            <a:r>
              <a:rPr lang="en-US" altLang="ko-KR" sz="1500" b="1" dirty="0">
                <a:latin typeface="+mn-ea"/>
              </a:rPr>
              <a:t>31</a:t>
            </a:r>
            <a:r>
              <a:rPr lang="ko-KR" altLang="en-US" sz="1500" b="1" dirty="0">
                <a:latin typeface="+mn-ea"/>
              </a:rPr>
              <a:t>일</a:t>
            </a:r>
            <a:r>
              <a:rPr lang="ko-KR" altLang="en-US" sz="1500" dirty="0">
                <a:latin typeface="+mn-ea"/>
              </a:rPr>
              <a:t>：</a:t>
            </a:r>
            <a:r>
              <a:rPr lang="en-US" altLang="ko-KR" sz="1500" dirty="0">
                <a:latin typeface="+mn-ea"/>
              </a:rPr>
              <a:t>FVOCI </a:t>
            </a:r>
            <a:r>
              <a:rPr lang="ko-KR" altLang="en-US" sz="1500" dirty="0">
                <a:latin typeface="+mn-ea"/>
              </a:rPr>
              <a:t>금융자산 기말평가</a:t>
            </a:r>
            <a:endParaRPr lang="en-US" altLang="ko-KR" sz="1500" dirty="0">
              <a:latin typeface="+mn-ea"/>
              <a:ea typeface="+mj-ea"/>
            </a:endParaRPr>
          </a:p>
          <a:p>
            <a:endParaRPr lang="en-US" altLang="ko-KR" sz="1500" dirty="0">
              <a:latin typeface="+mj-ea"/>
              <a:ea typeface="+mj-ea"/>
            </a:endParaRPr>
          </a:p>
          <a:p>
            <a:r>
              <a:rPr lang="ko-KR" altLang="en-US" sz="1500" dirty="0">
                <a:latin typeface="+mj-ea"/>
                <a:ea typeface="+mj-ea"/>
              </a:rPr>
              <a:t>평가손익＝</a:t>
            </a:r>
            <a:r>
              <a:rPr lang="en-US" altLang="ko-KR" sz="1500" dirty="0">
                <a:latin typeface="+mj-ea"/>
                <a:ea typeface="+mj-ea"/>
              </a:rPr>
              <a:t>20×2</a:t>
            </a:r>
            <a:r>
              <a:rPr lang="ko-KR" altLang="en-US" sz="1500" dirty="0">
                <a:latin typeface="+mj-ea"/>
                <a:ea typeface="+mj-ea"/>
              </a:rPr>
              <a:t>년말 </a:t>
            </a:r>
            <a:r>
              <a:rPr lang="ko-KR" altLang="en-US" sz="1500" dirty="0" err="1">
                <a:latin typeface="+mj-ea"/>
                <a:ea typeface="+mj-ea"/>
              </a:rPr>
              <a:t>공정가치－장부금액</a:t>
            </a:r>
            <a:r>
              <a:rPr lang="ko-KR" altLang="en-US" sz="1500" dirty="0">
                <a:latin typeface="+mj-ea"/>
                <a:ea typeface="+mj-ea"/>
              </a:rPr>
              <a:t> ＝￦</a:t>
            </a:r>
            <a:r>
              <a:rPr lang="en-US" altLang="ko-KR" sz="1500" dirty="0">
                <a:latin typeface="+mj-ea"/>
                <a:ea typeface="+mj-ea"/>
              </a:rPr>
              <a:t>5,200,000</a:t>
            </a:r>
            <a:r>
              <a:rPr lang="ko-KR" altLang="en-US" sz="1500" dirty="0">
                <a:latin typeface="+mj-ea"/>
                <a:ea typeface="+mj-ea"/>
              </a:rPr>
              <a:t>－￦</a:t>
            </a:r>
            <a:r>
              <a:rPr lang="en-US" altLang="ko-KR" sz="1500" dirty="0">
                <a:latin typeface="+mj-ea"/>
                <a:ea typeface="+mj-ea"/>
              </a:rPr>
              <a:t>5,600,000</a:t>
            </a:r>
            <a:r>
              <a:rPr lang="ko-KR" altLang="en-US" sz="1500" dirty="0">
                <a:latin typeface="+mj-ea"/>
                <a:ea typeface="+mj-ea"/>
              </a:rPr>
              <a:t>＝－￦</a:t>
            </a:r>
            <a:r>
              <a:rPr lang="en-US" altLang="ko-KR" sz="1500" dirty="0">
                <a:latin typeface="+mj-ea"/>
                <a:ea typeface="+mj-ea"/>
              </a:rPr>
              <a:t>400,000(</a:t>
            </a:r>
            <a:r>
              <a:rPr lang="ko-KR" altLang="en-US" sz="1500" dirty="0">
                <a:latin typeface="+mj-ea"/>
                <a:ea typeface="+mj-ea"/>
              </a:rPr>
              <a:t>손실</a:t>
            </a:r>
            <a:r>
              <a:rPr lang="en-US" altLang="ko-KR" sz="1500" dirty="0">
                <a:latin typeface="+mj-ea"/>
                <a:ea typeface="+mj-ea"/>
              </a:rPr>
              <a:t>)</a:t>
            </a:r>
            <a:endParaRPr lang="ko-KR" altLang="en-US" sz="1500" dirty="0">
              <a:latin typeface="+mj-ea"/>
              <a:ea typeface="+mj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58584" y="2551675"/>
            <a:ext cx="8219078" cy="347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1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FVOCI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금융자산평가손실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400,000	    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FVOCI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   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400,000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	</a:t>
            </a:r>
            <a:r>
              <a:rPr lang="en-US" altLang="ko-KR" sz="11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endParaRPr lang="ko-KR" altLang="en-US" sz="11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9DFD5C9-7DFC-4663-B0F2-AD117001BABF}"/>
              </a:ext>
            </a:extLst>
          </p:cNvPr>
          <p:cNvSpPr/>
          <p:nvPr/>
        </p:nvSpPr>
        <p:spPr>
          <a:xfrm>
            <a:off x="691933" y="5093272"/>
            <a:ext cx="7509651" cy="794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/>
              <a:t>* </a:t>
            </a:r>
            <a:r>
              <a:rPr lang="en-US" altLang="ko-KR" sz="1300" dirty="0"/>
              <a:t>20×1</a:t>
            </a:r>
            <a:r>
              <a:rPr lang="ko-KR" altLang="en-US" sz="1300" dirty="0"/>
              <a:t>년 평가이익 ￦</a:t>
            </a:r>
            <a:r>
              <a:rPr lang="en-US" altLang="ko-KR" sz="1300" dirty="0"/>
              <a:t>600,000</a:t>
            </a:r>
            <a:r>
              <a:rPr lang="ko-KR" altLang="en-US" sz="1300" dirty="0"/>
              <a:t>에서 </a:t>
            </a:r>
            <a:r>
              <a:rPr lang="en-US" altLang="ko-KR" sz="1300" dirty="0"/>
              <a:t>20×2</a:t>
            </a:r>
            <a:r>
              <a:rPr lang="ko-KR" altLang="en-US" sz="1300" dirty="0"/>
              <a:t>년 평가손실 ￦</a:t>
            </a:r>
            <a:r>
              <a:rPr lang="en-US" altLang="ko-KR" sz="1300" dirty="0"/>
              <a:t>400,000</a:t>
            </a:r>
            <a:r>
              <a:rPr lang="ko-KR" altLang="en-US" sz="1300" dirty="0"/>
              <a:t>을 차감한 금액임</a:t>
            </a:r>
            <a:r>
              <a:rPr lang="en-US" altLang="ko-KR" sz="1300" dirty="0"/>
              <a:t>. </a:t>
            </a:r>
            <a:r>
              <a:rPr lang="ko-KR" altLang="en-US" sz="1300" dirty="0"/>
              <a:t>이를 위해서는 기말에 ‘</a:t>
            </a:r>
            <a:r>
              <a:rPr lang="en-US" altLang="ko-KR" sz="1300" dirty="0"/>
              <a:t>(</a:t>
            </a:r>
            <a:r>
              <a:rPr lang="ko-KR" altLang="en-US" sz="1300" dirty="0"/>
              <a:t>차</a:t>
            </a:r>
            <a:r>
              <a:rPr lang="en-US" altLang="ko-KR" sz="1300" dirty="0"/>
              <a:t>) FVOCI</a:t>
            </a:r>
            <a:r>
              <a:rPr lang="ko-KR" altLang="en-US" sz="1300" dirty="0"/>
              <a:t>금융자산평가손익</a:t>
            </a:r>
            <a:r>
              <a:rPr lang="en-US" altLang="ko-KR" sz="1300" dirty="0"/>
              <a:t>(</a:t>
            </a:r>
            <a:r>
              <a:rPr lang="ko-KR" altLang="en-US" sz="1300" dirty="0"/>
              <a:t>자본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누계액</a:t>
            </a:r>
            <a:r>
              <a:rPr lang="en-US" altLang="ko-KR" sz="1300" dirty="0"/>
              <a:t>) 400,000 (</a:t>
            </a:r>
            <a:r>
              <a:rPr lang="ko-KR" altLang="en-US" sz="1300" dirty="0"/>
              <a:t>대</a:t>
            </a:r>
            <a:r>
              <a:rPr lang="en-US" altLang="ko-KR" sz="1300" dirty="0"/>
              <a:t>) FVOCI</a:t>
            </a:r>
            <a:r>
              <a:rPr lang="ko-KR" altLang="en-US" sz="1300" dirty="0"/>
              <a:t>금융자산평가손실</a:t>
            </a:r>
            <a:r>
              <a:rPr lang="en-US" altLang="ko-KR" sz="1300" dirty="0"/>
              <a:t>(</a:t>
            </a:r>
            <a:r>
              <a:rPr lang="ko-KR" altLang="en-US" sz="1300" dirty="0"/>
              <a:t>당기기타포괄손실</a:t>
            </a:r>
            <a:r>
              <a:rPr lang="en-US" altLang="ko-KR" sz="1300" dirty="0"/>
              <a:t>) 400,000’</a:t>
            </a:r>
            <a:r>
              <a:rPr lang="ko-KR" altLang="en-US" sz="1300" dirty="0"/>
              <a:t>의 </a:t>
            </a:r>
            <a:r>
              <a:rPr lang="ko-KR" altLang="en-US" sz="1300" dirty="0" err="1"/>
              <a:t>마감분개를</a:t>
            </a:r>
            <a:r>
              <a:rPr lang="ko-KR" altLang="en-US" sz="1300" dirty="0"/>
              <a:t> 수행하여 평가이익 ￦</a:t>
            </a:r>
            <a:r>
              <a:rPr lang="en-US" altLang="ko-KR" sz="1300" dirty="0"/>
              <a:t>600,000</a:t>
            </a:r>
            <a:r>
              <a:rPr lang="ko-KR" altLang="en-US" sz="1300" dirty="0"/>
              <a:t>을 ￦</a:t>
            </a:r>
            <a:r>
              <a:rPr lang="en-US" altLang="ko-KR" sz="1300" dirty="0"/>
              <a:t>200,000</a:t>
            </a:r>
            <a:r>
              <a:rPr lang="ko-KR" altLang="en-US" sz="1300" dirty="0"/>
              <a:t>으로 줄임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78088B1-0F87-E125-4FD3-F87ADBB29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094740"/>
              </p:ext>
            </p:extLst>
          </p:nvPr>
        </p:nvGraphicFramePr>
        <p:xfrm>
          <a:off x="633894" y="3407211"/>
          <a:ext cx="7915836" cy="1420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10841">
                  <a:extLst>
                    <a:ext uri="{9D8B030D-6E8A-4147-A177-3AD203B41FA5}">
                      <a16:colId xmlns:a16="http://schemas.microsoft.com/office/drawing/2014/main" val="737721126"/>
                    </a:ext>
                  </a:extLst>
                </a:gridCol>
                <a:gridCol w="1119057">
                  <a:extLst>
                    <a:ext uri="{9D8B030D-6E8A-4147-A177-3AD203B41FA5}">
                      <a16:colId xmlns:a16="http://schemas.microsoft.com/office/drawing/2014/main" val="2297799504"/>
                    </a:ext>
                  </a:extLst>
                </a:gridCol>
                <a:gridCol w="372726">
                  <a:extLst>
                    <a:ext uri="{9D8B030D-6E8A-4147-A177-3AD203B41FA5}">
                      <a16:colId xmlns:a16="http://schemas.microsoft.com/office/drawing/2014/main" val="2373197331"/>
                    </a:ext>
                  </a:extLst>
                </a:gridCol>
                <a:gridCol w="2894902">
                  <a:extLst>
                    <a:ext uri="{9D8B030D-6E8A-4147-A177-3AD203B41FA5}">
                      <a16:colId xmlns:a16="http://schemas.microsoft.com/office/drawing/2014/main" val="3622492911"/>
                    </a:ext>
                  </a:extLst>
                </a:gridCol>
                <a:gridCol w="918310">
                  <a:extLst>
                    <a:ext uri="{9D8B030D-6E8A-4147-A177-3AD203B41FA5}">
                      <a16:colId xmlns:a16="http://schemas.microsoft.com/office/drawing/2014/main" val="2055538001"/>
                    </a:ext>
                  </a:extLst>
                </a:gridCol>
              </a:tblGrid>
              <a:tr h="284161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200" u="sng" kern="100" dirty="0">
                          <a:solidFill>
                            <a:schemeClr val="tx1"/>
                          </a:solidFill>
                          <a:effectLst/>
                        </a:rPr>
                        <a:t>부분재무상태표</a:t>
                      </a:r>
                      <a:r>
                        <a:rPr lang="en-US" sz="1200" u="sng" kern="100" dirty="0">
                          <a:solidFill>
                            <a:schemeClr val="tx1"/>
                          </a:solidFill>
                          <a:effectLst/>
                        </a:rPr>
                        <a:t>(20×2</a:t>
                      </a:r>
                      <a:r>
                        <a:rPr lang="ko-KR" sz="1200" u="sng" kern="100" dirty="0">
                          <a:solidFill>
                            <a:schemeClr val="tx1"/>
                          </a:solidFill>
                          <a:effectLst/>
                        </a:rPr>
                        <a:t>년</a:t>
                      </a:r>
                      <a:r>
                        <a:rPr lang="en-US" sz="1200" u="sng" kern="100" dirty="0">
                          <a:solidFill>
                            <a:schemeClr val="tx1"/>
                          </a:solidFill>
                          <a:effectLst/>
                        </a:rPr>
                        <a:t> 12</a:t>
                      </a:r>
                      <a:r>
                        <a:rPr lang="ko-KR" sz="1200" u="sng" kern="100" dirty="0">
                          <a:solidFill>
                            <a:schemeClr val="tx1"/>
                          </a:solidFill>
                          <a:effectLst/>
                        </a:rPr>
                        <a:t>월</a:t>
                      </a:r>
                      <a:r>
                        <a:rPr lang="en-US" sz="1200" u="sng" kern="100" dirty="0">
                          <a:solidFill>
                            <a:schemeClr val="tx1"/>
                          </a:solidFill>
                          <a:effectLst/>
                        </a:rPr>
                        <a:t> 31</a:t>
                      </a:r>
                      <a:r>
                        <a:rPr lang="ko-KR" sz="1200" u="sng" kern="100" dirty="0">
                          <a:solidFill>
                            <a:schemeClr val="tx1"/>
                          </a:solidFill>
                          <a:effectLst/>
                        </a:rPr>
                        <a:t>일</a:t>
                      </a:r>
                      <a:r>
                        <a:rPr lang="en-US" sz="1200" u="sng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u="none" strike="noStrike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ko-KR" sz="12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200" u="sng" kern="100">
                          <a:solidFill>
                            <a:schemeClr val="tx1"/>
                          </a:solidFill>
                          <a:effectLst/>
                        </a:rPr>
                        <a:t>부분포괄손익계산서</a:t>
                      </a:r>
                      <a:r>
                        <a:rPr lang="en-US" sz="1200" u="sng" kern="100">
                          <a:solidFill>
                            <a:schemeClr val="tx1"/>
                          </a:solidFill>
                          <a:effectLst/>
                        </a:rPr>
                        <a:t>(20×2</a:t>
                      </a:r>
                      <a:r>
                        <a:rPr lang="ko-KR" sz="1200" u="sng" kern="100">
                          <a:solidFill>
                            <a:schemeClr val="tx1"/>
                          </a:solidFill>
                          <a:effectLst/>
                        </a:rPr>
                        <a:t>년</a:t>
                      </a:r>
                      <a:r>
                        <a:rPr lang="en-US" sz="1200" u="sng" kern="10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2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305524"/>
                  </a:ext>
                </a:extLst>
              </a:tr>
              <a:tr h="28416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200" b="0" kern="100" dirty="0">
                          <a:solidFill>
                            <a:schemeClr val="tx1"/>
                          </a:solidFill>
                          <a:effectLst/>
                        </a:rPr>
                        <a:t>자산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rowSpan="4"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FVOCI </a:t>
                      </a:r>
                      <a:r>
                        <a:rPr lang="ko-KR" sz="1200" kern="100" dirty="0">
                          <a:solidFill>
                            <a:schemeClr val="tx1"/>
                          </a:solidFill>
                          <a:effectLst/>
                        </a:rPr>
                        <a:t>금융자산평가손실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sz="1200" kern="100" dirty="0">
                          <a:solidFill>
                            <a:schemeClr val="tx1"/>
                          </a:solidFill>
                          <a:effectLst/>
                        </a:rPr>
                        <a:t>기타포괄손익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rowSpan="4"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₩400,000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191457"/>
                  </a:ext>
                </a:extLst>
              </a:tr>
              <a:tr h="284161">
                <a:tc>
                  <a:txBody>
                    <a:bodyPr/>
                    <a:lstStyle/>
                    <a:p>
                      <a:pPr indent="254000"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FVOCI </a:t>
                      </a:r>
                      <a:r>
                        <a:rPr lang="ko-KR" sz="1200" b="0" kern="100" dirty="0">
                          <a:solidFill>
                            <a:schemeClr val="tx1"/>
                          </a:solidFill>
                          <a:effectLst/>
                        </a:rPr>
                        <a:t>금융자산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₩5,200,000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215294"/>
                  </a:ext>
                </a:extLst>
              </a:tr>
              <a:tr h="284161"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ko-KR" sz="1200" b="0" kern="100" dirty="0">
                          <a:solidFill>
                            <a:schemeClr val="tx1"/>
                          </a:solidFill>
                          <a:effectLst/>
                        </a:rPr>
                        <a:t>자본</a:t>
                      </a: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sz="1200" b="0" kern="100" dirty="0" err="1">
                          <a:solidFill>
                            <a:schemeClr val="tx1"/>
                          </a:solidFill>
                          <a:effectLst/>
                        </a:rPr>
                        <a:t>기타포괄손익누계액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ko-KR" sz="12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824896"/>
                  </a:ext>
                </a:extLst>
              </a:tr>
              <a:tr h="284161">
                <a:tc>
                  <a:txBody>
                    <a:bodyPr/>
                    <a:lstStyle/>
                    <a:p>
                      <a:pPr indent="254000"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b="0" kern="100" dirty="0">
                          <a:solidFill>
                            <a:schemeClr val="tx1"/>
                          </a:solidFill>
                          <a:effectLst/>
                        </a:rPr>
                        <a:t>FVOCI </a:t>
                      </a:r>
                      <a:r>
                        <a:rPr lang="ko-KR" sz="1200" b="0" kern="100" dirty="0">
                          <a:solidFill>
                            <a:schemeClr val="tx1"/>
                          </a:solidFill>
                          <a:effectLst/>
                        </a:rPr>
                        <a:t>금융자산 평가이익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ko-KR" sz="1200" b="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       200,000*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ko-KR" sz="1200" kern="1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897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145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13151" y="991538"/>
            <a:ext cx="8786101" cy="5484575"/>
            <a:chOff x="190714" y="1320880"/>
            <a:chExt cx="8786101" cy="5826860"/>
          </a:xfrm>
        </p:grpSpPr>
        <p:grpSp>
          <p:nvGrpSpPr>
            <p:cNvPr id="9" name="그룹 8"/>
            <p:cNvGrpSpPr/>
            <p:nvPr/>
          </p:nvGrpSpPr>
          <p:grpSpPr>
            <a:xfrm>
              <a:off x="361935" y="1461499"/>
              <a:ext cx="8614880" cy="5686241"/>
              <a:chOff x="269048" y="1722741"/>
              <a:chExt cx="8724365" cy="5686241"/>
            </a:xfrm>
          </p:grpSpPr>
          <p:sp>
            <p:nvSpPr>
              <p:cNvPr id="23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724365" cy="5662542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190714" y="1320880"/>
              <a:ext cx="5769170" cy="326954"/>
              <a:chOff x="190714" y="1320889"/>
              <a:chExt cx="4935091" cy="290356"/>
            </a:xfrm>
            <a:solidFill>
              <a:srgbClr val="2D61C8"/>
            </a:solidFill>
          </p:grpSpPr>
          <p:grpSp>
            <p:nvGrpSpPr>
              <p:cNvPr id="11" name="그룹 10"/>
              <p:cNvGrpSpPr/>
              <p:nvPr/>
            </p:nvGrpSpPr>
            <p:grpSpPr>
              <a:xfrm>
                <a:off x="190714" y="1320889"/>
                <a:ext cx="4935091" cy="290356"/>
                <a:chOff x="405822" y="2237753"/>
                <a:chExt cx="4935091" cy="290356"/>
              </a:xfrm>
              <a:grpFill/>
            </p:grpSpPr>
            <p:sp>
              <p:nvSpPr>
                <p:cNvPr id="19" name="타원 18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타원 19"/>
                <p:cNvSpPr/>
                <p:nvPr/>
              </p:nvSpPr>
              <p:spPr>
                <a:xfrm>
                  <a:off x="505056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직사각형 20"/>
                <p:cNvSpPr/>
                <p:nvPr/>
              </p:nvSpPr>
              <p:spPr>
                <a:xfrm>
                  <a:off x="542510" y="2237757"/>
                  <a:ext cx="4638138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9-2 FVOCI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지분투자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1600" b="1" dirty="0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8" name="그림 17" descr="Log in | Sign Up Upload Clipart"/>
              <p:cNvPicPr>
                <a:picLocks noChangeAspect="1"/>
              </p:cNvPicPr>
              <p:nvPr/>
            </p:nvPicPr>
            <p:blipFill>
              <a:blip r:embed="rId3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00344" y="1645341"/>
            <a:ext cx="8359284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 dirty="0"/>
              <a:t>④ </a:t>
            </a:r>
            <a:r>
              <a:rPr lang="en-US" altLang="ko-KR" sz="1500" b="1" dirty="0"/>
              <a:t>20×3</a:t>
            </a:r>
            <a:r>
              <a:rPr lang="ko-KR" altLang="en-US" sz="1500" b="1" dirty="0"/>
              <a:t>년 </a:t>
            </a:r>
            <a:r>
              <a:rPr lang="en-US" altLang="ko-KR" sz="1500" b="1" dirty="0"/>
              <a:t>1</a:t>
            </a:r>
            <a:r>
              <a:rPr lang="ko-KR" altLang="en-US" sz="1500" b="1" dirty="0"/>
              <a:t>월 </a:t>
            </a:r>
            <a:r>
              <a:rPr lang="en-US" altLang="ko-KR" sz="1500" b="1" dirty="0"/>
              <a:t>1</a:t>
            </a:r>
            <a:r>
              <a:rPr lang="ko-KR" altLang="en-US" sz="1500" b="1" dirty="0"/>
              <a:t>일</a:t>
            </a:r>
            <a:r>
              <a:rPr lang="ko-KR" altLang="en-US" sz="1500" dirty="0"/>
              <a:t>：</a:t>
            </a:r>
            <a:r>
              <a:rPr lang="en-US" altLang="ko-KR" sz="1500" dirty="0"/>
              <a:t>FVOCI </a:t>
            </a:r>
            <a:r>
              <a:rPr lang="ko-KR" altLang="en-US" sz="1500" dirty="0"/>
              <a:t>금융자산 처분</a:t>
            </a:r>
            <a:endParaRPr lang="en-US" altLang="ko-KR" sz="1500" dirty="0"/>
          </a:p>
          <a:p>
            <a:endParaRPr lang="ko-KR" altLang="en-US" sz="1500" dirty="0"/>
          </a:p>
          <a:p>
            <a:pPr marL="228600" indent="-228600" latinLnBrk="0">
              <a:lnSpc>
                <a:spcPct val="120000"/>
              </a:lnSpc>
              <a:buAutoNum type="arabicParenR"/>
            </a:pPr>
            <a:r>
              <a:rPr lang="ko-KR" altLang="en-US" sz="1500" b="1" dirty="0"/>
              <a:t>장부금액의 측정</a:t>
            </a:r>
            <a:r>
              <a:rPr lang="ko-KR" altLang="en-US" sz="1500" dirty="0"/>
              <a:t>： </a:t>
            </a:r>
            <a:r>
              <a:rPr lang="en-US" altLang="ko-KR" sz="1500" dirty="0"/>
              <a:t>20×2</a:t>
            </a:r>
            <a:r>
              <a:rPr lang="ko-KR" altLang="en-US" sz="1500" dirty="0"/>
              <a:t>년 </a:t>
            </a:r>
            <a:r>
              <a:rPr lang="en-US" altLang="ko-KR" sz="1500" dirty="0"/>
              <a:t>12</a:t>
            </a:r>
            <a:r>
              <a:rPr lang="ko-KR" altLang="en-US" sz="1500" dirty="0"/>
              <a:t>월 </a:t>
            </a:r>
            <a:r>
              <a:rPr lang="en-US" altLang="ko-KR" sz="1500" dirty="0"/>
              <a:t>31</a:t>
            </a:r>
            <a:r>
              <a:rPr lang="ko-KR" altLang="en-US" sz="1500" dirty="0"/>
              <a:t>일의 공정가치와 처분일의 공정가치가 일치하므로 추가로 </a:t>
            </a:r>
            <a:r>
              <a:rPr lang="ko-KR" altLang="en-US" sz="1500" dirty="0" err="1"/>
              <a:t>회계처리할</a:t>
            </a:r>
            <a:r>
              <a:rPr lang="ko-KR" altLang="en-US" sz="1500" dirty="0"/>
              <a:t> 사항은 없음</a:t>
            </a:r>
            <a:r>
              <a:rPr lang="en-US" altLang="ko-KR" sz="1500" dirty="0"/>
              <a:t>.</a:t>
            </a:r>
          </a:p>
          <a:p>
            <a:endParaRPr lang="en-US" altLang="ko-KR" sz="1500" dirty="0"/>
          </a:p>
          <a:p>
            <a:pPr lvl="1"/>
            <a:r>
              <a:rPr lang="ko-KR" altLang="en-US" sz="1500" dirty="0"/>
              <a:t>공정가치의 </a:t>
            </a:r>
            <a:r>
              <a:rPr lang="ko-KR" altLang="en-US" sz="1500" dirty="0" err="1"/>
              <a:t>재측정＝처분시점의</a:t>
            </a:r>
            <a:r>
              <a:rPr lang="ko-KR" altLang="en-US" sz="1500" dirty="0"/>
              <a:t> </a:t>
            </a:r>
            <a:r>
              <a:rPr lang="ko-KR" altLang="en-US" sz="1500" dirty="0" err="1"/>
              <a:t>공정가치－장부금액</a:t>
            </a:r>
            <a:r>
              <a:rPr lang="ko-KR" altLang="en-US" sz="1500" dirty="0"/>
              <a:t>＝￦</a:t>
            </a:r>
            <a:r>
              <a:rPr lang="en-US" altLang="ko-KR" sz="1500" dirty="0"/>
              <a:t>5,200,000</a:t>
            </a:r>
            <a:r>
              <a:rPr lang="ko-KR" altLang="en-US" sz="1500" dirty="0"/>
              <a:t>－￦</a:t>
            </a:r>
            <a:r>
              <a:rPr lang="en-US" altLang="ko-KR" sz="1500" dirty="0"/>
              <a:t>5,200,000</a:t>
            </a:r>
            <a:r>
              <a:rPr lang="ko-KR" altLang="en-US" sz="1500" dirty="0"/>
              <a:t>＝￦</a:t>
            </a:r>
            <a:r>
              <a:rPr lang="en-US" altLang="ko-KR" sz="1500" dirty="0"/>
              <a:t>0(</a:t>
            </a:r>
            <a:r>
              <a:rPr lang="ko-KR" altLang="en-US" sz="1500" dirty="0"/>
              <a:t>평가손익</a:t>
            </a:r>
            <a:r>
              <a:rPr lang="en-US" altLang="ko-KR" sz="1500" dirty="0"/>
              <a:t>)</a:t>
            </a:r>
          </a:p>
          <a:p>
            <a:endParaRPr lang="en-US" altLang="ko-KR" sz="1500" dirty="0"/>
          </a:p>
          <a:p>
            <a:pPr marL="230400" indent="-230400" latinLnBrk="0"/>
            <a:r>
              <a:rPr lang="en-US" altLang="ko-KR" sz="1500" b="1" dirty="0"/>
              <a:t>2) </a:t>
            </a:r>
            <a:r>
              <a:rPr lang="ko-KR" altLang="en-US" sz="1500" b="1" dirty="0"/>
              <a:t>처분거래의 기록</a:t>
            </a:r>
            <a:r>
              <a:rPr lang="ko-KR" altLang="en-US" sz="1500" dirty="0"/>
              <a:t>： </a:t>
            </a:r>
            <a:r>
              <a:rPr lang="en-US" altLang="ko-KR" sz="1500" dirty="0"/>
              <a:t>FVOCI</a:t>
            </a:r>
            <a:r>
              <a:rPr lang="ko-KR" altLang="en-US" sz="1500" dirty="0"/>
              <a:t>금융자산의 장부금액 제거함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sp>
        <p:nvSpPr>
          <p:cNvPr id="25" name="직사각형 24"/>
          <p:cNvSpPr/>
          <p:nvPr/>
        </p:nvSpPr>
        <p:spPr>
          <a:xfrm>
            <a:off x="1249882" y="4656240"/>
            <a:ext cx="6860208" cy="3949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현 금	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5,200,000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	             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FVOCI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5,200,000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00396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15493" y="985446"/>
            <a:ext cx="8786101" cy="5608996"/>
            <a:chOff x="190714" y="1320900"/>
            <a:chExt cx="8786101" cy="5608996"/>
          </a:xfrm>
        </p:grpSpPr>
        <p:grpSp>
          <p:nvGrpSpPr>
            <p:cNvPr id="9" name="그룹 8"/>
            <p:cNvGrpSpPr/>
            <p:nvPr/>
          </p:nvGrpSpPr>
          <p:grpSpPr>
            <a:xfrm>
              <a:off x="361935" y="1461499"/>
              <a:ext cx="8614880" cy="5468397"/>
              <a:chOff x="269048" y="1722741"/>
              <a:chExt cx="8724365" cy="5468397"/>
            </a:xfrm>
          </p:grpSpPr>
          <p:sp>
            <p:nvSpPr>
              <p:cNvPr id="23" name="Rectangle 15"/>
              <p:cNvSpPr>
                <a:spLocks noChangeArrowheads="1"/>
              </p:cNvSpPr>
              <p:nvPr/>
            </p:nvSpPr>
            <p:spPr bwMode="auto">
              <a:xfrm>
                <a:off x="269048" y="1746440"/>
                <a:ext cx="8724365" cy="5444698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190714" y="1320900"/>
              <a:ext cx="5640565" cy="326960"/>
              <a:chOff x="190714" y="1320889"/>
              <a:chExt cx="4825077" cy="290358"/>
            </a:xfrm>
            <a:solidFill>
              <a:srgbClr val="2D61C8"/>
            </a:solidFill>
          </p:grpSpPr>
          <p:grpSp>
            <p:nvGrpSpPr>
              <p:cNvPr id="11" name="그룹 10"/>
              <p:cNvGrpSpPr/>
              <p:nvPr/>
            </p:nvGrpSpPr>
            <p:grpSpPr>
              <a:xfrm>
                <a:off x="190714" y="1320889"/>
                <a:ext cx="4825077" cy="290358"/>
                <a:chOff x="405822" y="2237753"/>
                <a:chExt cx="4825077" cy="290358"/>
              </a:xfrm>
              <a:grpFill/>
            </p:grpSpPr>
            <p:sp>
              <p:nvSpPr>
                <p:cNvPr id="19" name="타원 18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직사각형 20"/>
                <p:cNvSpPr/>
                <p:nvPr/>
              </p:nvSpPr>
              <p:spPr>
                <a:xfrm>
                  <a:off x="542510" y="2237759"/>
                  <a:ext cx="4688389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9-2 FVOCI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지분투자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ko-KR" altLang="en-US" sz="1600" b="1" dirty="0"/>
                </a:p>
              </p:txBody>
            </p:sp>
            <p:sp>
              <p:nvSpPr>
                <p:cNvPr id="22" name="타원 21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8" name="그림 17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7" name="직사각형 6"/>
          <p:cNvSpPr/>
          <p:nvPr/>
        </p:nvSpPr>
        <p:spPr>
          <a:xfrm>
            <a:off x="486984" y="1503199"/>
            <a:ext cx="824305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0400" indent="-230400" latinLnBrk="0"/>
            <a:r>
              <a:rPr lang="en-US" altLang="ko-KR" sz="1500" b="1" dirty="0"/>
              <a:t>3) </a:t>
            </a:r>
            <a:r>
              <a:rPr lang="ko-KR" altLang="en-US" sz="1500" b="1" dirty="0"/>
              <a:t>평가손익누계액의 처리</a:t>
            </a:r>
            <a:r>
              <a:rPr lang="ko-KR" altLang="en-US" sz="1500" dirty="0"/>
              <a:t>： 주식의 경우 </a:t>
            </a:r>
            <a:r>
              <a:rPr lang="en-US" altLang="ko-KR" sz="1500" dirty="0"/>
              <a:t>FVOCI </a:t>
            </a:r>
            <a:r>
              <a:rPr lang="ko-KR" altLang="en-US" sz="1500" dirty="0"/>
              <a:t>금융자산의 취득일부터 처분일까지 누적적으로 인식한 </a:t>
            </a:r>
            <a:r>
              <a:rPr lang="ko-KR" altLang="en-US" sz="1500" dirty="0" err="1"/>
              <a:t>기타포괄손익누계액은</a:t>
            </a:r>
            <a:r>
              <a:rPr lang="ko-KR" altLang="en-US" sz="1500" dirty="0"/>
              <a:t> 당기손익으로 </a:t>
            </a:r>
            <a:r>
              <a:rPr lang="ko-KR" altLang="en-US" sz="1500" dirty="0" err="1"/>
              <a:t>재분류하지</a:t>
            </a:r>
            <a:r>
              <a:rPr lang="ko-KR" altLang="en-US" sz="1500" dirty="0"/>
              <a:t> 않고 </a:t>
            </a:r>
            <a:r>
              <a:rPr lang="ko-KR" altLang="en-US" sz="1500" b="1" dirty="0"/>
              <a:t>자본 내의 이익잉여금으로 대체</a:t>
            </a:r>
            <a:r>
              <a:rPr lang="ko-KR" altLang="en-US" sz="1500" dirty="0"/>
              <a:t>함</a:t>
            </a:r>
            <a:r>
              <a:rPr lang="en-US" altLang="ko-KR" sz="1500" dirty="0"/>
              <a:t>. </a:t>
            </a:r>
            <a:endParaRPr lang="ko-KR" altLang="en-US" sz="1500" dirty="0"/>
          </a:p>
        </p:txBody>
      </p:sp>
      <p:sp>
        <p:nvSpPr>
          <p:cNvPr id="16" name="직사각형 15"/>
          <p:cNvSpPr/>
          <p:nvPr/>
        </p:nvSpPr>
        <p:spPr>
          <a:xfrm>
            <a:off x="753294" y="2446867"/>
            <a:ext cx="7316717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FVOCI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금융자산평가손익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200,000    	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이익잉여금           	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200,000</a:t>
            </a: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      (</a:t>
            </a:r>
            <a:r>
              <a:rPr lang="ko-KR" altLang="en-US" sz="1400" b="1" kern="0" dirty="0" err="1">
                <a:solidFill>
                  <a:srgbClr val="000000"/>
                </a:solidFill>
                <a:latin typeface="+mj-ea"/>
                <a:ea typeface="+mj-ea"/>
              </a:rPr>
              <a:t>기타포괄손익누계액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140261"/>
              </p:ext>
            </p:extLst>
          </p:nvPr>
        </p:nvGraphicFramePr>
        <p:xfrm>
          <a:off x="385174" y="3512335"/>
          <a:ext cx="8446678" cy="1871472"/>
        </p:xfrm>
        <a:graphic>
          <a:graphicData uri="http://schemas.openxmlformats.org/drawingml/2006/table">
            <a:tbl>
              <a:tblPr/>
              <a:tblGrid>
                <a:gridCol w="164663">
                  <a:extLst>
                    <a:ext uri="{9D8B030D-6E8A-4147-A177-3AD203B41FA5}">
                      <a16:colId xmlns:a16="http://schemas.microsoft.com/office/drawing/2014/main" val="4121144075"/>
                    </a:ext>
                  </a:extLst>
                </a:gridCol>
                <a:gridCol w="3244380">
                  <a:extLst>
                    <a:ext uri="{9D8B030D-6E8A-4147-A177-3AD203B41FA5}">
                      <a16:colId xmlns:a16="http://schemas.microsoft.com/office/drawing/2014/main" val="2051647593"/>
                    </a:ext>
                  </a:extLst>
                </a:gridCol>
                <a:gridCol w="828745">
                  <a:extLst>
                    <a:ext uri="{9D8B030D-6E8A-4147-A177-3AD203B41FA5}">
                      <a16:colId xmlns:a16="http://schemas.microsoft.com/office/drawing/2014/main" val="1759965107"/>
                    </a:ext>
                  </a:extLst>
                </a:gridCol>
                <a:gridCol w="201319">
                  <a:extLst>
                    <a:ext uri="{9D8B030D-6E8A-4147-A177-3AD203B41FA5}">
                      <a16:colId xmlns:a16="http://schemas.microsoft.com/office/drawing/2014/main" val="4153333828"/>
                    </a:ext>
                  </a:extLst>
                </a:gridCol>
                <a:gridCol w="3000587">
                  <a:extLst>
                    <a:ext uri="{9D8B030D-6E8A-4147-A177-3AD203B41FA5}">
                      <a16:colId xmlns:a16="http://schemas.microsoft.com/office/drawing/2014/main" val="697278471"/>
                    </a:ext>
                  </a:extLst>
                </a:gridCol>
                <a:gridCol w="703148">
                  <a:extLst>
                    <a:ext uri="{9D8B030D-6E8A-4147-A177-3AD203B41FA5}">
                      <a16:colId xmlns:a16="http://schemas.microsoft.com/office/drawing/2014/main" val="204536009"/>
                    </a:ext>
                  </a:extLst>
                </a:gridCol>
                <a:gridCol w="303836">
                  <a:extLst>
                    <a:ext uri="{9D8B030D-6E8A-4147-A177-3AD203B41FA5}">
                      <a16:colId xmlns:a16="http://schemas.microsoft.com/office/drawing/2014/main" val="600250478"/>
                    </a:ext>
                  </a:extLst>
                </a:gridCol>
              </a:tblGrid>
              <a:tr h="17911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부분재무상태표</a:t>
                      </a: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(20×3</a:t>
                      </a: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3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부분포괄손익계산서</a:t>
                      </a: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(20×3</a:t>
                      </a: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년</a:t>
                      </a: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)*</a:t>
                      </a:r>
                      <a:endParaRPr lang="ko-KR" altLang="en-US" sz="13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544826"/>
                  </a:ext>
                </a:extLst>
              </a:tr>
              <a:tr h="1791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자산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FVOCI 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금융자산처분이익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기타포괄손익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**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68757"/>
                  </a:ext>
                </a:extLst>
              </a:tr>
              <a:tr h="1791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  FVOCI 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587303"/>
                  </a:ext>
                </a:extLst>
              </a:tr>
              <a:tr h="1791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자본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ko-KR" altLang="en-US" sz="1300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기타포괄손익누계액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FVOCI 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금융자산평가이익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339647"/>
                  </a:ext>
                </a:extLst>
              </a:tr>
              <a:tr h="1791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  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FVOCI 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금융자산평가이익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sz="13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기타포괄손익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015436"/>
                  </a:ext>
                </a:extLst>
              </a:tr>
              <a:tr h="1791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자본</a:t>
                      </a:r>
                      <a:r>
                        <a:rPr lang="en-US" altLang="ko-KR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r>
                        <a:rPr lang="ko-KR" altLang="en-US" sz="13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이익잉여금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614038"/>
                  </a:ext>
                </a:extLst>
              </a:tr>
              <a:tr h="1791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115570" marR="0" indent="-1155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  이익잉여금</a:t>
                      </a:r>
                      <a:r>
                        <a:rPr lang="ko-KR" altLang="en-US" sz="1300" b="1" kern="0" spc="-3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endParaRPr lang="en-US" altLang="ko-KR" sz="1300" b="1" kern="0" spc="-30" baseline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15570" marR="0" indent="-1155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1300" b="1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기타포괄손익누계액으로부터</a:t>
                      </a:r>
                      <a:r>
                        <a:rPr lang="ko-KR" alt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대체됨</a:t>
                      </a:r>
                      <a:r>
                        <a:rPr lang="en-US" altLang="ko-KR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635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200,000</a:t>
                      </a: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38321"/>
                  </a:ext>
                </a:extLst>
              </a:tr>
              <a:tr h="17911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1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70400"/>
                  </a:ext>
                </a:extLst>
              </a:tr>
            </a:tbl>
          </a:graphicData>
        </a:graphic>
      </p:graphicFrame>
      <p:sp>
        <p:nvSpPr>
          <p:cNvPr id="28" name="직사각형 27"/>
          <p:cNvSpPr/>
          <p:nvPr/>
        </p:nvSpPr>
        <p:spPr>
          <a:xfrm>
            <a:off x="374618" y="5605885"/>
            <a:ext cx="81884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/>
            <a:r>
              <a:rPr lang="ko-KR" altLang="en-US" sz="1100" dirty="0"/>
              <a:t> </a:t>
            </a:r>
            <a:r>
              <a:rPr lang="ko-KR" altLang="en-US" sz="1200" dirty="0"/>
              <a:t>*  </a:t>
            </a:r>
            <a:r>
              <a:rPr lang="en-US" altLang="ko-KR" sz="1200" dirty="0"/>
              <a:t>20×2</a:t>
            </a:r>
            <a:r>
              <a:rPr lang="ko-KR" altLang="en-US" sz="1200" dirty="0"/>
              <a:t>년 </a:t>
            </a:r>
            <a:r>
              <a:rPr lang="en-US" altLang="ko-KR" sz="1200" dirty="0"/>
              <a:t>12</a:t>
            </a:r>
            <a:r>
              <a:rPr lang="ko-KR" altLang="en-US" sz="1200" dirty="0"/>
              <a:t>월 </a:t>
            </a:r>
            <a:r>
              <a:rPr lang="en-US" altLang="ko-KR" sz="1200" dirty="0"/>
              <a:t>31</a:t>
            </a:r>
            <a:r>
              <a:rPr lang="ko-KR" altLang="en-US" sz="1200" dirty="0"/>
              <a:t>일의 </a:t>
            </a:r>
            <a:r>
              <a:rPr lang="ko-KR" altLang="en-US" sz="1200" dirty="0" err="1"/>
              <a:t>공정가치와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처분시점의</a:t>
            </a:r>
            <a:r>
              <a:rPr lang="ko-KR" altLang="en-US" sz="1200" dirty="0"/>
              <a:t> 공정가치가 동일하므로 </a:t>
            </a:r>
            <a:r>
              <a:rPr lang="en-US" altLang="ko-KR" sz="1200" dirty="0"/>
              <a:t>20×3</a:t>
            </a:r>
            <a:r>
              <a:rPr lang="ko-KR" altLang="en-US" sz="1200" dirty="0"/>
              <a:t>년에 포괄손익계산서에서 인식되는 </a:t>
            </a:r>
            <a:r>
              <a:rPr lang="en-US" altLang="ko-KR" sz="1200" dirty="0"/>
              <a:t>FVOCI </a:t>
            </a:r>
            <a:r>
              <a:rPr lang="ko-KR" altLang="en-US" sz="1200" dirty="0"/>
              <a:t>금융자산평가손익은 없음</a:t>
            </a:r>
            <a:r>
              <a:rPr lang="en-US" altLang="ko-KR" sz="1200" dirty="0"/>
              <a:t>. </a:t>
            </a:r>
          </a:p>
          <a:p>
            <a:pPr marL="180000" indent="-180000"/>
            <a:r>
              <a:rPr lang="en-US" altLang="ko-KR" sz="1200" dirty="0"/>
              <a:t>** </a:t>
            </a:r>
            <a:r>
              <a:rPr lang="ko-KR" altLang="en-US" sz="1200" dirty="0"/>
              <a:t>본 예제는 지분투자에 대한 것이므로 </a:t>
            </a:r>
            <a:r>
              <a:rPr lang="ko-KR" altLang="en-US" sz="1200" dirty="0" err="1"/>
              <a:t>처분손익은</a:t>
            </a:r>
            <a:r>
              <a:rPr lang="ko-KR" altLang="en-US" sz="1200" dirty="0"/>
              <a:t> 기타포괄손익으로 분류하지만</a:t>
            </a:r>
            <a:r>
              <a:rPr lang="en-US" altLang="ko-KR" sz="1200" dirty="0"/>
              <a:t>, </a:t>
            </a:r>
            <a:r>
              <a:rPr lang="ko-KR" altLang="en-US" sz="1200" dirty="0"/>
              <a:t>채권투자의 경우는 </a:t>
            </a:r>
            <a:r>
              <a:rPr lang="ko-KR" altLang="en-US" sz="1200" dirty="0" err="1"/>
              <a:t>영업외손익으로</a:t>
            </a:r>
            <a:r>
              <a:rPr lang="ko-KR" altLang="en-US" sz="1200" dirty="0"/>
              <a:t> 분류함</a:t>
            </a:r>
            <a:r>
              <a:rPr lang="en-US" altLang="ko-KR" sz="1200" dirty="0"/>
              <a:t>.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AE8842D-715F-4D9A-9193-041F5D3E0138}"/>
              </a:ext>
            </a:extLst>
          </p:cNvPr>
          <p:cNvSpPr/>
          <p:nvPr/>
        </p:nvSpPr>
        <p:spPr>
          <a:xfrm>
            <a:off x="5600104" y="985426"/>
            <a:ext cx="339423" cy="326948"/>
          </a:xfrm>
          <a:prstGeom prst="ellipse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168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51315" y="1244271"/>
            <a:ext cx="8641369" cy="1478180"/>
            <a:chOff x="251315" y="2875399"/>
            <a:chExt cx="8641369" cy="1570903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251315" y="3321680"/>
              <a:ext cx="8641369" cy="112462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AC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금융자산이나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FVOCI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금융자산에 해당하지 않는 금융자산은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FVPL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금융자산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분류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80975" lvl="1" indent="0">
                <a:lnSpc>
                  <a:spcPts val="2400"/>
                </a:lnSpc>
                <a:spcBef>
                  <a:spcPct val="0"/>
                </a:spcBef>
                <a:buClr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단기간 내에 매도하여 시세차익을 얻을 목적으로 채권이나 주식을 취득하는 경우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FVPL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금융자산을 취득하는 과정에서 발생한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거래원가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중개수수료 등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는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당기비용으로 처리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257473" y="2875399"/>
              <a:ext cx="7492624" cy="340253"/>
              <a:chOff x="257473" y="1491099"/>
              <a:chExt cx="7492624" cy="340253"/>
            </a:xfrm>
          </p:grpSpPr>
          <p:sp>
            <p:nvSpPr>
              <p:cNvPr id="16" name="Rectangle 14"/>
              <p:cNvSpPr>
                <a:spLocks noChangeArrowheads="1"/>
              </p:cNvSpPr>
              <p:nvPr/>
            </p:nvSpPr>
            <p:spPr bwMode="auto">
              <a:xfrm>
                <a:off x="440748" y="1491099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 err="1">
                    <a:latin typeface="맑은 고딕" panose="020B0503020000020004" pitchFamily="50" charset="-127"/>
                  </a:rPr>
                  <a:t>당기손익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-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공정가치측정</a:t>
                </a:r>
                <a:r>
                  <a:rPr lang="en-US" altLang="ko-KR" sz="1800" b="1" dirty="0">
                    <a:latin typeface="맑은 고딕" panose="020B0503020000020004" pitchFamily="50" charset="-127"/>
                  </a:rPr>
                  <a:t>(FVPL) 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취득</a:t>
                </a: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257473" y="1512273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C1CDE14-E64A-4319-A1EF-036FB0982408}"/>
              </a:ext>
            </a:extLst>
          </p:cNvPr>
          <p:cNvGrpSpPr/>
          <p:nvPr/>
        </p:nvGrpSpPr>
        <p:grpSpPr>
          <a:xfrm>
            <a:off x="220960" y="3165967"/>
            <a:ext cx="8671724" cy="2659438"/>
            <a:chOff x="257473" y="2835839"/>
            <a:chExt cx="8671724" cy="2079940"/>
          </a:xfrm>
        </p:grpSpPr>
        <p:sp>
          <p:nvSpPr>
            <p:cNvPr id="10" name="Rectangle 15">
              <a:extLst>
                <a:ext uri="{FF2B5EF4-FFF2-40B4-BE49-F238E27FC236}">
                  <a16:creationId xmlns:a16="http://schemas.microsoft.com/office/drawing/2014/main" id="{817DA3F1-C10D-45B2-9067-731A02312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828" y="3138513"/>
              <a:ext cx="8641369" cy="177726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44000" indent="-14400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FVPL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금융자산을 취득한 이후에는 매 회계연도말에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공정가치로 평가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144000" indent="-14400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보유중인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FVPL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금융자산의 장부금액과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평가시점의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공정가치의 차이는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FVPL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금융자산평가손익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으로 인식하고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당기손익에 반영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DC996712-BD74-4654-93AC-2284332BB132}"/>
                </a:ext>
              </a:extLst>
            </p:cNvPr>
            <p:cNvGrpSpPr/>
            <p:nvPr/>
          </p:nvGrpSpPr>
          <p:grpSpPr>
            <a:xfrm>
              <a:off x="257473" y="2835839"/>
              <a:ext cx="7492624" cy="325020"/>
              <a:chOff x="257473" y="1451539"/>
              <a:chExt cx="7492624" cy="325020"/>
            </a:xfrm>
          </p:grpSpPr>
          <p:sp>
            <p:nvSpPr>
              <p:cNvPr id="13" name="Rectangle 14">
                <a:extLst>
                  <a:ext uri="{FF2B5EF4-FFF2-40B4-BE49-F238E27FC236}">
                    <a16:creationId xmlns:a16="http://schemas.microsoft.com/office/drawing/2014/main" id="{620C52AF-C99D-428D-991B-03FD2D749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748" y="1452709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ts val="24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 err="1">
                    <a:latin typeface="맑은 고딕" panose="020B0503020000020004" pitchFamily="50" charset="-127"/>
                  </a:rPr>
                  <a:t>당기손익</a:t>
                </a:r>
                <a:r>
                  <a:rPr lang="en-US" altLang="ko-KR" sz="1800" b="1" dirty="0">
                    <a:latin typeface="+mj-ea"/>
                  </a:rPr>
                  <a:t>-</a:t>
                </a:r>
                <a:r>
                  <a:rPr lang="ko-KR" altLang="en-US" sz="1800" b="1" dirty="0">
                    <a:latin typeface="+mj-ea"/>
                  </a:rPr>
                  <a:t>공정가치측정</a:t>
                </a:r>
                <a:r>
                  <a:rPr lang="en-US" altLang="ko-KR" sz="1800" b="1" dirty="0">
                    <a:latin typeface="+mj-ea"/>
                  </a:rPr>
                  <a:t>(FVPL)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평가</a:t>
                </a: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0A071C1-3A35-4DF1-A5F5-DD639E0EDACA}"/>
                  </a:ext>
                </a:extLst>
              </p:cNvPr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6244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257473" y="1198503"/>
            <a:ext cx="8706649" cy="3298020"/>
            <a:chOff x="257473" y="3036418"/>
            <a:chExt cx="8706649" cy="3885160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322753" y="3565752"/>
              <a:ext cx="8641369" cy="335582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•  FVPL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 처분시점에 금융자산을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공정가치로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재측정하여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평가손익을 당기손익으로 인식 </a:t>
              </a:r>
              <a:r>
                <a:rPr lang="en-US" altLang="ko-KR" sz="1600" dirty="0">
                  <a:latin typeface="맑은 고딕" panose="020B0503020000020004" pitchFamily="50" charset="-127"/>
                  <a:sym typeface="Wingdings" pitchFamily="2" charset="2"/>
                </a:rPr>
                <a:t>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금융자산의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장부금액이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공정가치와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일치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공정가치로 측정된 장부금액을 제거하면서 수취한 현금을 기록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거래비용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등이 발생하여 수취한 현금과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처분시점의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공정가치 사이에 차이가 있다면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    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 차이를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처분손익으로 인식하고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당기손익에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반영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16000" indent="-216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보유기간에 주식의 발행사로부터 현금으로 배당금을 수령하는 경우에는 배당금수익으로 처리</a:t>
              </a: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257473" y="3036418"/>
              <a:ext cx="7520829" cy="347100"/>
              <a:chOff x="257473" y="1652118"/>
              <a:chExt cx="7520829" cy="347100"/>
            </a:xfrm>
          </p:grpSpPr>
          <p:sp>
            <p:nvSpPr>
              <p:cNvPr id="16" name="Rectangle 14"/>
              <p:cNvSpPr>
                <a:spLocks noChangeArrowheads="1"/>
              </p:cNvSpPr>
              <p:nvPr/>
            </p:nvSpPr>
            <p:spPr bwMode="auto">
              <a:xfrm>
                <a:off x="468953" y="1652118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 err="1">
                    <a:latin typeface="맑은 고딕" panose="020B0503020000020004" pitchFamily="50" charset="-127"/>
                  </a:rPr>
                  <a:t>당기손익</a:t>
                </a:r>
                <a:r>
                  <a:rPr lang="en-US" altLang="ko-KR" sz="1800" b="1" dirty="0">
                    <a:latin typeface="+mj-ea"/>
                  </a:rPr>
                  <a:t>-</a:t>
                </a:r>
                <a:r>
                  <a:rPr lang="ko-KR" altLang="en-US" sz="1800" b="1" dirty="0">
                    <a:latin typeface="+mj-ea"/>
                  </a:rPr>
                  <a:t>공정가치측정</a:t>
                </a:r>
                <a:r>
                  <a:rPr lang="en-US" altLang="ko-KR" sz="1800" b="1" dirty="0">
                    <a:latin typeface="+mj-ea"/>
                  </a:rPr>
                  <a:t>(FVPL)</a:t>
                </a:r>
                <a:r>
                  <a:rPr lang="ko-KR" altLang="en-US" sz="1800" b="1" dirty="0">
                    <a:latin typeface="맑은 고딕" panose="020B0503020000020004" pitchFamily="50" charset="-127"/>
                  </a:rPr>
                  <a:t>금융자산의 처분과 </a:t>
                </a:r>
                <a:r>
                  <a:rPr lang="ko-KR" altLang="en-US" sz="1800" b="1" dirty="0" err="1">
                    <a:latin typeface="맑은 고딕" panose="020B0503020000020004" pitchFamily="50" charset="-127"/>
                  </a:rPr>
                  <a:t>배당금수익</a:t>
                </a:r>
                <a:endParaRPr lang="ko-KR" altLang="en-US" sz="1800" b="1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257473" y="16801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9173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419492" y="1713692"/>
            <a:ext cx="8221126" cy="896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500" b="1" dirty="0">
                <a:latin typeface="+mj-ea"/>
                <a:ea typeface="+mj-ea"/>
              </a:rPr>
              <a:t>(</a:t>
            </a:r>
            <a:r>
              <a:rPr lang="ko-KR" altLang="en-US" sz="1500" b="1" dirty="0">
                <a:latin typeface="+mj-ea"/>
                <a:ea typeface="+mj-ea"/>
              </a:rPr>
              <a:t>주</a:t>
            </a:r>
            <a:r>
              <a:rPr lang="en-US" altLang="ko-KR" sz="1500" b="1" dirty="0">
                <a:latin typeface="+mj-ea"/>
                <a:ea typeface="+mj-ea"/>
              </a:rPr>
              <a:t>)</a:t>
            </a:r>
            <a:r>
              <a:rPr lang="ko-KR" altLang="en-US" sz="1500" b="1" dirty="0" err="1">
                <a:latin typeface="+mj-ea"/>
                <a:ea typeface="+mj-ea"/>
              </a:rPr>
              <a:t>키움증권은</a:t>
            </a:r>
            <a:r>
              <a:rPr lang="ko-KR" altLang="en-US" sz="1500" b="1" dirty="0">
                <a:latin typeface="+mj-ea"/>
                <a:ea typeface="+mj-ea"/>
              </a:rPr>
              <a:t> </a:t>
            </a:r>
            <a:r>
              <a:rPr lang="en-US" altLang="ko-KR" sz="1500" b="1" dirty="0">
                <a:latin typeface="+mj-ea"/>
                <a:ea typeface="+mj-ea"/>
              </a:rPr>
              <a:t>20×1</a:t>
            </a:r>
            <a:r>
              <a:rPr lang="ko-KR" altLang="en-US" sz="1500" b="1" dirty="0">
                <a:latin typeface="+mj-ea"/>
                <a:ea typeface="+mj-ea"/>
              </a:rPr>
              <a:t>년 </a:t>
            </a:r>
            <a:r>
              <a:rPr lang="en-US" altLang="ko-KR" sz="1500" b="1" dirty="0">
                <a:latin typeface="+mj-ea"/>
                <a:ea typeface="+mj-ea"/>
              </a:rPr>
              <a:t>12</a:t>
            </a:r>
            <a:r>
              <a:rPr lang="ko-KR" altLang="en-US" sz="1500" b="1" dirty="0">
                <a:latin typeface="+mj-ea"/>
                <a:ea typeface="+mj-ea"/>
              </a:rPr>
              <a:t>월 </a:t>
            </a:r>
            <a:r>
              <a:rPr lang="en-US" altLang="ko-KR" sz="1500" b="1" dirty="0">
                <a:latin typeface="+mj-ea"/>
                <a:ea typeface="+mj-ea"/>
              </a:rPr>
              <a:t>20</a:t>
            </a:r>
            <a:r>
              <a:rPr lang="ko-KR" altLang="en-US" sz="1500" b="1" dirty="0">
                <a:latin typeface="+mj-ea"/>
                <a:ea typeface="+mj-ea"/>
              </a:rPr>
              <a:t>일에 ㈜효성의 주식을 현금으로 취득하고</a:t>
            </a:r>
            <a:r>
              <a:rPr lang="en-US" altLang="ko-KR" sz="1500" b="1" dirty="0">
                <a:latin typeface="+mj-ea"/>
                <a:ea typeface="+mj-ea"/>
              </a:rPr>
              <a:t>, </a:t>
            </a:r>
            <a:r>
              <a:rPr lang="ko-KR" altLang="en-US" sz="1500" b="1" dirty="0">
                <a:latin typeface="+mj-ea"/>
                <a:ea typeface="+mj-ea"/>
              </a:rPr>
              <a:t>매입부대비용 ￦</a:t>
            </a:r>
            <a:r>
              <a:rPr lang="en-US" altLang="ko-KR" sz="1500" b="1" dirty="0">
                <a:latin typeface="+mj-ea"/>
                <a:ea typeface="+mj-ea"/>
              </a:rPr>
              <a:t>50,000</a:t>
            </a:r>
            <a:r>
              <a:rPr lang="ko-KR" altLang="en-US" sz="1500" b="1" dirty="0">
                <a:latin typeface="+mj-ea"/>
                <a:ea typeface="+mj-ea"/>
              </a:rPr>
              <a:t>을 현금으로 지급하였다</a:t>
            </a:r>
            <a:r>
              <a:rPr lang="en-US" altLang="ko-KR" sz="1500" b="1" dirty="0">
                <a:latin typeface="+mj-ea"/>
                <a:ea typeface="+mj-ea"/>
              </a:rPr>
              <a:t>. </a:t>
            </a:r>
            <a:r>
              <a:rPr lang="ko-KR" altLang="en-US" sz="1500" b="1" dirty="0">
                <a:latin typeface="+mj-ea"/>
                <a:ea typeface="+mj-ea"/>
              </a:rPr>
              <a:t>㈜</a:t>
            </a:r>
            <a:r>
              <a:rPr lang="ko-KR" altLang="en-US" sz="1500" b="1" dirty="0" err="1">
                <a:latin typeface="+mj-ea"/>
                <a:ea typeface="+mj-ea"/>
              </a:rPr>
              <a:t>키움증권은</a:t>
            </a:r>
            <a:r>
              <a:rPr lang="ko-KR" altLang="en-US" sz="1500" b="1" dirty="0">
                <a:latin typeface="+mj-ea"/>
                <a:ea typeface="+mj-ea"/>
              </a:rPr>
              <a:t> 이 주식을 단기간 내에 매각하여 투자이익을 얻고자 한다</a:t>
            </a:r>
            <a:r>
              <a:rPr lang="en-US" altLang="ko-KR" sz="1500" b="1" dirty="0">
                <a:latin typeface="+mj-ea"/>
                <a:ea typeface="+mj-ea"/>
              </a:rPr>
              <a:t>. </a:t>
            </a:r>
            <a:r>
              <a:rPr lang="ko-KR" altLang="en-US" sz="1500" b="1" dirty="0">
                <a:latin typeface="+mj-ea"/>
                <a:ea typeface="+mj-ea"/>
              </a:rPr>
              <a:t>㈜</a:t>
            </a:r>
            <a:r>
              <a:rPr lang="ko-KR" altLang="en-US" sz="1500" b="1" dirty="0" err="1">
                <a:latin typeface="+mj-ea"/>
                <a:ea typeface="+mj-ea"/>
              </a:rPr>
              <a:t>키움증권은</a:t>
            </a:r>
            <a:r>
              <a:rPr lang="ko-KR" altLang="en-US" sz="1500" b="1" dirty="0">
                <a:latin typeface="+mj-ea"/>
                <a:ea typeface="+mj-ea"/>
              </a:rPr>
              <a:t> </a:t>
            </a:r>
            <a:r>
              <a:rPr lang="en-US" altLang="ko-KR" sz="1500" b="1" dirty="0">
                <a:latin typeface="+mj-ea"/>
                <a:ea typeface="+mj-ea"/>
              </a:rPr>
              <a:t>20×2</a:t>
            </a:r>
            <a:r>
              <a:rPr lang="ko-KR" altLang="en-US" sz="1500" b="1" dirty="0">
                <a:latin typeface="+mj-ea"/>
                <a:ea typeface="+mj-ea"/>
              </a:rPr>
              <a:t>년 </a:t>
            </a:r>
            <a:r>
              <a:rPr lang="en-US" altLang="ko-KR" sz="1500" b="1" dirty="0">
                <a:latin typeface="+mj-ea"/>
                <a:ea typeface="+mj-ea"/>
              </a:rPr>
              <a:t>2</a:t>
            </a:r>
            <a:r>
              <a:rPr lang="ko-KR" altLang="en-US" sz="1500" b="1" dirty="0">
                <a:latin typeface="+mj-ea"/>
                <a:ea typeface="+mj-ea"/>
              </a:rPr>
              <a:t>월 </a:t>
            </a:r>
            <a:r>
              <a:rPr lang="en-US" altLang="ko-KR" sz="1500" b="1" dirty="0">
                <a:latin typeface="+mj-ea"/>
                <a:ea typeface="+mj-ea"/>
              </a:rPr>
              <a:t>20</a:t>
            </a:r>
            <a:r>
              <a:rPr lang="ko-KR" altLang="en-US" sz="1500" b="1" dirty="0">
                <a:latin typeface="+mj-ea"/>
                <a:ea typeface="+mj-ea"/>
              </a:rPr>
              <a:t>일 동 주식을 처분하였다</a:t>
            </a:r>
            <a:r>
              <a:rPr lang="en-US" altLang="ko-KR" sz="1500" b="1" dirty="0">
                <a:latin typeface="+mj-ea"/>
                <a:ea typeface="+mj-ea"/>
              </a:rPr>
              <a:t>.</a:t>
            </a:r>
            <a:endParaRPr lang="ko-KR" altLang="en-US" sz="1500" b="1" dirty="0">
              <a:latin typeface="+mj-ea"/>
              <a:ea typeface="+mj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603350"/>
              </p:ext>
            </p:extLst>
          </p:nvPr>
        </p:nvGraphicFramePr>
        <p:xfrm>
          <a:off x="461436" y="2780071"/>
          <a:ext cx="8221127" cy="948563"/>
        </p:xfrm>
        <a:graphic>
          <a:graphicData uri="http://schemas.openxmlformats.org/drawingml/2006/table">
            <a:tbl>
              <a:tblPr/>
              <a:tblGrid>
                <a:gridCol w="2172426">
                  <a:extLst>
                    <a:ext uri="{9D8B030D-6E8A-4147-A177-3AD203B41FA5}">
                      <a16:colId xmlns:a16="http://schemas.microsoft.com/office/drawing/2014/main" val="3963095162"/>
                    </a:ext>
                  </a:extLst>
                </a:gridCol>
                <a:gridCol w="2055127">
                  <a:extLst>
                    <a:ext uri="{9D8B030D-6E8A-4147-A177-3AD203B41FA5}">
                      <a16:colId xmlns:a16="http://schemas.microsoft.com/office/drawing/2014/main" val="2854588744"/>
                    </a:ext>
                  </a:extLst>
                </a:gridCol>
                <a:gridCol w="1996787">
                  <a:extLst>
                    <a:ext uri="{9D8B030D-6E8A-4147-A177-3AD203B41FA5}">
                      <a16:colId xmlns:a16="http://schemas.microsoft.com/office/drawing/2014/main" val="2184979525"/>
                    </a:ext>
                  </a:extLst>
                </a:gridCol>
                <a:gridCol w="1996787">
                  <a:extLst>
                    <a:ext uri="{9D8B030D-6E8A-4147-A177-3AD203B41FA5}">
                      <a16:colId xmlns:a16="http://schemas.microsoft.com/office/drawing/2014/main" val="3517570200"/>
                    </a:ext>
                  </a:extLst>
                </a:gridCol>
              </a:tblGrid>
              <a:tr h="3208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취득원가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공정가치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처분가격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(20×2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16269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효성 주식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5,000,000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400" kern="0" spc="-3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5,600,000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5,500,000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559911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7695436-D268-4241-8EFF-99523FD8D739}"/>
              </a:ext>
            </a:extLst>
          </p:cNvPr>
          <p:cNvSpPr/>
          <p:nvPr/>
        </p:nvSpPr>
        <p:spPr>
          <a:xfrm>
            <a:off x="306136" y="3994545"/>
            <a:ext cx="525804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 dirty="0"/>
              <a:t>① </a:t>
            </a:r>
            <a:r>
              <a:rPr lang="en-US" altLang="ko-KR" sz="1500" b="1" dirty="0"/>
              <a:t>20×1</a:t>
            </a:r>
            <a:r>
              <a:rPr lang="ko-KR" altLang="en-US" sz="1500" b="1" dirty="0"/>
              <a:t>년 </a:t>
            </a:r>
            <a:r>
              <a:rPr lang="en-US" altLang="ko-KR" sz="1500" b="1" dirty="0"/>
              <a:t>12</a:t>
            </a:r>
            <a:r>
              <a:rPr lang="ko-KR" altLang="en-US" sz="1500" b="1" dirty="0"/>
              <a:t>월 </a:t>
            </a:r>
            <a:r>
              <a:rPr lang="en-US" altLang="ko-KR" sz="1500" b="1" dirty="0"/>
              <a:t>20</a:t>
            </a:r>
            <a:r>
              <a:rPr lang="ko-KR" altLang="en-US" sz="1500" b="1" dirty="0"/>
              <a:t>일</a:t>
            </a:r>
            <a:r>
              <a:rPr lang="ko-KR" altLang="en-US" sz="1500" dirty="0"/>
              <a:t>：</a:t>
            </a:r>
            <a:r>
              <a:rPr lang="en-US" altLang="ko-KR" sz="1500" dirty="0"/>
              <a:t>FVPL </a:t>
            </a:r>
            <a:r>
              <a:rPr lang="ko-KR" altLang="en-US" sz="1500" dirty="0"/>
              <a:t>금융자산 취득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D8CEA2B-A530-427D-932E-6A0F32F277E0}"/>
              </a:ext>
            </a:extLst>
          </p:cNvPr>
          <p:cNvSpPr/>
          <p:nvPr/>
        </p:nvSpPr>
        <p:spPr>
          <a:xfrm>
            <a:off x="1316391" y="4345596"/>
            <a:ext cx="712628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FVPL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  </a:t>
            </a:r>
            <a:r>
              <a:rPr lang="ko-KR" altLang="en-US" sz="1000" b="1" kern="0" dirty="0">
                <a:solidFill>
                  <a:srgbClr val="000000"/>
                </a:solidFill>
                <a:latin typeface="+mj-ea"/>
                <a:ea typeface="+mj-ea"/>
              </a:rPr>
              <a:t> 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5,000,000	   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현    금	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5,050,000</a:t>
            </a:r>
          </a:p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     수수료비용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*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     </a:t>
            </a:r>
            <a:r>
              <a:rPr lang="ko-KR" altLang="en-US" sz="1050" b="1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1000" b="1" kern="0" dirty="0">
                <a:solidFill>
                  <a:srgbClr val="000000"/>
                </a:solidFill>
                <a:latin typeface="+mj-ea"/>
                <a:ea typeface="+mj-ea"/>
              </a:rPr>
              <a:t>  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50,000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CF7D860-AF06-4D54-93D9-1216265830E5}"/>
              </a:ext>
            </a:extLst>
          </p:cNvPr>
          <p:cNvSpPr/>
          <p:nvPr/>
        </p:nvSpPr>
        <p:spPr>
          <a:xfrm>
            <a:off x="286041" y="1038420"/>
            <a:ext cx="4202831" cy="326949"/>
          </a:xfrm>
          <a:prstGeom prst="rect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/>
              <a:t>   예제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9-3 FVPL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금융자산</a:t>
            </a:r>
            <a:endParaRPr lang="ko-KR" altLang="en-US" sz="1600" b="1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28678D7-DEAE-4D71-8FEA-4D540DF7AF4F}"/>
              </a:ext>
            </a:extLst>
          </p:cNvPr>
          <p:cNvGrpSpPr/>
          <p:nvPr/>
        </p:nvGrpSpPr>
        <p:grpSpPr>
          <a:xfrm>
            <a:off x="126251" y="1038415"/>
            <a:ext cx="8786101" cy="5489384"/>
            <a:chOff x="190714" y="1320882"/>
            <a:chExt cx="8786101" cy="5489384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123D230A-2246-4F66-AD7A-70205FA9C24C}"/>
                </a:ext>
              </a:extLst>
            </p:cNvPr>
            <p:cNvGrpSpPr/>
            <p:nvPr/>
          </p:nvGrpSpPr>
          <p:grpSpPr>
            <a:xfrm>
              <a:off x="361935" y="1461499"/>
              <a:ext cx="8614880" cy="5348767"/>
              <a:chOff x="269048" y="1722741"/>
              <a:chExt cx="8724365" cy="5348767"/>
            </a:xfrm>
          </p:grpSpPr>
          <p:sp>
            <p:nvSpPr>
              <p:cNvPr id="44" name="Rectangle 15">
                <a:extLst>
                  <a:ext uri="{FF2B5EF4-FFF2-40B4-BE49-F238E27FC236}">
                    <a16:creationId xmlns:a16="http://schemas.microsoft.com/office/drawing/2014/main" id="{2067134D-108D-4FA4-9D63-D1E994AA5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48" y="1746439"/>
                <a:ext cx="8724365" cy="5325069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DBB0F9F5-C598-4E71-94B7-4C1A826CD839}"/>
                  </a:ext>
                </a:extLst>
              </p:cNvPr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39A1E616-8A5A-48AB-8F86-A1388D7C508B}"/>
                </a:ext>
              </a:extLst>
            </p:cNvPr>
            <p:cNvGrpSpPr/>
            <p:nvPr/>
          </p:nvGrpSpPr>
          <p:grpSpPr>
            <a:xfrm>
              <a:off x="190714" y="1320882"/>
              <a:ext cx="4557877" cy="326954"/>
              <a:chOff x="190714" y="1320889"/>
              <a:chExt cx="3898920" cy="290356"/>
            </a:xfrm>
            <a:solidFill>
              <a:srgbClr val="2D61C8"/>
            </a:solidFill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A075BDAE-A1F9-42E7-BD66-A344F8E16389}"/>
                  </a:ext>
                </a:extLst>
              </p:cNvPr>
              <p:cNvGrpSpPr/>
              <p:nvPr/>
            </p:nvGrpSpPr>
            <p:grpSpPr>
              <a:xfrm>
                <a:off x="190714" y="1320889"/>
                <a:ext cx="3898920" cy="290356"/>
                <a:chOff x="405822" y="2237753"/>
                <a:chExt cx="3898920" cy="290356"/>
              </a:xfrm>
              <a:grpFill/>
            </p:grpSpPr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D3C23BAE-3097-48FB-96FA-BFEAE4D04A53}"/>
                    </a:ext>
                  </a:extLst>
                </p:cNvPr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9F1F90A4-555D-4996-8CF4-5CBAF8D750BA}"/>
                    </a:ext>
                  </a:extLst>
                </p:cNvPr>
                <p:cNvSpPr/>
                <p:nvPr/>
              </p:nvSpPr>
              <p:spPr>
                <a:xfrm>
                  <a:off x="4014391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58BD5CD3-1409-4962-99AF-96766BF02B57}"/>
                    </a:ext>
                  </a:extLst>
                </p:cNvPr>
                <p:cNvSpPr/>
                <p:nvPr/>
              </p:nvSpPr>
              <p:spPr>
                <a:xfrm>
                  <a:off x="542510" y="2237757"/>
                  <a:ext cx="359520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9-3 FVPL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endParaRPr lang="ko-KR" altLang="en-US" sz="1600" b="1" dirty="0"/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5206823-042B-4BCA-9F2E-32FD79DD79EE}"/>
                    </a:ext>
                  </a:extLst>
                </p:cNvPr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9" name="그림 38" descr="Log in | Sign Up Upload Clipart">
                <a:extLst>
                  <a:ext uri="{FF2B5EF4-FFF2-40B4-BE49-F238E27FC236}">
                    <a16:creationId xmlns:a16="http://schemas.microsoft.com/office/drawing/2014/main" id="{87EB477A-552F-408A-80B1-C397CA745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B86C17D-996B-486F-9AFF-C0AC20DFDC67}"/>
              </a:ext>
            </a:extLst>
          </p:cNvPr>
          <p:cNvSpPr/>
          <p:nvPr/>
        </p:nvSpPr>
        <p:spPr>
          <a:xfrm>
            <a:off x="419492" y="4961089"/>
            <a:ext cx="82211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*FVPL</a:t>
            </a:r>
            <a:r>
              <a:rPr lang="ko-KR" altLang="en-US" sz="1400" dirty="0"/>
              <a:t>금융자산의 취득과 관련된 거래비용은 당기손익에 반영</a:t>
            </a:r>
            <a:endParaRPr lang="ko-KR" altLang="en-US" sz="1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58645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126251" y="1038415"/>
            <a:ext cx="8786101" cy="5489384"/>
            <a:chOff x="190714" y="1320882"/>
            <a:chExt cx="8786101" cy="5489384"/>
          </a:xfrm>
        </p:grpSpPr>
        <p:grpSp>
          <p:nvGrpSpPr>
            <p:cNvPr id="26" name="그룹 25"/>
            <p:cNvGrpSpPr/>
            <p:nvPr/>
          </p:nvGrpSpPr>
          <p:grpSpPr>
            <a:xfrm>
              <a:off x="361935" y="1461499"/>
              <a:ext cx="8614880" cy="5348767"/>
              <a:chOff x="269048" y="1722741"/>
              <a:chExt cx="8724365" cy="5348767"/>
            </a:xfrm>
          </p:grpSpPr>
          <p:sp>
            <p:nvSpPr>
              <p:cNvPr id="34" name="Rectangle 15"/>
              <p:cNvSpPr>
                <a:spLocks noChangeArrowheads="1"/>
              </p:cNvSpPr>
              <p:nvPr/>
            </p:nvSpPr>
            <p:spPr bwMode="auto">
              <a:xfrm>
                <a:off x="269048" y="1746439"/>
                <a:ext cx="8724365" cy="5325069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7" name="그룹 26"/>
            <p:cNvGrpSpPr/>
            <p:nvPr/>
          </p:nvGrpSpPr>
          <p:grpSpPr>
            <a:xfrm>
              <a:off x="190714" y="1320882"/>
              <a:ext cx="4557877" cy="326954"/>
              <a:chOff x="190714" y="1320889"/>
              <a:chExt cx="3898920" cy="290356"/>
            </a:xfrm>
            <a:solidFill>
              <a:srgbClr val="2D61C8"/>
            </a:solidFill>
          </p:grpSpPr>
          <p:grpSp>
            <p:nvGrpSpPr>
              <p:cNvPr id="28" name="그룹 27"/>
              <p:cNvGrpSpPr/>
              <p:nvPr/>
            </p:nvGrpSpPr>
            <p:grpSpPr>
              <a:xfrm>
                <a:off x="190714" y="1320889"/>
                <a:ext cx="3898920" cy="290356"/>
                <a:chOff x="405822" y="2237753"/>
                <a:chExt cx="3898920" cy="290356"/>
              </a:xfrm>
              <a:grpFill/>
            </p:grpSpPr>
            <p:sp>
              <p:nvSpPr>
                <p:cNvPr id="30" name="타원 2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타원 30"/>
                <p:cNvSpPr/>
                <p:nvPr/>
              </p:nvSpPr>
              <p:spPr>
                <a:xfrm>
                  <a:off x="4014391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직사각형 31"/>
                <p:cNvSpPr/>
                <p:nvPr/>
              </p:nvSpPr>
              <p:spPr>
                <a:xfrm>
                  <a:off x="542510" y="2237757"/>
                  <a:ext cx="3595205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9-3 FVPL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endParaRPr lang="ko-KR" altLang="en-US" sz="1600" b="1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9" name="그림 2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1" name="직사각형 10"/>
          <p:cNvSpPr/>
          <p:nvPr/>
        </p:nvSpPr>
        <p:spPr>
          <a:xfrm>
            <a:off x="385376" y="1697837"/>
            <a:ext cx="840606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 dirty="0"/>
              <a:t>② </a:t>
            </a:r>
            <a:r>
              <a:rPr lang="en-US" altLang="ko-KR" sz="1500" b="1" dirty="0"/>
              <a:t>20×1</a:t>
            </a:r>
            <a:r>
              <a:rPr lang="ko-KR" altLang="en-US" sz="1500" b="1" dirty="0"/>
              <a:t>년 </a:t>
            </a:r>
            <a:r>
              <a:rPr lang="en-US" altLang="ko-KR" sz="1500" b="1" dirty="0"/>
              <a:t>12</a:t>
            </a:r>
            <a:r>
              <a:rPr lang="ko-KR" altLang="en-US" sz="1500" b="1" dirty="0"/>
              <a:t>월 </a:t>
            </a:r>
            <a:r>
              <a:rPr lang="en-US" altLang="ko-KR" sz="1500" b="1" dirty="0"/>
              <a:t>31</a:t>
            </a:r>
            <a:r>
              <a:rPr lang="ko-KR" altLang="en-US" sz="1500" b="1" dirty="0"/>
              <a:t>일</a:t>
            </a:r>
            <a:r>
              <a:rPr lang="ko-KR" altLang="en-US" sz="1500" dirty="0"/>
              <a:t>：기말에 </a:t>
            </a:r>
            <a:r>
              <a:rPr lang="en-US" altLang="ko-KR" sz="1500" dirty="0"/>
              <a:t>FVPL</a:t>
            </a:r>
            <a:r>
              <a:rPr lang="ko-KR" altLang="en-US" sz="1500" dirty="0"/>
              <a:t>금융자산을 공정가치로 평가하고 그 차이를 </a:t>
            </a:r>
            <a:r>
              <a:rPr lang="ko-KR" altLang="en-US" sz="1500" dirty="0" err="1"/>
              <a:t>당기손익에</a:t>
            </a:r>
            <a:r>
              <a:rPr lang="ko-KR" altLang="en-US" sz="1500" dirty="0"/>
              <a:t> 반영</a:t>
            </a:r>
            <a:r>
              <a:rPr lang="en-US" altLang="ko-KR" sz="1500" dirty="0"/>
              <a:t> </a:t>
            </a:r>
          </a:p>
          <a:p>
            <a:endParaRPr lang="en-US" altLang="ko-KR" sz="1500" dirty="0"/>
          </a:p>
          <a:p>
            <a:r>
              <a:rPr lang="ko-KR" altLang="en-US" sz="1500" dirty="0"/>
              <a:t>평가손익＝</a:t>
            </a:r>
            <a:r>
              <a:rPr lang="en-US" altLang="ko-KR" sz="1500" dirty="0"/>
              <a:t>20×1</a:t>
            </a:r>
            <a:r>
              <a:rPr lang="ko-KR" altLang="en-US" sz="1500" dirty="0"/>
              <a:t>년말 </a:t>
            </a:r>
            <a:r>
              <a:rPr lang="ko-KR" altLang="en-US" sz="1500" dirty="0" err="1"/>
              <a:t>공정가치－취득원가</a:t>
            </a:r>
            <a:r>
              <a:rPr lang="ko-KR" altLang="en-US" sz="1500" dirty="0"/>
              <a:t> ＝￦</a:t>
            </a:r>
            <a:r>
              <a:rPr lang="en-US" altLang="ko-KR" sz="1500" dirty="0"/>
              <a:t>5,600,000</a:t>
            </a:r>
            <a:r>
              <a:rPr lang="ko-KR" altLang="en-US" sz="1500" dirty="0"/>
              <a:t>－￦</a:t>
            </a:r>
            <a:r>
              <a:rPr lang="en-US" altLang="ko-KR" sz="1500" dirty="0"/>
              <a:t>5,000,000</a:t>
            </a:r>
            <a:r>
              <a:rPr lang="ko-KR" altLang="en-US" sz="1500" dirty="0"/>
              <a:t>＝￦</a:t>
            </a:r>
            <a:r>
              <a:rPr lang="en-US" altLang="ko-KR" sz="1500" dirty="0"/>
              <a:t>600,000(</a:t>
            </a:r>
            <a:r>
              <a:rPr lang="ko-KR" altLang="en-US" sz="1500" dirty="0"/>
              <a:t>이익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19" name="직사각형 18"/>
          <p:cNvSpPr/>
          <p:nvPr/>
        </p:nvSpPr>
        <p:spPr>
          <a:xfrm>
            <a:off x="555165" y="2808877"/>
            <a:ext cx="8176545" cy="3355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FVPL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	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600,000 	       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FVPL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금융자산평가이익	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600,000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261628"/>
              </p:ext>
            </p:extLst>
          </p:nvPr>
        </p:nvGraphicFramePr>
        <p:xfrm>
          <a:off x="586275" y="3806228"/>
          <a:ext cx="7805194" cy="876133"/>
        </p:xfrm>
        <a:graphic>
          <a:graphicData uri="http://schemas.openxmlformats.org/drawingml/2006/table">
            <a:tbl>
              <a:tblPr/>
              <a:tblGrid>
                <a:gridCol w="2530628">
                  <a:extLst>
                    <a:ext uri="{9D8B030D-6E8A-4147-A177-3AD203B41FA5}">
                      <a16:colId xmlns:a16="http://schemas.microsoft.com/office/drawing/2014/main" val="3197614650"/>
                    </a:ext>
                  </a:extLst>
                </a:gridCol>
                <a:gridCol w="946253">
                  <a:extLst>
                    <a:ext uri="{9D8B030D-6E8A-4147-A177-3AD203B41FA5}">
                      <a16:colId xmlns:a16="http://schemas.microsoft.com/office/drawing/2014/main" val="1320566326"/>
                    </a:ext>
                  </a:extLst>
                </a:gridCol>
                <a:gridCol w="173100">
                  <a:extLst>
                    <a:ext uri="{9D8B030D-6E8A-4147-A177-3AD203B41FA5}">
                      <a16:colId xmlns:a16="http://schemas.microsoft.com/office/drawing/2014/main" val="3343513799"/>
                    </a:ext>
                  </a:extLst>
                </a:gridCol>
                <a:gridCol w="173100">
                  <a:extLst>
                    <a:ext uri="{9D8B030D-6E8A-4147-A177-3AD203B41FA5}">
                      <a16:colId xmlns:a16="http://schemas.microsoft.com/office/drawing/2014/main" val="3112617218"/>
                    </a:ext>
                  </a:extLst>
                </a:gridCol>
                <a:gridCol w="2865833">
                  <a:extLst>
                    <a:ext uri="{9D8B030D-6E8A-4147-A177-3AD203B41FA5}">
                      <a16:colId xmlns:a16="http://schemas.microsoft.com/office/drawing/2014/main" val="3319252027"/>
                    </a:ext>
                  </a:extLst>
                </a:gridCol>
                <a:gridCol w="943180">
                  <a:extLst>
                    <a:ext uri="{9D8B030D-6E8A-4147-A177-3AD203B41FA5}">
                      <a16:colId xmlns:a16="http://schemas.microsoft.com/office/drawing/2014/main" val="3394185885"/>
                    </a:ext>
                  </a:extLst>
                </a:gridCol>
                <a:gridCol w="173100">
                  <a:extLst>
                    <a:ext uri="{9D8B030D-6E8A-4147-A177-3AD203B41FA5}">
                      <a16:colId xmlns:a16="http://schemas.microsoft.com/office/drawing/2014/main" val="769167711"/>
                    </a:ext>
                  </a:extLst>
                </a:gridCol>
              </a:tblGrid>
              <a:tr h="203519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부분재무상태표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부분포괄손익계산서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662905"/>
                  </a:ext>
                </a:extLst>
              </a:tr>
              <a:tr h="203519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FVPL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금융자산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  <a:defRPr/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5,600,000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FVPL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금융자산평가이익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600,000</a:t>
                      </a: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922062"/>
                  </a:ext>
                </a:extLst>
              </a:tr>
              <a:tr h="377785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43106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222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120155" y="1038414"/>
            <a:ext cx="8786101" cy="5489385"/>
            <a:chOff x="190714" y="1320881"/>
            <a:chExt cx="8786101" cy="5489385"/>
          </a:xfrm>
        </p:grpSpPr>
        <p:grpSp>
          <p:nvGrpSpPr>
            <p:cNvPr id="26" name="그룹 25"/>
            <p:cNvGrpSpPr/>
            <p:nvPr/>
          </p:nvGrpSpPr>
          <p:grpSpPr>
            <a:xfrm>
              <a:off x="361935" y="1461499"/>
              <a:ext cx="8614880" cy="5348767"/>
              <a:chOff x="269048" y="1722741"/>
              <a:chExt cx="8724365" cy="5348767"/>
            </a:xfrm>
          </p:grpSpPr>
          <p:sp>
            <p:nvSpPr>
              <p:cNvPr id="34" name="Rectangle 15"/>
              <p:cNvSpPr>
                <a:spLocks noChangeArrowheads="1"/>
              </p:cNvSpPr>
              <p:nvPr/>
            </p:nvSpPr>
            <p:spPr bwMode="auto">
              <a:xfrm>
                <a:off x="269048" y="1746439"/>
                <a:ext cx="8724365" cy="5325069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7" name="그룹 26"/>
            <p:cNvGrpSpPr/>
            <p:nvPr/>
          </p:nvGrpSpPr>
          <p:grpSpPr>
            <a:xfrm>
              <a:off x="190714" y="1320881"/>
              <a:ext cx="4373336" cy="333045"/>
              <a:chOff x="190714" y="1320889"/>
              <a:chExt cx="3741059" cy="295765"/>
            </a:xfrm>
            <a:solidFill>
              <a:srgbClr val="2D61C8"/>
            </a:solidFill>
          </p:grpSpPr>
          <p:grpSp>
            <p:nvGrpSpPr>
              <p:cNvPr id="28" name="그룹 27"/>
              <p:cNvGrpSpPr/>
              <p:nvPr/>
            </p:nvGrpSpPr>
            <p:grpSpPr>
              <a:xfrm>
                <a:off x="190714" y="1320889"/>
                <a:ext cx="3741059" cy="295765"/>
                <a:chOff x="405822" y="2237753"/>
                <a:chExt cx="3741059" cy="295765"/>
              </a:xfrm>
              <a:grpFill/>
            </p:grpSpPr>
            <p:sp>
              <p:nvSpPr>
                <p:cNvPr id="30" name="타원 29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타원 30"/>
                <p:cNvSpPr/>
                <p:nvPr/>
              </p:nvSpPr>
              <p:spPr>
                <a:xfrm>
                  <a:off x="3856530" y="2243167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직사각형 31"/>
                <p:cNvSpPr/>
                <p:nvPr/>
              </p:nvSpPr>
              <p:spPr>
                <a:xfrm>
                  <a:off x="542510" y="2242557"/>
                  <a:ext cx="3429284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b="1" dirty="0"/>
                    <a:t>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9-3 FVPL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금융자산</a:t>
                  </a:r>
                  <a:endParaRPr lang="ko-KR" altLang="en-US" sz="1600" b="1" dirty="0"/>
                </a:p>
              </p:txBody>
            </p:sp>
            <p:sp>
              <p:nvSpPr>
                <p:cNvPr id="33" name="타원 32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29" name="그림 28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</p:pic>
        </p:grpSp>
      </p:grpSp>
      <p:sp>
        <p:nvSpPr>
          <p:cNvPr id="3" name="직사각형 2"/>
          <p:cNvSpPr/>
          <p:nvPr/>
        </p:nvSpPr>
        <p:spPr>
          <a:xfrm>
            <a:off x="311029" y="1506667"/>
            <a:ext cx="8556662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b="1" dirty="0"/>
              <a:t>③ </a:t>
            </a:r>
            <a:r>
              <a:rPr lang="en-US" altLang="ko-KR" sz="1500" b="1" dirty="0"/>
              <a:t>20×2</a:t>
            </a:r>
            <a:r>
              <a:rPr lang="ko-KR" altLang="en-US" sz="1500" b="1" dirty="0"/>
              <a:t>년 </a:t>
            </a:r>
            <a:r>
              <a:rPr lang="en-US" altLang="ko-KR" sz="1500" b="1" dirty="0"/>
              <a:t>2</a:t>
            </a:r>
            <a:r>
              <a:rPr lang="ko-KR" altLang="en-US" sz="1500" b="1" dirty="0"/>
              <a:t>월 </a:t>
            </a:r>
            <a:r>
              <a:rPr lang="en-US" altLang="ko-KR" sz="1500" b="1" dirty="0"/>
              <a:t>20</a:t>
            </a:r>
            <a:r>
              <a:rPr lang="ko-KR" altLang="en-US" sz="1500" b="1" dirty="0"/>
              <a:t>일</a:t>
            </a:r>
            <a:r>
              <a:rPr lang="ko-KR" altLang="en-US" sz="1500" dirty="0"/>
              <a:t>：</a:t>
            </a:r>
            <a:r>
              <a:rPr lang="en-US" altLang="ko-KR" sz="1500" dirty="0"/>
              <a:t>FVPL </a:t>
            </a:r>
            <a:r>
              <a:rPr lang="ko-KR" altLang="en-US" sz="1500" dirty="0"/>
              <a:t>금융자산의 처분</a:t>
            </a:r>
            <a:endParaRPr lang="en-US" altLang="ko-KR" sz="1500" dirty="0"/>
          </a:p>
          <a:p>
            <a:endParaRPr lang="ko-KR" altLang="en-US" sz="1500" dirty="0"/>
          </a:p>
          <a:p>
            <a:r>
              <a:rPr lang="en-US" altLang="ko-KR" sz="1500" b="1" dirty="0"/>
              <a:t>1) </a:t>
            </a:r>
            <a:r>
              <a:rPr lang="ko-KR" altLang="en-US" sz="1500" b="1" dirty="0"/>
              <a:t>장부금액의 측정</a:t>
            </a:r>
            <a:r>
              <a:rPr lang="ko-KR" altLang="en-US" sz="1500" dirty="0"/>
              <a:t>： </a:t>
            </a:r>
            <a:endParaRPr lang="en-US" altLang="ko-KR" sz="1500" dirty="0"/>
          </a:p>
          <a:p>
            <a:r>
              <a:rPr lang="ko-KR" altLang="en-US" sz="1500" dirty="0"/>
              <a:t>공정가치의 </a:t>
            </a:r>
            <a:r>
              <a:rPr lang="ko-KR" altLang="en-US" sz="1500" dirty="0" err="1"/>
              <a:t>재측정＝처분시점의</a:t>
            </a:r>
            <a:r>
              <a:rPr lang="ko-KR" altLang="en-US" sz="1500" dirty="0"/>
              <a:t> </a:t>
            </a:r>
            <a:r>
              <a:rPr lang="ko-KR" altLang="en-US" sz="1500" dirty="0" err="1"/>
              <a:t>공정가치－장부금액</a:t>
            </a:r>
            <a:r>
              <a:rPr lang="ko-KR" altLang="en-US" sz="1500" dirty="0"/>
              <a:t>＝￦</a:t>
            </a:r>
            <a:r>
              <a:rPr lang="en-US" altLang="ko-KR" sz="1500" dirty="0"/>
              <a:t>5,500,000</a:t>
            </a:r>
            <a:r>
              <a:rPr lang="ko-KR" altLang="en-US" sz="1500" dirty="0"/>
              <a:t>－￦</a:t>
            </a:r>
            <a:r>
              <a:rPr lang="en-US" altLang="ko-KR" sz="1500" dirty="0"/>
              <a:t>5,600,000</a:t>
            </a:r>
            <a:r>
              <a:rPr lang="ko-KR" altLang="en-US" sz="1500" dirty="0"/>
              <a:t>＝－￦</a:t>
            </a:r>
            <a:r>
              <a:rPr lang="en-US" altLang="ko-KR" sz="1500" dirty="0"/>
              <a:t>100,000(</a:t>
            </a:r>
            <a:r>
              <a:rPr lang="ko-KR" altLang="en-US" sz="1500" dirty="0"/>
              <a:t>평가손실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6" name="직사각형 5"/>
          <p:cNvSpPr/>
          <p:nvPr/>
        </p:nvSpPr>
        <p:spPr>
          <a:xfrm>
            <a:off x="545306" y="2781979"/>
            <a:ext cx="8001000" cy="28710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FVPL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금융자산평가손실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100,000        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FVPL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	     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100,000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11029" y="3389788"/>
            <a:ext cx="836492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500" b="1" dirty="0"/>
              <a:t>2) </a:t>
            </a:r>
            <a:r>
              <a:rPr lang="ko-KR" altLang="en-US" sz="1500" b="1" dirty="0"/>
              <a:t>처분거래의 기록</a:t>
            </a:r>
            <a:endParaRPr lang="ko-KR" altLang="en-US" sz="1500" dirty="0"/>
          </a:p>
        </p:txBody>
      </p:sp>
      <p:sp>
        <p:nvSpPr>
          <p:cNvPr id="13" name="직사각형 12"/>
          <p:cNvSpPr/>
          <p:nvPr/>
        </p:nvSpPr>
        <p:spPr>
          <a:xfrm>
            <a:off x="545306" y="3837063"/>
            <a:ext cx="8001000" cy="3231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현      금             	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5,500,000                  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FVPL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금융자산	     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5,500,000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75198"/>
              </p:ext>
            </p:extLst>
          </p:nvPr>
        </p:nvGraphicFramePr>
        <p:xfrm>
          <a:off x="635793" y="4490136"/>
          <a:ext cx="7788361" cy="1029208"/>
        </p:xfrm>
        <a:graphic>
          <a:graphicData uri="http://schemas.openxmlformats.org/drawingml/2006/table">
            <a:tbl>
              <a:tblPr/>
              <a:tblGrid>
                <a:gridCol w="2919471">
                  <a:extLst>
                    <a:ext uri="{9D8B030D-6E8A-4147-A177-3AD203B41FA5}">
                      <a16:colId xmlns:a16="http://schemas.microsoft.com/office/drawing/2014/main" val="3428871580"/>
                    </a:ext>
                  </a:extLst>
                </a:gridCol>
                <a:gridCol w="549911">
                  <a:extLst>
                    <a:ext uri="{9D8B030D-6E8A-4147-A177-3AD203B41FA5}">
                      <a16:colId xmlns:a16="http://schemas.microsoft.com/office/drawing/2014/main" val="3120975993"/>
                    </a:ext>
                  </a:extLst>
                </a:gridCol>
                <a:gridCol w="172727">
                  <a:extLst>
                    <a:ext uri="{9D8B030D-6E8A-4147-A177-3AD203B41FA5}">
                      <a16:colId xmlns:a16="http://schemas.microsoft.com/office/drawing/2014/main" val="3275306609"/>
                    </a:ext>
                  </a:extLst>
                </a:gridCol>
                <a:gridCol w="172727">
                  <a:extLst>
                    <a:ext uri="{9D8B030D-6E8A-4147-A177-3AD203B41FA5}">
                      <a16:colId xmlns:a16="http://schemas.microsoft.com/office/drawing/2014/main" val="894406103"/>
                    </a:ext>
                  </a:extLst>
                </a:gridCol>
                <a:gridCol w="3029005">
                  <a:extLst>
                    <a:ext uri="{9D8B030D-6E8A-4147-A177-3AD203B41FA5}">
                      <a16:colId xmlns:a16="http://schemas.microsoft.com/office/drawing/2014/main" val="2001082677"/>
                    </a:ext>
                  </a:extLst>
                </a:gridCol>
                <a:gridCol w="878508">
                  <a:extLst>
                    <a:ext uri="{9D8B030D-6E8A-4147-A177-3AD203B41FA5}">
                      <a16:colId xmlns:a16="http://schemas.microsoft.com/office/drawing/2014/main" val="2474630745"/>
                    </a:ext>
                  </a:extLst>
                </a:gridCol>
                <a:gridCol w="66012">
                  <a:extLst>
                    <a:ext uri="{9D8B030D-6E8A-4147-A177-3AD203B41FA5}">
                      <a16:colId xmlns:a16="http://schemas.microsoft.com/office/drawing/2014/main" val="2614045714"/>
                    </a:ext>
                  </a:extLst>
                </a:gridCol>
              </a:tblGrid>
              <a:tr h="19016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부분재무상태표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부분포괄손익계산서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(20×1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122046"/>
                  </a:ext>
                </a:extLst>
              </a:tr>
              <a:tr h="212806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FVPL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금융자산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FVPL 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금융자산평가손실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￦</a:t>
                      </a:r>
                      <a:r>
                        <a:rPr lang="en-US" altLang="ko-KR" sz="1400" kern="0" spc="-3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100,000</a:t>
                      </a: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0906887"/>
                  </a:ext>
                </a:extLst>
              </a:tr>
              <a:tr h="213917">
                <a:tc>
                  <a:txBody>
                    <a:bodyPr/>
                    <a:lstStyle/>
                    <a:p>
                      <a:pPr marL="6350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11810" algn="l"/>
                          <a:tab pos="1023620" algn="l"/>
                          <a:tab pos="1536700" algn="l"/>
                          <a:tab pos="2048510" algn="l"/>
                          <a:tab pos="2560320" algn="l"/>
                          <a:tab pos="3072130" algn="l"/>
                          <a:tab pos="3583940" algn="l"/>
                          <a:tab pos="4097020" algn="l"/>
                          <a:tab pos="4608830" algn="l"/>
                          <a:tab pos="5120640" algn="l"/>
                          <a:tab pos="5632450" algn="l"/>
                          <a:tab pos="6144260" algn="l"/>
                          <a:tab pos="6657340" algn="l"/>
                          <a:tab pos="7169150" algn="l"/>
                          <a:tab pos="7680960" algn="l"/>
                          <a:tab pos="8192770" algn="l"/>
                          <a:tab pos="8704580" algn="l"/>
                          <a:tab pos="9217660" algn="l"/>
                          <a:tab pos="9729470" algn="l"/>
                          <a:tab pos="10241280" algn="l"/>
                        </a:tabLst>
                      </a:pPr>
                      <a:endParaRPr lang="ko-KR" altLang="en-US" sz="1400" kern="0" spc="-3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1716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0457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156316" y="1024806"/>
            <a:ext cx="5040523" cy="830102"/>
            <a:chOff x="978779" y="4807765"/>
            <a:chExt cx="5040523" cy="830102"/>
          </a:xfrm>
        </p:grpSpPr>
        <p:sp>
          <p:nvSpPr>
            <p:cNvPr id="5" name="오각형 4"/>
            <p:cNvSpPr/>
            <p:nvPr/>
          </p:nvSpPr>
          <p:spPr>
            <a:xfrm>
              <a:off x="1074103" y="4807765"/>
              <a:ext cx="590477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8779" y="5053092"/>
              <a:ext cx="50405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FVPL </a:t>
              </a:r>
              <a:r>
                <a:rPr lang="ko-KR" altLang="en-US" sz="1600" b="1" dirty="0"/>
                <a:t>금융자산의</a:t>
              </a:r>
              <a:endParaRPr lang="en-US" altLang="ko-KR" sz="1600" b="1" dirty="0"/>
            </a:p>
            <a:p>
              <a:r>
                <a:rPr lang="ko-KR" altLang="en-US" sz="1600" b="1" dirty="0"/>
                <a:t>회계처리방법 요약</a:t>
              </a:r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ED68D20-9FC3-4BC9-A88D-B3573EA91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135553"/>
              </p:ext>
            </p:extLst>
          </p:nvPr>
        </p:nvGraphicFramePr>
        <p:xfrm>
          <a:off x="2132012" y="1175436"/>
          <a:ext cx="6760348" cy="5120576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156527">
                  <a:extLst>
                    <a:ext uri="{9D8B030D-6E8A-4147-A177-3AD203B41FA5}">
                      <a16:colId xmlns:a16="http://schemas.microsoft.com/office/drawing/2014/main" val="1795701192"/>
                    </a:ext>
                  </a:extLst>
                </a:gridCol>
                <a:gridCol w="5603821">
                  <a:extLst>
                    <a:ext uri="{9D8B030D-6E8A-4147-A177-3AD203B41FA5}">
                      <a16:colId xmlns:a16="http://schemas.microsoft.com/office/drawing/2014/main" val="129067168"/>
                    </a:ext>
                  </a:extLst>
                </a:gridCol>
              </a:tblGrid>
              <a:tr h="6927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err="1">
                          <a:effectLst/>
                        </a:rPr>
                        <a:t>취득시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5471" marR="5471" marT="5471" marB="54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08530" algn="r"/>
                          <a:tab pos="2307590" algn="l"/>
                          <a:tab pos="437134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취득시점의 공정가치를 취득원가로 기록</a:t>
                      </a:r>
                      <a:r>
                        <a:rPr lang="ko-KR" altLang="en-US" sz="1200" kern="0" spc="-30" baseline="30000" dirty="0">
                          <a:effectLst/>
                        </a:rPr>
                        <a:t>*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61920" algn="r"/>
                        </a:tabLst>
                      </a:pP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effectLst/>
                        </a:rPr>
                        <a:t>) 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87400" algn="l"/>
                          <a:tab pos="333248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	</a:t>
                      </a: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effectLst/>
                        </a:rPr>
                        <a:t>현 금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FFFFCC"/>
                        </a:solidFill>
                        <a:effectLst/>
                        <a:latin typeface="휴먼고딕빅체"/>
                      </a:endParaRPr>
                    </a:p>
                  </a:txBody>
                  <a:tcPr marL="5471" marR="5471" marT="5471" marB="5471" anchor="ctr"/>
                </a:tc>
                <a:extLst>
                  <a:ext uri="{0D108BD9-81ED-4DB2-BD59-A6C34878D82A}">
                    <a16:rowId xmlns:a16="http://schemas.microsoft.com/office/drawing/2014/main" val="3277893581"/>
                  </a:ext>
                </a:extLst>
              </a:tr>
              <a:tr h="12838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err="1">
                          <a:effectLst/>
                        </a:rPr>
                        <a:t>결산시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5471" marR="5471" marT="5471" marB="54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6192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공정가치</a:t>
                      </a: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＝시가</a:t>
                      </a:r>
                      <a:r>
                        <a:rPr lang="en-US" altLang="ko-KR" sz="1200" kern="0" spc="-30" dirty="0">
                          <a:effectLst/>
                        </a:rPr>
                        <a:t>)</a:t>
                      </a:r>
                      <a:r>
                        <a:rPr lang="ko-KR" altLang="en-US" sz="1200" kern="0" spc="-30" dirty="0">
                          <a:effectLst/>
                        </a:rPr>
                        <a:t>와 장부금액의 차이를 </a:t>
                      </a:r>
                      <a:r>
                        <a:rPr lang="en-US" altLang="ko-KR" sz="1200" kern="0" spc="-30" dirty="0">
                          <a:effectLst/>
                        </a:rPr>
                        <a:t>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금융자산평가손익으로 처리 </a:t>
                      </a: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61920" algn="r"/>
                        </a:tabLst>
                      </a:pP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effectLst/>
                        </a:rPr>
                        <a:t>) 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87400" algn="l"/>
                          <a:tab pos="333248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	</a:t>
                      </a: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effectLst/>
                        </a:rPr>
                        <a:t>) 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금융자산평가이익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61920" algn="r"/>
                        </a:tabLst>
                      </a:pP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effectLst/>
                        </a:rPr>
                        <a:t>) 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금융자산평가손실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87400" algn="l"/>
                          <a:tab pos="333248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	</a:t>
                      </a: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effectLst/>
                        </a:rPr>
                        <a:t>) 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FFFFCC"/>
                        </a:solidFill>
                        <a:effectLst/>
                        <a:latin typeface="휴먼고딕빅체"/>
                      </a:endParaRPr>
                    </a:p>
                  </a:txBody>
                  <a:tcPr marL="5471" marR="5471" marT="5471" marB="5471" anchor="ctr"/>
                </a:tc>
                <a:extLst>
                  <a:ext uri="{0D108BD9-81ED-4DB2-BD59-A6C34878D82A}">
                    <a16:rowId xmlns:a16="http://schemas.microsoft.com/office/drawing/2014/main" val="1830703135"/>
                  </a:ext>
                </a:extLst>
              </a:tr>
              <a:tr h="45293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effectLst/>
                        </a:rPr>
                        <a:t>배당금 수령</a:t>
                      </a:r>
                      <a:endParaRPr lang="ko-KR" altLang="en-US" sz="1200" b="1" kern="0" spc="-5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effectLst/>
                        </a:rPr>
                        <a:t>(</a:t>
                      </a:r>
                      <a:r>
                        <a:rPr lang="ko-KR" altLang="en-US" sz="1200" b="1" kern="0" spc="-30" dirty="0">
                          <a:effectLst/>
                        </a:rPr>
                        <a:t>주식의 경우</a:t>
                      </a:r>
                      <a:r>
                        <a:rPr lang="en-US" altLang="ko-KR" sz="1200" b="1" kern="0" spc="-30" dirty="0">
                          <a:effectLst/>
                        </a:rPr>
                        <a:t>)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5471" marR="5471" marT="5471" marB="54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61920" algn="r"/>
                        </a:tabLst>
                      </a:pP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effectLst/>
                        </a:rPr>
                        <a:t>현 금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87400" algn="l"/>
                          <a:tab pos="333248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	</a:t>
                      </a: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effectLst/>
                        </a:rPr>
                        <a:t>배당금수익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FFFFCC"/>
                        </a:solidFill>
                        <a:effectLst/>
                        <a:latin typeface="휴먼고딕빅체"/>
                      </a:endParaRPr>
                    </a:p>
                  </a:txBody>
                  <a:tcPr marL="5471" marR="5471" marT="5471" marB="5471" anchor="ctr"/>
                </a:tc>
                <a:extLst>
                  <a:ext uri="{0D108BD9-81ED-4DB2-BD59-A6C34878D82A}">
                    <a16:rowId xmlns:a16="http://schemas.microsoft.com/office/drawing/2014/main" val="1153543148"/>
                  </a:ext>
                </a:extLst>
              </a:tr>
              <a:tr h="25846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err="1">
                          <a:effectLst/>
                        </a:rPr>
                        <a:t>처분시</a:t>
                      </a:r>
                      <a:endParaRPr lang="ko-KR" altLang="en-US" sz="1200" b="1" kern="0" spc="-50" dirty="0">
                        <a:solidFill>
                          <a:srgbClr val="5D5D5D"/>
                        </a:solidFill>
                        <a:effectLst/>
                        <a:latin typeface="-윤고딕120"/>
                      </a:endParaRPr>
                    </a:p>
                  </a:txBody>
                  <a:tcPr marL="5471" marR="5471" marT="5471" marB="5471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38100" indent="-176213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08530" algn="r"/>
                          <a:tab pos="2307590" algn="l"/>
                          <a:tab pos="437134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① 장부금액의 측정： 금융자산을 </a:t>
                      </a:r>
                      <a:r>
                        <a:rPr lang="ko-KR" altLang="en-US" sz="1200" kern="0" spc="-30" dirty="0" err="1">
                          <a:effectLst/>
                        </a:rPr>
                        <a:t>재측정하여</a:t>
                      </a:r>
                      <a:r>
                        <a:rPr lang="ko-KR" altLang="en-US" sz="1200" kern="0" spc="-30" dirty="0">
                          <a:effectLst/>
                        </a:rPr>
                        <a:t> 장부금액을 처분시점</a:t>
                      </a:r>
                      <a:r>
                        <a:rPr lang="ko-KR" altLang="en-US" sz="1200" kern="0" spc="-50" dirty="0">
                          <a:effectLst/>
                        </a:rPr>
                        <a:t>의 공정가치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＝시가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r>
                        <a:rPr lang="ko-KR" altLang="en-US" sz="1200" kern="0" spc="-50" dirty="0">
                          <a:effectLst/>
                        </a:rPr>
                        <a:t>로 조정하고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장부금액과 공정가치의 차액은 </a:t>
                      </a:r>
                      <a:r>
                        <a:rPr lang="en-US" altLang="ko-KR" sz="1200" kern="0" spc="-50" dirty="0">
                          <a:effectLst/>
                        </a:rPr>
                        <a:t>FVPL</a:t>
                      </a:r>
                      <a:r>
                        <a:rPr lang="ko-KR" altLang="en-US" sz="1200" kern="0" spc="-50" dirty="0">
                          <a:effectLst/>
                        </a:rPr>
                        <a:t>금융자산평가손익으로 인식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61920" algn="r"/>
                        </a:tabLst>
                      </a:pP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effectLst/>
                        </a:rPr>
                        <a:t>) 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87400" algn="l"/>
                          <a:tab pos="333248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	</a:t>
                      </a: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effectLst/>
                        </a:rPr>
                        <a:t>) 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금융자산평가이익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180975" marR="38100" indent="-90488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0975" algn="l"/>
                          <a:tab pos="2208213" algn="r"/>
                          <a:tab pos="2306638" algn="l"/>
                          <a:tab pos="4370388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② 처분거래의 기록： 공정가치로 </a:t>
                      </a:r>
                      <a:r>
                        <a:rPr lang="ko-KR" altLang="en-US" sz="1200" kern="0" spc="-30" dirty="0" err="1">
                          <a:effectLst/>
                        </a:rPr>
                        <a:t>재측정된</a:t>
                      </a:r>
                      <a:r>
                        <a:rPr lang="ko-KR" altLang="en-US" sz="1200" kern="0" spc="-30" dirty="0">
                          <a:effectLst/>
                        </a:rPr>
                        <a:t> 금융자산의 장부금액을 제거하고</a:t>
                      </a:r>
                      <a:r>
                        <a:rPr lang="en-US" altLang="ko-KR" sz="1200" kern="0" spc="-30" dirty="0">
                          <a:effectLst/>
                        </a:rPr>
                        <a:t>, </a:t>
                      </a:r>
                      <a:r>
                        <a:rPr lang="ko-KR" altLang="en-US" sz="1200" kern="0" spc="-30" dirty="0">
                          <a:effectLst/>
                        </a:rPr>
                        <a:t>거래비용으로 인해 수취한 현금과 공정가치 사이에 차이가 발생하면 처분손실로 인식</a:t>
                      </a: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61920" algn="r"/>
                        </a:tabLst>
                      </a:pP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차</a:t>
                      </a:r>
                      <a:r>
                        <a:rPr lang="en-US" altLang="ko-KR" sz="1200" kern="0" spc="-30" dirty="0"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effectLst/>
                        </a:rPr>
                        <a:t>현 금 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66192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         처분손실</a:t>
                      </a: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당기손익</a:t>
                      </a:r>
                      <a:r>
                        <a:rPr lang="en-US" altLang="ko-KR" sz="1200" kern="0" spc="-30" dirty="0">
                          <a:effectLst/>
                        </a:rPr>
                        <a:t>) </a:t>
                      </a:r>
                      <a:r>
                        <a:rPr lang="ko-KR" altLang="en-US" sz="1200" kern="0" spc="-30" dirty="0">
                          <a:effectLst/>
                        </a:rPr>
                        <a:t>	</a:t>
                      </a:r>
                      <a:r>
                        <a:rPr lang="ko-KR" altLang="en-US" sz="1200" kern="0" spc="-100" dirty="0">
                          <a:effectLst/>
                        </a:rPr>
                        <a:t> 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effectLst/>
                      </a:endParaRPr>
                    </a:p>
                    <a:p>
                      <a:pPr marL="38100" marR="3810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87400" algn="l"/>
                          <a:tab pos="3332480" algn="r"/>
                        </a:tabLst>
                      </a:pPr>
                      <a:r>
                        <a:rPr lang="ko-KR" altLang="en-US" sz="1200" kern="0" spc="-30" dirty="0">
                          <a:effectLst/>
                        </a:rPr>
                        <a:t>	</a:t>
                      </a:r>
                      <a:r>
                        <a:rPr lang="en-US" altLang="ko-KR" sz="1200" kern="0" spc="-30" dirty="0">
                          <a:effectLst/>
                        </a:rPr>
                        <a:t>(</a:t>
                      </a:r>
                      <a:r>
                        <a:rPr lang="ko-KR" altLang="en-US" sz="1200" kern="0" spc="-30" dirty="0">
                          <a:effectLst/>
                        </a:rPr>
                        <a:t>대</a:t>
                      </a:r>
                      <a:r>
                        <a:rPr lang="en-US" altLang="ko-KR" sz="1200" kern="0" spc="-30" dirty="0">
                          <a:effectLst/>
                        </a:rPr>
                        <a:t>)</a:t>
                      </a:r>
                      <a:r>
                        <a:rPr lang="ko-KR" altLang="en-US" sz="1200" kern="0" spc="-30" dirty="0">
                          <a:effectLst/>
                        </a:rPr>
                        <a:t> </a:t>
                      </a:r>
                      <a:r>
                        <a:rPr lang="en-US" altLang="ko-KR" sz="1200" kern="0" spc="-30" dirty="0">
                          <a:effectLst/>
                        </a:rPr>
                        <a:t>FVPL</a:t>
                      </a:r>
                      <a:r>
                        <a:rPr lang="ko-KR" altLang="en-US" sz="1200" kern="0" spc="-30" dirty="0">
                          <a:effectLst/>
                        </a:rPr>
                        <a:t>금융자산	</a:t>
                      </a:r>
                      <a:r>
                        <a:rPr lang="en-US" altLang="ko-KR" sz="1200" kern="0" spc="-30" dirty="0">
                          <a:effectLst/>
                        </a:rPr>
                        <a:t>×××</a:t>
                      </a:r>
                      <a:endParaRPr lang="ko-KR" altLang="en-US" sz="1200" kern="0" spc="-30" dirty="0">
                        <a:solidFill>
                          <a:srgbClr val="000000"/>
                        </a:solidFill>
                        <a:effectLst/>
                        <a:latin typeface="휴먼고딕빅체"/>
                      </a:endParaRPr>
                    </a:p>
                  </a:txBody>
                  <a:tcPr marL="5471" marR="5471" marT="5471" marB="5471" anchor="ctr"/>
                </a:tc>
                <a:extLst>
                  <a:ext uri="{0D108BD9-81ED-4DB2-BD59-A6C34878D82A}">
                    <a16:rowId xmlns:a16="http://schemas.microsoft.com/office/drawing/2014/main" val="116074421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DE1FF5-4099-4569-B936-BE300999A293}"/>
              </a:ext>
            </a:extLst>
          </p:cNvPr>
          <p:cNvSpPr txBox="1"/>
          <p:nvPr/>
        </p:nvSpPr>
        <p:spPr>
          <a:xfrm>
            <a:off x="2109945" y="6324366"/>
            <a:ext cx="6173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0" spc="-3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*</a:t>
            </a:r>
            <a:r>
              <a:rPr lang="ko-KR" altLang="en-US" sz="1200" kern="0" spc="-30" dirty="0">
                <a:solidFill>
                  <a:srgbClr val="000000"/>
                </a:solidFill>
                <a:latin typeface="-윤고딕330"/>
                <a:ea typeface="신명 신명조"/>
              </a:rPr>
              <a:t> </a:t>
            </a:r>
            <a:r>
              <a:rPr lang="ko-KR" altLang="en-US" sz="1200" kern="0" spc="-30" dirty="0" err="1">
                <a:solidFill>
                  <a:srgbClr val="000000"/>
                </a:solidFill>
                <a:latin typeface="신명 신명조"/>
                <a:ea typeface="신명 신명조"/>
              </a:rPr>
              <a:t>취득시</a:t>
            </a:r>
            <a:r>
              <a:rPr lang="ko-KR" altLang="en-US" sz="1200" kern="0" spc="-30" dirty="0">
                <a:solidFill>
                  <a:srgbClr val="000000"/>
                </a:solidFill>
                <a:latin typeface="신명 신명조"/>
                <a:ea typeface="신명 신명조"/>
              </a:rPr>
              <a:t> 발생한 부대비용은 당기비용으로 처리함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95044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287828" y="1299301"/>
            <a:ext cx="8446597" cy="2541099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80000" indent="-180000" latinLnBrk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•  </a:t>
            </a:r>
            <a:r>
              <a:rPr lang="ko-KR" altLang="en-US" sz="1600" dirty="0">
                <a:latin typeface="맑은 고딕" panose="020B0503020000020004" pitchFamily="50" charset="-127"/>
              </a:rPr>
              <a:t>주식이나 채권 모두 어떤 범주로 분류하여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회계처리할지의</a:t>
            </a:r>
            <a:r>
              <a:rPr lang="ko-KR" altLang="en-US" sz="1600" dirty="0">
                <a:latin typeface="맑은 고딕" panose="020B0503020000020004" pitchFamily="50" charset="-127"/>
              </a:rPr>
              <a:t> 여부는 해당 금융자산의 </a:t>
            </a:r>
            <a:r>
              <a:rPr lang="ko-KR" altLang="en-US" sz="1600" b="1" dirty="0">
                <a:latin typeface="맑은 고딕" panose="020B0503020000020004" pitchFamily="50" charset="-127"/>
              </a:rPr>
              <a:t>취득시점에 결정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180000" indent="-18000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80000" indent="-180000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주식의 경우는 한번 결정된 범주를 변경할 수 없음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396000" indent="-14400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80000" indent="-180000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채권의 경우는 보유하고 있던 중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보유목적이</a:t>
            </a:r>
            <a:r>
              <a:rPr lang="ko-KR" altLang="en-US" sz="1600" dirty="0">
                <a:latin typeface="맑은 고딕" panose="020B0503020000020004" pitchFamily="50" charset="-127"/>
              </a:rPr>
              <a:t> 변한다면 분류한 범주를 변경할 수 있음 → 이를 </a:t>
            </a:r>
            <a:r>
              <a:rPr lang="ko-KR" altLang="en-US" sz="160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범주재분류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라고</a:t>
            </a:r>
            <a:r>
              <a:rPr lang="ko-KR" altLang="en-US" sz="1600" dirty="0">
                <a:latin typeface="맑은 고딕" panose="020B0503020000020004" pitchFamily="50" charset="-127"/>
              </a:rPr>
              <a:t> 부름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endParaRPr lang="ko-KR" altLang="en-US" sz="14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5014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57473" y="1194661"/>
            <a:ext cx="8445779" cy="4847822"/>
            <a:chOff x="257473" y="1174997"/>
            <a:chExt cx="8445779" cy="4847822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57473" y="1536430"/>
              <a:ext cx="8445779" cy="448638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77800" indent="-1778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500" dirty="0">
                  <a:latin typeface="맑은 고딕" panose="020B0503020000020004" pitchFamily="50" charset="-127"/>
                </a:rPr>
                <a:t>투자기업이 직접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간접으로 피투자회사의 의결권 있는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주식을 </a:t>
              </a:r>
              <a:r>
                <a:rPr lang="en-US" altLang="ko-KR" sz="1500" b="1" dirty="0">
                  <a:latin typeface="맑은 고딕" panose="020B0503020000020004" pitchFamily="50" charset="-127"/>
                </a:rPr>
                <a:t>20%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이상 보유하고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있는 경우에는 피투자회사의 재무정책과 영업정책에 관한 의사결정에 참여할 수 있는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유의적인 영향력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(significant influence)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을 행사할 수 있게 됨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500" dirty="0">
                  <a:latin typeface="맑은 고딕" panose="020B0503020000020004" pitchFamily="50" charset="-127"/>
                  <a:sym typeface="Wingdings" panose="05000000000000000000" pitchFamily="2" charset="2"/>
                </a:rPr>
                <a:t>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이때의 피투자회사를 </a:t>
              </a:r>
              <a:r>
                <a:rPr lang="ko-KR" altLang="en-US" sz="1500" b="1" dirty="0">
                  <a:latin typeface="맑은 고딕" panose="020B0503020000020004" pitchFamily="50" charset="-127"/>
                </a:rPr>
                <a:t>관계기업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이라 하며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관계기업투자에는 </a:t>
              </a:r>
              <a:r>
                <a:rPr lang="ko-KR" altLang="en-US" sz="15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지분법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을 적용하여 </a:t>
              </a:r>
              <a:r>
                <a:rPr lang="ko-KR" altLang="en-US" sz="1500" dirty="0" err="1">
                  <a:latin typeface="맑은 고딕" panose="020B0503020000020004" pitchFamily="50" charset="-127"/>
                </a:rPr>
                <a:t>회계처리함</a:t>
              </a:r>
              <a:endParaRPr lang="en-US" altLang="ko-KR" sz="1500" dirty="0">
                <a:latin typeface="맑은 고딕" panose="020B0503020000020004" pitchFamily="50" charset="-127"/>
              </a:endParaRPr>
            </a:p>
            <a:p>
              <a:pPr marL="177800" indent="-1778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500" dirty="0">
                <a:latin typeface="맑은 고딕" panose="020B0503020000020004" pitchFamily="50" charset="-127"/>
              </a:endParaRPr>
            </a:p>
            <a:p>
              <a:pPr marL="177800" indent="-1778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500" b="1" dirty="0">
                  <a:latin typeface="맑은 고딕" panose="020B0503020000020004" pitchFamily="50" charset="-127"/>
                </a:rPr>
                <a:t>지분법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지분을 최초로 취득할 때에는 원가로 인식하고</a:t>
              </a:r>
              <a:r>
                <a:rPr lang="en-US" altLang="ko-KR" sz="15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취득시점 이후에 발행한 피투자회사의 순자산 </a:t>
              </a:r>
              <a:r>
                <a:rPr lang="ko-KR" altLang="en-US" sz="1500" dirty="0" err="1">
                  <a:latin typeface="맑은 고딕" panose="020B0503020000020004" pitchFamily="50" charset="-127"/>
                </a:rPr>
                <a:t>변동액</a:t>
              </a:r>
              <a:r>
                <a:rPr lang="ko-KR" altLang="en-US" sz="1500" dirty="0">
                  <a:latin typeface="맑은 고딕" panose="020B0503020000020004" pitchFamily="50" charset="-127"/>
                </a:rPr>
                <a:t> 중 투자자의 지분만큼을 해당 투자자산에 가감하여 보고하는 방법</a:t>
              </a:r>
            </a:p>
            <a:p>
              <a:pPr marL="920750" lvl="1" indent="-177800" latinLnBrk="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atin typeface="맑은 고딕" panose="020B0503020000020004" pitchFamily="50" charset="-127"/>
                </a:rPr>
                <a:t>피투자회사가 당기순이익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손실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을 보고하면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투자자는 </a:t>
              </a:r>
              <a:r>
                <a:rPr lang="ko-KR" altLang="en-US" sz="1400" dirty="0" err="1">
                  <a:latin typeface="맑은 고딕" panose="020B0503020000020004" pitchFamily="50" charset="-127"/>
                </a:rPr>
                <a:t>지분율에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 해당하는 금액만큼을 </a:t>
              </a:r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지분법이익</a:t>
              </a:r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(</a:t>
              </a:r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손실</a:t>
              </a:r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으로 기록하고 투자주식의 가액을 그만큼 증가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감소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)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시킴</a:t>
              </a: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 marL="920750" lvl="1" indent="-177800" latinLnBrk="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atin typeface="맑은 고딕" panose="020B0503020000020004" pitchFamily="50" charset="-127"/>
                </a:rPr>
                <a:t>투자회사가 피투자회사로부터 </a:t>
              </a:r>
              <a:r>
                <a:rPr lang="ko-KR" altLang="en-US" sz="1400" b="1" dirty="0">
                  <a:latin typeface="맑은 고딕" panose="020B0503020000020004" pitchFamily="50" charset="-127"/>
                </a:rPr>
                <a:t>배당금을 수령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하게 되면 수령한 배당금만큼 투자주식의 </a:t>
              </a:r>
              <a:r>
                <a:rPr lang="ko-KR" altLang="en-US" sz="1400" b="1" dirty="0">
                  <a:latin typeface="맑은 고딕" panose="020B0503020000020004" pitchFamily="50" charset="-127"/>
                </a:rPr>
                <a:t>장부금액을 감소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시킴 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(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피투자회사의 순자산의 감소를 인식하는 것임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)</a:t>
              </a:r>
              <a:endParaRPr lang="ko-KR" altLang="en-US" sz="1400" dirty="0">
                <a:latin typeface="맑은 고딕" panose="020B0503020000020004" pitchFamily="50" charset="-127"/>
              </a:endParaRPr>
            </a:p>
            <a:p>
              <a:pPr marL="920750" lvl="1" indent="-177800" latinLnBrk="0">
                <a:lnSpc>
                  <a:spcPts val="24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atin typeface="맑은 고딕" panose="020B0503020000020004" pitchFamily="50" charset="-127"/>
                </a:rPr>
                <a:t>피투자기업에 대한 유의한 영향력을 상실하게 되면 지분법적용을 중단하고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해당 주식을 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FVPL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금융자산이나 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FVOCI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금융자산으로 </a:t>
              </a:r>
              <a:r>
                <a:rPr lang="ko-KR" altLang="en-US" sz="1400" dirty="0" err="1">
                  <a:latin typeface="맑은 고딕" panose="020B0503020000020004" pitchFamily="50" charset="-127"/>
                </a:rPr>
                <a:t>재분류</a:t>
              </a:r>
              <a:endParaRPr lang="ko-KR" altLang="en-US" sz="14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None/>
              </a:pPr>
              <a:endParaRPr lang="ko-KR" altLang="en-US" sz="1400" dirty="0">
                <a:latin typeface="맑은 고딕" panose="020B0503020000020004" pitchFamily="50" charset="-127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257473" y="1174997"/>
              <a:ext cx="7492624" cy="340256"/>
              <a:chOff x="257473" y="1430362"/>
              <a:chExt cx="7492624" cy="340256"/>
            </a:xfrm>
          </p:grpSpPr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440748" y="1430362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관계기업투자</a:t>
                </a: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2440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126251" y="1038419"/>
            <a:ext cx="8786101" cy="5489380"/>
            <a:chOff x="190714" y="1320886"/>
            <a:chExt cx="8786101" cy="5489380"/>
          </a:xfrm>
        </p:grpSpPr>
        <p:grpSp>
          <p:nvGrpSpPr>
            <p:cNvPr id="9" name="그룹 8"/>
            <p:cNvGrpSpPr/>
            <p:nvPr/>
          </p:nvGrpSpPr>
          <p:grpSpPr>
            <a:xfrm>
              <a:off x="361935" y="1461499"/>
              <a:ext cx="8614880" cy="5348767"/>
              <a:chOff x="269048" y="1722741"/>
              <a:chExt cx="8724365" cy="5348767"/>
            </a:xfrm>
          </p:grpSpPr>
          <p:sp>
            <p:nvSpPr>
              <p:cNvPr id="17" name="Rectangle 15"/>
              <p:cNvSpPr>
                <a:spLocks noChangeArrowheads="1"/>
              </p:cNvSpPr>
              <p:nvPr/>
            </p:nvSpPr>
            <p:spPr bwMode="auto">
              <a:xfrm>
                <a:off x="269048" y="1746439"/>
                <a:ext cx="8724365" cy="5325069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277822" y="1722741"/>
                <a:ext cx="8715591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190714" y="1320886"/>
              <a:ext cx="3309720" cy="326952"/>
              <a:chOff x="190714" y="1320889"/>
              <a:chExt cx="2831215" cy="290354"/>
            </a:xfrm>
            <a:solidFill>
              <a:srgbClr val="2D61C8"/>
            </a:solidFill>
          </p:grpSpPr>
          <p:grpSp>
            <p:nvGrpSpPr>
              <p:cNvPr id="11" name="그룹 10"/>
              <p:cNvGrpSpPr/>
              <p:nvPr/>
            </p:nvGrpSpPr>
            <p:grpSpPr>
              <a:xfrm>
                <a:off x="190714" y="1320889"/>
                <a:ext cx="2831215" cy="290354"/>
                <a:chOff x="405822" y="2237753"/>
                <a:chExt cx="2831215" cy="290354"/>
              </a:xfrm>
              <a:grpFill/>
            </p:grpSpPr>
            <p:sp>
              <p:nvSpPr>
                <p:cNvPr id="13" name="타원 1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타원 13"/>
                <p:cNvSpPr/>
                <p:nvPr/>
              </p:nvSpPr>
              <p:spPr>
                <a:xfrm>
                  <a:off x="2946686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542510" y="2237755"/>
                  <a:ext cx="2536469" cy="29035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600" b="1" dirty="0"/>
                    <a:t>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9-4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관계기업투자주식</a:t>
                  </a:r>
                  <a:endParaRPr lang="ko-KR" altLang="en-US" sz="1600" b="1" dirty="0"/>
                </a:p>
              </p:txBody>
            </p:sp>
            <p:sp>
              <p:nvSpPr>
                <p:cNvPr id="16" name="타원 1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12" name="그림 11" descr="Log in | Sign Up Upload Clipart"/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</p:pic>
        </p:grpSp>
      </p:grpSp>
      <p:sp>
        <p:nvSpPr>
          <p:cNvPr id="5" name="직사각형 4"/>
          <p:cNvSpPr/>
          <p:nvPr/>
        </p:nvSpPr>
        <p:spPr>
          <a:xfrm>
            <a:off x="465674" y="1462346"/>
            <a:ext cx="8284626" cy="1107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/>
              <a:t>(</a:t>
            </a:r>
            <a:r>
              <a:rPr lang="ko-KR" altLang="en-US" sz="1400" b="1" dirty="0"/>
              <a:t>주</a:t>
            </a:r>
            <a:r>
              <a:rPr lang="en-US" altLang="ko-KR" sz="1400" b="1" dirty="0"/>
              <a:t>)JYP</a:t>
            </a:r>
            <a:r>
              <a:rPr lang="ko-KR" altLang="en-US" sz="1400" b="1" dirty="0"/>
              <a:t>는 </a:t>
            </a:r>
            <a:r>
              <a:rPr lang="en-US" altLang="ko-KR" sz="1400" b="1" dirty="0"/>
              <a:t>20×1</a:t>
            </a:r>
            <a:r>
              <a:rPr lang="ko-KR" altLang="en-US" sz="1400" b="1" dirty="0"/>
              <a:t>년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월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일 </a:t>
            </a:r>
            <a:r>
              <a:rPr lang="ko-KR" altLang="en-US" sz="1400" b="1" dirty="0" err="1"/>
              <a:t>에이블씨앤씨㈜의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총주식</a:t>
            </a:r>
            <a:r>
              <a:rPr lang="en-US" altLang="ko-KR" sz="1400" b="1" dirty="0"/>
              <a:t>(1,000</a:t>
            </a:r>
            <a:r>
              <a:rPr lang="ko-KR" altLang="en-US" sz="1400" b="1" dirty="0"/>
              <a:t>주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의 </a:t>
            </a:r>
            <a:r>
              <a:rPr lang="en-US" altLang="ko-KR" sz="1400" b="1" dirty="0"/>
              <a:t>30%</a:t>
            </a:r>
            <a:r>
              <a:rPr lang="ko-KR" altLang="en-US" sz="1400" b="1" dirty="0"/>
              <a:t>인 </a:t>
            </a:r>
            <a:r>
              <a:rPr lang="en-US" altLang="ko-KR" sz="1400" b="1" dirty="0"/>
              <a:t>300</a:t>
            </a:r>
            <a:r>
              <a:rPr lang="ko-KR" altLang="en-US" sz="1400" b="1" dirty="0"/>
              <a:t>주를 주당 ￦</a:t>
            </a:r>
            <a:r>
              <a:rPr lang="en-US" altLang="ko-KR" sz="1400" b="1" dirty="0"/>
              <a:t>2,000</a:t>
            </a:r>
            <a:r>
              <a:rPr lang="ko-KR" altLang="en-US" sz="1400" b="1" dirty="0"/>
              <a:t>에 취득하여 유의적인 영향력을 행사할 수 있게 되었다</a:t>
            </a:r>
            <a:r>
              <a:rPr lang="en-US" altLang="ko-KR" sz="1400" b="1" dirty="0"/>
              <a:t>. 20×1</a:t>
            </a:r>
            <a:r>
              <a:rPr lang="ko-KR" altLang="en-US" sz="1400" b="1" dirty="0"/>
              <a:t>년 </a:t>
            </a:r>
            <a:r>
              <a:rPr lang="en-US" altLang="ko-KR" sz="1400" b="1" dirty="0"/>
              <a:t>12</a:t>
            </a:r>
            <a:r>
              <a:rPr lang="ko-KR" altLang="en-US" sz="1400" b="1" dirty="0"/>
              <a:t>월 </a:t>
            </a:r>
            <a:r>
              <a:rPr lang="en-US" altLang="ko-KR" sz="1400" b="1" dirty="0"/>
              <a:t>31</a:t>
            </a:r>
            <a:r>
              <a:rPr lang="ko-KR" altLang="en-US" sz="1400" b="1" dirty="0"/>
              <a:t>일에 </a:t>
            </a:r>
            <a:r>
              <a:rPr lang="ko-KR" altLang="en-US" sz="1400" b="1" dirty="0" err="1"/>
              <a:t>에이블씨앤씨㈜는</a:t>
            </a:r>
            <a:r>
              <a:rPr lang="ko-KR" altLang="en-US" sz="1400" b="1" dirty="0"/>
              <a:t> 당기순이익 ￦</a:t>
            </a:r>
            <a:r>
              <a:rPr lang="en-US" altLang="ko-KR" sz="1400" b="1" dirty="0"/>
              <a:t>20,000</a:t>
            </a:r>
            <a:r>
              <a:rPr lang="ko-KR" altLang="en-US" sz="1400" b="1" dirty="0"/>
              <a:t>을 기록하였다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이때 </a:t>
            </a:r>
            <a:r>
              <a:rPr lang="ko-KR" altLang="en-US" sz="1400" b="1" dirty="0" err="1"/>
              <a:t>에이블씨앤씨㈜의</a:t>
            </a:r>
            <a:r>
              <a:rPr lang="ko-KR" altLang="en-US" sz="1400" b="1" dirty="0"/>
              <a:t> 주식은 주식시장에서 주당 ￦</a:t>
            </a:r>
            <a:r>
              <a:rPr lang="en-US" altLang="ko-KR" sz="1400" b="1" dirty="0"/>
              <a:t>2,200</a:t>
            </a:r>
            <a:r>
              <a:rPr lang="ko-KR" altLang="en-US" sz="1400" b="1" dirty="0"/>
              <a:t>에 거래되고 있었다</a:t>
            </a:r>
            <a:r>
              <a:rPr lang="en-US" altLang="ko-KR" sz="1400" b="1" dirty="0"/>
              <a:t>. (</a:t>
            </a:r>
            <a:r>
              <a:rPr lang="ko-KR" altLang="en-US" sz="1400" b="1" dirty="0"/>
              <a:t>주</a:t>
            </a:r>
            <a:r>
              <a:rPr lang="en-US" altLang="ko-KR" sz="1400" b="1" dirty="0"/>
              <a:t>)JYP</a:t>
            </a:r>
            <a:r>
              <a:rPr lang="ko-KR" altLang="en-US" sz="1400" b="1" dirty="0"/>
              <a:t>는 </a:t>
            </a:r>
            <a:r>
              <a:rPr lang="en-US" altLang="ko-KR" sz="1400" b="1" dirty="0"/>
              <a:t>20×2</a:t>
            </a:r>
            <a:r>
              <a:rPr lang="ko-KR" altLang="en-US" sz="1400" b="1" dirty="0"/>
              <a:t>년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월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일에 </a:t>
            </a:r>
            <a:r>
              <a:rPr lang="ko-KR" altLang="en-US" sz="1400" b="1" dirty="0" err="1"/>
              <a:t>에이블씨앤씨㈜으로부터</a:t>
            </a:r>
            <a:r>
              <a:rPr lang="ko-KR" altLang="en-US" sz="1400" b="1" dirty="0"/>
              <a:t> 총 ￦</a:t>
            </a:r>
            <a:r>
              <a:rPr lang="en-US" altLang="ko-KR" sz="1400" b="1" dirty="0"/>
              <a:t>3,000</a:t>
            </a:r>
            <a:r>
              <a:rPr lang="ko-KR" altLang="en-US" sz="1400" b="1" dirty="0"/>
              <a:t>의 배당금을  수령했다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19" name="직사각형 18"/>
          <p:cNvSpPr/>
          <p:nvPr/>
        </p:nvSpPr>
        <p:spPr>
          <a:xfrm>
            <a:off x="465674" y="2731347"/>
            <a:ext cx="82960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① </a:t>
            </a:r>
            <a:r>
              <a:rPr lang="en-US" altLang="ko-KR" sz="1400" b="1" dirty="0"/>
              <a:t>20×1</a:t>
            </a:r>
            <a:r>
              <a:rPr lang="ko-KR" altLang="en-US" sz="1400" b="1" dirty="0"/>
              <a:t>년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월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일</a:t>
            </a:r>
            <a:r>
              <a:rPr lang="ko-KR" altLang="en-US" sz="1400" dirty="0"/>
              <a:t>：관계기업투자주식의 취득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984869" y="3208471"/>
            <a:ext cx="7460629" cy="33334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관계기업투자주식	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600,000		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현      금	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600,000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48383" y="3772242"/>
            <a:ext cx="83019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② </a:t>
            </a:r>
            <a:r>
              <a:rPr lang="en-US" altLang="ko-KR" sz="1400" b="1" dirty="0"/>
              <a:t>20×1</a:t>
            </a:r>
            <a:r>
              <a:rPr lang="ko-KR" altLang="en-US" sz="1400" b="1" dirty="0"/>
              <a:t>년 </a:t>
            </a:r>
            <a:r>
              <a:rPr lang="en-US" altLang="ko-KR" sz="1400" b="1" dirty="0"/>
              <a:t>12</a:t>
            </a:r>
            <a:r>
              <a:rPr lang="ko-KR" altLang="en-US" sz="1400" b="1" dirty="0"/>
              <a:t>월 </a:t>
            </a:r>
            <a:r>
              <a:rPr lang="en-US" altLang="ko-KR" sz="1400" b="1" dirty="0"/>
              <a:t>31</a:t>
            </a:r>
            <a:r>
              <a:rPr lang="ko-KR" altLang="en-US" sz="1400" b="1" dirty="0"/>
              <a:t>일</a:t>
            </a:r>
          </a:p>
          <a:p>
            <a:r>
              <a:rPr lang="ko-KR" altLang="en-US" sz="1400" dirty="0"/>
              <a:t>피투자회사 당기순이익의 </a:t>
            </a:r>
            <a:r>
              <a:rPr lang="en-US" altLang="ko-KR" sz="1400" dirty="0"/>
              <a:t>30%</a:t>
            </a:r>
            <a:r>
              <a:rPr lang="ko-KR" altLang="en-US" sz="1400" dirty="0"/>
              <a:t>에 해당하는 ￦</a:t>
            </a:r>
            <a:r>
              <a:rPr lang="en-US" altLang="ko-KR" sz="1400" dirty="0"/>
              <a:t>6,000</a:t>
            </a:r>
            <a:r>
              <a:rPr lang="ko-KR" altLang="en-US" sz="1400" dirty="0"/>
              <a:t>에 대하여 지분법이익을 인식함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sp>
        <p:nvSpPr>
          <p:cNvPr id="25" name="직사각형 24"/>
          <p:cNvSpPr/>
          <p:nvPr/>
        </p:nvSpPr>
        <p:spPr>
          <a:xfrm>
            <a:off x="967580" y="4474525"/>
            <a:ext cx="7460628" cy="3231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관계기업투자주식	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6,000		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지분법이익	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6,000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65674" y="5085239"/>
            <a:ext cx="7979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③ </a:t>
            </a:r>
            <a:r>
              <a:rPr lang="en-US" altLang="ko-KR" sz="1400" b="1" dirty="0"/>
              <a:t>20×2</a:t>
            </a:r>
            <a:r>
              <a:rPr lang="ko-KR" altLang="en-US" sz="1400" b="1" dirty="0"/>
              <a:t>년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월 </a:t>
            </a:r>
            <a:r>
              <a:rPr lang="en-US" altLang="ko-KR" sz="1400" b="1" dirty="0"/>
              <a:t>1</a:t>
            </a:r>
            <a:r>
              <a:rPr lang="ko-KR" altLang="en-US" sz="1400" b="1" dirty="0"/>
              <a:t>일</a:t>
            </a:r>
            <a:r>
              <a:rPr lang="ko-KR" altLang="en-US" sz="1400" dirty="0"/>
              <a:t>：배당금 수취</a:t>
            </a:r>
          </a:p>
          <a:p>
            <a:r>
              <a:rPr lang="ko-KR" altLang="en-US" sz="1400" dirty="0"/>
              <a:t> 피투자회사로부터 수령한 배당금만큼 투자주식의 장부금액을 감소시킴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0" name="직사각형 29"/>
          <p:cNvSpPr/>
          <p:nvPr/>
        </p:nvSpPr>
        <p:spPr>
          <a:xfrm>
            <a:off x="984870" y="5801834"/>
            <a:ext cx="7460628" cy="27766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lIns="99477" tIns="49735" rIns="99477" bIns="49735" anchor="ctr" anchorCtr="0"/>
          <a:lstStyle/>
          <a:p>
            <a:pPr defTabSz="995363" fontAlgn="base" latinLnBrk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차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현      금	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3,000		(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대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)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관계기업투자주식	  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3,000</a:t>
            </a:r>
            <a:endParaRPr lang="ko-KR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7304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57473" y="1131424"/>
            <a:ext cx="8610303" cy="2553274"/>
            <a:chOff x="257473" y="1121359"/>
            <a:chExt cx="8610303" cy="3143067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57474" y="1673269"/>
              <a:ext cx="8610302" cy="259115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4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1500" dirty="0">
                  <a:solidFill>
                    <a:schemeClr val="tx1"/>
                  </a:solidFill>
                  <a:latin typeface="+mj-ea"/>
                  <a:ea typeface="+mj-ea"/>
                </a:rPr>
                <a:t>• </a:t>
              </a:r>
              <a:r>
                <a:rPr lang="ko-KR" altLang="en-US" sz="1500" dirty="0">
                  <a:solidFill>
                    <a:schemeClr val="tx1"/>
                  </a:solidFill>
                  <a:latin typeface="+mj-ea"/>
                  <a:ea typeface="+mj-ea"/>
                </a:rPr>
                <a:t>지배력</a:t>
              </a:r>
              <a:r>
                <a:rPr lang="en-US" altLang="ko-KR" sz="1500" dirty="0">
                  <a:solidFill>
                    <a:schemeClr val="tx1"/>
                  </a:solidFill>
                  <a:latin typeface="+mj-ea"/>
                  <a:ea typeface="+mj-ea"/>
                </a:rPr>
                <a:t>(control)</a:t>
              </a:r>
              <a:r>
                <a:rPr lang="ko-KR" altLang="en-US" sz="1500" dirty="0">
                  <a:solidFill>
                    <a:schemeClr val="tx1"/>
                  </a:solidFill>
                  <a:latin typeface="+mj-ea"/>
                  <a:ea typeface="+mj-ea"/>
                </a:rPr>
                <a:t> </a:t>
              </a:r>
              <a:r>
                <a:rPr lang="en-US" altLang="ko-KR" sz="1500" dirty="0">
                  <a:latin typeface="+mj-ea"/>
                  <a:ea typeface="+mj-ea"/>
                </a:rPr>
                <a:t>: </a:t>
              </a:r>
              <a:r>
                <a:rPr lang="ko-KR" altLang="en-US" sz="1500" dirty="0">
                  <a:latin typeface="+mj-ea"/>
                  <a:ea typeface="+mj-ea"/>
                </a:rPr>
                <a:t>투자회사가 피투자회사의 </a:t>
              </a:r>
              <a:r>
                <a:rPr lang="ko-KR" altLang="en-US" sz="1500" b="1" dirty="0">
                  <a:latin typeface="+mj-ea"/>
                  <a:ea typeface="+mj-ea"/>
                </a:rPr>
                <a:t>의결권의 </a:t>
              </a:r>
              <a:r>
                <a:rPr lang="en-US" altLang="ko-KR" sz="1500" b="1" dirty="0">
                  <a:solidFill>
                    <a:schemeClr val="tx1"/>
                  </a:solidFill>
                  <a:latin typeface="+mj-ea"/>
                  <a:ea typeface="+mj-ea"/>
                </a:rPr>
                <a:t>50%</a:t>
              </a:r>
              <a:r>
                <a:rPr lang="ko-KR" altLang="en-US" sz="1500" b="1" dirty="0">
                  <a:solidFill>
                    <a:schemeClr val="tx1"/>
                  </a:solidFill>
                  <a:latin typeface="+mj-ea"/>
                  <a:ea typeface="+mj-ea"/>
                </a:rPr>
                <a:t>를 초과</a:t>
              </a:r>
              <a:r>
                <a:rPr lang="ko-KR" altLang="en-US" sz="1500" dirty="0">
                  <a:solidFill>
                    <a:schemeClr val="tx1"/>
                  </a:solidFill>
                  <a:latin typeface="+mj-ea"/>
                  <a:ea typeface="+mj-ea"/>
                </a:rPr>
                <a:t>하여 소유하거나</a:t>
              </a:r>
              <a:r>
                <a:rPr lang="ko-KR" altLang="en-US" sz="1500" dirty="0">
                  <a:latin typeface="+mj-ea"/>
                  <a:ea typeface="+mj-ea"/>
                </a:rPr>
                <a:t> </a:t>
              </a:r>
              <a:r>
                <a:rPr lang="en-US" altLang="ko-KR" sz="1500" dirty="0">
                  <a:latin typeface="+mj-ea"/>
                  <a:ea typeface="+mj-ea"/>
                </a:rPr>
                <a:t>50% </a:t>
              </a:r>
              <a:r>
                <a:rPr lang="ko-KR" altLang="en-US" sz="1500" dirty="0">
                  <a:latin typeface="+mj-ea"/>
                  <a:ea typeface="+mj-ea"/>
                </a:rPr>
                <a:t>이하이지만 실질적으로 지배력을 행사하는 경우</a:t>
              </a:r>
              <a:r>
                <a:rPr lang="en-US" altLang="ko-KR" sz="1500" dirty="0">
                  <a:latin typeface="+mj-ea"/>
                  <a:ea typeface="+mj-ea"/>
                </a:rPr>
                <a:t>, </a:t>
              </a:r>
              <a:r>
                <a:rPr lang="ko-KR" altLang="en-US" sz="1500" dirty="0">
                  <a:latin typeface="+mj-ea"/>
                  <a:ea typeface="+mj-ea"/>
                </a:rPr>
                <a:t>피투사회사의 재무정책과 영업정책을 결정할 수 있는 능력인</a:t>
              </a:r>
              <a:r>
                <a:rPr lang="en-US" altLang="ko-KR" sz="1500" dirty="0">
                  <a:latin typeface="+mj-ea"/>
                  <a:ea typeface="+mj-ea"/>
                </a:rPr>
                <a:t> </a:t>
              </a:r>
              <a:r>
                <a:rPr lang="ko-KR" altLang="en-US" sz="1500" b="1" dirty="0">
                  <a:latin typeface="+mj-ea"/>
                  <a:ea typeface="+mj-ea"/>
                </a:rPr>
                <a:t>지배력 </a:t>
              </a:r>
              <a:r>
                <a:rPr lang="ko-KR" altLang="en-US" sz="1500" dirty="0">
                  <a:latin typeface="+mj-ea"/>
                  <a:ea typeface="+mj-ea"/>
                </a:rPr>
                <a:t>또는 </a:t>
              </a:r>
              <a:r>
                <a:rPr lang="ko-KR" altLang="en-US" sz="1500" b="1" dirty="0">
                  <a:latin typeface="+mj-ea"/>
                  <a:ea typeface="+mj-ea"/>
                </a:rPr>
                <a:t>통제권</a:t>
              </a:r>
              <a:r>
                <a:rPr lang="ko-KR" altLang="en-US" sz="1500" dirty="0">
                  <a:latin typeface="+mj-ea"/>
                  <a:ea typeface="+mj-ea"/>
                </a:rPr>
                <a:t>을</a:t>
              </a:r>
              <a:r>
                <a:rPr lang="en-US" altLang="ko-KR" sz="1500" dirty="0">
                  <a:latin typeface="+mj-ea"/>
                  <a:ea typeface="+mj-ea"/>
                </a:rPr>
                <a:t> </a:t>
              </a:r>
              <a:r>
                <a:rPr lang="ko-KR" altLang="en-US" sz="1500" dirty="0">
                  <a:latin typeface="+mj-ea"/>
                  <a:ea typeface="+mj-ea"/>
                </a:rPr>
                <a:t>가졌다고 표현</a:t>
              </a:r>
            </a:p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dirty="0">
                  <a:latin typeface="+mj-ea"/>
                  <a:ea typeface="+mj-ea"/>
                </a:rPr>
                <a:t> • </a:t>
              </a:r>
              <a:r>
                <a:rPr lang="ko-KR" altLang="en-US" sz="1500" dirty="0">
                  <a:latin typeface="+mj-ea"/>
                  <a:ea typeface="+mj-ea"/>
                </a:rPr>
                <a:t>이때 투자회사를 </a:t>
              </a:r>
              <a:r>
                <a:rPr lang="ko-KR" altLang="en-US" sz="1500" b="1" dirty="0">
                  <a:latin typeface="+mj-ea"/>
                  <a:ea typeface="+mj-ea"/>
                </a:rPr>
                <a:t>지배기업</a:t>
              </a:r>
              <a:r>
                <a:rPr lang="en-US" altLang="ko-KR" sz="1500" dirty="0">
                  <a:latin typeface="+mj-ea"/>
                  <a:ea typeface="+mj-ea"/>
                </a:rPr>
                <a:t>(parent), </a:t>
              </a:r>
              <a:r>
                <a:rPr lang="ko-KR" altLang="en-US" sz="1500" dirty="0">
                  <a:latin typeface="+mj-ea"/>
                  <a:ea typeface="+mj-ea"/>
                </a:rPr>
                <a:t>피투자회사를 </a:t>
              </a:r>
              <a:r>
                <a:rPr lang="ko-KR" altLang="en-US" sz="1500" b="1" dirty="0" err="1">
                  <a:latin typeface="+mj-ea"/>
                  <a:ea typeface="+mj-ea"/>
                </a:rPr>
                <a:t>종속기업</a:t>
              </a:r>
              <a:r>
                <a:rPr lang="en-US" altLang="ko-KR" sz="1500" dirty="0">
                  <a:latin typeface="+mj-ea"/>
                  <a:ea typeface="+mj-ea"/>
                </a:rPr>
                <a:t>(subsidiary)</a:t>
              </a:r>
              <a:r>
                <a:rPr lang="ko-KR" altLang="en-US" sz="1500" dirty="0">
                  <a:latin typeface="+mj-ea"/>
                  <a:ea typeface="+mj-ea"/>
                </a:rPr>
                <a:t>이라고 함</a:t>
              </a:r>
            </a:p>
            <a:p>
              <a:pPr marL="18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 dirty="0">
                  <a:latin typeface="+mj-ea"/>
                  <a:ea typeface="+mj-ea"/>
                </a:rPr>
                <a:t> • </a:t>
              </a:r>
              <a:r>
                <a:rPr lang="ko-KR" altLang="en-US" sz="1500" dirty="0" err="1">
                  <a:latin typeface="+mj-ea"/>
                  <a:ea typeface="+mj-ea"/>
                </a:rPr>
                <a:t>지배기업과</a:t>
              </a:r>
              <a:r>
                <a:rPr lang="ko-KR" altLang="en-US" sz="1500" dirty="0">
                  <a:latin typeface="+mj-ea"/>
                  <a:ea typeface="+mj-ea"/>
                </a:rPr>
                <a:t> 종속기업들은 법률적으로는 별도의 회사들이지만</a:t>
              </a:r>
              <a:r>
                <a:rPr lang="en-US" altLang="ko-KR" sz="1500" dirty="0">
                  <a:latin typeface="+mj-ea"/>
                  <a:ea typeface="+mj-ea"/>
                </a:rPr>
                <a:t>, </a:t>
              </a:r>
              <a:r>
                <a:rPr lang="ko-KR" altLang="en-US" sz="1500" dirty="0">
                  <a:latin typeface="+mj-ea"/>
                  <a:ea typeface="+mj-ea"/>
                </a:rPr>
                <a:t>실질적으로 하나의 경제적 실체라고 할 수 있기 때문에 이들의 재무제표는 세부항목별로 합산한 금액으로 표시한 </a:t>
              </a:r>
              <a:r>
                <a:rPr lang="ko-KR" altLang="en-US" sz="1500" b="1" dirty="0">
                  <a:solidFill>
                    <a:srgbClr val="C00000"/>
                  </a:solidFill>
                  <a:latin typeface="+mj-ea"/>
                  <a:ea typeface="+mj-ea"/>
                </a:rPr>
                <a:t>연결재무제표로</a:t>
              </a:r>
              <a:r>
                <a:rPr lang="ko-KR" altLang="en-US" sz="1500" dirty="0">
                  <a:solidFill>
                    <a:srgbClr val="FF0000"/>
                  </a:solidFill>
                  <a:latin typeface="+mj-ea"/>
                  <a:ea typeface="+mj-ea"/>
                </a:rPr>
                <a:t> </a:t>
              </a:r>
              <a:r>
                <a:rPr lang="ko-KR" altLang="en-US" sz="1500" dirty="0">
                  <a:latin typeface="+mj-ea"/>
                  <a:ea typeface="+mj-ea"/>
                </a:rPr>
                <a:t>작성함</a:t>
              </a: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257473" y="1121359"/>
              <a:ext cx="7508128" cy="393894"/>
              <a:chOff x="257473" y="1376724"/>
              <a:chExt cx="7508128" cy="393894"/>
            </a:xfrm>
          </p:grpSpPr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456252" y="1376724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종속기업투자</a:t>
                </a: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그룹 8"/>
          <p:cNvGrpSpPr/>
          <p:nvPr/>
        </p:nvGrpSpPr>
        <p:grpSpPr>
          <a:xfrm>
            <a:off x="427493" y="3970034"/>
            <a:ext cx="4293548" cy="338554"/>
            <a:chOff x="1192212" y="4890839"/>
            <a:chExt cx="4293548" cy="338554"/>
          </a:xfrm>
        </p:grpSpPr>
        <p:sp>
          <p:nvSpPr>
            <p:cNvPr id="10" name="오각형 9"/>
            <p:cNvSpPr/>
            <p:nvPr/>
          </p:nvSpPr>
          <p:spPr>
            <a:xfrm>
              <a:off x="1192212" y="4922065"/>
              <a:ext cx="756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3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56212" y="4890839"/>
              <a:ext cx="34295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/>
                <a:t>지분율에</a:t>
              </a:r>
              <a:r>
                <a:rPr lang="ko-KR" altLang="en-US" sz="1600" b="1" dirty="0"/>
                <a:t> 따른 회계처리 방법</a:t>
              </a:r>
            </a:p>
          </p:txBody>
        </p:sp>
      </p:grp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54" y="4388154"/>
            <a:ext cx="7769542" cy="2215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888402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x.2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x.3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x.3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x.4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x.4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x.5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x.5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3457</Words>
  <Application>Microsoft Office PowerPoint</Application>
  <PresentationFormat>화면 슬라이드 쇼(4:3)</PresentationFormat>
  <Paragraphs>516</Paragraphs>
  <Slides>34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10</vt:i4>
      </vt:variant>
      <vt:variant>
        <vt:lpstr>슬라이드 제목</vt:lpstr>
      </vt:variant>
      <vt:variant>
        <vt:i4>34</vt:i4>
      </vt:variant>
    </vt:vector>
  </HeadingPairs>
  <TitlesOfParts>
    <vt:vector size="58" baseType="lpstr">
      <vt:lpstr>HY견고딕</vt:lpstr>
      <vt:lpstr>HY신명조</vt:lpstr>
      <vt:lpstr>굴림</vt:lpstr>
      <vt:lpstr>맑은 고딕</vt:lpstr>
      <vt:lpstr>신명 신명조</vt:lpstr>
      <vt:lpstr>-윤고딕120</vt:lpstr>
      <vt:lpstr>-윤고딕320</vt:lpstr>
      <vt:lpstr>-윤고딕330</vt:lpstr>
      <vt:lpstr>함초롬바탕 확장</vt:lpstr>
      <vt:lpstr>휴먼고딕빅체</vt:lpstr>
      <vt:lpstr>Arial</vt:lpstr>
      <vt:lpstr>Calibri</vt:lpstr>
      <vt:lpstr>Times New Roman</vt:lpstr>
      <vt:lpstr>Wingdings</vt:lpstr>
      <vt:lpstr>1_디자인 사용자 지정</vt:lpstr>
      <vt:lpstr>x.1 - 1.</vt:lpstr>
      <vt:lpstr>x.1 - 2.</vt:lpstr>
      <vt:lpstr>x.2 - 1.</vt:lpstr>
      <vt:lpstr>x.3 - 1.</vt:lpstr>
      <vt:lpstr>1_x.3 - 1.</vt:lpstr>
      <vt:lpstr>x.4 - 1.</vt:lpstr>
      <vt:lpstr>1_x.4 - 1.</vt:lpstr>
      <vt:lpstr>x.5 - 1.</vt:lpstr>
      <vt:lpstr>1_x.5 - 1.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석주 이</cp:lastModifiedBy>
  <cp:revision>1</cp:revision>
  <dcterms:created xsi:type="dcterms:W3CDTF">2024-07-23T07:27:56Z</dcterms:created>
  <dcterms:modified xsi:type="dcterms:W3CDTF">2025-11-22T04:57:12Z</dcterms:modified>
</cp:coreProperties>
</file>