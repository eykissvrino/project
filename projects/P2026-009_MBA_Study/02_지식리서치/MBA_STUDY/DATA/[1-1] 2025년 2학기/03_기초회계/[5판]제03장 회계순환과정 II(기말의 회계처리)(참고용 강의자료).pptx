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660" r:id="rId2"/>
    <p:sldMasterId id="2147483776" r:id="rId3"/>
    <p:sldMasterId id="2147483778" r:id="rId4"/>
    <p:sldMasterId id="2147483780" r:id="rId5"/>
    <p:sldMasterId id="2147483782" r:id="rId6"/>
    <p:sldMasterId id="2147483794" r:id="rId7"/>
    <p:sldMasterId id="2147483784" r:id="rId8"/>
    <p:sldMasterId id="2147483786" r:id="rId9"/>
    <p:sldMasterId id="2147483788" r:id="rId10"/>
    <p:sldMasterId id="2147483790" r:id="rId11"/>
    <p:sldMasterId id="2147483792" r:id="rId12"/>
    <p:sldMasterId id="2147483799" r:id="rId13"/>
  </p:sldMasterIdLst>
  <p:notesMasterIdLst>
    <p:notesMasterId r:id="rId46"/>
  </p:notesMasterIdLst>
  <p:handoutMasterIdLst>
    <p:handoutMasterId r:id="rId47"/>
  </p:handoutMasterIdLst>
  <p:sldIdLst>
    <p:sldId id="470" r:id="rId14"/>
    <p:sldId id="437" r:id="rId15"/>
    <p:sldId id="343" r:id="rId16"/>
    <p:sldId id="438" r:id="rId17"/>
    <p:sldId id="439" r:id="rId18"/>
    <p:sldId id="440" r:id="rId19"/>
    <p:sldId id="441" r:id="rId20"/>
    <p:sldId id="442" r:id="rId21"/>
    <p:sldId id="475" r:id="rId22"/>
    <p:sldId id="443" r:id="rId23"/>
    <p:sldId id="444" r:id="rId24"/>
    <p:sldId id="445" r:id="rId25"/>
    <p:sldId id="446" r:id="rId26"/>
    <p:sldId id="447" r:id="rId27"/>
    <p:sldId id="448" r:id="rId28"/>
    <p:sldId id="449" r:id="rId29"/>
    <p:sldId id="450" r:id="rId30"/>
    <p:sldId id="452" r:id="rId31"/>
    <p:sldId id="453" r:id="rId32"/>
    <p:sldId id="454" r:id="rId33"/>
    <p:sldId id="455" r:id="rId34"/>
    <p:sldId id="456" r:id="rId35"/>
    <p:sldId id="457" r:id="rId36"/>
    <p:sldId id="460" r:id="rId37"/>
    <p:sldId id="461" r:id="rId38"/>
    <p:sldId id="462" r:id="rId39"/>
    <p:sldId id="463" r:id="rId40"/>
    <p:sldId id="464" r:id="rId41"/>
    <p:sldId id="465" r:id="rId42"/>
    <p:sldId id="468" r:id="rId43"/>
    <p:sldId id="469" r:id="rId44"/>
    <p:sldId id="471" r:id="rId45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6400" autoAdjust="0"/>
  </p:normalViewPr>
  <p:slideViewPr>
    <p:cSldViewPr snapToGrid="0">
      <p:cViewPr varScale="1">
        <p:scale>
          <a:sx n="111" d="100"/>
          <a:sy n="111" d="100"/>
        </p:scale>
        <p:origin x="1668" y="108"/>
      </p:cViewPr>
      <p:guideLst>
        <p:guide orient="horz" pos="2137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96" y="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2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04" tIns="45752" rIns="91504" bIns="4575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504" tIns="45752" rIns="91504" bIns="4575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047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855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9516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0988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2BB866-304C-4E92-87F7-22C995A2D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85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71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35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13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226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15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947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733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74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2001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160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글로벌 회계원리 </a:t>
            </a:r>
            <a:r>
              <a:rPr lang="en-US" altLang="ko-KR" dirty="0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686E44-665A-4297-8172-5FBCB2BCE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43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9FE968-FEF0-43CD-A153-B9C9624C6151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236636" y="715411"/>
            <a:ext cx="3695045" cy="369332"/>
            <a:chOff x="2107219" y="613082"/>
            <a:chExt cx="3695045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미지급비용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46B550-5E7A-4E01-90E0-0CB2DE71BC98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236636" y="715411"/>
            <a:ext cx="3695045" cy="369332"/>
            <a:chOff x="2107219" y="613082"/>
            <a:chExt cx="3695045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미수수익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44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556027-50BF-4E1E-A913-F456779A9EF7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FF7DB2-8A69-4DDB-956E-7ACEF1345275}"/>
              </a:ext>
            </a:extLst>
          </p:cNvPr>
          <p:cNvGrpSpPr/>
          <p:nvPr userDrawn="1"/>
        </p:nvGrpSpPr>
        <p:grpSpPr>
          <a:xfrm>
            <a:off x="2275497" y="738944"/>
            <a:ext cx="3695045" cy="369332"/>
            <a:chOff x="2107219" y="613082"/>
            <a:chExt cx="3695045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A006F4-9F15-441B-B4D8-77AF0715F6E2}"/>
                </a:ext>
              </a:extLst>
            </p:cNvPr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선급비용</a:t>
              </a:r>
            </a:p>
          </p:txBody>
        </p:sp>
        <p:sp>
          <p:nvSpPr>
            <p:cNvPr id="17" name="눈물 방울 16">
              <a:extLst>
                <a:ext uri="{FF2B5EF4-FFF2-40B4-BE49-F238E27FC236}">
                  <a16:creationId xmlns:a16="http://schemas.microsoft.com/office/drawing/2014/main" id="{B9B7A2A8-767B-41D4-A82E-48F3D6B80A49}"/>
                </a:ext>
              </a:extLst>
            </p:cNvPr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66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D7F4AE-27E3-4D0C-BEF9-CE25AB7D28AD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95F029-CF97-417D-AE68-83DCA0292DA3}"/>
              </a:ext>
            </a:extLst>
          </p:cNvPr>
          <p:cNvGrpSpPr/>
          <p:nvPr userDrawn="1"/>
        </p:nvGrpSpPr>
        <p:grpSpPr>
          <a:xfrm>
            <a:off x="2275497" y="738944"/>
            <a:ext cx="3695045" cy="369332"/>
            <a:chOff x="2107219" y="613082"/>
            <a:chExt cx="3695045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77ACEE-92C7-4F4E-89E1-2EAFF9C7E413}"/>
                </a:ext>
              </a:extLst>
            </p:cNvPr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선수수익</a:t>
              </a:r>
            </a:p>
          </p:txBody>
        </p:sp>
        <p:sp>
          <p:nvSpPr>
            <p:cNvPr id="17" name="눈물 방울 16">
              <a:extLst>
                <a:ext uri="{FF2B5EF4-FFF2-40B4-BE49-F238E27FC236}">
                  <a16:creationId xmlns:a16="http://schemas.microsoft.com/office/drawing/2014/main" id="{05F4B640-B8C5-4243-951F-A7AE98A0BACF}"/>
                </a:ext>
              </a:extLst>
            </p:cNvPr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14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3DF38D-0F43-4E0A-9394-E098F7A6D057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1AB0CF9-A53D-4C94-9FE6-C5B9201C0698}"/>
              </a:ext>
            </a:extLst>
          </p:cNvPr>
          <p:cNvGrpSpPr/>
          <p:nvPr userDrawn="1"/>
        </p:nvGrpSpPr>
        <p:grpSpPr>
          <a:xfrm>
            <a:off x="2275497" y="738944"/>
            <a:ext cx="3695045" cy="369332"/>
            <a:chOff x="2107219" y="613082"/>
            <a:chExt cx="3695045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A3081D-5931-48B3-B033-E050732C94E9}"/>
                </a:ext>
              </a:extLst>
            </p:cNvPr>
            <p:cNvSpPr txBox="1"/>
            <p:nvPr userDrawn="1"/>
          </p:nvSpPr>
          <p:spPr>
            <a:xfrm>
              <a:off x="2379771" y="613082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소모품</a:t>
              </a:r>
            </a:p>
          </p:txBody>
        </p:sp>
        <p:sp>
          <p:nvSpPr>
            <p:cNvPr id="18" name="눈물 방울 17">
              <a:extLst>
                <a:ext uri="{FF2B5EF4-FFF2-40B4-BE49-F238E27FC236}">
                  <a16:creationId xmlns:a16="http://schemas.microsoft.com/office/drawing/2014/main" id="{8948442D-B94C-492A-AC52-25532D5466BE}"/>
                </a:ext>
              </a:extLst>
            </p:cNvPr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401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9C21F29-44D1-4DDD-82A7-8DC78725AE13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결산수정분개 및 전기</a:t>
              </a:r>
              <a:r>
                <a:rPr lang="en-US" altLang="ko-KR" sz="3200" b="1" dirty="0"/>
                <a:t>(5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46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C6609BA-1CEC-4A20-BA1C-4D7849CB45A0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수정후 시산표</a:t>
              </a:r>
              <a:r>
                <a:rPr lang="en-US" altLang="ko-KR" sz="3200" b="1" dirty="0"/>
                <a:t>(6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77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FBFD14-3503-41F3-A74D-BCCEC0FADC09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재무제표 작성</a:t>
              </a:r>
              <a:r>
                <a:rPr lang="en-US" altLang="ko-KR" sz="3200" b="1" dirty="0"/>
                <a:t>(7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01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87C07EE-EE23-4C01-86AF-FCE76C938329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정산표 작성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2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D25DCF-EC9A-4137-879F-D099FC7EB9DA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장부의 마감</a:t>
              </a:r>
              <a:r>
                <a:rPr lang="en-US" altLang="ko-KR" sz="3200" b="1" dirty="0"/>
                <a:t>(8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9" name="그룹 248"/>
          <p:cNvGrpSpPr/>
          <p:nvPr userDrawn="1"/>
        </p:nvGrpSpPr>
        <p:grpSpPr>
          <a:xfrm>
            <a:off x="4507926" y="459361"/>
            <a:ext cx="3658591" cy="369332"/>
            <a:chOff x="2107219" y="601867"/>
            <a:chExt cx="3658591" cy="369332"/>
          </a:xfrm>
        </p:grpSpPr>
        <p:sp>
          <p:nvSpPr>
            <p:cNvPr id="254" name="TextBox 253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포괄손익계산서계정의 마감</a:t>
              </a:r>
            </a:p>
          </p:txBody>
        </p:sp>
        <p:sp>
          <p:nvSpPr>
            <p:cNvPr id="257" name="눈물 방울 256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6" name="직사각형 245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18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EC044B-0240-49AE-ABC6-922E2499AEA9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장부의 마감</a:t>
              </a:r>
              <a:r>
                <a:rPr lang="en-US" altLang="ko-KR" sz="3200" b="1" dirty="0"/>
                <a:t>(8</a:t>
              </a:r>
              <a:r>
                <a:rPr lang="ko-KR" altLang="en-US" sz="3200" b="1" dirty="0"/>
                <a:t>단계</a:t>
              </a:r>
              <a:r>
                <a:rPr lang="en-US" altLang="ko-KR" sz="3200" b="1" dirty="0"/>
                <a:t>)</a:t>
              </a:r>
              <a:endParaRPr lang="ko-KR" altLang="en-US" sz="3200" b="1" dirty="0"/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49" name="그룹 248"/>
          <p:cNvGrpSpPr/>
          <p:nvPr userDrawn="1"/>
        </p:nvGrpSpPr>
        <p:grpSpPr>
          <a:xfrm>
            <a:off x="4507926" y="459361"/>
            <a:ext cx="3658591" cy="369332"/>
            <a:chOff x="2107219" y="601867"/>
            <a:chExt cx="3658591" cy="369332"/>
          </a:xfrm>
        </p:grpSpPr>
        <p:sp>
          <p:nvSpPr>
            <p:cNvPr id="254" name="TextBox 253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재무상태표계정의 마감</a:t>
              </a:r>
            </a:p>
          </p:txBody>
        </p:sp>
        <p:sp>
          <p:nvSpPr>
            <p:cNvPr id="257" name="눈물 방울 256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0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2CA5D82-84FD-46AE-9DB8-BE971F66E97A}"/>
              </a:ext>
            </a:extLst>
          </p:cNvPr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06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회계순환과정의 종합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</a:rPr>
              <a:t>회계순환과정</a:t>
            </a:r>
            <a:r>
              <a:rPr lang="en-US" altLang="ko-KR" sz="1200" b="1" dirty="0">
                <a:solidFill>
                  <a:schemeClr val="tx1"/>
                </a:solidFill>
              </a:rPr>
              <a:t>II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8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24198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027679" y="1242189"/>
            <a:ext cx="7161667" cy="1618301"/>
            <a:chOff x="1226912" y="2130843"/>
            <a:chExt cx="7161667" cy="1618301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2274456"/>
              <a:ext cx="58624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회계순환과정 </a:t>
              </a:r>
              <a:r>
                <a:rPr lang="en-US" altLang="ko-KR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II</a:t>
              </a:r>
              <a:endPara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ACCOUNTING CYCLE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5905500" y="6356703"/>
            <a:ext cx="323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4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308175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030382"/>
            <a:ext cx="8543506" cy="218613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b="1" dirty="0">
                <a:latin typeface="맑은 고딕" panose="020B0503020000020004" pitchFamily="50" charset="-127"/>
              </a:rPr>
              <a:t>결산수정분개</a:t>
            </a:r>
            <a:r>
              <a:rPr lang="en-US" altLang="ko-KR" sz="1600" dirty="0">
                <a:latin typeface="맑은 고딕" panose="020B0503020000020004" pitchFamily="50" charset="-127"/>
              </a:rPr>
              <a:t>(adjusting entry) </a:t>
            </a:r>
            <a:endParaRPr lang="en-US" altLang="ko-KR" sz="1800" dirty="0">
              <a:latin typeface="맑은 고딕" panose="020B0503020000020004" pitchFamily="50" charset="-127"/>
            </a:endParaRP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</a:rPr>
              <a:t>발생주의</a:t>
            </a:r>
            <a:r>
              <a:rPr lang="ko-KR" altLang="en-US" sz="1600" dirty="0">
                <a:solidFill>
                  <a:srgbClr val="C00000"/>
                </a:solidFill>
              </a:rPr>
              <a:t> </a:t>
            </a:r>
            <a:r>
              <a:rPr lang="ko-KR" altLang="en-US" sz="1600" dirty="0"/>
              <a:t>기준에 따라 계정과목 및 잔액을 재무제표에 정확하게 보고하기 위해서 기말 결산시점에 하는 회계처리</a:t>
            </a:r>
            <a:r>
              <a:rPr lang="en-US" altLang="ko-KR" sz="1600" dirty="0"/>
              <a:t> </a:t>
            </a: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600" dirty="0"/>
              <a:t>5</a:t>
            </a:r>
            <a:r>
              <a:rPr lang="ko-KR" altLang="en-US" sz="1600" dirty="0"/>
              <a:t>가지 결산수정분개사항</a:t>
            </a:r>
            <a:r>
              <a:rPr lang="en-US" altLang="ko-KR" sz="1600" dirty="0"/>
              <a:t>: </a:t>
            </a:r>
            <a:r>
              <a:rPr lang="ko-KR" altLang="en-US" sz="1600" dirty="0"/>
              <a:t>미지급비용</a:t>
            </a:r>
            <a:r>
              <a:rPr lang="en-US" altLang="ko-KR" sz="1600" dirty="0"/>
              <a:t>, </a:t>
            </a:r>
            <a:r>
              <a:rPr lang="ko-KR" altLang="en-US" sz="1600" dirty="0"/>
              <a:t>미수수익</a:t>
            </a:r>
            <a:r>
              <a:rPr lang="en-US" altLang="ko-KR" sz="1600" dirty="0"/>
              <a:t>, </a:t>
            </a:r>
            <a:r>
              <a:rPr lang="ko-KR" altLang="en-US" sz="1600" dirty="0"/>
              <a:t>선급비용</a:t>
            </a:r>
            <a:r>
              <a:rPr lang="en-US" altLang="ko-KR" sz="1600" dirty="0"/>
              <a:t>, </a:t>
            </a:r>
            <a:r>
              <a:rPr lang="ko-KR" altLang="en-US" sz="1600" dirty="0"/>
              <a:t>선수수익</a:t>
            </a:r>
            <a:r>
              <a:rPr lang="en-US" altLang="ko-KR" sz="1600" dirty="0"/>
              <a:t>, </a:t>
            </a:r>
            <a:r>
              <a:rPr lang="ko-KR" altLang="en-US" sz="1600" dirty="0"/>
              <a:t>소모품</a:t>
            </a:r>
            <a:endParaRPr lang="en-US" altLang="ko-KR" sz="1600" dirty="0"/>
          </a:p>
        </p:txBody>
      </p:sp>
      <p:grpSp>
        <p:nvGrpSpPr>
          <p:cNvPr id="7" name="그룹 6"/>
          <p:cNvGrpSpPr/>
          <p:nvPr/>
        </p:nvGrpSpPr>
        <p:grpSpPr>
          <a:xfrm>
            <a:off x="238577" y="3143360"/>
            <a:ext cx="8581539" cy="1491930"/>
            <a:chOff x="2626908" y="1651951"/>
            <a:chExt cx="11585647" cy="1678979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90730" y="2074511"/>
              <a:ext cx="11521825" cy="125641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기중에 발생하여 당기의 포괄손익계산서에 반영되어야 할 비용인데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아직 현금으로 지급하지 않았기 때문에 기중에는 인식하지 않은 비용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26908" y="1651951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미지급비용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(accrued expense) 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당기에 발생한 비용의 인식</a:t>
              </a: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86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3-1 </a:t>
                  </a:r>
                  <a:r>
                    <a:rPr lang="ko-KR" altLang="en-US" sz="1600" b="1" dirty="0"/>
                    <a:t>결산수정분개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미지급비용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55693" y="1601650"/>
            <a:ext cx="8042041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  <a:r>
              <a:rPr lang="ko-KR" altLang="en-US" sz="1500" b="1" dirty="0">
                <a:latin typeface="맑은 고딕" panose="020B0503020000020004" pitchFamily="50" charset="-127"/>
              </a:rPr>
              <a:t>덕송은 연 </a:t>
            </a:r>
            <a:r>
              <a:rPr lang="en-US" altLang="ko-KR" sz="1500" b="1" dirty="0">
                <a:latin typeface="맑은 고딕" panose="020B0503020000020004" pitchFamily="50" charset="-127"/>
              </a:rPr>
              <a:t>12% 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이자율로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100,000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을 신한은행으로부터 차입하였다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이자지급일은 매년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4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월과 </a:t>
            </a:r>
            <a:r>
              <a:rPr lang="en-US" altLang="ko-KR" sz="1500" b="1" dirty="0">
                <a:latin typeface="맑은 고딕" panose="020B0503020000020004" pitchFamily="50" charset="-127"/>
              </a:rPr>
              <a:t>10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일이다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20×1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12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 현재 ㈜덕송은 이자비용을 인식하지 않았다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>
                <a:latin typeface="맑은 고딕" panose="020B0503020000020004" pitchFamily="50" charset="-127"/>
              </a:rPr>
              <a:t>년에 해당하는 이자비용</a:t>
            </a:r>
            <a:r>
              <a:rPr lang="en-US" altLang="ko-KR" sz="1500" dirty="0">
                <a:latin typeface="맑은 고딕" panose="020B0503020000020004" pitchFamily="50" charset="-127"/>
              </a:rPr>
              <a:t>(10</a:t>
            </a:r>
            <a:r>
              <a:rPr lang="ko-KR" altLang="en-US" sz="1500" dirty="0">
                <a:latin typeface="맑은 고딕" panose="020B0503020000020004" pitchFamily="50" charset="-127"/>
              </a:rPr>
              <a:t>월～</a:t>
            </a:r>
            <a:r>
              <a:rPr lang="en-US" altLang="ko-KR" sz="1500" dirty="0">
                <a:latin typeface="맑은 고딕" panose="020B0503020000020004" pitchFamily="50" charset="-127"/>
              </a:rPr>
              <a:t>12</a:t>
            </a:r>
            <a:r>
              <a:rPr lang="ko-KR" altLang="en-US" sz="1500" dirty="0">
                <a:latin typeface="맑은 고딕" panose="020B0503020000020004" pitchFamily="50" charset="-127"/>
              </a:rPr>
              <a:t>월</a:t>
            </a:r>
            <a:r>
              <a:rPr lang="en-US" altLang="ko-KR" sz="1500" dirty="0">
                <a:latin typeface="맑은 고딕" panose="020B0503020000020004" pitchFamily="50" charset="-127"/>
              </a:rPr>
              <a:t>) :</a:t>
            </a:r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r>
              <a:rPr lang="ko-KR" altLang="en-US" sz="1500" b="1" dirty="0">
                <a:latin typeface="맑은 고딕" panose="020B0503020000020004" pitchFamily="50" charset="-127"/>
              </a:rPr>
              <a:t>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3,000</a:t>
            </a: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＝￦</a:t>
            </a:r>
            <a:r>
              <a:rPr lang="en-US" altLang="ko-KR" sz="1500" dirty="0">
                <a:latin typeface="맑은 고딕" panose="020B0503020000020004" pitchFamily="50" charset="-127"/>
              </a:rPr>
              <a:t>100,000×12%× 3/12</a:t>
            </a:r>
            <a:r>
              <a:rPr lang="ko-KR" altLang="en-US" sz="1500" dirty="0">
                <a:latin typeface="맑은 고딕" panose="020B0503020000020004" pitchFamily="50" charset="-127"/>
              </a:rPr>
              <a:t>개월</a:t>
            </a:r>
            <a:r>
              <a:rPr lang="en-US" altLang="ko-KR" sz="1500" dirty="0">
                <a:latin typeface="맑은 고딕" panose="020B0503020000020004" pitchFamily="50" charset="-127"/>
              </a:rPr>
              <a:t>) </a:t>
            </a:r>
          </a:p>
          <a:p>
            <a:pPr algn="just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algn="just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 </a:t>
            </a: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차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이 자 비 용       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3,000          (</a:t>
            </a:r>
            <a:r>
              <a:rPr lang="ko-KR" altLang="en-US" sz="1500" b="1" dirty="0">
                <a:latin typeface="맑은 고딕" panose="020B0503020000020004" pitchFamily="50" charset="-127"/>
              </a:rPr>
              <a:t>대</a:t>
            </a:r>
            <a:r>
              <a:rPr lang="en-US" altLang="ko-KR" sz="1500" b="1" dirty="0">
                <a:latin typeface="맑은 고딕" panose="020B0503020000020004" pitchFamily="50" charset="-127"/>
              </a:rPr>
              <a:t>) </a:t>
            </a:r>
            <a:r>
              <a:rPr lang="ko-KR" altLang="en-US" sz="1500" b="1" dirty="0">
                <a:latin typeface="맑은 고딕" panose="020B0503020000020004" pitchFamily="50" charset="-127"/>
              </a:rPr>
              <a:t>미지급이자               </a:t>
            </a:r>
            <a:r>
              <a:rPr lang="en-US" altLang="ko-KR" sz="1500" b="1" dirty="0">
                <a:latin typeface="맑은 고딕" panose="020B0503020000020004" pitchFamily="50" charset="-127"/>
              </a:rPr>
              <a:t>3,000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4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18997"/>
              </p:ext>
            </p:extLst>
          </p:nvPr>
        </p:nvGraphicFramePr>
        <p:xfrm>
          <a:off x="778668" y="4535365"/>
          <a:ext cx="7586664" cy="1127934"/>
        </p:xfrm>
        <a:graphic>
          <a:graphicData uri="http://schemas.openxmlformats.org/drawingml/2006/table">
            <a:tbl>
              <a:tblPr/>
              <a:tblGrid>
                <a:gridCol w="1204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05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55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80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49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이자비용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미지급이자</a:t>
                      </a: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12/31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미지급이자</a:t>
                      </a:r>
                    </a:p>
                  </a:txBody>
                  <a:tcPr marL="91436" marR="91436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12/31 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L="91436" marR="91436" marT="45749" marB="457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9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49" marB="4574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9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66834" y="1351176"/>
            <a:ext cx="8469842" cy="1264165"/>
            <a:chOff x="2639383" y="1703063"/>
            <a:chExt cx="11434849" cy="1622421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39383" y="2025540"/>
              <a:ext cx="11434849" cy="129994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기중에 발생하여 당기의 포괄손익계산서에 반영되어야 할 수익인데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아직 현금을 수취하지 않았기 때문에 기중에는 인식하지 않은 수익</a:t>
              </a:r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미수수익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(accrued revenue)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 :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당기에 발생한 수익의 인식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9640" y="2776450"/>
            <a:ext cx="8711460" cy="3725950"/>
            <a:chOff x="190714" y="1173829"/>
            <a:chExt cx="8711460" cy="3859676"/>
          </a:xfrm>
        </p:grpSpPr>
        <p:grpSp>
          <p:nvGrpSpPr>
            <p:cNvPr id="12" name="그룹 11"/>
            <p:cNvGrpSpPr/>
            <p:nvPr/>
          </p:nvGrpSpPr>
          <p:grpSpPr>
            <a:xfrm>
              <a:off x="361934" y="1461499"/>
              <a:ext cx="8540240" cy="3572006"/>
              <a:chOff x="269047" y="1722741"/>
              <a:chExt cx="8648776" cy="3572006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3548306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spcBef>
                    <a:spcPct val="0"/>
                  </a:spcBef>
                </a:pPr>
                <a:r>
                  <a:rPr lang="en-US" altLang="ko-KR" sz="1500" b="1" dirty="0"/>
                  <a:t>[</a:t>
                </a:r>
                <a:r>
                  <a:rPr lang="ko-KR" altLang="en-US" sz="1500" b="1" dirty="0"/>
                  <a:t>예제 </a:t>
                </a:r>
                <a:r>
                  <a:rPr lang="en-US" altLang="ko-KR" sz="1500" b="1" dirty="0"/>
                  <a:t>3-1]</a:t>
                </a:r>
                <a:r>
                  <a:rPr lang="ko-KR" altLang="en-US" sz="1500" b="1" dirty="0"/>
                  <a:t>에서 소개한 것처럼 신한은행은 </a:t>
                </a:r>
                <a:r>
                  <a:rPr lang="en-US" altLang="ko-KR" sz="1500" b="1" dirty="0"/>
                  <a:t>20×1</a:t>
                </a:r>
                <a:r>
                  <a:rPr lang="ko-KR" altLang="en-US" sz="1500" b="1" dirty="0"/>
                  <a:t>년 </a:t>
                </a:r>
                <a:r>
                  <a:rPr lang="en-US" altLang="ko-KR" sz="1500" b="1" dirty="0"/>
                  <a:t>10</a:t>
                </a:r>
                <a:r>
                  <a:rPr lang="ko-KR" altLang="en-US" sz="1500" b="1" dirty="0"/>
                  <a:t>월 </a:t>
                </a:r>
                <a:r>
                  <a:rPr lang="en-US" altLang="ko-KR" sz="1500" b="1" dirty="0"/>
                  <a:t>1</a:t>
                </a:r>
                <a:r>
                  <a:rPr lang="ko-KR" altLang="en-US" sz="1500" b="1" dirty="0"/>
                  <a:t>일 연 </a:t>
                </a:r>
                <a:r>
                  <a:rPr lang="en-US" altLang="ko-KR" sz="1500" b="1" dirty="0"/>
                  <a:t>12%</a:t>
                </a:r>
                <a:r>
                  <a:rPr lang="ko-KR" altLang="en-US" sz="1500" b="1" dirty="0"/>
                  <a:t>의 이자율로 ￦</a:t>
                </a:r>
                <a:r>
                  <a:rPr lang="en-US" altLang="ko-KR" sz="1500" b="1" dirty="0"/>
                  <a:t>100,000</a:t>
                </a:r>
                <a:r>
                  <a:rPr lang="ko-KR" altLang="en-US" sz="1500" b="1" dirty="0"/>
                  <a:t>을 </a:t>
                </a:r>
                <a:r>
                  <a:rPr lang="en-US" altLang="ko-KR" sz="1500" b="1" dirty="0"/>
                  <a:t>(</a:t>
                </a:r>
                <a:r>
                  <a:rPr lang="ko-KR" altLang="en-US" sz="1500" b="1" dirty="0"/>
                  <a:t>주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덕송에 대출해주었다</a:t>
                </a:r>
                <a:r>
                  <a:rPr lang="en-US" altLang="ko-KR" sz="1500" b="1" dirty="0"/>
                  <a:t>. </a:t>
                </a:r>
                <a:r>
                  <a:rPr lang="ko-KR" altLang="en-US" sz="1500" b="1" dirty="0"/>
                  <a:t>이자수취일은 매년 </a:t>
                </a:r>
                <a:r>
                  <a:rPr lang="en-US" altLang="ko-KR" sz="1500" b="1" dirty="0"/>
                  <a:t>4</a:t>
                </a:r>
                <a:r>
                  <a:rPr lang="ko-KR" altLang="en-US" sz="1500" b="1" dirty="0"/>
                  <a:t>월과 </a:t>
                </a:r>
                <a:r>
                  <a:rPr lang="en-US" altLang="ko-KR" sz="1500" b="1" dirty="0"/>
                  <a:t>10</a:t>
                </a:r>
                <a:r>
                  <a:rPr lang="ko-KR" altLang="en-US" sz="1500" b="1" dirty="0"/>
                  <a:t>월 </a:t>
                </a:r>
                <a:r>
                  <a:rPr lang="en-US" altLang="ko-KR" sz="1500" b="1" dirty="0"/>
                  <a:t>1</a:t>
                </a:r>
                <a:r>
                  <a:rPr lang="ko-KR" altLang="en-US" sz="1500" b="1" dirty="0"/>
                  <a:t>일이다</a:t>
                </a:r>
                <a:r>
                  <a:rPr lang="en-US" altLang="ko-KR" sz="1500" b="1" dirty="0"/>
                  <a:t>. 20×1</a:t>
                </a:r>
                <a:r>
                  <a:rPr lang="ko-KR" altLang="en-US" sz="1500" b="1" dirty="0"/>
                  <a:t>년 </a:t>
                </a:r>
                <a:r>
                  <a:rPr lang="en-US" altLang="ko-KR" sz="1500" b="1" dirty="0"/>
                  <a:t>12</a:t>
                </a:r>
                <a:r>
                  <a:rPr lang="ko-KR" altLang="en-US" sz="1500" b="1" dirty="0"/>
                  <a:t>월 </a:t>
                </a:r>
                <a:r>
                  <a:rPr lang="en-US" altLang="ko-KR" sz="1500" b="1" dirty="0"/>
                  <a:t>31</a:t>
                </a:r>
                <a:r>
                  <a:rPr lang="ko-KR" altLang="en-US" sz="1500" b="1" dirty="0"/>
                  <a:t>일 현재 신한은행은 이자수익을 인식하지 않았다</a:t>
                </a:r>
                <a:r>
                  <a:rPr lang="en-US" altLang="ko-KR" sz="1500" b="1" dirty="0"/>
                  <a:t>.</a:t>
                </a:r>
              </a:p>
              <a:p>
                <a:pPr latinLnBrk="0">
                  <a:spcBef>
                    <a:spcPct val="0"/>
                  </a:spcBef>
                </a:pPr>
                <a:endParaRPr lang="en-US" altLang="ko-KR" sz="1500" b="1" dirty="0"/>
              </a:p>
              <a:p>
                <a:pPr fontAlgn="base" latinLnBrk="0"/>
                <a:r>
                  <a:rPr lang="ko-KR" altLang="en-US" sz="1400" b="1" dirty="0"/>
                  <a:t> </a:t>
                </a:r>
                <a:r>
                  <a:rPr lang="en-US" altLang="ko-KR" sz="1500" dirty="0"/>
                  <a:t>20×1</a:t>
                </a:r>
                <a:r>
                  <a:rPr lang="ko-KR" altLang="en-US" sz="1500" dirty="0"/>
                  <a:t>년에 해당하는 이자수익</a:t>
                </a:r>
                <a:r>
                  <a:rPr lang="en-US" altLang="ko-KR" sz="1500" dirty="0"/>
                  <a:t>(10</a:t>
                </a:r>
                <a:r>
                  <a:rPr lang="ko-KR" altLang="en-US" sz="1500" dirty="0"/>
                  <a:t>∼</a:t>
                </a:r>
                <a:r>
                  <a:rPr lang="en-US" altLang="ko-KR" sz="1500" dirty="0"/>
                  <a:t>12</a:t>
                </a:r>
                <a:r>
                  <a:rPr lang="ko-KR" altLang="en-US" sz="1500" dirty="0"/>
                  <a:t>월</a:t>
                </a:r>
                <a:r>
                  <a:rPr lang="en-US" altLang="ko-KR" sz="1500" dirty="0"/>
                  <a:t>) = </a:t>
                </a:r>
                <a:r>
                  <a:rPr lang="ko-KR" altLang="en-US" sz="1500" dirty="0"/>
                  <a:t> </a:t>
                </a:r>
                <a:r>
                  <a:rPr lang="ko-KR" altLang="en-US" sz="1500" b="1" dirty="0"/>
                  <a:t>￦</a:t>
                </a:r>
                <a:r>
                  <a:rPr lang="en-US" altLang="ko-KR" sz="1500" b="1" dirty="0"/>
                  <a:t>3,000</a:t>
                </a:r>
                <a:r>
                  <a:rPr lang="en-US" altLang="ko-KR" sz="1500" dirty="0"/>
                  <a:t>(</a:t>
                </a:r>
                <a:r>
                  <a:rPr lang="ko-KR" altLang="en-US" sz="1500" dirty="0"/>
                  <a:t>＝￦</a:t>
                </a:r>
                <a:r>
                  <a:rPr lang="en-US" altLang="ko-KR" sz="1500" dirty="0"/>
                  <a:t>100,000×12%×3/12</a:t>
                </a:r>
                <a:r>
                  <a:rPr lang="ko-KR" altLang="en-US" sz="1500" dirty="0"/>
                  <a:t>개월</a:t>
                </a:r>
                <a:r>
                  <a:rPr lang="en-US" altLang="ko-KR" sz="1500" dirty="0"/>
                  <a:t>)</a:t>
                </a:r>
              </a:p>
              <a:p>
                <a:pPr fontAlgn="base" latinLnBrk="0"/>
                <a:endParaRPr lang="en-US" altLang="ko-KR" sz="1500" dirty="0"/>
              </a:p>
              <a:p>
                <a:pPr fontAlgn="base"/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미수이자수익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3,000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이자수익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3,000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190714" y="1173829"/>
              <a:ext cx="5338703" cy="349618"/>
              <a:chOff x="190714" y="1190298"/>
              <a:chExt cx="4566864" cy="310484"/>
            </a:xfrm>
            <a:solidFill>
              <a:srgbClr val="2D61C8"/>
            </a:solidFill>
          </p:grpSpPr>
          <p:grpSp>
            <p:nvGrpSpPr>
              <p:cNvPr id="14" name="그룹 13"/>
              <p:cNvGrpSpPr/>
              <p:nvPr/>
            </p:nvGrpSpPr>
            <p:grpSpPr>
              <a:xfrm>
                <a:off x="190714" y="1190298"/>
                <a:ext cx="4566864" cy="310484"/>
                <a:chOff x="405822" y="2107162"/>
                <a:chExt cx="4566864" cy="310484"/>
              </a:xfrm>
              <a:grpFill/>
            </p:grpSpPr>
            <p:sp>
              <p:nvSpPr>
                <p:cNvPr id="16" name="타원 15"/>
                <p:cNvSpPr/>
                <p:nvPr/>
              </p:nvSpPr>
              <p:spPr>
                <a:xfrm>
                  <a:off x="405822" y="2127295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54607" y="2107162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3-2 </a:t>
                  </a:r>
                  <a:r>
                    <a:rPr lang="ko-KR" altLang="en-US" sz="1600" b="1" dirty="0"/>
                    <a:t>결산수정분개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미수수익</a:t>
                  </a:r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427833" y="2145694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5" name="그림 14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249181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309615"/>
              </p:ext>
            </p:extLst>
          </p:nvPr>
        </p:nvGraphicFramePr>
        <p:xfrm>
          <a:off x="560451" y="5121980"/>
          <a:ext cx="7588250" cy="1097142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9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23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미수이자수익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이자수익</a:t>
                      </a: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12/31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이자수익</a:t>
                      </a: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12/31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미수이자수익</a:t>
                      </a: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3,000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marT="45697" marB="456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58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74769" y="1351176"/>
            <a:ext cx="8564364" cy="1467106"/>
            <a:chOff x="2639383" y="1703063"/>
            <a:chExt cx="11562459" cy="1882874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80017" y="2162333"/>
              <a:ext cx="11521825" cy="142360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비용이 발생하기 전에 현금을 먼저 지급한 경우로서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미리 지급한 금액을 자산으로 기록한 것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. </a:t>
              </a:r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선급비용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(prepaid expense)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차기에 귀속하는 비용의 이연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9640" y="2789678"/>
            <a:ext cx="8711460" cy="3760149"/>
            <a:chOff x="190714" y="1320882"/>
            <a:chExt cx="8711460" cy="4178332"/>
          </a:xfrm>
        </p:grpSpPr>
        <p:grpSp>
          <p:nvGrpSpPr>
            <p:cNvPr id="12" name="그룹 11"/>
            <p:cNvGrpSpPr/>
            <p:nvPr/>
          </p:nvGrpSpPr>
          <p:grpSpPr>
            <a:xfrm>
              <a:off x="361934" y="1461499"/>
              <a:ext cx="8540240" cy="4037715"/>
              <a:chOff x="269047" y="1722741"/>
              <a:chExt cx="8648776" cy="4037715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4014015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덕송은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일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DB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손해보험과 자동차 보험계약을 체결하여 향후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년간 보험서비스를 받기로 하고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 기간 동안의 총보험료 ￦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60,000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DB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손해보험에 지급하였다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현금지급시 ㈜덕송은 선급보험료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선급비용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계정을 이용하여 유동자산을 인식하였다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선급보험료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60,000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  금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60,000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일 현재 회사는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3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개월 동안 보험서비스를 받았으므로 관련 총보험료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60,000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중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15,000(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60,000×3/12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개월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을 비용으로 인식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. </a:t>
                </a:r>
                <a:endParaRPr lang="ko-KR" altLang="en-US" sz="15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보   험   료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15,000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선급보험료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15,000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200" dirty="0">
                    <a:latin typeface="맑은 고딕" panose="020B0503020000020004" pitchFamily="50" charset="-127"/>
                  </a:rPr>
                  <a:t>		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200" dirty="0">
                    <a:latin typeface="맑은 고딕" panose="020B0503020000020004" pitchFamily="50" charset="-127"/>
                  </a:rPr>
                  <a:t> 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14" name="그룹 13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16" name="타원 15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타원 16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3-3 </a:t>
                  </a:r>
                  <a:r>
                    <a:rPr lang="ko-KR" altLang="en-US" sz="1600" b="1" dirty="0"/>
                    <a:t>결산수정분개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선급비용</a:t>
                  </a:r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5" name="그림 14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928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74769" y="1351176"/>
            <a:ext cx="8603496" cy="1380287"/>
            <a:chOff x="2639383" y="1703063"/>
            <a:chExt cx="11615291" cy="1771450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732849" y="2125623"/>
              <a:ext cx="11521825" cy="134889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수익이 발생하기 전에 현금을 미리 수취한 경우로서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수취한 금액을 부채로 기록한 것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. </a:t>
              </a:r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선수수익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(unearned revenue)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차기에 귀속하는 수익의 이연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4875" y="2750133"/>
            <a:ext cx="8711460" cy="3760148"/>
            <a:chOff x="190714" y="1414315"/>
            <a:chExt cx="8711460" cy="4178331"/>
          </a:xfrm>
        </p:grpSpPr>
        <p:grpSp>
          <p:nvGrpSpPr>
            <p:cNvPr id="12" name="그룹 11"/>
            <p:cNvGrpSpPr/>
            <p:nvPr/>
          </p:nvGrpSpPr>
          <p:grpSpPr>
            <a:xfrm>
              <a:off x="361934" y="1554931"/>
              <a:ext cx="8540240" cy="4037715"/>
              <a:chOff x="269047" y="1816173"/>
              <a:chExt cx="8648776" cy="4037715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269047" y="1839873"/>
                <a:ext cx="8648775" cy="4014015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fontAlgn="base" latinLnBrk="0">
                  <a:lnSpc>
                    <a:spcPct val="120000"/>
                  </a:lnSpc>
                </a:pPr>
                <a:r>
                  <a:rPr lang="en-US" altLang="ko-KR" sz="1500" b="1" dirty="0"/>
                  <a:t>[</a:t>
                </a:r>
                <a:r>
                  <a:rPr lang="ko-KR" altLang="en-US" sz="1500" b="1" dirty="0"/>
                  <a:t>예제 </a:t>
                </a:r>
                <a:r>
                  <a:rPr lang="en-US" altLang="ko-KR" sz="1500" b="1" dirty="0"/>
                  <a:t>3-3]</a:t>
                </a:r>
                <a:r>
                  <a:rPr lang="ko-KR" altLang="en-US" sz="1500" b="1" dirty="0"/>
                  <a:t>에서 소개한 것처럼 </a:t>
                </a:r>
                <a:r>
                  <a:rPr lang="en-US" altLang="ko-KR" sz="1500" b="1" dirty="0"/>
                  <a:t>20×1</a:t>
                </a:r>
                <a:r>
                  <a:rPr lang="ko-KR" altLang="en-US" sz="1500" b="1" dirty="0"/>
                  <a:t>년 </a:t>
                </a:r>
                <a:r>
                  <a:rPr lang="en-US" altLang="ko-KR" sz="1500" b="1" dirty="0"/>
                  <a:t>10</a:t>
                </a:r>
                <a:r>
                  <a:rPr lang="ko-KR" altLang="en-US" sz="1500" b="1" dirty="0"/>
                  <a:t>월 </a:t>
                </a:r>
                <a:r>
                  <a:rPr lang="en-US" altLang="ko-KR" sz="1500" b="1" dirty="0"/>
                  <a:t>1</a:t>
                </a:r>
                <a:r>
                  <a:rPr lang="ko-KR" altLang="en-US" sz="1500" b="1" dirty="0"/>
                  <a:t>일 </a:t>
                </a:r>
                <a:r>
                  <a:rPr lang="en-US" altLang="ko-KR" sz="1500" b="1" dirty="0"/>
                  <a:t>DB</a:t>
                </a:r>
                <a:r>
                  <a:rPr lang="ko-KR" altLang="en-US" sz="1500" b="1" dirty="0"/>
                  <a:t>손해보험은 </a:t>
                </a:r>
                <a:r>
                  <a:rPr lang="en-US" altLang="ko-KR" sz="1500" b="1" dirty="0"/>
                  <a:t>(</a:t>
                </a:r>
                <a:r>
                  <a:rPr lang="ko-KR" altLang="en-US" sz="1500" b="1" dirty="0"/>
                  <a:t>주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덕송과 자동차보험 계약을 맺었다</a:t>
                </a:r>
                <a:r>
                  <a:rPr lang="en-US" altLang="ko-KR" sz="1500" b="1" dirty="0"/>
                  <a:t>. DB</a:t>
                </a:r>
                <a:r>
                  <a:rPr lang="ko-KR" altLang="en-US" sz="1500" b="1" dirty="0"/>
                  <a:t>손해보험은 보험서비스를 제공하기 전에 미리 받은 현금을 유동부채항목인 선수보험수익</a:t>
                </a:r>
                <a:r>
                  <a:rPr lang="en-US" altLang="ko-KR" sz="1500" b="1" dirty="0"/>
                  <a:t>(</a:t>
                </a:r>
                <a:r>
                  <a:rPr lang="ko-KR" altLang="en-US" sz="1500" b="1" dirty="0"/>
                  <a:t>선수수익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으로 인식하였다</a:t>
                </a:r>
                <a:r>
                  <a:rPr lang="en-US" altLang="ko-KR" sz="1500" b="1" dirty="0"/>
                  <a:t>.</a:t>
                </a:r>
                <a:endParaRPr lang="ko-KR" altLang="en-US" sz="1500" b="1" dirty="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   금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60,000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선수보험수익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60,000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500" dirty="0">
                    <a:latin typeface="맑은 고딕" panose="020B0503020000020004" pitchFamily="50" charset="-127"/>
                  </a:rPr>
                  <a:t>기말에 위 선수수익 중 당기에 귀속되는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3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개월분 보험료인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15,000(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60,000×3/12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개월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을 수익으로 인식하고 동 금액만큼 선수수익계정을 차감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선수보험수익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15,000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보험수익   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15,000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200" dirty="0">
                    <a:latin typeface="맑은 고딕" panose="020B0503020000020004" pitchFamily="50" charset="-127"/>
                  </a:rPr>
                  <a:t>		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200" dirty="0">
                    <a:latin typeface="맑은 고딕" panose="020B0503020000020004" pitchFamily="50" charset="-127"/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277823" y="1816173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190714" y="1414315"/>
              <a:ext cx="5488234" cy="326952"/>
              <a:chOff x="190714" y="1403861"/>
              <a:chExt cx="4694777" cy="290354"/>
            </a:xfrm>
            <a:solidFill>
              <a:srgbClr val="2D61C8"/>
            </a:solidFill>
          </p:grpSpPr>
          <p:grpSp>
            <p:nvGrpSpPr>
              <p:cNvPr id="14" name="그룹 13"/>
              <p:cNvGrpSpPr/>
              <p:nvPr/>
            </p:nvGrpSpPr>
            <p:grpSpPr>
              <a:xfrm>
                <a:off x="190714" y="1403861"/>
                <a:ext cx="4694777" cy="290354"/>
                <a:chOff x="405822" y="2320725"/>
                <a:chExt cx="4694777" cy="290354"/>
              </a:xfrm>
              <a:grpFill/>
            </p:grpSpPr>
            <p:sp>
              <p:nvSpPr>
                <p:cNvPr id="16" name="타원 15"/>
                <p:cNvSpPr/>
                <p:nvPr/>
              </p:nvSpPr>
              <p:spPr>
                <a:xfrm>
                  <a:off x="405822" y="2320725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타원 16"/>
                <p:cNvSpPr/>
                <p:nvPr/>
              </p:nvSpPr>
              <p:spPr>
                <a:xfrm>
                  <a:off x="4820212" y="2320728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542511" y="2320730"/>
                  <a:ext cx="4418079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3-4 </a:t>
                  </a:r>
                  <a:r>
                    <a:rPr lang="ko-KR" altLang="en-US" sz="1600" b="1" dirty="0"/>
                    <a:t>결산수정분개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선수수익</a:t>
                  </a:r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427833" y="2339127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5" name="그림 14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442610"/>
                <a:ext cx="147147" cy="2296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4933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73281" y="1289537"/>
            <a:ext cx="8227963" cy="1671949"/>
            <a:chOff x="2637374" y="1633716"/>
            <a:chExt cx="11108296" cy="1881008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37374" y="1946218"/>
              <a:ext cx="11108296" cy="156850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∙ </a:t>
              </a:r>
              <a:r>
                <a:rPr lang="ko-KR" altLang="en-US" sz="1600" dirty="0"/>
                <a:t>문구류 등 업무를 위해 필요한 소액의 품목들을 합하여 </a:t>
              </a:r>
              <a:r>
                <a:rPr lang="ko-KR" altLang="en-US" sz="1600" b="1" dirty="0"/>
                <a:t>소모품</a:t>
              </a:r>
              <a:r>
                <a:rPr lang="ko-KR" altLang="en-US" sz="1600" dirty="0"/>
                <a:t>이라고 부름 </a:t>
              </a:r>
              <a:endParaRPr lang="en-US" altLang="ko-KR" sz="1600" dirty="0"/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∙ </a:t>
              </a:r>
              <a:r>
                <a:rPr lang="ko-KR" altLang="en-US" sz="1600" dirty="0"/>
                <a:t>기중에는 소모품 의 감소를 기록하 지 않다가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기말시점에 남아 있는 소모품을 조사하여 사용된 소모품의 가치를 </a:t>
              </a:r>
              <a:r>
                <a:rPr lang="ko-KR" altLang="en-US" sz="1600" b="1" dirty="0"/>
                <a:t>소모품비</a:t>
              </a:r>
              <a:r>
                <a:rPr lang="en-US" altLang="ko-KR" sz="1600" dirty="0"/>
                <a:t>(</a:t>
              </a:r>
              <a:r>
                <a:rPr lang="ko-KR" altLang="en-US" sz="1600" dirty="0"/>
                <a:t>비용</a:t>
              </a:r>
              <a:r>
                <a:rPr lang="en-US" altLang="ko-KR" sz="1600" dirty="0"/>
                <a:t>)</a:t>
              </a:r>
              <a:r>
                <a:rPr lang="ko-KR" altLang="en-US" sz="1600" dirty="0"/>
                <a:t>로 인식</a:t>
              </a:r>
              <a:endParaRPr lang="en-US" altLang="ko-KR" sz="1600" dirty="0"/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7374" y="1633716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소모품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(supplies)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 : 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당기에 사용된 소모품을 소모품비로 인식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86172" y="3031399"/>
            <a:ext cx="8711459" cy="2968422"/>
            <a:chOff x="190714" y="1320880"/>
            <a:chExt cx="8711459" cy="3298553"/>
          </a:xfrm>
        </p:grpSpPr>
        <p:grpSp>
          <p:nvGrpSpPr>
            <p:cNvPr id="12" name="그룹 11"/>
            <p:cNvGrpSpPr/>
            <p:nvPr/>
          </p:nvGrpSpPr>
          <p:grpSpPr>
            <a:xfrm>
              <a:off x="361934" y="1485199"/>
              <a:ext cx="8540239" cy="3134234"/>
              <a:chOff x="269047" y="1746441"/>
              <a:chExt cx="8648775" cy="3134234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3134234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덕송은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일 소모품을 구입하고 ￦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10,000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을 지급하였다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1500" b="1" dirty="0">
                    <a:latin typeface="Verdana" panose="020B0604030504040204" pitchFamily="34" charset="0"/>
                    <a:ea typeface="굴림" panose="020B0600000101010101" pitchFamily="50" charset="-127"/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 모 품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10,000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금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일 남아 있는 소모품을 조사해보니 ￦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3,000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이었다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즉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구입한 소모품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10,000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중의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7,000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은 사용된 것으로 보고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소모품비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7,000(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＝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10,000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－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3,000)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을 기록한 다음 유동자산인 소모품을 감소시키는 수정분개를 함</a:t>
                </a: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20×1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일：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소모품비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7,000  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 모 품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7,000</a:t>
                </a: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277822" y="1943256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190714" y="1320880"/>
              <a:ext cx="5251881" cy="385631"/>
              <a:chOff x="190714" y="1320889"/>
              <a:chExt cx="4492594" cy="342466"/>
            </a:xfrm>
            <a:solidFill>
              <a:srgbClr val="2D61C8"/>
            </a:solidFill>
          </p:grpSpPr>
          <p:grpSp>
            <p:nvGrpSpPr>
              <p:cNvPr id="14" name="그룹 13"/>
              <p:cNvGrpSpPr/>
              <p:nvPr/>
            </p:nvGrpSpPr>
            <p:grpSpPr>
              <a:xfrm>
                <a:off x="190714" y="1320889"/>
                <a:ext cx="4492594" cy="342466"/>
                <a:chOff x="405822" y="2237753"/>
                <a:chExt cx="4492594" cy="342466"/>
              </a:xfrm>
              <a:grpFill/>
            </p:grpSpPr>
            <p:sp>
              <p:nvSpPr>
                <p:cNvPr id="16" name="타원 15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480337" y="2289871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3-5 </a:t>
                  </a:r>
                  <a:r>
                    <a:rPr lang="ko-KR" altLang="en-US" sz="1600" b="1" dirty="0"/>
                    <a:t>결산수정분개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소모품비</a:t>
                  </a:r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5" name="그림 14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2033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371156" y="2002148"/>
            <a:ext cx="8543386" cy="3431498"/>
            <a:chOff x="2627070" y="1703063"/>
            <a:chExt cx="11534138" cy="3918176"/>
          </a:xfrm>
          <a:noFill/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39383" y="2125624"/>
              <a:ext cx="11521825" cy="3495615"/>
            </a:xfrm>
            <a:prstGeom prst="rect">
              <a:avLst/>
            </a:prstGeom>
            <a:grp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b="1" dirty="0"/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flipV="1">
              <a:off x="2627070" y="2127937"/>
              <a:ext cx="3017106" cy="2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graphicFrame>
        <p:nvGraphicFramePr>
          <p:cNvPr id="22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05126"/>
              </p:ext>
            </p:extLst>
          </p:nvPr>
        </p:nvGraphicFramePr>
        <p:xfrm>
          <a:off x="475155" y="2048897"/>
          <a:ext cx="8133494" cy="225506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6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 분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정 의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 류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기중 분개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차변</a:t>
                      </a: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대변</a:t>
                      </a: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결산수정분개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차변</a:t>
                      </a: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대변</a:t>
                      </a:r>
                      <a:r>
                        <a:rPr kumimoji="0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미지급비용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당기 비용의 인식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부채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없음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비용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미지급비용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미수수익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당기 수익의 인식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없음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미수수익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수익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선급비용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차기 비용의 이연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선급비용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비용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선급비용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6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선수수익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차기 수익의 이연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부채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선수수익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선수수익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수익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6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 모 품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차기 비용의 이연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자산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소모품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현금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소모품비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소모품</a:t>
                      </a:r>
                      <a:r>
                        <a:rPr kumimoji="0" lang="en-US" altLang="ko-KR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82" marB="4568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3" name="그룹 22"/>
          <p:cNvGrpSpPr/>
          <p:nvPr/>
        </p:nvGrpSpPr>
        <p:grpSpPr>
          <a:xfrm>
            <a:off x="455098" y="1471934"/>
            <a:ext cx="8308626" cy="338554"/>
            <a:chOff x="626547" y="1758861"/>
            <a:chExt cx="8308626" cy="338554"/>
          </a:xfrm>
        </p:grpSpPr>
        <p:sp>
          <p:nvSpPr>
            <p:cNvPr id="24" name="오각형 23"/>
            <p:cNvSpPr/>
            <p:nvPr/>
          </p:nvSpPr>
          <p:spPr>
            <a:xfrm>
              <a:off x="626547" y="1828187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18546" y="1758861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결산수정분개의 유형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39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21678"/>
            <a:ext cx="8711460" cy="2449599"/>
            <a:chOff x="190714" y="1320882"/>
            <a:chExt cx="8711460" cy="2722032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2581415"/>
              <a:chOff x="230365" y="1722741"/>
              <a:chExt cx="8687458" cy="2581415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2558558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600" b="1" dirty="0">
                    <a:latin typeface="맑은 고딕" panose="020B0503020000020004" pitchFamily="50" charset="-127"/>
                  </a:rPr>
                  <a:t>다음은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덕송서비스의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일자 기말 결산수정사항이다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본 예제는 제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장의 회계순환과정에서 제시된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[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2-6]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의 연속되는 내용이다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&lt;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기말 결산수정사항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&gt;</a:t>
                </a:r>
              </a:p>
              <a:p>
                <a:pPr lvl="0" algn="just" fontAlgn="base" latinLnBrk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(1) 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선급임차료에 대한 결산수정이 이루어지지 않았다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(1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월 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2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일 거래 ②관련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).</a:t>
                </a:r>
              </a:p>
              <a:p>
                <a:pPr lvl="0" algn="just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(2) 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소모품에 대한 재고액은 ￦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5,300,000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인 것으로 조사되었다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(1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월 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11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일 거래 ③ 관련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).</a:t>
                </a:r>
              </a:p>
              <a:p>
                <a:pPr lvl="0" algn="just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(3) 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단기차입금에 대한 이자가 아직 지급되지 않았다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(1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월 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16</a:t>
                </a:r>
                <a:r>
                  <a:rPr lang="ko-KR" altLang="en-US" sz="1600" dirty="0">
                    <a:solidFill>
                      <a:srgbClr val="000000"/>
                    </a:solidFill>
                    <a:latin typeface="맑은 고딕" pitchFamily="50" charset="-127"/>
                  </a:rPr>
                  <a:t>일 거래 ④ 관련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</a:rPr>
                  <a:t>).</a:t>
                </a:r>
                <a:endParaRPr lang="en-US" altLang="ko-KR" sz="1600" dirty="0">
                  <a:latin typeface="맑은 고딕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3-6 </a:t>
                  </a:r>
                  <a:r>
                    <a:rPr lang="ko-KR" altLang="en-US" sz="1600" b="1" dirty="0"/>
                    <a:t>결산수정분개 및 전기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4124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86172" y="1263883"/>
            <a:ext cx="8711460" cy="5332499"/>
            <a:chOff x="190714" y="1320882"/>
            <a:chExt cx="8711460" cy="5925555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784938"/>
              <a:chOff x="230365" y="1722741"/>
              <a:chExt cx="8687458" cy="5784938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762081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&lt;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결산수정분개 및 전기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&gt;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(1)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선급임차료에 대한 결산수정이 이루어지지 않았다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일 거래 ②관련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∙ 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 분개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marL="252000"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사무실 임차와 관련하여 연간 임차료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24,000,000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을 미리 지급하고 동 금액을 선급임차료로 처리하였다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선급임차료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24,000,000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   금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24,000,000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∙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기말 수정분개</a:t>
                </a:r>
              </a:p>
              <a:p>
                <a:pPr marL="252000"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일에 미리 지급된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년치 임차료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24,000,000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중에서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월에 해당하는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개월분 임차료는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2,000,000(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24,000,000/12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개월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임    차    료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2,000,000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선급임차료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3-6 </a:t>
                  </a:r>
                  <a:r>
                    <a:rPr lang="ko-KR" altLang="en-US" sz="1600" b="1" dirty="0"/>
                    <a:t>결산수정분개 및 전기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6" name="Group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720555"/>
              </p:ext>
            </p:extLst>
          </p:nvPr>
        </p:nvGraphicFramePr>
        <p:xfrm>
          <a:off x="525595" y="5512508"/>
          <a:ext cx="7586664" cy="854075"/>
        </p:xfrm>
        <a:graphic>
          <a:graphicData uri="http://schemas.openxmlformats.org/drawingml/2006/table">
            <a:tbl>
              <a:tblPr/>
              <a:tblGrid>
                <a:gridCol w="12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5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94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02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임 차 료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선급임차료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선급임차료</a:t>
                      </a: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1/2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임차료</a:t>
                      </a: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22,000,000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9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86172" y="1245221"/>
            <a:ext cx="8711460" cy="5332499"/>
            <a:chOff x="190714" y="1320882"/>
            <a:chExt cx="8711460" cy="5925555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784938"/>
              <a:chOff x="230365" y="1722741"/>
              <a:chExt cx="8687458" cy="5784938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762081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(2)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기말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소모품의 재고액은 ￦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5,300,000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인 것으로 조사되었다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일 거래 ③ 관련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∙ 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 분개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    소모품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8,000,000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을 현금으로 구입하였으며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구입시 소모품은 자산으로 회계처리하였다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   모   품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8,000,000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   금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8,000,000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 ∙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기말 수정분개</a:t>
                </a:r>
              </a:p>
              <a:p>
                <a:pPr marL="252000"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소모품에 대한 재고액이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5,300,000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인 것으로 조사되었으므로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구입한 소모품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8,000,000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중에서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2,700,000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의 소모품이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중 사용된 것을 알 수 있다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따라서 사용된 소모품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2,700,000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을 감소시키고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동 금액을 소모품비로 인식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 모 품 비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2,700,000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소 모 품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2,700,000</a:t>
                </a: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3-6 </a:t>
                  </a:r>
                  <a:r>
                    <a:rPr lang="ko-KR" altLang="en-US" sz="1600" b="1" dirty="0"/>
                    <a:t>결산수정분개 및 전기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5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07863"/>
              </p:ext>
            </p:extLst>
          </p:nvPr>
        </p:nvGraphicFramePr>
        <p:xfrm>
          <a:off x="767074" y="5379043"/>
          <a:ext cx="7729539" cy="854075"/>
        </p:xfrm>
        <a:graphic>
          <a:graphicData uri="http://schemas.openxmlformats.org/drawingml/2006/table">
            <a:tbl>
              <a:tblPr/>
              <a:tblGrid>
                <a:gridCol w="1027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40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5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02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소모품비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소모품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소모품</a:t>
                      </a:r>
                    </a:p>
                  </a:txBody>
                  <a:tcPr marL="91430" marR="91430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1/2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8,000,000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소모품비</a:t>
                      </a:r>
                    </a:p>
                  </a:txBody>
                  <a:tcPr marL="91430" marR="91430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5,300,000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0" marR="91430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29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86172" y="1245221"/>
            <a:ext cx="8711460" cy="5550996"/>
            <a:chOff x="190714" y="1320882"/>
            <a:chExt cx="8711460" cy="6168352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6027735"/>
              <a:chOff x="230365" y="1722741"/>
              <a:chExt cx="8687458" cy="6027735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6004878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(3)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우리은행에 지급해야 할 단기차입금에 대한 이자가 아직 지급되지 않았다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16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일 거래 ④ 관련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∙ 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16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 분개</a:t>
                </a: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marL="252000" latinLnBrk="0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우리은행으로부터 현금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10,000,000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을 연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12%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의 이자율 조건으로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년 동안 차입하였다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단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이자는 전액 만기에 지급하기로 약정하였다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현         금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10,000,000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단기차입금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10,000,000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 ∙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기말 수정분개</a:t>
                </a:r>
              </a:p>
              <a:p>
                <a:pPr marL="252000" latinLnBrk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15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일부터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31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일까지 기간이 경과하였으나 단기차입금에 대한 이자비용을 인식하지 않았으므로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,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1/2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개월분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(1/16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～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1/31)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의 미지급된 이자를 이자비용으로 회계처리하고 대변에는 미지급이자라는 유동부채를 인식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 1/2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개월 분의 이자비용은 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50,000 (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10,000,000×12%×1/12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개월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×1/2)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4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이 자 비 용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50,000        (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미지급이자                 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50,000</a:t>
                </a: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3-6 </a:t>
                  </a:r>
                  <a:r>
                    <a:rPr lang="ko-KR" altLang="en-US" sz="1600" b="1" dirty="0"/>
                    <a:t>결산수정분개 및 전기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6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14538"/>
              </p:ext>
            </p:extLst>
          </p:nvPr>
        </p:nvGraphicFramePr>
        <p:xfrm>
          <a:off x="777835" y="5470304"/>
          <a:ext cx="7586664" cy="854075"/>
        </p:xfrm>
        <a:graphic>
          <a:graphicData uri="http://schemas.openxmlformats.org/drawingml/2006/table">
            <a:tbl>
              <a:tblPr/>
              <a:tblGrid>
                <a:gridCol w="1440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6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4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02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이자비용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미지급이자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미지급이자</a:t>
                      </a: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잔액</a:t>
                      </a:r>
                    </a:p>
                  </a:txBody>
                  <a:tcPr marL="91436" marR="91436" marT="45754" marB="457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91436" marR="91436" marT="45754" marB="4575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86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86172" y="1245221"/>
            <a:ext cx="8711460" cy="5332499"/>
            <a:chOff x="190714" y="1320882"/>
            <a:chExt cx="8711460" cy="5925555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784938"/>
              <a:chOff x="230365" y="1722741"/>
              <a:chExt cx="8687458" cy="5784938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762081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[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기중 거래 및 기말 수정분개 </a:t>
                </a:r>
                <a:r>
                  <a:rPr lang="ko-KR" altLang="en-US" sz="1600" b="1" dirty="0" err="1">
                    <a:latin typeface="맑은 고딕" panose="020B0503020000020004" pitchFamily="50" charset="-127"/>
                  </a:rPr>
                  <a:t>요약：분개장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]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3-6 </a:t>
                  </a:r>
                  <a:r>
                    <a:rPr lang="ko-KR" altLang="en-US" sz="1600" b="1" dirty="0"/>
                    <a:t>결산수정분개 및 전기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13462"/>
              </p:ext>
            </p:extLst>
          </p:nvPr>
        </p:nvGraphicFramePr>
        <p:xfrm>
          <a:off x="791367" y="2294645"/>
          <a:ext cx="7561263" cy="2438400"/>
        </p:xfrm>
        <a:graphic>
          <a:graphicData uri="http://schemas.openxmlformats.org/drawingml/2006/table">
            <a:tbl>
              <a:tblPr/>
              <a:tblGrid>
                <a:gridCol w="72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0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날 짜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기중 거래에 대한 분개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①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 금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선급임차료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③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 모 품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8,000,000 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④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10,000,000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단기차입금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⑤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광고선전비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⑥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⑦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매출채권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12,000,000 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Group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86684"/>
              </p:ext>
            </p:extLst>
          </p:nvPr>
        </p:nvGraphicFramePr>
        <p:xfrm>
          <a:off x="791368" y="4732251"/>
          <a:ext cx="7561263" cy="1219200"/>
        </p:xfrm>
        <a:graphic>
          <a:graphicData uri="http://schemas.openxmlformats.org/drawingml/2006/table">
            <a:tbl>
              <a:tblPr/>
              <a:tblGrid>
                <a:gridCol w="72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⑧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20,000,000 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선수수익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⑨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6,000,000 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매출채권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선급보험료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⑪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 여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    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 금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34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86172" y="1245221"/>
            <a:ext cx="8711460" cy="2843299"/>
            <a:chOff x="190714" y="1320882"/>
            <a:chExt cx="8711460" cy="3159518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3018901"/>
              <a:chOff x="230365" y="1722741"/>
              <a:chExt cx="8687458" cy="3018901"/>
            </a:xfrm>
            <a:grpFill/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2996044"/>
              </a:xfrm>
              <a:prstGeom prst="foldedCorner">
                <a:avLst>
                  <a:gd name="adj" fmla="val 14587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[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기중 거래 및 기말 수정분개 요약：분개장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]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8"/>
              <a:chOff x="405822" y="2237753"/>
              <a:chExt cx="4694777" cy="290352"/>
            </a:xfrm>
            <a:grpFill/>
          </p:grpSpPr>
          <p:sp>
            <p:nvSpPr>
              <p:cNvPr id="32" name="타원 31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33" name="타원 32"/>
              <p:cNvSpPr/>
              <p:nvPr/>
            </p:nvSpPr>
            <p:spPr>
              <a:xfrm>
                <a:off x="4820212" y="2237754"/>
                <a:ext cx="280387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26710" y="2237755"/>
                <a:ext cx="4418079" cy="29034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3-6 </a:t>
                </a:r>
                <a:r>
                  <a:rPr lang="ko-KR" altLang="en-US" sz="1600" b="1" dirty="0"/>
                  <a:t>결산수정분개 및 전기</a:t>
                </a: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417794"/>
              </p:ext>
            </p:extLst>
          </p:nvPr>
        </p:nvGraphicFramePr>
        <p:xfrm>
          <a:off x="508304" y="2291936"/>
          <a:ext cx="7384746" cy="1294928"/>
        </p:xfrm>
        <a:graphic>
          <a:graphicData uri="http://schemas.openxmlformats.org/drawingml/2006/table">
            <a:tbl>
              <a:tblPr/>
              <a:tblGrid>
                <a:gridCol w="708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6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분</a:t>
                      </a:r>
                      <a:endParaRPr kumimoji="0" lang="ko-KR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 결산수정분개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(1)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 차 료 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       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선급임차료       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(2)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소모품비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       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 모 품           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 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(3)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    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       (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미지급이자                 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1" marB="45661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4276EA17-7324-482E-9FB6-2774B2C16763}"/>
              </a:ext>
            </a:extLst>
          </p:cNvPr>
          <p:cNvSpPr/>
          <p:nvPr/>
        </p:nvSpPr>
        <p:spPr>
          <a:xfrm>
            <a:off x="178927" y="1245219"/>
            <a:ext cx="339423" cy="294226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6D1C3EA-47FC-4985-BEB3-D11E4C66475F}"/>
              </a:ext>
            </a:extLst>
          </p:cNvPr>
          <p:cNvSpPr/>
          <p:nvPr/>
        </p:nvSpPr>
        <p:spPr>
          <a:xfrm>
            <a:off x="204658" y="1263865"/>
            <a:ext cx="296401" cy="2569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그림 16" descr="Log in | Sign Up Upload Clipart">
            <a:extLst>
              <a:ext uri="{FF2B5EF4-FFF2-40B4-BE49-F238E27FC236}">
                <a16:creationId xmlns:a16="http://schemas.microsoft.com/office/drawing/2014/main" id="{1FC901C9-4ED8-4928-8C5B-FF7763763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36" y="1284487"/>
            <a:ext cx="172016" cy="23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61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61669" y="1164944"/>
            <a:ext cx="8534266" cy="1290424"/>
            <a:chOff x="2639383" y="1703063"/>
            <a:chExt cx="11521825" cy="1656122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39383" y="2125624"/>
              <a:ext cx="11521825" cy="123356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결산수정이 필요없는 사항과 수정사항의 계정잔액을 모두 모아 작성하며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모든 계정의 차변잔액의 합계액과 대변잔액의 합계액이 일치하는지 확인</a:t>
              </a:r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22672" y="2579601"/>
            <a:ext cx="8711460" cy="3759313"/>
            <a:chOff x="190714" y="1320882"/>
            <a:chExt cx="8711460" cy="4177406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4036789"/>
              <a:chOff x="230365" y="1722741"/>
              <a:chExt cx="8687458" cy="4036789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40139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[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3-6]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의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덕송서비스의 기말 결산수정사항을 이용하여 수정후 시산표를 작성하시오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 marL="342900" indent="-342900"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ko-KR" altLang="en-US" sz="1500" dirty="0">
                    <a:latin typeface="맑은 고딕" panose="020B0503020000020004" pitchFamily="50" charset="-127"/>
                  </a:rPr>
                  <a:t>선급임차료에 대한 결산수정이 이루어지지 않았다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일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spcBef>
                    <a:spcPct val="0"/>
                  </a:spcBef>
                  <a:buClrTx/>
                  <a:buSzTx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 	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임   차   료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2,000,000            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선급임차료 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2,000,000</a:t>
                </a:r>
              </a:p>
              <a:p>
                <a:pPr>
                  <a:spcBef>
                    <a:spcPct val="0"/>
                  </a:spcBef>
                  <a:buClrTx/>
                  <a:buSzTx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(2)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소모품에 대한 재고액은 ￦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5,300,000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인 것으로 조사되다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일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spcBef>
                    <a:spcPct val="0"/>
                  </a:spcBef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소 모 품 비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2,700,000            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소   모   품 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2,700,000</a:t>
                </a:r>
              </a:p>
              <a:p>
                <a:pPr>
                  <a:spcBef>
                    <a:spcPct val="0"/>
                  </a:spcBef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(3)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단기차입금에 대한 이자가 아직 지급되지 않았다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(1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16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일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)</a:t>
                </a:r>
              </a:p>
              <a:p>
                <a:pPr>
                  <a:spcBef>
                    <a:spcPct val="0"/>
                  </a:spcBef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	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 자 비 용    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50,000            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미지급이자               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50,000</a:t>
                </a: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3-7 </a:t>
                  </a:r>
                  <a:r>
                    <a:rPr lang="ko-KR" altLang="en-US" sz="1600" b="1" dirty="0"/>
                    <a:t>수정후 시산표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255695" y="1207168"/>
            <a:ext cx="3806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ko-KR" altLang="en-US" b="1" dirty="0">
                <a:latin typeface="맑은 고딕" panose="020B0503020000020004" pitchFamily="50" charset="-127"/>
              </a:rPr>
              <a:t>수정후 시산표</a:t>
            </a:r>
            <a:r>
              <a:rPr lang="en-US" altLang="ko-KR" sz="1600" dirty="0">
                <a:latin typeface="맑은 고딕" panose="020B0503020000020004" pitchFamily="50" charset="-127"/>
              </a:rPr>
              <a:t>(Adjusted trial balance)</a:t>
            </a:r>
            <a:endParaRPr lang="ko-KR" altLang="en-US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61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33401"/>
            <a:ext cx="8711460" cy="5243599"/>
            <a:chOff x="190714" y="1320882"/>
            <a:chExt cx="8711460" cy="5826767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686150"/>
              <a:chOff x="230365" y="1722741"/>
              <a:chExt cx="8687458" cy="5686150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66329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b="1" dirty="0">
                    <a:latin typeface="맑은 고딕" panose="020B0503020000020004" pitchFamily="50" charset="-127"/>
                  </a:rPr>
                  <a:t>제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장에서 작성한 수정전 시산표에 앞의 수정분개를 반영하여 수정후 시산표를 작성</a:t>
                </a: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3-7 </a:t>
                  </a:r>
                  <a:r>
                    <a:rPr lang="ko-KR" altLang="en-US" sz="1600" b="1" dirty="0"/>
                    <a:t>수정후 시산표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CBE5B5E-4AB6-2D6C-B781-931DA5E3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8" y="2005296"/>
            <a:ext cx="7541623" cy="427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22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33401"/>
            <a:ext cx="8711460" cy="5546341"/>
            <a:chOff x="190714" y="1320882"/>
            <a:chExt cx="8711460" cy="6163178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6022561"/>
              <a:chOff x="230365" y="1722741"/>
              <a:chExt cx="8687458" cy="6022561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999704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400" b="1" dirty="0">
                    <a:latin typeface="맑은 고딕" panose="020B0503020000020004" pitchFamily="50" charset="-127"/>
                  </a:rPr>
                  <a:t>제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장에서 작성한 수정전 시산표에 앞의 수정분개를 반영하여 수정후 시산표를 작성</a:t>
                </a: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3-7 </a:t>
                  </a:r>
                  <a:r>
                    <a:rPr lang="ko-KR" altLang="en-US" sz="1600" b="1" dirty="0"/>
                    <a:t>수정후 시산표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5497CC8-2643-4D15-96F0-A42E48B96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029" y="2042984"/>
            <a:ext cx="6404211" cy="46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4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61669" y="1164944"/>
            <a:ext cx="8534266" cy="1290424"/>
            <a:chOff x="2639383" y="1703063"/>
            <a:chExt cx="11521825" cy="1656122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2639383" y="2125624"/>
              <a:ext cx="11521825" cy="123356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수정후 시산표를 이용하여 일반적으로 인정된 회계기준에서 정한 재무제표 작성 및 보고양식에 따라 재무제표를 작성함</a:t>
              </a:r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39383" y="1703063"/>
              <a:ext cx="8915836" cy="42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22672" y="2406603"/>
            <a:ext cx="8711460" cy="4298996"/>
            <a:chOff x="190714" y="1320882"/>
            <a:chExt cx="8711460" cy="4777110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4636493"/>
              <a:chOff x="230365" y="1722741"/>
              <a:chExt cx="8687458" cy="4636493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829260"/>
                <a:ext cx="8648776" cy="4529974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[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3-7]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의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덕송서비스의 수정후 시산표를 이용하여 포괄손익계산서와 재무상태표를 작성하라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단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배당 등의 이익잉여금 처분과 법인세비용은 없다고 가정한다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dirty="0">
                    <a:latin typeface="맑은 고딕" panose="020B0503020000020004" pitchFamily="50" charset="-127"/>
                  </a:rPr>
                  <a:t>(1)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수정후 시산표의 각 계정을 재무상태표항목과 포괄손익계산서항목으로 구분하고 </a:t>
                </a: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500" dirty="0">
                    <a:latin typeface="맑은 고딕" panose="020B0503020000020004" pitchFamily="50" charset="-127"/>
                  </a:rPr>
                  <a:t>     재무상태표항목은 재무상태표로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포괄손익계산서항목은 포괄손익계산서로 이동</a:t>
                </a: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400"/>
                  </a:lnSpc>
                </a:pPr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6148624" cy="326949"/>
              <a:chOff x="190714" y="1320889"/>
              <a:chExt cx="5259695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5259695" cy="290352"/>
                <a:chOff x="405822" y="2237753"/>
                <a:chExt cx="5259695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400"/>
                    </a:lnSpc>
                  </a:pPr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5385130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400"/>
                    </a:lnSpc>
                  </a:pPr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0" y="2237756"/>
                  <a:ext cx="5019180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ts val="2400"/>
                    </a:lnSpc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3-8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재무제표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재무상태표와 포괄손익계산서의 작성 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400"/>
                    </a:lnSpc>
                  </a:pPr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190787" y="1149364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ko-KR" altLang="en-US" b="1" dirty="0">
                <a:latin typeface="맑은 고딕" panose="020B0503020000020004" pitchFamily="50" charset="-127"/>
              </a:rPr>
              <a:t>재무제표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92F980-8768-42C0-9251-0CCE259F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03" y="4147700"/>
            <a:ext cx="7639281" cy="246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5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08001"/>
            <a:ext cx="8711460" cy="5154699"/>
            <a:chOff x="190714" y="1320882"/>
            <a:chExt cx="8711460" cy="5727980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587363"/>
              <a:chOff x="230365" y="1722741"/>
              <a:chExt cx="8687458" cy="5587363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564506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6148624" cy="326949"/>
              <a:chOff x="190714" y="1320889"/>
              <a:chExt cx="5259695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5259695" cy="290352"/>
                <a:chOff x="405822" y="2237753"/>
                <a:chExt cx="5259695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5385130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0" y="2237756"/>
                  <a:ext cx="5019180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3-8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재무제표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재무상태표와 포괄손익계산서의 작성 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B741890-0297-4DFD-98C3-DC9263DE6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95" y="1815085"/>
            <a:ext cx="8041825" cy="11999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4CE1534-AE3C-43CA-B5DD-DC19F5930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5" y="3570644"/>
            <a:ext cx="8085537" cy="234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75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08001"/>
            <a:ext cx="8711460" cy="5154699"/>
            <a:chOff x="190714" y="1320882"/>
            <a:chExt cx="8711460" cy="5727980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587363"/>
              <a:chOff x="230365" y="1722741"/>
              <a:chExt cx="8687458" cy="5587363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564506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6148624" cy="326949"/>
              <a:chOff x="190714" y="1320889"/>
              <a:chExt cx="5259695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5259695" cy="290352"/>
                <a:chOff x="405822" y="2237753"/>
                <a:chExt cx="5259695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5385130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0" y="2237756"/>
                  <a:ext cx="5019180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3-8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재무제표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재무상태표와 포괄손익계산서의 작성 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7" name="Group 3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89235"/>
              </p:ext>
            </p:extLst>
          </p:nvPr>
        </p:nvGraphicFramePr>
        <p:xfrm>
          <a:off x="971550" y="1666005"/>
          <a:ext cx="7200900" cy="2823445"/>
        </p:xfrm>
        <a:graphic>
          <a:graphicData uri="http://schemas.openxmlformats.org/drawingml/2006/table">
            <a:tbl>
              <a:tblPr/>
              <a:tblGrid>
                <a:gridCol w="270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6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덕송서비스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일～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     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단위：원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 액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 매 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(1,000,000)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광고선전비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 리 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(10,200,000)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임 차 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급 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소모품비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91" marB="4569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" name="Group 379"/>
          <p:cNvGraphicFramePr>
            <a:graphicFrameLocks noGrp="1"/>
          </p:cNvGraphicFramePr>
          <p:nvPr/>
        </p:nvGraphicFramePr>
        <p:xfrm>
          <a:off x="971550" y="4479103"/>
          <a:ext cx="7200900" cy="1828800"/>
        </p:xfrm>
        <a:graphic>
          <a:graphicData uri="http://schemas.openxmlformats.org/drawingml/2006/table">
            <a:tbl>
              <a:tblPr/>
              <a:tblGrid>
                <a:gridCol w="270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금융원가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(50,000)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이자비용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15,750,000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총포괄이익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15,750,000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40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08001"/>
            <a:ext cx="8711460" cy="5154699"/>
            <a:chOff x="190714" y="1320882"/>
            <a:chExt cx="8711460" cy="5727980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587363"/>
              <a:chOff x="230365" y="1722741"/>
              <a:chExt cx="8687458" cy="5587363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564506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(3)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본 예제에서는 배당금이 없고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,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개업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차년도의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개월에 해당되므로 기초이익잉여금도 없다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</a:p>
              <a:p>
                <a:pPr algn="just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    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따라서 </a:t>
                </a:r>
                <a:r>
                  <a:rPr lang="ko-KR" altLang="en-US" sz="1500" b="1" dirty="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당기순이익이 곧바로 기말 이익잉여금이 된다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기초 이익잉여금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+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당기순이익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–</a:t>
                </a:r>
              </a:p>
              <a:p>
                <a:pPr algn="just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    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배당금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=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기말 이익잉여금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포괄손익계산서에서 산출된 당기순이익을 이익잉여금으로 </a:t>
                </a:r>
              </a:p>
              <a:p>
                <a:pPr algn="just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500" b="1" dirty="0">
                    <a:latin typeface="맑은 고딕" panose="020B0503020000020004" pitchFamily="50" charset="-127"/>
                  </a:rPr>
                  <a:t>     전환하여 아래와 같은 재무상태표를 작성한다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6148624" cy="326949"/>
              <a:chOff x="190714" y="1320889"/>
              <a:chExt cx="5259695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5259695" cy="290352"/>
                <a:chOff x="405822" y="2237753"/>
                <a:chExt cx="5259695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5385130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0" y="2237756"/>
                  <a:ext cx="5019180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3-8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재무제표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재무상태표와 포괄손익계산서의 작성 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6" name="Group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81069"/>
              </p:ext>
            </p:extLst>
          </p:nvPr>
        </p:nvGraphicFramePr>
        <p:xfrm>
          <a:off x="971550" y="2812830"/>
          <a:ext cx="7200900" cy="1604269"/>
        </p:xfrm>
        <a:graphic>
          <a:graphicData uri="http://schemas.openxmlformats.org/drawingml/2006/table">
            <a:tbl>
              <a:tblPr/>
              <a:tblGrid>
                <a:gridCol w="364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97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덕송서비스   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현재                            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단위：원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5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산：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5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현 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61,300,000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5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매출채권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665" marB="4566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Group 2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2262599"/>
              </p:ext>
            </p:extLst>
          </p:nvPr>
        </p:nvGraphicFramePr>
        <p:xfrm>
          <a:off x="971550" y="4441873"/>
          <a:ext cx="7200900" cy="914400"/>
        </p:xfrm>
        <a:graphic>
          <a:graphicData uri="http://schemas.openxmlformats.org/drawingml/2006/table">
            <a:tbl>
              <a:tblPr/>
              <a:tblGrid>
                <a:gridCol w="364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선급비용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23,200,000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소 모 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5,300,000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95,800,000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79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122672" y="1208001"/>
            <a:ext cx="8711460" cy="5154699"/>
            <a:chOff x="190714" y="1320882"/>
            <a:chExt cx="8711460" cy="5727980"/>
          </a:xfrm>
        </p:grpSpPr>
        <p:grpSp>
          <p:nvGrpSpPr>
            <p:cNvPr id="28" name="그룹 27"/>
            <p:cNvGrpSpPr/>
            <p:nvPr/>
          </p:nvGrpSpPr>
          <p:grpSpPr>
            <a:xfrm>
              <a:off x="323737" y="1461499"/>
              <a:ext cx="8578437" cy="5587363"/>
              <a:chOff x="230365" y="1722741"/>
              <a:chExt cx="8687458" cy="5587363"/>
            </a:xfrm>
          </p:grpSpPr>
          <p:sp>
            <p:nvSpPr>
              <p:cNvPr id="36" name="Rectangle 15"/>
              <p:cNvSpPr>
                <a:spLocks noChangeArrowheads="1"/>
              </p:cNvSpPr>
              <p:nvPr/>
            </p:nvSpPr>
            <p:spPr bwMode="auto">
              <a:xfrm>
                <a:off x="230365" y="1745598"/>
                <a:ext cx="8648776" cy="5564506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190714" y="1320882"/>
              <a:ext cx="6148624" cy="326949"/>
              <a:chOff x="190714" y="1320889"/>
              <a:chExt cx="5259695" cy="290352"/>
            </a:xfrm>
            <a:solidFill>
              <a:srgbClr val="2D61C8"/>
            </a:solidFill>
          </p:grpSpPr>
          <p:grpSp>
            <p:nvGrpSpPr>
              <p:cNvPr id="30" name="그룹 29"/>
              <p:cNvGrpSpPr/>
              <p:nvPr/>
            </p:nvGrpSpPr>
            <p:grpSpPr>
              <a:xfrm>
                <a:off x="190714" y="1320889"/>
                <a:ext cx="5259695" cy="290352"/>
                <a:chOff x="405822" y="2237753"/>
                <a:chExt cx="5259695" cy="290352"/>
              </a:xfrm>
              <a:grpFill/>
            </p:grpSpPr>
            <p:sp>
              <p:nvSpPr>
                <p:cNvPr id="32" name="타원 3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5385130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42510" y="2237756"/>
                  <a:ext cx="5019180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3-8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재무제표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</a:rPr>
                    <a:t>: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재무상태표와 포괄손익계산서의 작성 </a:t>
                  </a:r>
                </a:p>
              </p:txBody>
            </p:sp>
            <p:sp>
              <p:nvSpPr>
                <p:cNvPr id="35" name="타원 3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1" name="그림 30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17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157311"/>
              </p:ext>
            </p:extLst>
          </p:nvPr>
        </p:nvGraphicFramePr>
        <p:xfrm>
          <a:off x="971550" y="2060575"/>
          <a:ext cx="7200900" cy="3352800"/>
        </p:xfrm>
        <a:graphic>
          <a:graphicData uri="http://schemas.openxmlformats.org/drawingml/2006/table">
            <a:tbl>
              <a:tblPr/>
              <a:tblGrid>
                <a:gridCol w="440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 채：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단기차입금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선수수익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미지급비용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부채총계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30,050,000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본：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자 본 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이익잉여금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15,750,000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자본총계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65,750,000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부채와자본총계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95,800,000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038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310810"/>
            <a:ext cx="8641369" cy="291049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정산표</a:t>
            </a:r>
            <a:r>
              <a:rPr lang="en-US" altLang="ko-KR" sz="1400" dirty="0">
                <a:latin typeface="맑은 고딕" panose="020B0503020000020004" pitchFamily="50" charset="-127"/>
              </a:rPr>
              <a:t>(work sheet)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수정전 시산표로부터 결산수정분개 및 재무제표 작성까지의 결산 과정을 정리하여 보여주는 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</a:rPr>
              <a:t>정산표 작성 순서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14987" y="4718078"/>
            <a:ext cx="8711460" cy="1564965"/>
            <a:chOff x="190714" y="1320890"/>
            <a:chExt cx="8711460" cy="1739013"/>
          </a:xfrm>
        </p:grpSpPr>
        <p:grpSp>
          <p:nvGrpSpPr>
            <p:cNvPr id="26" name="그룹 25"/>
            <p:cNvGrpSpPr/>
            <p:nvPr/>
          </p:nvGrpSpPr>
          <p:grpSpPr>
            <a:xfrm>
              <a:off x="319967" y="1461499"/>
              <a:ext cx="8582207" cy="1598404"/>
              <a:chOff x="226547" y="1722741"/>
              <a:chExt cx="8691276" cy="1598404"/>
            </a:xfrm>
          </p:grpSpPr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226547" y="1722742"/>
                <a:ext cx="8648775" cy="159840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500" b="1" dirty="0">
                  <a:latin typeface="맑은 고딕" panose="020B0503020000020004" pitchFamily="50" charset="-127"/>
                </a:endParaRPr>
              </a:p>
              <a:p>
                <a:pPr latinLnBrk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[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3-7]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의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덕송서비스의 수정전 시산표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수정분개 및 전기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수정후 시산표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, [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3-8]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의 포괄손익계산서와 재무상태표를 이용하여 정산표를 작성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15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500" dirty="0">
                    <a:latin typeface="맑은 고딕" panose="020B0503020000020004" pitchFamily="50" charset="-127"/>
                  </a:rPr>
                  <a:t>다음 페이지의 정산표는 </a:t>
                </a:r>
                <a:r>
                  <a:rPr lang="en-US" altLang="ko-KR" sz="1500" dirty="0"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1500" dirty="0">
                    <a:latin typeface="맑은 고딕" panose="020B0503020000020004" pitchFamily="50" charset="-127"/>
                  </a:rPr>
                  <a:t>위식 정산표를 작성한 결과임</a:t>
                </a:r>
                <a:endParaRPr lang="en-US" altLang="ko-KR" sz="15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" name="그룹 26"/>
            <p:cNvGrpSpPr/>
            <p:nvPr/>
          </p:nvGrpSpPr>
          <p:grpSpPr>
            <a:xfrm>
              <a:off x="190714" y="1320890"/>
              <a:ext cx="2919620" cy="326949"/>
              <a:chOff x="190714" y="1320889"/>
              <a:chExt cx="2497520" cy="290351"/>
            </a:xfrm>
            <a:solidFill>
              <a:srgbClr val="2D61C8"/>
            </a:solidFill>
          </p:grpSpPr>
          <p:grpSp>
            <p:nvGrpSpPr>
              <p:cNvPr id="28" name="그룹 27"/>
              <p:cNvGrpSpPr/>
              <p:nvPr/>
            </p:nvGrpSpPr>
            <p:grpSpPr>
              <a:xfrm>
                <a:off x="190714" y="1320889"/>
                <a:ext cx="2497520" cy="290351"/>
                <a:chOff x="405822" y="2237753"/>
                <a:chExt cx="2497520" cy="290351"/>
              </a:xfrm>
              <a:grpFill/>
            </p:grpSpPr>
            <p:sp>
              <p:nvSpPr>
                <p:cNvPr id="30" name="타원 2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2622955" y="2237753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>
                  <a:off x="542510" y="2237756"/>
                  <a:ext cx="2237859" cy="29034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0"/>
                    </a:spcBef>
                  </a:pPr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3-9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</a:rPr>
                    <a:t>정산표 작성</a:t>
                  </a:r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9" name="그림 28" descr="Log in | Sign Up Upload Clipart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214987" y="2398119"/>
            <a:ext cx="75385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① </a:t>
            </a:r>
            <a:r>
              <a:rPr lang="ko-KR" altLang="en-US" sz="1500" dirty="0">
                <a:latin typeface="맑은 고딕" panose="020B0503020000020004" pitchFamily="50" charset="-127"/>
              </a:rPr>
              <a:t>수정전 시산표 잔액의 기록                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500" dirty="0">
                <a:latin typeface="맑은 고딕" panose="020B0503020000020004" pitchFamily="50" charset="-127"/>
              </a:rPr>
              <a:t>② 기말 결산수정분개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500" dirty="0">
                <a:latin typeface="맑은 고딕" panose="020B0503020000020004" pitchFamily="50" charset="-127"/>
              </a:rPr>
              <a:t>③ 수정후 시산표 작성                          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500" dirty="0">
                <a:latin typeface="맑은 고딕" panose="020B0503020000020004" pitchFamily="50" charset="-127"/>
              </a:rPr>
              <a:t>④ 포괄손익계산서 작성 </a:t>
            </a: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당기순이익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⑤ </a:t>
            </a:r>
            <a:r>
              <a:rPr lang="ko-KR" altLang="en-US" sz="1500" dirty="0">
                <a:latin typeface="맑은 고딕" panose="020B0503020000020004" pitchFamily="50" charset="-127"/>
              </a:rPr>
              <a:t>재무상태표 작성 </a:t>
            </a:r>
            <a:r>
              <a:rPr lang="en-US" altLang="ko-KR" sz="1500" dirty="0">
                <a:latin typeface="맑은 고딕" panose="020B0503020000020004" pitchFamily="50" charset="-127"/>
              </a:rPr>
              <a:t>(</a:t>
            </a:r>
            <a:r>
              <a:rPr lang="ko-KR" altLang="en-US" sz="1500" dirty="0">
                <a:latin typeface="맑은 고딕" panose="020B0503020000020004" pitchFamily="50" charset="-127"/>
              </a:rPr>
              <a:t>당기순이익</a:t>
            </a:r>
            <a:r>
              <a:rPr lang="en-US" altLang="ko-KR" sz="1500" dirty="0">
                <a:latin typeface="맑은 고딕" panose="020B0503020000020004" pitchFamily="50" charset="-127"/>
              </a:rPr>
              <a:t>)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⑥ </a:t>
            </a:r>
            <a:r>
              <a:rPr lang="ko-KR" altLang="en-US" sz="1500" dirty="0">
                <a:latin typeface="맑은 고딕" panose="020B0503020000020004" pitchFamily="50" charset="-127"/>
              </a:rPr>
              <a:t>포괄손익계산서의 당기순이익과 재무상태표의 당기순이익 일치여부 확인</a:t>
            </a:r>
          </a:p>
        </p:txBody>
      </p:sp>
    </p:spTree>
    <p:extLst>
      <p:ext uri="{BB962C8B-B14F-4D97-AF65-F5344CB8AC3E}">
        <p14:creationId xmlns:p14="http://schemas.microsoft.com/office/powerpoint/2010/main" val="179187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51314" y="1428158"/>
            <a:ext cx="8641369" cy="107097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장부의 마감</a:t>
            </a:r>
            <a:r>
              <a:rPr lang="en-US" altLang="ko-KR" sz="1600" dirty="0">
                <a:latin typeface="맑은 고딕" panose="020B0503020000020004" pitchFamily="50" charset="-127"/>
              </a:rPr>
              <a:t>(closing the books)</a:t>
            </a:r>
          </a:p>
          <a:p>
            <a:pPr marL="360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한 회계기간의 기록내용과 다음 회계기간의 기록내용을 구분하고 준비하기 위하여 이루어지는 결산과정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sym typeface="Wingdings" panose="05000000000000000000" pitchFamily="2" charset="2"/>
            </a:endParaRPr>
          </a:p>
          <a:p>
            <a:pPr marL="360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포괄손익계산서 계정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 장부마감을 통해 잔액을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0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으로 만들어 줌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1315" y="2941207"/>
            <a:ext cx="8641369" cy="3504568"/>
            <a:chOff x="2626683" y="1693823"/>
            <a:chExt cx="11521825" cy="4672759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424096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fontAlgn="base" latinLnBrk="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마감분개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/>
                <a:t>모든 포괄손익계산서계정의 잔액들을 결산 때 임시적으로 설정되는 </a:t>
              </a:r>
              <a:r>
                <a:rPr lang="ko-KR" altLang="en-US" sz="1600" b="1" dirty="0"/>
                <a:t>집합손익</a:t>
              </a:r>
              <a:r>
                <a:rPr lang="ko-KR" altLang="en-US" sz="1600" dirty="0"/>
                <a:t>계정에 대체</a:t>
              </a: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                                    &lt;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수익계정의 마감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&gt;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차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수 익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        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집합손익   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                 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&lt;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비용계정의 마감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&gt;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차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집합손익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         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비  용      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집합손익계정의</a:t>
              </a:r>
              <a:r>
                <a:rPr lang="en-US" altLang="ko-KR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설정과 수익계정 및 비용계정의 마감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8184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87828" y="1527818"/>
            <a:ext cx="8641369" cy="5149907"/>
            <a:chOff x="2626908" y="1625236"/>
            <a:chExt cx="11521825" cy="7099123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215261"/>
              <a:ext cx="11521825" cy="650909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 err="1"/>
                <a:t>집합손익계정의</a:t>
              </a:r>
              <a:r>
                <a:rPr lang="ko-KR" altLang="en-US" sz="1600" dirty="0"/>
                <a:t> 마감을 통해 </a:t>
              </a:r>
              <a:r>
                <a:rPr lang="en-US" altLang="ko-KR" sz="1600" dirty="0"/>
                <a:t>다음 회계연도가 시작되면 모든 포괄손익계산서계정은 잔액 ‘￦0’으로부터 새로 시작하기 때</a:t>
              </a:r>
              <a:r>
                <a:rPr lang="ko-KR" altLang="en-US" sz="1600" dirty="0"/>
                <a:t>문</a:t>
              </a:r>
              <a:r>
                <a:rPr lang="en-US" altLang="ko-KR" sz="1600" dirty="0"/>
                <a:t>에, 다음 회계연도의 재무성과가 새롭게 기록될 수 </a:t>
              </a:r>
              <a:r>
                <a:rPr lang="ko-KR" altLang="en-US" sz="1600" dirty="0"/>
                <a:t>있음</a:t>
              </a:r>
              <a:endParaRPr lang="en-US" altLang="ko-KR" sz="1600" dirty="0"/>
            </a:p>
            <a:p>
              <a:pPr algn="ctr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algn="ctr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&lt;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당기순이익이 발생한 경우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&gt;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차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집합손익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        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이익잉여금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algn="ctr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&lt;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당기순손실이 발생한 경우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&gt;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차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이익잉여금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              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집합손익                 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×××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기존 잔액이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되고 매기마다 새롭게 출발한다는 의미에서 수익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비용계정을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임시계정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(temporary account)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또는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명목계정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(nominal account)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이라고 부름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908881" y="1625236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집합손익계정의 마감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643974"/>
              <a:ext cx="281973" cy="42544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224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87829" y="1354785"/>
            <a:ext cx="8641369" cy="348391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/>
              <a:t>재무상태표계정</a:t>
            </a:r>
            <a:r>
              <a:rPr lang="ko-KR" altLang="en-US" sz="1600" dirty="0"/>
              <a:t>들은 한 회계기간이 종료되더라도 잔액이 ‘￦</a:t>
            </a:r>
            <a:r>
              <a:rPr lang="en-US" altLang="ko-KR" sz="1600" dirty="0"/>
              <a:t>0</a:t>
            </a:r>
            <a:r>
              <a:rPr lang="ko-KR" altLang="en-US" sz="1600" dirty="0"/>
              <a:t>’이 되지 않고 기말잔액이 </a:t>
            </a:r>
            <a:r>
              <a:rPr lang="ko-KR" altLang="en-US" sz="1600" b="1" dirty="0"/>
              <a:t>차기로 이월되어 계속 유지됨 </a:t>
            </a:r>
            <a:endParaRPr lang="en-US" altLang="ko-KR" sz="1600" b="1" dirty="0"/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sym typeface="Wingdings" panose="05000000000000000000" pitchFamily="2" charset="2"/>
              </a:rPr>
              <a:t>     </a:t>
            </a:r>
            <a:r>
              <a:rPr lang="ko-KR" altLang="en-US" sz="1600" b="1" dirty="0"/>
              <a:t>영구계정</a:t>
            </a:r>
            <a:r>
              <a:rPr lang="en-US" altLang="ko-KR" sz="1600" dirty="0"/>
              <a:t>(permanent account) </a:t>
            </a:r>
            <a:r>
              <a:rPr lang="ko-KR" altLang="en-US" sz="1600" dirty="0"/>
              <a:t>또는 </a:t>
            </a:r>
            <a:r>
              <a:rPr lang="ko-KR" altLang="en-US" sz="1600" b="1" dirty="0"/>
              <a:t>실질계정</a:t>
            </a:r>
            <a:r>
              <a:rPr lang="en-US" altLang="ko-KR" sz="1600" dirty="0"/>
              <a:t>(real account)</a:t>
            </a:r>
            <a:r>
              <a:rPr lang="ko-KR" altLang="en-US" sz="1600" dirty="0"/>
              <a:t>이라고 부름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/>
              <a:t>재무상태표계정들의 마감은 분개없이 다음과 같은 각 계정 내에서 이월기입의 형태로 이루어짐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52000" indent="-252000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dirty="0">
                <a:latin typeface="맑은 고딕" panose="020B0503020000020004" pitchFamily="50" charset="-127"/>
              </a:rPr>
              <a:t>각 계정의 잔액이 있는 변의 상대편 변에 잔액과 동일한 금액을 적요란에 </a:t>
            </a:r>
            <a:r>
              <a:rPr lang="ko-KR" altLang="en-US" sz="1600" dirty="0">
                <a:solidFill>
                  <a:srgbClr val="7030A0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차기이월</a:t>
            </a:r>
            <a:r>
              <a:rPr lang="ko-KR" altLang="en-US" sz="1600" dirty="0">
                <a:solidFill>
                  <a:srgbClr val="7030A0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600" dirty="0">
                <a:latin typeface="맑은 고딕" panose="020B0503020000020004" pitchFamily="50" charset="-127"/>
              </a:rPr>
              <a:t>이라는 용어와 함께 기록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52000" indent="-252000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② </a:t>
            </a:r>
            <a:r>
              <a:rPr lang="ko-KR" altLang="en-US" sz="1600" dirty="0">
                <a:latin typeface="맑은 고딕" panose="020B0503020000020004" pitchFamily="50" charset="-127"/>
              </a:rPr>
              <a:t>차변과 대변의 합계액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서로 일치됨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을 그 아래 기록하면서 계정을 마감</a:t>
            </a:r>
          </a:p>
          <a:p>
            <a:pPr marL="252000" indent="-252000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③ </a:t>
            </a:r>
            <a:r>
              <a:rPr lang="ko-KR" altLang="en-US" sz="1600" dirty="0">
                <a:latin typeface="맑은 고딕" panose="020B0503020000020004" pitchFamily="50" charset="-127"/>
              </a:rPr>
              <a:t>차기 첫 날짜로 해당 계정의 전기말 잔액을 </a:t>
            </a:r>
            <a:r>
              <a:rPr lang="ko-KR" altLang="en-US" sz="1600" dirty="0">
                <a:solidFill>
                  <a:srgbClr val="7030A0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전기이월</a:t>
            </a:r>
            <a:r>
              <a:rPr lang="ko-KR" altLang="en-US" sz="1600" dirty="0">
                <a:latin typeface="맑은 고딕" panose="020B0503020000020004" pitchFamily="50" charset="-127"/>
              </a:rPr>
              <a:t>’이라는 용어와 함께 기록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667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216270" y="1263283"/>
            <a:ext cx="8711460" cy="5186944"/>
            <a:chOff x="190714" y="1320882"/>
            <a:chExt cx="8711460" cy="5763810"/>
          </a:xfrm>
        </p:grpSpPr>
        <p:grpSp>
          <p:nvGrpSpPr>
            <p:cNvPr id="25" name="그룹 24"/>
            <p:cNvGrpSpPr/>
            <p:nvPr/>
          </p:nvGrpSpPr>
          <p:grpSpPr>
            <a:xfrm>
              <a:off x="361934" y="1461499"/>
              <a:ext cx="8540240" cy="5623193"/>
              <a:chOff x="269047" y="1722741"/>
              <a:chExt cx="8648776" cy="5623193"/>
            </a:xfrm>
          </p:grpSpPr>
          <p:sp>
            <p:nvSpPr>
              <p:cNvPr id="47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6" cy="559949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[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예제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3-7]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의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덕송서비스에 대한 수정후 시산표를 이용하여 포괄손익계산서계정에 대한 마감분개는 다음과 같이 이루어진다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(1)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수익계정 마감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①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매       출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27,000,000 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27,000,000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(2)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비용계정 마감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600" b="1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②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1,000,000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광고선전비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1,000,000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③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2,000,000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임   차   료       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2,000,000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④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5,500,000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급         여        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 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5,500,000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⑤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2,700,000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소 모 품 비         </a:t>
                </a:r>
                <a:r>
                  <a:rPr lang="ko-KR" altLang="en-US" sz="800" dirty="0">
                    <a:latin typeface="맑은 고딕" panose="020B0503020000020004" pitchFamily="50" charset="-127"/>
                  </a:rPr>
                  <a:t> 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2,700,000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600" dirty="0">
                    <a:latin typeface="맑은 고딕" panose="020B0503020000020004" pitchFamily="50" charset="-127"/>
                  </a:rPr>
                  <a:t> ⑥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50,000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이 자 비 용           </a:t>
                </a:r>
                <a:r>
                  <a:rPr lang="ko-KR" altLang="en-US" sz="400" dirty="0">
                    <a:latin typeface="맑은 고딕" panose="020B0503020000020004" pitchFamily="50" charset="-127"/>
                  </a:rPr>
                  <a:t> 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50,000</a:t>
                </a:r>
                <a:endParaRPr lang="ko-KR" altLang="en-US" sz="16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27" name="그룹 26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43" name="타원 4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장부의 마감</a:t>
                  </a:r>
                  <a:endParaRPr lang="ko-KR" altLang="en-US" sz="1600" b="1" dirty="0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2" name="그림 4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8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38129"/>
              </p:ext>
            </p:extLst>
          </p:nvPr>
        </p:nvGraphicFramePr>
        <p:xfrm>
          <a:off x="2195513" y="3169603"/>
          <a:ext cx="4824412" cy="1249680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71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집합손익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1/17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1/18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매출채권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593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216270" y="1263283"/>
            <a:ext cx="8711460" cy="5186944"/>
            <a:chOff x="190714" y="1320882"/>
            <a:chExt cx="8711460" cy="5763810"/>
          </a:xfrm>
        </p:grpSpPr>
        <p:grpSp>
          <p:nvGrpSpPr>
            <p:cNvPr id="25" name="그룹 24"/>
            <p:cNvGrpSpPr/>
            <p:nvPr/>
          </p:nvGrpSpPr>
          <p:grpSpPr>
            <a:xfrm>
              <a:off x="361934" y="1461499"/>
              <a:ext cx="8540240" cy="5623193"/>
              <a:chOff x="269047" y="1722741"/>
              <a:chExt cx="8648776" cy="5623193"/>
            </a:xfrm>
          </p:grpSpPr>
          <p:sp>
            <p:nvSpPr>
              <p:cNvPr id="47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6" cy="559949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600" b="1" dirty="0">
                    <a:latin typeface="맑은 고딕" panose="020B0503020000020004" pitchFamily="50" charset="-127"/>
                  </a:rPr>
                  <a:t>위 분개들로 인해 수익과 비용 계정의 잔액은 모두 ￦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0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이 되고 수익과 비용 계정의 잔액은 모두 집합손익계정에 모아진다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16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27" name="그룹 26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43" name="타원 4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장부의 마감</a:t>
                  </a:r>
                  <a:endParaRPr lang="ko-KR" altLang="en-US" sz="1600" b="1" dirty="0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2" name="그림 4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31" name="Group 5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60149"/>
              </p:ext>
            </p:extLst>
          </p:nvPr>
        </p:nvGraphicFramePr>
        <p:xfrm>
          <a:off x="801688" y="2701925"/>
          <a:ext cx="7624762" cy="3520440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619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광고선전비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임 차 료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457200" marR="0" lvl="0" indent="-4572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1/16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②집합손익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선급임차료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③집합손익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급 여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소모품비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1/30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④집합손익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소모품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⑤집합손익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1/31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미지급이자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⑥집합손익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91436" marR="914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6" marR="9143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30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478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216270" y="1263283"/>
            <a:ext cx="8711460" cy="5186944"/>
            <a:chOff x="190714" y="1320882"/>
            <a:chExt cx="8711460" cy="5763810"/>
          </a:xfrm>
        </p:grpSpPr>
        <p:grpSp>
          <p:nvGrpSpPr>
            <p:cNvPr id="25" name="그룹 24"/>
            <p:cNvGrpSpPr/>
            <p:nvPr/>
          </p:nvGrpSpPr>
          <p:grpSpPr>
            <a:xfrm>
              <a:off x="361934" y="1461499"/>
              <a:ext cx="8540240" cy="5623193"/>
              <a:chOff x="269047" y="1722741"/>
              <a:chExt cx="8648776" cy="5623193"/>
            </a:xfrm>
          </p:grpSpPr>
          <p:sp>
            <p:nvSpPr>
              <p:cNvPr id="47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6" cy="5599493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(3)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집합손익의 이익잉여금 대체</a:t>
                </a: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600" b="1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①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차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집 합 손 익 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15,750,000          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대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이익잉여금           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15,750,000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 latinLnBrk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600" b="1" dirty="0">
                    <a:latin typeface="맑은 고딕" panose="020B0503020000020004" pitchFamily="50" charset="-127"/>
                  </a:rPr>
                  <a:t>집합손익의 잔액을 이익잉여금으로 대체하면 집합손익계정의 잔액을 ￦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0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이 되어 소멸한다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ko-KR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1600" b="1" dirty="0">
                  <a:latin typeface="맑은 고딕" panose="020B0503020000020004" pitchFamily="50" charset="-127"/>
                </a:endParaRPr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16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grpSp>
          <p:nvGrpSpPr>
            <p:cNvPr id="26" name="그룹 25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27" name="그룹 26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43" name="타원 4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4" name="타원 4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장부의 마감</a:t>
                  </a:r>
                  <a:endParaRPr lang="ko-KR" altLang="en-US" sz="1600" b="1" dirty="0"/>
                </a:p>
              </p:txBody>
            </p:sp>
            <p:sp>
              <p:nvSpPr>
                <p:cNvPr id="46" name="타원 4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42" name="그림 4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49499"/>
              </p:ext>
            </p:extLst>
          </p:nvPr>
        </p:nvGraphicFramePr>
        <p:xfrm>
          <a:off x="1561191" y="3570304"/>
          <a:ext cx="6192838" cy="2468880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92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집합손익</a:t>
                      </a:r>
                      <a:endParaRPr kumimoji="0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②광고선전비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①매 출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③임 차 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④급 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⑤소모품비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⑥이자비용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⑦이익잉여금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15,750,000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27,000,000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2602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1610690"/>
            <a:ext cx="8641369" cy="454837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835374" y="1839952"/>
            <a:ext cx="8308626" cy="338554"/>
            <a:chOff x="1287462" y="4738439"/>
            <a:chExt cx="8308626" cy="338554"/>
          </a:xfrm>
        </p:grpSpPr>
        <p:sp>
          <p:nvSpPr>
            <p:cNvPr id="8" name="오각형 7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포괄손익계산서계정과 재무상태표계정의 마감절차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9A72EA6-8F84-4C70-A557-3C3D53FFA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477094"/>
            <a:ext cx="7466076" cy="292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02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1334531"/>
            <a:ext cx="8641369" cy="518983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940717" y="1437912"/>
            <a:ext cx="8308626" cy="338554"/>
            <a:chOff x="928233" y="4738439"/>
            <a:chExt cx="8308626" cy="338554"/>
          </a:xfrm>
        </p:grpSpPr>
        <p:sp>
          <p:nvSpPr>
            <p:cNvPr id="11" name="오각형 10"/>
            <p:cNvSpPr/>
            <p:nvPr/>
          </p:nvSpPr>
          <p:spPr>
            <a:xfrm>
              <a:off x="928233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20232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포괄손익계산서계정과 재무상태표계정의 마감절차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023" y="1888176"/>
            <a:ext cx="5525345" cy="4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602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76012" y="1023635"/>
            <a:ext cx="8641369" cy="518983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24130" y="1494963"/>
            <a:ext cx="8308626" cy="338554"/>
            <a:chOff x="1287462" y="4738439"/>
            <a:chExt cx="8308626" cy="338554"/>
          </a:xfrm>
        </p:grpSpPr>
        <p:sp>
          <p:nvSpPr>
            <p:cNvPr id="11" name="오각형 10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회계순환과정의 요약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586" y="2018075"/>
            <a:ext cx="6042220" cy="424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9" r="31526" b="83901"/>
          <a:stretch/>
        </p:blipFill>
        <p:spPr bwMode="auto">
          <a:xfrm>
            <a:off x="3506598" y="2026417"/>
            <a:ext cx="2206305" cy="68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6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3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4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5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6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9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2727</Words>
  <Application>Microsoft Office PowerPoint</Application>
  <PresentationFormat>화면 슬라이드 쇼(4:3)</PresentationFormat>
  <Paragraphs>592</Paragraphs>
  <Slides>32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13</vt:i4>
      </vt:variant>
      <vt:variant>
        <vt:lpstr>슬라이드 제목</vt:lpstr>
      </vt:variant>
      <vt:variant>
        <vt:i4>32</vt:i4>
      </vt:variant>
    </vt:vector>
  </HeadingPairs>
  <TitlesOfParts>
    <vt:vector size="53" baseType="lpstr">
      <vt:lpstr>HY견고딕</vt:lpstr>
      <vt:lpstr>굴림</vt:lpstr>
      <vt:lpstr>맑은 고딕</vt:lpstr>
      <vt:lpstr>함초롬바탕 확장</vt:lpstr>
      <vt:lpstr>Arial</vt:lpstr>
      <vt:lpstr>Calibri</vt:lpstr>
      <vt:lpstr>Verdana</vt:lpstr>
      <vt:lpstr>Wingdings</vt:lpstr>
      <vt:lpstr>디자인 사용자 지정</vt:lpstr>
      <vt:lpstr>x.1 - 1.</vt:lpstr>
      <vt:lpstr>9_x.1 - 1.</vt:lpstr>
      <vt:lpstr>10_x.1 - 1.</vt:lpstr>
      <vt:lpstr>11_x.1 - 1.</vt:lpstr>
      <vt:lpstr>12_x.1 - 1.</vt:lpstr>
      <vt:lpstr>18_x.1 - 1.</vt:lpstr>
      <vt:lpstr>13_x.1 - 1.</vt:lpstr>
      <vt:lpstr>14_x.1 - 1.</vt:lpstr>
      <vt:lpstr>15_x.1 - 1.</vt:lpstr>
      <vt:lpstr>16_x.1 - 1.</vt:lpstr>
      <vt:lpstr>17_x.1 - 1.</vt:lpstr>
      <vt:lpstr>19_x.1 - 1.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심충진</cp:lastModifiedBy>
  <cp:revision>2</cp:revision>
  <dcterms:created xsi:type="dcterms:W3CDTF">2024-07-23T07:26:35Z</dcterms:created>
  <dcterms:modified xsi:type="dcterms:W3CDTF">2025-09-18T01:23:39Z</dcterms:modified>
</cp:coreProperties>
</file>