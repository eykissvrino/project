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slideLayouts/slideLayout10.xml" ContentType="application/vnd.openxmlformats-officedocument.presentationml.slideLayout+xml"/>
  <Override PartName="/ppt/theme/theme9.xml" ContentType="application/vnd.openxmlformats-officedocument.theme+xml"/>
  <Override PartName="/ppt/slideLayouts/slideLayout1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1"/>
    <p:sldMasterId id="2147483660" r:id="rId2"/>
    <p:sldMasterId id="2147483796" r:id="rId3"/>
    <p:sldMasterId id="2147483798" r:id="rId4"/>
    <p:sldMasterId id="2147483800" r:id="rId5"/>
    <p:sldMasterId id="2147483802" r:id="rId6"/>
    <p:sldMasterId id="2147483804" r:id="rId7"/>
    <p:sldMasterId id="2147483806" r:id="rId8"/>
    <p:sldMasterId id="2147483808" r:id="rId9"/>
    <p:sldMasterId id="2147483810" r:id="rId10"/>
  </p:sldMasterIdLst>
  <p:notesMasterIdLst>
    <p:notesMasterId r:id="rId38"/>
  </p:notesMasterIdLst>
  <p:handoutMasterIdLst>
    <p:handoutMasterId r:id="rId39"/>
  </p:handoutMasterIdLst>
  <p:sldIdLst>
    <p:sldId id="496" r:id="rId11"/>
    <p:sldId id="437" r:id="rId12"/>
    <p:sldId id="470" r:id="rId13"/>
    <p:sldId id="471" r:id="rId14"/>
    <p:sldId id="472" r:id="rId15"/>
    <p:sldId id="473" r:id="rId16"/>
    <p:sldId id="474" r:id="rId17"/>
    <p:sldId id="475" r:id="rId18"/>
    <p:sldId id="476" r:id="rId19"/>
    <p:sldId id="477" r:id="rId20"/>
    <p:sldId id="478" r:id="rId21"/>
    <p:sldId id="479" r:id="rId22"/>
    <p:sldId id="480" r:id="rId23"/>
    <p:sldId id="481" r:id="rId24"/>
    <p:sldId id="482" r:id="rId25"/>
    <p:sldId id="493" r:id="rId26"/>
    <p:sldId id="483" r:id="rId27"/>
    <p:sldId id="484" r:id="rId28"/>
    <p:sldId id="485" r:id="rId29"/>
    <p:sldId id="486" r:id="rId30"/>
    <p:sldId id="487" r:id="rId31"/>
    <p:sldId id="488" r:id="rId32"/>
    <p:sldId id="489" r:id="rId33"/>
    <p:sldId id="495" r:id="rId34"/>
    <p:sldId id="491" r:id="rId35"/>
    <p:sldId id="492" r:id="rId36"/>
    <p:sldId id="497" r:id="rId37"/>
  </p:sldIdLst>
  <p:sldSz cx="9144000" cy="6858000" type="screen4x3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1C8"/>
    <a:srgbClr val="257679"/>
    <a:srgbClr val="000000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8" autoAdjust="0"/>
    <p:restoredTop sz="96400" autoAdjust="0"/>
  </p:normalViewPr>
  <p:slideViewPr>
    <p:cSldViewPr snapToGrid="0">
      <p:cViewPr varScale="1">
        <p:scale>
          <a:sx n="73" d="100"/>
          <a:sy n="73" d="100"/>
        </p:scale>
        <p:origin x="1350" y="267"/>
      </p:cViewPr>
      <p:guideLst>
        <p:guide orient="horz" pos="2137"/>
        <p:guide pos="290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40"/>
    </p:cViewPr>
  </p:sorterViewPr>
  <p:notesViewPr>
    <p:cSldViewPr snapToGrid="0" showGuides="1">
      <p:cViewPr varScale="1">
        <p:scale>
          <a:sx n="81" d="100"/>
          <a:sy n="81" d="100"/>
        </p:scale>
        <p:origin x="3996" y="11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석주 이" userId="b6553f64e91d015d" providerId="LiveId" clId="{7E74A06A-B2AA-4EEC-A19D-AA52293F645A}"/>
    <pc:docChg chg="mod">
      <pc:chgData name="석주 이" userId="b6553f64e91d015d" providerId="LiveId" clId="{7E74A06A-B2AA-4EEC-A19D-AA52293F645A}" dt="2025-12-13T04:44:26.821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4" cy="341065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6" y="0"/>
            <a:ext cx="4301544" cy="341065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2025-12-13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1544" cy="341063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6" y="6456613"/>
            <a:ext cx="4301544" cy="341063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4" cy="341065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6" y="0"/>
            <a:ext cx="4301544" cy="341065"/>
          </a:xfrm>
          <a:prstGeom prst="rect">
            <a:avLst/>
          </a:prstGeom>
        </p:spPr>
        <p:txBody>
          <a:bodyPr vert="horz" lIns="91504" tIns="45752" rIns="91504" bIns="45752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2025-12-13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3763" y="849313"/>
            <a:ext cx="3059112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04" tIns="45752" rIns="91504" bIns="4575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4"/>
          </a:xfrm>
          <a:prstGeom prst="rect">
            <a:avLst/>
          </a:prstGeom>
        </p:spPr>
        <p:txBody>
          <a:bodyPr vert="horz" lIns="91504" tIns="45752" rIns="91504" bIns="4575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3"/>
            <a:ext cx="4301544" cy="341063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6" y="6456613"/>
            <a:ext cx="4301544" cy="341063"/>
          </a:xfrm>
          <a:prstGeom prst="rect">
            <a:avLst/>
          </a:prstGeom>
        </p:spPr>
        <p:txBody>
          <a:bodyPr vert="horz" lIns="91504" tIns="45752" rIns="91504" bIns="45752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045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859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330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523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74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468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563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35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68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2367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909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8091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480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544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567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778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65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976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직사각형 236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재무제표분석의 의의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814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분석기법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추세분석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252643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분석기법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구성비분석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329111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-37175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분석기법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비율분석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352304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비율분석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수익성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6" name="직사각형 245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142261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비율분석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활동성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120948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비율분석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유동성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221787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직사각형 224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비율분석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65" name="그룹 264"/>
          <p:cNvGrpSpPr/>
          <p:nvPr userDrawn="1"/>
        </p:nvGrpSpPr>
        <p:grpSpPr>
          <a:xfrm>
            <a:off x="2168056" y="714528"/>
            <a:ext cx="3658591" cy="369332"/>
            <a:chOff x="2107219" y="601867"/>
            <a:chExt cx="3658591" cy="369332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2343317" y="601867"/>
              <a:ext cx="34224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안전성</a:t>
              </a:r>
            </a:p>
          </p:txBody>
        </p:sp>
        <p:sp>
          <p:nvSpPr>
            <p:cNvPr id="269" name="눈물 방울 268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231677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/>
          <p:cNvSpPr/>
          <p:nvPr userDrawn="1"/>
        </p:nvSpPr>
        <p:spPr>
          <a:xfrm>
            <a:off x="0" y="0"/>
            <a:ext cx="9144001" cy="1083860"/>
          </a:xfrm>
          <a:prstGeom prst="rect">
            <a:avLst/>
          </a:prstGeom>
          <a:solidFill>
            <a:schemeClr val="accent5">
              <a:lumMod val="20000"/>
              <a:lumOff val="8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 err="1"/>
                <a:t>재무제표분석시</a:t>
              </a:r>
              <a:r>
                <a:rPr lang="ko-KR" altLang="en-US" sz="3200" b="1" dirty="0"/>
                <a:t> 고려사항</a:t>
              </a:r>
            </a:p>
          </p:txBody>
        </p:sp>
      </p:grpSp>
      <p:sp>
        <p:nvSpPr>
          <p:cNvPr id="25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5" name="직사각형 244"/>
          <p:cNvSpPr/>
          <p:nvPr userDrawn="1"/>
        </p:nvSpPr>
        <p:spPr>
          <a:xfrm>
            <a:off x="7586663" y="0"/>
            <a:ext cx="1557337" cy="209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50" b="1" dirty="0">
                <a:solidFill>
                  <a:schemeClr val="tx1"/>
                </a:solidFill>
              </a:rPr>
              <a:t>12. </a:t>
            </a:r>
            <a:r>
              <a:rPr lang="ko-KR" altLang="en-US" sz="1350" b="1" dirty="0">
                <a:solidFill>
                  <a:schemeClr val="tx1"/>
                </a:solidFill>
              </a:rPr>
              <a:t>재무제표분석</a:t>
            </a:r>
          </a:p>
        </p:txBody>
      </p:sp>
    </p:spTree>
    <p:extLst>
      <p:ext uri="{BB962C8B-B14F-4D97-AF65-F5344CB8AC3E}">
        <p14:creationId xmlns:p14="http://schemas.microsoft.com/office/powerpoint/2010/main" val="257762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0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27679" y="1193122"/>
            <a:ext cx="7161667" cy="1618301"/>
            <a:chOff x="1226912" y="2130843"/>
            <a:chExt cx="7161667" cy="1618301"/>
          </a:xfrm>
        </p:grpSpPr>
        <p:sp>
          <p:nvSpPr>
            <p:cNvPr id="9" name="TextBox 8"/>
            <p:cNvSpPr txBox="1"/>
            <p:nvPr/>
          </p:nvSpPr>
          <p:spPr>
            <a:xfrm>
              <a:off x="2526164" y="2274456"/>
              <a:ext cx="586241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재무제표분석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00037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472118"/>
              <a:ext cx="3147236" cy="2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schemeClr val="tx1"/>
                  </a:solidFill>
                  <a:ea typeface="굴림" panose="020B0600000101010101" pitchFamily="50" charset="-127"/>
                  <a:cs typeface="Arial" panose="020B0604020202020204" pitchFamily="34" charset="0"/>
                </a:rPr>
                <a:t>FINANCIAL STATEMENT ANALYSIS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굴림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2130843"/>
              <a:ext cx="1174535" cy="1329738"/>
              <a:chOff x="1226912" y="2281318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2281318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560075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12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ABF1302-E0D3-415D-BBA8-671268BE57D4}"/>
              </a:ext>
            </a:extLst>
          </p:cNvPr>
          <p:cNvSpPr txBox="1"/>
          <p:nvPr/>
        </p:nvSpPr>
        <p:spPr>
          <a:xfrm>
            <a:off x="5852160" y="6356703"/>
            <a:ext cx="32918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268188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7594" y="1480194"/>
            <a:ext cx="8543506" cy="4049070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44000" indent="-144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회계정보의 특성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144000" indent="-14400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① 기업에 대한 정보를 얻을 수 있는 가장 기본적인 원천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 ② 기업의 재무상태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경영성과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현금흐름 등에 대한 정보 제공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재무제표분석의 정의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다양한 회계정보의 이용자들이 자신들의 의사결정에 필요한 정보를 재무제표로부터 추출하여 해석하는 과정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재무제표분석의 필요성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288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재무제표는 방대한 양의 정보를 포함하고 있기 때문에 효과적이고 효율적으로 이용하는 기술이 필요함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8000" indent="-144000"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회계정보는 경영자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주식투자자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채권자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신용평가사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증권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애널리스트</a:t>
            </a:r>
            <a:r>
              <a:rPr lang="ko-KR" altLang="en-US" sz="1600" dirty="0">
                <a:latin typeface="맑은 고딕" panose="020B0503020000020004" pitchFamily="50" charset="-127"/>
              </a:rPr>
              <a:t> 등 다양한 정보이용자가 있으며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사용목적에 따라 분석방법도 다양하게 존재함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986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7594" y="1484957"/>
            <a:ext cx="8543506" cy="414805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추세분석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(</a:t>
            </a:r>
            <a:r>
              <a:rPr lang="en-US" altLang="ko-KR" sz="1600" dirty="0">
                <a:latin typeface="맑은 고딕" panose="020B0503020000020004" pitchFamily="50" charset="-127"/>
              </a:rPr>
              <a:t>trend analysis)</a:t>
            </a:r>
          </a:p>
          <a:p>
            <a:pPr marL="648000"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재무제표의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수치를 과거의 수치와 비교해서 증가율 또는 감소율을 살펴보는 방법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648000"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하나의 기업에 대해서 여러 기간의 재무제표 수치를 비교함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360000" indent="-180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추세분석 지표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800" dirty="0">
                <a:latin typeface="맑은 고딕" panose="020B0503020000020004" pitchFamily="50" charset="-127"/>
              </a:rPr>
              <a:t>	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326919" y="3717541"/>
            <a:ext cx="17075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매출액성장률 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=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3749675" y="3935029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전기매출액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3018515" y="3511166"/>
            <a:ext cx="26340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 err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당기매출액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전기매출액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Straight Connector 3"/>
          <p:cNvCxnSpPr>
            <a:cxnSpLocks noChangeShapeType="1"/>
          </p:cNvCxnSpPr>
          <p:nvPr/>
        </p:nvCxnSpPr>
        <p:spPr bwMode="auto">
          <a:xfrm>
            <a:off x="3066368" y="3887404"/>
            <a:ext cx="2542657" cy="0"/>
          </a:xfrm>
          <a:prstGeom prst="line">
            <a:avLst/>
          </a:prstGeom>
          <a:noFill/>
          <a:ln w="19050" algn="ctr">
            <a:solidFill>
              <a:srgbClr val="2D61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/>
          <p:nvPr/>
        </p:nvSpPr>
        <p:spPr bwMode="auto">
          <a:xfrm>
            <a:off x="5704573" y="3717541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x 100 (%)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326919" y="4758941"/>
            <a:ext cx="17075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총자산성장률 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=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659187" y="4976429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전기말총자산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947987" y="4552566"/>
            <a:ext cx="3044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 err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당기말총자산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전기말총자산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6031153" y="4758941"/>
            <a:ext cx="11224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x 100 (%)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Straight Connector 3"/>
          <p:cNvCxnSpPr>
            <a:cxnSpLocks noChangeShapeType="1"/>
          </p:cNvCxnSpPr>
          <p:nvPr/>
        </p:nvCxnSpPr>
        <p:spPr bwMode="auto">
          <a:xfrm flipV="1">
            <a:off x="3044596" y="4928218"/>
            <a:ext cx="2899469" cy="16077"/>
          </a:xfrm>
          <a:prstGeom prst="line">
            <a:avLst/>
          </a:prstGeom>
          <a:noFill/>
          <a:ln w="19050" algn="ctr">
            <a:solidFill>
              <a:srgbClr val="2D61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1348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7594" y="1474855"/>
            <a:ext cx="8543506" cy="3954395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구성비분석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(common-size analysis)</a:t>
            </a:r>
            <a:endParaRPr lang="en-US" altLang="ko-KR" sz="1800" dirty="0">
              <a:latin typeface="맑은 고딕" panose="020B0503020000020004" pitchFamily="50" charset="-127"/>
            </a:endParaRPr>
          </a:p>
          <a:p>
            <a:pPr marL="648000" lvl="1" indent="-180000" latinLnBrk="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각 항목이 전체에서 어느 정도 비중을 차지하는지 분석하는 방법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648000" lvl="1" indent="-180000" latinLnBrk="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 err="1">
                <a:latin typeface="맑은 고딕" panose="020B0503020000020004" pitchFamily="50" charset="-127"/>
              </a:rPr>
              <a:t>재무상태표</a:t>
            </a:r>
            <a:r>
              <a:rPr lang="ko-KR" altLang="en-US" sz="1600" dirty="0">
                <a:latin typeface="맑은 고딕" panose="020B0503020000020004" pitchFamily="50" charset="-127"/>
              </a:rPr>
              <a:t> 항목은 </a:t>
            </a:r>
            <a:r>
              <a:rPr lang="ko-KR" altLang="en-US" sz="1600" b="1" dirty="0">
                <a:latin typeface="맑은 고딕" panose="020B0503020000020004" pitchFamily="50" charset="-127"/>
              </a:rPr>
              <a:t>총자산</a:t>
            </a:r>
            <a:r>
              <a:rPr lang="ko-KR" altLang="en-US" sz="1600" dirty="0">
                <a:latin typeface="맑은 고딕" panose="020B0503020000020004" pitchFamily="50" charset="-127"/>
              </a:rPr>
              <a:t>에 대한 비율로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포괄손익계산서 항목은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매출액</a:t>
            </a:r>
            <a:r>
              <a:rPr lang="ko-KR" altLang="en-US" sz="1600" dirty="0">
                <a:latin typeface="맑은 고딕" panose="020B0503020000020004" pitchFamily="50" charset="-127"/>
              </a:rPr>
              <a:t>에 대한 비율로 표시함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648000" lvl="1" indent="-180000" latinLnBrk="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 수치를 비중으로 나타낸 재무제표를 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공통형 재무제표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</a:rPr>
              <a:t>(common-size financial statements) </a:t>
            </a:r>
            <a:r>
              <a:rPr lang="ko-KR" altLang="en-US" sz="1600" dirty="0">
                <a:latin typeface="맑은 고딕" panose="020B0503020000020004" pitchFamily="50" charset="-127"/>
              </a:rPr>
              <a:t>라고 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360000" indent="-180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맑은 고딕" panose="020B0503020000020004" pitchFamily="50" charset="-127"/>
              </a:rPr>
              <a:t>구성비 분석의 장점</a:t>
            </a:r>
            <a:endParaRPr lang="en-US" altLang="ko-KR" sz="1800" dirty="0">
              <a:latin typeface="맑은 고딕" panose="020B0503020000020004" pitchFamily="50" charset="-127"/>
            </a:endParaRPr>
          </a:p>
          <a:p>
            <a:pPr marL="648000"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자산과 부채의 항목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손익항목이 어떻게 구성되었는지 파악할 수 있음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648000"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기업규모가 다른 여러 기업들간의 비교가 용이함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800" dirty="0">
                <a:latin typeface="맑은 고딕" panose="020B0503020000020004" pitchFamily="50" charset="-127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7914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299226"/>
              </p:ext>
            </p:extLst>
          </p:nvPr>
        </p:nvGraphicFramePr>
        <p:xfrm>
          <a:off x="1143000" y="1379538"/>
          <a:ext cx="6858000" cy="4978404"/>
        </p:xfrm>
        <a:graphic>
          <a:graphicData uri="http://schemas.openxmlformats.org/drawingml/2006/table">
            <a:tbl>
              <a:tblPr/>
              <a:tblGrid>
                <a:gridCol w="197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83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재무상태표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공통형 재무상태표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83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애경산업</a:t>
                      </a:r>
                      <a:endParaRPr kumimoji="0" lang="en-US" altLang="ko-KR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애경산업</a:t>
                      </a:r>
                      <a:endParaRPr kumimoji="0" lang="en-US" altLang="ko-KR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83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kumimoji="0" lang="ko-KR" alt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현금및현금성자산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322,900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1,249,600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16.2%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16.3%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매출채권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110,800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366,400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5.5%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4.8%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재고자산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132,500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540,920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6.6%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기타유동자산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12,540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102,600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0.6%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1.3%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비유동자산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장기금융자산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945,460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1,606,480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47.3%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20.9%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유형자산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360,020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3,726,000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48.5%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영 업 권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91,200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4.6%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기타무형자산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22,740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90,960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1.1%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1.2%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자산총계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1,998,160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7,682,960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매입채무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187,620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460,400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9.4%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단기차입금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600,000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7.8%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 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장기차입금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160,000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480,000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6.2%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부채총계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547,620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1,540,400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27.4%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 금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800,000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3,400,000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44.3%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이익잉여금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650,540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2,742,560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32.6%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35.7%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766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자본총계</a:t>
                      </a:r>
                    </a:p>
                  </a:txBody>
                  <a:tcPr marL="7697" marR="7697" marT="7698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1,450,540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6,142,560</a:t>
                      </a:r>
                    </a:p>
                  </a:txBody>
                  <a:tcPr marL="7697" marR="180000" marT="7698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72.6%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80.0%</a:t>
                      </a:r>
                    </a:p>
                  </a:txBody>
                  <a:tcPr marL="9525" marR="180000" marT="952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6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479120"/>
              </p:ext>
            </p:extLst>
          </p:nvPr>
        </p:nvGraphicFramePr>
        <p:xfrm>
          <a:off x="1143658" y="1376258"/>
          <a:ext cx="6858000" cy="5103525"/>
        </p:xfrm>
        <a:graphic>
          <a:graphicData uri="http://schemas.openxmlformats.org/drawingml/2006/table">
            <a:tbl>
              <a:tblPr/>
              <a:tblGrid>
                <a:gridCol w="197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192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공통형 포괄손익계산서</a:t>
                      </a: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92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애경산업</a:t>
                      </a:r>
                      <a:endParaRPr kumimoji="0" lang="en-US" altLang="ko-KR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애경산업</a:t>
                      </a:r>
                      <a:endParaRPr kumimoji="0" lang="en-US" altLang="ko-KR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355,000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1,560,000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100.0%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100.0%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230,000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680,000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64.8%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43.6%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매출총이익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125,000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880,000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35.2%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56.4%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판 매 비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8,700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336,000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2.5%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21.5%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 리 비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5.9%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5.1%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영업이익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95,300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464,000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26.8%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29.7%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512154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7,500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2.1%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2.1%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법인세비용차감전순이익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87,800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432,000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24.7%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27.7%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법인세비용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21,950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108,000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6.2%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6.9%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계속영업이익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65,850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324,000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18.5%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20.8%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중단영업손실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122,000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0.0%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7.8%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당기순이익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65,850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202,000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18.5%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12.9%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기타포괄손익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241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기타포괄손익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공정가치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측정금융자산평가이익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0.1%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0.1%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총포괄이익</a:t>
                      </a:r>
                    </a:p>
                  </a:txBody>
                  <a:tcPr marL="9525" marR="9525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66,090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202,800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18.6%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13.0%</a:t>
                      </a:r>
                    </a:p>
                  </a:txBody>
                  <a:tcPr marL="9525" marR="180000" marT="9525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50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Rectangle 15"/>
          <p:cNvSpPr>
            <a:spLocks noChangeArrowheads="1"/>
          </p:cNvSpPr>
          <p:nvPr/>
        </p:nvSpPr>
        <p:spPr bwMode="auto">
          <a:xfrm>
            <a:off x="257594" y="1480195"/>
            <a:ext cx="8543506" cy="471105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8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비율분석</a:t>
            </a:r>
            <a:r>
              <a:rPr lang="ko-KR" altLang="en-US" sz="18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(ratio analysis)</a:t>
            </a:r>
            <a:endParaRPr lang="en-US" altLang="ko-KR" sz="1800" dirty="0">
              <a:latin typeface="맑은 고딕" panose="020B0503020000020004" pitchFamily="50" charset="-127"/>
            </a:endParaRPr>
          </a:p>
          <a:p>
            <a:pPr marL="648000"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 </a:t>
            </a:r>
            <a:r>
              <a:rPr lang="ko-KR" altLang="en-US" sz="1600" b="1" dirty="0">
                <a:latin typeface="맑은 고딕" panose="020B0503020000020004" pitchFamily="50" charset="-127"/>
              </a:rPr>
              <a:t>항목들간의 관계를 </a:t>
            </a:r>
            <a:r>
              <a:rPr lang="ko-KR" altLang="en-US" sz="1600" dirty="0">
                <a:latin typeface="맑은 고딕" panose="020B0503020000020004" pitchFamily="50" charset="-127"/>
              </a:rPr>
              <a:t>분석하는 방법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648000"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재무비율은 크게 </a:t>
            </a:r>
            <a:r>
              <a:rPr lang="ko-KR" altLang="en-US" sz="1600" b="1" dirty="0">
                <a:latin typeface="맑은 고딕" panose="020B0503020000020004" pitchFamily="50" charset="-127"/>
              </a:rPr>
              <a:t>수익성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활동성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유동성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안전성 </a:t>
            </a:r>
            <a:r>
              <a:rPr lang="ko-KR" altLang="en-US" sz="1600" dirty="0">
                <a:latin typeface="맑은 고딕" panose="020B0503020000020004" pitchFamily="50" charset="-127"/>
              </a:rPr>
              <a:t>비율로 구분할 수 있음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648000"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정보이용자의 재무제표분석 목적에 알맞게 서로 다른 비율을 사용할 수 있음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288000" lvl="1" indent="-288000" latinLnBrk="0">
              <a:lnSpc>
                <a:spcPts val="2400"/>
              </a:lnSpc>
              <a:spcBef>
                <a:spcPts val="60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① </a:t>
            </a:r>
            <a:r>
              <a:rPr lang="ko-KR" altLang="en-US" sz="1600" b="1" dirty="0">
                <a:latin typeface="맑은 고딕" panose="020B0503020000020004" pitchFamily="50" charset="-127"/>
              </a:rPr>
              <a:t>주주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성장성을 나타내는 비율이나 수익성 비율에 상대적으로 더 큰 관심이 있음</a:t>
            </a:r>
            <a:r>
              <a:rPr lang="en-US" altLang="ko-KR" sz="1600" dirty="0">
                <a:latin typeface="맑은 고딕" panose="020B0503020000020004" pitchFamily="50" charset="-127"/>
              </a:rPr>
              <a:t>         </a:t>
            </a:r>
          </a:p>
          <a:p>
            <a:pPr marL="288000" lvl="1" indent="-288000" latinLnBrk="0">
              <a:lnSpc>
                <a:spcPts val="2400"/>
              </a:lnSpc>
              <a:spcBef>
                <a:spcPts val="60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② </a:t>
            </a:r>
            <a:r>
              <a:rPr lang="ko-KR" altLang="en-US" sz="1600" b="1" dirty="0">
                <a:latin typeface="맑은 고딕" panose="020B0503020000020004" pitchFamily="50" charset="-127"/>
              </a:rPr>
              <a:t>단기채권자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기업이 지금 현재 부채를 상환할 능력이 있는지를 보여주는 유동성 비율에 큰 관심이 있음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8000" lvl="1" indent="-288000" latinLnBrk="0">
              <a:lnSpc>
                <a:spcPts val="2400"/>
              </a:lnSpc>
              <a:spcBef>
                <a:spcPts val="60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③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장기채권자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기업의 장기적 부채상환능력을 평가해야 하므로 유동성 비율뿐만 아니라 안전성 비율이나 수익성 비율에도 관심이 있음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539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85078" y="1501310"/>
            <a:ext cx="8641369" cy="107097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수익성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- </a:t>
            </a:r>
            <a:r>
              <a: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수익성</a:t>
            </a:r>
            <a:r>
              <a:rPr lang="ko-KR" altLang="en-US" sz="1600" dirty="0">
                <a:latin typeface="맑은 고딕" panose="020B0503020000020004" pitchFamily="50" charset="-127"/>
              </a:rPr>
              <a:t>이란 기업이 이익을 창출할 수 있는 능력을 나타냄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</a:rPr>
              <a:t>수익성비율에는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매출총이익률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총자산이익률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자기자본이익률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주당이익 등이 있음</a:t>
            </a:r>
            <a:r>
              <a:rPr lang="en-US" altLang="ko-KR" sz="1400" dirty="0">
                <a:latin typeface="맑은 고딕" panose="020B0503020000020004" pitchFamily="50" charset="-127"/>
              </a:rPr>
              <a:t> </a:t>
            </a:r>
            <a:endParaRPr lang="en-US" altLang="ko-KR" sz="1800" dirty="0">
              <a:latin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75843" y="3146715"/>
            <a:ext cx="8641369" cy="3224919"/>
            <a:chOff x="2626683" y="1721091"/>
            <a:chExt cx="11521825" cy="4299894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125622"/>
              <a:ext cx="11521825" cy="389536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r>
                <a:rPr lang="ko-KR" altLang="en-US" sz="1600" dirty="0" err="1">
                  <a:solidFill>
                    <a:srgbClr val="C00000"/>
                  </a:solidFill>
                  <a:latin typeface="맑은 고딕" pitchFamily="50" charset="-127"/>
                </a:rPr>
                <a:t>매출총이익률</a:t>
              </a:r>
              <a:r>
                <a:rPr lang="ko-KR" altLang="en-US" sz="1600" dirty="0" err="1">
                  <a:latin typeface="맑은 고딕" pitchFamily="50" charset="-127"/>
                </a:rPr>
                <a:t>은</a:t>
              </a:r>
              <a:r>
                <a:rPr lang="ko-KR" altLang="en-US" sz="1600" dirty="0">
                  <a:latin typeface="맑은 고딕" pitchFamily="50" charset="-127"/>
                </a:rPr>
                <a:t> 매출액 </a:t>
              </a:r>
              <a:r>
                <a:rPr lang="en-US" altLang="ko-KR" sz="1600" dirty="0">
                  <a:latin typeface="맑은 고딕" pitchFamily="50" charset="-127"/>
                </a:rPr>
                <a:t>\1</a:t>
              </a:r>
              <a:r>
                <a:rPr lang="ko-KR" altLang="en-US" sz="1600" dirty="0">
                  <a:latin typeface="맑은 고딕" pitchFamily="50" charset="-127"/>
                </a:rPr>
                <a:t>당 </a:t>
              </a:r>
              <a:r>
                <a:rPr lang="ko-KR" altLang="en-US" sz="1600" dirty="0" err="1">
                  <a:latin typeface="맑은 고딕" pitchFamily="50" charset="-127"/>
                </a:rPr>
                <a:t>매출총이익이</a:t>
              </a:r>
              <a:r>
                <a:rPr lang="ko-KR" altLang="en-US" sz="1600" dirty="0">
                  <a:latin typeface="맑은 고딕" pitchFamily="50" charset="-127"/>
                </a:rPr>
                <a:t> 얼마 발생했는지 나타냄</a:t>
              </a:r>
              <a:endParaRPr lang="en-US" altLang="ko-KR" sz="1600" dirty="0">
                <a:latin typeface="맑은 고딕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r>
                <a:rPr lang="ko-KR" altLang="en-US" sz="1600" dirty="0">
                  <a:latin typeface="맑은 고딕" pitchFamily="50" charset="-127"/>
                </a:rPr>
                <a:t>손익계산서 비용항목 중에서 매출원가만 분석함</a:t>
              </a:r>
              <a:endParaRPr lang="en-US" altLang="ko-KR" sz="1600" dirty="0">
                <a:latin typeface="맑은 고딕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buFontTx/>
                <a:buChar char="-"/>
                <a:defRPr/>
              </a:pPr>
              <a:r>
                <a:rPr lang="ko-KR" altLang="en-US" sz="1600" dirty="0">
                  <a:latin typeface="맑은 고딕" pitchFamily="50" charset="-127"/>
                </a:rPr>
                <a:t>관리비</a:t>
              </a:r>
              <a:r>
                <a:rPr lang="en-US" altLang="ko-KR" sz="1600" dirty="0">
                  <a:latin typeface="맑은 고딕" pitchFamily="50" charset="-127"/>
                </a:rPr>
                <a:t>, </a:t>
              </a:r>
              <a:r>
                <a:rPr lang="ko-KR" altLang="en-US" sz="1600" dirty="0" err="1">
                  <a:latin typeface="맑은 고딕" pitchFamily="50" charset="-127"/>
                </a:rPr>
                <a:t>판매비</a:t>
              </a:r>
              <a:r>
                <a:rPr lang="en-US" altLang="ko-KR" sz="1600" dirty="0">
                  <a:latin typeface="맑은 고딕" pitchFamily="50" charset="-127"/>
                </a:rPr>
                <a:t>, </a:t>
              </a:r>
              <a:r>
                <a:rPr lang="ko-KR" altLang="en-US" sz="1600" dirty="0">
                  <a:latin typeface="맑은 고딕" pitchFamily="50" charset="-127"/>
                </a:rPr>
                <a:t>금융비용 등 기타 비용항목을 고려하지 않기 때문에 기업의 수익성 중 일부만 표현하는 지표임</a:t>
              </a:r>
              <a:endParaRPr lang="en-US" altLang="ko-KR" sz="1600" dirty="0">
                <a:latin typeface="맑은 고딕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908882" y="1721091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매출총이익률</a:t>
              </a: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(gross profit margin)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425575" y="4019498"/>
            <a:ext cx="5823699" cy="733841"/>
            <a:chOff x="1425575" y="4019498"/>
            <a:chExt cx="5823699" cy="733841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1425575" y="4206823"/>
              <a:ext cx="1707519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b="1" dirty="0" err="1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매출총이익률</a:t>
              </a:r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  </a:t>
              </a:r>
              <a:r>
                <a:rPr lang="en-US" altLang="ko-KR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=</a:t>
              </a:r>
              <a:endPara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511550" y="4414785"/>
              <a:ext cx="800219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매출액</a:t>
              </a:r>
            </a:p>
          </p:txBody>
        </p:sp>
        <p:sp>
          <p:nvSpPr>
            <p:cNvPr id="17" name="TextBox 16"/>
            <p:cNvSpPr txBox="1"/>
            <p:nvPr/>
          </p:nvSpPr>
          <p:spPr bwMode="auto">
            <a:xfrm>
              <a:off x="3332163" y="4019498"/>
              <a:ext cx="1210588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b="1" dirty="0" err="1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매출총이익</a:t>
              </a:r>
              <a:endPara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 bwMode="auto">
            <a:xfrm>
              <a:off x="4714875" y="4206823"/>
              <a:ext cx="332142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=</a:t>
              </a:r>
              <a:endPara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 bwMode="auto">
            <a:xfrm>
              <a:off x="5857875" y="4414785"/>
              <a:ext cx="800219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매출액</a:t>
              </a:r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5399088" y="4019498"/>
              <a:ext cx="1850186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매출액 </a:t>
              </a:r>
              <a:r>
                <a:rPr lang="en-US" altLang="ko-KR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1600" b="1" dirty="0">
                  <a:solidFill>
                    <a:schemeClr val="accent1">
                      <a:lumMod val="50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매출원가</a:t>
              </a:r>
            </a:p>
          </p:txBody>
        </p:sp>
        <p:cxnSp>
          <p:nvCxnSpPr>
            <p:cNvPr id="23" name="Straight Connector 3"/>
            <p:cNvCxnSpPr>
              <a:cxnSpLocks noChangeShapeType="1"/>
            </p:cNvCxnSpPr>
            <p:nvPr/>
          </p:nvCxnSpPr>
          <p:spPr bwMode="auto">
            <a:xfrm>
              <a:off x="3281118" y="4380780"/>
              <a:ext cx="1315409" cy="0"/>
            </a:xfrm>
            <a:prstGeom prst="line">
              <a:avLst/>
            </a:prstGeom>
            <a:noFill/>
            <a:ln w="19050" algn="ctr">
              <a:solidFill>
                <a:srgbClr val="2D61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Straight Connector 3"/>
            <p:cNvCxnSpPr>
              <a:cxnSpLocks noChangeShapeType="1"/>
            </p:cNvCxnSpPr>
            <p:nvPr/>
          </p:nvCxnSpPr>
          <p:spPr bwMode="auto">
            <a:xfrm>
              <a:off x="5382112" y="4380776"/>
              <a:ext cx="1867162" cy="0"/>
            </a:xfrm>
            <a:prstGeom prst="line">
              <a:avLst/>
            </a:prstGeom>
            <a:noFill/>
            <a:ln w="19050" algn="ctr">
              <a:solidFill>
                <a:srgbClr val="2D61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25133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6012" y="1445742"/>
            <a:ext cx="8641369" cy="5030934"/>
            <a:chOff x="2626908" y="1693823"/>
            <a:chExt cx="11521825" cy="6707915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908" y="2127936"/>
              <a:ext cx="11521825" cy="627380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itchFamily="50" charset="-127"/>
                </a:rPr>
                <a:t>총자산이익률</a:t>
              </a:r>
              <a:r>
                <a:rPr lang="ko-KR" altLang="en-US" sz="1600" dirty="0">
                  <a:latin typeface="맑은 고딕" pitchFamily="50" charset="-127"/>
                </a:rPr>
                <a:t>은 기업이 보유한 자산이 당기 성과에 기여한 정도를 나타냄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buFontTx/>
                <a:buChar char="-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분모로 사용하는 총자산은 자본과 부채의 합이기 때문에 분자에도 부채에 대한 비용을 포함하는 이익인 이자비용차감전이익을 사용하는 것이 개념적으로 타당함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buFontTx/>
                <a:buChar char="-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그러나 실무적으로는 분자에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당기순이익을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사용하여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총자산순이익률을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계산하는 경우도 흔함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buFontTx/>
                <a:buChar char="-"/>
                <a:defRPr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총자산이익률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(return on assets; ROA)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 bwMode="auto">
          <a:xfrm>
            <a:off x="1326719" y="2651305"/>
            <a:ext cx="17075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총자산이익률 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=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3580969" y="2859267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평균총자산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3190444" y="2463980"/>
            <a:ext cx="20313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이자비용차감전이익</a:t>
            </a:r>
          </a:p>
        </p:txBody>
      </p:sp>
      <p:sp>
        <p:nvSpPr>
          <p:cNvPr id="29" name="TextBox 28"/>
          <p:cNvSpPr txBox="1"/>
          <p:nvPr/>
        </p:nvSpPr>
        <p:spPr bwMode="auto">
          <a:xfrm>
            <a:off x="1280658" y="5252910"/>
            <a:ext cx="19127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err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총자산순이익률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=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3494763" y="5460873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평균총자산</a:t>
            </a:r>
          </a:p>
        </p:txBody>
      </p:sp>
      <p:sp>
        <p:nvSpPr>
          <p:cNvPr id="31" name="TextBox 30"/>
          <p:cNvSpPr txBox="1"/>
          <p:nvPr/>
        </p:nvSpPr>
        <p:spPr bwMode="auto">
          <a:xfrm>
            <a:off x="3494763" y="5065585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err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당기순이익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Straight Connector 3"/>
          <p:cNvCxnSpPr>
            <a:cxnSpLocks noChangeShapeType="1"/>
          </p:cNvCxnSpPr>
          <p:nvPr/>
        </p:nvCxnSpPr>
        <p:spPr bwMode="auto">
          <a:xfrm>
            <a:off x="3226688" y="2810779"/>
            <a:ext cx="1995081" cy="0"/>
          </a:xfrm>
          <a:prstGeom prst="line">
            <a:avLst/>
          </a:prstGeom>
          <a:noFill/>
          <a:ln w="19050" algn="ctr">
            <a:solidFill>
              <a:srgbClr val="2D61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3"/>
          <p:cNvCxnSpPr>
            <a:cxnSpLocks noChangeShapeType="1"/>
          </p:cNvCxnSpPr>
          <p:nvPr/>
        </p:nvCxnSpPr>
        <p:spPr bwMode="auto">
          <a:xfrm>
            <a:off x="3313776" y="5429469"/>
            <a:ext cx="1543097" cy="0"/>
          </a:xfrm>
          <a:prstGeom prst="line">
            <a:avLst/>
          </a:prstGeom>
          <a:noFill/>
          <a:ln w="19050" algn="ctr">
            <a:solidFill>
              <a:srgbClr val="2D61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67400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6012" y="1420197"/>
            <a:ext cx="8653185" cy="3605082"/>
            <a:chOff x="2626908" y="1659763"/>
            <a:chExt cx="11537580" cy="4806777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42663" y="2209794"/>
              <a:ext cx="11521825" cy="425674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자본이익률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 자기자본이 투입되어 얼마만큼의 순이익을 창출했는지 측정함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algn="r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자본이익률은 주주입장에서 수익성을 분석한 것으로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부채에 대한 대가인 이자비용을 차감하고 난 이익인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당기순이익을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사용함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자본이익률이 높을수록 주주가 투자한 자본이 효율적으로 활용된 것으로 해석할 수 있음 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42900" indent="-3429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42900" indent="-3429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42900" indent="-3429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42900" indent="-3429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908881" y="1659763"/>
              <a:ext cx="8613995" cy="46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자본이익률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(return on equity; ROE)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1824958" y="2808288"/>
            <a:ext cx="15023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자본이익률 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=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590925" y="3016250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평균자본</a:t>
            </a:r>
          </a:p>
        </p:txBody>
      </p:sp>
      <p:sp>
        <p:nvSpPr>
          <p:cNvPr id="19" name="TextBox 18"/>
          <p:cNvSpPr txBox="1"/>
          <p:nvPr/>
        </p:nvSpPr>
        <p:spPr bwMode="auto">
          <a:xfrm>
            <a:off x="3483877" y="2620963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err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당기순이익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Straight Connector 3"/>
          <p:cNvCxnSpPr>
            <a:cxnSpLocks noChangeShapeType="1"/>
          </p:cNvCxnSpPr>
          <p:nvPr/>
        </p:nvCxnSpPr>
        <p:spPr bwMode="auto">
          <a:xfrm>
            <a:off x="3400864" y="2980119"/>
            <a:ext cx="1309473" cy="0"/>
          </a:xfrm>
          <a:prstGeom prst="line">
            <a:avLst/>
          </a:prstGeom>
          <a:noFill/>
          <a:ln w="19050" algn="ctr">
            <a:solidFill>
              <a:srgbClr val="2D61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15773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90299" y="1502892"/>
            <a:ext cx="8641369" cy="5048705"/>
            <a:chOff x="2626908" y="1693823"/>
            <a:chExt cx="11521825" cy="6304626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908" y="2127935"/>
              <a:ext cx="11521825" cy="587051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b="1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주당이익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보통주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주당 당기순이익을 나타냄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주당이익은 보통주를 보유한 주주입장에서 수익성을 분석한 것으로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우선주배당금을 차감하고 계산함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주가를 주당이익으로 나눈 비율을 주가이익비율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(price-earnings ratio: PER)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이라고 하는데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 비율이 주식의 가치를 평가하는 데 종종 사용됨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가중평균유통주식수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회계기간 동안 유통된 보통주식수를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가중평균한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주식수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800" dirty="0">
                <a:latin typeface="맑은 고딕" panose="020B0503020000020004" pitchFamily="50" charset="-127"/>
              </a:endParaRPr>
            </a:p>
            <a:p>
              <a:pPr marL="342900" indent="-3429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8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주당이익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(earnings per share; EPS)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 bwMode="auto">
          <a:xfrm>
            <a:off x="1451634" y="2574459"/>
            <a:ext cx="12971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주당이익 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=</a:t>
            </a:r>
            <a:endParaRPr lang="ko-KR" altLang="en-US" sz="1600" b="1" dirty="0">
              <a:solidFill>
                <a:schemeClr val="accent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3263195" y="2787280"/>
            <a:ext cx="203132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가중평균유통주식수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3011785" y="2369415"/>
            <a:ext cx="26709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 b="1" dirty="0" err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당기순이익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우선주배당금</a:t>
            </a:r>
          </a:p>
        </p:txBody>
      </p:sp>
      <p:cxnSp>
        <p:nvCxnSpPr>
          <p:cNvPr id="22" name="Straight Connector 3"/>
          <p:cNvCxnSpPr>
            <a:cxnSpLocks noChangeShapeType="1"/>
          </p:cNvCxnSpPr>
          <p:nvPr/>
        </p:nvCxnSpPr>
        <p:spPr bwMode="auto">
          <a:xfrm>
            <a:off x="3030740" y="2740627"/>
            <a:ext cx="2618946" cy="0"/>
          </a:xfrm>
          <a:prstGeom prst="line">
            <a:avLst/>
          </a:prstGeom>
          <a:noFill/>
          <a:ln w="19050" algn="ctr">
            <a:solidFill>
              <a:srgbClr val="2D61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891010"/>
              </p:ext>
            </p:extLst>
          </p:nvPr>
        </p:nvGraphicFramePr>
        <p:xfrm>
          <a:off x="1645844" y="5114670"/>
          <a:ext cx="5790980" cy="150007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1501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9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18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effectLst/>
                        </a:rPr>
                        <a:t>유통주식수의 변화</a:t>
                      </a:r>
                      <a:endParaRPr lang="ko-KR" altLang="en-US" sz="13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effectLst/>
                        </a:rPr>
                        <a:t>주식수</a:t>
                      </a:r>
                      <a:r>
                        <a:rPr lang="en-US" altLang="ko-KR" sz="1300" b="1" kern="0" spc="-30" dirty="0">
                          <a:effectLst/>
                        </a:rPr>
                        <a:t>(</a:t>
                      </a:r>
                      <a:r>
                        <a:rPr lang="en-US" sz="1300" b="1" kern="0" spc="-30" dirty="0">
                          <a:effectLst/>
                        </a:rPr>
                        <a:t>A)</a:t>
                      </a:r>
                      <a:endParaRPr lang="en-US" sz="13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effectLst/>
                        </a:rPr>
                        <a:t>가중치</a:t>
                      </a:r>
                      <a:r>
                        <a:rPr lang="en-US" altLang="ko-KR" sz="1300" b="1" kern="0" spc="-30" dirty="0">
                          <a:effectLst/>
                        </a:rPr>
                        <a:t>(</a:t>
                      </a:r>
                      <a:r>
                        <a:rPr lang="en-US" sz="1300" b="1" kern="0" spc="-30" dirty="0">
                          <a:effectLst/>
                        </a:rPr>
                        <a:t>B)</a:t>
                      </a:r>
                      <a:endParaRPr lang="en-US" sz="13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-30" dirty="0">
                          <a:effectLst/>
                        </a:rPr>
                        <a:t>가중평균</a:t>
                      </a:r>
                      <a:r>
                        <a:rPr lang="en-US" altLang="ko-KR" sz="1300" b="1" kern="0" spc="-30" dirty="0">
                          <a:effectLst/>
                        </a:rPr>
                        <a:t>(</a:t>
                      </a:r>
                      <a:r>
                        <a:rPr lang="en-US" sz="1300" b="1" kern="0" spc="-30" dirty="0">
                          <a:effectLst/>
                        </a:rPr>
                        <a:t>A)×(B)</a:t>
                      </a:r>
                      <a:endParaRPr lang="en-US" sz="13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4770" marR="64770" marT="17907" marB="17907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20×1</a:t>
                      </a:r>
                      <a:r>
                        <a:rPr lang="ko-KR" altLang="en-US" sz="1300" kern="0" spc="-30" dirty="0">
                          <a:effectLst/>
                        </a:rPr>
                        <a:t>년 </a:t>
                      </a:r>
                      <a:r>
                        <a:rPr lang="en-US" altLang="ko-KR" sz="1300" kern="0" spc="-30" dirty="0">
                          <a:effectLst/>
                        </a:rPr>
                        <a:t>1</a:t>
                      </a:r>
                      <a:r>
                        <a:rPr lang="ko-KR" altLang="en-US" sz="1300" kern="0" spc="-30" dirty="0">
                          <a:effectLst/>
                        </a:rPr>
                        <a:t>월 </a:t>
                      </a:r>
                      <a:r>
                        <a:rPr lang="en-US" altLang="ko-KR" sz="1300" kern="0" spc="-30" dirty="0">
                          <a:effectLst/>
                        </a:rPr>
                        <a:t>1</a:t>
                      </a:r>
                      <a:r>
                        <a:rPr lang="ko-KR" altLang="en-US" sz="1300" kern="0" spc="-30" dirty="0">
                          <a:effectLst/>
                        </a:rPr>
                        <a:t>일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effectLst/>
                        </a:rPr>
                        <a:t>기 초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10,000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12/12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28702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10,000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 dirty="0">
                          <a:effectLst/>
                        </a:rPr>
                        <a:t>20×1</a:t>
                      </a:r>
                      <a:r>
                        <a:rPr lang="ko-KR" altLang="en-US" sz="1300" kern="0" spc="-30" dirty="0">
                          <a:effectLst/>
                        </a:rPr>
                        <a:t>년 </a:t>
                      </a:r>
                      <a:r>
                        <a:rPr lang="en-US" altLang="ko-KR" sz="1300" kern="0" spc="-30" dirty="0">
                          <a:effectLst/>
                        </a:rPr>
                        <a:t>5</a:t>
                      </a:r>
                      <a:r>
                        <a:rPr lang="ko-KR" altLang="en-US" sz="1300" kern="0" spc="-30" dirty="0">
                          <a:effectLst/>
                        </a:rPr>
                        <a:t>월 </a:t>
                      </a:r>
                      <a:r>
                        <a:rPr lang="en-US" altLang="ko-KR" sz="1300" kern="0" spc="-30" dirty="0">
                          <a:effectLst/>
                        </a:rPr>
                        <a:t>1</a:t>
                      </a:r>
                      <a:r>
                        <a:rPr lang="ko-KR" altLang="en-US" sz="1300" kern="0" spc="-30" dirty="0">
                          <a:effectLst/>
                        </a:rPr>
                        <a:t>일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effectLst/>
                        </a:rPr>
                        <a:t>유상증자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  3,000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8/12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28702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2,000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0" spc="-30">
                          <a:effectLst/>
                        </a:rPr>
                        <a:t>20×1</a:t>
                      </a:r>
                      <a:r>
                        <a:rPr lang="ko-KR" altLang="en-US" sz="1300" kern="0" spc="-30">
                          <a:effectLst/>
                        </a:rPr>
                        <a:t>년 </a:t>
                      </a:r>
                      <a:r>
                        <a:rPr lang="en-US" altLang="ko-KR" sz="1300" kern="0" spc="-30">
                          <a:effectLst/>
                        </a:rPr>
                        <a:t>12</a:t>
                      </a:r>
                      <a:r>
                        <a:rPr lang="ko-KR" altLang="en-US" sz="1300" kern="0" spc="-30">
                          <a:effectLst/>
                        </a:rPr>
                        <a:t>월 </a:t>
                      </a:r>
                      <a:r>
                        <a:rPr lang="en-US" altLang="ko-KR" sz="1300" kern="0" spc="-30">
                          <a:effectLst/>
                        </a:rPr>
                        <a:t>31</a:t>
                      </a:r>
                      <a:r>
                        <a:rPr lang="ko-KR" altLang="en-US" sz="1300" kern="0" spc="-30">
                          <a:effectLst/>
                        </a:rPr>
                        <a:t>일</a:t>
                      </a:r>
                      <a:endParaRPr lang="ko-KR" altLang="en-US" sz="1300" kern="0" spc="-3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kern="0" spc="-30" dirty="0">
                          <a:effectLst/>
                        </a:rPr>
                        <a:t>기 말</a:t>
                      </a: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13,000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287020" indent="0" algn="r" fontAlgn="base" latinLnBrk="0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kern="0" spc="-30" dirty="0">
                          <a:effectLst/>
                        </a:rPr>
                        <a:t>12,000</a:t>
                      </a:r>
                      <a:endParaRPr lang="en-US" sz="1300" kern="0" spc="-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123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69208"/>
              </p:ext>
            </p:extLst>
          </p:nvPr>
        </p:nvGraphicFramePr>
        <p:xfrm>
          <a:off x="142876" y="1248306"/>
          <a:ext cx="4248726" cy="5249329"/>
        </p:xfrm>
        <a:graphic>
          <a:graphicData uri="http://schemas.openxmlformats.org/drawingml/2006/table">
            <a:tbl>
              <a:tblPr/>
              <a:tblGrid>
                <a:gridCol w="157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9445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재무상태표</a:t>
                      </a:r>
                      <a:endParaRPr kumimoji="0" lang="ko-KR" altLang="en-US" sz="13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원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649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kumimoji="0" lang="en-US" altLang="ko-KR" sz="1400" b="1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sng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kumimoji="0" lang="en-US" altLang="ko-KR" sz="1400" b="1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현금및현금성자산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322,900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312,400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매출채권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110,800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91,600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재고자산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132,500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135,230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기타유동자산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12,540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25,650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장기금융자산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945,460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901,620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유형자산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360,020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350,700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영 업 권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91,200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80,800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기타무형자산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22,740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22,740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자산총계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1,998,160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1,920,740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유동부채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매입채무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187,620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115,100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단기차입금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200,000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150,000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비유동부채 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장기차입금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160,000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120,000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부채총계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547,620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385,100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 본 금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800,000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850,000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이익잉여금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650,540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685,640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9445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자본총계</a:t>
                      </a:r>
                    </a:p>
                  </a:txBody>
                  <a:tcPr marL="7697" marR="7697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1,450,540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₩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1,535,640</a:t>
                      </a:r>
                    </a:p>
                  </a:txBody>
                  <a:tcPr marL="7697" marR="216000" marT="7696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graphicFrame>
        <p:nvGraphicFramePr>
          <p:cNvPr id="17" name="Group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782402"/>
              </p:ext>
            </p:extLst>
          </p:nvPr>
        </p:nvGraphicFramePr>
        <p:xfrm>
          <a:off x="4662942" y="1226543"/>
          <a:ext cx="4214526" cy="5270196"/>
        </p:xfrm>
        <a:graphic>
          <a:graphicData uri="http://schemas.openxmlformats.org/drawingml/2006/table">
            <a:tbl>
              <a:tblPr/>
              <a:tblGrid>
                <a:gridCol w="1729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64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포괄손익계산서</a:t>
                      </a: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덕송</a:t>
                      </a: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kumimoji="0" lang="ko-KR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원</a:t>
                      </a:r>
                      <a:r>
                        <a:rPr kumimoji="0" lang="en-US" altLang="ko-KR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6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sng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kumimoji="0" lang="en-US" altLang="ko-KR" sz="1300" b="1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3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kumimoji="0" lang="en-US" altLang="ko-KR" sz="1300" b="1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×</a:t>
                      </a:r>
                      <a:r>
                        <a:rPr kumimoji="0" lang="en-US" altLang="ko-KR" sz="13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3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</a:p>
                  </a:txBody>
                  <a:tcPr marL="7696" marR="7696" marT="7697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76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출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355,000 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390,000 </a:t>
                      </a: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6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230,000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245,000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6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매출총이익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125,000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145,000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6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판 매 비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8,700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11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 리 비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11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영업이익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95,300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116,000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542874"/>
                  </a:ext>
                </a:extLst>
              </a:tr>
              <a:tr h="30276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이자비용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7,500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2768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법인세비용차감전순이익   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87,800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108,000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법인세비용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21,950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계속영업이익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65,850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81,000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중단영업손실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30,500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당기순이익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65,850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50,500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7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기타포괄손익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1013">
                <a:tc>
                  <a:txBody>
                    <a:bodyPr/>
                    <a:lstStyle/>
                    <a:p>
                      <a:pPr marL="12700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FVOCI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금융자산평가이익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200 </a:t>
                      </a: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276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총포괄이익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66,090 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50,700 </a:t>
                      </a:r>
                      <a:endParaRPr kumimoji="0" lang="ko-KR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18000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6563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4997817"/>
            <a:chOff x="190714" y="1320882"/>
            <a:chExt cx="8711460" cy="555364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413032"/>
              <a:chOff x="269047" y="1722741"/>
              <a:chExt cx="8648776" cy="541303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53893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12-1 </a:t>
                  </a:r>
                  <a:r>
                    <a:rPr lang="ko-KR" altLang="en-US" sz="1600" b="1" dirty="0"/>
                    <a:t>비율분석 </a:t>
                  </a:r>
                  <a:r>
                    <a:rPr lang="en-US" altLang="ko-KR" sz="1600" b="1" dirty="0"/>
                    <a:t>- </a:t>
                  </a:r>
                  <a:r>
                    <a:rPr lang="ko-KR" altLang="en-US" sz="1600" b="1" dirty="0"/>
                    <a:t>수익성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66367" y="1867531"/>
            <a:ext cx="7746887" cy="156168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(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</a:t>
            </a:r>
            <a:r>
              <a:rPr lang="en-US" altLang="ko-KR" sz="1500" b="1" dirty="0">
                <a:latin typeface="맑은 고딕" panose="020B0503020000020004" pitchFamily="50" charset="-127"/>
              </a:rPr>
              <a:t>)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덕송의</a:t>
            </a:r>
            <a:r>
              <a:rPr lang="ko-KR" altLang="en-US" sz="1500" b="1" dirty="0">
                <a:latin typeface="맑은 고딕" panose="020B0503020000020004" pitchFamily="50" charset="-127"/>
              </a:rPr>
              <a:t>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재무상태표와</a:t>
            </a:r>
            <a:r>
              <a:rPr lang="ko-KR" altLang="en-US" sz="1500" b="1" dirty="0">
                <a:latin typeface="맑은 고딕" panose="020B0503020000020004" pitchFamily="50" charset="-127"/>
              </a:rPr>
              <a:t> 포괄손익계산서를 이용해서 </a:t>
            </a:r>
            <a:r>
              <a:rPr lang="en-US" altLang="ko-KR" sz="1500" b="1" dirty="0">
                <a:latin typeface="맑은 고딕" panose="020B0503020000020004" pitchFamily="50" charset="-127"/>
              </a:rPr>
              <a:t>20×2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년의 </a:t>
            </a:r>
            <a:r>
              <a:rPr lang="en-US" altLang="ko-KR" sz="1500" b="1" dirty="0">
                <a:latin typeface="맑은 고딕" panose="020B0503020000020004" pitchFamily="50" charset="-127"/>
              </a:rPr>
              <a:t>(1)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매출총이익률</a:t>
            </a:r>
            <a:r>
              <a:rPr lang="en-US" altLang="ko-KR" sz="1500" b="1" dirty="0">
                <a:latin typeface="맑은 고딕" panose="020B0503020000020004" pitchFamily="50" charset="-127"/>
              </a:rPr>
              <a:t>, (2) </a:t>
            </a:r>
            <a:r>
              <a:rPr lang="ko-KR" altLang="en-US" sz="1500" b="1" dirty="0">
                <a:latin typeface="맑은 고딕" panose="020B0503020000020004" pitchFamily="50" charset="-127"/>
              </a:rPr>
              <a:t>총자산이익률</a:t>
            </a:r>
            <a:r>
              <a:rPr lang="en-US" altLang="ko-KR" sz="1500" b="1" dirty="0">
                <a:latin typeface="맑은 고딕" panose="020B0503020000020004" pitchFamily="50" charset="-127"/>
              </a:rPr>
              <a:t>, (3) </a:t>
            </a:r>
            <a:r>
              <a:rPr lang="ko-KR" altLang="en-US" sz="1500" b="1" dirty="0">
                <a:latin typeface="맑은 고딕" panose="020B0503020000020004" pitchFamily="50" charset="-127"/>
              </a:rPr>
              <a:t>자기자본이익률</a:t>
            </a:r>
            <a:r>
              <a:rPr lang="en-US" altLang="ko-KR" sz="1500" b="1" dirty="0">
                <a:latin typeface="맑은 고딕" panose="020B0503020000020004" pitchFamily="50" charset="-127"/>
              </a:rPr>
              <a:t>, (4) 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주당이익을 계산하면 다음과 같다</a:t>
            </a:r>
            <a:r>
              <a:rPr lang="en-US" altLang="ko-KR" sz="1500" b="1" dirty="0">
                <a:latin typeface="맑은 고딕" panose="020B0503020000020004" pitchFamily="50" charset="-127"/>
              </a:rPr>
              <a:t>. </a:t>
            </a:r>
            <a:r>
              <a:rPr lang="ko-KR" altLang="en-US" sz="1500" b="1" dirty="0">
                <a:latin typeface="맑은 고딕" panose="020B0503020000020004" pitchFamily="50" charset="-127"/>
              </a:rPr>
              <a:t>단</a:t>
            </a:r>
            <a:r>
              <a:rPr lang="en-US" altLang="ko-KR" sz="1500" b="1" dirty="0">
                <a:latin typeface="맑은 고딕" panose="020B0503020000020004" pitchFamily="50" charset="-127"/>
              </a:rPr>
              <a:t>, 20×2</a:t>
            </a:r>
            <a:r>
              <a:rPr lang="ko-KR" altLang="en-US" sz="1500" b="1" dirty="0">
                <a:latin typeface="맑은 고딕" panose="020B0503020000020004" pitchFamily="50" charset="-127"/>
              </a:rPr>
              <a:t>년의 가중평균유통주식수는 </a:t>
            </a:r>
            <a:r>
              <a:rPr lang="en-US" altLang="ko-KR" sz="1500" b="1" dirty="0">
                <a:latin typeface="맑은 고딕" panose="020B0503020000020004" pitchFamily="50" charset="-127"/>
              </a:rPr>
              <a:t>170,000</a:t>
            </a:r>
            <a:r>
              <a:rPr lang="ko-KR" altLang="en-US" sz="1500" b="1" dirty="0">
                <a:latin typeface="맑은 고딕" panose="020B0503020000020004" pitchFamily="50" charset="-127"/>
              </a:rPr>
              <a:t>주이며</a:t>
            </a:r>
            <a:r>
              <a:rPr lang="en-US" altLang="ko-KR" sz="1500" b="1" dirty="0">
                <a:latin typeface="맑은 고딕" panose="020B0503020000020004" pitchFamily="50" charset="-127"/>
              </a:rPr>
              <a:t>, </a:t>
            </a:r>
            <a:r>
              <a:rPr lang="ko-KR" altLang="en-US" sz="1500" b="1" dirty="0">
                <a:latin typeface="맑은 고딕" panose="020B0503020000020004" pitchFamily="50" charset="-127"/>
              </a:rPr>
              <a:t>우선주에 대한 배당은 없었다</a:t>
            </a:r>
            <a:r>
              <a:rPr lang="en-US" altLang="ko-KR" sz="1500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684213" y="3214688"/>
            <a:ext cx="7775575" cy="102711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매출총이익률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19"/>
          <p:cNvSpPr txBox="1">
            <a:spLocks noChangeArrowheads="1"/>
          </p:cNvSpPr>
          <p:nvPr/>
        </p:nvSpPr>
        <p:spPr bwMode="auto">
          <a:xfrm>
            <a:off x="2895600" y="3752850"/>
            <a:ext cx="723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매출액</a:t>
            </a:r>
          </a:p>
        </p:txBody>
      </p:sp>
      <p:sp>
        <p:nvSpPr>
          <p:cNvPr id="27" name="TextBox 20"/>
          <p:cNvSpPr txBox="1">
            <a:spLocks noChangeArrowheads="1"/>
          </p:cNvSpPr>
          <p:nvPr/>
        </p:nvSpPr>
        <p:spPr bwMode="auto">
          <a:xfrm>
            <a:off x="2716213" y="3357563"/>
            <a:ext cx="1082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매출총이익</a:t>
            </a:r>
          </a:p>
        </p:txBody>
      </p:sp>
      <p:cxnSp>
        <p:nvCxnSpPr>
          <p:cNvPr id="42" name="Straight Connector 3"/>
          <p:cNvCxnSpPr>
            <a:cxnSpLocks noChangeShapeType="1"/>
          </p:cNvCxnSpPr>
          <p:nvPr/>
        </p:nvCxnSpPr>
        <p:spPr bwMode="auto">
          <a:xfrm>
            <a:off x="2452688" y="3714750"/>
            <a:ext cx="1576387" cy="0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22"/>
          <p:cNvSpPr txBox="1">
            <a:spLocks noChangeArrowheads="1"/>
          </p:cNvSpPr>
          <p:nvPr/>
        </p:nvSpPr>
        <p:spPr bwMode="auto">
          <a:xfrm>
            <a:off x="4773613" y="3752850"/>
            <a:ext cx="995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\390,000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23"/>
          <p:cNvSpPr txBox="1">
            <a:spLocks noChangeArrowheads="1"/>
          </p:cNvSpPr>
          <p:nvPr/>
        </p:nvSpPr>
        <p:spPr bwMode="auto">
          <a:xfrm>
            <a:off x="4773613" y="3357563"/>
            <a:ext cx="9953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\145,000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" name="Straight Connector 3"/>
          <p:cNvCxnSpPr>
            <a:cxnSpLocks noChangeShapeType="1"/>
          </p:cNvCxnSpPr>
          <p:nvPr/>
        </p:nvCxnSpPr>
        <p:spPr bwMode="auto">
          <a:xfrm>
            <a:off x="4465638" y="3714750"/>
            <a:ext cx="1576387" cy="0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TextBox 25"/>
          <p:cNvSpPr txBox="1">
            <a:spLocks noChangeArrowheads="1"/>
          </p:cNvSpPr>
          <p:nvPr/>
        </p:nvSpPr>
        <p:spPr bwMode="auto">
          <a:xfrm>
            <a:off x="4095750" y="3559175"/>
            <a:ext cx="314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26"/>
          <p:cNvSpPr txBox="1">
            <a:spLocks noChangeArrowheads="1"/>
          </p:cNvSpPr>
          <p:nvPr/>
        </p:nvSpPr>
        <p:spPr bwMode="auto">
          <a:xfrm>
            <a:off x="6065838" y="3559175"/>
            <a:ext cx="12314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0.37 (37%)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Rectangle 12"/>
          <p:cNvSpPr>
            <a:spLocks noChangeArrowheads="1"/>
          </p:cNvSpPr>
          <p:nvPr/>
        </p:nvSpPr>
        <p:spPr bwMode="auto">
          <a:xfrm>
            <a:off x="684213" y="4357688"/>
            <a:ext cx="7775575" cy="16430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총자산이익률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28"/>
          <p:cNvSpPr txBox="1">
            <a:spLocks noChangeArrowheads="1"/>
          </p:cNvSpPr>
          <p:nvPr/>
        </p:nvSpPr>
        <p:spPr bwMode="auto">
          <a:xfrm>
            <a:off x="2716213" y="4895850"/>
            <a:ext cx="10826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평균총자산</a:t>
            </a:r>
          </a:p>
        </p:txBody>
      </p:sp>
      <p:sp>
        <p:nvSpPr>
          <p:cNvPr id="50" name="TextBox 29"/>
          <p:cNvSpPr txBox="1">
            <a:spLocks noChangeArrowheads="1"/>
          </p:cNvSpPr>
          <p:nvPr/>
        </p:nvSpPr>
        <p:spPr bwMode="auto">
          <a:xfrm>
            <a:off x="2357438" y="4500563"/>
            <a:ext cx="18002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이자비용차감전이익</a:t>
            </a:r>
          </a:p>
        </p:txBody>
      </p:sp>
      <p:cxnSp>
        <p:nvCxnSpPr>
          <p:cNvPr id="51" name="Straight Connector 3"/>
          <p:cNvCxnSpPr>
            <a:cxnSpLocks noChangeShapeType="1"/>
          </p:cNvCxnSpPr>
          <p:nvPr/>
        </p:nvCxnSpPr>
        <p:spPr bwMode="auto">
          <a:xfrm>
            <a:off x="2452688" y="4857750"/>
            <a:ext cx="1576387" cy="0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Box 31"/>
          <p:cNvSpPr txBox="1">
            <a:spLocks noChangeArrowheads="1"/>
          </p:cNvSpPr>
          <p:nvPr/>
        </p:nvSpPr>
        <p:spPr bwMode="auto">
          <a:xfrm>
            <a:off x="4422297" y="4895850"/>
            <a:ext cx="25282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(\1,998,160 + 1,920,740) / 2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32"/>
          <p:cNvSpPr txBox="1">
            <a:spLocks noChangeArrowheads="1"/>
          </p:cNvSpPr>
          <p:nvPr/>
        </p:nvSpPr>
        <p:spPr bwMode="auto">
          <a:xfrm>
            <a:off x="5148263" y="4500563"/>
            <a:ext cx="1076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\116,000*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4" name="Straight Connector 3"/>
          <p:cNvCxnSpPr>
            <a:cxnSpLocks noChangeShapeType="1"/>
            <a:stCxn id="55" idx="3"/>
          </p:cNvCxnSpPr>
          <p:nvPr/>
        </p:nvCxnSpPr>
        <p:spPr bwMode="auto">
          <a:xfrm>
            <a:off x="4410075" y="4856163"/>
            <a:ext cx="2519363" cy="1587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Box 34"/>
          <p:cNvSpPr txBox="1">
            <a:spLocks noChangeArrowheads="1"/>
          </p:cNvSpPr>
          <p:nvPr/>
        </p:nvSpPr>
        <p:spPr bwMode="auto">
          <a:xfrm>
            <a:off x="4095750" y="4702175"/>
            <a:ext cx="3143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35"/>
          <p:cNvSpPr txBox="1">
            <a:spLocks noChangeArrowheads="1"/>
          </p:cNvSpPr>
          <p:nvPr/>
        </p:nvSpPr>
        <p:spPr bwMode="auto">
          <a:xfrm>
            <a:off x="6929438" y="4702175"/>
            <a:ext cx="13708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0.059 (5.9%)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38"/>
          <p:cNvSpPr txBox="1">
            <a:spLocks noChangeArrowheads="1"/>
          </p:cNvSpPr>
          <p:nvPr/>
        </p:nvSpPr>
        <p:spPr bwMode="auto">
          <a:xfrm>
            <a:off x="928688" y="5643563"/>
            <a:ext cx="5286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법인세비용차감전순이익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이자비용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\108,000 + 8,000 = \116,000 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417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43" grpId="0"/>
      <p:bldP spid="44" grpId="0"/>
      <p:bldP spid="46" grpId="0"/>
      <p:bldP spid="47" grpId="0"/>
      <p:bldP spid="49" grpId="0"/>
      <p:bldP spid="50" grpId="0"/>
      <p:bldP spid="52" grpId="0"/>
      <p:bldP spid="53" grpId="0"/>
      <p:bldP spid="55" grpId="0"/>
      <p:bldP spid="56" grpId="0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4997817"/>
            <a:chOff x="190714" y="1320882"/>
            <a:chExt cx="8711460" cy="555364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413032"/>
              <a:chOff x="269047" y="1722741"/>
              <a:chExt cx="8648776" cy="541303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53893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12-1 </a:t>
                  </a:r>
                  <a:r>
                    <a:rPr lang="ko-KR" altLang="en-US" sz="1600" b="1" dirty="0"/>
                    <a:t>비율분석 </a:t>
                  </a:r>
                  <a:r>
                    <a:rPr lang="en-US" altLang="ko-KR" sz="1600" b="1" dirty="0"/>
                    <a:t>- </a:t>
                  </a:r>
                  <a:r>
                    <a:rPr lang="ko-KR" altLang="en-US" sz="1600" b="1" dirty="0"/>
                    <a:t>수익성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58" name="Rectangle 12"/>
          <p:cNvSpPr>
            <a:spLocks noChangeArrowheads="1"/>
          </p:cNvSpPr>
          <p:nvPr/>
        </p:nvSpPr>
        <p:spPr bwMode="auto">
          <a:xfrm>
            <a:off x="736600" y="1994932"/>
            <a:ext cx="7775575" cy="12858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자기자본이익률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Rectangle 12"/>
          <p:cNvSpPr>
            <a:spLocks noChangeArrowheads="1"/>
          </p:cNvSpPr>
          <p:nvPr/>
        </p:nvSpPr>
        <p:spPr bwMode="auto">
          <a:xfrm>
            <a:off x="736600" y="3423682"/>
            <a:ext cx="7775575" cy="135731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(4) 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주당이익 </a:t>
            </a:r>
            <a:r>
              <a:rPr lang="en-US" altLang="ko-KR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19"/>
          <p:cNvSpPr txBox="1">
            <a:spLocks noChangeArrowheads="1"/>
          </p:cNvSpPr>
          <p:nvPr/>
        </p:nvSpPr>
        <p:spPr bwMode="auto">
          <a:xfrm>
            <a:off x="2767012" y="2758519"/>
            <a:ext cx="1262063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평균자기자본</a:t>
            </a:r>
          </a:p>
        </p:txBody>
      </p:sp>
      <p:sp>
        <p:nvSpPr>
          <p:cNvPr id="61" name="TextBox 20"/>
          <p:cNvSpPr txBox="1">
            <a:spLocks noChangeArrowheads="1"/>
          </p:cNvSpPr>
          <p:nvPr/>
        </p:nvSpPr>
        <p:spPr bwMode="auto">
          <a:xfrm>
            <a:off x="2857500" y="2363232"/>
            <a:ext cx="1081087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당기순이익</a:t>
            </a:r>
          </a:p>
        </p:txBody>
      </p:sp>
      <p:cxnSp>
        <p:nvCxnSpPr>
          <p:cNvPr id="62" name="Straight Connector 3"/>
          <p:cNvCxnSpPr>
            <a:cxnSpLocks noChangeShapeType="1"/>
          </p:cNvCxnSpPr>
          <p:nvPr/>
        </p:nvCxnSpPr>
        <p:spPr bwMode="auto">
          <a:xfrm>
            <a:off x="2719387" y="2720419"/>
            <a:ext cx="1333500" cy="0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TextBox 22"/>
          <p:cNvSpPr txBox="1">
            <a:spLocks noChangeArrowheads="1"/>
          </p:cNvSpPr>
          <p:nvPr/>
        </p:nvSpPr>
        <p:spPr bwMode="auto">
          <a:xfrm>
            <a:off x="4400072" y="2758519"/>
            <a:ext cx="2528256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(\1,450,540 + 1,535,640) / 2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23"/>
          <p:cNvSpPr txBox="1">
            <a:spLocks noChangeArrowheads="1"/>
          </p:cNvSpPr>
          <p:nvPr/>
        </p:nvSpPr>
        <p:spPr bwMode="auto">
          <a:xfrm>
            <a:off x="5219700" y="2363232"/>
            <a:ext cx="8890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\50,500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5" name="Straight Connector 3"/>
          <p:cNvCxnSpPr>
            <a:cxnSpLocks noChangeShapeType="1"/>
            <a:stCxn id="66" idx="3"/>
          </p:cNvCxnSpPr>
          <p:nvPr/>
        </p:nvCxnSpPr>
        <p:spPr bwMode="auto">
          <a:xfrm>
            <a:off x="4386262" y="2718832"/>
            <a:ext cx="2520950" cy="1587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25"/>
          <p:cNvSpPr txBox="1">
            <a:spLocks noChangeArrowheads="1"/>
          </p:cNvSpPr>
          <p:nvPr/>
        </p:nvSpPr>
        <p:spPr bwMode="auto">
          <a:xfrm>
            <a:off x="4071937" y="2564844"/>
            <a:ext cx="314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26"/>
          <p:cNvSpPr txBox="1">
            <a:spLocks noChangeArrowheads="1"/>
          </p:cNvSpPr>
          <p:nvPr/>
        </p:nvSpPr>
        <p:spPr bwMode="auto">
          <a:xfrm>
            <a:off x="6907212" y="2564844"/>
            <a:ext cx="1370888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0.034 (3.4%)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29"/>
          <p:cNvSpPr txBox="1">
            <a:spLocks noChangeArrowheads="1"/>
          </p:cNvSpPr>
          <p:nvPr/>
        </p:nvSpPr>
        <p:spPr bwMode="auto">
          <a:xfrm>
            <a:off x="3178175" y="4104719"/>
            <a:ext cx="18002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가중평균유통주식수</a:t>
            </a:r>
          </a:p>
        </p:txBody>
      </p:sp>
      <p:sp>
        <p:nvSpPr>
          <p:cNvPr id="69" name="TextBox 30"/>
          <p:cNvSpPr txBox="1">
            <a:spLocks noChangeArrowheads="1"/>
          </p:cNvSpPr>
          <p:nvPr/>
        </p:nvSpPr>
        <p:spPr bwMode="auto">
          <a:xfrm>
            <a:off x="2898775" y="3709432"/>
            <a:ext cx="2357437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당기순이익 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우선주배당금</a:t>
            </a:r>
          </a:p>
        </p:txBody>
      </p:sp>
      <p:cxnSp>
        <p:nvCxnSpPr>
          <p:cNvPr id="70" name="Straight Connector 3"/>
          <p:cNvCxnSpPr>
            <a:cxnSpLocks noChangeShapeType="1"/>
          </p:cNvCxnSpPr>
          <p:nvPr/>
        </p:nvCxnSpPr>
        <p:spPr bwMode="auto">
          <a:xfrm flipV="1">
            <a:off x="2838450" y="4066619"/>
            <a:ext cx="2500312" cy="0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" name="TextBox 32"/>
          <p:cNvSpPr txBox="1">
            <a:spLocks noChangeArrowheads="1"/>
          </p:cNvSpPr>
          <p:nvPr/>
        </p:nvSpPr>
        <p:spPr bwMode="auto">
          <a:xfrm>
            <a:off x="5872162" y="4104719"/>
            <a:ext cx="103505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170,000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</a:p>
        </p:txBody>
      </p:sp>
      <p:sp>
        <p:nvSpPr>
          <p:cNvPr id="72" name="TextBox 33"/>
          <p:cNvSpPr txBox="1">
            <a:spLocks noChangeArrowheads="1"/>
          </p:cNvSpPr>
          <p:nvPr/>
        </p:nvSpPr>
        <p:spPr bwMode="auto">
          <a:xfrm>
            <a:off x="5945187" y="3709432"/>
            <a:ext cx="8890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\50,500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Straight Connector 3"/>
          <p:cNvCxnSpPr>
            <a:cxnSpLocks noChangeShapeType="1"/>
          </p:cNvCxnSpPr>
          <p:nvPr/>
        </p:nvCxnSpPr>
        <p:spPr bwMode="auto">
          <a:xfrm>
            <a:off x="5838825" y="4066619"/>
            <a:ext cx="1071562" cy="0"/>
          </a:xfrm>
          <a:prstGeom prst="line">
            <a:avLst/>
          </a:prstGeom>
          <a:noFill/>
          <a:ln w="127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4" name="TextBox 35"/>
          <p:cNvSpPr txBox="1">
            <a:spLocks noChangeArrowheads="1"/>
          </p:cNvSpPr>
          <p:nvPr/>
        </p:nvSpPr>
        <p:spPr bwMode="auto">
          <a:xfrm>
            <a:off x="5453062" y="3911044"/>
            <a:ext cx="314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36"/>
          <p:cNvSpPr txBox="1">
            <a:spLocks noChangeArrowheads="1"/>
          </p:cNvSpPr>
          <p:nvPr/>
        </p:nvSpPr>
        <p:spPr bwMode="auto">
          <a:xfrm>
            <a:off x="6907212" y="3911044"/>
            <a:ext cx="9779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\0.297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948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3" grpId="0"/>
      <p:bldP spid="64" grpId="0"/>
      <p:bldP spid="66" grpId="0"/>
      <p:bldP spid="67" grpId="0"/>
      <p:bldP spid="68" grpId="0"/>
      <p:bldP spid="69" grpId="0"/>
      <p:bldP spid="71" grpId="0"/>
      <p:bldP spid="72" grpId="0"/>
      <p:bldP spid="74" grpId="0"/>
      <p:bldP spid="7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85078" y="1501310"/>
            <a:ext cx="8641369" cy="1070976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활동성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- </a:t>
            </a:r>
            <a:r>
              <a: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활동성</a:t>
            </a:r>
            <a:r>
              <a:rPr lang="ko-KR" altLang="en-US" sz="1600" dirty="0">
                <a:latin typeface="맑은 고딕" panose="020B0503020000020004" pitchFamily="50" charset="-127"/>
              </a:rPr>
              <a:t>이란 기업이 보유한 자산을 얼마나 효율적으로 사용하는지 나타냄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- </a:t>
            </a:r>
            <a:r>
              <a:rPr lang="ko-KR" altLang="en-US" sz="1600" dirty="0">
                <a:latin typeface="맑은 고딕" panose="020B0503020000020004" pitchFamily="50" charset="-127"/>
              </a:rPr>
              <a:t>활동성 비율에는 매출채권회전율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재고자산회전율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총자산회전율 등이 있음</a:t>
            </a: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endParaRPr lang="ko-KR" altLang="en-US" sz="1800" dirty="0">
              <a:latin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75843" y="3126264"/>
            <a:ext cx="8641369" cy="3504568"/>
            <a:chOff x="2626683" y="1693823"/>
            <a:chExt cx="11521825" cy="4672759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125622"/>
              <a:ext cx="11521825" cy="424096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매출채권회전율</a:t>
              </a:r>
              <a:r>
                <a:rPr lang="en-US" altLang="ko-KR" sz="14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(accounts receivable turnover)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매출채권이 현금화되는 속도를 나타내며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이를 통해 매출채권 관리가 효율적으로 이루어지는지 알 수 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회전율이 낮으면 신용판매 비중이 크다는 것 또는 매출채권 회수가 느리다는 것을 나타내며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과거수치 혹은 업계평균보다 낮을 경우 부실화 가능성을 의심할 수 있음 </a:t>
              </a:r>
              <a:endParaRPr lang="ko-KR" altLang="en-US" sz="20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매출채권회전율과 매출채권평균회수기간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15"/>
          <p:cNvSpPr txBox="1">
            <a:spLocks noChangeArrowheads="1"/>
          </p:cNvSpPr>
          <p:nvPr/>
        </p:nvSpPr>
        <p:spPr bwMode="auto">
          <a:xfrm>
            <a:off x="1264833" y="4515916"/>
            <a:ext cx="19127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매출채권회전율  </a:t>
            </a:r>
            <a:r>
              <a:rPr lang="en-US" altLang="ko-KR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 dirty="0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16"/>
          <p:cNvSpPr txBox="1">
            <a:spLocks noChangeArrowheads="1"/>
          </p:cNvSpPr>
          <p:nvPr/>
        </p:nvSpPr>
        <p:spPr bwMode="auto">
          <a:xfrm>
            <a:off x="3310465" y="4723878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평균매출채권</a:t>
            </a:r>
          </a:p>
        </p:txBody>
      </p:sp>
      <p:sp>
        <p:nvSpPr>
          <p:cNvPr id="26" name="TextBox 17"/>
          <p:cNvSpPr txBox="1">
            <a:spLocks noChangeArrowheads="1"/>
          </p:cNvSpPr>
          <p:nvPr/>
        </p:nvSpPr>
        <p:spPr bwMode="auto">
          <a:xfrm>
            <a:off x="3618242" y="4328591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매출액</a:t>
            </a:r>
          </a:p>
        </p:txBody>
      </p:sp>
      <p:cxnSp>
        <p:nvCxnSpPr>
          <p:cNvPr id="27" name="Straight Connector 3"/>
          <p:cNvCxnSpPr>
            <a:cxnSpLocks noChangeShapeType="1"/>
          </p:cNvCxnSpPr>
          <p:nvPr/>
        </p:nvCxnSpPr>
        <p:spPr bwMode="auto">
          <a:xfrm>
            <a:off x="3213488" y="4685778"/>
            <a:ext cx="1576388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36589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5843" y="1530890"/>
            <a:ext cx="8641369" cy="3411223"/>
            <a:chOff x="2626683" y="1706322"/>
            <a:chExt cx="11521825" cy="5360330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360711"/>
              <a:ext cx="11521825" cy="470594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 latinLnBrk="0">
                <a:lnSpc>
                  <a:spcPts val="2400"/>
                </a:lnSpc>
                <a:spcBef>
                  <a:spcPts val="120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매출채권평균회수기간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매출채권회전율의 역수의 개념으로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수치가 낮을수록 바람직하다고 할 수 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매출채권회전율과 매출채권평균회수기간은 산업적 특성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기업의 신용정책에 영향을 받는다는 것에 유의해야 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908882" y="1706322"/>
              <a:ext cx="8613994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매출채권회전율과 매출채권평균회수기간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296455" y="2963244"/>
            <a:ext cx="25282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매출채권평균회수기간  </a:t>
            </a:r>
            <a:r>
              <a:rPr lang="en-US" altLang="ko-KR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 dirty="0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877020" y="3171206"/>
            <a:ext cx="16209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매출채권회전율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315433" y="2775919"/>
            <a:ext cx="7457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365</a:t>
            </a: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cxnSp>
        <p:nvCxnSpPr>
          <p:cNvPr id="12" name="Straight Connector 3"/>
          <p:cNvCxnSpPr>
            <a:cxnSpLocks noChangeShapeType="1"/>
          </p:cNvCxnSpPr>
          <p:nvPr/>
        </p:nvCxnSpPr>
        <p:spPr bwMode="auto">
          <a:xfrm>
            <a:off x="3877534" y="3139966"/>
            <a:ext cx="1576388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91500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6012" y="1522936"/>
            <a:ext cx="8641369" cy="5107898"/>
            <a:chOff x="2626908" y="1693823"/>
            <a:chExt cx="11521825" cy="6810534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908" y="2328749"/>
              <a:ext cx="11521825" cy="617560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재고자산회전율</a:t>
              </a:r>
              <a:r>
                <a:rPr lang="en-US" altLang="ko-KR" sz="14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(inventory turnover)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재고자산이 판매되는 속도를 나타내며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이를 통해 재고자산의 관리가 효율적으로 이루어지는지 알 수 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864000" lvl="1" indent="-180000" latinLnBrk="0">
                <a:lnSpc>
                  <a:spcPts val="2400"/>
                </a:lnSpc>
                <a:spcBef>
                  <a:spcPct val="0"/>
                </a:spcBef>
                <a:buClrTx/>
                <a:buFontTx/>
                <a:buChar char="-"/>
              </a:pPr>
              <a:r>
                <a:rPr lang="ko-KR" altLang="en-US" sz="1400" dirty="0">
                  <a:latin typeface="맑은 고딕" panose="020B0503020000020004" pitchFamily="50" charset="-127"/>
                </a:rPr>
                <a:t>회전율이 낮으면 판매부진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재고자산의 진부화 가능성을 의심할 수 있음 </a:t>
              </a: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재고자산평균회전기간</a:t>
              </a:r>
              <a:r>
                <a:rPr lang="en-US" altLang="ko-KR" sz="14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(average turnover period</a:t>
              </a:r>
              <a:r>
                <a:rPr lang="en-US" altLang="ko-KR" sz="1400" dirty="0">
                  <a:solidFill>
                    <a:srgbClr val="FF0000"/>
                  </a:solidFill>
                  <a:latin typeface="맑은 고딕" panose="020B0503020000020004" pitchFamily="50" charset="-127"/>
                </a:rPr>
                <a:t>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재고자산회전율의 역수의 개념으로 수치가 낮을수록 바람직하다고 할 수 있음</a:t>
              </a: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재고자산회전율과 회전기간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TextBox 15"/>
          <p:cNvSpPr txBox="1">
            <a:spLocks noChangeArrowheads="1"/>
          </p:cNvSpPr>
          <p:nvPr/>
        </p:nvSpPr>
        <p:spPr bwMode="auto">
          <a:xfrm>
            <a:off x="1360605" y="3039449"/>
            <a:ext cx="19127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재고자산회전율  </a:t>
            </a:r>
            <a:r>
              <a:rPr lang="en-US" altLang="ko-KR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16"/>
          <p:cNvSpPr txBox="1">
            <a:spLocks noChangeArrowheads="1"/>
          </p:cNvSpPr>
          <p:nvPr/>
        </p:nvSpPr>
        <p:spPr bwMode="auto">
          <a:xfrm>
            <a:off x="3406914" y="3247412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평균재고자산</a:t>
            </a:r>
          </a:p>
        </p:txBody>
      </p:sp>
      <p:sp>
        <p:nvSpPr>
          <p:cNvPr id="23" name="TextBox 17"/>
          <p:cNvSpPr txBox="1">
            <a:spLocks noChangeArrowheads="1"/>
          </p:cNvSpPr>
          <p:nvPr/>
        </p:nvSpPr>
        <p:spPr bwMode="auto">
          <a:xfrm>
            <a:off x="3612099" y="2852124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매출원가</a:t>
            </a:r>
          </a:p>
        </p:txBody>
      </p:sp>
      <p:sp>
        <p:nvSpPr>
          <p:cNvPr id="30" name="TextBox 15"/>
          <p:cNvSpPr txBox="1">
            <a:spLocks noChangeArrowheads="1"/>
          </p:cNvSpPr>
          <p:nvPr/>
        </p:nvSpPr>
        <p:spPr bwMode="auto">
          <a:xfrm>
            <a:off x="1287779" y="5317606"/>
            <a:ext cx="25282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재고자산평균회전기간  </a:t>
            </a:r>
            <a:r>
              <a:rPr lang="en-US" altLang="ko-KR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 dirty="0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16"/>
          <p:cNvSpPr txBox="1">
            <a:spLocks noChangeArrowheads="1"/>
          </p:cNvSpPr>
          <p:nvPr/>
        </p:nvSpPr>
        <p:spPr bwMode="auto">
          <a:xfrm>
            <a:off x="3868344" y="5525569"/>
            <a:ext cx="16209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재고자산회전율</a:t>
            </a:r>
          </a:p>
        </p:txBody>
      </p:sp>
      <p:sp>
        <p:nvSpPr>
          <p:cNvPr id="32" name="TextBox 17"/>
          <p:cNvSpPr txBox="1">
            <a:spLocks noChangeArrowheads="1"/>
          </p:cNvSpPr>
          <p:nvPr/>
        </p:nvSpPr>
        <p:spPr bwMode="auto">
          <a:xfrm>
            <a:off x="4306757" y="5130281"/>
            <a:ext cx="7457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365</a:t>
            </a: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cxnSp>
        <p:nvCxnSpPr>
          <p:cNvPr id="15" name="Straight Connector 3"/>
          <p:cNvCxnSpPr>
            <a:cxnSpLocks noChangeShapeType="1"/>
          </p:cNvCxnSpPr>
          <p:nvPr/>
        </p:nvCxnSpPr>
        <p:spPr bwMode="auto">
          <a:xfrm>
            <a:off x="3344120" y="3216168"/>
            <a:ext cx="1576388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Connector 3"/>
          <p:cNvCxnSpPr>
            <a:cxnSpLocks noChangeShapeType="1"/>
          </p:cNvCxnSpPr>
          <p:nvPr/>
        </p:nvCxnSpPr>
        <p:spPr bwMode="auto">
          <a:xfrm>
            <a:off x="3891818" y="5497793"/>
            <a:ext cx="1576388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914878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5843" y="1522936"/>
            <a:ext cx="8641369" cy="3211902"/>
            <a:chOff x="2626683" y="1693823"/>
            <a:chExt cx="11521825" cy="4282538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293553"/>
              <a:ext cx="11521825" cy="368280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총자산회전율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수익을 창출하는 데 자산이 얼마나 효율적으로 사용되는지 나타냄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회전율이 높을수록 자산이 효율적으로 사용되고 있으며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바람직하다고 판단할 수 있음</a:t>
              </a:r>
              <a:endParaRPr lang="ko-KR" altLang="en-US" sz="20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총자산회전율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(asset turnover)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1501297" y="2840951"/>
            <a:ext cx="17075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총자산회전율  </a:t>
            </a:r>
            <a:r>
              <a:rPr lang="en-US" altLang="ko-KR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3437618" y="3048913"/>
            <a:ext cx="12105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평균총자산</a:t>
            </a: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3642803" y="2653626"/>
            <a:ext cx="8002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매출액</a:t>
            </a:r>
          </a:p>
        </p:txBody>
      </p:sp>
      <p:cxnSp>
        <p:nvCxnSpPr>
          <p:cNvPr id="12" name="Straight Connector 3"/>
          <p:cNvCxnSpPr>
            <a:cxnSpLocks noChangeShapeType="1"/>
          </p:cNvCxnSpPr>
          <p:nvPr/>
        </p:nvCxnSpPr>
        <p:spPr bwMode="auto">
          <a:xfrm>
            <a:off x="3387664" y="3009334"/>
            <a:ext cx="1282314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059198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4997817"/>
            <a:chOff x="190714" y="1320882"/>
            <a:chExt cx="8711460" cy="555364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413032"/>
              <a:chOff x="269047" y="1722741"/>
              <a:chExt cx="8648776" cy="541303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53893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12-2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비율분석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활동성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84165" y="1824667"/>
            <a:ext cx="7746887" cy="156168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주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덕송의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재무상태표와</a:t>
            </a:r>
            <a:r>
              <a:rPr lang="ko-KR" altLang="en-US" sz="1600" b="1" dirty="0">
                <a:latin typeface="맑은 고딕" panose="020B0503020000020004" pitchFamily="50" charset="-127"/>
              </a:rPr>
              <a:t> 포괄손익계산서를 이용해서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20×2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년의 </a:t>
            </a:r>
            <a:r>
              <a:rPr lang="en-US" altLang="ko-KR" sz="1600" b="1" dirty="0">
                <a:latin typeface="맑은 고딕" panose="020B0503020000020004" pitchFamily="50" charset="-127"/>
              </a:rPr>
              <a:t>(1)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매출채권회전율</a:t>
            </a:r>
            <a:r>
              <a:rPr lang="en-US" altLang="ko-KR" sz="1600" b="1" dirty="0">
                <a:latin typeface="맑은 고딕" panose="020B0503020000020004" pitchFamily="50" charset="-127"/>
              </a:rPr>
              <a:t>, (2)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매출채권 평균회수기간</a:t>
            </a:r>
            <a:r>
              <a:rPr lang="en-US" altLang="ko-KR" sz="1600" b="1" dirty="0">
                <a:latin typeface="맑은 고딕" panose="020B0503020000020004" pitchFamily="50" charset="-127"/>
              </a:rPr>
              <a:t>, (3)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재고자산회전율</a:t>
            </a:r>
            <a:r>
              <a:rPr lang="en-US" altLang="ko-KR" sz="1600" b="1" dirty="0">
                <a:latin typeface="맑은 고딕" panose="020B0503020000020004" pitchFamily="50" charset="-127"/>
              </a:rPr>
              <a:t>, (4)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재고자산 평균회전기간</a:t>
            </a:r>
            <a:r>
              <a:rPr lang="en-US" altLang="ko-KR" sz="1600" b="1" dirty="0">
                <a:latin typeface="맑은 고딕" panose="020B0503020000020004" pitchFamily="50" charset="-127"/>
              </a:rPr>
              <a:t>, (5)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총자산회전율을 계산하면 다음과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684213" y="3214688"/>
            <a:ext cx="7775575" cy="12858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매출채권회전율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684213" y="4643438"/>
            <a:ext cx="7775575" cy="12842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매출채권평균회수기간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19"/>
          <p:cNvSpPr txBox="1">
            <a:spLocks noChangeArrowheads="1"/>
          </p:cNvSpPr>
          <p:nvPr/>
        </p:nvSpPr>
        <p:spPr bwMode="auto">
          <a:xfrm>
            <a:off x="2719388" y="3978275"/>
            <a:ext cx="12509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평균매출채권</a:t>
            </a:r>
          </a:p>
        </p:txBody>
      </p:sp>
      <p:sp>
        <p:nvSpPr>
          <p:cNvPr id="42" name="TextBox 20"/>
          <p:cNvSpPr txBox="1">
            <a:spLocks noChangeArrowheads="1"/>
          </p:cNvSpPr>
          <p:nvPr/>
        </p:nvSpPr>
        <p:spPr bwMode="auto">
          <a:xfrm>
            <a:off x="2986088" y="3582988"/>
            <a:ext cx="7175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매출액</a:t>
            </a:r>
          </a:p>
        </p:txBody>
      </p:sp>
      <p:cxnSp>
        <p:nvCxnSpPr>
          <p:cNvPr id="43" name="Straight Connector 3"/>
          <p:cNvCxnSpPr>
            <a:cxnSpLocks noChangeShapeType="1"/>
          </p:cNvCxnSpPr>
          <p:nvPr/>
        </p:nvCxnSpPr>
        <p:spPr bwMode="auto">
          <a:xfrm>
            <a:off x="2667000" y="3940175"/>
            <a:ext cx="133350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22"/>
          <p:cNvSpPr txBox="1">
            <a:spLocks noChangeArrowheads="1"/>
          </p:cNvSpPr>
          <p:nvPr/>
        </p:nvSpPr>
        <p:spPr bwMode="auto">
          <a:xfrm>
            <a:off x="4491038" y="3978275"/>
            <a:ext cx="2232025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(\110,800 + 91,600) / 2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>
            <a:off x="5119688" y="3582988"/>
            <a:ext cx="985837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\390,000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" name="Straight Connector 3"/>
          <p:cNvCxnSpPr>
            <a:cxnSpLocks noChangeShapeType="1"/>
            <a:stCxn id="47" idx="3"/>
          </p:cNvCxnSpPr>
          <p:nvPr/>
        </p:nvCxnSpPr>
        <p:spPr bwMode="auto">
          <a:xfrm>
            <a:off x="4333875" y="3938588"/>
            <a:ext cx="2520950" cy="1587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25"/>
          <p:cNvSpPr txBox="1">
            <a:spLocks noChangeArrowheads="1"/>
          </p:cNvSpPr>
          <p:nvPr/>
        </p:nvSpPr>
        <p:spPr bwMode="auto">
          <a:xfrm>
            <a:off x="4019550" y="3784600"/>
            <a:ext cx="314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26"/>
          <p:cNvSpPr txBox="1">
            <a:spLocks noChangeArrowheads="1"/>
          </p:cNvSpPr>
          <p:nvPr/>
        </p:nvSpPr>
        <p:spPr bwMode="auto">
          <a:xfrm>
            <a:off x="6854825" y="3784600"/>
            <a:ext cx="908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3.85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49" name="TextBox 29"/>
          <p:cNvSpPr txBox="1">
            <a:spLocks noChangeArrowheads="1"/>
          </p:cNvSpPr>
          <p:nvPr/>
        </p:nvSpPr>
        <p:spPr bwMode="auto">
          <a:xfrm>
            <a:off x="3321716" y="5337175"/>
            <a:ext cx="1428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매출채권회전율</a:t>
            </a:r>
          </a:p>
        </p:txBody>
      </p:sp>
      <p:sp>
        <p:nvSpPr>
          <p:cNvPr id="50" name="TextBox 30"/>
          <p:cNvSpPr txBox="1">
            <a:spLocks noChangeArrowheads="1"/>
          </p:cNvSpPr>
          <p:nvPr/>
        </p:nvSpPr>
        <p:spPr bwMode="auto">
          <a:xfrm>
            <a:off x="3699541" y="4941888"/>
            <a:ext cx="671512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365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cxnSp>
        <p:nvCxnSpPr>
          <p:cNvPr id="51" name="Straight Connector 3"/>
          <p:cNvCxnSpPr>
            <a:cxnSpLocks noChangeShapeType="1"/>
          </p:cNvCxnSpPr>
          <p:nvPr/>
        </p:nvCxnSpPr>
        <p:spPr bwMode="auto">
          <a:xfrm flipV="1">
            <a:off x="3293141" y="5299075"/>
            <a:ext cx="150495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Box 32"/>
          <p:cNvSpPr txBox="1">
            <a:spLocks noChangeArrowheads="1"/>
          </p:cNvSpPr>
          <p:nvPr/>
        </p:nvSpPr>
        <p:spPr bwMode="auto">
          <a:xfrm>
            <a:off x="5502941" y="5337175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3.85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33"/>
          <p:cNvSpPr txBox="1">
            <a:spLocks noChangeArrowheads="1"/>
          </p:cNvSpPr>
          <p:nvPr/>
        </p:nvSpPr>
        <p:spPr bwMode="auto">
          <a:xfrm>
            <a:off x="5525166" y="4941888"/>
            <a:ext cx="493712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365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4" name="Straight Connector 3"/>
          <p:cNvCxnSpPr>
            <a:cxnSpLocks noChangeShapeType="1"/>
          </p:cNvCxnSpPr>
          <p:nvPr/>
        </p:nvCxnSpPr>
        <p:spPr bwMode="auto">
          <a:xfrm>
            <a:off x="5220366" y="5299075"/>
            <a:ext cx="1071562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Box 35"/>
          <p:cNvSpPr txBox="1">
            <a:spLocks noChangeArrowheads="1"/>
          </p:cNvSpPr>
          <p:nvPr/>
        </p:nvSpPr>
        <p:spPr bwMode="auto">
          <a:xfrm>
            <a:off x="4834603" y="5143500"/>
            <a:ext cx="3127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36"/>
          <p:cNvSpPr txBox="1">
            <a:spLocks noChangeArrowheads="1"/>
          </p:cNvSpPr>
          <p:nvPr/>
        </p:nvSpPr>
        <p:spPr bwMode="auto">
          <a:xfrm>
            <a:off x="6288753" y="5143500"/>
            <a:ext cx="908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94.8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37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633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2" grpId="0"/>
      <p:bldP spid="44" grpId="0"/>
      <p:bldP spid="45" grpId="0"/>
      <p:bldP spid="47" grpId="0"/>
      <p:bldP spid="48" grpId="0"/>
      <p:bldP spid="49" grpId="0"/>
      <p:bldP spid="50" grpId="0"/>
      <p:bldP spid="52" grpId="0"/>
      <p:bldP spid="53" grpId="0"/>
      <p:bldP spid="55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4997817"/>
            <a:chOff x="190714" y="1320882"/>
            <a:chExt cx="8711460" cy="555364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413032"/>
              <a:chOff x="269047" y="1722741"/>
              <a:chExt cx="8648776" cy="541303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53893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12-2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비율분석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활동성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57" name="Rectangle 12"/>
          <p:cNvSpPr>
            <a:spLocks noChangeArrowheads="1"/>
          </p:cNvSpPr>
          <p:nvPr/>
        </p:nvSpPr>
        <p:spPr bwMode="auto">
          <a:xfrm>
            <a:off x="684213" y="1989138"/>
            <a:ext cx="7775575" cy="12858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(3)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재고자산회전율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Rectangle 12"/>
          <p:cNvSpPr>
            <a:spLocks noChangeArrowheads="1"/>
          </p:cNvSpPr>
          <p:nvPr/>
        </p:nvSpPr>
        <p:spPr bwMode="auto">
          <a:xfrm>
            <a:off x="684213" y="3417888"/>
            <a:ext cx="7775575" cy="12842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(4)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재고자산평균회전기간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19"/>
          <p:cNvSpPr txBox="1">
            <a:spLocks noChangeArrowheads="1"/>
          </p:cNvSpPr>
          <p:nvPr/>
        </p:nvSpPr>
        <p:spPr bwMode="auto">
          <a:xfrm>
            <a:off x="2719388" y="2752725"/>
            <a:ext cx="12509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평균재고자산</a:t>
            </a:r>
          </a:p>
        </p:txBody>
      </p:sp>
      <p:sp>
        <p:nvSpPr>
          <p:cNvPr id="60" name="TextBox 20"/>
          <p:cNvSpPr txBox="1">
            <a:spLocks noChangeArrowheads="1"/>
          </p:cNvSpPr>
          <p:nvPr/>
        </p:nvSpPr>
        <p:spPr bwMode="auto">
          <a:xfrm>
            <a:off x="2897188" y="2357438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매출원가</a:t>
            </a:r>
          </a:p>
        </p:txBody>
      </p:sp>
      <p:cxnSp>
        <p:nvCxnSpPr>
          <p:cNvPr id="61" name="Straight Connector 3"/>
          <p:cNvCxnSpPr>
            <a:cxnSpLocks noChangeShapeType="1"/>
          </p:cNvCxnSpPr>
          <p:nvPr/>
        </p:nvCxnSpPr>
        <p:spPr bwMode="auto">
          <a:xfrm>
            <a:off x="2667000" y="2714625"/>
            <a:ext cx="133350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TextBox 22"/>
          <p:cNvSpPr txBox="1">
            <a:spLocks noChangeArrowheads="1"/>
          </p:cNvSpPr>
          <p:nvPr/>
        </p:nvSpPr>
        <p:spPr bwMode="auto">
          <a:xfrm>
            <a:off x="4440238" y="2752725"/>
            <a:ext cx="2335212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(\132,500 + 135,230) / 2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Box 23"/>
          <p:cNvSpPr txBox="1">
            <a:spLocks noChangeArrowheads="1"/>
          </p:cNvSpPr>
          <p:nvPr/>
        </p:nvSpPr>
        <p:spPr bwMode="auto">
          <a:xfrm>
            <a:off x="5121275" y="2357438"/>
            <a:ext cx="9858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\245,000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4" name="Straight Connector 3"/>
          <p:cNvCxnSpPr>
            <a:cxnSpLocks noChangeShapeType="1"/>
            <a:stCxn id="65" idx="3"/>
          </p:cNvCxnSpPr>
          <p:nvPr/>
        </p:nvCxnSpPr>
        <p:spPr bwMode="auto">
          <a:xfrm>
            <a:off x="4332288" y="2711450"/>
            <a:ext cx="2520950" cy="1588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Box 25"/>
          <p:cNvSpPr txBox="1">
            <a:spLocks noChangeArrowheads="1"/>
          </p:cNvSpPr>
          <p:nvPr/>
        </p:nvSpPr>
        <p:spPr bwMode="auto">
          <a:xfrm>
            <a:off x="4019550" y="2559050"/>
            <a:ext cx="3127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TextBox 26"/>
          <p:cNvSpPr txBox="1">
            <a:spLocks noChangeArrowheads="1"/>
          </p:cNvSpPr>
          <p:nvPr/>
        </p:nvSpPr>
        <p:spPr bwMode="auto">
          <a:xfrm>
            <a:off x="6854825" y="2559050"/>
            <a:ext cx="908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1.83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67" name="TextBox 29"/>
          <p:cNvSpPr txBox="1">
            <a:spLocks noChangeArrowheads="1"/>
          </p:cNvSpPr>
          <p:nvPr/>
        </p:nvSpPr>
        <p:spPr bwMode="auto">
          <a:xfrm>
            <a:off x="3278172" y="4111625"/>
            <a:ext cx="1428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재고자산회전율</a:t>
            </a:r>
          </a:p>
        </p:txBody>
      </p:sp>
      <p:sp>
        <p:nvSpPr>
          <p:cNvPr id="68" name="TextBox 30"/>
          <p:cNvSpPr txBox="1">
            <a:spLocks noChangeArrowheads="1"/>
          </p:cNvSpPr>
          <p:nvPr/>
        </p:nvSpPr>
        <p:spPr bwMode="auto">
          <a:xfrm>
            <a:off x="3655997" y="3716338"/>
            <a:ext cx="671512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365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cxnSp>
        <p:nvCxnSpPr>
          <p:cNvPr id="69" name="Straight Connector 3"/>
          <p:cNvCxnSpPr>
            <a:cxnSpLocks noChangeShapeType="1"/>
          </p:cNvCxnSpPr>
          <p:nvPr/>
        </p:nvCxnSpPr>
        <p:spPr bwMode="auto">
          <a:xfrm flipV="1">
            <a:off x="3249597" y="4073525"/>
            <a:ext cx="150495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TextBox 32"/>
          <p:cNvSpPr txBox="1">
            <a:spLocks noChangeArrowheads="1"/>
          </p:cNvSpPr>
          <p:nvPr/>
        </p:nvSpPr>
        <p:spPr bwMode="auto">
          <a:xfrm>
            <a:off x="5460984" y="4111625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1.83</a:t>
            </a:r>
          </a:p>
        </p:txBody>
      </p:sp>
      <p:sp>
        <p:nvSpPr>
          <p:cNvPr id="71" name="TextBox 33"/>
          <p:cNvSpPr txBox="1">
            <a:spLocks noChangeArrowheads="1"/>
          </p:cNvSpPr>
          <p:nvPr/>
        </p:nvSpPr>
        <p:spPr bwMode="auto">
          <a:xfrm>
            <a:off x="5481622" y="3716338"/>
            <a:ext cx="493712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365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2" name="Straight Connector 3"/>
          <p:cNvCxnSpPr>
            <a:cxnSpLocks noChangeShapeType="1"/>
          </p:cNvCxnSpPr>
          <p:nvPr/>
        </p:nvCxnSpPr>
        <p:spPr bwMode="auto">
          <a:xfrm>
            <a:off x="5176822" y="4073525"/>
            <a:ext cx="1071562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TextBox 35"/>
          <p:cNvSpPr txBox="1">
            <a:spLocks noChangeArrowheads="1"/>
          </p:cNvSpPr>
          <p:nvPr/>
        </p:nvSpPr>
        <p:spPr bwMode="auto">
          <a:xfrm>
            <a:off x="4791059" y="3917950"/>
            <a:ext cx="3127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4" name="TextBox 36"/>
          <p:cNvSpPr txBox="1">
            <a:spLocks noChangeArrowheads="1"/>
          </p:cNvSpPr>
          <p:nvPr/>
        </p:nvSpPr>
        <p:spPr bwMode="auto">
          <a:xfrm>
            <a:off x="6245209" y="3917950"/>
            <a:ext cx="1114425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199.45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</a:p>
        </p:txBody>
      </p:sp>
      <p:sp>
        <p:nvSpPr>
          <p:cNvPr id="75" name="Rectangle 12"/>
          <p:cNvSpPr>
            <a:spLocks noChangeArrowheads="1"/>
          </p:cNvSpPr>
          <p:nvPr/>
        </p:nvSpPr>
        <p:spPr bwMode="auto">
          <a:xfrm>
            <a:off x="684213" y="4826000"/>
            <a:ext cx="7775575" cy="128428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(5)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총자산회전율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TextBox 29"/>
          <p:cNvSpPr txBox="1">
            <a:spLocks noChangeArrowheads="1"/>
          </p:cNvSpPr>
          <p:nvPr/>
        </p:nvSpPr>
        <p:spPr bwMode="auto">
          <a:xfrm>
            <a:off x="2700338" y="5519738"/>
            <a:ext cx="10731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평균총자산</a:t>
            </a:r>
          </a:p>
        </p:txBody>
      </p:sp>
      <p:sp>
        <p:nvSpPr>
          <p:cNvPr id="77" name="TextBox 30"/>
          <p:cNvSpPr txBox="1">
            <a:spLocks noChangeArrowheads="1"/>
          </p:cNvSpPr>
          <p:nvPr/>
        </p:nvSpPr>
        <p:spPr bwMode="auto">
          <a:xfrm>
            <a:off x="2876550" y="5124450"/>
            <a:ext cx="7175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매출액</a:t>
            </a:r>
          </a:p>
        </p:txBody>
      </p:sp>
      <p:cxnSp>
        <p:nvCxnSpPr>
          <p:cNvPr id="78" name="Straight Connector 3"/>
          <p:cNvCxnSpPr>
            <a:cxnSpLocks noChangeShapeType="1"/>
          </p:cNvCxnSpPr>
          <p:nvPr/>
        </p:nvCxnSpPr>
        <p:spPr bwMode="auto">
          <a:xfrm flipV="1">
            <a:off x="2757488" y="5481638"/>
            <a:ext cx="97790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" name="TextBox 32"/>
          <p:cNvSpPr txBox="1">
            <a:spLocks noChangeArrowheads="1"/>
          </p:cNvSpPr>
          <p:nvPr/>
        </p:nvSpPr>
        <p:spPr bwMode="auto">
          <a:xfrm>
            <a:off x="4302441" y="5519738"/>
            <a:ext cx="2528256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(\1,998,160 + 1,920,740) / 2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33"/>
          <p:cNvSpPr txBox="1">
            <a:spLocks noChangeArrowheads="1"/>
          </p:cNvSpPr>
          <p:nvPr/>
        </p:nvSpPr>
        <p:spPr bwMode="auto">
          <a:xfrm>
            <a:off x="5073650" y="5124450"/>
            <a:ext cx="9858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\390,000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1" name="Straight Connector 3"/>
          <p:cNvCxnSpPr>
            <a:cxnSpLocks noChangeShapeType="1"/>
          </p:cNvCxnSpPr>
          <p:nvPr/>
        </p:nvCxnSpPr>
        <p:spPr bwMode="auto">
          <a:xfrm>
            <a:off x="4284663" y="5481638"/>
            <a:ext cx="2573337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" name="TextBox 35"/>
          <p:cNvSpPr txBox="1">
            <a:spLocks noChangeArrowheads="1"/>
          </p:cNvSpPr>
          <p:nvPr/>
        </p:nvSpPr>
        <p:spPr bwMode="auto">
          <a:xfrm>
            <a:off x="3924300" y="5326063"/>
            <a:ext cx="3127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36"/>
          <p:cNvSpPr txBox="1">
            <a:spLocks noChangeArrowheads="1"/>
          </p:cNvSpPr>
          <p:nvPr/>
        </p:nvSpPr>
        <p:spPr bwMode="auto">
          <a:xfrm>
            <a:off x="6854825" y="5326063"/>
            <a:ext cx="908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0.20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회</a:t>
            </a:r>
          </a:p>
        </p:txBody>
      </p:sp>
      <p:sp>
        <p:nvSpPr>
          <p:cNvPr id="4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85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2" grpId="0"/>
      <p:bldP spid="63" grpId="0"/>
      <p:bldP spid="65" grpId="0"/>
      <p:bldP spid="66" grpId="0"/>
      <p:bldP spid="67" grpId="0"/>
      <p:bldP spid="68" grpId="0"/>
      <p:bldP spid="70" grpId="0"/>
      <p:bldP spid="71" grpId="0"/>
      <p:bldP spid="73" grpId="0"/>
      <p:bldP spid="74" grpId="0"/>
      <p:bldP spid="76" grpId="0"/>
      <p:bldP spid="77" grpId="0"/>
      <p:bldP spid="79" grpId="0"/>
      <p:bldP spid="80" grpId="0"/>
      <p:bldP spid="82" grpId="0"/>
      <p:bldP spid="8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85078" y="1501310"/>
            <a:ext cx="8641369" cy="161454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유동성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612000" lvl="1" indent="-21600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en-US" altLang="ko-KR" sz="1050" dirty="0">
                <a:solidFill>
                  <a:srgbClr val="C00000"/>
                </a:solidFill>
                <a:latin typeface="맑은 고딕" panose="020B0503020000020004" pitchFamily="50" charset="-127"/>
              </a:rPr>
              <a:t>-  </a:t>
            </a:r>
            <a:r>
              <a: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유동성</a:t>
            </a:r>
            <a:r>
              <a:rPr lang="en-US" altLang="ko-KR" sz="1400" dirty="0">
                <a:latin typeface="맑은 고딕" panose="020B0503020000020004" pitchFamily="50" charset="-127"/>
              </a:rPr>
              <a:t>(liquidity)</a:t>
            </a:r>
            <a:r>
              <a:rPr lang="ko-KR" altLang="en-US" sz="1600" dirty="0">
                <a:latin typeface="맑은 고딕" panose="020B0503020000020004" pitchFamily="50" charset="-127"/>
              </a:rPr>
              <a:t>이란 자산을 현금화할 수 있는 정도를 의미함</a:t>
            </a:r>
          </a:p>
          <a:p>
            <a:pPr marL="540000" lvl="1" indent="-14400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en-US" altLang="ko-KR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600" dirty="0">
                <a:solidFill>
                  <a:srgbClr val="C00000"/>
                </a:solidFill>
                <a:latin typeface="맑은 고딕" panose="020B0503020000020004" pitchFamily="50" charset="-127"/>
              </a:rPr>
              <a:t>유동성비율</a:t>
            </a:r>
            <a:r>
              <a:rPr lang="en-US" altLang="ko-KR" sz="1400" dirty="0">
                <a:latin typeface="맑은 고딕" panose="020B0503020000020004" pitchFamily="50" charset="-127"/>
              </a:rPr>
              <a:t>(liquidity ratio)</a:t>
            </a:r>
            <a:r>
              <a:rPr lang="ko-KR" altLang="en-US" sz="1600" dirty="0">
                <a:latin typeface="맑은 고딕" panose="020B0503020000020004" pitchFamily="50" charset="-127"/>
              </a:rPr>
              <a:t>은 기업이 자산을 현금화함으로써 만기 </a:t>
            </a:r>
            <a:r>
              <a:rPr lang="en-US" altLang="ko-KR" sz="1600" dirty="0">
                <a:latin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</a:rPr>
              <a:t>년 이내의 단기채무를 상환할 능력이 있는지 측정하는 지표임</a:t>
            </a:r>
          </a:p>
          <a:p>
            <a:pPr marL="612000" lvl="1" indent="-21600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dirty="0">
              <a:latin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75843" y="3445173"/>
            <a:ext cx="8641369" cy="2964046"/>
            <a:chOff x="2626683" y="1693823"/>
            <a:chExt cx="11521825" cy="3952064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175726"/>
              <a:ext cx="11521825" cy="3470161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유동비율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(current ratio)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 단기채무인 유동부채에 비해 유동자산이 얼마나 있는지를 나타내는 비율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유동비율이 높다면 단기채무상환능력이 양호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유동비율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283558" y="5172229"/>
            <a:ext cx="1297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유동비율  </a:t>
            </a:r>
            <a:r>
              <a:rPr lang="en-US" altLang="ko-KR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 dirty="0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813712" y="5356690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유동부채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813712" y="4961403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유동자산</a:t>
            </a:r>
          </a:p>
        </p:txBody>
      </p:sp>
      <p:cxnSp>
        <p:nvCxnSpPr>
          <p:cNvPr id="12" name="Straight Connector 3"/>
          <p:cNvCxnSpPr>
            <a:cxnSpLocks noChangeShapeType="1"/>
          </p:cNvCxnSpPr>
          <p:nvPr/>
        </p:nvCxnSpPr>
        <p:spPr bwMode="auto">
          <a:xfrm>
            <a:off x="3700106" y="5334918"/>
            <a:ext cx="1119009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73479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6012" y="1403435"/>
            <a:ext cx="8641369" cy="3906828"/>
            <a:chOff x="2626908" y="1693823"/>
            <a:chExt cx="11521825" cy="5847483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908" y="2355826"/>
              <a:ext cx="11521825" cy="5185480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당좌비율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(quick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ratio)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 유동자산에서 재고자산을 제외한 당좌자산을 유동부채로 나눈 것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유동비율이 높더라도 재고자산 비중이 클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당좌비율이 낮을 수 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유동비율과 당좌비율이 너무 높다면 이는 현금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매출채권 등을 너무 많이 보유하고 있다고 할 수 있음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(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비효율적인 경영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)</a:t>
              </a: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당좌비율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5"/>
          <p:cNvSpPr txBox="1">
            <a:spLocks noChangeArrowheads="1"/>
          </p:cNvSpPr>
          <p:nvPr/>
        </p:nvSpPr>
        <p:spPr bwMode="auto">
          <a:xfrm>
            <a:off x="1549319" y="2800191"/>
            <a:ext cx="1297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당좌비율  </a:t>
            </a:r>
            <a:r>
              <a:rPr lang="en-US" altLang="ko-KR" sz="16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 dirty="0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16"/>
          <p:cNvSpPr txBox="1">
            <a:spLocks noChangeArrowheads="1"/>
          </p:cNvSpPr>
          <p:nvPr/>
        </p:nvSpPr>
        <p:spPr bwMode="auto">
          <a:xfrm>
            <a:off x="3485099" y="3008154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유동부채</a:t>
            </a:r>
          </a:p>
        </p:txBody>
      </p:sp>
      <p:sp>
        <p:nvSpPr>
          <p:cNvPr id="22" name="TextBox 17"/>
          <p:cNvSpPr txBox="1">
            <a:spLocks noChangeArrowheads="1"/>
          </p:cNvSpPr>
          <p:nvPr/>
        </p:nvSpPr>
        <p:spPr bwMode="auto">
          <a:xfrm>
            <a:off x="2961703" y="2612866"/>
            <a:ext cx="20553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유동자산 </a:t>
            </a:r>
            <a:r>
              <a:rPr lang="en-US" altLang="ko-KR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</a:t>
            </a:r>
          </a:p>
        </p:txBody>
      </p:sp>
      <p:sp>
        <p:nvSpPr>
          <p:cNvPr id="24" name="TextBox 15"/>
          <p:cNvSpPr txBox="1">
            <a:spLocks noChangeArrowheads="1"/>
          </p:cNvSpPr>
          <p:nvPr/>
        </p:nvSpPr>
        <p:spPr bwMode="auto">
          <a:xfrm>
            <a:off x="5186185" y="2800191"/>
            <a:ext cx="3321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600" b="1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16"/>
          <p:cNvSpPr txBox="1">
            <a:spLocks noChangeArrowheads="1"/>
          </p:cNvSpPr>
          <p:nvPr/>
        </p:nvSpPr>
        <p:spPr bwMode="auto">
          <a:xfrm>
            <a:off x="5652037" y="3008154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유동부채</a:t>
            </a:r>
          </a:p>
        </p:txBody>
      </p:sp>
      <p:sp>
        <p:nvSpPr>
          <p:cNvPr id="26" name="TextBox 17"/>
          <p:cNvSpPr txBox="1">
            <a:spLocks noChangeArrowheads="1"/>
          </p:cNvSpPr>
          <p:nvPr/>
        </p:nvSpPr>
        <p:spPr bwMode="auto">
          <a:xfrm>
            <a:off x="5652037" y="2612866"/>
            <a:ext cx="10054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당좌자산</a:t>
            </a:r>
          </a:p>
        </p:txBody>
      </p:sp>
      <p:cxnSp>
        <p:nvCxnSpPr>
          <p:cNvPr id="15" name="Straight Connector 3"/>
          <p:cNvCxnSpPr>
            <a:cxnSpLocks noChangeShapeType="1"/>
          </p:cNvCxnSpPr>
          <p:nvPr/>
        </p:nvCxnSpPr>
        <p:spPr bwMode="auto">
          <a:xfrm>
            <a:off x="2961703" y="2988770"/>
            <a:ext cx="2013235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3"/>
          <p:cNvCxnSpPr>
            <a:cxnSpLocks noChangeShapeType="1"/>
          </p:cNvCxnSpPr>
          <p:nvPr/>
        </p:nvCxnSpPr>
        <p:spPr bwMode="auto">
          <a:xfrm>
            <a:off x="5614287" y="2988770"/>
            <a:ext cx="1043153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668677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4997817"/>
            <a:chOff x="190714" y="1320882"/>
            <a:chExt cx="8711460" cy="555364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413032"/>
              <a:chOff x="269047" y="1722741"/>
              <a:chExt cx="8648776" cy="541303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53893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12-3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비율분석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유동성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812237" y="2004639"/>
            <a:ext cx="7504449" cy="156168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주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덕송의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재무상태표와</a:t>
            </a:r>
            <a:r>
              <a:rPr lang="ko-KR" altLang="en-US" sz="1600" b="1" dirty="0">
                <a:latin typeface="맑은 고딕" panose="020B0503020000020004" pitchFamily="50" charset="-127"/>
              </a:rPr>
              <a:t> 포괄손익계산서를 이용해서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20×2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년의 </a:t>
            </a:r>
            <a:r>
              <a:rPr lang="en-US" altLang="ko-KR" sz="1600" b="1" dirty="0">
                <a:latin typeface="맑은 고딕" panose="020B0503020000020004" pitchFamily="50" charset="-127"/>
              </a:rPr>
              <a:t>(1)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유동비율</a:t>
            </a:r>
            <a:r>
              <a:rPr lang="en-US" altLang="ko-KR" sz="1600" b="1" dirty="0">
                <a:latin typeface="맑은 고딕" panose="020B0503020000020004" pitchFamily="50" charset="-127"/>
              </a:rPr>
              <a:t>, (2)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당좌비율을 계산하면 다음과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684213" y="3214688"/>
            <a:ext cx="7775575" cy="12858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유동비율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684213" y="4643438"/>
            <a:ext cx="7775575" cy="12842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당좌비율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16"/>
          <p:cNvSpPr txBox="1">
            <a:spLocks noChangeArrowheads="1"/>
          </p:cNvSpPr>
          <p:nvPr/>
        </p:nvSpPr>
        <p:spPr bwMode="auto">
          <a:xfrm>
            <a:off x="4339046" y="3987800"/>
            <a:ext cx="985837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\265,100</a:t>
            </a:r>
          </a:p>
        </p:txBody>
      </p:sp>
      <p:sp>
        <p:nvSpPr>
          <p:cNvPr id="46" name="TextBox 17"/>
          <p:cNvSpPr txBox="1">
            <a:spLocks noChangeArrowheads="1"/>
          </p:cNvSpPr>
          <p:nvPr/>
        </p:nvSpPr>
        <p:spPr bwMode="auto">
          <a:xfrm>
            <a:off x="4339046" y="3592513"/>
            <a:ext cx="985837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\564,880</a:t>
            </a:r>
          </a:p>
        </p:txBody>
      </p:sp>
      <p:cxnSp>
        <p:nvCxnSpPr>
          <p:cNvPr id="47" name="Straight Connector 3"/>
          <p:cNvCxnSpPr>
            <a:cxnSpLocks noChangeShapeType="1"/>
          </p:cNvCxnSpPr>
          <p:nvPr/>
        </p:nvCxnSpPr>
        <p:spPr bwMode="auto">
          <a:xfrm>
            <a:off x="4235858" y="3949700"/>
            <a:ext cx="1146175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TextBox 15"/>
          <p:cNvSpPr txBox="1">
            <a:spLocks noChangeArrowheads="1"/>
          </p:cNvSpPr>
          <p:nvPr/>
        </p:nvSpPr>
        <p:spPr bwMode="auto">
          <a:xfrm>
            <a:off x="5375683" y="3779838"/>
            <a:ext cx="7302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2.13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16"/>
          <p:cNvSpPr txBox="1">
            <a:spLocks noChangeArrowheads="1"/>
          </p:cNvSpPr>
          <p:nvPr/>
        </p:nvSpPr>
        <p:spPr bwMode="auto">
          <a:xfrm>
            <a:off x="4655368" y="5300663"/>
            <a:ext cx="9858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\265,100</a:t>
            </a:r>
          </a:p>
        </p:txBody>
      </p:sp>
      <p:sp>
        <p:nvSpPr>
          <p:cNvPr id="54" name="TextBox 17"/>
          <p:cNvSpPr txBox="1">
            <a:spLocks noChangeArrowheads="1"/>
          </p:cNvSpPr>
          <p:nvPr/>
        </p:nvSpPr>
        <p:spPr bwMode="auto">
          <a:xfrm>
            <a:off x="4223568" y="4905375"/>
            <a:ext cx="186690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\564,880 – 135,230</a:t>
            </a:r>
          </a:p>
        </p:txBody>
      </p:sp>
      <p:cxnSp>
        <p:nvCxnSpPr>
          <p:cNvPr id="55" name="Straight Connector 3"/>
          <p:cNvCxnSpPr>
            <a:cxnSpLocks noChangeShapeType="1"/>
          </p:cNvCxnSpPr>
          <p:nvPr/>
        </p:nvCxnSpPr>
        <p:spPr bwMode="auto">
          <a:xfrm>
            <a:off x="4188643" y="5262563"/>
            <a:ext cx="187325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TextBox 15"/>
          <p:cNvSpPr txBox="1">
            <a:spLocks noChangeArrowheads="1"/>
          </p:cNvSpPr>
          <p:nvPr/>
        </p:nvSpPr>
        <p:spPr bwMode="auto">
          <a:xfrm>
            <a:off x="6087293" y="5092700"/>
            <a:ext cx="736600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1.62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23</a:t>
            </a:r>
            <a:endParaRPr lang="ko-KR" altLang="en-US" dirty="0"/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6813AE62-52E1-443E-B6D6-EB7EE580B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482" y="3978275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유동부채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C071D3A7-D2F4-4601-9DC5-64C2C5FB9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482" y="3582988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유동자산</a:t>
            </a:r>
          </a:p>
        </p:txBody>
      </p:sp>
      <p:cxnSp>
        <p:nvCxnSpPr>
          <p:cNvPr id="38" name="Straight Connector 3">
            <a:extLst>
              <a:ext uri="{FF2B5EF4-FFF2-40B4-BE49-F238E27FC236}">
                <a16:creationId xmlns:a16="http://schemas.microsoft.com/office/drawing/2014/main" id="{A67147B8-8299-48A1-8F85-B265D8004BA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31024" y="3940175"/>
            <a:ext cx="133350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Box 25">
            <a:extLst>
              <a:ext uri="{FF2B5EF4-FFF2-40B4-BE49-F238E27FC236}">
                <a16:creationId xmlns:a16="http://schemas.microsoft.com/office/drawing/2014/main" id="{9AB11ACC-6A10-43FC-9085-00F8354E7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3574" y="3784600"/>
            <a:ext cx="314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19">
            <a:extLst>
              <a:ext uri="{FF2B5EF4-FFF2-40B4-BE49-F238E27FC236}">
                <a16:creationId xmlns:a16="http://schemas.microsoft.com/office/drawing/2014/main" id="{6478E8CC-D58E-4315-A8BE-60ED7F4F6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6064" y="5300663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유동부채</a:t>
            </a:r>
          </a:p>
        </p:txBody>
      </p:sp>
      <p:sp>
        <p:nvSpPr>
          <p:cNvPr id="57" name="TextBox 20">
            <a:extLst>
              <a:ext uri="{FF2B5EF4-FFF2-40B4-BE49-F238E27FC236}">
                <a16:creationId xmlns:a16="http://schemas.microsoft.com/office/drawing/2014/main" id="{F56AC94F-CC29-4ACF-BC2F-2AD9611D2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6064" y="4905376"/>
            <a:ext cx="902811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당좌자산</a:t>
            </a:r>
          </a:p>
        </p:txBody>
      </p:sp>
      <p:cxnSp>
        <p:nvCxnSpPr>
          <p:cNvPr id="58" name="Straight Connector 3">
            <a:extLst>
              <a:ext uri="{FF2B5EF4-FFF2-40B4-BE49-F238E27FC236}">
                <a16:creationId xmlns:a16="http://schemas.microsoft.com/office/drawing/2014/main" id="{A66EE660-FC89-471B-AD51-3E3956DE8A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29606" y="5262563"/>
            <a:ext cx="133350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Box 25">
            <a:extLst>
              <a:ext uri="{FF2B5EF4-FFF2-40B4-BE49-F238E27FC236}">
                <a16:creationId xmlns:a16="http://schemas.microsoft.com/office/drawing/2014/main" id="{9EC1559A-C0C7-4C7B-A6C5-FF6BC48D5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2156" y="5106988"/>
            <a:ext cx="314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571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8" grpId="0"/>
      <p:bldP spid="53" grpId="0"/>
      <p:bldP spid="54" grpId="0"/>
      <p:bldP spid="56" grpId="0"/>
      <p:bldP spid="29" grpId="0"/>
      <p:bldP spid="37" grpId="0"/>
      <p:bldP spid="39" grpId="0"/>
      <p:bldP spid="51" grpId="0"/>
      <p:bldP spid="57" grpId="0"/>
      <p:bldP spid="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85078" y="1501310"/>
            <a:ext cx="8641369" cy="1325257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안전성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</a:rPr>
              <a:t>(solvency)</a:t>
            </a:r>
          </a:p>
          <a:p>
            <a:pPr marL="540000" lvl="1" indent="-180000" latinLnBrk="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기업이 장기채무를 상환하지 못해 부도가 날 확률을 평가하는 비율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</a:p>
          <a:p>
            <a:pPr marL="540000" lvl="1" indent="-180000" latinLnBrk="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경영자 입장에서도 자본과 부채를 이용한 자금조달 우선순위를 결정할 때도 안전성 비율은 중요한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고려대상임</a:t>
            </a:r>
            <a:endParaRPr lang="ko-KR" altLang="en-US" sz="1600" dirty="0">
              <a:latin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285078" y="2898463"/>
            <a:ext cx="8641369" cy="3627380"/>
            <a:chOff x="2626683" y="1525991"/>
            <a:chExt cx="11521825" cy="4565323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079392"/>
              <a:ext cx="11521825" cy="401192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lvl="1" indent="-180000" latinLnBrk="0">
                <a:lnSpc>
                  <a:spcPct val="120000"/>
                </a:lnSpc>
                <a:spcBef>
                  <a:spcPct val="0"/>
                </a:spcBef>
                <a:buClr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부채비율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(debt to equity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ratio)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총부채를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자기자본으로 나누어 계산하며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레버리지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비율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이라고도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</a:p>
            <a:p>
              <a:pPr marL="360000" lvl="1" indent="-180000" latinLnBrk="0">
                <a:lnSpc>
                  <a:spcPct val="120000"/>
                </a:lnSpc>
                <a:spcBef>
                  <a:spcPct val="0"/>
                </a:spcBef>
                <a:buClr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부채비율이 너무 높다면 부채를 상환하지 못할 가능성 증가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부채비율이 너무 낮다면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레버리지 효과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를 활용하지 못하는 것이므로 효율적이지는 못하지만 보수적 또는 안정적으로 회사를 경영한다고 볼 수 있음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경우에 따라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분모에 자기자본 대신 총자산을 넣어 총자산에서 부채가 차지하는 비율을 의미하기도 함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525991"/>
              <a:ext cx="8613994" cy="462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부채비율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554227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TextBox 15"/>
          <p:cNvSpPr txBox="1">
            <a:spLocks noChangeArrowheads="1"/>
          </p:cNvSpPr>
          <p:nvPr/>
        </p:nvSpPr>
        <p:spPr bwMode="auto">
          <a:xfrm>
            <a:off x="4731016" y="5593517"/>
            <a:ext cx="1147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부채비율  </a:t>
            </a:r>
            <a:r>
              <a:rPr lang="en-US" altLang="ko-KR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 b="1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16"/>
          <p:cNvSpPr txBox="1">
            <a:spLocks noChangeArrowheads="1"/>
          </p:cNvSpPr>
          <p:nvPr/>
        </p:nvSpPr>
        <p:spPr bwMode="auto">
          <a:xfrm>
            <a:off x="6188341" y="5801479"/>
            <a:ext cx="71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총자산</a:t>
            </a:r>
          </a:p>
        </p:txBody>
      </p:sp>
      <p:sp>
        <p:nvSpPr>
          <p:cNvPr id="27" name="TextBox 17"/>
          <p:cNvSpPr txBox="1">
            <a:spLocks noChangeArrowheads="1"/>
          </p:cNvSpPr>
          <p:nvPr/>
        </p:nvSpPr>
        <p:spPr bwMode="auto">
          <a:xfrm>
            <a:off x="6188341" y="5406192"/>
            <a:ext cx="71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총부채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A0C2884-3AB2-4172-B702-65B787D1A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610" y="5593517"/>
            <a:ext cx="1147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부채비율  </a:t>
            </a:r>
            <a:r>
              <a:rPr lang="en-US" altLang="ko-KR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 b="1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9588CEEC-33F3-41BD-958E-8FDAD14CC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5305" y="5801479"/>
            <a:ext cx="90281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자기자본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5C804C92-AF5C-4983-9204-19F030A52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7935" y="5406192"/>
            <a:ext cx="717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총부채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A56335-6D2F-4CCC-94DF-BD454F788C0A}"/>
              </a:ext>
            </a:extLst>
          </p:cNvPr>
          <p:cNvSpPr/>
          <p:nvPr/>
        </p:nvSpPr>
        <p:spPr>
          <a:xfrm>
            <a:off x="4048132" y="5616813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600" dirty="0">
                <a:latin typeface="맑은 고딕" panose="020B0503020000020004" pitchFamily="50" charset="-127"/>
              </a:rPr>
              <a:t>또는</a:t>
            </a:r>
            <a:endParaRPr lang="ko-KR" altLang="en-US" sz="1600" dirty="0"/>
          </a:p>
        </p:txBody>
      </p:sp>
      <p:cxnSp>
        <p:nvCxnSpPr>
          <p:cNvPr id="17" name="Straight Connector 3"/>
          <p:cNvCxnSpPr>
            <a:cxnSpLocks noChangeShapeType="1"/>
          </p:cNvCxnSpPr>
          <p:nvPr/>
        </p:nvCxnSpPr>
        <p:spPr bwMode="auto">
          <a:xfrm>
            <a:off x="2763619" y="5756803"/>
            <a:ext cx="924497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3"/>
          <p:cNvCxnSpPr>
            <a:cxnSpLocks noChangeShapeType="1"/>
          </p:cNvCxnSpPr>
          <p:nvPr/>
        </p:nvCxnSpPr>
        <p:spPr bwMode="auto">
          <a:xfrm>
            <a:off x="6112139" y="5756803"/>
            <a:ext cx="924497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87470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275843" y="1503643"/>
            <a:ext cx="8641369" cy="3556874"/>
            <a:chOff x="2626683" y="1693823"/>
            <a:chExt cx="11521825" cy="4742501"/>
          </a:xfrm>
        </p:grpSpPr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2626683" y="2319277"/>
              <a:ext cx="11521825" cy="411704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solidFill>
                    <a:srgbClr val="C00000"/>
                  </a:solidFill>
                  <a:latin typeface="맑은 고딕" panose="020B0503020000020004" pitchFamily="50" charset="-127"/>
                </a:rPr>
                <a:t>이자보상비율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(interest coverage</a:t>
              </a:r>
              <a:r>
                <a:rPr lang="ko-KR" altLang="en-US" sz="14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ratio)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은 기업이 조달한 부채에 대한 이자를 지급할 능력을 나타냄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기업은 이자를 지급하고 난 이후의 이익에 대해서 법인세를 납부하므로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이자 및 법인세비용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차감전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이익이 이자비용에 비해 얼마나 많은지 측정함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Tx/>
                <a:buChar char="-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이자보상비율이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1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보다 낮을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기업이 창출한 이익으로 이자비용을 지급하기도 어렵다고 해석할 수 있음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613994" cy="462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이자보상비율</a:t>
              </a:r>
              <a:endParaRPr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TextBox 15"/>
          <p:cNvSpPr txBox="1">
            <a:spLocks noChangeArrowheads="1"/>
          </p:cNvSpPr>
          <p:nvPr/>
        </p:nvSpPr>
        <p:spPr bwMode="auto">
          <a:xfrm>
            <a:off x="1616075" y="3593709"/>
            <a:ext cx="15033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이자보상비율  </a:t>
            </a:r>
            <a:r>
              <a:rPr lang="en-US" altLang="ko-KR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 b="1">
              <a:solidFill>
                <a:srgbClr val="2D592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16"/>
          <p:cNvSpPr txBox="1">
            <a:spLocks noChangeArrowheads="1"/>
          </p:cNvSpPr>
          <p:nvPr/>
        </p:nvSpPr>
        <p:spPr bwMode="auto">
          <a:xfrm>
            <a:off x="3592513" y="3801672"/>
            <a:ext cx="895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이자비용</a:t>
            </a:r>
          </a:p>
        </p:txBody>
      </p:sp>
      <p:sp>
        <p:nvSpPr>
          <p:cNvPr id="30" name="TextBox 17"/>
          <p:cNvSpPr txBox="1">
            <a:spLocks noChangeArrowheads="1"/>
          </p:cNvSpPr>
          <p:nvPr/>
        </p:nvSpPr>
        <p:spPr bwMode="auto">
          <a:xfrm>
            <a:off x="3148013" y="3406384"/>
            <a:ext cx="17843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solidFill>
                  <a:srgbClr val="2D592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이자비용차감전이익</a:t>
            </a:r>
          </a:p>
        </p:txBody>
      </p:sp>
      <p:cxnSp>
        <p:nvCxnSpPr>
          <p:cNvPr id="12" name="Straight Connector 3"/>
          <p:cNvCxnSpPr>
            <a:cxnSpLocks noChangeShapeType="1"/>
          </p:cNvCxnSpPr>
          <p:nvPr/>
        </p:nvCxnSpPr>
        <p:spPr bwMode="auto">
          <a:xfrm>
            <a:off x="3157651" y="3749582"/>
            <a:ext cx="1774712" cy="0"/>
          </a:xfrm>
          <a:prstGeom prst="line">
            <a:avLst/>
          </a:prstGeom>
          <a:noFill/>
          <a:ln w="19050" algn="ctr">
            <a:solidFill>
              <a:srgbClr val="25767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23249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4997817"/>
            <a:chOff x="190714" y="1320882"/>
            <a:chExt cx="8711460" cy="5553649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4" y="1461499"/>
              <a:ext cx="8540240" cy="5413032"/>
              <a:chOff x="269047" y="1722741"/>
              <a:chExt cx="8648776" cy="5413032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7" y="1746441"/>
                <a:ext cx="8648775" cy="5389332"/>
              </a:xfrm>
              <a:prstGeom prst="foldedCorner">
                <a:avLst>
                  <a:gd name="adj" fmla="val 14587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5488234" cy="326949"/>
              <a:chOff x="190714" y="1320889"/>
              <a:chExt cx="4694777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4694777" cy="290352"/>
                <a:chOff x="405822" y="2237753"/>
                <a:chExt cx="4694777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4820212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1" y="2237755"/>
                  <a:ext cx="4418079" cy="29034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12-4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비율분석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안정성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84165" y="1877222"/>
            <a:ext cx="7521635" cy="1561680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주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덕송의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재무상태표와</a:t>
            </a:r>
            <a:r>
              <a:rPr lang="ko-KR" altLang="en-US" sz="1600" b="1" dirty="0">
                <a:latin typeface="맑은 고딕" panose="020B0503020000020004" pitchFamily="50" charset="-127"/>
              </a:rPr>
              <a:t> 포괄손익계산서를 이용해서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20×2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년의 </a:t>
            </a:r>
            <a:r>
              <a:rPr lang="en-US" altLang="ko-KR" sz="1600" b="1" dirty="0">
                <a:latin typeface="맑은 고딕" panose="020B0503020000020004" pitchFamily="50" charset="-127"/>
              </a:rPr>
              <a:t>(1)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부채비율</a:t>
            </a:r>
            <a:r>
              <a:rPr lang="en-US" altLang="ko-KR" sz="1600" b="1" dirty="0">
                <a:latin typeface="맑은 고딕" panose="020B0503020000020004" pitchFamily="50" charset="-127"/>
              </a:rPr>
              <a:t>, (2)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이자보상비율을 계산하면 다음과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684213" y="3214688"/>
            <a:ext cx="7775575" cy="12858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(1)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부채비율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684213" y="4643438"/>
            <a:ext cx="7775575" cy="128428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4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(2) 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이자보상비율 </a:t>
            </a:r>
            <a:r>
              <a:rPr lang="en-US" altLang="ko-KR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5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19"/>
          <p:cNvSpPr txBox="1">
            <a:spLocks noChangeArrowheads="1"/>
          </p:cNvSpPr>
          <p:nvPr/>
        </p:nvSpPr>
        <p:spPr bwMode="auto">
          <a:xfrm>
            <a:off x="2897188" y="3978275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자기자본</a:t>
            </a:r>
          </a:p>
        </p:txBody>
      </p:sp>
      <p:sp>
        <p:nvSpPr>
          <p:cNvPr id="42" name="TextBox 20"/>
          <p:cNvSpPr txBox="1">
            <a:spLocks noChangeArrowheads="1"/>
          </p:cNvSpPr>
          <p:nvPr/>
        </p:nvSpPr>
        <p:spPr bwMode="auto">
          <a:xfrm>
            <a:off x="2986088" y="3582988"/>
            <a:ext cx="7175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총부채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Straight Connector 3"/>
          <p:cNvCxnSpPr>
            <a:cxnSpLocks noChangeShapeType="1"/>
          </p:cNvCxnSpPr>
          <p:nvPr/>
        </p:nvCxnSpPr>
        <p:spPr bwMode="auto">
          <a:xfrm>
            <a:off x="2667000" y="3940175"/>
            <a:ext cx="133350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22"/>
          <p:cNvSpPr txBox="1">
            <a:spLocks noChangeArrowheads="1"/>
          </p:cNvSpPr>
          <p:nvPr/>
        </p:nvSpPr>
        <p:spPr bwMode="auto">
          <a:xfrm>
            <a:off x="4446588" y="3978275"/>
            <a:ext cx="1135062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\1,535,640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23"/>
          <p:cNvSpPr txBox="1">
            <a:spLocks noChangeArrowheads="1"/>
          </p:cNvSpPr>
          <p:nvPr/>
        </p:nvSpPr>
        <p:spPr bwMode="auto">
          <a:xfrm>
            <a:off x="4521200" y="3582988"/>
            <a:ext cx="9858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\385,100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25"/>
          <p:cNvSpPr txBox="1">
            <a:spLocks noChangeArrowheads="1"/>
          </p:cNvSpPr>
          <p:nvPr/>
        </p:nvSpPr>
        <p:spPr bwMode="auto">
          <a:xfrm>
            <a:off x="4019550" y="3784600"/>
            <a:ext cx="314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TextBox 26"/>
          <p:cNvSpPr txBox="1">
            <a:spLocks noChangeArrowheads="1"/>
          </p:cNvSpPr>
          <p:nvPr/>
        </p:nvSpPr>
        <p:spPr bwMode="auto">
          <a:xfrm>
            <a:off x="5680075" y="3784600"/>
            <a:ext cx="7302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0.25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29"/>
          <p:cNvSpPr txBox="1">
            <a:spLocks noChangeArrowheads="1"/>
          </p:cNvSpPr>
          <p:nvPr/>
        </p:nvSpPr>
        <p:spPr bwMode="auto">
          <a:xfrm>
            <a:off x="3027363" y="5337175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이자비용</a:t>
            </a:r>
          </a:p>
        </p:txBody>
      </p:sp>
      <p:sp>
        <p:nvSpPr>
          <p:cNvPr id="49" name="TextBox 30"/>
          <p:cNvSpPr txBox="1">
            <a:spLocks noChangeArrowheads="1"/>
          </p:cNvSpPr>
          <p:nvPr/>
        </p:nvSpPr>
        <p:spPr bwMode="auto">
          <a:xfrm>
            <a:off x="2579688" y="4941888"/>
            <a:ext cx="17843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이자비용차감전이익</a:t>
            </a:r>
          </a:p>
        </p:txBody>
      </p:sp>
      <p:cxnSp>
        <p:nvCxnSpPr>
          <p:cNvPr id="50" name="Straight Connector 3"/>
          <p:cNvCxnSpPr>
            <a:cxnSpLocks noChangeShapeType="1"/>
          </p:cNvCxnSpPr>
          <p:nvPr/>
        </p:nvCxnSpPr>
        <p:spPr bwMode="auto">
          <a:xfrm flipV="1">
            <a:off x="2657475" y="5299075"/>
            <a:ext cx="1655763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32"/>
          <p:cNvSpPr txBox="1">
            <a:spLocks noChangeArrowheads="1"/>
          </p:cNvSpPr>
          <p:nvPr/>
        </p:nvSpPr>
        <p:spPr bwMode="auto">
          <a:xfrm>
            <a:off x="4902200" y="5337175"/>
            <a:ext cx="779463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\8,000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33"/>
          <p:cNvSpPr txBox="1">
            <a:spLocks noChangeArrowheads="1"/>
          </p:cNvSpPr>
          <p:nvPr/>
        </p:nvSpPr>
        <p:spPr bwMode="auto">
          <a:xfrm>
            <a:off x="4797425" y="4941888"/>
            <a:ext cx="9858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\116,000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3" name="Straight Connector 3"/>
          <p:cNvCxnSpPr>
            <a:cxnSpLocks noChangeShapeType="1"/>
          </p:cNvCxnSpPr>
          <p:nvPr/>
        </p:nvCxnSpPr>
        <p:spPr bwMode="auto">
          <a:xfrm>
            <a:off x="4735513" y="5299075"/>
            <a:ext cx="1071562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Box 35"/>
          <p:cNvSpPr txBox="1">
            <a:spLocks noChangeArrowheads="1"/>
          </p:cNvSpPr>
          <p:nvPr/>
        </p:nvSpPr>
        <p:spPr bwMode="auto">
          <a:xfrm>
            <a:off x="4349750" y="5143500"/>
            <a:ext cx="31273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</a:t>
            </a:r>
            <a:endParaRPr lang="ko-KR" altLang="en-US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36"/>
          <p:cNvSpPr txBox="1">
            <a:spLocks noChangeArrowheads="1"/>
          </p:cNvSpPr>
          <p:nvPr/>
        </p:nvSpPr>
        <p:spPr bwMode="auto">
          <a:xfrm>
            <a:off x="5803900" y="5143500"/>
            <a:ext cx="908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l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= 14.5</a:t>
            </a: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배</a:t>
            </a:r>
          </a:p>
        </p:txBody>
      </p:sp>
      <p:cxnSp>
        <p:nvCxnSpPr>
          <p:cNvPr id="56" name="Straight Connector 3"/>
          <p:cNvCxnSpPr>
            <a:cxnSpLocks noChangeShapeType="1"/>
          </p:cNvCxnSpPr>
          <p:nvPr/>
        </p:nvCxnSpPr>
        <p:spPr bwMode="auto">
          <a:xfrm>
            <a:off x="4356100" y="3940175"/>
            <a:ext cx="133350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</p:spPr>
        <p:txBody>
          <a:bodyPr/>
          <a:lstStyle/>
          <a:p>
            <a:r>
              <a:rPr lang="en-US" altLang="ko-KR" dirty="0"/>
              <a:t>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118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2" grpId="0"/>
      <p:bldP spid="44" grpId="0"/>
      <p:bldP spid="45" grpId="0"/>
      <p:bldP spid="46" grpId="0"/>
      <p:bldP spid="47" grpId="0"/>
      <p:bldP spid="48" grpId="0"/>
      <p:bldP spid="49" grpId="0"/>
      <p:bldP spid="51" grpId="0"/>
      <p:bldP spid="52" grpId="0"/>
      <p:bldP spid="54" grpId="0"/>
      <p:bldP spid="5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285078" y="1501312"/>
            <a:ext cx="8641369" cy="461373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spcBef>
                <a:spcPct val="0"/>
              </a:spcBef>
              <a:buClrTx/>
              <a:buSzTx/>
              <a:buAutoNum type="arabicParenBoth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재무제표는 기업의 과거를 기록한 것임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 indent="-180000" latinLnBrk="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재무제표를 이용한 의사결정은 기업의 미래를 예측하는 것이므로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시점의 차이에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주의해야 함</a:t>
            </a:r>
            <a:r>
              <a:rPr lang="en-US" altLang="ko-KR" sz="1600" dirty="0">
                <a:latin typeface="맑은 고딕" panose="020B0503020000020004" pitchFamily="50" charset="-127"/>
              </a:rPr>
              <a:t>. </a:t>
            </a:r>
            <a:r>
              <a:rPr lang="ko-KR" altLang="en-US" sz="1600" dirty="0">
                <a:latin typeface="맑은 고딕" panose="020B0503020000020004" pitchFamily="50" charset="-127"/>
              </a:rPr>
              <a:t>과거에 잘한 기업이 미래에도 계속 잘할 것이라고 보장할 수 없음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457200" lvl="1" indent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(2) </a:t>
            </a:r>
            <a:r>
              <a:rPr lang="ko-KR" altLang="en-US" sz="1600" dirty="0">
                <a:latin typeface="맑은 고딕" panose="020B0503020000020004" pitchFamily="50" charset="-127"/>
              </a:rPr>
              <a:t>재무비율을 이용한 재무제표분석은 끝이 아니라 시작임 </a:t>
            </a:r>
          </a:p>
          <a:p>
            <a:pPr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재무비율 등은 기업에 대한 </a:t>
            </a:r>
            <a:r>
              <a:rPr lang="en-US" altLang="ko-KR" sz="1600" dirty="0">
                <a:latin typeface="맑은 고딕" panose="020B0503020000020004" pitchFamily="50" charset="-127"/>
              </a:rPr>
              <a:t>1</a:t>
            </a:r>
            <a:r>
              <a:rPr lang="ko-KR" altLang="en-US" sz="1600" dirty="0">
                <a:latin typeface="맑은 고딕" panose="020B0503020000020004" pitchFamily="50" charset="-127"/>
              </a:rPr>
              <a:t>차적인 분석임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 indent="-18000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재무비율을 살펴봐서 현재 상황을 파악한 후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각 재무비율이 어떻게 왜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나타났는지와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앞으로도 나타날 것인지에 대해서 재무제표를 비롯한 여러 가지 정보를 통해 구체적으로 알아봐야 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(3) </a:t>
            </a:r>
            <a:r>
              <a:rPr lang="ko-KR" altLang="en-US" sz="1600" dirty="0">
                <a:latin typeface="맑은 고딕" panose="020B0503020000020004" pitchFamily="50" charset="-127"/>
              </a:rPr>
              <a:t>기업마다 또는 기간마다 다른 회계처리방법이 사용되었을 수 있음</a:t>
            </a:r>
          </a:p>
          <a:p>
            <a:pPr lvl="1" indent="-180000" latinLnBrk="0">
              <a:lnSpc>
                <a:spcPts val="2400"/>
              </a:lnSpc>
              <a:spcBef>
                <a:spcPct val="0"/>
              </a:spcBef>
              <a:buClrTx/>
              <a:buFontTx/>
              <a:buChar char="-"/>
            </a:pPr>
            <a:r>
              <a:rPr lang="ko-KR" altLang="en-US" sz="1600" dirty="0">
                <a:latin typeface="맑은 고딕" panose="020B0503020000020004" pitchFamily="50" charset="-127"/>
              </a:rPr>
              <a:t>회계처리방법에 따라 재무비율에 사용되는 수치가 크게 달라질 수 있으므로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비교가능성이 떨어질 수 있음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629365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1981</Words>
  <Application>Microsoft Office PowerPoint</Application>
  <PresentationFormat>화면 슬라이드 쇼(4:3)</PresentationFormat>
  <Paragraphs>656</Paragraphs>
  <Slides>27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27</vt:i4>
      </vt:variant>
    </vt:vector>
  </HeadingPairs>
  <TitlesOfParts>
    <vt:vector size="44" baseType="lpstr">
      <vt:lpstr>HY견고딕</vt:lpstr>
      <vt:lpstr>굴림</vt:lpstr>
      <vt:lpstr>함초롬바탕 확장</vt:lpstr>
      <vt:lpstr>Arial</vt:lpstr>
      <vt:lpstr>Calibri</vt:lpstr>
      <vt:lpstr>Wingdings</vt:lpstr>
      <vt:lpstr>맑은 고딕</vt:lpstr>
      <vt:lpstr>디자인 사용자 지정</vt:lpstr>
      <vt:lpstr>x.1 - 1.</vt:lpstr>
      <vt:lpstr>1_x.1 - 1.</vt:lpstr>
      <vt:lpstr>2_x.1 - 1.</vt:lpstr>
      <vt:lpstr>3_x.1 - 1.</vt:lpstr>
      <vt:lpstr>4_x.1 - 1.</vt:lpstr>
      <vt:lpstr>5_x.1 - 1.</vt:lpstr>
      <vt:lpstr>6_x.1 - 1.</vt:lpstr>
      <vt:lpstr>7_x.1 - 1.</vt:lpstr>
      <vt:lpstr>8_x.1 - 1.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석주 이</cp:lastModifiedBy>
  <cp:revision>1</cp:revision>
  <dcterms:created xsi:type="dcterms:W3CDTF">2024-07-23T07:27:07Z</dcterms:created>
  <dcterms:modified xsi:type="dcterms:W3CDTF">2025-12-13T04:44:35Z</dcterms:modified>
</cp:coreProperties>
</file>