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slideLayouts/slideLayout17.xml" ContentType="application/vnd.openxmlformats-officedocument.presentationml.slideLayout+xml"/>
  <Override PartName="/ppt/theme/theme6.xml" ContentType="application/vnd.openxmlformats-officedocument.theme+xml"/>
  <Override PartName="/ppt/slideLayouts/slideLayout18.xml" ContentType="application/vnd.openxmlformats-officedocument.presentationml.slideLayout+xml"/>
  <Override PartName="/ppt/theme/theme7.xml" ContentType="application/vnd.openxmlformats-officedocument.theme+xml"/>
  <Override PartName="/ppt/slideLayouts/slideLayout19.xml" ContentType="application/vnd.openxmlformats-officedocument.presentationml.slideLayout+xml"/>
  <Override PartName="/ppt/theme/theme8.xml" ContentType="application/vnd.openxmlformats-officedocument.theme+xml"/>
  <Override PartName="/ppt/slideLayouts/slideLayout20.xml" ContentType="application/vnd.openxmlformats-officedocument.presentationml.slideLayout+xml"/>
  <Override PartName="/ppt/theme/theme9.xml" ContentType="application/vnd.openxmlformats-officedocument.theme+xml"/>
  <Override PartName="/ppt/slideLayouts/slideLayout21.xml" ContentType="application/vnd.openxmlformats-officedocument.presentationml.slideLayout+xml"/>
  <Override PartName="/ppt/theme/theme10.xml" ContentType="application/vnd.openxmlformats-officedocument.theme+xml"/>
  <Override PartName="/ppt/slideLayouts/slideLayout22.xml" ContentType="application/vnd.openxmlformats-officedocument.presentationml.slideLayout+xml"/>
  <Override PartName="/ppt/theme/theme11.xml" ContentType="application/vnd.openxmlformats-officedocument.theme+xml"/>
  <Override PartName="/ppt/slideLayouts/slideLayout23.xml" ContentType="application/vnd.openxmlformats-officedocument.presentationml.slideLayout+xml"/>
  <Override PartName="/ppt/theme/theme12.xml" ContentType="application/vnd.openxmlformats-officedocument.theme+xml"/>
  <Override PartName="/ppt/slideLayouts/slideLayout24.xml" ContentType="application/vnd.openxmlformats-officedocument.presentationml.slideLayout+xml"/>
  <Override PartName="/ppt/theme/theme13.xml" ContentType="application/vnd.openxmlformats-officedocument.theme+xml"/>
  <Override PartName="/ppt/slideLayouts/slideLayout25.xml" ContentType="application/vnd.openxmlformats-officedocument.presentationml.slideLayout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  <p:sldMasterId id="2147483660" r:id="rId2"/>
    <p:sldMasterId id="2147483672" r:id="rId3"/>
    <p:sldMasterId id="2147483678" r:id="rId4"/>
    <p:sldMasterId id="2147483680" r:id="rId5"/>
    <p:sldMasterId id="2147483682" r:id="rId6"/>
    <p:sldMasterId id="2147483684" r:id="rId7"/>
    <p:sldMasterId id="2147483686" r:id="rId8"/>
    <p:sldMasterId id="2147483688" r:id="rId9"/>
    <p:sldMasterId id="2147483690" r:id="rId10"/>
    <p:sldMasterId id="2147483692" r:id="rId11"/>
    <p:sldMasterId id="2147483694" r:id="rId12"/>
    <p:sldMasterId id="2147483696" r:id="rId13"/>
    <p:sldMasterId id="2147483698" r:id="rId14"/>
  </p:sldMasterIdLst>
  <p:notesMasterIdLst>
    <p:notesMasterId r:id="rId47"/>
  </p:notesMasterIdLst>
  <p:handoutMasterIdLst>
    <p:handoutMasterId r:id="rId48"/>
  </p:handoutMasterIdLst>
  <p:sldIdLst>
    <p:sldId id="315" r:id="rId15"/>
    <p:sldId id="260" r:id="rId16"/>
    <p:sldId id="257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258" r:id="rId25"/>
    <p:sldId id="304" r:id="rId26"/>
    <p:sldId id="305" r:id="rId27"/>
    <p:sldId id="306" r:id="rId28"/>
    <p:sldId id="316" r:id="rId29"/>
    <p:sldId id="320" r:id="rId30"/>
    <p:sldId id="307" r:id="rId31"/>
    <p:sldId id="308" r:id="rId32"/>
    <p:sldId id="309" r:id="rId33"/>
    <p:sldId id="259" r:id="rId34"/>
    <p:sldId id="310" r:id="rId35"/>
    <p:sldId id="261" r:id="rId36"/>
    <p:sldId id="311" r:id="rId37"/>
    <p:sldId id="321" r:id="rId38"/>
    <p:sldId id="262" r:id="rId39"/>
    <p:sldId id="312" r:id="rId40"/>
    <p:sldId id="313" r:id="rId41"/>
    <p:sldId id="263" r:id="rId42"/>
    <p:sldId id="314" r:id="rId43"/>
    <p:sldId id="317" r:id="rId44"/>
    <p:sldId id="318" r:id="rId45"/>
    <p:sldId id="319" r:id="rId46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61C8"/>
    <a:srgbClr val="257679"/>
    <a:srgbClr val="A0B4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719882-57EB-4CF5-8A7F-42AA34872CFD}" v="3" dt="2025-12-06T04:25:25.024"/>
  </p1510:revLst>
</p1510:revInfo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21" autoAdjust="0"/>
    <p:restoredTop sz="98401" autoAdjust="0"/>
  </p:normalViewPr>
  <p:slideViewPr>
    <p:cSldViewPr snapToGrid="0">
      <p:cViewPr varScale="1">
        <p:scale>
          <a:sx n="73" d="100"/>
          <a:sy n="73" d="100"/>
        </p:scale>
        <p:origin x="1284" y="267"/>
      </p:cViewPr>
      <p:guideLst>
        <p:guide orient="horz" pos="2160"/>
        <p:guide pos="290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47" d="100"/>
          <a:sy n="47" d="100"/>
        </p:scale>
        <p:origin x="2724" y="5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4.xml"/><Relationship Id="rId26" Type="http://schemas.openxmlformats.org/officeDocument/2006/relationships/slide" Target="slides/slide12.xml"/><Relationship Id="rId39" Type="http://schemas.openxmlformats.org/officeDocument/2006/relationships/slide" Target="slides/slide25.xml"/><Relationship Id="rId21" Type="http://schemas.openxmlformats.org/officeDocument/2006/relationships/slide" Target="slides/slide7.xml"/><Relationship Id="rId34" Type="http://schemas.openxmlformats.org/officeDocument/2006/relationships/slide" Target="slides/slide20.xml"/><Relationship Id="rId42" Type="http://schemas.openxmlformats.org/officeDocument/2006/relationships/slide" Target="slides/slide28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2.xml"/><Relationship Id="rId29" Type="http://schemas.openxmlformats.org/officeDocument/2006/relationships/slide" Target="slides/slide15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0.xml"/><Relationship Id="rId32" Type="http://schemas.openxmlformats.org/officeDocument/2006/relationships/slide" Target="slides/slide18.xml"/><Relationship Id="rId37" Type="http://schemas.openxmlformats.org/officeDocument/2006/relationships/slide" Target="slides/slide23.xml"/><Relationship Id="rId40" Type="http://schemas.openxmlformats.org/officeDocument/2006/relationships/slide" Target="slides/slide26.xml"/><Relationship Id="rId45" Type="http://schemas.openxmlformats.org/officeDocument/2006/relationships/slide" Target="slides/slide31.xml"/><Relationship Id="rId53" Type="http://schemas.microsoft.com/office/2016/11/relationships/changesInfo" Target="changesInfos/changesInfo1.xml"/><Relationship Id="rId5" Type="http://schemas.openxmlformats.org/officeDocument/2006/relationships/slideMaster" Target="slideMasters/slideMaster5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5.xml"/><Relationship Id="rId31" Type="http://schemas.openxmlformats.org/officeDocument/2006/relationships/slide" Target="slides/slide17.xml"/><Relationship Id="rId44" Type="http://schemas.openxmlformats.org/officeDocument/2006/relationships/slide" Target="slides/slide3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8.xml"/><Relationship Id="rId27" Type="http://schemas.openxmlformats.org/officeDocument/2006/relationships/slide" Target="slides/slide13.xml"/><Relationship Id="rId30" Type="http://schemas.openxmlformats.org/officeDocument/2006/relationships/slide" Target="slides/slide16.xml"/><Relationship Id="rId35" Type="http://schemas.openxmlformats.org/officeDocument/2006/relationships/slide" Target="slides/slide21.xml"/><Relationship Id="rId43" Type="http://schemas.openxmlformats.org/officeDocument/2006/relationships/slide" Target="slides/slide29.xml"/><Relationship Id="rId48" Type="http://schemas.openxmlformats.org/officeDocument/2006/relationships/handoutMaster" Target="handoutMasters/handoutMaster1.xml"/><Relationship Id="rId8" Type="http://schemas.openxmlformats.org/officeDocument/2006/relationships/slideMaster" Target="slideMasters/slideMaster8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3.xml"/><Relationship Id="rId25" Type="http://schemas.openxmlformats.org/officeDocument/2006/relationships/slide" Target="slides/slide11.xml"/><Relationship Id="rId33" Type="http://schemas.openxmlformats.org/officeDocument/2006/relationships/slide" Target="slides/slide19.xml"/><Relationship Id="rId38" Type="http://schemas.openxmlformats.org/officeDocument/2006/relationships/slide" Target="slides/slide24.xml"/><Relationship Id="rId46" Type="http://schemas.openxmlformats.org/officeDocument/2006/relationships/slide" Target="slides/slide32.xml"/><Relationship Id="rId20" Type="http://schemas.openxmlformats.org/officeDocument/2006/relationships/slide" Target="slides/slide6.xml"/><Relationship Id="rId41" Type="http://schemas.openxmlformats.org/officeDocument/2006/relationships/slide" Target="slides/slide27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1.xml"/><Relationship Id="rId23" Type="http://schemas.openxmlformats.org/officeDocument/2006/relationships/slide" Target="slides/slide9.xml"/><Relationship Id="rId28" Type="http://schemas.openxmlformats.org/officeDocument/2006/relationships/slide" Target="slides/slide14.xml"/><Relationship Id="rId36" Type="http://schemas.openxmlformats.org/officeDocument/2006/relationships/slide" Target="slides/slide22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석주 이" userId="b6553f64e91d015d" providerId="LiveId" clId="{7E74A06A-B2AA-4EEC-A19D-AA52293F645A}"/>
    <pc:docChg chg="mod modSld">
      <pc:chgData name="석주 이" userId="b6553f64e91d015d" providerId="LiveId" clId="{7E74A06A-B2AA-4EEC-A19D-AA52293F645A}" dt="2025-12-06T04:28:21.144" v="112" actId="14100"/>
      <pc:docMkLst>
        <pc:docMk/>
      </pc:docMkLst>
      <pc:sldChg chg="addSp modSp mod">
        <pc:chgData name="석주 이" userId="b6553f64e91d015d" providerId="LiveId" clId="{7E74A06A-B2AA-4EEC-A19D-AA52293F645A}" dt="2025-12-06T04:28:21.144" v="112" actId="14100"/>
        <pc:sldMkLst>
          <pc:docMk/>
          <pc:sldMk cId="148408576" sldId="262"/>
        </pc:sldMkLst>
        <pc:spChg chg="add mod">
          <ac:chgData name="석주 이" userId="b6553f64e91d015d" providerId="LiveId" clId="{7E74A06A-B2AA-4EEC-A19D-AA52293F645A}" dt="2025-12-06T04:28:21.144" v="112" actId="14100"/>
          <ac:spMkLst>
            <pc:docMk/>
            <pc:sldMk cId="148408576" sldId="262"/>
            <ac:spMk id="3" creationId="{CCAC7E93-0EA6-653B-F7B9-E3C993B8EE6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60" cy="498056"/>
          </a:xfrm>
          <a:prstGeom prst="rect">
            <a:avLst/>
          </a:prstGeom>
        </p:spPr>
        <p:txBody>
          <a:bodyPr vert="horz" lIns="91504" tIns="45752" rIns="91504" bIns="4575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2" y="1"/>
            <a:ext cx="2945660" cy="498056"/>
          </a:xfrm>
          <a:prstGeom prst="rect">
            <a:avLst/>
          </a:prstGeom>
        </p:spPr>
        <p:txBody>
          <a:bodyPr vert="horz" lIns="91504" tIns="45752" rIns="91504" bIns="45752" rtlCol="0"/>
          <a:lstStyle>
            <a:lvl1pPr algn="r">
              <a:defRPr sz="1200"/>
            </a:lvl1pPr>
          </a:lstStyle>
          <a:p>
            <a:fld id="{DF3D4E82-9012-4813-A800-96A0B7AF5900}" type="datetimeFigureOut">
              <a:rPr lang="ko-KR" altLang="en-US" smtClean="0"/>
              <a:pPr/>
              <a:t>2025-12-06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60" cy="498054"/>
          </a:xfrm>
          <a:prstGeom prst="rect">
            <a:avLst/>
          </a:prstGeom>
        </p:spPr>
        <p:txBody>
          <a:bodyPr vert="horz" lIns="91504" tIns="45752" rIns="91504" bIns="4575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2" y="9428584"/>
            <a:ext cx="2945660" cy="498054"/>
          </a:xfrm>
          <a:prstGeom prst="rect">
            <a:avLst/>
          </a:prstGeom>
        </p:spPr>
        <p:txBody>
          <a:bodyPr vert="horz" lIns="91504" tIns="45752" rIns="91504" bIns="45752" rtlCol="0" anchor="b"/>
          <a:lstStyle>
            <a:lvl1pPr algn="r">
              <a:defRPr sz="1200"/>
            </a:lvl1pPr>
          </a:lstStyle>
          <a:p>
            <a:fld id="{93443CE8-4923-4E1A-85CA-D89EAFE5109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465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60" cy="498056"/>
          </a:xfrm>
          <a:prstGeom prst="rect">
            <a:avLst/>
          </a:prstGeom>
        </p:spPr>
        <p:txBody>
          <a:bodyPr vert="horz" lIns="91504" tIns="45752" rIns="91504" bIns="4575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2" y="1"/>
            <a:ext cx="2945660" cy="498056"/>
          </a:xfrm>
          <a:prstGeom prst="rect">
            <a:avLst/>
          </a:prstGeom>
        </p:spPr>
        <p:txBody>
          <a:bodyPr vert="horz" lIns="91504" tIns="45752" rIns="91504" bIns="45752" rtlCol="0"/>
          <a:lstStyle>
            <a:lvl1pPr algn="r">
              <a:defRPr sz="1200"/>
            </a:lvl1pPr>
          </a:lstStyle>
          <a:p>
            <a:fld id="{045C95B5-18C1-42EE-BB0C-37AB4DC6D577}" type="datetimeFigureOut">
              <a:rPr lang="ko-KR" altLang="en-US" smtClean="0"/>
              <a:pPr/>
              <a:t>2025-12-06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39838"/>
            <a:ext cx="4467225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04" tIns="45752" rIns="91504" bIns="4575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504" tIns="45752" rIns="91504" bIns="45752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60" cy="498054"/>
          </a:xfrm>
          <a:prstGeom prst="rect">
            <a:avLst/>
          </a:prstGeom>
        </p:spPr>
        <p:txBody>
          <a:bodyPr vert="horz" lIns="91504" tIns="45752" rIns="91504" bIns="4575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2" y="9428584"/>
            <a:ext cx="2945660" cy="498054"/>
          </a:xfrm>
          <a:prstGeom prst="rect">
            <a:avLst/>
          </a:prstGeom>
        </p:spPr>
        <p:txBody>
          <a:bodyPr vert="horz" lIns="91504" tIns="45752" rIns="91504" bIns="45752" rtlCol="0" anchor="b"/>
          <a:lstStyle>
            <a:lvl1pPr algn="r">
              <a:defRPr sz="1200"/>
            </a:lvl1pPr>
          </a:lstStyle>
          <a:p>
            <a:fld id="{3C4AB4DE-ADC0-48AC-BA49-A9E5E6D44F6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011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997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473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5261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680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2766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3608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16280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58870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3433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1F64D20D-4D1D-41F3-89F7-0E113895A823}" type="datetime1">
              <a:rPr lang="ko-KR" altLang="en-US" smtClean="0"/>
              <a:pPr/>
              <a:t>2025-12-06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616A5758-69DF-4275-B03F-FF6698B2209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8925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7EFB78F-5874-4EB6-B7E1-3618CE7E3DC8}" type="datetime1">
              <a:rPr lang="ko-KR" altLang="en-US" smtClean="0"/>
              <a:pPr/>
              <a:t>2025-12-06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616A5758-69DF-4275-B03F-FF6698B2209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710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6911C8A-004A-4804-9598-9D8C516E7813}" type="datetime1">
              <a:rPr lang="ko-KR" altLang="en-US" smtClean="0"/>
              <a:pPr/>
              <a:t>2025-12-06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616A5758-69DF-4275-B03F-FF6698B2209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7543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3CBF508-1DFF-4FB9-B42C-D2FA6FF36554}" type="datetime1">
              <a:rPr lang="ko-KR" altLang="en-US" smtClean="0"/>
              <a:pPr/>
              <a:t>2025-12-06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616A5758-69DF-4275-B03F-FF6698B2209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592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9E2723D4-0AA2-458C-9583-C8A68B947796}" type="datetime1">
              <a:rPr lang="ko-KR" altLang="en-US" smtClean="0"/>
              <a:pPr/>
              <a:t>2025-12-06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616A5758-69DF-4275-B03F-FF6698B2209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3329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55CDB93-271A-48BD-B5F6-730230BA650C}" type="datetime1">
              <a:rPr lang="ko-KR" altLang="en-US" smtClean="0"/>
              <a:pPr/>
              <a:t>2025-12-06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616A5758-69DF-4275-B03F-FF6698B2209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4164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8D31D8A2-ED1C-4619-A26F-B76FA7152B30}" type="datetime1">
              <a:rPr lang="ko-KR" altLang="en-US" smtClean="0"/>
              <a:pPr/>
              <a:t>2025-12-06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616A5758-69DF-4275-B03F-FF6698B2209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297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FBE3636D-2423-48FB-94C1-19611B4578B8}" type="datetime1">
              <a:rPr lang="ko-KR" altLang="en-US" smtClean="0"/>
              <a:pPr/>
              <a:t>2025-12-06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616A5758-69DF-4275-B03F-FF6698B2209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600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4235518E-8989-4460-B4FD-01A8786C26F7}" type="datetime1">
              <a:rPr lang="ko-KR" altLang="en-US" smtClean="0"/>
              <a:pPr/>
              <a:t>2025-12-06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616A5758-69DF-4275-B03F-FF6698B2209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4062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FCDBE18B-C0A0-4457-BDD9-560CC843E653}" type="datetime1">
              <a:rPr lang="ko-KR" altLang="en-US" smtClean="0"/>
              <a:pPr/>
              <a:t>2025-12-06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616A5758-69DF-4275-B03F-FF6698B2209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46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C7BC0A6-F1FB-4682-987F-445A04F36A8B}" type="datetime1">
              <a:rPr lang="ko-KR" altLang="en-US" smtClean="0"/>
              <a:pPr/>
              <a:t>2025-12-06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616A5758-69DF-4275-B03F-FF6698B2209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3622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63909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EDF8-72CE-4D87-AC77-D9C987847BC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5489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A317CFA-13DC-4E0B-8A40-537C0167EFC0}" type="datetime1">
              <a:rPr lang="ko-KR" altLang="en-US" smtClean="0"/>
              <a:pPr/>
              <a:t>2025-12-06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86718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502926A-16DC-46A2-9B60-B97AC76F0AA8}" type="datetime1">
              <a:rPr lang="ko-KR" altLang="en-US" smtClean="0"/>
              <a:pPr/>
              <a:t>2025-12-06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12293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A984BF1-8BD7-49ED-A0DA-2D066A554CFE}" type="datetime1">
              <a:rPr lang="ko-KR" altLang="en-US" smtClean="0"/>
              <a:pPr/>
              <a:t>2025-12-06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4578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F9C4C54-DDA4-404A-8BC6-0C2E58F7F675}" type="datetime1">
              <a:rPr lang="ko-KR" altLang="en-US" smtClean="0"/>
              <a:pPr/>
              <a:t>2025-12-06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22534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788501E-4516-4D70-95AC-E73537F7D752}" type="datetime1">
              <a:rPr lang="ko-KR" altLang="en-US" smtClean="0"/>
              <a:pPr/>
              <a:t>2025-12-06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12281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0B5A7BA5-B250-40DE-B03D-6041E6188E62}" type="datetime1">
              <a:rPr lang="ko-KR" altLang="en-US" smtClean="0"/>
              <a:pPr/>
              <a:t>2025-12-06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623628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78A30EB-4BFB-4050-8089-C7FC9A9BBFAD}" type="datetime1">
              <a:rPr lang="ko-KR" altLang="en-US" smtClean="0"/>
              <a:pPr/>
              <a:t>2025-12-06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63748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27EEC91-50C7-4D91-8B41-EDC3400482C4}" type="datetime1">
              <a:rPr lang="ko-KR" altLang="en-US" smtClean="0"/>
              <a:pPr/>
              <a:t>2025-12-06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19836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E25D9BA-698C-4A19-A745-53EAEEB27761}" type="datetime1">
              <a:rPr lang="ko-KR" altLang="en-US" smtClean="0"/>
              <a:pPr/>
              <a:t>2025-12-06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45693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882716E-BF8E-4834-8CA8-7E7E552070DF}" type="datetime1">
              <a:rPr lang="ko-KR" altLang="en-US" smtClean="0"/>
              <a:pPr/>
              <a:t>2025-12-06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74012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64DE2FE-CFED-4FF3-90CE-6CE73734BC4C}" type="datetime1">
              <a:rPr lang="ko-KR" altLang="en-US" smtClean="0"/>
              <a:pPr/>
              <a:t>2025-12-06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14388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0E8FB1-52C7-4F18-A0CA-55F35D7F45F0}" type="datetime1">
              <a:rPr lang="ko-KR" altLang="en-US" smtClean="0"/>
              <a:pPr/>
              <a:t>2025-12-06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310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7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8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9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20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1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22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3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4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2786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6F478910-7124-43CC-936B-F92A2B2B84D5}"/>
              </a:ext>
            </a:extLst>
          </p:cNvPr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9" name="그룹 228"/>
          <p:cNvGrpSpPr/>
          <p:nvPr userDrawn="1"/>
        </p:nvGrpSpPr>
        <p:grpSpPr>
          <a:xfrm>
            <a:off x="4619183" y="400692"/>
            <a:ext cx="3063185" cy="369332"/>
            <a:chOff x="2107219" y="601866"/>
            <a:chExt cx="3063185" cy="369332"/>
          </a:xfrm>
        </p:grpSpPr>
        <p:sp>
          <p:nvSpPr>
            <p:cNvPr id="224" name="TextBox 223"/>
            <p:cNvSpPr txBox="1"/>
            <p:nvPr userDrawn="1"/>
          </p:nvSpPr>
          <p:spPr>
            <a:xfrm>
              <a:off x="2343317" y="601866"/>
              <a:ext cx="28270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자본의 의의</a:t>
              </a:r>
            </a:p>
          </p:txBody>
        </p:sp>
        <p:sp>
          <p:nvSpPr>
            <p:cNvPr id="226" name="눈물 방울 225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5" name="그룹 244"/>
          <p:cNvGrpSpPr/>
          <p:nvPr userDrawn="1"/>
        </p:nvGrpSpPr>
        <p:grpSpPr>
          <a:xfrm>
            <a:off x="91285" y="145881"/>
            <a:ext cx="4433534" cy="769441"/>
            <a:chOff x="80163" y="415932"/>
            <a:chExt cx="4433534" cy="769441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직사각형 24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8" name="TextBox 247"/>
            <p:cNvSpPr txBox="1"/>
            <p:nvPr userDrawn="1"/>
          </p:nvSpPr>
          <p:spPr>
            <a:xfrm>
              <a:off x="841614" y="531177"/>
              <a:ext cx="367208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자본의 의의와 구성</a:t>
              </a:r>
            </a:p>
          </p:txBody>
        </p:sp>
      </p:grpSp>
      <p:sp>
        <p:nvSpPr>
          <p:cNvPr id="249" name="직사각형 248"/>
          <p:cNvSpPr/>
          <p:nvPr userDrawn="1"/>
        </p:nvSpPr>
        <p:spPr>
          <a:xfrm>
            <a:off x="8250902" y="0"/>
            <a:ext cx="900000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10.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자본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745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0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직사각형 224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5" name="그룹 244"/>
          <p:cNvGrpSpPr/>
          <p:nvPr userDrawn="1"/>
        </p:nvGrpSpPr>
        <p:grpSpPr>
          <a:xfrm>
            <a:off x="91285" y="145881"/>
            <a:ext cx="4433534" cy="769441"/>
            <a:chOff x="80163" y="415932"/>
            <a:chExt cx="4433534" cy="769441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직사각형 24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8" name="TextBox 247"/>
            <p:cNvSpPr txBox="1"/>
            <p:nvPr userDrawn="1"/>
          </p:nvSpPr>
          <p:spPr>
            <a:xfrm>
              <a:off x="841614" y="531177"/>
              <a:ext cx="367208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자본의 의의와 구성</a:t>
              </a:r>
            </a:p>
          </p:txBody>
        </p:sp>
      </p:grpSp>
      <p:grpSp>
        <p:nvGrpSpPr>
          <p:cNvPr id="249" name="그룹 248"/>
          <p:cNvGrpSpPr/>
          <p:nvPr userDrawn="1"/>
        </p:nvGrpSpPr>
        <p:grpSpPr>
          <a:xfrm>
            <a:off x="4636419" y="400692"/>
            <a:ext cx="3351891" cy="369332"/>
            <a:chOff x="2107219" y="601866"/>
            <a:chExt cx="3351891" cy="369332"/>
          </a:xfrm>
        </p:grpSpPr>
        <p:sp>
          <p:nvSpPr>
            <p:cNvPr id="250" name="TextBox 249"/>
            <p:cNvSpPr txBox="1"/>
            <p:nvPr userDrawn="1"/>
          </p:nvSpPr>
          <p:spPr>
            <a:xfrm>
              <a:off x="2343317" y="601866"/>
              <a:ext cx="31157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자본의 구성</a:t>
              </a:r>
            </a:p>
          </p:txBody>
        </p:sp>
        <p:sp>
          <p:nvSpPr>
            <p:cNvPr id="253" name="눈물 방울 252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4" name="직사각형 223"/>
          <p:cNvSpPr/>
          <p:nvPr userDrawn="1"/>
        </p:nvSpPr>
        <p:spPr>
          <a:xfrm>
            <a:off x="8250902" y="0"/>
            <a:ext cx="900000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10.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자본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2562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직사각형 224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5" name="그룹 244"/>
          <p:cNvGrpSpPr/>
          <p:nvPr userDrawn="1"/>
        </p:nvGrpSpPr>
        <p:grpSpPr>
          <a:xfrm>
            <a:off x="91285" y="145881"/>
            <a:ext cx="4921390" cy="769441"/>
            <a:chOff x="80163" y="415932"/>
            <a:chExt cx="4921390" cy="769441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직사각형 24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8" name="TextBox 247"/>
            <p:cNvSpPr txBox="1"/>
            <p:nvPr userDrawn="1"/>
          </p:nvSpPr>
          <p:spPr>
            <a:xfrm>
              <a:off x="841614" y="565467"/>
              <a:ext cx="415993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 err="1"/>
                <a:t>납입자본</a:t>
              </a:r>
              <a:endParaRPr lang="ko-KR" altLang="en-US" sz="3200" b="1" dirty="0"/>
            </a:p>
          </p:txBody>
        </p:sp>
      </p:grpSp>
      <p:grpSp>
        <p:nvGrpSpPr>
          <p:cNvPr id="249" name="그룹 248"/>
          <p:cNvGrpSpPr/>
          <p:nvPr userDrawn="1"/>
        </p:nvGrpSpPr>
        <p:grpSpPr>
          <a:xfrm>
            <a:off x="2896055" y="400692"/>
            <a:ext cx="3351891" cy="369332"/>
            <a:chOff x="2107219" y="601866"/>
            <a:chExt cx="3351891" cy="369332"/>
          </a:xfrm>
        </p:grpSpPr>
        <p:sp>
          <p:nvSpPr>
            <p:cNvPr id="250" name="TextBox 249"/>
            <p:cNvSpPr txBox="1"/>
            <p:nvPr userDrawn="1"/>
          </p:nvSpPr>
          <p:spPr>
            <a:xfrm>
              <a:off x="2343317" y="601866"/>
              <a:ext cx="31157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주식의 종류와 주식수의 체계</a:t>
              </a:r>
            </a:p>
          </p:txBody>
        </p:sp>
        <p:sp>
          <p:nvSpPr>
            <p:cNvPr id="253" name="눈물 방울 252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4" name="직사각형 223"/>
          <p:cNvSpPr/>
          <p:nvPr userDrawn="1"/>
        </p:nvSpPr>
        <p:spPr>
          <a:xfrm>
            <a:off x="8250902" y="0"/>
            <a:ext cx="900000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10.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자본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477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직사각형 224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5" name="그룹 244"/>
          <p:cNvGrpSpPr/>
          <p:nvPr userDrawn="1"/>
        </p:nvGrpSpPr>
        <p:grpSpPr>
          <a:xfrm>
            <a:off x="91285" y="145881"/>
            <a:ext cx="4828306" cy="769441"/>
            <a:chOff x="80163" y="415932"/>
            <a:chExt cx="4828306" cy="769441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직사각형 24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8" name="TextBox 247"/>
            <p:cNvSpPr txBox="1"/>
            <p:nvPr userDrawn="1"/>
          </p:nvSpPr>
          <p:spPr>
            <a:xfrm>
              <a:off x="875696" y="574237"/>
              <a:ext cx="40327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 err="1"/>
                <a:t>납입자본</a:t>
              </a:r>
              <a:endParaRPr lang="ko-KR" altLang="en-US" sz="3200" b="1" dirty="0"/>
            </a:p>
          </p:txBody>
        </p:sp>
      </p:grpSp>
      <p:grpSp>
        <p:nvGrpSpPr>
          <p:cNvPr id="249" name="그룹 248"/>
          <p:cNvGrpSpPr/>
          <p:nvPr userDrawn="1"/>
        </p:nvGrpSpPr>
        <p:grpSpPr>
          <a:xfrm>
            <a:off x="2677277" y="410054"/>
            <a:ext cx="3341720" cy="369332"/>
            <a:chOff x="2107219" y="613082"/>
            <a:chExt cx="3341720" cy="369332"/>
          </a:xfrm>
        </p:grpSpPr>
        <p:sp>
          <p:nvSpPr>
            <p:cNvPr id="250" name="TextBox 249"/>
            <p:cNvSpPr txBox="1"/>
            <p:nvPr userDrawn="1"/>
          </p:nvSpPr>
          <p:spPr>
            <a:xfrm>
              <a:off x="2333146" y="613082"/>
              <a:ext cx="31157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 err="1"/>
                <a:t>납입자본</a:t>
              </a:r>
              <a:endParaRPr lang="ko-KR" altLang="en-US" b="1" dirty="0"/>
            </a:p>
          </p:txBody>
        </p:sp>
        <p:sp>
          <p:nvSpPr>
            <p:cNvPr id="253" name="눈물 방울 252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4" name="직사각형 223"/>
          <p:cNvSpPr/>
          <p:nvPr userDrawn="1"/>
        </p:nvSpPr>
        <p:spPr>
          <a:xfrm>
            <a:off x="8250902" y="0"/>
            <a:ext cx="900000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10.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자본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9238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직사각형 224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5" name="그룹 244"/>
          <p:cNvGrpSpPr/>
          <p:nvPr userDrawn="1"/>
        </p:nvGrpSpPr>
        <p:grpSpPr>
          <a:xfrm>
            <a:off x="91285" y="145881"/>
            <a:ext cx="4820349" cy="769441"/>
            <a:chOff x="80163" y="415932"/>
            <a:chExt cx="4820349" cy="769441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직사각형 24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8" name="TextBox 247"/>
            <p:cNvSpPr txBox="1"/>
            <p:nvPr userDrawn="1"/>
          </p:nvSpPr>
          <p:spPr>
            <a:xfrm>
              <a:off x="841614" y="565467"/>
              <a:ext cx="405889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 err="1"/>
                <a:t>납입자본</a:t>
              </a:r>
              <a:endParaRPr lang="ko-KR" altLang="en-US" sz="3200" b="1" dirty="0"/>
            </a:p>
          </p:txBody>
        </p:sp>
      </p:grpSp>
      <p:grpSp>
        <p:nvGrpSpPr>
          <p:cNvPr id="249" name="그룹 248"/>
          <p:cNvGrpSpPr/>
          <p:nvPr userDrawn="1"/>
        </p:nvGrpSpPr>
        <p:grpSpPr>
          <a:xfrm>
            <a:off x="2882185" y="403137"/>
            <a:ext cx="3922229" cy="369332"/>
            <a:chOff x="2107219" y="601866"/>
            <a:chExt cx="3922229" cy="369332"/>
          </a:xfrm>
        </p:grpSpPr>
        <p:sp>
          <p:nvSpPr>
            <p:cNvPr id="250" name="TextBox 249"/>
            <p:cNvSpPr txBox="1"/>
            <p:nvPr userDrawn="1"/>
          </p:nvSpPr>
          <p:spPr>
            <a:xfrm>
              <a:off x="2343317" y="601866"/>
              <a:ext cx="36861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주식의 발행</a:t>
              </a:r>
            </a:p>
          </p:txBody>
        </p:sp>
        <p:sp>
          <p:nvSpPr>
            <p:cNvPr id="253" name="눈물 방울 252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4" name="직사각형 223"/>
          <p:cNvSpPr/>
          <p:nvPr userDrawn="1"/>
        </p:nvSpPr>
        <p:spPr>
          <a:xfrm>
            <a:off x="8250902" y="0"/>
            <a:ext cx="900000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10.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자본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127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직사각형 223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5" name="그룹 244"/>
          <p:cNvGrpSpPr/>
          <p:nvPr userDrawn="1"/>
        </p:nvGrpSpPr>
        <p:grpSpPr>
          <a:xfrm>
            <a:off x="91285" y="145881"/>
            <a:ext cx="4776806" cy="769441"/>
            <a:chOff x="80163" y="415932"/>
            <a:chExt cx="4776806" cy="769441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직사각형 24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8" name="TextBox 247"/>
            <p:cNvSpPr txBox="1"/>
            <p:nvPr userDrawn="1"/>
          </p:nvSpPr>
          <p:spPr>
            <a:xfrm>
              <a:off x="841614" y="565467"/>
              <a:ext cx="401535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3200" b="1" dirty="0" err="1"/>
                <a:t>납입자본</a:t>
              </a:r>
              <a:endParaRPr lang="ko-KR" altLang="en-US" sz="3200" b="1" dirty="0"/>
            </a:p>
          </p:txBody>
        </p:sp>
      </p:grpSp>
      <p:grpSp>
        <p:nvGrpSpPr>
          <p:cNvPr id="249" name="그룹 248"/>
          <p:cNvGrpSpPr/>
          <p:nvPr userDrawn="1"/>
        </p:nvGrpSpPr>
        <p:grpSpPr>
          <a:xfrm>
            <a:off x="2750421" y="400692"/>
            <a:ext cx="3922229" cy="369332"/>
            <a:chOff x="2107219" y="601866"/>
            <a:chExt cx="3922229" cy="369332"/>
          </a:xfrm>
        </p:grpSpPr>
        <p:sp>
          <p:nvSpPr>
            <p:cNvPr id="250" name="TextBox 249"/>
            <p:cNvSpPr txBox="1"/>
            <p:nvPr userDrawn="1"/>
          </p:nvSpPr>
          <p:spPr>
            <a:xfrm>
              <a:off x="2343317" y="601866"/>
              <a:ext cx="36861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자본금의 증가와 감소</a:t>
              </a:r>
            </a:p>
          </p:txBody>
        </p:sp>
        <p:sp>
          <p:nvSpPr>
            <p:cNvPr id="253" name="눈물 방울 252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5" name="직사각형 224"/>
          <p:cNvSpPr/>
          <p:nvPr userDrawn="1"/>
        </p:nvSpPr>
        <p:spPr>
          <a:xfrm>
            <a:off x="8250902" y="0"/>
            <a:ext cx="900000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10.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자본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4999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직사각형 225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5" name="그룹 244"/>
          <p:cNvGrpSpPr/>
          <p:nvPr userDrawn="1"/>
        </p:nvGrpSpPr>
        <p:grpSpPr>
          <a:xfrm>
            <a:off x="91285" y="145881"/>
            <a:ext cx="6422725" cy="769441"/>
            <a:chOff x="80163" y="415932"/>
            <a:chExt cx="6422725" cy="769441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직사각형 24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8" name="TextBox 247"/>
            <p:cNvSpPr txBox="1"/>
            <p:nvPr userDrawn="1"/>
          </p:nvSpPr>
          <p:spPr>
            <a:xfrm>
              <a:off x="841613" y="565467"/>
              <a:ext cx="56612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이익잉여금</a:t>
              </a:r>
            </a:p>
          </p:txBody>
        </p:sp>
      </p:grpSp>
      <p:sp>
        <p:nvSpPr>
          <p:cNvPr id="220" name="직사각형 219"/>
          <p:cNvSpPr/>
          <p:nvPr userDrawn="1"/>
        </p:nvSpPr>
        <p:spPr>
          <a:xfrm>
            <a:off x="8250902" y="0"/>
            <a:ext cx="900000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10.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자본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grpSp>
        <p:nvGrpSpPr>
          <p:cNvPr id="221" name="그룹 220"/>
          <p:cNvGrpSpPr/>
          <p:nvPr userDrawn="1"/>
        </p:nvGrpSpPr>
        <p:grpSpPr>
          <a:xfrm>
            <a:off x="3162119" y="400692"/>
            <a:ext cx="3351891" cy="369332"/>
            <a:chOff x="2107219" y="601866"/>
            <a:chExt cx="3351891" cy="369332"/>
          </a:xfrm>
        </p:grpSpPr>
        <p:sp>
          <p:nvSpPr>
            <p:cNvPr id="222" name="TextBox 221"/>
            <p:cNvSpPr txBox="1"/>
            <p:nvPr userDrawn="1"/>
          </p:nvSpPr>
          <p:spPr>
            <a:xfrm>
              <a:off x="2343317" y="601866"/>
              <a:ext cx="31157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이익잉여금의 의의</a:t>
              </a:r>
            </a:p>
          </p:txBody>
        </p:sp>
        <p:sp>
          <p:nvSpPr>
            <p:cNvPr id="225" name="눈물 방울 224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4504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직사각형 225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5" name="그룹 244"/>
          <p:cNvGrpSpPr/>
          <p:nvPr userDrawn="1"/>
        </p:nvGrpSpPr>
        <p:grpSpPr>
          <a:xfrm>
            <a:off x="91285" y="145881"/>
            <a:ext cx="6422725" cy="769441"/>
            <a:chOff x="80163" y="415932"/>
            <a:chExt cx="6422725" cy="769441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직사각형 24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8" name="TextBox 247"/>
            <p:cNvSpPr txBox="1"/>
            <p:nvPr userDrawn="1"/>
          </p:nvSpPr>
          <p:spPr>
            <a:xfrm>
              <a:off x="841613" y="565467"/>
              <a:ext cx="56612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이익잉여금</a:t>
              </a:r>
            </a:p>
          </p:txBody>
        </p:sp>
      </p:grpSp>
      <p:sp>
        <p:nvSpPr>
          <p:cNvPr id="220" name="직사각형 219"/>
          <p:cNvSpPr/>
          <p:nvPr userDrawn="1"/>
        </p:nvSpPr>
        <p:spPr>
          <a:xfrm>
            <a:off x="8250902" y="0"/>
            <a:ext cx="900000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10.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자본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grpSp>
        <p:nvGrpSpPr>
          <p:cNvPr id="221" name="그룹 220"/>
          <p:cNvGrpSpPr/>
          <p:nvPr userDrawn="1"/>
        </p:nvGrpSpPr>
        <p:grpSpPr>
          <a:xfrm>
            <a:off x="3162119" y="400692"/>
            <a:ext cx="3351891" cy="369332"/>
            <a:chOff x="2107219" y="601866"/>
            <a:chExt cx="3351891" cy="369332"/>
          </a:xfrm>
        </p:grpSpPr>
        <p:sp>
          <p:nvSpPr>
            <p:cNvPr id="222" name="TextBox 221"/>
            <p:cNvSpPr txBox="1"/>
            <p:nvPr userDrawn="1"/>
          </p:nvSpPr>
          <p:spPr>
            <a:xfrm>
              <a:off x="2343317" y="601866"/>
              <a:ext cx="31157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이익잉여금의 처분</a:t>
              </a:r>
            </a:p>
          </p:txBody>
        </p:sp>
        <p:sp>
          <p:nvSpPr>
            <p:cNvPr id="225" name="눈물 방울 224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3814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직사각형 225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5" name="그룹 244"/>
          <p:cNvGrpSpPr/>
          <p:nvPr userDrawn="1"/>
        </p:nvGrpSpPr>
        <p:grpSpPr>
          <a:xfrm>
            <a:off x="91285" y="145881"/>
            <a:ext cx="6422725" cy="769441"/>
            <a:chOff x="80163" y="415932"/>
            <a:chExt cx="6422725" cy="769441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직사각형 24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8" name="TextBox 247"/>
            <p:cNvSpPr txBox="1"/>
            <p:nvPr userDrawn="1"/>
          </p:nvSpPr>
          <p:spPr>
            <a:xfrm>
              <a:off x="841613" y="565467"/>
              <a:ext cx="56612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이익잉여금</a:t>
              </a:r>
            </a:p>
          </p:txBody>
        </p:sp>
      </p:grpSp>
      <p:sp>
        <p:nvSpPr>
          <p:cNvPr id="220" name="직사각형 219"/>
          <p:cNvSpPr/>
          <p:nvPr userDrawn="1"/>
        </p:nvSpPr>
        <p:spPr>
          <a:xfrm>
            <a:off x="8250902" y="0"/>
            <a:ext cx="900000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10.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자본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grpSp>
        <p:nvGrpSpPr>
          <p:cNvPr id="221" name="그룹 220"/>
          <p:cNvGrpSpPr/>
          <p:nvPr userDrawn="1"/>
        </p:nvGrpSpPr>
        <p:grpSpPr>
          <a:xfrm>
            <a:off x="3162119" y="400692"/>
            <a:ext cx="3351891" cy="369332"/>
            <a:chOff x="2107219" y="601866"/>
            <a:chExt cx="3351891" cy="369332"/>
          </a:xfrm>
        </p:grpSpPr>
        <p:sp>
          <p:nvSpPr>
            <p:cNvPr id="222" name="TextBox 221"/>
            <p:cNvSpPr txBox="1"/>
            <p:nvPr userDrawn="1"/>
          </p:nvSpPr>
          <p:spPr>
            <a:xfrm>
              <a:off x="2343317" y="601866"/>
              <a:ext cx="31157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배당</a:t>
              </a:r>
            </a:p>
          </p:txBody>
        </p:sp>
        <p:sp>
          <p:nvSpPr>
            <p:cNvPr id="225" name="눈물 방울 224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0155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/>
          <p:cNvSpPr/>
          <p:nvPr userDrawn="1"/>
        </p:nvSpPr>
        <p:spPr>
          <a:xfrm>
            <a:off x="0" y="0"/>
            <a:ext cx="9144001" cy="1282278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5" name="그룹 244"/>
          <p:cNvGrpSpPr/>
          <p:nvPr userDrawn="1"/>
        </p:nvGrpSpPr>
        <p:grpSpPr>
          <a:xfrm>
            <a:off x="91285" y="145881"/>
            <a:ext cx="7467754" cy="769441"/>
            <a:chOff x="80163" y="415932"/>
            <a:chExt cx="7467754" cy="769441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04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직사각형 24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8" name="TextBox 247"/>
            <p:cNvSpPr txBox="1"/>
            <p:nvPr userDrawn="1"/>
          </p:nvSpPr>
          <p:spPr>
            <a:xfrm>
              <a:off x="841613" y="565467"/>
              <a:ext cx="67063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 err="1"/>
                <a:t>자본조정과</a:t>
              </a:r>
              <a:r>
                <a:rPr lang="ko-KR" altLang="en-US" sz="3200" b="1" dirty="0"/>
                <a:t> </a:t>
              </a:r>
              <a:r>
                <a:rPr lang="ko-KR" altLang="en-US" sz="3200" b="1" dirty="0" err="1"/>
                <a:t>기타포괄손익누계액</a:t>
              </a:r>
              <a:endParaRPr lang="ko-KR" altLang="en-US" sz="3200" b="1" dirty="0"/>
            </a:p>
          </p:txBody>
        </p:sp>
      </p:grpSp>
      <p:sp>
        <p:nvSpPr>
          <p:cNvPr id="220" name="직사각형 219"/>
          <p:cNvSpPr/>
          <p:nvPr userDrawn="1"/>
        </p:nvSpPr>
        <p:spPr>
          <a:xfrm>
            <a:off x="8250902" y="0"/>
            <a:ext cx="900000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10.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자본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grpSp>
        <p:nvGrpSpPr>
          <p:cNvPr id="221" name="그룹 220"/>
          <p:cNvGrpSpPr/>
          <p:nvPr userDrawn="1"/>
        </p:nvGrpSpPr>
        <p:grpSpPr>
          <a:xfrm>
            <a:off x="828183" y="912946"/>
            <a:ext cx="3351891" cy="369332"/>
            <a:chOff x="2107219" y="601866"/>
            <a:chExt cx="3351891" cy="369332"/>
          </a:xfrm>
        </p:grpSpPr>
        <p:sp>
          <p:nvSpPr>
            <p:cNvPr id="222" name="TextBox 221"/>
            <p:cNvSpPr txBox="1"/>
            <p:nvPr userDrawn="1"/>
          </p:nvSpPr>
          <p:spPr>
            <a:xfrm>
              <a:off x="2343317" y="601866"/>
              <a:ext cx="31157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 err="1"/>
                <a:t>자본조정의</a:t>
              </a:r>
              <a:r>
                <a:rPr lang="ko-KR" altLang="en-US" b="1" dirty="0"/>
                <a:t> 성격과 종류</a:t>
              </a:r>
            </a:p>
          </p:txBody>
        </p:sp>
        <p:sp>
          <p:nvSpPr>
            <p:cNvPr id="225" name="눈물 방울 224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3160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/>
          <p:cNvSpPr/>
          <p:nvPr userDrawn="1"/>
        </p:nvSpPr>
        <p:spPr>
          <a:xfrm>
            <a:off x="0" y="0"/>
            <a:ext cx="9144001" cy="1171443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5" name="그룹 244"/>
          <p:cNvGrpSpPr/>
          <p:nvPr userDrawn="1"/>
        </p:nvGrpSpPr>
        <p:grpSpPr>
          <a:xfrm>
            <a:off x="91285" y="145881"/>
            <a:ext cx="7467754" cy="769441"/>
            <a:chOff x="80163" y="415932"/>
            <a:chExt cx="7467754" cy="769441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04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직사각형 24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8" name="TextBox 247"/>
            <p:cNvSpPr txBox="1"/>
            <p:nvPr userDrawn="1"/>
          </p:nvSpPr>
          <p:spPr>
            <a:xfrm>
              <a:off x="841613" y="565467"/>
              <a:ext cx="67063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 err="1"/>
                <a:t>자본조정과</a:t>
              </a:r>
              <a:r>
                <a:rPr lang="ko-KR" altLang="en-US" sz="3200" b="1" dirty="0"/>
                <a:t> </a:t>
              </a:r>
              <a:r>
                <a:rPr lang="ko-KR" altLang="en-US" sz="3200" b="1" dirty="0" err="1"/>
                <a:t>기타포괄손익누계액</a:t>
              </a:r>
              <a:endParaRPr lang="ko-KR" altLang="en-US" sz="3200" b="1" dirty="0"/>
            </a:p>
          </p:txBody>
        </p:sp>
      </p:grpSp>
      <p:sp>
        <p:nvSpPr>
          <p:cNvPr id="220" name="직사각형 219"/>
          <p:cNvSpPr/>
          <p:nvPr userDrawn="1"/>
        </p:nvSpPr>
        <p:spPr>
          <a:xfrm>
            <a:off x="8250902" y="0"/>
            <a:ext cx="900000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10.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자본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grpSp>
        <p:nvGrpSpPr>
          <p:cNvPr id="221" name="그룹 220"/>
          <p:cNvGrpSpPr/>
          <p:nvPr userDrawn="1"/>
        </p:nvGrpSpPr>
        <p:grpSpPr>
          <a:xfrm>
            <a:off x="828183" y="802111"/>
            <a:ext cx="1424098" cy="369332"/>
            <a:chOff x="2107219" y="601866"/>
            <a:chExt cx="1424098" cy="369332"/>
          </a:xfrm>
        </p:grpSpPr>
        <p:sp>
          <p:nvSpPr>
            <p:cNvPr id="222" name="TextBox 221"/>
            <p:cNvSpPr txBox="1"/>
            <p:nvPr userDrawn="1"/>
          </p:nvSpPr>
          <p:spPr>
            <a:xfrm>
              <a:off x="2343317" y="601866"/>
              <a:ext cx="118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자기주식</a:t>
              </a:r>
            </a:p>
          </p:txBody>
        </p:sp>
        <p:sp>
          <p:nvSpPr>
            <p:cNvPr id="225" name="눈물 방울 224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6195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직사각형 225"/>
          <p:cNvSpPr/>
          <p:nvPr userDrawn="1"/>
        </p:nvSpPr>
        <p:spPr>
          <a:xfrm>
            <a:off x="0" y="0"/>
            <a:ext cx="9144001" cy="1150660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5" name="그룹 244"/>
          <p:cNvGrpSpPr/>
          <p:nvPr userDrawn="1"/>
        </p:nvGrpSpPr>
        <p:grpSpPr>
          <a:xfrm>
            <a:off x="91285" y="145881"/>
            <a:ext cx="7467754" cy="769441"/>
            <a:chOff x="80163" y="415932"/>
            <a:chExt cx="7467754" cy="769441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04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직사각형 24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8" name="TextBox 247"/>
            <p:cNvSpPr txBox="1"/>
            <p:nvPr userDrawn="1"/>
          </p:nvSpPr>
          <p:spPr>
            <a:xfrm>
              <a:off x="841613" y="565467"/>
              <a:ext cx="67063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 err="1"/>
                <a:t>자본조정과</a:t>
              </a:r>
              <a:r>
                <a:rPr lang="ko-KR" altLang="en-US" sz="3200" b="1" dirty="0"/>
                <a:t> </a:t>
              </a:r>
              <a:r>
                <a:rPr lang="ko-KR" altLang="en-US" sz="3200" b="1" dirty="0" err="1"/>
                <a:t>기타포괄손익누계액</a:t>
              </a:r>
              <a:endParaRPr lang="ko-KR" altLang="en-US" sz="3200" b="1" dirty="0"/>
            </a:p>
          </p:txBody>
        </p:sp>
      </p:grpSp>
      <p:sp>
        <p:nvSpPr>
          <p:cNvPr id="220" name="직사각형 219"/>
          <p:cNvSpPr/>
          <p:nvPr userDrawn="1"/>
        </p:nvSpPr>
        <p:spPr>
          <a:xfrm>
            <a:off x="8250902" y="0"/>
            <a:ext cx="900000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10.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자본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grpSp>
        <p:nvGrpSpPr>
          <p:cNvPr id="221" name="그룹 220"/>
          <p:cNvGrpSpPr/>
          <p:nvPr userDrawn="1"/>
        </p:nvGrpSpPr>
        <p:grpSpPr>
          <a:xfrm>
            <a:off x="828183" y="781328"/>
            <a:ext cx="2585156" cy="369332"/>
            <a:chOff x="2107219" y="601866"/>
            <a:chExt cx="2585156" cy="369332"/>
          </a:xfrm>
        </p:grpSpPr>
        <p:sp>
          <p:nvSpPr>
            <p:cNvPr id="222" name="TextBox 221"/>
            <p:cNvSpPr txBox="1"/>
            <p:nvPr userDrawn="1"/>
          </p:nvSpPr>
          <p:spPr>
            <a:xfrm>
              <a:off x="2349830" y="601866"/>
              <a:ext cx="23425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 err="1"/>
                <a:t>기타포괄손익누계액</a:t>
              </a:r>
              <a:endParaRPr lang="ko-KR" altLang="en-US" b="1" dirty="0"/>
            </a:p>
          </p:txBody>
        </p:sp>
        <p:sp>
          <p:nvSpPr>
            <p:cNvPr id="225" name="눈물 방울 224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3092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직사각형 218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5" name="그룹 244"/>
          <p:cNvGrpSpPr/>
          <p:nvPr userDrawn="1"/>
        </p:nvGrpSpPr>
        <p:grpSpPr>
          <a:xfrm>
            <a:off x="91285" y="145881"/>
            <a:ext cx="3257562" cy="769441"/>
            <a:chOff x="80163" y="415932"/>
            <a:chExt cx="3069207" cy="769441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05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직사각형 24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8" name="TextBox 247"/>
            <p:cNvSpPr txBox="1"/>
            <p:nvPr userDrawn="1"/>
          </p:nvSpPr>
          <p:spPr>
            <a:xfrm>
              <a:off x="841613" y="565467"/>
              <a:ext cx="230775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자본변동표</a:t>
              </a:r>
            </a:p>
          </p:txBody>
        </p:sp>
      </p:grpSp>
      <p:sp>
        <p:nvSpPr>
          <p:cNvPr id="220" name="직사각형 219"/>
          <p:cNvSpPr/>
          <p:nvPr userDrawn="1"/>
        </p:nvSpPr>
        <p:spPr>
          <a:xfrm>
            <a:off x="8250902" y="0"/>
            <a:ext cx="900000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10.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자본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8285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6238430"/>
            <a:ext cx="9144000" cy="61956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2698377" y="1054563"/>
            <a:ext cx="3820272" cy="1773740"/>
            <a:chOff x="1963183" y="1911988"/>
            <a:chExt cx="3820272" cy="1773740"/>
          </a:xfrm>
        </p:grpSpPr>
        <p:sp>
          <p:nvSpPr>
            <p:cNvPr id="9" name="TextBox 8"/>
            <p:cNvSpPr txBox="1"/>
            <p:nvPr/>
          </p:nvSpPr>
          <p:spPr>
            <a:xfrm>
              <a:off x="3271961" y="2017761"/>
              <a:ext cx="2511494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6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자본</a:t>
              </a:r>
              <a:endParaRPr lang="en-US" altLang="ko-KR" sz="66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cxnSp>
          <p:nvCxnSpPr>
            <p:cNvPr id="10" name="직선 연결선 9"/>
            <p:cNvCxnSpPr/>
            <p:nvPr/>
          </p:nvCxnSpPr>
          <p:spPr>
            <a:xfrm>
              <a:off x="3072463" y="3231530"/>
              <a:ext cx="2022346" cy="0"/>
            </a:xfrm>
            <a:prstGeom prst="line">
              <a:avLst/>
            </a:prstGeom>
            <a:ln w="38100">
              <a:solidFill>
                <a:srgbClr val="406FA7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9"/>
            <p:cNvSpPr txBox="1">
              <a:spLocks noChangeArrowheads="1"/>
            </p:cNvSpPr>
            <p:nvPr/>
          </p:nvSpPr>
          <p:spPr bwMode="auto">
            <a:xfrm>
              <a:off x="3029947" y="3408729"/>
              <a:ext cx="206486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algn="l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di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굴림" panose="020B0600000101010101" pitchFamily="50" charset="-127"/>
                  <a:cs typeface="Arial" panose="020B0604020202020204" pitchFamily="34" charset="0"/>
                </a:rPr>
                <a:t>EQUITY</a:t>
              </a: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963183" y="1911988"/>
              <a:ext cx="1174535" cy="1329738"/>
              <a:chOff x="1963183" y="2062463"/>
              <a:chExt cx="1174535" cy="1329738"/>
            </a:xfrm>
          </p:grpSpPr>
          <p:sp>
            <p:nvSpPr>
              <p:cNvPr id="20" name="자유형 19"/>
              <p:cNvSpPr/>
              <p:nvPr/>
            </p:nvSpPr>
            <p:spPr>
              <a:xfrm>
                <a:off x="1963183" y="2062463"/>
                <a:ext cx="1174535" cy="1329738"/>
              </a:xfrm>
              <a:custGeom>
                <a:avLst/>
                <a:gdLst>
                  <a:gd name="connsiteX0" fmla="*/ 687736 w 1174535"/>
                  <a:gd name="connsiteY0" fmla="*/ 178488 h 1329738"/>
                  <a:gd name="connsiteX1" fmla="*/ 1174535 w 1174535"/>
                  <a:gd name="connsiteY1" fmla="*/ 665287 h 1329738"/>
                  <a:gd name="connsiteX2" fmla="*/ 687736 w 1174535"/>
                  <a:gd name="connsiteY2" fmla="*/ 1152086 h 1329738"/>
                  <a:gd name="connsiteX3" fmla="*/ 200937 w 1174535"/>
                  <a:gd name="connsiteY3" fmla="*/ 665287 h 1329738"/>
                  <a:gd name="connsiteX4" fmla="*/ 687736 w 1174535"/>
                  <a:gd name="connsiteY4" fmla="*/ 178488 h 1329738"/>
                  <a:gd name="connsiteX5" fmla="*/ 664869 w 1174535"/>
                  <a:gd name="connsiteY5" fmla="*/ 0 h 1329738"/>
                  <a:gd name="connsiteX6" fmla="*/ 664869 w 1174535"/>
                  <a:gd name="connsiteY6" fmla="*/ 107437 h 1329738"/>
                  <a:gd name="connsiteX7" fmla="*/ 107437 w 1174535"/>
                  <a:gd name="connsiteY7" fmla="*/ 664869 h 1329738"/>
                  <a:gd name="connsiteX8" fmla="*/ 664869 w 1174535"/>
                  <a:gd name="connsiteY8" fmla="*/ 1222301 h 1329738"/>
                  <a:gd name="connsiteX9" fmla="*/ 664869 w 1174535"/>
                  <a:gd name="connsiteY9" fmla="*/ 1329738 h 1329738"/>
                  <a:gd name="connsiteX10" fmla="*/ 0 w 1174535"/>
                  <a:gd name="connsiteY10" fmla="*/ 664869 h 1329738"/>
                  <a:gd name="connsiteX11" fmla="*/ 664869 w 1174535"/>
                  <a:gd name="connsiteY11" fmla="*/ 0 h 1329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74535" h="1329738">
                    <a:moveTo>
                      <a:pt x="687736" y="178488"/>
                    </a:moveTo>
                    <a:cubicBezTo>
                      <a:pt x="956588" y="178488"/>
                      <a:pt x="1174535" y="396435"/>
                      <a:pt x="1174535" y="665287"/>
                    </a:cubicBezTo>
                    <a:cubicBezTo>
                      <a:pt x="1174535" y="934139"/>
                      <a:pt x="956588" y="1152086"/>
                      <a:pt x="687736" y="1152086"/>
                    </a:cubicBezTo>
                    <a:cubicBezTo>
                      <a:pt x="418884" y="1152086"/>
                      <a:pt x="200937" y="934139"/>
                      <a:pt x="200937" y="665287"/>
                    </a:cubicBezTo>
                    <a:cubicBezTo>
                      <a:pt x="200937" y="396435"/>
                      <a:pt x="418884" y="178488"/>
                      <a:pt x="687736" y="178488"/>
                    </a:cubicBezTo>
                    <a:close/>
                    <a:moveTo>
                      <a:pt x="664869" y="0"/>
                    </a:moveTo>
                    <a:lnTo>
                      <a:pt x="664869" y="107437"/>
                    </a:lnTo>
                    <a:cubicBezTo>
                      <a:pt x="357008" y="107437"/>
                      <a:pt x="107437" y="357008"/>
                      <a:pt x="107437" y="664869"/>
                    </a:cubicBezTo>
                    <a:cubicBezTo>
                      <a:pt x="107437" y="972730"/>
                      <a:pt x="357008" y="1222301"/>
                      <a:pt x="664869" y="1222301"/>
                    </a:cubicBezTo>
                    <a:lnTo>
                      <a:pt x="664869" y="1329738"/>
                    </a:lnTo>
                    <a:cubicBezTo>
                      <a:pt x="297672" y="1329738"/>
                      <a:pt x="0" y="1032066"/>
                      <a:pt x="0" y="664869"/>
                    </a:cubicBezTo>
                    <a:cubicBezTo>
                      <a:pt x="0" y="297672"/>
                      <a:pt x="297672" y="0"/>
                      <a:pt x="664869" y="0"/>
                    </a:cubicBezTo>
                    <a:close/>
                  </a:path>
                </a:pathLst>
              </a:custGeom>
              <a:gradFill>
                <a:gsLst>
                  <a:gs pos="37000">
                    <a:srgbClr val="406FA7"/>
                  </a:gs>
                  <a:gs pos="52000">
                    <a:srgbClr val="4C979A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" name="TextBox 1"/>
              <p:cNvSpPr txBox="1"/>
              <p:nvPr/>
            </p:nvSpPr>
            <p:spPr>
              <a:xfrm>
                <a:off x="2254396" y="2341220"/>
                <a:ext cx="818067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44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  <a:endParaRPr lang="ko-KR" altLang="en-US" sz="4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5758-69DF-4275-B03F-FF6698B2209A}" type="slidenum">
              <a:rPr lang="ko-KR" altLang="en-US" smtClean="0"/>
              <a:pPr/>
              <a:t>1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4A1199-98BD-403B-8E31-5BFA6563B8B5}"/>
              </a:ext>
            </a:extLst>
          </p:cNvPr>
          <p:cNvSpPr txBox="1"/>
          <p:nvPr/>
        </p:nvSpPr>
        <p:spPr>
          <a:xfrm>
            <a:off x="5801710" y="6356703"/>
            <a:ext cx="334229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사례와 함께하는 </a:t>
            </a:r>
            <a:r>
              <a:rPr lang="ko-KR" altLang="en-US" sz="2600" b="1" dirty="0">
                <a:solidFill>
                  <a:schemeClr val="bg1"/>
                </a:solidFill>
                <a:latin typeface="함초롬바탕 확장" panose="02030504000101010101" pitchFamily="18" charset="-127"/>
                <a:ea typeface="함초롬바탕 확장" panose="02030504000101010101" pitchFamily="18" charset="-127"/>
              </a:rPr>
              <a:t>회계원리</a:t>
            </a:r>
          </a:p>
        </p:txBody>
      </p:sp>
    </p:spTree>
    <p:extLst>
      <p:ext uri="{BB962C8B-B14F-4D97-AF65-F5344CB8AC3E}">
        <p14:creationId xmlns:p14="http://schemas.microsoft.com/office/powerpoint/2010/main" val="2786524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271867" y="1379015"/>
            <a:ext cx="8641369" cy="5110138"/>
            <a:chOff x="2626683" y="1693823"/>
            <a:chExt cx="11521825" cy="6813518"/>
          </a:xfrm>
        </p:grpSpPr>
        <p:sp>
          <p:nvSpPr>
            <p:cNvPr id="7" name="Rectangle 15"/>
            <p:cNvSpPr>
              <a:spLocks noChangeArrowheads="1"/>
            </p:cNvSpPr>
            <p:nvPr/>
          </p:nvSpPr>
          <p:spPr bwMode="auto">
            <a:xfrm>
              <a:off x="2626683" y="2125622"/>
              <a:ext cx="11521825" cy="6381719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기업의 자금조달의 원천은 크게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타인자본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(=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부채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)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과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자기자본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(=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자본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)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으로 분류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en-US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자기자본</a:t>
              </a:r>
              <a:endParaRPr lang="en-US" altLang="ko-KR" sz="1600" b="1" dirty="0">
                <a:latin typeface="맑은 고딕" panose="020B0503020000020004" pitchFamily="50" charset="-127"/>
              </a:endParaRPr>
            </a:p>
            <a:p>
              <a:pPr marL="432000" indent="-252000">
                <a:lnSpc>
                  <a:spcPts val="2400"/>
                </a:lnSpc>
                <a:spcBef>
                  <a:spcPct val="0"/>
                </a:spcBef>
                <a:buClrTx/>
                <a:buFont typeface="Wingdings" panose="05000000000000000000" pitchFamily="2" charset="2"/>
                <a:buChar char="ü"/>
              </a:pPr>
              <a:r>
                <a:rPr lang="ko-KR" altLang="en-US" sz="1600" b="1" dirty="0">
                  <a:latin typeface="맑은 고딕" panose="020B0503020000020004" pitchFamily="50" charset="-127"/>
                </a:rPr>
                <a:t>주식을 발행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해서 투자자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주주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)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들에게 매각하여 자금을 조달하는 것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432000" indent="-252000">
                <a:lnSpc>
                  <a:spcPts val="2400"/>
                </a:lnSpc>
                <a:spcBef>
                  <a:spcPct val="0"/>
                </a:spcBef>
                <a:buClrTx/>
                <a:buFont typeface="Wingdings" panose="05000000000000000000" pitchFamily="2" charset="2"/>
                <a:buChar char="ü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채권과는 달리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만기가 정해져 있지 않고 확정된 대가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즉 이자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)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를 지급할 필요가 없음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432000" indent="-252000" latinLnBrk="0">
                <a:lnSpc>
                  <a:spcPts val="2400"/>
                </a:lnSpc>
                <a:spcBef>
                  <a:spcPct val="0"/>
                </a:spcBef>
                <a:buClrTx/>
                <a:buFont typeface="Wingdings" panose="05000000000000000000" pitchFamily="2" charset="2"/>
                <a:buChar char="ü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자금사용의 대가로 주주들에게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배당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지급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432000" indent="-252000">
                <a:lnSpc>
                  <a:spcPts val="2400"/>
                </a:lnSpc>
                <a:spcBef>
                  <a:spcPct val="0"/>
                </a:spcBef>
                <a:buClrTx/>
                <a:buFont typeface="Wingdings" panose="05000000000000000000" pitchFamily="2" charset="2"/>
                <a:buChar char="ü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회사가 망해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청산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하게 되면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채권자지분을 제외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한 부분이 주주들의 몫이 됨 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432000" indent="-252000">
                <a:lnSpc>
                  <a:spcPts val="2400"/>
                </a:lnSpc>
                <a:spcBef>
                  <a:spcPct val="0"/>
                </a:spcBef>
                <a:buClrTx/>
                <a:buFont typeface="Wingdings" panose="05000000000000000000" pitchFamily="2" charset="2"/>
                <a:buChar char="ü"/>
              </a:pPr>
              <a:r>
                <a:rPr lang="ko-KR" altLang="en-US" sz="1600" b="1" dirty="0">
                  <a:latin typeface="맑은 고딕" pitchFamily="50" charset="-127"/>
                </a:rPr>
                <a:t>기업의 자산에서 채권자 지분</a:t>
              </a:r>
              <a:r>
                <a:rPr lang="en-US" altLang="ko-KR" sz="1600" b="1" dirty="0">
                  <a:latin typeface="맑은 고딕" pitchFamily="50" charset="-127"/>
                </a:rPr>
                <a:t>(</a:t>
              </a:r>
              <a:r>
                <a:rPr lang="ko-KR" altLang="en-US" sz="1600" b="1" dirty="0">
                  <a:latin typeface="맑은 고딕" pitchFamily="50" charset="-127"/>
                </a:rPr>
                <a:t>부채</a:t>
              </a:r>
              <a:r>
                <a:rPr lang="en-US" altLang="ko-KR" sz="1600" b="1" dirty="0">
                  <a:latin typeface="맑은 고딕" pitchFamily="50" charset="-127"/>
                </a:rPr>
                <a:t>)</a:t>
              </a:r>
              <a:r>
                <a:rPr lang="ko-KR" altLang="en-US" sz="1600" b="1" dirty="0">
                  <a:latin typeface="맑은 고딕" pitchFamily="50" charset="-127"/>
                </a:rPr>
                <a:t>를 차감하고 남은 잔여분이라는 의미에서 </a:t>
              </a:r>
              <a:r>
                <a:rPr lang="ko-KR" altLang="en-US" sz="1600" b="1" dirty="0">
                  <a:solidFill>
                    <a:srgbClr val="C00000"/>
                  </a:solidFill>
                  <a:latin typeface="맑은 고딕" pitchFamily="50" charset="-127"/>
                </a:rPr>
                <a:t>잔여지분 </a:t>
              </a:r>
              <a:r>
                <a:rPr lang="ko-KR" altLang="en-US" sz="1600" b="1" dirty="0">
                  <a:latin typeface="맑은 고딕" pitchFamily="50" charset="-127"/>
                </a:rPr>
                <a:t>또는 </a:t>
              </a:r>
              <a:r>
                <a:rPr lang="ko-KR" altLang="en-US" sz="1600" b="1" dirty="0">
                  <a:solidFill>
                    <a:srgbClr val="C00000"/>
                  </a:solidFill>
                  <a:latin typeface="맑은 고딕" pitchFamily="50" charset="-127"/>
                </a:rPr>
                <a:t>순자산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itchFamily="50" charset="-127"/>
                </a:rPr>
                <a:t>이라고도 부름 </a:t>
              </a:r>
              <a:endParaRPr lang="en-US" altLang="ko-KR" sz="1600" b="1" dirty="0">
                <a:solidFill>
                  <a:schemeClr val="tx1"/>
                </a:solidFill>
                <a:latin typeface="맑은 고딕" pitchFamily="50" charset="-127"/>
              </a:endParaRPr>
            </a:p>
            <a:p>
              <a:pPr marL="432000" indent="-252000">
                <a:spcBef>
                  <a:spcPct val="0"/>
                </a:spcBef>
                <a:buClrTx/>
                <a:buFont typeface="Wingdings" panose="05000000000000000000" pitchFamily="2" charset="2"/>
                <a:buChar char="ü"/>
              </a:pPr>
              <a:endParaRPr lang="en-US" altLang="ko-KR" sz="1600" b="1" dirty="0">
                <a:solidFill>
                  <a:schemeClr val="tx1"/>
                </a:solidFill>
                <a:latin typeface="맑은 고딕" pitchFamily="50" charset="-127"/>
              </a:endParaRPr>
            </a:p>
            <a:p>
              <a:pPr marL="432000" indent="-252000">
                <a:spcBef>
                  <a:spcPct val="0"/>
                </a:spcBef>
                <a:buClrTx/>
                <a:buFont typeface="Wingdings" panose="05000000000000000000" pitchFamily="2" charset="2"/>
                <a:buChar char="ü"/>
              </a:pPr>
              <a:endParaRPr lang="en-US" altLang="ko-KR" sz="1600" b="1" dirty="0">
                <a:solidFill>
                  <a:schemeClr val="tx1"/>
                </a:solidFill>
                <a:latin typeface="맑은 고딕" pitchFamily="50" charset="-127"/>
              </a:endParaRPr>
            </a:p>
            <a:p>
              <a:pPr marL="432000" indent="-252000">
                <a:spcBef>
                  <a:spcPct val="0"/>
                </a:spcBef>
                <a:buClrTx/>
                <a:buFont typeface="Wingdings" panose="05000000000000000000" pitchFamily="2" charset="2"/>
                <a:buChar char="ü"/>
              </a:pPr>
              <a:endParaRPr lang="en-US" altLang="ko-KR" sz="1600" b="1" dirty="0">
                <a:latin typeface="맑은 고딕" pitchFamily="50" charset="-127"/>
              </a:endParaRPr>
            </a:p>
            <a:p>
              <a:pPr marL="285750">
                <a:spcBef>
                  <a:spcPct val="0"/>
                </a:spcBef>
                <a:buClrTx/>
                <a:buFont typeface="Wingdings" panose="05000000000000000000" pitchFamily="2" charset="2"/>
                <a:buChar char="ü"/>
              </a:pPr>
              <a:endParaRPr lang="en-US" altLang="ko-KR" sz="1400" b="1" dirty="0">
                <a:latin typeface="맑은 고딕" pitchFamily="50" charset="-127"/>
              </a:endParaRPr>
            </a:p>
            <a:p>
              <a:pPr marL="285750">
                <a:spcBef>
                  <a:spcPct val="0"/>
                </a:spcBef>
                <a:buClrTx/>
                <a:buFont typeface="Wingdings" panose="05000000000000000000" pitchFamily="2" charset="2"/>
                <a:buChar char="ü"/>
              </a:pPr>
              <a:endParaRPr lang="en-US" altLang="ko-KR" sz="1400" b="1" dirty="0">
                <a:latin typeface="맑은 고딕" pitchFamily="50" charset="-127"/>
              </a:endParaRPr>
            </a:p>
            <a:p>
              <a:pPr marL="285750">
                <a:spcBef>
                  <a:spcPct val="0"/>
                </a:spcBef>
                <a:buClrTx/>
                <a:buFont typeface="Wingdings" panose="05000000000000000000" pitchFamily="2" charset="2"/>
                <a:buChar char="ü"/>
              </a:pPr>
              <a:endParaRPr lang="en-US" altLang="ko-KR" sz="1400" b="1" dirty="0">
                <a:latin typeface="맑은 고딕" pitchFamily="50" charset="-127"/>
              </a:endParaRPr>
            </a:p>
            <a:p>
              <a:pPr marL="285750">
                <a:spcBef>
                  <a:spcPct val="0"/>
                </a:spcBef>
                <a:buClrTx/>
                <a:buFont typeface="Wingdings" panose="05000000000000000000" pitchFamily="2" charset="2"/>
                <a:buChar char="ü"/>
              </a:pPr>
              <a:endParaRPr lang="en-US" altLang="ko-KR" sz="1400" b="1" dirty="0">
                <a:latin typeface="맑은 고딕" pitchFamily="50" charset="-127"/>
              </a:endParaRPr>
            </a:p>
            <a:p>
              <a:pPr marL="285750">
                <a:spcBef>
                  <a:spcPct val="0"/>
                </a:spcBef>
                <a:buClrTx/>
                <a:buFont typeface="Wingdings" panose="05000000000000000000" pitchFamily="2" charset="2"/>
                <a:buChar char="ü"/>
              </a:pPr>
              <a:endParaRPr lang="en-US" altLang="ko-KR" sz="1400" b="1" dirty="0">
                <a:latin typeface="맑은 고딕" pitchFamily="50" charset="-127"/>
              </a:endParaRPr>
            </a:p>
            <a:p>
              <a:pPr marL="285750">
                <a:spcBef>
                  <a:spcPct val="0"/>
                </a:spcBef>
                <a:buClrTx/>
                <a:buFont typeface="Wingdings" panose="05000000000000000000" pitchFamily="2" charset="2"/>
                <a:buChar char="ü"/>
              </a:pPr>
              <a:endParaRPr lang="en-US" altLang="ko-KR" sz="1400" b="1" dirty="0">
                <a:latin typeface="맑은 고딕" pitchFamily="50" charset="-127"/>
              </a:endParaRPr>
            </a:p>
            <a:p>
              <a:pPr marL="285750">
                <a:spcBef>
                  <a:spcPct val="0"/>
                </a:spcBef>
                <a:buClrTx/>
                <a:buFont typeface="Wingdings" panose="05000000000000000000" pitchFamily="2" charset="2"/>
                <a:buChar char="ü"/>
              </a:pPr>
              <a:endParaRPr lang="en-US" altLang="ko-KR" sz="1400" b="1" dirty="0">
                <a:latin typeface="맑은 고딕" pitchFamily="50" charset="-127"/>
              </a:endParaRPr>
            </a:p>
            <a:p>
              <a:pPr marL="285750">
                <a:spcBef>
                  <a:spcPct val="0"/>
                </a:spcBef>
                <a:buClrTx/>
                <a:buFont typeface="Wingdings" panose="05000000000000000000" pitchFamily="2" charset="2"/>
                <a:buChar char="ü"/>
              </a:pPr>
              <a:endParaRPr lang="en-US" altLang="ko-KR" sz="1400" b="1" dirty="0">
                <a:latin typeface="맑은 고딕" pitchFamily="50" charset="-127"/>
              </a:endParaRPr>
            </a:p>
            <a:p>
              <a:pPr marL="285750">
                <a:spcBef>
                  <a:spcPct val="0"/>
                </a:spcBef>
                <a:buClrTx/>
                <a:buFont typeface="Wingdings" panose="05000000000000000000" pitchFamily="2" charset="2"/>
                <a:buChar char="ü"/>
              </a:pPr>
              <a:endParaRPr lang="ko-KR" altLang="en-US" sz="1400" b="1" dirty="0">
                <a:latin typeface="맑은 고딕" pitchFamily="50" charset="-127"/>
              </a:endParaRPr>
            </a:p>
            <a:p>
              <a:pPr>
                <a:spcBef>
                  <a:spcPct val="0"/>
                </a:spcBef>
                <a:buClrTx/>
                <a:buSzTx/>
                <a:buNone/>
              </a:pPr>
              <a:endParaRPr lang="en-US" altLang="ko-KR" sz="1400" dirty="0">
                <a:latin typeface="맑은 고딕" panose="020B0503020000020004" pitchFamily="50" charset="-127"/>
              </a:endParaRPr>
            </a:p>
          </p:txBody>
        </p:sp>
        <p:sp>
          <p:nvSpPr>
            <p:cNvPr id="6" name="Rectangle 14"/>
            <p:cNvSpPr>
              <a:spLocks noChangeArrowheads="1"/>
            </p:cNvSpPr>
            <p:nvPr/>
          </p:nvSpPr>
          <p:spPr bwMode="auto">
            <a:xfrm>
              <a:off x="2871276" y="1693823"/>
              <a:ext cx="3562349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자본의 의의</a:t>
              </a: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-230764" y="-14605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2616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5"/>
          <p:cNvSpPr>
            <a:spLocks noChangeArrowheads="1"/>
          </p:cNvSpPr>
          <p:nvPr/>
        </p:nvSpPr>
        <p:spPr bwMode="auto">
          <a:xfrm>
            <a:off x="257474" y="1619439"/>
            <a:ext cx="8142248" cy="4705159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ctr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144000" indent="-14400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• </a:t>
            </a:r>
            <a:r>
              <a:rPr lang="ko-KR" altLang="en-US" sz="1600" dirty="0">
                <a:latin typeface="맑은 고딕" panose="020B0503020000020004" pitchFamily="50" charset="-127"/>
              </a:rPr>
              <a:t>발생원천별로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</a:t>
            </a:r>
            <a:r>
              <a:rPr lang="ko-KR" altLang="en-US" sz="1600" dirty="0" err="1">
                <a:latin typeface="맑은 고딕" panose="020B0503020000020004" pitchFamily="50" charset="-127"/>
              </a:rPr>
              <a:t>주주들과의</a:t>
            </a:r>
            <a:r>
              <a:rPr lang="ko-KR" altLang="en-US" sz="1600" dirty="0">
                <a:latin typeface="맑은 고딕" panose="020B0503020000020004" pitchFamily="50" charset="-127"/>
              </a:rPr>
              <a:t> 자본거래로 인한 자본항목과 ②회사의 손익거래로 인한 자본항목으로 분류</a:t>
            </a:r>
          </a:p>
          <a:p>
            <a:pPr marL="144000" indent="-14400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• </a:t>
            </a: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자본거래</a:t>
            </a:r>
            <a:r>
              <a:rPr lang="ko-KR" altLang="en-US" sz="1600" dirty="0">
                <a:latin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</a:rPr>
              <a:t>증자나 감자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주주와의 사이에 발생한 거래</a:t>
            </a:r>
            <a:r>
              <a:rPr lang="en-US" altLang="ko-KR" sz="1600" dirty="0">
                <a:latin typeface="맑은 고딕" panose="020B0503020000020004" pitchFamily="50" charset="-127"/>
              </a:rPr>
              <a:t>. </a:t>
            </a:r>
            <a:r>
              <a:rPr lang="ko-KR" altLang="en-US" sz="1600" dirty="0">
                <a:latin typeface="맑은 고딕" panose="020B0503020000020004" pitchFamily="50" charset="-127"/>
              </a:rPr>
              <a:t>포괄손익계산서를 거치지 않고 직접 재무상태표의 자본</a:t>
            </a:r>
            <a:r>
              <a:rPr lang="en-US" altLang="ko-KR" sz="1600" dirty="0">
                <a:latin typeface="맑은 고딕" panose="020B0503020000020004" pitchFamily="50" charset="-127"/>
              </a:rPr>
              <a:t>(</a:t>
            </a:r>
            <a:r>
              <a:rPr lang="ko-KR" altLang="en-US" sz="1600" dirty="0">
                <a:latin typeface="맑은 고딕" panose="020B0503020000020004" pitchFamily="50" charset="-127"/>
              </a:rPr>
              <a:t>자본금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자본잉여금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자본조정</a:t>
            </a:r>
            <a:r>
              <a:rPr lang="en-US" altLang="ko-KR" sz="1600" dirty="0">
                <a:latin typeface="맑은 고딕" panose="020B0503020000020004" pitchFamily="50" charset="-127"/>
              </a:rPr>
              <a:t>)</a:t>
            </a:r>
            <a:r>
              <a:rPr lang="ko-KR" altLang="en-US" sz="1600" dirty="0">
                <a:latin typeface="맑은 고딕" panose="020B0503020000020004" pitchFamily="50" charset="-127"/>
              </a:rPr>
              <a:t>에 반영됨</a:t>
            </a:r>
          </a:p>
          <a:p>
            <a:pPr marL="144000" indent="-144000"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•</a:t>
            </a:r>
            <a:r>
              <a:rPr lang="ko-KR" altLang="en-US" sz="1600" dirty="0">
                <a:latin typeface="맑은 고딕" panose="020B0503020000020004" pitchFamily="50" charset="-127"/>
              </a:rPr>
              <a:t> </a:t>
            </a:r>
            <a:r>
              <a:rPr lang="ko-KR" altLang="en-US" sz="1600" b="1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손익거래</a:t>
            </a:r>
            <a:r>
              <a:rPr lang="ko-KR" altLang="en-US" sz="1600" dirty="0">
                <a:latin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</a:rPr>
              <a:t>:  </a:t>
            </a:r>
            <a:r>
              <a:rPr lang="ko-KR" altLang="en-US" sz="1600" dirty="0">
                <a:latin typeface="맑은 고딕" panose="020B0503020000020004" pitchFamily="50" charset="-127"/>
              </a:rPr>
              <a:t>포괄손익계산서의 당기순손익이나 기타포괄손익 계산에 포함된 후 이익잉여금이나 자본잉여금의 변동을 통해 자본에 영향</a:t>
            </a:r>
          </a:p>
          <a:p>
            <a:pPr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endParaRPr lang="ko-KR" altLang="en-US" sz="14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endParaRPr lang="ko-KR" altLang="en-US" sz="1400" dirty="0">
              <a:latin typeface="맑은 고딕" panose="020B0503020000020004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257473" y="1305096"/>
            <a:ext cx="7520829" cy="338520"/>
            <a:chOff x="257473" y="1432098"/>
            <a:chExt cx="7520829" cy="338520"/>
          </a:xfrm>
        </p:grpSpPr>
        <p:sp>
          <p:nvSpPr>
            <p:cNvPr id="29" name="Rectangle 14"/>
            <p:cNvSpPr>
              <a:spLocks noChangeArrowheads="1"/>
            </p:cNvSpPr>
            <p:nvPr/>
          </p:nvSpPr>
          <p:spPr bwMode="auto">
            <a:xfrm>
              <a:off x="468953" y="1432098"/>
              <a:ext cx="7309349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</a:rPr>
                <a:t>자본의 구성</a:t>
              </a:r>
              <a:endParaRPr lang="en-US" altLang="ko-KR" sz="1800" b="1" dirty="0">
                <a:latin typeface="맑은 고딕" panose="020B0503020000020004" pitchFamily="50" charset="-127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endPara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257473" y="1451539"/>
              <a:ext cx="211480" cy="31907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grpSp>
        <p:nvGrpSpPr>
          <p:cNvPr id="10" name="그룹 9"/>
          <p:cNvGrpSpPr/>
          <p:nvPr/>
        </p:nvGrpSpPr>
        <p:grpSpPr>
          <a:xfrm>
            <a:off x="176871" y="3832125"/>
            <a:ext cx="8308626" cy="338554"/>
            <a:chOff x="1287462" y="4836411"/>
            <a:chExt cx="8308626" cy="338554"/>
          </a:xfrm>
        </p:grpSpPr>
        <p:sp>
          <p:nvSpPr>
            <p:cNvPr id="11" name="오각형 10"/>
            <p:cNvSpPr/>
            <p:nvPr/>
          </p:nvSpPr>
          <p:spPr>
            <a:xfrm>
              <a:off x="1287462" y="4905737"/>
              <a:ext cx="79200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그림 </a:t>
              </a:r>
              <a:r>
                <a:rPr lang="en-US" altLang="ko-KR" sz="1400" b="1" dirty="0"/>
                <a:t>1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079461" y="4836411"/>
              <a:ext cx="75166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 err="1">
                  <a:latin typeface="맑은 고딕" panose="020B0503020000020004" pitchFamily="50" charset="-127"/>
                </a:rPr>
                <a:t>손익거래로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 인한 자본의 변동</a:t>
              </a: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8605" t="23719" r="12763" b="16351"/>
          <a:stretch>
            <a:fillRect/>
          </a:stretch>
        </p:blipFill>
        <p:spPr bwMode="auto">
          <a:xfrm>
            <a:off x="1904971" y="4353887"/>
            <a:ext cx="5334058" cy="2286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00356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5"/>
          <p:cNvSpPr>
            <a:spLocks noChangeArrowheads="1"/>
          </p:cNvSpPr>
          <p:nvPr/>
        </p:nvSpPr>
        <p:spPr bwMode="auto">
          <a:xfrm>
            <a:off x="257473" y="1627907"/>
            <a:ext cx="8641369" cy="1181796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144000" indent="-144000"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 dirty="0">
                <a:latin typeface="맑은 고딕" panose="020B0503020000020004" pitchFamily="50" charset="-127"/>
              </a:rPr>
              <a:t>• </a:t>
            </a:r>
            <a:r>
              <a:rPr lang="ko-KR" altLang="en-US" sz="1600" dirty="0">
                <a:latin typeface="맑은 고딕" panose="020B0503020000020004" pitchFamily="50" charset="-127"/>
              </a:rPr>
              <a:t>자본은 크게 납입자본</a:t>
            </a:r>
            <a:r>
              <a:rPr lang="en-US" altLang="ko-KR" sz="1600" dirty="0">
                <a:latin typeface="맑은 고딕" panose="020B0503020000020004" pitchFamily="50" charset="-127"/>
              </a:rPr>
              <a:t>(=</a:t>
            </a:r>
            <a:r>
              <a:rPr lang="ko-KR" altLang="en-US" sz="1600" dirty="0">
                <a:latin typeface="맑은 고딕" panose="020B0503020000020004" pitchFamily="50" charset="-127"/>
              </a:rPr>
              <a:t>자본금 </a:t>
            </a:r>
            <a:r>
              <a:rPr lang="en-US" altLang="ko-KR" sz="1600" dirty="0">
                <a:latin typeface="맑은 고딕" panose="020B0503020000020004" pitchFamily="50" charset="-127"/>
              </a:rPr>
              <a:t>+ </a:t>
            </a:r>
            <a:r>
              <a:rPr lang="ko-KR" altLang="en-US" sz="1600" dirty="0">
                <a:latin typeface="맑은 고딕" panose="020B0503020000020004" pitchFamily="50" charset="-127"/>
              </a:rPr>
              <a:t>자본잉여금</a:t>
            </a:r>
            <a:r>
              <a:rPr lang="en-US" altLang="ko-KR" sz="1600" dirty="0">
                <a:latin typeface="맑은 고딕" panose="020B0503020000020004" pitchFamily="50" charset="-127"/>
              </a:rPr>
              <a:t>), </a:t>
            </a:r>
            <a:r>
              <a:rPr lang="ko-KR" altLang="en-US" sz="1600" dirty="0">
                <a:latin typeface="맑은 고딕" panose="020B0503020000020004" pitchFamily="50" charset="-127"/>
              </a:rPr>
              <a:t>이익잉여금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기타자본</a:t>
            </a:r>
            <a:r>
              <a:rPr lang="en-US" altLang="ko-KR" sz="1600" dirty="0">
                <a:latin typeface="맑은 고딕" panose="020B0503020000020004" pitchFamily="50" charset="-127"/>
              </a:rPr>
              <a:t>(=</a:t>
            </a:r>
            <a:r>
              <a:rPr lang="ko-KR" altLang="en-US" sz="1600" dirty="0">
                <a:latin typeface="맑은 고딕" panose="020B0503020000020004" pitchFamily="50" charset="-127"/>
              </a:rPr>
              <a:t>자본조정 </a:t>
            </a:r>
            <a:r>
              <a:rPr lang="en-US" altLang="ko-KR" sz="1600" dirty="0">
                <a:latin typeface="맑은 고딕" panose="020B0503020000020004" pitchFamily="50" charset="-127"/>
              </a:rPr>
              <a:t>+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기타포괄손익누계액</a:t>
            </a:r>
            <a:r>
              <a:rPr lang="en-US" altLang="ko-KR" sz="1600" dirty="0">
                <a:latin typeface="맑은 고딕" panose="020B0503020000020004" pitchFamily="50" charset="-127"/>
              </a:rPr>
              <a:t>)</a:t>
            </a:r>
            <a:r>
              <a:rPr lang="ko-KR" altLang="en-US" sz="1600" dirty="0">
                <a:latin typeface="맑은 고딕" panose="020B0503020000020004" pitchFamily="50" charset="-127"/>
              </a:rPr>
              <a:t>으로 분류</a:t>
            </a:r>
            <a:endParaRPr lang="en-US" altLang="ko-KR" sz="1600" dirty="0">
              <a:latin typeface="맑은 고딕" panose="020B0503020000020004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257473" y="1303361"/>
            <a:ext cx="7492624" cy="348723"/>
            <a:chOff x="257473" y="1421895"/>
            <a:chExt cx="7492624" cy="348723"/>
          </a:xfrm>
        </p:grpSpPr>
        <p:sp>
          <p:nvSpPr>
            <p:cNvPr id="29" name="Rectangle 14"/>
            <p:cNvSpPr>
              <a:spLocks noChangeArrowheads="1"/>
            </p:cNvSpPr>
            <p:nvPr/>
          </p:nvSpPr>
          <p:spPr bwMode="auto">
            <a:xfrm>
              <a:off x="440748" y="1421895"/>
              <a:ext cx="7309349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</a:rPr>
                <a:t>자본의 구성</a:t>
              </a:r>
              <a:endParaRPr lang="en-US" altLang="ko-KR" sz="1800" b="1" dirty="0">
                <a:latin typeface="맑은 고딕" panose="020B0503020000020004" pitchFamily="50" charset="-127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endPara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257473" y="1451539"/>
              <a:ext cx="211480" cy="31907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2" name="Group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395739"/>
              </p:ext>
            </p:extLst>
          </p:nvPr>
        </p:nvGraphicFramePr>
        <p:xfrm>
          <a:off x="323978" y="3022950"/>
          <a:ext cx="8477123" cy="3462858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1270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6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9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3902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납입자본</a:t>
                      </a: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2687" marR="52687" marT="26322" marB="26322"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자본금</a:t>
                      </a: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2687" marR="52687" marT="26322" marB="26322"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5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보통주자본금</a:t>
                      </a:r>
                      <a:endParaRPr kumimoji="0" lang="ko-KR" altLang="en-US" sz="15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우선주자본금</a:t>
                      </a: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2687" marR="52687" marT="26322" marB="26322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9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자본잉여금</a:t>
                      </a: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2687" marR="52687" marT="26322" marB="26322"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주식발행초과금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기타자본잉여금：자기주식처분이익</a:t>
                      </a:r>
                      <a:r>
                        <a:rPr kumimoji="0" lang="en-US" altLang="ko-KR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감자차익</a:t>
                      </a: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2687" marR="52687" marT="26322" marB="26322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893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이익잉여금</a:t>
                      </a: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2687" marR="52687" marT="26322" marB="26322"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법정적립금：이익준비금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임의적립금：배당평균적립금</a:t>
                      </a:r>
                      <a:r>
                        <a:rPr kumimoji="0" lang="en-US" altLang="ko-KR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사업확장적립금</a:t>
                      </a:r>
                      <a:r>
                        <a:rPr kumimoji="0" lang="en-US" altLang="ko-KR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0" lang="ko-KR" altLang="en-US" sz="15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감채적립금</a:t>
                      </a:r>
                      <a:endParaRPr kumimoji="0" lang="ko-KR" altLang="en-US" sz="15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5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미처분이익잉여금</a:t>
                      </a:r>
                      <a:r>
                        <a:rPr kumimoji="0" lang="en-US" altLang="ko-KR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또는 미처리결손금</a:t>
                      </a:r>
                      <a:r>
                        <a:rPr kumimoji="0" lang="en-US" altLang="ko-KR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0" lang="en-US" altLang="ko-KR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2687" marR="52687" marT="26322" marB="26322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974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기타자본</a:t>
                      </a: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2687" marR="52687" marT="26322" marB="26322"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자본조정</a:t>
                      </a: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2687" marR="52687" marT="26322" marB="26322"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자기주식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기타자본조정：</a:t>
                      </a:r>
                      <a:r>
                        <a:rPr kumimoji="0" lang="ko-KR" altLang="en-US" sz="15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주식할인발행차금</a:t>
                      </a:r>
                      <a:r>
                        <a:rPr kumimoji="0" lang="en-US" altLang="ko-KR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0" lang="ko-KR" altLang="en-US" sz="15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감자차손</a:t>
                      </a:r>
                      <a:r>
                        <a:rPr kumimoji="0" lang="en-US" altLang="ko-KR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자기주식처분손실</a:t>
                      </a: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2687" marR="52687" marT="26322" marB="26322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9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기타포괄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손익누계액</a:t>
                      </a: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2687" marR="52687" marT="26322" marB="26322"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FVOCI</a:t>
                      </a: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금융자산평가손익</a:t>
                      </a:r>
                      <a:r>
                        <a:rPr kumimoji="0" lang="en-US" altLang="ko-KR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0" lang="ko-KR" alt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유형자산재평가손익</a:t>
                      </a: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2687" marR="52687" marT="26322" marB="26322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3" name="그룹 12"/>
          <p:cNvGrpSpPr/>
          <p:nvPr/>
        </p:nvGrpSpPr>
        <p:grpSpPr>
          <a:xfrm>
            <a:off x="313386" y="2607914"/>
            <a:ext cx="3263136" cy="338554"/>
            <a:chOff x="1287463" y="4776539"/>
            <a:chExt cx="3263136" cy="338554"/>
          </a:xfrm>
        </p:grpSpPr>
        <p:sp>
          <p:nvSpPr>
            <p:cNvPr id="14" name="오각형 13"/>
            <p:cNvSpPr/>
            <p:nvPr/>
          </p:nvSpPr>
          <p:spPr>
            <a:xfrm>
              <a:off x="1287463" y="4807765"/>
              <a:ext cx="590477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표 </a:t>
              </a:r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877940" y="4776539"/>
              <a:ext cx="26726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/>
                <a:t>자본의 분류</a:t>
              </a:r>
            </a:p>
          </p:txBody>
        </p:sp>
      </p:grp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1609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5"/>
          <p:cNvSpPr>
            <a:spLocks noChangeArrowheads="1"/>
          </p:cNvSpPr>
          <p:nvPr/>
        </p:nvSpPr>
        <p:spPr bwMode="auto">
          <a:xfrm>
            <a:off x="257473" y="1769887"/>
            <a:ext cx="8641369" cy="4535220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ctr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ko-KR" sz="1400" dirty="0">
                <a:latin typeface="맑은 고딕" panose="020B0503020000020004" pitchFamily="50" charset="-127"/>
              </a:rPr>
              <a:t>•</a:t>
            </a:r>
            <a:r>
              <a:rPr lang="en-US" altLang="ko-KR" sz="1400" b="1" dirty="0">
                <a:latin typeface="맑은 고딕" panose="020B0503020000020004" pitchFamily="50" charset="-127"/>
              </a:rPr>
              <a:t> 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보통주</a:t>
            </a:r>
            <a:r>
              <a:rPr lang="ko-KR" altLang="en-US" sz="1600" b="1" dirty="0">
                <a:latin typeface="맑은 고딕" panose="020B0503020000020004" pitchFamily="50" charset="-127"/>
              </a:rPr>
              <a:t> </a:t>
            </a:r>
            <a:endParaRPr lang="en-US" altLang="ko-KR" sz="1600" b="1" dirty="0">
              <a:latin typeface="맑은 고딕" panose="020B0503020000020004" pitchFamily="50" charset="-127"/>
            </a:endParaRPr>
          </a:p>
          <a:p>
            <a:pPr marL="576000" indent="-284400" latinLnBrk="0">
              <a:lnSpc>
                <a:spcPct val="12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ko-KR" altLang="en-US" sz="1600" dirty="0">
                <a:latin typeface="맑은 고딕" panose="020B0503020000020004" pitchFamily="50" charset="-127"/>
              </a:rPr>
              <a:t>주식회사가 여러 종류의 주식을 발행할 때 기준이 되는 주식</a:t>
            </a:r>
          </a:p>
          <a:p>
            <a:pPr marL="576000" indent="-284400" latinLnBrk="0">
              <a:lnSpc>
                <a:spcPct val="12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ko-KR" altLang="en-US" sz="1600" dirty="0" err="1">
                <a:latin typeface="맑은 고딕" panose="020B0503020000020004" pitchFamily="50" charset="-127"/>
              </a:rPr>
              <a:t>보통주</a:t>
            </a:r>
            <a:r>
              <a:rPr lang="ko-KR" altLang="en-US" sz="1600" dirty="0">
                <a:latin typeface="맑은 고딕" panose="020B0503020000020004" pitchFamily="50" charset="-127"/>
              </a:rPr>
              <a:t> 주주들은 주주총회에서 의결권을 행사할 수 있고</a:t>
            </a:r>
            <a:r>
              <a:rPr lang="en-US" altLang="ko-KR" sz="1600" dirty="0">
                <a:latin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</a:rPr>
              <a:t>배당금을 지급받을 수 있는 권리를 보유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576000" indent="-284400" latinLnBrk="0">
              <a:lnSpc>
                <a:spcPct val="12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ko-KR" altLang="en-US" sz="1600" dirty="0">
                <a:latin typeface="맑은 고딕" panose="020B0503020000020004" pitchFamily="50" charset="-127"/>
              </a:rPr>
              <a:t>채권자와 우선주에 대한 지분을 우선 지급한 후 남는 잔여재산이 있는 경우에만 청구권이 있음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576000" indent="-284400" latinLnBrk="0">
              <a:lnSpc>
                <a:spcPct val="12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latinLnBrk="0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 b="1" dirty="0">
                <a:latin typeface="맑은 고딕" panose="020B0503020000020004" pitchFamily="50" charset="-127"/>
              </a:rPr>
              <a:t>• </a:t>
            </a:r>
            <a:r>
              <a:rPr lang="ko-KR" altLang="en-US" sz="1600" b="1" dirty="0">
                <a:latin typeface="맑은 고딕" panose="020B0503020000020004" pitchFamily="50" charset="-127"/>
              </a:rPr>
              <a:t>우선주 </a:t>
            </a:r>
            <a:endParaRPr lang="en-US" altLang="ko-KR" sz="1600" b="1" dirty="0">
              <a:latin typeface="맑은 고딕" panose="020B0503020000020004" pitchFamily="50" charset="-127"/>
            </a:endParaRPr>
          </a:p>
          <a:p>
            <a:pPr marL="576000" indent="-284400" latinLnBrk="0">
              <a:lnSpc>
                <a:spcPct val="12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ko-KR" altLang="en-US" sz="1600" dirty="0">
                <a:latin typeface="맑은 고딕" panose="020B0503020000020004" pitchFamily="50" charset="-127"/>
              </a:rPr>
              <a:t>이익배당이나 청산으로 인한 </a:t>
            </a:r>
            <a:r>
              <a:rPr lang="ko-KR" altLang="en-US" sz="1600" b="1" dirty="0">
                <a:latin typeface="맑은 고딕" panose="020B0503020000020004" pitchFamily="50" charset="-127"/>
              </a:rPr>
              <a:t>잔여재산의 분배</a:t>
            </a:r>
            <a:r>
              <a:rPr lang="ko-KR" altLang="en-US" sz="1600" dirty="0">
                <a:latin typeface="맑은 고딕" panose="020B0503020000020004" pitchFamily="50" charset="-127"/>
              </a:rPr>
              <a:t>에 대한 권리를 </a:t>
            </a:r>
            <a:r>
              <a:rPr lang="ko-KR" altLang="en-US" sz="1600" b="1" dirty="0">
                <a:latin typeface="맑은 고딕" panose="020B0503020000020004" pitchFamily="50" charset="-127"/>
              </a:rPr>
              <a:t>보통주보다 우선적으로 보장</a:t>
            </a:r>
            <a:r>
              <a:rPr lang="ko-KR" altLang="en-US" sz="1600" dirty="0">
                <a:latin typeface="맑은 고딕" panose="020B0503020000020004" pitchFamily="50" charset="-127"/>
              </a:rPr>
              <a:t>받을 수 있는 주식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576000" indent="-284400" latinLnBrk="0">
              <a:lnSpc>
                <a:spcPct val="12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ko-KR" altLang="en-US" sz="1600" dirty="0">
                <a:latin typeface="맑은 고딕" panose="020B0503020000020004" pitchFamily="50" charset="-127"/>
              </a:rPr>
              <a:t>우선주는 보통 의결권이 없음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576000" indent="-284400" latinLnBrk="0">
              <a:lnSpc>
                <a:spcPct val="12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ko-KR" altLang="en-US" sz="1600" dirty="0">
                <a:latin typeface="맑은 고딕" panose="020B0503020000020004" pitchFamily="50" charset="-127"/>
              </a:rPr>
              <a:t>우선주에 대해서는 일정률의 배당을 우선적으로 지급해야 하는 경우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우선주는 </a:t>
            </a:r>
            <a:r>
              <a:rPr lang="ko-KR" altLang="en-US" sz="1600" b="1" dirty="0">
                <a:latin typeface="맑은 고딕" panose="020B0503020000020004" pitchFamily="50" charset="-127"/>
              </a:rPr>
              <a:t>부채의 성격도 일부 갖고 있음</a:t>
            </a:r>
            <a:endParaRPr lang="en-US" altLang="ko-KR" sz="1600" b="1" dirty="0">
              <a:latin typeface="맑은 고딕" panose="020B0503020000020004" pitchFamily="50" charset="-127"/>
            </a:endParaRPr>
          </a:p>
          <a:p>
            <a:pPr marL="576000" indent="-284400" latinLnBrk="0">
              <a:lnSpc>
                <a:spcPct val="12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marL="576000" indent="-284400" latinLnBrk="0">
              <a:lnSpc>
                <a:spcPct val="12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endParaRPr lang="ko-KR" altLang="en-US" sz="1600" dirty="0">
              <a:latin typeface="맑은 고딕" panose="020B0503020000020004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257473" y="1345692"/>
            <a:ext cx="7492624" cy="340256"/>
            <a:chOff x="257473" y="1430362"/>
            <a:chExt cx="7492624" cy="340256"/>
          </a:xfrm>
        </p:grpSpPr>
        <p:sp>
          <p:nvSpPr>
            <p:cNvPr id="29" name="Rectangle 14"/>
            <p:cNvSpPr>
              <a:spLocks noChangeArrowheads="1"/>
            </p:cNvSpPr>
            <p:nvPr/>
          </p:nvSpPr>
          <p:spPr bwMode="auto">
            <a:xfrm>
              <a:off x="440748" y="1430362"/>
              <a:ext cx="7309349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 err="1">
                  <a:latin typeface="맑은 고딕" panose="020B0503020000020004" pitchFamily="50" charset="-127"/>
                </a:rPr>
                <a:t>보통주와</a:t>
              </a:r>
              <a:r>
                <a:rPr lang="ko-KR" altLang="en-US" sz="1800" b="1" dirty="0">
                  <a:latin typeface="맑은 고딕" panose="020B0503020000020004" pitchFamily="50" charset="-127"/>
                </a:rPr>
                <a:t> 우선주</a:t>
              </a:r>
              <a:endParaRPr lang="en-US" altLang="ko-KR" sz="1800" b="1" dirty="0">
                <a:latin typeface="맑은 고딕" panose="020B0503020000020004" pitchFamily="50" charset="-127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endPara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257473" y="1451539"/>
              <a:ext cx="211480" cy="31907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9678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5"/>
          <p:cNvSpPr>
            <a:spLocks noChangeArrowheads="1"/>
          </p:cNvSpPr>
          <p:nvPr/>
        </p:nvSpPr>
        <p:spPr bwMode="auto">
          <a:xfrm>
            <a:off x="276929" y="1624352"/>
            <a:ext cx="8641369" cy="2074373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ctr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216000" indent="-21600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• </a:t>
            </a:r>
            <a:r>
              <a:rPr lang="ko-KR" altLang="en-US" sz="1600" dirty="0">
                <a:latin typeface="맑은 고딕" panose="020B0503020000020004" pitchFamily="50" charset="-127"/>
              </a:rPr>
              <a:t>수권주식수 </a:t>
            </a:r>
            <a:r>
              <a:rPr lang="en-US" altLang="ko-KR" sz="1600" dirty="0">
                <a:latin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</a:rPr>
              <a:t>주식회사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설립시</a:t>
            </a:r>
            <a:r>
              <a:rPr lang="ko-KR" altLang="en-US" sz="1600" dirty="0">
                <a:latin typeface="맑은 고딕" panose="020B0503020000020004" pitchFamily="50" charset="-127"/>
              </a:rPr>
              <a:t> </a:t>
            </a:r>
            <a:r>
              <a:rPr lang="ko-KR" altLang="en-US" sz="1600" b="1" dirty="0">
                <a:latin typeface="맑은 고딕" panose="020B0503020000020004" pitchFamily="50" charset="-127"/>
              </a:rPr>
              <a:t>회사가 앞으로 발행할 수 있는 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총주식수</a:t>
            </a:r>
            <a:r>
              <a:rPr lang="ko-KR" altLang="en-US" sz="1600" dirty="0" err="1">
                <a:latin typeface="맑은 고딕" panose="020B0503020000020004" pitchFamily="50" charset="-127"/>
              </a:rPr>
              <a:t>를</a:t>
            </a:r>
            <a:r>
              <a:rPr lang="ko-KR" altLang="en-US" sz="1600" dirty="0">
                <a:latin typeface="맑은 고딕" panose="020B0503020000020004" pitchFamily="50" charset="-127"/>
              </a:rPr>
              <a:t> 정관에 정한 것</a:t>
            </a:r>
          </a:p>
          <a:p>
            <a:pPr marL="216000" indent="-21600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• </a:t>
            </a:r>
            <a:r>
              <a:rPr lang="ko-KR" altLang="en-US" sz="1600" dirty="0">
                <a:latin typeface="맑은 고딕" panose="020B0503020000020004" pitchFamily="50" charset="-127"/>
              </a:rPr>
              <a:t>발행주식수 </a:t>
            </a:r>
            <a:r>
              <a:rPr lang="en-US" altLang="ko-KR" sz="1600" dirty="0">
                <a:latin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</a:rPr>
              <a:t>회사가 </a:t>
            </a:r>
            <a:r>
              <a:rPr lang="ko-KR" altLang="en-US" sz="1600" b="1" dirty="0">
                <a:latin typeface="맑은 고딕" panose="020B0503020000020004" pitchFamily="50" charset="-127"/>
              </a:rPr>
              <a:t>실제로 발행</a:t>
            </a:r>
            <a:r>
              <a:rPr lang="ko-KR" altLang="en-US" sz="1600" dirty="0">
                <a:latin typeface="맑은 고딕" panose="020B0503020000020004" pitchFamily="50" charset="-127"/>
              </a:rPr>
              <a:t>한 주식수</a:t>
            </a:r>
          </a:p>
          <a:p>
            <a:pPr marL="216000" indent="-21600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•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유통주식수</a:t>
            </a:r>
            <a:r>
              <a:rPr lang="ko-KR" altLang="en-US" sz="1600" dirty="0">
                <a:latin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</a:rPr>
              <a:t>: </a:t>
            </a:r>
            <a:r>
              <a:rPr lang="ko-KR" altLang="en-US" sz="1600" b="1" dirty="0">
                <a:latin typeface="맑은 고딕" panose="020B0503020000020004" pitchFamily="50" charset="-127"/>
              </a:rPr>
              <a:t>주식시장에서 거래</a:t>
            </a:r>
            <a:r>
              <a:rPr lang="ko-KR" altLang="en-US" sz="1600" dirty="0">
                <a:latin typeface="맑은 고딕" panose="020B0503020000020004" pitchFamily="50" charset="-127"/>
              </a:rPr>
              <a:t>될 수 있는 주식수</a:t>
            </a:r>
            <a:r>
              <a:rPr lang="en-US" altLang="ko-KR" sz="1600" dirty="0">
                <a:latin typeface="맑은 고딕" panose="020B0503020000020004" pitchFamily="50" charset="-127"/>
              </a:rPr>
              <a:t>(</a:t>
            </a:r>
            <a:r>
              <a:rPr lang="ko-KR" altLang="en-US" sz="1600" dirty="0">
                <a:latin typeface="맑은 고딕" panose="020B0503020000020004" pitchFamily="50" charset="-127"/>
              </a:rPr>
              <a:t>회사가 발행한 주식을 다시 취득한 만큼</a:t>
            </a:r>
            <a:r>
              <a:rPr lang="en-US" altLang="ko-KR" sz="1600" dirty="0">
                <a:latin typeface="맑은 고딕" panose="020B0503020000020004" pitchFamily="50" charset="-127"/>
              </a:rPr>
              <a:t>(</a:t>
            </a:r>
            <a:r>
              <a:rPr lang="ko-KR" altLang="en-US" sz="1600" b="1" dirty="0">
                <a:latin typeface="맑은 고딕" panose="020B0503020000020004" pitchFamily="50" charset="-127"/>
              </a:rPr>
              <a:t>자기주식</a:t>
            </a:r>
            <a:r>
              <a:rPr lang="en-US" altLang="ko-KR" sz="1600" b="1" dirty="0">
                <a:latin typeface="맑은 고딕" panose="020B0503020000020004" pitchFamily="50" charset="-127"/>
              </a:rPr>
              <a:t>) </a:t>
            </a:r>
            <a:r>
              <a:rPr lang="ko-KR" altLang="en-US" sz="1600" dirty="0">
                <a:latin typeface="맑은 고딕" panose="020B0503020000020004" pitchFamily="50" charset="-127"/>
              </a:rPr>
              <a:t>유통주식이 감소</a:t>
            </a:r>
            <a:r>
              <a:rPr lang="en-US" altLang="ko-KR" sz="1600" dirty="0">
                <a:latin typeface="맑은 고딕" panose="020B0503020000020004" pitchFamily="50" charset="-127"/>
              </a:rPr>
              <a:t>)</a:t>
            </a:r>
            <a:endParaRPr lang="en-US" altLang="ko-KR" sz="14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endParaRPr lang="ko-KR" altLang="en-US" sz="14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endParaRPr lang="ko-KR" altLang="en-US" sz="1400" dirty="0">
              <a:latin typeface="맑은 고딕" panose="020B0503020000020004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276929" y="1275616"/>
            <a:ext cx="7492624" cy="340256"/>
            <a:chOff x="257473" y="1430362"/>
            <a:chExt cx="7492624" cy="340256"/>
          </a:xfrm>
        </p:grpSpPr>
        <p:sp>
          <p:nvSpPr>
            <p:cNvPr id="29" name="Rectangle 14"/>
            <p:cNvSpPr>
              <a:spLocks noChangeArrowheads="1"/>
            </p:cNvSpPr>
            <p:nvPr/>
          </p:nvSpPr>
          <p:spPr bwMode="auto">
            <a:xfrm>
              <a:off x="440748" y="1430362"/>
              <a:ext cx="7309349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주식수의 체계</a:t>
              </a: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257473" y="1451539"/>
              <a:ext cx="211480" cy="31907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grpSp>
        <p:nvGrpSpPr>
          <p:cNvPr id="9" name="그룹 8"/>
          <p:cNvGrpSpPr/>
          <p:nvPr/>
        </p:nvGrpSpPr>
        <p:grpSpPr>
          <a:xfrm>
            <a:off x="371783" y="3644091"/>
            <a:ext cx="8308626" cy="338554"/>
            <a:chOff x="1287462" y="4738439"/>
            <a:chExt cx="8308626" cy="338554"/>
          </a:xfrm>
        </p:grpSpPr>
        <p:sp>
          <p:nvSpPr>
            <p:cNvPr id="10" name="오각형 9"/>
            <p:cNvSpPr/>
            <p:nvPr/>
          </p:nvSpPr>
          <p:spPr>
            <a:xfrm>
              <a:off x="1287462" y="4807765"/>
              <a:ext cx="79200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그림 </a:t>
              </a:r>
              <a:r>
                <a:rPr lang="en-US" altLang="ko-KR" sz="1400" b="1" dirty="0"/>
                <a:t>3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079461" y="4738439"/>
              <a:ext cx="75166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맑은 고딕" panose="020B0503020000020004" pitchFamily="50" charset="-127"/>
                </a:rPr>
                <a:t>주식수의 체계</a:t>
              </a: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5054" y="4084400"/>
            <a:ext cx="5565117" cy="1801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5969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5"/>
          <p:cNvSpPr>
            <a:spLocks noChangeArrowheads="1"/>
          </p:cNvSpPr>
          <p:nvPr/>
        </p:nvSpPr>
        <p:spPr bwMode="auto">
          <a:xfrm>
            <a:off x="257473" y="2832641"/>
            <a:ext cx="8641369" cy="962703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• </a:t>
            </a:r>
            <a:r>
              <a:rPr lang="ko-KR" altLang="en-US" sz="1600" dirty="0">
                <a:latin typeface="맑은 고딕" panose="020B0503020000020004" pitchFamily="50" charset="-127"/>
              </a:rPr>
              <a:t>발행주식의 액면금액의 합계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ts val="600"/>
              </a:spcBef>
              <a:buClrTx/>
              <a:buSzTx/>
              <a:buNone/>
            </a:pPr>
            <a:r>
              <a:rPr lang="ko-KR" altLang="en-US" sz="1600" dirty="0">
                <a:latin typeface="맑은 고딕" panose="020B0503020000020004" pitchFamily="50" charset="-127"/>
              </a:rPr>
              <a:t>  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257473" y="2516561"/>
            <a:ext cx="7492624" cy="340256"/>
            <a:chOff x="257473" y="1430362"/>
            <a:chExt cx="7492624" cy="340256"/>
          </a:xfrm>
        </p:grpSpPr>
        <p:sp>
          <p:nvSpPr>
            <p:cNvPr id="29" name="Rectangle 14"/>
            <p:cNvSpPr>
              <a:spLocks noChangeArrowheads="1"/>
            </p:cNvSpPr>
            <p:nvPr/>
          </p:nvSpPr>
          <p:spPr bwMode="auto">
            <a:xfrm>
              <a:off x="440748" y="1430362"/>
              <a:ext cx="7309349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자본금</a:t>
              </a: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257473" y="1451539"/>
              <a:ext cx="211480" cy="31907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" name="직사각형 21"/>
          <p:cNvSpPr>
            <a:spLocks noChangeArrowheads="1"/>
          </p:cNvSpPr>
          <p:nvPr/>
        </p:nvSpPr>
        <p:spPr bwMode="auto">
          <a:xfrm>
            <a:off x="2345268" y="3443116"/>
            <a:ext cx="4016891" cy="7312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lIns="99477" tIns="49735" rIns="99477" bIns="49735" anchor="ctr"/>
          <a:lstStyle/>
          <a:p>
            <a:pPr algn="ctr"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1600" b="1" kern="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자본금＝발행주식수</a:t>
            </a:r>
            <a:r>
              <a:rPr lang="en-US" altLang="ko-KR" sz="16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×</a:t>
            </a:r>
            <a:r>
              <a:rPr lang="ko-KR" altLang="en-US" sz="16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주당 액면금액</a:t>
            </a:r>
          </a:p>
        </p:txBody>
      </p:sp>
      <p:sp>
        <p:nvSpPr>
          <p:cNvPr id="10" name="Rectangle 15"/>
          <p:cNvSpPr>
            <a:spLocks noChangeArrowheads="1"/>
          </p:cNvSpPr>
          <p:nvPr/>
        </p:nvSpPr>
        <p:spPr bwMode="auto">
          <a:xfrm>
            <a:off x="287828" y="4668307"/>
            <a:ext cx="8641369" cy="1631074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174625" indent="-174625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• </a:t>
            </a:r>
            <a:r>
              <a:rPr lang="ko-KR" altLang="en-US" sz="1600" dirty="0">
                <a:latin typeface="맑은 고딕" panose="020B0503020000020004" pitchFamily="50" charset="-127"/>
              </a:rPr>
              <a:t>발행한 주식의 </a:t>
            </a:r>
            <a:r>
              <a:rPr lang="ko-KR" altLang="en-US" sz="1600" b="1" dirty="0">
                <a:latin typeface="맑은 고딕" panose="020B0503020000020004" pitchFamily="50" charset="-127"/>
              </a:rPr>
              <a:t>액면금액을 초과</a:t>
            </a:r>
            <a:r>
              <a:rPr lang="ko-KR" altLang="en-US" sz="1600" dirty="0">
                <a:latin typeface="맑은 고딕" panose="020B0503020000020004" pitchFamily="50" charset="-127"/>
              </a:rPr>
              <a:t>하여 주주들로부터 수취한 부분</a:t>
            </a:r>
            <a:r>
              <a:rPr lang="en-US" altLang="ko-KR" sz="1600" dirty="0">
                <a:latin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</a:rPr>
              <a:t>또는 </a:t>
            </a:r>
            <a:r>
              <a:rPr lang="ko-KR" altLang="en-US" sz="1600" b="1" dirty="0">
                <a:latin typeface="맑은 고딕" panose="020B0503020000020004" pitchFamily="50" charset="-127"/>
              </a:rPr>
              <a:t>기타 자본거래</a:t>
            </a:r>
            <a:r>
              <a:rPr lang="ko-KR" altLang="en-US" sz="1600" dirty="0">
                <a:latin typeface="맑은 고딕" panose="020B0503020000020004" pitchFamily="50" charset="-127"/>
              </a:rPr>
              <a:t>에서   발생한 잉여금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504000" indent="-252000" latinLnBrk="0">
              <a:lnSpc>
                <a:spcPts val="2400"/>
              </a:lnSpc>
              <a:spcBef>
                <a:spcPts val="600"/>
              </a:spcBef>
              <a:buClrTx/>
              <a:buSzTx/>
              <a:buNone/>
            </a:pPr>
            <a:r>
              <a:rPr lang="ko-KR" altLang="en-US" sz="1600" dirty="0">
                <a:latin typeface="맑은 고딕" panose="020B0503020000020004" pitchFamily="50" charset="-127"/>
              </a:rPr>
              <a:t>① 주식발행초과금 </a:t>
            </a:r>
            <a:r>
              <a:rPr lang="en-US" altLang="ko-KR" sz="1600" dirty="0">
                <a:latin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</a:rPr>
              <a:t>주식의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발행시</a:t>
            </a:r>
            <a:r>
              <a:rPr lang="ko-KR" altLang="en-US" sz="1600" dirty="0">
                <a:latin typeface="맑은 고딕" panose="020B0503020000020004" pitchFamily="50" charset="-127"/>
              </a:rPr>
              <a:t> 주주로부터 수취한 금액이 액면금액을 초과하는 금액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504000" indent="-252000">
              <a:lnSpc>
                <a:spcPts val="2400"/>
              </a:lnSpc>
              <a:spcBef>
                <a:spcPts val="600"/>
              </a:spcBef>
              <a:buClrTx/>
              <a:buSzTx/>
              <a:buNone/>
            </a:pPr>
            <a:r>
              <a:rPr lang="ko-KR" altLang="en-US" sz="1600" dirty="0">
                <a:latin typeface="맑은 고딕" panose="020B0503020000020004" pitchFamily="50" charset="-127"/>
              </a:rPr>
              <a:t>② 기타자본잉여금 </a:t>
            </a:r>
            <a:r>
              <a:rPr lang="en-US" altLang="ko-KR" sz="1600" dirty="0">
                <a:latin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</a:rPr>
              <a:t>자기주식처분이익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감자차익</a:t>
            </a:r>
            <a:r>
              <a:rPr lang="ko-KR" altLang="en-US" sz="1600" dirty="0">
                <a:latin typeface="맑은 고딕" panose="020B0503020000020004" pitchFamily="50" charset="-127"/>
              </a:rPr>
              <a:t> 등</a:t>
            </a:r>
          </a:p>
        </p:txBody>
      </p:sp>
      <p:grpSp>
        <p:nvGrpSpPr>
          <p:cNvPr id="11" name="그룹 10"/>
          <p:cNvGrpSpPr/>
          <p:nvPr/>
        </p:nvGrpSpPr>
        <p:grpSpPr>
          <a:xfrm>
            <a:off x="257473" y="4324316"/>
            <a:ext cx="7492624" cy="340256"/>
            <a:chOff x="257473" y="1430362"/>
            <a:chExt cx="7492624" cy="340256"/>
          </a:xfrm>
        </p:grpSpPr>
        <p:sp>
          <p:nvSpPr>
            <p:cNvPr id="12" name="Rectangle 14"/>
            <p:cNvSpPr>
              <a:spLocks noChangeArrowheads="1"/>
            </p:cNvSpPr>
            <p:nvPr/>
          </p:nvSpPr>
          <p:spPr bwMode="auto">
            <a:xfrm>
              <a:off x="440748" y="1430362"/>
              <a:ext cx="7309349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자본잉여금</a:t>
              </a: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257473" y="1451539"/>
              <a:ext cx="211480" cy="31907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267992" y="1683961"/>
            <a:ext cx="7206599" cy="664302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174625" indent="-174625"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• </a:t>
            </a:r>
            <a:r>
              <a:rPr lang="ko-KR" altLang="en-US" sz="1600" dirty="0">
                <a:latin typeface="맑은 고딕" panose="020B0503020000020004" pitchFamily="50" charset="-127"/>
              </a:rPr>
              <a:t>납입자본</a:t>
            </a:r>
            <a:r>
              <a:rPr lang="en-US" altLang="ko-KR" sz="1600" dirty="0">
                <a:latin typeface="맑은 고딕" panose="020B0503020000020004" pitchFamily="50" charset="-127"/>
              </a:rPr>
              <a:t>(paid-in capital): </a:t>
            </a:r>
            <a:r>
              <a:rPr lang="ko-KR" altLang="en-US" sz="1600" dirty="0">
                <a:latin typeface="맑은 고딕" panose="020B0503020000020004" pitchFamily="50" charset="-127"/>
              </a:rPr>
              <a:t>주주가 실제로 회사에 납입</a:t>
            </a:r>
            <a:r>
              <a:rPr lang="en-US" altLang="ko-KR" sz="1600" dirty="0">
                <a:latin typeface="맑은 고딕" panose="020B0503020000020004" pitchFamily="50" charset="-127"/>
              </a:rPr>
              <a:t>(=</a:t>
            </a:r>
            <a:r>
              <a:rPr lang="ko-KR" altLang="en-US" sz="1600" dirty="0">
                <a:latin typeface="맑은 고딕" panose="020B0503020000020004" pitchFamily="50" charset="-127"/>
              </a:rPr>
              <a:t>지급</a:t>
            </a:r>
            <a:r>
              <a:rPr lang="en-US" altLang="ko-KR" sz="1600" dirty="0">
                <a:latin typeface="맑은 고딕" panose="020B0503020000020004" pitchFamily="50" charset="-127"/>
              </a:rPr>
              <a:t>)</a:t>
            </a:r>
            <a:r>
              <a:rPr lang="ko-KR" altLang="en-US" sz="1600" dirty="0">
                <a:latin typeface="맑은 고딕" panose="020B0503020000020004" pitchFamily="50" charset="-127"/>
              </a:rPr>
              <a:t>한 자본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174625" indent="-174625"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>
                <a:latin typeface="맑은 고딕" panose="020B0503020000020004" pitchFamily="50" charset="-127"/>
              </a:rPr>
              <a:t>• </a:t>
            </a:r>
            <a:r>
              <a:rPr lang="ko-KR" altLang="en-US" sz="1600">
                <a:latin typeface="맑은 고딕" panose="020B0503020000020004" pitchFamily="50" charset="-127"/>
              </a:rPr>
              <a:t>자본금과 </a:t>
            </a:r>
            <a:r>
              <a:rPr lang="ko-KR" altLang="en-US" sz="1600" dirty="0">
                <a:latin typeface="맑은 고딕" panose="020B0503020000020004" pitchFamily="50" charset="-127"/>
              </a:rPr>
              <a:t>자본잉여금으로 구성</a:t>
            </a:r>
            <a:endParaRPr lang="en-US" altLang="ko-KR" sz="1600" dirty="0">
              <a:latin typeface="맑은 고딕" panose="020B0503020000020004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257473" y="1273936"/>
            <a:ext cx="7492624" cy="340256"/>
            <a:chOff x="257473" y="1430362"/>
            <a:chExt cx="7492624" cy="340256"/>
          </a:xfrm>
        </p:grpSpPr>
        <p:sp>
          <p:nvSpPr>
            <p:cNvPr id="27" name="Rectangle 14"/>
            <p:cNvSpPr>
              <a:spLocks noChangeArrowheads="1"/>
            </p:cNvSpPr>
            <p:nvPr/>
          </p:nvSpPr>
          <p:spPr bwMode="auto">
            <a:xfrm>
              <a:off x="440748" y="1430362"/>
              <a:ext cx="7309349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납입자본</a:t>
              </a:r>
              <a:endPara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257473" y="1451539"/>
              <a:ext cx="211480" cy="31907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5163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5"/>
          <p:cNvSpPr>
            <a:spLocks noChangeArrowheads="1"/>
          </p:cNvSpPr>
          <p:nvPr/>
        </p:nvSpPr>
        <p:spPr bwMode="auto">
          <a:xfrm>
            <a:off x="257473" y="1746442"/>
            <a:ext cx="8641369" cy="1034858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ctr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600" dirty="0">
                <a:latin typeface="맑은 고딕" panose="020B0503020000020004" pitchFamily="50" charset="-127"/>
              </a:rPr>
              <a:t>①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액면발행</a:t>
            </a:r>
            <a:r>
              <a:rPr lang="ko-KR" altLang="en-US" sz="1600" dirty="0">
                <a:latin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</a:rPr>
              <a:t>:  </a:t>
            </a:r>
            <a:r>
              <a:rPr lang="ko-KR" altLang="en-US" sz="1600" dirty="0">
                <a:latin typeface="맑은 고딕" panose="020B0503020000020004" pitchFamily="50" charset="-127"/>
              </a:rPr>
              <a:t>발행금액 </a:t>
            </a:r>
            <a:r>
              <a:rPr lang="en-US" altLang="ko-KR" sz="1600" dirty="0">
                <a:latin typeface="맑은 고딕" panose="020B0503020000020004" pitchFamily="50" charset="-127"/>
              </a:rPr>
              <a:t>= </a:t>
            </a:r>
            <a:r>
              <a:rPr lang="ko-KR" altLang="en-US" sz="1600" dirty="0">
                <a:latin typeface="맑은 고딕" panose="020B0503020000020004" pitchFamily="50" charset="-127"/>
              </a:rPr>
              <a:t>액면금액</a:t>
            </a:r>
          </a:p>
          <a:p>
            <a:pPr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600" dirty="0">
                <a:latin typeface="맑은 고딕" panose="020B0503020000020004" pitchFamily="50" charset="-127"/>
              </a:rPr>
              <a:t>②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할증발행</a:t>
            </a:r>
            <a:r>
              <a:rPr lang="ko-KR" altLang="en-US" sz="1600" dirty="0">
                <a:latin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</a:rPr>
              <a:t>:  </a:t>
            </a:r>
            <a:r>
              <a:rPr lang="ko-KR" altLang="en-US" sz="1600" dirty="0">
                <a:latin typeface="맑은 고딕" panose="020B0503020000020004" pitchFamily="50" charset="-127"/>
              </a:rPr>
              <a:t>발행금액 </a:t>
            </a:r>
            <a:r>
              <a:rPr lang="en-US" altLang="ko-KR" sz="1600" dirty="0">
                <a:latin typeface="맑은 고딕" panose="020B0503020000020004" pitchFamily="50" charset="-127"/>
              </a:rPr>
              <a:t>&gt; </a:t>
            </a:r>
            <a:r>
              <a:rPr lang="ko-KR" altLang="en-US" sz="1600" dirty="0">
                <a:latin typeface="맑은 고딕" panose="020B0503020000020004" pitchFamily="50" charset="-127"/>
              </a:rPr>
              <a:t>액면금액 </a:t>
            </a:r>
          </a:p>
          <a:p>
            <a:pPr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600" dirty="0">
                <a:latin typeface="맑은 고딕" panose="020B0503020000020004" pitchFamily="50" charset="-127"/>
              </a:rPr>
              <a:t>③ 할인발행 </a:t>
            </a:r>
            <a:r>
              <a:rPr lang="en-US" altLang="ko-KR" sz="1600" dirty="0">
                <a:latin typeface="맑은 고딕" panose="020B0503020000020004" pitchFamily="50" charset="-127"/>
              </a:rPr>
              <a:t>:  </a:t>
            </a:r>
            <a:r>
              <a:rPr lang="ko-KR" altLang="en-US" sz="1600" dirty="0">
                <a:latin typeface="맑은 고딕" panose="020B0503020000020004" pitchFamily="50" charset="-127"/>
              </a:rPr>
              <a:t>발행금액 </a:t>
            </a:r>
            <a:r>
              <a:rPr lang="en-US" altLang="ko-KR" sz="1600" dirty="0">
                <a:latin typeface="맑은 고딕" panose="020B0503020000020004" pitchFamily="50" charset="-127"/>
              </a:rPr>
              <a:t>&lt; </a:t>
            </a:r>
            <a:r>
              <a:rPr lang="ko-KR" altLang="en-US" sz="1600" dirty="0">
                <a:latin typeface="맑은 고딕" panose="020B0503020000020004" pitchFamily="50" charset="-127"/>
              </a:rPr>
              <a:t>액면금액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257473" y="1430362"/>
            <a:ext cx="7492624" cy="340256"/>
            <a:chOff x="257473" y="1430362"/>
            <a:chExt cx="7492624" cy="340256"/>
          </a:xfrm>
        </p:grpSpPr>
        <p:sp>
          <p:nvSpPr>
            <p:cNvPr id="29" name="Rectangle 14"/>
            <p:cNvSpPr>
              <a:spLocks noChangeArrowheads="1"/>
            </p:cNvSpPr>
            <p:nvPr/>
          </p:nvSpPr>
          <p:spPr bwMode="auto">
            <a:xfrm>
              <a:off x="440748" y="1430362"/>
              <a:ext cx="7309349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주식의 발행</a:t>
              </a: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257473" y="1451539"/>
              <a:ext cx="211480" cy="31907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Rectangle 15"/>
          <p:cNvSpPr>
            <a:spLocks noChangeArrowheads="1"/>
          </p:cNvSpPr>
          <p:nvPr/>
        </p:nvSpPr>
        <p:spPr bwMode="auto">
          <a:xfrm>
            <a:off x="287828" y="3405663"/>
            <a:ext cx="8641369" cy="2075637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ctr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285750" indent="-285750">
              <a:lnSpc>
                <a:spcPts val="2400"/>
              </a:lnSpc>
              <a:spcBef>
                <a:spcPct val="0"/>
              </a:spcBef>
              <a:buClrTx/>
              <a:buSzTx/>
            </a:pPr>
            <a:r>
              <a:rPr lang="ko-KR" altLang="en-US" sz="1600" dirty="0">
                <a:latin typeface="맑은 고딕" panose="020B0503020000020004" pitchFamily="50" charset="-127"/>
              </a:rPr>
              <a:t>주식의 발행금액은 </a:t>
            </a:r>
            <a:r>
              <a:rPr lang="ko-KR" altLang="en-US" sz="1600" b="1" dirty="0">
                <a:latin typeface="맑은 고딕" panose="020B0503020000020004" pitchFamily="50" charset="-127"/>
              </a:rPr>
              <a:t>주식발행비를 차감</a:t>
            </a:r>
            <a:r>
              <a:rPr lang="ko-KR" altLang="en-US" sz="1600" dirty="0">
                <a:latin typeface="맑은 고딕" panose="020B0503020000020004" pitchFamily="50" charset="-127"/>
              </a:rPr>
              <a:t>한 후 </a:t>
            </a:r>
            <a:r>
              <a:rPr lang="ko-KR" altLang="en-US" sz="1600" b="1" dirty="0">
                <a:latin typeface="맑은 고딕" panose="020B0503020000020004" pitchFamily="50" charset="-127"/>
              </a:rPr>
              <a:t>실제로 조달한 금액</a:t>
            </a:r>
            <a:r>
              <a:rPr lang="ko-KR" altLang="en-US" sz="1600" dirty="0">
                <a:latin typeface="맑은 고딕" panose="020B0503020000020004" pitchFamily="50" charset="-127"/>
              </a:rPr>
              <a:t>을 기준으로 함</a:t>
            </a:r>
          </a:p>
          <a:p>
            <a:pPr marL="285750" indent="-285750">
              <a:lnSpc>
                <a:spcPts val="2400"/>
              </a:lnSpc>
              <a:spcBef>
                <a:spcPts val="600"/>
              </a:spcBef>
              <a:buClrTx/>
              <a:buSzTx/>
            </a:pPr>
            <a:r>
              <a:rPr lang="ko-KR" altLang="en-US" sz="1600" dirty="0">
                <a:latin typeface="맑은 고딕" panose="020B0503020000020004" pitchFamily="50" charset="-127"/>
              </a:rPr>
              <a:t>발행금액에 상관없이 </a:t>
            </a:r>
            <a:r>
              <a:rPr lang="ko-KR" altLang="en-US" sz="1600" b="1" dirty="0">
                <a:latin typeface="맑은 고딕" panose="020B0503020000020004" pitchFamily="50" charset="-127"/>
              </a:rPr>
              <a:t>액면금액에 해당하는 부분을 자본금계정</a:t>
            </a:r>
            <a:r>
              <a:rPr lang="ko-KR" altLang="en-US" sz="1600" dirty="0">
                <a:latin typeface="맑은 고딕" panose="020B0503020000020004" pitchFamily="50" charset="-127"/>
              </a:rPr>
              <a:t>에 기록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285750" indent="-285750">
              <a:lnSpc>
                <a:spcPts val="2400"/>
              </a:lnSpc>
              <a:spcBef>
                <a:spcPts val="600"/>
              </a:spcBef>
              <a:buClrTx/>
              <a:buSzTx/>
            </a:pPr>
            <a:r>
              <a:rPr lang="ko-KR" altLang="en-US" sz="1600" b="1" dirty="0">
                <a:latin typeface="맑은 고딕" panose="020B0503020000020004" pitchFamily="50" charset="-127"/>
              </a:rPr>
              <a:t>할증발행시</a:t>
            </a:r>
            <a:r>
              <a:rPr lang="ko-KR" altLang="en-US" sz="1600" dirty="0">
                <a:latin typeface="맑은 고딕" panose="020B0503020000020004" pitchFamily="50" charset="-127"/>
              </a:rPr>
              <a:t> 발행금액이 액면금액을 초과하는 부분 → </a:t>
            </a:r>
            <a:r>
              <a:rPr lang="ko-KR" altLang="en-US" sz="16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주식발행초과금</a:t>
            </a:r>
            <a:r>
              <a:rPr lang="en-US" altLang="ko-KR" sz="16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6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자본잉여금</a:t>
            </a:r>
            <a:r>
              <a:rPr lang="en-US" altLang="ko-KR" sz="16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)</a:t>
            </a:r>
          </a:p>
          <a:p>
            <a:pPr marL="285750" indent="-285750">
              <a:lnSpc>
                <a:spcPts val="2400"/>
              </a:lnSpc>
              <a:spcBef>
                <a:spcPts val="600"/>
              </a:spcBef>
              <a:buClrTx/>
              <a:buSzTx/>
            </a:pPr>
            <a:r>
              <a:rPr lang="ko-KR" altLang="en-US" sz="1600" b="1" dirty="0">
                <a:latin typeface="맑은 고딕" panose="020B0503020000020004" pitchFamily="50" charset="-127"/>
              </a:rPr>
              <a:t>할인발행시</a:t>
            </a:r>
            <a:r>
              <a:rPr lang="ko-KR" altLang="en-US" sz="1600" dirty="0">
                <a:latin typeface="맑은 고딕" panose="020B0503020000020004" pitchFamily="50" charset="-127"/>
              </a:rPr>
              <a:t> 액면금액과 발행금액의 차이 →</a:t>
            </a:r>
            <a:r>
              <a:rPr lang="ko-KR" altLang="en-US" sz="16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600" b="1" dirty="0" err="1">
                <a:solidFill>
                  <a:srgbClr val="C00000"/>
                </a:solidFill>
                <a:latin typeface="맑은 고딕" panose="020B0503020000020004" pitchFamily="50" charset="-127"/>
              </a:rPr>
              <a:t>주식할인발행차금</a:t>
            </a:r>
            <a:r>
              <a:rPr lang="en-US" altLang="ko-KR" sz="16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6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자본조정</a:t>
            </a:r>
            <a:r>
              <a:rPr lang="en-US" altLang="ko-KR" sz="1600" dirty="0">
                <a:solidFill>
                  <a:srgbClr val="C00000"/>
                </a:solidFill>
                <a:latin typeface="맑은 고딕" panose="020B0503020000020004" pitchFamily="50" charset="-127"/>
              </a:rPr>
              <a:t>)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endParaRPr lang="en-US" altLang="ko-KR" sz="1600" dirty="0">
              <a:latin typeface="맑은 고딕" panose="020B0503020000020004" pitchFamily="50" charset="-127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257473" y="3081814"/>
            <a:ext cx="7492624" cy="340256"/>
            <a:chOff x="257473" y="1430362"/>
            <a:chExt cx="7492624" cy="340256"/>
          </a:xfrm>
        </p:grpSpPr>
        <p:sp>
          <p:nvSpPr>
            <p:cNvPr id="12" name="Rectangle 14"/>
            <p:cNvSpPr>
              <a:spLocks noChangeArrowheads="1"/>
            </p:cNvSpPr>
            <p:nvPr/>
          </p:nvSpPr>
          <p:spPr bwMode="auto">
            <a:xfrm>
              <a:off x="440748" y="1430362"/>
              <a:ext cx="7309349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회계처리</a:t>
              </a: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257473" y="1451539"/>
              <a:ext cx="211480" cy="31907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5732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133564" y="1364521"/>
            <a:ext cx="8711460" cy="5150579"/>
            <a:chOff x="190714" y="1320886"/>
            <a:chExt cx="8711460" cy="5150579"/>
          </a:xfrm>
        </p:grpSpPr>
        <p:grpSp>
          <p:nvGrpSpPr>
            <p:cNvPr id="16" name="그룹 15"/>
            <p:cNvGrpSpPr/>
            <p:nvPr/>
          </p:nvGrpSpPr>
          <p:grpSpPr>
            <a:xfrm>
              <a:off x="361935" y="1461499"/>
              <a:ext cx="8540239" cy="5009966"/>
              <a:chOff x="269048" y="1722741"/>
              <a:chExt cx="8648775" cy="5009966"/>
            </a:xfrm>
          </p:grpSpPr>
          <p:sp>
            <p:nvSpPr>
              <p:cNvPr id="24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4986266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5" name="직사각형 24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7" name="그룹 16"/>
            <p:cNvGrpSpPr/>
            <p:nvPr/>
          </p:nvGrpSpPr>
          <p:grpSpPr>
            <a:xfrm>
              <a:off x="190714" y="1320886"/>
              <a:ext cx="2694927" cy="326952"/>
              <a:chOff x="190714" y="1320889"/>
              <a:chExt cx="2305306" cy="290354"/>
            </a:xfrm>
            <a:solidFill>
              <a:srgbClr val="2D61C8"/>
            </a:solidFill>
          </p:grpSpPr>
          <p:grpSp>
            <p:nvGrpSpPr>
              <p:cNvPr id="18" name="그룹 17"/>
              <p:cNvGrpSpPr/>
              <p:nvPr/>
            </p:nvGrpSpPr>
            <p:grpSpPr>
              <a:xfrm>
                <a:off x="190714" y="1320889"/>
                <a:ext cx="2305306" cy="290354"/>
                <a:chOff x="405822" y="2237753"/>
                <a:chExt cx="2305306" cy="290354"/>
              </a:xfrm>
              <a:grpFill/>
            </p:grpSpPr>
            <p:sp>
              <p:nvSpPr>
                <p:cNvPr id="20" name="타원 19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1" name="타원 20"/>
                <p:cNvSpPr/>
                <p:nvPr/>
              </p:nvSpPr>
              <p:spPr>
                <a:xfrm>
                  <a:off x="2420777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2" name="직사각형 21"/>
                <p:cNvSpPr/>
                <p:nvPr/>
              </p:nvSpPr>
              <p:spPr>
                <a:xfrm>
                  <a:off x="542513" y="2237755"/>
                  <a:ext cx="1987017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10-1 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주식발행</a:t>
                  </a:r>
                  <a:endParaRPr lang="ko-KR" altLang="en-US" sz="1600" b="1" dirty="0"/>
                </a:p>
              </p:txBody>
            </p:sp>
            <p:sp>
              <p:nvSpPr>
                <p:cNvPr id="23" name="타원 22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19" name="그림 18" descr="Log in | Sign Up Upload Clipart"/>
              <p:cNvPicPr>
                <a:picLocks noChangeAspect="1"/>
              </p:cNvPicPr>
              <p:nvPr/>
            </p:nvPicPr>
            <p:blipFill>
              <a:blip r:embed="rId3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26" name="Rectangle 12"/>
          <p:cNvSpPr>
            <a:spLocks noChangeArrowheads="1"/>
          </p:cNvSpPr>
          <p:nvPr/>
        </p:nvSpPr>
        <p:spPr bwMode="auto">
          <a:xfrm>
            <a:off x="517075" y="1685914"/>
            <a:ext cx="8030025" cy="108586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defTabSz="995363" eaLnBrk="0" hangingPunct="0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9536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95363" eaLnBrk="0" hangingPunct="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95363" eaLnBrk="0" hangingPunct="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95363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latinLnBrk="0" hangingPunct="1">
              <a:lnSpc>
                <a:spcPts val="24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0"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</a:t>
            </a:r>
            <a:r>
              <a:rPr kumimoji="0"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kumimoji="0"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오스템은</a:t>
            </a:r>
            <a:r>
              <a:rPr kumimoji="0"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20×1</a:t>
            </a:r>
            <a:r>
              <a:rPr kumimoji="0"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kumimoji="0"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kumimoji="0"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kumimoji="0"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kumimoji="0"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일에 액면금액 ￦</a:t>
            </a:r>
            <a:r>
              <a:rPr kumimoji="0"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5,000</a:t>
            </a:r>
            <a:r>
              <a:rPr kumimoji="0"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 </a:t>
            </a:r>
            <a:r>
              <a:rPr kumimoji="0"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보통주</a:t>
            </a:r>
            <a:r>
              <a:rPr kumimoji="0"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1,000</a:t>
            </a:r>
            <a:r>
              <a:rPr kumimoji="0"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주를 발행하여 회사를 설립하였다</a:t>
            </a:r>
            <a:r>
              <a:rPr kumimoji="0"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1</a:t>
            </a:r>
            <a:r>
              <a:rPr kumimoji="0"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주당 </a:t>
            </a:r>
            <a:r>
              <a:rPr kumimoji="0"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발행금액이</a:t>
            </a:r>
            <a:r>
              <a:rPr kumimoji="0"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￦</a:t>
            </a:r>
            <a:r>
              <a:rPr kumimoji="0"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5,000, </a:t>
            </a:r>
            <a:r>
              <a:rPr kumimoji="0"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￦</a:t>
            </a:r>
            <a:r>
              <a:rPr kumimoji="0"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8,000, </a:t>
            </a:r>
            <a:r>
              <a:rPr kumimoji="0"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￦</a:t>
            </a:r>
            <a:r>
              <a:rPr kumimoji="0"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4,000</a:t>
            </a:r>
            <a:r>
              <a:rPr kumimoji="0"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 경우 각각에 따른 회계처리를 하고</a:t>
            </a:r>
            <a:r>
              <a:rPr kumimoji="0"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 결과를 재무상태표의 </a:t>
            </a:r>
            <a:r>
              <a:rPr kumimoji="0"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자본항목에</a:t>
            </a:r>
            <a:r>
              <a:rPr kumimoji="0"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표시하라</a:t>
            </a:r>
            <a:r>
              <a:rPr kumimoji="0"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27" name="Rectangle 12"/>
          <p:cNvSpPr>
            <a:spLocks noChangeArrowheads="1"/>
          </p:cNvSpPr>
          <p:nvPr/>
        </p:nvSpPr>
        <p:spPr bwMode="auto">
          <a:xfrm>
            <a:off x="642938" y="2906837"/>
            <a:ext cx="7775575" cy="78581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defTabSz="995363" eaLnBrk="0" hangingPunct="0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9536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95363" eaLnBrk="0" hangingPunct="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95363" eaLnBrk="0" hangingPunct="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95363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latinLnBrk="0" hangingPunct="1">
              <a:lnSpc>
                <a:spcPts val="24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 </a:t>
            </a:r>
            <a:r>
              <a:rPr kumimoji="0"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kumimoji="0"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주당 </a:t>
            </a:r>
            <a:r>
              <a:rPr kumimoji="0"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발행금액이</a:t>
            </a:r>
            <a:r>
              <a:rPr kumimoji="0"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￦</a:t>
            </a:r>
            <a:r>
              <a:rPr kumimoji="0"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5,000</a:t>
            </a:r>
            <a:r>
              <a:rPr kumimoji="0"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 경우 </a:t>
            </a:r>
            <a:r>
              <a:rPr kumimoji="0" lang="en-US" altLang="ko-KR" sz="14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0" lang="ko-KR" altLang="en-US" sz="1400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액면발행</a:t>
            </a:r>
            <a:r>
              <a:rPr kumimoji="0" lang="en-US" altLang="ko-KR" sz="14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ko-KR" altLang="en-US" sz="14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ts val="24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kumimoji="0"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0"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</a:t>
            </a:r>
            <a:r>
              <a:rPr kumimoji="0"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kumimoji="0"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      금                   </a:t>
            </a:r>
            <a:r>
              <a:rPr kumimoji="0"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5,000,000     (</a:t>
            </a:r>
            <a:r>
              <a:rPr kumimoji="0"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</a:t>
            </a:r>
            <a:r>
              <a:rPr kumimoji="0"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kumimoji="0"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 본 금                 </a:t>
            </a:r>
            <a:r>
              <a:rPr kumimoji="0"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5,000,000     </a:t>
            </a:r>
          </a:p>
        </p:txBody>
      </p:sp>
      <p:sp>
        <p:nvSpPr>
          <p:cNvPr id="28" name="Rectangle 12"/>
          <p:cNvSpPr>
            <a:spLocks noChangeArrowheads="1"/>
          </p:cNvSpPr>
          <p:nvPr/>
        </p:nvSpPr>
        <p:spPr bwMode="auto">
          <a:xfrm>
            <a:off x="642938" y="3754747"/>
            <a:ext cx="7775575" cy="1357313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defTabSz="995363" eaLnBrk="0" hangingPunct="0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9536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95363" eaLnBrk="0" hangingPunct="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95363" eaLnBrk="0" hangingPunct="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95363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latinLnBrk="0" hangingPunct="1">
              <a:lnSpc>
                <a:spcPts val="24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</a:t>
            </a:r>
            <a:r>
              <a:rPr kumimoji="0"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kumimoji="0"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주당 </a:t>
            </a:r>
            <a:r>
              <a:rPr kumimoji="0"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발행금액이</a:t>
            </a:r>
            <a:r>
              <a:rPr kumimoji="0"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￦</a:t>
            </a:r>
            <a:r>
              <a:rPr kumimoji="0"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8,000</a:t>
            </a:r>
            <a:r>
              <a:rPr kumimoji="0"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 경우 </a:t>
            </a:r>
            <a:r>
              <a:rPr kumimoji="0" lang="en-US" altLang="ko-KR" sz="14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0" lang="ko-KR" altLang="en-US" sz="1400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할증발행</a:t>
            </a:r>
            <a:r>
              <a:rPr kumimoji="0" lang="en-US" altLang="ko-KR" sz="14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eaLnBrk="1" latinLnBrk="0" hangingPunct="1">
              <a:lnSpc>
                <a:spcPts val="24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kumimoji="0"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0"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</a:t>
            </a:r>
            <a:r>
              <a:rPr kumimoji="0"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kumimoji="0"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      금                   </a:t>
            </a:r>
            <a:r>
              <a:rPr kumimoji="0"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8,000,000     (</a:t>
            </a:r>
            <a:r>
              <a:rPr kumimoji="0"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</a:t>
            </a:r>
            <a:r>
              <a:rPr kumimoji="0"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kumimoji="0"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 본 금                 </a:t>
            </a:r>
            <a:r>
              <a:rPr kumimoji="0"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5,000,000</a:t>
            </a:r>
          </a:p>
          <a:p>
            <a:pPr eaLnBrk="1" latinLnBrk="0" hangingPunct="1">
              <a:lnSpc>
                <a:spcPts val="24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 </a:t>
            </a:r>
            <a:r>
              <a:rPr kumimoji="0"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주식발행초과금   </a:t>
            </a:r>
            <a:r>
              <a:rPr kumimoji="0"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kumimoji="0"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kumimoji="0"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3,000,000*</a:t>
            </a:r>
          </a:p>
          <a:p>
            <a:pPr eaLnBrk="1" latinLnBrk="0" hangingPunct="1">
              <a:lnSpc>
                <a:spcPts val="24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* </a:t>
            </a:r>
            <a:r>
              <a:rPr kumimoji="0"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발행금액</a:t>
            </a:r>
            <a:r>
              <a:rPr kumimoji="0"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kumimoji="0"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액면금액 </a:t>
            </a:r>
            <a:r>
              <a:rPr kumimoji="0"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 </a:t>
            </a:r>
            <a:r>
              <a:rPr kumimoji="0"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￦</a:t>
            </a:r>
            <a:r>
              <a:rPr kumimoji="0"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8,000</a:t>
            </a:r>
            <a:r>
              <a:rPr kumimoji="0" lang="en-US" altLang="ko-KR" sz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×</a:t>
            </a:r>
            <a:r>
              <a:rPr kumimoji="0"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1,000</a:t>
            </a:r>
            <a:r>
              <a:rPr kumimoji="0"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</a:t>
            </a:r>
            <a:r>
              <a:rPr kumimoji="0"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kumimoji="0"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￦</a:t>
            </a:r>
            <a:r>
              <a:rPr kumimoji="0"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5,000</a:t>
            </a:r>
            <a:r>
              <a:rPr kumimoji="0" lang="en-US" altLang="ko-KR" sz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×</a:t>
            </a:r>
            <a:r>
              <a:rPr kumimoji="0"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1,000</a:t>
            </a:r>
            <a:r>
              <a:rPr kumimoji="0"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</a:t>
            </a:r>
            <a:r>
              <a:rPr kumimoji="0"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</a:t>
            </a:r>
            <a:r>
              <a:rPr kumimoji="0"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￦</a:t>
            </a:r>
            <a:r>
              <a:rPr kumimoji="0"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3,000,000      </a:t>
            </a:r>
          </a:p>
          <a:p>
            <a:pPr eaLnBrk="1" latinLnBrk="0" hangingPunct="1">
              <a:lnSpc>
                <a:spcPts val="24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ts val="24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Rectangle 12"/>
          <p:cNvSpPr>
            <a:spLocks noChangeArrowheads="1"/>
          </p:cNvSpPr>
          <p:nvPr/>
        </p:nvSpPr>
        <p:spPr bwMode="auto">
          <a:xfrm>
            <a:off x="642938" y="5161498"/>
            <a:ext cx="7775575" cy="1000125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defTabSz="995363" eaLnBrk="0" hangingPunct="0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9536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95363" eaLnBrk="0" hangingPunct="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95363" eaLnBrk="0" hangingPunct="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95363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latinLnBrk="0" hangingPunct="1">
              <a:lnSpc>
                <a:spcPts val="24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③ </a:t>
            </a:r>
            <a:r>
              <a:rPr kumimoji="0"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kumimoji="0"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주당 </a:t>
            </a:r>
            <a:r>
              <a:rPr kumimoji="0"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발행금액이</a:t>
            </a:r>
            <a:r>
              <a:rPr kumimoji="0"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￦</a:t>
            </a:r>
            <a:r>
              <a:rPr kumimoji="0"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4,000</a:t>
            </a:r>
            <a:r>
              <a:rPr kumimoji="0"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 경우 </a:t>
            </a:r>
            <a:r>
              <a:rPr kumimoji="0" lang="en-US" altLang="ko-KR" sz="14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0" lang="ko-KR" altLang="en-US" sz="14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할인발행</a:t>
            </a:r>
            <a:r>
              <a:rPr kumimoji="0" lang="en-US" altLang="ko-KR" sz="14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ko-KR" altLang="en-US" sz="14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ts val="24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kumimoji="0"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0"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</a:t>
            </a:r>
            <a:r>
              <a:rPr kumimoji="0"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kumimoji="0"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      금                   </a:t>
            </a:r>
            <a:r>
              <a:rPr kumimoji="0"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4,000,000     (</a:t>
            </a:r>
            <a:r>
              <a:rPr kumimoji="0"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</a:t>
            </a:r>
            <a:r>
              <a:rPr kumimoji="0"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kumimoji="0"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 본 금                 </a:t>
            </a:r>
            <a:r>
              <a:rPr kumimoji="0"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5,000,000</a:t>
            </a:r>
          </a:p>
          <a:p>
            <a:pPr eaLnBrk="1" latinLnBrk="0" hangingPunct="1">
              <a:lnSpc>
                <a:spcPts val="24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</a:t>
            </a:r>
            <a:r>
              <a:rPr kumimoji="0"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주식할인발행차금</a:t>
            </a:r>
            <a:r>
              <a:rPr kumimoji="0"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</a:t>
            </a:r>
            <a:r>
              <a:rPr kumimoji="0"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1,000,000     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8386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133564" y="1364521"/>
            <a:ext cx="8711460" cy="5150579"/>
            <a:chOff x="190714" y="1320886"/>
            <a:chExt cx="8711460" cy="5150579"/>
          </a:xfrm>
        </p:grpSpPr>
        <p:grpSp>
          <p:nvGrpSpPr>
            <p:cNvPr id="16" name="그룹 15"/>
            <p:cNvGrpSpPr/>
            <p:nvPr/>
          </p:nvGrpSpPr>
          <p:grpSpPr>
            <a:xfrm>
              <a:off x="361935" y="1461499"/>
              <a:ext cx="8540239" cy="5009966"/>
              <a:chOff x="269048" y="1722741"/>
              <a:chExt cx="8648775" cy="5009966"/>
            </a:xfrm>
          </p:grpSpPr>
          <p:sp>
            <p:nvSpPr>
              <p:cNvPr id="24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4986266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5" name="직사각형 24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7" name="그룹 16"/>
            <p:cNvGrpSpPr/>
            <p:nvPr/>
          </p:nvGrpSpPr>
          <p:grpSpPr>
            <a:xfrm>
              <a:off x="190714" y="1320886"/>
              <a:ext cx="2694927" cy="326952"/>
              <a:chOff x="190714" y="1320889"/>
              <a:chExt cx="2305306" cy="290354"/>
            </a:xfrm>
            <a:solidFill>
              <a:srgbClr val="2D61C8"/>
            </a:solidFill>
          </p:grpSpPr>
          <p:grpSp>
            <p:nvGrpSpPr>
              <p:cNvPr id="18" name="그룹 17"/>
              <p:cNvGrpSpPr/>
              <p:nvPr/>
            </p:nvGrpSpPr>
            <p:grpSpPr>
              <a:xfrm>
                <a:off x="190714" y="1320889"/>
                <a:ext cx="2305306" cy="290354"/>
                <a:chOff x="405822" y="2237753"/>
                <a:chExt cx="2305306" cy="290354"/>
              </a:xfrm>
              <a:grpFill/>
            </p:grpSpPr>
            <p:sp>
              <p:nvSpPr>
                <p:cNvPr id="20" name="타원 19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1" name="타원 20"/>
                <p:cNvSpPr/>
                <p:nvPr/>
              </p:nvSpPr>
              <p:spPr>
                <a:xfrm>
                  <a:off x="2420777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2" name="직사각형 21"/>
                <p:cNvSpPr/>
                <p:nvPr/>
              </p:nvSpPr>
              <p:spPr>
                <a:xfrm>
                  <a:off x="542513" y="2237755"/>
                  <a:ext cx="1987017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10-1 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주식발행</a:t>
                  </a:r>
                  <a:endParaRPr lang="ko-KR" altLang="en-US" sz="1600" b="1" dirty="0"/>
                </a:p>
              </p:txBody>
            </p:sp>
            <p:sp>
              <p:nvSpPr>
                <p:cNvPr id="23" name="타원 22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19" name="그림 18" descr="Log in | Sign Up Upload Clipart"/>
              <p:cNvPicPr>
                <a:picLocks noChangeAspect="1"/>
              </p:cNvPicPr>
              <p:nvPr/>
            </p:nvPicPr>
            <p:blipFill>
              <a:blip r:embed="rId3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763191"/>
              </p:ext>
            </p:extLst>
          </p:nvPr>
        </p:nvGraphicFramePr>
        <p:xfrm>
          <a:off x="1377950" y="1966269"/>
          <a:ext cx="6263821" cy="1864145"/>
        </p:xfrm>
        <a:graphic>
          <a:graphicData uri="http://schemas.openxmlformats.org/drawingml/2006/table">
            <a:tbl>
              <a:tblPr/>
              <a:tblGrid>
                <a:gridCol w="167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4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5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75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9220">
                <a:tc gridSpan="6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부분재무상태표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(20×1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 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6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① 액면발행</a:t>
                      </a: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② 할증발행</a:t>
                      </a: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③ 할인발행</a:t>
                      </a: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46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 본 금</a:t>
                      </a: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5,000,000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5,000,000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5,000,000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46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주식발행초과금</a:t>
                      </a: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3,000,000</a:t>
                      </a: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46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주식할인발행차금</a:t>
                      </a: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(1,000,000)</a:t>
                      </a: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46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총자본</a:t>
                      </a: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5,000,000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8,000,000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4,000,000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26" name="Rectangle 12">
            <a:extLst>
              <a:ext uri="{FF2B5EF4-FFF2-40B4-BE49-F238E27FC236}">
                <a16:creationId xmlns:a16="http://schemas.microsoft.com/office/drawing/2014/main" id="{9AE262F4-585A-40BE-8E7F-2E4D2EEAC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704" y="4085316"/>
            <a:ext cx="7775575" cy="397523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defTabSz="995363" eaLnBrk="0" hangingPunct="0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95363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95363" eaLnBrk="0" hangingPunct="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95363" eaLnBrk="0" hangingPunct="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95363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latinLnBrk="0" hangingPunct="1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kumimoji="0"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kumimoji="0"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할증발행 또는 할인발행과 상관없이 자본금은 항상 </a:t>
            </a:r>
            <a:r>
              <a:rPr lang="ko-KR" altLang="en-US" sz="1400" dirty="0">
                <a:latin typeface="+mn-ea"/>
              </a:rPr>
              <a:t>￦</a:t>
            </a:r>
            <a:r>
              <a:rPr lang="en-US" altLang="ko-KR" sz="1400" dirty="0">
                <a:latin typeface="+mn-ea"/>
              </a:rPr>
              <a:t>5,000,000</a:t>
            </a:r>
            <a:r>
              <a:rPr lang="ko-KR" altLang="en-US" sz="1400" dirty="0">
                <a:latin typeface="+mn-ea"/>
              </a:rPr>
              <a:t>으로 동일</a:t>
            </a:r>
            <a:r>
              <a:rPr lang="en-US" altLang="ko-KR" sz="1400" dirty="0">
                <a:latin typeface="+mn-ea"/>
              </a:rPr>
              <a:t>.</a:t>
            </a:r>
            <a:r>
              <a:rPr kumimoji="0"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kumimoji="0"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0392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/>
          <p:cNvGrpSpPr/>
          <p:nvPr/>
        </p:nvGrpSpPr>
        <p:grpSpPr>
          <a:xfrm>
            <a:off x="287828" y="1253923"/>
            <a:ext cx="8641369" cy="3090650"/>
            <a:chOff x="2667382" y="1547471"/>
            <a:chExt cx="11521824" cy="4120867"/>
          </a:xfrm>
        </p:grpSpPr>
        <p:sp>
          <p:nvSpPr>
            <p:cNvPr id="28" name="Rectangle 15"/>
            <p:cNvSpPr>
              <a:spLocks noChangeArrowheads="1"/>
            </p:cNvSpPr>
            <p:nvPr/>
          </p:nvSpPr>
          <p:spPr bwMode="auto">
            <a:xfrm>
              <a:off x="2667382" y="2046754"/>
              <a:ext cx="11521824" cy="3621584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1.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증자 </a:t>
              </a: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자본금 증가</a:t>
              </a:r>
            </a:p>
            <a:p>
              <a:pPr marL="432000" indent="-252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① 실질적 증자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주식을 발행하고 주주로부터 현금을 수취하는 경우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.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실질적으로 회사의 순자산이 증가</a:t>
              </a:r>
            </a:p>
            <a:p>
              <a:pPr marL="432000" indent="-252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② 형식적 증자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주식발행시 현금유입이 없어 순자산은 증가하지 않으나 이익잉여금이나 자본잉여금을 자본금에 전입하는 등의 이유로 자본금이 증가하는 경우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2.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감자 </a:t>
              </a: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자본금 감소</a:t>
              </a:r>
              <a:endPara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  ① 형식적 감자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순자산의 감소 없이 명목상으로만 자본금이 감소하는 경우</a:t>
              </a:r>
            </a:p>
            <a:p>
              <a:pPr marL="271463" indent="-271463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  ② 실질적 감자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회사가 이미 발행한 주식을 유상으로 </a:t>
              </a:r>
              <a:r>
                <a:rPr lang="ko-KR" altLang="en-US" sz="16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재취득하여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소각하는 경우</a:t>
              </a:r>
            </a:p>
          </p:txBody>
        </p:sp>
        <p:sp>
          <p:nvSpPr>
            <p:cNvPr id="29" name="Rectangle 14"/>
            <p:cNvSpPr>
              <a:spLocks noChangeArrowheads="1"/>
            </p:cNvSpPr>
            <p:nvPr/>
          </p:nvSpPr>
          <p:spPr bwMode="auto">
            <a:xfrm>
              <a:off x="2856761" y="1547471"/>
              <a:ext cx="5005416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</a:rPr>
                <a:t>자본금의 증가와 감소</a:t>
              </a:r>
              <a:endParaRPr lang="en-US" altLang="ko-KR" sz="1800" b="1" dirty="0">
                <a:latin typeface="맑은 고딕" panose="020B0503020000020004" pitchFamily="50" charset="-127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endPara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513926"/>
              </p:ext>
            </p:extLst>
          </p:nvPr>
        </p:nvGraphicFramePr>
        <p:xfrm>
          <a:off x="287828" y="4815577"/>
          <a:ext cx="8292610" cy="1452043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1301486">
                  <a:extLst>
                    <a:ext uri="{9D8B030D-6E8A-4147-A177-3AD203B41FA5}">
                      <a16:colId xmlns:a16="http://schemas.microsoft.com/office/drawing/2014/main" val="1125143887"/>
                    </a:ext>
                  </a:extLst>
                </a:gridCol>
                <a:gridCol w="1578429">
                  <a:extLst>
                    <a:ext uri="{9D8B030D-6E8A-4147-A177-3AD203B41FA5}">
                      <a16:colId xmlns:a16="http://schemas.microsoft.com/office/drawing/2014/main" val="1500786526"/>
                    </a:ext>
                  </a:extLst>
                </a:gridCol>
                <a:gridCol w="1701437">
                  <a:extLst>
                    <a:ext uri="{9D8B030D-6E8A-4147-A177-3AD203B41FA5}">
                      <a16:colId xmlns:a16="http://schemas.microsoft.com/office/drawing/2014/main" val="3013249858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947548063"/>
                    </a:ext>
                  </a:extLst>
                </a:gridCol>
                <a:gridCol w="1691958">
                  <a:extLst>
                    <a:ext uri="{9D8B030D-6E8A-4147-A177-3AD203B41FA5}">
                      <a16:colId xmlns:a16="http://schemas.microsoft.com/office/drawing/2014/main" val="289822648"/>
                    </a:ext>
                  </a:extLst>
                </a:gridCol>
              </a:tblGrid>
              <a:tr h="280077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500" kern="0" spc="-30" dirty="0">
                        <a:solidFill>
                          <a:srgbClr val="000000"/>
                        </a:solidFill>
                        <a:effectLst/>
                        <a:latin typeface="휴먼고딕"/>
                      </a:endParaRPr>
                    </a:p>
                  </a:txBody>
                  <a:tcPr marL="64770" marR="64770" marT="17907" marB="1790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kern="0" spc="-30" dirty="0">
                          <a:effectLst/>
                        </a:rPr>
                        <a:t>자본금의 증가</a:t>
                      </a:r>
                      <a:endParaRPr lang="ko-KR" altLang="en-US" sz="1500" b="1" kern="0" spc="-30" dirty="0">
                        <a:solidFill>
                          <a:srgbClr val="000000"/>
                        </a:solidFill>
                        <a:effectLst/>
                        <a:latin typeface="휴먼고딕"/>
                      </a:endParaRPr>
                    </a:p>
                  </a:txBody>
                  <a:tcPr marL="64770" marR="64770" marT="17907" marB="1790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kern="0" spc="-30" dirty="0">
                          <a:effectLst/>
                        </a:rPr>
                        <a:t>자본금의 감소</a:t>
                      </a:r>
                      <a:endParaRPr lang="ko-KR" altLang="en-US" sz="1500" b="1" kern="0" spc="-30" dirty="0">
                        <a:solidFill>
                          <a:srgbClr val="000000"/>
                        </a:solidFill>
                        <a:effectLst/>
                        <a:latin typeface="휴먼고딕"/>
                      </a:endParaRPr>
                    </a:p>
                  </a:txBody>
                  <a:tcPr marL="64770" marR="64770" marT="17907" marB="1790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439706"/>
                  </a:ext>
                </a:extLst>
              </a:tr>
              <a:tr h="312907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-30" dirty="0">
                        <a:solidFill>
                          <a:srgbClr val="FFFFFF"/>
                        </a:solidFill>
                        <a:effectLst/>
                        <a:latin typeface="휴먼고딕"/>
                      </a:endParaRPr>
                    </a:p>
                  </a:txBody>
                  <a:tcPr marL="64770" marR="64770" marT="17907" marB="17907" anchor="ctr">
                    <a:lnL w="12700" cmpd="sng">
                      <a:noFill/>
                    </a:lnL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kern="0" spc="-30" dirty="0">
                          <a:effectLst/>
                        </a:rPr>
                        <a:t>실질적 증자</a:t>
                      </a:r>
                      <a:endParaRPr lang="ko-KR" altLang="en-US" sz="1500" b="1" kern="0" spc="-3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kern="0" spc="-30" dirty="0">
                          <a:effectLst/>
                        </a:rPr>
                        <a:t>형식적 증자</a:t>
                      </a:r>
                      <a:endParaRPr lang="ko-KR" altLang="en-US" sz="1500" b="1" kern="0" spc="-3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kern="0" spc="-30" dirty="0">
                          <a:effectLst/>
                        </a:rPr>
                        <a:t>실질적 감자</a:t>
                      </a:r>
                      <a:endParaRPr lang="ko-KR" altLang="en-US" sz="1500" b="1" kern="0" spc="-3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kern="0" spc="-30" dirty="0">
                          <a:effectLst/>
                        </a:rPr>
                        <a:t>형식적 감자</a:t>
                      </a:r>
                      <a:endParaRPr lang="ko-KR" altLang="en-US" sz="1500" b="1" kern="0" spc="-3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355645"/>
                  </a:ext>
                </a:extLst>
              </a:tr>
              <a:tr h="80173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 dirty="0">
                          <a:effectLst/>
                        </a:rPr>
                        <a:t>거래의 예</a:t>
                      </a:r>
                      <a:endParaRPr lang="ko-KR" altLang="en-US" sz="1500" kern="0" spc="-3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 dirty="0">
                          <a:effectLst/>
                        </a:rPr>
                        <a:t>유상증자</a:t>
                      </a:r>
                      <a:endParaRPr lang="ko-KR" altLang="en-US" sz="1500" kern="0" spc="-3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 dirty="0">
                          <a:effectLst/>
                        </a:rPr>
                        <a:t>주식배당</a:t>
                      </a:r>
                    </a:p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 dirty="0">
                          <a:effectLst/>
                        </a:rPr>
                        <a:t>무상증자</a:t>
                      </a:r>
                      <a:endParaRPr lang="ko-KR" altLang="en-US" sz="1500" kern="0" spc="-3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 dirty="0">
                          <a:effectLst/>
                        </a:rPr>
                        <a:t>유상감자</a:t>
                      </a:r>
                      <a:endParaRPr lang="en-US" altLang="ko-KR" sz="1500" kern="0" spc="-3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 dirty="0">
                          <a:effectLst/>
                        </a:rPr>
                        <a:t>자기주식 취득 후 소각</a:t>
                      </a:r>
                      <a:endParaRPr lang="ko-KR" altLang="en-US" sz="1500" kern="0" spc="-3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 dirty="0" err="1">
                          <a:effectLst/>
                        </a:rPr>
                        <a:t>무상소각</a:t>
                      </a:r>
                      <a:endParaRPr lang="ko-KR" altLang="en-US" sz="1500" kern="0" spc="-30" dirty="0">
                        <a:solidFill>
                          <a:srgbClr val="000000"/>
                        </a:solidFill>
                        <a:effectLst/>
                        <a:latin typeface="한양신명조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488854131"/>
                  </a:ext>
                </a:extLst>
              </a:tr>
            </a:tbl>
          </a:graphicData>
        </a:graphic>
      </p:graphicFrame>
      <p:grpSp>
        <p:nvGrpSpPr>
          <p:cNvPr id="32" name="그룹 31"/>
          <p:cNvGrpSpPr/>
          <p:nvPr/>
        </p:nvGrpSpPr>
        <p:grpSpPr>
          <a:xfrm>
            <a:off x="287828" y="4395185"/>
            <a:ext cx="3263136" cy="338554"/>
            <a:chOff x="1287463" y="4776539"/>
            <a:chExt cx="3263136" cy="338554"/>
          </a:xfrm>
        </p:grpSpPr>
        <p:sp>
          <p:nvSpPr>
            <p:cNvPr id="33" name="오각형 32"/>
            <p:cNvSpPr/>
            <p:nvPr/>
          </p:nvSpPr>
          <p:spPr>
            <a:xfrm>
              <a:off x="1287463" y="4807765"/>
              <a:ext cx="590477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표 </a:t>
              </a:r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877940" y="4776539"/>
              <a:ext cx="26726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/>
                <a:t>자본금의 증가와 감소</a:t>
              </a: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23D1A36-135E-4D37-81CB-BF73A39C76BB}"/>
              </a:ext>
            </a:extLst>
          </p:cNvPr>
          <p:cNvSpPr/>
          <p:nvPr/>
        </p:nvSpPr>
        <p:spPr>
          <a:xfrm>
            <a:off x="229268" y="1278080"/>
            <a:ext cx="211480" cy="31907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996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/>
          <p:cNvGrpSpPr/>
          <p:nvPr/>
        </p:nvGrpSpPr>
        <p:grpSpPr>
          <a:xfrm>
            <a:off x="257305" y="1430362"/>
            <a:ext cx="8663411" cy="5037113"/>
            <a:chOff x="2626684" y="1693823"/>
            <a:chExt cx="11551214" cy="6716151"/>
          </a:xfrm>
        </p:grpSpPr>
        <p:sp>
          <p:nvSpPr>
            <p:cNvPr id="28" name="Rectangle 15"/>
            <p:cNvSpPr>
              <a:spLocks noChangeArrowheads="1"/>
            </p:cNvSpPr>
            <p:nvPr/>
          </p:nvSpPr>
          <p:spPr bwMode="auto">
            <a:xfrm>
              <a:off x="2626684" y="2125623"/>
              <a:ext cx="11551214" cy="6284351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•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정의 </a:t>
              </a: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배당금을 지급하는 대신 새로운 주식을 발행하여 기존 주주들에게 지급하는 것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•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특징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이익잉여금을 처분하여 자본금으로 대체시키면서 신주발행 → 현금의 유출이 발생하지 않음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•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영향</a:t>
              </a:r>
            </a:p>
            <a:p>
              <a:pPr marL="252000" indent="-252000" latinLnBrk="0">
                <a:lnSpc>
                  <a:spcPts val="2400"/>
                </a:lnSpc>
                <a:spcBef>
                  <a:spcPts val="0"/>
                </a:spcBef>
                <a:buClrTx/>
                <a:buSzTx/>
                <a:buNone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① 기존 주주들은 지분비율에 비례하여 주식을 받게 되므로 지분비율 변화 없음</a:t>
              </a:r>
            </a:p>
            <a:p>
              <a:pPr marL="252000" indent="-252000" latinLnBrk="0">
                <a:lnSpc>
                  <a:spcPts val="2400"/>
                </a:lnSpc>
                <a:spcBef>
                  <a:spcPts val="0"/>
                </a:spcBef>
                <a:buClrTx/>
                <a:buSzTx/>
                <a:buNone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② 회사의 총자산이나 총자본에는 변동이 없이 주식 수만 증가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(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형식적 증자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)</a:t>
              </a:r>
            </a:p>
            <a:p>
              <a:pPr marL="252000" indent="-252000" latinLnBrk="0">
                <a:lnSpc>
                  <a:spcPts val="2400"/>
                </a:lnSpc>
                <a:spcBef>
                  <a:spcPts val="0"/>
                </a:spcBef>
                <a:buClrTx/>
                <a:buSzTx/>
                <a:buNone/>
              </a:pPr>
              <a:r>
                <a:rPr lang="ko-KR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③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순자산 동일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+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주식 수 증가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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주당 주식가격 하락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252000" indent="-252000" latinLnBrk="0">
                <a:lnSpc>
                  <a:spcPts val="2400"/>
                </a:lnSpc>
                <a:spcBef>
                  <a:spcPts val="0"/>
                </a:spcBef>
                <a:buClrTx/>
                <a:buSzTx/>
                <a:buNone/>
              </a:pPr>
              <a:endPara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•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회계처리 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주식의 액면금액을 배당액으로 하여 자본금을 증가시키고 이익잉여금을 감소시킴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9" name="Rectangle 14"/>
            <p:cNvSpPr>
              <a:spLocks noChangeArrowheads="1"/>
            </p:cNvSpPr>
            <p:nvPr/>
          </p:nvSpPr>
          <p:spPr bwMode="auto">
            <a:xfrm>
              <a:off x="2871275" y="1693823"/>
              <a:ext cx="500541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주식배당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(stock dividend)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8146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/>
          <p:cNvGrpSpPr/>
          <p:nvPr/>
        </p:nvGrpSpPr>
        <p:grpSpPr>
          <a:xfrm>
            <a:off x="257304" y="1154768"/>
            <a:ext cx="8641369" cy="2212675"/>
            <a:chOff x="2626683" y="1693823"/>
            <a:chExt cx="11521825" cy="2950232"/>
          </a:xfrm>
        </p:grpSpPr>
        <p:sp>
          <p:nvSpPr>
            <p:cNvPr id="28" name="Rectangle 15"/>
            <p:cNvSpPr>
              <a:spLocks noChangeArrowheads="1"/>
            </p:cNvSpPr>
            <p:nvPr/>
          </p:nvSpPr>
          <p:spPr bwMode="auto">
            <a:xfrm>
              <a:off x="2626683" y="2125622"/>
              <a:ext cx="11521825" cy="2518433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•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정의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주주들에게 무상으로 새로운 주식을 발행하여 지급하는 것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•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회계처리 </a:t>
              </a: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자본잉여금을 감소시키고 자본금을 증가시킴 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•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영향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자본의 구성만 바뀔 뿐이고 총자본이나 총자산에 미치는 영향은 없음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(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형식적 증자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)</a:t>
              </a:r>
            </a:p>
            <a:p>
              <a:pPr marL="144000" indent="-14400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•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결과 </a:t>
              </a: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순자산 동일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+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주식수 증가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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주당 주식가격 하락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144000" indent="-14400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9" name="Rectangle 14"/>
            <p:cNvSpPr>
              <a:spLocks noChangeArrowheads="1"/>
            </p:cNvSpPr>
            <p:nvPr/>
          </p:nvSpPr>
          <p:spPr bwMode="auto">
            <a:xfrm>
              <a:off x="2871275" y="1693823"/>
              <a:ext cx="500541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무상증자</a:t>
              </a: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158156" y="3290303"/>
            <a:ext cx="8711460" cy="3003518"/>
            <a:chOff x="190714" y="1320886"/>
            <a:chExt cx="8711460" cy="2867375"/>
          </a:xfrm>
        </p:grpSpPr>
        <p:grpSp>
          <p:nvGrpSpPr>
            <p:cNvPr id="8" name="그룹 7"/>
            <p:cNvGrpSpPr/>
            <p:nvPr/>
          </p:nvGrpSpPr>
          <p:grpSpPr>
            <a:xfrm>
              <a:off x="361935" y="1461499"/>
              <a:ext cx="8540239" cy="2726762"/>
              <a:chOff x="269048" y="1722741"/>
              <a:chExt cx="8648775" cy="2726762"/>
            </a:xfrm>
          </p:grpSpPr>
          <p:sp>
            <p:nvSpPr>
              <p:cNvPr id="16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2703062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7" name="직사각형 16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" name="그룹 8"/>
            <p:cNvGrpSpPr/>
            <p:nvPr/>
          </p:nvGrpSpPr>
          <p:grpSpPr>
            <a:xfrm>
              <a:off x="190714" y="1320886"/>
              <a:ext cx="2795307" cy="326952"/>
              <a:chOff x="190714" y="1320889"/>
              <a:chExt cx="2391173" cy="290354"/>
            </a:xfrm>
            <a:solidFill>
              <a:srgbClr val="2D61C8"/>
            </a:solidFill>
          </p:grpSpPr>
          <p:grpSp>
            <p:nvGrpSpPr>
              <p:cNvPr id="10" name="그룹 9"/>
              <p:cNvGrpSpPr/>
              <p:nvPr/>
            </p:nvGrpSpPr>
            <p:grpSpPr>
              <a:xfrm>
                <a:off x="190714" y="1320889"/>
                <a:ext cx="2391173" cy="290354"/>
                <a:chOff x="405822" y="2237753"/>
                <a:chExt cx="2391173" cy="290354"/>
              </a:xfrm>
              <a:grpFill/>
            </p:grpSpPr>
            <p:sp>
              <p:nvSpPr>
                <p:cNvPr id="12" name="타원 11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" name="타원 12"/>
                <p:cNvSpPr/>
                <p:nvPr/>
              </p:nvSpPr>
              <p:spPr>
                <a:xfrm>
                  <a:off x="2506644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4" name="직사각형 13"/>
                <p:cNvSpPr/>
                <p:nvPr/>
              </p:nvSpPr>
              <p:spPr>
                <a:xfrm>
                  <a:off x="542513" y="2237755"/>
                  <a:ext cx="2139802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10-2</a:t>
                  </a:r>
                  <a:r>
                    <a:rPr lang="en-US" altLang="ko-KR" sz="1600" b="1" dirty="0"/>
                    <a:t> </a:t>
                  </a:r>
                  <a:r>
                    <a:rPr lang="ko-KR" altLang="en-US" sz="1600" b="1" dirty="0"/>
                    <a:t>형식적 증자</a:t>
                  </a:r>
                </a:p>
              </p:txBody>
            </p:sp>
            <p:sp>
              <p:nvSpPr>
                <p:cNvPr id="15" name="타원 14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11" name="그림 10" descr="Log in | Sign Up Upload Clipart"/>
              <p:cNvPicPr>
                <a:picLocks noChangeAspect="1"/>
              </p:cNvPicPr>
              <p:nvPr/>
            </p:nvPicPr>
            <p:blipFill>
              <a:blip r:embed="rId2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8" name="Rectangle 12"/>
          <p:cNvSpPr>
            <a:spLocks noChangeArrowheads="1"/>
          </p:cNvSpPr>
          <p:nvPr/>
        </p:nvSpPr>
        <p:spPr bwMode="auto">
          <a:xfrm>
            <a:off x="468953" y="3681219"/>
            <a:ext cx="8178335" cy="135731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/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5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크래프톤은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20×1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일에 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액면금액 ￦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5,000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 </a:t>
            </a:r>
            <a:r>
              <a:rPr lang="ko-KR" altLang="en-US" sz="1500" b="1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보통주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1,000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주를 주당 ￦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8,000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발행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하여 회사를 설립하였다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20×1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동안 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￦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1,000,000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당기순이익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발생하였다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20×2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 주주총회에서 </a:t>
            </a:r>
            <a:r>
              <a:rPr lang="ko-KR" altLang="en-US" sz="1500" b="1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보통주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주당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0.1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주의 주식배당을 결의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하였다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이와 관련한 회계처리를 하고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주식배당 직전과 직후의 부분재무상태표를 작성하라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20" name="Rectangle 12"/>
          <p:cNvSpPr>
            <a:spLocks noChangeArrowheads="1"/>
          </p:cNvSpPr>
          <p:nvPr/>
        </p:nvSpPr>
        <p:spPr bwMode="auto">
          <a:xfrm>
            <a:off x="670332" y="5086971"/>
            <a:ext cx="7775575" cy="1000125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/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① </a:t>
            </a:r>
            <a:r>
              <a:rPr lang="ko-KR" altLang="en-US" sz="15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회사설립시</a:t>
            </a:r>
            <a:endParaRPr lang="en-US" altLang="ko-KR" sz="15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 금                              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8,000,000    (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자본금                     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5,000,000</a:t>
            </a:r>
          </a:p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  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주식발행초과금        </a:t>
            </a: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3,000,000</a:t>
            </a:r>
          </a:p>
        </p:txBody>
      </p:sp>
    </p:spTree>
    <p:extLst>
      <p:ext uri="{BB962C8B-B14F-4D97-AF65-F5344CB8AC3E}">
        <p14:creationId xmlns:p14="http://schemas.microsoft.com/office/powerpoint/2010/main" val="1863741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158156" y="1173867"/>
            <a:ext cx="8711460" cy="5172503"/>
            <a:chOff x="190714" y="1320886"/>
            <a:chExt cx="8711460" cy="4165398"/>
          </a:xfrm>
        </p:grpSpPr>
        <p:grpSp>
          <p:nvGrpSpPr>
            <p:cNvPr id="8" name="그룹 7"/>
            <p:cNvGrpSpPr/>
            <p:nvPr/>
          </p:nvGrpSpPr>
          <p:grpSpPr>
            <a:xfrm>
              <a:off x="361935" y="1461499"/>
              <a:ext cx="8540239" cy="4024785"/>
              <a:chOff x="269048" y="1722741"/>
              <a:chExt cx="8648775" cy="4024785"/>
            </a:xfrm>
          </p:grpSpPr>
          <p:sp>
            <p:nvSpPr>
              <p:cNvPr id="16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4001085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7" name="직사각형 16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" name="그룹 8"/>
            <p:cNvGrpSpPr/>
            <p:nvPr/>
          </p:nvGrpSpPr>
          <p:grpSpPr>
            <a:xfrm>
              <a:off x="190714" y="1320886"/>
              <a:ext cx="2795307" cy="326952"/>
              <a:chOff x="190714" y="1320889"/>
              <a:chExt cx="2391173" cy="290354"/>
            </a:xfrm>
            <a:solidFill>
              <a:srgbClr val="2D61C8"/>
            </a:solidFill>
          </p:grpSpPr>
          <p:grpSp>
            <p:nvGrpSpPr>
              <p:cNvPr id="10" name="그룹 9"/>
              <p:cNvGrpSpPr/>
              <p:nvPr/>
            </p:nvGrpSpPr>
            <p:grpSpPr>
              <a:xfrm>
                <a:off x="190714" y="1320889"/>
                <a:ext cx="2391173" cy="290354"/>
                <a:chOff x="405822" y="2237753"/>
                <a:chExt cx="2391173" cy="290354"/>
              </a:xfrm>
              <a:grpFill/>
            </p:grpSpPr>
            <p:sp>
              <p:nvSpPr>
                <p:cNvPr id="12" name="타원 11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" name="타원 12"/>
                <p:cNvSpPr/>
                <p:nvPr/>
              </p:nvSpPr>
              <p:spPr>
                <a:xfrm>
                  <a:off x="2506644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4" name="직사각형 13"/>
                <p:cNvSpPr/>
                <p:nvPr/>
              </p:nvSpPr>
              <p:spPr>
                <a:xfrm>
                  <a:off x="542513" y="2237755"/>
                  <a:ext cx="2139802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10-2</a:t>
                  </a:r>
                  <a:r>
                    <a:rPr lang="en-US" altLang="ko-KR" sz="1600" b="1" dirty="0"/>
                    <a:t> </a:t>
                  </a:r>
                  <a:r>
                    <a:rPr lang="ko-KR" altLang="en-US" sz="1600" b="1" dirty="0"/>
                    <a:t>형식적 증자</a:t>
                  </a:r>
                </a:p>
              </p:txBody>
            </p:sp>
            <p:sp>
              <p:nvSpPr>
                <p:cNvPr id="15" name="타원 14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11" name="그림 10" descr="Log in | Sign Up Upload Clipart"/>
              <p:cNvPicPr>
                <a:picLocks noChangeAspect="1"/>
              </p:cNvPicPr>
              <p:nvPr/>
            </p:nvPicPr>
            <p:blipFill>
              <a:blip r:embed="rId3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20" name="Rectangle 12"/>
          <p:cNvSpPr>
            <a:spLocks noChangeArrowheads="1"/>
          </p:cNvSpPr>
          <p:nvPr/>
        </p:nvSpPr>
        <p:spPr bwMode="auto">
          <a:xfrm>
            <a:off x="684213" y="1691968"/>
            <a:ext cx="7775575" cy="714375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/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② 당기순이익을 이익잉여금으로 대체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5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마감분개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집 합 손 </a:t>
            </a:r>
            <a:r>
              <a:rPr lang="ko-KR" altLang="en-US" sz="1500" b="1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익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1,000,000    (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이익잉여금             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1,000,000</a:t>
            </a:r>
          </a:p>
        </p:txBody>
      </p:sp>
      <p:sp>
        <p:nvSpPr>
          <p:cNvPr id="21" name="Rectangle 12"/>
          <p:cNvSpPr>
            <a:spLocks noChangeArrowheads="1"/>
          </p:cNvSpPr>
          <p:nvPr/>
        </p:nvSpPr>
        <p:spPr bwMode="auto">
          <a:xfrm>
            <a:off x="684213" y="2430755"/>
            <a:ext cx="7775575" cy="714375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/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③ </a:t>
            </a:r>
            <a:r>
              <a:rPr lang="ko-KR" altLang="en-US" sz="15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주식배당시</a:t>
            </a:r>
            <a:endParaRPr lang="en-US" altLang="ko-KR" sz="15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이익잉여금                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500,000     (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 본 금                   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500,000</a:t>
            </a:r>
          </a:p>
        </p:txBody>
      </p: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538445"/>
              </p:ext>
            </p:extLst>
          </p:nvPr>
        </p:nvGraphicFramePr>
        <p:xfrm>
          <a:off x="1354635" y="3813200"/>
          <a:ext cx="5841005" cy="1606374"/>
        </p:xfrm>
        <a:graphic>
          <a:graphicData uri="http://schemas.openxmlformats.org/drawingml/2006/table">
            <a:tbl>
              <a:tblPr/>
              <a:tblGrid>
                <a:gridCol w="2199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7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4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08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772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부분재무상태표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729">
                <a:tc>
                  <a:txBody>
                    <a:bodyPr/>
                    <a:lstStyle/>
                    <a:p>
                      <a:pPr marL="12700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주식배당 전</a:t>
                      </a: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주식배당 후</a:t>
                      </a: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729">
                <a:tc>
                  <a:txBody>
                    <a:bodyPr/>
                    <a:lstStyle/>
                    <a:p>
                      <a:pPr marL="12700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 본 금</a:t>
                      </a: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5,000,000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5,500,000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729">
                <a:tc>
                  <a:txBody>
                    <a:bodyPr/>
                    <a:lstStyle/>
                    <a:p>
                      <a:pPr marL="12700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주식발행초과금</a:t>
                      </a: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3,000,000</a:t>
                      </a: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3,000,000</a:t>
                      </a: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729">
                <a:tc>
                  <a:txBody>
                    <a:bodyPr/>
                    <a:lstStyle/>
                    <a:p>
                      <a:pPr marL="12700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이익잉여금</a:t>
                      </a: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1,000,000</a:t>
                      </a: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500,000</a:t>
                      </a: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729">
                <a:tc>
                  <a:txBody>
                    <a:bodyPr/>
                    <a:lstStyle/>
                    <a:p>
                      <a:pPr marL="12700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총자본</a:t>
                      </a: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9,000,000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9,000,000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2075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251315" y="1140013"/>
            <a:ext cx="8641369" cy="4325608"/>
            <a:chOff x="2618698" y="1854927"/>
            <a:chExt cx="11521825" cy="3127845"/>
          </a:xfrm>
        </p:grpSpPr>
        <p:sp>
          <p:nvSpPr>
            <p:cNvPr id="4" name="Rectangle 15"/>
            <p:cNvSpPr>
              <a:spLocks noChangeArrowheads="1"/>
            </p:cNvSpPr>
            <p:nvPr/>
          </p:nvSpPr>
          <p:spPr bwMode="auto">
            <a:xfrm>
              <a:off x="2618698" y="2227546"/>
              <a:ext cx="11521825" cy="2755226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44000" indent="-144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b="1" dirty="0">
                  <a:solidFill>
                    <a:schemeClr val="tx1"/>
                  </a:solidFill>
                  <a:latin typeface="+mn-ea"/>
                </a:rPr>
                <a:t>• </a:t>
              </a:r>
              <a:r>
                <a:rPr lang="ko-KR" altLang="en-US" sz="1600" b="1" dirty="0">
                  <a:solidFill>
                    <a:schemeClr val="tx1"/>
                  </a:solidFill>
                  <a:latin typeface="+mn-ea"/>
                </a:rPr>
                <a:t>정의 </a:t>
              </a:r>
              <a:r>
                <a:rPr lang="en-US" altLang="ko-KR" sz="1600" dirty="0">
                  <a:solidFill>
                    <a:schemeClr val="tx1"/>
                  </a:solidFill>
                  <a:latin typeface="+mn-ea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하나의 주식을 여러 개의 주식으로 분할하여</a:t>
              </a:r>
              <a:r>
                <a:rPr lang="en-US" altLang="ko-KR" sz="16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주식의 액면금액을 줄이면서 비례적으로 </a:t>
              </a:r>
              <a:r>
                <a:rPr lang="ko-KR" altLang="en-US" sz="1600" dirty="0" err="1">
                  <a:solidFill>
                    <a:schemeClr val="tx1"/>
                  </a:solidFill>
                  <a:latin typeface="+mn-ea"/>
                </a:rPr>
                <a:t>발행주식수를</a:t>
              </a:r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 늘리는 것</a:t>
              </a:r>
              <a:r>
                <a:rPr lang="en-US" altLang="ko-KR" sz="1600" dirty="0">
                  <a:solidFill>
                    <a:schemeClr val="tx1"/>
                  </a:solidFill>
                  <a:latin typeface="+mn-ea"/>
                </a:rPr>
                <a:t>. </a:t>
              </a:r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액면분할이라고도 함</a:t>
              </a:r>
              <a:endParaRPr lang="en-US" altLang="ko-KR" sz="1600" dirty="0">
                <a:solidFill>
                  <a:schemeClr val="tx1"/>
                </a:solidFill>
                <a:latin typeface="+mn-ea"/>
              </a:endParaRPr>
            </a:p>
            <a:p>
              <a:pPr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b="1" dirty="0">
                  <a:solidFill>
                    <a:schemeClr val="tx1"/>
                  </a:solidFill>
                  <a:latin typeface="+mn-ea"/>
                </a:rPr>
                <a:t>•</a:t>
              </a:r>
              <a:r>
                <a:rPr lang="ko-KR" altLang="en-US" sz="1600" b="1" dirty="0">
                  <a:solidFill>
                    <a:schemeClr val="tx1"/>
                  </a:solidFill>
                  <a:latin typeface="+mn-ea"/>
                </a:rPr>
                <a:t> 특징 </a:t>
              </a:r>
              <a:r>
                <a:rPr lang="en-US" altLang="ko-KR" sz="1600" b="1" dirty="0">
                  <a:solidFill>
                    <a:schemeClr val="tx1"/>
                  </a:solidFill>
                  <a:latin typeface="+mn-ea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주식분할 후 자본금의 변동이 없으므로 별도의 회계처리를 할 필요가 없음</a:t>
              </a:r>
              <a:endParaRPr lang="en-US" altLang="ko-KR" sz="1600" dirty="0">
                <a:solidFill>
                  <a:schemeClr val="tx1"/>
                </a:solidFill>
                <a:latin typeface="+mn-ea"/>
              </a:endParaRPr>
            </a:p>
            <a:p>
              <a:pPr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b="1" dirty="0">
                <a:solidFill>
                  <a:schemeClr val="tx1"/>
                </a:solidFill>
                <a:latin typeface="+mn-ea"/>
              </a:endParaRPr>
            </a:p>
            <a:p>
              <a:pPr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b="1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600" b="1" dirty="0">
                  <a:solidFill>
                    <a:schemeClr val="tx1"/>
                  </a:solidFill>
                  <a:latin typeface="+mn-ea"/>
                </a:rPr>
                <a:t>예</a:t>
              </a:r>
              <a:r>
                <a:rPr lang="en-US" altLang="ko-KR" sz="1600" b="1" dirty="0">
                  <a:solidFill>
                    <a:schemeClr val="tx1"/>
                  </a:solidFill>
                  <a:latin typeface="+mn-ea"/>
                </a:rPr>
                <a:t>)</a:t>
              </a:r>
              <a:r>
                <a:rPr lang="ko-KR" altLang="en-US" sz="1600" b="1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액면금액 ￦</a:t>
              </a:r>
              <a:r>
                <a:rPr lang="en-US" altLang="ko-KR" sz="1600" dirty="0">
                  <a:solidFill>
                    <a:schemeClr val="tx1"/>
                  </a:solidFill>
                  <a:latin typeface="+mn-ea"/>
                </a:rPr>
                <a:t>5,000</a:t>
              </a:r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인 </a:t>
              </a:r>
              <a:r>
                <a:rPr lang="ko-KR" altLang="en-US" sz="1600" dirty="0" err="1">
                  <a:solidFill>
                    <a:schemeClr val="tx1"/>
                  </a:solidFill>
                  <a:latin typeface="+mn-ea"/>
                </a:rPr>
                <a:t>보통주</a:t>
              </a:r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600" dirty="0">
                  <a:solidFill>
                    <a:schemeClr val="tx1"/>
                  </a:solidFill>
                  <a:latin typeface="+mn-ea"/>
                </a:rPr>
                <a:t>1,000</a:t>
              </a:r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주를 발행하고 있는 회사가 </a:t>
              </a:r>
              <a:r>
                <a:rPr lang="en-US" altLang="ko-KR" sz="1600" dirty="0">
                  <a:solidFill>
                    <a:schemeClr val="tx1"/>
                  </a:solidFill>
                  <a:latin typeface="+mn-ea"/>
                </a:rPr>
                <a:t>1 </a:t>
              </a:r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대 </a:t>
              </a:r>
              <a:r>
                <a:rPr lang="en-US" altLang="ko-KR" sz="1600" dirty="0">
                  <a:solidFill>
                    <a:schemeClr val="tx1"/>
                  </a:solidFill>
                  <a:latin typeface="+mn-ea"/>
                </a:rPr>
                <a:t>10</a:t>
              </a:r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으로 액면분할을 실시하는 경우</a:t>
              </a:r>
              <a:endParaRPr lang="en-US" altLang="ko-KR" sz="1600" dirty="0">
                <a:solidFill>
                  <a:schemeClr val="tx1"/>
                </a:solidFill>
                <a:latin typeface="+mn-ea"/>
              </a:endParaRPr>
            </a:p>
            <a:p>
              <a:pPr marL="285750" indent="-28575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Char char="è"/>
              </a:pPr>
              <a:r>
                <a:rPr lang="en-US" altLang="ko-KR" sz="1600" dirty="0">
                  <a:solidFill>
                    <a:schemeClr val="tx1"/>
                  </a:solidFill>
                  <a:latin typeface="+mn-ea"/>
                </a:rPr>
                <a:t>1</a:t>
              </a:r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주당 </a:t>
              </a:r>
              <a:r>
                <a:rPr lang="ko-KR" altLang="en-US" sz="1600" dirty="0" err="1">
                  <a:solidFill>
                    <a:schemeClr val="tx1"/>
                  </a:solidFill>
                  <a:latin typeface="+mn-ea"/>
                </a:rPr>
                <a:t>액면금액은</a:t>
              </a:r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600" dirty="0">
                  <a:solidFill>
                    <a:schemeClr val="tx1"/>
                  </a:solidFill>
                  <a:latin typeface="+mn-ea"/>
                </a:rPr>
                <a:t>1/10</a:t>
              </a:r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인 ￦</a:t>
              </a:r>
              <a:r>
                <a:rPr lang="en-US" altLang="ko-KR" sz="1600" dirty="0">
                  <a:solidFill>
                    <a:schemeClr val="tx1"/>
                  </a:solidFill>
                  <a:latin typeface="+mn-ea"/>
                </a:rPr>
                <a:t>500</a:t>
              </a:r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으로 감소하고 </a:t>
              </a:r>
              <a:r>
                <a:rPr lang="ko-KR" altLang="en-US" sz="1600" dirty="0" err="1">
                  <a:solidFill>
                    <a:schemeClr val="tx1"/>
                  </a:solidFill>
                  <a:latin typeface="+mn-ea"/>
                </a:rPr>
                <a:t>발행주식수는</a:t>
              </a:r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600" dirty="0">
                  <a:solidFill>
                    <a:schemeClr val="tx1"/>
                  </a:solidFill>
                  <a:latin typeface="+mn-ea"/>
                </a:rPr>
                <a:t>10</a:t>
              </a:r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배만큼 증가하여 </a:t>
              </a:r>
              <a:r>
                <a:rPr lang="en-US" altLang="ko-KR" sz="1600" dirty="0">
                  <a:solidFill>
                    <a:schemeClr val="tx1"/>
                  </a:solidFill>
                  <a:latin typeface="+mn-ea"/>
                </a:rPr>
                <a:t>10,000</a:t>
              </a:r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주가 됨</a:t>
              </a:r>
              <a:r>
                <a:rPr lang="en-US" altLang="ko-KR" sz="1600" dirty="0">
                  <a:solidFill>
                    <a:schemeClr val="tx1"/>
                  </a:solidFill>
                  <a:latin typeface="+mn-ea"/>
                </a:rPr>
                <a:t> </a:t>
              </a:r>
            </a:p>
            <a:p>
              <a:pPr marL="285750" indent="-28575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Char char="è"/>
              </a:pPr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주식분할 전 주식시장에서 주당 주식가격이 ￦</a:t>
              </a:r>
              <a:r>
                <a:rPr lang="en-US" altLang="ko-KR" sz="1600" dirty="0">
                  <a:solidFill>
                    <a:schemeClr val="tx1"/>
                  </a:solidFill>
                  <a:latin typeface="+mn-ea"/>
                </a:rPr>
                <a:t>15,000</a:t>
              </a:r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이었다면</a:t>
              </a:r>
              <a:r>
                <a:rPr lang="en-US" altLang="ko-KR" sz="1600" dirty="0">
                  <a:solidFill>
                    <a:schemeClr val="tx1"/>
                  </a:solidFill>
                  <a:latin typeface="+mn-ea"/>
                </a:rPr>
                <a:t>,</a:t>
              </a:r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 주식분할 후 주식가격은 주당 ￦</a:t>
              </a:r>
              <a:r>
                <a:rPr lang="en-US" altLang="ko-KR" sz="1600" dirty="0">
                  <a:solidFill>
                    <a:schemeClr val="tx1"/>
                  </a:solidFill>
                  <a:latin typeface="+mn-ea"/>
                </a:rPr>
                <a:t>1,500</a:t>
              </a:r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으로 하락</a:t>
              </a:r>
              <a:r>
                <a:rPr lang="en-US" altLang="ko-KR" sz="1600" dirty="0">
                  <a:solidFill>
                    <a:schemeClr val="tx1"/>
                  </a:solidFill>
                  <a:latin typeface="+mn-ea"/>
                </a:rPr>
                <a:t> </a:t>
              </a:r>
            </a:p>
            <a:p>
              <a:pPr marL="285750" indent="-28575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Char char="è"/>
              </a:pPr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이때 자본금은 액면분할과 상관없이 계속 ￦</a:t>
              </a:r>
              <a:r>
                <a:rPr lang="en-US" altLang="ko-KR" sz="1600" dirty="0">
                  <a:solidFill>
                    <a:schemeClr val="tx1"/>
                  </a:solidFill>
                  <a:latin typeface="+mn-ea"/>
                </a:rPr>
                <a:t>5,000,000</a:t>
              </a:r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으로 동일하며 별도의 회계처리를 할 필요가 없음</a:t>
              </a:r>
              <a:endParaRPr lang="en-US" altLang="ko-KR" sz="1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" name="Rectangle 14"/>
            <p:cNvSpPr>
              <a:spLocks noChangeArrowheads="1"/>
            </p:cNvSpPr>
            <p:nvPr/>
          </p:nvSpPr>
          <p:spPr bwMode="auto">
            <a:xfrm>
              <a:off x="2908882" y="1903455"/>
              <a:ext cx="500541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주식분할 </a:t>
              </a:r>
              <a:r>
                <a:rPr lang="en-US" altLang="ko-KR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(stock split)</a:t>
              </a:r>
              <a:endPara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2626909" y="1854927"/>
              <a:ext cx="281973" cy="324090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89488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grpSp>
        <p:nvGrpSpPr>
          <p:cNvPr id="8" name="그룹 7"/>
          <p:cNvGrpSpPr/>
          <p:nvPr/>
        </p:nvGrpSpPr>
        <p:grpSpPr>
          <a:xfrm>
            <a:off x="257303" y="1169018"/>
            <a:ext cx="8641369" cy="2947452"/>
            <a:chOff x="2626683" y="1782447"/>
            <a:chExt cx="11521825" cy="2310379"/>
          </a:xfrm>
        </p:grpSpPr>
        <p:sp>
          <p:nvSpPr>
            <p:cNvPr id="9" name="Rectangle 15"/>
            <p:cNvSpPr>
              <a:spLocks noChangeArrowheads="1"/>
            </p:cNvSpPr>
            <p:nvPr/>
          </p:nvSpPr>
          <p:spPr bwMode="auto">
            <a:xfrm>
              <a:off x="2626683" y="2186121"/>
              <a:ext cx="11521825" cy="1906705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756000" indent="-75600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•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정의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여러 개의 주식을 하나의 주식으로 통합하는 것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756000" indent="-75600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•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특징 </a:t>
              </a: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주식의 액면금액을 증가시키면서 비례적으로 발행주식수를 줄이기 때문에 자본금의 변동이 없음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(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예</a:t>
              </a: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)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위의 예에서 발행주식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10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주를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1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주로 병합하면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720000" indent="-28575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Char char="è"/>
              </a:pP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1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주당 </a:t>
              </a:r>
              <a:r>
                <a:rPr lang="ko-KR" altLang="en-US" sz="16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액면금액은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10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배인 ￦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50,000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으로 증가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720000" indent="-28575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Char char="è"/>
              </a:pPr>
              <a:r>
                <a:rPr lang="ko-KR" altLang="en-US" sz="16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발행주식수는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1/10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인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100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주로 감소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720000" indent="-28575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Char char="è"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자본금은 계속 ￦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5,000,000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으로 동일하기 때문에 별도의 회계처리를 할 필요가 없음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.</a:t>
              </a:r>
            </a:p>
          </p:txBody>
        </p:sp>
        <p:sp>
          <p:nvSpPr>
            <p:cNvPr id="10" name="Rectangle 14"/>
            <p:cNvSpPr>
              <a:spLocks noChangeArrowheads="1"/>
            </p:cNvSpPr>
            <p:nvPr/>
          </p:nvSpPr>
          <p:spPr bwMode="auto">
            <a:xfrm>
              <a:off x="2908882" y="1812858"/>
              <a:ext cx="500541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주식병합 </a:t>
              </a:r>
              <a:r>
                <a:rPr lang="en-US" altLang="ko-KR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액면병합</a:t>
              </a:r>
              <a:r>
                <a:rPr lang="en-US" altLang="ko-KR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2626908" y="1782447"/>
              <a:ext cx="281973" cy="299296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148036"/>
              </p:ext>
            </p:extLst>
          </p:nvPr>
        </p:nvGraphicFramePr>
        <p:xfrm>
          <a:off x="751673" y="4903944"/>
          <a:ext cx="7713679" cy="1587985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954728">
                  <a:extLst>
                    <a:ext uri="{9D8B030D-6E8A-4147-A177-3AD203B41FA5}">
                      <a16:colId xmlns:a16="http://schemas.microsoft.com/office/drawing/2014/main" val="3213217053"/>
                    </a:ext>
                  </a:extLst>
                </a:gridCol>
                <a:gridCol w="1513096">
                  <a:extLst>
                    <a:ext uri="{9D8B030D-6E8A-4147-A177-3AD203B41FA5}">
                      <a16:colId xmlns:a16="http://schemas.microsoft.com/office/drawing/2014/main" val="2519057529"/>
                    </a:ext>
                  </a:extLst>
                </a:gridCol>
                <a:gridCol w="1326974">
                  <a:extLst>
                    <a:ext uri="{9D8B030D-6E8A-4147-A177-3AD203B41FA5}">
                      <a16:colId xmlns:a16="http://schemas.microsoft.com/office/drawing/2014/main" val="1432490328"/>
                    </a:ext>
                  </a:extLst>
                </a:gridCol>
                <a:gridCol w="1326974">
                  <a:extLst>
                    <a:ext uri="{9D8B030D-6E8A-4147-A177-3AD203B41FA5}">
                      <a16:colId xmlns:a16="http://schemas.microsoft.com/office/drawing/2014/main" val="2777768011"/>
                    </a:ext>
                  </a:extLst>
                </a:gridCol>
                <a:gridCol w="1326974">
                  <a:extLst>
                    <a:ext uri="{9D8B030D-6E8A-4147-A177-3AD203B41FA5}">
                      <a16:colId xmlns:a16="http://schemas.microsoft.com/office/drawing/2014/main" val="3931470730"/>
                    </a:ext>
                  </a:extLst>
                </a:gridCol>
                <a:gridCol w="1264933">
                  <a:extLst>
                    <a:ext uri="{9D8B030D-6E8A-4147-A177-3AD203B41FA5}">
                      <a16:colId xmlns:a16="http://schemas.microsoft.com/office/drawing/2014/main" val="3280737649"/>
                    </a:ext>
                  </a:extLst>
                </a:gridCol>
              </a:tblGrid>
              <a:tr h="31759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5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kern="0" spc="-30" dirty="0">
                          <a:effectLst/>
                        </a:rPr>
                        <a:t>주당 액면금액</a:t>
                      </a:r>
                      <a:endParaRPr lang="ko-KR" altLang="en-US" sz="15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kern="0" spc="-30" dirty="0" err="1">
                          <a:effectLst/>
                        </a:rPr>
                        <a:t>발행주식수</a:t>
                      </a:r>
                      <a:endParaRPr lang="ko-KR" altLang="en-US" sz="15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kern="0" spc="-30" dirty="0">
                          <a:effectLst/>
                        </a:rPr>
                        <a:t>자본금</a:t>
                      </a:r>
                      <a:endParaRPr lang="ko-KR" altLang="en-US" sz="15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kern="0" spc="-30" dirty="0">
                          <a:effectLst/>
                        </a:rPr>
                        <a:t>총자본</a:t>
                      </a:r>
                      <a:endParaRPr lang="ko-KR" altLang="en-US" sz="15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kern="0" spc="-30" dirty="0">
                          <a:effectLst/>
                        </a:rPr>
                        <a:t>주식가격</a:t>
                      </a:r>
                      <a:endParaRPr lang="ko-KR" altLang="en-US" sz="15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83934"/>
                  </a:ext>
                </a:extLst>
              </a:tr>
              <a:tr h="31759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kern="0" spc="-30" dirty="0">
                          <a:effectLst/>
                        </a:rPr>
                        <a:t>주식배당</a:t>
                      </a:r>
                      <a:endParaRPr lang="ko-KR" altLang="en-US" sz="15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 dirty="0">
                          <a:effectLst/>
                        </a:rPr>
                        <a:t>불변</a:t>
                      </a:r>
                      <a:endParaRPr lang="ko-KR" altLang="en-US" sz="15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 dirty="0">
                          <a:effectLst/>
                        </a:rPr>
                        <a:t>증가</a:t>
                      </a:r>
                      <a:endParaRPr lang="ko-KR" altLang="en-US" sz="15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>
                          <a:effectLst/>
                        </a:rPr>
                        <a:t>증가</a:t>
                      </a:r>
                      <a:endParaRPr lang="ko-KR" altLang="en-US" sz="15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 dirty="0">
                          <a:effectLst/>
                        </a:rPr>
                        <a:t>불변</a:t>
                      </a:r>
                      <a:endParaRPr lang="ko-KR" altLang="en-US" sz="15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>
                          <a:effectLst/>
                        </a:rPr>
                        <a:t>하락</a:t>
                      </a:r>
                      <a:endParaRPr lang="ko-KR" altLang="en-US" sz="15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2419498653"/>
                  </a:ext>
                </a:extLst>
              </a:tr>
              <a:tr h="31759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kern="0" spc="-30" dirty="0">
                          <a:effectLst/>
                        </a:rPr>
                        <a:t>무상증자</a:t>
                      </a:r>
                      <a:endParaRPr lang="ko-KR" altLang="en-US" sz="15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>
                          <a:effectLst/>
                        </a:rPr>
                        <a:t>불변</a:t>
                      </a:r>
                      <a:endParaRPr lang="ko-KR" altLang="en-US" sz="15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 dirty="0">
                          <a:effectLst/>
                        </a:rPr>
                        <a:t>증가</a:t>
                      </a:r>
                      <a:endParaRPr lang="ko-KR" altLang="en-US" sz="15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 dirty="0">
                          <a:effectLst/>
                        </a:rPr>
                        <a:t>증가</a:t>
                      </a:r>
                      <a:endParaRPr lang="ko-KR" altLang="en-US" sz="15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 dirty="0">
                          <a:effectLst/>
                        </a:rPr>
                        <a:t>불변</a:t>
                      </a:r>
                      <a:endParaRPr lang="ko-KR" altLang="en-US" sz="15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>
                          <a:effectLst/>
                        </a:rPr>
                        <a:t>하락</a:t>
                      </a:r>
                      <a:endParaRPr lang="ko-KR" altLang="en-US" sz="15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617160370"/>
                  </a:ext>
                </a:extLst>
              </a:tr>
              <a:tr h="31759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kern="0" spc="-30" dirty="0">
                          <a:effectLst/>
                        </a:rPr>
                        <a:t>주식분할</a:t>
                      </a:r>
                      <a:endParaRPr lang="ko-KR" altLang="en-US" sz="15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>
                          <a:effectLst/>
                        </a:rPr>
                        <a:t>감소</a:t>
                      </a:r>
                      <a:endParaRPr lang="ko-KR" altLang="en-US" sz="15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>
                          <a:effectLst/>
                        </a:rPr>
                        <a:t>증가</a:t>
                      </a:r>
                      <a:endParaRPr lang="ko-KR" altLang="en-US" sz="15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 dirty="0">
                          <a:effectLst/>
                        </a:rPr>
                        <a:t>불변</a:t>
                      </a:r>
                      <a:endParaRPr lang="ko-KR" altLang="en-US" sz="15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 dirty="0">
                          <a:effectLst/>
                        </a:rPr>
                        <a:t>불변</a:t>
                      </a:r>
                      <a:endParaRPr lang="ko-KR" altLang="en-US" sz="15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 dirty="0">
                          <a:effectLst/>
                        </a:rPr>
                        <a:t>하락</a:t>
                      </a:r>
                      <a:endParaRPr lang="ko-KR" altLang="en-US" sz="15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2607034634"/>
                  </a:ext>
                </a:extLst>
              </a:tr>
              <a:tr h="31759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kern="0" spc="-30" dirty="0">
                          <a:effectLst/>
                        </a:rPr>
                        <a:t>주식병합</a:t>
                      </a:r>
                      <a:endParaRPr lang="ko-KR" altLang="en-US" sz="15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 dirty="0">
                          <a:effectLst/>
                        </a:rPr>
                        <a:t>증가</a:t>
                      </a:r>
                      <a:endParaRPr lang="ko-KR" altLang="en-US" sz="15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>
                          <a:effectLst/>
                        </a:rPr>
                        <a:t>감소</a:t>
                      </a:r>
                      <a:endParaRPr lang="ko-KR" altLang="en-US" sz="15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 dirty="0">
                          <a:effectLst/>
                        </a:rPr>
                        <a:t>불변</a:t>
                      </a:r>
                      <a:endParaRPr lang="ko-KR" altLang="en-US" sz="15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 dirty="0">
                          <a:effectLst/>
                        </a:rPr>
                        <a:t>불변</a:t>
                      </a:r>
                      <a:endParaRPr lang="ko-KR" altLang="en-US" sz="15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kern="0" spc="-30" dirty="0">
                          <a:effectLst/>
                        </a:rPr>
                        <a:t>상승</a:t>
                      </a:r>
                      <a:endParaRPr lang="ko-KR" altLang="en-US" sz="15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3457426779"/>
                  </a:ext>
                </a:extLst>
              </a:tr>
            </a:tbl>
          </a:graphicData>
        </a:graphic>
      </p:graphicFrame>
      <p:grpSp>
        <p:nvGrpSpPr>
          <p:cNvPr id="14" name="그룹 13"/>
          <p:cNvGrpSpPr/>
          <p:nvPr/>
        </p:nvGrpSpPr>
        <p:grpSpPr>
          <a:xfrm>
            <a:off x="257303" y="4395877"/>
            <a:ext cx="7120916" cy="338554"/>
            <a:chOff x="1287463" y="5133456"/>
            <a:chExt cx="2239031" cy="338554"/>
          </a:xfrm>
        </p:grpSpPr>
        <p:sp>
          <p:nvSpPr>
            <p:cNvPr id="15" name="오각형 14"/>
            <p:cNvSpPr/>
            <p:nvPr/>
          </p:nvSpPr>
          <p:spPr>
            <a:xfrm>
              <a:off x="1287463" y="5166995"/>
              <a:ext cx="299545" cy="305015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표 </a:t>
              </a:r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87008" y="5133456"/>
              <a:ext cx="193948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/>
                <a:t>주식배당</a:t>
              </a:r>
              <a:r>
                <a:rPr lang="en-US" altLang="ko-KR" sz="1600" b="1" dirty="0"/>
                <a:t>, </a:t>
              </a:r>
              <a:r>
                <a:rPr lang="ko-KR" altLang="en-US" sz="1600" b="1" dirty="0"/>
                <a:t>무상증자</a:t>
              </a:r>
              <a:r>
                <a:rPr lang="en-US" altLang="ko-KR" sz="1600" b="1" dirty="0"/>
                <a:t>, </a:t>
              </a:r>
              <a:r>
                <a:rPr lang="ko-KR" altLang="en-US" sz="1600" b="1" dirty="0" err="1"/>
                <a:t>주식분할과</a:t>
              </a:r>
              <a:r>
                <a:rPr lang="ko-KR" altLang="en-US" sz="1600" b="1" dirty="0"/>
                <a:t> 주식병합의 비교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618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/>
          <p:cNvGrpSpPr/>
          <p:nvPr/>
        </p:nvGrpSpPr>
        <p:grpSpPr>
          <a:xfrm>
            <a:off x="257304" y="1087462"/>
            <a:ext cx="8641369" cy="1909431"/>
            <a:chOff x="2626683" y="1693823"/>
            <a:chExt cx="11521825" cy="2545908"/>
          </a:xfrm>
        </p:grpSpPr>
        <p:sp>
          <p:nvSpPr>
            <p:cNvPr id="28" name="Rectangle 15"/>
            <p:cNvSpPr>
              <a:spLocks noChangeArrowheads="1"/>
            </p:cNvSpPr>
            <p:nvPr/>
          </p:nvSpPr>
          <p:spPr bwMode="auto">
            <a:xfrm>
              <a:off x="2626683" y="2125626"/>
              <a:ext cx="11521825" cy="2114105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80000" indent="-180000" latinLnBrk="0">
                <a:lnSpc>
                  <a:spcPct val="120000"/>
                </a:lnSpc>
                <a:spcBef>
                  <a:spcPts val="60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정의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회사의 설립시점부터 창출한 순이익의 </a:t>
              </a:r>
              <a:r>
                <a:rPr lang="ko-KR" altLang="en-US" sz="16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누적액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중에서 배당으로 감소한 부분을 제외한 금액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9" name="Rectangle 14"/>
            <p:cNvSpPr>
              <a:spLocks noChangeArrowheads="1"/>
            </p:cNvSpPr>
            <p:nvPr/>
          </p:nvSpPr>
          <p:spPr bwMode="auto">
            <a:xfrm>
              <a:off x="2871275" y="1693823"/>
              <a:ext cx="500541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이익잉여금</a:t>
              </a:r>
              <a:r>
                <a:rPr lang="en-US" altLang="ko-KR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(retained earning)</a:t>
              </a:r>
              <a:endPara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257304" y="2539599"/>
            <a:ext cx="8641369" cy="2907087"/>
            <a:chOff x="2626683" y="1693823"/>
            <a:chExt cx="11521825" cy="3876114"/>
          </a:xfrm>
        </p:grpSpPr>
        <p:sp>
          <p:nvSpPr>
            <p:cNvPr id="12" name="Rectangle 15"/>
            <p:cNvSpPr>
              <a:spLocks noChangeArrowheads="1"/>
            </p:cNvSpPr>
            <p:nvPr/>
          </p:nvSpPr>
          <p:spPr bwMode="auto">
            <a:xfrm>
              <a:off x="2626683" y="2125624"/>
              <a:ext cx="11521825" cy="3444313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44000" indent="-144000" latinLnBrk="0">
                <a:lnSpc>
                  <a:spcPct val="120000"/>
                </a:lnSpc>
                <a:spcBef>
                  <a:spcPts val="60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기업들은 이익 중에 일부만을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배당으로 지급하고 나머지를 내부에 유보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하여 투자 목적으로 사용하거나 기업의 미래 부채 상환을 위해 현금으로 보유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144000" indent="-144000" latinLnBrk="0">
                <a:lnSpc>
                  <a:spcPct val="120000"/>
                </a:lnSpc>
                <a:spcBef>
                  <a:spcPts val="60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배당을 하고 남은 이익잉여금의 사용처를 결정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하는 것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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이익잉여금의 처분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이라 함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144000" indent="-144000" latinLnBrk="0">
                <a:lnSpc>
                  <a:spcPct val="120000"/>
                </a:lnSpc>
                <a:spcBef>
                  <a:spcPts val="60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법규정에 따라 주주나 채권자 등의 보호를 위해 적립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(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법정적립금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)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하거나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자발적으로 미래의 사업확장을 위한 투자나 부채상환을 위해서 적립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(</a:t>
              </a:r>
              <a:r>
                <a:rPr lang="ko-KR" altLang="en-US" sz="16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임의적립금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) </a:t>
              </a:r>
            </a:p>
            <a:p>
              <a:pPr marL="144000" indent="-144000" latinLnBrk="0">
                <a:lnSpc>
                  <a:spcPct val="120000"/>
                </a:lnSpc>
                <a:spcBef>
                  <a:spcPts val="60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적립된 금액은 배당으로 사용할 수 없으며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추후에 적립목적에 맞게 사용해야 함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144000" indent="-144000" latinLnBrk="0">
                <a:lnSpc>
                  <a:spcPct val="120000"/>
                </a:lnSpc>
                <a:spcBef>
                  <a:spcPts val="60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b="1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미처분이익잉여금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사용목적이 정해지지 않은 나머지 이익잉여금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.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배당으로 사용가능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</a:t>
              </a:r>
            </a:p>
          </p:txBody>
        </p:sp>
        <p:sp>
          <p:nvSpPr>
            <p:cNvPr id="13" name="Rectangle 14"/>
            <p:cNvSpPr>
              <a:spLocks noChangeArrowheads="1"/>
            </p:cNvSpPr>
            <p:nvPr/>
          </p:nvSpPr>
          <p:spPr bwMode="auto">
            <a:xfrm>
              <a:off x="2871275" y="1693823"/>
              <a:ext cx="500541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이익잉여금의 처분</a:t>
              </a: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14304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257304" y="1214462"/>
            <a:ext cx="8641369" cy="5229881"/>
            <a:chOff x="2626683" y="1693823"/>
            <a:chExt cx="11521825" cy="6973173"/>
          </a:xfrm>
        </p:grpSpPr>
        <p:sp>
          <p:nvSpPr>
            <p:cNvPr id="12" name="Rectangle 15"/>
            <p:cNvSpPr>
              <a:spLocks noChangeArrowheads="1"/>
            </p:cNvSpPr>
            <p:nvPr/>
          </p:nvSpPr>
          <p:spPr bwMode="auto">
            <a:xfrm>
              <a:off x="2626683" y="2322790"/>
              <a:ext cx="11521825" cy="6344206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44000" indent="-144000" latinLnBrk="0">
                <a:lnSpc>
                  <a:spcPct val="120000"/>
                </a:lnSpc>
                <a:spcBef>
                  <a:spcPts val="60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법정적립금</a:t>
              </a:r>
              <a:endPara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396000" indent="-180000" latinLnBrk="0">
                <a:lnSpc>
                  <a:spcPct val="120000"/>
                </a:lnSpc>
                <a:spcBef>
                  <a:spcPts val="600"/>
                </a:spcBef>
                <a:buClrTx/>
                <a:buSzTx/>
                <a:buFont typeface="Wingdings" panose="05000000000000000000" pitchFamily="2" charset="2"/>
                <a:buChar char="ü"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상법 및 기타 법률에 의해 강제되는 적립금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396000" indent="-180000" latinLnBrk="0">
                <a:lnSpc>
                  <a:spcPct val="120000"/>
                </a:lnSpc>
                <a:spcBef>
                  <a:spcPts val="600"/>
                </a:spcBef>
                <a:buClrTx/>
                <a:buSzTx/>
                <a:buFont typeface="Wingdings" panose="05000000000000000000" pitchFamily="2" charset="2"/>
                <a:buChar char="ü"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파산의 가능성을 줄이고 기업의 연속적인 생존가능성은 높이기 위해 법적으로 이익잉여금의 전부를 배당하지 못하게 일부를 적립하도록 규정한 것임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285750" indent="-28575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Char char="ü"/>
              </a:pP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144000" indent="-144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b="1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임의적립금</a:t>
              </a:r>
              <a:endPara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396000" indent="-180000" latinLnBrk="0">
                <a:lnSpc>
                  <a:spcPct val="120000"/>
                </a:lnSpc>
                <a:spcBef>
                  <a:spcPts val="600"/>
                </a:spcBef>
                <a:buClrTx/>
                <a:buSzTx/>
                <a:buFont typeface="Wingdings" panose="05000000000000000000" pitchFamily="2" charset="2"/>
                <a:buChar char="ü"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정의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회사가 사업확장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부채의 상환 등을 위하여 배당 등 현금의 사외유출을 제한할 필요가 있을 때 자발적으로 적립</a:t>
              </a:r>
            </a:p>
            <a:p>
              <a:pPr marL="396000" indent="-180000" latinLnBrk="0">
                <a:lnSpc>
                  <a:spcPct val="120000"/>
                </a:lnSpc>
                <a:spcBef>
                  <a:spcPts val="600"/>
                </a:spcBef>
                <a:buClrTx/>
                <a:buSzTx/>
                <a:buFont typeface="Wingdings" panose="05000000000000000000" pitchFamily="2" charset="2"/>
                <a:buChar char="ü"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임의적립금의 이입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과거에 설정해두었던 임의적립금을 주주총회의 의결을 거쳐 미처분이익잉여금으로 전환한 후 배당할 수 있음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216000" latinLnBrk="0">
                <a:lnSpc>
                  <a:spcPct val="120000"/>
                </a:lnSpc>
                <a:spcBef>
                  <a:spcPts val="600"/>
                </a:spcBef>
                <a:buClrTx/>
                <a:buSzTx/>
                <a:buNone/>
              </a:pP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174625" indent="-174625" latinLnBrk="0">
                <a:lnSpc>
                  <a:spcPct val="120000"/>
                </a:lnSpc>
                <a:spcBef>
                  <a:spcPts val="60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적립금의 적립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(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배당가능이익의 감소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)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이나 이입 → 이익잉여금의 총액은 변하지 않고 구성항목만 변경</a:t>
              </a:r>
            </a:p>
          </p:txBody>
        </p:sp>
        <p:sp>
          <p:nvSpPr>
            <p:cNvPr id="13" name="Rectangle 14"/>
            <p:cNvSpPr>
              <a:spLocks noChangeArrowheads="1"/>
            </p:cNvSpPr>
            <p:nvPr/>
          </p:nvSpPr>
          <p:spPr bwMode="auto">
            <a:xfrm>
              <a:off x="2871275" y="1693823"/>
              <a:ext cx="500541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이익잉여금의 처분</a:t>
              </a: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6856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273617" y="1265372"/>
            <a:ext cx="8641369" cy="5087802"/>
            <a:chOff x="2626908" y="1693823"/>
            <a:chExt cx="11521825" cy="6783734"/>
          </a:xfrm>
        </p:grpSpPr>
        <p:sp>
          <p:nvSpPr>
            <p:cNvPr id="12" name="Rectangle 15"/>
            <p:cNvSpPr>
              <a:spLocks noChangeArrowheads="1"/>
            </p:cNvSpPr>
            <p:nvPr/>
          </p:nvSpPr>
          <p:spPr bwMode="auto">
            <a:xfrm>
              <a:off x="2626908" y="2156737"/>
              <a:ext cx="11521825" cy="6320820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•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정의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기업이 창출한 이익 중 일부를 주주들에게 분배하는 것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•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특징 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① 이익잉여금을 감소시킴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② 현금으로 지급하는 것이 일반적이지만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현물배당이나 </a:t>
              </a:r>
              <a:r>
                <a:rPr lang="ko-KR" altLang="en-US" sz="16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주식배당도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가능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180975" indent="-180975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배당기준일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기말 현재 주주들에게 배당금을 지급하게 되는 기준이 되는 일자</a:t>
              </a:r>
            </a:p>
            <a:p>
              <a:pPr marL="180975" indent="-180975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배당결정일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배당기준일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다음해 초에 열리는 주주총회에서 배당을 최종적으로 결정</a:t>
              </a:r>
            </a:p>
            <a:p>
              <a:pPr marL="180975" indent="-180975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배당지급일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배당결정일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이후 일정 기간이 지나고 주주에게 실제로 배당금이 지급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3" name="Rectangle 14"/>
            <p:cNvSpPr>
              <a:spLocks noChangeArrowheads="1"/>
            </p:cNvSpPr>
            <p:nvPr/>
          </p:nvSpPr>
          <p:spPr bwMode="auto">
            <a:xfrm>
              <a:off x="2871275" y="1693823"/>
              <a:ext cx="500541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배당</a:t>
              </a: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grpSp>
        <p:nvGrpSpPr>
          <p:cNvPr id="9" name="그룹 8"/>
          <p:cNvGrpSpPr/>
          <p:nvPr/>
        </p:nvGrpSpPr>
        <p:grpSpPr>
          <a:xfrm>
            <a:off x="447750" y="4295752"/>
            <a:ext cx="8308626" cy="338554"/>
            <a:chOff x="710518" y="4912610"/>
            <a:chExt cx="8308626" cy="338554"/>
          </a:xfrm>
        </p:grpSpPr>
        <p:sp>
          <p:nvSpPr>
            <p:cNvPr id="10" name="오각형 9"/>
            <p:cNvSpPr/>
            <p:nvPr/>
          </p:nvSpPr>
          <p:spPr>
            <a:xfrm>
              <a:off x="710518" y="4981936"/>
              <a:ext cx="79200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그림 </a:t>
              </a:r>
              <a:r>
                <a:rPr lang="en-US" altLang="ko-KR" sz="1400" b="1" dirty="0"/>
                <a:t>4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02517" y="4912610"/>
              <a:ext cx="75166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 err="1">
                  <a:latin typeface="맑은 고딕" panose="020B0503020000020004" pitchFamily="50" charset="-127"/>
                </a:rPr>
                <a:t>현금배당의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b="1" dirty="0" err="1">
                  <a:latin typeface="맑은 고딕" panose="020B0503020000020004" pitchFamily="50" charset="-127"/>
                </a:rPr>
                <a:t>거래순서</a:t>
              </a:r>
              <a:endParaRPr lang="ko-KR" altLang="en-US" sz="1600" b="1" dirty="0">
                <a:latin typeface="맑은 고딕" panose="020B0503020000020004" pitchFamily="50" charset="-127"/>
              </a:endParaRPr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 l="6868" t="21193" r="5974" b="23789"/>
          <a:stretch>
            <a:fillRect/>
          </a:stretch>
        </p:blipFill>
        <p:spPr bwMode="auto">
          <a:xfrm>
            <a:off x="1420694" y="4652059"/>
            <a:ext cx="6209838" cy="2025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95565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216270" y="1364521"/>
            <a:ext cx="8711460" cy="5150579"/>
            <a:chOff x="190714" y="1320886"/>
            <a:chExt cx="8711460" cy="5150579"/>
          </a:xfrm>
        </p:grpSpPr>
        <p:grpSp>
          <p:nvGrpSpPr>
            <p:cNvPr id="6" name="그룹 5"/>
            <p:cNvGrpSpPr/>
            <p:nvPr/>
          </p:nvGrpSpPr>
          <p:grpSpPr>
            <a:xfrm>
              <a:off x="361935" y="1461499"/>
              <a:ext cx="8540239" cy="5009966"/>
              <a:chOff x="269048" y="1722741"/>
              <a:chExt cx="8648775" cy="5009966"/>
            </a:xfrm>
          </p:grpSpPr>
          <p:sp>
            <p:nvSpPr>
              <p:cNvPr id="7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4986266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5" name="직사각형 4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" name="그룹 3"/>
            <p:cNvGrpSpPr/>
            <p:nvPr/>
          </p:nvGrpSpPr>
          <p:grpSpPr>
            <a:xfrm>
              <a:off x="190714" y="1320886"/>
              <a:ext cx="3994493" cy="326952"/>
              <a:chOff x="190714" y="1320889"/>
              <a:chExt cx="3416986" cy="290354"/>
            </a:xfrm>
            <a:solidFill>
              <a:srgbClr val="2D61C8"/>
            </a:solidFill>
          </p:grpSpPr>
          <p:grpSp>
            <p:nvGrpSpPr>
              <p:cNvPr id="23" name="그룹 22"/>
              <p:cNvGrpSpPr/>
              <p:nvPr/>
            </p:nvGrpSpPr>
            <p:grpSpPr>
              <a:xfrm>
                <a:off x="190714" y="1320889"/>
                <a:ext cx="3416986" cy="290354"/>
                <a:chOff x="405822" y="2237753"/>
                <a:chExt cx="3416986" cy="290354"/>
              </a:xfrm>
              <a:grpFill/>
            </p:grpSpPr>
            <p:sp>
              <p:nvSpPr>
                <p:cNvPr id="24" name="타원 23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5" name="타원 24"/>
                <p:cNvSpPr/>
                <p:nvPr/>
              </p:nvSpPr>
              <p:spPr>
                <a:xfrm>
                  <a:off x="3532457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6" name="직사각형 25"/>
                <p:cNvSpPr/>
                <p:nvPr/>
              </p:nvSpPr>
              <p:spPr>
                <a:xfrm>
                  <a:off x="542513" y="2237755"/>
                  <a:ext cx="3165615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10-3</a:t>
                  </a:r>
                  <a:r>
                    <a:rPr lang="en-US" altLang="ko-KR" sz="1600" b="1" dirty="0"/>
                    <a:t> </a:t>
                  </a:r>
                  <a:r>
                    <a:rPr lang="ko-KR" altLang="en-US" sz="1600" b="1" dirty="0"/>
                    <a:t>이익잉여금의 처분과 배당</a:t>
                  </a:r>
                </a:p>
              </p:txBody>
            </p:sp>
            <p:sp>
              <p:nvSpPr>
                <p:cNvPr id="27" name="타원 26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" name="그림 2" descr="Log in | Sign Up Upload Clipart"/>
              <p:cNvPicPr>
                <a:picLocks noChangeAspect="1"/>
              </p:cNvPicPr>
              <p:nvPr/>
            </p:nvPicPr>
            <p:blipFill>
              <a:blip r:embed="rId2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75395" y="1759732"/>
            <a:ext cx="8452335" cy="1597828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/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부영건설은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20×1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일에 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액면금액 ￦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5,000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 </a:t>
            </a:r>
            <a:r>
              <a:rPr lang="ko-KR" altLang="en-US" sz="1500" b="1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보통주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1,000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주를 주당 ￦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8,000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발행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하여 회사를 설립하였다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20×1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동안 ￦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1,000,000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당기순이익이 발생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하였다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20×2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 주주총회에서 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주당 ￦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200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현금배당을 결의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하였으며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관련 법률규정에 따라 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이익준비금으로 ￦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50,000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적립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하기로 하였다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20×2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현금배당이 지급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되었다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배당과 관련된 회계처리를 하고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부분재무상태표를 작성하라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642938" y="3422705"/>
            <a:ext cx="7775575" cy="712787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/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①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20×1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31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 결산일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5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배당기준일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ko-KR" altLang="en-US" sz="15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마감분개</a:t>
            </a:r>
            <a:endParaRPr lang="ko-KR" altLang="en-US" sz="15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(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집 합 손 익             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1,000,000    (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미처분이익잉여금        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1,000,000     </a:t>
            </a:r>
          </a:p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18" name="Rectangle 12"/>
          <p:cNvSpPr>
            <a:spLocks noChangeArrowheads="1"/>
          </p:cNvSpPr>
          <p:nvPr/>
        </p:nvSpPr>
        <p:spPr bwMode="auto">
          <a:xfrm>
            <a:off x="642938" y="4283010"/>
            <a:ext cx="7775575" cy="1358900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/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② 20×2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 주주총회에서 배당과 </a:t>
            </a:r>
            <a:r>
              <a:rPr lang="ko-KR" altLang="en-US" sz="15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이익준비금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결의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5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배당선언일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(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미처분이익잉여금       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250,000     (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미지급배당금               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200,000*</a:t>
            </a:r>
          </a:p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   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이익준비금                    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50,000</a:t>
            </a:r>
          </a:p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* 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￦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200×1,000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 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￦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200,000</a:t>
            </a:r>
          </a:p>
        </p:txBody>
      </p: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642938" y="5641910"/>
            <a:ext cx="7775575" cy="808038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/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③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20×2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ko-KR" altLang="en-US" sz="15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배당지급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5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배당지급일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5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미지급배당금             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200,000    (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    금                       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200,000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</a:p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31424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216270" y="1364521"/>
            <a:ext cx="8711460" cy="5150579"/>
            <a:chOff x="190714" y="1320886"/>
            <a:chExt cx="8711460" cy="5150579"/>
          </a:xfrm>
        </p:grpSpPr>
        <p:grpSp>
          <p:nvGrpSpPr>
            <p:cNvPr id="6" name="그룹 5"/>
            <p:cNvGrpSpPr/>
            <p:nvPr/>
          </p:nvGrpSpPr>
          <p:grpSpPr>
            <a:xfrm>
              <a:off x="361935" y="1461499"/>
              <a:ext cx="8540239" cy="5009966"/>
              <a:chOff x="269048" y="1722741"/>
              <a:chExt cx="8648775" cy="5009966"/>
            </a:xfrm>
          </p:grpSpPr>
          <p:sp>
            <p:nvSpPr>
              <p:cNvPr id="7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4986266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5" name="직사각형 4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" name="그룹 3"/>
            <p:cNvGrpSpPr/>
            <p:nvPr/>
          </p:nvGrpSpPr>
          <p:grpSpPr>
            <a:xfrm>
              <a:off x="190714" y="1320886"/>
              <a:ext cx="3994493" cy="326952"/>
              <a:chOff x="190714" y="1320889"/>
              <a:chExt cx="3416986" cy="290354"/>
            </a:xfrm>
            <a:solidFill>
              <a:srgbClr val="2D61C8"/>
            </a:solidFill>
          </p:grpSpPr>
          <p:grpSp>
            <p:nvGrpSpPr>
              <p:cNvPr id="23" name="그룹 22"/>
              <p:cNvGrpSpPr/>
              <p:nvPr/>
            </p:nvGrpSpPr>
            <p:grpSpPr>
              <a:xfrm>
                <a:off x="190714" y="1320889"/>
                <a:ext cx="3416986" cy="290354"/>
                <a:chOff x="405822" y="2237753"/>
                <a:chExt cx="3416986" cy="290354"/>
              </a:xfrm>
              <a:grpFill/>
            </p:grpSpPr>
            <p:sp>
              <p:nvSpPr>
                <p:cNvPr id="24" name="타원 23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5" name="타원 24"/>
                <p:cNvSpPr/>
                <p:nvPr/>
              </p:nvSpPr>
              <p:spPr>
                <a:xfrm>
                  <a:off x="3532457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6" name="직사각형 25"/>
                <p:cNvSpPr/>
                <p:nvPr/>
              </p:nvSpPr>
              <p:spPr>
                <a:xfrm>
                  <a:off x="542513" y="2237755"/>
                  <a:ext cx="3165615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10-3</a:t>
                  </a:r>
                  <a:r>
                    <a:rPr lang="en-US" altLang="ko-KR" sz="1600" b="1" dirty="0"/>
                    <a:t> </a:t>
                  </a:r>
                  <a:r>
                    <a:rPr lang="ko-KR" altLang="en-US" sz="1600" b="1" dirty="0"/>
                    <a:t>이익잉여금의 처분과 배당</a:t>
                  </a:r>
                </a:p>
              </p:txBody>
            </p:sp>
            <p:sp>
              <p:nvSpPr>
                <p:cNvPr id="27" name="타원 26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" name="그림 2" descr="Log in | Sign Up Upload Clipart"/>
              <p:cNvPicPr>
                <a:picLocks noChangeAspect="1"/>
              </p:cNvPicPr>
              <p:nvPr/>
            </p:nvPicPr>
            <p:blipFill>
              <a:blip r:embed="rId2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360985"/>
              </p:ext>
            </p:extLst>
          </p:nvPr>
        </p:nvGraphicFramePr>
        <p:xfrm>
          <a:off x="555693" y="2165682"/>
          <a:ext cx="7791450" cy="3043992"/>
        </p:xfrm>
        <a:graphic>
          <a:graphicData uri="http://schemas.openxmlformats.org/drawingml/2006/table">
            <a:tbl>
              <a:tblPr/>
              <a:tblGrid>
                <a:gridCol w="2001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12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7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3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0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994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2977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부분재무상태표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768">
                <a:tc>
                  <a:txBody>
                    <a:bodyPr/>
                    <a:lstStyle/>
                    <a:p>
                      <a:pPr marL="12700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20×1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20×2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20×2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30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708">
                <a:tc>
                  <a:txBody>
                    <a:bodyPr/>
                    <a:lstStyle/>
                    <a:p>
                      <a:pPr marL="12700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유동부채</a:t>
                      </a: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endParaRPr lang="ko-KR" altLang="en-US" sz="1400" b="0"/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708">
                <a:tc>
                  <a:txBody>
                    <a:bodyPr/>
                    <a:lstStyle/>
                    <a:p>
                      <a:pPr marL="12700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·····</a:t>
                      </a: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endParaRPr lang="ko-KR" altLang="en-US" sz="1400" b="0" dirty="0"/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708">
                <a:tc>
                  <a:txBody>
                    <a:bodyPr/>
                    <a:lstStyle/>
                    <a:p>
                      <a:pPr marL="12700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미지급배당금</a:t>
                      </a: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200,000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endParaRPr lang="ko-KR" altLang="en-US" sz="1400" b="0" dirty="0"/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708">
                <a:tc>
                  <a:txBody>
                    <a:bodyPr/>
                    <a:lstStyle/>
                    <a:p>
                      <a:pPr marL="12700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 본</a:t>
                      </a: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endParaRPr lang="ko-KR" altLang="en-US" sz="1400" b="0" dirty="0"/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708">
                <a:tc>
                  <a:txBody>
                    <a:bodyPr/>
                    <a:lstStyle/>
                    <a:p>
                      <a:pPr marL="12700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자 본 금</a:t>
                      </a: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5,000,000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5,000,000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5,000,000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708">
                <a:tc>
                  <a:txBody>
                    <a:bodyPr/>
                    <a:lstStyle/>
                    <a:p>
                      <a:pPr marL="12700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주식발행초과금</a:t>
                      </a: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3,000,000</a:t>
                      </a: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3,000,000</a:t>
                      </a: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3,000,000</a:t>
                      </a: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708">
                <a:tc>
                  <a:txBody>
                    <a:bodyPr/>
                    <a:lstStyle/>
                    <a:p>
                      <a:pPr marL="12700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이익준비금</a:t>
                      </a: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50,000</a:t>
                      </a: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50,000</a:t>
                      </a: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900">
                <a:tc>
                  <a:txBody>
                    <a:bodyPr/>
                    <a:lstStyle/>
                    <a:p>
                      <a:pPr marL="12700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</a:t>
                      </a:r>
                      <a:r>
                        <a:rPr kumimoji="0" lang="ko-KR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미처분이익잉여금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1,000,000</a:t>
                      </a: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endParaRPr lang="ko-KR" altLang="en-US" sz="1400" b="0"/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750,000</a:t>
                      </a: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endParaRPr lang="ko-KR" altLang="en-US" sz="1400" b="0"/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750,000</a:t>
                      </a: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2977">
                <a:tc>
                  <a:txBody>
                    <a:bodyPr/>
                    <a:lstStyle/>
                    <a:p>
                      <a:pPr marL="12700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총자본</a:t>
                      </a: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9,000,000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endParaRPr lang="ko-KR" altLang="en-US" sz="1400" b="0" dirty="0"/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8,800,000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endParaRPr lang="ko-KR" altLang="en-US" sz="1400" b="0"/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8,800,000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66" marR="64766" marT="17912" marB="1791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21518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257304" y="1430362"/>
            <a:ext cx="8641369" cy="1676354"/>
            <a:chOff x="2626683" y="1693823"/>
            <a:chExt cx="11521825" cy="2235139"/>
          </a:xfrm>
        </p:grpSpPr>
        <p:sp>
          <p:nvSpPr>
            <p:cNvPr id="29" name="Rectangle 15"/>
            <p:cNvSpPr>
              <a:spLocks noChangeArrowheads="1"/>
            </p:cNvSpPr>
            <p:nvPr/>
          </p:nvSpPr>
          <p:spPr bwMode="auto">
            <a:xfrm>
              <a:off x="2626683" y="2247444"/>
              <a:ext cx="11521825" cy="1681518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44000" indent="-144000">
                <a:lnSpc>
                  <a:spcPct val="120000"/>
                </a:lnSpc>
                <a:spcBef>
                  <a:spcPts val="60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정의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주주와의 자본거래에서 발생한 항목이지만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,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 납입자본으로 볼 수 없거나 자본의 차감 성격을 가진 항목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sym typeface="Wingdings" panose="05000000000000000000" pitchFamily="2" charset="2"/>
              </a:endParaRPr>
            </a:p>
            <a:p>
              <a:pPr marL="144000" indent="-144000">
                <a:lnSpc>
                  <a:spcPct val="120000"/>
                </a:lnSpc>
                <a:spcBef>
                  <a:spcPts val="60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종류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자기주식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자기주식처분손실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주식할인발행차금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감자차손</a:t>
              </a:r>
              <a:endPara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0" name="Rectangle 14"/>
            <p:cNvSpPr>
              <a:spLocks noChangeArrowheads="1"/>
            </p:cNvSpPr>
            <p:nvPr/>
          </p:nvSpPr>
          <p:spPr bwMode="auto">
            <a:xfrm>
              <a:off x="2871275" y="1693823"/>
              <a:ext cx="500541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자본조정의</a:t>
              </a: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성격과 종류</a:t>
              </a: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257304" y="3226073"/>
            <a:ext cx="8641369" cy="3117577"/>
            <a:chOff x="2626683" y="1700494"/>
            <a:chExt cx="11521825" cy="4156769"/>
          </a:xfrm>
        </p:grpSpPr>
        <p:sp>
          <p:nvSpPr>
            <p:cNvPr id="21" name="Rectangle 15"/>
            <p:cNvSpPr>
              <a:spLocks noChangeArrowheads="1"/>
            </p:cNvSpPr>
            <p:nvPr/>
          </p:nvSpPr>
          <p:spPr bwMode="auto">
            <a:xfrm>
              <a:off x="2626683" y="2278714"/>
              <a:ext cx="11521825" cy="3578549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44000" indent="-144000" latinLnBrk="0">
                <a:lnSpc>
                  <a:spcPct val="120000"/>
                </a:lnSpc>
                <a:spcBef>
                  <a:spcPts val="60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정의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회사가 주주에게 매각한 주식 중 일부를 </a:t>
              </a:r>
              <a:r>
                <a:rPr lang="ko-KR" altLang="en-US" sz="1600" dirty="0" err="1">
                  <a:solidFill>
                    <a:schemeClr val="tx1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재취득하여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  <a:sym typeface="Wingdings" panose="05000000000000000000" pitchFamily="2" charset="2"/>
                </a:rPr>
                <a:t> 보유하고 있는 주식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sym typeface="Wingdings" panose="05000000000000000000" pitchFamily="2" charset="2"/>
              </a:endParaRPr>
            </a:p>
            <a:p>
              <a:pPr marL="144000" indent="-144000" latinLnBrk="0">
                <a:lnSpc>
                  <a:spcPct val="120000"/>
                </a:lnSpc>
                <a:spcBef>
                  <a:spcPts val="60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기업이 ① 경영권 방어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,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② 종업원들에게 보상 형태로 분배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,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③ 기업 내부에 현금이 과도하게 축적된 경우에 주주들에게 현금을 돌려주기 위해 자기주식을 취득하기도 함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</a:t>
              </a:r>
              <a:endPara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144000" indent="-144000" latinLnBrk="0">
                <a:lnSpc>
                  <a:spcPct val="120000"/>
                </a:lnSpc>
                <a:spcBef>
                  <a:spcPts val="60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자기주식은 의결권이 없으며 배당금을 받지 못함</a:t>
              </a:r>
            </a:p>
            <a:p>
              <a:pPr marL="144000" indent="-144000" latinLnBrk="0">
                <a:lnSpc>
                  <a:spcPct val="120000"/>
                </a:lnSpc>
                <a:spcBef>
                  <a:spcPts val="60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자기주식은 취득원가로 기록하고 자본에서 차감하는 형식으로 표시 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144000" indent="-144000" latinLnBrk="0">
                <a:lnSpc>
                  <a:spcPct val="120000"/>
                </a:lnSpc>
                <a:spcBef>
                  <a:spcPts val="60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자기주식은 추후 처분하거나 소각할 수 있음</a:t>
              </a:r>
            </a:p>
          </p:txBody>
        </p:sp>
        <p:sp>
          <p:nvSpPr>
            <p:cNvPr id="22" name="Rectangle 14"/>
            <p:cNvSpPr>
              <a:spLocks noChangeArrowheads="1"/>
            </p:cNvSpPr>
            <p:nvPr/>
          </p:nvSpPr>
          <p:spPr bwMode="auto">
            <a:xfrm>
              <a:off x="2871275" y="1729014"/>
              <a:ext cx="500541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자기주식</a:t>
              </a:r>
              <a:r>
                <a:rPr lang="en-US" altLang="ko-KR" sz="1800" b="1" dirty="0">
                  <a:latin typeface="맑은 고딕" panose="020B0503020000020004" pitchFamily="50" charset="-127"/>
                </a:rPr>
                <a:t>(treasury stock)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endPara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2627162" y="1700494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76441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/>
          <p:cNvGrpSpPr/>
          <p:nvPr/>
        </p:nvGrpSpPr>
        <p:grpSpPr>
          <a:xfrm>
            <a:off x="257473" y="1366862"/>
            <a:ext cx="8671725" cy="5304009"/>
            <a:chOff x="2626908" y="1693823"/>
            <a:chExt cx="11562299" cy="6650198"/>
          </a:xfrm>
        </p:grpSpPr>
        <p:sp>
          <p:nvSpPr>
            <p:cNvPr id="21" name="Rectangle 15"/>
            <p:cNvSpPr>
              <a:spLocks noChangeArrowheads="1"/>
            </p:cNvSpPr>
            <p:nvPr/>
          </p:nvSpPr>
          <p:spPr bwMode="auto">
            <a:xfrm>
              <a:off x="2667382" y="2229063"/>
              <a:ext cx="11521825" cy="6114958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처분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468000" indent="-180000">
                <a:lnSpc>
                  <a:spcPts val="2400"/>
                </a:lnSpc>
                <a:spcBef>
                  <a:spcPct val="0"/>
                </a:spcBef>
                <a:buClrTx/>
                <a:buSzTx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처분금액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&gt;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취득원가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초과금액을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자기주식처분이익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(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기타자본잉여금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)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으로 기록</a:t>
              </a:r>
            </a:p>
            <a:p>
              <a:pPr marL="468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처분금액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&lt;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취득원가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차액을 우선적으로 자기주식처분이익과 상계하고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잔여분을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자기주식처분손실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(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자본조정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)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로 기록</a:t>
              </a:r>
              <a:endPara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180000" indent="-18000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180000" indent="-18000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소각</a:t>
              </a:r>
              <a:endPara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342900" indent="-342900">
                <a:lnSpc>
                  <a:spcPts val="2400"/>
                </a:lnSpc>
                <a:spcBef>
                  <a:spcPts val="600"/>
                </a:spcBef>
                <a:buClrTx/>
                <a:buSzTx/>
                <a:buFont typeface="+mj-ea"/>
                <a:buAutoNum type="circleNumDbPlain"/>
              </a:pP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감자소각</a:t>
              </a: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(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자본소각</a:t>
              </a: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)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자본금을 감소시키는 소각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468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취득원가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&lt;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액면금액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차액을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감자차익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(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기타자본잉여금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)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으로 기록</a:t>
              </a:r>
            </a:p>
            <a:p>
              <a:pPr marL="468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취득원가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&gt;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액면금액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차액을 우선적으로 </a:t>
              </a:r>
              <a:r>
                <a:rPr lang="ko-KR" altLang="en-US" sz="16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감자차익과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상계하고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600" b="1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감자차손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(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자본조정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)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으로 기록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342900" indent="-342900">
                <a:lnSpc>
                  <a:spcPts val="2400"/>
                </a:lnSpc>
                <a:spcBef>
                  <a:spcPts val="1200"/>
                </a:spcBef>
                <a:buClrTx/>
                <a:buSzTx/>
                <a:buFont typeface="+mj-ea"/>
                <a:buAutoNum type="circleNumDbPlain" startAt="2"/>
              </a:pP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이익소각</a:t>
              </a: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(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취득금액만큼 이익잉여금을 감소시키는 소각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):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처분손익이 발생하지 않음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468000" indent="-180000">
                <a:lnSpc>
                  <a:spcPts val="2400"/>
                </a:lnSpc>
                <a:spcBef>
                  <a:spcPct val="0"/>
                </a:spcBef>
                <a:buClrTx/>
                <a:buSzTx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이 때 </a:t>
              </a:r>
              <a:r>
                <a:rPr lang="ko-KR" altLang="en-US" sz="16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발생주식수는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감소하지만 자본금계정은 감소하지 않음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285750" indent="-28575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285750" indent="-28575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285750" indent="-28575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2" name="Rectangle 14"/>
            <p:cNvSpPr>
              <a:spLocks noChangeArrowheads="1"/>
            </p:cNvSpPr>
            <p:nvPr/>
          </p:nvSpPr>
          <p:spPr bwMode="auto">
            <a:xfrm>
              <a:off x="2871275" y="1693823"/>
              <a:ext cx="500541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자기주식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(treasury stock)</a:t>
              </a: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146874" y="400371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62257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/>
          <p:cNvGrpSpPr/>
          <p:nvPr/>
        </p:nvGrpSpPr>
        <p:grpSpPr>
          <a:xfrm>
            <a:off x="257473" y="1366861"/>
            <a:ext cx="3937337" cy="361838"/>
            <a:chOff x="2626908" y="1693823"/>
            <a:chExt cx="5249782" cy="453675"/>
          </a:xfrm>
        </p:grpSpPr>
        <p:sp>
          <p:nvSpPr>
            <p:cNvPr id="22" name="Rectangle 14"/>
            <p:cNvSpPr>
              <a:spLocks noChangeArrowheads="1"/>
            </p:cNvSpPr>
            <p:nvPr/>
          </p:nvSpPr>
          <p:spPr bwMode="auto">
            <a:xfrm>
              <a:off x="2871275" y="1693823"/>
              <a:ext cx="500541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자기주식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(treasury stock)</a:t>
              </a: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146874" y="400371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grpSp>
        <p:nvGrpSpPr>
          <p:cNvPr id="10" name="그룹 9"/>
          <p:cNvGrpSpPr/>
          <p:nvPr/>
        </p:nvGrpSpPr>
        <p:grpSpPr>
          <a:xfrm>
            <a:off x="331950" y="1965214"/>
            <a:ext cx="8331551" cy="338554"/>
            <a:chOff x="578527" y="5044098"/>
            <a:chExt cx="8331551" cy="338554"/>
          </a:xfrm>
        </p:grpSpPr>
        <p:sp>
          <p:nvSpPr>
            <p:cNvPr id="11" name="오각형 10"/>
            <p:cNvSpPr/>
            <p:nvPr/>
          </p:nvSpPr>
          <p:spPr>
            <a:xfrm>
              <a:off x="578527" y="5122089"/>
              <a:ext cx="79200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그림 </a:t>
              </a:r>
              <a:r>
                <a:rPr lang="en-US" altLang="ko-KR" sz="1400" b="1" dirty="0"/>
                <a:t>5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393451" y="5044098"/>
              <a:ext cx="75166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맑은 고딕" panose="020B0503020000020004" pitchFamily="50" charset="-127"/>
                </a:rPr>
                <a:t>자기주식 관련 거래의 회계처리</a:t>
              </a:r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952" y="2624299"/>
            <a:ext cx="8194549" cy="287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55492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그룹 33"/>
          <p:cNvGrpSpPr/>
          <p:nvPr/>
        </p:nvGrpSpPr>
        <p:grpSpPr>
          <a:xfrm>
            <a:off x="216270" y="1350424"/>
            <a:ext cx="8711460" cy="5050376"/>
            <a:chOff x="190714" y="1320887"/>
            <a:chExt cx="8711460" cy="5050376"/>
          </a:xfrm>
        </p:grpSpPr>
        <p:grpSp>
          <p:nvGrpSpPr>
            <p:cNvPr id="35" name="그룹 34"/>
            <p:cNvGrpSpPr/>
            <p:nvPr/>
          </p:nvGrpSpPr>
          <p:grpSpPr>
            <a:xfrm>
              <a:off x="361935" y="1461499"/>
              <a:ext cx="8540239" cy="4909764"/>
              <a:chOff x="269048" y="1722741"/>
              <a:chExt cx="8648775" cy="4909764"/>
            </a:xfrm>
          </p:grpSpPr>
          <p:sp>
            <p:nvSpPr>
              <p:cNvPr id="44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4886064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5" name="직사각형 44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7" name="그룹 36"/>
            <p:cNvGrpSpPr/>
            <p:nvPr/>
          </p:nvGrpSpPr>
          <p:grpSpPr>
            <a:xfrm>
              <a:off x="190714" y="1320887"/>
              <a:ext cx="2513097" cy="326950"/>
              <a:chOff x="190714" y="1320889"/>
              <a:chExt cx="2149763" cy="290352"/>
            </a:xfrm>
            <a:solidFill>
              <a:srgbClr val="2D61C8"/>
            </a:solidFill>
          </p:grpSpPr>
          <p:grpSp>
            <p:nvGrpSpPr>
              <p:cNvPr id="38" name="그룹 37"/>
              <p:cNvGrpSpPr/>
              <p:nvPr/>
            </p:nvGrpSpPr>
            <p:grpSpPr>
              <a:xfrm>
                <a:off x="190714" y="1320889"/>
                <a:ext cx="2149763" cy="290352"/>
                <a:chOff x="405822" y="2237753"/>
                <a:chExt cx="2149763" cy="290352"/>
              </a:xfrm>
              <a:grpFill/>
            </p:grpSpPr>
            <p:sp>
              <p:nvSpPr>
                <p:cNvPr id="40" name="타원 39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" name="타원 40"/>
                <p:cNvSpPr/>
                <p:nvPr/>
              </p:nvSpPr>
              <p:spPr>
                <a:xfrm>
                  <a:off x="2265234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" name="직사각형 41"/>
                <p:cNvSpPr/>
                <p:nvPr/>
              </p:nvSpPr>
              <p:spPr>
                <a:xfrm>
                  <a:off x="542512" y="2237753"/>
                  <a:ext cx="1847715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10-4</a:t>
                  </a:r>
                  <a:r>
                    <a:rPr lang="en-US" altLang="ko-KR" sz="1600" b="1" dirty="0"/>
                    <a:t> </a:t>
                  </a:r>
                  <a:r>
                    <a:rPr lang="ko-KR" altLang="en-US" sz="1600" b="1" dirty="0"/>
                    <a:t>자기주식</a:t>
                  </a:r>
                </a:p>
              </p:txBody>
            </p:sp>
            <p:sp>
              <p:nvSpPr>
                <p:cNvPr id="43" name="타원 42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9" name="그림 38" descr="Log in | Sign Up Upload Clipart"/>
              <p:cNvPicPr>
                <a:picLocks noChangeAspect="1"/>
              </p:cNvPicPr>
              <p:nvPr/>
            </p:nvPicPr>
            <p:blipFill>
              <a:blip r:embed="rId2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635625" y="1741666"/>
            <a:ext cx="8284792" cy="1296988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/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셀트리온은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20×1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일에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액면금액 ￦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5,000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 </a:t>
            </a:r>
            <a:r>
              <a:rPr lang="ko-KR" altLang="en-US" sz="1500" b="1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보통주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1,000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주를 주당 ￦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8,000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발행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하여 회사를 설립하였다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20×1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자기주식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주를 주당 ￦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6,000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취득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하였다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주는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20×1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 당시 시가인 주당 ￦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6,500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주는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20×1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14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 당시 시가인 주당 ￦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5,200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매각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하였다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나머지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주는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20×1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일에 소각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감자소각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하였다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endParaRPr lang="en-US" altLang="ko-KR" sz="15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endParaRPr lang="en-US" altLang="ko-KR" sz="15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642938" y="3159331"/>
            <a:ext cx="7775575" cy="712787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/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①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20×1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자기주식 취득</a:t>
            </a:r>
          </a:p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(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 기 주 식             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180,000    (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     금                         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180,000     </a:t>
            </a:r>
          </a:p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18" name="Rectangle 12"/>
          <p:cNvSpPr>
            <a:spLocks noChangeArrowheads="1"/>
          </p:cNvSpPr>
          <p:nvPr/>
        </p:nvSpPr>
        <p:spPr bwMode="auto">
          <a:xfrm>
            <a:off x="642938" y="3971234"/>
            <a:ext cx="7775575" cy="1001713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/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②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20×1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자기주식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주를 주당 ￦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6,500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매각</a:t>
            </a:r>
          </a:p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      금                  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65,000    (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자기주식                         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60,000</a:t>
            </a:r>
          </a:p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자기주식처분이익           </a:t>
            </a:r>
            <a:r>
              <a:rPr lang="ko-KR" altLang="en-US" sz="1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5,000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</a:p>
        </p:txBody>
      </p: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642938" y="5012334"/>
            <a:ext cx="7775575" cy="135731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/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③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20×1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14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자기주식 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주를 주당 ￦</a:t>
            </a: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5,200</a:t>
            </a:r>
            <a:r>
              <a:rPr lang="ko-KR" altLang="en-US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매각</a:t>
            </a:r>
          </a:p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      금             </a:t>
            </a: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52,000    (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자기주식                        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60,000</a:t>
            </a:r>
          </a:p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자기주식처분이익         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5,000</a:t>
            </a:r>
          </a:p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</a:t>
            </a: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자기주식처분손실          </a:t>
            </a:r>
            <a:r>
              <a:rPr lang="en-US" altLang="ko-KR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3,000     </a:t>
            </a:r>
          </a:p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CCAC7E93-0EA6-653B-F7B9-E3C993B8E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699" y="1201999"/>
            <a:ext cx="2160000" cy="273350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/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5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수내부</a:t>
            </a:r>
            <a:endParaRPr lang="en-US" altLang="ko-KR" sz="15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4085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그룹 33"/>
          <p:cNvGrpSpPr/>
          <p:nvPr/>
        </p:nvGrpSpPr>
        <p:grpSpPr>
          <a:xfrm>
            <a:off x="216270" y="1350423"/>
            <a:ext cx="8711460" cy="5305557"/>
            <a:chOff x="190714" y="1320887"/>
            <a:chExt cx="8711460" cy="5050376"/>
          </a:xfrm>
        </p:grpSpPr>
        <p:grpSp>
          <p:nvGrpSpPr>
            <p:cNvPr id="35" name="그룹 34"/>
            <p:cNvGrpSpPr/>
            <p:nvPr/>
          </p:nvGrpSpPr>
          <p:grpSpPr>
            <a:xfrm>
              <a:off x="361935" y="1461499"/>
              <a:ext cx="8540239" cy="4909764"/>
              <a:chOff x="269048" y="1722741"/>
              <a:chExt cx="8648775" cy="4909764"/>
            </a:xfrm>
          </p:grpSpPr>
          <p:sp>
            <p:nvSpPr>
              <p:cNvPr id="44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4886064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5" name="직사각형 44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7" name="그룹 36"/>
            <p:cNvGrpSpPr/>
            <p:nvPr/>
          </p:nvGrpSpPr>
          <p:grpSpPr>
            <a:xfrm>
              <a:off x="190714" y="1320887"/>
              <a:ext cx="2513097" cy="326950"/>
              <a:chOff x="190714" y="1320889"/>
              <a:chExt cx="2149763" cy="290352"/>
            </a:xfrm>
            <a:solidFill>
              <a:srgbClr val="2D61C8"/>
            </a:solidFill>
          </p:grpSpPr>
          <p:grpSp>
            <p:nvGrpSpPr>
              <p:cNvPr id="38" name="그룹 37"/>
              <p:cNvGrpSpPr/>
              <p:nvPr/>
            </p:nvGrpSpPr>
            <p:grpSpPr>
              <a:xfrm>
                <a:off x="190714" y="1320889"/>
                <a:ext cx="2149763" cy="290352"/>
                <a:chOff x="405822" y="2237753"/>
                <a:chExt cx="2149763" cy="290352"/>
              </a:xfrm>
              <a:grpFill/>
            </p:grpSpPr>
            <p:sp>
              <p:nvSpPr>
                <p:cNvPr id="40" name="타원 39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" name="타원 40"/>
                <p:cNvSpPr/>
                <p:nvPr/>
              </p:nvSpPr>
              <p:spPr>
                <a:xfrm>
                  <a:off x="2265234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" name="직사각형 41"/>
                <p:cNvSpPr/>
                <p:nvPr/>
              </p:nvSpPr>
              <p:spPr>
                <a:xfrm>
                  <a:off x="542512" y="2237753"/>
                  <a:ext cx="1847715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10-4</a:t>
                  </a:r>
                  <a:r>
                    <a:rPr lang="en-US" altLang="ko-KR" sz="1600" b="1" dirty="0"/>
                    <a:t> </a:t>
                  </a:r>
                  <a:r>
                    <a:rPr lang="ko-KR" altLang="en-US" sz="1600" b="1" dirty="0"/>
                    <a:t>자기주식</a:t>
                  </a:r>
                </a:p>
              </p:txBody>
            </p:sp>
            <p:sp>
              <p:nvSpPr>
                <p:cNvPr id="43" name="타원 42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9" name="그림 38" descr="Log in | Sign Up Upload Clipart"/>
              <p:cNvPicPr>
                <a:picLocks noChangeAspect="1"/>
              </p:cNvPicPr>
              <p:nvPr/>
            </p:nvPicPr>
            <p:blipFill>
              <a:blip r:embed="rId2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20" name="Rectangle 12"/>
          <p:cNvSpPr>
            <a:spLocks noChangeArrowheads="1"/>
          </p:cNvSpPr>
          <p:nvPr/>
        </p:nvSpPr>
        <p:spPr bwMode="auto">
          <a:xfrm>
            <a:off x="684213" y="1839940"/>
            <a:ext cx="7775575" cy="107156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/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④ 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20×1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자기주식 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주를 소각 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감자소각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4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(</a:t>
            </a:r>
            <a:r>
              <a:rPr lang="ko-KR" altLang="en-US" sz="1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</a:t>
            </a:r>
            <a:r>
              <a:rPr lang="en-US" altLang="ko-KR" sz="1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  본  금                  </a:t>
            </a:r>
            <a:r>
              <a:rPr lang="en-US" altLang="ko-KR" sz="1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50,000      (</a:t>
            </a:r>
            <a:r>
              <a:rPr lang="ko-KR" altLang="en-US" sz="1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</a:t>
            </a:r>
            <a:r>
              <a:rPr lang="en-US" altLang="ko-KR" sz="1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 기 주 식                  </a:t>
            </a:r>
            <a:r>
              <a:rPr lang="en-US" altLang="ko-KR" sz="1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60,000</a:t>
            </a:r>
          </a:p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</a:t>
            </a:r>
            <a:r>
              <a:rPr lang="ko-KR" altLang="en-US" sz="1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 자 차 손</a:t>
            </a:r>
            <a:r>
              <a:rPr lang="en-US" altLang="ko-KR" sz="1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10,000    </a:t>
            </a:r>
          </a:p>
          <a:p>
            <a:pPr defTabSz="995363"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350486"/>
              </p:ext>
            </p:extLst>
          </p:nvPr>
        </p:nvGraphicFramePr>
        <p:xfrm>
          <a:off x="555694" y="3248710"/>
          <a:ext cx="8245406" cy="3013863"/>
        </p:xfrm>
        <a:graphic>
          <a:graphicData uri="http://schemas.openxmlformats.org/drawingml/2006/table">
            <a:tbl>
              <a:tblPr/>
              <a:tblGrid>
                <a:gridCol w="1848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47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0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1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22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67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0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86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617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255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201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3611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256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163956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8376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84977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63112">
                <a:tc gridSpan="17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부분재무상태표</a:t>
                      </a: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6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20×1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20×1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20×1</a:t>
                      </a: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14</a:t>
                      </a: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20×1</a:t>
                      </a: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</a:t>
                      </a: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639">
                <a:tc>
                  <a:txBody>
                    <a:bodyPr/>
                    <a:lstStyle/>
                    <a:p>
                      <a:pPr marL="12700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 본</a:t>
                      </a: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639">
                <a:tc>
                  <a:txBody>
                    <a:bodyPr/>
                    <a:lstStyle/>
                    <a:p>
                      <a:pPr marL="12700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 본 금</a:t>
                      </a: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5,000,000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5,000,000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5,000,000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4,950,000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639">
                <a:tc>
                  <a:txBody>
                    <a:bodyPr/>
                    <a:lstStyle/>
                    <a:p>
                      <a:pPr marL="12700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주식발행초과금</a:t>
                      </a: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3,000,000</a:t>
                      </a: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3,000,000</a:t>
                      </a: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3,000,000</a:t>
                      </a: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3,000,000</a:t>
                      </a: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639">
                <a:tc>
                  <a:txBody>
                    <a:bodyPr/>
                    <a:lstStyle/>
                    <a:p>
                      <a:pPr marL="12700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자기주식처분이익</a:t>
                      </a: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5,000</a:t>
                      </a: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5639">
                <a:tc>
                  <a:txBody>
                    <a:bodyPr/>
                    <a:lstStyle/>
                    <a:p>
                      <a:pPr marL="12700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자기주식</a:t>
                      </a: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(180,000)</a:t>
                      </a: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(120,000)</a:t>
                      </a: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(60,000)</a:t>
                      </a: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5639">
                <a:tc>
                  <a:txBody>
                    <a:bodyPr/>
                    <a:lstStyle/>
                    <a:p>
                      <a:pPr marL="12700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자기주식처분손실</a:t>
                      </a: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(3,000)</a:t>
                      </a: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(3,000)</a:t>
                      </a: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5639">
                <a:tc>
                  <a:txBody>
                    <a:bodyPr/>
                    <a:lstStyle/>
                    <a:p>
                      <a:pPr marL="12700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감자차손</a:t>
                      </a: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(10,000)</a:t>
                      </a: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5639">
                <a:tc>
                  <a:txBody>
                    <a:bodyPr/>
                    <a:lstStyle/>
                    <a:p>
                      <a:pPr marL="12700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7,820,000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7,885,000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7,937,000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7,937,000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22291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287828" y="1469349"/>
            <a:ext cx="8641369" cy="4496978"/>
            <a:chOff x="2626683" y="1682562"/>
            <a:chExt cx="11521825" cy="5995971"/>
          </a:xfrm>
        </p:grpSpPr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2626683" y="2296054"/>
              <a:ext cx="11521825" cy="5382479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44000" indent="-14400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포괄손익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일정기간 동안 주주와의 거래를 제외한 모든 거래나 사건의 결과로 인식된      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                자본의 변동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en-US" sz="1600" dirty="0">
                <a:latin typeface="맑은 고딕" panose="020B0503020000020004" pitchFamily="50" charset="-127"/>
              </a:endParaRPr>
            </a:p>
            <a:p>
              <a:pPr marL="144000" indent="-14400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포괄손익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(comprehensive income)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의 구분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  ①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당기순손익</a:t>
              </a:r>
              <a:endParaRPr lang="ko-KR" altLang="en-US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  ② 기타포괄손익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144000" indent="-14400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기타포괄손익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(other comprehensive income) : 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   손익거래를 통해 자본의 변동을 가져오지만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당기순손익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계산에는 반영되지 않는 항목 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   (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포괄손익계산서에 표시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)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144000" indent="-14400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 err="1">
                  <a:latin typeface="맑은 고딕" panose="020B0503020000020004" pitchFamily="50" charset="-127"/>
                </a:rPr>
                <a:t>기타포괄손익누계액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   포괄손익계산서상 기록된 기타포괄손익의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누계액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재무상태표에 표시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)</a:t>
              </a:r>
              <a:endParaRPr lang="ko-KR" altLang="en-US" sz="1600" dirty="0">
                <a:latin typeface="맑은 고딕" panose="020B0503020000020004" pitchFamily="50" charset="-127"/>
              </a:endParaRPr>
            </a:p>
          </p:txBody>
        </p:sp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2908882" y="1682562"/>
              <a:ext cx="9744540" cy="453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 err="1">
                  <a:latin typeface="맑은 고딕" panose="020B0503020000020004" pitchFamily="50" charset="-127"/>
                </a:rPr>
                <a:t>포괄손익과</a:t>
              </a:r>
              <a:r>
                <a:rPr lang="ko-KR" altLang="en-US" sz="1800" b="1" dirty="0">
                  <a:latin typeface="맑은 고딕" panose="020B0503020000020004" pitchFamily="50" charset="-127"/>
                </a:rPr>
                <a:t> 기타포괄손익</a:t>
              </a:r>
              <a:r>
                <a:rPr lang="en-US" altLang="ko-KR" sz="1800" b="1" dirty="0">
                  <a:latin typeface="맑은 고딕" panose="020B0503020000020004" pitchFamily="50" charset="-127"/>
                </a:rPr>
                <a:t>/</a:t>
              </a:r>
              <a:r>
                <a:rPr lang="ko-KR" altLang="en-US" sz="1800" b="1" dirty="0" err="1">
                  <a:latin typeface="맑은 고딕" panose="020B0503020000020004" pitchFamily="50" charset="-127"/>
                </a:rPr>
                <a:t>기타포괄손익누계액</a:t>
              </a:r>
              <a:r>
                <a:rPr lang="ko-KR" altLang="en-US" sz="1800" b="1" dirty="0">
                  <a:latin typeface="맑은 고딕" panose="020B0503020000020004" pitchFamily="50" charset="-127"/>
                </a:rPr>
                <a:t>  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endPara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21877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257473" y="1430362"/>
            <a:ext cx="8671725" cy="1998638"/>
            <a:chOff x="2626908" y="1693822"/>
            <a:chExt cx="11562299" cy="2664852"/>
          </a:xfrm>
        </p:grpSpPr>
        <p:sp>
          <p:nvSpPr>
            <p:cNvPr id="29" name="Rectangle 15"/>
            <p:cNvSpPr>
              <a:spLocks noChangeArrowheads="1"/>
            </p:cNvSpPr>
            <p:nvPr/>
          </p:nvSpPr>
          <p:spPr bwMode="auto">
            <a:xfrm>
              <a:off x="2667382" y="2262364"/>
              <a:ext cx="11521825" cy="2096310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44000" indent="-144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정의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일정한 회계기간 동안 발생한 자본의 크기와 변동에 대한 포괄적인 정보를 제공하는 재무제표</a:t>
              </a:r>
            </a:p>
          </p:txBody>
        </p:sp>
        <p:sp>
          <p:nvSpPr>
            <p:cNvPr id="30" name="Rectangle 14"/>
            <p:cNvSpPr>
              <a:spLocks noChangeArrowheads="1"/>
            </p:cNvSpPr>
            <p:nvPr/>
          </p:nvSpPr>
          <p:spPr bwMode="auto">
            <a:xfrm>
              <a:off x="2871275" y="1693822"/>
              <a:ext cx="9744540" cy="453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</a:rPr>
                <a:t>자본변동표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(statement of changes in equity)</a:t>
              </a:r>
              <a:r>
                <a:rPr lang="ko-KR" altLang="en-US" sz="1800" b="1" dirty="0">
                  <a:latin typeface="맑은 고딕" panose="020B0503020000020004" pitchFamily="50" charset="-127"/>
                </a:rPr>
                <a:t>  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endPara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257473" y="2891261"/>
            <a:ext cx="8641369" cy="2885651"/>
            <a:chOff x="2626683" y="1642515"/>
            <a:chExt cx="11521825" cy="3847536"/>
          </a:xfrm>
        </p:grpSpPr>
        <p:sp>
          <p:nvSpPr>
            <p:cNvPr id="12" name="Rectangle 15"/>
            <p:cNvSpPr>
              <a:spLocks noChangeArrowheads="1"/>
            </p:cNvSpPr>
            <p:nvPr/>
          </p:nvSpPr>
          <p:spPr bwMode="auto">
            <a:xfrm>
              <a:off x="2626683" y="2125623"/>
              <a:ext cx="11521825" cy="3364428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해당기간의 자본의 각 구성요소별로 기초잔액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기중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변동액과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기말 잔액을 표시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•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자본변동표는 재무상태표와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포괄손익계산서와도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밀접하게 연관되어 있음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en-US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	① 자본변동표의 기초자본총계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=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전기의 재무상태표상 기말자본총계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	② 자본변동표의 기말자본총계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=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당기 재무상태표상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기말자본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총계 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	③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당기순이익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기타포괄손익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총포괄이익을 파악할 수 있음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ko-KR" altLang="en-US" sz="1400" dirty="0">
                <a:latin typeface="맑은 고딕" panose="020B0503020000020004" pitchFamily="50" charset="-127"/>
              </a:endParaRPr>
            </a:p>
          </p:txBody>
        </p:sp>
        <p:sp>
          <p:nvSpPr>
            <p:cNvPr id="13" name="Rectangle 14"/>
            <p:cNvSpPr>
              <a:spLocks noChangeArrowheads="1"/>
            </p:cNvSpPr>
            <p:nvPr/>
          </p:nvSpPr>
          <p:spPr bwMode="auto">
            <a:xfrm>
              <a:off x="2871275" y="1642515"/>
              <a:ext cx="9744540" cy="453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</a:rPr>
                <a:t>자본변동표의 구조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endPara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77832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865061"/>
              </p:ext>
            </p:extLst>
          </p:nvPr>
        </p:nvGraphicFramePr>
        <p:xfrm>
          <a:off x="304800" y="1961263"/>
          <a:ext cx="8339930" cy="2770443"/>
        </p:xfrm>
        <a:graphic>
          <a:graphicData uri="http://schemas.openxmlformats.org/drawingml/2006/table">
            <a:tbl>
              <a:tblPr/>
              <a:tblGrid>
                <a:gridCol w="1708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42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3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1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09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153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63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0702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50137">
                <a:tc grid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 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        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20×1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로 종료하는 회계연도의 자본변동표                          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단위：원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8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납입자본</a:t>
                      </a: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이익잉여금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FVOCI</a:t>
                      </a: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금융자산 평가손익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재평가잉여금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총 계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2">
                <a:tc>
                  <a:txBody>
                    <a:bodyPr/>
                    <a:lstStyle/>
                    <a:p>
                      <a:pPr marL="5080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20×1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600,000</a:t>
                      </a: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161,700</a:t>
                      </a: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17,600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1,600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780,900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2">
                <a:tc>
                  <a:txBody>
                    <a:bodyPr/>
                    <a:lstStyle/>
                    <a:p>
                      <a:pPr marL="5080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유상증자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50,000</a:t>
                      </a: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－</a:t>
                      </a: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－</a:t>
                      </a: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－</a:t>
                      </a: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50,000</a:t>
                      </a: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2">
                <a:tc>
                  <a:txBody>
                    <a:bodyPr/>
                    <a:lstStyle/>
                    <a:p>
                      <a:pPr marL="5080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배 당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－</a:t>
                      </a: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(15,000) </a:t>
                      </a: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－</a:t>
                      </a: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－</a:t>
                      </a: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(15,000)</a:t>
                      </a: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1892">
                <a:tc>
                  <a:txBody>
                    <a:bodyPr/>
                    <a:lstStyle/>
                    <a:p>
                      <a:pPr marL="5080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총포괄손익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－</a:t>
                      </a: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96,600</a:t>
                      </a: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(14,400)</a:t>
                      </a: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800</a:t>
                      </a: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83,000</a:t>
                      </a: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892">
                <a:tc>
                  <a:txBody>
                    <a:bodyPr/>
                    <a:lstStyle/>
                    <a:p>
                      <a:pPr marL="5080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20×1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 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650,000</a:t>
                      </a: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243,300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3,200</a:t>
                      </a: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2,400</a:t>
                      </a: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898,900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1892">
                <a:tc>
                  <a:txBody>
                    <a:bodyPr/>
                    <a:lstStyle/>
                    <a:p>
                      <a:pPr marL="5080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b" horzOverflow="overflow">
                    <a:lnL>
                      <a:noFill/>
                    </a:lnL>
                    <a:lnR>
                      <a:noFill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4" name="그룹 3"/>
          <p:cNvGrpSpPr/>
          <p:nvPr/>
        </p:nvGrpSpPr>
        <p:grpSpPr>
          <a:xfrm>
            <a:off x="304800" y="1441905"/>
            <a:ext cx="3263136" cy="338554"/>
            <a:chOff x="1287463" y="4776539"/>
            <a:chExt cx="3263136" cy="338554"/>
          </a:xfrm>
        </p:grpSpPr>
        <p:sp>
          <p:nvSpPr>
            <p:cNvPr id="5" name="오각형 4"/>
            <p:cNvSpPr/>
            <p:nvPr/>
          </p:nvSpPr>
          <p:spPr>
            <a:xfrm>
              <a:off x="1287463" y="4807765"/>
              <a:ext cx="590477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표 </a:t>
              </a:r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877940" y="4776539"/>
              <a:ext cx="26726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/>
                <a:t>자본변동표 양식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89843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그룹 33"/>
          <p:cNvGrpSpPr/>
          <p:nvPr/>
        </p:nvGrpSpPr>
        <p:grpSpPr>
          <a:xfrm>
            <a:off x="216270" y="1350424"/>
            <a:ext cx="8711460" cy="5050376"/>
            <a:chOff x="190714" y="1320887"/>
            <a:chExt cx="8711460" cy="5050376"/>
          </a:xfrm>
        </p:grpSpPr>
        <p:grpSp>
          <p:nvGrpSpPr>
            <p:cNvPr id="35" name="그룹 34"/>
            <p:cNvGrpSpPr/>
            <p:nvPr/>
          </p:nvGrpSpPr>
          <p:grpSpPr>
            <a:xfrm>
              <a:off x="361935" y="1461499"/>
              <a:ext cx="8540239" cy="4909764"/>
              <a:chOff x="269048" y="1722741"/>
              <a:chExt cx="8648775" cy="4909764"/>
            </a:xfrm>
          </p:grpSpPr>
          <p:sp>
            <p:nvSpPr>
              <p:cNvPr id="44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4886064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5" name="직사각형 44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7" name="그룹 36"/>
            <p:cNvGrpSpPr/>
            <p:nvPr/>
          </p:nvGrpSpPr>
          <p:grpSpPr>
            <a:xfrm>
              <a:off x="190714" y="1320887"/>
              <a:ext cx="2882744" cy="326950"/>
              <a:chOff x="190714" y="1320889"/>
              <a:chExt cx="2465967" cy="290352"/>
            </a:xfrm>
            <a:solidFill>
              <a:srgbClr val="2D61C8"/>
            </a:solidFill>
          </p:grpSpPr>
          <p:grpSp>
            <p:nvGrpSpPr>
              <p:cNvPr id="38" name="그룹 37"/>
              <p:cNvGrpSpPr/>
              <p:nvPr/>
            </p:nvGrpSpPr>
            <p:grpSpPr>
              <a:xfrm>
                <a:off x="190714" y="1320889"/>
                <a:ext cx="2465967" cy="290352"/>
                <a:chOff x="405822" y="2237753"/>
                <a:chExt cx="2465967" cy="290352"/>
              </a:xfrm>
              <a:grpFill/>
            </p:grpSpPr>
            <p:sp>
              <p:nvSpPr>
                <p:cNvPr id="40" name="타원 39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" name="타원 40"/>
                <p:cNvSpPr/>
                <p:nvPr/>
              </p:nvSpPr>
              <p:spPr>
                <a:xfrm>
                  <a:off x="2581438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" name="직사각형 41"/>
                <p:cNvSpPr/>
                <p:nvPr/>
              </p:nvSpPr>
              <p:spPr>
                <a:xfrm>
                  <a:off x="542511" y="2237753"/>
                  <a:ext cx="2149725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10-5</a:t>
                  </a:r>
                  <a:r>
                    <a:rPr lang="en-US" altLang="ko-KR" sz="1600" b="1" dirty="0"/>
                    <a:t> </a:t>
                  </a:r>
                  <a:r>
                    <a:rPr lang="ko-KR" altLang="en-US" sz="1600" b="1" dirty="0"/>
                    <a:t>자본변동표</a:t>
                  </a:r>
                </a:p>
              </p:txBody>
            </p:sp>
            <p:sp>
              <p:nvSpPr>
                <p:cNvPr id="43" name="타원 42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9" name="그림 38" descr="Log in | Sign Up Upload Clipart"/>
              <p:cNvPicPr>
                <a:picLocks noChangeAspect="1"/>
              </p:cNvPicPr>
              <p:nvPr/>
            </p:nvPicPr>
            <p:blipFill>
              <a:blip r:embed="rId2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363416" y="1773297"/>
            <a:ext cx="8758616" cy="4925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27000" algn="just" fontAlgn="base"/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주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)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매일유업의 자본의 기초잔액과 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20×2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년중 발생한 자본 관련 거래는 다음과 같다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.</a:t>
            </a:r>
            <a:endParaRPr lang="ko-KR" altLang="en-US" sz="1500" kern="0" spc="-30" dirty="0">
              <a:solidFill>
                <a:srgbClr val="000000"/>
              </a:solidFill>
              <a:latin typeface="+mn-ea"/>
            </a:endParaRPr>
          </a:p>
          <a:p>
            <a:pPr marR="127000" algn="just" fontAlgn="base">
              <a:lnSpc>
                <a:spcPct val="130000"/>
              </a:lnSpc>
              <a:spcBef>
                <a:spcPts val="570"/>
              </a:spcBef>
            </a:pPr>
            <a:r>
              <a:rPr lang="en-US" altLang="ko-KR" sz="1500" b="1" kern="0" spc="-30" dirty="0">
                <a:solidFill>
                  <a:srgbClr val="000000"/>
                </a:solidFill>
                <a:latin typeface="+mn-ea"/>
              </a:rPr>
              <a:t>(1) 20×1</a:t>
            </a:r>
            <a:r>
              <a:rPr lang="ko-KR" altLang="en-US" sz="1500" b="1" kern="0" spc="-30" dirty="0">
                <a:solidFill>
                  <a:srgbClr val="000000"/>
                </a:solidFill>
                <a:latin typeface="+mn-ea"/>
              </a:rPr>
              <a:t>년 </a:t>
            </a:r>
            <a:r>
              <a:rPr lang="en-US" altLang="ko-KR" sz="1500" b="1" kern="0" spc="-30" dirty="0">
                <a:solidFill>
                  <a:srgbClr val="000000"/>
                </a:solidFill>
                <a:latin typeface="+mn-ea"/>
              </a:rPr>
              <a:t>12</a:t>
            </a:r>
            <a:r>
              <a:rPr lang="ko-KR" altLang="en-US" sz="1500" b="1" kern="0" spc="-30" dirty="0">
                <a:solidFill>
                  <a:srgbClr val="000000"/>
                </a:solidFill>
                <a:latin typeface="+mn-ea"/>
              </a:rPr>
              <a:t>월 </a:t>
            </a:r>
            <a:r>
              <a:rPr lang="en-US" altLang="ko-KR" sz="1500" b="1" kern="0" spc="-30" dirty="0">
                <a:solidFill>
                  <a:srgbClr val="000000"/>
                </a:solidFill>
                <a:latin typeface="+mn-ea"/>
              </a:rPr>
              <a:t>31</a:t>
            </a:r>
            <a:r>
              <a:rPr lang="ko-KR" altLang="en-US" sz="1500" b="1" kern="0" spc="-30" dirty="0">
                <a:solidFill>
                  <a:srgbClr val="000000"/>
                </a:solidFill>
                <a:latin typeface="+mn-ea"/>
              </a:rPr>
              <a:t>일 현재 </a:t>
            </a:r>
            <a:r>
              <a:rPr lang="en-US" altLang="ko-KR" sz="1500" b="1" kern="0" spc="-30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sz="1500" b="1" kern="0" spc="-30" dirty="0">
                <a:solidFill>
                  <a:srgbClr val="000000"/>
                </a:solidFill>
                <a:latin typeface="+mn-ea"/>
              </a:rPr>
              <a:t>주</a:t>
            </a:r>
            <a:r>
              <a:rPr lang="en-US" altLang="ko-KR" sz="1500" b="1" kern="0" spc="-30" dirty="0">
                <a:solidFill>
                  <a:srgbClr val="000000"/>
                </a:solidFill>
                <a:latin typeface="+mn-ea"/>
              </a:rPr>
              <a:t>)</a:t>
            </a:r>
            <a:r>
              <a:rPr lang="ko-KR" altLang="en-US" sz="1500" b="1" kern="0" spc="-30" dirty="0">
                <a:solidFill>
                  <a:srgbClr val="000000"/>
                </a:solidFill>
                <a:latin typeface="+mn-ea"/>
              </a:rPr>
              <a:t> 매일유업의 자본구성은 다음과 같다</a:t>
            </a:r>
            <a:r>
              <a:rPr lang="en-US" altLang="ko-KR" sz="1500" b="1" kern="0" spc="-30" dirty="0">
                <a:solidFill>
                  <a:srgbClr val="000000"/>
                </a:solidFill>
                <a:latin typeface="+mn-ea"/>
              </a:rPr>
              <a:t>.</a:t>
            </a:r>
            <a:endParaRPr lang="ko-KR" altLang="en-US" sz="1500" b="1" kern="0" spc="-30" dirty="0">
              <a:solidFill>
                <a:srgbClr val="000000"/>
              </a:solidFill>
              <a:latin typeface="+mn-ea"/>
            </a:endParaRPr>
          </a:p>
          <a:p>
            <a:pPr marL="266700" marR="127000" algn="just" fontAlgn="base">
              <a:lnSpc>
                <a:spcPct val="130000"/>
              </a:lnSpc>
            </a:pP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① 자 본 금：￦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50,000,000</a:t>
            </a:r>
            <a:endParaRPr lang="ko-KR" altLang="en-US" sz="1500" kern="0" spc="-30" dirty="0">
              <a:solidFill>
                <a:srgbClr val="000000"/>
              </a:solidFill>
              <a:latin typeface="+mn-ea"/>
            </a:endParaRPr>
          </a:p>
          <a:p>
            <a:pPr marL="266700" marR="127000" algn="just" fontAlgn="base">
              <a:lnSpc>
                <a:spcPct val="130000"/>
              </a:lnSpc>
            </a:pP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② 자본잉여금：￦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5,000,000</a:t>
            </a:r>
            <a:endParaRPr lang="ko-KR" altLang="en-US" sz="1500" kern="0" spc="-30" dirty="0">
              <a:solidFill>
                <a:srgbClr val="000000"/>
              </a:solidFill>
              <a:latin typeface="+mn-ea"/>
            </a:endParaRPr>
          </a:p>
          <a:p>
            <a:pPr marL="266700" marR="127000" algn="just" fontAlgn="base">
              <a:lnSpc>
                <a:spcPct val="130000"/>
              </a:lnSpc>
            </a:pP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③ 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FVOCI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금융자산평가이익：￦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1,000,000</a:t>
            </a:r>
            <a:endParaRPr lang="ko-KR" altLang="en-US" sz="1500" kern="0" spc="-30" dirty="0">
              <a:solidFill>
                <a:srgbClr val="000000"/>
              </a:solidFill>
              <a:latin typeface="+mn-ea"/>
            </a:endParaRPr>
          </a:p>
          <a:p>
            <a:pPr marL="266700" marR="127000" algn="just" fontAlgn="base">
              <a:lnSpc>
                <a:spcPct val="130000"/>
              </a:lnSpc>
            </a:pP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④ 이익잉여금：￦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30,000,000</a:t>
            </a:r>
            <a:endParaRPr lang="ko-KR" altLang="en-US" sz="1500" kern="0" spc="-30" dirty="0">
              <a:solidFill>
                <a:srgbClr val="000000"/>
              </a:solidFill>
              <a:latin typeface="+mn-ea"/>
            </a:endParaRPr>
          </a:p>
          <a:p>
            <a:pPr marR="127000" algn="just" fontAlgn="base">
              <a:lnSpc>
                <a:spcPct val="160000"/>
              </a:lnSpc>
              <a:spcBef>
                <a:spcPts val="570"/>
              </a:spcBef>
            </a:pPr>
            <a:r>
              <a:rPr lang="en-US" altLang="ko-KR" sz="1500" b="1" kern="0" spc="-30" dirty="0">
                <a:solidFill>
                  <a:srgbClr val="000000"/>
                </a:solidFill>
                <a:latin typeface="+mn-ea"/>
              </a:rPr>
              <a:t>(2) 20×2</a:t>
            </a:r>
            <a:r>
              <a:rPr lang="ko-KR" altLang="en-US" sz="1500" b="1" kern="0" spc="-30" dirty="0">
                <a:solidFill>
                  <a:srgbClr val="000000"/>
                </a:solidFill>
                <a:latin typeface="+mn-ea"/>
              </a:rPr>
              <a:t>년중 발생한 자본 관련 거래는 다음과 같다</a:t>
            </a:r>
            <a:r>
              <a:rPr lang="en-US" altLang="ko-KR" sz="1500" b="1" kern="0" spc="-30" dirty="0">
                <a:solidFill>
                  <a:srgbClr val="000000"/>
                </a:solidFill>
                <a:latin typeface="+mn-ea"/>
              </a:rPr>
              <a:t>.</a:t>
            </a:r>
            <a:endParaRPr lang="ko-KR" altLang="en-US" sz="1500" b="1" kern="0" spc="-30" dirty="0">
              <a:solidFill>
                <a:srgbClr val="000000"/>
              </a:solidFill>
              <a:latin typeface="+mn-ea"/>
            </a:endParaRPr>
          </a:p>
          <a:p>
            <a:pPr marL="504000" marR="127000" indent="-252000" fontAlgn="base" latinLnBrk="0">
              <a:lnSpc>
                <a:spcPct val="120000"/>
              </a:lnSpc>
              <a:spcBef>
                <a:spcPts val="600"/>
              </a:spcBef>
            </a:pP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① 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주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)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매일유업은 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20×2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년 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4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월 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일에 </a:t>
            </a:r>
            <a:r>
              <a:rPr lang="ko-KR" altLang="en-US" sz="1500" kern="0" spc="-30" dirty="0" err="1">
                <a:solidFill>
                  <a:srgbClr val="000000"/>
                </a:solidFill>
                <a:latin typeface="+mn-ea"/>
              </a:rPr>
              <a:t>보통주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1,000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주를 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주당 ￦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6,000(1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주당 액면금액 ￦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5,000)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에 발행하였다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.</a:t>
            </a:r>
            <a:endParaRPr lang="ko-KR" altLang="en-US" sz="1500" kern="0" spc="-30" dirty="0">
              <a:solidFill>
                <a:srgbClr val="000000"/>
              </a:solidFill>
              <a:latin typeface="+mn-ea"/>
            </a:endParaRPr>
          </a:p>
          <a:p>
            <a:pPr marL="504000" marR="127000" indent="-252000" fontAlgn="base" latinLnBrk="0">
              <a:lnSpc>
                <a:spcPct val="120000"/>
              </a:lnSpc>
              <a:spcBef>
                <a:spcPts val="600"/>
              </a:spcBef>
            </a:pP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② 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주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)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 매일유업은 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20×2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년 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2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월 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15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일에 주주총회에서 액면금액의 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10%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를 현금배당하기로 결의하였으며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, 20×2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년 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3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월 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15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일에 배당금을 지급하였다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.</a:t>
            </a:r>
            <a:endParaRPr lang="ko-KR" altLang="en-US" sz="1500" kern="0" spc="-30" dirty="0">
              <a:solidFill>
                <a:srgbClr val="000000"/>
              </a:solidFill>
              <a:latin typeface="+mn-ea"/>
            </a:endParaRPr>
          </a:p>
          <a:p>
            <a:pPr marL="504000" marR="127000" indent="-252000" fontAlgn="base" latinLnBrk="0">
              <a:lnSpc>
                <a:spcPct val="120000"/>
              </a:lnSpc>
              <a:spcBef>
                <a:spcPts val="600"/>
              </a:spcBef>
            </a:pP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③ 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주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)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 매일유업은 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20×2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년 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5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월 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일에 자기주식 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100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주를 주당 ￦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7,000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에 취득하였다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.</a:t>
            </a:r>
            <a:endParaRPr lang="ko-KR" altLang="en-US" sz="1500" kern="0" spc="-30" dirty="0">
              <a:solidFill>
                <a:srgbClr val="000000"/>
              </a:solidFill>
              <a:latin typeface="+mn-ea"/>
            </a:endParaRPr>
          </a:p>
          <a:p>
            <a:pPr marL="504000" marR="127000" indent="-252000" fontAlgn="base" latinLnBrk="0">
              <a:lnSpc>
                <a:spcPct val="120000"/>
              </a:lnSpc>
              <a:spcBef>
                <a:spcPts val="600"/>
              </a:spcBef>
            </a:pP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④ 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20×2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년 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12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월 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31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일에 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FVOCI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금융자산의 평가이익 ￦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600,000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을 인식하였다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.</a:t>
            </a:r>
            <a:endParaRPr lang="ko-KR" altLang="en-US" sz="1500" kern="0" spc="-30" dirty="0">
              <a:solidFill>
                <a:srgbClr val="000000"/>
              </a:solidFill>
              <a:latin typeface="+mn-ea"/>
            </a:endParaRPr>
          </a:p>
          <a:p>
            <a:pPr marL="504000" marR="127000" indent="-252000" fontAlgn="base" latinLnBrk="0">
              <a:lnSpc>
                <a:spcPct val="120000"/>
              </a:lnSpc>
              <a:spcBef>
                <a:spcPts val="600"/>
              </a:spcBef>
            </a:pP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⑤ 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주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)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 매일유업의 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20×2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년 당기순이익은 ￦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10,000,000</a:t>
            </a:r>
            <a:r>
              <a:rPr lang="ko-KR" altLang="en-US" sz="1500" kern="0" spc="-30" dirty="0">
                <a:solidFill>
                  <a:srgbClr val="000000"/>
                </a:solidFill>
                <a:latin typeface="+mn-ea"/>
              </a:rPr>
              <a:t>이다</a:t>
            </a:r>
            <a:r>
              <a:rPr lang="en-US" altLang="ko-KR" sz="1500" kern="0" spc="-30" dirty="0">
                <a:solidFill>
                  <a:srgbClr val="000000"/>
                </a:solidFill>
                <a:latin typeface="+mn-ea"/>
              </a:rPr>
              <a:t>.</a:t>
            </a:r>
            <a:endParaRPr lang="ko-KR" altLang="en-US" sz="1500" kern="0" spc="-30" dirty="0">
              <a:solidFill>
                <a:srgbClr val="000000"/>
              </a:solidFill>
              <a:latin typeface="+mn-ea"/>
            </a:endParaRPr>
          </a:p>
          <a:p>
            <a:pPr marL="266700" marR="127000" algn="just" fontAlgn="base">
              <a:lnSpc>
                <a:spcPct val="160000"/>
              </a:lnSpc>
            </a:pPr>
            <a:endParaRPr lang="ko-KR" altLang="en-US" sz="1200" kern="0" spc="-30" dirty="0">
              <a:solidFill>
                <a:srgbClr val="000000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717407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그룹 33"/>
          <p:cNvGrpSpPr/>
          <p:nvPr/>
        </p:nvGrpSpPr>
        <p:grpSpPr>
          <a:xfrm>
            <a:off x="252783" y="1341957"/>
            <a:ext cx="8711460" cy="5050376"/>
            <a:chOff x="190714" y="1320887"/>
            <a:chExt cx="8711460" cy="5050376"/>
          </a:xfrm>
        </p:grpSpPr>
        <p:grpSp>
          <p:nvGrpSpPr>
            <p:cNvPr id="35" name="그룹 34"/>
            <p:cNvGrpSpPr/>
            <p:nvPr/>
          </p:nvGrpSpPr>
          <p:grpSpPr>
            <a:xfrm>
              <a:off x="361935" y="1461499"/>
              <a:ext cx="8540239" cy="4909764"/>
              <a:chOff x="269048" y="1722741"/>
              <a:chExt cx="8648775" cy="4909764"/>
            </a:xfrm>
          </p:grpSpPr>
          <p:sp>
            <p:nvSpPr>
              <p:cNvPr id="44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4886064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5" name="직사각형 44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7" name="그룹 36"/>
            <p:cNvGrpSpPr/>
            <p:nvPr/>
          </p:nvGrpSpPr>
          <p:grpSpPr>
            <a:xfrm>
              <a:off x="190714" y="1320887"/>
              <a:ext cx="2882744" cy="326950"/>
              <a:chOff x="190714" y="1320889"/>
              <a:chExt cx="2465967" cy="290352"/>
            </a:xfrm>
            <a:solidFill>
              <a:srgbClr val="2D61C8"/>
            </a:solidFill>
          </p:grpSpPr>
          <p:grpSp>
            <p:nvGrpSpPr>
              <p:cNvPr id="38" name="그룹 37"/>
              <p:cNvGrpSpPr/>
              <p:nvPr/>
            </p:nvGrpSpPr>
            <p:grpSpPr>
              <a:xfrm>
                <a:off x="190714" y="1320889"/>
                <a:ext cx="2465967" cy="290352"/>
                <a:chOff x="405822" y="2237753"/>
                <a:chExt cx="2465967" cy="290352"/>
              </a:xfrm>
              <a:grpFill/>
            </p:grpSpPr>
            <p:sp>
              <p:nvSpPr>
                <p:cNvPr id="40" name="타원 39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" name="타원 40"/>
                <p:cNvSpPr/>
                <p:nvPr/>
              </p:nvSpPr>
              <p:spPr>
                <a:xfrm>
                  <a:off x="2581438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" name="직사각형 41"/>
                <p:cNvSpPr/>
                <p:nvPr/>
              </p:nvSpPr>
              <p:spPr>
                <a:xfrm>
                  <a:off x="542511" y="2237753"/>
                  <a:ext cx="2149725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10-5</a:t>
                  </a:r>
                  <a:r>
                    <a:rPr lang="en-US" altLang="ko-KR" sz="1600" b="1" dirty="0"/>
                    <a:t> </a:t>
                  </a:r>
                  <a:r>
                    <a:rPr lang="ko-KR" altLang="en-US" sz="1600" b="1" dirty="0"/>
                    <a:t>자본변동표</a:t>
                  </a:r>
                </a:p>
              </p:txBody>
            </p:sp>
            <p:sp>
              <p:nvSpPr>
                <p:cNvPr id="43" name="타원 42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9" name="그림 38" descr="Log in | Sign Up Upload Clipart"/>
              <p:cNvPicPr>
                <a:picLocks noChangeAspect="1"/>
              </p:cNvPicPr>
              <p:nvPr/>
            </p:nvPicPr>
            <p:blipFill>
              <a:blip r:embed="rId2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475396" y="1773297"/>
            <a:ext cx="8646635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1500" dirty="0">
                <a:latin typeface="+mn-ea"/>
              </a:rPr>
              <a:t>위 20×2년의 </a:t>
            </a:r>
            <a:r>
              <a:rPr lang="en-US" sz="1500" dirty="0" err="1">
                <a:latin typeface="+mn-ea"/>
              </a:rPr>
              <a:t>자본</a:t>
            </a:r>
            <a:r>
              <a:rPr lang="en-US" sz="1500" dirty="0">
                <a:latin typeface="+mn-ea"/>
              </a:rPr>
              <a:t> </a:t>
            </a:r>
            <a:r>
              <a:rPr lang="en-US" sz="1500" dirty="0" err="1">
                <a:latin typeface="+mn-ea"/>
              </a:rPr>
              <a:t>관련</a:t>
            </a:r>
            <a:r>
              <a:rPr lang="en-US" sz="1500" dirty="0">
                <a:latin typeface="+mn-ea"/>
              </a:rPr>
              <a:t> </a:t>
            </a:r>
            <a:r>
              <a:rPr lang="en-US" sz="1500" dirty="0" err="1">
                <a:latin typeface="+mn-ea"/>
              </a:rPr>
              <a:t>거래를</a:t>
            </a:r>
            <a:r>
              <a:rPr lang="en-US" sz="1500" dirty="0">
                <a:latin typeface="+mn-ea"/>
              </a:rPr>
              <a:t> </a:t>
            </a:r>
            <a:r>
              <a:rPr lang="en-US" sz="1500" dirty="0" err="1">
                <a:latin typeface="+mn-ea"/>
              </a:rPr>
              <a:t>회계처리하면</a:t>
            </a:r>
            <a:r>
              <a:rPr lang="en-US" sz="1500" dirty="0">
                <a:latin typeface="+mn-ea"/>
              </a:rPr>
              <a:t> </a:t>
            </a:r>
            <a:r>
              <a:rPr lang="en-US" sz="1500" dirty="0" err="1">
                <a:latin typeface="+mn-ea"/>
              </a:rPr>
              <a:t>다음과</a:t>
            </a:r>
            <a:r>
              <a:rPr lang="en-US" sz="1500" dirty="0">
                <a:latin typeface="+mn-ea"/>
              </a:rPr>
              <a:t> </a:t>
            </a:r>
            <a:r>
              <a:rPr lang="en-US" sz="1500" dirty="0" err="1">
                <a:latin typeface="+mn-ea"/>
              </a:rPr>
              <a:t>같다</a:t>
            </a:r>
            <a:r>
              <a:rPr lang="en-US" sz="1500" dirty="0">
                <a:latin typeface="+mn-ea"/>
              </a:rPr>
              <a:t>.</a:t>
            </a:r>
          </a:p>
          <a:p>
            <a:pPr fontAlgn="base"/>
            <a:endParaRPr lang="en-US" sz="1500" dirty="0">
              <a:latin typeface="+mn-ea"/>
            </a:endParaRPr>
          </a:p>
          <a:p>
            <a:pPr fontAlgn="base"/>
            <a:r>
              <a:rPr lang="en-US" sz="1500" dirty="0">
                <a:latin typeface="+mn-ea"/>
              </a:rPr>
              <a:t>① 20×2년 4월 1일：보통주 </a:t>
            </a:r>
            <a:r>
              <a:rPr lang="en-US" sz="1500" dirty="0" err="1">
                <a:latin typeface="+mn-ea"/>
              </a:rPr>
              <a:t>발행</a:t>
            </a:r>
            <a:endParaRPr lang="en-US" sz="1500" dirty="0">
              <a:latin typeface="+mn-ea"/>
            </a:endParaRPr>
          </a:p>
          <a:p>
            <a:pPr fontAlgn="base"/>
            <a:r>
              <a:rPr lang="en-US" altLang="ko-KR" sz="1500" b="1" dirty="0">
                <a:latin typeface="+mn-ea"/>
              </a:rPr>
              <a:t>   (</a:t>
            </a:r>
            <a:r>
              <a:rPr lang="ko-KR" altLang="en-US" sz="1500" b="1" dirty="0">
                <a:latin typeface="+mn-ea"/>
              </a:rPr>
              <a:t>차</a:t>
            </a:r>
            <a:r>
              <a:rPr lang="en-US" altLang="ko-KR" sz="1500" b="1" dirty="0">
                <a:latin typeface="+mn-ea"/>
              </a:rPr>
              <a:t>)</a:t>
            </a:r>
            <a:r>
              <a:rPr lang="ko-KR" altLang="en-US" sz="1500" b="1" dirty="0">
                <a:latin typeface="+mn-ea"/>
              </a:rPr>
              <a:t> 현 금	 </a:t>
            </a:r>
            <a:r>
              <a:rPr lang="en-US" altLang="ko-KR" sz="1500" b="1" dirty="0">
                <a:latin typeface="+mn-ea"/>
              </a:rPr>
              <a:t>6,000,000</a:t>
            </a:r>
            <a:r>
              <a:rPr lang="ko-KR" altLang="en-US" sz="1500" b="1" dirty="0">
                <a:latin typeface="+mn-ea"/>
              </a:rPr>
              <a:t>	</a:t>
            </a:r>
            <a:r>
              <a:rPr lang="en-US" altLang="ko-KR" sz="1500" b="1" dirty="0">
                <a:latin typeface="+mn-ea"/>
              </a:rPr>
              <a:t>(</a:t>
            </a:r>
            <a:r>
              <a:rPr lang="ko-KR" altLang="en-US" sz="1500" b="1" dirty="0">
                <a:latin typeface="+mn-ea"/>
              </a:rPr>
              <a:t>대</a:t>
            </a:r>
            <a:r>
              <a:rPr lang="en-US" altLang="ko-KR" sz="1500" b="1" dirty="0">
                <a:latin typeface="+mn-ea"/>
              </a:rPr>
              <a:t>)</a:t>
            </a:r>
            <a:r>
              <a:rPr lang="ko-KR" altLang="en-US" sz="1500" b="1" dirty="0">
                <a:latin typeface="+mn-ea"/>
              </a:rPr>
              <a:t> 자 본 금	</a:t>
            </a:r>
            <a:r>
              <a:rPr lang="en-US" altLang="ko-KR" sz="1500" b="1" dirty="0">
                <a:latin typeface="+mn-ea"/>
              </a:rPr>
              <a:t>5,000,000</a:t>
            </a:r>
            <a:endParaRPr lang="ko-KR" altLang="en-US" sz="1500" b="1" dirty="0">
              <a:latin typeface="+mn-ea"/>
            </a:endParaRPr>
          </a:p>
          <a:p>
            <a:pPr fontAlgn="base"/>
            <a:r>
              <a:rPr lang="ko-KR" altLang="en-US" sz="1500" b="1" dirty="0">
                <a:latin typeface="+mn-ea"/>
              </a:rPr>
              <a:t>			</a:t>
            </a:r>
            <a:r>
              <a:rPr lang="en-US" altLang="ko-KR" sz="1500" b="1" dirty="0">
                <a:latin typeface="+mn-ea"/>
              </a:rPr>
              <a:t>	</a:t>
            </a:r>
            <a:r>
              <a:rPr lang="ko-KR" altLang="en-US" sz="1500" b="1" dirty="0">
                <a:latin typeface="+mn-ea"/>
              </a:rPr>
              <a:t>     주식발행초과금	</a:t>
            </a:r>
            <a:r>
              <a:rPr lang="en-US" altLang="ko-KR" sz="1500" b="1" dirty="0">
                <a:latin typeface="+mn-ea"/>
              </a:rPr>
              <a:t>1,000,000</a:t>
            </a:r>
          </a:p>
          <a:p>
            <a:pPr fontAlgn="base"/>
            <a:endParaRPr lang="en-US" altLang="ko-KR" sz="1500" dirty="0">
              <a:latin typeface="+mn-ea"/>
            </a:endParaRPr>
          </a:p>
          <a:p>
            <a:pPr fontAlgn="base"/>
            <a:r>
              <a:rPr lang="ko-KR" altLang="en-US" sz="1500" dirty="0">
                <a:latin typeface="+mn-ea"/>
              </a:rPr>
              <a:t>② </a:t>
            </a:r>
            <a:r>
              <a:rPr lang="en-US" altLang="ko-KR" sz="1500" dirty="0">
                <a:latin typeface="+mn-ea"/>
              </a:rPr>
              <a:t>20×2</a:t>
            </a:r>
            <a:r>
              <a:rPr lang="ko-KR" altLang="en-US" sz="1500" dirty="0">
                <a:latin typeface="+mn-ea"/>
              </a:rPr>
              <a:t>년 </a:t>
            </a:r>
            <a:r>
              <a:rPr lang="en-US" altLang="ko-KR" sz="1500" dirty="0">
                <a:latin typeface="+mn-ea"/>
              </a:rPr>
              <a:t>2</a:t>
            </a:r>
            <a:r>
              <a:rPr lang="ko-KR" altLang="en-US" sz="1500" dirty="0">
                <a:latin typeface="+mn-ea"/>
              </a:rPr>
              <a:t>월 </a:t>
            </a:r>
            <a:r>
              <a:rPr lang="en-US" altLang="ko-KR" sz="1500" dirty="0">
                <a:latin typeface="+mn-ea"/>
              </a:rPr>
              <a:t>15</a:t>
            </a:r>
            <a:r>
              <a:rPr lang="ko-KR" altLang="en-US" sz="1500" dirty="0">
                <a:latin typeface="+mn-ea"/>
              </a:rPr>
              <a:t>일：현금배당 결의</a:t>
            </a:r>
          </a:p>
          <a:p>
            <a:pPr fontAlgn="base"/>
            <a:r>
              <a:rPr lang="en-US" altLang="ko-KR" sz="1500" dirty="0">
                <a:latin typeface="+mn-ea"/>
              </a:rPr>
              <a:t>   </a:t>
            </a:r>
            <a:r>
              <a:rPr lang="en-US" altLang="ko-KR" sz="1500" b="1" dirty="0">
                <a:latin typeface="+mn-ea"/>
              </a:rPr>
              <a:t>(</a:t>
            </a:r>
            <a:r>
              <a:rPr lang="ko-KR" altLang="en-US" sz="1500" b="1" dirty="0">
                <a:latin typeface="+mn-ea"/>
              </a:rPr>
              <a:t>차</a:t>
            </a:r>
            <a:r>
              <a:rPr lang="en-US" altLang="ko-KR" sz="1500" b="1" dirty="0">
                <a:latin typeface="+mn-ea"/>
              </a:rPr>
              <a:t>)</a:t>
            </a:r>
            <a:r>
              <a:rPr lang="ko-KR" altLang="en-US" sz="1500" b="1" dirty="0">
                <a:latin typeface="+mn-ea"/>
              </a:rPr>
              <a:t> 이익잉여금	 </a:t>
            </a:r>
            <a:r>
              <a:rPr lang="en-US" altLang="ko-KR" sz="1500" b="1" dirty="0">
                <a:latin typeface="+mn-ea"/>
              </a:rPr>
              <a:t>5,000,000	(</a:t>
            </a:r>
            <a:r>
              <a:rPr lang="ko-KR" altLang="en-US" sz="1500" b="1" dirty="0">
                <a:latin typeface="+mn-ea"/>
              </a:rPr>
              <a:t>대</a:t>
            </a:r>
            <a:r>
              <a:rPr lang="en-US" altLang="ko-KR" sz="1500" b="1" dirty="0">
                <a:latin typeface="+mn-ea"/>
              </a:rPr>
              <a:t>) </a:t>
            </a:r>
            <a:r>
              <a:rPr lang="ko-KR" altLang="en-US" sz="1500" b="1" dirty="0">
                <a:latin typeface="+mn-ea"/>
              </a:rPr>
              <a:t>미지급배당금	</a:t>
            </a:r>
            <a:r>
              <a:rPr lang="en-US" altLang="ko-KR" sz="1500" b="1" dirty="0">
                <a:latin typeface="+mn-ea"/>
              </a:rPr>
              <a:t>5,000,000</a:t>
            </a:r>
            <a:endParaRPr lang="ko-KR" altLang="en-US" sz="1500" b="1" dirty="0">
              <a:latin typeface="+mn-ea"/>
            </a:endParaRPr>
          </a:p>
          <a:p>
            <a:pPr fontAlgn="base"/>
            <a:endParaRPr lang="ko-KR" altLang="en-US" sz="1500" dirty="0">
              <a:latin typeface="+mn-ea"/>
            </a:endParaRPr>
          </a:p>
          <a:p>
            <a:pPr fontAlgn="base"/>
            <a:r>
              <a:rPr lang="en-US" sz="1500" dirty="0">
                <a:latin typeface="+mn-ea"/>
              </a:rPr>
              <a:t>  </a:t>
            </a:r>
            <a:r>
              <a:rPr lang="en-US" altLang="ko-KR" sz="1500" dirty="0">
                <a:latin typeface="+mn-ea"/>
              </a:rPr>
              <a:t>20×2</a:t>
            </a:r>
            <a:r>
              <a:rPr lang="ko-KR" altLang="en-US" sz="1500" dirty="0">
                <a:latin typeface="+mn-ea"/>
              </a:rPr>
              <a:t>년 </a:t>
            </a:r>
            <a:r>
              <a:rPr lang="en-US" altLang="ko-KR" sz="1500" dirty="0">
                <a:latin typeface="+mn-ea"/>
              </a:rPr>
              <a:t>3</a:t>
            </a:r>
            <a:r>
              <a:rPr lang="ko-KR" altLang="en-US" sz="1500" dirty="0">
                <a:latin typeface="+mn-ea"/>
              </a:rPr>
              <a:t>월 </a:t>
            </a:r>
            <a:r>
              <a:rPr lang="en-US" altLang="ko-KR" sz="1500" dirty="0">
                <a:latin typeface="+mn-ea"/>
              </a:rPr>
              <a:t>15</a:t>
            </a:r>
            <a:r>
              <a:rPr lang="ko-KR" altLang="en-US" sz="1500" dirty="0">
                <a:latin typeface="+mn-ea"/>
              </a:rPr>
              <a:t>일：현금배당금 지급</a:t>
            </a:r>
          </a:p>
          <a:p>
            <a:pPr fontAlgn="base"/>
            <a:r>
              <a:rPr lang="en-US" altLang="ko-KR" sz="1500" b="1" dirty="0">
                <a:latin typeface="+mn-ea"/>
              </a:rPr>
              <a:t>   (</a:t>
            </a:r>
            <a:r>
              <a:rPr lang="ko-KR" altLang="en-US" sz="1500" b="1" dirty="0">
                <a:latin typeface="+mn-ea"/>
              </a:rPr>
              <a:t>차</a:t>
            </a:r>
            <a:r>
              <a:rPr lang="en-US" altLang="ko-KR" sz="1500" b="1" dirty="0">
                <a:latin typeface="+mn-ea"/>
              </a:rPr>
              <a:t>)</a:t>
            </a:r>
            <a:r>
              <a:rPr lang="ko-KR" altLang="en-US" sz="1500" b="1" dirty="0">
                <a:latin typeface="+mn-ea"/>
              </a:rPr>
              <a:t> 미지급배당금</a:t>
            </a:r>
            <a:r>
              <a:rPr lang="en-US" altLang="ko-KR" sz="1500" b="1" dirty="0">
                <a:latin typeface="+mn-ea"/>
              </a:rPr>
              <a:t>	 5,000,000</a:t>
            </a:r>
            <a:r>
              <a:rPr lang="ko-KR" altLang="en-US" sz="1500" b="1" dirty="0">
                <a:latin typeface="+mn-ea"/>
              </a:rPr>
              <a:t>	</a:t>
            </a:r>
            <a:r>
              <a:rPr lang="en-US" altLang="ko-KR" sz="1500" b="1" dirty="0">
                <a:latin typeface="+mn-ea"/>
              </a:rPr>
              <a:t>(</a:t>
            </a:r>
            <a:r>
              <a:rPr lang="ko-KR" altLang="en-US" sz="1500" b="1" dirty="0">
                <a:latin typeface="+mn-ea"/>
              </a:rPr>
              <a:t>대</a:t>
            </a:r>
            <a:r>
              <a:rPr lang="en-US" altLang="ko-KR" sz="1500" b="1" dirty="0">
                <a:latin typeface="+mn-ea"/>
              </a:rPr>
              <a:t>) </a:t>
            </a:r>
            <a:r>
              <a:rPr lang="ko-KR" altLang="en-US" sz="1500" b="1" dirty="0">
                <a:latin typeface="+mn-ea"/>
              </a:rPr>
              <a:t>현 금	</a:t>
            </a:r>
            <a:r>
              <a:rPr lang="en-US" altLang="ko-KR" sz="1500" b="1" dirty="0">
                <a:latin typeface="+mn-ea"/>
              </a:rPr>
              <a:t>	5,000,000</a:t>
            </a:r>
            <a:endParaRPr lang="ko-KR" altLang="en-US" sz="1500" b="1" dirty="0">
              <a:latin typeface="+mn-ea"/>
            </a:endParaRPr>
          </a:p>
          <a:p>
            <a:pPr fontAlgn="base"/>
            <a:endParaRPr lang="en-US" sz="1500" dirty="0">
              <a:latin typeface="+mn-ea"/>
            </a:endParaRPr>
          </a:p>
          <a:p>
            <a:pPr fontAlgn="base"/>
            <a:r>
              <a:rPr lang="ko-KR" altLang="en-US" sz="1500" dirty="0">
                <a:latin typeface="+mn-ea"/>
              </a:rPr>
              <a:t>③ </a:t>
            </a:r>
            <a:r>
              <a:rPr lang="en-US" altLang="ko-KR" sz="1500" dirty="0">
                <a:latin typeface="+mn-ea"/>
              </a:rPr>
              <a:t>20×2</a:t>
            </a:r>
            <a:r>
              <a:rPr lang="ko-KR" altLang="en-US" sz="1500" dirty="0">
                <a:latin typeface="+mn-ea"/>
              </a:rPr>
              <a:t>년 </a:t>
            </a:r>
            <a:r>
              <a:rPr lang="en-US" altLang="ko-KR" sz="1500" dirty="0">
                <a:latin typeface="+mn-ea"/>
              </a:rPr>
              <a:t>5</a:t>
            </a:r>
            <a:r>
              <a:rPr lang="ko-KR" altLang="en-US" sz="1500" dirty="0">
                <a:latin typeface="+mn-ea"/>
              </a:rPr>
              <a:t>월 </a:t>
            </a:r>
            <a:r>
              <a:rPr lang="en-US" altLang="ko-KR" sz="1500" dirty="0">
                <a:latin typeface="+mn-ea"/>
              </a:rPr>
              <a:t>1</a:t>
            </a:r>
            <a:r>
              <a:rPr lang="ko-KR" altLang="en-US" sz="1500" dirty="0">
                <a:latin typeface="+mn-ea"/>
              </a:rPr>
              <a:t>일：자기주식 취득</a:t>
            </a:r>
          </a:p>
          <a:p>
            <a:pPr fontAlgn="base"/>
            <a:r>
              <a:rPr lang="en-US" altLang="ko-KR" sz="1500" dirty="0">
                <a:latin typeface="+mn-ea"/>
              </a:rPr>
              <a:t>   </a:t>
            </a:r>
            <a:r>
              <a:rPr lang="en-US" altLang="ko-KR" sz="1500" b="1" dirty="0">
                <a:latin typeface="+mn-ea"/>
              </a:rPr>
              <a:t>(</a:t>
            </a:r>
            <a:r>
              <a:rPr lang="ko-KR" altLang="en-US" sz="1500" b="1" dirty="0">
                <a:latin typeface="+mn-ea"/>
              </a:rPr>
              <a:t>차</a:t>
            </a:r>
            <a:r>
              <a:rPr lang="en-US" altLang="ko-KR" sz="1500" b="1" dirty="0">
                <a:latin typeface="+mn-ea"/>
              </a:rPr>
              <a:t>)</a:t>
            </a:r>
            <a:r>
              <a:rPr lang="ko-KR" altLang="en-US" sz="1500" b="1" dirty="0">
                <a:latin typeface="+mn-ea"/>
              </a:rPr>
              <a:t> 자기주식	   </a:t>
            </a:r>
            <a:r>
              <a:rPr lang="en-US" altLang="ko-KR" sz="1500" b="1" dirty="0">
                <a:latin typeface="+mn-ea"/>
              </a:rPr>
              <a:t>700,000</a:t>
            </a:r>
            <a:r>
              <a:rPr lang="ko-KR" altLang="en-US" sz="1500" b="1" dirty="0">
                <a:latin typeface="+mn-ea"/>
              </a:rPr>
              <a:t>	</a:t>
            </a:r>
            <a:r>
              <a:rPr lang="en-US" altLang="ko-KR" sz="1500" b="1" dirty="0">
                <a:latin typeface="+mn-ea"/>
              </a:rPr>
              <a:t>(</a:t>
            </a:r>
            <a:r>
              <a:rPr lang="ko-KR" altLang="en-US" sz="1500" b="1" dirty="0">
                <a:latin typeface="+mn-ea"/>
              </a:rPr>
              <a:t>대</a:t>
            </a:r>
            <a:r>
              <a:rPr lang="en-US" altLang="ko-KR" sz="1500" b="1" dirty="0">
                <a:latin typeface="+mn-ea"/>
              </a:rPr>
              <a:t>) </a:t>
            </a:r>
            <a:r>
              <a:rPr lang="ko-KR" altLang="en-US" sz="1500" b="1" dirty="0">
                <a:latin typeface="+mn-ea"/>
              </a:rPr>
              <a:t>현 금	</a:t>
            </a:r>
            <a:r>
              <a:rPr lang="en-US" altLang="ko-KR" sz="1500" b="1" dirty="0">
                <a:latin typeface="+mn-ea"/>
              </a:rPr>
              <a:t>	  700,000</a:t>
            </a:r>
          </a:p>
          <a:p>
            <a:pPr fontAlgn="base"/>
            <a:endParaRPr lang="en-US" altLang="ko-KR" sz="1500" dirty="0">
              <a:latin typeface="+mn-ea"/>
            </a:endParaRPr>
          </a:p>
          <a:p>
            <a:pPr fontAlgn="base"/>
            <a:r>
              <a:rPr lang="ko-KR" altLang="en-US" sz="1500" dirty="0">
                <a:latin typeface="+mn-ea"/>
              </a:rPr>
              <a:t>④ </a:t>
            </a:r>
            <a:r>
              <a:rPr lang="en-US" altLang="ko-KR" sz="1500" dirty="0">
                <a:latin typeface="+mn-ea"/>
              </a:rPr>
              <a:t>20×2</a:t>
            </a:r>
            <a:r>
              <a:rPr lang="ko-KR" altLang="en-US" sz="1500" dirty="0">
                <a:latin typeface="+mn-ea"/>
              </a:rPr>
              <a:t>년 </a:t>
            </a:r>
            <a:r>
              <a:rPr lang="en-US" altLang="ko-KR" sz="1500" dirty="0">
                <a:latin typeface="+mn-ea"/>
              </a:rPr>
              <a:t>12</a:t>
            </a:r>
            <a:r>
              <a:rPr lang="ko-KR" altLang="en-US" sz="1500" dirty="0">
                <a:latin typeface="+mn-ea"/>
              </a:rPr>
              <a:t>월 </a:t>
            </a:r>
            <a:r>
              <a:rPr lang="en-US" altLang="ko-KR" sz="1500" dirty="0">
                <a:latin typeface="+mn-ea"/>
              </a:rPr>
              <a:t>31</a:t>
            </a:r>
            <a:r>
              <a:rPr lang="ko-KR" altLang="en-US" sz="1500" dirty="0">
                <a:latin typeface="+mn-ea"/>
              </a:rPr>
              <a:t>일：</a:t>
            </a:r>
            <a:r>
              <a:rPr lang="en-US" altLang="ko-KR" sz="1500" dirty="0">
                <a:latin typeface="+mn-ea"/>
              </a:rPr>
              <a:t>FVOCI </a:t>
            </a:r>
            <a:r>
              <a:rPr lang="ko-KR" altLang="en-US" sz="1500" dirty="0">
                <a:latin typeface="+mn-ea"/>
              </a:rPr>
              <a:t>금융자산평가</a:t>
            </a:r>
          </a:p>
          <a:p>
            <a:pPr fontAlgn="base"/>
            <a:r>
              <a:rPr lang="en-US" altLang="ko-KR" sz="1500" dirty="0">
                <a:latin typeface="+mn-ea"/>
              </a:rPr>
              <a:t>   </a:t>
            </a:r>
            <a:r>
              <a:rPr lang="en-US" altLang="ko-KR" sz="1500" b="1" dirty="0">
                <a:latin typeface="+mn-ea"/>
              </a:rPr>
              <a:t>(</a:t>
            </a:r>
            <a:r>
              <a:rPr lang="ko-KR" altLang="en-US" sz="1500" b="1" dirty="0">
                <a:latin typeface="+mn-ea"/>
              </a:rPr>
              <a:t>차</a:t>
            </a:r>
            <a:r>
              <a:rPr lang="en-US" altLang="ko-KR" sz="1500" b="1" dirty="0">
                <a:latin typeface="+mn-ea"/>
              </a:rPr>
              <a:t>)</a:t>
            </a:r>
            <a:r>
              <a:rPr lang="ko-KR" altLang="en-US" sz="1500" b="1" dirty="0">
                <a:latin typeface="+mn-ea"/>
              </a:rPr>
              <a:t> </a:t>
            </a:r>
            <a:r>
              <a:rPr lang="en-US" altLang="ko-KR" sz="1500" b="1" dirty="0">
                <a:latin typeface="+mn-ea"/>
              </a:rPr>
              <a:t>FVOCI</a:t>
            </a:r>
            <a:r>
              <a:rPr lang="ko-KR" altLang="en-US" sz="1500" b="1" dirty="0">
                <a:latin typeface="+mn-ea"/>
              </a:rPr>
              <a:t>금융자산  </a:t>
            </a:r>
            <a:r>
              <a:rPr lang="en-US" altLang="ko-KR" sz="1500" b="1" dirty="0">
                <a:latin typeface="+mn-ea"/>
              </a:rPr>
              <a:t>600,000	(</a:t>
            </a:r>
            <a:r>
              <a:rPr lang="ko-KR" altLang="en-US" sz="1500" b="1" dirty="0">
                <a:latin typeface="+mn-ea"/>
              </a:rPr>
              <a:t>대</a:t>
            </a:r>
            <a:r>
              <a:rPr lang="en-US" altLang="ko-KR" sz="1500" b="1" dirty="0">
                <a:latin typeface="+mn-ea"/>
              </a:rPr>
              <a:t>) FVOCI</a:t>
            </a:r>
            <a:r>
              <a:rPr lang="ko-KR" altLang="en-US" sz="1500" b="1" dirty="0">
                <a:latin typeface="+mn-ea"/>
              </a:rPr>
              <a:t>금융자산평가이익   </a:t>
            </a:r>
            <a:r>
              <a:rPr lang="en-US" altLang="ko-KR" sz="1500" b="1" dirty="0">
                <a:latin typeface="+mn-ea"/>
              </a:rPr>
              <a:t>600,000</a:t>
            </a:r>
            <a:br>
              <a:rPr lang="ko-KR" altLang="en-US" sz="1500" b="1" dirty="0">
                <a:latin typeface="+mn-ea"/>
              </a:rPr>
            </a:br>
            <a:endParaRPr lang="ko-KR" altLang="en-US" sz="1500" b="1" dirty="0">
              <a:latin typeface="+mn-ea"/>
            </a:endParaRPr>
          </a:p>
          <a:p>
            <a:pPr fontAlgn="base"/>
            <a:r>
              <a:rPr lang="ko-KR" altLang="en-US" sz="1500" dirty="0">
                <a:latin typeface="+mn-ea"/>
              </a:rPr>
              <a:t>⑤ </a:t>
            </a:r>
            <a:r>
              <a:rPr lang="en-US" altLang="ko-KR" sz="1500" dirty="0">
                <a:latin typeface="+mn-ea"/>
              </a:rPr>
              <a:t>20×2</a:t>
            </a:r>
            <a:r>
              <a:rPr lang="ko-KR" altLang="en-US" sz="1500" dirty="0">
                <a:latin typeface="+mn-ea"/>
              </a:rPr>
              <a:t>년 </a:t>
            </a:r>
            <a:r>
              <a:rPr lang="ko-KR" altLang="en-US" sz="1500" dirty="0" err="1">
                <a:latin typeface="+mn-ea"/>
              </a:rPr>
              <a:t>당기순이익</a:t>
            </a:r>
            <a:endParaRPr lang="en-US" altLang="ko-KR" sz="1500" dirty="0">
              <a:latin typeface="+mn-ea"/>
            </a:endParaRPr>
          </a:p>
          <a:p>
            <a:pPr fontAlgn="base"/>
            <a:r>
              <a:rPr lang="en-US" altLang="ko-KR" sz="1500" dirty="0">
                <a:latin typeface="+mn-ea"/>
              </a:rPr>
              <a:t>   </a:t>
            </a:r>
            <a:r>
              <a:rPr lang="en-US" altLang="ko-KR" sz="1500" b="1" dirty="0">
                <a:latin typeface="+mn-ea"/>
              </a:rPr>
              <a:t>(</a:t>
            </a:r>
            <a:r>
              <a:rPr lang="ko-KR" altLang="en-US" sz="1500" b="1" dirty="0">
                <a:latin typeface="+mn-ea"/>
              </a:rPr>
              <a:t>차</a:t>
            </a:r>
            <a:r>
              <a:rPr lang="en-US" altLang="ko-KR" sz="1500" b="1" dirty="0">
                <a:latin typeface="+mn-ea"/>
              </a:rPr>
              <a:t>) </a:t>
            </a:r>
            <a:r>
              <a:rPr lang="ko-KR" altLang="en-US" sz="1500" b="1" dirty="0">
                <a:latin typeface="+mn-ea"/>
              </a:rPr>
              <a:t>집합손익       </a:t>
            </a:r>
            <a:r>
              <a:rPr lang="en-US" altLang="ko-KR" sz="1500" b="1" dirty="0">
                <a:latin typeface="+mn-ea"/>
              </a:rPr>
              <a:t>10,000,000	(</a:t>
            </a:r>
            <a:r>
              <a:rPr lang="ko-KR" altLang="en-US" sz="1500" b="1" dirty="0">
                <a:latin typeface="+mn-ea"/>
              </a:rPr>
              <a:t>대</a:t>
            </a:r>
            <a:r>
              <a:rPr lang="en-US" altLang="ko-KR" sz="1500" b="1" dirty="0">
                <a:latin typeface="+mn-ea"/>
              </a:rPr>
              <a:t>) </a:t>
            </a:r>
            <a:r>
              <a:rPr lang="ko-KR" altLang="en-US" sz="1500" b="1" dirty="0">
                <a:latin typeface="+mn-ea"/>
              </a:rPr>
              <a:t>이익잉여금      </a:t>
            </a:r>
            <a:r>
              <a:rPr lang="en-US" altLang="ko-KR" sz="1500" b="1" dirty="0">
                <a:latin typeface="+mn-ea"/>
              </a:rPr>
              <a:t>10,000,000</a:t>
            </a:r>
            <a:endParaRPr lang="en-US" sz="15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123374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그룹 33"/>
          <p:cNvGrpSpPr/>
          <p:nvPr/>
        </p:nvGrpSpPr>
        <p:grpSpPr>
          <a:xfrm>
            <a:off x="216270" y="1350424"/>
            <a:ext cx="8711460" cy="5050376"/>
            <a:chOff x="190714" y="1320887"/>
            <a:chExt cx="8711460" cy="5050376"/>
          </a:xfrm>
        </p:grpSpPr>
        <p:grpSp>
          <p:nvGrpSpPr>
            <p:cNvPr id="35" name="그룹 34"/>
            <p:cNvGrpSpPr/>
            <p:nvPr/>
          </p:nvGrpSpPr>
          <p:grpSpPr>
            <a:xfrm>
              <a:off x="361935" y="1461499"/>
              <a:ext cx="8540239" cy="4909764"/>
              <a:chOff x="269048" y="1722741"/>
              <a:chExt cx="8648775" cy="4909764"/>
            </a:xfrm>
          </p:grpSpPr>
          <p:sp>
            <p:nvSpPr>
              <p:cNvPr id="44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4886064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5" name="직사각형 44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7" name="그룹 36"/>
            <p:cNvGrpSpPr/>
            <p:nvPr/>
          </p:nvGrpSpPr>
          <p:grpSpPr>
            <a:xfrm>
              <a:off x="190714" y="1320887"/>
              <a:ext cx="2882744" cy="326950"/>
              <a:chOff x="190714" y="1320889"/>
              <a:chExt cx="2465967" cy="290352"/>
            </a:xfrm>
            <a:solidFill>
              <a:srgbClr val="2D61C8"/>
            </a:solidFill>
          </p:grpSpPr>
          <p:grpSp>
            <p:nvGrpSpPr>
              <p:cNvPr id="38" name="그룹 37"/>
              <p:cNvGrpSpPr/>
              <p:nvPr/>
            </p:nvGrpSpPr>
            <p:grpSpPr>
              <a:xfrm>
                <a:off x="190714" y="1320889"/>
                <a:ext cx="2465967" cy="290352"/>
                <a:chOff x="405822" y="2237753"/>
                <a:chExt cx="2465967" cy="290352"/>
              </a:xfrm>
              <a:grpFill/>
            </p:grpSpPr>
            <p:sp>
              <p:nvSpPr>
                <p:cNvPr id="40" name="타원 39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" name="타원 40"/>
                <p:cNvSpPr/>
                <p:nvPr/>
              </p:nvSpPr>
              <p:spPr>
                <a:xfrm>
                  <a:off x="2581438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" name="직사각형 41"/>
                <p:cNvSpPr/>
                <p:nvPr/>
              </p:nvSpPr>
              <p:spPr>
                <a:xfrm>
                  <a:off x="542511" y="2237753"/>
                  <a:ext cx="2149725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10-5</a:t>
                  </a:r>
                  <a:r>
                    <a:rPr lang="en-US" altLang="ko-KR" sz="1600" b="1" dirty="0"/>
                    <a:t> </a:t>
                  </a:r>
                  <a:r>
                    <a:rPr lang="ko-KR" altLang="en-US" sz="1600" b="1" dirty="0"/>
                    <a:t>자본변동표</a:t>
                  </a:r>
                </a:p>
              </p:txBody>
            </p:sp>
            <p:sp>
              <p:nvSpPr>
                <p:cNvPr id="43" name="타원 42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9" name="그림 38" descr="Log in | Sign Up Upload Clipart"/>
              <p:cNvPicPr>
                <a:picLocks noChangeAspect="1"/>
              </p:cNvPicPr>
              <p:nvPr/>
            </p:nvPicPr>
            <p:blipFill>
              <a:blip r:embed="rId2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475396" y="1773297"/>
            <a:ext cx="8646635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sz="1500" dirty="0">
                <a:latin typeface="+mn-ea"/>
              </a:rPr>
              <a:t>위의 회계처리를 반영하여 </a:t>
            </a:r>
            <a:r>
              <a:rPr lang="en-US" altLang="ko-KR" sz="1500" dirty="0">
                <a:latin typeface="+mn-ea"/>
              </a:rPr>
              <a:t>20x2</a:t>
            </a:r>
            <a:r>
              <a:rPr lang="ko-KR" altLang="en-US" sz="1500" dirty="0">
                <a:latin typeface="+mn-ea"/>
              </a:rPr>
              <a:t>년의 자본변동표를 작성하면 다음과 같다</a:t>
            </a:r>
            <a:r>
              <a:rPr lang="en-US" altLang="ko-KR" sz="1500" dirty="0">
                <a:latin typeface="+mn-ea"/>
              </a:rPr>
              <a:t>.</a:t>
            </a:r>
            <a:endParaRPr lang="en-US" sz="1500" dirty="0">
              <a:latin typeface="+mn-ea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080195"/>
              </p:ext>
            </p:extLst>
          </p:nvPr>
        </p:nvGraphicFramePr>
        <p:xfrm>
          <a:off x="376061" y="2526865"/>
          <a:ext cx="8360354" cy="3272820"/>
        </p:xfrm>
        <a:graphic>
          <a:graphicData uri="http://schemas.openxmlformats.org/drawingml/2006/table">
            <a:tbl>
              <a:tblPr/>
              <a:tblGrid>
                <a:gridCol w="1715462">
                  <a:extLst>
                    <a:ext uri="{9D8B030D-6E8A-4147-A177-3AD203B41FA5}">
                      <a16:colId xmlns:a16="http://schemas.microsoft.com/office/drawing/2014/main" val="518798941"/>
                    </a:ext>
                  </a:extLst>
                </a:gridCol>
                <a:gridCol w="47757">
                  <a:extLst>
                    <a:ext uri="{9D8B030D-6E8A-4147-A177-3AD203B41FA5}">
                      <a16:colId xmlns:a16="http://schemas.microsoft.com/office/drawing/2014/main" val="193255235"/>
                    </a:ext>
                  </a:extLst>
                </a:gridCol>
                <a:gridCol w="896695">
                  <a:extLst>
                    <a:ext uri="{9D8B030D-6E8A-4147-A177-3AD203B41FA5}">
                      <a16:colId xmlns:a16="http://schemas.microsoft.com/office/drawing/2014/main" val="2259863258"/>
                    </a:ext>
                  </a:extLst>
                </a:gridCol>
                <a:gridCol w="168653">
                  <a:extLst>
                    <a:ext uri="{9D8B030D-6E8A-4147-A177-3AD203B41FA5}">
                      <a16:colId xmlns:a16="http://schemas.microsoft.com/office/drawing/2014/main" val="2925819971"/>
                    </a:ext>
                  </a:extLst>
                </a:gridCol>
                <a:gridCol w="1420897">
                  <a:extLst>
                    <a:ext uri="{9D8B030D-6E8A-4147-A177-3AD203B41FA5}">
                      <a16:colId xmlns:a16="http://schemas.microsoft.com/office/drawing/2014/main" val="2477924695"/>
                    </a:ext>
                  </a:extLst>
                </a:gridCol>
                <a:gridCol w="74485">
                  <a:extLst>
                    <a:ext uri="{9D8B030D-6E8A-4147-A177-3AD203B41FA5}">
                      <a16:colId xmlns:a16="http://schemas.microsoft.com/office/drawing/2014/main" val="1360894785"/>
                    </a:ext>
                  </a:extLst>
                </a:gridCol>
                <a:gridCol w="1119765">
                  <a:extLst>
                    <a:ext uri="{9D8B030D-6E8A-4147-A177-3AD203B41FA5}">
                      <a16:colId xmlns:a16="http://schemas.microsoft.com/office/drawing/2014/main" val="1393796829"/>
                    </a:ext>
                  </a:extLst>
                </a:gridCol>
                <a:gridCol w="1578669">
                  <a:extLst>
                    <a:ext uri="{9D8B030D-6E8A-4147-A177-3AD203B41FA5}">
                      <a16:colId xmlns:a16="http://schemas.microsoft.com/office/drawing/2014/main" val="3406122749"/>
                    </a:ext>
                  </a:extLst>
                </a:gridCol>
                <a:gridCol w="221556">
                  <a:extLst>
                    <a:ext uri="{9D8B030D-6E8A-4147-A177-3AD203B41FA5}">
                      <a16:colId xmlns:a16="http://schemas.microsoft.com/office/drawing/2014/main" val="2209864032"/>
                    </a:ext>
                  </a:extLst>
                </a:gridCol>
                <a:gridCol w="1116415">
                  <a:extLst>
                    <a:ext uri="{9D8B030D-6E8A-4147-A177-3AD203B41FA5}">
                      <a16:colId xmlns:a16="http://schemas.microsoft.com/office/drawing/2014/main" val="996100764"/>
                    </a:ext>
                  </a:extLst>
                </a:gridCol>
              </a:tblGrid>
              <a:tr h="204683">
                <a:tc gridSpan="10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                       자본변동표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(20×2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en-US" altLang="ko-KR" sz="1400" b="1" kern="0" spc="-3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                     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kern="0" spc="-3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단위：천원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kern="0" spc="-30" dirty="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641746"/>
                  </a:ext>
                </a:extLst>
              </a:tr>
              <a:tr h="63683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 분</a:t>
                      </a:r>
                      <a:endParaRPr lang="ko-KR" altLang="en-US" sz="1400" b="1" kern="0" spc="-100" dirty="0">
                        <a:solidFill>
                          <a:srgbClr val="5D5D5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b="1" kern="0" spc="-100" dirty="0">
                        <a:solidFill>
                          <a:srgbClr val="5D5D5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납입자본</a:t>
                      </a:r>
                      <a:endParaRPr lang="ko-KR" altLang="en-US" sz="1400" b="1" kern="0" spc="-100" dirty="0">
                        <a:solidFill>
                          <a:srgbClr val="5D5D5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b="1" kern="0" spc="-100" dirty="0">
                        <a:solidFill>
                          <a:srgbClr val="5D5D5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이익잉여금</a:t>
                      </a:r>
                      <a:endParaRPr lang="ko-KR" altLang="en-US" sz="1400" b="1" kern="0" spc="-100" dirty="0">
                        <a:solidFill>
                          <a:srgbClr val="5D5D5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b="1" kern="0" spc="-100" dirty="0">
                        <a:solidFill>
                          <a:srgbClr val="5D5D5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자기주식</a:t>
                      </a:r>
                      <a:endParaRPr lang="en-US" altLang="ko-KR" sz="14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100" dirty="0">
                          <a:solidFill>
                            <a:srgbClr val="5D5D5D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b="1" kern="0" spc="-100" dirty="0">
                          <a:solidFill>
                            <a:srgbClr val="5D5D5D"/>
                          </a:solidFill>
                          <a:effectLst/>
                          <a:latin typeface="+mn-ea"/>
                          <a:ea typeface="+mn-ea"/>
                        </a:rPr>
                        <a:t>자본조정</a:t>
                      </a:r>
                      <a:r>
                        <a:rPr lang="en-US" altLang="ko-KR" sz="1400" b="1" kern="0" spc="-100" dirty="0">
                          <a:solidFill>
                            <a:srgbClr val="5D5D5D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b="1" kern="0" spc="-100" dirty="0">
                        <a:solidFill>
                          <a:srgbClr val="5D5D5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FVOCI 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금융자산 평가손익</a:t>
                      </a:r>
                      <a:endParaRPr lang="en-US" altLang="ko-KR" sz="1400" b="1" kern="0" spc="-100" baseline="300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100" dirty="0">
                          <a:solidFill>
                            <a:srgbClr val="5D5D5D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b="1" kern="0" spc="-100" dirty="0" err="1">
                          <a:solidFill>
                            <a:srgbClr val="5D5D5D"/>
                          </a:solidFill>
                          <a:effectLst/>
                          <a:latin typeface="+mn-ea"/>
                          <a:ea typeface="+mn-ea"/>
                        </a:rPr>
                        <a:t>기타포괄손익누계액</a:t>
                      </a:r>
                      <a:r>
                        <a:rPr lang="en-US" altLang="ko-KR" sz="1400" b="1" kern="0" spc="-100" dirty="0">
                          <a:solidFill>
                            <a:srgbClr val="5D5D5D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b="1" kern="0" spc="-100" dirty="0">
                        <a:solidFill>
                          <a:srgbClr val="5D5D5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1" dirty="0">
                        <a:latin typeface="+mn-ea"/>
                        <a:ea typeface="+mn-ea"/>
                      </a:endParaRPr>
                    </a:p>
                  </a:txBody>
                  <a:tcPr marL="7959" marR="7959" marT="7959" marB="7959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총 계</a:t>
                      </a:r>
                      <a:endParaRPr lang="ko-KR" altLang="en-US" sz="1400" b="1" kern="0" spc="-100" dirty="0">
                        <a:solidFill>
                          <a:srgbClr val="5D5D5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734406"/>
                  </a:ext>
                </a:extLst>
              </a:tr>
              <a:tr h="365433">
                <a:tc>
                  <a:txBody>
                    <a:bodyPr/>
                    <a:lstStyle/>
                    <a:p>
                      <a:pPr marL="63500" marR="0" indent="0" algn="ctr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20×2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  <a:endParaRPr lang="ko-KR" altLang="en-US" sz="1400" kern="0" spc="-30" dirty="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0" spc="-30" dirty="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889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￦55,000</a:t>
                      </a:r>
                      <a:endParaRPr lang="en-US" sz="1400" kern="0" spc="-30" dirty="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0" spc="-30" dirty="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397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￦30,000</a:t>
                      </a:r>
                      <a:endParaRPr lang="en-US" sz="1400" kern="0" spc="-30" dirty="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0" spc="-30" dirty="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9718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￦1,000</a:t>
                      </a:r>
                      <a:endParaRPr lang="en-US" sz="1400" kern="0" spc="-30" dirty="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889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￦86,000</a:t>
                      </a:r>
                      <a:endParaRPr lang="en-US" sz="1400" kern="0" spc="-30" dirty="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2770010"/>
                  </a:ext>
                </a:extLst>
              </a:tr>
              <a:tr h="365433">
                <a:tc>
                  <a:txBody>
                    <a:bodyPr/>
                    <a:lstStyle/>
                    <a:p>
                      <a:pPr marL="63500" marR="0" indent="0" algn="ctr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27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유상증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</a:t>
                      </a:r>
                      <a:endParaRPr lang="ko-KR" altLang="en-US" sz="1400" kern="0" spc="-30" dirty="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0" spc="-3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508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6,000 </a:t>
                      </a:r>
                      <a:endParaRPr lang="en-US" sz="1400" kern="0" spc="-30" dirty="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0" spc="-30" dirty="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397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0" spc="-30" dirty="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0" spc="-3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9718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0" spc="-30" dirty="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889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6,000</a:t>
                      </a:r>
                      <a:endParaRPr lang="en-US" sz="1400" kern="0" spc="-30" dirty="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3784341"/>
                  </a:ext>
                </a:extLst>
              </a:tr>
              <a:tr h="365433">
                <a:tc>
                  <a:txBody>
                    <a:bodyPr/>
                    <a:lstStyle/>
                    <a:p>
                      <a:pPr marL="63500" marR="0" indent="0" algn="ctr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27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현금배</a:t>
                      </a:r>
                      <a:r>
                        <a:rPr lang="ko-KR" altLang="en-US" sz="1400" kern="0" spc="-3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당</a:t>
                      </a:r>
                      <a:endParaRPr lang="ko-KR" altLang="en-US" sz="1400" kern="0" spc="-3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0" spc="-3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889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0" spc="-30" dirty="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0" spc="-30" dirty="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016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(5,000)</a:t>
                      </a:r>
                      <a:endParaRPr lang="en-US" sz="1400" kern="0" spc="-30" dirty="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0" spc="-3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9718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0" spc="-30" dirty="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508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(5,000)</a:t>
                      </a:r>
                      <a:endParaRPr lang="en-US" sz="1400" kern="0" spc="-30" dirty="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6537931"/>
                  </a:ext>
                </a:extLst>
              </a:tr>
              <a:tr h="365433">
                <a:tc>
                  <a:txBody>
                    <a:bodyPr/>
                    <a:lstStyle/>
                    <a:p>
                      <a:pPr marL="63500" marR="0" indent="0" algn="ctr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자기주식 취득</a:t>
                      </a:r>
                      <a:endParaRPr lang="ko-KR" altLang="en-US" sz="1400" kern="0" spc="-30" dirty="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0" spc="-3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889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0" spc="-3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0" spc="-3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397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0" spc="-30" dirty="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0" spc="-30" dirty="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651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(￦700)</a:t>
                      </a:r>
                      <a:endParaRPr lang="en-US" sz="1400" kern="0" spc="-30" dirty="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9718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0" spc="-30" dirty="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508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(700)</a:t>
                      </a:r>
                      <a:endParaRPr lang="en-US" sz="1400" kern="0" spc="-30" dirty="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408159"/>
                  </a:ext>
                </a:extLst>
              </a:tr>
              <a:tr h="365433">
                <a:tc>
                  <a:txBody>
                    <a:bodyPr/>
                    <a:lstStyle/>
                    <a:p>
                      <a:pPr marL="63500" marR="0" indent="0" algn="ctr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총포괄손익</a:t>
                      </a:r>
                      <a:endParaRPr lang="ko-KR" altLang="en-US" sz="1400" kern="0" spc="-3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0" spc="-3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889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0" spc="-3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0" spc="-3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397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10,000</a:t>
                      </a:r>
                      <a:endParaRPr lang="en-US" sz="1400" kern="0" spc="-30" dirty="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0" spc="-3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297180" indent="0" algn="r" fontAlgn="base" latinLnBrk="0">
                        <a:lnSpc>
                          <a:spcPct val="1510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600</a:t>
                      </a:r>
                      <a:endParaRPr lang="en-US" sz="1400" kern="0" spc="-30" dirty="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889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10,600</a:t>
                      </a:r>
                      <a:endParaRPr lang="en-US" sz="1400" kern="0" spc="-30" dirty="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6586450"/>
                  </a:ext>
                </a:extLst>
              </a:tr>
              <a:tr h="365433">
                <a:tc>
                  <a:txBody>
                    <a:bodyPr/>
                    <a:lstStyle/>
                    <a:p>
                      <a:pPr marL="63500" marR="0" indent="0" algn="ctr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20×2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31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  <a:endParaRPr lang="ko-KR" altLang="en-US" sz="1400" kern="0" spc="-30" dirty="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0" spc="-3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889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3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￦61,000</a:t>
                      </a:r>
                      <a:endParaRPr lang="en-US" sz="1400" kern="0" spc="-3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0" spc="-3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397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￦35,000</a:t>
                      </a:r>
                      <a:endParaRPr lang="en-US" sz="1400" kern="0" spc="-30" dirty="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kern="0" spc="-30" dirty="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651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(￦700)</a:t>
                      </a:r>
                      <a:endParaRPr lang="en-US" sz="1400" kern="0" spc="-30" dirty="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29718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￦1,600</a:t>
                      </a:r>
                      <a:endParaRPr lang="en-US" sz="1400" kern="0" spc="-30" dirty="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889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￦96,900</a:t>
                      </a:r>
                      <a:endParaRPr lang="en-US" sz="1400" kern="0" spc="-30" dirty="0">
                        <a:solidFill>
                          <a:srgbClr val="35353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9" marR="7959" marT="7959" marB="7959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5692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7378090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x.1 - 2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x.2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x.2 - 2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x.2 - 3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x.2 - 4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x.3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x.3 - 2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x.3 - 3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x.4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x.4 - 2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x.4 - 3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x.5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2905</Words>
  <Application>Microsoft Office PowerPoint</Application>
  <PresentationFormat>화면 슬라이드 쇼(4:3)</PresentationFormat>
  <Paragraphs>585</Paragraphs>
  <Slides>32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14</vt:i4>
      </vt:variant>
      <vt:variant>
        <vt:lpstr>슬라이드 제목</vt:lpstr>
      </vt:variant>
      <vt:variant>
        <vt:i4>32</vt:i4>
      </vt:variant>
    </vt:vector>
  </HeadingPairs>
  <TitlesOfParts>
    <vt:vector size="55" baseType="lpstr">
      <vt:lpstr>HY견고딕</vt:lpstr>
      <vt:lpstr>굴림</vt:lpstr>
      <vt:lpstr>맑은 고딕</vt:lpstr>
      <vt:lpstr>한양신명조</vt:lpstr>
      <vt:lpstr>함초롬바탕 확장</vt:lpstr>
      <vt:lpstr>휴먼고딕</vt:lpstr>
      <vt:lpstr>Arial</vt:lpstr>
      <vt:lpstr>Calibri</vt:lpstr>
      <vt:lpstr>Wingdings</vt:lpstr>
      <vt:lpstr>디자인 사용자 지정</vt:lpstr>
      <vt:lpstr>x.1 - 1.</vt:lpstr>
      <vt:lpstr>x.1 - 2.</vt:lpstr>
      <vt:lpstr>x.2 - 1.</vt:lpstr>
      <vt:lpstr>x.2 - 2.</vt:lpstr>
      <vt:lpstr>x.2 - 3.</vt:lpstr>
      <vt:lpstr>x.2 - 4.</vt:lpstr>
      <vt:lpstr>x.3 - 1.</vt:lpstr>
      <vt:lpstr>x.3 - 2.</vt:lpstr>
      <vt:lpstr>x.3 - 3.</vt:lpstr>
      <vt:lpstr>x.4 - 1.</vt:lpstr>
      <vt:lpstr>x.4 - 2.</vt:lpstr>
      <vt:lpstr>x.4 - 3.</vt:lpstr>
      <vt:lpstr>x.5 - 1.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석주 이</cp:lastModifiedBy>
  <cp:revision>1</cp:revision>
  <dcterms:created xsi:type="dcterms:W3CDTF">2024-07-23T07:27:42Z</dcterms:created>
  <dcterms:modified xsi:type="dcterms:W3CDTF">2025-12-06T04:28:21Z</dcterms:modified>
</cp:coreProperties>
</file>