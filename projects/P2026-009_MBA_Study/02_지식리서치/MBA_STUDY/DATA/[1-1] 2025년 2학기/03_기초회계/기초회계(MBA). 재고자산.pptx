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심충진" userId="83676dba-725a-4e9d-823a-e74925ec286f" providerId="ADAL" clId="{6D2B3CE7-A624-40DC-8FAE-420068AAD98C}"/>
    <pc:docChg chg="modSld">
      <pc:chgData name="심충진" userId="83676dba-725a-4e9d-823a-e74925ec286f" providerId="ADAL" clId="{6D2B3CE7-A624-40DC-8FAE-420068AAD98C}" dt="2025-10-18T03:50:05.402" v="1" actId="1076"/>
      <pc:docMkLst>
        <pc:docMk/>
      </pc:docMkLst>
      <pc:sldChg chg="modSp mod">
        <pc:chgData name="심충진" userId="83676dba-725a-4e9d-823a-e74925ec286f" providerId="ADAL" clId="{6D2B3CE7-A624-40DC-8FAE-420068AAD98C}" dt="2025-10-18T03:50:05.402" v="1" actId="1076"/>
        <pc:sldMkLst>
          <pc:docMk/>
          <pc:sldMk cId="3663276972" sldId="258"/>
        </pc:sldMkLst>
        <pc:spChg chg="mod">
          <ac:chgData name="심충진" userId="83676dba-725a-4e9d-823a-e74925ec286f" providerId="ADAL" clId="{6D2B3CE7-A624-40DC-8FAE-420068AAD98C}" dt="2025-10-18T03:50:05.402" v="1" actId="1076"/>
          <ac:spMkLst>
            <pc:docMk/>
            <pc:sldMk cId="3663276972" sldId="258"/>
            <ac:spMk id="5" creationId="{603C0860-AE48-6B3B-93B3-E1A7A5E17B2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53BF-BF3B-4417-2083-1027E3C01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ED3B6-93DD-D645-485A-757889F5A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C2A31-4CDB-8627-149D-27A80AE0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08E1-9E45-4727-ACC5-52FD5E40B222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EF0B7-7818-DC89-8244-3B989B4A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EAB89-3008-7381-DB8B-35B717491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0ED7-CAAB-4513-AD64-3FF58728C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753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08F6-574E-F5D1-F6C3-E69AE9239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9C666-3621-3055-3785-D536DE5AE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4C542-96B5-65D5-3AFE-76DCF1BA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08E1-9E45-4727-ACC5-52FD5E40B222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4D0F7-9B76-26CC-9083-F85A82F6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2D7D8-6167-A53D-1FAE-E38B5DBB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0ED7-CAAB-4513-AD64-3FF58728C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3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2B5D-86B5-E720-BA06-FDD75E51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81255-3745-C816-9AD5-037F4824E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F01AC-BAD7-FC0C-6632-6B65F6FD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08E1-9E45-4727-ACC5-52FD5E40B222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79DCF-D725-87DF-1D09-3D55EC872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8CF70-D0B3-17CC-14FF-B0443A1E5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0ED7-CAAB-4513-AD64-3FF58728C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4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77888-4329-A228-7388-D8B8F539D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3AE05-F6D0-CC81-92A1-522F6544A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59D58-843A-7114-574E-3F8E4A983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FFC5A-F811-5D1E-C4F2-BE1E8D455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08E1-9E45-4727-ACC5-52FD5E40B222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AB4F9-C21A-8D8C-2D2B-02D93AF4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FD407-4047-3160-60E7-0F2820A1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0ED7-CAAB-4513-AD64-3FF58728C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463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7A8F-14CC-8FEA-18B8-3DE633A06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E1499-FF86-FCDA-EBF3-E49254A4C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79B6E-BBD6-081F-1C15-76F91ED50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721ED-796D-DA08-4F8A-332990758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C34959-97F1-76EA-6BD7-0FB424B18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134C0-97DD-FB46-C5DA-A3BE5436F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08E1-9E45-4727-ACC5-52FD5E40B222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1F08A-B6B1-78EA-DBD9-11F0EDC5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E1C58D-A11F-E073-72B9-F09BE301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0ED7-CAAB-4513-AD64-3FF58728C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668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D32C3-0C08-F648-537B-2D2BFC4FF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2162D-024E-31D2-8FD6-131C5385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08E1-9E45-4727-ACC5-52FD5E40B222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560548-6FB3-9F63-DA46-4EF8F7CC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5FA47-EF60-781F-D6FC-320CDF99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0ED7-CAAB-4513-AD64-3FF58728C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04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AF02F6-CA16-6CCC-3B0C-84D7A7C46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08E1-9E45-4727-ACC5-52FD5E40B222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CA8A06-A09E-5753-2C9C-BB87F843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75806-6508-57F9-D5A2-6ED7248D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0ED7-CAAB-4513-AD64-3FF58728C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069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F8298-E648-F3CE-B202-DEA3BFCD2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79C06-1D73-BC55-0687-663CC68DA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F53AA-507F-2DE4-7CE2-ADFEC69A7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CB218-ACC1-99FB-32F3-0B1AA1EB7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08E1-9E45-4727-ACC5-52FD5E40B222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0871E-724A-0B4E-B432-C78AA171F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DD3DF-0D55-0900-0C61-ED4BF3E46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0ED7-CAAB-4513-AD64-3FF58728C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805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22BF-0BB2-67F6-AB04-8826670D3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B2BD5-8D65-63AE-5E10-C3B484F940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3C1F3-E4B5-505A-BE5E-CA620AF16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3FA3C-0B14-DDA6-0F0A-515C5F996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08E1-9E45-4727-ACC5-52FD5E40B222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729D5-9444-EB99-DEA3-AC21C9B7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0D453-F4AE-B4D4-B542-4FB2A789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0ED7-CAAB-4513-AD64-3FF58728C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379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04B17-CC07-FD56-6810-D1EBBE165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12F59-B19D-DA0B-1F66-12FC642BD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7A431-43FE-E5D6-53F1-877B7B1F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08E1-9E45-4727-ACC5-52FD5E40B222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14991-1C91-27AD-6EA1-4B7CE2065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9F9FA-1ACF-44BB-EE51-F2E526D4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0ED7-CAAB-4513-AD64-3FF58728C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462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99A2C-A3C0-D917-5A01-EA6B9D6A6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22D60-F7A2-94FA-D197-7BE2DC91D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93A90-D123-5B4A-48AA-28F310CC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08E1-9E45-4727-ACC5-52FD5E40B222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DF137-9AB8-75C5-1244-90B97D204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6BA4C-0FBF-7D70-B9C6-EFEEB0EA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0ED7-CAAB-4513-AD64-3FF58728C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42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D9AB5D-190D-EE4E-B865-5FA61F6EA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4DF80-5191-4D17-6229-E9BCD8ED2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49F5C-D328-0E53-48D5-60B4217FC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5708E1-9E45-4727-ACC5-52FD5E40B222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9C731-D382-98AD-CA7F-D104CB500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B9F60-BA15-6702-1030-DB49FDDAC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40ED7-CAAB-4513-AD64-3FF58728C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279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55EC-FDBA-3BBC-A2E7-406A9162F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ko-KR" altLang="en-US" dirty="0"/>
              <a:t>기초회계</a:t>
            </a:r>
            <a:r>
              <a:rPr lang="en-US" altLang="ko-KR" dirty="0"/>
              <a:t>(MBA)</a:t>
            </a: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48B0F9-7299-1ABA-AD2B-C18330FC07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altLang="ko-KR" dirty="0"/>
          </a:p>
          <a:p>
            <a:r>
              <a:rPr lang="ko-KR" altLang="en-US" dirty="0"/>
              <a:t>재고자산</a:t>
            </a:r>
            <a:r>
              <a:rPr lang="en-US" altLang="ko-KR" dirty="0"/>
              <a:t>: </a:t>
            </a:r>
            <a:r>
              <a:rPr lang="ko-KR" altLang="en-US" dirty="0"/>
              <a:t>물량의 흐름과 가격결정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2025.10.</a:t>
            </a:r>
          </a:p>
          <a:p>
            <a:endParaRPr lang="en-US" altLang="ko-KR" dirty="0"/>
          </a:p>
          <a:p>
            <a:r>
              <a:rPr lang="ko-KR" altLang="en-US" dirty="0"/>
              <a:t>담당교수 심충진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7779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B8C1-7B54-D691-A0E6-A143CC7215B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ko-KR" altLang="en-US" dirty="0"/>
              <a:t>재고자산의 흐름</a:t>
            </a:r>
            <a:r>
              <a:rPr lang="en-US" altLang="ko-KR" dirty="0"/>
              <a:t>: FIFO(first-in first-out)</a:t>
            </a:r>
            <a:br>
              <a:rPr lang="en-US" altLang="ko-KR" dirty="0"/>
            </a:br>
            <a:r>
              <a:rPr lang="en-US" altLang="ko-KR" dirty="0"/>
              <a:t>                        + </a:t>
            </a:r>
            <a:r>
              <a:rPr lang="ko-KR" altLang="en-US" dirty="0"/>
              <a:t>실지재고조사법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45DD9-475E-27EA-7BF3-ECD59AC18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ko-KR" altLang="en-US" dirty="0"/>
              <a:t>사과 구입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판매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56CB318-E057-9FC4-71F4-1F532658427F}"/>
              </a:ext>
            </a:extLst>
          </p:cNvPr>
          <p:cNvGrpSpPr/>
          <p:nvPr/>
        </p:nvGrpSpPr>
        <p:grpSpPr>
          <a:xfrm>
            <a:off x="1609718" y="2693200"/>
            <a:ext cx="3829050" cy="2600320"/>
            <a:chOff x="1600200" y="2674943"/>
            <a:chExt cx="3829050" cy="260032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37FF433-9FE6-0787-FAD2-674279138EE2}"/>
                </a:ext>
              </a:extLst>
            </p:cNvPr>
            <p:cNvCxnSpPr>
              <a:cxnSpLocks/>
            </p:cNvCxnSpPr>
            <p:nvPr/>
          </p:nvCxnSpPr>
          <p:spPr>
            <a:xfrm>
              <a:off x="1600200" y="5275263"/>
              <a:ext cx="3829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BE48F54-BFB4-F1FB-7BA1-64DE9834CCE1}"/>
                </a:ext>
              </a:extLst>
            </p:cNvPr>
            <p:cNvGrpSpPr/>
            <p:nvPr/>
          </p:nvGrpSpPr>
          <p:grpSpPr>
            <a:xfrm>
              <a:off x="1600200" y="2674943"/>
              <a:ext cx="3419471" cy="2600320"/>
              <a:chOff x="1600200" y="2674943"/>
              <a:chExt cx="3419471" cy="2600320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04A540FC-EF5F-BBFD-85B1-07B56C707418}"/>
                  </a:ext>
                </a:extLst>
              </p:cNvPr>
              <p:cNvCxnSpPr/>
              <p:nvPr/>
            </p:nvCxnSpPr>
            <p:spPr>
              <a:xfrm flipV="1">
                <a:off x="1600200" y="2722563"/>
                <a:ext cx="0" cy="25527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0D2E3E6-A50F-9115-6DA3-C936D148E109}"/>
                  </a:ext>
                </a:extLst>
              </p:cNvPr>
              <p:cNvGrpSpPr/>
              <p:nvPr/>
            </p:nvGrpSpPr>
            <p:grpSpPr>
              <a:xfrm>
                <a:off x="1971675" y="2674943"/>
                <a:ext cx="3047996" cy="2047865"/>
                <a:chOff x="1971675" y="2674943"/>
                <a:chExt cx="3047996" cy="2047865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4DF92F64-4CA4-53EF-4B6D-4E71F9270475}"/>
                    </a:ext>
                  </a:extLst>
                </p:cNvPr>
                <p:cNvSpPr/>
                <p:nvPr/>
              </p:nvSpPr>
              <p:spPr>
                <a:xfrm>
                  <a:off x="1971675" y="4179888"/>
                  <a:ext cx="838193" cy="54292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100</a:t>
                  </a:r>
                  <a:endParaRPr lang="ko-KR" altLang="en-US" dirty="0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05EFE493-BC43-131A-8BEB-4001DD400D91}"/>
                    </a:ext>
                  </a:extLst>
                </p:cNvPr>
                <p:cNvGrpSpPr/>
                <p:nvPr/>
              </p:nvGrpSpPr>
              <p:grpSpPr>
                <a:xfrm>
                  <a:off x="3081348" y="2674943"/>
                  <a:ext cx="1938323" cy="1379533"/>
                  <a:chOff x="3081348" y="2674943"/>
                  <a:chExt cx="1938323" cy="1379533"/>
                </a:xfrm>
              </p:grpSpPr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A28A59A3-DEA4-32C3-A5E0-F4CB1D0D687E}"/>
                      </a:ext>
                    </a:extLst>
                  </p:cNvPr>
                  <p:cNvSpPr/>
                  <p:nvPr/>
                </p:nvSpPr>
                <p:spPr>
                  <a:xfrm>
                    <a:off x="3081348" y="3392491"/>
                    <a:ext cx="838193" cy="661985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150</a:t>
                    </a:r>
                    <a:endParaRPr lang="ko-KR" altLang="en-US" dirty="0"/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93B27EB9-D6FD-7BDD-09BB-E503611AA229}"/>
                      </a:ext>
                    </a:extLst>
                  </p:cNvPr>
                  <p:cNvSpPr/>
                  <p:nvPr/>
                </p:nvSpPr>
                <p:spPr>
                  <a:xfrm>
                    <a:off x="4181478" y="2674943"/>
                    <a:ext cx="838193" cy="661985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200</a:t>
                    </a:r>
                    <a:endParaRPr lang="ko-KR" altLang="en-US" dirty="0"/>
                  </a:p>
                </p:txBody>
              </p:sp>
            </p:grpSp>
          </p:grpSp>
        </p:grp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5BEF07-E081-A9C2-8D11-D9DED5DAA354}"/>
              </a:ext>
            </a:extLst>
          </p:cNvPr>
          <p:cNvCxnSpPr>
            <a:cxnSpLocks/>
          </p:cNvCxnSpPr>
          <p:nvPr/>
        </p:nvCxnSpPr>
        <p:spPr>
          <a:xfrm>
            <a:off x="5876925" y="5293520"/>
            <a:ext cx="3829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EC84D5-0ACE-53E4-5D9D-0388DF2D7B82}"/>
              </a:ext>
            </a:extLst>
          </p:cNvPr>
          <p:cNvCxnSpPr/>
          <p:nvPr/>
        </p:nvCxnSpPr>
        <p:spPr>
          <a:xfrm flipV="1">
            <a:off x="5876925" y="2740820"/>
            <a:ext cx="0" cy="2552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3E60B13-243C-66F7-1E0B-57008ED10E81}"/>
              </a:ext>
            </a:extLst>
          </p:cNvPr>
          <p:cNvSpPr/>
          <p:nvPr/>
        </p:nvSpPr>
        <p:spPr>
          <a:xfrm>
            <a:off x="9144007" y="2628905"/>
            <a:ext cx="838193" cy="6619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9DAD90-08C7-3795-33BE-D5D83E9A3B96}"/>
              </a:ext>
            </a:extLst>
          </p:cNvPr>
          <p:cNvSpPr txBox="1"/>
          <p:nvPr/>
        </p:nvSpPr>
        <p:spPr>
          <a:xfrm>
            <a:off x="7096125" y="2740820"/>
            <a:ext cx="235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기말</a:t>
            </a:r>
            <a:r>
              <a:rPr lang="en-US" altLang="ko-KR" dirty="0"/>
              <a:t>: </a:t>
            </a:r>
            <a:r>
              <a:rPr lang="ko-KR" altLang="en-US" dirty="0"/>
              <a:t>사과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146A6A-50A9-52F1-C50C-9677913C3708}"/>
              </a:ext>
            </a:extLst>
          </p:cNvPr>
          <p:cNvSpPr txBox="1"/>
          <p:nvPr/>
        </p:nvSpPr>
        <p:spPr>
          <a:xfrm>
            <a:off x="4819651" y="5467350"/>
            <a:ext cx="78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12/31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92ED13-0515-2FB0-3DF5-3D471DDC3835}"/>
              </a:ext>
            </a:extLst>
          </p:cNvPr>
          <p:cNvSpPr txBox="1"/>
          <p:nvPr/>
        </p:nvSpPr>
        <p:spPr>
          <a:xfrm>
            <a:off x="1400176" y="5379012"/>
            <a:ext cx="78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1/1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9603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33BE9-E75B-907F-5DDB-D764B929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DEA3-2AC5-382F-BE7E-2C3A3C717A8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ko-KR" altLang="en-US" dirty="0"/>
              <a:t>재고자산의 흐름</a:t>
            </a:r>
            <a:r>
              <a:rPr lang="en-US" altLang="ko-KR" dirty="0"/>
              <a:t>: FIFO(first-in first-out)</a:t>
            </a:r>
            <a:br>
              <a:rPr lang="en-US" altLang="ko-KR" dirty="0"/>
            </a:br>
            <a:r>
              <a:rPr lang="en-US" altLang="ko-KR" dirty="0"/>
              <a:t>                        + </a:t>
            </a:r>
            <a:r>
              <a:rPr lang="ko-KR" altLang="en-US" dirty="0"/>
              <a:t>계속기록법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7B7F1-B779-D3DF-0F0F-28309902F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ko-KR" altLang="en-US" dirty="0"/>
              <a:t>사과 구입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판매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83617C-2518-69FE-87B9-FF891054746C}"/>
              </a:ext>
            </a:extLst>
          </p:cNvPr>
          <p:cNvGrpSpPr/>
          <p:nvPr/>
        </p:nvGrpSpPr>
        <p:grpSpPr>
          <a:xfrm>
            <a:off x="1669255" y="2694588"/>
            <a:ext cx="3829050" cy="2645163"/>
            <a:chOff x="1600200" y="2630100"/>
            <a:chExt cx="3829050" cy="26451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2B78CCB-369A-0B18-50F1-8D429BD09041}"/>
                </a:ext>
              </a:extLst>
            </p:cNvPr>
            <p:cNvCxnSpPr>
              <a:cxnSpLocks/>
            </p:cNvCxnSpPr>
            <p:nvPr/>
          </p:nvCxnSpPr>
          <p:spPr>
            <a:xfrm>
              <a:off x="1600200" y="5275263"/>
              <a:ext cx="3829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D89B2A3-CD16-68C1-354A-D6AFFFA86936}"/>
                </a:ext>
              </a:extLst>
            </p:cNvPr>
            <p:cNvGrpSpPr/>
            <p:nvPr/>
          </p:nvGrpSpPr>
          <p:grpSpPr>
            <a:xfrm>
              <a:off x="1600200" y="2630100"/>
              <a:ext cx="3452822" cy="2645163"/>
              <a:chOff x="1600200" y="2630100"/>
              <a:chExt cx="3452822" cy="2645163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D40BEAF-A714-CF64-1654-808C8A7B7ECE}"/>
                  </a:ext>
                </a:extLst>
              </p:cNvPr>
              <p:cNvCxnSpPr/>
              <p:nvPr/>
            </p:nvCxnSpPr>
            <p:spPr>
              <a:xfrm flipV="1">
                <a:off x="1600200" y="2722563"/>
                <a:ext cx="0" cy="25527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CB1C13-F961-EEC9-C858-C9DFF0C852A0}"/>
                  </a:ext>
                </a:extLst>
              </p:cNvPr>
              <p:cNvGrpSpPr/>
              <p:nvPr/>
            </p:nvGrpSpPr>
            <p:grpSpPr>
              <a:xfrm>
                <a:off x="1935952" y="2630100"/>
                <a:ext cx="3117070" cy="2253842"/>
                <a:chOff x="1935952" y="2630100"/>
                <a:chExt cx="3117070" cy="2253842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9386C951-E042-DBAF-DEAB-3B7ACBFC4A5D}"/>
                    </a:ext>
                  </a:extLst>
                </p:cNvPr>
                <p:cNvSpPr/>
                <p:nvPr/>
              </p:nvSpPr>
              <p:spPr>
                <a:xfrm>
                  <a:off x="1935952" y="4341022"/>
                  <a:ext cx="838193" cy="54292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100</a:t>
                  </a:r>
                  <a:endParaRPr lang="ko-KR" altLang="en-US" dirty="0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720012D-A709-5023-4ACB-173021026F8F}"/>
                    </a:ext>
                  </a:extLst>
                </p:cNvPr>
                <p:cNvGrpSpPr/>
                <p:nvPr/>
              </p:nvGrpSpPr>
              <p:grpSpPr>
                <a:xfrm>
                  <a:off x="3081348" y="2630100"/>
                  <a:ext cx="1971674" cy="1424376"/>
                  <a:chOff x="3081348" y="2630100"/>
                  <a:chExt cx="1971674" cy="1424376"/>
                </a:xfrm>
              </p:grpSpPr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DCD79B57-9886-DF4D-5DA5-535CA6D72977}"/>
                      </a:ext>
                    </a:extLst>
                  </p:cNvPr>
                  <p:cNvSpPr/>
                  <p:nvPr/>
                </p:nvSpPr>
                <p:spPr>
                  <a:xfrm>
                    <a:off x="3081348" y="3392491"/>
                    <a:ext cx="838193" cy="661985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150</a:t>
                    </a:r>
                    <a:endParaRPr lang="ko-KR" altLang="en-US" dirty="0"/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FCFEC162-8D50-A0A3-8A34-19EB8499AB17}"/>
                      </a:ext>
                    </a:extLst>
                  </p:cNvPr>
                  <p:cNvSpPr/>
                  <p:nvPr/>
                </p:nvSpPr>
                <p:spPr>
                  <a:xfrm>
                    <a:off x="4214829" y="2630100"/>
                    <a:ext cx="838193" cy="661985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200</a:t>
                    </a:r>
                    <a:endParaRPr lang="ko-KR" altLang="en-US" dirty="0"/>
                  </a:p>
                </p:txBody>
              </p:sp>
            </p:grpSp>
          </p:grpSp>
        </p:grp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14209A-B2FD-0A30-E93D-402C13923B14}"/>
              </a:ext>
            </a:extLst>
          </p:cNvPr>
          <p:cNvCxnSpPr>
            <a:cxnSpLocks/>
          </p:cNvCxnSpPr>
          <p:nvPr/>
        </p:nvCxnSpPr>
        <p:spPr>
          <a:xfrm>
            <a:off x="5876925" y="5293520"/>
            <a:ext cx="3829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CE044A1-7E58-9B51-870A-428B385823CF}"/>
              </a:ext>
            </a:extLst>
          </p:cNvPr>
          <p:cNvCxnSpPr/>
          <p:nvPr/>
        </p:nvCxnSpPr>
        <p:spPr>
          <a:xfrm flipV="1">
            <a:off x="5876925" y="2740820"/>
            <a:ext cx="0" cy="2552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0477AC3B-C35A-16A3-2372-EE3069BDA227}"/>
              </a:ext>
            </a:extLst>
          </p:cNvPr>
          <p:cNvSpPr/>
          <p:nvPr/>
        </p:nvSpPr>
        <p:spPr>
          <a:xfrm>
            <a:off x="8867782" y="2670572"/>
            <a:ext cx="838193" cy="6619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FC7C48-EF06-4858-7EB0-917226C94298}"/>
              </a:ext>
            </a:extLst>
          </p:cNvPr>
          <p:cNvSpPr txBox="1"/>
          <p:nvPr/>
        </p:nvSpPr>
        <p:spPr>
          <a:xfrm>
            <a:off x="7096125" y="2740820"/>
            <a:ext cx="235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기말</a:t>
            </a:r>
            <a:r>
              <a:rPr lang="en-US" altLang="ko-KR" dirty="0"/>
              <a:t>: </a:t>
            </a:r>
            <a:r>
              <a:rPr lang="ko-KR" altLang="en-US" dirty="0"/>
              <a:t>사과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7E433D-9CDA-DB66-3595-1962CBF50283}"/>
              </a:ext>
            </a:extLst>
          </p:cNvPr>
          <p:cNvSpPr txBox="1"/>
          <p:nvPr/>
        </p:nvSpPr>
        <p:spPr>
          <a:xfrm>
            <a:off x="4819651" y="5467350"/>
            <a:ext cx="78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12/31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937115-BEE7-A186-DEF6-5B5195E21EE9}"/>
              </a:ext>
            </a:extLst>
          </p:cNvPr>
          <p:cNvSpPr txBox="1"/>
          <p:nvPr/>
        </p:nvSpPr>
        <p:spPr>
          <a:xfrm>
            <a:off x="1400176" y="5379012"/>
            <a:ext cx="78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1/1</a:t>
            </a:r>
            <a:endParaRPr lang="ko-KR" alt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1A71BC9-2502-B3E0-BB9F-C0086F9DF646}"/>
              </a:ext>
            </a:extLst>
          </p:cNvPr>
          <p:cNvSpPr/>
          <p:nvPr/>
        </p:nvSpPr>
        <p:spPr>
          <a:xfrm>
            <a:off x="3090866" y="4198145"/>
            <a:ext cx="985829" cy="2714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B0F0"/>
                </a:solidFill>
              </a:rPr>
              <a:t>판매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03C0860-AE48-6B3B-93B3-E1A7A5E17B25}"/>
              </a:ext>
            </a:extLst>
          </p:cNvPr>
          <p:cNvSpPr/>
          <p:nvPr/>
        </p:nvSpPr>
        <p:spPr>
          <a:xfrm>
            <a:off x="5005390" y="2236838"/>
            <a:ext cx="985829" cy="4032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판매</a:t>
            </a:r>
          </a:p>
        </p:txBody>
      </p:sp>
    </p:spTree>
    <p:extLst>
      <p:ext uri="{BB962C8B-B14F-4D97-AF65-F5344CB8AC3E}">
        <p14:creationId xmlns:p14="http://schemas.microsoft.com/office/powerpoint/2010/main" val="366327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FD1A0-6DD7-4A32-70F2-A188E1E54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21E5-A97E-C831-1201-D21BAFB92E9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ko-KR" altLang="en-US" dirty="0"/>
              <a:t>재고자산의 흐름</a:t>
            </a:r>
            <a:r>
              <a:rPr lang="en-US" altLang="ko-KR" dirty="0"/>
              <a:t>: LIFO(last-in first-out)</a:t>
            </a:r>
            <a:br>
              <a:rPr lang="en-US" altLang="ko-KR" dirty="0"/>
            </a:br>
            <a:r>
              <a:rPr lang="en-US" altLang="ko-KR" dirty="0"/>
              <a:t>                        + </a:t>
            </a:r>
            <a:r>
              <a:rPr lang="ko-KR" altLang="en-US" dirty="0"/>
              <a:t>실지재고조사법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446CF-A475-8CAA-67C1-8FE091F8C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ko-KR" altLang="en-US" dirty="0"/>
              <a:t>사과 구입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판매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19B11B-DE18-EC87-BAC1-B88836DDF8CD}"/>
              </a:ext>
            </a:extLst>
          </p:cNvPr>
          <p:cNvGrpSpPr/>
          <p:nvPr/>
        </p:nvGrpSpPr>
        <p:grpSpPr>
          <a:xfrm>
            <a:off x="1609718" y="2693200"/>
            <a:ext cx="3829050" cy="2600320"/>
            <a:chOff x="1600200" y="2674943"/>
            <a:chExt cx="3829050" cy="260032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67F9392-2AC6-83DF-3A59-DB9D4651EFF4}"/>
                </a:ext>
              </a:extLst>
            </p:cNvPr>
            <p:cNvCxnSpPr>
              <a:cxnSpLocks/>
            </p:cNvCxnSpPr>
            <p:nvPr/>
          </p:nvCxnSpPr>
          <p:spPr>
            <a:xfrm>
              <a:off x="1600200" y="5275263"/>
              <a:ext cx="3829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A5F727C-4625-3547-EA09-78107D4C4EED}"/>
                </a:ext>
              </a:extLst>
            </p:cNvPr>
            <p:cNvGrpSpPr/>
            <p:nvPr/>
          </p:nvGrpSpPr>
          <p:grpSpPr>
            <a:xfrm>
              <a:off x="1600200" y="2674943"/>
              <a:ext cx="3419471" cy="2600320"/>
              <a:chOff x="1600200" y="2674943"/>
              <a:chExt cx="3419471" cy="2600320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942CA6FF-0CE7-9E20-F830-177FF7095644}"/>
                  </a:ext>
                </a:extLst>
              </p:cNvPr>
              <p:cNvCxnSpPr/>
              <p:nvPr/>
            </p:nvCxnSpPr>
            <p:spPr>
              <a:xfrm flipV="1">
                <a:off x="1600200" y="2722563"/>
                <a:ext cx="0" cy="25527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F1742B32-6BD7-56CF-5B2B-F3880FA420DB}"/>
                  </a:ext>
                </a:extLst>
              </p:cNvPr>
              <p:cNvGrpSpPr/>
              <p:nvPr/>
            </p:nvGrpSpPr>
            <p:grpSpPr>
              <a:xfrm>
                <a:off x="1971675" y="2674943"/>
                <a:ext cx="3047996" cy="2047865"/>
                <a:chOff x="1971675" y="2674943"/>
                <a:chExt cx="3047996" cy="2047865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C99C2423-B45E-2C96-3071-4258C62E7070}"/>
                    </a:ext>
                  </a:extLst>
                </p:cNvPr>
                <p:cNvSpPr/>
                <p:nvPr/>
              </p:nvSpPr>
              <p:spPr>
                <a:xfrm>
                  <a:off x="1971675" y="4179888"/>
                  <a:ext cx="838193" cy="54292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100</a:t>
                  </a:r>
                  <a:endParaRPr lang="ko-KR" altLang="en-US" dirty="0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4DD1888E-09DA-275E-1B14-B76101C70C4F}"/>
                    </a:ext>
                  </a:extLst>
                </p:cNvPr>
                <p:cNvGrpSpPr/>
                <p:nvPr/>
              </p:nvGrpSpPr>
              <p:grpSpPr>
                <a:xfrm>
                  <a:off x="3081348" y="2674943"/>
                  <a:ext cx="1938323" cy="1379533"/>
                  <a:chOff x="3081348" y="2674943"/>
                  <a:chExt cx="1938323" cy="1379533"/>
                </a:xfrm>
              </p:grpSpPr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B13F832C-EA57-1EB1-4431-4C4751505000}"/>
                      </a:ext>
                    </a:extLst>
                  </p:cNvPr>
                  <p:cNvSpPr/>
                  <p:nvPr/>
                </p:nvSpPr>
                <p:spPr>
                  <a:xfrm>
                    <a:off x="3081348" y="3392491"/>
                    <a:ext cx="838193" cy="661985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150</a:t>
                    </a:r>
                    <a:endParaRPr lang="ko-KR" altLang="en-US" dirty="0"/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3C302EE0-970A-DEB5-66FF-7AA34712BE61}"/>
                      </a:ext>
                    </a:extLst>
                  </p:cNvPr>
                  <p:cNvSpPr/>
                  <p:nvPr/>
                </p:nvSpPr>
                <p:spPr>
                  <a:xfrm>
                    <a:off x="4181478" y="2674943"/>
                    <a:ext cx="838193" cy="661985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200</a:t>
                    </a:r>
                    <a:endParaRPr lang="ko-KR" altLang="en-US" dirty="0"/>
                  </a:p>
                </p:txBody>
              </p:sp>
            </p:grpSp>
          </p:grpSp>
        </p:grp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9300D52-3488-9B23-61DC-6CA18F6FD49C}"/>
              </a:ext>
            </a:extLst>
          </p:cNvPr>
          <p:cNvCxnSpPr>
            <a:cxnSpLocks/>
          </p:cNvCxnSpPr>
          <p:nvPr/>
        </p:nvCxnSpPr>
        <p:spPr>
          <a:xfrm>
            <a:off x="5876925" y="5293520"/>
            <a:ext cx="3829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E15F735-6B41-404D-3B42-9BE6F96084EB}"/>
              </a:ext>
            </a:extLst>
          </p:cNvPr>
          <p:cNvCxnSpPr/>
          <p:nvPr/>
        </p:nvCxnSpPr>
        <p:spPr>
          <a:xfrm flipV="1">
            <a:off x="5876925" y="2740820"/>
            <a:ext cx="0" cy="2552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02B4B2A5-6A8D-CF56-F69E-0E084220527E}"/>
              </a:ext>
            </a:extLst>
          </p:cNvPr>
          <p:cNvSpPr/>
          <p:nvPr/>
        </p:nvSpPr>
        <p:spPr>
          <a:xfrm>
            <a:off x="8677278" y="4259261"/>
            <a:ext cx="838193" cy="6619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5C7947-977F-2313-5C47-2BACBFDEAE04}"/>
              </a:ext>
            </a:extLst>
          </p:cNvPr>
          <p:cNvSpPr txBox="1"/>
          <p:nvPr/>
        </p:nvSpPr>
        <p:spPr>
          <a:xfrm>
            <a:off x="7096125" y="2740820"/>
            <a:ext cx="235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기말</a:t>
            </a:r>
            <a:r>
              <a:rPr lang="en-US" altLang="ko-KR" dirty="0"/>
              <a:t>: </a:t>
            </a:r>
            <a:r>
              <a:rPr lang="ko-KR" altLang="en-US" dirty="0"/>
              <a:t>사과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23FB03-2098-F7DA-326B-D69466DD78BB}"/>
              </a:ext>
            </a:extLst>
          </p:cNvPr>
          <p:cNvSpPr txBox="1"/>
          <p:nvPr/>
        </p:nvSpPr>
        <p:spPr>
          <a:xfrm>
            <a:off x="4819651" y="5467350"/>
            <a:ext cx="78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12/31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C3D4E1-E5AA-C1C8-6DDD-39EB7AEE4C43}"/>
              </a:ext>
            </a:extLst>
          </p:cNvPr>
          <p:cNvSpPr txBox="1"/>
          <p:nvPr/>
        </p:nvSpPr>
        <p:spPr>
          <a:xfrm>
            <a:off x="1400176" y="5379012"/>
            <a:ext cx="78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1/1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335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41171-85D0-1CD2-D2BA-C8B070E4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E065-084F-A174-484B-457D51C0FA9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ko-KR" altLang="en-US" dirty="0"/>
              <a:t>재고자산의 흐름</a:t>
            </a:r>
            <a:r>
              <a:rPr lang="en-US" altLang="ko-KR" dirty="0"/>
              <a:t>: LIFO(last-in first-out)</a:t>
            </a:r>
            <a:br>
              <a:rPr lang="en-US" altLang="ko-KR" dirty="0"/>
            </a:br>
            <a:r>
              <a:rPr lang="en-US" altLang="ko-KR" dirty="0"/>
              <a:t>                        + </a:t>
            </a:r>
            <a:r>
              <a:rPr lang="ko-KR" altLang="en-US" dirty="0"/>
              <a:t>계속기록법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C3B45-51FD-A6A8-9BC9-27DC8776C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ko-KR" altLang="en-US" dirty="0"/>
              <a:t>사과 구입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판매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4027235-A41D-116B-D3E9-6FE6FA27C737}"/>
              </a:ext>
            </a:extLst>
          </p:cNvPr>
          <p:cNvGrpSpPr/>
          <p:nvPr/>
        </p:nvGrpSpPr>
        <p:grpSpPr>
          <a:xfrm>
            <a:off x="1570436" y="2740820"/>
            <a:ext cx="3829050" cy="2552700"/>
            <a:chOff x="1600200" y="2722563"/>
            <a:chExt cx="3829050" cy="255270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6AE9190-CFED-F8B5-FC8B-FCD77BD5924D}"/>
                </a:ext>
              </a:extLst>
            </p:cNvPr>
            <p:cNvCxnSpPr>
              <a:cxnSpLocks/>
            </p:cNvCxnSpPr>
            <p:nvPr/>
          </p:nvCxnSpPr>
          <p:spPr>
            <a:xfrm>
              <a:off x="1600200" y="5275263"/>
              <a:ext cx="3829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587B6E9-FD44-FFA8-C630-6A252ABF41B0}"/>
                </a:ext>
              </a:extLst>
            </p:cNvPr>
            <p:cNvGrpSpPr/>
            <p:nvPr/>
          </p:nvGrpSpPr>
          <p:grpSpPr>
            <a:xfrm>
              <a:off x="1600200" y="2722563"/>
              <a:ext cx="3143253" cy="2552700"/>
              <a:chOff x="1600200" y="2722563"/>
              <a:chExt cx="3143253" cy="2552700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45286E0A-A66A-2C62-F86B-BFDCAE549AFA}"/>
                  </a:ext>
                </a:extLst>
              </p:cNvPr>
              <p:cNvCxnSpPr/>
              <p:nvPr/>
            </p:nvCxnSpPr>
            <p:spPr>
              <a:xfrm flipV="1">
                <a:off x="1600200" y="2722563"/>
                <a:ext cx="0" cy="25527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F24039E6-886D-D116-74AC-D1BABF5F9608}"/>
                  </a:ext>
                </a:extLst>
              </p:cNvPr>
              <p:cNvGrpSpPr/>
              <p:nvPr/>
            </p:nvGrpSpPr>
            <p:grpSpPr>
              <a:xfrm>
                <a:off x="1935952" y="2802748"/>
                <a:ext cx="2807501" cy="2081194"/>
                <a:chOff x="1935952" y="2802748"/>
                <a:chExt cx="2807501" cy="2081194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9BCCE649-A941-AFA6-8F44-51C4317818B3}"/>
                    </a:ext>
                  </a:extLst>
                </p:cNvPr>
                <p:cNvSpPr/>
                <p:nvPr/>
              </p:nvSpPr>
              <p:spPr>
                <a:xfrm>
                  <a:off x="1935952" y="4341022"/>
                  <a:ext cx="838193" cy="54292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100</a:t>
                  </a:r>
                  <a:endParaRPr lang="ko-KR" altLang="en-US" dirty="0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837AE17B-0966-2C44-6563-7827B7922276}"/>
                    </a:ext>
                  </a:extLst>
                </p:cNvPr>
                <p:cNvGrpSpPr/>
                <p:nvPr/>
              </p:nvGrpSpPr>
              <p:grpSpPr>
                <a:xfrm>
                  <a:off x="2949190" y="2802748"/>
                  <a:ext cx="1794263" cy="1323970"/>
                  <a:chOff x="2949190" y="2802748"/>
                  <a:chExt cx="1794263" cy="1323970"/>
                </a:xfrm>
              </p:grpSpPr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31E09F49-FBED-5755-C3E0-9280CC96120A}"/>
                      </a:ext>
                    </a:extLst>
                  </p:cNvPr>
                  <p:cNvSpPr/>
                  <p:nvPr/>
                </p:nvSpPr>
                <p:spPr>
                  <a:xfrm>
                    <a:off x="2949190" y="3464733"/>
                    <a:ext cx="838193" cy="661985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150</a:t>
                    </a:r>
                    <a:endParaRPr lang="ko-KR" altLang="en-US" dirty="0"/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83FB5972-A24C-7989-0841-076C5A1D9A34}"/>
                      </a:ext>
                    </a:extLst>
                  </p:cNvPr>
                  <p:cNvSpPr/>
                  <p:nvPr/>
                </p:nvSpPr>
                <p:spPr>
                  <a:xfrm>
                    <a:off x="3905260" y="2802748"/>
                    <a:ext cx="838193" cy="661985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200</a:t>
                    </a:r>
                    <a:endParaRPr lang="ko-KR" altLang="en-US" dirty="0"/>
                  </a:p>
                </p:txBody>
              </p:sp>
            </p:grpSp>
          </p:grpSp>
        </p:grp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738209-274E-5297-DBC4-059D7F7D8185}"/>
              </a:ext>
            </a:extLst>
          </p:cNvPr>
          <p:cNvCxnSpPr>
            <a:cxnSpLocks/>
          </p:cNvCxnSpPr>
          <p:nvPr/>
        </p:nvCxnSpPr>
        <p:spPr>
          <a:xfrm>
            <a:off x="5876925" y="5293520"/>
            <a:ext cx="3829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6C0185C-5308-A947-E49A-B1BEB62E06C6}"/>
              </a:ext>
            </a:extLst>
          </p:cNvPr>
          <p:cNvCxnSpPr/>
          <p:nvPr/>
        </p:nvCxnSpPr>
        <p:spPr>
          <a:xfrm flipV="1">
            <a:off x="5876925" y="2740820"/>
            <a:ext cx="0" cy="2552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324F8AC1-83A4-E461-39D7-BF6D953E37FC}"/>
              </a:ext>
            </a:extLst>
          </p:cNvPr>
          <p:cNvSpPr/>
          <p:nvPr/>
        </p:nvSpPr>
        <p:spPr>
          <a:xfrm>
            <a:off x="8853477" y="3429000"/>
            <a:ext cx="838193" cy="6619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775CEC-0259-5B59-686C-A227127402B0}"/>
              </a:ext>
            </a:extLst>
          </p:cNvPr>
          <p:cNvSpPr txBox="1"/>
          <p:nvPr/>
        </p:nvSpPr>
        <p:spPr>
          <a:xfrm>
            <a:off x="6934210" y="3651651"/>
            <a:ext cx="235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기말</a:t>
            </a:r>
            <a:r>
              <a:rPr lang="en-US" altLang="ko-KR" dirty="0"/>
              <a:t>: </a:t>
            </a:r>
            <a:r>
              <a:rPr lang="ko-KR" altLang="en-US" dirty="0"/>
              <a:t>사과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FAAEE8-8717-7A6A-6911-2653985789CB}"/>
              </a:ext>
            </a:extLst>
          </p:cNvPr>
          <p:cNvSpPr txBox="1"/>
          <p:nvPr/>
        </p:nvSpPr>
        <p:spPr>
          <a:xfrm>
            <a:off x="4819651" y="5467350"/>
            <a:ext cx="78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12/31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2130A2-00CB-158D-873F-8F171BAD9458}"/>
              </a:ext>
            </a:extLst>
          </p:cNvPr>
          <p:cNvSpPr txBox="1"/>
          <p:nvPr/>
        </p:nvSpPr>
        <p:spPr>
          <a:xfrm>
            <a:off x="1400176" y="5379012"/>
            <a:ext cx="78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1/1</a:t>
            </a:r>
            <a:endParaRPr lang="ko-KR" alt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D7EA2CF-C832-2E49-4203-BDEE0A91C849}"/>
              </a:ext>
            </a:extLst>
          </p:cNvPr>
          <p:cNvSpPr/>
          <p:nvPr/>
        </p:nvSpPr>
        <p:spPr>
          <a:xfrm>
            <a:off x="2919426" y="4401370"/>
            <a:ext cx="985829" cy="2714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B0F0"/>
                </a:solidFill>
              </a:rPr>
              <a:t>판매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76FEE1C-7848-0396-8CB8-EEAA12472EE4}"/>
              </a:ext>
            </a:extLst>
          </p:cNvPr>
          <p:cNvSpPr/>
          <p:nvPr/>
        </p:nvSpPr>
        <p:spPr>
          <a:xfrm>
            <a:off x="4774411" y="2508262"/>
            <a:ext cx="985829" cy="4032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판매</a:t>
            </a:r>
          </a:p>
        </p:txBody>
      </p:sp>
    </p:spTree>
    <p:extLst>
      <p:ext uri="{BB962C8B-B14F-4D97-AF65-F5344CB8AC3E}">
        <p14:creationId xmlns:p14="http://schemas.microsoft.com/office/powerpoint/2010/main" val="2219112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Theme</vt:lpstr>
      <vt:lpstr>기초회계(MBA)</vt:lpstr>
      <vt:lpstr>재고자산의 흐름: FIFO(first-in first-out)                         + 실지재고조사법</vt:lpstr>
      <vt:lpstr>재고자산의 흐름: FIFO(first-in first-out)                         + 계속기록법</vt:lpstr>
      <vt:lpstr>재고자산의 흐름: LIFO(last-in first-out)                         + 실지재고조사법</vt:lpstr>
      <vt:lpstr>재고자산의 흐름: LIFO(last-in first-out)                         + 계속기록법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심충진</dc:creator>
  <cp:lastModifiedBy>심충진</cp:lastModifiedBy>
  <cp:revision>1</cp:revision>
  <dcterms:created xsi:type="dcterms:W3CDTF">2025-10-18T03:49:38Z</dcterms:created>
  <dcterms:modified xsi:type="dcterms:W3CDTF">2025-10-18T03:50:06Z</dcterms:modified>
</cp:coreProperties>
</file>