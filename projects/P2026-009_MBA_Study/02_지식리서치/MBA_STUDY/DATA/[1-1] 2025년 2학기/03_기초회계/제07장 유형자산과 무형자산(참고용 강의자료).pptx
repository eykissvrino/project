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  <p:sldMasterId id="2147483660" r:id="rId2"/>
    <p:sldMasterId id="2147483720" r:id="rId3"/>
    <p:sldMasterId id="2147483752" r:id="rId4"/>
    <p:sldMasterId id="2147483736" r:id="rId5"/>
    <p:sldMasterId id="2147483738" r:id="rId6"/>
    <p:sldMasterId id="2147483754" r:id="rId7"/>
    <p:sldMasterId id="2147483756" r:id="rId8"/>
    <p:sldMasterId id="2147483758" r:id="rId9"/>
    <p:sldMasterId id="2147483765" r:id="rId10"/>
    <p:sldMasterId id="2147483763" r:id="rId11"/>
  </p:sldMasterIdLst>
  <p:notesMasterIdLst>
    <p:notesMasterId r:id="rId49"/>
  </p:notesMasterIdLst>
  <p:handoutMasterIdLst>
    <p:handoutMasterId r:id="rId50"/>
  </p:handoutMasterIdLst>
  <p:sldIdLst>
    <p:sldId id="410" r:id="rId12"/>
    <p:sldId id="380" r:id="rId13"/>
    <p:sldId id="381" r:id="rId14"/>
    <p:sldId id="555" r:id="rId15"/>
    <p:sldId id="343" r:id="rId16"/>
    <p:sldId id="382" r:id="rId17"/>
    <p:sldId id="557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415" r:id="rId28"/>
    <p:sldId id="558" r:id="rId29"/>
    <p:sldId id="392" r:id="rId30"/>
    <p:sldId id="393" r:id="rId31"/>
    <p:sldId id="394" r:id="rId32"/>
    <p:sldId id="395" r:id="rId33"/>
    <p:sldId id="398" r:id="rId34"/>
    <p:sldId id="400" r:id="rId35"/>
    <p:sldId id="411" r:id="rId36"/>
    <p:sldId id="401" r:id="rId37"/>
    <p:sldId id="402" r:id="rId38"/>
    <p:sldId id="345" r:id="rId39"/>
    <p:sldId id="403" r:id="rId40"/>
    <p:sldId id="405" r:id="rId41"/>
    <p:sldId id="346" r:id="rId42"/>
    <p:sldId id="406" r:id="rId43"/>
    <p:sldId id="407" r:id="rId44"/>
    <p:sldId id="408" r:id="rId45"/>
    <p:sldId id="559" r:id="rId46"/>
    <p:sldId id="342" r:id="rId47"/>
    <p:sldId id="409" r:id="rId48"/>
  </p:sldIdLst>
  <p:sldSz cx="9144000" cy="6858000" type="screen4x3"/>
  <p:notesSz cx="6788150" cy="99234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A2D6"/>
    <a:srgbClr val="B66CF4"/>
    <a:srgbClr val="000000"/>
    <a:srgbClr val="2D61C8"/>
    <a:srgbClr val="257679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6400" autoAdjust="0"/>
  </p:normalViewPr>
  <p:slideViewPr>
    <p:cSldViewPr snapToGrid="0">
      <p:cViewPr varScale="1">
        <p:scale>
          <a:sx n="107" d="100"/>
          <a:sy n="107" d="100"/>
        </p:scale>
        <p:origin x="1902" y="78"/>
      </p:cViewPr>
      <p:guideLst>
        <p:guide orient="horz" pos="2115"/>
        <p:guide pos="290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40"/>
    </p:cViewPr>
  </p:sorterViewPr>
  <p:notesViewPr>
    <p:cSldViewPr snapToGrid="0" showGuides="1">
      <p:cViewPr varScale="1">
        <p:scale>
          <a:sx n="81" d="100"/>
          <a:sy n="81" d="100"/>
        </p:scale>
        <p:origin x="3996" y="114"/>
      </p:cViewPr>
      <p:guideLst>
        <p:guide orient="horz" pos="3126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8" Type="http://schemas.openxmlformats.org/officeDocument/2006/relationships/slideMaster" Target="slideMasters/slideMaster8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39838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5" y="4775666"/>
            <a:ext cx="543052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840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693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470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830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908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662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427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3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921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285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34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159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623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121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304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0087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4127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478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28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69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28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062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76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54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20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67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6063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00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0585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820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236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987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333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824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409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직사각형 236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유형자산</a:t>
              </a:r>
            </a:p>
          </p:txBody>
        </p:sp>
      </p:grpSp>
      <p:grpSp>
        <p:nvGrpSpPr>
          <p:cNvPr id="260" name="그룹 259"/>
          <p:cNvGrpSpPr/>
          <p:nvPr userDrawn="1"/>
        </p:nvGrpSpPr>
        <p:grpSpPr>
          <a:xfrm>
            <a:off x="2701040" y="433216"/>
            <a:ext cx="3063185" cy="369332"/>
            <a:chOff x="2107219" y="601866"/>
            <a:chExt cx="3063185" cy="369332"/>
          </a:xfrm>
        </p:grpSpPr>
        <p:sp>
          <p:nvSpPr>
            <p:cNvPr id="261" name="TextBox 260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유형자산의 정의와 종류</a:t>
              </a:r>
            </a:p>
          </p:txBody>
        </p:sp>
        <p:sp>
          <p:nvSpPr>
            <p:cNvPr id="264" name="눈물 방울 26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62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-1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7749404" cy="769441"/>
            <a:chOff x="80163" y="415932"/>
            <a:chExt cx="774940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69541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유형자산</a:t>
              </a:r>
            </a:p>
          </p:txBody>
        </p:sp>
      </p:grpSp>
      <p:grpSp>
        <p:nvGrpSpPr>
          <p:cNvPr id="246" name="그룹 245"/>
          <p:cNvGrpSpPr/>
          <p:nvPr userDrawn="1"/>
        </p:nvGrpSpPr>
        <p:grpSpPr>
          <a:xfrm>
            <a:off x="2701040" y="433217"/>
            <a:ext cx="5192925" cy="369332"/>
            <a:chOff x="2107219" y="601867"/>
            <a:chExt cx="5192925" cy="369332"/>
          </a:xfrm>
        </p:grpSpPr>
        <p:sp>
          <p:nvSpPr>
            <p:cNvPr id="247" name="TextBox 246"/>
            <p:cNvSpPr txBox="1"/>
            <p:nvPr userDrawn="1"/>
          </p:nvSpPr>
          <p:spPr>
            <a:xfrm>
              <a:off x="2343317" y="601867"/>
              <a:ext cx="4956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유형자산의 취득원가 및 취득 후 지출</a:t>
              </a:r>
            </a:p>
          </p:txBody>
        </p:sp>
        <p:sp>
          <p:nvSpPr>
            <p:cNvPr id="254" name="눈물 방울 25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53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91285" y="210560"/>
            <a:ext cx="5890414" cy="769441"/>
            <a:chOff x="80163" y="415932"/>
            <a:chExt cx="5890414" cy="769441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유형자산</a:t>
              </a: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2701040" y="433216"/>
            <a:ext cx="3063185" cy="369332"/>
            <a:chOff x="2107219" y="601866"/>
            <a:chExt cx="3063185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감가상각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0" name="직사각형 249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805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91285" y="210560"/>
            <a:ext cx="5890414" cy="769441"/>
            <a:chOff x="80163" y="415932"/>
            <a:chExt cx="5890414" cy="769441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유형자산</a:t>
              </a: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2701040" y="433216"/>
            <a:ext cx="3063185" cy="369332"/>
            <a:chOff x="2107219" y="601866"/>
            <a:chExt cx="3063185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인식시점 이후의 측정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0" name="직사각형 249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25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-9236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91285" y="210560"/>
            <a:ext cx="5890414" cy="769441"/>
            <a:chOff x="80163" y="415932"/>
            <a:chExt cx="5890414" cy="769441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유형자산</a:t>
              </a: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2701040" y="448425"/>
            <a:ext cx="3099639" cy="369332"/>
            <a:chOff x="2107219" y="617075"/>
            <a:chExt cx="3099639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79771" y="617075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유형자산의 처분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0" name="직사각형 249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00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91285" y="210560"/>
            <a:ext cx="5890414" cy="769441"/>
            <a:chOff x="80163" y="415932"/>
            <a:chExt cx="5890414" cy="769441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무형자산</a:t>
              </a: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2701040" y="451986"/>
            <a:ext cx="3038171" cy="369332"/>
            <a:chOff x="2107219" y="613082"/>
            <a:chExt cx="3038171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18303" y="613082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무형자산의 정의와 종류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0" name="직사각형 249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91285" y="210560"/>
            <a:ext cx="5890414" cy="769441"/>
            <a:chOff x="80163" y="415932"/>
            <a:chExt cx="5890414" cy="769441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무형자산</a:t>
              </a: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2701040" y="444432"/>
            <a:ext cx="5168252" cy="369332"/>
            <a:chOff x="2107219" y="613082"/>
            <a:chExt cx="5168252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79771" y="613082"/>
              <a:ext cx="489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무형자산의 </a:t>
              </a:r>
              <a:r>
                <a:rPr lang="ko-KR" altLang="en-US" b="1" dirty="0" err="1"/>
                <a:t>상각과</a:t>
              </a:r>
              <a:r>
                <a:rPr lang="ko-KR" altLang="en-US" b="1" dirty="0"/>
                <a:t> 인식 후 측정방법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0" name="직사각형 249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14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91285" y="210560"/>
            <a:ext cx="5890414" cy="769441"/>
            <a:chOff x="80163" y="415932"/>
            <a:chExt cx="5890414" cy="769441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무형자산</a:t>
              </a: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2701040" y="433216"/>
            <a:ext cx="5131798" cy="369332"/>
            <a:chOff x="2107219" y="601866"/>
            <a:chExt cx="5131798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43317" y="601866"/>
              <a:ext cx="489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영업권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0" name="직사각형 249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38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직사각형 218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91285" y="210560"/>
            <a:ext cx="8739205" cy="769441"/>
            <a:chOff x="80163" y="415932"/>
            <a:chExt cx="8739205" cy="769441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3" y="531177"/>
              <a:ext cx="7977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/>
                <a:t>유형자산과 무형자산의 회계처리 종합 비교</a:t>
              </a:r>
              <a:endParaRPr lang="ko-KR" altLang="en-US" sz="3200" b="1" dirty="0"/>
            </a:p>
          </p:txBody>
        </p:sp>
      </p:grpSp>
      <p:sp>
        <p:nvSpPr>
          <p:cNvPr id="250" name="직사각형 249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909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91285" y="32760"/>
            <a:ext cx="9052715" cy="909077"/>
            <a:chOff x="80163" y="415932"/>
            <a:chExt cx="9052715" cy="909077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100194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4" y="712440"/>
              <a:ext cx="82912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spc="-600" baseline="0" dirty="0">
                  <a:solidFill>
                    <a:schemeClr val="tx1"/>
                  </a:solidFill>
                </a:rPr>
                <a:t>재평가모형을 다년간 연속해서 적용하는 경우의 회계처리</a:t>
              </a:r>
            </a:p>
          </p:txBody>
        </p:sp>
      </p:grpSp>
      <p:sp>
        <p:nvSpPr>
          <p:cNvPr id="250" name="직사각형 249"/>
          <p:cNvSpPr/>
          <p:nvPr userDrawn="1"/>
        </p:nvSpPr>
        <p:spPr>
          <a:xfrm>
            <a:off x="7697124" y="-1094"/>
            <a:ext cx="1446876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7. </a:t>
            </a:r>
            <a:r>
              <a:rPr lang="ko-KR" altLang="en-US" sz="1350" b="1" dirty="0" err="1">
                <a:solidFill>
                  <a:schemeClr val="tx1"/>
                </a:solidFill>
              </a:rPr>
              <a:t>유무형자산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19A2C468-3DB8-48EE-95C8-0174D7D22E79}"/>
              </a:ext>
            </a:extLst>
          </p:cNvPr>
          <p:cNvSpPr txBox="1"/>
          <p:nvPr userDrawn="1"/>
        </p:nvSpPr>
        <p:spPr>
          <a:xfrm>
            <a:off x="82182" y="391198"/>
            <a:ext cx="832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보론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41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38430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027679" y="1251359"/>
            <a:ext cx="7161667" cy="1618301"/>
            <a:chOff x="1226912" y="2130843"/>
            <a:chExt cx="7161667" cy="1618301"/>
          </a:xfrm>
        </p:grpSpPr>
        <p:sp>
          <p:nvSpPr>
            <p:cNvPr id="9" name="TextBox 8"/>
            <p:cNvSpPr txBox="1"/>
            <p:nvPr/>
          </p:nvSpPr>
          <p:spPr>
            <a:xfrm>
              <a:off x="2526164" y="2274456"/>
              <a:ext cx="586241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유</a:t>
              </a:r>
              <a:r>
                <a:rPr lang="en-US" altLang="ko-KR" sz="5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·</a:t>
              </a:r>
              <a:r>
                <a:rPr lang="ko-KR" altLang="en-US" sz="5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무형자산</a:t>
              </a: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2901872" y="3400037"/>
              <a:ext cx="3147235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2901872" y="3472118"/>
              <a:ext cx="3147236" cy="2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di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kern="0" noProof="0" dirty="0">
                  <a:solidFill>
                    <a:schemeClr val="tx1"/>
                  </a:solidFill>
                  <a:ea typeface="굴림" panose="020B0600000101010101" pitchFamily="50" charset="-127"/>
                  <a:cs typeface="Arial" panose="020B0604020202020204" pitchFamily="34" charset="0"/>
                </a:rPr>
                <a:t>PPE &amp; INTANGIBLE ASSET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226912" y="2130843"/>
              <a:ext cx="1174535" cy="1329738"/>
              <a:chOff x="1226912" y="2281318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226912" y="2281318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518125" y="2560075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07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0F7EF78-18D3-4F3E-9BC4-14092876530B}"/>
              </a:ext>
            </a:extLst>
          </p:cNvPr>
          <p:cNvSpPr txBox="1"/>
          <p:nvPr/>
        </p:nvSpPr>
        <p:spPr>
          <a:xfrm>
            <a:off x="5852160" y="6356703"/>
            <a:ext cx="32918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6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9040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91773" y="1306851"/>
            <a:ext cx="8650725" cy="4208759"/>
            <a:chOff x="2626908" y="1693823"/>
            <a:chExt cx="11534300" cy="5611678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2639383" y="2125622"/>
              <a:ext cx="11521825" cy="517987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  <a:ea typeface="+mn-ea"/>
                </a:rPr>
                <a:t>정의</a:t>
              </a:r>
              <a:r>
                <a:rPr lang="ko-KR" altLang="en-US" sz="1600" dirty="0">
                  <a:latin typeface="맑은 고딕" panose="020B0503020000020004" pitchFamily="50" charset="-127"/>
                  <a:ea typeface="+mn-ea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  <a:ea typeface="+mn-ea"/>
                </a:rPr>
                <a:t>정상적인 영업활동 중에</a:t>
              </a: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,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장기간 사용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하기 위한 목적으로 보유하는</a:t>
              </a: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,</a:t>
              </a:r>
              <a:r>
                <a:rPr lang="ko-KR" altLang="en-US" sz="1600" dirty="0">
                  <a:latin typeface="맑은 고딕" panose="020B0503020000020004" pitchFamily="50" charset="-127"/>
                  <a:ea typeface="+mn-ea"/>
                </a:rPr>
                <a:t>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+mn-ea"/>
                </a:rPr>
                <a:t>물리적 실체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+mn-ea"/>
                </a:rPr>
                <a:t>가 있는 자산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+mn-ea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인식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다음의 두 조건이 만족되면 유형자산으로 인식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 ① 자산으로부터 발생하는 미래 경제적 효익이 기업에 유입될 가능성이 높고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② 자산의 원가를 신뢰성 있게 측정할 수 있어야 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5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959621" cy="396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+mn-ea"/>
                </a:rPr>
                <a:t>유형자산의 정의 및 특징</a:t>
              </a: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91773" y="3613658"/>
            <a:ext cx="8650725" cy="870083"/>
            <a:chOff x="2626683" y="1564053"/>
            <a:chExt cx="11534300" cy="1536459"/>
          </a:xfrm>
        </p:grpSpPr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34300" cy="97488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80000" eaLnBrk="1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  <a:ea typeface="+mn-ea"/>
                </a:rPr>
                <a:t>토지</a:t>
              </a: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  <a:ea typeface="+mn-ea"/>
                </a:rPr>
                <a:t>건물</a:t>
              </a: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  <a:ea typeface="+mn-ea"/>
                </a:rPr>
                <a:t>기계장치</a:t>
              </a: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  <a:ea typeface="+mn-ea"/>
                </a:rPr>
                <a:t>선박</a:t>
              </a: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  <a:ea typeface="+mn-ea"/>
                </a:rPr>
                <a:t>항공기</a:t>
              </a: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,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+mn-ea"/>
                </a:rPr>
                <a:t>차량운반구</a:t>
              </a:r>
              <a:r>
                <a:rPr lang="en-US" altLang="ko-KR" sz="1600" dirty="0">
                  <a:latin typeface="맑은 고딕" panose="020B0503020000020004" pitchFamily="50" charset="-127"/>
                  <a:ea typeface="+mn-ea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  <a:ea typeface="+mn-ea"/>
                </a:rPr>
                <a:t>비품</a:t>
              </a:r>
              <a:endParaRPr lang="ko-KR" altLang="en-US" sz="1800" dirty="0">
                <a:latin typeface="맑은 고딕" panose="020B0503020000020004" pitchFamily="50" charset="-127"/>
                <a:ea typeface="+mn-ea"/>
              </a:endParaRP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2871051" y="1564053"/>
              <a:ext cx="5470235" cy="264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+mn-ea"/>
                </a:rPr>
                <a:t>유형자산의 종류</a:t>
              </a:r>
              <a:endParaRPr lang="en-US" altLang="ko-KR" sz="1800" b="1" dirty="0">
                <a:latin typeface="+mn-ea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3689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66829" y="1229603"/>
            <a:ext cx="8650725" cy="2682974"/>
            <a:chOff x="2626908" y="1693823"/>
            <a:chExt cx="11534300" cy="3577298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39383" y="2125623"/>
              <a:ext cx="11521825" cy="314549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구성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구입가격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매입관련원가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추정복구원가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①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구입가격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세금 포함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매입할인 차감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②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매입관련원가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경영진이 의도하는 방식으로 관련 자산을 가동하는 데 필요한 장소와 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                       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상태에 이르게 하는 데 직접 관련된 원가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추정복구원가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사용 종료 후 환경보전을 위해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원상복구해야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할 경우 가산되는 원가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유형자산의 취득원가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747666" y="3651651"/>
            <a:ext cx="5698406" cy="11695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취득원가＝구입가격</a:t>
            </a:r>
            <a:r>
              <a:rPr lang="ko-KR" altLang="en-US" sz="1600" b="1" baseline="30000" dirty="0">
                <a:latin typeface="맑은 고딕" panose="020B0503020000020004" pitchFamily="50" charset="-127"/>
              </a:rPr>
              <a:t>*</a:t>
            </a:r>
            <a:r>
              <a:rPr lang="ko-KR" altLang="en-US" sz="1600" b="1" dirty="0">
                <a:latin typeface="맑은 고딕" panose="020B0503020000020004" pitchFamily="50" charset="-127"/>
              </a:rPr>
              <a:t>＋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매입관련원가＋추정복구원가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ctr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맑은 고딕" panose="020B0503020000020004" pitchFamily="50" charset="-127"/>
              </a:rPr>
              <a:t>    (*</a:t>
            </a:r>
            <a:r>
              <a:rPr lang="ko-KR" altLang="en-US" sz="1400" b="1" dirty="0">
                <a:latin typeface="맑은 고딕" panose="020B0503020000020004" pitchFamily="50" charset="-127"/>
              </a:rPr>
              <a:t>관련 세금 포함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매입할인 차감</a:t>
            </a:r>
            <a:r>
              <a:rPr lang="en-US" altLang="ko-KR" sz="1400" b="1" dirty="0">
                <a:latin typeface="맑은 고딕" panose="020B0503020000020004" pitchFamily="50" charset="-127"/>
              </a:rPr>
              <a:t>)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ko-KR" altLang="en-US" sz="1000" b="1" dirty="0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0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/>
          <p:cNvGrpSpPr/>
          <p:nvPr/>
        </p:nvGrpSpPr>
        <p:grpSpPr>
          <a:xfrm>
            <a:off x="249721" y="1205347"/>
            <a:ext cx="8644557" cy="2653276"/>
            <a:chOff x="2626908" y="1693823"/>
            <a:chExt cx="11526077" cy="3537705"/>
          </a:xfrm>
        </p:grpSpPr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2631160" y="2276102"/>
              <a:ext cx="11521825" cy="2955426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marL="288000" indent="-288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①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자본적 지출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해당 지출에 의해 발생하는 미래 경제적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효익이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기업에  유입될 가능성이 높고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그 원가를 신뢰성 있게 측정할 수 있는 경우 관련 자산의 증가로 회계처리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(=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자본화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</a:p>
            <a:p>
              <a:pPr marL="288000" indent="-288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②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수익적 지출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자본적 지출의 조건이 충족되지 않는 경우 지출 시점에 당기비용 처리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예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일상적인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수선∙유지비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0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5470235" cy="264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유형자산의 취득 후 지출</a:t>
              </a:r>
              <a:r>
                <a: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후속원가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8" name="오각형 15">
            <a:extLst>
              <a:ext uri="{FF2B5EF4-FFF2-40B4-BE49-F238E27FC236}">
                <a16:creationId xmlns:a16="http://schemas.microsoft.com/office/drawing/2014/main" id="{1BBAB329-25A6-47CB-927F-D2C15CDB1CA7}"/>
              </a:ext>
            </a:extLst>
          </p:cNvPr>
          <p:cNvSpPr/>
          <p:nvPr/>
        </p:nvSpPr>
        <p:spPr>
          <a:xfrm>
            <a:off x="389562" y="3173966"/>
            <a:ext cx="792000" cy="245327"/>
          </a:xfrm>
          <a:prstGeom prst="homePlate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표 </a:t>
            </a:r>
            <a:r>
              <a:rPr lang="en-US" altLang="ko-KR" sz="1400" b="1" dirty="0"/>
              <a:t>1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7E038-21F2-446C-8F34-765DAD8B63D3}"/>
              </a:ext>
            </a:extLst>
          </p:cNvPr>
          <p:cNvSpPr txBox="1"/>
          <p:nvPr/>
        </p:nvSpPr>
        <p:spPr>
          <a:xfrm>
            <a:off x="1181561" y="3120515"/>
            <a:ext cx="7516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맑은 고딕" panose="020B0503020000020004" pitchFamily="50" charset="-127"/>
              </a:rPr>
              <a:t>자본적 지출과 수익적 지출의 구분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40A9680-F879-4B6B-91D7-884ED3CB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85696"/>
              </p:ext>
            </p:extLst>
          </p:nvPr>
        </p:nvGraphicFramePr>
        <p:xfrm>
          <a:off x="659984" y="3624797"/>
          <a:ext cx="7620002" cy="286816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056264">
                  <a:extLst>
                    <a:ext uri="{9D8B030D-6E8A-4147-A177-3AD203B41FA5}">
                      <a16:colId xmlns:a16="http://schemas.microsoft.com/office/drawing/2014/main" val="3659278969"/>
                    </a:ext>
                  </a:extLst>
                </a:gridCol>
                <a:gridCol w="3591844">
                  <a:extLst>
                    <a:ext uri="{9D8B030D-6E8A-4147-A177-3AD203B41FA5}">
                      <a16:colId xmlns:a16="http://schemas.microsoft.com/office/drawing/2014/main" val="4040839016"/>
                    </a:ext>
                  </a:extLst>
                </a:gridCol>
                <a:gridCol w="2971894">
                  <a:extLst>
                    <a:ext uri="{9D8B030D-6E8A-4147-A177-3AD203B41FA5}">
                      <a16:colId xmlns:a16="http://schemas.microsoft.com/office/drawing/2014/main" val="3952960741"/>
                    </a:ext>
                  </a:extLst>
                </a:gridCol>
              </a:tblGrid>
              <a:tr h="25534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구 분</a:t>
                      </a:r>
                      <a:endParaRPr lang="ko-KR" altLang="en-US" sz="14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자본적 지출</a:t>
                      </a:r>
                      <a:endParaRPr lang="ko-KR" altLang="en-US" sz="14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수익적 지출</a:t>
                      </a:r>
                      <a:endParaRPr lang="ko-KR" altLang="en-US" sz="14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611997"/>
                  </a:ext>
                </a:extLst>
              </a:tr>
              <a:tr h="5696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인식요건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(1) </a:t>
                      </a:r>
                      <a:r>
                        <a:rPr lang="ko-KR" altLang="en-US" sz="1400" kern="0" spc="-30" dirty="0">
                          <a:effectLst/>
                        </a:rPr>
                        <a:t>미래 경제적 </a:t>
                      </a:r>
                      <a:r>
                        <a:rPr lang="ko-KR" altLang="en-US" sz="1400" kern="0" spc="-30" dirty="0" err="1">
                          <a:effectLst/>
                        </a:rPr>
                        <a:t>효익의</a:t>
                      </a:r>
                      <a:r>
                        <a:rPr lang="ko-KR" altLang="en-US" sz="1400" kern="0" spc="-30" dirty="0">
                          <a:effectLst/>
                        </a:rPr>
                        <a:t> 유입가능성 높음</a:t>
                      </a:r>
                      <a:endParaRPr lang="ko-KR" altLang="en-US" sz="1400" kern="0" spc="-60" dirty="0"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(2) </a:t>
                      </a:r>
                      <a:r>
                        <a:rPr lang="ko-KR" altLang="en-US" sz="1400" kern="0" spc="-30" dirty="0">
                          <a:effectLst/>
                        </a:rPr>
                        <a:t>원가를 신뢰성 있게 측정가능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왼쪽의 </a:t>
                      </a:r>
                      <a:r>
                        <a:rPr lang="en-US" altLang="ko-KR" sz="1400" kern="0" spc="-30" dirty="0">
                          <a:effectLst/>
                        </a:rPr>
                        <a:t>(1)</a:t>
                      </a:r>
                      <a:r>
                        <a:rPr lang="ko-KR" altLang="en-US" sz="1400" kern="0" spc="-30" dirty="0">
                          <a:effectLst/>
                        </a:rPr>
                        <a:t>과 </a:t>
                      </a:r>
                      <a:r>
                        <a:rPr lang="en-US" altLang="ko-KR" sz="1400" kern="0" spc="-30" dirty="0">
                          <a:effectLst/>
                        </a:rPr>
                        <a:t>(2)</a:t>
                      </a:r>
                      <a:r>
                        <a:rPr lang="ko-KR" altLang="en-US" sz="1400" kern="0" spc="-30" dirty="0">
                          <a:effectLst/>
                        </a:rPr>
                        <a:t>가 충족되지 아니할 때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972178925"/>
                  </a:ext>
                </a:extLst>
              </a:tr>
              <a:tr h="5696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회계처리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유형자산의 증가로 처리하고 향후 감가상각을 </a:t>
                      </a:r>
                      <a:endParaRPr lang="en-US" altLang="ko-KR" sz="1400" kern="0" spc="-30" dirty="0"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통해 </a:t>
                      </a:r>
                      <a:r>
                        <a:rPr lang="ko-KR" altLang="en-US" sz="1400" kern="0" spc="-30" dirty="0" err="1">
                          <a:effectLst/>
                        </a:rPr>
                        <a:t>비용처리함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발생시점에 </a:t>
                      </a:r>
                      <a:r>
                        <a:rPr lang="ko-KR" altLang="en-US" sz="1400" kern="0" spc="-30" dirty="0" err="1">
                          <a:effectLst/>
                        </a:rPr>
                        <a:t>당기비용처리함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4147097585"/>
                  </a:ext>
                </a:extLst>
              </a:tr>
              <a:tr h="113894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사례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(1) </a:t>
                      </a:r>
                      <a:r>
                        <a:rPr lang="ko-KR" altLang="en-US" sz="1400" kern="0" spc="-30" dirty="0">
                          <a:effectLst/>
                        </a:rPr>
                        <a:t>정기적 교체가 필요한 부품 원가</a:t>
                      </a:r>
                      <a:endParaRPr lang="en-US" altLang="ko-KR" sz="1400" kern="0" spc="-30" dirty="0"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(</a:t>
                      </a:r>
                      <a:r>
                        <a:rPr lang="ko-KR" altLang="en-US" sz="1400" kern="0" spc="-30" dirty="0">
                          <a:effectLst/>
                        </a:rPr>
                        <a:t>제철소의 용광로 등</a:t>
                      </a:r>
                      <a:r>
                        <a:rPr lang="en-US" altLang="ko-KR" sz="1400" kern="0" spc="-30" dirty="0">
                          <a:effectLst/>
                        </a:rPr>
                        <a:t>)</a:t>
                      </a:r>
                      <a:endParaRPr lang="ko-KR" altLang="en-US" sz="1400" kern="0" spc="-60" dirty="0"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effectLst/>
                        </a:rPr>
                        <a:t>(2) </a:t>
                      </a:r>
                      <a:r>
                        <a:rPr lang="ko-KR" altLang="en-US" sz="1400" kern="0" spc="-30" dirty="0">
                          <a:effectLst/>
                        </a:rPr>
                        <a:t>항공기 등 유형자산의 가동을 위해 정기적인 </a:t>
                      </a:r>
                      <a:endParaRPr lang="en-US" altLang="ko-KR" sz="1400" kern="0" spc="-30" dirty="0"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종합검사 등이 필요할 경우 이때 발생하는 원가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일상적인 수선</a:t>
                      </a:r>
                      <a:r>
                        <a:rPr lang="en-US" altLang="ko-KR" sz="1400" kern="0" spc="-30" dirty="0">
                          <a:effectLst/>
                        </a:rPr>
                        <a:t>․</a:t>
                      </a:r>
                      <a:r>
                        <a:rPr lang="ko-KR" altLang="en-US" sz="1400" kern="0" spc="-30" dirty="0">
                          <a:effectLst/>
                        </a:rPr>
                        <a:t>유지와 관련하여 발생하는 원가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573049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85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095476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7-1 </a:t>
                  </a:r>
                  <a:r>
                    <a:rPr lang="ko-KR" altLang="en-US" sz="1600" b="1" dirty="0"/>
                    <a:t>자본적 지출과 수익적 지출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49"/>
            <a:ext cx="7775575" cy="468353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50000"/>
              </a:lnSpc>
              <a:spcBef>
                <a:spcPct val="0"/>
              </a:spcBef>
            </a:pPr>
            <a:r>
              <a:rPr lang="en-US" altLang="ko-KR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포스코는 </a:t>
            </a:r>
            <a:r>
              <a:rPr lang="en-US" altLang="ko-KR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2x11</a:t>
            </a:r>
            <a:r>
              <a:rPr lang="ko-KR" altLang="en-US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일에 용광로 </a:t>
            </a:r>
            <a:r>
              <a:rPr lang="en-US" altLang="ko-KR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50</a:t>
            </a:r>
            <a:r>
              <a:rPr lang="ko-KR" altLang="en-US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호기의 가동을 시작하였다</a:t>
            </a:r>
            <a:r>
              <a:rPr lang="en-US" altLang="ko-KR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제철소의 경우 정상적인 생산을 위해 매 </a:t>
            </a:r>
            <a:r>
              <a:rPr lang="en-US" altLang="ko-KR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년마다 용광로를 교체해야 한다</a:t>
            </a:r>
            <a:r>
              <a:rPr lang="en-US" altLang="ko-KR" sz="1400" b="1" dirty="0">
                <a:solidFill>
                  <a:srgbClr val="161616"/>
                </a:solidFill>
                <a:latin typeface="맑은 고딕" panose="020B0503020000020004" pitchFamily="50" charset="-127"/>
              </a:rPr>
              <a:t>. </a:t>
            </a:r>
            <a:r>
              <a:rPr lang="en-US" altLang="ko-KR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 2x21</a:t>
            </a:r>
            <a:r>
              <a:rPr lang="ko-KR" altLang="en-US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일 용광로 가동 </a:t>
            </a:r>
            <a:r>
              <a:rPr lang="en-US" altLang="ko-KR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년이 되어 정기적인 용광로 교체를 수행하였으며</a:t>
            </a:r>
            <a:r>
              <a:rPr lang="en-US" altLang="ko-KR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총 ￦</a:t>
            </a:r>
            <a:r>
              <a:rPr lang="en-US" altLang="ko-KR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1,000,000</a:t>
            </a:r>
            <a:r>
              <a:rPr lang="ko-KR" altLang="en-US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의 금액이 소요되었다</a:t>
            </a:r>
            <a:r>
              <a:rPr lang="en-US" altLang="ko-KR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이 경우 회계처리는 다음과 같다</a:t>
            </a:r>
            <a:r>
              <a:rPr lang="en-US" altLang="ko-KR" sz="1400" dirty="0">
                <a:solidFill>
                  <a:srgbClr val="16161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ko-KR" sz="1400" dirty="0">
              <a:solidFill>
                <a:srgbClr val="161616"/>
              </a:solidFill>
              <a:latin typeface="맑은 고딕" panose="020B0503020000020004" pitchFamily="50" charset="-127"/>
              <a:ea typeface="굴림" panose="020B0600000101010101" pitchFamily="50" charset="-127"/>
            </a:endParaRPr>
          </a:p>
          <a:p>
            <a:pPr defTabSz="995363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rgbClr val="000000"/>
                </a:solidFill>
                <a:latin typeface="맑은 고딕" pitchFamily="50" charset="-127"/>
              </a:rPr>
              <a:t> ① 자본적 지출 회계처리 </a:t>
            </a:r>
            <a:r>
              <a:rPr lang="en-US" altLang="ko-KR" sz="1400" dirty="0">
                <a:solidFill>
                  <a:srgbClr val="000000"/>
                </a:solidFill>
                <a:latin typeface="맑은 고딕" pitchFamily="50" charset="-127"/>
              </a:rPr>
              <a:t>– </a:t>
            </a:r>
            <a:r>
              <a:rPr lang="ko-KR" altLang="en-US" sz="1400" dirty="0">
                <a:solidFill>
                  <a:srgbClr val="000000"/>
                </a:solidFill>
                <a:latin typeface="맑은 고딕" pitchFamily="50" charset="-127"/>
              </a:rPr>
              <a:t>제품생산에 필수적인 주요부품의 교체</a:t>
            </a:r>
          </a:p>
          <a:p>
            <a:pPr defTabSz="995363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        </a:t>
            </a:r>
            <a:r>
              <a:rPr lang="en-US" altLang="ko-KR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(</a:t>
            </a:r>
            <a:r>
              <a:rPr lang="ko-KR" altLang="en-US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차</a:t>
            </a:r>
            <a:r>
              <a:rPr lang="en-US" altLang="ko-KR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) </a:t>
            </a:r>
            <a:r>
              <a:rPr lang="ko-KR" altLang="en-US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기계장치	</a:t>
            </a:r>
            <a:r>
              <a:rPr lang="en-US" altLang="ko-KR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1,000,000</a:t>
            </a:r>
            <a:r>
              <a:rPr lang="ko-KR" altLang="en-US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	         </a:t>
            </a:r>
            <a:r>
              <a:rPr lang="en-US" altLang="ko-KR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(</a:t>
            </a:r>
            <a:r>
              <a:rPr lang="ko-KR" altLang="en-US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대</a:t>
            </a:r>
            <a:r>
              <a:rPr lang="en-US" altLang="ko-KR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) </a:t>
            </a:r>
            <a:r>
              <a:rPr lang="ko-KR" altLang="en-US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현 금      </a:t>
            </a:r>
            <a:r>
              <a:rPr lang="en-US" altLang="ko-KR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1,000,000</a:t>
            </a:r>
          </a:p>
          <a:p>
            <a:pPr defTabSz="995363">
              <a:lnSpc>
                <a:spcPct val="150000"/>
              </a:lnSpc>
              <a:defRPr/>
            </a:pPr>
            <a:endParaRPr lang="en-US" altLang="ko-KR" sz="1400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latinLnBrk="0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또한</a:t>
            </a:r>
            <a:r>
              <a:rPr lang="en-US" altLang="ko-KR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</a:t>
            </a:r>
            <a:r>
              <a:rPr lang="ko-KR" altLang="en-US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㈜포스코는 건물의 외벽을 다시 페인트칠하였는데</a:t>
            </a:r>
            <a:r>
              <a:rPr lang="en-US" altLang="ko-KR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, </a:t>
            </a:r>
            <a:r>
              <a:rPr lang="ko-KR" altLang="en-US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이에 대해 ￦</a:t>
            </a:r>
            <a:r>
              <a:rPr lang="en-US" altLang="ko-KR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500,000</a:t>
            </a:r>
            <a:r>
              <a:rPr lang="ko-KR" altLang="en-US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을 지출하였을 경우에 다음과 같이 회계처리한다</a:t>
            </a:r>
            <a:r>
              <a:rPr lang="en-US" altLang="ko-KR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.</a:t>
            </a:r>
          </a:p>
          <a:p>
            <a:pPr defTabSz="995363">
              <a:lnSpc>
                <a:spcPct val="150000"/>
              </a:lnSpc>
              <a:defRPr/>
            </a:pPr>
            <a:endParaRPr lang="en-US" altLang="ko-KR" sz="1400" dirty="0">
              <a:solidFill>
                <a:schemeClr val="accent4">
                  <a:lumMod val="10000"/>
                </a:schemeClr>
              </a:solidFill>
              <a:latin typeface="맑은 고딕" pitchFamily="50" charset="-127"/>
            </a:endParaRPr>
          </a:p>
          <a:p>
            <a:pPr defTabSz="995363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② 수익적 지출의 회계처리 </a:t>
            </a:r>
            <a:r>
              <a:rPr lang="en-US" altLang="ko-KR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– </a:t>
            </a:r>
            <a:r>
              <a:rPr lang="ko-KR" altLang="en-US" sz="14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일상적인 수리비의 지출</a:t>
            </a:r>
          </a:p>
          <a:p>
            <a:pPr defTabSz="995363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rgbClr val="000000"/>
                </a:solidFill>
                <a:latin typeface="맑은 고딕" pitchFamily="50" charset="-127"/>
              </a:rPr>
              <a:t>         </a:t>
            </a: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</a:rPr>
              <a:t>차</a:t>
            </a: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</a:rPr>
              <a:t>) </a:t>
            </a: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</a:rPr>
              <a:t>수선비          </a:t>
            </a: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</a:rPr>
              <a:t>500,000             (</a:t>
            </a: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</a:rPr>
              <a:t>대</a:t>
            </a: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</a:rPr>
              <a:t>) </a:t>
            </a:r>
            <a:r>
              <a:rPr lang="ko-KR" altLang="en-US" sz="14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현 금        </a:t>
            </a: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</a:rPr>
              <a:t>500,000 </a:t>
            </a:r>
          </a:p>
          <a:p>
            <a:pPr defTabSz="995363">
              <a:lnSpc>
                <a:spcPct val="150000"/>
              </a:lnSpc>
              <a:defRPr/>
            </a:pPr>
            <a:endParaRPr lang="en-US" altLang="ko-KR" sz="14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>
              <a:lnSpc>
                <a:spcPts val="2400"/>
              </a:lnSpc>
              <a:defRPr/>
            </a:pPr>
            <a:endParaRPr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>
              <a:lnSpc>
                <a:spcPts val="2400"/>
              </a:lnSpc>
              <a:defRPr/>
            </a:pPr>
            <a:r>
              <a:rPr lang="ko-KR" altLang="en-US" sz="1400" dirty="0">
                <a:solidFill>
                  <a:srgbClr val="000000"/>
                </a:solidFill>
                <a:latin typeface="맑은 고딕" pitchFamily="50" charset="-127"/>
              </a:rPr>
              <a:t>  </a:t>
            </a:r>
            <a:endParaRPr lang="ko-KR" altLang="en-US" sz="1400" dirty="0">
              <a:solidFill>
                <a:srgbClr val="161616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699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57473" y="1304444"/>
            <a:ext cx="8650725" cy="3417346"/>
            <a:chOff x="2626908" y="1693823"/>
            <a:chExt cx="11534300" cy="4036750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39383" y="2187798"/>
              <a:ext cx="11521825" cy="3542775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유형자산의 원가에서 잔존가치를 차감한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감가상각대상 금액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을 자산의 내용연수 동안              체계적이고 합리적으로 배분하여 비용화시키는 과정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즉 해당 자산이 창출한 수익과 수익 창출을 위해 희생된 비용을 대응하는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원가배분의 과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단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토지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는 사용할 수 있는 기간이 무한하므로 감가상각을 하지 않음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계산요소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 ①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감가상각대상금액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=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취득원가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-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추정잔존가치</a:t>
              </a:r>
              <a:endParaRPr lang="ko-KR" altLang="en-US" sz="1600" b="1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 ②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내용연수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자산이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사용가능할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것으로 기대되는 기간 또는 자산에서 얻을 것으로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                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기대되는 생산량이나 이와 유사한 단위 수량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6727535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감가상각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(depreciation)</a:t>
              </a: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의 정의 및 계산요소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923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328712" y="1312084"/>
            <a:ext cx="8641369" cy="2296281"/>
            <a:chOff x="2626683" y="1693823"/>
            <a:chExt cx="11521825" cy="3567764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313596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just" latinLnBrk="0">
                <a:spcBef>
                  <a:spcPct val="0"/>
                </a:spcBef>
                <a:buClrTx/>
                <a:buSzTx/>
                <a:buNone/>
              </a:pPr>
              <a:endParaRPr lang="en-US" altLang="ko-KR" sz="15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5470235" cy="214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감가상각비의 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회계처리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Rectangle 15">
            <a:extLst>
              <a:ext uri="{FF2B5EF4-FFF2-40B4-BE49-F238E27FC236}">
                <a16:creationId xmlns:a16="http://schemas.microsoft.com/office/drawing/2014/main" id="{31A531E4-1033-452E-B4A8-62CEB22FA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31" y="1733154"/>
            <a:ext cx="8641369" cy="2421633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 latinLnBrk="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ko-KR" altLang="en-US" sz="1600" dirty="0">
                <a:latin typeface="맑은 고딕" panose="020B0503020000020004" pitchFamily="50" charset="-127"/>
              </a:rPr>
              <a:t>당기 </a:t>
            </a:r>
            <a:r>
              <a:rPr lang="ko-KR" altLang="en-US" sz="1600" b="1" dirty="0">
                <a:latin typeface="맑은 고딕" panose="020B0503020000020004" pitchFamily="50" charset="-127"/>
              </a:rPr>
              <a:t>감가상각비</a:t>
            </a:r>
            <a:r>
              <a:rPr lang="ko-KR" altLang="en-US" sz="1600" dirty="0">
                <a:latin typeface="맑은 고딕" panose="020B0503020000020004" pitchFamily="50" charset="-127"/>
              </a:rPr>
              <a:t>를 차변에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대변에는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</a:rPr>
              <a:t>자산에 대한 차감계정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을 사용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ko-KR" altLang="en-US" sz="1600" dirty="0">
                <a:latin typeface="맑은 고딕" panose="020B0503020000020004" pitchFamily="50" charset="-127"/>
              </a:rPr>
              <a:t>감가상각비는 당기비용으로 손익계산서에 반영</a:t>
            </a:r>
            <a:r>
              <a:rPr lang="en-US" altLang="ko-KR" sz="1600" dirty="0">
                <a:latin typeface="맑은 고딕" panose="020B0503020000020004" pitchFamily="50" charset="-127"/>
              </a:rPr>
              <a:t>. </a:t>
            </a:r>
          </a:p>
          <a:p>
            <a:pPr marL="285750" indent="-285750" latinLnBrk="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ko-KR" altLang="en-US" sz="1600" dirty="0" err="1">
                <a:latin typeface="맑은 고딕" panose="020B0503020000020004" pitchFamily="50" charset="-127"/>
              </a:rPr>
              <a:t>감가상각누계액은</a:t>
            </a:r>
            <a:r>
              <a:rPr lang="ko-KR" altLang="en-US" sz="1600" dirty="0">
                <a:latin typeface="맑은 고딕" panose="020B0503020000020004" pitchFamily="50" charset="-127"/>
              </a:rPr>
              <a:t> 취득 이후 인식한 감가상각비의 누적 합계액 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</a:rPr>
              <a:t>재무상태표의 유형자산 취득원가에서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감가상각누계액을</a:t>
            </a:r>
            <a:r>
              <a:rPr lang="ko-KR" altLang="en-US" sz="1600" dirty="0">
                <a:latin typeface="맑은 고딕" panose="020B0503020000020004" pitchFamily="50" charset="-127"/>
              </a:rPr>
              <a:t> 차감하는 형식으로 표시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</a:p>
          <a:p>
            <a:pPr marL="285750" indent="-285750" latinLnBrk="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ko-KR" altLang="en-US" sz="1600" dirty="0">
                <a:latin typeface="맑은 고딕" panose="020B0503020000020004" pitchFamily="50" charset="-127"/>
              </a:rPr>
              <a:t>유형자산의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장부금액 </a:t>
            </a:r>
            <a:r>
              <a:rPr lang="en-US" altLang="ko-KR" sz="1600" dirty="0">
                <a:latin typeface="맑은 고딕" panose="020B0503020000020004" pitchFamily="50" charset="-127"/>
              </a:rPr>
              <a:t>= </a:t>
            </a:r>
            <a:r>
              <a:rPr lang="ko-KR" altLang="en-US" sz="1600" dirty="0">
                <a:latin typeface="맑은 고딕" panose="020B0503020000020004" pitchFamily="50" charset="-127"/>
              </a:rPr>
              <a:t>유형자산의 원가 </a:t>
            </a:r>
            <a:r>
              <a:rPr lang="en-US" altLang="ko-KR" sz="1600" dirty="0">
                <a:latin typeface="맑은 고딕" panose="020B0503020000020004" pitchFamily="50" charset="-127"/>
              </a:rPr>
              <a:t>–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92AB7F6-E12C-4AE5-9EEF-60900DB7E330}"/>
              </a:ext>
            </a:extLst>
          </p:cNvPr>
          <p:cNvGrpSpPr/>
          <p:nvPr/>
        </p:nvGrpSpPr>
        <p:grpSpPr>
          <a:xfrm>
            <a:off x="237670" y="3778430"/>
            <a:ext cx="8308626" cy="307777"/>
            <a:chOff x="1287462" y="4754314"/>
            <a:chExt cx="8308626" cy="307777"/>
          </a:xfrm>
        </p:grpSpPr>
        <p:sp>
          <p:nvSpPr>
            <p:cNvPr id="15" name="오각형 18">
              <a:extLst>
                <a:ext uri="{FF2B5EF4-FFF2-40B4-BE49-F238E27FC236}">
                  <a16:creationId xmlns:a16="http://schemas.microsoft.com/office/drawing/2014/main" id="{8188BA85-F1CA-4691-9D15-2F6251ABCD98}"/>
                </a:ext>
              </a:extLst>
            </p:cNvPr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D9D76C-03BF-4361-BF68-7EA2AC0DD976}"/>
                </a:ext>
              </a:extLst>
            </p:cNvPr>
            <p:cNvSpPr txBox="1"/>
            <p:nvPr/>
          </p:nvSpPr>
          <p:spPr>
            <a:xfrm>
              <a:off x="2079461" y="4754314"/>
              <a:ext cx="7516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감가상각비의 개념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693" y="3794906"/>
            <a:ext cx="5836928" cy="2726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8847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532314" cy="4867642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7-2 </a:t>
                  </a:r>
                  <a:r>
                    <a:rPr lang="ko-KR" altLang="en-US" sz="1600" b="1" dirty="0"/>
                    <a:t>감가상각비의 회계처리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동국제강은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1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일에 기계장치를 </a:t>
            </a:r>
            <a:r>
              <a:rPr lang="en-US" altLang="ko-KR" sz="1600" b="1" dirty="0">
                <a:latin typeface="맑은 고딕" panose="020B0503020000020004" pitchFamily="50" charset="-127"/>
              </a:rPr>
              <a:t>\2,000,000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취득하였다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년에 계산한 감가상각비가 </a:t>
            </a:r>
            <a:r>
              <a:rPr lang="en-US" altLang="ko-KR" sz="1600" b="1" dirty="0">
                <a:latin typeface="맑은 고딕" panose="020B0503020000020004" pitchFamily="50" charset="-127"/>
              </a:rPr>
              <a:t>\600,000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인 경우에 다음과 같이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회계처리한다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latin typeface="맑은 고딕" panose="020B0503020000020004" pitchFamily="50" charset="-127"/>
              </a:rPr>
              <a:t> ① 기계장치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취득시</a:t>
            </a:r>
            <a:r>
              <a:rPr lang="ko-KR" altLang="en-US" sz="1500" dirty="0">
                <a:latin typeface="맑은 고딕" panose="020B0503020000020004" pitchFamily="50" charset="-127"/>
              </a:rPr>
              <a:t>           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기 계 장 치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2,000,000    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현         금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2,000,000   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latin typeface="맑은 고딕" panose="020B0503020000020004" pitchFamily="50" charset="-127"/>
              </a:rPr>
              <a:t> ② 감가상각비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감가상각비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600,000     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500" b="1" dirty="0">
                <a:latin typeface="맑은 고딕" panose="020B0503020000020004" pitchFamily="50" charset="-127"/>
              </a:rPr>
              <a:t>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600,000    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20X1</a:t>
            </a:r>
            <a:r>
              <a:rPr lang="ko-KR" altLang="en-US" sz="1500" dirty="0">
                <a:latin typeface="맑은 고딕" panose="020B0503020000020004" pitchFamily="50" charset="-127"/>
              </a:rPr>
              <a:t>년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재무상태표에</a:t>
            </a:r>
            <a:r>
              <a:rPr lang="ko-KR" altLang="en-US" sz="1500" dirty="0">
                <a:latin typeface="맑은 고딕" panose="020B0503020000020004" pitchFamily="50" charset="-127"/>
              </a:rPr>
              <a:t> 기계장치를 표시할 때에는 아래와 같이 취득원가와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감가상각누계액을</a:t>
            </a:r>
            <a:r>
              <a:rPr lang="ko-KR" altLang="en-US" sz="1500" dirty="0">
                <a:latin typeface="맑은 고딕" panose="020B0503020000020004" pitchFamily="50" charset="-127"/>
              </a:rPr>
              <a:t> 함께 나타낸다</a:t>
            </a:r>
            <a:r>
              <a:rPr lang="en-US" altLang="ko-KR" sz="1500" dirty="0">
                <a:latin typeface="맑은 고딕" panose="020B0503020000020004" pitchFamily="50" charset="-127"/>
              </a:rPr>
              <a:t>. 20X1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dirty="0">
                <a:latin typeface="맑은 고딕" panose="020B0503020000020004" pitchFamily="50" charset="-127"/>
              </a:rPr>
              <a:t> 기계장치의 장부금액은 </a:t>
            </a:r>
            <a:r>
              <a:rPr lang="en-US" altLang="ko-KR" sz="1500" dirty="0">
                <a:latin typeface="맑은 고딕" panose="020B0503020000020004" pitchFamily="50" charset="-127"/>
              </a:rPr>
              <a:t>\1,400,000</a:t>
            </a:r>
            <a:r>
              <a:rPr lang="ko-KR" altLang="en-US" sz="1500" dirty="0">
                <a:latin typeface="맑은 고딕" panose="020B0503020000020004" pitchFamily="50" charset="-127"/>
              </a:rPr>
              <a:t>이 됨  </a:t>
            </a:r>
            <a:endParaRPr lang="en-US" altLang="ko-KR" sz="15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36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532314" cy="4867642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7-2 </a:t>
                  </a:r>
                  <a:r>
                    <a:rPr lang="ko-KR" altLang="en-US" sz="1600" b="1" dirty="0"/>
                    <a:t>감가상각비의 회계처리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600" dirty="0">
                <a:latin typeface="맑은 고딕" panose="020B0503020000020004" pitchFamily="50" charset="-127"/>
              </a:rPr>
              <a:t>다음 연도인 </a:t>
            </a:r>
            <a:r>
              <a:rPr lang="en-US" altLang="ko-KR" sz="1600" dirty="0">
                <a:latin typeface="맑은 고딕" panose="020B0503020000020004" pitchFamily="50" charset="-127"/>
              </a:rPr>
              <a:t>20X2</a:t>
            </a:r>
            <a:r>
              <a:rPr lang="ko-KR" altLang="en-US" sz="1600" dirty="0">
                <a:latin typeface="맑은 고딕" panose="020B0503020000020004" pitchFamily="50" charset="-127"/>
              </a:rPr>
              <a:t>년에 </a:t>
            </a:r>
            <a:r>
              <a:rPr lang="en-US" altLang="ko-KR" sz="1600" dirty="0">
                <a:latin typeface="맑은 고딕" panose="020B0503020000020004" pitchFamily="50" charset="-127"/>
              </a:rPr>
              <a:t>\600,000</a:t>
            </a:r>
            <a:r>
              <a:rPr lang="ko-KR" altLang="en-US" sz="1600" dirty="0">
                <a:latin typeface="맑은 고딕" panose="020B0503020000020004" pitchFamily="50" charset="-127"/>
              </a:rPr>
              <a:t>의 감가상각비를 인식했다면</a:t>
            </a:r>
            <a:r>
              <a:rPr lang="en-US" altLang="ko-KR" sz="1600" dirty="0">
                <a:latin typeface="맑은 고딕" panose="020B0503020000020004" pitchFamily="50" charset="-127"/>
              </a:rPr>
              <a:t>, 20X2</a:t>
            </a:r>
            <a:r>
              <a:rPr lang="ko-KR" altLang="en-US" sz="1600" dirty="0">
                <a:latin typeface="맑은 고딕" panose="020B0503020000020004" pitchFamily="50" charset="-127"/>
              </a:rPr>
              <a:t>년 손익계산서에 반영되는 감가상각비는 </a:t>
            </a:r>
            <a:r>
              <a:rPr lang="en-US" altLang="ko-KR" sz="1600" dirty="0">
                <a:latin typeface="맑은 고딕" panose="020B0503020000020004" pitchFamily="50" charset="-127"/>
              </a:rPr>
              <a:t>\600,000</a:t>
            </a:r>
            <a:r>
              <a:rPr lang="ko-KR" altLang="en-US" sz="1600" dirty="0">
                <a:latin typeface="맑은 고딕" panose="020B0503020000020004" pitchFamily="50" charset="-127"/>
              </a:rPr>
              <a:t>이며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감가상각누계액은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20X1</a:t>
            </a:r>
            <a:r>
              <a:rPr lang="ko-KR" altLang="en-US" sz="1600" dirty="0">
                <a:latin typeface="맑은 고딕" panose="020B0503020000020004" pitchFamily="50" charset="-127"/>
              </a:rPr>
              <a:t>년과 </a:t>
            </a:r>
            <a:r>
              <a:rPr lang="en-US" altLang="ko-KR" sz="1600" dirty="0">
                <a:latin typeface="맑은 고딕" panose="020B0503020000020004" pitchFamily="50" charset="-127"/>
              </a:rPr>
              <a:t>20X2</a:t>
            </a:r>
            <a:r>
              <a:rPr lang="ko-KR" altLang="en-US" sz="1600" dirty="0">
                <a:latin typeface="맑은 고딕" panose="020B0503020000020004" pitchFamily="50" charset="-127"/>
              </a:rPr>
              <a:t>년에 인식한 감가상각비의 합인 </a:t>
            </a:r>
            <a:r>
              <a:rPr lang="en-US" altLang="ko-KR" sz="1600" dirty="0">
                <a:latin typeface="맑은 고딕" panose="020B0503020000020004" pitchFamily="50" charset="-127"/>
              </a:rPr>
              <a:t>\1,200,000</a:t>
            </a:r>
            <a:r>
              <a:rPr lang="ko-KR" altLang="en-US" sz="1600" dirty="0">
                <a:latin typeface="맑은 고딕" panose="020B0503020000020004" pitchFamily="50" charset="-127"/>
              </a:rPr>
              <a:t>임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48713" y="1728190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u="sng" dirty="0">
                <a:latin typeface="맑은 고딕" panose="020B0503020000020004" pitchFamily="50" charset="-127"/>
              </a:rPr>
              <a:t> </a:t>
            </a:r>
            <a:r>
              <a:rPr lang="ko-KR" altLang="en-US" sz="1400" b="1" u="sng" dirty="0" err="1">
                <a:latin typeface="맑은 고딕" panose="020B0503020000020004" pitchFamily="50" charset="-127"/>
              </a:rPr>
              <a:t>부분재무상태표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(20X1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년 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12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월 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31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일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)  </a:t>
            </a:r>
            <a:r>
              <a:rPr lang="en-US" altLang="ko-KR" sz="1400" b="1" u="sng" dirty="0">
                <a:solidFill>
                  <a:schemeClr val="tx2"/>
                </a:solidFill>
                <a:latin typeface="맑은 고딕" panose="020B0503020000020004" pitchFamily="50" charset="-127"/>
              </a:rPr>
              <a:t>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비유동자산</a:t>
            </a:r>
            <a:endParaRPr lang="ko-KR" altLang="en-US" sz="14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기 계 장 치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\2,000,000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     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(600,000)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                          </a:t>
            </a:r>
            <a:r>
              <a:rPr lang="ko-KR" altLang="en-US" sz="1100" b="1" dirty="0">
                <a:latin typeface="맑은 고딕" panose="020B0503020000020004" pitchFamily="50" charset="-127"/>
              </a:rPr>
              <a:t>   </a:t>
            </a:r>
            <a:r>
              <a:rPr lang="ko-KR" altLang="en-US" sz="1400" b="1" dirty="0">
                <a:latin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</a:rPr>
              <a:t>\1,400,000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679121" y="172819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u="sng" dirty="0">
                <a:latin typeface="맑은 고딕" panose="020B0503020000020004" pitchFamily="50" charset="-127"/>
              </a:rPr>
              <a:t> 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부분포괄손익계산서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(20X1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년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)  </a:t>
            </a:r>
            <a:r>
              <a:rPr lang="en-US" altLang="ko-KR" sz="1400" b="1" u="sng" dirty="0">
                <a:solidFill>
                  <a:schemeClr val="tx2"/>
                </a:solidFill>
                <a:latin typeface="맑은 고딕" panose="020B0503020000020004" pitchFamily="50" charset="-127"/>
              </a:rPr>
              <a:t>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     감가상각비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600,000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                                  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573662" y="4489590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u="sng" dirty="0">
                <a:latin typeface="맑은 고딕" panose="020B0503020000020004" pitchFamily="50" charset="-127"/>
              </a:rPr>
              <a:t> </a:t>
            </a:r>
            <a:r>
              <a:rPr lang="ko-KR" altLang="en-US" sz="1400" b="1" u="sng" dirty="0" err="1">
                <a:latin typeface="맑은 고딕" panose="020B0503020000020004" pitchFamily="50" charset="-127"/>
              </a:rPr>
              <a:t>부분재무상태표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(20X2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년 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12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월 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31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일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)  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비유동자산</a:t>
            </a:r>
            <a:endParaRPr lang="ko-KR" altLang="en-US" sz="14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기 계 장 치          </a:t>
            </a:r>
            <a:r>
              <a:rPr lang="ko-KR" altLang="en-US" sz="1100" b="1" dirty="0">
                <a:latin typeface="맑은 고딕" panose="020B0503020000020004" pitchFamily="50" charset="-127"/>
              </a:rPr>
              <a:t>   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\2,000,000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   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(1,200,000)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                       </a:t>
            </a:r>
            <a:r>
              <a:rPr lang="ko-KR" altLang="en-US" sz="1100" b="1" dirty="0">
                <a:latin typeface="맑은 고딕" panose="020B0503020000020004" pitchFamily="50" charset="-127"/>
              </a:rPr>
              <a:t>   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\800,000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4615974" y="4502162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u="sng" dirty="0">
                <a:latin typeface="맑은 고딕" panose="020B0503020000020004" pitchFamily="50" charset="-127"/>
              </a:rPr>
              <a:t> 부분포괄손익계산서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(20X2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년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)  </a:t>
            </a:r>
            <a:r>
              <a:rPr lang="en-US" altLang="ko-KR" sz="1400" b="1" u="sng" dirty="0">
                <a:solidFill>
                  <a:schemeClr val="tx2"/>
                </a:solidFill>
                <a:latin typeface="맑은 고딕" panose="020B0503020000020004" pitchFamily="50" charset="-127"/>
              </a:rPr>
              <a:t>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       감가상각비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600,000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                              </a:t>
            </a:r>
            <a:endParaRPr lang="ko-KR" altLang="en-US" sz="14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6276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83150" y="1304444"/>
            <a:ext cx="8650725" cy="5258281"/>
            <a:chOff x="2626908" y="1693823"/>
            <a:chExt cx="11534300" cy="7011040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39383" y="2125623"/>
              <a:ext cx="11521825" cy="657924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8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정액법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자산의 내용연수 동안 매기 동일한 금액을 감가상각비로 처리하는 방법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체감잔액법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자산의 내용연수 동안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감가상각액이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매기간 감소하는 방법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    	    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유형자산의 가치가 자산 사용초기에 더 많이 감소하는 경우에 적합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 ①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정률법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유형자산의 기초 장부금액에 일정한 비율을 곱한 금액을 감가상각비로 인식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 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  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②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연수합계법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내용연수의 합계를 분모로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잔여 내용연수를 분자로 삼아 상각률을 계산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6727535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감가상각방법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8"/>
          <p:cNvGrpSpPr>
            <a:grpSpLocks/>
          </p:cNvGrpSpPr>
          <p:nvPr/>
        </p:nvGrpSpPr>
        <p:grpSpPr bwMode="auto">
          <a:xfrm>
            <a:off x="1624465" y="2246575"/>
            <a:ext cx="4086225" cy="727935"/>
            <a:chOff x="2343150" y="4607799"/>
            <a:chExt cx="4086225" cy="727549"/>
          </a:xfrm>
        </p:grpSpPr>
        <p:sp>
          <p:nvSpPr>
            <p:cNvPr id="36" name="TextBox 35"/>
            <p:cNvSpPr txBox="1"/>
            <p:nvPr/>
          </p:nvSpPr>
          <p:spPr>
            <a:xfrm>
              <a:off x="2343150" y="4789534"/>
              <a:ext cx="1681163" cy="3046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연간 감가상각비 </a:t>
              </a:r>
              <a:r>
                <a:rPr lang="en-US" altLang="ko-KR" sz="14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=</a:t>
              </a:r>
              <a:endParaRPr lang="ko-KR" altLang="en-US" sz="14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710113" y="5030706"/>
              <a:ext cx="895350" cy="3046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내용연수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235450" y="4607068"/>
              <a:ext cx="1947863" cy="3046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4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4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취득원가 </a:t>
              </a:r>
              <a:r>
                <a:rPr lang="en-US" altLang="ko-KR" sz="14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– </a:t>
              </a:r>
              <a:r>
                <a:rPr lang="ko-KR" altLang="en-US" sz="14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잔존가치</a:t>
              </a:r>
              <a:r>
                <a:rPr lang="en-US" altLang="ko-KR" sz="14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4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9" name="Straight Connector 3"/>
            <p:cNvCxnSpPr>
              <a:cxnSpLocks noChangeShapeType="1"/>
            </p:cNvCxnSpPr>
            <p:nvPr/>
          </p:nvCxnSpPr>
          <p:spPr bwMode="auto">
            <a:xfrm>
              <a:off x="4067175" y="4983106"/>
              <a:ext cx="236220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40" name="Picture 24" descr="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815" y="4361470"/>
            <a:ext cx="4195762" cy="103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259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69" y="1263283"/>
            <a:ext cx="8680987" cy="5311688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7-3 </a:t>
                  </a:r>
                  <a:r>
                    <a:rPr lang="ko-KR" altLang="en-US" sz="1600" b="1" dirty="0"/>
                    <a:t>감가상각방법</a:t>
                  </a:r>
                  <a:r>
                    <a:rPr lang="en-US" altLang="ko-KR" sz="1600" b="1" dirty="0"/>
                    <a:t>: </a:t>
                  </a:r>
                  <a:r>
                    <a:rPr lang="ko-KR" altLang="en-US" sz="1600" b="1" dirty="0"/>
                    <a:t>정액법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㈜</a:t>
            </a:r>
            <a:r>
              <a:rPr lang="ko-KR" altLang="en-US" sz="1500" b="1" dirty="0">
                <a:latin typeface="맑은 고딕" panose="020B0503020000020004" pitchFamily="50" charset="-127"/>
              </a:rPr>
              <a:t>애경은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일에 기계장치를 </a:t>
            </a:r>
            <a:r>
              <a:rPr lang="en-US" altLang="ko-KR" sz="1500" b="1" dirty="0">
                <a:latin typeface="맑은 고딕" panose="020B0503020000020004" pitchFamily="50" charset="-127"/>
              </a:rPr>
              <a:t>\2,000,000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취득하였다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내용연수는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3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년이며 잔존가치는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\200,000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으로 추정되었다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감가상각방법으로 정액법을 사용한다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정액법</a:t>
            </a:r>
            <a:r>
              <a:rPr lang="ko-KR" altLang="en-US" sz="1500" b="1" dirty="0">
                <a:latin typeface="맑은 고딕" panose="020B0503020000020004" pitchFamily="50" charset="-127"/>
              </a:rPr>
              <a:t>을 사용하는 경우 매년 감가상각비와 장부금액은 아래 표와 같다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000"/>
              </a:lnSpc>
              <a:spcBef>
                <a:spcPct val="0"/>
              </a:spcBef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0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20X1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dirty="0">
                <a:latin typeface="맑은 고딕" panose="020B0503020000020004" pitchFamily="50" charset="-127"/>
              </a:rPr>
              <a:t> 감가상각비를 인식하는 분개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감가상각비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600,000     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500" b="1" dirty="0">
                <a:latin typeface="맑은 고딕" panose="020B0503020000020004" pitchFamily="50" charset="-127"/>
              </a:rPr>
              <a:t>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600,000    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42" name="Group 2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8592674"/>
              </p:ext>
            </p:extLst>
          </p:nvPr>
        </p:nvGraphicFramePr>
        <p:xfrm>
          <a:off x="1033682" y="2745630"/>
          <a:ext cx="7058025" cy="1828800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5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연도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계산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감가상각비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감가상각누계액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장부금액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2,000,000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20X1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1,800,000 X 1/3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Arial" charset="0"/>
                          <a:ea typeface="굴림" pitchFamily="50" charset="-127"/>
                        </a:rPr>
                        <a:t>600,000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600,000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1,400,000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1,800,000 X 1/3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600,000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1,200,000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 800,000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1,800,000 X 1/3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600,000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1,800,000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 200,000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1,800,000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0098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69" y="1263283"/>
            <a:ext cx="8680987" cy="5311688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7-4 </a:t>
                  </a:r>
                  <a:r>
                    <a:rPr lang="ko-KR" altLang="en-US" sz="1600" b="1" dirty="0"/>
                    <a:t>감가상각방법</a:t>
                  </a:r>
                  <a:r>
                    <a:rPr lang="en-US" altLang="ko-KR" sz="1600" b="1" dirty="0"/>
                    <a:t>: </a:t>
                  </a:r>
                  <a:r>
                    <a:rPr lang="ko-KR" altLang="en-US" sz="1600" b="1" dirty="0" err="1"/>
                    <a:t>체감잔액법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㈜</a:t>
            </a:r>
            <a:r>
              <a:rPr lang="ko-KR" altLang="en-US" sz="1500" b="1" dirty="0">
                <a:latin typeface="맑은 고딕" panose="020B0503020000020004" pitchFamily="50" charset="-127"/>
              </a:rPr>
              <a:t>애경은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일에 기계장치를 </a:t>
            </a:r>
            <a:r>
              <a:rPr lang="en-US" altLang="ko-KR" sz="1500" b="1" dirty="0">
                <a:latin typeface="맑은 고딕" panose="020B0503020000020004" pitchFamily="50" charset="-127"/>
              </a:rPr>
              <a:t>\2,000,000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취득하였다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내용연수는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3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</a:t>
            </a:r>
            <a:r>
              <a:rPr lang="en-US" altLang="ko-KR" sz="1500" b="1" dirty="0">
                <a:latin typeface="맑은 고딕" panose="020B0503020000020004" pitchFamily="50" charset="-127"/>
              </a:rPr>
              <a:t>, </a:t>
            </a:r>
            <a:r>
              <a:rPr lang="ko-KR" altLang="en-US" sz="1500" b="1" dirty="0">
                <a:latin typeface="맑은 고딕" panose="020B0503020000020004" pitchFamily="50" charset="-127"/>
              </a:rPr>
              <a:t>잔존가치는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\200,000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으로 추정되었다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정률법 상각률은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0.5358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정률법</a:t>
            </a:r>
            <a:r>
              <a:rPr lang="ko-KR" altLang="en-US" sz="1500" b="1" dirty="0">
                <a:latin typeface="맑은 고딕" panose="020B0503020000020004" pitchFamily="50" charset="-127"/>
              </a:rPr>
              <a:t>과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연수합계법을</a:t>
            </a:r>
            <a:r>
              <a:rPr lang="ko-KR" altLang="en-US" sz="1500" b="1" dirty="0">
                <a:latin typeface="맑은 고딕" panose="020B0503020000020004" pitchFamily="50" charset="-127"/>
              </a:rPr>
              <a:t> 사용할 경우 회계처리는 다음과 같다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① </a:t>
            </a:r>
            <a:r>
              <a:rPr lang="ko-KR" altLang="en-US" sz="1500" dirty="0">
                <a:latin typeface="맑은 고딕" panose="020B0503020000020004" pitchFamily="50" charset="-127"/>
              </a:rPr>
              <a:t>정률법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   </a:t>
            </a:r>
            <a:r>
              <a:rPr lang="ko-KR" altLang="en-US" sz="1500" dirty="0">
                <a:latin typeface="맑은 고딕" panose="020B0503020000020004" pitchFamily="50" charset="-127"/>
              </a:rPr>
              <a:t>정률법을 사용하는 경우 매년 감가상각비와 장부금액은 아래 표와 같다</a:t>
            </a:r>
            <a:r>
              <a:rPr lang="en-US" altLang="ko-KR" sz="1500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5" name="Group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0483043"/>
              </p:ext>
            </p:extLst>
          </p:nvPr>
        </p:nvGraphicFramePr>
        <p:xfrm>
          <a:off x="1073699" y="3358377"/>
          <a:ext cx="7129462" cy="1828800"/>
        </p:xfrm>
        <a:graphic>
          <a:graphicData uri="http://schemas.openxmlformats.org/drawingml/2006/table">
            <a:tbl>
              <a:tblPr/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9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연도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계산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감가상각비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감가상각누계액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장부금액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2,000,000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20X1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2,000,000 X 0.5358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Arial" charset="0"/>
                          <a:ea typeface="굴림" pitchFamily="50" charset="-127"/>
                        </a:rPr>
                        <a:t>1,071,600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1,071,600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 928,400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928,400 X 0.5358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497,437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1,569,037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 430,963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430,963 X 0.5358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230,963*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1,800,000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 200,000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1,800,000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996806" y="5231110"/>
            <a:ext cx="26709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</a:rPr>
              <a:t> * </a:t>
            </a:r>
            <a:r>
              <a:rPr lang="ko-KR" altLang="en-US" sz="1400" dirty="0">
                <a:latin typeface="맑은 고딕" panose="020B0503020000020004" pitchFamily="50" charset="-127"/>
              </a:rPr>
              <a:t>반올림오차를 위한 단수조정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875292" y="5658525"/>
            <a:ext cx="7844244" cy="676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20X1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dirty="0">
                <a:latin typeface="맑은 고딕" panose="020B0503020000020004" pitchFamily="50" charset="-127"/>
              </a:rPr>
              <a:t> 정률법에 의한 감가상각비를 인식하는 분개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감가상각비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1,071,600     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500" b="1" dirty="0">
                <a:latin typeface="맑은 고딕" panose="020B0503020000020004" pitchFamily="50" charset="-127"/>
              </a:rPr>
              <a:t>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1,071,600     </a:t>
            </a:r>
            <a:endParaRPr lang="ko-KR" altLang="en-US" sz="15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6435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69" y="1263283"/>
            <a:ext cx="8680987" cy="5311688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7-4 </a:t>
                  </a:r>
                  <a:r>
                    <a:rPr lang="ko-KR" altLang="en-US" sz="1600" b="1" dirty="0"/>
                    <a:t>감가상각방법</a:t>
                  </a:r>
                  <a:r>
                    <a:rPr lang="en-US" altLang="ko-KR" sz="1600" b="1" dirty="0"/>
                    <a:t>: </a:t>
                  </a:r>
                  <a:r>
                    <a:rPr lang="ko-KR" altLang="en-US" sz="1600" b="1" dirty="0" err="1"/>
                    <a:t>체감잔액법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㈜</a:t>
            </a:r>
            <a:r>
              <a:rPr lang="ko-KR" altLang="en-US" sz="1500" b="1" dirty="0">
                <a:latin typeface="맑은 고딕" panose="020B0503020000020004" pitchFamily="50" charset="-127"/>
              </a:rPr>
              <a:t>애경은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일에 기계장치를 </a:t>
            </a:r>
            <a:r>
              <a:rPr lang="en-US" altLang="ko-KR" sz="1500" b="1" dirty="0">
                <a:latin typeface="맑은 고딕" panose="020B0503020000020004" pitchFamily="50" charset="-127"/>
              </a:rPr>
              <a:t>\2,000,000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취득하였다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내용연수는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3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</a:t>
            </a:r>
            <a:r>
              <a:rPr lang="en-US" altLang="ko-KR" sz="1500" b="1" dirty="0">
                <a:latin typeface="맑은 고딕" panose="020B0503020000020004" pitchFamily="50" charset="-127"/>
              </a:rPr>
              <a:t>, </a:t>
            </a:r>
            <a:r>
              <a:rPr lang="ko-KR" altLang="en-US" sz="1500" b="1" dirty="0">
                <a:latin typeface="맑은 고딕" panose="020B0503020000020004" pitchFamily="50" charset="-127"/>
              </a:rPr>
              <a:t>잔존가치는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\200,000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으로 추정되었다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정률법 상각률은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0.5358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정률법과 </a:t>
            </a:r>
            <a:r>
              <a:rPr lang="ko-KR" altLang="en-US" sz="1500" b="1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연수합계법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을</a:t>
            </a:r>
            <a:r>
              <a:rPr lang="ko-KR" altLang="en-US" sz="1500" b="1" dirty="0">
                <a:latin typeface="맑은 고딕" panose="020B0503020000020004" pitchFamily="50" charset="-127"/>
              </a:rPr>
              <a:t> 사용할 경우 회계처리는 다음과 같다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②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연수합계법</a:t>
            </a:r>
            <a:endParaRPr lang="ko-KR" altLang="en-US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  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연수합계법을</a:t>
            </a:r>
            <a:r>
              <a:rPr lang="ko-KR" altLang="en-US" sz="1500" dirty="0">
                <a:latin typeface="맑은 고딕" panose="020B0503020000020004" pitchFamily="50" charset="-127"/>
              </a:rPr>
              <a:t> 사용하는 경우 매년 감가상각비와 장부금액은 아래 표와 같다</a:t>
            </a:r>
            <a:r>
              <a:rPr lang="en-US" altLang="ko-KR" sz="1500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75198" y="5523839"/>
            <a:ext cx="7844244" cy="679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</a:t>
            </a:r>
            <a:r>
              <a:rPr lang="en-US" altLang="ko-KR" sz="1500" dirty="0">
                <a:latin typeface="맑은 고딕" panose="020B0503020000020004" pitchFamily="50" charset="-127"/>
              </a:rPr>
              <a:t>20X1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연수합계법에</a:t>
            </a:r>
            <a:r>
              <a:rPr lang="ko-KR" altLang="en-US" sz="1500" dirty="0">
                <a:latin typeface="맑은 고딕" panose="020B0503020000020004" pitchFamily="50" charset="-127"/>
              </a:rPr>
              <a:t> 의한 감가상각비를 인식하는 분개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감가상각비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900,000     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500" b="1" dirty="0">
                <a:latin typeface="맑은 고딕" panose="020B0503020000020004" pitchFamily="50" charset="-127"/>
              </a:rPr>
              <a:t>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900,000     </a:t>
            </a:r>
            <a:endParaRPr lang="ko-KR" altLang="en-US" sz="1500" b="1" dirty="0"/>
          </a:p>
        </p:txBody>
      </p:sp>
      <p:graphicFrame>
        <p:nvGraphicFramePr>
          <p:cNvPr id="27" name="Group 7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4227365"/>
              </p:ext>
            </p:extLst>
          </p:nvPr>
        </p:nvGraphicFramePr>
        <p:xfrm>
          <a:off x="1007269" y="3427550"/>
          <a:ext cx="7129462" cy="1828800"/>
        </p:xfrm>
        <a:graphic>
          <a:graphicData uri="http://schemas.openxmlformats.org/drawingml/2006/table">
            <a:tbl>
              <a:tblPr/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9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연도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계산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감가상각비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감가상각누계액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장부금액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2,000,000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20X1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1,800,000 X 3/6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Arial" charset="0"/>
                          <a:ea typeface="굴림" pitchFamily="50" charset="-127"/>
                        </a:rPr>
                        <a:t>900,000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900,000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1,100,000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1,800,000 X 2/6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600,000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1,500,000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 500,000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1,800,000 X 1/6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300,000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1,800,000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 200,000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1,800,000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905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30128" y="6630833"/>
            <a:ext cx="2057400" cy="365125"/>
          </a:xfrm>
        </p:spPr>
        <p:txBody>
          <a:bodyPr/>
          <a:lstStyle/>
          <a:p>
            <a:fld id="{0EEB826C-2140-4E69-8666-7BFCAA9ECB1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86502" y="1022908"/>
            <a:ext cx="8690230" cy="1500301"/>
            <a:chOff x="2626908" y="1713311"/>
            <a:chExt cx="11586973" cy="2000401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92056" y="2237599"/>
              <a:ext cx="11521825" cy="1476113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생산량비례법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생산량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운행거리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작업시간 등에 비례하여 감가상각비를 계산하는 방법</a:t>
              </a:r>
              <a:endParaRPr lang="en-US" altLang="ko-KR" sz="1200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계산방법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930848" y="1713311"/>
              <a:ext cx="6727534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감가상각방법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4" name="Picture 17" descr="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120" y="1839989"/>
            <a:ext cx="6345238" cy="603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그룹 33"/>
          <p:cNvGrpSpPr/>
          <p:nvPr/>
        </p:nvGrpSpPr>
        <p:grpSpPr>
          <a:xfrm>
            <a:off x="256239" y="2588522"/>
            <a:ext cx="8786161" cy="4096057"/>
            <a:chOff x="190714" y="1320562"/>
            <a:chExt cx="8817003" cy="4017947"/>
          </a:xfrm>
        </p:grpSpPr>
        <p:grpSp>
          <p:nvGrpSpPr>
            <p:cNvPr id="41" name="그룹 40"/>
            <p:cNvGrpSpPr/>
            <p:nvPr/>
          </p:nvGrpSpPr>
          <p:grpSpPr>
            <a:xfrm>
              <a:off x="361934" y="1461499"/>
              <a:ext cx="8645783" cy="3877010"/>
              <a:chOff x="269047" y="1722741"/>
              <a:chExt cx="8755660" cy="3877010"/>
            </a:xfrm>
          </p:grpSpPr>
          <p:sp>
            <p:nvSpPr>
              <p:cNvPr id="49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755660" cy="385331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190714" y="1320562"/>
              <a:ext cx="4450405" cy="327269"/>
              <a:chOff x="190714" y="1320604"/>
              <a:chExt cx="3806994" cy="290636"/>
            </a:xfrm>
            <a:solidFill>
              <a:srgbClr val="2D61C8"/>
            </a:solidFill>
          </p:grpSpPr>
          <p:grpSp>
            <p:nvGrpSpPr>
              <p:cNvPr id="43" name="그룹 42"/>
              <p:cNvGrpSpPr/>
              <p:nvPr/>
            </p:nvGrpSpPr>
            <p:grpSpPr>
              <a:xfrm>
                <a:off x="190714" y="1320604"/>
                <a:ext cx="3806994" cy="290636"/>
                <a:chOff x="405822" y="2237468"/>
                <a:chExt cx="3806994" cy="290636"/>
              </a:xfrm>
              <a:grpFill/>
            </p:grpSpPr>
            <p:sp>
              <p:nvSpPr>
                <p:cNvPr id="45" name="타원 4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6" name="타원 45"/>
                <p:cNvSpPr/>
                <p:nvPr/>
              </p:nvSpPr>
              <p:spPr>
                <a:xfrm>
                  <a:off x="3923466" y="2237468"/>
                  <a:ext cx="289350" cy="26865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542513" y="2237755"/>
                  <a:ext cx="3555624" cy="27693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7-5 </a:t>
                  </a:r>
                  <a:r>
                    <a:rPr lang="ko-KR" altLang="en-US" sz="1600" b="1" dirty="0"/>
                    <a:t>감가상각방법</a:t>
                  </a:r>
                  <a:r>
                    <a:rPr lang="en-US" altLang="ko-KR" sz="1600" b="1" dirty="0"/>
                    <a:t>: </a:t>
                  </a:r>
                  <a:r>
                    <a:rPr lang="ko-KR" altLang="en-US" sz="1600" b="1" dirty="0" err="1"/>
                    <a:t>생산량비례법</a:t>
                  </a:r>
                  <a:endParaRPr lang="ko-KR" altLang="en-US" sz="1600" b="1" dirty="0"/>
                </a:p>
              </p:txBody>
            </p:sp>
            <p:sp>
              <p:nvSpPr>
                <p:cNvPr id="48" name="타원 4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44" name="그림 43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594474" y="2970746"/>
            <a:ext cx="7833196" cy="331143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㈜</a:t>
            </a:r>
            <a:r>
              <a:rPr lang="ko-KR" altLang="en-US" sz="1400" b="1" dirty="0">
                <a:latin typeface="맑은 고딕" panose="020B0503020000020004" pitchFamily="50" charset="-127"/>
              </a:rPr>
              <a:t>애경은 </a:t>
            </a:r>
            <a:r>
              <a:rPr lang="en-US" altLang="ko-KR" sz="14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400" b="1" dirty="0">
                <a:latin typeface="맑은 고딕" panose="020B0503020000020004" pitchFamily="50" charset="-127"/>
              </a:rPr>
              <a:t>1</a:t>
            </a:r>
            <a:r>
              <a:rPr lang="ko-KR" altLang="en-US" sz="14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400" b="1" dirty="0">
                <a:latin typeface="맑은 고딕" panose="020B0503020000020004" pitchFamily="50" charset="-127"/>
              </a:rPr>
              <a:t>1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일에 기계장치를 </a:t>
            </a:r>
            <a:r>
              <a:rPr lang="en-US" altLang="ko-KR" sz="1400" b="1" dirty="0">
                <a:latin typeface="맑은 고딕" panose="020B0503020000020004" pitchFamily="50" charset="-127"/>
              </a:rPr>
              <a:t>\2,000,000</a:t>
            </a:r>
            <a:r>
              <a:rPr lang="ko-KR" altLang="en-US" sz="1400" b="1" dirty="0">
                <a:latin typeface="맑은 고딕" panose="020B0503020000020004" pitchFamily="50" charset="-127"/>
              </a:rPr>
              <a:t>에 취득하였다</a:t>
            </a:r>
            <a:r>
              <a:rPr lang="en-US" altLang="ko-KR" sz="1400" b="1" dirty="0">
                <a:latin typeface="맑은 고딕" panose="020B0503020000020004" pitchFamily="50" charset="-127"/>
              </a:rPr>
              <a:t>. ㈜</a:t>
            </a:r>
            <a:r>
              <a:rPr lang="ko-KR" altLang="en-US" sz="1400" b="1" dirty="0">
                <a:latin typeface="맑은 고딕" panose="020B0503020000020004" pitchFamily="50" charset="-127"/>
              </a:rPr>
              <a:t>애경은 기계의 총사용시간을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100,000</a:t>
            </a:r>
            <a:r>
              <a:rPr lang="ko-KR" altLang="en-US" sz="1400" b="1" dirty="0">
                <a:latin typeface="맑은 고딕" panose="020B0503020000020004" pitchFamily="50" charset="-127"/>
              </a:rPr>
              <a:t>시간으로 예상하였고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잔존가치는 </a:t>
            </a:r>
            <a:r>
              <a:rPr lang="en-US" altLang="ko-KR" sz="1400" b="1" dirty="0">
                <a:latin typeface="맑은 고딕" panose="020B0503020000020004" pitchFamily="50" charset="-127"/>
              </a:rPr>
              <a:t>\200,000</a:t>
            </a:r>
            <a:r>
              <a:rPr lang="ko-KR" altLang="en-US" sz="1400" b="1" dirty="0">
                <a:latin typeface="맑은 고딕" panose="020B0503020000020004" pitchFamily="50" charset="-127"/>
              </a:rPr>
              <a:t>으로 추정되었다</a:t>
            </a:r>
            <a:r>
              <a:rPr lang="en-US" altLang="ko-KR" sz="1400" b="1" dirty="0">
                <a:latin typeface="맑은 고딕" panose="020B0503020000020004" pitchFamily="50" charset="-127"/>
              </a:rPr>
              <a:t>. </a:t>
            </a:r>
            <a:r>
              <a:rPr lang="ko-KR" altLang="en-US" sz="1400" b="1" dirty="0">
                <a:latin typeface="맑은 고딕" panose="020B0503020000020004" pitchFamily="50" charset="-127"/>
              </a:rPr>
              <a:t>기계의 실제사용시간은 </a:t>
            </a:r>
            <a:r>
              <a:rPr lang="en-US" altLang="ko-KR" sz="14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년에 </a:t>
            </a:r>
            <a:r>
              <a:rPr lang="en-US" altLang="ko-KR" sz="1400" b="1" dirty="0">
                <a:latin typeface="맑은 고딕" panose="020B0503020000020004" pitchFamily="50" charset="-127"/>
              </a:rPr>
              <a:t>20,000</a:t>
            </a:r>
            <a:r>
              <a:rPr lang="ko-KR" altLang="en-US" sz="1400" b="1" dirty="0">
                <a:latin typeface="맑은 고딕" panose="020B0503020000020004" pitchFamily="50" charset="-127"/>
              </a:rPr>
              <a:t>시간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20X2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년에 </a:t>
            </a:r>
            <a:r>
              <a:rPr lang="en-US" altLang="ko-KR" sz="1400" b="1" dirty="0">
                <a:latin typeface="맑은 고딕" panose="020B0503020000020004" pitchFamily="50" charset="-127"/>
              </a:rPr>
              <a:t>45,000</a:t>
            </a:r>
            <a:r>
              <a:rPr lang="ko-KR" altLang="en-US" sz="1400" b="1" dirty="0">
                <a:latin typeface="맑은 고딕" panose="020B0503020000020004" pitchFamily="50" charset="-127"/>
              </a:rPr>
              <a:t>시간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20X3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년에 </a:t>
            </a:r>
            <a:r>
              <a:rPr lang="en-US" altLang="ko-KR" sz="1400" b="1" dirty="0">
                <a:latin typeface="맑은 고딕" panose="020B0503020000020004" pitchFamily="50" charset="-127"/>
              </a:rPr>
              <a:t>35,000</a:t>
            </a:r>
            <a:r>
              <a:rPr lang="ko-KR" altLang="en-US" sz="1400" b="1" dirty="0">
                <a:latin typeface="맑은 고딕" panose="020B0503020000020004" pitchFamily="50" charset="-127"/>
              </a:rPr>
              <a:t>시간이다</a:t>
            </a:r>
            <a:r>
              <a:rPr lang="en-US" altLang="ko-KR" sz="1400" b="1" dirty="0">
                <a:latin typeface="맑은 고딕" panose="020B0503020000020004" pitchFamily="50" charset="-127"/>
              </a:rPr>
              <a:t>. </a:t>
            </a:r>
            <a:r>
              <a:rPr lang="ko-KR" altLang="en-US" sz="1400" b="1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생산량비례법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을</a:t>
            </a:r>
            <a:r>
              <a:rPr lang="ko-KR" altLang="en-US" sz="1400" b="1" dirty="0">
                <a:latin typeface="맑은 고딕" panose="020B0503020000020004" pitchFamily="50" charset="-127"/>
              </a:rPr>
              <a:t> 사용할 경우의 매년 감가상각비와 장부금액은 아래 표와 같다</a:t>
            </a:r>
            <a:r>
              <a:rPr lang="en-US" altLang="ko-KR" sz="1400" b="1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744640" y="5980111"/>
            <a:ext cx="7844244" cy="679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200" dirty="0">
                <a:latin typeface="맑은 고딕" panose="020B0503020000020004" pitchFamily="50" charset="-127"/>
              </a:rPr>
              <a:t> </a:t>
            </a:r>
            <a:r>
              <a:rPr lang="en-US" altLang="ko-KR" sz="1500" dirty="0">
                <a:latin typeface="맑은 고딕" panose="020B0503020000020004" pitchFamily="50" charset="-127"/>
              </a:rPr>
              <a:t>20X1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생산량비례법에</a:t>
            </a:r>
            <a:r>
              <a:rPr lang="ko-KR" altLang="en-US" sz="1500" dirty="0">
                <a:latin typeface="맑은 고딕" panose="020B0503020000020004" pitchFamily="50" charset="-127"/>
              </a:rPr>
              <a:t> 의한 감가상각비를 인식하는 분개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감가상각비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360,000     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500" b="1" dirty="0">
                <a:latin typeface="맑은 고딕" panose="020B0503020000020004" pitchFamily="50" charset="-127"/>
              </a:rPr>
              <a:t>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360,000     </a:t>
            </a:r>
            <a:endParaRPr lang="ko-KR" altLang="en-US" sz="1500" b="1" dirty="0"/>
          </a:p>
        </p:txBody>
      </p:sp>
      <p:graphicFrame>
        <p:nvGraphicFramePr>
          <p:cNvPr id="54" name="Group 7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8033980"/>
              </p:ext>
            </p:extLst>
          </p:nvPr>
        </p:nvGraphicFramePr>
        <p:xfrm>
          <a:off x="1298208" y="4088056"/>
          <a:ext cx="7129462" cy="1828800"/>
        </p:xfrm>
        <a:graphic>
          <a:graphicData uri="http://schemas.openxmlformats.org/drawingml/2006/table">
            <a:tbl>
              <a:tblPr/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9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5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연도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계산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감가상각비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감가상각누계액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맑은 고딕" pitchFamily="50" charset="-127"/>
                        </a:rPr>
                        <a:t>장부금액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2,000,000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20X1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1,800,000 X 20,000/100,000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Arial" charset="0"/>
                          <a:ea typeface="굴림" pitchFamily="50" charset="-127"/>
                        </a:rPr>
                        <a:t>360,000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360,000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1,640,000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1,800,000 X 45,000/100,000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810,000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1,170,000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 830,000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20X3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1,800,000 X 35,000/100,000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630,000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1,800,000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    200,000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  1,800,000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741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757557" y="6637547"/>
            <a:ext cx="2057400" cy="365125"/>
          </a:xfrm>
        </p:spPr>
        <p:txBody>
          <a:bodyPr/>
          <a:lstStyle/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pSp>
        <p:nvGrpSpPr>
          <p:cNvPr id="15" name="그룹 14"/>
          <p:cNvGrpSpPr/>
          <p:nvPr/>
        </p:nvGrpSpPr>
        <p:grpSpPr>
          <a:xfrm>
            <a:off x="292304" y="1080219"/>
            <a:ext cx="8851696" cy="5040446"/>
            <a:chOff x="2626908" y="1693823"/>
            <a:chExt cx="11802261" cy="6720594"/>
          </a:xfrm>
        </p:grpSpPr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2626908" y="2156738"/>
              <a:ext cx="11802261" cy="625767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52000" indent="-252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①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전체 내용연수 동안 감가상각대상금액은 동일하나 감가상각 방법에 따라 매 회계기간 인식하는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감가상각비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금액이 달라짐</a:t>
              </a:r>
              <a:endPara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52000" indent="-252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②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사용방법과 관계없이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내용연수 종료 후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장부금액은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잔존가치로서 모두 동일함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6727535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감가상각방법 간의 비교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192899" y="2537575"/>
            <a:ext cx="8308626" cy="314653"/>
            <a:chOff x="1287462" y="4738439"/>
            <a:chExt cx="8308626" cy="314653"/>
          </a:xfrm>
        </p:grpSpPr>
        <p:sp>
          <p:nvSpPr>
            <p:cNvPr id="22" name="오각형 21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79461" y="4738439"/>
              <a:ext cx="7516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시간에 따른 감가상각비와 장부금액의 변화</a:t>
              </a: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82" y="3220995"/>
            <a:ext cx="3899883" cy="257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354" y="2434378"/>
            <a:ext cx="3800240" cy="2188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53"/>
          <a:stretch/>
        </p:blipFill>
        <p:spPr bwMode="auto">
          <a:xfrm>
            <a:off x="5000180" y="4660576"/>
            <a:ext cx="3824291" cy="220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4" t="89493" r="30922"/>
          <a:stretch/>
        </p:blipFill>
        <p:spPr bwMode="auto">
          <a:xfrm>
            <a:off x="2100647" y="6310186"/>
            <a:ext cx="3270423" cy="396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0370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30128" y="6620673"/>
            <a:ext cx="2057400" cy="365125"/>
          </a:xfrm>
        </p:spPr>
        <p:txBody>
          <a:bodyPr/>
          <a:lstStyle/>
          <a:p>
            <a:fld id="{0EEB826C-2140-4E69-8666-7BFCAA9ECB1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86501" y="1093997"/>
            <a:ext cx="8438454" cy="1235552"/>
            <a:chOff x="2626908" y="1759673"/>
            <a:chExt cx="11251272" cy="1245597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61371" y="2147498"/>
              <a:ext cx="11216809" cy="85777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9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 err="1">
                  <a:latin typeface="맑은 고딕" panose="020B0503020000020004" pitchFamily="50" charset="-127"/>
                </a:rPr>
                <a:t>월할상각법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사용하여 취득한 달을 기준으로 하여 사용한 기간을 계산하여 감가상각비에 반영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871275" y="1759673"/>
              <a:ext cx="6727535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기중에 구입한 유형자산의 감가상각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8790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43967" y="2744077"/>
            <a:ext cx="8893259" cy="3019926"/>
            <a:chOff x="190714" y="1320562"/>
            <a:chExt cx="8924477" cy="3344342"/>
          </a:xfrm>
        </p:grpSpPr>
        <p:grpSp>
          <p:nvGrpSpPr>
            <p:cNvPr id="41" name="그룹 40"/>
            <p:cNvGrpSpPr/>
            <p:nvPr/>
          </p:nvGrpSpPr>
          <p:grpSpPr>
            <a:xfrm>
              <a:off x="361934" y="1461499"/>
              <a:ext cx="8753257" cy="3203405"/>
              <a:chOff x="269047" y="1722741"/>
              <a:chExt cx="8864500" cy="3203405"/>
            </a:xfrm>
          </p:grpSpPr>
          <p:sp>
            <p:nvSpPr>
              <p:cNvPr id="49" name="Rectangle 15"/>
              <p:cNvSpPr>
                <a:spLocks noChangeArrowheads="1"/>
              </p:cNvSpPr>
              <p:nvPr/>
            </p:nvSpPr>
            <p:spPr bwMode="auto">
              <a:xfrm>
                <a:off x="269047" y="1746442"/>
                <a:ext cx="8864500" cy="317970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190714" y="1320562"/>
              <a:ext cx="4450405" cy="327269"/>
              <a:chOff x="190714" y="1320604"/>
              <a:chExt cx="3806994" cy="290636"/>
            </a:xfrm>
            <a:solidFill>
              <a:srgbClr val="2D61C8"/>
            </a:solidFill>
          </p:grpSpPr>
          <p:grpSp>
            <p:nvGrpSpPr>
              <p:cNvPr id="43" name="그룹 42"/>
              <p:cNvGrpSpPr/>
              <p:nvPr/>
            </p:nvGrpSpPr>
            <p:grpSpPr>
              <a:xfrm>
                <a:off x="190714" y="1320604"/>
                <a:ext cx="3806994" cy="290636"/>
                <a:chOff x="405822" y="2237468"/>
                <a:chExt cx="3806994" cy="290636"/>
              </a:xfrm>
              <a:grpFill/>
            </p:grpSpPr>
            <p:sp>
              <p:nvSpPr>
                <p:cNvPr id="45" name="타원 4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6" name="타원 45"/>
                <p:cNvSpPr/>
                <p:nvPr/>
              </p:nvSpPr>
              <p:spPr>
                <a:xfrm>
                  <a:off x="3923466" y="2237468"/>
                  <a:ext cx="289350" cy="26865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542513" y="2237755"/>
                  <a:ext cx="3555624" cy="27693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7-6 </a:t>
                  </a:r>
                  <a:r>
                    <a:rPr lang="ko-KR" altLang="en-US" sz="1600" b="1" dirty="0" err="1"/>
                    <a:t>감가상각대산자산의</a:t>
                  </a:r>
                  <a:r>
                    <a:rPr lang="ko-KR" altLang="en-US" sz="1600" b="1" dirty="0"/>
                    <a:t> 기중취득</a:t>
                  </a:r>
                </a:p>
              </p:txBody>
            </p:sp>
            <p:sp>
              <p:nvSpPr>
                <p:cNvPr id="48" name="타원 4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44" name="그림 43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594615" y="3110895"/>
            <a:ext cx="7968813" cy="21322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㈜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코스맥스는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en-US" altLang="ko-KR" sz="1500" dirty="0">
                <a:latin typeface="맑은 고딕" panose="020B0503020000020004" pitchFamily="50" charset="-127"/>
              </a:rPr>
              <a:t>20X1</a:t>
            </a:r>
            <a:r>
              <a:rPr lang="ko-KR" altLang="en-US" sz="1500" dirty="0">
                <a:latin typeface="맑은 고딕" panose="020B0503020000020004" pitchFamily="50" charset="-127"/>
              </a:rPr>
              <a:t>년 </a:t>
            </a:r>
            <a:r>
              <a:rPr lang="en-US" altLang="ko-KR" sz="1500" dirty="0">
                <a:latin typeface="맑은 고딕" panose="020B0503020000020004" pitchFamily="50" charset="-127"/>
              </a:rPr>
              <a:t>8</a:t>
            </a:r>
            <a:r>
              <a:rPr lang="ko-KR" altLang="en-US" sz="1500" dirty="0">
                <a:latin typeface="맑은 고딕" panose="020B0503020000020004" pitchFamily="50" charset="-127"/>
              </a:rPr>
              <a:t>월 </a:t>
            </a:r>
            <a:r>
              <a:rPr lang="en-US" altLang="ko-KR" sz="1500" dirty="0">
                <a:latin typeface="맑은 고딕" panose="020B0503020000020004" pitchFamily="50" charset="-127"/>
              </a:rPr>
              <a:t>1</a:t>
            </a:r>
            <a:r>
              <a:rPr lang="ko-KR" altLang="en-US" sz="1500" dirty="0">
                <a:latin typeface="맑은 고딕" panose="020B0503020000020004" pitchFamily="50" charset="-127"/>
              </a:rPr>
              <a:t>일에 기계장치를 </a:t>
            </a:r>
            <a:r>
              <a:rPr lang="en-US" altLang="ko-KR" sz="1500" dirty="0">
                <a:latin typeface="맑은 고딕" panose="020B0503020000020004" pitchFamily="50" charset="-127"/>
              </a:rPr>
              <a:t>\2,000,000</a:t>
            </a:r>
            <a:r>
              <a:rPr lang="ko-KR" altLang="en-US" sz="1500" dirty="0">
                <a:latin typeface="맑은 고딕" panose="020B0503020000020004" pitchFamily="50" charset="-127"/>
              </a:rPr>
              <a:t>에 취득하였다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내용연수는 </a:t>
            </a:r>
            <a:r>
              <a:rPr lang="en-US" altLang="ko-KR" sz="1500" dirty="0">
                <a:latin typeface="맑은 고딕" panose="020B0503020000020004" pitchFamily="50" charset="-127"/>
              </a:rPr>
              <a:t>3</a:t>
            </a:r>
            <a:r>
              <a:rPr lang="ko-KR" altLang="en-US" sz="1500" dirty="0">
                <a:latin typeface="맑은 고딕" panose="020B0503020000020004" pitchFamily="50" charset="-127"/>
              </a:rPr>
              <a:t>년이며 잔존가치는 </a:t>
            </a:r>
            <a:r>
              <a:rPr lang="en-US" altLang="ko-KR" sz="1500" dirty="0">
                <a:latin typeface="맑은 고딕" panose="020B0503020000020004" pitchFamily="50" charset="-127"/>
              </a:rPr>
              <a:t>\200,000</a:t>
            </a:r>
            <a:r>
              <a:rPr lang="ko-KR" altLang="en-US" sz="1500" dirty="0">
                <a:latin typeface="맑은 고딕" panose="020B0503020000020004" pitchFamily="50" charset="-127"/>
              </a:rPr>
              <a:t>으로 추정되었다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정액법을 사용하는 경우 회계처리는 다음과 같다</a:t>
            </a:r>
            <a:r>
              <a:rPr lang="en-US" altLang="ko-KR" sz="1500" dirty="0">
                <a:latin typeface="맑은 고딕" panose="020B0503020000020004" pitchFamily="50" charset="-127"/>
              </a:rPr>
              <a:t>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8</a:t>
            </a:r>
            <a:r>
              <a:rPr lang="ko-KR" altLang="en-US" sz="1500" dirty="0">
                <a:latin typeface="맑은 고딕" panose="020B0503020000020004" pitchFamily="50" charset="-127"/>
              </a:rPr>
              <a:t>월에 취득하였으므로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총 </a:t>
            </a:r>
            <a:r>
              <a:rPr lang="en-US" altLang="ko-KR" sz="1500" dirty="0">
                <a:latin typeface="맑은 고딕" panose="020B0503020000020004" pitchFamily="50" charset="-127"/>
              </a:rPr>
              <a:t>5</a:t>
            </a:r>
            <a:r>
              <a:rPr lang="ko-KR" altLang="en-US" sz="1500" dirty="0">
                <a:latin typeface="맑은 고딕" panose="020B0503020000020004" pitchFamily="50" charset="-127"/>
              </a:rPr>
              <a:t>개월에 해당하는 감가상각비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                               (\2,000,000-200,000)/3 X 5/12 = \250,000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ko-KR" altLang="en-US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감가상각비 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250,000     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감가상각누계액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250,000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2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093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30128" y="6620673"/>
            <a:ext cx="2057400" cy="365125"/>
          </a:xfrm>
        </p:spPr>
        <p:txBody>
          <a:bodyPr/>
          <a:lstStyle/>
          <a:p>
            <a:fld id="{0EEB826C-2140-4E69-8666-7BFCAA9ECB1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51315" y="1276324"/>
            <a:ext cx="8641369" cy="3492510"/>
            <a:chOff x="2579994" y="2024030"/>
            <a:chExt cx="11521825" cy="4656672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579994" y="2610545"/>
              <a:ext cx="11521825" cy="407015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ㆍ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유형자산을 사용하던 도중 과거 알지못했던 새로운 정보들이 입수되거나 경영환경이 변해서 잔존가치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내용연수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감가상각방법에 대한 판단이 변할 수 있음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 err="1">
                  <a:latin typeface="맑은 고딕" panose="020B0503020000020004" pitchFamily="50" charset="-127"/>
                </a:rPr>
                <a:t>ㆍ이를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회계추정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(accounting estimates)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 변경이라고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부르며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이를 반영하여 새롭게 감가상각비를 계산해야 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 err="1">
                  <a:latin typeface="맑은 고딕" panose="020B0503020000020004" pitchFamily="50" charset="-127"/>
                </a:rPr>
                <a:t>ㆍ이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경우 과거 시기의 금액을 조정하지 않고 현재부터 미래 수치만 수정하여 적용 →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전진법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(prospective approach)</a:t>
              </a:r>
            </a:p>
            <a:p>
              <a:pPr marL="18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871275" y="2024030"/>
              <a:ext cx="672753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감가상각 관련 회계추정의 변경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2052266"/>
              <a:ext cx="281973" cy="425438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3404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30128" y="6620673"/>
            <a:ext cx="2057400" cy="365125"/>
          </a:xfrm>
        </p:spPr>
        <p:txBody>
          <a:bodyPr/>
          <a:lstStyle/>
          <a:p>
            <a:fld id="{0EEB826C-2140-4E69-8666-7BFCAA9ECB1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pSp>
        <p:nvGrpSpPr>
          <p:cNvPr id="34" name="그룹 33"/>
          <p:cNvGrpSpPr/>
          <p:nvPr/>
        </p:nvGrpSpPr>
        <p:grpSpPr>
          <a:xfrm>
            <a:off x="43967" y="1339812"/>
            <a:ext cx="8893259" cy="5158959"/>
            <a:chOff x="190714" y="1320562"/>
            <a:chExt cx="8924477" cy="3931359"/>
          </a:xfrm>
        </p:grpSpPr>
        <p:grpSp>
          <p:nvGrpSpPr>
            <p:cNvPr id="41" name="그룹 40"/>
            <p:cNvGrpSpPr/>
            <p:nvPr/>
          </p:nvGrpSpPr>
          <p:grpSpPr>
            <a:xfrm>
              <a:off x="361934" y="1461499"/>
              <a:ext cx="8753257" cy="3790422"/>
              <a:chOff x="269047" y="1722741"/>
              <a:chExt cx="8864500" cy="3790422"/>
            </a:xfrm>
          </p:grpSpPr>
          <p:sp>
            <p:nvSpPr>
              <p:cNvPr id="49" name="Rectangle 15"/>
              <p:cNvSpPr>
                <a:spLocks noChangeArrowheads="1"/>
              </p:cNvSpPr>
              <p:nvPr/>
            </p:nvSpPr>
            <p:spPr bwMode="auto">
              <a:xfrm>
                <a:off x="269047" y="1746442"/>
                <a:ext cx="8864500" cy="376672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190714" y="1320562"/>
              <a:ext cx="4450405" cy="327269"/>
              <a:chOff x="190714" y="1320604"/>
              <a:chExt cx="3806994" cy="290636"/>
            </a:xfrm>
            <a:solidFill>
              <a:srgbClr val="2D61C8"/>
            </a:solidFill>
          </p:grpSpPr>
          <p:grpSp>
            <p:nvGrpSpPr>
              <p:cNvPr id="43" name="그룹 42"/>
              <p:cNvGrpSpPr/>
              <p:nvPr/>
            </p:nvGrpSpPr>
            <p:grpSpPr>
              <a:xfrm>
                <a:off x="190714" y="1320604"/>
                <a:ext cx="3806994" cy="290636"/>
                <a:chOff x="405822" y="2237468"/>
                <a:chExt cx="3806994" cy="290636"/>
              </a:xfrm>
              <a:grpFill/>
            </p:grpSpPr>
            <p:sp>
              <p:nvSpPr>
                <p:cNvPr id="45" name="타원 44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6" name="타원 45"/>
                <p:cNvSpPr/>
                <p:nvPr/>
              </p:nvSpPr>
              <p:spPr>
                <a:xfrm>
                  <a:off x="3923466" y="2237468"/>
                  <a:ext cx="289350" cy="26865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542513" y="2237755"/>
                  <a:ext cx="3555624" cy="27693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7-7 </a:t>
                  </a:r>
                  <a:r>
                    <a:rPr lang="ko-KR" altLang="en-US" sz="1600" b="1" dirty="0"/>
                    <a:t>회계추정의 변경</a:t>
                  </a:r>
                </a:p>
              </p:txBody>
            </p:sp>
            <p:sp>
              <p:nvSpPr>
                <p:cNvPr id="48" name="타원 47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44" name="그림 43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543343" y="1798962"/>
            <a:ext cx="8130340" cy="467164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㈜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한국콜마는</a:t>
            </a:r>
            <a:r>
              <a:rPr lang="ko-KR" altLang="en-US" sz="1500" b="1" dirty="0">
                <a:latin typeface="맑은 고딕" panose="020B0503020000020004" pitchFamily="50" charset="-127"/>
              </a:rPr>
              <a:t>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 기계장치를 </a:t>
            </a:r>
            <a:r>
              <a:rPr lang="en-US" altLang="ko-KR" sz="1500" b="1" dirty="0">
                <a:latin typeface="맑은 고딕" panose="020B0503020000020004" pitchFamily="50" charset="-127"/>
              </a:rPr>
              <a:t>\2,000,000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취득하였다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내용연수는</a:t>
            </a:r>
            <a:r>
              <a:rPr lang="ko-KR" altLang="en-US" sz="1500" b="1" dirty="0">
                <a:latin typeface="맑은 고딕" panose="020B0503020000020004" pitchFamily="50" charset="-127"/>
              </a:rPr>
              <a:t> </a:t>
            </a:r>
            <a:r>
              <a:rPr lang="en-US" altLang="ko-KR" sz="1500" b="1" dirty="0">
                <a:latin typeface="맑은 고딕" panose="020B0503020000020004" pitchFamily="50" charset="-127"/>
              </a:rPr>
              <a:t>6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년이며 잔존가치는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\200,000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으로 추정되었다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정액법을 사용하는 경우 회계처리는 다음과 같다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① 20X1</a:t>
            </a:r>
            <a:r>
              <a:rPr lang="ko-KR" altLang="en-US" sz="1500" dirty="0">
                <a:latin typeface="맑은 고딕" panose="020B0503020000020004" pitchFamily="50" charset="-127"/>
              </a:rPr>
              <a:t>말의 회계처리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  </a:t>
            </a:r>
            <a:r>
              <a:rPr lang="ko-KR" altLang="en-US" sz="1500" b="1" dirty="0">
                <a:latin typeface="맑은 고딕" panose="020B0503020000020004" pitchFamily="50" charset="-127"/>
              </a:rPr>
              <a:t>연간 감가상각비</a:t>
            </a:r>
            <a:r>
              <a:rPr lang="en-US" altLang="ko-KR" sz="1500" b="1" dirty="0">
                <a:latin typeface="맑은 고딕" panose="020B0503020000020004" pitchFamily="50" charset="-127"/>
              </a:rPr>
              <a:t>: (\2,000,000-200,000)/6 = \300,000</a:t>
            </a:r>
            <a:endParaRPr lang="ko-KR" altLang="en-US" sz="15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감가상각비 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300,000     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감가상각누계액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300,000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atin typeface="바탕" panose="02030600000101010101" pitchFamily="18" charset="-127"/>
                <a:ea typeface="바탕" panose="02030600000101010101" pitchFamily="18" charset="-127"/>
              </a:rPr>
              <a:t>②</a:t>
            </a:r>
            <a:r>
              <a:rPr lang="en-US" altLang="ko-KR" sz="1500" dirty="0">
                <a:latin typeface="맑은 고딕" panose="020B0503020000020004" pitchFamily="50" charset="-127"/>
              </a:rPr>
              <a:t> 20X2</a:t>
            </a:r>
            <a:r>
              <a:rPr lang="ko-KR" altLang="en-US" sz="1500" dirty="0">
                <a:latin typeface="맑은 고딕" panose="020B0503020000020004" pitchFamily="50" charset="-127"/>
              </a:rPr>
              <a:t>년중 ㈜</a:t>
            </a:r>
            <a:r>
              <a:rPr lang="ko-KR" altLang="en-US" sz="1500" dirty="0" err="1">
                <a:latin typeface="맑은 고딕" panose="020B0503020000020004" pitchFamily="50" charset="-127"/>
              </a:rPr>
              <a:t>한국콜마는</a:t>
            </a:r>
            <a:r>
              <a:rPr lang="ko-KR" altLang="en-US" sz="1500" dirty="0">
                <a:latin typeface="맑은 고딕" panose="020B0503020000020004" pitchFamily="50" charset="-127"/>
              </a:rPr>
              <a:t> 이 기계의 내용연수가 </a:t>
            </a:r>
            <a:r>
              <a:rPr lang="en-US" altLang="ko-KR" sz="1500" dirty="0">
                <a:latin typeface="맑은 고딕" panose="020B0503020000020004" pitchFamily="50" charset="-127"/>
              </a:rPr>
              <a:t>6</a:t>
            </a:r>
            <a:r>
              <a:rPr lang="ko-KR" altLang="en-US" sz="1500" dirty="0">
                <a:latin typeface="맑은 고딕" panose="020B0503020000020004" pitchFamily="50" charset="-127"/>
              </a:rPr>
              <a:t>년이 아니라 </a:t>
            </a:r>
            <a:r>
              <a:rPr lang="en-US" altLang="ko-KR" sz="1500" dirty="0">
                <a:latin typeface="맑은 고딕" panose="020B0503020000020004" pitchFamily="50" charset="-127"/>
              </a:rPr>
              <a:t>5</a:t>
            </a:r>
            <a:r>
              <a:rPr lang="ko-KR" altLang="en-US" sz="1500" dirty="0">
                <a:latin typeface="맑은 고딕" panose="020B0503020000020004" pitchFamily="50" charset="-127"/>
              </a:rPr>
              <a:t>년이며 잔존가치가 </a:t>
            </a:r>
            <a:r>
              <a:rPr lang="en-US" altLang="ko-KR" sz="1500" dirty="0">
                <a:latin typeface="맑은 고딕" panose="020B0503020000020004" pitchFamily="50" charset="-127"/>
              </a:rPr>
              <a:t>\100,000</a:t>
            </a:r>
            <a:r>
              <a:rPr lang="ko-KR" altLang="en-US" sz="1500" dirty="0">
                <a:latin typeface="맑은 고딕" panose="020B0503020000020004" pitchFamily="50" charset="-127"/>
              </a:rPr>
              <a:t>이라고 판단하였다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ko-KR" sz="15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b="1" dirty="0">
                <a:latin typeface="맑은 고딕" panose="020B0503020000020004" pitchFamily="50" charset="-127"/>
              </a:rPr>
              <a:t>20X2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년의 연간 감가상각비</a:t>
            </a:r>
            <a:r>
              <a:rPr lang="en-US" altLang="ko-KR" sz="1500" b="1" dirty="0">
                <a:latin typeface="맑은 고딕" panose="020B0503020000020004" pitchFamily="50" charset="-127"/>
              </a:rPr>
              <a:t>: (\1,700,000-100,000)/4 = \400,000. </a:t>
            </a:r>
            <a:r>
              <a:rPr lang="ko-KR" altLang="en-US" sz="1500" dirty="0">
                <a:latin typeface="맑은 고딕" panose="020B0503020000020004" pitchFamily="50" charset="-127"/>
              </a:rPr>
              <a:t>기초의 장부가액이 </a:t>
            </a:r>
            <a:r>
              <a:rPr lang="en-US" altLang="ko-KR" sz="1500" dirty="0">
                <a:latin typeface="맑은 고딕" panose="020B0503020000020004" pitchFamily="50" charset="-127"/>
              </a:rPr>
              <a:t>\1,700,000(=2,000,000-300,000)</a:t>
            </a:r>
            <a:r>
              <a:rPr lang="ko-KR" altLang="en-US" sz="1500" dirty="0">
                <a:latin typeface="맑은 고딕" panose="020B0503020000020004" pitchFamily="50" charset="-127"/>
              </a:rPr>
              <a:t>이었으며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잔존수명은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en-US" altLang="ko-KR" sz="1500" dirty="0">
                <a:latin typeface="맑은 고딕" panose="020B0503020000020004" pitchFamily="50" charset="-127"/>
              </a:rPr>
              <a:t>4</a:t>
            </a:r>
            <a:r>
              <a:rPr lang="ko-KR" altLang="en-US" sz="1500" dirty="0">
                <a:latin typeface="맑은 고딕" panose="020B0503020000020004" pitchFamily="50" charset="-127"/>
              </a:rPr>
              <a:t>년</a:t>
            </a:r>
            <a:r>
              <a:rPr lang="en-US" altLang="ko-KR" sz="1500" dirty="0">
                <a:latin typeface="맑은 고딕" panose="020B0503020000020004" pitchFamily="50" charset="-127"/>
              </a:rPr>
              <a:t>(=</a:t>
            </a:r>
            <a:r>
              <a:rPr lang="ko-KR" altLang="en-US" sz="1500" dirty="0">
                <a:latin typeface="맑은 고딕" panose="020B0503020000020004" pitchFamily="50" charset="-127"/>
              </a:rPr>
              <a:t>전체 수명 </a:t>
            </a:r>
            <a:r>
              <a:rPr lang="en-US" altLang="ko-KR" sz="1500" dirty="0">
                <a:latin typeface="맑은 고딕" panose="020B0503020000020004" pitchFamily="50" charset="-127"/>
              </a:rPr>
              <a:t>5</a:t>
            </a:r>
            <a:r>
              <a:rPr lang="ko-KR" altLang="en-US" sz="1500" dirty="0">
                <a:latin typeface="맑은 고딕" panose="020B0503020000020004" pitchFamily="50" charset="-127"/>
              </a:rPr>
              <a:t>년 중 </a:t>
            </a:r>
            <a:r>
              <a:rPr lang="en-US" altLang="ko-KR" sz="1500" dirty="0">
                <a:latin typeface="맑은 고딕" panose="020B0503020000020004" pitchFamily="50" charset="-127"/>
              </a:rPr>
              <a:t>1</a:t>
            </a:r>
            <a:r>
              <a:rPr lang="ko-KR" altLang="en-US" sz="1500" dirty="0">
                <a:latin typeface="맑은 고딕" panose="020B0503020000020004" pitchFamily="50" charset="-127"/>
              </a:rPr>
              <a:t>년이 이미 지남</a:t>
            </a:r>
            <a:r>
              <a:rPr lang="en-US" altLang="ko-KR" sz="1500" dirty="0">
                <a:latin typeface="맑은 고딕" panose="020B0503020000020004" pitchFamily="50" charset="-127"/>
              </a:rPr>
              <a:t>).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감가상각비 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400,000     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감가상각누계액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400,000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ko-KR" sz="12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2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426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57473" y="1291909"/>
            <a:ext cx="8650725" cy="1915748"/>
            <a:chOff x="2626908" y="1677110"/>
            <a:chExt cx="11534300" cy="2554330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39383" y="2125623"/>
              <a:ext cx="11521825" cy="210581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유형자산을 최초로 인식한 후에 매기 감가상각비와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손상차손을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인식하여 유형자산의 장부금액을 결정하는 방법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장단점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① 장점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객관적인 취득원가를 사용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②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단점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유형자산의 장부금액이 자산의 실제 가치를 반영하지 못하는 한계</a:t>
              </a: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917587" y="1677110"/>
              <a:ext cx="6727535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원가모형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(cost model)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57473" y="3322343"/>
            <a:ext cx="8641369" cy="3308489"/>
            <a:chOff x="2580598" y="1693823"/>
            <a:chExt cx="11521825" cy="4411320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580598" y="2127935"/>
              <a:ext cx="11521825" cy="397720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최초인식 후에 유형자산을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공정가치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로 평가하는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방법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장단점</a:t>
              </a:r>
            </a:p>
            <a:p>
              <a:pPr marL="396000" indent="-396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① 장점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정보이용자에게 유용한 정보를 제공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96000" indent="-396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②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단점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공정가치를 추정할 때 경영자의 주관적인 판단이 개입될 가능성이 있음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절차</a:t>
              </a:r>
            </a:p>
            <a:p>
              <a:pPr marL="396000" indent="-396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① 재평가금액이 장부금액보다 큰 경우 장부금액을 재평가금액으로 증가시키고 증가액을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기타포괄이익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으로 인식함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96000" indent="-396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②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재평가금액이 장부금액보다 작은 경우 장부금액을 감소시키고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당기손실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인식함</a:t>
              </a: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7" y="1693823"/>
              <a:ext cx="5470235" cy="450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재평가모형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(revaluation model)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9293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69" y="1263283"/>
            <a:ext cx="8680987" cy="5129279"/>
            <a:chOff x="190714" y="1320882"/>
            <a:chExt cx="8711460" cy="540923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622"/>
              <a:chOff x="269048" y="1722741"/>
              <a:chExt cx="8648775" cy="526862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92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7-8 </a:t>
                  </a:r>
                  <a:r>
                    <a:rPr lang="ko-KR" altLang="en-US" sz="1600" b="1" dirty="0"/>
                    <a:t>재평가 회계처리 </a:t>
                  </a:r>
                  <a:r>
                    <a:rPr lang="en-US" altLang="ko-KR" sz="1600" b="1" dirty="0"/>
                    <a:t>I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55393" y="1636241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㈜LH</a:t>
            </a:r>
            <a:r>
              <a:rPr lang="ko-KR" altLang="en-US" sz="1600" b="1" dirty="0">
                <a:latin typeface="맑은 고딕" panose="020B0503020000020004" pitchFamily="50" charset="-127"/>
              </a:rPr>
              <a:t>공사는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1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일에 토지를 </a:t>
            </a:r>
            <a:r>
              <a:rPr lang="en-US" altLang="ko-KR" sz="1600" b="1" dirty="0">
                <a:latin typeface="맑은 고딕" panose="020B0503020000020004" pitchFamily="50" charset="-127"/>
              </a:rPr>
              <a:t>\5,000,000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취득하였고</a:t>
            </a:r>
            <a:r>
              <a:rPr lang="en-US" altLang="ko-KR" sz="1600" b="1" dirty="0">
                <a:latin typeface="맑은 고딕" panose="020B0503020000020004" pitchFamily="50" charset="-127"/>
              </a:rPr>
              <a:t>, 20X1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600" b="1" dirty="0">
                <a:latin typeface="맑은 고딕" panose="020B0503020000020004" pitchFamily="50" charset="-127"/>
              </a:rPr>
              <a:t> 현재 토지의 공정가치는 </a:t>
            </a:r>
            <a:r>
              <a:rPr lang="en-US" altLang="ko-KR" sz="1600" b="1" dirty="0">
                <a:latin typeface="맑은 고딕" panose="020B0503020000020004" pitchFamily="50" charset="-127"/>
              </a:rPr>
              <a:t>\5,500,000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이다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즉</a:t>
            </a: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재평가금액이 장부금액을 </a:t>
            </a:r>
            <a:r>
              <a:rPr lang="en-US" altLang="ko-KR" sz="1600" b="1" dirty="0">
                <a:latin typeface="맑은 고딕" panose="020B0503020000020004" pitchFamily="50" charset="-127"/>
              </a:rPr>
              <a:t>\500,000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만큼 초과하고 있다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㈜LH</a:t>
            </a:r>
            <a:r>
              <a:rPr lang="ko-KR" altLang="en-US" sz="1600" b="1" dirty="0">
                <a:latin typeface="맑은 고딕" panose="020B0503020000020004" pitchFamily="50" charset="-127"/>
              </a:rPr>
              <a:t>공사가 재평가모형을 적용하여 토지를 평가할 때 회계처리는 다음과 같다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vl="1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토         지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500,000           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재평가이익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500,000     </a:t>
            </a:r>
          </a:p>
          <a:p>
            <a:pPr lvl="1">
              <a:spcBef>
                <a:spcPts val="60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50071" y="3888369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u="sng" dirty="0">
                <a:latin typeface="맑은 고딕" panose="020B0503020000020004" pitchFamily="50" charset="-127"/>
              </a:rPr>
              <a:t> </a:t>
            </a:r>
            <a:r>
              <a:rPr lang="ko-KR" altLang="en-US" sz="1400" b="1" u="sng" dirty="0" err="1">
                <a:latin typeface="맑은 고딕" panose="020B0503020000020004" pitchFamily="50" charset="-127"/>
              </a:rPr>
              <a:t>부분재무상태표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(20X1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년 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12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월 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31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일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) </a:t>
            </a:r>
            <a:endParaRPr lang="en-US" altLang="ko-KR" sz="1400" b="1" u="sng" dirty="0">
              <a:solidFill>
                <a:schemeClr val="tx2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비유동자산</a:t>
            </a:r>
            <a:endParaRPr lang="ko-KR" altLang="en-US" sz="14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토          지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\5,500,000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자본</a:t>
            </a:r>
            <a:r>
              <a:rPr lang="en-US" altLang="ko-KR" sz="1400" b="1" dirty="0">
                <a:latin typeface="맑은 고딕" panose="020B0503020000020004" pitchFamily="50" charset="-127"/>
              </a:rPr>
              <a:t>-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기타포괄손익누계액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   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재평가잉여금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500,000                                </a:t>
            </a: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5117255" y="3921829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u="sng" dirty="0">
                <a:latin typeface="맑은 고딕" panose="020B0503020000020004" pitchFamily="50" charset="-127"/>
              </a:rPr>
              <a:t> 부분포괄손익계산서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(20X1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년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) </a:t>
            </a:r>
            <a:endParaRPr lang="en-US" altLang="ko-KR" sz="1400" b="1" u="sng" dirty="0">
              <a:solidFill>
                <a:schemeClr val="tx2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    재평가이익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\500,000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기타포괄손익</a:t>
            </a:r>
            <a:r>
              <a:rPr lang="en-US" altLang="ko-KR" sz="1400" b="1" dirty="0">
                <a:latin typeface="맑은 고딕" panose="020B0503020000020004" pitchFamily="50" charset="-127"/>
              </a:rPr>
              <a:t>)                                 </a:t>
            </a:r>
            <a:endParaRPr lang="ko-KR" altLang="en-US" sz="14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2990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69" y="1263283"/>
            <a:ext cx="8680987" cy="5104565"/>
            <a:chOff x="190714" y="1320882"/>
            <a:chExt cx="8711460" cy="5198080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57463"/>
              <a:chOff x="269048" y="1722741"/>
              <a:chExt cx="8648775" cy="5057463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41369" cy="503376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7-8 </a:t>
                  </a:r>
                  <a:r>
                    <a:rPr lang="ko-KR" altLang="en-US" sz="1600" b="1" dirty="0"/>
                    <a:t>재평가 회계처리 </a:t>
                  </a:r>
                  <a:r>
                    <a:rPr lang="en-US" altLang="ko-KR" sz="1600" b="1" dirty="0"/>
                    <a:t>I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35126" y="1712441"/>
            <a:ext cx="7872845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만약</a:t>
            </a:r>
            <a:r>
              <a:rPr lang="en-US" altLang="ko-KR" sz="1600" b="1" dirty="0">
                <a:latin typeface="맑은 고딕" panose="020B0503020000020004" pitchFamily="50" charset="-127"/>
              </a:rPr>
              <a:t> 20X1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600" b="1" dirty="0">
                <a:latin typeface="맑은 고딕" panose="020B0503020000020004" pitchFamily="50" charset="-127"/>
              </a:rPr>
              <a:t> 평가한 토지의 공정가치가 </a:t>
            </a:r>
            <a:r>
              <a:rPr lang="en-US" altLang="ko-KR" sz="1600" b="1" u="sng" dirty="0">
                <a:latin typeface="맑은 고딕" panose="020B0503020000020004" pitchFamily="50" charset="-127"/>
              </a:rPr>
              <a:t>\5,500,000</a:t>
            </a:r>
            <a:r>
              <a:rPr lang="ko-KR" altLang="en-US" sz="1600" b="1" u="sng" dirty="0">
                <a:latin typeface="맑은 고딕" panose="020B0503020000020004" pitchFamily="50" charset="-127"/>
              </a:rPr>
              <a:t>이 아니라 </a:t>
            </a:r>
            <a:r>
              <a:rPr lang="en-US" altLang="ko-KR" sz="1600" b="1" u="sng" dirty="0">
                <a:latin typeface="맑은 고딕" panose="020B0503020000020004" pitchFamily="50" charset="-127"/>
              </a:rPr>
              <a:t>\4,400,000</a:t>
            </a:r>
            <a:r>
              <a:rPr lang="ko-KR" altLang="en-US" sz="1600" b="1" u="sng" dirty="0">
                <a:latin typeface="맑은 고딕" panose="020B0503020000020004" pitchFamily="50" charset="-127"/>
              </a:rPr>
              <a:t>인 경우</a:t>
            </a:r>
            <a:r>
              <a:rPr lang="en-US" altLang="ko-KR" sz="1600" b="1" u="sng" dirty="0">
                <a:latin typeface="맑은 고딕" panose="020B0503020000020004" pitchFamily="50" charset="-127"/>
              </a:rPr>
              <a:t>,</a:t>
            </a: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공정가치와 장부금액의 차이 </a:t>
            </a:r>
            <a:r>
              <a:rPr lang="en-US" altLang="ko-KR" sz="1600" b="1" dirty="0">
                <a:latin typeface="맑은 고딕" panose="020B0503020000020004" pitchFamily="50" charset="-127"/>
              </a:rPr>
              <a:t>\600,000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은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당기손익에</a:t>
            </a:r>
            <a:r>
              <a:rPr lang="ko-KR" altLang="en-US" sz="1600" b="1" dirty="0">
                <a:latin typeface="맑은 고딕" panose="020B0503020000020004" pitchFamily="50" charset="-127"/>
              </a:rPr>
              <a:t> 반영한다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재평가손실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600,000           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토          지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600,000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  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54504" y="4043598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u="sng" dirty="0">
                <a:latin typeface="맑은 고딕" panose="020B0503020000020004" pitchFamily="50" charset="-127"/>
              </a:rPr>
              <a:t> 부분재무상태표</a:t>
            </a:r>
            <a:r>
              <a:rPr lang="en-US" altLang="ko-KR" sz="1600" b="1" u="sng" dirty="0">
                <a:latin typeface="맑은 고딕" panose="020B0503020000020004" pitchFamily="50" charset="-127"/>
              </a:rPr>
              <a:t>(20X1</a:t>
            </a:r>
            <a:r>
              <a:rPr lang="ko-KR" altLang="en-US" sz="1600" b="1" u="sng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u="sng" dirty="0">
                <a:latin typeface="맑은 고딕" panose="020B0503020000020004" pitchFamily="50" charset="-127"/>
              </a:rPr>
              <a:t>12</a:t>
            </a:r>
            <a:r>
              <a:rPr lang="ko-KR" altLang="en-US" sz="1600" b="1" u="sng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u="sng" dirty="0">
                <a:latin typeface="맑은 고딕" panose="020B0503020000020004" pitchFamily="50" charset="-127"/>
              </a:rPr>
              <a:t>31</a:t>
            </a:r>
            <a:r>
              <a:rPr lang="ko-KR" altLang="en-US" sz="1600" b="1" u="sng" dirty="0">
                <a:latin typeface="맑은 고딕" panose="020B0503020000020004" pitchFamily="50" charset="-127"/>
              </a:rPr>
              <a:t>일</a:t>
            </a:r>
            <a:r>
              <a:rPr lang="en-US" altLang="ko-KR" sz="1600" b="1" u="sng" dirty="0">
                <a:latin typeface="맑은 고딕" panose="020B0503020000020004" pitchFamily="50" charset="-127"/>
              </a:rPr>
              <a:t>)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비유동자산</a:t>
            </a:r>
            <a:endParaRPr lang="ko-KR" altLang="en-US" sz="16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    토       지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\4,400,000</a:t>
            </a:r>
            <a:endParaRPr lang="ko-KR" altLang="en-US" sz="1600" dirty="0"/>
          </a:p>
        </p:txBody>
      </p:sp>
      <p:sp>
        <p:nvSpPr>
          <p:cNvPr id="5" name="직사각형 4"/>
          <p:cNvSpPr/>
          <p:nvPr/>
        </p:nvSpPr>
        <p:spPr>
          <a:xfrm>
            <a:off x="4535814" y="409946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u="sng" dirty="0">
                <a:latin typeface="맑은 고딕" panose="020B0503020000020004" pitchFamily="50" charset="-127"/>
              </a:rPr>
              <a:t> 부분포괄손익계산서</a:t>
            </a:r>
            <a:r>
              <a:rPr lang="en-US" altLang="ko-KR" sz="1600" b="1" u="sng" dirty="0">
                <a:latin typeface="맑은 고딕" panose="020B0503020000020004" pitchFamily="50" charset="-127"/>
              </a:rPr>
              <a:t>(20X1</a:t>
            </a:r>
            <a:r>
              <a:rPr lang="ko-KR" altLang="en-US" sz="1600" b="1" u="sng" dirty="0">
                <a:latin typeface="맑은 고딕" panose="020B0503020000020004" pitchFamily="50" charset="-127"/>
              </a:rPr>
              <a:t>년</a:t>
            </a:r>
            <a:r>
              <a:rPr lang="en-US" altLang="ko-KR" sz="1600" b="1" u="sng" dirty="0">
                <a:latin typeface="맑은 고딕" panose="020B0503020000020004" pitchFamily="50" charset="-127"/>
              </a:rPr>
              <a:t>)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       재평가손실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\600,000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       (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영업외손익</a:t>
            </a:r>
            <a:r>
              <a:rPr lang="en-US" altLang="ko-KR" sz="1600" b="1" dirty="0"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8792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1987" y="1333886"/>
            <a:ext cx="8641369" cy="3210421"/>
            <a:chOff x="2580598" y="1693823"/>
            <a:chExt cx="11521825" cy="3830643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580598" y="2172827"/>
              <a:ext cx="11521825" cy="335163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재평가시점의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감가상각누계액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처리방법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총장부금액에서 기존의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감가상각누계액을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제거하여 자산의 순장부금액이 재평가금액이 되도록 수정하는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감가상각누계액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제거법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이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흔히 사용됨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marL="288000" indent="-28800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그 외에도 재평가 후 자산의 장부금액이 재평가금액과 일치하도록 감가상각누계액과 총장부금액을 비례적으로 수정하는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비례적 조정법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도 사용가능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7" y="1693823"/>
              <a:ext cx="5470235" cy="450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재평가모형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(revaluation model)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9416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69" y="1263283"/>
            <a:ext cx="8680987" cy="5311688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7-9 </a:t>
                  </a:r>
                  <a:r>
                    <a:rPr lang="ko-KR" altLang="en-US" sz="1600" b="1" dirty="0"/>
                    <a:t>재평가 회계처리 </a:t>
                  </a:r>
                  <a:r>
                    <a:rPr lang="en-US" altLang="ko-KR" sz="1600" b="1" dirty="0"/>
                    <a:t>II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474487" y="1601650"/>
            <a:ext cx="8282622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㈜</a:t>
            </a:r>
            <a:r>
              <a:rPr lang="ko-KR" altLang="en-US" sz="1500" b="1" dirty="0">
                <a:latin typeface="맑은 고딕" panose="020B0503020000020004" pitchFamily="50" charset="-127"/>
              </a:rPr>
              <a:t>가스안전공사는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일에 건물을 </a:t>
            </a:r>
            <a:r>
              <a:rPr lang="en-US" altLang="ko-KR" sz="1500" b="1" dirty="0">
                <a:latin typeface="맑은 고딕" panose="020B0503020000020004" pitchFamily="50" charset="-127"/>
              </a:rPr>
              <a:t>\5,000,000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취득하였고</a:t>
            </a:r>
            <a:r>
              <a:rPr lang="en-US" altLang="ko-KR" sz="1500" b="1" dirty="0">
                <a:latin typeface="맑은 고딕" panose="020B0503020000020004" pitchFamily="50" charset="-127"/>
              </a:rPr>
              <a:t>, 20X1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감가상각비 </a:t>
            </a:r>
            <a:r>
              <a:rPr lang="en-US" altLang="ko-KR" sz="1500" b="1" dirty="0">
                <a:latin typeface="맑은 고딕" panose="020B0503020000020004" pitchFamily="50" charset="-127"/>
              </a:rPr>
              <a:t>\1,000,000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을 인식하였다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20X1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b="1" dirty="0">
                <a:latin typeface="맑은 고딕" panose="020B0503020000020004" pitchFamily="50" charset="-127"/>
              </a:rPr>
              <a:t> 건물의 공정가치는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\5,000,000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즉</a:t>
            </a:r>
            <a:r>
              <a:rPr lang="en-US" altLang="ko-KR" sz="1500" b="1" dirty="0">
                <a:latin typeface="맑은 고딕" panose="020B0503020000020004" pitchFamily="50" charset="-127"/>
              </a:rPr>
              <a:t>, </a:t>
            </a:r>
            <a:r>
              <a:rPr lang="ko-KR" altLang="en-US" sz="1500" b="1" dirty="0">
                <a:latin typeface="맑은 고딕" panose="020B0503020000020004" pitchFamily="50" charset="-127"/>
              </a:rPr>
              <a:t>재평가금액이 장부금액보다 </a:t>
            </a:r>
            <a:r>
              <a:rPr lang="en-US" altLang="ko-KR" sz="1500" b="1" dirty="0">
                <a:latin typeface="맑은 고딕" panose="020B0503020000020004" pitchFamily="50" charset="-127"/>
              </a:rPr>
              <a:t>\1,000,000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만큼 크다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  <a:r>
              <a:rPr lang="ko-KR" altLang="en-US" sz="1500" b="1" dirty="0">
                <a:latin typeface="맑은 고딕" panose="020B0503020000020004" pitchFamily="50" charset="-127"/>
              </a:rPr>
              <a:t> 재평가모형을 적용하여 건물을 평가할 때 감가상각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누계액</a:t>
            </a:r>
            <a:r>
              <a:rPr lang="ko-KR" altLang="en-US" sz="1500" b="1" dirty="0">
                <a:latin typeface="맑은 고딕" panose="020B0503020000020004" pitchFamily="50" charset="-127"/>
              </a:rPr>
              <a:t> 제거법을 사용한다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85578" y="4577855"/>
            <a:ext cx="7983935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재평가이익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</a:t>
            </a:r>
          </a:p>
          <a:p>
            <a:pPr marL="108000" indent="-108000" latinLnBrk="0">
              <a:spcBef>
                <a:spcPct val="0"/>
              </a:spcBef>
            </a:pPr>
            <a:endParaRPr lang="en-US" altLang="ko-KR" sz="1100" dirty="0">
              <a:latin typeface="맑은 고딕" panose="020B0503020000020004" pitchFamily="50" charset="-127"/>
            </a:endParaRPr>
          </a:p>
          <a:p>
            <a:pPr marL="171450" indent="-171450" latinLnBrk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</a:rPr>
              <a:t>만약 </a:t>
            </a:r>
            <a:r>
              <a:rPr lang="ko-KR" altLang="en-US" sz="1200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200" dirty="0">
                <a:latin typeface="맑은 고딕" panose="020B0503020000020004" pitchFamily="50" charset="-127"/>
              </a:rPr>
              <a:t> 전체를 제거했는데도 공정가치가 장부금액보다 더 큰 경우 에는 해당 자산의 취득원가를 증가시킴</a:t>
            </a:r>
            <a:endParaRPr lang="en-US" altLang="ko-KR" sz="1200" dirty="0">
              <a:latin typeface="맑은 고딕" panose="020B0503020000020004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F30AA9-9073-B53E-6DBC-8163438BE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78" y="3047007"/>
            <a:ext cx="7794171" cy="137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52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69" y="1263283"/>
            <a:ext cx="8680987" cy="5311688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7-9 </a:t>
                  </a:r>
                  <a:r>
                    <a:rPr lang="ko-KR" altLang="en-US" sz="1600" b="1" dirty="0"/>
                    <a:t>재평가 회계처리 </a:t>
                  </a:r>
                  <a:r>
                    <a:rPr lang="en-US" altLang="ko-KR" sz="1600" b="1" dirty="0"/>
                    <a:t>II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55392" y="1868746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108000" latinLnBrk="0">
              <a:lnSpc>
                <a:spcPts val="1600"/>
              </a:lnSpc>
              <a:spcBef>
                <a:spcPct val="0"/>
              </a:spcBef>
            </a:pPr>
            <a:endParaRPr lang="en-US" altLang="ko-KR" sz="13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ECA5D9-7F98-B225-5ACB-50F8F6694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04" y="2491671"/>
            <a:ext cx="7454537" cy="2396101"/>
          </a:xfrm>
          <a:prstGeom prst="rect">
            <a:avLst/>
          </a:prstGeom>
        </p:spPr>
      </p:pic>
      <p:sp>
        <p:nvSpPr>
          <p:cNvPr id="7" name="Rectangle 12">
            <a:extLst>
              <a:ext uri="{FF2B5EF4-FFF2-40B4-BE49-F238E27FC236}">
                <a16:creationId xmlns:a16="http://schemas.microsoft.com/office/drawing/2014/main" id="{5AB4FD4E-BEFA-9A82-9CD3-F112ECBD2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87" y="1844436"/>
            <a:ext cx="8282622" cy="401933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b="1" dirty="0">
                <a:latin typeface="맑은 고딕" panose="020B0503020000020004" pitchFamily="50" charset="-127"/>
              </a:rPr>
              <a:t>재평가 이전과 이후의 부분재무상태표는 아래와 같다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478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81131" y="1237874"/>
            <a:ext cx="8668813" cy="5296947"/>
            <a:chOff x="2580598" y="1693823"/>
            <a:chExt cx="11558417" cy="7062600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580598" y="2127937"/>
              <a:ext cx="11558417" cy="6628486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정의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유형자산이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진부화되거나 물리적 손상이 발생한 경우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또는 자산으로부터 발생할 것으로 예상되는 현금흐름이 심각하게 악화되어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자산의 가치가 하락하는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것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972000" lvl="1" indent="-180000" latinLnBrk="0">
                <a:spcBef>
                  <a:spcPts val="600"/>
                </a:spcBef>
                <a:buClrTx/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atin typeface="맑은 고딕" panose="020B0503020000020004" pitchFamily="50" charset="-127"/>
                </a:rPr>
                <a:t>예시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기존 제품보다 우수한 신제품이 개발되거나 경기불황시기 등에 제품에 대한 수요가 급감하여 기존에 제품생산에 사용되던 기계설비가 사용되지 않고 방치되어 있거나 가동률이 급격하게 하락한 경우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  </a:t>
              </a: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손상검사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(impairment test) 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자산의 손상을 시사하는 징후가 있을 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유형자산의 회수가능액을 추정하고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장부금액과 회수가능액을 비교하는 것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회계처리방법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장부금액이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회수가능액보다 큰 경우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장부금액을 회수가능액으로 감소시키고 그 차이를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손상차손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으로 이식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>
                <a:lnSpc>
                  <a:spcPts val="24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회수가능액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순공정가치와 사용가치 중 큰 금액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>
                <a:lnSpc>
                  <a:spcPts val="24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순공정가치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자산을 처분하여 얻을 것으로 예상하는 금액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>
                <a:lnSpc>
                  <a:spcPts val="24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 사용가치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자산을 계속 사용하는 경우 창출될 것으로 기대되는 미래현금흐름의 현재가치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628650" indent="-342900">
                <a:lnSpc>
                  <a:spcPts val="24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Char char="•"/>
              </a:pPr>
              <a:endParaRPr lang="en-US" altLang="ko-KR" sz="1850" dirty="0">
                <a:latin typeface="맑은 고딕" panose="020B0503020000020004" pitchFamily="50" charset="-127"/>
              </a:endParaRPr>
            </a:p>
            <a:p>
              <a:pPr marL="628650" indent="-342900">
                <a:lnSpc>
                  <a:spcPts val="24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Char char="•"/>
              </a:pPr>
              <a:endParaRPr lang="en-US" altLang="ko-KR" sz="700" dirty="0">
                <a:latin typeface="맑은 고딕" panose="020B0503020000020004" pitchFamily="50" charset="-127"/>
              </a:endParaRPr>
            </a:p>
            <a:p>
              <a:pPr marL="628650" indent="-342900">
                <a:lnSpc>
                  <a:spcPts val="24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Char char="•"/>
              </a:pPr>
              <a:endParaRPr lang="en-US" altLang="ko-KR" sz="18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7" y="1693823"/>
              <a:ext cx="5470235" cy="450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유형자산의 손상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(impairment)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1568756" y="5294541"/>
            <a:ext cx="6258508" cy="9919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 err="1">
                <a:latin typeface="맑은 고딕" panose="020B0503020000020004" pitchFamily="50" charset="-127"/>
              </a:rPr>
              <a:t>장부금액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&gt;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회수가능액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: 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차액을 손상차손으로 인식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 err="1">
                <a:latin typeface="맑은 고딕" panose="020B0503020000020004" pitchFamily="50" charset="-127"/>
              </a:rPr>
              <a:t>회수가능액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= max(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순공정가치</a:t>
            </a:r>
            <a:r>
              <a:rPr lang="en-US" altLang="ko-KR" sz="1600" b="1" dirty="0">
                <a:latin typeface="맑은 고딕" panose="020B0503020000020004" pitchFamily="50" charset="-127"/>
              </a:rPr>
              <a:t>*, </a:t>
            </a:r>
            <a:r>
              <a:rPr lang="ko-KR" altLang="en-US" sz="1600" b="1" dirty="0">
                <a:latin typeface="맑은 고딕" panose="020B0503020000020004" pitchFamily="50" charset="-127"/>
              </a:rPr>
              <a:t>사용가치</a:t>
            </a:r>
            <a:r>
              <a:rPr lang="en-US" altLang="ko-KR" sz="1600" b="1" dirty="0">
                <a:latin typeface="맑은 고딕" panose="020B0503020000020004" pitchFamily="50" charset="-127"/>
              </a:rPr>
              <a:t>)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ko-KR" sz="1200" b="1" dirty="0">
              <a:latin typeface="맑은 고딕" panose="020B0503020000020004" pitchFamily="50" charset="-127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*</a:t>
            </a:r>
            <a:r>
              <a:rPr lang="ko-KR" altLang="en-US" sz="1400" dirty="0" err="1">
                <a:latin typeface="맑은 고딕" panose="020B0503020000020004" pitchFamily="50" charset="-127"/>
              </a:rPr>
              <a:t>순공정가치</a:t>
            </a:r>
            <a:r>
              <a:rPr lang="ko-KR" altLang="en-US" sz="1400" dirty="0">
                <a:latin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</a:rPr>
              <a:t>= </a:t>
            </a:r>
            <a:r>
              <a:rPr lang="ko-KR" altLang="en-US" sz="1400" dirty="0">
                <a:latin typeface="맑은 고딕" panose="020B0503020000020004" pitchFamily="50" charset="-127"/>
              </a:rPr>
              <a:t>공정가치</a:t>
            </a:r>
            <a:r>
              <a:rPr lang="en-US" altLang="ko-KR" sz="1400" dirty="0">
                <a:latin typeface="맑은 고딕" panose="020B0503020000020004" pitchFamily="50" charset="-127"/>
              </a:rPr>
              <a:t>-</a:t>
            </a:r>
            <a:r>
              <a:rPr lang="ko-KR" altLang="en-US" sz="1400" dirty="0">
                <a:latin typeface="맑은 고딕" panose="020B0503020000020004" pitchFamily="50" charset="-127"/>
              </a:rPr>
              <a:t>처분부대비용</a:t>
            </a:r>
          </a:p>
        </p:txBody>
      </p:sp>
    </p:spTree>
    <p:extLst>
      <p:ext uri="{BB962C8B-B14F-4D97-AF65-F5344CB8AC3E}">
        <p14:creationId xmlns:p14="http://schemas.microsoft.com/office/powerpoint/2010/main" val="1144017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69" y="1263283"/>
            <a:ext cx="8680987" cy="5311688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7-10 </a:t>
                  </a:r>
                  <a:r>
                    <a:rPr lang="ko-KR" altLang="en-US" sz="1600" b="1" dirty="0"/>
                    <a:t>유형자산의 손상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77605" y="1702090"/>
            <a:ext cx="7959784" cy="4501129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주</a:t>
            </a:r>
            <a:r>
              <a:rPr lang="en-US" altLang="ko-KR" sz="1500" b="1" dirty="0">
                <a:latin typeface="맑은 고딕" panose="020B0503020000020004" pitchFamily="50" charset="-127"/>
              </a:rPr>
              <a:t>)</a:t>
            </a:r>
            <a:r>
              <a:rPr lang="ko-KR" altLang="en-US" sz="1500" b="1" dirty="0">
                <a:latin typeface="맑은 고딕" panose="020B0503020000020004" pitchFamily="50" charset="-127"/>
              </a:rPr>
              <a:t>수산중공업은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20×1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일에 기계장치를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2,000,000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취득하였으며 기계장치에 대해서 원가모형을 적용하고 있다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20×2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b="1" dirty="0">
                <a:latin typeface="맑은 고딕" panose="020B0503020000020004" pitchFamily="50" charset="-127"/>
              </a:rPr>
              <a:t> 감가상각비를 인식한 후 기계장치의 장부금액은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800,000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20×2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b="1" dirty="0">
                <a:latin typeface="맑은 고딕" panose="020B0503020000020004" pitchFamily="50" charset="-127"/>
              </a:rPr>
              <a:t> 기계장치를 매각하면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600,000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을 받을 수 있을 것으로 추정되고</a:t>
            </a:r>
            <a:r>
              <a:rPr lang="en-US" altLang="ko-KR" sz="1500" b="1" dirty="0">
                <a:latin typeface="맑은 고딕" panose="020B0503020000020004" pitchFamily="50" charset="-127"/>
              </a:rPr>
              <a:t>, 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 기계장치를 기업이 사용하여 벌어들일 수 있는 금액의 현재가치는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650,000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</a:rPr>
              <a:t>기계장치의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회수가능액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en-US" altLang="ko-KR" sz="1500" dirty="0">
                <a:latin typeface="맑은 고딕" panose="020B0503020000020004" pitchFamily="50" charset="-127"/>
              </a:rPr>
              <a:t>= max (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순공정가치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en-US" altLang="ko-KR" sz="1500" dirty="0">
                <a:latin typeface="맑은 고딕" panose="020B0503020000020004" pitchFamily="50" charset="-127"/>
              </a:rPr>
              <a:t>\600,000,</a:t>
            </a:r>
            <a:r>
              <a:rPr lang="ko-KR" altLang="en-US" sz="1500" dirty="0">
                <a:latin typeface="맑은 고딕" panose="020B0503020000020004" pitchFamily="50" charset="-127"/>
              </a:rPr>
              <a:t> 사용가치</a:t>
            </a:r>
            <a:r>
              <a:rPr lang="en-US" altLang="ko-KR" sz="1500" dirty="0">
                <a:latin typeface="맑은 고딕" panose="020B0503020000020004" pitchFamily="50" charset="-127"/>
              </a:rPr>
              <a:t> \650,000 ) = \ 650,000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</a:rPr>
              <a:t>장부금액  </a:t>
            </a:r>
            <a:r>
              <a:rPr lang="en-US" altLang="ko-KR" sz="1500" dirty="0">
                <a:latin typeface="맑은 고딕" panose="020B0503020000020004" pitchFamily="50" charset="-127"/>
              </a:rPr>
              <a:t>\800,000 &gt;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회수가능액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en-US" altLang="ko-KR" sz="1500" dirty="0">
                <a:latin typeface="맑은 고딕" panose="020B0503020000020004" pitchFamily="50" charset="-127"/>
              </a:rPr>
              <a:t>\650,000 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en-US" altLang="ko-KR" sz="1500" dirty="0">
                <a:latin typeface="맑은 고딕" panose="020B0503020000020004" pitchFamily="50" charset="-127"/>
                <a:sym typeface="Wingdings" panose="05000000000000000000" pitchFamily="2" charset="2"/>
              </a:rPr>
              <a:t> </a:t>
            </a: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</a:rPr>
              <a:t>차액인 </a:t>
            </a:r>
            <a:r>
              <a:rPr lang="en-US" altLang="ko-KR" sz="1500" dirty="0">
                <a:latin typeface="맑은 고딕" panose="020B0503020000020004" pitchFamily="50" charset="-127"/>
              </a:rPr>
              <a:t>\150,000</a:t>
            </a:r>
            <a:r>
              <a:rPr lang="ko-KR" altLang="en-US" sz="1500" dirty="0">
                <a:latin typeface="맑은 고딕" panose="020B0503020000020004" pitchFamily="50" charset="-127"/>
              </a:rPr>
              <a:t>을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손상차손으로</a:t>
            </a:r>
            <a:r>
              <a:rPr lang="ko-KR" altLang="en-US" sz="1500" dirty="0">
                <a:latin typeface="맑은 고딕" panose="020B0503020000020004" pitchFamily="50" charset="-127"/>
              </a:rPr>
              <a:t> 인식 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유형자산손상차손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150,000  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손상차손누계액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150,000    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1301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69" y="1263282"/>
            <a:ext cx="8701011" cy="4085957"/>
            <a:chOff x="190714" y="1320882"/>
            <a:chExt cx="8731554" cy="384299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60333" cy="3702375"/>
              <a:chOff x="269048" y="1722741"/>
              <a:chExt cx="8669124" cy="3702375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69124" cy="367867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7-10 </a:t>
                  </a:r>
                  <a:r>
                    <a:rPr lang="ko-KR" altLang="en-US" sz="1600" b="1" dirty="0"/>
                    <a:t>유형자산의 손상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77605" y="1702091"/>
            <a:ext cx="7869710" cy="2971509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4" name="Group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408695"/>
              </p:ext>
            </p:extLst>
          </p:nvPr>
        </p:nvGraphicFramePr>
        <p:xfrm>
          <a:off x="1057502" y="1840173"/>
          <a:ext cx="7200900" cy="1828800"/>
        </p:xfrm>
        <a:graphic>
          <a:graphicData uri="http://schemas.openxmlformats.org/drawingml/2006/table">
            <a:tbl>
              <a:tblPr/>
              <a:tblGrid>
                <a:gridCol w="1838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694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부분포괄손익계산서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94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비유동자산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손상차손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기계장치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영업외비용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94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감가상각누계액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(1,200,000)*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94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손상차손누계액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(150,000)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9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650,000**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1A106-40A0-4AE2-89D0-C71E54B66F3C}"/>
              </a:ext>
            </a:extLst>
          </p:cNvPr>
          <p:cNvSpPr txBox="1"/>
          <p:nvPr/>
        </p:nvSpPr>
        <p:spPr>
          <a:xfrm>
            <a:off x="587460" y="3857575"/>
            <a:ext cx="8169649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indent="-144000" latinLnBrk="0"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*20X2</a:t>
            </a:r>
            <a:r>
              <a:rPr lang="ko-KR" altLang="en-US" sz="1400" dirty="0">
                <a:latin typeface="맑은 고딕" panose="020B0503020000020004" pitchFamily="50" charset="-127"/>
              </a:rPr>
              <a:t>년말 </a:t>
            </a:r>
            <a:r>
              <a:rPr lang="ko-KR" altLang="en-US" sz="1400" dirty="0" err="1">
                <a:latin typeface="맑은 고딕" panose="020B0503020000020004" pitchFamily="50" charset="-127"/>
              </a:rPr>
              <a:t>손상차손인식</a:t>
            </a:r>
            <a:r>
              <a:rPr lang="ko-KR" altLang="en-US" sz="1400" dirty="0">
                <a:latin typeface="맑은 고딕" panose="020B0503020000020004" pitchFamily="50" charset="-127"/>
              </a:rPr>
              <a:t> 전 기계장치의 장부금액이 </a:t>
            </a:r>
            <a:r>
              <a:rPr lang="en-US" altLang="ko-KR" sz="1400" dirty="0">
                <a:latin typeface="맑은 고딕" panose="020B0503020000020004" pitchFamily="50" charset="-127"/>
              </a:rPr>
              <a:t>\800,000</a:t>
            </a:r>
            <a:r>
              <a:rPr lang="ko-KR" altLang="en-US" sz="1400" dirty="0">
                <a:latin typeface="맑은 고딕" panose="020B0503020000020004" pitchFamily="50" charset="-127"/>
              </a:rPr>
              <a:t>이므로</a:t>
            </a:r>
            <a:r>
              <a:rPr lang="en-US" altLang="ko-KR" sz="1400" dirty="0">
                <a:latin typeface="맑은 고딕" panose="020B0503020000020004" pitchFamily="50" charset="-127"/>
              </a:rPr>
              <a:t>, </a:t>
            </a:r>
            <a:r>
              <a:rPr lang="ko-KR" altLang="en-US" sz="1400" dirty="0" err="1">
                <a:latin typeface="맑은 고딕" panose="020B0503020000020004" pitchFamily="50" charset="-127"/>
              </a:rPr>
              <a:t>감가상각누계액은</a:t>
            </a:r>
            <a:r>
              <a:rPr lang="ko-KR" altLang="en-US" sz="1400" dirty="0">
                <a:latin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</a:rPr>
              <a:t>\1,200,000(=\2,000,000-800,000)</a:t>
            </a:r>
          </a:p>
          <a:p>
            <a:pPr marL="144000" indent="-144000" latinLnBrk="0">
              <a:spcBef>
                <a:spcPts val="60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**</a:t>
            </a:r>
            <a:r>
              <a:rPr lang="ko-KR" altLang="en-US" sz="1400" dirty="0" err="1">
                <a:latin typeface="맑은 고딕" panose="020B0503020000020004" pitchFamily="50" charset="-127"/>
              </a:rPr>
              <a:t>손상차손</a:t>
            </a:r>
            <a:r>
              <a:rPr lang="ko-KR" altLang="en-US" sz="1400" dirty="0">
                <a:latin typeface="맑은 고딕" panose="020B0503020000020004" pitchFamily="50" charset="-127"/>
              </a:rPr>
              <a:t> 인식 후 해당 기계장치의 장부금액</a:t>
            </a:r>
            <a:r>
              <a:rPr lang="en-US" altLang="ko-KR" sz="1400" dirty="0">
                <a:latin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</a:rPr>
              <a:t>취득원가에서 </a:t>
            </a:r>
            <a:r>
              <a:rPr lang="ko-KR" altLang="en-US" sz="1400" dirty="0" err="1">
                <a:latin typeface="맑은 고딕" panose="020B0503020000020004" pitchFamily="50" charset="-127"/>
              </a:rPr>
              <a:t>감가상각누계액과</a:t>
            </a:r>
            <a:r>
              <a:rPr lang="ko-KR" altLang="en-US" sz="1400" dirty="0">
                <a:latin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</a:rPr>
              <a:t>손상차손누계액을</a:t>
            </a:r>
            <a:r>
              <a:rPr lang="ko-KR" altLang="en-US" sz="1400" dirty="0">
                <a:latin typeface="맑은 고딕" panose="020B0503020000020004" pitchFamily="50" charset="-127"/>
              </a:rPr>
              <a:t> 차감한  </a:t>
            </a:r>
            <a:r>
              <a:rPr lang="en-US" altLang="ko-KR" sz="1400" dirty="0">
                <a:latin typeface="맑은 고딕" panose="020B0503020000020004" pitchFamily="50" charset="-127"/>
              </a:rPr>
              <a:t>\650,000</a:t>
            </a:r>
          </a:p>
        </p:txBody>
      </p:sp>
    </p:spTree>
    <p:extLst>
      <p:ext uri="{BB962C8B-B14F-4D97-AF65-F5344CB8AC3E}">
        <p14:creationId xmlns:p14="http://schemas.microsoft.com/office/powerpoint/2010/main" val="4061355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199966" y="1140795"/>
            <a:ext cx="8575977" cy="1163712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6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 err="1">
                <a:latin typeface="맑은 고딕" panose="020B0503020000020004" pitchFamily="50" charset="-127"/>
              </a:rPr>
              <a:t>사용중이던</a:t>
            </a:r>
            <a:r>
              <a:rPr lang="ko-KR" altLang="en-US" sz="1600" dirty="0">
                <a:latin typeface="맑은 고딕" panose="020B0503020000020004" pitchFamily="50" charset="-127"/>
              </a:rPr>
              <a:t> 유형자산을 처분하는 경우 처분대가와 장부금액의 차이를 유형자산처분손익으로 당기손익에 반영</a:t>
            </a:r>
            <a:r>
              <a:rPr lang="en-US" altLang="ko-KR" sz="1600" dirty="0">
                <a:latin typeface="맑은 고딕" panose="020B0503020000020004" pitchFamily="50" charset="-127"/>
              </a:rPr>
              <a:t> (</a:t>
            </a:r>
            <a:r>
              <a:rPr lang="ko-KR" altLang="en-US" sz="1600" dirty="0">
                <a:latin typeface="맑은 고딕" panose="020B0503020000020004" pitchFamily="50" charset="-127"/>
              </a:rPr>
              <a:t>관련 유형자산의 취득원가와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감가상각누계액을</a:t>
            </a:r>
            <a:r>
              <a:rPr lang="ko-KR" altLang="en-US" sz="1600" dirty="0">
                <a:latin typeface="맑은 고딕" panose="020B0503020000020004" pitchFamily="50" charset="-127"/>
              </a:rPr>
              <a:t> 제거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ts val="26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            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94956" y="2826135"/>
            <a:ext cx="8701011" cy="3797087"/>
            <a:chOff x="190714" y="1320882"/>
            <a:chExt cx="8731554" cy="4116954"/>
          </a:xfrm>
        </p:grpSpPr>
        <p:grpSp>
          <p:nvGrpSpPr>
            <p:cNvPr id="17" name="그룹 16"/>
            <p:cNvGrpSpPr/>
            <p:nvPr/>
          </p:nvGrpSpPr>
          <p:grpSpPr>
            <a:xfrm>
              <a:off x="361935" y="1461499"/>
              <a:ext cx="8560333" cy="3976337"/>
              <a:chOff x="269048" y="1722741"/>
              <a:chExt cx="8669124" cy="3976337"/>
            </a:xfrm>
          </p:grpSpPr>
          <p:sp>
            <p:nvSpPr>
              <p:cNvPr id="25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69124" cy="3952637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19" name="그룹 18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21" name="타원 2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7-11 </a:t>
                  </a:r>
                  <a:r>
                    <a:rPr lang="ko-KR" altLang="en-US" sz="1600" b="1" dirty="0"/>
                    <a:t>감가상각 대상자산의 처분</a:t>
                  </a:r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0" name="그림 19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443612" y="3109744"/>
            <a:ext cx="8003701" cy="2971509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주</a:t>
            </a:r>
            <a:r>
              <a:rPr lang="en-US" altLang="ko-KR" sz="1500" b="1" dirty="0">
                <a:latin typeface="맑은 고딕" panose="020B0503020000020004" pitchFamily="50" charset="-127"/>
              </a:rPr>
              <a:t>)KGC</a:t>
            </a:r>
            <a:r>
              <a:rPr lang="ko-KR" altLang="en-US" sz="1500" b="1" dirty="0">
                <a:latin typeface="맑은 고딕" panose="020B0503020000020004" pitchFamily="50" charset="-127"/>
              </a:rPr>
              <a:t>인삼공사는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20×1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일에 기계장치를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2,000,000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취득하였다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내용연수는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3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년이고 잔존가치는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200,000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으로 추정되었으며 정액법을 적용하고 있다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(</a:t>
            </a:r>
            <a:r>
              <a:rPr lang="ko-KR" altLang="en-US" sz="1500" b="1" dirty="0">
                <a:latin typeface="맑은 고딕" panose="020B0503020000020004" pitchFamily="50" charset="-127"/>
              </a:rPr>
              <a:t>주</a:t>
            </a:r>
            <a:r>
              <a:rPr lang="en-US" altLang="ko-KR" sz="1500" b="1" dirty="0">
                <a:latin typeface="맑은 고딕" panose="020B0503020000020004" pitchFamily="50" charset="-127"/>
              </a:rPr>
              <a:t>)KGC</a:t>
            </a:r>
            <a:r>
              <a:rPr lang="ko-KR" altLang="en-US" sz="1500" b="1" dirty="0">
                <a:latin typeface="맑은 고딕" panose="020B0503020000020004" pitchFamily="50" charset="-127"/>
              </a:rPr>
              <a:t>인삼공사는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20×2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12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31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일에 이 기계장치를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900,000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처분하였다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20×2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년의 감가상각비는 아직 인식하지 않았다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① 감가상각비 인식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    20×2</a:t>
            </a:r>
            <a:r>
              <a:rPr lang="ko-KR" altLang="en-US" sz="1400" dirty="0">
                <a:latin typeface="맑은 고딕" panose="020B0503020000020004" pitchFamily="50" charset="-127"/>
              </a:rPr>
              <a:t>년에 해당하는 감가상각비</a:t>
            </a:r>
            <a:r>
              <a:rPr lang="en-US" altLang="ko-KR" sz="1400" dirty="0">
                <a:latin typeface="맑은 고딕" panose="020B0503020000020004" pitchFamily="50" charset="-127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                                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                                                 ￦</a:t>
            </a:r>
            <a:r>
              <a:rPr lang="en-US" altLang="ko-KR" sz="1400" dirty="0">
                <a:latin typeface="맑은 고딕" panose="020B0503020000020004" pitchFamily="50" charset="-127"/>
              </a:rPr>
              <a:t>2,000,000</a:t>
            </a:r>
            <a:r>
              <a:rPr lang="ko-KR" altLang="en-US" sz="1400" dirty="0">
                <a:latin typeface="맑은 고딕" panose="020B0503020000020004" pitchFamily="50" charset="-127"/>
              </a:rPr>
              <a:t>－</a:t>
            </a:r>
            <a:r>
              <a:rPr lang="en-US" altLang="ko-KR" sz="1400" dirty="0">
                <a:latin typeface="맑은 고딕" panose="020B0503020000020004" pitchFamily="50" charset="-127"/>
              </a:rPr>
              <a:t>200,000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     정액법에 의한 매년 감가상각비＝</a:t>
            </a:r>
            <a:r>
              <a:rPr lang="en-US" altLang="ko-KR" sz="1400" dirty="0">
                <a:latin typeface="맑은 고딕" panose="020B0503020000020004" pitchFamily="50" charset="-127"/>
              </a:rPr>
              <a:t>――――――――――  = \600,000/</a:t>
            </a:r>
            <a:r>
              <a:rPr lang="ko-KR" altLang="en-US" sz="1400" dirty="0">
                <a:latin typeface="맑은 고딕" panose="020B0503020000020004" pitchFamily="50" charset="-127"/>
              </a:rPr>
              <a:t>년</a:t>
            </a:r>
            <a:r>
              <a:rPr lang="en-US" altLang="ko-KR" sz="1400" dirty="0">
                <a:latin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</a:rPr>
              <a:t>차</a:t>
            </a:r>
            <a:r>
              <a:rPr lang="en-US" altLang="ko-KR" sz="1400" dirty="0">
                <a:latin typeface="맑은 고딕" panose="020B0503020000020004" pitchFamily="50" charset="-127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                                                             3</a:t>
            </a:r>
            <a:r>
              <a:rPr lang="ko-KR" altLang="en-US" sz="1400" dirty="0">
                <a:latin typeface="맑은 고딕" panose="020B0503020000020004" pitchFamily="50" charset="-127"/>
              </a:rPr>
              <a:t>년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ko-KR" altLang="en-US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감가상각비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600,000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600,000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ko-KR" altLang="en-US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23C97D-9CCF-4C0D-A974-3D2AAF0D3330}"/>
              </a:ext>
            </a:extLst>
          </p:cNvPr>
          <p:cNvSpPr/>
          <p:nvPr/>
        </p:nvSpPr>
        <p:spPr>
          <a:xfrm>
            <a:off x="2378363" y="2000931"/>
            <a:ext cx="4387273" cy="4820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유형자산처분손익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처분대가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장부금액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33165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250771" y="1207625"/>
            <a:ext cx="8680988" cy="5207688"/>
            <a:chOff x="190714" y="1320882"/>
            <a:chExt cx="8711461" cy="5303092"/>
          </a:xfrm>
        </p:grpSpPr>
        <p:grpSp>
          <p:nvGrpSpPr>
            <p:cNvPr id="17" name="그룹 16"/>
            <p:cNvGrpSpPr/>
            <p:nvPr/>
          </p:nvGrpSpPr>
          <p:grpSpPr>
            <a:xfrm>
              <a:off x="361936" y="1461499"/>
              <a:ext cx="8540239" cy="5162475"/>
              <a:chOff x="269049" y="1722741"/>
              <a:chExt cx="8648775" cy="5162475"/>
            </a:xfrm>
          </p:grpSpPr>
          <p:sp>
            <p:nvSpPr>
              <p:cNvPr id="25" name="Rectangle 15"/>
              <p:cNvSpPr>
                <a:spLocks noChangeArrowheads="1"/>
              </p:cNvSpPr>
              <p:nvPr/>
            </p:nvSpPr>
            <p:spPr bwMode="auto">
              <a:xfrm>
                <a:off x="269049" y="1746441"/>
                <a:ext cx="8648775" cy="5138775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19" name="그룹 18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21" name="타원 2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7-11 </a:t>
                  </a:r>
                  <a:r>
                    <a:rPr lang="ko-KR" altLang="en-US" sz="1600" b="1" dirty="0"/>
                    <a:t>감가상각 대상자산의 처분</a:t>
                  </a:r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0" name="그림 19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612107" y="1646433"/>
            <a:ext cx="7869710" cy="2971509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atin typeface="바탕" panose="02030600000101010101" pitchFamily="18" charset="-127"/>
                <a:ea typeface="바탕" panose="02030600000101010101" pitchFamily="18" charset="-127"/>
              </a:rPr>
              <a:t>②</a:t>
            </a:r>
            <a:r>
              <a:rPr lang="ko-KR" altLang="en-US" sz="1600" dirty="0">
                <a:latin typeface="맑은 고딕" panose="020B0503020000020004" pitchFamily="50" charset="-127"/>
              </a:rPr>
              <a:t> 기계장치의 처분이익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    20×2</a:t>
            </a:r>
            <a:r>
              <a:rPr lang="ko-KR" altLang="en-US" sz="1600" dirty="0">
                <a:latin typeface="맑은 고딕" panose="020B0503020000020004" pitchFamily="50" charset="-127"/>
              </a:rPr>
              <a:t>년 </a:t>
            </a:r>
            <a:r>
              <a:rPr lang="en-US" altLang="ko-KR" sz="1600" dirty="0">
                <a:latin typeface="맑은 고딕" panose="020B0503020000020004" pitchFamily="50" charset="-127"/>
              </a:rPr>
              <a:t>12</a:t>
            </a:r>
            <a:r>
              <a:rPr lang="ko-KR" altLang="en-US" sz="1600" dirty="0">
                <a:latin typeface="맑은 고딕" panose="020B0503020000020004" pitchFamily="50" charset="-127"/>
              </a:rPr>
              <a:t>월 </a:t>
            </a:r>
            <a:r>
              <a:rPr lang="en-US" altLang="ko-KR" sz="1600" dirty="0">
                <a:latin typeface="맑은 고딕" panose="020B0503020000020004" pitchFamily="50" charset="-127"/>
              </a:rPr>
              <a:t>31</a:t>
            </a:r>
            <a:r>
              <a:rPr lang="ko-KR" altLang="en-US" sz="1600" dirty="0">
                <a:latin typeface="맑은 고딕" panose="020B0503020000020004" pitchFamily="50" charset="-127"/>
              </a:rPr>
              <a:t>일은 취득일</a:t>
            </a:r>
            <a:r>
              <a:rPr lang="en-US" altLang="ko-KR" sz="1600" dirty="0">
                <a:latin typeface="맑은 고딕" panose="020B0503020000020004" pitchFamily="50" charset="-127"/>
              </a:rPr>
              <a:t>(20×1</a:t>
            </a:r>
            <a:r>
              <a:rPr lang="ko-KR" altLang="en-US" sz="1600" dirty="0">
                <a:latin typeface="맑은 고딕" panose="020B0503020000020004" pitchFamily="50" charset="-127"/>
              </a:rPr>
              <a:t>년 </a:t>
            </a:r>
            <a:r>
              <a:rPr lang="en-US" altLang="ko-KR" sz="1600" dirty="0">
                <a:latin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</a:rPr>
              <a:t>월 </a:t>
            </a:r>
            <a:r>
              <a:rPr lang="en-US" altLang="ko-KR" sz="1600" dirty="0">
                <a:latin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</a:rPr>
              <a:t>일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로부터 </a:t>
            </a:r>
            <a:r>
              <a:rPr lang="en-US" altLang="ko-KR" sz="1600" dirty="0">
                <a:latin typeface="맑은 고딕" panose="020B0503020000020004" pitchFamily="50" charset="-127"/>
              </a:rPr>
              <a:t>2</a:t>
            </a:r>
            <a:r>
              <a:rPr lang="ko-KR" altLang="en-US" sz="1600" dirty="0">
                <a:latin typeface="맑은 고딕" panose="020B0503020000020004" pitchFamily="50" charset="-127"/>
              </a:rPr>
              <a:t>년이 지난 시점이므로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    </a:t>
            </a:r>
            <a:r>
              <a:rPr lang="ko-KR" altLang="en-US" sz="1600" dirty="0">
                <a:latin typeface="맑은 고딕" panose="020B0503020000020004" pitchFamily="50" charset="-127"/>
              </a:rPr>
              <a:t>감가상각누계액은 ￦</a:t>
            </a:r>
            <a:r>
              <a:rPr lang="en-US" altLang="ko-KR" sz="1600" dirty="0">
                <a:latin typeface="맑은 고딕" panose="020B0503020000020004" pitchFamily="50" charset="-127"/>
              </a:rPr>
              <a:t>1,200,000(</a:t>
            </a:r>
            <a:r>
              <a:rPr lang="ko-KR" altLang="en-US" sz="1600" dirty="0">
                <a:latin typeface="맑은 고딕" panose="020B0503020000020004" pitchFamily="50" charset="-127"/>
              </a:rPr>
              <a:t>＝￦</a:t>
            </a:r>
            <a:r>
              <a:rPr lang="en-US" altLang="ko-KR" sz="1600" dirty="0">
                <a:latin typeface="맑은 고딕" panose="020B0503020000020004" pitchFamily="50" charset="-127"/>
              </a:rPr>
              <a:t>600,000×2</a:t>
            </a:r>
            <a:r>
              <a:rPr lang="ko-KR" altLang="en-US" sz="1600" dirty="0">
                <a:latin typeface="맑은 고딕" panose="020B0503020000020004" pitchFamily="50" charset="-127"/>
              </a:rPr>
              <a:t>년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이 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                    </a:t>
            </a:r>
            <a:r>
              <a:rPr lang="ko-KR" altLang="en-US" sz="1400" dirty="0">
                <a:latin typeface="맑은 고딕" panose="020B0503020000020004" pitchFamily="50" charset="-127"/>
              </a:rPr>
              <a:t>처분대가                                           ￦</a:t>
            </a:r>
            <a:r>
              <a:rPr lang="en-US" altLang="ko-KR" sz="1400" dirty="0">
                <a:latin typeface="맑은 고딕" panose="020B0503020000020004" pitchFamily="50" charset="-127"/>
              </a:rPr>
              <a:t>900,000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                        장부금액                  ￦</a:t>
            </a:r>
            <a:r>
              <a:rPr lang="en-US" altLang="ko-KR" sz="1400" dirty="0">
                <a:latin typeface="맑은 고딕" panose="020B0503020000020004" pitchFamily="50" charset="-127"/>
              </a:rPr>
              <a:t>2,000,000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                                                 </a:t>
            </a:r>
            <a:r>
              <a:rPr lang="en-US" altLang="ko-KR" sz="1050" dirty="0">
                <a:latin typeface="맑은 고딕" panose="020B0503020000020004" pitchFamily="50" charset="-127"/>
              </a:rPr>
              <a:t>  </a:t>
            </a:r>
            <a:r>
              <a:rPr lang="en-US" altLang="ko-KR" sz="1400" dirty="0">
                <a:latin typeface="맑은 고딕" panose="020B0503020000020004" pitchFamily="50" charset="-127"/>
              </a:rPr>
              <a:t>     (1,200,000)       </a:t>
            </a:r>
            <a:r>
              <a:rPr lang="en-US" altLang="ko-KR" sz="1400" u="sng" dirty="0">
                <a:latin typeface="맑은 고딕" panose="020B0503020000020004" pitchFamily="50" charset="-127"/>
              </a:rPr>
              <a:t>     800,000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                        처분이익                                         </a:t>
            </a:r>
            <a:r>
              <a:rPr lang="ko-KR" altLang="en-US" sz="900" dirty="0">
                <a:latin typeface="맑은 고딕" panose="020B0503020000020004" pitchFamily="50" charset="-127"/>
              </a:rPr>
              <a:t>  </a:t>
            </a:r>
            <a:r>
              <a:rPr lang="ko-KR" altLang="en-US" sz="1400" dirty="0">
                <a:latin typeface="맑은 고딕" panose="020B0503020000020004" pitchFamily="50" charset="-127"/>
              </a:rPr>
              <a:t> ￦</a:t>
            </a:r>
            <a:r>
              <a:rPr lang="en-US" altLang="ko-KR" sz="1400" dirty="0">
                <a:latin typeface="맑은 고딕" panose="020B0503020000020004" pitchFamily="50" charset="-127"/>
              </a:rPr>
              <a:t>100,000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현          금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900,000     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기 계 장 치          </a:t>
            </a:r>
            <a:r>
              <a:rPr lang="ko-KR" altLang="en-US" sz="1200" b="1" dirty="0">
                <a:latin typeface="맑은 고딕" panose="020B0503020000020004" pitchFamily="50" charset="-127"/>
              </a:rPr>
              <a:t>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2,000,000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</a:rPr>
              <a:t>            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감가상각누계액</a:t>
            </a:r>
            <a:r>
              <a:rPr lang="ko-KR" altLang="en-US" sz="1600" b="1" dirty="0">
                <a:latin typeface="맑은 고딕" panose="020B0503020000020004" pitchFamily="50" charset="-127"/>
              </a:rPr>
              <a:t>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1,200,000               </a:t>
            </a:r>
            <a:r>
              <a:rPr lang="ko-KR" altLang="en-US" sz="1600" b="1" dirty="0">
                <a:latin typeface="맑은 고딕" panose="020B0503020000020004" pitchFamily="50" charset="-127"/>
              </a:rPr>
              <a:t>유형자산처분이익  </a:t>
            </a:r>
            <a:r>
              <a:rPr lang="ko-KR" altLang="en-US" sz="1200" b="1" dirty="0">
                <a:latin typeface="맑은 고딕" panose="020B0503020000020004" pitchFamily="50" charset="-127"/>
              </a:rPr>
              <a:t>  </a:t>
            </a:r>
            <a:r>
              <a:rPr lang="ko-KR" altLang="en-US" sz="1600" b="1" dirty="0">
                <a:latin typeface="맑은 고딕" panose="020B0503020000020004" pitchFamily="50" charset="-127"/>
              </a:rPr>
              <a:t>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100,000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graphicFrame>
        <p:nvGraphicFramePr>
          <p:cNvPr id="29" name="Group 118">
            <a:extLst>
              <a:ext uri="{FF2B5EF4-FFF2-40B4-BE49-F238E27FC236}">
                <a16:creationId xmlns:a16="http://schemas.microsoft.com/office/drawing/2014/main" id="{50136C63-CDEF-45E0-B89D-5306D5170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51887"/>
              </p:ext>
            </p:extLst>
          </p:nvPr>
        </p:nvGraphicFramePr>
        <p:xfrm>
          <a:off x="1079500" y="4601967"/>
          <a:ext cx="6985000" cy="1219200"/>
        </p:xfrm>
        <a:graphic>
          <a:graphicData uri="http://schemas.openxmlformats.org/drawingml/2006/table">
            <a:tbl>
              <a:tblPr/>
              <a:tblGrid>
                <a:gridCol w="177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부분포괄손익계산서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비유동자산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감가상각비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600,000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기계장치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유형자산처분이익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100,000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086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250771" y="1207625"/>
            <a:ext cx="8680988" cy="5207688"/>
            <a:chOff x="190714" y="1320882"/>
            <a:chExt cx="8711461" cy="5303092"/>
          </a:xfrm>
        </p:grpSpPr>
        <p:grpSp>
          <p:nvGrpSpPr>
            <p:cNvPr id="17" name="그룹 16"/>
            <p:cNvGrpSpPr/>
            <p:nvPr/>
          </p:nvGrpSpPr>
          <p:grpSpPr>
            <a:xfrm>
              <a:off x="361936" y="1461499"/>
              <a:ext cx="8540239" cy="5162475"/>
              <a:chOff x="269049" y="1722741"/>
              <a:chExt cx="8648775" cy="5162475"/>
            </a:xfrm>
          </p:grpSpPr>
          <p:sp>
            <p:nvSpPr>
              <p:cNvPr id="25" name="Rectangle 15"/>
              <p:cNvSpPr>
                <a:spLocks noChangeArrowheads="1"/>
              </p:cNvSpPr>
              <p:nvPr/>
            </p:nvSpPr>
            <p:spPr bwMode="auto">
              <a:xfrm>
                <a:off x="269049" y="1746441"/>
                <a:ext cx="8648775" cy="5138775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19" name="그룹 18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21" name="타원 2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7-11 </a:t>
                  </a:r>
                  <a:r>
                    <a:rPr lang="ko-KR" altLang="en-US" sz="1600" b="1" dirty="0"/>
                    <a:t>감가상각 대상자산의 처분</a:t>
                  </a:r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0" name="그림 19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741721" y="1857635"/>
            <a:ext cx="7869710" cy="2971509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95363">
              <a:defRPr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③ 기계장치의 처분손실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    </a:t>
            </a:r>
          </a:p>
          <a:p>
            <a:pPr latinLnBrk="0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20×2년 12월 31일 </a:t>
            </a:r>
            <a:r>
              <a:rPr lang="en-US" altLang="ko-KR" sz="1600" dirty="0" err="1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기계장치를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</a:t>
            </a:r>
            <a:r>
              <a:rPr lang="en-US" altLang="ko-KR" sz="1600" b="1" u="sng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￦900,000이 </a:t>
            </a:r>
            <a:r>
              <a:rPr lang="en-US" altLang="ko-KR" sz="1600" b="1" u="sng" dirty="0" err="1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아니라</a:t>
            </a:r>
            <a:r>
              <a:rPr lang="en-US" altLang="ko-KR" sz="1600" b="1" u="sng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￦500,000에 </a:t>
            </a:r>
            <a:r>
              <a:rPr lang="en-US" altLang="ko-KR" sz="1600" b="1" u="sng" dirty="0" err="1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처분하였다</a:t>
            </a:r>
            <a:r>
              <a:rPr lang="ko-KR" altLang="en-US" sz="1600" b="1" u="sng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면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</a:t>
            </a:r>
            <a:r>
              <a:rPr lang="en-US" altLang="ko-KR" sz="1600" dirty="0" err="1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회계처리는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</a:t>
            </a:r>
            <a:r>
              <a:rPr lang="en-US" altLang="ko-KR" sz="1600" dirty="0" err="1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다음과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</a:t>
            </a:r>
            <a:r>
              <a:rPr lang="en-US" altLang="ko-KR" sz="1600" dirty="0" err="1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같다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. </a:t>
            </a:r>
            <a:r>
              <a:rPr lang="en-US" altLang="ko-KR" sz="1600" dirty="0" err="1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처분시점의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</a:t>
            </a:r>
            <a:r>
              <a:rPr lang="en-US" altLang="ko-KR" sz="1600" dirty="0" err="1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감가상각누계액은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②와 </a:t>
            </a:r>
            <a:r>
              <a:rPr lang="en-US" altLang="ko-KR" sz="1600" dirty="0" err="1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같다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.</a:t>
            </a:r>
            <a:endParaRPr lang="ko-KR" altLang="en-US" sz="1600" dirty="0">
              <a:solidFill>
                <a:schemeClr val="accent4">
                  <a:lumMod val="10000"/>
                </a:schemeClr>
              </a:solidFill>
              <a:latin typeface="맑은 고딕" pitchFamily="50" charset="-127"/>
            </a:endParaRPr>
          </a:p>
          <a:p>
            <a:pPr defTabSz="995363">
              <a:defRPr/>
            </a:pPr>
            <a:endParaRPr lang="en-US" altLang="ko-KR" sz="1400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>
              <a:defRPr/>
            </a:pPr>
            <a:r>
              <a:rPr lang="ko-KR" altLang="en-US" sz="1400" dirty="0">
                <a:solidFill>
                  <a:srgbClr val="000000"/>
                </a:solidFill>
                <a:latin typeface="맑은 고딕" pitchFamily="50" charset="-127"/>
              </a:rPr>
              <a:t>                        처분대가                                           ￦</a:t>
            </a:r>
            <a:r>
              <a:rPr lang="en-US" altLang="ko-KR" sz="1400" dirty="0">
                <a:solidFill>
                  <a:srgbClr val="000000"/>
                </a:solidFill>
                <a:latin typeface="맑은 고딕" pitchFamily="50" charset="-127"/>
              </a:rPr>
              <a:t>500,000</a:t>
            </a:r>
          </a:p>
          <a:p>
            <a:pPr defTabSz="995363">
              <a:defRPr/>
            </a:pPr>
            <a:r>
              <a:rPr lang="ko-KR" altLang="en-US" sz="1400" dirty="0">
                <a:solidFill>
                  <a:srgbClr val="000000"/>
                </a:solidFill>
                <a:latin typeface="맑은 고딕" pitchFamily="50" charset="-127"/>
              </a:rPr>
              <a:t>                        장부금액                  ￦</a:t>
            </a:r>
            <a:r>
              <a:rPr lang="en-US" altLang="ko-KR" sz="1400" dirty="0">
                <a:solidFill>
                  <a:srgbClr val="000000"/>
                </a:solidFill>
                <a:latin typeface="맑은 고딕" pitchFamily="50" charset="-127"/>
              </a:rPr>
              <a:t>2,000,000</a:t>
            </a:r>
          </a:p>
          <a:p>
            <a:pPr defTabSz="995363">
              <a:defRPr/>
            </a:pPr>
            <a:r>
              <a:rPr lang="en-US" altLang="ko-KR" sz="1400" dirty="0">
                <a:solidFill>
                  <a:srgbClr val="000000"/>
                </a:solidFill>
                <a:latin typeface="맑은 고딕" pitchFamily="50" charset="-127"/>
              </a:rPr>
              <a:t>                                                       (1,200,000)       </a:t>
            </a:r>
            <a:r>
              <a:rPr lang="en-US" altLang="ko-KR" sz="1400" u="sng" dirty="0">
                <a:solidFill>
                  <a:srgbClr val="000000"/>
                </a:solidFill>
                <a:latin typeface="맑은 고딕" pitchFamily="50" charset="-127"/>
              </a:rPr>
              <a:t>     800,000</a:t>
            </a:r>
          </a:p>
          <a:p>
            <a:pPr defTabSz="995363">
              <a:defRPr/>
            </a:pPr>
            <a:r>
              <a:rPr lang="ko-KR" altLang="en-US" sz="1400" dirty="0">
                <a:solidFill>
                  <a:srgbClr val="000000"/>
                </a:solidFill>
                <a:latin typeface="맑은 고딕" pitchFamily="50" charset="-127"/>
              </a:rPr>
              <a:t>                        처분손실                                           ￦</a:t>
            </a:r>
            <a:r>
              <a:rPr lang="en-US" altLang="ko-KR" sz="1400" dirty="0">
                <a:solidFill>
                  <a:srgbClr val="000000"/>
                </a:solidFill>
                <a:latin typeface="맑은 고딕" pitchFamily="50" charset="-127"/>
              </a:rPr>
              <a:t>300,000</a:t>
            </a:r>
          </a:p>
          <a:p>
            <a:pPr defTabSz="995363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>
              <a:defRPr/>
            </a:pP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       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(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차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) 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현          금            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500,000         (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대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) 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기 계 장 치            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2,000,000</a:t>
            </a:r>
          </a:p>
          <a:p>
            <a:pPr defTabSz="995363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             </a:t>
            </a:r>
            <a:r>
              <a:rPr lang="ko-KR" altLang="en-US" sz="1600" b="1" dirty="0" err="1">
                <a:solidFill>
                  <a:srgbClr val="000000"/>
                </a:solidFill>
                <a:latin typeface="맑은 고딕" pitchFamily="50" charset="-127"/>
              </a:rPr>
              <a:t>감가상각누계액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     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1,200,000</a:t>
            </a:r>
          </a:p>
          <a:p>
            <a:pPr defTabSz="995363"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             유형자산처분손실   </a:t>
            </a:r>
            <a:r>
              <a:rPr lang="ko-KR" altLang="en-US" sz="1050" b="1" dirty="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300,000</a:t>
            </a:r>
          </a:p>
          <a:p>
            <a:pPr defTabSz="995363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             (</a:t>
            </a:r>
            <a:r>
              <a:rPr lang="ko-KR" altLang="en-US" sz="1600" b="1" dirty="0" err="1">
                <a:solidFill>
                  <a:srgbClr val="000000"/>
                </a:solidFill>
                <a:latin typeface="맑은 고딕" pitchFamily="50" charset="-127"/>
              </a:rPr>
              <a:t>영업외손익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)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650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41791" y="1237677"/>
            <a:ext cx="8650725" cy="3498283"/>
            <a:chOff x="2626908" y="1693823"/>
            <a:chExt cx="11534300" cy="4465357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39383" y="2125623"/>
              <a:ext cx="11521825" cy="403355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기업이 통제하고 있는 자산으로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정상적인 영업활동 중에 장기간 사용하기 위한 목적으로 보유하는 물리적 실체가 없지만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식별 가능한 자산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인식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① 자산으로부터 발생하는 미래 경제적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효익이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기업에 유입될 가능성이 높아야 하고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       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② 자산의 원가를 신뢰성 있게 측정할 수 있을 때 인식 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무형자산의 정의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260503" y="3085501"/>
            <a:ext cx="8641369" cy="1418701"/>
            <a:chOff x="2626683" y="1693823"/>
            <a:chExt cx="11521825" cy="1891602"/>
          </a:xfrm>
        </p:grpSpPr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145980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특허권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상표권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브랜드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저작권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라이선스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프랜차이즈권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개발비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영업권</a:t>
              </a:r>
              <a:endParaRPr lang="ko-KR" altLang="en-US" sz="1800" dirty="0">
                <a:latin typeface="맑은 고딕" panose="020B0503020000020004" pitchFamily="50" charset="-127"/>
              </a:endParaRPr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5470235" cy="264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무형자산의 종류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66B9DD-0D99-45FA-B7FE-5D8E39010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823" y="4410522"/>
            <a:ext cx="6156599" cy="2220311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CFE0441D-69E4-4DF9-850C-28A6E7C8129B}"/>
              </a:ext>
            </a:extLst>
          </p:cNvPr>
          <p:cNvGrpSpPr/>
          <p:nvPr/>
        </p:nvGrpSpPr>
        <p:grpSpPr>
          <a:xfrm>
            <a:off x="83171" y="4057385"/>
            <a:ext cx="8308626" cy="314653"/>
            <a:chOff x="1287462" y="4738439"/>
            <a:chExt cx="8308626" cy="314653"/>
          </a:xfrm>
        </p:grpSpPr>
        <p:sp>
          <p:nvSpPr>
            <p:cNvPr id="17" name="오각형 21">
              <a:extLst>
                <a:ext uri="{FF2B5EF4-FFF2-40B4-BE49-F238E27FC236}">
                  <a16:creationId xmlns:a16="http://schemas.microsoft.com/office/drawing/2014/main" id="{AAE78B1F-5F6A-4D04-A0FD-27CC82AEF203}"/>
                </a:ext>
              </a:extLst>
            </p:cNvPr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402A813-DFD3-4B6D-8A49-17D4014B61F2}"/>
                </a:ext>
              </a:extLst>
            </p:cNvPr>
            <p:cNvSpPr txBox="1"/>
            <p:nvPr/>
          </p:nvSpPr>
          <p:spPr>
            <a:xfrm>
              <a:off x="2079461" y="4738439"/>
              <a:ext cx="7516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연구개발활동지출액의 회계처리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3682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36138" y="1180261"/>
            <a:ext cx="8671724" cy="5053104"/>
            <a:chOff x="2626908" y="1693823"/>
            <a:chExt cx="11562298" cy="6737472"/>
          </a:xfrm>
        </p:grpSpPr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2667381" y="1971191"/>
              <a:ext cx="11521825" cy="646010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유형자산의 감가상각과 마찬가지로 무형자산의 취득원가를 내용연수에 걸쳐     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     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체계적으로 배분하는 원가배분과정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576000" lvl="1" indent="-144000" latinLnBrk="0">
                <a:lnSpc>
                  <a:spcPts val="2400"/>
                </a:lnSpc>
                <a:spcBef>
                  <a:spcPct val="0"/>
                </a:spcBef>
                <a:buClr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*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순현금유입을 창출할 것으로 기대되는 기간에 대하여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예측가능한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제한이 없을 경우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무형자산의 내용연수가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비한정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(indefinite)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인 것으로 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무형자산의 </a:t>
              </a: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상각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114382" y="3349242"/>
            <a:ext cx="8308626" cy="307777"/>
            <a:chOff x="932891" y="5569641"/>
            <a:chExt cx="8308626" cy="307777"/>
          </a:xfrm>
        </p:grpSpPr>
        <p:sp>
          <p:nvSpPr>
            <p:cNvPr id="26" name="오각형 25"/>
            <p:cNvSpPr/>
            <p:nvPr/>
          </p:nvSpPr>
          <p:spPr>
            <a:xfrm>
              <a:off x="932891" y="5600867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24890" y="5569641"/>
              <a:ext cx="7516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무형자산의 회계처리</a:t>
              </a: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C8C76A8-5D31-4F4D-BA27-0361549CD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717163"/>
              </p:ext>
            </p:extLst>
          </p:nvPr>
        </p:nvGraphicFramePr>
        <p:xfrm>
          <a:off x="834136" y="3659332"/>
          <a:ext cx="8043371" cy="1222936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287755">
                  <a:extLst>
                    <a:ext uri="{9D8B030D-6E8A-4147-A177-3AD203B41FA5}">
                      <a16:colId xmlns:a16="http://schemas.microsoft.com/office/drawing/2014/main" val="817825359"/>
                    </a:ext>
                  </a:extLst>
                </a:gridCol>
                <a:gridCol w="1216978">
                  <a:extLst>
                    <a:ext uri="{9D8B030D-6E8A-4147-A177-3AD203B41FA5}">
                      <a16:colId xmlns:a16="http://schemas.microsoft.com/office/drawing/2014/main" val="3127784984"/>
                    </a:ext>
                  </a:extLst>
                </a:gridCol>
                <a:gridCol w="1074503">
                  <a:extLst>
                    <a:ext uri="{9D8B030D-6E8A-4147-A177-3AD203B41FA5}">
                      <a16:colId xmlns:a16="http://schemas.microsoft.com/office/drawing/2014/main" val="2174555887"/>
                    </a:ext>
                  </a:extLst>
                </a:gridCol>
                <a:gridCol w="3464135">
                  <a:extLst>
                    <a:ext uri="{9D8B030D-6E8A-4147-A177-3AD203B41FA5}">
                      <a16:colId xmlns:a16="http://schemas.microsoft.com/office/drawing/2014/main" val="400332919"/>
                    </a:ext>
                  </a:extLst>
                </a:gridCol>
              </a:tblGrid>
              <a:tr h="2040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구 분</a:t>
                      </a:r>
                      <a:endParaRPr lang="ko-KR" altLang="en-US" sz="1400" b="1" kern="0" spc="-30" dirty="0">
                        <a:solidFill>
                          <a:srgbClr val="0066FF"/>
                        </a:solidFill>
                        <a:effectLst/>
                        <a:latin typeface="한양신명조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상 각</a:t>
                      </a:r>
                      <a:endParaRPr lang="ko-KR" altLang="en-US" sz="1400" b="1" kern="0" spc="-30" dirty="0">
                        <a:solidFill>
                          <a:srgbClr val="0066FF"/>
                        </a:solidFill>
                        <a:effectLst/>
                        <a:latin typeface="한양신명조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손상검사</a:t>
                      </a:r>
                      <a:endParaRPr lang="ko-KR" altLang="en-US" sz="1400" b="1" kern="0" spc="-30" dirty="0">
                        <a:solidFill>
                          <a:srgbClr val="0066FF"/>
                        </a:solidFill>
                        <a:effectLst/>
                        <a:latin typeface="한양신명조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인식 후 측정방법</a:t>
                      </a:r>
                      <a:endParaRPr lang="ko-KR" altLang="en-US" sz="1400" b="1" kern="0" spc="-30" dirty="0">
                        <a:solidFill>
                          <a:srgbClr val="0066FF"/>
                        </a:solidFill>
                        <a:effectLst/>
                        <a:latin typeface="한양신명조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072132"/>
                  </a:ext>
                </a:extLst>
              </a:tr>
              <a:tr h="3263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내용연수가 유한한 무형자산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매년 </a:t>
                      </a:r>
                      <a:r>
                        <a:rPr lang="ko-KR" altLang="en-US" sz="1400" kern="0" spc="-30" dirty="0" err="1">
                          <a:effectLst/>
                        </a:rPr>
                        <a:t>상각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실시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4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원가모형이나 재평가모형 중 하나를 선택 가능</a:t>
                      </a:r>
                      <a:r>
                        <a:rPr lang="en-US" altLang="ko-KR" sz="1400" kern="0" spc="-30" dirty="0">
                          <a:effectLst/>
                        </a:rPr>
                        <a:t>. </a:t>
                      </a:r>
                      <a:r>
                        <a:rPr lang="ko-KR" altLang="en-US" sz="1400" kern="0" spc="-30" dirty="0">
                          <a:effectLst/>
                        </a:rPr>
                        <a:t>다만 해당 무형자산에 대한 활성시장이 존재하는 경우에만 재평가모형 적용가능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872435530"/>
                  </a:ext>
                </a:extLst>
              </a:tr>
              <a:tr h="3263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내용연수가 비한정인 무형자산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 err="1">
                          <a:effectLst/>
                        </a:rPr>
                        <a:t>상각하지</a:t>
                      </a:r>
                      <a:r>
                        <a:rPr lang="ko-KR" altLang="en-US" sz="1400" kern="0" spc="-30" dirty="0">
                          <a:effectLst/>
                        </a:rPr>
                        <a:t> 않음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103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261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57473" y="1261936"/>
            <a:ext cx="8655020" cy="1804572"/>
            <a:chOff x="2626908" y="1482329"/>
            <a:chExt cx="11540026" cy="2406094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45109" y="2034186"/>
              <a:ext cx="11521825" cy="185423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원칙적으로 원가모형과 재평가모형 중 하나를 선택할 수 있으나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해당 무형자산에 대한 활성시장이 존재하는 경우에만 재평가모형 적용 가능</a:t>
              </a: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482329"/>
              <a:ext cx="7230696" cy="424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무형자산의 인식 </a:t>
              </a:r>
              <a:r>
                <a:rPr lang="ko-KR" altLang="en-US" sz="18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후 측정방법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510565"/>
              <a:ext cx="281973" cy="425438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231506" y="2784167"/>
            <a:ext cx="8680987" cy="3333402"/>
            <a:chOff x="190714" y="1320882"/>
            <a:chExt cx="8711460" cy="3394469"/>
          </a:xfrm>
        </p:grpSpPr>
        <p:grpSp>
          <p:nvGrpSpPr>
            <p:cNvPr id="23" name="그룹 22"/>
            <p:cNvGrpSpPr/>
            <p:nvPr/>
          </p:nvGrpSpPr>
          <p:grpSpPr>
            <a:xfrm>
              <a:off x="322883" y="1461499"/>
              <a:ext cx="8579291" cy="3253852"/>
              <a:chOff x="229500" y="1722741"/>
              <a:chExt cx="8688323" cy="3253852"/>
            </a:xfrm>
          </p:grpSpPr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229500" y="2049687"/>
                <a:ext cx="8624831" cy="292690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t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0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종근당은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20×1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일에 특허를 취득하였다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특허등록을 위해 지출된 비용은 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1,050,000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이다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. (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종근당은 향후 이 특허권이 법률로 보호되는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년 동안 특허권을 이용해서 향후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년 동안 </a:t>
                </a:r>
                <a:r>
                  <a:rPr lang="ko-KR" altLang="en-US" sz="1500" dirty="0" err="1">
                    <a:latin typeface="맑은 고딕" panose="020B0503020000020004" pitchFamily="50" charset="-127"/>
                  </a:rPr>
                  <a:t>순현금흐름을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 창출할 수 있을 것으로 기대하고 있다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특허권의 상각방법은 정액법을 사용한다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특허권의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내용연수를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년으로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, 10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년 후 잔존가치는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으로 추정함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.</a:t>
                </a:r>
                <a:endParaRPr lang="ko-KR" altLang="en-US" sz="15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r>
                  <a:rPr lang="ko-KR" altLang="en-US" sz="1600" dirty="0" err="1">
                    <a:latin typeface="맑은 고딕" panose="020B0503020000020004" pitchFamily="50" charset="-127"/>
                  </a:rPr>
                  <a:t>취득시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:  (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b="1" dirty="0" err="1">
                    <a:latin typeface="맑은 고딕" panose="020B0503020000020004" pitchFamily="50" charset="-127"/>
                  </a:rPr>
                  <a:t>특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  허  권       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1,050,000           (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현          금       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1,050,000</a:t>
                </a:r>
                <a:endParaRPr lang="ko-KR" altLang="en-US" sz="16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24" name="그룹 23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25" name="그룹 24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41" name="타원 4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2" name="타원 41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7-12 </a:t>
                  </a:r>
                  <a:r>
                    <a:rPr lang="ko-KR" altLang="en-US" sz="1600" b="1" dirty="0"/>
                    <a:t>무형자산의 취득과 </a:t>
                  </a:r>
                  <a:r>
                    <a:rPr lang="ko-KR" altLang="en-US" sz="1600" b="1" dirty="0" err="1"/>
                    <a:t>상각</a:t>
                  </a:r>
                  <a:endParaRPr lang="ko-KR" altLang="en-US" sz="1600" b="1" dirty="0"/>
                </a:p>
              </p:txBody>
            </p:sp>
            <p:sp>
              <p:nvSpPr>
                <p:cNvPr id="44" name="타원 4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6" name="그림 25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5987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27211" y="1246092"/>
            <a:ext cx="8701011" cy="3340423"/>
            <a:chOff x="190714" y="1320882"/>
            <a:chExt cx="8731554" cy="3401619"/>
          </a:xfrm>
        </p:grpSpPr>
        <p:grpSp>
          <p:nvGrpSpPr>
            <p:cNvPr id="23" name="그룹 22"/>
            <p:cNvGrpSpPr/>
            <p:nvPr/>
          </p:nvGrpSpPr>
          <p:grpSpPr>
            <a:xfrm>
              <a:off x="361937" y="1461499"/>
              <a:ext cx="8560331" cy="3261002"/>
              <a:chOff x="269050" y="1722741"/>
              <a:chExt cx="8669122" cy="3261002"/>
            </a:xfrm>
          </p:grpSpPr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269050" y="1746441"/>
                <a:ext cx="8669122" cy="323730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r>
                  <a:rPr lang="ko-KR" altLang="en-US" sz="1500" dirty="0" err="1">
                    <a:latin typeface="맑은 고딕" panose="020B0503020000020004" pitchFamily="50" charset="-127"/>
                  </a:rPr>
                  <a:t>상각시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: 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500" b="1" dirty="0" err="1">
                    <a:latin typeface="맑은 고딕" panose="020B0503020000020004" pitchFamily="50" charset="-127"/>
                  </a:rPr>
                  <a:t>무형자산상각비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   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105,000           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특허권        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105,000*</a:t>
                </a: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r>
                  <a:rPr lang="ko-KR" altLang="en-US" sz="1500" dirty="0">
                    <a:latin typeface="맑은 고딕" panose="020B0503020000020004" pitchFamily="50" charset="-127"/>
                  </a:rPr>
                  <a:t>                 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특허권상각비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)</a:t>
                </a: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r>
                  <a:rPr lang="en-US" altLang="ko-KR" sz="1300" dirty="0">
                    <a:latin typeface="맑은 고딕" panose="020B0503020000020004" pitchFamily="50" charset="-127"/>
                  </a:rPr>
                  <a:t>               *\1,050,000/10</a:t>
                </a:r>
                <a:r>
                  <a:rPr lang="ko-KR" altLang="en-US" sz="1300" dirty="0">
                    <a:latin typeface="맑은 고딕" panose="020B0503020000020004" pitchFamily="50" charset="-127"/>
                  </a:rPr>
                  <a:t>년</a:t>
                </a:r>
                <a:r>
                  <a:rPr lang="en-US" altLang="ko-KR" sz="1300" dirty="0">
                    <a:latin typeface="맑은 고딕" panose="020B0503020000020004" pitchFamily="50" charset="-127"/>
                  </a:rPr>
                  <a:t>=\105,000</a:t>
                </a:r>
                <a:br>
                  <a:rPr lang="en-US" altLang="ko-KR" sz="1200" dirty="0">
                    <a:latin typeface="맑은 고딕" panose="020B0503020000020004" pitchFamily="50" charset="-127"/>
                  </a:rPr>
                </a:br>
                <a:r>
                  <a:rPr lang="en-US" altLang="ko-KR" sz="1200" dirty="0">
                    <a:latin typeface="맑은 고딕" panose="020B0503020000020004" pitchFamily="50" charset="-127"/>
                  </a:rPr>
                  <a:t>            </a:t>
                </a: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endParaRPr lang="en-US" altLang="ko-KR" sz="12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endParaRPr lang="en-US" altLang="ko-KR" sz="12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endParaRPr lang="ko-KR" altLang="en-US" sz="16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24" name="그룹 23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25" name="그룹 24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41" name="타원 4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2" name="타원 41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7-12 </a:t>
                  </a:r>
                  <a:r>
                    <a:rPr lang="ko-KR" altLang="en-US" sz="1600" b="1" dirty="0"/>
                    <a:t>무형자산의 취득과 </a:t>
                  </a:r>
                  <a:r>
                    <a:rPr lang="ko-KR" altLang="en-US" sz="1600" b="1" dirty="0" err="1"/>
                    <a:t>상각</a:t>
                  </a:r>
                  <a:endParaRPr lang="ko-KR" altLang="en-US" sz="1600" b="1" dirty="0"/>
                </a:p>
              </p:txBody>
            </p:sp>
            <p:sp>
              <p:nvSpPr>
                <p:cNvPr id="44" name="타원 4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6" name="그림 25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33" name="Group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401597"/>
              </p:ext>
            </p:extLst>
          </p:nvPr>
        </p:nvGraphicFramePr>
        <p:xfrm>
          <a:off x="565446" y="3585361"/>
          <a:ext cx="8235653" cy="822960"/>
        </p:xfrm>
        <a:graphic>
          <a:graphicData uri="http://schemas.openxmlformats.org/drawingml/2006/table">
            <a:tbl>
              <a:tblPr/>
              <a:tblGrid>
                <a:gridCol w="1806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3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68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부분포괄손익계산서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특허권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945,000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무형자산상각비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영업비용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105,000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474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2C2A227-4A83-49C8-BEBF-F37A0237CA36}"/>
              </a:ext>
            </a:extLst>
          </p:cNvPr>
          <p:cNvGrpSpPr/>
          <p:nvPr/>
        </p:nvGrpSpPr>
        <p:grpSpPr>
          <a:xfrm>
            <a:off x="84760" y="1666704"/>
            <a:ext cx="8308626" cy="307777"/>
            <a:chOff x="904907" y="5202383"/>
            <a:chExt cx="8308626" cy="307777"/>
          </a:xfrm>
        </p:grpSpPr>
        <p:sp>
          <p:nvSpPr>
            <p:cNvPr id="16" name="오각형 32">
              <a:extLst>
                <a:ext uri="{FF2B5EF4-FFF2-40B4-BE49-F238E27FC236}">
                  <a16:creationId xmlns:a16="http://schemas.microsoft.com/office/drawing/2014/main" id="{38C8E555-36E1-407E-B5F5-10C7D200618C}"/>
                </a:ext>
              </a:extLst>
            </p:cNvPr>
            <p:cNvSpPr/>
            <p:nvPr/>
          </p:nvSpPr>
          <p:spPr>
            <a:xfrm>
              <a:off x="904907" y="5246309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4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EC5DFF-5F1D-49E8-BD10-AF8C585AB525}"/>
                </a:ext>
              </a:extLst>
            </p:cNvPr>
            <p:cNvSpPr txBox="1"/>
            <p:nvPr/>
          </p:nvSpPr>
          <p:spPr>
            <a:xfrm>
              <a:off x="1696906" y="5202383"/>
              <a:ext cx="7516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유형자산과 무형자산의 비교</a:t>
              </a:r>
            </a:p>
          </p:txBody>
        </p:sp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07242A6-84BA-4F69-9A76-374967B9D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377738"/>
              </p:ext>
            </p:extLst>
          </p:nvPr>
        </p:nvGraphicFramePr>
        <p:xfrm>
          <a:off x="583092" y="2143646"/>
          <a:ext cx="8103960" cy="228460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794106">
                  <a:extLst>
                    <a:ext uri="{9D8B030D-6E8A-4147-A177-3AD203B41FA5}">
                      <a16:colId xmlns:a16="http://schemas.microsoft.com/office/drawing/2014/main" val="1327232200"/>
                    </a:ext>
                  </a:extLst>
                </a:gridCol>
                <a:gridCol w="3089722">
                  <a:extLst>
                    <a:ext uri="{9D8B030D-6E8A-4147-A177-3AD203B41FA5}">
                      <a16:colId xmlns:a16="http://schemas.microsoft.com/office/drawing/2014/main" val="2491085062"/>
                    </a:ext>
                  </a:extLst>
                </a:gridCol>
                <a:gridCol w="3220132">
                  <a:extLst>
                    <a:ext uri="{9D8B030D-6E8A-4147-A177-3AD203B41FA5}">
                      <a16:colId xmlns:a16="http://schemas.microsoft.com/office/drawing/2014/main" val="842742115"/>
                    </a:ext>
                  </a:extLst>
                </a:gridCol>
              </a:tblGrid>
              <a:tr h="19859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구 분</a:t>
                      </a:r>
                      <a:endParaRPr lang="ko-KR" altLang="en-US" sz="14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유형자산</a:t>
                      </a:r>
                      <a:endParaRPr lang="ko-KR" altLang="en-US" sz="14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무형자산</a:t>
                      </a:r>
                      <a:endParaRPr lang="ko-KR" altLang="en-US" sz="14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587259"/>
                  </a:ext>
                </a:extLst>
              </a:tr>
              <a:tr h="2217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effectLst/>
                        </a:rPr>
                        <a:t>상각비용의</a:t>
                      </a:r>
                      <a:r>
                        <a:rPr lang="ko-KR" altLang="en-US" sz="1400" b="1" kern="0" spc="-30" dirty="0">
                          <a:effectLst/>
                        </a:rPr>
                        <a:t> 명칭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08330" algn="ctr"/>
                        </a:tabLst>
                      </a:pPr>
                      <a:r>
                        <a:rPr lang="ko-KR" altLang="en-US" sz="1400" kern="0" spc="-30" dirty="0">
                          <a:effectLst/>
                        </a:rPr>
                        <a:t>감가상각비</a:t>
                      </a:r>
                      <a:r>
                        <a:rPr lang="en-US" altLang="ko-KR" sz="1400" kern="0" spc="-30" dirty="0">
                          <a:effectLst/>
                        </a:rPr>
                        <a:t>(</a:t>
                      </a:r>
                      <a:r>
                        <a:rPr lang="en-US" sz="1400" kern="0" spc="-30" dirty="0">
                          <a:effectLst/>
                        </a:rPr>
                        <a:t>depreciation)</a:t>
                      </a:r>
                      <a:endParaRPr 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effectLst/>
                        </a:rPr>
                        <a:t>무형자산상각비</a:t>
                      </a:r>
                      <a:r>
                        <a:rPr lang="en-US" altLang="ko-KR" sz="1400" kern="0" spc="-30">
                          <a:effectLst/>
                        </a:rPr>
                        <a:t>(amortization)</a:t>
                      </a:r>
                      <a:endParaRPr lang="ko-KR" altLang="en-US" sz="1400" kern="0" spc="-6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801115788"/>
                  </a:ext>
                </a:extLst>
              </a:tr>
              <a:tr h="2217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effectLst/>
                        </a:rPr>
                        <a:t>상각여부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 err="1">
                          <a:effectLst/>
                        </a:rPr>
                        <a:t>상각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effectLst/>
                        </a:rPr>
                        <a:t>한정된 내용연수인 경우만 상각</a:t>
                      </a:r>
                      <a:endParaRPr lang="ko-KR" altLang="en-US" sz="1400" kern="0" spc="-6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456367372"/>
                  </a:ext>
                </a:extLst>
              </a:tr>
              <a:tr h="3825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상각방법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43710" algn="ctr"/>
                        </a:tabLst>
                      </a:pPr>
                      <a:r>
                        <a:rPr lang="ko-KR" altLang="en-US" sz="1400" kern="0" spc="-30" dirty="0">
                          <a:effectLst/>
                        </a:rPr>
                        <a:t>정액법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체감잔액법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생산량비례법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보통 정액법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132735970"/>
                  </a:ext>
                </a:extLst>
              </a:tr>
              <a:tr h="1613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잔존가치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43710" algn="ctr"/>
                        </a:tabLst>
                      </a:pPr>
                      <a:r>
                        <a:rPr lang="ko-KR" altLang="en-US" sz="1400" kern="0" spc="-30" dirty="0">
                          <a:effectLst/>
                        </a:rPr>
                        <a:t>보통 양</a:t>
                      </a:r>
                      <a:r>
                        <a:rPr lang="en-US" altLang="ko-KR" sz="1400" kern="0" spc="-30" dirty="0">
                          <a:effectLst/>
                        </a:rPr>
                        <a:t>(</a:t>
                      </a:r>
                      <a:r>
                        <a:rPr lang="ko-KR" altLang="en-US" sz="1400" kern="0" spc="-30" dirty="0">
                          <a:effectLst/>
                        </a:rPr>
                        <a:t>＋</a:t>
                      </a:r>
                      <a:r>
                        <a:rPr lang="en-US" altLang="ko-KR" sz="1400" kern="0" spc="-30" dirty="0">
                          <a:effectLst/>
                        </a:rPr>
                        <a:t>)</a:t>
                      </a:r>
                      <a:r>
                        <a:rPr lang="ko-KR" altLang="en-US" sz="1400" kern="0" spc="-30" dirty="0">
                          <a:effectLst/>
                        </a:rPr>
                        <a:t>의 값을 갖는다</a:t>
                      </a:r>
                      <a:r>
                        <a:rPr lang="en-US" altLang="ko-KR" sz="1400" kern="0" spc="-30" dirty="0">
                          <a:effectLst/>
                        </a:rPr>
                        <a:t>.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effectLst/>
                        </a:rPr>
                        <a:t>보통 ￦</a:t>
                      </a:r>
                      <a:r>
                        <a:rPr lang="en-US" altLang="ko-KR" sz="1400" kern="0" spc="-30" dirty="0">
                          <a:effectLst/>
                        </a:rPr>
                        <a:t>0</a:t>
                      </a:r>
                      <a:r>
                        <a:rPr lang="ko-KR" altLang="en-US" sz="1400" kern="0" spc="-30" dirty="0">
                          <a:effectLst/>
                        </a:rPr>
                        <a:t>으로 본다</a:t>
                      </a:r>
                      <a:r>
                        <a:rPr lang="en-US" altLang="ko-KR" sz="1400" kern="0" spc="-30" dirty="0">
                          <a:effectLst/>
                        </a:rPr>
                        <a:t>.</a:t>
                      </a:r>
                      <a:endParaRPr lang="ko-KR" altLang="en-US" sz="1400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884888297"/>
                  </a:ext>
                </a:extLst>
              </a:tr>
              <a:tr h="1613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재무상태표 표시</a:t>
                      </a:r>
                      <a:endParaRPr lang="ko-KR" altLang="en-US" sz="1400" b="1" kern="0" spc="-60" dirty="0">
                        <a:solidFill>
                          <a:srgbClr val="993300"/>
                        </a:solidFill>
                        <a:effectLst/>
                        <a:latin typeface="HY울릉도M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43710" algn="ctr"/>
                        </a:tabLst>
                      </a:pPr>
                      <a:r>
                        <a:rPr lang="ko-KR" altLang="en-US" sz="1400" kern="0" spc="-60" dirty="0">
                          <a:solidFill>
                            <a:schemeClr val="tx1"/>
                          </a:solidFill>
                          <a:effectLst/>
                          <a:latin typeface="HY울릉도M"/>
                        </a:rPr>
                        <a:t>유형자산에서 </a:t>
                      </a:r>
                      <a:r>
                        <a:rPr lang="ko-KR" altLang="en-US" sz="1400" kern="0" spc="-60" dirty="0" err="1">
                          <a:solidFill>
                            <a:schemeClr val="tx1"/>
                          </a:solidFill>
                          <a:effectLst/>
                          <a:latin typeface="HY울릉도M"/>
                        </a:rPr>
                        <a:t>상각누계액을</a:t>
                      </a:r>
                      <a:r>
                        <a:rPr lang="ko-KR" altLang="en-US" sz="1400" kern="0" spc="-60" dirty="0">
                          <a:solidFill>
                            <a:schemeClr val="tx1"/>
                          </a:solidFill>
                          <a:effectLst/>
                          <a:latin typeface="HY울릉도M"/>
                        </a:rPr>
                        <a:t> 차감하는 형식으로 표시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60" dirty="0" err="1">
                          <a:solidFill>
                            <a:schemeClr val="tx1"/>
                          </a:solidFill>
                          <a:effectLst/>
                          <a:latin typeface="HY울릉도M"/>
                        </a:rPr>
                        <a:t>상각누계액계정을</a:t>
                      </a:r>
                      <a:r>
                        <a:rPr lang="ko-KR" altLang="en-US" sz="1400" kern="0" spc="-60" dirty="0">
                          <a:solidFill>
                            <a:schemeClr val="tx1"/>
                          </a:solidFill>
                          <a:effectLst/>
                          <a:latin typeface="HY울릉도M"/>
                        </a:rPr>
                        <a:t> 활용할 수도 있지만</a:t>
                      </a:r>
                      <a:r>
                        <a:rPr lang="en-US" altLang="ko-KR" sz="1400" kern="0" spc="-60" dirty="0">
                          <a:solidFill>
                            <a:schemeClr val="tx1"/>
                          </a:solidFill>
                          <a:effectLst/>
                          <a:latin typeface="HY울릉도M"/>
                        </a:rPr>
                        <a:t>, </a:t>
                      </a:r>
                      <a:r>
                        <a:rPr lang="ko-KR" altLang="en-US" sz="1400" kern="0" spc="-60" dirty="0">
                          <a:solidFill>
                            <a:schemeClr val="tx1"/>
                          </a:solidFill>
                          <a:effectLst/>
                          <a:latin typeface="HY울릉도M"/>
                        </a:rPr>
                        <a:t>보통 </a:t>
                      </a:r>
                      <a:r>
                        <a:rPr lang="ko-KR" altLang="en-US" sz="1400" kern="0" spc="-60" dirty="0" err="1">
                          <a:solidFill>
                            <a:schemeClr val="tx1"/>
                          </a:solidFill>
                          <a:effectLst/>
                          <a:latin typeface="HY울릉도M"/>
                        </a:rPr>
                        <a:t>직접차감법을</a:t>
                      </a:r>
                      <a:r>
                        <a:rPr lang="ko-KR" altLang="en-US" sz="1400" kern="0" spc="-60" dirty="0">
                          <a:solidFill>
                            <a:schemeClr val="tx1"/>
                          </a:solidFill>
                          <a:effectLst/>
                          <a:latin typeface="HY울릉도M"/>
                        </a:rPr>
                        <a:t> 사용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255695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001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75882" y="1249903"/>
            <a:ext cx="8407435" cy="476118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80000" indent="-180000">
              <a:lnSpc>
                <a:spcPts val="2400"/>
              </a:lnSpc>
              <a:buNone/>
              <a:defRPr/>
            </a:pPr>
            <a:r>
              <a:rPr lang="en-US" altLang="ko-KR" sz="1600" dirty="0">
                <a:solidFill>
                  <a:schemeClr val="tx1"/>
                </a:solidFill>
                <a:latin typeface="맑은 고딕" pitchFamily="50" charset="-127"/>
              </a:rPr>
              <a:t>• </a:t>
            </a:r>
            <a:r>
              <a:rPr lang="ko-KR" altLang="en-US" sz="1600" b="1" dirty="0">
                <a:solidFill>
                  <a:schemeClr val="tx1"/>
                </a:solidFill>
                <a:latin typeface="맑은 고딕" pitchFamily="50" charset="-127"/>
              </a:rPr>
              <a:t>영업권</a:t>
            </a:r>
            <a:r>
              <a:rPr lang="en-US" altLang="ko-KR" sz="1600" dirty="0">
                <a:solidFill>
                  <a:schemeClr val="tx1"/>
                </a:solidFill>
                <a:latin typeface="맑은 고딕" pitchFamily="50" charset="-127"/>
              </a:rPr>
              <a:t>(goodwill)</a:t>
            </a:r>
            <a:r>
              <a:rPr lang="ko-KR" altLang="en-US" sz="1600" b="1" dirty="0">
                <a:solidFill>
                  <a:schemeClr val="tx1"/>
                </a:solidFill>
                <a:latin typeface="맑은 고딕" pitchFamily="50" charset="-127"/>
              </a:rPr>
              <a:t>의 정</a:t>
            </a:r>
            <a:r>
              <a:rPr lang="ko-KR" altLang="en-US" sz="1600" b="1" dirty="0">
                <a:latin typeface="맑은 고딕" pitchFamily="50" charset="-127"/>
              </a:rPr>
              <a:t>의 </a:t>
            </a:r>
            <a:r>
              <a:rPr lang="en-US" altLang="ko-KR" sz="1600" b="1" dirty="0">
                <a:latin typeface="맑은 고딕" pitchFamily="50" charset="-127"/>
              </a:rPr>
              <a:t>: </a:t>
            </a:r>
            <a:r>
              <a:rPr lang="ko-KR" altLang="en-US" sz="1600" b="1" dirty="0">
                <a:latin typeface="맑은 고딕" pitchFamily="50" charset="-127"/>
              </a:rPr>
              <a:t>다른 기업에 비해 정상적인 수익률 이상의 이윤을 획득할 수 있는 초과이윤 창출능력을 화폐가치로 표시한 것</a:t>
            </a:r>
            <a:endParaRPr lang="en-US" altLang="ko-KR" sz="1600" b="1" dirty="0">
              <a:latin typeface="맑은 고딕" pitchFamily="50" charset="-127"/>
            </a:endParaRPr>
          </a:p>
          <a:p>
            <a:pPr marL="180000" indent="-180000" latinLnBrk="0">
              <a:lnSpc>
                <a:spcPts val="2400"/>
              </a:lnSpc>
              <a:buNone/>
              <a:defRPr/>
            </a:pPr>
            <a:r>
              <a:rPr lang="en-US" altLang="ko-KR" sz="1600" dirty="0">
                <a:latin typeface="맑은 고딕" pitchFamily="50" charset="-127"/>
              </a:rPr>
              <a:t>• </a:t>
            </a:r>
            <a:r>
              <a:rPr lang="ko-KR" altLang="en-US" sz="1600" dirty="0">
                <a:latin typeface="맑은 고딕" pitchFamily="50" charset="-127"/>
              </a:rPr>
              <a:t>경영자의 경영능력</a:t>
            </a:r>
            <a:r>
              <a:rPr lang="en-US" altLang="ko-KR" sz="1600" dirty="0">
                <a:latin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</a:rPr>
              <a:t>기업의 명성</a:t>
            </a:r>
            <a:r>
              <a:rPr lang="en-US" altLang="ko-KR" sz="1600" dirty="0">
                <a:latin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</a:rPr>
              <a:t>단골고객</a:t>
            </a:r>
            <a:r>
              <a:rPr lang="en-US" altLang="ko-KR" sz="1600" dirty="0">
                <a:latin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</a:rPr>
              <a:t>브랜드가치</a:t>
            </a:r>
            <a:r>
              <a:rPr lang="en-US" altLang="ko-KR" sz="1600" dirty="0">
                <a:latin typeface="맑은 고딕" pitchFamily="50" charset="-127"/>
              </a:rPr>
              <a:t> </a:t>
            </a:r>
            <a:r>
              <a:rPr lang="ko-KR" altLang="en-US" sz="1600" dirty="0">
                <a:latin typeface="맑은 고딕" pitchFamily="50" charset="-127"/>
              </a:rPr>
              <a:t>등도 초과이윤을 발생시키는 이유가 될 수 있으나</a:t>
            </a:r>
            <a:r>
              <a:rPr lang="en-US" altLang="ko-KR" sz="1600" dirty="0">
                <a:latin typeface="맑은 고딕" pitchFamily="50" charset="-127"/>
              </a:rPr>
              <a:t>,</a:t>
            </a:r>
            <a:r>
              <a:rPr lang="ko-KR" altLang="en-US" sz="1600" dirty="0">
                <a:latin typeface="맑은 고딕" pitchFamily="50" charset="-127"/>
              </a:rPr>
              <a:t> 이런 </a:t>
            </a:r>
            <a:r>
              <a:rPr lang="ko-KR" altLang="en-US" sz="1600" b="1" dirty="0">
                <a:latin typeface="맑은 고딕" pitchFamily="50" charset="-127"/>
              </a:rPr>
              <a:t>내부적으로 창출된 영업권</a:t>
            </a:r>
            <a:r>
              <a:rPr lang="ko-KR" altLang="en-US" sz="1600" dirty="0">
                <a:latin typeface="맑은 고딕" pitchFamily="50" charset="-127"/>
              </a:rPr>
              <a:t>은 이를</a:t>
            </a:r>
            <a:r>
              <a:rPr lang="en-US" altLang="ko-KR" sz="1600" dirty="0">
                <a:latin typeface="맑은 고딕" pitchFamily="50" charset="-127"/>
              </a:rPr>
              <a:t> </a:t>
            </a:r>
            <a:r>
              <a:rPr lang="ko-KR" altLang="en-US" sz="1600" dirty="0">
                <a:latin typeface="맑은 고딕" pitchFamily="50" charset="-127"/>
              </a:rPr>
              <a:t>보유한 기업과 구별하여 </a:t>
            </a:r>
            <a:r>
              <a:rPr lang="ko-KR" altLang="en-US" sz="1600" dirty="0" err="1">
                <a:latin typeface="맑은 고딕" pitchFamily="50" charset="-127"/>
              </a:rPr>
              <a:t>식별가능하지</a:t>
            </a:r>
            <a:r>
              <a:rPr lang="ko-KR" altLang="en-US" sz="1600" dirty="0">
                <a:latin typeface="맑은 고딕" pitchFamily="50" charset="-127"/>
              </a:rPr>
              <a:t> 않고 가치를 </a:t>
            </a:r>
            <a:r>
              <a:rPr lang="ko-KR" altLang="en-US" sz="1600" dirty="0" err="1">
                <a:latin typeface="맑은 고딕" pitchFamily="50" charset="-127"/>
              </a:rPr>
              <a:t>신뢰성있게</a:t>
            </a:r>
            <a:r>
              <a:rPr lang="ko-KR" altLang="en-US" sz="1600" dirty="0">
                <a:latin typeface="맑은 고딕" pitchFamily="50" charset="-127"/>
              </a:rPr>
              <a:t> 평가할 수 없으므로 </a:t>
            </a:r>
            <a:r>
              <a:rPr lang="ko-KR" altLang="en-US" sz="1600" b="1" dirty="0">
                <a:latin typeface="맑은 고딕" pitchFamily="50" charset="-127"/>
              </a:rPr>
              <a:t>자산으로 인식할 수 없음</a:t>
            </a:r>
          </a:p>
          <a:p>
            <a:pPr marL="180000" indent="-180000" latinLnBrk="0">
              <a:lnSpc>
                <a:spcPts val="2400"/>
              </a:lnSpc>
              <a:buNone/>
              <a:defRPr/>
            </a:pPr>
            <a:r>
              <a:rPr lang="en-US" altLang="ko-KR" sz="1600" dirty="0">
                <a:latin typeface="맑은 고딕" pitchFamily="50" charset="-127"/>
              </a:rPr>
              <a:t>• </a:t>
            </a:r>
            <a:r>
              <a:rPr lang="ko-KR" altLang="en-US" sz="1600" dirty="0">
                <a:latin typeface="맑은 고딕" pitchFamily="50" charset="-127"/>
              </a:rPr>
              <a:t>영업권의 인식 </a:t>
            </a:r>
            <a:r>
              <a:rPr lang="en-US" altLang="ko-KR" sz="1600" dirty="0">
                <a:latin typeface="맑은 고딕" pitchFamily="50" charset="-127"/>
              </a:rPr>
              <a:t>:</a:t>
            </a:r>
            <a:r>
              <a:rPr lang="en-US" altLang="ko-KR" sz="1600" dirty="0">
                <a:ea typeface="굴림" pitchFamily="50" charset="-127"/>
              </a:rPr>
              <a:t> </a:t>
            </a:r>
            <a:r>
              <a:rPr lang="ko-KR" altLang="en-US" sz="1600" b="1" dirty="0">
                <a:latin typeface="맑은 고딕" pitchFamily="50" charset="-127"/>
              </a:rPr>
              <a:t>다른 기업을 합병하거나 매수</a:t>
            </a:r>
            <a:r>
              <a:rPr lang="ko-KR" altLang="en-US" sz="1600" dirty="0">
                <a:latin typeface="맑은 고딕" pitchFamily="50" charset="-127"/>
              </a:rPr>
              <a:t>하는 경우에 피매수기업의 자산</a:t>
            </a:r>
            <a:r>
              <a:rPr lang="en-US" altLang="ko-KR" sz="1600" dirty="0">
                <a:latin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</a:rPr>
              <a:t>부채의 공정가치를 초과하여 지급한 금액</a:t>
            </a:r>
            <a:r>
              <a:rPr lang="en-US" altLang="ko-KR" sz="1600" dirty="0">
                <a:latin typeface="맑은 고딕" pitchFamily="50" charset="-127"/>
              </a:rPr>
              <a:t>(=</a:t>
            </a:r>
            <a:r>
              <a:rPr lang="ko-KR" altLang="en-US" sz="1600" dirty="0">
                <a:latin typeface="맑은 고딕" pitchFamily="50" charset="-127"/>
              </a:rPr>
              <a:t>인수 프리미엄</a:t>
            </a:r>
            <a:r>
              <a:rPr lang="en-US" altLang="ko-KR" sz="1600" dirty="0">
                <a:latin typeface="맑은 고딕" pitchFamily="50" charset="-127"/>
              </a:rPr>
              <a:t>)</a:t>
            </a:r>
            <a:r>
              <a:rPr lang="ko-KR" altLang="en-US" sz="1600" dirty="0">
                <a:latin typeface="맑은 고딕" pitchFamily="50" charset="-127"/>
              </a:rPr>
              <a:t>은 다음의 식과 같이 영업권으로 인식 가능</a:t>
            </a:r>
          </a:p>
          <a:p>
            <a:pPr marL="180000" indent="-180000" latinLnBrk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ko-KR" altLang="en-US" sz="1600" dirty="0">
                <a:solidFill>
                  <a:srgbClr val="003366"/>
                </a:solidFill>
                <a:latin typeface="맑은 고딕" pitchFamily="50" charset="-127"/>
              </a:rPr>
              <a:t>                    </a:t>
            </a:r>
            <a:r>
              <a:rPr lang="ko-KR" altLang="en-US" sz="1600" b="1" dirty="0">
                <a:solidFill>
                  <a:srgbClr val="003366"/>
                </a:solidFill>
                <a:latin typeface="맑은 고딕" pitchFamily="50" charset="-127"/>
              </a:rPr>
              <a:t>영업권 </a:t>
            </a:r>
            <a:r>
              <a:rPr lang="ko-KR" altLang="en-US" sz="1600" b="1" dirty="0" err="1">
                <a:solidFill>
                  <a:srgbClr val="003366"/>
                </a:solidFill>
                <a:latin typeface="맑은 고딕" pitchFamily="50" charset="-127"/>
              </a:rPr>
              <a:t>인식액</a:t>
            </a:r>
            <a:r>
              <a:rPr lang="ko-KR" altLang="en-US" sz="1600" b="1" dirty="0">
                <a:solidFill>
                  <a:srgbClr val="003366"/>
                </a:solidFill>
                <a:latin typeface="맑은 고딕" pitchFamily="50" charset="-127"/>
              </a:rPr>
              <a:t> </a:t>
            </a:r>
            <a:r>
              <a:rPr lang="en-US" altLang="ko-KR" sz="1600" b="1" dirty="0">
                <a:solidFill>
                  <a:srgbClr val="003366"/>
                </a:solidFill>
                <a:latin typeface="맑은 고딕" pitchFamily="50" charset="-127"/>
              </a:rPr>
              <a:t>= </a:t>
            </a:r>
            <a:r>
              <a:rPr lang="ko-KR" altLang="en-US" sz="1600" b="1" dirty="0">
                <a:solidFill>
                  <a:srgbClr val="003366"/>
                </a:solidFill>
                <a:latin typeface="맑은 고딕" pitchFamily="50" charset="-127"/>
              </a:rPr>
              <a:t>매수대가 </a:t>
            </a:r>
            <a:r>
              <a:rPr lang="en-US" altLang="ko-KR" sz="1600" b="1" dirty="0">
                <a:solidFill>
                  <a:srgbClr val="003366"/>
                </a:solidFill>
                <a:latin typeface="맑은 고딕" pitchFamily="50" charset="-127"/>
              </a:rPr>
              <a:t>– </a:t>
            </a:r>
            <a:r>
              <a:rPr lang="ko-KR" altLang="en-US" sz="1600" b="1" dirty="0" err="1">
                <a:solidFill>
                  <a:srgbClr val="003366"/>
                </a:solidFill>
                <a:latin typeface="맑은 고딕" pitchFamily="50" charset="-127"/>
              </a:rPr>
              <a:t>피매수기업의</a:t>
            </a:r>
            <a:r>
              <a:rPr lang="ko-KR" altLang="en-US" sz="1600" b="1" dirty="0">
                <a:solidFill>
                  <a:srgbClr val="003366"/>
                </a:solidFill>
                <a:latin typeface="맑은 고딕" pitchFamily="50" charset="-127"/>
              </a:rPr>
              <a:t> 순자산 공정가치</a:t>
            </a:r>
            <a:endParaRPr lang="ko-KR" altLang="en-US" sz="1600" dirty="0">
              <a:solidFill>
                <a:srgbClr val="003366"/>
              </a:solidFill>
              <a:latin typeface="맑은 고딕" pitchFamily="50" charset="-127"/>
            </a:endParaRPr>
          </a:p>
          <a:p>
            <a:pPr marL="180000" indent="-180000" latinLnBrk="0">
              <a:lnSpc>
                <a:spcPts val="2400"/>
              </a:lnSpc>
              <a:spcBef>
                <a:spcPts val="1200"/>
              </a:spcBef>
              <a:buNone/>
              <a:defRPr/>
            </a:pPr>
            <a:r>
              <a:rPr lang="en-US" altLang="ko-KR" sz="1600" dirty="0">
                <a:latin typeface="맑은 고딕" pitchFamily="50" charset="-127"/>
              </a:rPr>
              <a:t>• </a:t>
            </a:r>
            <a:r>
              <a:rPr lang="ko-KR" altLang="en-US" sz="1600" dirty="0">
                <a:latin typeface="맑은 고딕" pitchFamily="50" charset="-127"/>
              </a:rPr>
              <a:t>기업합병에서 취득한 영업권의 내용연수는 </a:t>
            </a:r>
            <a:r>
              <a:rPr lang="ko-KR" altLang="en-US" sz="1600" b="1" dirty="0" err="1">
                <a:latin typeface="맑은 고딕" pitchFamily="50" charset="-127"/>
              </a:rPr>
              <a:t>비한정</a:t>
            </a:r>
            <a:r>
              <a:rPr lang="en-US" altLang="ko-KR" sz="1600" b="1" dirty="0">
                <a:latin typeface="맑은 고딕" pitchFamily="50" charset="-127"/>
              </a:rPr>
              <a:t>(indefinite)</a:t>
            </a:r>
            <a:r>
              <a:rPr lang="ko-KR" altLang="en-US" sz="1600" dirty="0">
                <a:latin typeface="맑은 고딕" pitchFamily="50" charset="-127"/>
              </a:rPr>
              <a:t>인 것으로 보아</a:t>
            </a:r>
            <a:r>
              <a:rPr lang="en-US" altLang="ko-KR" sz="1600" dirty="0">
                <a:latin typeface="맑은 고딕" pitchFamily="50" charset="-127"/>
              </a:rPr>
              <a:t> </a:t>
            </a:r>
            <a:r>
              <a:rPr lang="ko-KR" altLang="en-US" sz="1600" dirty="0" err="1">
                <a:latin typeface="맑은 고딕" pitchFamily="50" charset="-127"/>
              </a:rPr>
              <a:t>상각하지</a:t>
            </a:r>
            <a:r>
              <a:rPr lang="ko-KR" altLang="en-US" sz="1600" dirty="0">
                <a:latin typeface="맑은 고딕" pitchFamily="50" charset="-127"/>
              </a:rPr>
              <a:t> 않고 매년 손상평가를 수행</a:t>
            </a:r>
            <a:endParaRPr lang="en-US" altLang="ko-KR" sz="1600" dirty="0">
              <a:latin typeface="맑은 고딕" pitchFamily="50" charset="-127"/>
            </a:endParaRPr>
          </a:p>
          <a:p>
            <a:pPr marL="180000" indent="-180000" latinLnBrk="0">
              <a:lnSpc>
                <a:spcPts val="2400"/>
              </a:lnSpc>
              <a:buNone/>
              <a:defRPr/>
            </a:pPr>
            <a:r>
              <a:rPr lang="en-US" altLang="ko-KR" sz="1600" dirty="0">
                <a:latin typeface="맑은 고딕" pitchFamily="50" charset="-127"/>
              </a:rPr>
              <a:t>• </a:t>
            </a:r>
            <a:r>
              <a:rPr lang="ko-KR" altLang="en-US" sz="1600" dirty="0">
                <a:latin typeface="맑은 고딕" pitchFamily="50" charset="-127"/>
              </a:rPr>
              <a:t>영업권</a:t>
            </a:r>
            <a:r>
              <a:rPr lang="en-US" altLang="ko-KR" sz="1600" dirty="0">
                <a:latin typeface="맑은 고딕" pitchFamily="50" charset="-127"/>
              </a:rPr>
              <a:t> </a:t>
            </a:r>
            <a:r>
              <a:rPr lang="ko-KR" altLang="en-US" sz="1600" dirty="0" err="1">
                <a:latin typeface="맑은 고딕" pitchFamily="50" charset="-127"/>
              </a:rPr>
              <a:t>계산액이</a:t>
            </a:r>
            <a:r>
              <a:rPr lang="ko-KR" altLang="en-US" sz="1600" dirty="0">
                <a:latin typeface="맑은 고딕" pitchFamily="50" charset="-127"/>
              </a:rPr>
              <a:t> 음수일 경우</a:t>
            </a:r>
            <a:r>
              <a:rPr lang="ko-KR" altLang="en-US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부의 영업권에 해당하며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</a:t>
            </a:r>
            <a:r>
              <a:rPr lang="ko-KR" altLang="en-US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이 금액은 </a:t>
            </a:r>
            <a:r>
              <a:rPr lang="ko-KR" altLang="en-US" sz="1600" b="1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염가매수차익</a:t>
            </a:r>
            <a:r>
              <a:rPr lang="ko-KR" altLang="en-US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으로서</a:t>
            </a:r>
            <a:r>
              <a:rPr lang="en-US" altLang="ko-KR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,</a:t>
            </a:r>
            <a:r>
              <a:rPr lang="ko-KR" altLang="en-US" sz="1600" dirty="0">
                <a:solidFill>
                  <a:schemeClr val="accent4">
                    <a:lumMod val="10000"/>
                  </a:schemeClr>
                </a:solidFill>
                <a:latin typeface="맑은 고딕" pitchFamily="50" charset="-127"/>
              </a:rPr>
              <a:t> 즉시 당기수익으로 인식</a:t>
            </a:r>
            <a:endParaRPr lang="ko-KR" altLang="en-US" sz="1600" dirty="0">
              <a:latin typeface="맑은 고딕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8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5234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27211" y="1246093"/>
            <a:ext cx="8701011" cy="5396445"/>
            <a:chOff x="190714" y="1320882"/>
            <a:chExt cx="8731554" cy="5693117"/>
          </a:xfrm>
        </p:grpSpPr>
        <p:grpSp>
          <p:nvGrpSpPr>
            <p:cNvPr id="23" name="그룹 22"/>
            <p:cNvGrpSpPr/>
            <p:nvPr/>
          </p:nvGrpSpPr>
          <p:grpSpPr>
            <a:xfrm>
              <a:off x="361937" y="1461499"/>
              <a:ext cx="8560331" cy="5552500"/>
              <a:chOff x="269050" y="1722741"/>
              <a:chExt cx="8669122" cy="5552500"/>
            </a:xfrm>
          </p:grpSpPr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269050" y="1746440"/>
                <a:ext cx="8669122" cy="552880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ko-KR" sz="1600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2014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년 ㈜하나은행은 외환은행의 주식 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100%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를 ￦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5,000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에 인수하였다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인수 당시 외환은행의 </a:t>
                </a:r>
                <a:r>
                  <a:rPr lang="ko-KR" altLang="en-US" sz="1600" dirty="0" err="1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식별가능한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 자산의 공정가치는 ￦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7,000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이었으며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부채의 공정가치는 ￦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3,000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이었다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. 2015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년 들어 하나은행은 외환은행과 합병해서 한 회사가 된다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그 결과 현재의 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KEB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하나은행이 탄생한 것이다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이 사례의 경우 인식해야 할 영업권의 금액은 다음과 같다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1600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endParaRPr lang="en-US" altLang="ko-KR" sz="1400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순자산공정가치：￦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7,000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－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3,000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＝￦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4,000</a:t>
                </a:r>
                <a:endParaRPr lang="ko-KR" altLang="en-US" sz="1400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영업권：￦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5,000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－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4,000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＝￦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1,000</a:t>
                </a:r>
              </a:p>
              <a:p>
                <a:pPr>
                  <a:spcBef>
                    <a:spcPct val="0"/>
                  </a:spcBef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자           산      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7,000                    (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부           채       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3,000</a:t>
                </a: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r>
                  <a:rPr lang="ko-KR" altLang="en-US" sz="1600" b="1" dirty="0">
                    <a:latin typeface="맑은 고딕" panose="020B0503020000020004" pitchFamily="50" charset="-127"/>
                  </a:rPr>
                  <a:t>      영    업    권      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1,000                         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현           금     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 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5,000</a:t>
                </a:r>
                <a:endParaRPr lang="ko-KR" altLang="en-US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endParaRPr lang="en-US" altLang="ko-KR" sz="1600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만약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외환은행의 </a:t>
                </a:r>
                <a:r>
                  <a:rPr lang="ko-KR" altLang="en-US" sz="1600" dirty="0" err="1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식별가능한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 자산의 공정가치가 ￦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7,000, 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부채의 공정가치가 ￦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1,000</a:t>
                </a:r>
                <a:r>
                  <a:rPr lang="ko-KR" altLang="en-US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이었다면 인수대가가 순자산공정가치에 미달하게 되어 부의 영업권이 발생하게 된다</a:t>
                </a:r>
                <a:r>
                  <a:rPr lang="en-US" altLang="ko-KR" sz="16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1600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endParaRPr lang="en-US" altLang="ko-KR" sz="1400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순자산공정가치：￦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7,000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－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1,000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＝￦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6,000</a:t>
                </a:r>
                <a:endParaRPr lang="ko-KR" altLang="en-US" sz="1400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부의 영업권：￦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5,000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－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6,000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＝－￦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1,000 (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염가매수차익으로 </a:t>
                </a:r>
                <a:r>
                  <a:rPr lang="ko-KR" altLang="en-US" sz="1400" dirty="0" err="1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당기손익</a:t>
                </a:r>
                <a:r>
                  <a:rPr lang="ko-KR" altLang="en-US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 인식</a:t>
                </a:r>
                <a:r>
                  <a:rPr lang="en-US" altLang="ko-KR" sz="1400" dirty="0">
                    <a:solidFill>
                      <a:srgbClr val="161616"/>
                    </a:solidFill>
                    <a:latin typeface="맑은 고딕" panose="020B0503020000020004" pitchFamily="50" charset="-127"/>
                  </a:rPr>
                  <a:t>)</a:t>
                </a:r>
              </a:p>
              <a:p>
                <a:pPr>
                  <a:spcBef>
                    <a:spcPct val="0"/>
                  </a:spcBef>
                </a:pPr>
                <a:endParaRPr lang="en-US" altLang="ko-KR" sz="1400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자           산      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7,000                    (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부           채       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1,000</a:t>
                </a: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                                                               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현           금    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   </a:t>
                </a:r>
                <a:r>
                  <a:rPr lang="ko-KR" altLang="en-US" sz="1100" b="1" dirty="0">
                    <a:latin typeface="맑은 고딕" panose="020B0503020000020004" pitchFamily="50" charset="-127"/>
                  </a:rPr>
                  <a:t>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5,000</a:t>
                </a:r>
                <a:endParaRPr lang="ko-KR" altLang="en-US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                                                               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염가매수차익     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  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1,000</a:t>
                </a:r>
                <a:endParaRPr lang="ko-KR" altLang="en-US" sz="1600" b="1" dirty="0">
                  <a:solidFill>
                    <a:srgbClr val="161616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24" name="그룹 23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25" name="그룹 24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41" name="타원 4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2" name="타원 41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7-13 </a:t>
                  </a:r>
                  <a:r>
                    <a:rPr lang="ko-KR" altLang="en-US" sz="1600" b="1" dirty="0"/>
                    <a:t>영업권의 회계처리</a:t>
                  </a:r>
                </a:p>
              </p:txBody>
            </p:sp>
            <p:sp>
              <p:nvSpPr>
                <p:cNvPr id="44" name="타원 4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6" name="그림 25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259609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0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1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2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3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5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3355</Words>
  <Application>Microsoft Office PowerPoint</Application>
  <PresentationFormat>On-screen Show (4:3)</PresentationFormat>
  <Paragraphs>589</Paragraphs>
  <Slides>37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37</vt:i4>
      </vt:variant>
    </vt:vector>
  </HeadingPairs>
  <TitlesOfParts>
    <vt:vector size="60" baseType="lpstr">
      <vt:lpstr>HY견고딕</vt:lpstr>
      <vt:lpstr>HY울릉도M</vt:lpstr>
      <vt:lpstr>굴림</vt:lpstr>
      <vt:lpstr>맑은 고딕</vt:lpstr>
      <vt:lpstr>바탕</vt:lpstr>
      <vt:lpstr>-윤고딕120</vt:lpstr>
      <vt:lpstr>한양신명조</vt:lpstr>
      <vt:lpstr>함초롬바탕 확장</vt:lpstr>
      <vt:lpstr>Arial</vt:lpstr>
      <vt:lpstr>Calibri</vt:lpstr>
      <vt:lpstr>Verdana</vt:lpstr>
      <vt:lpstr>Wingdings</vt:lpstr>
      <vt:lpstr>디자인 사용자 지정</vt:lpstr>
      <vt:lpstr>x.1 - 1.</vt:lpstr>
      <vt:lpstr>7_x.1 - 1.</vt:lpstr>
      <vt:lpstr>10_x.1 - 2.</vt:lpstr>
      <vt:lpstr>7_x.1 - 2.</vt:lpstr>
      <vt:lpstr>8_x.1 - 2.</vt:lpstr>
      <vt:lpstr>11_x.1 - 2.</vt:lpstr>
      <vt:lpstr>12_x.1 - 2.</vt:lpstr>
      <vt:lpstr>13_x.1 - 2.</vt:lpstr>
      <vt:lpstr>15_x.1 - 2.</vt:lpstr>
      <vt:lpstr>14_x.1 - 2.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심충진</cp:lastModifiedBy>
  <cp:revision>2</cp:revision>
  <dcterms:created xsi:type="dcterms:W3CDTF">2024-07-23T07:01:12Z</dcterms:created>
  <dcterms:modified xsi:type="dcterms:W3CDTF">2025-10-27T08:15:47Z</dcterms:modified>
</cp:coreProperties>
</file>