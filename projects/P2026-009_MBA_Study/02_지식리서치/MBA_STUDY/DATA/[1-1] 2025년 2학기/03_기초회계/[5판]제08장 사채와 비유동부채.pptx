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  <p:sldMasterId id="2147483660" r:id="rId2"/>
    <p:sldMasterId id="2147483760" r:id="rId3"/>
    <p:sldMasterId id="2147483762" r:id="rId4"/>
    <p:sldMasterId id="2147483764" r:id="rId5"/>
    <p:sldMasterId id="2147483766" r:id="rId6"/>
    <p:sldMasterId id="2147483768" r:id="rId7"/>
    <p:sldMasterId id="2147483770" r:id="rId8"/>
    <p:sldMasterId id="2147483772" r:id="rId9"/>
    <p:sldMasterId id="2147483774" r:id="rId10"/>
  </p:sldMasterIdLst>
  <p:notesMasterIdLst>
    <p:notesMasterId r:id="rId44"/>
  </p:notesMasterIdLst>
  <p:handoutMasterIdLst>
    <p:handoutMasterId r:id="rId45"/>
  </p:handoutMasterIdLst>
  <p:sldIdLst>
    <p:sldId id="437" r:id="rId11"/>
    <p:sldId id="380" r:id="rId12"/>
    <p:sldId id="343" r:id="rId13"/>
    <p:sldId id="411" r:id="rId14"/>
    <p:sldId id="412" r:id="rId15"/>
    <p:sldId id="381" r:id="rId16"/>
    <p:sldId id="438" r:id="rId17"/>
    <p:sldId id="413" r:id="rId18"/>
    <p:sldId id="439" r:id="rId19"/>
    <p:sldId id="414" r:id="rId20"/>
    <p:sldId id="440" r:id="rId21"/>
    <p:sldId id="415" r:id="rId22"/>
    <p:sldId id="441" r:id="rId23"/>
    <p:sldId id="382" r:id="rId24"/>
    <p:sldId id="417" r:id="rId25"/>
    <p:sldId id="418" r:id="rId26"/>
    <p:sldId id="419" r:id="rId27"/>
    <p:sldId id="385" r:id="rId28"/>
    <p:sldId id="420" r:id="rId29"/>
    <p:sldId id="421" r:id="rId30"/>
    <p:sldId id="422" r:id="rId31"/>
    <p:sldId id="423" r:id="rId32"/>
    <p:sldId id="424" r:id="rId33"/>
    <p:sldId id="426" r:id="rId34"/>
    <p:sldId id="427" r:id="rId35"/>
    <p:sldId id="428" r:id="rId36"/>
    <p:sldId id="429" r:id="rId37"/>
    <p:sldId id="430" r:id="rId38"/>
    <p:sldId id="431" r:id="rId39"/>
    <p:sldId id="432" r:id="rId40"/>
    <p:sldId id="433" r:id="rId41"/>
    <p:sldId id="434" r:id="rId42"/>
    <p:sldId id="442" r:id="rId43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05" autoAdjust="0"/>
    <p:restoredTop sz="96400" autoAdjust="0"/>
  </p:normalViewPr>
  <p:slideViewPr>
    <p:cSldViewPr snapToGrid="0">
      <p:cViewPr varScale="1">
        <p:scale>
          <a:sx n="77" d="100"/>
          <a:sy n="77" d="100"/>
        </p:scale>
        <p:origin x="1035" y="267"/>
      </p:cViewPr>
      <p:guideLst>
        <p:guide orient="horz" pos="2137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0"/>
    </p:cViewPr>
  </p:sorterViewPr>
  <p:notesViewPr>
    <p:cSldViewPr snapToGrid="0" showGuides="1">
      <p:cViewPr varScale="1">
        <p:scale>
          <a:sx n="81" d="100"/>
          <a:sy n="81" d="100"/>
        </p:scale>
        <p:origin x="3996" y="114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presProps" Target="presProp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 modSld">
      <pc:chgData name="석주 이" userId="b6553f64e91d015d" providerId="LiveId" clId="{7E74A06A-B2AA-4EEC-A19D-AA52293F645A}" dt="2025-11-15T05:45:24.338" v="75" actId="20577"/>
      <pc:docMkLst>
        <pc:docMk/>
      </pc:docMkLst>
      <pc:sldChg chg="modSp mod">
        <pc:chgData name="석주 이" userId="b6553f64e91d015d" providerId="LiveId" clId="{7E74A06A-B2AA-4EEC-A19D-AA52293F645A}" dt="2025-11-15T05:45:24.338" v="75" actId="20577"/>
        <pc:sldMkLst>
          <pc:docMk/>
          <pc:sldMk cId="910974835" sldId="431"/>
        </pc:sldMkLst>
        <pc:graphicFrameChg chg="modGraphic">
          <ac:chgData name="석주 이" userId="b6553f64e91d015d" providerId="LiveId" clId="{7E74A06A-B2AA-4EEC-A19D-AA52293F645A}" dt="2025-11-15T05:45:24.338" v="75" actId="20577"/>
          <ac:graphicFrameMkLst>
            <pc:docMk/>
            <pc:sldMk cId="910974835" sldId="431"/>
            <ac:graphicFrameMk id="27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47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3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219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84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61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55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86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826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782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158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04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234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61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15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220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87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005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532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42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403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8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03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524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3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06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3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97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578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19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64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94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직사각형 225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직사각형 236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>
                <a:solidFill>
                  <a:schemeClr val="tx1"/>
                </a:solidFill>
              </a:rPr>
              <a:t>사채와 </a:t>
            </a:r>
            <a:r>
              <a:rPr lang="ko-KR" altLang="en-US" sz="1350" b="1" dirty="0" err="1">
                <a:solidFill>
                  <a:schemeClr val="tx1"/>
                </a:solidFill>
              </a:rPr>
              <a:t>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38676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화폐의 시간가치</a:t>
              </a:r>
            </a:p>
          </p:txBody>
        </p:sp>
      </p:grpSp>
      <p:grpSp>
        <p:nvGrpSpPr>
          <p:cNvPr id="260" name="그룹 259"/>
          <p:cNvGrpSpPr/>
          <p:nvPr userDrawn="1"/>
        </p:nvGrpSpPr>
        <p:grpSpPr>
          <a:xfrm>
            <a:off x="4087321" y="445954"/>
            <a:ext cx="3658591" cy="369332"/>
            <a:chOff x="2107219" y="601867"/>
            <a:chExt cx="3658591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단순이자계산과 복리이자계산</a:t>
              </a:r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76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화폐의 시간가치</a:t>
              </a:r>
            </a:p>
          </p:txBody>
        </p:sp>
      </p:grpSp>
      <p:grpSp>
        <p:nvGrpSpPr>
          <p:cNvPr id="260" name="그룹 259"/>
          <p:cNvGrpSpPr/>
          <p:nvPr userDrawn="1"/>
        </p:nvGrpSpPr>
        <p:grpSpPr>
          <a:xfrm>
            <a:off x="4087321" y="445954"/>
            <a:ext cx="3658591" cy="369332"/>
            <a:chOff x="2107219" y="601867"/>
            <a:chExt cx="3658591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미래가치</a:t>
              </a:r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89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화폐의 시간가치</a:t>
              </a:r>
            </a:p>
          </p:txBody>
        </p:sp>
      </p:grpSp>
      <p:grpSp>
        <p:nvGrpSpPr>
          <p:cNvPr id="260" name="그룹 259"/>
          <p:cNvGrpSpPr/>
          <p:nvPr userDrawn="1"/>
        </p:nvGrpSpPr>
        <p:grpSpPr>
          <a:xfrm>
            <a:off x="4087321" y="445954"/>
            <a:ext cx="3658591" cy="369332"/>
            <a:chOff x="2107219" y="601867"/>
            <a:chExt cx="3658591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현재가치</a:t>
              </a:r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03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비유동부채의</a:t>
              </a:r>
              <a:r>
                <a:rPr lang="ko-KR" altLang="en-US" sz="3200" b="1" dirty="0"/>
                <a:t> 의의 및 구분</a:t>
              </a: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41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사채의 회계처리</a:t>
              </a: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4087321" y="445954"/>
            <a:ext cx="3658591" cy="369332"/>
            <a:chOff x="2107219" y="601867"/>
            <a:chExt cx="3658591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사채의 발행금액 결정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4" name="직사각형 253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25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사채의 회계처리</a:t>
              </a: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4087321" y="445954"/>
            <a:ext cx="3658591" cy="369332"/>
            <a:chOff x="2107219" y="601867"/>
            <a:chExt cx="3658591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사채발행차금상각과</a:t>
              </a:r>
              <a:r>
                <a:rPr lang="ko-KR" altLang="en-US" b="1" dirty="0"/>
                <a:t> 이자비용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4" name="직사각형 253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91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사채의 회계처리</a:t>
              </a: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4087321" y="445954"/>
            <a:ext cx="3658591" cy="369332"/>
            <a:chOff x="2107219" y="601867"/>
            <a:chExt cx="3658591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사채의 상환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4" name="직사각형 253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15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충당부채</a:t>
              </a: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2750122" y="470747"/>
            <a:ext cx="3658591" cy="369332"/>
            <a:chOff x="2107219" y="601867"/>
            <a:chExt cx="3658591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충당부채의 의의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4" name="직사각형 253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79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충당부채</a:t>
              </a:r>
            </a:p>
          </p:txBody>
        </p:sp>
      </p:grpSp>
      <p:sp>
        <p:nvSpPr>
          <p:cNvPr id="2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2750122" y="470747"/>
            <a:ext cx="3658591" cy="369332"/>
            <a:chOff x="2107219" y="601867"/>
            <a:chExt cx="3658591" cy="369332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충당부채의 예</a:t>
              </a:r>
            </a:p>
          </p:txBody>
        </p:sp>
        <p:sp>
          <p:nvSpPr>
            <p:cNvPr id="249" name="눈물 방울 24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4" name="직사각형 253"/>
          <p:cNvSpPr/>
          <p:nvPr userDrawn="1"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0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90038" y="1220167"/>
            <a:ext cx="7036950" cy="1618301"/>
            <a:chOff x="1226912" y="2130843"/>
            <a:chExt cx="7036950" cy="1618301"/>
          </a:xfrm>
        </p:grpSpPr>
        <p:sp>
          <p:nvSpPr>
            <p:cNvPr id="9" name="TextBox 8"/>
            <p:cNvSpPr txBox="1"/>
            <p:nvPr/>
          </p:nvSpPr>
          <p:spPr>
            <a:xfrm>
              <a:off x="2401447" y="2348044"/>
              <a:ext cx="58624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8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사채와 </a:t>
              </a:r>
              <a:r>
                <a:rPr lang="ko-KR" altLang="en-US" sz="48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비유동부채</a:t>
              </a:r>
              <a:endParaRPr lang="ko-KR" altLang="en-US" sz="48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BOND AND NON-CURRENT LIABILITIES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2130843"/>
              <a:ext cx="1174535" cy="1329738"/>
              <a:chOff x="1226912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08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A3D483-2350-4A5C-BE56-37E0500D0C7D}"/>
              </a:ext>
            </a:extLst>
          </p:cNvPr>
          <p:cNvSpPr txBox="1"/>
          <p:nvPr/>
        </p:nvSpPr>
        <p:spPr>
          <a:xfrm>
            <a:off x="5801710" y="6356703"/>
            <a:ext cx="33422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272644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7594" y="1239163"/>
            <a:ext cx="8407435" cy="5195074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화폐의 시간가치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(time value of money)</a:t>
            </a:r>
          </a:p>
          <a:p>
            <a:pPr eaLnBrk="0" latinLnBrk="0" hangingPunct="0">
              <a:lnSpc>
                <a:spcPts val="2400"/>
              </a:lnSpc>
              <a:buNone/>
              <a:defRPr/>
            </a:pPr>
            <a:r>
              <a:rPr lang="en-US" altLang="ko-KR" sz="1600" dirty="0">
                <a:latin typeface="맑은 고딕" pitchFamily="50" charset="-127"/>
              </a:rPr>
              <a:t>- </a:t>
            </a:r>
            <a:r>
              <a:rPr lang="ko-KR" altLang="en-US" sz="1600" dirty="0">
                <a:latin typeface="맑은 고딕" pitchFamily="50" charset="-127"/>
              </a:rPr>
              <a:t>정의 </a:t>
            </a:r>
            <a:r>
              <a:rPr lang="en-US" altLang="ko-KR" sz="1600" dirty="0">
                <a:latin typeface="맑은 고딕" pitchFamily="50" charset="-127"/>
              </a:rPr>
              <a:t>: </a:t>
            </a:r>
            <a:r>
              <a:rPr lang="ko-KR" altLang="en-US" sz="1600" dirty="0">
                <a:latin typeface="맑은 고딕" pitchFamily="50" charset="-127"/>
              </a:rPr>
              <a:t>현재 갖고 있는 </a:t>
            </a:r>
            <a:r>
              <a:rPr lang="en-US" altLang="ko-KR" sz="1600" dirty="0">
                <a:latin typeface="맑은 고딕" pitchFamily="50" charset="-127"/>
              </a:rPr>
              <a:t>1</a:t>
            </a:r>
            <a:r>
              <a:rPr lang="ko-KR" altLang="en-US" sz="1600" dirty="0">
                <a:latin typeface="맑은 고딕" pitchFamily="50" charset="-127"/>
              </a:rPr>
              <a:t>원의 가치가 미래에 갖게 될 </a:t>
            </a:r>
            <a:r>
              <a:rPr lang="en-US" altLang="ko-KR" sz="1600" dirty="0">
                <a:latin typeface="맑은 고딕" pitchFamily="50" charset="-127"/>
              </a:rPr>
              <a:t>1</a:t>
            </a:r>
            <a:r>
              <a:rPr lang="ko-KR" altLang="en-US" sz="1600" dirty="0">
                <a:latin typeface="맑은 고딕" pitchFamily="50" charset="-127"/>
              </a:rPr>
              <a:t>원의 가치보다 크다는 개념</a:t>
            </a:r>
            <a:endParaRPr lang="en-US" altLang="ko-KR" sz="1600" dirty="0">
              <a:latin typeface="맑은 고딕" pitchFamily="50" charset="-127"/>
            </a:endParaRPr>
          </a:p>
          <a:p>
            <a:pPr eaLnBrk="0" latinLnBrk="0" hangingPunct="0">
              <a:lnSpc>
                <a:spcPts val="2400"/>
              </a:lnSpc>
              <a:buNone/>
              <a:defRPr/>
            </a:pPr>
            <a:r>
              <a:rPr lang="ko-KR" altLang="en-US" sz="1400" dirty="0">
                <a:latin typeface="맑은 고딕" pitchFamily="50" charset="-127"/>
              </a:rPr>
              <a:t>   예</a:t>
            </a:r>
            <a:r>
              <a:rPr lang="en-US" altLang="ko-KR" sz="1400" dirty="0">
                <a:latin typeface="맑은 고딕" pitchFamily="50" charset="-127"/>
              </a:rPr>
              <a:t>) 100</a:t>
            </a:r>
            <a:r>
              <a:rPr lang="ko-KR" altLang="en-US" sz="1400" dirty="0">
                <a:latin typeface="맑은 고딕" pitchFamily="50" charset="-127"/>
              </a:rPr>
              <a:t>만원을 지금 당장 받거나 혹은 </a:t>
            </a:r>
            <a:r>
              <a:rPr lang="en-US" altLang="ko-KR" sz="1400" dirty="0">
                <a:latin typeface="맑은 고딕" pitchFamily="50" charset="-127"/>
              </a:rPr>
              <a:t>1</a:t>
            </a:r>
            <a:r>
              <a:rPr lang="ko-KR" altLang="en-US" sz="1400" dirty="0">
                <a:latin typeface="맑은 고딕" pitchFamily="50" charset="-127"/>
              </a:rPr>
              <a:t>년 후에 받을 수 있는 대안 중에 택일하라면</a:t>
            </a:r>
            <a:r>
              <a:rPr lang="en-US" altLang="ko-KR" sz="1400" dirty="0">
                <a:latin typeface="맑은 고딕" pitchFamily="50" charset="-127"/>
              </a:rPr>
              <a:t>?</a:t>
            </a:r>
            <a:br>
              <a:rPr lang="en-US" altLang="ko-KR" sz="1400" dirty="0">
                <a:latin typeface="맑은 고딕" pitchFamily="50" charset="-127"/>
              </a:rPr>
            </a:br>
            <a:r>
              <a:rPr lang="ko-KR" altLang="en-US" sz="1400" dirty="0">
                <a:latin typeface="맑은 고딕" pitchFamily="50" charset="-127"/>
              </a:rPr>
              <a:t>         → 당연히 지금 </a:t>
            </a:r>
            <a:r>
              <a:rPr lang="en-US" altLang="ko-KR" sz="1400" dirty="0">
                <a:latin typeface="맑은 고딕" pitchFamily="50" charset="-127"/>
              </a:rPr>
              <a:t>100</a:t>
            </a:r>
            <a:r>
              <a:rPr lang="ko-KR" altLang="en-US" sz="1400" dirty="0">
                <a:latin typeface="맑은 고딕" pitchFamily="50" charset="-127"/>
              </a:rPr>
              <a:t>만원을 받는 것이 더 유리하다</a:t>
            </a:r>
            <a:r>
              <a:rPr lang="en-US" altLang="ko-KR" sz="1400" dirty="0">
                <a:latin typeface="맑은 고딕" pitchFamily="50" charset="-127"/>
              </a:rPr>
              <a:t>.</a:t>
            </a:r>
          </a:p>
          <a:p>
            <a:pPr eaLnBrk="0" latinLnBrk="0" hangingPunct="0">
              <a:lnSpc>
                <a:spcPts val="2400"/>
              </a:lnSpc>
              <a:buNone/>
              <a:defRPr/>
            </a:pPr>
            <a:r>
              <a:rPr lang="ko-KR" altLang="en-US" sz="1400" dirty="0">
                <a:latin typeface="맑은 고딕" pitchFamily="50" charset="-127"/>
              </a:rPr>
              <a:t>    ∵ 연 </a:t>
            </a:r>
            <a:r>
              <a:rPr lang="en-US" altLang="ko-KR" sz="1400" dirty="0">
                <a:latin typeface="맑은 고딕" pitchFamily="50" charset="-127"/>
              </a:rPr>
              <a:t>10%</a:t>
            </a:r>
            <a:r>
              <a:rPr lang="ko-KR" altLang="en-US" sz="1400" dirty="0">
                <a:latin typeface="맑은 고딕" pitchFamily="50" charset="-127"/>
              </a:rPr>
              <a:t>의 이자를 얻을 수 있는 예금에 투자하여</a:t>
            </a:r>
            <a:r>
              <a:rPr lang="en-US" altLang="ko-KR" sz="1400" dirty="0">
                <a:latin typeface="맑은 고딕" pitchFamily="50" charset="-127"/>
              </a:rPr>
              <a:t> </a:t>
            </a:r>
            <a:r>
              <a:rPr lang="ko-KR" altLang="en-US" sz="1400" dirty="0">
                <a:latin typeface="맑은 고딕" pitchFamily="50" charset="-127"/>
              </a:rPr>
              <a:t>이자수익을 얻을 수 있기 때문 </a:t>
            </a:r>
            <a:endParaRPr lang="en-US" altLang="ko-KR" sz="1400" dirty="0">
              <a:latin typeface="맑은 고딕" pitchFamily="50" charset="-127"/>
            </a:endParaRPr>
          </a:p>
          <a:p>
            <a:pPr eaLnBrk="0" latinLnBrk="0" hangingPunct="0">
              <a:lnSpc>
                <a:spcPts val="2400"/>
              </a:lnSpc>
              <a:buNone/>
              <a:defRPr/>
            </a:pPr>
            <a:endParaRPr lang="en-US" altLang="ko-KR" sz="1600" dirty="0">
              <a:latin typeface="맑은 고딕" pitchFamily="50" charset="-127"/>
            </a:endParaRPr>
          </a:p>
          <a:p>
            <a:pPr marL="180000" indent="-720000" eaLnBrk="0" latinLnBrk="0" hangingPunct="0">
              <a:lnSpc>
                <a:spcPts val="2400"/>
              </a:lnSpc>
              <a:buNone/>
              <a:defRPr/>
            </a:pPr>
            <a:r>
              <a:rPr lang="en-US" altLang="ko-KR" sz="1600" dirty="0">
                <a:latin typeface="맑은 고딕" pitchFamily="50" charset="-127"/>
              </a:rPr>
              <a:t>- </a:t>
            </a:r>
            <a:r>
              <a:rPr lang="ko-KR" altLang="en-US" sz="1600" b="1" dirty="0" err="1">
                <a:latin typeface="맑은 고딕" pitchFamily="50" charset="-127"/>
              </a:rPr>
              <a:t>단순이자</a:t>
            </a:r>
            <a:r>
              <a:rPr lang="ko-KR" altLang="en-US" sz="1600" b="1" dirty="0">
                <a:latin typeface="맑은 고딕" pitchFamily="50" charset="-127"/>
              </a:rPr>
              <a:t> 계산 </a:t>
            </a:r>
            <a:r>
              <a:rPr lang="en-US" altLang="ko-KR" sz="1600" dirty="0">
                <a:latin typeface="맑은 고딕" pitchFamily="50" charset="-127"/>
              </a:rPr>
              <a:t>: </a:t>
            </a:r>
            <a:r>
              <a:rPr lang="ko-KR" altLang="en-US" sz="1600" dirty="0">
                <a:latin typeface="맑은 고딕" pitchFamily="50" charset="-127"/>
              </a:rPr>
              <a:t>최초의 원금에 대해서만 이자를 계산</a:t>
            </a:r>
            <a:br>
              <a:rPr lang="en-US" altLang="ko-KR" sz="1600" dirty="0">
                <a:latin typeface="맑은 고딕" pitchFamily="50" charset="-127"/>
              </a:rPr>
            </a:br>
            <a:r>
              <a:rPr lang="ko-KR" altLang="en-US" sz="1400" dirty="0">
                <a:latin typeface="맑은 고딕" pitchFamily="50" charset="-127"/>
              </a:rPr>
              <a:t>예</a:t>
            </a:r>
            <a:r>
              <a:rPr lang="en-US" altLang="ko-KR" sz="1400" dirty="0">
                <a:latin typeface="맑은 고딕" pitchFamily="50" charset="-127"/>
              </a:rPr>
              <a:t>) </a:t>
            </a:r>
            <a:r>
              <a:rPr lang="ko-KR" altLang="en-US" sz="1400" dirty="0">
                <a:latin typeface="맑은 고딕" pitchFamily="50" charset="-127"/>
              </a:rPr>
              <a:t>연간 </a:t>
            </a:r>
            <a:r>
              <a:rPr lang="en-US" altLang="ko-KR" sz="1400" dirty="0">
                <a:latin typeface="맑은 고딕" pitchFamily="50" charset="-127"/>
              </a:rPr>
              <a:t>10%</a:t>
            </a:r>
            <a:r>
              <a:rPr lang="ko-KR" altLang="en-US" sz="1400" dirty="0">
                <a:latin typeface="맑은 고딕" pitchFamily="50" charset="-127"/>
              </a:rPr>
              <a:t>의 단순이자계산을 조건으로 ￦</a:t>
            </a:r>
            <a:r>
              <a:rPr lang="en-US" altLang="ko-KR" sz="1400" dirty="0">
                <a:latin typeface="맑은 고딕" pitchFamily="50" charset="-127"/>
              </a:rPr>
              <a:t>10,000</a:t>
            </a:r>
            <a:r>
              <a:rPr lang="ko-KR" altLang="en-US" sz="1400" dirty="0">
                <a:latin typeface="맑은 고딕" pitchFamily="50" charset="-127"/>
              </a:rPr>
              <a:t>을 은행에 예치하면</a:t>
            </a:r>
            <a:r>
              <a:rPr lang="en-US" altLang="ko-KR" sz="1400" dirty="0">
                <a:latin typeface="맑은 고딕" pitchFamily="50" charset="-127"/>
              </a:rPr>
              <a:t>, 1</a:t>
            </a:r>
            <a:r>
              <a:rPr lang="ko-KR" altLang="en-US" sz="1400" dirty="0" err="1">
                <a:latin typeface="맑은 고딕" pitchFamily="50" charset="-127"/>
              </a:rPr>
              <a:t>차연도와</a:t>
            </a:r>
            <a:r>
              <a:rPr lang="ko-KR" altLang="en-US" sz="1400" dirty="0">
                <a:latin typeface="맑은 고딕" pitchFamily="50" charset="-127"/>
              </a:rPr>
              <a:t> </a:t>
            </a:r>
            <a:r>
              <a:rPr lang="en-US" altLang="ko-KR" sz="1400" dirty="0">
                <a:latin typeface="맑은 고딕" pitchFamily="50" charset="-127"/>
              </a:rPr>
              <a:t>2</a:t>
            </a:r>
            <a:r>
              <a:rPr lang="ko-KR" altLang="en-US" sz="1400" dirty="0" err="1">
                <a:latin typeface="맑은 고딕" pitchFamily="50" charset="-127"/>
              </a:rPr>
              <a:t>차연도에</a:t>
            </a:r>
            <a:r>
              <a:rPr lang="ko-KR" altLang="en-US" sz="1400" dirty="0">
                <a:latin typeface="맑은 고딕" pitchFamily="50" charset="-127"/>
              </a:rPr>
              <a:t> 각각 원금 ￦</a:t>
            </a:r>
            <a:r>
              <a:rPr lang="en-US" altLang="ko-KR" sz="1400" dirty="0">
                <a:latin typeface="맑은 고딕" pitchFamily="50" charset="-127"/>
              </a:rPr>
              <a:t>10,000</a:t>
            </a:r>
            <a:r>
              <a:rPr lang="ko-KR" altLang="en-US" sz="1400" dirty="0">
                <a:latin typeface="맑은 고딕" pitchFamily="50" charset="-127"/>
              </a:rPr>
              <a:t>에 대해서만 </a:t>
            </a:r>
            <a:r>
              <a:rPr lang="en-US" altLang="ko-KR" sz="1400" dirty="0">
                <a:latin typeface="맑은 고딕" pitchFamily="50" charset="-127"/>
              </a:rPr>
              <a:t>10%</a:t>
            </a:r>
            <a:r>
              <a:rPr lang="ko-KR" altLang="en-US" sz="1400" dirty="0">
                <a:latin typeface="맑은 고딕" pitchFamily="50" charset="-127"/>
              </a:rPr>
              <a:t>의 이자 ￦</a:t>
            </a:r>
            <a:r>
              <a:rPr lang="en-US" altLang="ko-KR" sz="1400" dirty="0">
                <a:latin typeface="맑은 고딕" pitchFamily="50" charset="-127"/>
              </a:rPr>
              <a:t>1,000</a:t>
            </a:r>
            <a:r>
              <a:rPr lang="ko-KR" altLang="en-US" sz="1400" dirty="0">
                <a:latin typeface="맑은 고딕" pitchFamily="50" charset="-127"/>
              </a:rPr>
              <a:t>이 발생</a:t>
            </a:r>
            <a:r>
              <a:rPr lang="en-US" altLang="ko-KR" sz="1400" dirty="0">
                <a:latin typeface="맑은 고딕" pitchFamily="50" charset="-127"/>
              </a:rPr>
              <a:t>. </a:t>
            </a:r>
            <a:r>
              <a:rPr lang="ko-KR" altLang="en-US" sz="1400" dirty="0">
                <a:latin typeface="맑은 고딕" pitchFamily="50" charset="-127"/>
              </a:rPr>
              <a:t>그 결과 </a:t>
            </a:r>
            <a:r>
              <a:rPr lang="en-US" altLang="ko-KR" sz="1400" dirty="0">
                <a:latin typeface="맑은 고딕" pitchFamily="50" charset="-127"/>
              </a:rPr>
              <a:t>2</a:t>
            </a:r>
            <a:r>
              <a:rPr lang="ko-KR" altLang="en-US" sz="1400" dirty="0">
                <a:latin typeface="맑은 고딕" pitchFamily="50" charset="-127"/>
              </a:rPr>
              <a:t>년 후 </a:t>
            </a:r>
            <a:r>
              <a:rPr lang="ko-KR" altLang="en-US" sz="1400" dirty="0" err="1">
                <a:latin typeface="맑은 고딕" pitchFamily="50" charset="-127"/>
              </a:rPr>
              <a:t>예금합계는</a:t>
            </a:r>
            <a:r>
              <a:rPr lang="ko-KR" altLang="en-US" sz="1400" dirty="0">
                <a:latin typeface="맑은 고딕" pitchFamily="50" charset="-127"/>
              </a:rPr>
              <a:t> 총 ￦</a:t>
            </a:r>
            <a:r>
              <a:rPr lang="en-US" altLang="ko-KR" sz="1400" dirty="0">
                <a:latin typeface="맑은 고딕" pitchFamily="50" charset="-127"/>
              </a:rPr>
              <a:t>12,000</a:t>
            </a:r>
          </a:p>
          <a:p>
            <a:pPr eaLnBrk="0" latinLnBrk="0" hangingPunct="0">
              <a:lnSpc>
                <a:spcPts val="2400"/>
              </a:lnSpc>
              <a:buNone/>
              <a:defRPr/>
            </a:pPr>
            <a:endParaRPr lang="en-US" altLang="ko-KR" sz="1600" dirty="0">
              <a:solidFill>
                <a:schemeClr val="tx1"/>
              </a:solidFill>
              <a:latin typeface="맑은 고딕" pitchFamily="50" charset="-127"/>
            </a:endParaRPr>
          </a:p>
          <a:p>
            <a:pPr eaLnBrk="0" latinLnBrk="0" hangingPunct="0">
              <a:lnSpc>
                <a:spcPts val="2400"/>
              </a:lnSpc>
              <a:buNone/>
              <a:defRPr/>
            </a:pPr>
            <a:r>
              <a:rPr lang="en-US" altLang="ko-KR" sz="1600" dirty="0">
                <a:solidFill>
                  <a:schemeClr val="tx1"/>
                </a:solidFill>
                <a:latin typeface="맑은 고딕" pitchFamily="50" charset="-127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맑은 고딕" pitchFamily="50" charset="-127"/>
              </a:rPr>
              <a:t>복리이자계산</a:t>
            </a:r>
            <a:r>
              <a:rPr lang="ko-KR" altLang="en-US" sz="16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맑은 고딕" pitchFamily="50" charset="-127"/>
              </a:rPr>
              <a:t>: </a:t>
            </a:r>
            <a:r>
              <a:rPr lang="ko-KR" altLang="en-US" sz="1600" dirty="0">
                <a:latin typeface="맑은 고딕" pitchFamily="50" charset="-127"/>
              </a:rPr>
              <a:t>원금에 대하여 발생한 이자를 원금에 다시 가산한 후 다음 기간의 이자를</a:t>
            </a:r>
            <a:r>
              <a:rPr lang="en-US" altLang="ko-KR" sz="1600" dirty="0">
                <a:latin typeface="맑은 고딕" pitchFamily="50" charset="-127"/>
              </a:rPr>
              <a:t> </a:t>
            </a:r>
            <a:r>
              <a:rPr lang="ko-KR" altLang="en-US" sz="1600" dirty="0">
                <a:latin typeface="맑은 고딕" pitchFamily="50" charset="-127"/>
              </a:rPr>
              <a:t>계산 </a:t>
            </a:r>
            <a:endParaRPr lang="en-US" altLang="ko-KR" sz="1600" dirty="0">
              <a:latin typeface="맑은 고딕" pitchFamily="50" charset="-127"/>
            </a:endParaRPr>
          </a:p>
          <a:p>
            <a:pPr marL="180000" indent="-720000" eaLnBrk="0" latinLnBrk="0" hangingPunct="0">
              <a:lnSpc>
                <a:spcPts val="2400"/>
              </a:lnSpc>
              <a:buNone/>
              <a:defRPr/>
            </a:pPr>
            <a:r>
              <a:rPr lang="ko-KR" altLang="en-US" sz="1400" dirty="0">
                <a:latin typeface="맑은 고딕" pitchFamily="50" charset="-127"/>
              </a:rPr>
              <a:t>   예</a:t>
            </a:r>
            <a:r>
              <a:rPr lang="en-US" altLang="ko-KR" sz="1400" dirty="0">
                <a:latin typeface="맑은 고딕" pitchFamily="50" charset="-127"/>
              </a:rPr>
              <a:t>) </a:t>
            </a:r>
            <a:r>
              <a:rPr lang="ko-KR" altLang="en-US" sz="1400" dirty="0">
                <a:latin typeface="맑은 고딕" pitchFamily="50" charset="-127"/>
              </a:rPr>
              <a:t>연간 </a:t>
            </a:r>
            <a:r>
              <a:rPr lang="en-US" altLang="ko-KR" sz="1400" dirty="0">
                <a:latin typeface="맑은 고딕" pitchFamily="50" charset="-127"/>
              </a:rPr>
              <a:t>10%</a:t>
            </a:r>
            <a:r>
              <a:rPr lang="ko-KR" altLang="en-US" sz="1400" dirty="0">
                <a:latin typeface="맑은 고딕" pitchFamily="50" charset="-127"/>
              </a:rPr>
              <a:t>의 복리이자계산을 조건으로 ￦</a:t>
            </a:r>
            <a:r>
              <a:rPr lang="en-US" altLang="ko-KR" sz="1400" dirty="0">
                <a:latin typeface="맑은 고딕" pitchFamily="50" charset="-127"/>
              </a:rPr>
              <a:t>10,000</a:t>
            </a:r>
            <a:r>
              <a:rPr lang="ko-KR" altLang="en-US" sz="1400" dirty="0">
                <a:latin typeface="맑은 고딕" pitchFamily="50" charset="-127"/>
              </a:rPr>
              <a:t>을 은행에 예치하면</a:t>
            </a:r>
            <a:r>
              <a:rPr lang="en-US" altLang="ko-KR" sz="1400" dirty="0">
                <a:latin typeface="맑은 고딕" pitchFamily="50" charset="-127"/>
              </a:rPr>
              <a:t>, 1</a:t>
            </a:r>
            <a:r>
              <a:rPr lang="ko-KR" altLang="en-US" sz="1400" dirty="0" err="1">
                <a:latin typeface="맑은 고딕" pitchFamily="50" charset="-127"/>
              </a:rPr>
              <a:t>차연도에는</a:t>
            </a:r>
            <a:r>
              <a:rPr lang="ko-KR" altLang="en-US" sz="1400" dirty="0">
                <a:latin typeface="맑은 고딕" pitchFamily="50" charset="-127"/>
              </a:rPr>
              <a:t> 이자 ￦</a:t>
            </a:r>
            <a:r>
              <a:rPr lang="en-US" altLang="ko-KR" sz="1400" dirty="0">
                <a:latin typeface="맑은 고딕" pitchFamily="50" charset="-127"/>
              </a:rPr>
              <a:t>1,000</a:t>
            </a:r>
            <a:r>
              <a:rPr lang="ko-KR" altLang="en-US" sz="1400" dirty="0">
                <a:latin typeface="맑은 고딕" pitchFamily="50" charset="-127"/>
              </a:rPr>
              <a:t>이 발생</a:t>
            </a:r>
            <a:r>
              <a:rPr lang="en-US" altLang="ko-KR" sz="1400" dirty="0">
                <a:latin typeface="맑은 고딕" pitchFamily="50" charset="-127"/>
              </a:rPr>
              <a:t>,</a:t>
            </a:r>
            <a:r>
              <a:rPr lang="ko-KR" altLang="en-US" sz="1400" dirty="0">
                <a:latin typeface="맑은 고딕" pitchFamily="50" charset="-127"/>
              </a:rPr>
              <a:t> </a:t>
            </a:r>
            <a:r>
              <a:rPr lang="en-US" altLang="ko-KR" sz="1400" dirty="0">
                <a:latin typeface="맑은 고딕" pitchFamily="50" charset="-127"/>
              </a:rPr>
              <a:t>2</a:t>
            </a:r>
            <a:r>
              <a:rPr lang="ko-KR" altLang="en-US" sz="1400" dirty="0" err="1">
                <a:latin typeface="맑은 고딕" pitchFamily="50" charset="-127"/>
              </a:rPr>
              <a:t>차연도에</a:t>
            </a:r>
            <a:r>
              <a:rPr lang="ko-KR" altLang="en-US" sz="1400" dirty="0">
                <a:latin typeface="맑은 고딕" pitchFamily="50" charset="-127"/>
              </a:rPr>
              <a:t> 원금과 이자의 합인 ￦</a:t>
            </a:r>
            <a:r>
              <a:rPr lang="en-US" altLang="ko-KR" sz="1400" dirty="0">
                <a:latin typeface="맑은 고딕" pitchFamily="50" charset="-127"/>
              </a:rPr>
              <a:t>11,000</a:t>
            </a:r>
            <a:r>
              <a:rPr lang="ko-KR" altLang="en-US" sz="1400" dirty="0">
                <a:latin typeface="맑은 고딕" pitchFamily="50" charset="-127"/>
              </a:rPr>
              <a:t>에 대해서 </a:t>
            </a:r>
            <a:r>
              <a:rPr lang="en-US" altLang="ko-KR" sz="1400" dirty="0">
                <a:latin typeface="맑은 고딕" pitchFamily="50" charset="-127"/>
              </a:rPr>
              <a:t>10%</a:t>
            </a:r>
            <a:r>
              <a:rPr lang="ko-KR" altLang="en-US" sz="1400" dirty="0">
                <a:latin typeface="맑은 고딕" pitchFamily="50" charset="-127"/>
              </a:rPr>
              <a:t>의  이자가 계산되어 ￦</a:t>
            </a:r>
            <a:r>
              <a:rPr lang="en-US" altLang="ko-KR" sz="1400" dirty="0">
                <a:latin typeface="맑은 고딕" pitchFamily="50" charset="-127"/>
              </a:rPr>
              <a:t>1,100</a:t>
            </a:r>
            <a:r>
              <a:rPr lang="ko-KR" altLang="en-US" sz="1400" dirty="0">
                <a:latin typeface="맑은 고딕" pitchFamily="50" charset="-127"/>
              </a:rPr>
              <a:t>의 이자가 발생</a:t>
            </a:r>
            <a:r>
              <a:rPr lang="en-US" altLang="ko-KR" sz="1400" dirty="0">
                <a:latin typeface="맑은 고딕" pitchFamily="50" charset="-127"/>
              </a:rPr>
              <a:t> – </a:t>
            </a:r>
            <a:r>
              <a:rPr lang="ko-KR" altLang="en-US" sz="1400" dirty="0">
                <a:latin typeface="맑은 고딕" pitchFamily="50" charset="-127"/>
              </a:rPr>
              <a:t>그 결과 </a:t>
            </a:r>
            <a:r>
              <a:rPr lang="en-US" altLang="ko-KR" sz="1400" dirty="0">
                <a:latin typeface="맑은 고딕" pitchFamily="50" charset="-127"/>
              </a:rPr>
              <a:t>2</a:t>
            </a:r>
            <a:r>
              <a:rPr lang="ko-KR" altLang="en-US" sz="1400" dirty="0">
                <a:latin typeface="맑은 고딕" pitchFamily="50" charset="-127"/>
              </a:rPr>
              <a:t>년 후 </a:t>
            </a:r>
            <a:r>
              <a:rPr lang="ko-KR" altLang="en-US" sz="1400" dirty="0" err="1">
                <a:latin typeface="맑은 고딕" pitchFamily="50" charset="-127"/>
              </a:rPr>
              <a:t>예금합계는</a:t>
            </a:r>
            <a:r>
              <a:rPr lang="ko-KR" altLang="en-US" sz="1400" dirty="0">
                <a:latin typeface="맑은 고딕" pitchFamily="50" charset="-127"/>
              </a:rPr>
              <a:t> 총 ￦</a:t>
            </a:r>
            <a:r>
              <a:rPr lang="en-US" altLang="ko-KR" sz="1400" dirty="0">
                <a:latin typeface="맑은 고딕" pitchFamily="50" charset="-127"/>
              </a:rPr>
              <a:t>12,100</a:t>
            </a:r>
          </a:p>
          <a:p>
            <a:pPr latinLnBrk="0"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68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2295464"/>
            <a:chOff x="190714" y="1320882"/>
            <a:chExt cx="8711460" cy="2550754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2410137"/>
              <a:chOff x="269047" y="1722741"/>
              <a:chExt cx="8648776" cy="2410137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2386437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8-1 </a:t>
                  </a:r>
                  <a:r>
                    <a:rPr lang="ko-KR" altLang="en-US" sz="1600" b="1" dirty="0"/>
                    <a:t>복리계산과 </a:t>
                  </a:r>
                  <a:r>
                    <a:rPr lang="ko-KR" altLang="en-US" sz="1600" b="1" dirty="0" err="1"/>
                    <a:t>단리계산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46887" cy="156168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dirty="0" err="1">
                <a:latin typeface="맑은 고딕" panose="020B0503020000020004" pitchFamily="50" charset="-127"/>
              </a:rPr>
              <a:t>김덕송</a:t>
            </a:r>
            <a:r>
              <a:rPr lang="ko-KR" altLang="en-US" sz="1400" b="1" dirty="0">
                <a:latin typeface="맑은 고딕" panose="020B0503020000020004" pitchFamily="50" charset="-127"/>
              </a:rPr>
              <a:t> 씨는 여유자금 ￦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  <a:r>
              <a:rPr lang="ko-KR" altLang="en-US" sz="1400" b="1" dirty="0">
                <a:latin typeface="맑은 고딕" panose="020B0503020000020004" pitchFamily="50" charset="-127"/>
              </a:rPr>
              <a:t>을 투자하기 위해 은행을 찾았다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은행직원은 두 가지 상품을 권유해주었다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 </a:t>
            </a:r>
            <a:r>
              <a:rPr lang="ko-KR" altLang="en-US" sz="1400" b="1" dirty="0">
                <a:latin typeface="맑은 고딕" panose="020B0503020000020004" pitchFamily="50" charset="-127"/>
              </a:rPr>
              <a:t>첫 번째 상품은 연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10% </a:t>
            </a:r>
            <a:r>
              <a:rPr lang="ko-KR" altLang="en-US" sz="1400" b="1" dirty="0">
                <a:latin typeface="맑은 고딕" panose="020B0503020000020004" pitchFamily="50" charset="-127"/>
              </a:rPr>
              <a:t>복리계산조건이며 두 번째 상품은 연 </a:t>
            </a:r>
            <a:r>
              <a:rPr lang="en-US" altLang="ko-KR" sz="1400" b="1" dirty="0">
                <a:latin typeface="맑은 고딕" panose="020B0503020000020004" pitchFamily="50" charset="-127"/>
              </a:rPr>
              <a:t>11%</a:t>
            </a:r>
            <a:r>
              <a:rPr lang="ko-KR" altLang="en-US" sz="1400" b="1" dirty="0">
                <a:latin typeface="맑은 고딕" panose="020B0503020000020004" pitchFamily="50" charset="-127"/>
              </a:rPr>
              <a:t>의 단리계산 조건이다</a:t>
            </a:r>
            <a:r>
              <a:rPr lang="en-US" altLang="ko-KR" sz="1400" b="1" dirty="0">
                <a:latin typeface="맑은 고딕" panose="020B0503020000020004" pitchFamily="50" charset="-127"/>
              </a:rPr>
              <a:t>.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김덕송</a:t>
            </a:r>
            <a:r>
              <a:rPr lang="ko-KR" altLang="en-US" sz="1400" b="1" dirty="0">
                <a:latin typeface="맑은 고딕" panose="020B0503020000020004" pitchFamily="50" charset="-127"/>
              </a:rPr>
              <a:t> 씨가 </a:t>
            </a:r>
            <a:r>
              <a:rPr lang="en-US" altLang="ko-KR" sz="1400" b="1" dirty="0">
                <a:latin typeface="맑은 고딕" panose="020B0503020000020004" pitchFamily="50" charset="-127"/>
              </a:rPr>
              <a:t>1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2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3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4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그리고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 동안 예금에 투자한다고 할 때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각각의 경우 두 상품 중 어느 것이 유리한지 살펴보자</a:t>
            </a:r>
            <a:r>
              <a:rPr lang="en-US" altLang="ko-KR" sz="1400" b="1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endParaRPr lang="en-US" altLang="ko-KR" sz="12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9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216270" y="1263283"/>
            <a:ext cx="8711460" cy="5079852"/>
            <a:chOff x="190714" y="1320882"/>
            <a:chExt cx="8711460" cy="5644808"/>
          </a:xfrm>
        </p:grpSpPr>
        <p:grpSp>
          <p:nvGrpSpPr>
            <p:cNvPr id="25" name="그룹 24"/>
            <p:cNvGrpSpPr/>
            <p:nvPr/>
          </p:nvGrpSpPr>
          <p:grpSpPr>
            <a:xfrm>
              <a:off x="361934" y="1461499"/>
              <a:ext cx="8540240" cy="5504191"/>
              <a:chOff x="269047" y="1722741"/>
              <a:chExt cx="8648776" cy="5504191"/>
            </a:xfrm>
          </p:grpSpPr>
          <p:sp>
            <p:nvSpPr>
              <p:cNvPr id="47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6" cy="5480491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27" name="그룹 26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43" name="타원 4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8-1 </a:t>
                  </a:r>
                  <a:r>
                    <a:rPr lang="ko-KR" altLang="en-US" sz="1600" b="1" dirty="0"/>
                    <a:t>복리계산과 </a:t>
                  </a:r>
                  <a:r>
                    <a:rPr lang="ko-KR" altLang="en-US" sz="1600" b="1" dirty="0" err="1"/>
                    <a:t>단리계산</a:t>
                  </a:r>
                  <a:endParaRPr lang="ko-KR" altLang="en-US" sz="1600" b="1" dirty="0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2" name="그림 4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29" y="1710353"/>
            <a:ext cx="7666692" cy="4346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08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216270" y="1263283"/>
            <a:ext cx="8711460" cy="3655558"/>
            <a:chOff x="190714" y="1320882"/>
            <a:chExt cx="8711460" cy="4062111"/>
          </a:xfrm>
        </p:grpSpPr>
        <p:grpSp>
          <p:nvGrpSpPr>
            <p:cNvPr id="25" name="그룹 24"/>
            <p:cNvGrpSpPr/>
            <p:nvPr/>
          </p:nvGrpSpPr>
          <p:grpSpPr>
            <a:xfrm>
              <a:off x="361934" y="1461499"/>
              <a:ext cx="8540240" cy="3921494"/>
              <a:chOff x="269047" y="1722741"/>
              <a:chExt cx="8648776" cy="3921494"/>
            </a:xfrm>
          </p:grpSpPr>
          <p:sp>
            <p:nvSpPr>
              <p:cNvPr id="47" name="Rectangle 15"/>
              <p:cNvSpPr>
                <a:spLocks noChangeArrowheads="1"/>
              </p:cNvSpPr>
              <p:nvPr/>
            </p:nvSpPr>
            <p:spPr bwMode="auto">
              <a:xfrm>
                <a:off x="269047" y="1746442"/>
                <a:ext cx="8648776" cy="389779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① 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년과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후의 예금잔액은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11%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의 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단리계산조건의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상품이 더 큼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400" dirty="0">
                    <a:latin typeface="맑은 고딕" panose="020B0503020000020004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이는 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단리조건예금의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연이자율이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11%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로 복리계산상품의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10%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보다 높기 때문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400" dirty="0">
                    <a:latin typeface="맑은 고딕" panose="020B0503020000020004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내에 만기가 돌아오는 예금상품에 가입하려고만 한다면 상품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가 더 유리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ko-KR" sz="1400" dirty="0">
                    <a:latin typeface="맑은 고딕" panose="020B0503020000020004" pitchFamily="50" charset="-127"/>
                  </a:rPr>
                  <a:t>②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3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후에는 상품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1(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복리계산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의 잔액이 더 큼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   복리계산조건에서는 발생한 이자를 원금에 가산한 전체 예금잔액에 대해서 다음 기간의 이자를 계산하기 때문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③ 4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후에도 역시 복리조건 예금잔액이 더욱 큰데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이런 양상은 그 이후에도 계속됨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</a:p>
              <a:p>
                <a:pPr algn="just" latinLnBrk="0">
                  <a:lnSpc>
                    <a:spcPts val="2400"/>
                  </a:lnSpc>
                  <a:spcBef>
                    <a:spcPct val="0"/>
                  </a:spcBef>
                </a:pPr>
                <a:r>
                  <a:rPr lang="en-US" altLang="ko-KR" sz="1400" dirty="0">
                    <a:latin typeface="맑은 고딕" panose="020B0503020000020004" pitchFamily="50" charset="-127"/>
                    <a:sym typeface="Wingdings" panose="05000000000000000000" pitchFamily="2" charset="2"/>
                  </a:rPr>
                  <a:t>   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3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이상의 장기예금에 가입하려고 한다면 이자율은 좀 낮더라도 복리계산조건이 더 유리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27" name="그룹 26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43" name="타원 4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8-1 </a:t>
                  </a:r>
                  <a:r>
                    <a:rPr lang="ko-KR" altLang="en-US" sz="1600" b="1" dirty="0"/>
                    <a:t>복리계산과 </a:t>
                  </a:r>
                  <a:r>
                    <a:rPr lang="ko-KR" altLang="en-US" sz="1600" b="1" dirty="0" err="1"/>
                    <a:t>단리계산</a:t>
                  </a:r>
                  <a:endParaRPr lang="ko-KR" altLang="en-US" sz="1600" b="1" dirty="0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2" name="그림 4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694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66829" y="1229603"/>
            <a:ext cx="8718794" cy="5289053"/>
            <a:chOff x="2626908" y="1693823"/>
            <a:chExt cx="11625057" cy="7052070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730141" y="2265831"/>
              <a:ext cx="11521824" cy="648006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현재의 일정금액과 동일한 가치를 가지는 미래 일정시점의 금액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연간이자율이 </a:t>
              </a:r>
              <a:r>
                <a:rPr lang="en-US" altLang="ko-KR" sz="1600" i="1" dirty="0">
                  <a:latin typeface="맑은 고딕" panose="020B0503020000020004" pitchFamily="50" charset="-127"/>
                </a:rPr>
                <a:t>r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 때 현재금액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en-US" altLang="ko-KR" sz="1600" i="1" dirty="0">
                  <a:latin typeface="맑은 고딕" panose="020B0503020000020004" pitchFamily="50" charset="-127"/>
                </a:rPr>
                <a:t>P</a:t>
              </a:r>
              <a:r>
                <a:rPr lang="en-US" altLang="ko-KR" sz="1600" i="1" baseline="-25000" dirty="0">
                  <a:latin typeface="맑은 고딕" panose="020B0503020000020004" pitchFamily="50" charset="-127"/>
                </a:rPr>
                <a:t>0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</a:t>
              </a:r>
              <a:r>
                <a:rPr lang="en-US" altLang="ko-KR" sz="1600" i="1" dirty="0">
                  <a:latin typeface="맑은 고딕" panose="020B0503020000020004" pitchFamily="50" charset="-127"/>
                </a:rPr>
                <a:t>n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년 후 미래가치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en-US" altLang="ko-KR" sz="1600" i="1" dirty="0" err="1">
                  <a:latin typeface="맑은 고딕" panose="020B0503020000020004" pitchFamily="50" charset="-127"/>
                </a:rPr>
                <a:t>F</a:t>
              </a:r>
              <a:r>
                <a:rPr lang="en-US" altLang="ko-KR" sz="1600" i="1" baseline="-25000" dirty="0" err="1">
                  <a:latin typeface="맑은 고딕" panose="020B0503020000020004" pitchFamily="50" charset="-127"/>
                </a:rPr>
                <a:t>n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이자율이 연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10%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인 경우 현재의 ￦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10,000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시점별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미래가치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단일금액의 미래가치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A81034-8B45-4CBF-915D-1F54E25C9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348554"/>
            <a:ext cx="7461504" cy="1788566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F1C73EAA-EEDD-481F-875D-AAFA0A08CEAB}"/>
              </a:ext>
            </a:extLst>
          </p:cNvPr>
          <p:cNvGrpSpPr/>
          <p:nvPr/>
        </p:nvGrpSpPr>
        <p:grpSpPr>
          <a:xfrm>
            <a:off x="134223" y="3904843"/>
            <a:ext cx="8317770" cy="338554"/>
            <a:chOff x="1278318" y="4686968"/>
            <a:chExt cx="8317770" cy="338554"/>
          </a:xfrm>
        </p:grpSpPr>
        <p:sp>
          <p:nvSpPr>
            <p:cNvPr id="12" name="오각형 18">
              <a:extLst>
                <a:ext uri="{FF2B5EF4-FFF2-40B4-BE49-F238E27FC236}">
                  <a16:creationId xmlns:a16="http://schemas.microsoft.com/office/drawing/2014/main" id="{3FB7F35D-CCF4-4ADD-B50F-26C5B043CDE9}"/>
                </a:ext>
              </a:extLst>
            </p:cNvPr>
            <p:cNvSpPr/>
            <p:nvPr/>
          </p:nvSpPr>
          <p:spPr>
            <a:xfrm>
              <a:off x="1278318" y="4742966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ED79C3-AB46-4C99-8D2A-44D921B666B8}"/>
                </a:ext>
              </a:extLst>
            </p:cNvPr>
            <p:cNvSpPr txBox="1"/>
            <p:nvPr/>
          </p:nvSpPr>
          <p:spPr>
            <a:xfrm>
              <a:off x="2035635" y="4686968"/>
              <a:ext cx="75604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단일금액의 미래가치 계산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768" y="2829949"/>
            <a:ext cx="2479589" cy="36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607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66829" y="1229603"/>
            <a:ext cx="8650725" cy="5183897"/>
            <a:chOff x="2626908" y="1693823"/>
            <a:chExt cx="11534299" cy="6911862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2" y="2125623"/>
              <a:ext cx="11521825" cy="648006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ko-KR" altLang="en-US" sz="1600" b="1" dirty="0">
                  <a:latin typeface="+mn-ea"/>
                </a:rPr>
                <a:t>부록 </a:t>
              </a:r>
              <a:r>
                <a:rPr lang="en-US" altLang="ko-KR" sz="1600" b="1" dirty="0">
                  <a:latin typeface="+mn-ea"/>
                </a:rPr>
                <a:t>&lt;</a:t>
              </a:r>
              <a:r>
                <a:rPr lang="ko-KR" altLang="en-US" sz="1600" b="1" dirty="0">
                  <a:latin typeface="+mn-ea"/>
                </a:rPr>
                <a:t>표 </a:t>
              </a:r>
              <a:r>
                <a:rPr lang="en-US" altLang="ko-KR" sz="1600" b="1" dirty="0">
                  <a:latin typeface="+mn-ea"/>
                </a:rPr>
                <a:t>A-1&gt;</a:t>
              </a:r>
              <a:r>
                <a:rPr lang="ko-KR" altLang="en-US" sz="1600" b="1" dirty="0">
                  <a:latin typeface="+mn-ea"/>
                </a:rPr>
                <a:t>의 미래가치표를</a:t>
              </a:r>
              <a:r>
                <a:rPr lang="en-US" altLang="ko-KR" sz="1600" b="1" dirty="0">
                  <a:latin typeface="+mn-ea"/>
                </a:rPr>
                <a:t> </a:t>
              </a:r>
              <a:r>
                <a:rPr lang="ko-KR" altLang="en-US" sz="1600" b="1" dirty="0">
                  <a:latin typeface="+mn-ea"/>
                </a:rPr>
                <a:t>이용한 </a:t>
              </a:r>
              <a:r>
                <a:rPr lang="ko-KR" altLang="en-US" sz="1600" b="1" dirty="0" err="1">
                  <a:latin typeface="+mn-ea"/>
                </a:rPr>
                <a:t>미래가치의</a:t>
              </a:r>
              <a:r>
                <a:rPr lang="ko-KR" altLang="en-US" sz="1600" b="1" dirty="0">
                  <a:latin typeface="+mn-ea"/>
                </a:rPr>
                <a:t> 계산</a:t>
              </a:r>
              <a:endParaRPr lang="en-US" altLang="ko-KR" sz="1600" b="1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위 표에서 세로축은 기간</a:t>
              </a:r>
              <a:r>
                <a:rPr lang="en-US" altLang="ko-KR" sz="1500" dirty="0">
                  <a:latin typeface="+mn-ea"/>
                </a:rPr>
                <a:t>(</a:t>
              </a:r>
              <a:r>
                <a:rPr lang="ko-KR" altLang="en-US" sz="1500" dirty="0">
                  <a:latin typeface="+mn-ea"/>
                </a:rPr>
                <a:t>연도</a:t>
              </a:r>
              <a:r>
                <a:rPr lang="en-US" altLang="ko-KR" sz="1500" dirty="0">
                  <a:latin typeface="+mn-ea"/>
                </a:rPr>
                <a:t>, n), </a:t>
              </a:r>
              <a:r>
                <a:rPr lang="ko-KR" altLang="en-US" sz="1500" dirty="0">
                  <a:latin typeface="+mn-ea"/>
                </a:rPr>
                <a:t>가로축은 이자율</a:t>
              </a:r>
              <a:r>
                <a:rPr lang="en-US" altLang="ko-KR" sz="1500" dirty="0">
                  <a:latin typeface="+mn-ea"/>
                </a:rPr>
                <a:t>(%)</a:t>
              </a:r>
              <a:r>
                <a:rPr lang="ko-KR" altLang="en-US" sz="1500" dirty="0">
                  <a:latin typeface="+mn-ea"/>
                </a:rPr>
                <a:t>을 나타냄</a:t>
              </a:r>
              <a:endParaRPr lang="en-US" altLang="ko-KR" sz="15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예</a:t>
              </a:r>
              <a:r>
                <a:rPr lang="en-US" altLang="ko-KR" sz="1500" dirty="0">
                  <a:latin typeface="+mn-ea"/>
                </a:rPr>
                <a:t>:</a:t>
              </a:r>
              <a:r>
                <a:rPr lang="ko-KR" altLang="en-US" sz="1500" dirty="0">
                  <a:latin typeface="+mn-ea"/>
                </a:rPr>
                <a:t> ① 기간이 </a:t>
              </a:r>
              <a:r>
                <a:rPr lang="en-US" altLang="ko-KR" sz="1500" dirty="0">
                  <a:latin typeface="+mn-ea"/>
                </a:rPr>
                <a:t>1</a:t>
              </a:r>
              <a:r>
                <a:rPr lang="ko-KR" altLang="en-US" sz="1500" dirty="0">
                  <a:latin typeface="+mn-ea"/>
                </a:rPr>
                <a:t>년이며 이자율이 </a:t>
              </a:r>
              <a:r>
                <a:rPr lang="en-US" altLang="ko-KR" sz="1500" dirty="0">
                  <a:latin typeface="+mn-ea"/>
                </a:rPr>
                <a:t>10%</a:t>
              </a:r>
              <a:r>
                <a:rPr lang="ko-KR" altLang="en-US" sz="1500" dirty="0">
                  <a:latin typeface="+mn-ea"/>
                </a:rPr>
                <a:t>인 경우 현재 </a:t>
              </a:r>
              <a:r>
                <a:rPr lang="en-US" altLang="ko-KR" sz="1500" dirty="0">
                  <a:latin typeface="+mn-ea"/>
                </a:rPr>
                <a:t>\10,000</a:t>
              </a:r>
              <a:r>
                <a:rPr lang="ko-KR" altLang="en-US" sz="1500" dirty="0">
                  <a:latin typeface="+mn-ea"/>
                </a:rPr>
                <a:t>의 미래가치 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  = \10,000 * 1.1000 = \11,000</a:t>
              </a:r>
            </a:p>
            <a:p>
              <a:pPr marL="576000" lvl="1" indent="0">
                <a:buNone/>
              </a:pPr>
              <a:r>
                <a:rPr lang="ko-KR" altLang="en-US" sz="1500" dirty="0">
                  <a:latin typeface="+mn-ea"/>
                </a:rPr>
                <a:t>② 기간이 </a:t>
              </a:r>
              <a:r>
                <a:rPr lang="en-US" altLang="ko-KR" sz="1500" dirty="0">
                  <a:latin typeface="+mn-ea"/>
                </a:rPr>
                <a:t>2</a:t>
              </a:r>
              <a:r>
                <a:rPr lang="ko-KR" altLang="en-US" sz="1500" dirty="0">
                  <a:latin typeface="+mn-ea"/>
                </a:rPr>
                <a:t>년이며 이자율이 </a:t>
              </a:r>
              <a:r>
                <a:rPr lang="en-US" altLang="ko-KR" sz="1500" dirty="0">
                  <a:latin typeface="+mn-ea"/>
                </a:rPr>
                <a:t>10%</a:t>
              </a:r>
              <a:r>
                <a:rPr lang="ko-KR" altLang="en-US" sz="1500" dirty="0">
                  <a:latin typeface="+mn-ea"/>
                </a:rPr>
                <a:t>인 경우 현재 </a:t>
              </a:r>
              <a:r>
                <a:rPr lang="en-US" altLang="ko-KR" sz="1500" dirty="0">
                  <a:latin typeface="+mn-ea"/>
                </a:rPr>
                <a:t>\10,000</a:t>
              </a:r>
              <a:r>
                <a:rPr lang="ko-KR" altLang="en-US" sz="1500" dirty="0">
                  <a:latin typeface="+mn-ea"/>
                </a:rPr>
                <a:t>의 미래가치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  = \10,000 * 1.2100 = \12,100</a:t>
              </a:r>
            </a:p>
            <a:p>
              <a:pPr marL="576000" lvl="1" indent="0">
                <a:buNone/>
              </a:pPr>
              <a:r>
                <a:rPr lang="ko-KR" altLang="en-US" sz="1500" dirty="0">
                  <a:latin typeface="+mn-ea"/>
                </a:rPr>
                <a:t>③ 기간이 </a:t>
              </a:r>
              <a:r>
                <a:rPr lang="en-US" altLang="ko-KR" sz="1500" dirty="0">
                  <a:latin typeface="+mn-ea"/>
                </a:rPr>
                <a:t>3</a:t>
              </a:r>
              <a:r>
                <a:rPr lang="ko-KR" altLang="en-US" sz="1500" dirty="0">
                  <a:latin typeface="+mn-ea"/>
                </a:rPr>
                <a:t>년이며 이자율이 </a:t>
              </a:r>
              <a:r>
                <a:rPr lang="en-US" altLang="ko-KR" sz="1500" dirty="0">
                  <a:latin typeface="+mn-ea"/>
                </a:rPr>
                <a:t>10%</a:t>
              </a:r>
              <a:r>
                <a:rPr lang="ko-KR" altLang="en-US" sz="1500" dirty="0">
                  <a:latin typeface="+mn-ea"/>
                </a:rPr>
                <a:t>인 경우 현재 </a:t>
              </a:r>
              <a:r>
                <a:rPr lang="en-US" altLang="ko-KR" sz="1500" dirty="0">
                  <a:latin typeface="+mn-ea"/>
                </a:rPr>
                <a:t>\10,000</a:t>
              </a:r>
              <a:r>
                <a:rPr lang="ko-KR" altLang="en-US" sz="1500" dirty="0">
                  <a:latin typeface="+mn-ea"/>
                </a:rPr>
                <a:t>의 미래가치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  = \10,000 * 1.3310 = \13,310</a:t>
              </a:r>
            </a:p>
            <a:p>
              <a:pPr lvl="1" indent="0">
                <a:buNone/>
              </a:pPr>
              <a:endParaRPr lang="en-US" altLang="ko-KR" sz="1500" dirty="0">
                <a:latin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단일금액의 미래가치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48" y="2004317"/>
            <a:ext cx="7973279" cy="1842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7914855" y="2753273"/>
            <a:ext cx="423949" cy="171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914855" y="2953761"/>
            <a:ext cx="423949" cy="171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914855" y="3159647"/>
            <a:ext cx="423949" cy="171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651405" y="2674933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9471" y="2887435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9471" y="3084192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209041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66829" y="1170167"/>
            <a:ext cx="8650725" cy="5408433"/>
            <a:chOff x="2626908" y="1614575"/>
            <a:chExt cx="11534299" cy="7211243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4" cy="6700195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연금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일정기간 동안 동일한 금액의 현금흐름이 매기간 발생하는 것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연금 중 매 기간말에 현금흐름이 발생하는 것을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정상연금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이라고 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 연금의 미래가치는 단일금액의 미래가치의 합으로 계산</a:t>
              </a: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marL="504000" indent="-457200"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  예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이자율이 연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10%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이고 향후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년간 </a:t>
              </a:r>
              <a:r>
                <a:rPr lang="ko-KR" altLang="en-US" sz="1400" dirty="0" err="1">
                  <a:latin typeface="맑은 고딕" panose="020B0503020000020004" pitchFamily="50" charset="-127"/>
                </a:rPr>
                <a:t>매년말에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 ￦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10,000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씩을 예치하는 적금의 경우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년 후 시점에서의 미래가치</a:t>
              </a: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14575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연금의 미래가치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642811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4760DE-A58F-4828-B5BD-101D6461F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62" y="3335497"/>
            <a:ext cx="6293708" cy="3380342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114918" y="2984211"/>
            <a:ext cx="3006950" cy="338554"/>
            <a:chOff x="114918" y="3041877"/>
            <a:chExt cx="3006950" cy="338554"/>
          </a:xfrm>
        </p:grpSpPr>
        <p:sp>
          <p:nvSpPr>
            <p:cNvPr id="41" name="오각형 40"/>
            <p:cNvSpPr/>
            <p:nvPr/>
          </p:nvSpPr>
          <p:spPr>
            <a:xfrm>
              <a:off x="114918" y="3094727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06918" y="3041877"/>
              <a:ext cx="22149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연금의 미래가치 계산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26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66829" y="1229603"/>
            <a:ext cx="8477778" cy="4165357"/>
            <a:chOff x="2626908" y="1693823"/>
            <a:chExt cx="11303703" cy="5553809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4" y="2125623"/>
              <a:ext cx="11291227" cy="512200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ko-KR" altLang="en-US" sz="1600" b="1" dirty="0">
                  <a:latin typeface="+mn-ea"/>
                </a:rPr>
                <a:t>부록 </a:t>
              </a:r>
              <a:r>
                <a:rPr lang="en-US" altLang="ko-KR" sz="1600" b="1" dirty="0">
                  <a:latin typeface="+mn-ea"/>
                </a:rPr>
                <a:t>&lt;</a:t>
              </a:r>
              <a:r>
                <a:rPr lang="ko-KR" altLang="en-US" sz="1600" b="1" dirty="0">
                  <a:latin typeface="+mn-ea"/>
                </a:rPr>
                <a:t>표 </a:t>
              </a:r>
              <a:r>
                <a:rPr lang="en-US" altLang="ko-KR" sz="1600" b="1" dirty="0">
                  <a:latin typeface="+mn-ea"/>
                </a:rPr>
                <a:t>A-3&gt;</a:t>
              </a:r>
              <a:r>
                <a:rPr lang="ko-KR" altLang="en-US" sz="1600" b="1" dirty="0">
                  <a:latin typeface="+mn-ea"/>
                </a:rPr>
                <a:t>를 이용한 미래가치의 계산</a:t>
              </a:r>
              <a:endParaRPr lang="en-US" altLang="ko-KR" sz="1600" b="1" dirty="0">
                <a:latin typeface="+mn-ea"/>
              </a:endParaRPr>
            </a:p>
            <a:p>
              <a:pPr>
                <a:buNone/>
              </a:pPr>
              <a:endParaRPr lang="en-US" altLang="ko-KR" sz="1600" b="1" dirty="0">
                <a:latin typeface="+mn-ea"/>
              </a:endParaRPr>
            </a:p>
            <a:p>
              <a:pPr>
                <a:buNone/>
              </a:pPr>
              <a:endParaRPr lang="en-US" altLang="ko-KR" sz="1600" b="1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위의 표에서 세로축은 기간</a:t>
              </a:r>
              <a:r>
                <a:rPr lang="en-US" altLang="ko-KR" sz="1500" dirty="0">
                  <a:latin typeface="+mn-ea"/>
                </a:rPr>
                <a:t>(</a:t>
              </a:r>
              <a:r>
                <a:rPr lang="ko-KR" altLang="en-US" sz="1500" dirty="0">
                  <a:latin typeface="+mn-ea"/>
                </a:rPr>
                <a:t>연도</a:t>
              </a:r>
              <a:r>
                <a:rPr lang="en-US" altLang="ko-KR" sz="1500" dirty="0">
                  <a:latin typeface="+mn-ea"/>
                </a:rPr>
                <a:t>, n), </a:t>
              </a:r>
              <a:r>
                <a:rPr lang="ko-KR" altLang="en-US" sz="1500" dirty="0">
                  <a:latin typeface="+mn-ea"/>
                </a:rPr>
                <a:t>가로축은 이자율</a:t>
              </a:r>
              <a:r>
                <a:rPr lang="en-US" altLang="ko-KR" sz="1500" dirty="0">
                  <a:latin typeface="+mn-ea"/>
                </a:rPr>
                <a:t>(%)</a:t>
              </a:r>
              <a:r>
                <a:rPr lang="ko-KR" altLang="en-US" sz="1500" dirty="0">
                  <a:latin typeface="+mn-ea"/>
                </a:rPr>
                <a:t>을 나타냄</a:t>
              </a:r>
              <a:endParaRPr lang="en-US" altLang="ko-KR" sz="15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예</a:t>
              </a:r>
              <a:r>
                <a:rPr lang="en-US" altLang="ko-KR" sz="1500" dirty="0">
                  <a:latin typeface="+mn-ea"/>
                </a:rPr>
                <a:t>:</a:t>
              </a:r>
              <a:r>
                <a:rPr lang="ko-KR" altLang="en-US" sz="1500" dirty="0">
                  <a:latin typeface="+mn-ea"/>
                </a:rPr>
                <a:t> ①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이자율이 연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10%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이고 향후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년간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매년말에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￦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10,000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씩을 예치하는 적금의 경우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년 후 시점에서의 미래가치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500" dirty="0">
                  <a:latin typeface="+mn-ea"/>
                </a:rPr>
                <a:t>= \10,000 * 3.3100 = \33,100</a:t>
              </a:r>
              <a:endParaRPr lang="ko-KR" altLang="en-US" sz="1500" dirty="0">
                <a:latin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연금의 미래가치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047202"/>
            <a:ext cx="7858898" cy="1943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7848654" y="3307610"/>
            <a:ext cx="417278" cy="1810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61091" y="3243560"/>
            <a:ext cx="344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388024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57473" y="1307469"/>
            <a:ext cx="8650725" cy="5194931"/>
            <a:chOff x="2626908" y="1697857"/>
            <a:chExt cx="11534300" cy="6926573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649880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미래 일정시점에 발생하는 현금흐름을 현재시점을 기준으로 평가한 가치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연간이자율이 </a:t>
              </a:r>
              <a:r>
                <a:rPr lang="en-US" altLang="ko-KR" sz="1600" i="1" dirty="0">
                  <a:latin typeface="맑은 고딕" panose="020B0503020000020004" pitchFamily="50" charset="-127"/>
                </a:rPr>
                <a:t>r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 때 </a:t>
              </a:r>
              <a:r>
                <a:rPr lang="en-US" altLang="ko-KR" sz="1600" i="1" dirty="0">
                  <a:latin typeface="맑은 고딕" panose="020B0503020000020004" pitchFamily="50" charset="-127"/>
                </a:rPr>
                <a:t>n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년 후 현금흐름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en-US" altLang="ko-KR" sz="1600" i="1" dirty="0" err="1">
                  <a:latin typeface="맑은 고딕" panose="020B0503020000020004" pitchFamily="50" charset="-127"/>
                </a:rPr>
                <a:t>F</a:t>
              </a:r>
              <a:r>
                <a:rPr lang="en-US" altLang="ko-KR" sz="1600" i="1" baseline="-25000" dirty="0" err="1">
                  <a:latin typeface="맑은 고딕" panose="020B0503020000020004" pitchFamily="50" charset="-127"/>
                </a:rPr>
                <a:t>n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현재가치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en-US" altLang="ko-KR" sz="1600" i="1" dirty="0">
                  <a:latin typeface="맑은 고딕" panose="020B0503020000020004" pitchFamily="50" charset="-127"/>
                </a:rPr>
                <a:t>P</a:t>
              </a:r>
              <a:r>
                <a:rPr lang="en-US" altLang="ko-KR" sz="1600" i="1" baseline="-25000" dirty="0">
                  <a:latin typeface="맑은 고딕" panose="020B0503020000020004" pitchFamily="50" charset="-127"/>
                </a:rPr>
                <a:t>0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이자율이 연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10%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인 경우 미래에 발생하는 ￦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10,000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현재가치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908881" y="1697857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단일금액의 현재가치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138795" y="3675613"/>
            <a:ext cx="8317770" cy="338554"/>
            <a:chOff x="1278318" y="4686968"/>
            <a:chExt cx="8317770" cy="338554"/>
          </a:xfrm>
        </p:grpSpPr>
        <p:sp>
          <p:nvSpPr>
            <p:cNvPr id="19" name="오각형 18"/>
            <p:cNvSpPr/>
            <p:nvPr/>
          </p:nvSpPr>
          <p:spPr>
            <a:xfrm>
              <a:off x="1278318" y="4742966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5635" y="4686968"/>
              <a:ext cx="75604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단일금액의 현재가치 계산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E998E69-A227-4686-BACA-7C82FF3DA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5" y="4065346"/>
            <a:ext cx="6571099" cy="2394889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262" y="2461844"/>
            <a:ext cx="2011289" cy="61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24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53" y="1960788"/>
            <a:ext cx="7886520" cy="196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그룹 26"/>
          <p:cNvGrpSpPr/>
          <p:nvPr/>
        </p:nvGrpSpPr>
        <p:grpSpPr>
          <a:xfrm>
            <a:off x="266829" y="1229603"/>
            <a:ext cx="8650725" cy="5183897"/>
            <a:chOff x="2626908" y="1693823"/>
            <a:chExt cx="11534299" cy="6911862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2" y="2125623"/>
              <a:ext cx="11521825" cy="648006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ko-KR" altLang="en-US" sz="1600" b="1" dirty="0">
                  <a:latin typeface="+mn-ea"/>
                </a:rPr>
                <a:t>부록 </a:t>
              </a:r>
              <a:r>
                <a:rPr lang="en-US" altLang="ko-KR" sz="1600" b="1" dirty="0">
                  <a:latin typeface="+mn-ea"/>
                </a:rPr>
                <a:t>&lt;</a:t>
              </a:r>
              <a:r>
                <a:rPr lang="ko-KR" altLang="en-US" sz="1600" b="1" dirty="0">
                  <a:latin typeface="+mn-ea"/>
                </a:rPr>
                <a:t>표 </a:t>
              </a:r>
              <a:r>
                <a:rPr lang="en-US" altLang="ko-KR" sz="1600" b="1" dirty="0">
                  <a:latin typeface="+mn-ea"/>
                </a:rPr>
                <a:t>A-2&gt;</a:t>
              </a:r>
              <a:r>
                <a:rPr lang="ko-KR" altLang="en-US" sz="1600" b="1" dirty="0">
                  <a:latin typeface="+mn-ea"/>
                </a:rPr>
                <a:t>의 현가계산표를</a:t>
              </a:r>
              <a:r>
                <a:rPr lang="en-US" altLang="ko-KR" sz="1600" b="1" dirty="0">
                  <a:latin typeface="+mn-ea"/>
                </a:rPr>
                <a:t> </a:t>
              </a:r>
              <a:r>
                <a:rPr lang="ko-KR" altLang="en-US" sz="1600" b="1" dirty="0">
                  <a:latin typeface="+mn-ea"/>
                </a:rPr>
                <a:t>이용한 현재가치의 계산</a:t>
              </a:r>
              <a:endParaRPr lang="en-US" altLang="ko-KR" sz="1600" b="1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위의 표에서 세로축은 기간</a:t>
              </a:r>
              <a:r>
                <a:rPr lang="en-US" altLang="ko-KR" sz="1500" dirty="0">
                  <a:latin typeface="+mn-ea"/>
                </a:rPr>
                <a:t>(</a:t>
              </a:r>
              <a:r>
                <a:rPr lang="ko-KR" altLang="en-US" sz="1500" dirty="0">
                  <a:latin typeface="+mn-ea"/>
                </a:rPr>
                <a:t>연도</a:t>
              </a:r>
              <a:r>
                <a:rPr lang="en-US" altLang="ko-KR" sz="1500" dirty="0">
                  <a:latin typeface="+mn-ea"/>
                </a:rPr>
                <a:t>, n), </a:t>
              </a:r>
              <a:r>
                <a:rPr lang="ko-KR" altLang="en-US" sz="1500" dirty="0">
                  <a:latin typeface="+mn-ea"/>
                </a:rPr>
                <a:t>가로축은 이자율</a:t>
              </a:r>
              <a:r>
                <a:rPr lang="en-US" altLang="ko-KR" sz="1500" dirty="0">
                  <a:latin typeface="+mn-ea"/>
                </a:rPr>
                <a:t>(%)</a:t>
              </a:r>
              <a:r>
                <a:rPr lang="ko-KR" altLang="en-US" sz="1500" dirty="0">
                  <a:latin typeface="+mn-ea"/>
                </a:rPr>
                <a:t>을 나타냄</a:t>
              </a:r>
              <a:endParaRPr lang="en-US" altLang="ko-KR" sz="15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예</a:t>
              </a:r>
              <a:r>
                <a:rPr lang="en-US" altLang="ko-KR" sz="1500" dirty="0">
                  <a:latin typeface="+mn-ea"/>
                </a:rPr>
                <a:t>:</a:t>
              </a:r>
              <a:r>
                <a:rPr lang="ko-KR" altLang="en-US" sz="1500" dirty="0">
                  <a:latin typeface="+mn-ea"/>
                </a:rPr>
                <a:t> ① 기간이 </a:t>
              </a:r>
              <a:r>
                <a:rPr lang="en-US" altLang="ko-KR" sz="1500" dirty="0">
                  <a:latin typeface="+mn-ea"/>
                </a:rPr>
                <a:t>1</a:t>
              </a:r>
              <a:r>
                <a:rPr lang="ko-KR" altLang="en-US" sz="1500" dirty="0">
                  <a:latin typeface="+mn-ea"/>
                </a:rPr>
                <a:t>년이며 이자율이 </a:t>
              </a:r>
              <a:r>
                <a:rPr lang="en-US" altLang="ko-KR" sz="1500" dirty="0">
                  <a:latin typeface="+mn-ea"/>
                </a:rPr>
                <a:t>10%</a:t>
              </a:r>
              <a:r>
                <a:rPr lang="ko-KR" altLang="en-US" sz="1500" dirty="0">
                  <a:latin typeface="+mn-ea"/>
                </a:rPr>
                <a:t>인 경우 미래</a:t>
              </a:r>
              <a:r>
                <a:rPr lang="en-US" altLang="ko-KR" sz="1500" dirty="0">
                  <a:latin typeface="+mn-ea"/>
                </a:rPr>
                <a:t>(1</a:t>
              </a:r>
              <a:r>
                <a:rPr lang="ko-KR" altLang="en-US" sz="1500" dirty="0">
                  <a:latin typeface="+mn-ea"/>
                </a:rPr>
                <a:t>년 후</a:t>
              </a:r>
              <a:r>
                <a:rPr lang="en-US" altLang="ko-KR" sz="1500" dirty="0">
                  <a:latin typeface="+mn-ea"/>
                </a:rPr>
                <a:t>)</a:t>
              </a:r>
              <a:r>
                <a:rPr lang="ko-KR" altLang="en-US" sz="1500" dirty="0">
                  <a:latin typeface="+mn-ea"/>
                </a:rPr>
                <a:t> </a:t>
              </a:r>
              <a:r>
                <a:rPr lang="en-US" altLang="ko-KR" sz="1500" dirty="0">
                  <a:latin typeface="+mn-ea"/>
                </a:rPr>
                <a:t>\10,000</a:t>
              </a:r>
              <a:r>
                <a:rPr lang="ko-KR" altLang="en-US" sz="1500" dirty="0">
                  <a:latin typeface="+mn-ea"/>
                </a:rPr>
                <a:t>의 현재가치 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= \10,000 * 0.9091 = \9,091</a:t>
              </a:r>
            </a:p>
            <a:p>
              <a:pPr lvl="1" indent="0">
                <a:buNone/>
              </a:pPr>
              <a:r>
                <a:rPr lang="ko-KR" altLang="en-US" sz="1500" dirty="0">
                  <a:latin typeface="+mn-ea"/>
                </a:rPr>
                <a:t>② 기간이 </a:t>
              </a:r>
              <a:r>
                <a:rPr lang="en-US" altLang="ko-KR" sz="1500" dirty="0">
                  <a:latin typeface="+mn-ea"/>
                </a:rPr>
                <a:t>2</a:t>
              </a:r>
              <a:r>
                <a:rPr lang="ko-KR" altLang="en-US" sz="1500" dirty="0">
                  <a:latin typeface="+mn-ea"/>
                </a:rPr>
                <a:t>년이며 이자율이 </a:t>
              </a:r>
              <a:r>
                <a:rPr lang="en-US" altLang="ko-KR" sz="1500" dirty="0">
                  <a:latin typeface="+mn-ea"/>
                </a:rPr>
                <a:t>10%</a:t>
              </a:r>
              <a:r>
                <a:rPr lang="ko-KR" altLang="en-US" sz="1500" dirty="0">
                  <a:latin typeface="+mn-ea"/>
                </a:rPr>
                <a:t>인 경우 미래</a:t>
              </a:r>
              <a:r>
                <a:rPr lang="en-US" altLang="ko-KR" sz="1500" dirty="0">
                  <a:latin typeface="+mn-ea"/>
                </a:rPr>
                <a:t>(2</a:t>
              </a:r>
              <a:r>
                <a:rPr lang="ko-KR" altLang="en-US" sz="1500" dirty="0">
                  <a:latin typeface="+mn-ea"/>
                </a:rPr>
                <a:t>년 후</a:t>
              </a:r>
              <a:r>
                <a:rPr lang="en-US" altLang="ko-KR" sz="1500" dirty="0">
                  <a:latin typeface="+mn-ea"/>
                </a:rPr>
                <a:t>)</a:t>
              </a:r>
              <a:r>
                <a:rPr lang="ko-KR" altLang="en-US" sz="1500" dirty="0">
                  <a:latin typeface="+mn-ea"/>
                </a:rPr>
                <a:t> </a:t>
              </a:r>
              <a:r>
                <a:rPr lang="en-US" altLang="ko-KR" sz="1500" dirty="0">
                  <a:latin typeface="+mn-ea"/>
                </a:rPr>
                <a:t>\10,000</a:t>
              </a:r>
              <a:r>
                <a:rPr lang="ko-KR" altLang="en-US" sz="1500" dirty="0">
                  <a:latin typeface="+mn-ea"/>
                </a:rPr>
                <a:t>의 현재가치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= \10,000 * 0.8264 = \8,264</a:t>
              </a:r>
            </a:p>
            <a:p>
              <a:pPr lvl="1" indent="0">
                <a:buNone/>
              </a:pPr>
              <a:r>
                <a:rPr lang="ko-KR" altLang="en-US" sz="1500" dirty="0">
                  <a:latin typeface="+mn-ea"/>
                </a:rPr>
                <a:t>③ 기간이 </a:t>
              </a:r>
              <a:r>
                <a:rPr lang="en-US" altLang="ko-KR" sz="1500" dirty="0">
                  <a:latin typeface="+mn-ea"/>
                </a:rPr>
                <a:t>3</a:t>
              </a:r>
              <a:r>
                <a:rPr lang="ko-KR" altLang="en-US" sz="1500" dirty="0">
                  <a:latin typeface="+mn-ea"/>
                </a:rPr>
                <a:t>년이며 이자율이 </a:t>
              </a:r>
              <a:r>
                <a:rPr lang="en-US" altLang="ko-KR" sz="1500" dirty="0">
                  <a:latin typeface="+mn-ea"/>
                </a:rPr>
                <a:t>10%</a:t>
              </a:r>
              <a:r>
                <a:rPr lang="ko-KR" altLang="en-US" sz="1500" dirty="0">
                  <a:latin typeface="+mn-ea"/>
                </a:rPr>
                <a:t>인 경우 미래</a:t>
              </a:r>
              <a:r>
                <a:rPr lang="en-US" altLang="ko-KR" sz="1500" dirty="0">
                  <a:latin typeface="+mn-ea"/>
                </a:rPr>
                <a:t>(3</a:t>
              </a:r>
              <a:r>
                <a:rPr lang="ko-KR" altLang="en-US" sz="1500" dirty="0">
                  <a:latin typeface="+mn-ea"/>
                </a:rPr>
                <a:t>년 후</a:t>
              </a:r>
              <a:r>
                <a:rPr lang="en-US" altLang="ko-KR" sz="1500" dirty="0">
                  <a:latin typeface="+mn-ea"/>
                </a:rPr>
                <a:t>)</a:t>
              </a:r>
              <a:r>
                <a:rPr lang="ko-KR" altLang="en-US" sz="1500" dirty="0">
                  <a:latin typeface="+mn-ea"/>
                </a:rPr>
                <a:t> </a:t>
              </a:r>
              <a:r>
                <a:rPr lang="en-US" altLang="ko-KR" sz="1500" dirty="0">
                  <a:latin typeface="+mn-ea"/>
                </a:rPr>
                <a:t>\10,000</a:t>
              </a:r>
              <a:r>
                <a:rPr lang="ko-KR" altLang="en-US" sz="1500" dirty="0">
                  <a:latin typeface="+mn-ea"/>
                </a:rPr>
                <a:t>의 현재가치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= \10,000 * 0.7513 = \7,513</a:t>
              </a:r>
              <a:endParaRPr lang="ko-KR" altLang="en-US" sz="1500" dirty="0">
                <a:latin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단일금액의</a:t>
              </a: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현재가치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7898475" y="2813149"/>
            <a:ext cx="423949" cy="171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898475" y="3022479"/>
            <a:ext cx="423949" cy="171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898475" y="3220278"/>
            <a:ext cx="423949" cy="171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643263" y="2726571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1329" y="2939375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1329" y="3144823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65721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3E79216-4FC2-407F-95EF-54FE2FCD8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075" y="2860855"/>
            <a:ext cx="5599997" cy="395254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50375" y="1162712"/>
            <a:ext cx="8641369" cy="2995187"/>
            <a:chOff x="2626908" y="1693823"/>
            <a:chExt cx="11521825" cy="3993582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26908" y="2202731"/>
              <a:ext cx="11521825" cy="348467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미래의 일정기간 동안 동일하게 발생하는 현금흐름을 현재시점을 기준으로 평가한 가치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연금의 현재가치는 단일 현금흐름의 현재가치들을 합한 것과 같음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연금의 현재가치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AC59B8E-C3D6-4640-A859-4992BCEB0ED9}"/>
              </a:ext>
            </a:extLst>
          </p:cNvPr>
          <p:cNvGrpSpPr/>
          <p:nvPr/>
        </p:nvGrpSpPr>
        <p:grpSpPr>
          <a:xfrm>
            <a:off x="109227" y="2951682"/>
            <a:ext cx="3131662" cy="338554"/>
            <a:chOff x="1287462" y="4738439"/>
            <a:chExt cx="3131662" cy="338554"/>
          </a:xfrm>
        </p:grpSpPr>
        <p:sp>
          <p:nvSpPr>
            <p:cNvPr id="10" name="오각형 9">
              <a:extLst>
                <a:ext uri="{FF2B5EF4-FFF2-40B4-BE49-F238E27FC236}">
                  <a16:creationId xmlns:a16="http://schemas.microsoft.com/office/drawing/2014/main" id="{4F0EC450-C4B4-46C3-AF50-C4363089749E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5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BCC524-E606-482C-98BE-034BA3D591C8}"/>
                </a:ext>
              </a:extLst>
            </p:cNvPr>
            <p:cNvSpPr txBox="1"/>
            <p:nvPr/>
          </p:nvSpPr>
          <p:spPr>
            <a:xfrm>
              <a:off x="2079462" y="4738439"/>
              <a:ext cx="23396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연금의 현재가치 계산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511721-5E6D-4FED-921C-52C70D701038}"/>
              </a:ext>
            </a:extLst>
          </p:cNvPr>
          <p:cNvSpPr/>
          <p:nvPr/>
        </p:nvSpPr>
        <p:spPr>
          <a:xfrm>
            <a:off x="150375" y="2476888"/>
            <a:ext cx="89936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예</a:t>
            </a:r>
            <a:r>
              <a:rPr lang="en-US" altLang="ko-KR" sz="1600" dirty="0">
                <a:latin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</a:rPr>
              <a:t>이자율이 연 </a:t>
            </a:r>
            <a:r>
              <a:rPr lang="en-US" altLang="ko-KR" sz="1600" dirty="0">
                <a:latin typeface="맑은 고딕" panose="020B0503020000020004" pitchFamily="50" charset="-127"/>
              </a:rPr>
              <a:t>10%</a:t>
            </a:r>
            <a:r>
              <a:rPr lang="ko-KR" altLang="en-US" sz="1600" dirty="0">
                <a:latin typeface="맑은 고딕" panose="020B0503020000020004" pitchFamily="50" charset="-127"/>
              </a:rPr>
              <a:t>인 경우 </a:t>
            </a:r>
            <a:r>
              <a:rPr lang="en-US" altLang="ko-KR" sz="1600" dirty="0">
                <a:latin typeface="맑은 고딕" panose="020B0503020000020004" pitchFamily="50" charset="-127"/>
              </a:rPr>
              <a:t>3</a:t>
            </a:r>
            <a:r>
              <a:rPr lang="ko-KR" altLang="en-US" sz="1600" dirty="0">
                <a:latin typeface="맑은 고딕" panose="020B0503020000020004" pitchFamily="50" charset="-127"/>
              </a:rPr>
              <a:t>년 동안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매년말</a:t>
            </a:r>
            <a:r>
              <a:rPr lang="ko-KR" altLang="en-US" sz="1600" dirty="0">
                <a:latin typeface="맑은 고딕" panose="020B0503020000020004" pitchFamily="50" charset="-127"/>
              </a:rPr>
              <a:t> ￦</a:t>
            </a:r>
            <a:r>
              <a:rPr lang="en-US" altLang="ko-KR" sz="1600" dirty="0">
                <a:latin typeface="맑은 고딕" panose="020B0503020000020004" pitchFamily="50" charset="-127"/>
              </a:rPr>
              <a:t>10,000</a:t>
            </a:r>
            <a:r>
              <a:rPr lang="ko-KR" altLang="en-US" sz="1600" dirty="0">
                <a:latin typeface="맑은 고딕" panose="020B0503020000020004" pitchFamily="50" charset="-127"/>
              </a:rPr>
              <a:t>을 지급받는 현금흐름의 현재가치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45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80" y="2117653"/>
            <a:ext cx="7995466" cy="199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그룹 26"/>
          <p:cNvGrpSpPr/>
          <p:nvPr/>
        </p:nvGrpSpPr>
        <p:grpSpPr>
          <a:xfrm>
            <a:off x="266829" y="1229603"/>
            <a:ext cx="8788271" cy="4113923"/>
            <a:chOff x="2626908" y="1693823"/>
            <a:chExt cx="11717694" cy="5485230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9383" y="2125624"/>
              <a:ext cx="11705219" cy="505342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ko-KR" altLang="en-US" sz="1600" b="1" dirty="0">
                  <a:latin typeface="+mn-ea"/>
                </a:rPr>
                <a:t>부록 </a:t>
              </a:r>
              <a:r>
                <a:rPr lang="en-US" altLang="ko-KR" sz="1600" b="1" dirty="0">
                  <a:latin typeface="+mn-ea"/>
                </a:rPr>
                <a:t>&lt;</a:t>
              </a:r>
              <a:r>
                <a:rPr lang="ko-KR" altLang="en-US" sz="1600" b="1" dirty="0">
                  <a:latin typeface="+mn-ea"/>
                </a:rPr>
                <a:t>표 </a:t>
              </a:r>
              <a:r>
                <a:rPr lang="en-US" altLang="ko-KR" sz="1600" b="1" dirty="0">
                  <a:latin typeface="+mn-ea"/>
                </a:rPr>
                <a:t>A-4&gt;</a:t>
              </a:r>
              <a:r>
                <a:rPr lang="ko-KR" altLang="en-US" sz="1600" b="1" dirty="0">
                  <a:latin typeface="+mn-ea"/>
                </a:rPr>
                <a:t>의 현가계산표를</a:t>
              </a:r>
              <a:r>
                <a:rPr lang="en-US" altLang="ko-KR" sz="1600" b="1" dirty="0">
                  <a:latin typeface="+mn-ea"/>
                </a:rPr>
                <a:t> </a:t>
              </a:r>
              <a:r>
                <a:rPr lang="ko-KR" altLang="en-US" sz="1600" b="1" dirty="0">
                  <a:latin typeface="+mn-ea"/>
                </a:rPr>
                <a:t>이용한 현재가치의 계산</a:t>
              </a:r>
              <a:endParaRPr lang="en-US" altLang="ko-KR" sz="1600" b="1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>
                <a:buNone/>
              </a:pPr>
              <a:endParaRPr lang="en-US" altLang="ko-KR" sz="16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세로축은 기간</a:t>
              </a:r>
              <a:r>
                <a:rPr lang="en-US" altLang="ko-KR" sz="1500" dirty="0">
                  <a:latin typeface="+mn-ea"/>
                </a:rPr>
                <a:t>(</a:t>
              </a:r>
              <a:r>
                <a:rPr lang="ko-KR" altLang="en-US" sz="1500" dirty="0">
                  <a:latin typeface="+mn-ea"/>
                </a:rPr>
                <a:t>연도</a:t>
              </a:r>
              <a:r>
                <a:rPr lang="en-US" altLang="ko-KR" sz="1500" dirty="0">
                  <a:latin typeface="+mn-ea"/>
                </a:rPr>
                <a:t>, n), </a:t>
              </a:r>
              <a:r>
                <a:rPr lang="ko-KR" altLang="en-US" sz="1500" dirty="0">
                  <a:latin typeface="+mn-ea"/>
                </a:rPr>
                <a:t>가로축은 이자율</a:t>
              </a:r>
              <a:r>
                <a:rPr lang="en-US" altLang="ko-KR" sz="1500" dirty="0">
                  <a:latin typeface="+mn-ea"/>
                </a:rPr>
                <a:t>(%)</a:t>
              </a:r>
              <a:r>
                <a:rPr lang="ko-KR" altLang="en-US" sz="1500" dirty="0">
                  <a:latin typeface="+mn-ea"/>
                </a:rPr>
                <a:t>을 나타냄</a:t>
              </a:r>
              <a:endParaRPr lang="en-US" altLang="ko-KR" sz="1500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+mn-ea"/>
                </a:rPr>
                <a:t>예</a:t>
              </a:r>
              <a:r>
                <a:rPr lang="en-US" altLang="ko-KR" sz="1500" dirty="0">
                  <a:latin typeface="+mn-ea"/>
                </a:rPr>
                <a:t>:</a:t>
              </a:r>
              <a:r>
                <a:rPr lang="ko-KR" altLang="en-US" sz="1500" dirty="0">
                  <a:latin typeface="+mn-ea"/>
                </a:rPr>
                <a:t> ①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이자율이 연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10%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인 경우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년 동안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매년말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￦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10,000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을 지급받는 현금흐름의 현재가치</a:t>
              </a:r>
              <a:endParaRPr lang="en-US" altLang="ko-KR" sz="1500" dirty="0">
                <a:latin typeface="+mn-ea"/>
              </a:endParaRPr>
            </a:p>
            <a:p>
              <a:pPr lvl="1" indent="0">
                <a:buNone/>
              </a:pPr>
              <a:r>
                <a:rPr lang="en-US" altLang="ko-KR" sz="1500" dirty="0">
                  <a:latin typeface="+mn-ea"/>
                </a:rPr>
                <a:t>= \10,000 * 2.4868 = \24,868</a:t>
              </a:r>
              <a:endParaRPr lang="ko-KR" altLang="en-US" sz="1500" dirty="0">
                <a:latin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연금의 현재가치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907036" y="3458720"/>
            <a:ext cx="423949" cy="1630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643586" y="3382652"/>
            <a:ext cx="29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127908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307938" y="1174523"/>
            <a:ext cx="8641369" cy="107097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비유동부채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(non-current liabilities)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</a:rPr>
              <a:t>정의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재무상태표</a:t>
            </a:r>
            <a:r>
              <a:rPr lang="ko-KR" altLang="en-US" sz="1600" dirty="0">
                <a:latin typeface="맑은 고딕" panose="020B0503020000020004" pitchFamily="50" charset="-127"/>
              </a:rPr>
              <a:t> 작성시점을 기준으로 </a:t>
            </a:r>
            <a:r>
              <a:rPr lang="en-US" altLang="ko-KR" sz="1600" dirty="0">
                <a:latin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</a:rPr>
              <a:t>년 이후에 결제되는 부채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</a:rPr>
              <a:t>분류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장기차입부채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장기충당부채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및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기타비유동부채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67283" y="2577623"/>
            <a:ext cx="8641369" cy="2600137"/>
            <a:chOff x="2626683" y="1693823"/>
            <a:chExt cx="11521825" cy="3101782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266998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외부에서 자금을 차입하는 경우에 발생하는 부채로서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만기가 재무상태표 작성시점을 기준으로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년 이후에 도래하는 부채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사채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장기차입금 등이 해당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재무상태표 작성시점을 기준으로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년 이내에 상환될 예정이라면 유동부채로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재분류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유동성장기사채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유동성장기차입금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5470235" cy="214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장기차입부채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923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5162917"/>
            <a:chOff x="190714" y="1320882"/>
            <a:chExt cx="8711460" cy="5737111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596494"/>
              <a:chOff x="269048" y="1722741"/>
              <a:chExt cx="8648775" cy="5596494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57279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8-2 </a:t>
                  </a:r>
                  <a:r>
                    <a:rPr lang="ko-KR" altLang="en-US" sz="1600" b="1" dirty="0"/>
                    <a:t>장기차입금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63787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주</a:t>
            </a:r>
            <a:r>
              <a:rPr lang="en-US" altLang="ko-KR" sz="1500" dirty="0">
                <a:latin typeface="맑은 고딕" panose="020B0503020000020004" pitchFamily="50" charset="-127"/>
              </a:rPr>
              <a:t>)</a:t>
            </a:r>
            <a:r>
              <a:rPr lang="ko-KR" altLang="en-US" sz="1500" dirty="0">
                <a:latin typeface="맑은 고딕" panose="020B0503020000020004" pitchFamily="50" charset="-127"/>
              </a:rPr>
              <a:t>금호건설은 </a:t>
            </a:r>
            <a:r>
              <a:rPr lang="en-US" altLang="ko-KR" sz="1500" dirty="0">
                <a:latin typeface="맑은 고딕" panose="020B0503020000020004" pitchFamily="50" charset="-127"/>
              </a:rPr>
              <a:t>20×1</a:t>
            </a:r>
            <a:r>
              <a:rPr lang="ko-KR" altLang="en-US" sz="1500" dirty="0">
                <a:latin typeface="맑은 고딕" panose="020B0503020000020004" pitchFamily="50" charset="-127"/>
              </a:rPr>
              <a:t>년 </a:t>
            </a:r>
            <a:r>
              <a:rPr lang="en-US" altLang="ko-KR" sz="1500" dirty="0">
                <a:latin typeface="맑은 고딕" panose="020B0503020000020004" pitchFamily="50" charset="-127"/>
              </a:rPr>
              <a:t>7</a:t>
            </a:r>
            <a:r>
              <a:rPr lang="ko-KR" altLang="en-US" sz="1500" dirty="0">
                <a:latin typeface="맑은 고딕" panose="020B0503020000020004" pitchFamily="50" charset="-127"/>
              </a:rPr>
              <a:t>월 </a:t>
            </a:r>
            <a:r>
              <a:rPr lang="en-US" altLang="ko-KR" sz="1500" dirty="0">
                <a:latin typeface="맑은 고딕" panose="020B0503020000020004" pitchFamily="50" charset="-127"/>
              </a:rPr>
              <a:t>1</a:t>
            </a:r>
            <a:r>
              <a:rPr lang="ko-KR" altLang="en-US" sz="1500" dirty="0">
                <a:latin typeface="맑은 고딕" panose="020B0503020000020004" pitchFamily="50" charset="-127"/>
              </a:rPr>
              <a:t>일에 </a:t>
            </a:r>
            <a:r>
              <a:rPr lang="en-US" altLang="ko-KR" sz="1500" dirty="0">
                <a:latin typeface="맑은 고딕" panose="020B0503020000020004" pitchFamily="50" charset="-127"/>
              </a:rPr>
              <a:t>3</a:t>
            </a:r>
            <a:r>
              <a:rPr lang="ko-KR" altLang="en-US" sz="1500" dirty="0">
                <a:latin typeface="맑은 고딕" panose="020B0503020000020004" pitchFamily="50" charset="-127"/>
              </a:rPr>
              <a:t>년 만기로 </a:t>
            </a:r>
            <a:r>
              <a:rPr lang="en-US" altLang="ko-KR" sz="1500" dirty="0">
                <a:latin typeface="맑은 고딕" panose="020B0503020000020004" pitchFamily="50" charset="-127"/>
              </a:rPr>
              <a:t>KDB</a:t>
            </a:r>
            <a:r>
              <a:rPr lang="ko-KR" altLang="en-US" sz="1500" dirty="0">
                <a:latin typeface="맑은 고딕" panose="020B0503020000020004" pitchFamily="50" charset="-127"/>
              </a:rPr>
              <a:t>산업은행으로부터 ￦</a:t>
            </a:r>
            <a:r>
              <a:rPr lang="en-US" altLang="ko-KR" sz="1500" dirty="0">
                <a:latin typeface="맑은 고딕" panose="020B0503020000020004" pitchFamily="50" charset="-127"/>
              </a:rPr>
              <a:t>1,000,000</a:t>
            </a:r>
            <a:r>
              <a:rPr lang="ko-KR" altLang="en-US" sz="1500" dirty="0">
                <a:latin typeface="맑은 고딕" panose="020B0503020000020004" pitchFamily="50" charset="-127"/>
              </a:rPr>
              <a:t>을 차입하였다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이자율은 원금에 대해 연 </a:t>
            </a:r>
            <a:r>
              <a:rPr lang="en-US" altLang="ko-KR" sz="1500" dirty="0">
                <a:latin typeface="맑은 고딕" panose="020B0503020000020004" pitchFamily="50" charset="-127"/>
              </a:rPr>
              <a:t>8%</a:t>
            </a:r>
            <a:r>
              <a:rPr lang="ko-KR" altLang="en-US" sz="1500" dirty="0">
                <a:latin typeface="맑은 고딕" panose="020B0503020000020004" pitchFamily="50" charset="-127"/>
              </a:rPr>
              <a:t>이며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이자는 </a:t>
            </a:r>
            <a:r>
              <a:rPr lang="en-US" altLang="ko-KR" sz="1500" dirty="0">
                <a:latin typeface="맑은 고딕" panose="020B0503020000020004" pitchFamily="50" charset="-127"/>
              </a:rPr>
              <a:t>6</a:t>
            </a:r>
            <a:r>
              <a:rPr lang="ko-KR" altLang="en-US" sz="1500" dirty="0">
                <a:latin typeface="맑은 고딕" panose="020B0503020000020004" pitchFamily="50" charset="-127"/>
              </a:rPr>
              <a:t>개월마다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후급으로</a:t>
            </a:r>
            <a:r>
              <a:rPr lang="ko-KR" altLang="en-US" sz="1500" dirty="0">
                <a:latin typeface="맑은 고딕" panose="020B0503020000020004" pitchFamily="50" charset="-127"/>
              </a:rPr>
              <a:t> 지급하기로 한다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차입시점과 </a:t>
            </a:r>
            <a:r>
              <a:rPr lang="en-US" altLang="ko-KR" sz="1500" dirty="0">
                <a:latin typeface="맑은 고딕" panose="020B0503020000020004" pitchFamily="50" charset="-127"/>
              </a:rPr>
              <a:t>20×1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en-US" altLang="ko-KR" sz="1500" dirty="0">
                <a:latin typeface="맑은 고딕" panose="020B0503020000020004" pitchFamily="50" charset="-127"/>
              </a:rPr>
              <a:t>, 20×3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상환시점의 회계처리를 하고 </a:t>
            </a:r>
            <a:r>
              <a:rPr lang="en-US" altLang="ko-KR" sz="1500" dirty="0">
                <a:latin typeface="맑은 고딕" panose="020B0503020000020004" pitchFamily="50" charset="-127"/>
              </a:rPr>
              <a:t>20×1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en-US" altLang="ko-KR" sz="1500" dirty="0">
                <a:latin typeface="맑은 고딕" panose="020B0503020000020004" pitchFamily="50" charset="-127"/>
              </a:rPr>
              <a:t>, 20×3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부분재무상태표도</a:t>
            </a:r>
            <a:r>
              <a:rPr lang="ko-KR" altLang="en-US" sz="1500" dirty="0">
                <a:latin typeface="맑은 고딕" panose="020B0503020000020004" pitchFamily="50" charset="-127"/>
              </a:rPr>
              <a:t> 작성하라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① 20×1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400" b="1" dirty="0">
                <a:latin typeface="맑은 고딕" panose="020B0503020000020004" pitchFamily="50" charset="-127"/>
              </a:rPr>
              <a:t>7</a:t>
            </a:r>
            <a:r>
              <a:rPr lang="ko-KR" altLang="en-US" sz="14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</a:rPr>
              <a:t>1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400" b="1" dirty="0">
                <a:latin typeface="맑은 고딕" panose="020B0503020000020004" pitchFamily="50" charset="-127"/>
              </a:rPr>
              <a:t>: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차입시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 금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장기차입금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② 20×1</a:t>
            </a:r>
            <a:r>
              <a:rPr lang="ko-KR" altLang="en-US" sz="14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400" b="1" dirty="0">
                <a:latin typeface="맑은 고딕" panose="020B0503020000020004" pitchFamily="50" charset="-127"/>
              </a:rPr>
              <a:t>12</a:t>
            </a:r>
            <a:r>
              <a:rPr lang="ko-KR" altLang="en-US" sz="14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</a:rPr>
              <a:t>31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400" b="1" dirty="0">
                <a:latin typeface="맑은 고딕" panose="020B0503020000020004" pitchFamily="50" charset="-127"/>
              </a:rPr>
              <a:t>: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이자비용 지급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 자 비 용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40,000*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금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40,000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	</a:t>
            </a:r>
            <a:r>
              <a:rPr lang="ko-KR" altLang="en-US" sz="1400" dirty="0">
                <a:latin typeface="맑은 고딕" panose="020B0503020000020004" pitchFamily="50" charset="-127"/>
              </a:rPr>
              <a:t>* </a:t>
            </a:r>
            <a:r>
              <a:rPr lang="en-US" altLang="ko-KR" sz="1400" dirty="0">
                <a:latin typeface="맑은 고딕" panose="020B0503020000020004" pitchFamily="50" charset="-127"/>
              </a:rPr>
              <a:t>6</a:t>
            </a:r>
            <a:r>
              <a:rPr lang="ko-KR" altLang="en-US" sz="1400" dirty="0" err="1">
                <a:latin typeface="맑은 고딕" panose="020B0503020000020004" pitchFamily="50" charset="-127"/>
              </a:rPr>
              <a:t>개월분</a:t>
            </a:r>
            <a:r>
              <a:rPr lang="ko-KR" altLang="en-US" sz="1400" dirty="0">
                <a:latin typeface="맑은 고딕" panose="020B0503020000020004" pitchFamily="50" charset="-127"/>
              </a:rPr>
              <a:t> 이자비용＝￦</a:t>
            </a:r>
            <a:r>
              <a:rPr lang="en-US" altLang="ko-KR" sz="1400" dirty="0">
                <a:latin typeface="맑은 고딕" panose="020B0503020000020004" pitchFamily="50" charset="-127"/>
              </a:rPr>
              <a:t>1,000,000×8%×6/12</a:t>
            </a:r>
            <a:r>
              <a:rPr lang="ko-KR" altLang="en-US" sz="1400" dirty="0">
                <a:latin typeface="맑은 고딕" panose="020B0503020000020004" pitchFamily="50" charset="-127"/>
              </a:rPr>
              <a:t>＝￦</a:t>
            </a:r>
            <a:r>
              <a:rPr lang="en-US" altLang="ko-KR" sz="1400" dirty="0">
                <a:latin typeface="맑은 고딕" panose="020B0503020000020004" pitchFamily="50" charset="-127"/>
              </a:rPr>
              <a:t>40,000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ko-KR" altLang="en-US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473757"/>
              </p:ext>
            </p:extLst>
          </p:nvPr>
        </p:nvGraphicFramePr>
        <p:xfrm>
          <a:off x="1859118" y="5051609"/>
          <a:ext cx="3071813" cy="1220724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58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장기차입금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065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4307117"/>
            <a:chOff x="190714" y="1320882"/>
            <a:chExt cx="8711460" cy="4786133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4645516"/>
              <a:chOff x="269048" y="1722741"/>
              <a:chExt cx="8648775" cy="464551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6218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8-2 </a:t>
                  </a:r>
                  <a:r>
                    <a:rPr lang="ko-KR" altLang="en-US" sz="1600" b="1" dirty="0"/>
                    <a:t>장기차입금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368445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③ 20×3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31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600" b="1" dirty="0">
                <a:latin typeface="맑은 고딕" panose="020B0503020000020004" pitchFamily="50" charset="-127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</a:rPr>
              <a:t>이자비용 지급과 유동성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재분류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 자 비 용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40,000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       40,000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장기차입금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유동성장기차입금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31143"/>
              </p:ext>
            </p:extLst>
          </p:nvPr>
        </p:nvGraphicFramePr>
        <p:xfrm>
          <a:off x="2883913" y="2712099"/>
          <a:ext cx="3357563" cy="1237869"/>
        </p:xfrm>
        <a:graphic>
          <a:graphicData uri="http://schemas.openxmlformats.org/drawingml/2006/table">
            <a:tbl>
              <a:tblPr/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(20×3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유동성장기차입금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66918" y="4055124"/>
            <a:ext cx="8851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④ 20×4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6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30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600" b="1" dirty="0">
                <a:latin typeface="맑은 고딕" panose="020B0503020000020004" pitchFamily="50" charset="-127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</a:rPr>
              <a:t>이자비용지급과 차입금의 만기상환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</a:t>
            </a:r>
            <a:r>
              <a:rPr lang="en-US" altLang="ko-KR" sz="2000" b="1" dirty="0"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 자 비 용             </a:t>
            </a:r>
            <a:r>
              <a:rPr lang="ko-KR" altLang="en-US" sz="1000" b="1" dirty="0">
                <a:latin typeface="맑은 고딕" panose="020B0503020000020004" pitchFamily="50" charset="-127"/>
              </a:rPr>
              <a:t>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40,000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금 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40,000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100" b="1" dirty="0">
                <a:latin typeface="맑은 고딕" panose="020B0503020000020004" pitchFamily="50" charset="-127"/>
              </a:rPr>
              <a:t>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유동성장기차입금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금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  <a:endParaRPr lang="ko-KR" altLang="en-US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</a:t>
            </a: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1394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66829" y="1304444"/>
            <a:ext cx="8641369" cy="2006315"/>
            <a:chOff x="2626908" y="1693823"/>
            <a:chExt cx="11534300" cy="2675087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224328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과거 발생한 사건에 의해 현재 의무가 존재하며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그 의무를 이행하기 위해 미래 지출이 예상되는 부채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퇴직급여충당부채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장기제품보증충당부채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등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6727535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장기충당부채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51315" y="3272268"/>
            <a:ext cx="8641369" cy="1337774"/>
            <a:chOff x="2593059" y="1722059"/>
            <a:chExt cx="11521825" cy="1783699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593059" y="2232514"/>
              <a:ext cx="11521825" cy="127324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just" latinLnBrk="0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비유동부채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중 장기차입부채와 장기충당부채에 속하지 않는 부채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algn="just" latinLnBrk="0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장기매입채무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임대보증금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이연법인세부채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장기미지급금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장기선수금 등</a:t>
              </a:r>
              <a:endParaRPr lang="en-US" altLang="ko-KR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908882" y="1739237"/>
              <a:ext cx="5470235" cy="45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기타비유동부채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771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51315" y="1079834"/>
            <a:ext cx="8641369" cy="510614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사채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(corporate bond)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180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정의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이자와 원금상환 등 확정채무사항이 표시되어 있는 증권을 발행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판매하여 자금을 조달하는 것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사채발행회사는 일정기간마다 </a:t>
            </a:r>
            <a:r>
              <a:rPr lang="ko-KR" altLang="en-US" sz="1600" dirty="0">
                <a:latin typeface="맑은 고딕" panose="020B0503020000020004" pitchFamily="50" charset="-127"/>
              </a:rPr>
              <a:t>약정된 이자를 지급하고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만기에는 원금을 상환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287891" y="2900206"/>
            <a:ext cx="8758687" cy="338554"/>
            <a:chOff x="1287462" y="4738439"/>
            <a:chExt cx="8308626" cy="338554"/>
          </a:xfrm>
        </p:grpSpPr>
        <p:sp>
          <p:nvSpPr>
            <p:cNvPr id="17" name="오각형 16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7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79461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사채의 구조</a:t>
              </a: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56" y="3422381"/>
            <a:ext cx="7268886" cy="3012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259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51314" y="1165774"/>
            <a:ext cx="8641369" cy="4813539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①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발행일과 만기일 </a:t>
            </a:r>
            <a:r>
              <a:rPr lang="en-US" altLang="ko-KR" sz="1500" dirty="0">
                <a:latin typeface="맑은 고딕" panose="020B0503020000020004" pitchFamily="50" charset="-127"/>
              </a:rPr>
              <a:t>:  </a:t>
            </a:r>
            <a:r>
              <a:rPr lang="ko-KR" altLang="en-US" sz="1500" dirty="0">
                <a:latin typeface="맑은 고딕" panose="020B0503020000020004" pitchFamily="50" charset="-127"/>
              </a:rPr>
              <a:t>발행일은 발행회사가 사채를 발행한 일자를 말하며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만기일은 사채의 원금</a:t>
            </a: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액면금액</a:t>
            </a:r>
            <a:r>
              <a:rPr lang="en-US" altLang="ko-KR" sz="1500" dirty="0">
                <a:latin typeface="맑은 고딕" panose="020B0503020000020004" pitchFamily="50" charset="-127"/>
              </a:rPr>
              <a:t>)</a:t>
            </a:r>
            <a:r>
              <a:rPr lang="ko-KR" altLang="en-US" sz="1500" dirty="0">
                <a:latin typeface="맑은 고딕" panose="020B0503020000020004" pitchFamily="50" charset="-127"/>
              </a:rPr>
              <a:t>을 사채발행회사가 상환하는 일자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②</a:t>
            </a:r>
            <a:r>
              <a:rPr lang="en-US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액면금액 </a:t>
            </a:r>
            <a:r>
              <a:rPr lang="en-US" altLang="ko-KR" sz="1500" dirty="0">
                <a:latin typeface="맑은 고딕" panose="020B0503020000020004" pitchFamily="50" charset="-127"/>
              </a:rPr>
              <a:t>: </a:t>
            </a:r>
            <a:r>
              <a:rPr lang="ko-KR" altLang="en-US" sz="1500" dirty="0">
                <a:latin typeface="맑은 고딕" panose="020B0503020000020004" pitchFamily="50" charset="-127"/>
              </a:rPr>
              <a:t>사채권면에 기재되어 있는 금액으로서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사채의 만기일에 상환하기로 약속한 금액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③</a:t>
            </a:r>
            <a:r>
              <a:rPr lang="en-US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액면이자율과 액면이자 </a:t>
            </a:r>
            <a:r>
              <a:rPr lang="en-US" altLang="ko-KR" sz="1500" dirty="0">
                <a:latin typeface="맑은 고딕" panose="020B0503020000020004" pitchFamily="50" charset="-127"/>
              </a:rPr>
              <a:t>: </a:t>
            </a:r>
            <a:r>
              <a:rPr lang="ko-KR" altLang="en-US" sz="1500" dirty="0">
                <a:latin typeface="맑은 고딕" panose="020B0503020000020004" pitchFamily="50" charset="-127"/>
              </a:rPr>
              <a:t>사채의 표면에 기록되어 있는 이자율로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현금으로 지급하는 이자를 결정하는 이자율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④</a:t>
            </a:r>
            <a:r>
              <a:rPr lang="en-US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시장이자율 </a:t>
            </a:r>
            <a:r>
              <a:rPr lang="en-US" altLang="ko-KR" sz="1500" dirty="0">
                <a:latin typeface="맑은 고딕" panose="020B0503020000020004" pitchFamily="50" charset="-127"/>
              </a:rPr>
              <a:t>: </a:t>
            </a:r>
            <a:r>
              <a:rPr lang="ko-KR" altLang="en-US" sz="1500" dirty="0">
                <a:latin typeface="맑은 고딕" panose="020B0503020000020004" pitchFamily="50" charset="-127"/>
              </a:rPr>
              <a:t>사채를 매입하는 투자자의 기대수익률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그 당시 기준금리와 사채발행회사의 신용도 등에 의해 결정됨 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⑤</a:t>
            </a:r>
            <a:r>
              <a:rPr lang="en-US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발행가격 </a:t>
            </a:r>
            <a:r>
              <a:rPr lang="en-US" altLang="ko-KR" sz="1500" dirty="0">
                <a:latin typeface="맑은 고딕" panose="020B0503020000020004" pitchFamily="50" charset="-127"/>
              </a:rPr>
              <a:t>: </a:t>
            </a:r>
            <a:r>
              <a:rPr lang="ko-KR" altLang="en-US" sz="1500" dirty="0">
                <a:latin typeface="맑은 고딕" panose="020B0503020000020004" pitchFamily="50" charset="-127"/>
              </a:rPr>
              <a:t>사채의 액면이자와 만기에 발생하는 원금상환액의 현재가치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발행회사 입장에서는 사채를 발행해서 판매하는 가격이며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투자자 입장에서는 사채를 매입할 때 지급하는 가격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86867" y="2844347"/>
            <a:ext cx="6170261" cy="323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 b="1" dirty="0">
                <a:latin typeface="맑은 고딕" panose="020B0503020000020004" pitchFamily="50" charset="-127"/>
              </a:rPr>
              <a:t>이자지급일에 지급할 액면이자＝사채의 액면금액</a:t>
            </a:r>
            <a:r>
              <a:rPr lang="en-US" altLang="ko-KR" sz="1500" b="1" dirty="0">
                <a:latin typeface="맑은 고딕" panose="020B0503020000020004" pitchFamily="50" charset="-127"/>
              </a:rPr>
              <a:t>×</a:t>
            </a:r>
            <a:r>
              <a:rPr lang="ko-KR" altLang="en-US" sz="1500" b="1" dirty="0">
                <a:latin typeface="맑은 고딕" panose="020B0503020000020004" pitchFamily="50" charset="-127"/>
              </a:rPr>
              <a:t>액면이자율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524124" y="4846084"/>
            <a:ext cx="6280280" cy="9594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</a:rPr>
              <a:t>액면이자율＝시장이자율：액면발행</a:t>
            </a:r>
          </a:p>
          <a:p>
            <a:pPr algn="ctr">
              <a:lnSpc>
                <a:spcPct val="130000"/>
              </a:lnSpc>
            </a:pP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</a:rPr>
              <a:t>액면이자율＜시장이자율：할인발행</a:t>
            </a:r>
          </a:p>
          <a:p>
            <a:pPr algn="ctr">
              <a:lnSpc>
                <a:spcPct val="130000"/>
              </a:lnSpc>
            </a:pP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</a:rPr>
              <a:t>액면이자율＞시장이자율：할증발행</a:t>
            </a:r>
          </a:p>
        </p:txBody>
      </p:sp>
    </p:spTree>
    <p:extLst>
      <p:ext uri="{BB962C8B-B14F-4D97-AF65-F5344CB8AC3E}">
        <p14:creationId xmlns:p14="http://schemas.microsoft.com/office/powerpoint/2010/main" val="3992849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51315" y="1269646"/>
            <a:ext cx="8641369" cy="510614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⑥</a:t>
            </a:r>
            <a:r>
              <a:rPr lang="en-US" altLang="ko-KR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유효이자율과 유효이자 </a:t>
            </a:r>
            <a:r>
              <a:rPr lang="en-US" altLang="ko-KR" sz="1500" dirty="0">
                <a:latin typeface="맑은 고딕" panose="020B0503020000020004" pitchFamily="50" charset="-127"/>
              </a:rPr>
              <a:t>: </a:t>
            </a:r>
            <a:r>
              <a:rPr lang="ko-KR" altLang="en-US" sz="1500" dirty="0">
                <a:latin typeface="맑은 고딕" panose="020B0503020000020004" pitchFamily="50" charset="-127"/>
              </a:rPr>
              <a:t>사채로 인해 유출되는 미래현금흐름의 현재가치와 사채의 발행으로 인해 유입되는 현재의 현금흐름을 일치시키는 이자율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396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</a:rPr>
              <a:t>일반적으로 유효이자율은</a:t>
            </a:r>
            <a:r>
              <a:rPr lang="en-US" altLang="ko-KR" sz="1500" dirty="0">
                <a:latin typeface="맑은 고딕" panose="020B0503020000020004" pitchFamily="50" charset="-127"/>
              </a:rPr>
              <a:t>= </a:t>
            </a:r>
            <a:r>
              <a:rPr lang="ko-KR" altLang="en-US" sz="1500" dirty="0">
                <a:latin typeface="맑은 고딕" panose="020B0503020000020004" pitchFamily="50" charset="-127"/>
              </a:rPr>
              <a:t>시장이자율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단 사채발행비가 발생하는 경우 유효이자율은 시장이자율보다 높아짐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</a:p>
          <a:p>
            <a:pPr marL="396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</a:rPr>
              <a:t>사채발행회사는 </a:t>
            </a:r>
            <a:r>
              <a:rPr lang="ko-KR" altLang="en-US" sz="1500" dirty="0">
                <a:solidFill>
                  <a:srgbClr val="C00000"/>
                </a:solidFill>
                <a:latin typeface="맑은 고딕" panose="020B0503020000020004" pitchFamily="50" charset="-127"/>
              </a:rPr>
              <a:t>유효이자율</a:t>
            </a:r>
            <a:r>
              <a:rPr lang="ko-KR" altLang="en-US" sz="1500" dirty="0">
                <a:latin typeface="맑은 고딕" panose="020B0503020000020004" pitchFamily="50" charset="-127"/>
              </a:rPr>
              <a:t>을 적용해서 사채의 이자비용을 인식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</a:p>
          <a:p>
            <a:pPr marL="396000" indent="-144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marL="396000" indent="-144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            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     </a:t>
            </a:r>
            <a:endParaRPr lang="en-US" altLang="ko-KR" sz="1600" i="1" dirty="0">
              <a:latin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56282" y="3208501"/>
            <a:ext cx="663143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유효이자율법에 의한 이자비용＝사채의 기초장부금액</a:t>
            </a:r>
            <a:r>
              <a:rPr lang="en-US" altLang="ko-KR" sz="1600" b="1" dirty="0">
                <a:latin typeface="맑은 고딕" panose="020B0503020000020004" pitchFamily="50" charset="-127"/>
              </a:rPr>
              <a:t>×</a:t>
            </a:r>
            <a:r>
              <a:rPr lang="ko-KR" altLang="en-US" sz="1600" b="1" dirty="0">
                <a:latin typeface="맑은 고딕" panose="020B0503020000020004" pitchFamily="50" charset="-127"/>
              </a:rPr>
              <a:t>유효이자율</a:t>
            </a:r>
          </a:p>
        </p:txBody>
      </p:sp>
    </p:spTree>
    <p:extLst>
      <p:ext uri="{BB962C8B-B14F-4D97-AF65-F5344CB8AC3E}">
        <p14:creationId xmlns:p14="http://schemas.microsoft.com/office/powerpoint/2010/main" val="320875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3246933"/>
            <a:chOff x="190714" y="1320882"/>
            <a:chExt cx="8711460" cy="3608040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3467423"/>
              <a:chOff x="269047" y="1722741"/>
              <a:chExt cx="8648776" cy="3467423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6" cy="344372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8-3 </a:t>
                  </a:r>
                  <a:r>
                    <a:rPr lang="ko-KR" altLang="en-US" sz="1600" b="1" dirty="0"/>
                    <a:t>사채발행금액 결정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71601" cy="112919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</a:t>
            </a:r>
            <a:r>
              <a:rPr lang="ko-KR" altLang="en-US" sz="1500" b="1" dirty="0">
                <a:latin typeface="맑은 고딕" panose="020B0503020000020004" pitchFamily="50" charset="-127"/>
              </a:rPr>
              <a:t>흥국생명은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 액면금액이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1,000,000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이고 액면이자율이 </a:t>
            </a:r>
            <a:r>
              <a:rPr lang="en-US" altLang="ko-KR" sz="1500" b="1" dirty="0">
                <a:latin typeface="맑은 고딕" panose="020B0503020000020004" pitchFamily="50" charset="-127"/>
              </a:rPr>
              <a:t>8%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이며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매년말에</a:t>
            </a:r>
            <a:r>
              <a:rPr lang="ko-KR" altLang="en-US" sz="1500" b="1" dirty="0">
                <a:latin typeface="맑은 고딕" panose="020B0503020000020004" pitchFamily="50" charset="-127"/>
              </a:rPr>
              <a:t> 이자를 지급하는 조건의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만기의 사채를 발행하였다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시장이자율은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10%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사채의 발행금액을 구하라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사채를 구입한 투자자는 향후 </a:t>
            </a:r>
            <a:r>
              <a:rPr lang="en-US" altLang="ko-KR" sz="1400" dirty="0">
                <a:latin typeface="맑은 고딕" panose="020B0503020000020004" pitchFamily="50" charset="-127"/>
              </a:rPr>
              <a:t>3</a:t>
            </a:r>
            <a:r>
              <a:rPr lang="ko-KR" altLang="en-US" sz="1400" dirty="0">
                <a:latin typeface="맑은 고딕" panose="020B0503020000020004" pitchFamily="50" charset="-127"/>
              </a:rPr>
              <a:t>년 동안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매년말</a:t>
            </a:r>
            <a:r>
              <a:rPr lang="ko-KR" altLang="en-US" sz="1400" dirty="0">
                <a:latin typeface="맑은 고딕" panose="020B0503020000020004" pitchFamily="50" charset="-127"/>
              </a:rPr>
              <a:t> 액면이자 ￦</a:t>
            </a:r>
            <a:r>
              <a:rPr lang="en-US" altLang="ko-KR" sz="1400" dirty="0">
                <a:latin typeface="맑은 고딕" panose="020B0503020000020004" pitchFamily="50" charset="-127"/>
              </a:rPr>
              <a:t>80,000</a:t>
            </a:r>
            <a:r>
              <a:rPr lang="ko-KR" altLang="en-US" sz="1400" dirty="0">
                <a:latin typeface="맑은 고딕" panose="020B0503020000020004" pitchFamily="50" charset="-127"/>
              </a:rPr>
              <a:t>을 받고</a:t>
            </a:r>
            <a:r>
              <a:rPr lang="en-US" altLang="ko-KR" sz="1400" dirty="0">
                <a:latin typeface="맑은 고딕" panose="020B0503020000020004" pitchFamily="50" charset="-127"/>
              </a:rPr>
              <a:t>, 3</a:t>
            </a:r>
            <a:r>
              <a:rPr lang="ko-KR" altLang="en-US" sz="1400" dirty="0">
                <a:latin typeface="맑은 고딕" panose="020B0503020000020004" pitchFamily="50" charset="-127"/>
              </a:rPr>
              <a:t>년 후에는 액면금액인 ￦</a:t>
            </a:r>
            <a:r>
              <a:rPr lang="en-US" altLang="ko-KR" sz="1400" dirty="0">
                <a:latin typeface="맑은 고딕" panose="020B0503020000020004" pitchFamily="50" charset="-127"/>
              </a:rPr>
              <a:t>1,000,000</a:t>
            </a:r>
            <a:r>
              <a:rPr lang="ko-KR" altLang="en-US" sz="1400" dirty="0">
                <a:latin typeface="맑은 고딕" panose="020B0503020000020004" pitchFamily="50" charset="-127"/>
              </a:rPr>
              <a:t>을 지급받게 됨</a:t>
            </a:r>
            <a:r>
              <a:rPr lang="en-US" altLang="ko-KR" sz="1400" dirty="0"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latin typeface="맑은 고딕" panose="020B0503020000020004" pitchFamily="50" charset="-127"/>
              </a:rPr>
              <a:t>미래에 발생하는 위 현금흐름의 가치를 현재기준으로 환산하기 위해서는</a:t>
            </a:r>
            <a:r>
              <a:rPr lang="en-US" altLang="ko-KR" sz="1400" dirty="0"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</a:rPr>
              <a:t>각 현금흐름을 시장이자율인 </a:t>
            </a:r>
            <a:r>
              <a:rPr lang="en-US" altLang="ko-KR" sz="1400" dirty="0">
                <a:latin typeface="맑은 고딕" panose="020B0503020000020004" pitchFamily="50" charset="-127"/>
              </a:rPr>
              <a:t>10%</a:t>
            </a:r>
            <a:r>
              <a:rPr lang="ko-KR" altLang="en-US" sz="1400" dirty="0">
                <a:latin typeface="맑은 고딕" panose="020B0503020000020004" pitchFamily="50" charset="-127"/>
              </a:rPr>
              <a:t>로 할인하여 합산</a:t>
            </a:r>
            <a:r>
              <a:rPr lang="en-US" altLang="ko-KR" sz="1400" dirty="0">
                <a:latin typeface="맑은 고딕" panose="020B0503020000020004" pitchFamily="50" charset="-127"/>
              </a:rPr>
              <a:t> </a:t>
            </a: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        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사채의 발행금액 </a:t>
            </a:r>
            <a:r>
              <a:rPr lang="en-US" altLang="ko-KR" sz="1400" b="1" dirty="0">
                <a:latin typeface="맑은 고딕" panose="020B0503020000020004" pitchFamily="50" charset="-127"/>
              </a:rPr>
              <a:t>=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사채에서 발생하는 현금흐름의 현재가치 </a:t>
            </a:r>
            <a:r>
              <a:rPr lang="en-US" altLang="ko-KR" sz="1400" b="1" dirty="0">
                <a:latin typeface="맑은 고딕" panose="020B0503020000020004" pitchFamily="50" charset="-127"/>
              </a:rPr>
              <a:t>= </a:t>
            </a:r>
            <a:r>
              <a:rPr lang="ko-KR" altLang="en-US" sz="1400" b="1" dirty="0">
                <a:latin typeface="맑은 고딕" panose="020B0503020000020004" pitchFamily="50" charset="-127"/>
              </a:rPr>
              <a:t>￦</a:t>
            </a:r>
            <a:r>
              <a:rPr lang="en-US" altLang="ko-KR" sz="1400" b="1" dirty="0">
                <a:latin typeface="맑은 고딕" panose="020B0503020000020004" pitchFamily="50" charset="-127"/>
              </a:rPr>
              <a:t>950,263</a:t>
            </a: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				(</a:t>
            </a:r>
            <a:r>
              <a:rPr lang="ko-KR" altLang="en-US" sz="1400" b="1" dirty="0">
                <a:latin typeface="맑은 고딕" panose="020B0503020000020004" pitchFamily="50" charset="-127"/>
              </a:rPr>
              <a:t>뒤의 현금흐름 표 참고</a:t>
            </a:r>
            <a:r>
              <a:rPr lang="en-US" altLang="ko-KR" sz="1400" b="1" dirty="0">
                <a:latin typeface="맑은 고딕" panose="020B0503020000020004" pitchFamily="50" charset="-127"/>
              </a:rPr>
              <a:t>)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Verdana" panose="020B0604030504040204" pitchFamily="34" charset="0"/>
            </a:endParaRP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lang="ko-KR" altLang="en-US" sz="1400" dirty="0">
              <a:latin typeface="Verdana" panose="020B060403050404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7955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211657"/>
            <a:chOff x="190714" y="1320882"/>
            <a:chExt cx="8711460" cy="5791270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650653"/>
              <a:chOff x="269047" y="1722741"/>
              <a:chExt cx="8648776" cy="5650653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2"/>
                <a:ext cx="8648776" cy="562695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8-3 </a:t>
                  </a:r>
                  <a:r>
                    <a:rPr lang="ko-KR" altLang="en-US" sz="1600" b="1" dirty="0"/>
                    <a:t>사채발행금액 결정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71601" cy="112919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&lt;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사채의 현금흐름</a:t>
            </a:r>
            <a:r>
              <a:rPr lang="en-US" altLang="ko-KR" sz="1400" b="1" dirty="0">
                <a:latin typeface="맑은 고딕" panose="020B0503020000020004" pitchFamily="50" charset="-127"/>
              </a:rPr>
              <a:t>&gt;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</a:t>
            </a:r>
            <a:endParaRPr lang="en-US" altLang="ko-KR" sz="1200" b="1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 l="24857" t="18794" r="16643" b="13016"/>
          <a:stretch>
            <a:fillRect/>
          </a:stretch>
        </p:blipFill>
        <p:spPr bwMode="auto">
          <a:xfrm>
            <a:off x="918905" y="2068725"/>
            <a:ext cx="7304314" cy="426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5657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57594" y="1383030"/>
            <a:ext cx="8641369" cy="510614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20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재무상태표에 사채와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사채할인발행차금을</a:t>
            </a:r>
            <a:r>
              <a:rPr lang="ko-KR" altLang="en-US" sz="1600" dirty="0">
                <a:latin typeface="맑은 고딕" panose="020B0503020000020004" pitchFamily="50" charset="-127"/>
              </a:rPr>
              <a:t> 표시하는 법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① 사채의 액면금액을 사채계정에 표시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</a:p>
          <a:p>
            <a:pPr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②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사채할인발행차금은</a:t>
            </a:r>
            <a:r>
              <a:rPr lang="ko-KR" altLang="en-US" sz="1600" dirty="0">
                <a:latin typeface="맑은 고딕" panose="020B0503020000020004" pitchFamily="50" charset="-127"/>
              </a:rPr>
              <a:t> 사채계정의 차감계정으로 표시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③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사채할증발행차금은</a:t>
            </a:r>
            <a:r>
              <a:rPr lang="ko-KR" altLang="en-US" sz="1600" dirty="0">
                <a:latin typeface="맑은 고딕" panose="020B0503020000020004" pitchFamily="50" charset="-127"/>
              </a:rPr>
              <a:t> 사채계정의 가산계정으로 표시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590337" y="1336184"/>
            <a:ext cx="8308626" cy="338554"/>
            <a:chOff x="1287462" y="4738439"/>
            <a:chExt cx="8308626" cy="338554"/>
          </a:xfrm>
        </p:grpSpPr>
        <p:sp>
          <p:nvSpPr>
            <p:cNvPr id="21" name="오각형 20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8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079461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맑은 고딕" panose="020B0503020000020004" pitchFamily="50" charset="-127"/>
                </a:rPr>
                <a:t>사채발행차금과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장부금액</a:t>
              </a:r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25" y="1882629"/>
            <a:ext cx="8215706" cy="211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8879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5326987"/>
            <a:chOff x="190714" y="1320882"/>
            <a:chExt cx="8711460" cy="591942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778812"/>
              <a:chOff x="269048" y="1722741"/>
              <a:chExt cx="8648775" cy="577881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75511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8-4 </a:t>
                  </a:r>
                  <a:r>
                    <a:rPr lang="ko-KR" altLang="en-US" sz="1600" b="1" dirty="0" err="1"/>
                    <a:t>사채발행차금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49"/>
            <a:ext cx="7781996" cy="4909129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주</a:t>
            </a:r>
            <a:r>
              <a:rPr lang="en-US" altLang="ko-KR" sz="1500" dirty="0">
                <a:latin typeface="맑은 고딕" panose="020B0503020000020004" pitchFamily="50" charset="-127"/>
              </a:rPr>
              <a:t>)</a:t>
            </a:r>
            <a:r>
              <a:rPr lang="ko-KR" altLang="en-US" sz="1500" dirty="0">
                <a:latin typeface="맑은 고딕" panose="020B0503020000020004" pitchFamily="50" charset="-127"/>
              </a:rPr>
              <a:t>흥국생명은 </a:t>
            </a:r>
            <a:r>
              <a:rPr lang="en-US" altLang="ko-KR" sz="1500" dirty="0">
                <a:latin typeface="맑은 고딕" panose="020B0503020000020004" pitchFamily="50" charset="-127"/>
              </a:rPr>
              <a:t>20×1</a:t>
            </a:r>
            <a:r>
              <a:rPr lang="ko-KR" altLang="en-US" sz="1500" dirty="0">
                <a:latin typeface="맑은 고딕" panose="020B0503020000020004" pitchFamily="50" charset="-127"/>
              </a:rPr>
              <a:t>년 </a:t>
            </a:r>
            <a:r>
              <a:rPr lang="en-US" altLang="ko-KR" sz="1500" dirty="0">
                <a:latin typeface="맑은 고딕" panose="020B0503020000020004" pitchFamily="50" charset="-127"/>
              </a:rPr>
              <a:t>1</a:t>
            </a:r>
            <a:r>
              <a:rPr lang="ko-KR" altLang="en-US" sz="1500" dirty="0">
                <a:latin typeface="맑은 고딕" panose="020B0503020000020004" pitchFamily="50" charset="-127"/>
              </a:rPr>
              <a:t>월 </a:t>
            </a:r>
            <a:r>
              <a:rPr lang="en-US" altLang="ko-KR" sz="1500" dirty="0">
                <a:latin typeface="맑은 고딕" panose="020B0503020000020004" pitchFamily="50" charset="-127"/>
              </a:rPr>
              <a:t>1</a:t>
            </a:r>
            <a:r>
              <a:rPr lang="ko-KR" altLang="en-US" sz="1500" dirty="0">
                <a:latin typeface="맑은 고딕" panose="020B0503020000020004" pitchFamily="50" charset="-127"/>
              </a:rPr>
              <a:t>일 액면금액 ￦</a:t>
            </a:r>
            <a:r>
              <a:rPr lang="en-US" altLang="ko-KR" sz="1500" dirty="0">
                <a:latin typeface="맑은 고딕" panose="020B0503020000020004" pitchFamily="50" charset="-127"/>
              </a:rPr>
              <a:t>1,000,000, </a:t>
            </a:r>
            <a:r>
              <a:rPr lang="ko-KR" altLang="en-US" sz="1500" dirty="0">
                <a:latin typeface="맑은 고딕" panose="020B0503020000020004" pitchFamily="50" charset="-127"/>
              </a:rPr>
              <a:t>액면이자율이 </a:t>
            </a:r>
            <a:r>
              <a:rPr lang="en-US" altLang="ko-KR" sz="1500" dirty="0">
                <a:latin typeface="맑은 고딕" panose="020B0503020000020004" pitchFamily="50" charset="-127"/>
              </a:rPr>
              <a:t>8%,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매년말에</a:t>
            </a:r>
            <a:r>
              <a:rPr lang="ko-KR" altLang="en-US" sz="1500" dirty="0">
                <a:latin typeface="맑은 고딕" panose="020B0503020000020004" pitchFamily="50" charset="-127"/>
              </a:rPr>
              <a:t> 이자가 지급되는 </a:t>
            </a:r>
            <a:r>
              <a:rPr lang="en-US" altLang="ko-KR" sz="1500" dirty="0">
                <a:latin typeface="맑은 고딕" panose="020B0503020000020004" pitchFamily="50" charset="-127"/>
              </a:rPr>
              <a:t>3</a:t>
            </a:r>
            <a:r>
              <a:rPr lang="ko-KR" altLang="en-US" sz="1500" dirty="0">
                <a:latin typeface="맑은 고딕" panose="020B0503020000020004" pitchFamily="50" charset="-127"/>
              </a:rPr>
              <a:t>년 만기의 사채를 발행하였고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이 때 사채발행비는 발생하지 않았다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시장이자율이 </a:t>
            </a:r>
            <a:r>
              <a:rPr lang="en-US" altLang="ko-KR" sz="1500" dirty="0">
                <a:latin typeface="맑은 고딕" panose="020B0503020000020004" pitchFamily="50" charset="-127"/>
              </a:rPr>
              <a:t>10%, 6%, 8%</a:t>
            </a:r>
            <a:r>
              <a:rPr lang="ko-KR" altLang="en-US" sz="1500" dirty="0">
                <a:latin typeface="맑은 고딕" panose="020B0503020000020004" pitchFamily="50" charset="-127"/>
              </a:rPr>
              <a:t>인 경우 각각의 사채발행금액을 구하라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또한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각각의 경우를  회계처리하고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부분재무상태표를</a:t>
            </a:r>
            <a:r>
              <a:rPr lang="ko-KR" altLang="en-US" sz="1500" dirty="0">
                <a:latin typeface="맑은 고딕" panose="020B0503020000020004" pitchFamily="50" charset="-127"/>
              </a:rPr>
              <a:t> 작성하라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① </a:t>
            </a:r>
            <a:r>
              <a:rPr lang="ko-KR" altLang="en-US" sz="1500" b="1" dirty="0">
                <a:latin typeface="맑은 고딕" panose="020B0503020000020004" pitchFamily="50" charset="-127"/>
              </a:rPr>
              <a:t>시장이자율 </a:t>
            </a:r>
            <a:r>
              <a:rPr lang="en-US" altLang="ko-KR" sz="1500" b="1" dirty="0">
                <a:latin typeface="맑은 고딕" panose="020B0503020000020004" pitchFamily="50" charset="-127"/>
              </a:rPr>
              <a:t>10%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인 경우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할인발행</a:t>
            </a:r>
            <a:r>
              <a:rPr lang="en-US" altLang="ko-KR" sz="1500" b="1" dirty="0">
                <a:latin typeface="맑은 고딕" panose="020B0503020000020004" pitchFamily="50" charset="-127"/>
              </a:rPr>
              <a:t>)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&lt;</a:t>
            </a:r>
            <a:r>
              <a:rPr lang="ko-KR" altLang="en-US" sz="1600" dirty="0">
                <a:latin typeface="맑은 고딕" panose="020B0503020000020004" pitchFamily="50" charset="-127"/>
              </a:rPr>
              <a:t>사채발행금액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950,263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   채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</a:p>
          <a:p>
            <a:pPr latinLnBrk="0">
              <a:spcBef>
                <a:spcPct val="0"/>
              </a:spcBef>
            </a:pPr>
            <a:r>
              <a:rPr lang="ko-KR" altLang="en-US" sz="1400" b="1" dirty="0">
                <a:latin typeface="맑은 고딕" panose="020B0503020000020004" pitchFamily="50" charset="-127"/>
              </a:rPr>
              <a:t>  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사채할인발행차금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49,737 </a:t>
            </a:r>
          </a:p>
          <a:p>
            <a:pPr latinLnBrk="0"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3989388" algn="r"/>
                <a:tab pos="4560888" algn="l"/>
              </a:tabLst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pic>
        <p:nvPicPr>
          <p:cNvPr id="42" name="Picture 1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77" y="3429000"/>
            <a:ext cx="7616714" cy="42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9BBE9EB-71B5-481A-82D1-CB57F989F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776263"/>
              </p:ext>
            </p:extLst>
          </p:nvPr>
        </p:nvGraphicFramePr>
        <p:xfrm>
          <a:off x="2205330" y="4731073"/>
          <a:ext cx="4823632" cy="1612781"/>
        </p:xfrm>
        <a:graphic>
          <a:graphicData uri="http://schemas.openxmlformats.org/drawingml/2006/table">
            <a:tbl>
              <a:tblPr/>
              <a:tblGrid>
                <a:gridCol w="31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38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6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6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사 채</a:t>
                      </a: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6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사채할인발행차금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(49,737)</a:t>
                      </a: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6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￦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950,263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9" marR="91449" marT="45746" marB="457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007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69982" y="981041"/>
            <a:ext cx="8854210" cy="5798701"/>
            <a:chOff x="190714" y="1320882"/>
            <a:chExt cx="8711460" cy="605966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919045"/>
              <a:chOff x="269048" y="1722741"/>
              <a:chExt cx="8648775" cy="5919045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89534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8-4 </a:t>
                  </a:r>
                  <a:r>
                    <a:rPr lang="ko-KR" altLang="en-US" sz="1600" b="1" dirty="0" err="1"/>
                    <a:t>사채발행차금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65480" y="1449796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②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시장이자율 </a:t>
            </a:r>
            <a:r>
              <a:rPr lang="en-US" altLang="ko-KR" sz="1600" b="1" dirty="0">
                <a:latin typeface="맑은 고딕" panose="020B0503020000020004" pitchFamily="50" charset="-127"/>
              </a:rPr>
              <a:t>6%</a:t>
            </a:r>
            <a:r>
              <a:rPr lang="ko-KR" altLang="en-US" sz="1600" b="1" dirty="0">
                <a:latin typeface="맑은 고딕" panose="020B0503020000020004" pitchFamily="50" charset="-127"/>
              </a:rPr>
              <a:t>인 경우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할증발행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</a:rPr>
              <a:t>사채발행금액</a:t>
            </a:r>
            <a:r>
              <a:rPr lang="en-US" altLang="ko-KR" sz="1200" dirty="0">
                <a:latin typeface="맑은 고딕" panose="020B0503020000020004" pitchFamily="50" charset="-127"/>
              </a:rPr>
              <a:t>&gt;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b="1" dirty="0">
                <a:latin typeface="맑은 고딕" panose="020B0503020000020004" pitchFamily="50" charset="-127"/>
              </a:rPr>
              <a:t> (</a:t>
            </a:r>
            <a:r>
              <a:rPr lang="ko-KR" altLang="en-US" sz="1200" b="1" dirty="0">
                <a:latin typeface="맑은 고딕" panose="020B0503020000020004" pitchFamily="50" charset="-127"/>
              </a:rPr>
              <a:t>차</a:t>
            </a:r>
            <a:r>
              <a:rPr lang="en-US" altLang="ko-KR" sz="1200" b="1" dirty="0">
                <a:latin typeface="맑은 고딕" panose="020B0503020000020004" pitchFamily="50" charset="-127"/>
              </a:rPr>
              <a:t>) </a:t>
            </a:r>
            <a:r>
              <a:rPr lang="ko-KR" altLang="en-US" sz="1200" b="1" dirty="0">
                <a:latin typeface="맑은 고딕" panose="020B0503020000020004" pitchFamily="50" charset="-127"/>
              </a:rPr>
              <a:t>현    금                     </a:t>
            </a:r>
            <a:r>
              <a:rPr lang="en-US" altLang="ko-KR" sz="1200" b="1" dirty="0">
                <a:latin typeface="맑은 고딕" panose="020B0503020000020004" pitchFamily="50" charset="-127"/>
              </a:rPr>
              <a:t>1,053,460    (</a:t>
            </a:r>
            <a:r>
              <a:rPr lang="ko-KR" altLang="en-US" sz="1200" b="1" dirty="0">
                <a:latin typeface="맑은 고딕" panose="020B0503020000020004" pitchFamily="50" charset="-127"/>
              </a:rPr>
              <a:t>대</a:t>
            </a:r>
            <a:r>
              <a:rPr lang="en-US" altLang="ko-KR" sz="1200" b="1" dirty="0">
                <a:latin typeface="맑은 고딕" panose="020B0503020000020004" pitchFamily="50" charset="-127"/>
              </a:rPr>
              <a:t>) </a:t>
            </a:r>
            <a:r>
              <a:rPr lang="ko-KR" altLang="en-US" sz="1200" b="1" dirty="0">
                <a:latin typeface="맑은 고딕" panose="020B0503020000020004" pitchFamily="50" charset="-127"/>
              </a:rPr>
              <a:t>사   채                     </a:t>
            </a:r>
            <a:r>
              <a:rPr lang="en-US" altLang="ko-KR" sz="1200" b="1" dirty="0">
                <a:latin typeface="맑은 고딕" panose="020B0503020000020004" pitchFamily="50" charset="-127"/>
              </a:rPr>
              <a:t>1,000,000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b="1" dirty="0">
                <a:latin typeface="맑은 고딕" panose="020B0503020000020004" pitchFamily="50" charset="-127"/>
              </a:rPr>
              <a:t>              </a:t>
            </a:r>
            <a:r>
              <a:rPr lang="ko-KR" altLang="en-US" sz="1200" b="1" dirty="0">
                <a:latin typeface="맑은 고딕" panose="020B0503020000020004" pitchFamily="50" charset="-127"/>
              </a:rPr>
              <a:t>                                             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사채할증발행차금</a:t>
            </a:r>
            <a:r>
              <a:rPr lang="en-US" altLang="ko-KR" sz="1200" b="1" dirty="0">
                <a:latin typeface="맑은 고딕" panose="020B0503020000020004" pitchFamily="50" charset="-127"/>
              </a:rPr>
              <a:t>   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 </a:t>
            </a:r>
            <a:r>
              <a:rPr lang="en-US" altLang="ko-KR" sz="1200" b="1" dirty="0">
                <a:latin typeface="맑은 고딕" panose="020B0503020000020004" pitchFamily="50" charset="-127"/>
              </a:rPr>
              <a:t>  </a:t>
            </a:r>
            <a:r>
              <a:rPr lang="en-US" altLang="ko-KR" sz="600" b="1" dirty="0">
                <a:latin typeface="맑은 고딕" panose="020B0503020000020004" pitchFamily="50" charset="-127"/>
              </a:rPr>
              <a:t>     </a:t>
            </a:r>
            <a:r>
              <a:rPr lang="en-US" altLang="ko-KR" sz="1200" b="1" dirty="0">
                <a:latin typeface="맑은 고딕" panose="020B0503020000020004" pitchFamily="50" charset="-127"/>
              </a:rPr>
              <a:t> 53,460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200" dirty="0">
                <a:latin typeface="맑은 고딕" panose="020B0503020000020004" pitchFamily="50" charset="-127"/>
              </a:rPr>
              <a:t>다음과 같이 현가표를 이용해 사채발행금액을 계산할 수도 있다</a:t>
            </a:r>
            <a:r>
              <a:rPr lang="en-US" altLang="ko-KR" sz="1200" dirty="0">
                <a:latin typeface="맑은 고딕" panose="020B0503020000020004" pitchFamily="50" charset="-127"/>
              </a:rPr>
              <a:t>.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</a:t>
            </a: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435570"/>
              </p:ext>
            </p:extLst>
          </p:nvPr>
        </p:nvGraphicFramePr>
        <p:xfrm>
          <a:off x="693496" y="3580857"/>
          <a:ext cx="4011654" cy="1532459"/>
        </p:xfrm>
        <a:graphic>
          <a:graphicData uri="http://schemas.openxmlformats.org/drawingml/2006/table">
            <a:tbl>
              <a:tblPr/>
              <a:tblGrid>
                <a:gridCol w="230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48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0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사 채</a:t>
                      </a: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￦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0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사채할증발행차금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53,460</a:t>
                      </a: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9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1,053,460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540635"/>
              </p:ext>
            </p:extLst>
          </p:nvPr>
        </p:nvGraphicFramePr>
        <p:xfrm>
          <a:off x="631545" y="5711918"/>
          <a:ext cx="4385298" cy="877126"/>
        </p:xfrm>
        <a:graphic>
          <a:graphicData uri="http://schemas.openxmlformats.org/drawingml/2006/table">
            <a:tbl>
              <a:tblPr/>
              <a:tblGrid>
                <a:gridCol w="1632807">
                  <a:extLst>
                    <a:ext uri="{9D8B030D-6E8A-4147-A177-3AD203B41FA5}">
                      <a16:colId xmlns:a16="http://schemas.microsoft.com/office/drawing/2014/main" val="218922948"/>
                    </a:ext>
                  </a:extLst>
                </a:gridCol>
                <a:gridCol w="1783686">
                  <a:extLst>
                    <a:ext uri="{9D8B030D-6E8A-4147-A177-3AD203B41FA5}">
                      <a16:colId xmlns:a16="http://schemas.microsoft.com/office/drawing/2014/main" val="2118974143"/>
                    </a:ext>
                  </a:extLst>
                </a:gridCol>
                <a:gridCol w="968805">
                  <a:extLst>
                    <a:ext uri="{9D8B030D-6E8A-4147-A177-3AD203B41FA5}">
                      <a16:colId xmlns:a16="http://schemas.microsoft.com/office/drawing/2014/main" val="1759416543"/>
                    </a:ext>
                  </a:extLst>
                </a:gridCol>
              </a:tblGrid>
              <a:tr h="198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액면금액의 현재가치</a:t>
                      </a: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한양중고딕"/>
                        </a:rPr>
                        <a:t>1,000,000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0.8396</a:t>
                      </a:r>
                      <a:r>
                        <a:rPr lang="ko-KR" altLang="en-US" sz="1200" kern="0" spc="-3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*       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</a:t>
                      </a: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2065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한양중고딕"/>
                        </a:rPr>
                        <a:t>839,600</a:t>
                      </a: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19619"/>
                  </a:ext>
                </a:extLst>
              </a:tr>
              <a:tr h="198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사채이자의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현재가치</a:t>
                      </a: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한양중고딕"/>
                        </a:rPr>
                        <a:t>80,000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2.6730</a:t>
                      </a:r>
                      <a:r>
                        <a:rPr lang="ko-KR" altLang="en-US" sz="1200" kern="0" spc="-3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**            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</a:t>
                      </a: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2065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한양중고딕"/>
                        </a:rPr>
                        <a:t>213,840</a:t>
                      </a:r>
                      <a:endParaRPr 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869535"/>
                  </a:ext>
                </a:extLst>
              </a:tr>
              <a:tr h="198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￦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한양중고딕"/>
                        </a:rPr>
                        <a:t>1,053,440</a:t>
                      </a:r>
                      <a:r>
                        <a:rPr lang="ko-KR" altLang="en-US" sz="1200" kern="0" spc="-3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***</a:t>
                      </a:r>
                      <a:endParaRPr lang="ko-KR" altLang="en-US" sz="1200" kern="0" spc="-30" dirty="0">
                        <a:solidFill>
                          <a:srgbClr val="FFFFFF"/>
                        </a:solidFill>
                        <a:effectLst/>
                        <a:latin typeface="휴먼신문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90044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508F724E-7147-422C-BD05-B42038341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96" y="2160673"/>
            <a:ext cx="7397496" cy="6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0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4705032"/>
            <a:chOff x="190714" y="1320882"/>
            <a:chExt cx="8711460" cy="522830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87685"/>
              <a:chOff x="269048" y="1722741"/>
              <a:chExt cx="8648775" cy="5087685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506398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8-4 </a:t>
                  </a:r>
                  <a:r>
                    <a:rPr lang="ko-KR" altLang="en-US" sz="1600" b="1" dirty="0" err="1"/>
                    <a:t>사채발행차금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③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시장이자율 </a:t>
            </a:r>
            <a:r>
              <a:rPr lang="en-US" altLang="ko-KR" sz="1600" b="1" dirty="0">
                <a:latin typeface="맑은 고딕" panose="020B0503020000020004" pitchFamily="50" charset="-127"/>
              </a:rPr>
              <a:t>8%</a:t>
            </a:r>
            <a:r>
              <a:rPr lang="ko-KR" altLang="en-US" sz="1600" b="1" dirty="0">
                <a:latin typeface="맑은 고딕" panose="020B0503020000020004" pitchFamily="50" charset="-127"/>
              </a:rPr>
              <a:t>인 경우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액면발행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&lt;</a:t>
            </a:r>
            <a:r>
              <a:rPr lang="ko-KR" altLang="en-US" sz="1600" dirty="0">
                <a:latin typeface="맑은 고딕" panose="020B0503020000020004" pitchFamily="50" charset="-127"/>
              </a:rPr>
              <a:t>사채발행금액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   채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</a:t>
            </a: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19443"/>
              </p:ext>
            </p:extLst>
          </p:nvPr>
        </p:nvGraphicFramePr>
        <p:xfrm>
          <a:off x="2348132" y="4063612"/>
          <a:ext cx="4429126" cy="1028681"/>
        </p:xfrm>
        <a:graphic>
          <a:graphicData uri="http://schemas.openxmlformats.org/drawingml/2006/table">
            <a:tbl>
              <a:tblPr/>
              <a:tblGrid>
                <a:gridCol w="770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51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7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사 채</a:t>
                      </a: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￦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32" marB="4563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70E4DD-330A-43E9-8F6C-11EFA192C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84" y="2543248"/>
            <a:ext cx="6684264" cy="61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96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5515889"/>
            <a:chOff x="190714" y="1320882"/>
            <a:chExt cx="8711460" cy="577339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632782"/>
              <a:chOff x="269048" y="1722741"/>
              <a:chExt cx="8648775" cy="563278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560908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060024" cy="326949"/>
              <a:chOff x="190714" y="1320889"/>
              <a:chExt cx="4328479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328479" cy="290352"/>
                <a:chOff x="405822" y="2237753"/>
                <a:chExt cx="4328479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453914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2" y="2237755"/>
                  <a:ext cx="4055284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8-5 </a:t>
                  </a:r>
                  <a:r>
                    <a:rPr lang="ko-KR" altLang="en-US" sz="1600" b="1" dirty="0" err="1"/>
                    <a:t>사채할인발행차금상각</a:t>
                  </a:r>
                  <a:r>
                    <a:rPr lang="ko-KR" altLang="en-US" sz="1600" b="1" dirty="0"/>
                    <a:t> 및 이자비용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28073" y="1601650"/>
            <a:ext cx="7920841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b="1" dirty="0">
                <a:latin typeface="맑은 고딕" panose="020B0503020000020004" pitchFamily="50" charset="-127"/>
              </a:rPr>
              <a:t>㈜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동원에프앤비는</a:t>
            </a:r>
            <a:r>
              <a:rPr lang="ko-KR" altLang="en-US" sz="1500" b="1" dirty="0">
                <a:latin typeface="맑은 고딕" panose="020B0503020000020004" pitchFamily="50" charset="-127"/>
              </a:rPr>
              <a:t>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 액면금액이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1,000,000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액면이자율이 </a:t>
            </a:r>
            <a:r>
              <a:rPr lang="en-US" altLang="ko-KR" sz="1500" b="1" dirty="0">
                <a:latin typeface="맑은 고딕" panose="020B0503020000020004" pitchFamily="50" charset="-127"/>
              </a:rPr>
              <a:t>8%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이며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매년말에</a:t>
            </a:r>
            <a:r>
              <a:rPr lang="ko-KR" altLang="en-US" sz="1500" b="1" dirty="0">
                <a:latin typeface="맑은 고딕" panose="020B0503020000020004" pitchFamily="50" charset="-127"/>
              </a:rPr>
              <a:t> 이자를 지급하는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만기의 사채를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950,263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발행하였다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사채발행비는 발생하지 않았다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시장이자율과 유효이자율은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10%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사채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발행시부터</a:t>
            </a:r>
            <a:r>
              <a:rPr lang="ko-KR" altLang="en-US" sz="1500" b="1" dirty="0">
                <a:latin typeface="맑은 고딕" panose="020B0503020000020004" pitchFamily="50" charset="-127"/>
              </a:rPr>
              <a:t>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만기시까지의</a:t>
            </a:r>
            <a:r>
              <a:rPr lang="ko-KR" altLang="en-US" sz="1500" b="1" dirty="0">
                <a:latin typeface="맑은 고딕" panose="020B0503020000020004" pitchFamily="50" charset="-127"/>
              </a:rPr>
              <a:t> 회계처리를 하고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매년말</a:t>
            </a:r>
            <a:r>
              <a:rPr lang="ko-KR" altLang="en-US" sz="1500" b="1" dirty="0">
                <a:latin typeface="맑은 고딕" panose="020B0503020000020004" pitchFamily="50" charset="-127"/>
              </a:rPr>
              <a:t>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부분재무상태표와</a:t>
            </a:r>
            <a:r>
              <a:rPr lang="ko-KR" altLang="en-US" sz="1500" b="1" dirty="0">
                <a:latin typeface="맑은 고딕" panose="020B0503020000020004" pitchFamily="50" charset="-127"/>
              </a:rPr>
              <a:t> 포괄손익계산서를 작성하라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lnSpc>
                <a:spcPts val="2400"/>
              </a:lnSpc>
              <a:spcBef>
                <a:spcPts val="120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① 20×1</a:t>
            </a:r>
            <a:r>
              <a:rPr lang="ko-KR" altLang="en-US" sz="1400" dirty="0"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</a:rPr>
              <a:t>월 </a:t>
            </a:r>
            <a:r>
              <a:rPr lang="en-US" altLang="ko-KR" sz="1400" dirty="0"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</a:rPr>
              <a:t>일 </a:t>
            </a:r>
            <a:r>
              <a:rPr lang="en-US" altLang="ko-KR" sz="1400" dirty="0">
                <a:latin typeface="맑은 고딕" panose="020B0503020000020004" pitchFamily="50" charset="-127"/>
              </a:rPr>
              <a:t>: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사채발행시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 금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950,263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     채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사채할인발행차금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 </a:t>
            </a:r>
            <a:r>
              <a:rPr lang="en-US" altLang="ko-KR" sz="1000" b="1" dirty="0">
                <a:latin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49,737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② 20×1</a:t>
            </a:r>
            <a:r>
              <a:rPr lang="ko-KR" altLang="en-US" sz="1400" dirty="0"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</a:rPr>
              <a:t>12</a:t>
            </a:r>
            <a:r>
              <a:rPr lang="ko-KR" altLang="en-US" sz="1400" dirty="0">
                <a:latin typeface="맑은 고딕" panose="020B0503020000020004" pitchFamily="50" charset="-127"/>
              </a:rPr>
              <a:t>월 </a:t>
            </a:r>
            <a:r>
              <a:rPr lang="en-US" altLang="ko-KR" sz="1400" dirty="0">
                <a:latin typeface="맑은 고딕" panose="020B0503020000020004" pitchFamily="50" charset="-127"/>
              </a:rPr>
              <a:t>31</a:t>
            </a:r>
            <a:r>
              <a:rPr lang="ko-KR" altLang="en-US" sz="1400" dirty="0">
                <a:latin typeface="맑은 고딕" panose="020B0503020000020004" pitchFamily="50" charset="-127"/>
              </a:rPr>
              <a:t>일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 자 비 용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95,026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 금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80,000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                                                    </a:t>
            </a:r>
            <a:r>
              <a:rPr lang="en-US" altLang="ko-KR" sz="800" b="1" dirty="0"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사채할인발행차금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200" b="1" dirty="0">
                <a:latin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15,026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350563"/>
              </p:ext>
            </p:extLst>
          </p:nvPr>
        </p:nvGraphicFramePr>
        <p:xfrm>
          <a:off x="628072" y="4852096"/>
          <a:ext cx="7920843" cy="1696676"/>
        </p:xfrm>
        <a:graphic>
          <a:graphicData uri="http://schemas.openxmlformats.org/drawingml/2006/table">
            <a:tbl>
              <a:tblPr/>
              <a:tblGrid>
                <a:gridCol w="384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01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47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465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부분포괄손익계산서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9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95,026</a:t>
                      </a: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49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사 채</a:t>
                      </a: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사채할인발행차금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(34,711)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49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￦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965,289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5" marR="91435"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686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34880" y="1263283"/>
            <a:ext cx="8532314" cy="5195573"/>
            <a:chOff x="190714" y="1320882"/>
            <a:chExt cx="8711460" cy="577339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632782"/>
              <a:chOff x="269048" y="1722741"/>
              <a:chExt cx="8648775" cy="563278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560908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060024" cy="326949"/>
              <a:chOff x="190714" y="1320889"/>
              <a:chExt cx="4328479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328479" cy="290352"/>
                <a:chOff x="405822" y="2237753"/>
                <a:chExt cx="4328479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453914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2" y="2237755"/>
                  <a:ext cx="4055284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8-5 </a:t>
                  </a:r>
                  <a:r>
                    <a:rPr lang="ko-KR" altLang="en-US" sz="1600" b="1" dirty="0" err="1"/>
                    <a:t>사채할인발행차금상각</a:t>
                  </a:r>
                  <a:r>
                    <a:rPr lang="ko-KR" altLang="en-US" sz="1600" b="1" dirty="0"/>
                    <a:t> 및 이자비용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③ 20×2</a:t>
            </a:r>
            <a:r>
              <a:rPr lang="ko-KR" altLang="en-US" sz="1400" dirty="0"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</a:rPr>
              <a:t>12</a:t>
            </a:r>
            <a:r>
              <a:rPr lang="ko-KR" altLang="en-US" sz="1400" dirty="0">
                <a:latin typeface="맑은 고딕" panose="020B0503020000020004" pitchFamily="50" charset="-127"/>
              </a:rPr>
              <a:t>월 </a:t>
            </a:r>
            <a:r>
              <a:rPr lang="en-US" altLang="ko-KR" sz="1400" dirty="0">
                <a:latin typeface="맑은 고딕" panose="020B0503020000020004" pitchFamily="50" charset="-127"/>
              </a:rPr>
              <a:t>31</a:t>
            </a:r>
            <a:r>
              <a:rPr lang="ko-KR" altLang="en-US" sz="1400" dirty="0">
                <a:latin typeface="맑은 고딕" panose="020B0503020000020004" pitchFamily="50" charset="-127"/>
              </a:rPr>
              <a:t>일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 자 비 용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96,529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 금      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80,000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                                              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사채할인발행차금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   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 16,529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   채 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유동성사채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유동성사채할인발행차금</a:t>
            </a:r>
            <a:r>
              <a:rPr lang="en-US" altLang="ko-KR" sz="1400" b="1" dirty="0">
                <a:latin typeface="맑은 고딕" panose="020B0503020000020004" pitchFamily="50" charset="-127"/>
              </a:rPr>
              <a:t>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</a:rPr>
              <a:t>18,182     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사채할인발행차금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  </a:t>
            </a:r>
            <a:r>
              <a:rPr lang="ko-KR" altLang="en-US" sz="1050" b="1" dirty="0">
                <a:latin typeface="맑은 고딕" panose="020B0503020000020004" pitchFamily="50" charset="-127"/>
              </a:rPr>
              <a:t>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18,182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762628"/>
              </p:ext>
            </p:extLst>
          </p:nvPr>
        </p:nvGraphicFramePr>
        <p:xfrm>
          <a:off x="766918" y="3715072"/>
          <a:ext cx="7781996" cy="1727728"/>
        </p:xfrm>
        <a:graphic>
          <a:graphicData uri="http://schemas.openxmlformats.org/drawingml/2006/table">
            <a:tbl>
              <a:tblPr/>
              <a:tblGrid>
                <a:gridCol w="249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04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1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37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(20×2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부분포괄손익계산서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(20×2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96,529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유동성사채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￦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유동성사채할인발행차금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(18,182)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5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981,818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306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5355231"/>
            <a:chOff x="190714" y="1320882"/>
            <a:chExt cx="8711460" cy="5950813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810196"/>
              <a:chOff x="269048" y="1722741"/>
              <a:chExt cx="8648775" cy="581019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5786495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060024" cy="326949"/>
              <a:chOff x="190714" y="1320889"/>
              <a:chExt cx="4328479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328479" cy="290352"/>
                <a:chOff x="405822" y="2237753"/>
                <a:chExt cx="4328479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453914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2" y="2237755"/>
                  <a:ext cx="4055284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8-5 </a:t>
                  </a:r>
                  <a:r>
                    <a:rPr lang="ko-KR" altLang="en-US" sz="1600" b="1" dirty="0" err="1"/>
                    <a:t>사채할인발행차금상각</a:t>
                  </a:r>
                  <a:r>
                    <a:rPr lang="ko-KR" altLang="en-US" sz="1600" b="1" dirty="0"/>
                    <a:t> 및 이자비용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81996" cy="426212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④ 20×3</a:t>
            </a:r>
            <a:r>
              <a:rPr lang="ko-KR" altLang="en-US" sz="1400" dirty="0"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</a:rPr>
              <a:t>12</a:t>
            </a:r>
            <a:r>
              <a:rPr lang="ko-KR" altLang="en-US" sz="1400" dirty="0">
                <a:latin typeface="맑은 고딕" panose="020B0503020000020004" pitchFamily="50" charset="-127"/>
              </a:rPr>
              <a:t>월 </a:t>
            </a:r>
            <a:r>
              <a:rPr lang="en-US" altLang="ko-KR" sz="1400" dirty="0">
                <a:latin typeface="맑은 고딕" panose="020B0503020000020004" pitchFamily="50" charset="-127"/>
              </a:rPr>
              <a:t>31</a:t>
            </a:r>
            <a:r>
              <a:rPr lang="ko-KR" altLang="en-US" sz="1400" dirty="0">
                <a:latin typeface="맑은 고딕" panose="020B0503020000020004" pitchFamily="50" charset="-127"/>
              </a:rPr>
              <a:t>일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 자 비 용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98,182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 금             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80,000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                                                    </a:t>
            </a:r>
            <a:r>
              <a:rPr lang="en-US" altLang="ko-KR" sz="1200" b="1" dirty="0">
                <a:latin typeface="맑은 고딕" panose="020B0503020000020004" pitchFamily="50" charset="-127"/>
              </a:rPr>
              <a:t>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유동성사채할인발행차금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    </a:t>
            </a:r>
            <a:r>
              <a:rPr lang="en-US" altLang="ko-KR" sz="900" b="1" dirty="0">
                <a:latin typeface="맑은 고딕" panose="020B0503020000020004" pitchFamily="50" charset="-127"/>
              </a:rPr>
              <a:t>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18,182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유동성사채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 금         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2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437984"/>
              </p:ext>
            </p:extLst>
          </p:nvPr>
        </p:nvGraphicFramePr>
        <p:xfrm>
          <a:off x="548711" y="2956894"/>
          <a:ext cx="8000205" cy="849387"/>
        </p:xfrm>
        <a:graphic>
          <a:graphicData uri="http://schemas.openxmlformats.org/drawingml/2006/table">
            <a:tbl>
              <a:tblPr/>
              <a:tblGrid>
                <a:gridCol w="387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9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71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26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상환 후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(20×3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부분포괄손익계산서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(20×3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98,182</a:t>
                      </a: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사 채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8974"/>
              </p:ext>
            </p:extLst>
          </p:nvPr>
        </p:nvGraphicFramePr>
        <p:xfrm>
          <a:off x="506578" y="4218967"/>
          <a:ext cx="8069011" cy="1537857"/>
        </p:xfrm>
        <a:graphic>
          <a:graphicData uri="http://schemas.openxmlformats.org/drawingml/2006/table">
            <a:tbl>
              <a:tblPr/>
              <a:tblGrid>
                <a:gridCol w="917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1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① 사채기초장부금액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② 유효이자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=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약정이자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③ 액면이자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=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지급이자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④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상각액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=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연체이자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⑤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사채기말장부금액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9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950,263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95,026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15,026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965,289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9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965,289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96,529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16,529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981,818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9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20×3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981,818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98,182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18,182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289,737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49,737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R="252000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직사각형 41"/>
          <p:cNvSpPr>
            <a:spLocks noChangeArrowheads="1"/>
          </p:cNvSpPr>
          <p:nvPr/>
        </p:nvSpPr>
        <p:spPr bwMode="auto">
          <a:xfrm>
            <a:off x="3513370" y="3909490"/>
            <a:ext cx="20986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kumimoji="0"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사채할인발행차금상각표</a:t>
            </a:r>
            <a:r>
              <a:rPr kumimoji="0"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kumimoji="0"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>
            <a:spLocks noChangeArrowheads="1"/>
          </p:cNvSpPr>
          <p:nvPr/>
        </p:nvSpPr>
        <p:spPr bwMode="auto">
          <a:xfrm>
            <a:off x="470065" y="5649264"/>
            <a:ext cx="45720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기초장부금액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유효이자</a:t>
            </a:r>
            <a:r>
              <a:rPr kumimoji="0"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＝①기초장부금액</a:t>
            </a: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×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유효이자율</a:t>
            </a: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(10%)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액면이자＝액면금액</a:t>
            </a: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×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액면이자율</a:t>
            </a: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(8%)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사채할인발행차금상각</a:t>
            </a:r>
            <a:r>
              <a:rPr kumimoji="0"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＝②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유효이자</a:t>
            </a:r>
            <a:r>
              <a:rPr kumimoji="0"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－③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액면이자</a:t>
            </a:r>
            <a:endParaRPr kumimoji="0"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 기말장부금액＝①기초장부금액＋④</a:t>
            </a:r>
            <a:r>
              <a:rPr kumimoji="0"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사채할인발행차금상각</a:t>
            </a:r>
            <a:endParaRPr kumimoji="0"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974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57473" y="1258052"/>
            <a:ext cx="8676103" cy="1806548"/>
            <a:chOff x="2626908" y="1631967"/>
            <a:chExt cx="11568136" cy="2408730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73219" y="2175784"/>
              <a:ext cx="11521825" cy="186491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사채의 만기일에는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사채할인발행차금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또는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사채할증발행차금이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전액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상각되어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잔액이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임→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그 결과 사채의 액면금액과 장부금액이 일치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즉 만기일에는 할인발행 또는 할증발행과 관계없이 액면금액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(=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장부금액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상환함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사채의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액면금액만큼을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현금을 지급하고 사채의 장부금액을 장부에서 제거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917587" y="1631967"/>
              <a:ext cx="6727536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만기상환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57473" y="3322343"/>
            <a:ext cx="8641369" cy="3180057"/>
            <a:chOff x="2580598" y="1693823"/>
            <a:chExt cx="11521825" cy="4240077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580598" y="2127936"/>
              <a:ext cx="11521825" cy="380596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사채발행회사가 자본시장의 이자율 변동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회사의 자금사정 등의 이유로 만기 이전에 사채를 상환하는 경우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사채와 관련된 계정을 모두 장부에서 제거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사채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사채할인발행차금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또는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사채할증발행차금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사채의 장부금액과 상환금액의 차이는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사채상환손익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처리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7" y="1693823"/>
              <a:ext cx="5470235" cy="45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조기상환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2322512" y="5322949"/>
            <a:ext cx="4572000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lvl="1">
              <a:spcBef>
                <a:spcPct val="0"/>
              </a:spcBef>
            </a:pPr>
            <a:r>
              <a:rPr lang="ko-KR" altLang="en-US" sz="1500" b="1" dirty="0">
                <a:latin typeface="맑은 고딕" panose="020B0503020000020004" pitchFamily="50" charset="-127"/>
              </a:rPr>
              <a:t>장부금액 </a:t>
            </a:r>
            <a:r>
              <a:rPr lang="en-US" altLang="ko-KR" sz="1500" b="1" dirty="0">
                <a:latin typeface="맑은 고딕" panose="020B0503020000020004" pitchFamily="50" charset="-127"/>
              </a:rPr>
              <a:t>&lt; </a:t>
            </a:r>
            <a:r>
              <a:rPr lang="ko-KR" altLang="en-US" sz="1500" b="1" dirty="0">
                <a:latin typeface="맑은 고딕" panose="020B0503020000020004" pitchFamily="50" charset="-127"/>
              </a:rPr>
              <a:t>상환금액 → 사채상환손실</a:t>
            </a:r>
            <a:endParaRPr lang="en-US" altLang="ko-KR" sz="1500" b="1" dirty="0">
              <a:latin typeface="맑은 고딕" panose="020B0503020000020004" pitchFamily="50" charset="-127"/>
            </a:endParaRPr>
          </a:p>
          <a:p>
            <a:pPr lvl="1">
              <a:spcBef>
                <a:spcPct val="0"/>
              </a:spcBef>
            </a:pPr>
            <a:r>
              <a:rPr lang="ko-KR" altLang="en-US" sz="1500" b="1" dirty="0">
                <a:latin typeface="맑은 고딕" panose="020B0503020000020004" pitchFamily="50" charset="-127"/>
              </a:rPr>
              <a:t>장부금액 </a:t>
            </a:r>
            <a:r>
              <a:rPr lang="en-US" altLang="ko-KR" sz="1500" b="1" dirty="0">
                <a:latin typeface="맑은 고딕" panose="020B0503020000020004" pitchFamily="50" charset="-127"/>
              </a:rPr>
              <a:t>&gt; </a:t>
            </a:r>
            <a:r>
              <a:rPr lang="ko-KR" altLang="en-US" sz="1500" b="1" dirty="0">
                <a:latin typeface="맑은 고딕" panose="020B0503020000020004" pitchFamily="50" charset="-127"/>
              </a:rPr>
              <a:t>상환금액 → 사채상환이익</a:t>
            </a:r>
            <a:endParaRPr lang="en-US" altLang="ko-KR" sz="1500" b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0423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532314" cy="4867642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11583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283130" cy="326949"/>
              <a:chOff x="190714" y="1320889"/>
              <a:chExt cx="28084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2808477" cy="290352"/>
                <a:chOff x="405822" y="2237753"/>
                <a:chExt cx="28084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29339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2" y="2237755"/>
                  <a:ext cx="2565280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8-6 </a:t>
                  </a:r>
                  <a:r>
                    <a:rPr lang="ko-KR" altLang="en-US" sz="1600" b="1" dirty="0"/>
                    <a:t>사채의 상환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50"/>
            <a:ext cx="7729382" cy="396875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</a:t>
            </a:r>
            <a:r>
              <a:rPr lang="ko-KR" altLang="en-US" sz="1500" b="1" dirty="0">
                <a:latin typeface="맑은 고딕" panose="020B0503020000020004" pitchFamily="50" charset="-127"/>
              </a:rPr>
              <a:t>교보생명보험은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 액면금액이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1,000,000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액면이자율이 </a:t>
            </a:r>
            <a:r>
              <a:rPr lang="en-US" altLang="ko-KR" sz="1500" b="1" dirty="0">
                <a:latin typeface="맑은 고딕" panose="020B0503020000020004" pitchFamily="50" charset="-127"/>
              </a:rPr>
              <a:t>8%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이며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매년말에</a:t>
            </a:r>
            <a:r>
              <a:rPr lang="ko-KR" altLang="en-US" sz="1500" b="1" dirty="0">
                <a:latin typeface="맑은 고딕" panose="020B0503020000020004" pitchFamily="50" charset="-127"/>
              </a:rPr>
              <a:t> 이자를 지급하는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만기의 사채를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950,263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발행한 후 채권시장에서 모두 매각하여 성공적으로 필요한 자금을 조달했다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 사채의 유효이자율은 </a:t>
            </a:r>
            <a:r>
              <a:rPr lang="en-US" altLang="ko-KR" sz="1500" b="1" dirty="0">
                <a:latin typeface="맑은 고딕" panose="020B0503020000020004" pitchFamily="50" charset="-127"/>
              </a:rPr>
              <a:t>10%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만기에 상환하는 경우와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500" b="1" dirty="0">
                <a:latin typeface="맑은 고딕" panose="020B0503020000020004" pitchFamily="50" charset="-127"/>
              </a:rPr>
              <a:t> 이자지급직후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990,000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에 상환하는 경우 각각에 관한 분개를 하라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dirty="0">
                <a:latin typeface="맑은 고딕" panose="020B0503020000020004" pitchFamily="50" charset="-127"/>
              </a:rPr>
              <a:t>사채를 만기</a:t>
            </a:r>
            <a:r>
              <a:rPr lang="en-US" altLang="ko-KR" sz="1600" dirty="0">
                <a:latin typeface="맑은 고딕" panose="020B0503020000020004" pitchFamily="50" charset="-127"/>
              </a:rPr>
              <a:t>(20×3</a:t>
            </a:r>
            <a:r>
              <a:rPr lang="ko-KR" altLang="en-US" sz="1600" dirty="0">
                <a:latin typeface="맑은 고딕" panose="020B0503020000020004" pitchFamily="50" charset="-127"/>
              </a:rPr>
              <a:t>년 </a:t>
            </a:r>
            <a:r>
              <a:rPr lang="en-US" altLang="ko-KR" sz="1600" dirty="0">
                <a:latin typeface="맑은 고딕" panose="020B0503020000020004" pitchFamily="50" charset="-127"/>
              </a:rPr>
              <a:t>12</a:t>
            </a:r>
            <a:r>
              <a:rPr lang="ko-KR" altLang="en-US" sz="1600" dirty="0">
                <a:latin typeface="맑은 고딕" panose="020B0503020000020004" pitchFamily="50" charset="-127"/>
              </a:rPr>
              <a:t>월 </a:t>
            </a:r>
            <a:r>
              <a:rPr lang="en-US" altLang="ko-KR" sz="1600" dirty="0">
                <a:latin typeface="맑은 고딕" panose="020B0503020000020004" pitchFamily="50" charset="-127"/>
              </a:rPr>
              <a:t>31</a:t>
            </a:r>
            <a:r>
              <a:rPr lang="ko-KR" altLang="en-US" sz="1600" dirty="0">
                <a:latin typeface="맑은 고딕" panose="020B0503020000020004" pitchFamily="50" charset="-127"/>
              </a:rPr>
              <a:t>일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에 상환하는 경우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</a:rPr>
              <a:t>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유동성사채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② 20×2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600" dirty="0">
                <a:latin typeface="맑은 고딕" panose="020B0503020000020004" pitchFamily="50" charset="-127"/>
              </a:rPr>
              <a:t> 이자지급 직후에 ￦</a:t>
            </a:r>
            <a:r>
              <a:rPr lang="en-US" altLang="ko-KR" sz="1600" dirty="0">
                <a:latin typeface="맑은 고딕" panose="020B0503020000020004" pitchFamily="50" charset="-127"/>
              </a:rPr>
              <a:t>990,000</a:t>
            </a:r>
            <a:r>
              <a:rPr lang="ko-KR" altLang="en-US" sz="1600" dirty="0">
                <a:latin typeface="맑은 고딕" panose="020B0503020000020004" pitchFamily="50" charset="-127"/>
              </a:rPr>
              <a:t>에 상환하는 경우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    채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1,000,000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990,000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사채상환손실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8,182*      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사채할인발행차금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18,182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        *</a:t>
            </a:r>
            <a:r>
              <a:rPr lang="ko-KR" altLang="en-US" sz="1200" dirty="0">
                <a:latin typeface="맑은 고딕" panose="020B0503020000020004" pitchFamily="50" charset="-127"/>
              </a:rPr>
              <a:t>사채상환손실 </a:t>
            </a:r>
            <a:r>
              <a:rPr lang="en-US" altLang="ko-KR" sz="1200" dirty="0">
                <a:latin typeface="맑은 고딕" panose="020B0503020000020004" pitchFamily="50" charset="-127"/>
              </a:rPr>
              <a:t>= </a:t>
            </a:r>
            <a:r>
              <a:rPr lang="ko-KR" altLang="en-US" sz="1200" dirty="0">
                <a:latin typeface="맑은 고딕" panose="020B0503020000020004" pitchFamily="50" charset="-127"/>
              </a:rPr>
              <a:t>상환금액</a:t>
            </a:r>
            <a:r>
              <a:rPr lang="en-US" altLang="ko-KR" sz="1200" dirty="0">
                <a:latin typeface="맑은 고딕" panose="020B0503020000020004" pitchFamily="50" charset="-127"/>
              </a:rPr>
              <a:t>-</a:t>
            </a:r>
            <a:r>
              <a:rPr lang="ko-KR" altLang="en-US" sz="1200" dirty="0">
                <a:latin typeface="맑은 고딕" panose="020B0503020000020004" pitchFamily="50" charset="-127"/>
              </a:rPr>
              <a:t>장부금액 </a:t>
            </a:r>
            <a:r>
              <a:rPr lang="en-US" altLang="ko-KR" sz="1200" dirty="0">
                <a:latin typeface="맑은 고딕" panose="020B0503020000020004" pitchFamily="50" charset="-127"/>
              </a:rPr>
              <a:t>= </a:t>
            </a:r>
            <a:r>
              <a:rPr lang="ko-KR" altLang="en-US" sz="1200" dirty="0">
                <a:latin typeface="맑은 고딕" panose="020B0503020000020004" pitchFamily="50" charset="-127"/>
              </a:rPr>
              <a:t>상환금액 </a:t>
            </a:r>
            <a:r>
              <a:rPr lang="en-US" altLang="ko-KR" sz="1200" dirty="0">
                <a:latin typeface="맑은 고딕" panose="020B0503020000020004" pitchFamily="50" charset="-127"/>
              </a:rPr>
              <a:t>– (</a:t>
            </a:r>
            <a:r>
              <a:rPr lang="ko-KR" altLang="en-US" sz="1200" dirty="0">
                <a:latin typeface="맑은 고딕" panose="020B0503020000020004" pitchFamily="50" charset="-127"/>
              </a:rPr>
              <a:t>액면금액</a:t>
            </a:r>
            <a:r>
              <a:rPr lang="en-US" altLang="ko-KR" sz="1200" dirty="0">
                <a:latin typeface="맑은 고딕" panose="020B0503020000020004" pitchFamily="50" charset="-127"/>
              </a:rPr>
              <a:t>-</a:t>
            </a:r>
            <a:r>
              <a:rPr lang="ko-KR" altLang="en-US" sz="1200" dirty="0" err="1">
                <a:latin typeface="맑은 고딕" panose="020B0503020000020004" pitchFamily="50" charset="-127"/>
              </a:rPr>
              <a:t>미상각사채할인발행차금</a:t>
            </a:r>
            <a:r>
              <a:rPr lang="en-US" altLang="ko-KR" sz="1200" dirty="0">
                <a:latin typeface="맑은 고딕" panose="020B0503020000020004" pitchFamily="50" charset="-127"/>
              </a:rPr>
              <a:t>)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200" dirty="0">
                <a:latin typeface="맑은 고딕" panose="020B0503020000020004" pitchFamily="50" charset="-127"/>
              </a:rPr>
              <a:t>                           =990,000-981,818=8,182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189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57473" y="1325621"/>
            <a:ext cx="8641369" cy="5328124"/>
            <a:chOff x="2626908" y="1722059"/>
            <a:chExt cx="11521825" cy="7104165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626908" y="2184974"/>
              <a:ext cx="11521825" cy="664125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과거사건이나 거래의 결과에 의한 현재의 의무로서 지출의 시기 또는 금액이 불확실한 부채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인식기준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①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과거사건의 결과로 현재의무가 존재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②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경제적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효익이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내재된 자원이 유출된 가능성이 높음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(50%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이상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의무의 이행에 소요되는 금액을 신뢰성 있게 추정할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회계처리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80000" indent="-144000"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설정 이후 실제 지출이 발생한 경우에는 설정액을 한도로 하여 충당부채를 차감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180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설정한 충당부채보다 더 많이 지출했다면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충당부채를 초과한 금액만큼은 실제 지출이 발생한 기간의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당기비용으로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인식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44000"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충당부채 설정을 통해 비용을 인식하는 이유는 수익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비용대응의 원칙 때문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908881" y="1722060"/>
              <a:ext cx="6727534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충당부채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828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5565D38-9A03-8651-648B-5D7942A1DE3F}"/>
              </a:ext>
            </a:extLst>
          </p:cNvPr>
          <p:cNvGrpSpPr/>
          <p:nvPr/>
        </p:nvGrpSpPr>
        <p:grpSpPr>
          <a:xfrm>
            <a:off x="216270" y="1263283"/>
            <a:ext cx="8532314" cy="5315317"/>
            <a:chOff x="190714" y="1320882"/>
            <a:chExt cx="8711460" cy="59064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887DC28-0AEC-EC69-096F-CC313B4BA2DC}"/>
                </a:ext>
              </a:extLst>
            </p:cNvPr>
            <p:cNvGrpSpPr/>
            <p:nvPr/>
          </p:nvGrpSpPr>
          <p:grpSpPr>
            <a:xfrm>
              <a:off x="361935" y="1461499"/>
              <a:ext cx="8540239" cy="5765843"/>
              <a:chOff x="269048" y="1722741"/>
              <a:chExt cx="8648775" cy="5765843"/>
            </a:xfrm>
          </p:grpSpPr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7B09949E-D91A-11AC-B155-4117573CC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742143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B98FA50-9A15-E5C6-9402-774BCCB8282B}"/>
                  </a:ext>
                </a:extLst>
              </p:cNvPr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17D1C05-FBA2-0DAC-57DE-66A20A034BB8}"/>
                </a:ext>
              </a:extLst>
            </p:cNvPr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AEC5964B-607D-96E1-8639-4886E2D9B831}"/>
                  </a:ext>
                </a:extLst>
              </p:cNvPr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7E1AC752-68D7-B290-88EC-76CB73496B82}"/>
                    </a:ext>
                  </a:extLst>
                </p:cNvPr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9" name="타원 8">
                  <a:extLst>
                    <a:ext uri="{FF2B5EF4-FFF2-40B4-BE49-F238E27FC236}">
                      <a16:creationId xmlns:a16="http://schemas.microsoft.com/office/drawing/2014/main" id="{780374DA-C1E7-4AC8-7AEE-1890A89F2CC8}"/>
                    </a:ext>
                  </a:extLst>
                </p:cNvPr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177108E3-0F71-7739-691C-D6A3AAA02405}"/>
                    </a:ext>
                  </a:extLst>
                </p:cNvPr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8-7 </a:t>
                  </a:r>
                  <a:r>
                    <a:rPr lang="ko-KR" altLang="en-US" sz="1600" b="1" dirty="0"/>
                    <a:t>제품보증충당부채</a:t>
                  </a:r>
                </a:p>
              </p:txBody>
            </p:sp>
            <p:sp>
              <p:nvSpPr>
                <p:cNvPr id="11" name="타원 10">
                  <a:extLst>
                    <a:ext uri="{FF2B5EF4-FFF2-40B4-BE49-F238E27FC236}">
                      <a16:creationId xmlns:a16="http://schemas.microsoft.com/office/drawing/2014/main" id="{DBB5C6E5-96F8-CF04-70D5-A132ADC81E99}"/>
                    </a:ext>
                  </a:extLst>
                </p:cNvPr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7" name="그림 6" descr="Log in | Sign Up Upload Clipart">
                <a:extLst>
                  <a:ext uri="{FF2B5EF4-FFF2-40B4-BE49-F238E27FC236}">
                    <a16:creationId xmlns:a16="http://schemas.microsoft.com/office/drawing/2014/main" id="{677C34BC-0FC5-6EEE-979E-982A14861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4" name="Rectangle 12">
            <a:extLst>
              <a:ext uri="{FF2B5EF4-FFF2-40B4-BE49-F238E27FC236}">
                <a16:creationId xmlns:a16="http://schemas.microsoft.com/office/drawing/2014/main" id="{1C435A39-64C0-7EA0-613F-525209515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36" y="1601650"/>
            <a:ext cx="7930078" cy="4693994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주</a:t>
            </a:r>
            <a:r>
              <a:rPr lang="en-US" altLang="ko-KR" sz="1500" dirty="0">
                <a:latin typeface="맑은 고딕" panose="020B0503020000020004" pitchFamily="50" charset="-127"/>
              </a:rPr>
              <a:t>)</a:t>
            </a:r>
            <a:r>
              <a:rPr lang="ko-KR" altLang="en-US" sz="1500" dirty="0">
                <a:latin typeface="맑은 고딕" panose="020B0503020000020004" pitchFamily="50" charset="-127"/>
              </a:rPr>
              <a:t>현대백화점은 제품을 판매할 때 구매자에게 제품보증을 제공한다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  <a:r>
              <a:rPr lang="ko-KR" altLang="en-US" sz="1500" dirty="0">
                <a:latin typeface="맑은 고딕" panose="020B0503020000020004" pitchFamily="50" charset="-127"/>
              </a:rPr>
              <a:t>판매시점으로부터 </a:t>
            </a:r>
            <a:r>
              <a:rPr lang="en-US" altLang="ko-KR" sz="1500" dirty="0">
                <a:latin typeface="맑은 고딕" panose="020B0503020000020004" pitchFamily="50" charset="-127"/>
              </a:rPr>
              <a:t>2</a:t>
            </a:r>
            <a:r>
              <a:rPr lang="ko-KR" altLang="en-US" sz="1500" dirty="0">
                <a:latin typeface="맑은 고딕" panose="020B0503020000020004" pitchFamily="50" charset="-127"/>
              </a:rPr>
              <a:t>년 동안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고장난</a:t>
            </a:r>
            <a:r>
              <a:rPr lang="ko-KR" altLang="en-US" sz="1500" dirty="0">
                <a:latin typeface="맑은 고딕" panose="020B0503020000020004" pitchFamily="50" charset="-127"/>
              </a:rPr>
              <a:t> 제품에 대해 제품보증조건에 따라 수선하거나 새 제품으로 교체해 주어야 한다</a:t>
            </a:r>
            <a:r>
              <a:rPr lang="en-US" altLang="ko-KR" sz="1500" dirty="0">
                <a:latin typeface="맑은 고딕" panose="020B0503020000020004" pitchFamily="50" charset="-127"/>
              </a:rPr>
              <a:t>. 20×1</a:t>
            </a:r>
            <a:r>
              <a:rPr lang="ko-KR" altLang="en-US" sz="1500" dirty="0">
                <a:latin typeface="맑은 고딕" panose="020B0503020000020004" pitchFamily="50" charset="-127"/>
              </a:rPr>
              <a:t>년 </a:t>
            </a:r>
            <a:r>
              <a:rPr lang="en-US" altLang="ko-KR" sz="1500" dirty="0">
                <a:latin typeface="맑은 고딕" panose="020B0503020000020004" pitchFamily="50" charset="-127"/>
              </a:rPr>
              <a:t>12</a:t>
            </a:r>
            <a:r>
              <a:rPr lang="ko-KR" altLang="en-US" sz="1500" dirty="0">
                <a:latin typeface="맑은 고딕" panose="020B0503020000020004" pitchFamily="50" charset="-127"/>
              </a:rPr>
              <a:t>월말 제품을 ￦</a:t>
            </a:r>
            <a:r>
              <a:rPr lang="en-US" altLang="ko-KR" sz="1500" dirty="0">
                <a:latin typeface="맑은 고딕" panose="020B0503020000020004" pitchFamily="50" charset="-127"/>
              </a:rPr>
              <a:t>200,000</a:t>
            </a:r>
            <a:r>
              <a:rPr lang="ko-KR" altLang="en-US" sz="1500" dirty="0">
                <a:latin typeface="맑은 고딕" panose="020B0503020000020004" pitchFamily="50" charset="-127"/>
              </a:rPr>
              <a:t>에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현금판매하였고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이와 관련하여 향후 </a:t>
            </a:r>
            <a:r>
              <a:rPr lang="en-US" altLang="ko-KR" sz="1500" dirty="0">
                <a:latin typeface="맑은 고딕" panose="020B0503020000020004" pitchFamily="50" charset="-127"/>
              </a:rPr>
              <a:t>2</a:t>
            </a:r>
            <a:r>
              <a:rPr lang="ko-KR" altLang="en-US" sz="1500" dirty="0">
                <a:latin typeface="맑은 고딕" panose="020B0503020000020004" pitchFamily="50" charset="-127"/>
              </a:rPr>
              <a:t>년 동안 ￦</a:t>
            </a:r>
            <a:r>
              <a:rPr lang="en-US" altLang="ko-KR" sz="1500" dirty="0">
                <a:latin typeface="맑은 고딕" panose="020B0503020000020004" pitchFamily="50" charset="-127"/>
              </a:rPr>
              <a:t>60,000</a:t>
            </a:r>
            <a:r>
              <a:rPr lang="ko-KR" altLang="en-US" sz="1500" dirty="0">
                <a:latin typeface="맑은 고딕" panose="020B0503020000020004" pitchFamily="50" charset="-127"/>
              </a:rPr>
              <a:t>만큼의 제품보증비가 발생할 것이라고 추정하였다</a:t>
            </a: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단</a:t>
            </a: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</a:rPr>
              <a:t>현재가치 평가는 중요하지 않다고 가정한다</a:t>
            </a:r>
            <a:r>
              <a:rPr lang="en-US" altLang="ko-KR" sz="1500" dirty="0">
                <a:latin typeface="맑은 고딕" panose="020B0503020000020004" pitchFamily="50" charset="-127"/>
              </a:rPr>
              <a:t>). 20×2</a:t>
            </a:r>
            <a:r>
              <a:rPr lang="ko-KR" altLang="en-US" sz="1500" dirty="0">
                <a:latin typeface="맑은 고딕" panose="020B0503020000020004" pitchFamily="50" charset="-127"/>
              </a:rPr>
              <a:t>년에 고장이 발생하여 현금지출한 제품보증비가 ￦</a:t>
            </a:r>
            <a:r>
              <a:rPr lang="en-US" altLang="ko-KR" sz="1500" dirty="0">
                <a:latin typeface="맑은 고딕" panose="020B0503020000020004" pitchFamily="50" charset="-127"/>
              </a:rPr>
              <a:t>35,000</a:t>
            </a:r>
            <a:r>
              <a:rPr lang="ko-KR" altLang="en-US" sz="1500" dirty="0">
                <a:latin typeface="맑은 고딕" panose="020B0503020000020004" pitchFamily="50" charset="-127"/>
              </a:rPr>
              <a:t>였다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① 20×1</a:t>
            </a:r>
            <a:r>
              <a:rPr lang="ko-KR" altLang="en-US" sz="1400" dirty="0" err="1">
                <a:latin typeface="맑은 고딕" panose="020B0503020000020004" pitchFamily="50" charset="-127"/>
              </a:rPr>
              <a:t>년말</a:t>
            </a: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</a:rPr>
              <a:t>충당부채 설정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200,000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   출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200,000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제품보증비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제품보증충당부채    </a:t>
            </a:r>
            <a:r>
              <a:rPr lang="ko-KR" altLang="en-US" sz="1200" b="1" dirty="0">
                <a:latin typeface="맑은 고딕" panose="020B0503020000020004" pitchFamily="50" charset="-127"/>
              </a:rPr>
              <a:t>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② 20×2</a:t>
            </a:r>
            <a:r>
              <a:rPr lang="ko-KR" altLang="en-US" sz="1400" dirty="0">
                <a:latin typeface="맑은 고딕" panose="020B0503020000020004" pitchFamily="50" charset="-127"/>
              </a:rPr>
              <a:t>년 ￦</a:t>
            </a:r>
            <a:r>
              <a:rPr lang="en-US" altLang="ko-KR" sz="1400" dirty="0">
                <a:latin typeface="맑은 고딕" panose="020B0503020000020004" pitchFamily="50" charset="-127"/>
              </a:rPr>
              <a:t>35,000</a:t>
            </a:r>
            <a:r>
              <a:rPr lang="ko-KR" altLang="en-US" sz="1400" dirty="0">
                <a:latin typeface="맑은 고딕" panose="020B0503020000020004" pitchFamily="50" charset="-127"/>
              </a:rPr>
              <a:t>의 제품보증비가 발생한 경우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제품보증충당부채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35,000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35,000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b="1" u="sng" dirty="0">
                <a:latin typeface="맑은 고딕" panose="020B0503020000020004" pitchFamily="50" charset="-127"/>
              </a:rPr>
              <a:t>만약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 20×2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년 ￦</a:t>
            </a:r>
            <a:r>
              <a:rPr lang="en-US" altLang="ko-KR" sz="1400" b="1" u="sng" dirty="0">
                <a:latin typeface="맑은 고딕" panose="020B0503020000020004" pitchFamily="50" charset="-127"/>
              </a:rPr>
              <a:t>70,000</a:t>
            </a:r>
            <a:r>
              <a:rPr lang="ko-KR" altLang="en-US" sz="1400" b="1" u="sng" dirty="0">
                <a:latin typeface="맑은 고딕" panose="020B0503020000020004" pitchFamily="50" charset="-127"/>
              </a:rPr>
              <a:t>의 제품보증비가 </a:t>
            </a:r>
            <a:r>
              <a:rPr lang="ko-KR" altLang="en-US" sz="1400" dirty="0">
                <a:latin typeface="맑은 고딕" panose="020B0503020000020004" pitchFamily="50" charset="-127"/>
              </a:rPr>
              <a:t>발생한 경우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제품보증충당부채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60,000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금      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70,000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   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제품보증비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</a:t>
            </a:r>
            <a:r>
              <a:rPr lang="ko-KR" altLang="en-US" sz="1100" b="1" dirty="0">
                <a:latin typeface="맑은 고딕" panose="020B0503020000020004" pitchFamily="50" charset="-127"/>
              </a:rPr>
              <a:t>  </a:t>
            </a:r>
            <a:r>
              <a:rPr lang="ko-KR" altLang="en-US" sz="1400" b="1" dirty="0">
                <a:latin typeface="맑은 고딕" panose="020B0503020000020004" pitchFamily="50" charset="-127"/>
              </a:rPr>
              <a:t>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     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ko-KR" altLang="en-US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3F53A5-53D5-F3DC-C56E-9BB00191F5E3}"/>
              </a:ext>
            </a:extLst>
          </p:cNvPr>
          <p:cNvSpPr/>
          <p:nvPr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14C5B5-61FA-A680-7196-F07B4D82EC58}"/>
              </a:ext>
            </a:extLst>
          </p:cNvPr>
          <p:cNvGrpSpPr/>
          <p:nvPr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B4B037-0241-DF71-4BA7-11C329918F37}"/>
                </a:ext>
              </a:extLst>
            </p:cNvPr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AFBEE4C-DB1F-3FE7-2AB9-91FB80B27039}"/>
                </a:ext>
              </a:extLst>
            </p:cNvPr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54D405-B135-A588-088F-BD3F51B4487F}"/>
                </a:ext>
              </a:extLst>
            </p:cNvPr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충당부채</a:t>
              </a:r>
            </a:p>
          </p:txBody>
        </p:sp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4A3C11D-C248-DF6E-C935-F13965967275}"/>
              </a:ext>
            </a:extLst>
          </p:cNvPr>
          <p:cNvSpPr txBox="1">
            <a:spLocks/>
          </p:cNvSpPr>
          <p:nvPr/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EB826C-2140-4E69-8666-7BFCAA9ECB1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71363B7-A7C3-DDB0-221C-58DCE2E21EC7}"/>
              </a:ext>
            </a:extLst>
          </p:cNvPr>
          <p:cNvGrpSpPr/>
          <p:nvPr/>
        </p:nvGrpSpPr>
        <p:grpSpPr>
          <a:xfrm>
            <a:off x="2750122" y="470747"/>
            <a:ext cx="3658591" cy="369332"/>
            <a:chOff x="2107219" y="601867"/>
            <a:chExt cx="3658591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2867D0-7C6D-293E-0555-44CB85F6CE59}"/>
                </a:ext>
              </a:extLst>
            </p:cNvPr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충당부채의 예</a:t>
              </a:r>
            </a:p>
          </p:txBody>
        </p:sp>
        <p:sp>
          <p:nvSpPr>
            <p:cNvPr id="24" name="눈물 방울 23">
              <a:extLst>
                <a:ext uri="{FF2B5EF4-FFF2-40B4-BE49-F238E27FC236}">
                  <a16:creationId xmlns:a16="http://schemas.microsoft.com/office/drawing/2014/main" id="{62FF547A-743C-49CC-2D8D-52942AC4D48E}"/>
                </a:ext>
              </a:extLst>
            </p:cNvPr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8942B8E-DAEA-8F3D-11C3-279F9C878A9B}"/>
              </a:ext>
            </a:extLst>
          </p:cNvPr>
          <p:cNvSpPr/>
          <p:nvPr/>
        </p:nvSpPr>
        <p:spPr>
          <a:xfrm>
            <a:off x="7307067" y="0"/>
            <a:ext cx="1836933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8. </a:t>
            </a:r>
            <a:r>
              <a:rPr lang="ko-KR" altLang="en-US" sz="1350" b="1" dirty="0" err="1">
                <a:solidFill>
                  <a:schemeClr val="tx1"/>
                </a:solidFill>
              </a:rPr>
              <a:t>사채와비유동부채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05253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2706</Words>
  <Application>Microsoft Office PowerPoint</Application>
  <PresentationFormat>화면 슬라이드 쇼(4:3)</PresentationFormat>
  <Paragraphs>551</Paragraphs>
  <Slides>33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33</vt:i4>
      </vt:variant>
    </vt:vector>
  </HeadingPairs>
  <TitlesOfParts>
    <vt:vector size="57" baseType="lpstr">
      <vt:lpstr>HY견고딕</vt:lpstr>
      <vt:lpstr>HY신명조</vt:lpstr>
      <vt:lpstr>굴림</vt:lpstr>
      <vt:lpstr>맑은 고딕</vt:lpstr>
      <vt:lpstr>신명 신명조</vt:lpstr>
      <vt:lpstr>한양중고딕</vt:lpstr>
      <vt:lpstr>함초롬바탕 확장</vt:lpstr>
      <vt:lpstr>휴먼신문명조</vt:lpstr>
      <vt:lpstr>Arial</vt:lpstr>
      <vt:lpstr>Arial Narrow</vt:lpstr>
      <vt:lpstr>Calibri</vt:lpstr>
      <vt:lpstr>Times New Roman</vt:lpstr>
      <vt:lpstr>Verdana</vt:lpstr>
      <vt:lpstr>Wingdings</vt:lpstr>
      <vt:lpstr>디자인 사용자 지정</vt:lpstr>
      <vt:lpstr>x.1 - 1.</vt:lpstr>
      <vt:lpstr>1_x.1 - 1.</vt:lpstr>
      <vt:lpstr>2_x.1 - 1.</vt:lpstr>
      <vt:lpstr>3_x.1 - 1.</vt:lpstr>
      <vt:lpstr>4_x.1 - 1.</vt:lpstr>
      <vt:lpstr>5_x.1 - 1.</vt:lpstr>
      <vt:lpstr>6_x.1 - 1.</vt:lpstr>
      <vt:lpstr>7_x.1 - 1.</vt:lpstr>
      <vt:lpstr>8_x.1 - 1.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석주 이</cp:lastModifiedBy>
  <cp:revision>1</cp:revision>
  <dcterms:created xsi:type="dcterms:W3CDTF">2024-07-23T07:28:09Z</dcterms:created>
  <dcterms:modified xsi:type="dcterms:W3CDTF">2025-11-15T05:45:28Z</dcterms:modified>
</cp:coreProperties>
</file>