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theme/theme11.xml" ContentType="application/vnd.openxmlformats-officedocument.theme+xml"/>
  <Override PartName="/ppt/slideLayouts/slideLayout22.xml" ContentType="application/vnd.openxmlformats-officedocument.presentationml.slideLayout+xml"/>
  <Override PartName="/ppt/theme/theme12.xml" ContentType="application/vnd.openxmlformats-officedocument.theme+xml"/>
  <Override PartName="/ppt/slideLayouts/slideLayout23.xml" ContentType="application/vnd.openxmlformats-officedocument.presentationml.slideLayout+xml"/>
  <Override PartName="/ppt/theme/theme13.xml" ContentType="application/vnd.openxmlformats-officedocument.theme+xml"/>
  <Override PartName="/ppt/slideLayouts/slideLayout24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  <p:sldMasterId id="2147483660" r:id="rId2"/>
    <p:sldMasterId id="2147483672" r:id="rId3"/>
    <p:sldMasterId id="2147483678" r:id="rId4"/>
    <p:sldMasterId id="2147483680" r:id="rId5"/>
    <p:sldMasterId id="2147483682" r:id="rId6"/>
    <p:sldMasterId id="2147483686" r:id="rId7"/>
    <p:sldMasterId id="2147483692" r:id="rId8"/>
    <p:sldMasterId id="2147483694" r:id="rId9"/>
    <p:sldMasterId id="2147483696" r:id="rId10"/>
    <p:sldMasterId id="2147483700" r:id="rId11"/>
    <p:sldMasterId id="2147483702" r:id="rId12"/>
    <p:sldMasterId id="2147483717" r:id="rId13"/>
    <p:sldMasterId id="2147483719" r:id="rId14"/>
  </p:sldMasterIdLst>
  <p:notesMasterIdLst>
    <p:notesMasterId r:id="rId48"/>
  </p:notesMasterIdLst>
  <p:handoutMasterIdLst>
    <p:handoutMasterId r:id="rId49"/>
  </p:handoutMasterIdLst>
  <p:sldIdLst>
    <p:sldId id="337" r:id="rId15"/>
    <p:sldId id="260" r:id="rId16"/>
    <p:sldId id="257" r:id="rId17"/>
    <p:sldId id="315" r:id="rId18"/>
    <p:sldId id="316" r:id="rId19"/>
    <p:sldId id="356" r:id="rId20"/>
    <p:sldId id="317" r:id="rId21"/>
    <p:sldId id="354" r:id="rId22"/>
    <p:sldId id="299" r:id="rId23"/>
    <p:sldId id="319" r:id="rId24"/>
    <p:sldId id="321" r:id="rId25"/>
    <p:sldId id="322" r:id="rId26"/>
    <p:sldId id="323" r:id="rId27"/>
    <p:sldId id="325" r:id="rId28"/>
    <p:sldId id="327" r:id="rId29"/>
    <p:sldId id="328" r:id="rId30"/>
    <p:sldId id="329" r:id="rId31"/>
    <p:sldId id="338" r:id="rId32"/>
    <p:sldId id="339" r:id="rId33"/>
    <p:sldId id="340" r:id="rId34"/>
    <p:sldId id="341" r:id="rId35"/>
    <p:sldId id="355" r:id="rId36"/>
    <p:sldId id="342" r:id="rId37"/>
    <p:sldId id="343" r:id="rId38"/>
    <p:sldId id="301" r:id="rId39"/>
    <p:sldId id="344" r:id="rId40"/>
    <p:sldId id="346" r:id="rId41"/>
    <p:sldId id="347" r:id="rId42"/>
    <p:sldId id="349" r:id="rId43"/>
    <p:sldId id="350" r:id="rId44"/>
    <p:sldId id="351" r:id="rId45"/>
    <p:sldId id="352" r:id="rId46"/>
    <p:sldId id="353" r:id="rId47"/>
  </p:sldIdLst>
  <p:sldSz cx="9144000" cy="6858000" type="screen4x3"/>
  <p:notesSz cx="6788150" cy="99234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925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1C8"/>
    <a:srgbClr val="257679"/>
    <a:srgbClr val="A0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41" autoAdjust="0"/>
    <p:restoredTop sz="97674" autoAdjust="0"/>
  </p:normalViewPr>
  <p:slideViewPr>
    <p:cSldViewPr snapToGrid="0">
      <p:cViewPr varScale="1">
        <p:scale>
          <a:sx n="10" d="100"/>
          <a:sy n="10" d="100"/>
        </p:scale>
        <p:origin x="18" y="1608"/>
      </p:cViewPr>
      <p:guideLst>
        <p:guide pos="2925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1920" y="114"/>
      </p:cViewPr>
      <p:guideLst>
        <p:guide orient="horz" pos="3126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mod">
      <pc:chgData name="석주 이" userId="b6553f64e91d015d" providerId="LiveId" clId="{7E74A06A-B2AA-4EEC-A19D-AA52293F645A}" dt="2025-12-06T05:05:45.439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D4E82-9012-4813-A800-96A0B7AF5900}" type="datetimeFigureOut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43CE8-4923-4E1A-85CA-D89EAFE510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6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C95B5-18C1-42EE-BB0C-37AB4DC6D577}" type="datetimeFigureOut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1239838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5" y="4775666"/>
            <a:ext cx="543052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AB4DE-ADC0-48AC-BA49-A9E5E6D44F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334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600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989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063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113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01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022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751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225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931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637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473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424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1926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349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4198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927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38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64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97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440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73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614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69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615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12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18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42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92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11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90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671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229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457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2253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2362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4569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4012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14388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0617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2840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3320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2347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D04BE-FBF1-4054-9E90-B4EBF223CF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18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직사각형 226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9" name="그룹 228"/>
          <p:cNvGrpSpPr/>
          <p:nvPr userDrawn="1"/>
        </p:nvGrpSpPr>
        <p:grpSpPr>
          <a:xfrm>
            <a:off x="4568324" y="400692"/>
            <a:ext cx="3063185" cy="369332"/>
            <a:chOff x="2107219" y="601866"/>
            <a:chExt cx="3063185" cy="369332"/>
          </a:xfrm>
        </p:grpSpPr>
        <p:sp>
          <p:nvSpPr>
            <p:cNvPr id="224" name="TextBox 223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현금흐름정보의 중요성</a:t>
              </a:r>
            </a:p>
          </p:txBody>
        </p:sp>
        <p:sp>
          <p:nvSpPr>
            <p:cNvPr id="226" name="눈물 방울 225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5" name="그룹 244"/>
          <p:cNvGrpSpPr/>
          <p:nvPr userDrawn="1"/>
        </p:nvGrpSpPr>
        <p:grpSpPr>
          <a:xfrm>
            <a:off x="91285" y="145881"/>
            <a:ext cx="4433534" cy="769441"/>
            <a:chOff x="80163" y="415932"/>
            <a:chExt cx="443353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31177"/>
              <a:ext cx="36720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현금흐름표의 의의</a:t>
              </a:r>
            </a:p>
          </p:txBody>
        </p:sp>
      </p:grpSp>
      <p:sp>
        <p:nvSpPr>
          <p:cNvPr id="249" name="직사각형 248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7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5" name="그룹 224"/>
          <p:cNvGrpSpPr/>
          <p:nvPr userDrawn="1"/>
        </p:nvGrpSpPr>
        <p:grpSpPr>
          <a:xfrm>
            <a:off x="4568324" y="400692"/>
            <a:ext cx="3063185" cy="369332"/>
            <a:chOff x="2107219" y="601866"/>
            <a:chExt cx="3063185" cy="369332"/>
          </a:xfrm>
        </p:grpSpPr>
        <p:sp>
          <p:nvSpPr>
            <p:cNvPr id="226" name="TextBox 225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현금흐름표상 현금의 정의</a:t>
              </a:r>
            </a:p>
          </p:txBody>
        </p:sp>
        <p:sp>
          <p:nvSpPr>
            <p:cNvPr id="229" name="눈물 방울 22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0" name="그룹 229"/>
          <p:cNvGrpSpPr/>
          <p:nvPr userDrawn="1"/>
        </p:nvGrpSpPr>
        <p:grpSpPr>
          <a:xfrm>
            <a:off x="91285" y="145881"/>
            <a:ext cx="4433534" cy="769441"/>
            <a:chOff x="80163" y="415932"/>
            <a:chExt cx="4433534" cy="769441"/>
          </a:xfrm>
        </p:grpSpPr>
        <p:sp>
          <p:nvSpPr>
            <p:cNvPr id="231" name="TextBox 23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직사각형 23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33" name="TextBox 232"/>
            <p:cNvSpPr txBox="1"/>
            <p:nvPr userDrawn="1"/>
          </p:nvSpPr>
          <p:spPr>
            <a:xfrm>
              <a:off x="841614" y="531177"/>
              <a:ext cx="36720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현금흐름표의 의의</a:t>
              </a:r>
            </a:p>
          </p:txBody>
        </p:sp>
      </p:grpSp>
      <p:sp>
        <p:nvSpPr>
          <p:cNvPr id="234" name="직사각형 233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56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921390" cy="769441"/>
            <a:chOff x="80163" y="415932"/>
            <a:chExt cx="4921390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65467"/>
              <a:ext cx="4159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현금흐름의 분류</a:t>
              </a:r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4123846" y="403137"/>
            <a:ext cx="2364356" cy="369332"/>
            <a:chOff x="2107219" y="598400"/>
            <a:chExt cx="2364356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58628" y="598400"/>
              <a:ext cx="2112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영업활동 현금흐름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5" name="직사각형 224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47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직사각형 224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6" name="그룹 225"/>
          <p:cNvGrpSpPr/>
          <p:nvPr userDrawn="1"/>
        </p:nvGrpSpPr>
        <p:grpSpPr>
          <a:xfrm>
            <a:off x="91285" y="145881"/>
            <a:ext cx="4921390" cy="769441"/>
            <a:chOff x="80163" y="415932"/>
            <a:chExt cx="4921390" cy="769441"/>
          </a:xfrm>
        </p:grpSpPr>
        <p:sp>
          <p:nvSpPr>
            <p:cNvPr id="227" name="TextBox 226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직사각형 227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29" name="TextBox 228"/>
            <p:cNvSpPr txBox="1"/>
            <p:nvPr userDrawn="1"/>
          </p:nvSpPr>
          <p:spPr>
            <a:xfrm>
              <a:off x="841614" y="565467"/>
              <a:ext cx="4159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현금흐름의 분류</a:t>
              </a:r>
            </a:p>
          </p:txBody>
        </p:sp>
      </p:grpSp>
      <p:grpSp>
        <p:nvGrpSpPr>
          <p:cNvPr id="230" name="그룹 229"/>
          <p:cNvGrpSpPr/>
          <p:nvPr userDrawn="1"/>
        </p:nvGrpSpPr>
        <p:grpSpPr>
          <a:xfrm>
            <a:off x="4142319" y="400692"/>
            <a:ext cx="2349045" cy="369332"/>
            <a:chOff x="2107219" y="601866"/>
            <a:chExt cx="2349045" cy="369332"/>
          </a:xfrm>
        </p:grpSpPr>
        <p:sp>
          <p:nvSpPr>
            <p:cNvPr id="231" name="TextBox 230"/>
            <p:cNvSpPr txBox="1"/>
            <p:nvPr userDrawn="1"/>
          </p:nvSpPr>
          <p:spPr>
            <a:xfrm>
              <a:off x="2343317" y="601866"/>
              <a:ext cx="2112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투자활동 현금흐름</a:t>
              </a:r>
            </a:p>
          </p:txBody>
        </p:sp>
        <p:sp>
          <p:nvSpPr>
            <p:cNvPr id="234" name="눈물 방울 23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923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직사각형 224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6" name="그룹 225"/>
          <p:cNvGrpSpPr/>
          <p:nvPr userDrawn="1"/>
        </p:nvGrpSpPr>
        <p:grpSpPr>
          <a:xfrm>
            <a:off x="91285" y="145881"/>
            <a:ext cx="4921390" cy="769441"/>
            <a:chOff x="80163" y="415932"/>
            <a:chExt cx="4921390" cy="769441"/>
          </a:xfrm>
        </p:grpSpPr>
        <p:sp>
          <p:nvSpPr>
            <p:cNvPr id="227" name="TextBox 226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직사각형 227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29" name="TextBox 228"/>
            <p:cNvSpPr txBox="1"/>
            <p:nvPr userDrawn="1"/>
          </p:nvSpPr>
          <p:spPr>
            <a:xfrm>
              <a:off x="841614" y="565467"/>
              <a:ext cx="4159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현금흐름의 분류</a:t>
              </a:r>
            </a:p>
          </p:txBody>
        </p:sp>
      </p:grpSp>
      <p:grpSp>
        <p:nvGrpSpPr>
          <p:cNvPr id="230" name="그룹 229"/>
          <p:cNvGrpSpPr/>
          <p:nvPr userDrawn="1"/>
        </p:nvGrpSpPr>
        <p:grpSpPr>
          <a:xfrm>
            <a:off x="4142319" y="400692"/>
            <a:ext cx="2349045" cy="369332"/>
            <a:chOff x="2107219" y="601866"/>
            <a:chExt cx="2349045" cy="369332"/>
          </a:xfrm>
        </p:grpSpPr>
        <p:sp>
          <p:nvSpPr>
            <p:cNvPr id="231" name="TextBox 230"/>
            <p:cNvSpPr txBox="1"/>
            <p:nvPr userDrawn="1"/>
          </p:nvSpPr>
          <p:spPr>
            <a:xfrm>
              <a:off x="2343317" y="601866"/>
              <a:ext cx="2112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재무활동 현금흐름</a:t>
              </a:r>
            </a:p>
          </p:txBody>
        </p:sp>
        <p:sp>
          <p:nvSpPr>
            <p:cNvPr id="234" name="눈물 방울 23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612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직사각형 218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7935115" cy="769441"/>
            <a:chOff x="80163" y="415932"/>
            <a:chExt cx="7935115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71736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 err="1"/>
                <a:t>현금흐름표</a:t>
              </a:r>
              <a:r>
                <a:rPr lang="ko-KR" altLang="en-US" sz="2800" b="1" dirty="0"/>
                <a:t> 작성을 위한 거래의 분석</a:t>
              </a:r>
            </a:p>
          </p:txBody>
        </p:sp>
      </p:grpSp>
      <p:sp>
        <p:nvSpPr>
          <p:cNvPr id="226" name="직사각형 225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50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현금흐름표의 작성</a:t>
              </a:r>
            </a:p>
          </p:txBody>
        </p:sp>
      </p:grpSp>
      <p:sp>
        <p:nvSpPr>
          <p:cNvPr id="226" name="직사각형 225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7" name="그룹 226"/>
          <p:cNvGrpSpPr/>
          <p:nvPr userDrawn="1"/>
        </p:nvGrpSpPr>
        <p:grpSpPr>
          <a:xfrm>
            <a:off x="4572001" y="400692"/>
            <a:ext cx="3394743" cy="369332"/>
            <a:chOff x="2107219" y="601866"/>
            <a:chExt cx="3394743" cy="369332"/>
          </a:xfrm>
        </p:grpSpPr>
        <p:sp>
          <p:nvSpPr>
            <p:cNvPr id="228" name="TextBox 227"/>
            <p:cNvSpPr txBox="1"/>
            <p:nvPr userDrawn="1"/>
          </p:nvSpPr>
          <p:spPr>
            <a:xfrm>
              <a:off x="2343317" y="601866"/>
              <a:ext cx="3158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영업활동 현금흐름 </a:t>
              </a:r>
              <a:r>
                <a:rPr lang="en-US" altLang="ko-KR" b="1" dirty="0"/>
                <a:t>-</a:t>
              </a:r>
              <a:r>
                <a:rPr lang="en-US" altLang="ko-KR" b="1" baseline="0" dirty="0"/>
                <a:t> </a:t>
              </a:r>
              <a:r>
                <a:rPr lang="ko-KR" altLang="en-US" b="1" baseline="0" dirty="0"/>
                <a:t>직접법</a:t>
              </a:r>
              <a:endParaRPr lang="ko-KR" altLang="en-US" b="1" dirty="0"/>
            </a:p>
          </p:txBody>
        </p:sp>
        <p:sp>
          <p:nvSpPr>
            <p:cNvPr id="231" name="눈물 방울 230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316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직사각형 449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40" name="그룹 439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441" name="TextBox 44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직사각형 44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443" name="TextBox 442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현금흐름표의 작성</a:t>
              </a:r>
            </a:p>
          </p:txBody>
        </p:sp>
      </p:grpSp>
      <p:sp>
        <p:nvSpPr>
          <p:cNvPr id="444" name="직사각형 443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445" name="그룹 444"/>
          <p:cNvGrpSpPr/>
          <p:nvPr userDrawn="1"/>
        </p:nvGrpSpPr>
        <p:grpSpPr>
          <a:xfrm>
            <a:off x="4438218" y="400692"/>
            <a:ext cx="3394743" cy="369332"/>
            <a:chOff x="2107219" y="601866"/>
            <a:chExt cx="3394743" cy="369332"/>
          </a:xfrm>
        </p:grpSpPr>
        <p:sp>
          <p:nvSpPr>
            <p:cNvPr id="446" name="TextBox 445"/>
            <p:cNvSpPr txBox="1"/>
            <p:nvPr userDrawn="1"/>
          </p:nvSpPr>
          <p:spPr>
            <a:xfrm>
              <a:off x="2343317" y="601866"/>
              <a:ext cx="3158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영업활동 현금흐름 </a:t>
              </a:r>
              <a:r>
                <a:rPr lang="en-US" altLang="ko-KR" b="1" dirty="0"/>
                <a:t>-</a:t>
              </a:r>
              <a:r>
                <a:rPr lang="en-US" altLang="ko-KR" b="1" baseline="0" dirty="0"/>
                <a:t> </a:t>
              </a:r>
              <a:r>
                <a:rPr lang="ko-KR" altLang="en-US" b="1" baseline="0" dirty="0"/>
                <a:t>간접법</a:t>
              </a:r>
              <a:endParaRPr lang="ko-KR" altLang="en-US" b="1" dirty="0"/>
            </a:p>
          </p:txBody>
        </p:sp>
        <p:sp>
          <p:nvSpPr>
            <p:cNvPr id="449" name="눈물 방울 4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619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6" name="그룹 225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227" name="TextBox 226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직사각형 227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29" name="TextBox 228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현금흐름표의 작성</a:t>
              </a:r>
            </a:p>
          </p:txBody>
        </p:sp>
      </p:grpSp>
      <p:sp>
        <p:nvSpPr>
          <p:cNvPr id="230" name="직사각형 229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31" name="그룹 230"/>
          <p:cNvGrpSpPr/>
          <p:nvPr userDrawn="1"/>
        </p:nvGrpSpPr>
        <p:grpSpPr>
          <a:xfrm>
            <a:off x="4438218" y="400692"/>
            <a:ext cx="3373782" cy="369332"/>
            <a:chOff x="2107219" y="601866"/>
            <a:chExt cx="3373782" cy="369332"/>
          </a:xfrm>
        </p:grpSpPr>
        <p:sp>
          <p:nvSpPr>
            <p:cNvPr id="232" name="TextBox 231"/>
            <p:cNvSpPr txBox="1"/>
            <p:nvPr userDrawn="1"/>
          </p:nvSpPr>
          <p:spPr>
            <a:xfrm>
              <a:off x="2322356" y="601866"/>
              <a:ext cx="3158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투자활동 현금흐름 </a:t>
              </a:r>
              <a:r>
                <a:rPr lang="en-US" altLang="ko-KR" b="1" dirty="0"/>
                <a:t>- </a:t>
              </a:r>
              <a:r>
                <a:rPr lang="ko-KR" altLang="en-US" b="1" dirty="0"/>
                <a:t>간접법 </a:t>
              </a:r>
            </a:p>
          </p:txBody>
        </p:sp>
        <p:sp>
          <p:nvSpPr>
            <p:cNvPr id="235" name="눈물 방울 234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309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6" name="그룹 225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227" name="TextBox 226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직사각형 227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29" name="TextBox 228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현금흐름표의 작성</a:t>
              </a:r>
            </a:p>
          </p:txBody>
        </p:sp>
      </p:grpSp>
      <p:sp>
        <p:nvSpPr>
          <p:cNvPr id="230" name="직사각형 229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31" name="그룹 230"/>
          <p:cNvGrpSpPr/>
          <p:nvPr userDrawn="1"/>
        </p:nvGrpSpPr>
        <p:grpSpPr>
          <a:xfrm>
            <a:off x="4438218" y="400692"/>
            <a:ext cx="3394743" cy="369332"/>
            <a:chOff x="2107219" y="601866"/>
            <a:chExt cx="3394743" cy="369332"/>
          </a:xfrm>
        </p:grpSpPr>
        <p:sp>
          <p:nvSpPr>
            <p:cNvPr id="232" name="TextBox 231"/>
            <p:cNvSpPr txBox="1"/>
            <p:nvPr userDrawn="1"/>
          </p:nvSpPr>
          <p:spPr>
            <a:xfrm>
              <a:off x="2343317" y="601866"/>
              <a:ext cx="3158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재무활동 현금흐름 </a:t>
              </a:r>
              <a:r>
                <a:rPr lang="en-US" altLang="ko-KR" b="1" dirty="0"/>
                <a:t>- </a:t>
              </a:r>
              <a:r>
                <a:rPr lang="ko-KR" altLang="en-US" b="1" dirty="0"/>
                <a:t>간접법 </a:t>
              </a:r>
            </a:p>
          </p:txBody>
        </p:sp>
        <p:sp>
          <p:nvSpPr>
            <p:cNvPr id="235" name="눈물 방울 234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621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6" name="그룹 225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227" name="TextBox 226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직사각형 227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29" name="TextBox 228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현금흐름표의 작성</a:t>
              </a:r>
            </a:p>
          </p:txBody>
        </p:sp>
      </p:grpSp>
      <p:sp>
        <p:nvSpPr>
          <p:cNvPr id="230" name="직사각형 229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31" name="그룹 230"/>
          <p:cNvGrpSpPr/>
          <p:nvPr userDrawn="1"/>
        </p:nvGrpSpPr>
        <p:grpSpPr>
          <a:xfrm>
            <a:off x="4438218" y="400692"/>
            <a:ext cx="3394743" cy="369332"/>
            <a:chOff x="2107219" y="601866"/>
            <a:chExt cx="3394743" cy="369332"/>
          </a:xfrm>
        </p:grpSpPr>
        <p:sp>
          <p:nvSpPr>
            <p:cNvPr id="232" name="TextBox 231"/>
            <p:cNvSpPr txBox="1"/>
            <p:nvPr userDrawn="1"/>
          </p:nvSpPr>
          <p:spPr>
            <a:xfrm>
              <a:off x="2343317" y="601866"/>
              <a:ext cx="3158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종합</a:t>
              </a:r>
            </a:p>
          </p:txBody>
        </p:sp>
        <p:sp>
          <p:nvSpPr>
            <p:cNvPr id="235" name="눈물 방울 234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447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직사각형 218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6" name="그룹 225"/>
          <p:cNvGrpSpPr/>
          <p:nvPr userDrawn="1"/>
        </p:nvGrpSpPr>
        <p:grpSpPr>
          <a:xfrm>
            <a:off x="90723" y="224685"/>
            <a:ext cx="7468316" cy="655506"/>
            <a:chOff x="79601" y="494736"/>
            <a:chExt cx="7468316" cy="655506"/>
          </a:xfrm>
        </p:grpSpPr>
        <p:sp>
          <p:nvSpPr>
            <p:cNvPr id="227" name="TextBox 226"/>
            <p:cNvSpPr txBox="1"/>
            <p:nvPr userDrawn="1"/>
          </p:nvSpPr>
          <p:spPr>
            <a:xfrm>
              <a:off x="79601" y="646779"/>
              <a:ext cx="832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보론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직사각형 227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29" name="TextBox 228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직접법을 이용한 영업활동 현금흐름</a:t>
              </a:r>
            </a:p>
          </p:txBody>
        </p:sp>
      </p:grpSp>
      <p:sp>
        <p:nvSpPr>
          <p:cNvPr id="230" name="직사각형 229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55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직사각형 218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6" name="그룹 225"/>
          <p:cNvGrpSpPr/>
          <p:nvPr userDrawn="1"/>
        </p:nvGrpSpPr>
        <p:grpSpPr>
          <a:xfrm>
            <a:off x="90723" y="224685"/>
            <a:ext cx="7468316" cy="655506"/>
            <a:chOff x="79601" y="494736"/>
            <a:chExt cx="7468316" cy="655506"/>
          </a:xfrm>
        </p:grpSpPr>
        <p:sp>
          <p:nvSpPr>
            <p:cNvPr id="227" name="TextBox 226"/>
            <p:cNvSpPr txBox="1"/>
            <p:nvPr userDrawn="1"/>
          </p:nvSpPr>
          <p:spPr>
            <a:xfrm>
              <a:off x="79601" y="646779"/>
              <a:ext cx="832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보론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직사각형 227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29" name="TextBox 228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현금흐름표</a:t>
              </a:r>
              <a:r>
                <a:rPr lang="ko-KR" altLang="en-US" sz="3200" b="1" dirty="0"/>
                <a:t> 종합 </a:t>
              </a:r>
              <a:r>
                <a:rPr lang="en-US" altLang="ko-KR" sz="3200" b="1" dirty="0"/>
                <a:t>- </a:t>
              </a:r>
              <a:r>
                <a:rPr lang="ko-KR" altLang="en-US" sz="3200" b="1" dirty="0"/>
                <a:t>직접법</a:t>
              </a:r>
            </a:p>
          </p:txBody>
        </p:sp>
      </p:grpSp>
      <p:sp>
        <p:nvSpPr>
          <p:cNvPr id="230" name="직사각형 229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11.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현금흐름표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901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6238430"/>
            <a:ext cx="9144000" cy="61956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027679" y="1158827"/>
            <a:ext cx="7161667" cy="1707192"/>
            <a:chOff x="1226912" y="1785991"/>
            <a:chExt cx="7161667" cy="1707192"/>
          </a:xfrm>
        </p:grpSpPr>
        <p:sp>
          <p:nvSpPr>
            <p:cNvPr id="9" name="TextBox 8"/>
            <p:cNvSpPr txBox="1"/>
            <p:nvPr/>
          </p:nvSpPr>
          <p:spPr>
            <a:xfrm>
              <a:off x="2526164" y="1950256"/>
              <a:ext cx="586241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현금흐름표</a:t>
              </a:r>
              <a:endParaRPr lang="en-US" altLang="ko-KR" sz="60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2901872" y="3097883"/>
              <a:ext cx="3147235" cy="0"/>
            </a:xfrm>
            <a:prstGeom prst="line">
              <a:avLst/>
            </a:prstGeom>
            <a:ln w="38100">
              <a:solidFill>
                <a:srgbClr val="406FA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2901872" y="3216157"/>
              <a:ext cx="3147236" cy="2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di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굴림" panose="020B0600000101010101" pitchFamily="50" charset="-127"/>
                  <a:cs typeface="Arial" panose="020B0604020202020204" pitchFamily="34" charset="0"/>
                </a:rPr>
                <a:t>STATEMENT OF CASH</a:t>
              </a:r>
              <a:r>
                <a:rPr kumimoji="0" lang="en-US" altLang="ko-KR" sz="1200" i="0" u="none" strike="noStrike" kern="0" cap="none" spc="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굴림" panose="020B0600000101010101" pitchFamily="50" charset="-127"/>
                  <a:cs typeface="Arial" panose="020B0604020202020204" pitchFamily="34" charset="0"/>
                </a:rPr>
                <a:t> FLOWS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226912" y="1785991"/>
              <a:ext cx="1174535" cy="1329738"/>
              <a:chOff x="1226912" y="1936466"/>
              <a:chExt cx="1174535" cy="1329738"/>
            </a:xfrm>
          </p:grpSpPr>
          <p:sp>
            <p:nvSpPr>
              <p:cNvPr id="20" name="자유형 19"/>
              <p:cNvSpPr/>
              <p:nvPr/>
            </p:nvSpPr>
            <p:spPr>
              <a:xfrm>
                <a:off x="1226912" y="1936466"/>
                <a:ext cx="1174535" cy="1329738"/>
              </a:xfrm>
              <a:custGeom>
                <a:avLst/>
                <a:gdLst>
                  <a:gd name="connsiteX0" fmla="*/ 687736 w 1174535"/>
                  <a:gd name="connsiteY0" fmla="*/ 178488 h 1329738"/>
                  <a:gd name="connsiteX1" fmla="*/ 1174535 w 1174535"/>
                  <a:gd name="connsiteY1" fmla="*/ 665287 h 1329738"/>
                  <a:gd name="connsiteX2" fmla="*/ 687736 w 1174535"/>
                  <a:gd name="connsiteY2" fmla="*/ 1152086 h 1329738"/>
                  <a:gd name="connsiteX3" fmla="*/ 200937 w 1174535"/>
                  <a:gd name="connsiteY3" fmla="*/ 665287 h 1329738"/>
                  <a:gd name="connsiteX4" fmla="*/ 687736 w 1174535"/>
                  <a:gd name="connsiteY4" fmla="*/ 178488 h 1329738"/>
                  <a:gd name="connsiteX5" fmla="*/ 664869 w 1174535"/>
                  <a:gd name="connsiteY5" fmla="*/ 0 h 1329738"/>
                  <a:gd name="connsiteX6" fmla="*/ 664869 w 1174535"/>
                  <a:gd name="connsiteY6" fmla="*/ 107437 h 1329738"/>
                  <a:gd name="connsiteX7" fmla="*/ 107437 w 1174535"/>
                  <a:gd name="connsiteY7" fmla="*/ 664869 h 1329738"/>
                  <a:gd name="connsiteX8" fmla="*/ 664869 w 1174535"/>
                  <a:gd name="connsiteY8" fmla="*/ 1222301 h 1329738"/>
                  <a:gd name="connsiteX9" fmla="*/ 664869 w 1174535"/>
                  <a:gd name="connsiteY9" fmla="*/ 1329738 h 1329738"/>
                  <a:gd name="connsiteX10" fmla="*/ 0 w 1174535"/>
                  <a:gd name="connsiteY10" fmla="*/ 664869 h 1329738"/>
                  <a:gd name="connsiteX11" fmla="*/ 664869 w 1174535"/>
                  <a:gd name="connsiteY11" fmla="*/ 0 h 132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535" h="1329738">
                    <a:moveTo>
                      <a:pt x="687736" y="178488"/>
                    </a:moveTo>
                    <a:cubicBezTo>
                      <a:pt x="956588" y="178488"/>
                      <a:pt x="1174535" y="396435"/>
                      <a:pt x="1174535" y="665287"/>
                    </a:cubicBezTo>
                    <a:cubicBezTo>
                      <a:pt x="1174535" y="934139"/>
                      <a:pt x="956588" y="1152086"/>
                      <a:pt x="687736" y="1152086"/>
                    </a:cubicBezTo>
                    <a:cubicBezTo>
                      <a:pt x="418884" y="1152086"/>
                      <a:pt x="200937" y="934139"/>
                      <a:pt x="200937" y="665287"/>
                    </a:cubicBezTo>
                    <a:cubicBezTo>
                      <a:pt x="200937" y="396435"/>
                      <a:pt x="418884" y="178488"/>
                      <a:pt x="687736" y="178488"/>
                    </a:cubicBezTo>
                    <a:close/>
                    <a:moveTo>
                      <a:pt x="664869" y="0"/>
                    </a:moveTo>
                    <a:lnTo>
                      <a:pt x="664869" y="107437"/>
                    </a:lnTo>
                    <a:cubicBezTo>
                      <a:pt x="357008" y="107437"/>
                      <a:pt x="107437" y="357008"/>
                      <a:pt x="107437" y="664869"/>
                    </a:cubicBezTo>
                    <a:cubicBezTo>
                      <a:pt x="107437" y="972730"/>
                      <a:pt x="357008" y="1222301"/>
                      <a:pt x="664869" y="1222301"/>
                    </a:cubicBezTo>
                    <a:lnTo>
                      <a:pt x="664869" y="1329738"/>
                    </a:lnTo>
                    <a:cubicBezTo>
                      <a:pt x="297672" y="1329738"/>
                      <a:pt x="0" y="1032066"/>
                      <a:pt x="0" y="664869"/>
                    </a:cubicBezTo>
                    <a:cubicBezTo>
                      <a:pt x="0" y="297672"/>
                      <a:pt x="297672" y="0"/>
                      <a:pt x="664869" y="0"/>
                    </a:cubicBezTo>
                    <a:close/>
                  </a:path>
                </a:pathLst>
              </a:custGeom>
              <a:gradFill>
                <a:gsLst>
                  <a:gs pos="37000">
                    <a:srgbClr val="406FA7"/>
                  </a:gs>
                  <a:gs pos="52000">
                    <a:srgbClr val="4C979A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1518125" y="2215223"/>
                <a:ext cx="8180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  <a:endParaRPr lang="ko-KR" altLang="en-US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04BE-FBF1-4054-9E90-B4EBF223CFDB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4378F7-C963-4D51-B136-BD186E4B39DC}"/>
              </a:ext>
            </a:extLst>
          </p:cNvPr>
          <p:cNvSpPr txBox="1"/>
          <p:nvPr/>
        </p:nvSpPr>
        <p:spPr>
          <a:xfrm>
            <a:off x="5852160" y="6356703"/>
            <a:ext cx="32918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사례와 함께하는 </a:t>
            </a:r>
            <a:r>
              <a:rPr lang="ko-KR" altLang="en-US" sz="2600" b="1" dirty="0">
                <a:solidFill>
                  <a:schemeClr val="bg1"/>
                </a:solidFill>
                <a:latin typeface="함초롬바탕 확장" panose="02030504000101010101" pitchFamily="18" charset="-127"/>
                <a:ea typeface="함초롬바탕 확장" panose="02030504000101010101" pitchFamily="18" charset="-127"/>
              </a:rPr>
              <a:t>회계원리</a:t>
            </a:r>
          </a:p>
        </p:txBody>
      </p:sp>
    </p:spTree>
    <p:extLst>
      <p:ext uri="{BB962C8B-B14F-4D97-AF65-F5344CB8AC3E}">
        <p14:creationId xmlns:p14="http://schemas.microsoft.com/office/powerpoint/2010/main" val="612220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248404" y="1324673"/>
            <a:ext cx="8641369" cy="1156428"/>
            <a:chOff x="2626683" y="1693823"/>
            <a:chExt cx="11521825" cy="1541904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111010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288000" latinLnBrk="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latin typeface="맑은 고딕" pitchFamily="50" charset="-127"/>
                </a:rPr>
                <a:t>기업이 영업활동</a:t>
              </a:r>
              <a:r>
                <a:rPr lang="en-US" altLang="ko-KR" sz="1600" dirty="0">
                  <a:latin typeface="맑은 고딕" pitchFamily="50" charset="-127"/>
                </a:rPr>
                <a:t>, </a:t>
              </a:r>
              <a:r>
                <a:rPr lang="ko-KR" altLang="en-US" sz="1600" dirty="0">
                  <a:latin typeface="맑은 고딕" pitchFamily="50" charset="-127"/>
                </a:rPr>
                <a:t>투자활동</a:t>
              </a:r>
              <a:r>
                <a:rPr lang="en-US" altLang="ko-KR" sz="1600" dirty="0">
                  <a:latin typeface="맑은 고딕" pitchFamily="50" charset="-127"/>
                </a:rPr>
                <a:t>, </a:t>
              </a:r>
              <a:r>
                <a:rPr lang="ko-KR" altLang="en-US" sz="1600" dirty="0">
                  <a:latin typeface="맑은 고딕" pitchFamily="50" charset="-127"/>
                </a:rPr>
                <a:t>재무활동을 통해서 현금을 어떻게 창출하고 사용했는지를 알려주는 재무제표</a:t>
              </a: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현금흐름표의 정의</a:t>
              </a:r>
            </a:p>
          </p:txBody>
        </p:sp>
      </p:grp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-230764" y="-14605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CEAB9A-577B-42CC-A8D8-134A61C5D261}"/>
              </a:ext>
            </a:extLst>
          </p:cNvPr>
          <p:cNvSpPr/>
          <p:nvPr/>
        </p:nvSpPr>
        <p:spPr>
          <a:xfrm>
            <a:off x="254227" y="1324673"/>
            <a:ext cx="211480" cy="31907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F0185A5-31AD-44F8-A647-D9F960C87C0D}"/>
              </a:ext>
            </a:extLst>
          </p:cNvPr>
          <p:cNvGrpSpPr/>
          <p:nvPr/>
        </p:nvGrpSpPr>
        <p:grpSpPr>
          <a:xfrm>
            <a:off x="254227" y="2521379"/>
            <a:ext cx="4968938" cy="338554"/>
            <a:chOff x="1287462" y="4776539"/>
            <a:chExt cx="4754212" cy="338554"/>
          </a:xfrm>
        </p:grpSpPr>
        <p:sp>
          <p:nvSpPr>
            <p:cNvPr id="13" name="오각형 8">
              <a:extLst>
                <a:ext uri="{FF2B5EF4-FFF2-40B4-BE49-F238E27FC236}">
                  <a16:creationId xmlns:a16="http://schemas.microsoft.com/office/drawing/2014/main" id="{9ABCDF2A-6755-4C4C-BF87-0C1003F0052B}"/>
                </a:ext>
              </a:extLst>
            </p:cNvPr>
            <p:cNvSpPr/>
            <p:nvPr/>
          </p:nvSpPr>
          <p:spPr>
            <a:xfrm>
              <a:off x="1287462" y="4807765"/>
              <a:ext cx="71118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A5652C-F0AC-4CD8-8C08-B7485307C09E}"/>
                </a:ext>
              </a:extLst>
            </p:cNvPr>
            <p:cNvSpPr txBox="1"/>
            <p:nvPr/>
          </p:nvSpPr>
          <p:spPr>
            <a:xfrm>
              <a:off x="1877940" y="4776539"/>
              <a:ext cx="4163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 현금흐름의 구분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867" y="2552605"/>
            <a:ext cx="3269611" cy="3629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2616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327812" y="1852247"/>
            <a:ext cx="8641369" cy="1386253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486900" indent="-342900" latinLnBrk="0">
              <a:spcBef>
                <a:spcPts val="600"/>
              </a:spcBef>
              <a:buClrTx/>
              <a:buSzTx/>
              <a:buFont typeface="+mj-ea"/>
              <a:buAutoNum type="circleNumDbPlain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경영의사결정에 필요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486900" indent="-342900" latinLnBrk="0">
              <a:spcBef>
                <a:spcPts val="600"/>
              </a:spcBef>
              <a:buClrTx/>
              <a:buSzTx/>
              <a:buFont typeface="+mj-ea"/>
              <a:buAutoNum type="circleNumDbPlain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미래현금흐름의 예측에 필요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486900" indent="-342900" latinLnBrk="0">
              <a:spcBef>
                <a:spcPts val="600"/>
              </a:spcBef>
              <a:buClrTx/>
              <a:buSzTx/>
              <a:buFont typeface="+mj-ea"/>
              <a:buAutoNum type="circleNumDbPlain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재무건전성 파악에 필요</a:t>
            </a:r>
          </a:p>
          <a:p>
            <a:pPr marL="486900" indent="-342900" latinLnBrk="0">
              <a:spcBef>
                <a:spcPts val="600"/>
              </a:spcBef>
              <a:buClrTx/>
              <a:buSzTx/>
              <a:buFont typeface="+mj-ea"/>
              <a:buAutoNum type="circleNumDbPlain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이익의 질 평가에 필요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57473" y="1430362"/>
            <a:ext cx="7492624" cy="340256"/>
            <a:chOff x="257473" y="1430362"/>
            <a:chExt cx="7492624" cy="340256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현금흐름정보의 중요성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57473" y="3907585"/>
            <a:ext cx="8641369" cy="1759790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 </a:t>
            </a:r>
            <a:r>
              <a:rPr lang="ko-KR" altLang="en-US" sz="1600" dirty="0">
                <a:latin typeface="맑은 고딕" panose="020B0503020000020004" pitchFamily="50" charset="-127"/>
              </a:rPr>
              <a:t>현금흐름표를 작성할 때 현금은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현금및현금성자산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을</a:t>
            </a:r>
            <a:r>
              <a:rPr lang="ko-KR" altLang="en-US" sz="1600" dirty="0">
                <a:latin typeface="맑은 고딕" panose="020B0503020000020004" pitchFamily="50" charset="-127"/>
              </a:rPr>
              <a:t> 의미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257473" y="3556336"/>
            <a:ext cx="7492624" cy="340256"/>
            <a:chOff x="257473" y="1430362"/>
            <a:chExt cx="7492624" cy="340256"/>
          </a:xfrm>
        </p:grpSpPr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현금흐름표상 현금의 정의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0356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45037" y="1822506"/>
            <a:ext cx="8641369" cy="914695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80975" indent="-180975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기업의 주요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수익창출활동으로부터</a:t>
            </a:r>
            <a:r>
              <a:rPr lang="ko-KR" altLang="en-US" sz="1600" dirty="0">
                <a:latin typeface="맑은 고딕" panose="020B0503020000020004" pitchFamily="50" charset="-127"/>
              </a:rPr>
              <a:t> 발생하는 현금흐름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180975" indent="-180975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영업활동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투자활동과 재무활동으로 분류되지 않는 기타 모든 활동을 포괄적으로 의미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57473" y="1430362"/>
            <a:ext cx="7492624" cy="340256"/>
            <a:chOff x="257473" y="1430362"/>
            <a:chExt cx="7492624" cy="340256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영업활동 현금흐름의 정의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8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275340"/>
              </p:ext>
            </p:extLst>
          </p:nvPr>
        </p:nvGraphicFramePr>
        <p:xfrm>
          <a:off x="440748" y="3427763"/>
          <a:ext cx="8151172" cy="1622324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4173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영업활동으로 인한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현금유입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3" marB="45703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영업활동으로 인한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현금유출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3" marB="45703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5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재화의 판매와 용역제공에 따른 현금유입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3" marB="4570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재화와 용역의 구입에 따른 현금유출</a:t>
                      </a:r>
                      <a:endParaRPr kumimoji="0" lang="ko-KR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3" marB="45703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수수료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로열티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및 기타수익에 따른 현금유입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3" marB="4570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수수료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로열티 및 기타비용의 지급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3" marB="45703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거래의 중개로 인해 발생한 중개수수료 수입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3" marB="4570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종업원과 관련하여 발생하는 현금유출</a:t>
                      </a:r>
                      <a:endParaRPr kumimoji="0" lang="ko-KR" alt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3" marB="45703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5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법인세의 환급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3" marB="4570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법인세의 납부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3" marB="45703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468953" y="2996434"/>
            <a:ext cx="3263136" cy="338554"/>
            <a:chOff x="1287463" y="4776539"/>
            <a:chExt cx="3263136" cy="338554"/>
          </a:xfrm>
        </p:grpSpPr>
        <p:sp>
          <p:nvSpPr>
            <p:cNvPr id="10" name="오각형 9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77940" y="4776539"/>
              <a:ext cx="26726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영업활동 현금흐름의 예</a:t>
              </a: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5043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57473" y="1205334"/>
            <a:ext cx="8641369" cy="4566816"/>
            <a:chOff x="257473" y="1196174"/>
            <a:chExt cx="8641369" cy="3187868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57473" y="1491075"/>
              <a:ext cx="8641369" cy="289296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현금흐름표상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영업현금흐름은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직접법이나 간접법을 사용하여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작성가능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어느 방법을 사용하더라도 계산되는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현금흐름 총액은 동일함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직접법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총현금유입과 총현금유출을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주요 항목별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매입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임금지급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로 구분하여 표시하는 방법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 marL="46800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현금흐름의 구성내역을 자세히 보여줄 수 있으나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작성하기 복합하여 실무상 사용되지 않음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간접법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당기순손익에서부터 시작하여 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①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투자활동 및 재무활동에 포함되는 거래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②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현금흐름에 영향이 없는 거래를 제거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하고 ③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영업활동으로 인한 자산과 부채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의 영향을 고려하여 조정하여 영업현금흐름을 계산하는 방법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 marL="46800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발생주의에 의해 만들어진 당기순이익을 현금주의 영업활동 순이익으로 바꾸는 과정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46800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손익계산서의 당기순이익과 영업활동 현금흐름 간의 차이 발생 원인을 파악하기 쉬움</a:t>
              </a: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257473" y="1196174"/>
              <a:ext cx="7492624" cy="342567"/>
              <a:chOff x="257473" y="1451539"/>
              <a:chExt cx="7492624" cy="342567"/>
            </a:xfrm>
          </p:grpSpPr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440748" y="1470256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None/>
                </a:pPr>
                <a:r>
                  <a:rPr lang="ko-KR" altLang="en-US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직접법과 간접법</a:t>
                </a: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102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468224"/>
              </p:ext>
            </p:extLst>
          </p:nvPr>
        </p:nvGraphicFramePr>
        <p:xfrm>
          <a:off x="345706" y="1767538"/>
          <a:ext cx="8389507" cy="3945953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645385">
                  <a:extLst>
                    <a:ext uri="{9D8B030D-6E8A-4147-A177-3AD203B41FA5}">
                      <a16:colId xmlns:a16="http://schemas.microsoft.com/office/drawing/2014/main" val="2008146370"/>
                    </a:ext>
                  </a:extLst>
                </a:gridCol>
                <a:gridCol w="4744122">
                  <a:extLst>
                    <a:ext uri="{9D8B030D-6E8A-4147-A177-3AD203B41FA5}">
                      <a16:colId xmlns:a16="http://schemas.microsoft.com/office/drawing/2014/main" val="165412649"/>
                    </a:ext>
                  </a:extLst>
                </a:gridCol>
              </a:tblGrid>
              <a:tr h="2832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직접법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간접법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291790"/>
                  </a:ext>
                </a:extLst>
              </a:tr>
              <a:tr h="283251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I. </a:t>
                      </a:r>
                      <a:r>
                        <a:rPr lang="ko-KR" altLang="en-US" sz="1400" kern="0" spc="-30" dirty="0">
                          <a:effectLst/>
                        </a:rPr>
                        <a:t>영업활동 현금흐름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I. </a:t>
                      </a:r>
                      <a:r>
                        <a:rPr lang="ko-KR" altLang="en-US" sz="1400" kern="0" spc="-30" dirty="0">
                          <a:effectLst/>
                        </a:rPr>
                        <a:t>영업활동 현금흐름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208951682"/>
                  </a:ext>
                </a:extLst>
              </a:tr>
              <a:tr h="283251"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1. </a:t>
                      </a:r>
                      <a:r>
                        <a:rPr lang="ko-KR" altLang="en-US" sz="1400" kern="0" spc="-30" dirty="0">
                          <a:effectLst/>
                        </a:rPr>
                        <a:t>매출 및 </a:t>
                      </a:r>
                      <a:r>
                        <a:rPr lang="ko-KR" altLang="en-US" sz="1400" kern="0" spc="-30" dirty="0" err="1">
                          <a:effectLst/>
                        </a:rPr>
                        <a:t>수익활동으로부터의</a:t>
                      </a:r>
                      <a:r>
                        <a:rPr lang="ko-KR" altLang="en-US" sz="1400" kern="0" spc="-30" dirty="0">
                          <a:effectLst/>
                        </a:rPr>
                        <a:t> 유입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1. </a:t>
                      </a:r>
                      <a:r>
                        <a:rPr lang="ko-KR" altLang="en-US" sz="1400" kern="0" spc="-30" dirty="0" err="1">
                          <a:effectLst/>
                        </a:rPr>
                        <a:t>당기순이익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84201699"/>
                  </a:ext>
                </a:extLst>
              </a:tr>
              <a:tr h="294953"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2. </a:t>
                      </a:r>
                      <a:r>
                        <a:rPr lang="ko-KR" altLang="en-US" sz="1400" kern="0" spc="-30" dirty="0">
                          <a:effectLst/>
                        </a:rPr>
                        <a:t>매입 및 종업원에 대한 유출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2. </a:t>
                      </a:r>
                      <a:r>
                        <a:rPr lang="ko-KR" altLang="en-US" sz="1400" kern="0" spc="-30" dirty="0">
                          <a:effectLst/>
                        </a:rPr>
                        <a:t>투자활동 및 재무활동에서 발생한 수익과 비용의 차감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132893098"/>
                  </a:ext>
                </a:extLst>
              </a:tr>
              <a:tr h="283251"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3. </a:t>
                      </a:r>
                      <a:r>
                        <a:rPr lang="ko-KR" altLang="en-US" sz="1400" kern="0" spc="-30" dirty="0">
                          <a:effectLst/>
                        </a:rPr>
                        <a:t>이자수익 유입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914400" marR="0" lvl="2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가</a:t>
                      </a:r>
                      <a:r>
                        <a:rPr lang="en-US" altLang="ko-KR" sz="1400" kern="0" spc="-30" dirty="0">
                          <a:effectLst/>
                        </a:rPr>
                        <a:t>. </a:t>
                      </a:r>
                      <a:r>
                        <a:rPr lang="ko-KR" altLang="en-US" sz="1400" kern="0" spc="-30" dirty="0">
                          <a:effectLst/>
                        </a:rPr>
                        <a:t>유형자산처분손실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464151103"/>
                  </a:ext>
                </a:extLst>
              </a:tr>
              <a:tr h="283251"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4. </a:t>
                      </a:r>
                      <a:r>
                        <a:rPr lang="ko-KR" altLang="en-US" sz="1400" kern="0" spc="-30" dirty="0" err="1">
                          <a:effectLst/>
                        </a:rPr>
                        <a:t>배당금수익</a:t>
                      </a:r>
                      <a:r>
                        <a:rPr lang="ko-KR" altLang="en-US" sz="1400" kern="0" spc="-30" dirty="0">
                          <a:effectLst/>
                        </a:rPr>
                        <a:t> 유입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914400" marR="0" lvl="2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나</a:t>
                      </a:r>
                      <a:r>
                        <a:rPr lang="en-US" altLang="ko-KR" sz="1400" kern="0" spc="-30" dirty="0">
                          <a:effectLst/>
                        </a:rPr>
                        <a:t>. </a:t>
                      </a:r>
                      <a:r>
                        <a:rPr lang="ko-KR" altLang="en-US" sz="1400" kern="0" spc="-30" dirty="0">
                          <a:effectLst/>
                        </a:rPr>
                        <a:t>지분법손실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185931087"/>
                  </a:ext>
                </a:extLst>
              </a:tr>
              <a:tr h="283251"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5. </a:t>
                      </a:r>
                      <a:r>
                        <a:rPr lang="ko-KR" altLang="en-US" sz="1400" kern="0" spc="-30" dirty="0">
                          <a:effectLst/>
                        </a:rPr>
                        <a:t>이자비용의 지급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3. </a:t>
                      </a:r>
                      <a:r>
                        <a:rPr lang="ko-KR" altLang="en-US" sz="1400" kern="0" spc="-30" dirty="0">
                          <a:effectLst/>
                        </a:rPr>
                        <a:t>현금흐름을 수반하지 않는 비용과 수익의 차감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738652991"/>
                  </a:ext>
                </a:extLst>
              </a:tr>
              <a:tr h="320142"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6. </a:t>
                      </a:r>
                      <a:r>
                        <a:rPr lang="ko-KR" altLang="en-US" sz="1400" kern="0" spc="-30" dirty="0">
                          <a:effectLst/>
                        </a:rPr>
                        <a:t>종업원 급여의 지급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914400" marR="0" lvl="2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가</a:t>
                      </a:r>
                      <a:r>
                        <a:rPr lang="en-US" altLang="ko-KR" sz="1400" kern="0" spc="-30" dirty="0">
                          <a:effectLst/>
                        </a:rPr>
                        <a:t>. </a:t>
                      </a:r>
                      <a:r>
                        <a:rPr lang="ko-KR" altLang="en-US" sz="1400" kern="0" spc="-30" dirty="0">
                          <a:effectLst/>
                        </a:rPr>
                        <a:t>감가상각비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849869981"/>
                  </a:ext>
                </a:extLst>
              </a:tr>
              <a:tr h="283251"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>
                          <a:effectLst/>
                        </a:rPr>
                        <a:t>7. </a:t>
                      </a:r>
                      <a:r>
                        <a:rPr lang="ko-KR" altLang="en-US" sz="1400" kern="0" spc="-30">
                          <a:effectLst/>
                        </a:rPr>
                        <a:t>선급보험료의 지급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914400" marR="0" lvl="2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나</a:t>
                      </a:r>
                      <a:r>
                        <a:rPr lang="en-US" altLang="ko-KR" sz="1400" kern="0" spc="-30" dirty="0">
                          <a:effectLst/>
                        </a:rPr>
                        <a:t>. </a:t>
                      </a:r>
                      <a:r>
                        <a:rPr lang="ko-KR" altLang="en-US" sz="1400" kern="0" spc="-30" dirty="0">
                          <a:effectLst/>
                        </a:rPr>
                        <a:t>퇴직급여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168185229"/>
                  </a:ext>
                </a:extLst>
              </a:tr>
              <a:tr h="283251"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8. </a:t>
                      </a:r>
                      <a:r>
                        <a:rPr lang="ko-KR" altLang="en-US" sz="1400" kern="0" spc="-30" dirty="0" err="1">
                          <a:effectLst/>
                        </a:rPr>
                        <a:t>매출관련</a:t>
                      </a:r>
                      <a:r>
                        <a:rPr lang="ko-KR" altLang="en-US" sz="1400" kern="0" spc="-30" dirty="0">
                          <a:effectLst/>
                        </a:rPr>
                        <a:t> 수수료의 지급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914400" marR="0" lvl="2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다</a:t>
                      </a:r>
                      <a:r>
                        <a:rPr lang="en-US" altLang="ko-KR" sz="1400" kern="0" spc="-30" dirty="0">
                          <a:effectLst/>
                        </a:rPr>
                        <a:t>. </a:t>
                      </a:r>
                      <a:r>
                        <a:rPr lang="ko-KR" altLang="en-US" sz="1400" kern="0" spc="-30" dirty="0" err="1">
                          <a:effectLst/>
                        </a:rPr>
                        <a:t>매출채권손상차손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730231029"/>
                  </a:ext>
                </a:extLst>
              </a:tr>
              <a:tr h="283251"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>
                          <a:effectLst/>
                        </a:rPr>
                        <a:t>9. </a:t>
                      </a:r>
                      <a:r>
                        <a:rPr lang="ko-KR" altLang="en-US" sz="1400" kern="0" spc="-30">
                          <a:effectLst/>
                        </a:rPr>
                        <a:t>퇴직보험예치금의 지급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4. </a:t>
                      </a:r>
                      <a:r>
                        <a:rPr lang="ko-KR" altLang="en-US" sz="1400" kern="0" spc="-30" dirty="0">
                          <a:effectLst/>
                        </a:rPr>
                        <a:t>영업활동으로 인한 자산과 부채의 변동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999000904"/>
                  </a:ext>
                </a:extLst>
              </a:tr>
              <a:tr h="283251">
                <a:tc>
                  <a:txBody>
                    <a:bodyPr/>
                    <a:lstStyle/>
                    <a:p>
                      <a:pPr marL="457200" marR="0" lvl="1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effectLst/>
                        </a:rPr>
                        <a:t>10. …</a:t>
                      </a:r>
                      <a:endParaRPr 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914400" marR="0" lvl="2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가</a:t>
                      </a:r>
                      <a:r>
                        <a:rPr lang="en-US" altLang="ko-KR" sz="1400" kern="0" spc="-30" dirty="0">
                          <a:effectLst/>
                        </a:rPr>
                        <a:t>. </a:t>
                      </a:r>
                      <a:r>
                        <a:rPr lang="ko-KR" altLang="en-US" sz="1400" kern="0" spc="-30" dirty="0">
                          <a:effectLst/>
                        </a:rPr>
                        <a:t>매출채권의 증가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991500432"/>
                  </a:ext>
                </a:extLst>
              </a:tr>
              <a:tr h="944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914400" marR="0" lvl="2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나</a:t>
                      </a:r>
                      <a:r>
                        <a:rPr lang="en-US" altLang="ko-KR" sz="1400" kern="0" spc="-30" dirty="0">
                          <a:effectLst/>
                        </a:rPr>
                        <a:t>. </a:t>
                      </a:r>
                      <a:r>
                        <a:rPr lang="ko-KR" altLang="en-US" sz="1400" kern="0" spc="-30" dirty="0">
                          <a:effectLst/>
                        </a:rPr>
                        <a:t>재고자산의 감소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781882134"/>
                  </a:ext>
                </a:extLst>
              </a:tr>
              <a:tr h="15475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914400" marR="0" lvl="2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다</a:t>
                      </a:r>
                      <a:r>
                        <a:rPr lang="en-US" altLang="ko-KR" sz="1400" kern="0" spc="-30" dirty="0">
                          <a:effectLst/>
                        </a:rPr>
                        <a:t>. </a:t>
                      </a:r>
                      <a:r>
                        <a:rPr lang="ko-KR" altLang="en-US" sz="1400" kern="0" spc="-30" dirty="0" err="1">
                          <a:effectLst/>
                        </a:rPr>
                        <a:t>매입채무의</a:t>
                      </a:r>
                      <a:r>
                        <a:rPr lang="ko-KR" altLang="en-US" sz="1400" kern="0" spc="-30" dirty="0">
                          <a:effectLst/>
                        </a:rPr>
                        <a:t> 증가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477475048"/>
                  </a:ext>
                </a:extLst>
              </a:tr>
            </a:tbl>
          </a:graphicData>
        </a:graphic>
      </p:graphicFrame>
      <p:grpSp>
        <p:nvGrpSpPr>
          <p:cNvPr id="8" name="그룹 7"/>
          <p:cNvGrpSpPr/>
          <p:nvPr/>
        </p:nvGrpSpPr>
        <p:grpSpPr>
          <a:xfrm>
            <a:off x="238126" y="1276413"/>
            <a:ext cx="4754211" cy="338554"/>
            <a:chOff x="1287463" y="4776539"/>
            <a:chExt cx="4754211" cy="338554"/>
          </a:xfrm>
        </p:grpSpPr>
        <p:sp>
          <p:nvSpPr>
            <p:cNvPr id="9" name="오각형 8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77940" y="4776539"/>
              <a:ext cx="4163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직접법과 간접법에 의한 </a:t>
              </a:r>
              <a:r>
                <a:rPr lang="ko-KR" altLang="en-US" sz="1600" b="1" dirty="0" err="1"/>
                <a:t>표시양식의</a:t>
              </a:r>
              <a:r>
                <a:rPr lang="ko-KR" altLang="en-US" sz="1600" b="1" dirty="0"/>
                <a:t> 비교</a:t>
              </a:r>
            </a:p>
          </p:txBody>
        </p:sp>
      </p:grp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9879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57473" y="1174997"/>
            <a:ext cx="8641369" cy="1712575"/>
            <a:chOff x="257473" y="1174997"/>
            <a:chExt cx="8641369" cy="1712575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57473" y="1642533"/>
              <a:ext cx="8641369" cy="124503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8000" indent="-21600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정의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유형자산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무형자산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장기금융자산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기타비유동자산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취득과 처분에 관련된 현금흐름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8000" indent="-21600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자산의 처분이나 자금의 회수 등 현금유입 발생시 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 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처분자산의 장부금액이 아닌 실제의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현금유입액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기록</a:t>
              </a: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257473" y="1174997"/>
              <a:ext cx="7492624" cy="340256"/>
              <a:chOff x="257473" y="1430362"/>
              <a:chExt cx="7492624" cy="340256"/>
            </a:xfrm>
          </p:grpSpPr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440748" y="1430362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None/>
                </a:pPr>
                <a:r>
                  <a:rPr lang="ko-KR" altLang="en-US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투자활동현금흐름</a:t>
                </a: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그룹 7"/>
          <p:cNvGrpSpPr/>
          <p:nvPr/>
        </p:nvGrpSpPr>
        <p:grpSpPr>
          <a:xfrm>
            <a:off x="257473" y="2894503"/>
            <a:ext cx="4754211" cy="338554"/>
            <a:chOff x="1287463" y="4776539"/>
            <a:chExt cx="4754211" cy="338554"/>
          </a:xfrm>
        </p:grpSpPr>
        <p:sp>
          <p:nvSpPr>
            <p:cNvPr id="9" name="오각형 8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77940" y="4776539"/>
              <a:ext cx="4163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투자활동 현금흐름의 예</a:t>
              </a:r>
            </a:p>
          </p:txBody>
        </p:sp>
      </p:grpSp>
      <p:graphicFrame>
        <p:nvGraphicFramePr>
          <p:cNvPr id="13" name="Group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498848"/>
              </p:ext>
            </p:extLst>
          </p:nvPr>
        </p:nvGraphicFramePr>
        <p:xfrm>
          <a:off x="257473" y="3284603"/>
          <a:ext cx="8506517" cy="1737176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255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투자활동으로 인한 현금유입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7" marB="45697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투자활동으로 인한 </a:t>
                      </a:r>
                      <a:r>
                        <a:rPr kumimoji="0" lang="ko-KR" altLang="en-US" sz="15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현금유출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7" marB="45697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유형자산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무형자산 등의 처분에 따른 현금유입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7" marB="4569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유형자산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무형자산 등의 취득에 따른 현금유출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7" marB="45697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장기금융상품으로 분류된 지분상품이나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채무상품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등의 처분에 따른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현금유입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7" marB="4569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장기금융상품으로 분류된 지분상품이나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채무상품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등의 취득에 따른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현금유출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7" marB="45697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제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자에 대한 선급금 및 대여금의 회수에 따른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현금유입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7" marB="4569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제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자에 대한 선급금 및 대여금 지급에 따른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현금유출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7" marB="45697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6244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277793" y="1162766"/>
            <a:ext cx="8641369" cy="1163874"/>
            <a:chOff x="257473" y="1174997"/>
            <a:chExt cx="8641369" cy="1019184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257473" y="1491078"/>
              <a:ext cx="8641369" cy="703103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정의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기업의 자금조달 및 이에 대한 대가를 지급하는 과정과 관련된 현금흐름</a:t>
              </a: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257473" y="1174997"/>
              <a:ext cx="7492624" cy="340256"/>
              <a:chOff x="257473" y="1430362"/>
              <a:chExt cx="7492624" cy="340256"/>
            </a:xfrm>
          </p:grpSpPr>
          <p:sp>
            <p:nvSpPr>
              <p:cNvPr id="16" name="Rectangle 14"/>
              <p:cNvSpPr>
                <a:spLocks noChangeArrowheads="1"/>
              </p:cNvSpPr>
              <p:nvPr/>
            </p:nvSpPr>
            <p:spPr bwMode="auto">
              <a:xfrm>
                <a:off x="440748" y="1430362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None/>
                </a:pPr>
                <a:r>
                  <a:rPr lang="ko-KR" altLang="en-US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재무활동현금흐름</a:t>
                </a:r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9" name="그룹 18"/>
          <p:cNvGrpSpPr/>
          <p:nvPr/>
        </p:nvGrpSpPr>
        <p:grpSpPr>
          <a:xfrm>
            <a:off x="277793" y="2343170"/>
            <a:ext cx="4754211" cy="338554"/>
            <a:chOff x="1287463" y="4776539"/>
            <a:chExt cx="4754211" cy="338554"/>
          </a:xfrm>
        </p:grpSpPr>
        <p:sp>
          <p:nvSpPr>
            <p:cNvPr id="20" name="오각형 19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77940" y="4776539"/>
              <a:ext cx="4163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재무활동 현금흐름의 예</a:t>
              </a:r>
            </a:p>
          </p:txBody>
        </p:sp>
      </p:grpSp>
      <p:graphicFrame>
        <p:nvGraphicFramePr>
          <p:cNvPr id="22" name="Group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45813"/>
              </p:ext>
            </p:extLst>
          </p:nvPr>
        </p:nvGraphicFramePr>
        <p:xfrm>
          <a:off x="277793" y="2719818"/>
          <a:ext cx="8506517" cy="9893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255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8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재무활동으로 인한 </a:t>
                      </a:r>
                      <a:r>
                        <a:rPr kumimoji="0" lang="ko-KR" altLang="en-US" sz="15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현금유입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49" marB="45649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재무활동으로 인한 </a:t>
                      </a:r>
                      <a:r>
                        <a:rPr kumimoji="0" lang="ko-KR" altLang="en-US" sz="15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현금유출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49" marB="45649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86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주식의 발행에 따른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현금유입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49" marB="4564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자기주식의 취득에 따른 현금유출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49" marB="4564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56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사채의 발행이나 장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단기차입금에 따른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현금유입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49" marB="4564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차입금의 상환에 따른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현금유출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49" marB="4564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599E067-F0B1-4787-9571-5CB3EA1AC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3" y="4472653"/>
            <a:ext cx="7543800" cy="1485308"/>
          </a:xfrm>
          <a:prstGeom prst="rect">
            <a:avLst/>
          </a:prstGeom>
        </p:spPr>
      </p:pic>
      <p:sp>
        <p:nvSpPr>
          <p:cNvPr id="17" name="Rectangle 14">
            <a:extLst>
              <a:ext uri="{FF2B5EF4-FFF2-40B4-BE49-F238E27FC236}">
                <a16:creationId xmlns:a16="http://schemas.microsoft.com/office/drawing/2014/main" id="{BB6C78DE-C54D-474C-B963-69973BB84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93" y="4100922"/>
            <a:ext cx="7309349" cy="369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608" tIns="37301" rIns="74608" bIns="37301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이자와 배당과 관련한 현금흐름의 분류</a:t>
            </a:r>
          </a:p>
        </p:txBody>
      </p:sp>
    </p:spTree>
    <p:extLst>
      <p:ext uri="{BB962C8B-B14F-4D97-AF65-F5344CB8AC3E}">
        <p14:creationId xmlns:p14="http://schemas.microsoft.com/office/powerpoint/2010/main" val="4050201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6251" y="1050196"/>
            <a:ext cx="8711460" cy="5436329"/>
            <a:chOff x="190714" y="1320886"/>
            <a:chExt cx="8711460" cy="5436329"/>
          </a:xfrm>
        </p:grpSpPr>
        <p:grpSp>
          <p:nvGrpSpPr>
            <p:cNvPr id="21" name="그룹 20"/>
            <p:cNvGrpSpPr/>
            <p:nvPr/>
          </p:nvGrpSpPr>
          <p:grpSpPr>
            <a:xfrm>
              <a:off x="361935" y="1461499"/>
              <a:ext cx="8540239" cy="5295716"/>
              <a:chOff x="269048" y="1722741"/>
              <a:chExt cx="8648775" cy="5295716"/>
            </a:xfrm>
          </p:grpSpPr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25" name="타원 2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타원 25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8" name="타원 2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4" name="그림 23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472987" y="1381795"/>
            <a:ext cx="8364724" cy="523547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20×2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다음과 같은 거래가 발생하였다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2000" indent="-252000" defTabSz="995363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(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덕송은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당기에 상품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판매하고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대금 중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현금으로 수령하고 나머지는 매출채권으로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회계처리하였다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덕송은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계속기록법을 사용하고있다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2000" indent="-252000" defTabSz="995363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 매출과 관련되어 발생한 매출원가는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630,000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2000" indent="-252000" defTabSz="995363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당기중에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매입한 재고자산의 원가는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704,000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매입은 전액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외상매입이었다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2000" indent="-252000" defTabSz="995363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일부 부서를 이전함에 따라 기존에 이용하던 건물 중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동을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현금을 수취하고 매각하였으며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이전하는 부서를 위하여 새로운 건물을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현금으로 매입하였다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한편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당기중의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건물에 대한 감가상각비는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2000" indent="-252000" defTabSz="995363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⑤ (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덕송의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무형자산은 특허권이며 당기에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상각되었다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2000" indent="-252000" defTabSz="995363" latinLnBrk="0">
              <a:lnSpc>
                <a:spcPct val="120000"/>
              </a:lnSpc>
              <a:spcBef>
                <a:spcPts val="60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⑥ 당기의 종업원 급여로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150,000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을 현금으로 지출하였으며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기존 사무실이 협소하여 사무실을 임대하여 사용한 결과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5,000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의 임차료가 발생하였다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임차료는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20×3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월에 지급하기로 하였다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 marL="252000" indent="-252000" defTabSz="995363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⑦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건물의 취득을 위하여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을 은행에서 차입하였다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새로운 차입금과 기존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차입금으로부터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 발생한 당기 이자비용은 총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24,000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이며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,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 모두 현금으로 지급하였다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</a:p>
          <a:p>
            <a:pPr marL="252000" indent="-252000" defTabSz="995363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⑧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사업의 확장에 따른 여유분의 현금보유 필요성을 느껴 자본금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20,000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을 증가시키는 유상증자를 실시하였다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이로 인한 현금유입액은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이다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 marL="252000" indent="-252000" defTabSz="995363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⑨ 20×2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년중에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 주주에게 배당금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30,000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을 현금으로 지급하였다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5969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6251" y="1050196"/>
            <a:ext cx="8711460" cy="5436329"/>
            <a:chOff x="190714" y="1320886"/>
            <a:chExt cx="8711460" cy="5436329"/>
          </a:xfrm>
        </p:grpSpPr>
        <p:grpSp>
          <p:nvGrpSpPr>
            <p:cNvPr id="21" name="그룹 20"/>
            <p:cNvGrpSpPr/>
            <p:nvPr/>
          </p:nvGrpSpPr>
          <p:grpSpPr>
            <a:xfrm>
              <a:off x="361935" y="1461499"/>
              <a:ext cx="8540239" cy="5295716"/>
              <a:chOff x="269048" y="1722741"/>
              <a:chExt cx="8648775" cy="5295716"/>
            </a:xfrm>
          </p:grpSpPr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25" name="타원 2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타원 25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8" name="타원 2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4" name="그림 23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11188" y="1474123"/>
            <a:ext cx="7775575" cy="3603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덕송의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년과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20×2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년의 비교재무상태표 및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20×2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년의 포괄손익계산서</a:t>
            </a:r>
            <a:endParaRPr lang="en-US" altLang="ko-KR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152217"/>
              </p:ext>
            </p:extLst>
          </p:nvPr>
        </p:nvGraphicFramePr>
        <p:xfrm>
          <a:off x="1038447" y="2139280"/>
          <a:ext cx="7140131" cy="1736910"/>
        </p:xfrm>
        <a:graphic>
          <a:graphicData uri="http://schemas.openxmlformats.org/drawingml/2006/table">
            <a:tbl>
              <a:tblPr/>
              <a:tblGrid>
                <a:gridCol w="2093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3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33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33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86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81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513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비교재무상태표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20×2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유동자산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현금및현금성자산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55,000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131,400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매출채권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156,000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Group 20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1751456"/>
              </p:ext>
            </p:extLst>
          </p:nvPr>
        </p:nvGraphicFramePr>
        <p:xfrm>
          <a:off x="1038447" y="3876190"/>
          <a:ext cx="7138125" cy="2133600"/>
        </p:xfrm>
        <a:graphic>
          <a:graphicData uri="http://schemas.openxmlformats.org/drawingml/2006/table">
            <a:tbl>
              <a:tblPr/>
              <a:tblGrid>
                <a:gridCol w="2093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85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33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33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86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81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재고자산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154,000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비유동자산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토 지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건 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감가상각누계액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(50,000)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(50,000)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허 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자산총계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675,000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906,400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360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6251" y="1050196"/>
            <a:ext cx="8711460" cy="5436329"/>
            <a:chOff x="190714" y="1320886"/>
            <a:chExt cx="8711460" cy="5436329"/>
          </a:xfrm>
        </p:grpSpPr>
        <p:grpSp>
          <p:nvGrpSpPr>
            <p:cNvPr id="21" name="그룹 20"/>
            <p:cNvGrpSpPr/>
            <p:nvPr/>
          </p:nvGrpSpPr>
          <p:grpSpPr>
            <a:xfrm>
              <a:off x="361935" y="1461499"/>
              <a:ext cx="8540239" cy="5295716"/>
              <a:chOff x="269048" y="1722741"/>
              <a:chExt cx="8648775" cy="5295716"/>
            </a:xfrm>
          </p:grpSpPr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25" name="타원 2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타원 25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8" name="타원 2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4" name="그림 23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11188" y="1474123"/>
            <a:ext cx="7775575" cy="3603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덕송의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년과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20×2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년의 비교재무상태표 및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20×2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년의 포괄손익계산서</a:t>
            </a:r>
            <a:endParaRPr lang="en-US" altLang="ko-KR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7" name="Group 2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379565"/>
              </p:ext>
            </p:extLst>
          </p:nvPr>
        </p:nvGraphicFramePr>
        <p:xfrm>
          <a:off x="1301067" y="3015488"/>
          <a:ext cx="6862759" cy="2133600"/>
        </p:xfrm>
        <a:graphic>
          <a:graphicData uri="http://schemas.openxmlformats.org/drawingml/2006/table">
            <a:tbl>
              <a:tblPr/>
              <a:tblGrid>
                <a:gridCol w="20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2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3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3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58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4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유동부채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매입채무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80,400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미지급비용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비유동부채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장기차입금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 본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자 본 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Group 26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8375537"/>
              </p:ext>
            </p:extLst>
          </p:nvPr>
        </p:nvGraphicFramePr>
        <p:xfrm>
          <a:off x="1299432" y="5103050"/>
          <a:ext cx="6910983" cy="936624"/>
        </p:xfrm>
        <a:graphic>
          <a:graphicData uri="http://schemas.openxmlformats.org/drawingml/2006/table">
            <a:tbl>
              <a:tblPr/>
              <a:tblGrid>
                <a:gridCol w="2064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8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86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7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93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4848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자본잉여금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230,000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48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이익잉여금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105,000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151,000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92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부채 및 자본총계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675,000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906,400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963200"/>
              </p:ext>
            </p:extLst>
          </p:nvPr>
        </p:nvGraphicFramePr>
        <p:xfrm>
          <a:off x="1177133" y="2116573"/>
          <a:ext cx="6862759" cy="822780"/>
        </p:xfrm>
        <a:graphic>
          <a:graphicData uri="http://schemas.openxmlformats.org/drawingml/2006/table">
            <a:tbl>
              <a:tblPr/>
              <a:tblGrid>
                <a:gridCol w="2011880">
                  <a:extLst>
                    <a:ext uri="{9D8B030D-6E8A-4147-A177-3AD203B41FA5}">
                      <a16:colId xmlns:a16="http://schemas.microsoft.com/office/drawing/2014/main" val="973926834"/>
                    </a:ext>
                  </a:extLst>
                </a:gridCol>
                <a:gridCol w="253075">
                  <a:extLst>
                    <a:ext uri="{9D8B030D-6E8A-4147-A177-3AD203B41FA5}">
                      <a16:colId xmlns:a16="http://schemas.microsoft.com/office/drawing/2014/main" val="322358180"/>
                    </a:ext>
                  </a:extLst>
                </a:gridCol>
                <a:gridCol w="253075">
                  <a:extLst>
                    <a:ext uri="{9D8B030D-6E8A-4147-A177-3AD203B41FA5}">
                      <a16:colId xmlns:a16="http://schemas.microsoft.com/office/drawing/2014/main" val="2127861847"/>
                    </a:ext>
                  </a:extLst>
                </a:gridCol>
                <a:gridCol w="1219087">
                  <a:extLst>
                    <a:ext uri="{9D8B030D-6E8A-4147-A177-3AD203B41FA5}">
                      <a16:colId xmlns:a16="http://schemas.microsoft.com/office/drawing/2014/main" val="3947928742"/>
                    </a:ext>
                  </a:extLst>
                </a:gridCol>
                <a:gridCol w="700202">
                  <a:extLst>
                    <a:ext uri="{9D8B030D-6E8A-4147-A177-3AD203B41FA5}">
                      <a16:colId xmlns:a16="http://schemas.microsoft.com/office/drawing/2014/main" val="2044007003"/>
                    </a:ext>
                  </a:extLst>
                </a:gridCol>
                <a:gridCol w="253075">
                  <a:extLst>
                    <a:ext uri="{9D8B030D-6E8A-4147-A177-3AD203B41FA5}">
                      <a16:colId xmlns:a16="http://schemas.microsoft.com/office/drawing/2014/main" val="3569793809"/>
                    </a:ext>
                  </a:extLst>
                </a:gridCol>
                <a:gridCol w="253075">
                  <a:extLst>
                    <a:ext uri="{9D8B030D-6E8A-4147-A177-3AD203B41FA5}">
                      <a16:colId xmlns:a16="http://schemas.microsoft.com/office/drawing/2014/main" val="4088420941"/>
                    </a:ext>
                  </a:extLst>
                </a:gridCol>
                <a:gridCol w="1305889">
                  <a:extLst>
                    <a:ext uri="{9D8B030D-6E8A-4147-A177-3AD203B41FA5}">
                      <a16:colId xmlns:a16="http://schemas.microsoft.com/office/drawing/2014/main" val="194428726"/>
                    </a:ext>
                  </a:extLst>
                </a:gridCol>
                <a:gridCol w="613401">
                  <a:extLst>
                    <a:ext uri="{9D8B030D-6E8A-4147-A177-3AD203B41FA5}">
                      <a16:colId xmlns:a16="http://schemas.microsoft.com/office/drawing/2014/main" val="1183187376"/>
                    </a:ext>
                  </a:extLst>
                </a:gridCol>
              </a:tblGrid>
              <a:tr h="518008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1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비교재무상태표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400" kern="120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덕송</a:t>
                      </a:r>
                      <a:endParaRPr lang="ko-KR" altLang="en-US" sz="1400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638616"/>
                  </a:ext>
                </a:extLst>
              </a:tr>
              <a:tr h="3046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lang="ko-KR" altLang="en-US" sz="1400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5651"/>
                  </a:ext>
                </a:extLst>
              </a:tr>
            </a:tbl>
          </a:graphicData>
        </a:graphic>
      </p:graphicFrame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611188" y="1855014"/>
            <a:ext cx="1152525" cy="3603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2706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6251" y="1050196"/>
            <a:ext cx="8711460" cy="5436329"/>
            <a:chOff x="190714" y="1320886"/>
            <a:chExt cx="8711460" cy="5436329"/>
          </a:xfrm>
        </p:grpSpPr>
        <p:grpSp>
          <p:nvGrpSpPr>
            <p:cNvPr id="21" name="그룹 20"/>
            <p:cNvGrpSpPr/>
            <p:nvPr/>
          </p:nvGrpSpPr>
          <p:grpSpPr>
            <a:xfrm>
              <a:off x="361935" y="1461499"/>
              <a:ext cx="8540239" cy="5295716"/>
              <a:chOff x="269048" y="1722741"/>
              <a:chExt cx="8648775" cy="5295716"/>
            </a:xfrm>
          </p:grpSpPr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25" name="타원 2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타원 25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8" name="타원 2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4" name="그림 23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29" name="Group 4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519631"/>
              </p:ext>
            </p:extLst>
          </p:nvPr>
        </p:nvGraphicFramePr>
        <p:xfrm>
          <a:off x="1075056" y="1468240"/>
          <a:ext cx="7119936" cy="3711524"/>
        </p:xfrm>
        <a:graphic>
          <a:graphicData uri="http://schemas.openxmlformats.org/drawingml/2006/table">
            <a:tbl>
              <a:tblPr/>
              <a:tblGrid>
                <a:gridCol w="22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0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368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포괄손익계산서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~ 12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                                           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79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 액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880,000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79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630,000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79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매출총이익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79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급 여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79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84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무형자산상각비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</a:t>
                      </a: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84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영업이익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75,000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255178"/>
                  </a:ext>
                </a:extLst>
              </a:tr>
              <a:tr h="31979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 차 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79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79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유형자산처분이익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2" name="Group 40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438617"/>
              </p:ext>
            </p:extLst>
          </p:nvPr>
        </p:nvGraphicFramePr>
        <p:xfrm>
          <a:off x="1075056" y="5270862"/>
          <a:ext cx="7099300" cy="914400"/>
        </p:xfrm>
        <a:graphic>
          <a:graphicData uri="http://schemas.openxmlformats.org/drawingml/2006/table">
            <a:tbl>
              <a:tblPr/>
              <a:tblGrid>
                <a:gridCol w="221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9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5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당기순이익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76,000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기타포괄손익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총포괄이익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76,000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5769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6251" y="1050196"/>
            <a:ext cx="8711460" cy="5436329"/>
            <a:chOff x="190714" y="1320886"/>
            <a:chExt cx="8711460" cy="5436329"/>
          </a:xfrm>
        </p:grpSpPr>
        <p:grpSp>
          <p:nvGrpSpPr>
            <p:cNvPr id="21" name="그룹 20"/>
            <p:cNvGrpSpPr/>
            <p:nvPr/>
          </p:nvGrpSpPr>
          <p:grpSpPr>
            <a:xfrm>
              <a:off x="361935" y="1461499"/>
              <a:ext cx="8540239" cy="5295716"/>
              <a:chOff x="269048" y="1722741"/>
              <a:chExt cx="8648775" cy="5295716"/>
            </a:xfrm>
          </p:grpSpPr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25" name="타원 2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타원 25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8" name="타원 2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4" name="그림 23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</p:pic>
        </p:grpSp>
      </p:grp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448686" y="1429533"/>
            <a:ext cx="7775575" cy="3603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제시된 거래들의 회계처리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48686" y="1753449"/>
            <a:ext cx="7775575" cy="5762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②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매출원가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630,000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상품을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판매하면서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현금으로 수령하고  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나머지는 외상거래：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957496" y="2422685"/>
            <a:ext cx="7212878" cy="6587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220,000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         출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880,000</a:t>
            </a: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매 출 채 권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660,000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965485" y="3151050"/>
            <a:ext cx="7212878" cy="3603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 출 원 가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630,000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재 고 자 산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630,000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448686" y="3544439"/>
            <a:ext cx="7775575" cy="3603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재고자산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704,000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외상으로 매입：</a:t>
            </a: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957496" y="3904801"/>
            <a:ext cx="7212878" cy="3603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재 고 자 산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704,000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 입 채 무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704,000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448686" y="4366814"/>
            <a:ext cx="8598332" cy="5762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건물 일부를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매각하였으며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이전하는 부서를 위하여 새로운 건물을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매입：</a:t>
            </a: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965485" y="4757389"/>
            <a:ext cx="7212878" cy="7026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110,000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건         물</a:t>
            </a:r>
            <a:r>
              <a:rPr lang="ko-KR" altLang="en-US" sz="1400" b="1" kern="0" baseline="30000" dirty="0">
                <a:solidFill>
                  <a:srgbClr val="C00000"/>
                </a:solidFill>
                <a:latin typeface="맑은 고딕" panose="020B0503020000020004" pitchFamily="50" charset="-127"/>
              </a:rPr>
              <a:t>*</a:t>
            </a:r>
            <a:r>
              <a:rPr lang="en-US" altLang="ko-KR" sz="1400" b="1" kern="0" baseline="30000" dirty="0">
                <a:solidFill>
                  <a:srgbClr val="C00000"/>
                </a:solidFill>
                <a:latin typeface="맑은 고딕" panose="020B0503020000020004" pitchFamily="50" charset="-127"/>
              </a:rPr>
              <a:t>1)</a:t>
            </a:r>
            <a:r>
              <a:rPr lang="en-US" altLang="ko-KR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        100,000</a:t>
            </a: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</a:t>
            </a:r>
            <a:r>
              <a:rPr lang="ko-KR" altLang="en-US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감가상각누계액</a:t>
            </a:r>
            <a:r>
              <a:rPr lang="ko-KR" altLang="en-US" sz="1400" b="1" kern="0" baseline="30000" dirty="0">
                <a:solidFill>
                  <a:srgbClr val="C00000"/>
                </a:solidFill>
                <a:latin typeface="맑은 고딕" panose="020B0503020000020004" pitchFamily="50" charset="-127"/>
              </a:rPr>
              <a:t>*</a:t>
            </a:r>
            <a:r>
              <a:rPr lang="en-US" altLang="ko-KR" sz="1400" b="1" kern="0" baseline="30000" dirty="0">
                <a:solidFill>
                  <a:srgbClr val="C00000"/>
                </a:solidFill>
                <a:latin typeface="맑은 고딕" panose="020B0503020000020004" pitchFamily="50" charset="-127"/>
              </a:rPr>
              <a:t>2)</a:t>
            </a:r>
            <a:r>
              <a:rPr lang="en-US" altLang="ko-KR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2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    </a:t>
            </a:r>
            <a:r>
              <a:rPr lang="en-US" altLang="ko-KR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20,000               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유형자산처분이익 </a:t>
            </a:r>
            <a:r>
              <a:rPr lang="ko-KR" altLang="en-US" sz="10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30,000 </a:t>
            </a:r>
          </a:p>
        </p:txBody>
      </p:sp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957496" y="5495628"/>
            <a:ext cx="7212878" cy="3603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건         물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150,000 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150,000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965485" y="5919331"/>
            <a:ext cx="7212878" cy="4333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감가상각비 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20,000 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감가상각누계액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20,000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960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6251" y="1050196"/>
            <a:ext cx="8711460" cy="5436329"/>
            <a:chOff x="190714" y="1320886"/>
            <a:chExt cx="8711460" cy="5436329"/>
          </a:xfrm>
        </p:grpSpPr>
        <p:grpSp>
          <p:nvGrpSpPr>
            <p:cNvPr id="21" name="그룹 20"/>
            <p:cNvGrpSpPr/>
            <p:nvPr/>
          </p:nvGrpSpPr>
          <p:grpSpPr>
            <a:xfrm>
              <a:off x="361935" y="1461499"/>
              <a:ext cx="8540239" cy="5295716"/>
              <a:chOff x="269048" y="1722741"/>
              <a:chExt cx="8648775" cy="5295716"/>
            </a:xfrm>
          </p:grpSpPr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25" name="타원 2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타원 25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8" name="타원 2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4" name="그림 23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1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597278"/>
              </p:ext>
            </p:extLst>
          </p:nvPr>
        </p:nvGraphicFramePr>
        <p:xfrm>
          <a:off x="763975" y="1686504"/>
          <a:ext cx="7622788" cy="1523550"/>
        </p:xfrm>
        <a:graphic>
          <a:graphicData uri="http://schemas.openxmlformats.org/drawingml/2006/table">
            <a:tbl>
              <a:tblPr/>
              <a:tblGrid>
                <a:gridCol w="223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05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13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513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유동자산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현금및현금성자산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55,000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131,400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매출채권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156,000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Group 20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7319697"/>
              </p:ext>
            </p:extLst>
          </p:nvPr>
        </p:nvGraphicFramePr>
        <p:xfrm>
          <a:off x="763975" y="3179808"/>
          <a:ext cx="7620644" cy="2133600"/>
        </p:xfrm>
        <a:graphic>
          <a:graphicData uri="http://schemas.openxmlformats.org/drawingml/2006/table">
            <a:tbl>
              <a:tblPr/>
              <a:tblGrid>
                <a:gridCol w="2234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7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05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13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재고자산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154,000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비유동자산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토 지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건 물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250,000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300,000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(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감가상각누계액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(50,000)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(50,000)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허 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자산총계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675,000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906,400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타원 16"/>
          <p:cNvSpPr/>
          <p:nvPr/>
        </p:nvSpPr>
        <p:spPr>
          <a:xfrm>
            <a:off x="1013570" y="4113500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00770" y="3599991"/>
            <a:ext cx="2480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</a:rPr>
              <a:t>+</a:t>
            </a:r>
            <a:r>
              <a:rPr lang="ko-KR" altLang="en-US" sz="1600" b="1" dirty="0">
                <a:solidFill>
                  <a:srgbClr val="C00000"/>
                </a:solidFill>
              </a:rPr>
              <a:t> 취득</a:t>
            </a:r>
            <a:r>
              <a:rPr lang="en-US" altLang="ko-KR" sz="1600" b="1" dirty="0">
                <a:solidFill>
                  <a:srgbClr val="C00000"/>
                </a:solidFill>
              </a:rPr>
              <a:t>(150,000)</a:t>
            </a:r>
            <a:r>
              <a:rPr lang="ko-KR" altLang="en-US" sz="1600" b="1" dirty="0">
                <a:solidFill>
                  <a:srgbClr val="C00000"/>
                </a:solidFill>
              </a:rPr>
              <a:t> </a:t>
            </a:r>
            <a:r>
              <a:rPr lang="en-US" altLang="ko-KR" sz="1600" b="1" dirty="0">
                <a:solidFill>
                  <a:srgbClr val="C00000"/>
                </a:solidFill>
              </a:rPr>
              <a:t>– </a:t>
            </a:r>
            <a:r>
              <a:rPr lang="ko-KR" altLang="en-US" sz="1600" b="1" dirty="0">
                <a:solidFill>
                  <a:srgbClr val="C00000"/>
                </a:solidFill>
              </a:rPr>
              <a:t>처분</a:t>
            </a:r>
            <a:r>
              <a:rPr lang="en-US" altLang="ko-KR" sz="1600" b="1" dirty="0">
                <a:solidFill>
                  <a:srgbClr val="C00000"/>
                </a:solidFill>
              </a:rPr>
              <a:t>(?)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5" name="아래로 구부러진 화살표 4"/>
          <p:cNvSpPr/>
          <p:nvPr/>
        </p:nvSpPr>
        <p:spPr>
          <a:xfrm>
            <a:off x="5211409" y="3998884"/>
            <a:ext cx="1259236" cy="247724"/>
          </a:xfrm>
          <a:prstGeom prst="curved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9" name="Group 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857175"/>
              </p:ext>
            </p:extLst>
          </p:nvPr>
        </p:nvGraphicFramePr>
        <p:xfrm>
          <a:off x="3102183" y="5316516"/>
          <a:ext cx="3819525" cy="1097024"/>
        </p:xfrm>
        <a:graphic>
          <a:graphicData uri="http://schemas.openxmlformats.org/drawingml/2006/table">
            <a:tbl>
              <a:tblPr/>
              <a:tblGrid>
                <a:gridCol w="1157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241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     건 물        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단위：천원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당기처분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당기취득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기말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1570077" y="1430520"/>
            <a:ext cx="7231023" cy="5304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*</a:t>
            </a: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1) 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당기 처분한 건물의 취득원가 ＝기초 </a:t>
            </a:r>
            <a:r>
              <a:rPr lang="ko-KR" altLang="en-US" sz="13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건물금액＋당기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3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취득금액－기말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3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건물금액</a:t>
            </a:r>
            <a:endParaRPr lang="en-US" altLang="ko-KR" sz="1300" b="1" kern="0" dirty="0">
              <a:solidFill>
                <a:srgbClr val="C00000"/>
              </a:solidFill>
              <a:latin typeface="맑은 고딕" panose="020B0503020000020004" pitchFamily="50" charset="-127"/>
            </a:endParaRP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                                          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＝ ￦</a:t>
            </a: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250,000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＋</a:t>
            </a: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150,000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－</a:t>
            </a: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300,000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＝￦</a:t>
            </a: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100,000</a:t>
            </a:r>
            <a:endParaRPr lang="ko-KR" altLang="en-US" sz="1300" b="1" kern="0" dirty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4344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6251" y="1050196"/>
            <a:ext cx="8711460" cy="5436329"/>
            <a:chOff x="190714" y="1320886"/>
            <a:chExt cx="8711460" cy="5436329"/>
          </a:xfrm>
        </p:grpSpPr>
        <p:grpSp>
          <p:nvGrpSpPr>
            <p:cNvPr id="21" name="그룹 20"/>
            <p:cNvGrpSpPr/>
            <p:nvPr/>
          </p:nvGrpSpPr>
          <p:grpSpPr>
            <a:xfrm>
              <a:off x="361935" y="1461499"/>
              <a:ext cx="8540239" cy="5295716"/>
              <a:chOff x="269048" y="1722741"/>
              <a:chExt cx="8648775" cy="5295716"/>
            </a:xfrm>
          </p:grpSpPr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25" name="타원 2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타원 25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8" name="타원 2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4" name="그림 23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1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26120"/>
              </p:ext>
            </p:extLst>
          </p:nvPr>
        </p:nvGraphicFramePr>
        <p:xfrm>
          <a:off x="763975" y="1646508"/>
          <a:ext cx="7622788" cy="1523550"/>
        </p:xfrm>
        <a:graphic>
          <a:graphicData uri="http://schemas.openxmlformats.org/drawingml/2006/table">
            <a:tbl>
              <a:tblPr/>
              <a:tblGrid>
                <a:gridCol w="223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05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13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513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유동자산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현금및현금성자산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55,000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131,400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매출채권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156,000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Group 20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6469495"/>
              </p:ext>
            </p:extLst>
          </p:nvPr>
        </p:nvGraphicFramePr>
        <p:xfrm>
          <a:off x="763975" y="3137755"/>
          <a:ext cx="7620644" cy="2133600"/>
        </p:xfrm>
        <a:graphic>
          <a:graphicData uri="http://schemas.openxmlformats.org/drawingml/2006/table">
            <a:tbl>
              <a:tblPr/>
              <a:tblGrid>
                <a:gridCol w="2234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7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1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05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13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재고자산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154,000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비유동자산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토 지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건 물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250,000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300,000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(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감가상각누계액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(50,000)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(50,000)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허 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자산총계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675,000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906,400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타원 16"/>
          <p:cNvSpPr/>
          <p:nvPr/>
        </p:nvSpPr>
        <p:spPr>
          <a:xfrm>
            <a:off x="1013570" y="4071447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18273" y="3968792"/>
            <a:ext cx="2245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</a:rPr>
              <a:t>+</a:t>
            </a:r>
            <a:r>
              <a:rPr lang="ko-KR" altLang="en-US" sz="1600" b="1" dirty="0">
                <a:solidFill>
                  <a:srgbClr val="C00000"/>
                </a:solidFill>
              </a:rPr>
              <a:t> 당기</a:t>
            </a:r>
            <a:r>
              <a:rPr lang="en-US" altLang="ko-KR" sz="1600" b="1" dirty="0">
                <a:solidFill>
                  <a:srgbClr val="C00000"/>
                </a:solidFill>
              </a:rPr>
              <a:t>(20,000)</a:t>
            </a:r>
            <a:r>
              <a:rPr lang="ko-KR" altLang="en-US" sz="1600" b="1" dirty="0">
                <a:solidFill>
                  <a:srgbClr val="C00000"/>
                </a:solidFill>
              </a:rPr>
              <a:t> </a:t>
            </a:r>
            <a:r>
              <a:rPr lang="en-US" altLang="ko-KR" sz="1600" b="1" dirty="0">
                <a:solidFill>
                  <a:srgbClr val="C00000"/>
                </a:solidFill>
              </a:rPr>
              <a:t>– </a:t>
            </a:r>
            <a:r>
              <a:rPr lang="ko-KR" altLang="en-US" sz="1600" b="1" dirty="0">
                <a:solidFill>
                  <a:srgbClr val="C00000"/>
                </a:solidFill>
              </a:rPr>
              <a:t>처분</a:t>
            </a:r>
            <a:r>
              <a:rPr lang="en-US" altLang="ko-KR" sz="1600" b="1" dirty="0">
                <a:solidFill>
                  <a:srgbClr val="C00000"/>
                </a:solidFill>
              </a:rPr>
              <a:t>(?)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5" name="아래로 구부러진 화살표 4"/>
          <p:cNvSpPr/>
          <p:nvPr/>
        </p:nvSpPr>
        <p:spPr>
          <a:xfrm>
            <a:off x="5211409" y="4319196"/>
            <a:ext cx="1259236" cy="247724"/>
          </a:xfrm>
          <a:prstGeom prst="curved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19" name="Group 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005425"/>
              </p:ext>
            </p:extLst>
          </p:nvPr>
        </p:nvGraphicFramePr>
        <p:xfrm>
          <a:off x="2917825" y="5286832"/>
          <a:ext cx="3381375" cy="1097024"/>
        </p:xfrm>
        <a:graphic>
          <a:graphicData uri="http://schemas.openxmlformats.org/drawingml/2006/table">
            <a:tbl>
              <a:tblPr/>
              <a:tblGrid>
                <a:gridCol w="1157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72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241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건물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감가상각누계액 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단위：천원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당기감소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기말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당기증가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Rectangle 12"/>
          <p:cNvSpPr>
            <a:spLocks noChangeArrowheads="1"/>
          </p:cNvSpPr>
          <p:nvPr/>
        </p:nvSpPr>
        <p:spPr bwMode="auto">
          <a:xfrm>
            <a:off x="387015" y="1456421"/>
            <a:ext cx="7997248" cy="4616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*</a:t>
            </a: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2) 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당기 처분한 건물의 감가상각누계액 ＝기초 </a:t>
            </a:r>
            <a:r>
              <a:rPr lang="ko-KR" altLang="en-US" sz="13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감가상각누계액＋당기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3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감가상각비－기말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감가상각누계액    </a:t>
            </a: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                                                  ＝￦</a:t>
            </a: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50,000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＋</a:t>
            </a: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20,000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－</a:t>
            </a: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50,000</a:t>
            </a:r>
            <a:r>
              <a:rPr lang="ko-KR" altLang="en-US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＝￦</a:t>
            </a:r>
            <a:r>
              <a:rPr lang="en-US" altLang="ko-KR" sz="13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20,000</a:t>
            </a:r>
            <a:endParaRPr lang="ko-KR" altLang="en-US" sz="1300" b="1" kern="0" dirty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28BE6C-735D-4D33-9011-528201EF7252}"/>
              </a:ext>
            </a:extLst>
          </p:cNvPr>
          <p:cNvSpPr/>
          <p:nvPr/>
        </p:nvSpPr>
        <p:spPr>
          <a:xfrm>
            <a:off x="6743700" y="5401579"/>
            <a:ext cx="1857375" cy="8981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감가상각누계액</a:t>
            </a:r>
            <a:r>
              <a:rPr lang="ko-KR" altLang="en-US" sz="1400" dirty="0">
                <a:solidFill>
                  <a:schemeClr val="tx1"/>
                </a:solidFill>
              </a:rPr>
              <a:t> 당기증가금액은 손익계산서 상 </a:t>
            </a:r>
            <a:r>
              <a:rPr lang="ko-KR" altLang="en-US" sz="1400" b="1" dirty="0">
                <a:solidFill>
                  <a:schemeClr val="tx1"/>
                </a:solidFill>
              </a:rPr>
              <a:t>감가상각비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20,000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379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6251" y="1050196"/>
            <a:ext cx="8711460" cy="5436329"/>
            <a:chOff x="190714" y="1320886"/>
            <a:chExt cx="8711460" cy="5436329"/>
          </a:xfrm>
        </p:grpSpPr>
        <p:grpSp>
          <p:nvGrpSpPr>
            <p:cNvPr id="21" name="그룹 20"/>
            <p:cNvGrpSpPr/>
            <p:nvPr/>
          </p:nvGrpSpPr>
          <p:grpSpPr>
            <a:xfrm>
              <a:off x="361935" y="1461499"/>
              <a:ext cx="8540239" cy="5295716"/>
              <a:chOff x="269048" y="1722741"/>
              <a:chExt cx="8648775" cy="5295716"/>
            </a:xfrm>
          </p:grpSpPr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25" name="타원 2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타원 25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8" name="타원 2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4" name="그림 23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29" name="Group 4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907010"/>
              </p:ext>
            </p:extLst>
          </p:nvPr>
        </p:nvGraphicFramePr>
        <p:xfrm>
          <a:off x="605992" y="1625168"/>
          <a:ext cx="3307820" cy="3260900"/>
        </p:xfrm>
        <a:graphic>
          <a:graphicData uri="http://schemas.openxmlformats.org/drawingml/2006/table">
            <a:tbl>
              <a:tblPr/>
              <a:tblGrid>
                <a:gridCol w="1917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08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포괄손익계산서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(20×2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 액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880,000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630,000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매출총이익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급 여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무형자산상각비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 차 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유형자산처분이익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2" name="Group 40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6605528"/>
              </p:ext>
            </p:extLst>
          </p:nvPr>
        </p:nvGraphicFramePr>
        <p:xfrm>
          <a:off x="605992" y="4886068"/>
          <a:ext cx="3300981" cy="914400"/>
        </p:xfrm>
        <a:graphic>
          <a:graphicData uri="http://schemas.openxmlformats.org/drawingml/2006/table">
            <a:tbl>
              <a:tblPr/>
              <a:tblGrid>
                <a:gridCol w="1912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당기순이익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76,000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기타포괄손익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총포괄이익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76,000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타원 14"/>
          <p:cNvSpPr/>
          <p:nvPr/>
        </p:nvSpPr>
        <p:spPr>
          <a:xfrm>
            <a:off x="358343" y="3684186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358343" y="3118391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358343" y="4002331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358343" y="4302193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3732440" y="1497040"/>
            <a:ext cx="4729389" cy="473334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⑤ 특허권의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상각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：</a:t>
            </a: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3905067" y="1859616"/>
            <a:ext cx="4711021" cy="38384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무형자산상각비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5,000     (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특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허  권         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5,000</a:t>
            </a:r>
            <a:endParaRPr lang="ko-KR" altLang="en-US" sz="13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3732439" y="2199942"/>
            <a:ext cx="4729389" cy="116410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⑥ 종업원 급여로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150,000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현금지급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임차료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기말 현재 미지급：</a:t>
            </a: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3903661" y="2886214"/>
            <a:ext cx="4729389" cy="38384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급         여      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150,000     (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금</a:t>
            </a:r>
            <a:r>
              <a:rPr lang="ko-KR" altLang="en-US" sz="11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150,000</a:t>
            </a:r>
            <a:endParaRPr lang="ko-KR" altLang="en-US" sz="13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3903661" y="3302668"/>
            <a:ext cx="4729389" cy="3815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임   차   료          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5,000     (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미지급비용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5,000</a:t>
            </a:r>
            <a:endParaRPr lang="ko-KR" altLang="en-US" sz="13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3732439" y="3737427"/>
            <a:ext cx="4729389" cy="45912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⑦ 차입금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100,000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증가 및 이자비용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24,000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발생：            </a:t>
            </a:r>
          </a:p>
        </p:txBody>
      </p:sp>
      <p:sp>
        <p:nvSpPr>
          <p:cNvPr id="38" name="Rectangle 12"/>
          <p:cNvSpPr>
            <a:spLocks noChangeArrowheads="1"/>
          </p:cNvSpPr>
          <p:nvPr/>
        </p:nvSpPr>
        <p:spPr bwMode="auto">
          <a:xfrm>
            <a:off x="3886699" y="4155614"/>
            <a:ext cx="4729389" cy="4143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     (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장기차입금   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</a:t>
            </a:r>
            <a:endParaRPr lang="ko-KR" altLang="en-US" sz="13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3885863" y="4614737"/>
            <a:ext cx="4730226" cy="4223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 자 비 용         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24,000     (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금      </a:t>
            </a:r>
            <a:r>
              <a:rPr lang="en-US" altLang="ko-KR" sz="13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24,000</a:t>
            </a:r>
            <a:endParaRPr lang="ko-KR" altLang="en-US" sz="13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618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6251" y="1050196"/>
            <a:ext cx="8711460" cy="5436329"/>
            <a:chOff x="190714" y="1320886"/>
            <a:chExt cx="8711460" cy="5436329"/>
          </a:xfrm>
        </p:grpSpPr>
        <p:grpSp>
          <p:nvGrpSpPr>
            <p:cNvPr id="21" name="그룹 20"/>
            <p:cNvGrpSpPr/>
            <p:nvPr/>
          </p:nvGrpSpPr>
          <p:grpSpPr>
            <a:xfrm>
              <a:off x="361935" y="1461499"/>
              <a:ext cx="8540239" cy="5295716"/>
              <a:chOff x="269048" y="1722741"/>
              <a:chExt cx="8648775" cy="5295716"/>
            </a:xfrm>
          </p:grpSpPr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25" name="타원 2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타원 25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8" name="타원 2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4" name="그림 23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8" name="Rectangle 12"/>
          <p:cNvSpPr>
            <a:spLocks noChangeArrowheads="1"/>
          </p:cNvSpPr>
          <p:nvPr/>
        </p:nvSpPr>
        <p:spPr bwMode="auto">
          <a:xfrm>
            <a:off x="720725" y="1517756"/>
            <a:ext cx="7775575" cy="3603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⑧ 유상증자로 인한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현금유입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：</a:t>
            </a:r>
          </a:p>
        </p:txBody>
      </p: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1288763" y="1876532"/>
            <a:ext cx="6760730" cy="1044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 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자   본   금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20,000</a:t>
            </a: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                                              자본잉여금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80,000*</a:t>
            </a: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				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주식발행초과금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50" name="Rectangle 12"/>
          <p:cNvSpPr>
            <a:spLocks noChangeArrowheads="1"/>
          </p:cNvSpPr>
          <p:nvPr/>
        </p:nvSpPr>
        <p:spPr bwMode="auto">
          <a:xfrm>
            <a:off x="1268217" y="2919175"/>
            <a:ext cx="7207538" cy="3603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*자본잉여금의 </a:t>
            </a:r>
            <a:r>
              <a:rPr lang="ko-KR" altLang="en-US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증가분＝주식발행금액－자본금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＝￦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－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＝￦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80,000</a:t>
            </a:r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720725" y="3641488"/>
            <a:ext cx="7775575" cy="3603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⑨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20×2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년중에 주주에게 ￦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30,000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배당금으로 지급：</a:t>
            </a:r>
          </a:p>
        </p:txBody>
      </p:sp>
      <p:sp>
        <p:nvSpPr>
          <p:cNvPr id="52" name="Rectangle 12"/>
          <p:cNvSpPr>
            <a:spLocks noChangeArrowheads="1"/>
          </p:cNvSpPr>
          <p:nvPr/>
        </p:nvSpPr>
        <p:spPr bwMode="auto">
          <a:xfrm>
            <a:off x="1288762" y="4001850"/>
            <a:ext cx="6760731" cy="3603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이익잉여금  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30,000 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30,000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4857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57469" y="1503448"/>
            <a:ext cx="4754211" cy="338554"/>
            <a:chOff x="1287463" y="5024189"/>
            <a:chExt cx="4754211" cy="338554"/>
          </a:xfrm>
        </p:grpSpPr>
        <p:sp>
          <p:nvSpPr>
            <p:cNvPr id="10" name="오각형 9"/>
            <p:cNvSpPr/>
            <p:nvPr/>
          </p:nvSpPr>
          <p:spPr>
            <a:xfrm>
              <a:off x="1287463" y="505541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5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77940" y="5024189"/>
              <a:ext cx="4163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간접법을 이용해 작성된 </a:t>
              </a:r>
              <a:r>
                <a:rPr lang="ko-KR" altLang="en-US" sz="1600" b="1" dirty="0" err="1"/>
                <a:t>현금흐름표</a:t>
              </a:r>
              <a:r>
                <a:rPr lang="ko-KR" altLang="en-US" sz="1600" b="1" dirty="0"/>
                <a:t> 양식</a:t>
              </a: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5752680" y="2031951"/>
            <a:ext cx="3391320" cy="3145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sz="1600" b="1" dirty="0"/>
              <a:t>당기순이익</a:t>
            </a:r>
            <a:r>
              <a:rPr lang="ko-KR" altLang="en-US" sz="1600" dirty="0"/>
              <a:t>에서 출발하여</a:t>
            </a:r>
            <a:endParaRPr lang="en-US" altLang="ko-KR" sz="1600" dirty="0"/>
          </a:p>
          <a:p>
            <a:pPr marL="252000" indent="-252000" latinLnBrk="0">
              <a:lnSpc>
                <a:spcPts val="2400"/>
              </a:lnSpc>
            </a:pPr>
            <a:r>
              <a:rPr lang="ko-KR" altLang="en-US" sz="1600" dirty="0"/>
              <a:t>① 투자활동 및 재무활동에 의한 영향을 제거</a:t>
            </a:r>
            <a:endParaRPr lang="en-US" altLang="ko-KR" sz="1600" dirty="0"/>
          </a:p>
          <a:p>
            <a:pPr marL="252000" indent="-252000" latinLnBrk="0">
              <a:lnSpc>
                <a:spcPts val="2400"/>
              </a:lnSpc>
            </a:pPr>
            <a:r>
              <a:rPr lang="ko-KR" altLang="en-US" sz="1600" dirty="0"/>
              <a:t>② 현금의 유출이 없는 비용을 가산하고 현금의 유입이 없는 수익을 차감</a:t>
            </a:r>
            <a:endParaRPr lang="en-US" altLang="ko-KR" sz="1600" dirty="0"/>
          </a:p>
          <a:p>
            <a:pPr marL="252000" indent="-252000" latinLnBrk="0">
              <a:lnSpc>
                <a:spcPts val="2400"/>
              </a:lnSpc>
            </a:pPr>
            <a:r>
              <a:rPr lang="ko-KR" altLang="en-US" sz="1600" dirty="0"/>
              <a:t>③ 영업활동으로 인한 자산과 부채의 변동을 고려하여 </a:t>
            </a:r>
            <a:endParaRPr lang="en-US" altLang="ko-KR" sz="1600" dirty="0"/>
          </a:p>
          <a:p>
            <a:pPr>
              <a:lnSpc>
                <a:spcPts val="2400"/>
              </a:lnSpc>
            </a:pPr>
            <a:endParaRPr lang="en-US" altLang="ko-KR" sz="1600" dirty="0"/>
          </a:p>
          <a:p>
            <a:pPr>
              <a:lnSpc>
                <a:spcPts val="2400"/>
              </a:lnSpc>
            </a:pPr>
            <a:r>
              <a:rPr lang="en-US" altLang="ko-KR" sz="1600" dirty="0">
                <a:sym typeface="Wingdings" panose="05000000000000000000" pitchFamily="2" charset="2"/>
              </a:rPr>
              <a:t> </a:t>
            </a:r>
            <a:r>
              <a:rPr lang="ko-KR" altLang="en-US" sz="1600" b="1" dirty="0"/>
              <a:t>영업현금흐름</a:t>
            </a:r>
            <a:r>
              <a:rPr lang="ko-KR" altLang="en-US" sz="1600" dirty="0"/>
              <a:t> 계산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68C03E-B33F-4A2C-9EF8-A9373150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2" y="1875803"/>
            <a:ext cx="5407502" cy="349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74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257471" y="1369328"/>
            <a:ext cx="8273343" cy="1932671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kern="0" dirty="0">
                <a:latin typeface="맑은 고딕" panose="020B0503020000020004" pitchFamily="50" charset="-127"/>
              </a:rPr>
              <a:t>투자활동 및 재무활동으로 인한 비용과 수익은 당기순이익에는 포함되어 있으나 영업활동으로 인해 발생한 비용과 수익이 아님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 </a:t>
            </a:r>
            <a:r>
              <a:rPr lang="en-US" altLang="ko-KR" sz="1600" kern="0" dirty="0">
                <a:latin typeface="맑은 고딕" panose="020B0503020000020004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600" kern="0" dirty="0">
                <a:latin typeface="맑은 고딕" panose="020B0503020000020004" pitchFamily="50" charset="-127"/>
                <a:sym typeface="Wingdings" panose="05000000000000000000" pitchFamily="2" charset="2"/>
              </a:rPr>
              <a:t>현금흐름을 산출하기 위해서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당기순이익에서 조정필요</a:t>
            </a: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kern="0" dirty="0">
                <a:latin typeface="맑은 고딕" panose="020B0503020000020004" pitchFamily="50" charset="-127"/>
              </a:rPr>
              <a:t>당기순이익에 포함된 투자 및 재무 활동으로 인한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이익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은 당기순이익에서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차감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하고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투자 및 재무 활동으로 인한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비용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은 당기순이익에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가산</a:t>
            </a:r>
            <a:endParaRPr lang="en-US" altLang="ko-KR" sz="1600" b="1" kern="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en-US" altLang="ko-KR" sz="1600" kern="0" dirty="0">
                <a:latin typeface="맑은 고딕" panose="020B0503020000020004" pitchFamily="50" charset="-127"/>
              </a:rPr>
              <a:t>(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예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)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지분법손익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유형자산처분손익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파생상품평가손익</a:t>
            </a:r>
            <a:endParaRPr lang="en-US" altLang="ko-KR" sz="1600" kern="0" dirty="0">
              <a:latin typeface="맑은 고딕" panose="020B0503020000020004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57473" y="1034455"/>
            <a:ext cx="7492624" cy="340256"/>
            <a:chOff x="257473" y="1430362"/>
            <a:chExt cx="7492624" cy="340256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투자활동 및 재무활동으로 인한 비용과 수익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537218"/>
              </p:ext>
            </p:extLst>
          </p:nvPr>
        </p:nvGraphicFramePr>
        <p:xfrm>
          <a:off x="245162" y="3301999"/>
          <a:ext cx="5822265" cy="2804160"/>
        </p:xfrm>
        <a:graphic>
          <a:graphicData uri="http://schemas.openxmlformats.org/drawingml/2006/table">
            <a:tbl>
              <a:tblPr/>
              <a:tblGrid>
                <a:gridCol w="2490451">
                  <a:extLst>
                    <a:ext uri="{9D8B030D-6E8A-4147-A177-3AD203B41FA5}">
                      <a16:colId xmlns:a16="http://schemas.microsoft.com/office/drawing/2014/main" val="1396268067"/>
                    </a:ext>
                  </a:extLst>
                </a:gridCol>
                <a:gridCol w="309980">
                  <a:extLst>
                    <a:ext uri="{9D8B030D-6E8A-4147-A177-3AD203B41FA5}">
                      <a16:colId xmlns:a16="http://schemas.microsoft.com/office/drawing/2014/main" val="1902622056"/>
                    </a:ext>
                  </a:extLst>
                </a:gridCol>
                <a:gridCol w="1091218">
                  <a:extLst>
                    <a:ext uri="{9D8B030D-6E8A-4147-A177-3AD203B41FA5}">
                      <a16:colId xmlns:a16="http://schemas.microsoft.com/office/drawing/2014/main" val="4265935087"/>
                    </a:ext>
                  </a:extLst>
                </a:gridCol>
                <a:gridCol w="298453">
                  <a:extLst>
                    <a:ext uri="{9D8B030D-6E8A-4147-A177-3AD203B41FA5}">
                      <a16:colId xmlns:a16="http://schemas.microsoft.com/office/drawing/2014/main" val="1250224583"/>
                    </a:ext>
                  </a:extLst>
                </a:gridCol>
                <a:gridCol w="1632163">
                  <a:extLst>
                    <a:ext uri="{9D8B030D-6E8A-4147-A177-3AD203B41FA5}">
                      <a16:colId xmlns:a16="http://schemas.microsoft.com/office/drawing/2014/main" val="1078691340"/>
                    </a:ext>
                  </a:extLst>
                </a:gridCol>
              </a:tblGrid>
              <a:tr h="458771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포괄손익계산서</a:t>
                      </a:r>
                    </a:p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300" kern="0" spc="-3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덕송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4351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681928"/>
                  </a:ext>
                </a:extLst>
              </a:tr>
              <a:tr h="269865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4351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4351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20×1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20×2</a:t>
                      </a:r>
                      <a:r>
                        <a:rPr lang="ko-KR" altLang="en-US" sz="13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520212"/>
                  </a:ext>
                </a:extLst>
              </a:tr>
              <a:tr h="269865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 출 액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0795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lang="en-US" altLang="ko-KR" sz="13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880,000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050753"/>
                  </a:ext>
                </a:extLst>
              </a:tr>
              <a:tr h="269865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0795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816804"/>
                  </a:ext>
                </a:extLst>
              </a:tr>
              <a:tr h="269865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유형자산처분이익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0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0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0795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30,000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9797064"/>
                  </a:ext>
                </a:extLst>
              </a:tr>
              <a:tr h="269865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0795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208543"/>
                  </a:ext>
                </a:extLst>
              </a:tr>
              <a:tr h="269865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당기순이익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0795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76,000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721431"/>
                  </a:ext>
                </a:extLst>
              </a:tr>
              <a:tr h="269865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기타포괄손익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0795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－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01191"/>
                  </a:ext>
                </a:extLst>
              </a:tr>
              <a:tr h="269865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총포괄이익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0795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76,000 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368435"/>
                  </a:ext>
                </a:extLst>
              </a:tr>
            </a:tbl>
          </a:graphicData>
        </a:graphic>
      </p:graphicFrame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6362699" y="4079877"/>
            <a:ext cx="2438401" cy="15589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 anchor="ctr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예제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11-1]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투자활동으로 인한 이익인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유형자산처분이익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30,000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은 </a:t>
            </a:r>
            <a:r>
              <a:rPr lang="ko-KR" altLang="en-US" sz="14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당기순이익에서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차감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6953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245037" y="1444894"/>
            <a:ext cx="8641369" cy="1559075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kern="0" dirty="0">
                <a:latin typeface="맑은 고딕" panose="020B0503020000020004" pitchFamily="50" charset="-127"/>
              </a:rPr>
              <a:t>현금의 유입이 없는 수익과 유출이 없는 비용은 그만큼 발생주의 이익과 현금주의 이익 간의 차이를 발생시킴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 </a:t>
            </a:r>
            <a:r>
              <a:rPr lang="en-US" altLang="ko-KR" sz="1600" kern="0" dirty="0">
                <a:latin typeface="맑은 고딕" panose="020B0503020000020004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600" kern="0" dirty="0">
                <a:latin typeface="맑은 고딕" panose="020B0503020000020004" pitchFamily="50" charset="-127"/>
                <a:sym typeface="Wingdings" panose="05000000000000000000" pitchFamily="2" charset="2"/>
              </a:rPr>
              <a:t>현금흐름을 산출하기 위해서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당기순이익에서 조정필요</a:t>
            </a: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kern="0" dirty="0">
                <a:latin typeface="맑은 고딕" panose="020B0503020000020004" pitchFamily="50" charset="-127"/>
              </a:rPr>
              <a:t>현금유출이 없는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비용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은 당기순이익에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가산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하고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현금유입이 없는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수익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은 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당기순이익에서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차감</a:t>
            </a: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en-US" altLang="ko-KR" sz="1600" kern="0" dirty="0">
                <a:latin typeface="맑은 고딕" panose="020B0503020000020004" pitchFamily="50" charset="-127"/>
              </a:rPr>
              <a:t>(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예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)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감가상각비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대손상각비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무형자산상각비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</a:t>
            </a:r>
            <a:endParaRPr lang="en-US" altLang="ko-KR" sz="1600" kern="0" dirty="0">
              <a:latin typeface="맑은 고딕" panose="020B0503020000020004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57473" y="1034455"/>
            <a:ext cx="7492624" cy="340256"/>
            <a:chOff x="257473" y="1430362"/>
            <a:chExt cx="7492624" cy="340256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현금의 </a:t>
              </a: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유출입이</a:t>
              </a: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없는 비용과 수익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5638800" y="3048905"/>
            <a:ext cx="3247606" cy="25422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 anchor="ctr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예제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11-1]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현금의 </a:t>
            </a:r>
            <a:r>
              <a:rPr lang="ko-KR" altLang="en-US" sz="15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유출입이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없는 비용과 수익에 해당하는 항목으로는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감가상각비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20,000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과 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무형자산상각비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5,000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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이들 항목을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당기순이익에 가산</a:t>
            </a:r>
            <a:endParaRPr lang="en-US" altLang="ko-KR" sz="15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723644"/>
              </p:ext>
            </p:extLst>
          </p:nvPr>
        </p:nvGraphicFramePr>
        <p:xfrm>
          <a:off x="257474" y="3048905"/>
          <a:ext cx="5247975" cy="347267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61278">
                  <a:extLst>
                    <a:ext uri="{9D8B030D-6E8A-4147-A177-3AD203B41FA5}">
                      <a16:colId xmlns:a16="http://schemas.microsoft.com/office/drawing/2014/main" val="2658730067"/>
                    </a:ext>
                  </a:extLst>
                </a:gridCol>
                <a:gridCol w="238159">
                  <a:extLst>
                    <a:ext uri="{9D8B030D-6E8A-4147-A177-3AD203B41FA5}">
                      <a16:colId xmlns:a16="http://schemas.microsoft.com/office/drawing/2014/main" val="2205935965"/>
                    </a:ext>
                  </a:extLst>
                </a:gridCol>
                <a:gridCol w="296422">
                  <a:extLst>
                    <a:ext uri="{9D8B030D-6E8A-4147-A177-3AD203B41FA5}">
                      <a16:colId xmlns:a16="http://schemas.microsoft.com/office/drawing/2014/main" val="301093821"/>
                    </a:ext>
                  </a:extLst>
                </a:gridCol>
                <a:gridCol w="1115208">
                  <a:extLst>
                    <a:ext uri="{9D8B030D-6E8A-4147-A177-3AD203B41FA5}">
                      <a16:colId xmlns:a16="http://schemas.microsoft.com/office/drawing/2014/main" val="1675835691"/>
                    </a:ext>
                  </a:extLst>
                </a:gridCol>
                <a:gridCol w="290026">
                  <a:extLst>
                    <a:ext uri="{9D8B030D-6E8A-4147-A177-3AD203B41FA5}">
                      <a16:colId xmlns:a16="http://schemas.microsoft.com/office/drawing/2014/main" val="3305641479"/>
                    </a:ext>
                  </a:extLst>
                </a:gridCol>
                <a:gridCol w="290026">
                  <a:extLst>
                    <a:ext uri="{9D8B030D-6E8A-4147-A177-3AD203B41FA5}">
                      <a16:colId xmlns:a16="http://schemas.microsoft.com/office/drawing/2014/main" val="997684245"/>
                    </a:ext>
                  </a:extLst>
                </a:gridCol>
                <a:gridCol w="1056856">
                  <a:extLst>
                    <a:ext uri="{9D8B030D-6E8A-4147-A177-3AD203B41FA5}">
                      <a16:colId xmlns:a16="http://schemas.microsoft.com/office/drawing/2014/main" val="1183802627"/>
                    </a:ext>
                  </a:extLst>
                </a:gridCol>
              </a:tblGrid>
              <a:tr h="479035">
                <a:tc grid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30" dirty="0" err="1">
                          <a:effectLst/>
                        </a:rPr>
                        <a:t>포괄손익계산서</a:t>
                      </a:r>
                      <a:endParaRPr lang="ko-KR" altLang="en-US" sz="1300" b="1" kern="0" spc="-30" dirty="0">
                        <a:effectLst/>
                      </a:endParaRPr>
                    </a:p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effectLst/>
                        </a:rPr>
                        <a:t>(</a:t>
                      </a:r>
                      <a:r>
                        <a:rPr lang="ko-KR" altLang="en-US" sz="1300" kern="0" spc="-30" dirty="0">
                          <a:effectLst/>
                        </a:rPr>
                        <a:t>주</a:t>
                      </a:r>
                      <a:r>
                        <a:rPr lang="en-US" altLang="ko-KR" sz="1300" kern="0" spc="-30" dirty="0">
                          <a:effectLst/>
                        </a:rPr>
                        <a:t>)</a:t>
                      </a:r>
                      <a:r>
                        <a:rPr lang="ko-KR" altLang="en-US" sz="1300" kern="0" spc="-30" dirty="0" err="1">
                          <a:effectLst/>
                        </a:rPr>
                        <a:t>덕송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987744"/>
                  </a:ext>
                </a:extLst>
              </a:tr>
              <a:tr h="284427">
                <a:tc gridSpan="2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effectLst/>
                        </a:rPr>
                        <a:t>20×1</a:t>
                      </a:r>
                      <a:r>
                        <a:rPr lang="ko-KR" altLang="en-US" sz="1300" kern="0" spc="-30" dirty="0">
                          <a:effectLst/>
                        </a:rPr>
                        <a:t>년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>
                          <a:effectLst/>
                        </a:rPr>
                        <a:t>20×2</a:t>
                      </a:r>
                      <a:r>
                        <a:rPr lang="ko-KR" altLang="en-US" sz="1300" kern="0" spc="-30">
                          <a:effectLst/>
                        </a:rPr>
                        <a:t>년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228830"/>
                  </a:ext>
                </a:extLst>
              </a:tr>
              <a:tr h="479035">
                <a:tc gridSpan="2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effectLst/>
                        </a:rPr>
                        <a:t>매 출 액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7018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>
                          <a:effectLst/>
                        </a:rPr>
                        <a:t>￦</a:t>
                      </a:r>
                      <a:r>
                        <a:rPr lang="en-US" altLang="ko-KR" sz="1300" kern="0" spc="-30">
                          <a:effectLst/>
                        </a:rPr>
                        <a:t>880,000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420975"/>
                  </a:ext>
                </a:extLst>
              </a:tr>
              <a:tr h="284427">
                <a:tc gridSpan="2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effectLst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effectLst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7018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effectLst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461597"/>
                  </a:ext>
                </a:extLst>
              </a:tr>
              <a:tr h="284427">
                <a:tc gridSpan="2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solidFill>
                            <a:srgbClr val="C00000"/>
                          </a:solidFill>
                          <a:effectLst/>
                        </a:rPr>
                        <a:t>감가상각비</a:t>
                      </a:r>
                      <a:endParaRPr lang="ko-KR" altLang="en-US" sz="1300" b="1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7018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solidFill>
                            <a:srgbClr val="C00000"/>
                          </a:solidFill>
                          <a:effectLst/>
                        </a:rPr>
                        <a:t>20,000</a:t>
                      </a:r>
                      <a:endParaRPr lang="en-US" sz="1300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900736"/>
                  </a:ext>
                </a:extLst>
              </a:tr>
              <a:tr h="284427">
                <a:tc gridSpan="2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 err="1">
                          <a:solidFill>
                            <a:srgbClr val="C00000"/>
                          </a:solidFill>
                          <a:effectLst/>
                        </a:rPr>
                        <a:t>무형자산상각비</a:t>
                      </a:r>
                      <a:endParaRPr lang="ko-KR" altLang="en-US" sz="1300" b="1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7018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solidFill>
                            <a:srgbClr val="C00000"/>
                          </a:solidFill>
                          <a:effectLst/>
                        </a:rPr>
                        <a:t>5,000</a:t>
                      </a:r>
                      <a:endParaRPr lang="en-US" sz="1300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911189"/>
                  </a:ext>
                </a:extLst>
              </a:tr>
              <a:tr h="284427">
                <a:tc gridSpan="2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effectLst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effectLst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7018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effectLst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881270"/>
                  </a:ext>
                </a:extLst>
              </a:tr>
              <a:tr h="284427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 err="1">
                          <a:effectLst/>
                        </a:rPr>
                        <a:t>당기순이익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7018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effectLst/>
                        </a:rPr>
                        <a:t>76,000</a:t>
                      </a:r>
                      <a:endParaRPr 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577981"/>
                  </a:ext>
                </a:extLst>
              </a:tr>
              <a:tr h="284427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>
                          <a:effectLst/>
                        </a:rPr>
                        <a:t>기타포괄손익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7018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effectLst/>
                        </a:rPr>
                        <a:t>－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551164"/>
                  </a:ext>
                </a:extLst>
              </a:tr>
              <a:tr h="479035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>
                          <a:effectLst/>
                        </a:rPr>
                        <a:t>총포괄이익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7018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effectLst/>
                        </a:rPr>
                        <a:t>￦</a:t>
                      </a:r>
                      <a:r>
                        <a:rPr lang="en-US" altLang="ko-KR" sz="1300" kern="0" spc="-30" dirty="0">
                          <a:effectLst/>
                        </a:rPr>
                        <a:t>76,000 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740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897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257471" y="1500569"/>
            <a:ext cx="8641369" cy="3499852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kern="0" dirty="0">
                <a:latin typeface="맑은 고딕" panose="020B0503020000020004" pitchFamily="50" charset="-127"/>
              </a:rPr>
              <a:t>영업활동으로 인한 자산과 부채의 변동은 발생주의 이익과 현금주의 이익의 차이를 가져옴</a:t>
            </a: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kern="0" dirty="0">
                <a:latin typeface="맑은 고딕" panose="020B0503020000020004" pitchFamily="50" charset="-127"/>
              </a:rPr>
              <a:t>     (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예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)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매출채권의 증감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재고자산의 증감 및 매입채무의 증감</a:t>
            </a: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b="1" kern="0" dirty="0">
                <a:latin typeface="맑은 고딕" panose="020B0503020000020004" pitchFamily="50" charset="-127"/>
              </a:rPr>
              <a:t>영업과 관련된 자산</a:t>
            </a:r>
            <a:r>
              <a:rPr lang="en-US" altLang="ko-KR" sz="1600" b="1" kern="0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예</a:t>
            </a:r>
            <a:r>
              <a:rPr lang="en-US" altLang="ko-KR" sz="1600" b="1" kern="0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매출채권</a:t>
            </a:r>
            <a:r>
              <a:rPr lang="en-US" altLang="ko-KR" sz="1600" b="1" kern="0" dirty="0">
                <a:latin typeface="맑은 고딕" panose="020B0503020000020004" pitchFamily="50" charset="-127"/>
              </a:rPr>
              <a:t>)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이 증가한 경우에는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당기순이익이 증가하였음에도 현금의 유입이 발생하지 않은 것임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 </a:t>
            </a:r>
            <a:r>
              <a:rPr lang="en-US" altLang="ko-KR" sz="1600" kern="0" dirty="0">
                <a:latin typeface="맑은 고딕" panose="020B0503020000020004" pitchFamily="50" charset="-127"/>
                <a:sym typeface="Wingdings" panose="05000000000000000000" pitchFamily="2" charset="2"/>
              </a:rPr>
              <a:t>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자산의 증가액만큼 </a:t>
            </a:r>
            <a:r>
              <a:rPr lang="ko-KR" altLang="en-US" sz="1600" b="1" kern="0" dirty="0" err="1">
                <a:latin typeface="맑은 고딕" panose="020B0503020000020004" pitchFamily="50" charset="-127"/>
              </a:rPr>
              <a:t>당기순이익에서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 차감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 </a:t>
            </a:r>
          </a:p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kern="0" dirty="0">
                <a:latin typeface="맑은 고딕" panose="020B0503020000020004" pitchFamily="50" charset="-127"/>
              </a:rPr>
              <a:t>반대로 영업과 관련된 자산이 감소한 경우 </a:t>
            </a:r>
            <a:r>
              <a:rPr lang="en-US" altLang="ko-KR" sz="1600" kern="0" dirty="0">
                <a:latin typeface="맑은 고딕" panose="020B0503020000020004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당기순이익에 가산</a:t>
            </a: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b="1" kern="0" dirty="0">
                <a:latin typeface="맑은 고딕" panose="020B0503020000020004" pitchFamily="50" charset="-127"/>
              </a:rPr>
              <a:t>영업과 관련된 부채</a:t>
            </a:r>
            <a:r>
              <a:rPr lang="en-US" altLang="ko-KR" sz="1600" b="1" kern="0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예</a:t>
            </a:r>
            <a:r>
              <a:rPr lang="en-US" altLang="ko-KR" sz="1600" b="1" kern="0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매입채무</a:t>
            </a:r>
            <a:r>
              <a:rPr lang="en-US" altLang="ko-KR" sz="1600" b="1" kern="0" dirty="0">
                <a:latin typeface="맑은 고딕" panose="020B0503020000020004" pitchFamily="50" charset="-127"/>
              </a:rPr>
              <a:t>)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가 증가한 경우에는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비용이 발생하였음에도 현금의 유출이 발생하지 않은 것임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 </a:t>
            </a:r>
            <a:r>
              <a:rPr lang="en-US" altLang="ko-KR" sz="1600" kern="0" dirty="0">
                <a:latin typeface="맑은 고딕" panose="020B0503020000020004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부채의 증가액만큼 </a:t>
            </a:r>
            <a:r>
              <a:rPr lang="ko-KR" altLang="en-US" sz="1600" b="1" kern="0" dirty="0" err="1">
                <a:latin typeface="맑은 고딕" panose="020B0503020000020004" pitchFamily="50" charset="-127"/>
              </a:rPr>
              <a:t>당기순이익에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 가산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 </a:t>
            </a:r>
          </a:p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kern="0" dirty="0">
                <a:latin typeface="맑은 고딕" panose="020B0503020000020004" pitchFamily="50" charset="-127"/>
              </a:rPr>
              <a:t>반대로 영업과 관련된 부채가 감소한 경우 </a:t>
            </a:r>
            <a:r>
              <a:rPr lang="en-US" altLang="ko-KR" sz="1600" kern="0" dirty="0">
                <a:latin typeface="맑은 고딕" panose="020B0503020000020004" pitchFamily="50" charset="-127"/>
                <a:sym typeface="Wingdings" panose="05000000000000000000" pitchFamily="2" charset="2"/>
              </a:rPr>
              <a:t>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당기순이익에서 차감</a:t>
            </a:r>
            <a:endParaRPr lang="en-US" altLang="ko-KR" sz="1600" kern="0" dirty="0">
              <a:latin typeface="맑은 고딕" panose="020B0503020000020004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57473" y="1056680"/>
            <a:ext cx="7492624" cy="340256"/>
            <a:chOff x="257473" y="1430362"/>
            <a:chExt cx="7492624" cy="340256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영업활동으로 인한 자산과 부채의 변동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3409A9-358C-4FF0-AF01-20D58423FEAC}"/>
              </a:ext>
            </a:extLst>
          </p:cNvPr>
          <p:cNvSpPr/>
          <p:nvPr/>
        </p:nvSpPr>
        <p:spPr>
          <a:xfrm>
            <a:off x="1389009" y="5110236"/>
            <a:ext cx="6286500" cy="9715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tx1"/>
                </a:solidFill>
              </a:rPr>
              <a:t>자산의 증가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감소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en-US" altLang="ko-KR" sz="1600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1600" b="1" dirty="0">
                <a:solidFill>
                  <a:schemeClr val="tx1"/>
                </a:solidFill>
                <a:sym typeface="Wingdings" panose="05000000000000000000" pitchFamily="2" charset="2"/>
              </a:rPr>
              <a:t>현금의 감소</a:t>
            </a:r>
            <a:r>
              <a:rPr lang="en-US" altLang="ko-KR" sz="1600" b="1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sym typeface="Wingdings" panose="05000000000000000000" pitchFamily="2" charset="2"/>
              </a:rPr>
              <a:t>증가</a:t>
            </a:r>
            <a:r>
              <a:rPr lang="en-US" altLang="ko-KR" sz="1600" b="1" dirty="0">
                <a:solidFill>
                  <a:schemeClr val="tx1"/>
                </a:solidFill>
                <a:sym typeface="Wingdings" panose="05000000000000000000" pitchFamily="2" charset="2"/>
              </a:rPr>
              <a:t>): </a:t>
            </a:r>
            <a:r>
              <a:rPr lang="ko-KR" altLang="en-US" sz="1600" b="1" dirty="0">
                <a:solidFill>
                  <a:schemeClr val="tx1"/>
                </a:solidFill>
                <a:sym typeface="Wingdings" panose="05000000000000000000" pitchFamily="2" charset="2"/>
              </a:rPr>
              <a:t>반대 방향의 부호</a:t>
            </a:r>
            <a:endParaRPr lang="en-US" altLang="ko-KR" sz="1600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tx1"/>
                </a:solidFill>
                <a:sym typeface="Wingdings" panose="05000000000000000000" pitchFamily="2" charset="2"/>
              </a:rPr>
              <a:t>부채의 증가</a:t>
            </a:r>
            <a:r>
              <a:rPr lang="en-US" altLang="ko-KR" sz="1600" b="1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sym typeface="Wingdings" panose="05000000000000000000" pitchFamily="2" charset="2"/>
              </a:rPr>
              <a:t>감소</a:t>
            </a:r>
            <a:r>
              <a:rPr lang="en-US" altLang="ko-KR" sz="1600" b="1" dirty="0">
                <a:solidFill>
                  <a:schemeClr val="tx1"/>
                </a:solidFill>
                <a:sym typeface="Wingdings" panose="05000000000000000000" pitchFamily="2" charset="2"/>
              </a:rPr>
              <a:t>)  </a:t>
            </a:r>
            <a:r>
              <a:rPr lang="ko-KR" altLang="en-US" sz="1600" b="1" dirty="0">
                <a:solidFill>
                  <a:schemeClr val="tx1"/>
                </a:solidFill>
                <a:sym typeface="Wingdings" panose="05000000000000000000" pitchFamily="2" charset="2"/>
              </a:rPr>
              <a:t>현금의 증가</a:t>
            </a:r>
            <a:r>
              <a:rPr lang="en-US" altLang="ko-KR" sz="1600" b="1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sym typeface="Wingdings" panose="05000000000000000000" pitchFamily="2" charset="2"/>
              </a:rPr>
              <a:t>감소</a:t>
            </a:r>
            <a:r>
              <a:rPr lang="en-US" altLang="ko-KR" sz="1600" b="1" dirty="0">
                <a:solidFill>
                  <a:schemeClr val="tx1"/>
                </a:solidFill>
                <a:sym typeface="Wingdings" panose="05000000000000000000" pitchFamily="2" charset="2"/>
              </a:rPr>
              <a:t>): </a:t>
            </a:r>
            <a:r>
              <a:rPr lang="ko-KR" altLang="en-US" sz="1600" b="1" dirty="0">
                <a:solidFill>
                  <a:schemeClr val="tx1"/>
                </a:solidFill>
                <a:sym typeface="Wingdings" panose="05000000000000000000" pitchFamily="2" charset="2"/>
              </a:rPr>
              <a:t>같은 방향의 부호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7083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pSp>
        <p:nvGrpSpPr>
          <p:cNvPr id="14" name="그룹 13"/>
          <p:cNvGrpSpPr/>
          <p:nvPr/>
        </p:nvGrpSpPr>
        <p:grpSpPr>
          <a:xfrm>
            <a:off x="257473" y="1066205"/>
            <a:ext cx="7492624" cy="340256"/>
            <a:chOff x="257473" y="1430362"/>
            <a:chExt cx="7492624" cy="340256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영업활동으로 인한 자산과 부채의 변동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4643438" y="1775251"/>
            <a:ext cx="4157662" cy="44255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예제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11-1]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영업활동으로 인한 자산과 부채의 변동에 해당하는 항목</a:t>
            </a: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228600" indent="-228600"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AutoNum type="arabicParenR"/>
            </a:pP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매출채권의 증가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36,000 :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당기순이익을 계산할 때 포함된 매출액 중 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36,000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만큼은 현금으로 회수되지 않은 것이므로 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36,000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을 차감</a:t>
            </a: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228600" indent="-228600"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AutoNum type="arabicParenR"/>
            </a:pP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재고자산의 증가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74,000 :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증가액만큼 현금으로 유입되지 않은 것이므로 당기순이익에서 차감</a:t>
            </a: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228600" indent="-228600"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AutoNum type="arabicParenR"/>
            </a:pP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매입채무의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감소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19,600 :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감소액만큼 현금으로 매입채무를 지급한 것이므로     동 금액을 당기순이익에서 차감</a:t>
            </a: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228600" indent="-228600"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AutoNum type="arabicParenR"/>
            </a:pP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미지급비용의 증가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5,000 :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당기순이익에 가산</a:t>
            </a: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55362"/>
              </p:ext>
            </p:extLst>
          </p:nvPr>
        </p:nvGraphicFramePr>
        <p:xfrm>
          <a:off x="363213" y="1775251"/>
          <a:ext cx="3971925" cy="3093720"/>
        </p:xfrm>
        <a:graphic>
          <a:graphicData uri="http://schemas.openxmlformats.org/drawingml/2006/table">
            <a:tbl>
              <a:tblPr/>
              <a:tblGrid>
                <a:gridCol w="1840738">
                  <a:extLst>
                    <a:ext uri="{9D8B030D-6E8A-4147-A177-3AD203B41FA5}">
                      <a16:colId xmlns:a16="http://schemas.microsoft.com/office/drawing/2014/main" val="3985191796"/>
                    </a:ext>
                  </a:extLst>
                </a:gridCol>
                <a:gridCol w="1113189">
                  <a:extLst>
                    <a:ext uri="{9D8B030D-6E8A-4147-A177-3AD203B41FA5}">
                      <a16:colId xmlns:a16="http://schemas.microsoft.com/office/drawing/2014/main" val="4039403947"/>
                    </a:ext>
                  </a:extLst>
                </a:gridCol>
                <a:gridCol w="1017998">
                  <a:extLst>
                    <a:ext uri="{9D8B030D-6E8A-4147-A177-3AD203B41FA5}">
                      <a16:colId xmlns:a16="http://schemas.microsoft.com/office/drawing/2014/main" val="4096576135"/>
                    </a:ext>
                  </a:extLst>
                </a:gridCol>
              </a:tblGrid>
              <a:tr h="353094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비교재무상태표</a:t>
                      </a:r>
                    </a:p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300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덕송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4351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316424"/>
                  </a:ext>
                </a:extLst>
              </a:tr>
              <a:tr h="211856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4351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20×1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20×2</a:t>
                      </a:r>
                      <a:r>
                        <a:rPr lang="ko-KR" altLang="en-US" sz="13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324390"/>
                  </a:ext>
                </a:extLst>
              </a:tr>
              <a:tr h="211856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4097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1119"/>
                  </a:ext>
                </a:extLst>
              </a:tr>
              <a:tr h="211856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27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매출채</a:t>
                      </a:r>
                      <a:r>
                        <a:rPr lang="ko-KR" alt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4097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120,000</a:t>
                      </a:r>
                      <a:endParaRPr lang="ko-KR" altLang="en-US" sz="1300" b="0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156,000</a:t>
                      </a:r>
                      <a:endParaRPr lang="ko-KR" altLang="en-US" sz="1300" b="0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860137"/>
                  </a:ext>
                </a:extLst>
              </a:tr>
              <a:tr h="211856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27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재고자</a:t>
                      </a:r>
                      <a:r>
                        <a:rPr lang="ko-KR" alt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4097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-3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80,000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154,000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494950"/>
                  </a:ext>
                </a:extLst>
              </a:tr>
              <a:tr h="211856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</a:t>
                      </a:r>
                      <a:endParaRPr lang="ko-KR" altLang="en-US" sz="13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4097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611539"/>
                  </a:ext>
                </a:extLst>
              </a:tr>
              <a:tr h="211856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27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매입채</a:t>
                      </a:r>
                      <a:r>
                        <a:rPr lang="ko-KR" alt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4097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100,000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80,400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308211"/>
                  </a:ext>
                </a:extLst>
              </a:tr>
              <a:tr h="211856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-30" dirty="0" err="1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미지급비용</a:t>
                      </a:r>
                      <a:endParaRPr lang="ko-KR" altLang="en-US" sz="1300" b="0" kern="0" spc="-30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4097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20,000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-30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25,000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253486"/>
                  </a:ext>
                </a:extLst>
              </a:tr>
              <a:tr h="211856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4097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…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753325"/>
                  </a:ext>
                </a:extLst>
              </a:tr>
              <a:tr h="211856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부채 및 자본총계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4097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3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675,000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906,400 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808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915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190647" y="1209675"/>
            <a:ext cx="8610453" cy="54211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예제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11-1]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투자활동 현금흐름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에 해당하는 항목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: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건물의 취득과 처분</a:t>
            </a:r>
            <a:endParaRPr lang="en-US" altLang="ko-KR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171450" indent="-171450"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건물을 현금으로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취득하였으므로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취득으로 인해 증가한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장부금액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150,000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을 현금의 유출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로 기록</a:t>
            </a:r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171450" indent="-171450" defTabSz="995363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건물이 처분에 따른 현금유입액 계산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처분시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줄어든 건물의 취득원가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감가상각누계액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처분시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인식된 유형자산처분손익을 모두 고려하여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현금유입액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을 계산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 T 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계정이나 아래의 식을 이용가능</a:t>
            </a:r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171450" indent="-171450"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171450" indent="-171450"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171450" indent="-171450"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12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171450" indent="-171450"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12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171450" indent="-171450" defTabSz="995363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</a:pP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처분한 건물과 관련된 유형자산처분이익은 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이므로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건물의 처분으로 인한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현금유입액을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계산하기 위해서는 아래와 같은 분개에서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차변의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현금금액을 계산</a:t>
            </a:r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fontAlgn="base"/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fontAlgn="base"/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 </a:t>
            </a:r>
            <a:r>
              <a:rPr lang="ko-KR" altLang="en-US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현      금                     </a:t>
            </a:r>
            <a:r>
              <a:rPr lang="en-US" altLang="ko-KR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?</a:t>
            </a:r>
            <a:r>
              <a:rPr lang="ko-KR" altLang="en-US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	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	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건       물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fontAlgn="base"/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</a:t>
            </a:r>
            <a:r>
              <a:rPr lang="ko-KR" altLang="en-US" sz="14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감가상각누계액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	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20,000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   유형자산처분이익	 </a:t>
            </a:r>
            <a:r>
              <a:rPr lang="ko-KR" altLang="en-US" sz="9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ko-KR" altLang="en-US" sz="10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30,000</a:t>
            </a:r>
          </a:p>
          <a:p>
            <a:pPr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건물처분에 따른 현금유입액＝￦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＋￦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＝</a:t>
            </a:r>
            <a:r>
              <a:rPr lang="ko-KR" altLang="en-US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110,000</a:t>
            </a:r>
          </a:p>
          <a:p>
            <a:pPr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en-US" altLang="ko-KR" sz="12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721644"/>
              </p:ext>
            </p:extLst>
          </p:nvPr>
        </p:nvGraphicFramePr>
        <p:xfrm>
          <a:off x="1466850" y="2495478"/>
          <a:ext cx="6210300" cy="970035"/>
        </p:xfrm>
        <a:graphic>
          <a:graphicData uri="http://schemas.openxmlformats.org/drawingml/2006/table">
            <a:tbl>
              <a:tblPr/>
              <a:tblGrid>
                <a:gridCol w="833301">
                  <a:extLst>
                    <a:ext uri="{9D8B030D-6E8A-4147-A177-3AD203B41FA5}">
                      <a16:colId xmlns:a16="http://schemas.microsoft.com/office/drawing/2014/main" val="2053718868"/>
                    </a:ext>
                  </a:extLst>
                </a:gridCol>
                <a:gridCol w="732971">
                  <a:extLst>
                    <a:ext uri="{9D8B030D-6E8A-4147-A177-3AD203B41FA5}">
                      <a16:colId xmlns:a16="http://schemas.microsoft.com/office/drawing/2014/main" val="1202918662"/>
                    </a:ext>
                  </a:extLst>
                </a:gridCol>
                <a:gridCol w="833301">
                  <a:extLst>
                    <a:ext uri="{9D8B030D-6E8A-4147-A177-3AD203B41FA5}">
                      <a16:colId xmlns:a16="http://schemas.microsoft.com/office/drawing/2014/main" val="2687520864"/>
                    </a:ext>
                  </a:extLst>
                </a:gridCol>
                <a:gridCol w="531239">
                  <a:extLst>
                    <a:ext uri="{9D8B030D-6E8A-4147-A177-3AD203B41FA5}">
                      <a16:colId xmlns:a16="http://schemas.microsoft.com/office/drawing/2014/main" val="1023326537"/>
                    </a:ext>
                  </a:extLst>
                </a:gridCol>
                <a:gridCol w="399108">
                  <a:extLst>
                    <a:ext uri="{9D8B030D-6E8A-4147-A177-3AD203B41FA5}">
                      <a16:colId xmlns:a16="http://schemas.microsoft.com/office/drawing/2014/main" val="3112002239"/>
                    </a:ext>
                  </a:extLst>
                </a:gridCol>
                <a:gridCol w="782869">
                  <a:extLst>
                    <a:ext uri="{9D8B030D-6E8A-4147-A177-3AD203B41FA5}">
                      <a16:colId xmlns:a16="http://schemas.microsoft.com/office/drawing/2014/main" val="368638668"/>
                    </a:ext>
                  </a:extLst>
                </a:gridCol>
                <a:gridCol w="632105">
                  <a:extLst>
                    <a:ext uri="{9D8B030D-6E8A-4147-A177-3AD203B41FA5}">
                      <a16:colId xmlns:a16="http://schemas.microsoft.com/office/drawing/2014/main" val="2756608116"/>
                    </a:ext>
                  </a:extLst>
                </a:gridCol>
                <a:gridCol w="883735">
                  <a:extLst>
                    <a:ext uri="{9D8B030D-6E8A-4147-A177-3AD203B41FA5}">
                      <a16:colId xmlns:a16="http://schemas.microsoft.com/office/drawing/2014/main" val="3340105603"/>
                    </a:ext>
                  </a:extLst>
                </a:gridCol>
                <a:gridCol w="581671">
                  <a:extLst>
                    <a:ext uri="{9D8B030D-6E8A-4147-A177-3AD203B41FA5}">
                      <a16:colId xmlns:a16="http://schemas.microsoft.com/office/drawing/2014/main" val="1702785934"/>
                    </a:ext>
                  </a:extLst>
                </a:gridCol>
              </a:tblGrid>
              <a:tr h="252861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 물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단위：천원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건물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감가상각누계액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단위：천원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822763"/>
                  </a:ext>
                </a:extLst>
              </a:tr>
              <a:tr h="46431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기초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당기취득</a:t>
                      </a:r>
                      <a:endParaRPr lang="ko-KR" altLang="en-US" sz="1200" b="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250</a:t>
                      </a:r>
                    </a:p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150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당기처분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</a:t>
                      </a:r>
                    </a:p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당기감소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</a:t>
                      </a:r>
                    </a:p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기초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당기증가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50</a:t>
                      </a:r>
                    </a:p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283848"/>
                  </a:ext>
                </a:extLst>
              </a:tr>
              <a:tr h="2528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59481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C66AF7D-3BCF-4D11-A678-4C8E814594D8}"/>
              </a:ext>
            </a:extLst>
          </p:cNvPr>
          <p:cNvSpPr/>
          <p:nvPr/>
        </p:nvSpPr>
        <p:spPr>
          <a:xfrm>
            <a:off x="1100210" y="3636784"/>
            <a:ext cx="6791325" cy="8590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취득원가：기초유형자산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(250)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＋기중취득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(150)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기중처분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(?)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＝기말유형자산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(300)</a:t>
            </a:r>
            <a:endParaRPr lang="ko-KR" altLang="en-US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감가상각누계액：기초감가상각누계액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(50)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＋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당기감가상각비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(20)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－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처분자산의 </a:t>
            </a:r>
            <a:r>
              <a:rPr lang="ko-KR" altLang="en-US" sz="14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감가상각누계액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(?)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＝</a:t>
            </a:r>
            <a:r>
              <a:rPr lang="ko-KR" altLang="en-US" sz="14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기말감가상각누계액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(50)</a:t>
            </a:r>
          </a:p>
        </p:txBody>
      </p:sp>
    </p:spTree>
    <p:extLst>
      <p:ext uri="{BB962C8B-B14F-4D97-AF65-F5344CB8AC3E}">
        <p14:creationId xmlns:p14="http://schemas.microsoft.com/office/powerpoint/2010/main" val="3684850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190647" y="1276350"/>
            <a:ext cx="8784929" cy="24669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예제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11-1]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5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덕송의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재무활동 현금흐름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에 해당하는 항목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장기차입금의 추가차입과 유상증자 및 배당금의 지급</a:t>
            </a: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360000" indent="-180000"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장기차입금의 추가차입과 유상증자는 둘 다 재무활동으로 인한 현금의 유입</a:t>
            </a: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360000" indent="-180000"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배당금의 지급은 현금의 유출로 분류</a:t>
            </a: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360000" indent="-180000"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즉 장기차입금의 증가로 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및 유상증자로 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의 현금유입이 발생하였으며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배당금의 지급으로 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30,000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의 현금유출이 발생</a:t>
            </a: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7486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EA4A387-47C7-4E40-8A4F-F2FB6FEDC5AD}"/>
              </a:ext>
            </a:extLst>
          </p:cNvPr>
          <p:cNvGrpSpPr/>
          <p:nvPr/>
        </p:nvGrpSpPr>
        <p:grpSpPr>
          <a:xfrm>
            <a:off x="3324332" y="1000125"/>
            <a:ext cx="5476768" cy="5630708"/>
            <a:chOff x="400050" y="-2547992"/>
            <a:chExt cx="8320616" cy="881233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EC6D468-44C7-4D37-BE7D-82E278EDB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050" y="4235521"/>
              <a:ext cx="8320616" cy="20288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BC65221-2627-498A-9C2D-4F055E0D9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2785" y="-2547992"/>
              <a:ext cx="8297333" cy="6858000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805F501-0D38-4F5C-AD6C-34E34E93898C}"/>
              </a:ext>
            </a:extLst>
          </p:cNvPr>
          <p:cNvGrpSpPr/>
          <p:nvPr/>
        </p:nvGrpSpPr>
        <p:grpSpPr>
          <a:xfrm>
            <a:off x="276523" y="1446684"/>
            <a:ext cx="4754211" cy="338554"/>
            <a:chOff x="1287463" y="4776539"/>
            <a:chExt cx="4754211" cy="338554"/>
          </a:xfrm>
        </p:grpSpPr>
        <p:sp>
          <p:nvSpPr>
            <p:cNvPr id="8" name="오각형 8">
              <a:extLst>
                <a:ext uri="{FF2B5EF4-FFF2-40B4-BE49-F238E27FC236}">
                  <a16:creationId xmlns:a16="http://schemas.microsoft.com/office/drawing/2014/main" id="{18A429F3-B37B-4991-85A2-5B217F4C366D}"/>
                </a:ext>
              </a:extLst>
            </p:cNvPr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7433C6-A265-4DF4-A131-A0659CC8D4AB}"/>
                </a:ext>
              </a:extLst>
            </p:cNvPr>
            <p:cNvSpPr txBox="1"/>
            <p:nvPr/>
          </p:nvSpPr>
          <p:spPr>
            <a:xfrm>
              <a:off x="1877940" y="4776539"/>
              <a:ext cx="4163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현금흐름표 </a:t>
              </a:r>
              <a:r>
                <a:rPr lang="en-US" altLang="ko-KR" sz="1600" b="1" dirty="0"/>
                <a:t>-</a:t>
              </a:r>
              <a:r>
                <a:rPr lang="ko-KR" altLang="en-US" sz="1600" b="1" dirty="0"/>
                <a:t>간접법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5732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190647" y="1167660"/>
            <a:ext cx="8496154" cy="4166340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 latinLnBrk="0">
              <a:lnSpc>
                <a:spcPts val="2400"/>
              </a:lnSpc>
              <a:spcBef>
                <a:spcPts val="600"/>
              </a:spcBef>
              <a:buClrTx/>
              <a:buSzTx/>
            </a:pPr>
            <a:r>
              <a:rPr lang="ko-KR" altLang="en-US" sz="1600" kern="0" dirty="0">
                <a:latin typeface="맑은 고딕" panose="020B0503020000020004" pitchFamily="50" charset="-127"/>
              </a:rPr>
              <a:t>각 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활동별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현금흐름을 모아 당기의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현금의 </a:t>
            </a:r>
            <a:r>
              <a:rPr lang="ko-KR" altLang="en-US" sz="1600" b="1" kern="0" dirty="0" err="1">
                <a:latin typeface="맑은 고딕" panose="020B0503020000020004" pitchFamily="50" charset="-127"/>
              </a:rPr>
              <a:t>순증감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을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계산하고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이를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기초의 </a:t>
            </a:r>
            <a:r>
              <a:rPr lang="ko-KR" altLang="en-US" sz="1600" b="1" kern="0" dirty="0" err="1">
                <a:latin typeface="맑은 고딕" panose="020B0503020000020004" pitchFamily="50" charset="-127"/>
              </a:rPr>
              <a:t>현금액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에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가산하면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기말의 </a:t>
            </a:r>
            <a:r>
              <a:rPr lang="ko-KR" altLang="en-US" sz="1600" b="1" kern="0" dirty="0" err="1">
                <a:latin typeface="맑은 고딕" panose="020B0503020000020004" pitchFamily="50" charset="-127"/>
              </a:rPr>
              <a:t>현금액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과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일치</a:t>
            </a: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360000" indent="-180000" latinLnBrk="0">
              <a:lnSpc>
                <a:spcPts val="2400"/>
              </a:lnSpc>
              <a:spcBef>
                <a:spcPts val="600"/>
              </a:spcBef>
              <a:buClrTx/>
              <a:buSzTx/>
            </a:pPr>
            <a:r>
              <a:rPr lang="ko-KR" altLang="en-US" sz="1600" kern="0" dirty="0">
                <a:latin typeface="맑은 고딕" panose="020B0503020000020004" pitchFamily="50" charset="-127"/>
              </a:rPr>
              <a:t>직접법 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VS.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간접법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 :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영업활동으로 인한 현금흐름 부분의 양식만 다르고 영업활동으로 인한 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현금유입액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(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또는 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유출액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)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은 동일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.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간접법은 영업활동 현금흐름 부분에만 해당</a:t>
            </a: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360000" indent="-180000" latinLnBrk="0">
              <a:lnSpc>
                <a:spcPts val="2400"/>
              </a:lnSpc>
              <a:spcBef>
                <a:spcPts val="600"/>
              </a:spcBef>
              <a:buClrTx/>
              <a:buSzTx/>
            </a:pPr>
            <a:r>
              <a:rPr lang="en-US" altLang="ko-KR" sz="1600" kern="0" dirty="0">
                <a:latin typeface="맑은 고딕" panose="020B0503020000020004" pitchFamily="50" charset="-127"/>
              </a:rPr>
              <a:t>(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주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)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덕송은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매출채권과 재고자산의 증가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매입채무의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감소 등의 결과 발생주의 이익은 증가하였으나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, 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영업활동 현금흐름에서는 </a:t>
            </a:r>
            <a:r>
              <a:rPr lang="ko-KR" altLang="en-US" sz="1600" b="1" kern="0" dirty="0" err="1">
                <a:latin typeface="맑은 고딕" panose="020B0503020000020004" pitchFamily="50" charset="-127"/>
              </a:rPr>
              <a:t>순유출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이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발생</a:t>
            </a: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360000" indent="-180000" latinLnBrk="0">
              <a:lnSpc>
                <a:spcPts val="2400"/>
              </a:lnSpc>
              <a:spcBef>
                <a:spcPts val="600"/>
              </a:spcBef>
              <a:buClrTx/>
              <a:buSzTx/>
            </a:pPr>
            <a:r>
              <a:rPr lang="en-US" altLang="ko-KR" sz="1600" kern="0" dirty="0">
                <a:latin typeface="맑은 고딕" panose="020B0503020000020004" pitchFamily="50" charset="-127"/>
              </a:rPr>
              <a:t>(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주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)</a:t>
            </a:r>
            <a:r>
              <a:rPr lang="ko-KR" altLang="en-US" sz="1600" kern="0" dirty="0" err="1">
                <a:latin typeface="맑은 고딕" panose="020B0503020000020004" pitchFamily="50" charset="-127"/>
              </a:rPr>
              <a:t>덕송은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영업활동과 투자활동에서 발생한 현금유출을 상쇄하기 위해서 차입금을 증가시키고 유상증자를 실시하여 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(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재무활동으로 인한 현금조달</a:t>
            </a:r>
            <a:r>
              <a:rPr lang="en-US" altLang="ko-KR" sz="1600" kern="0" dirty="0">
                <a:latin typeface="맑은 고딕" panose="020B0503020000020004" pitchFamily="50" charset="-127"/>
              </a:rPr>
              <a:t>)</a:t>
            </a:r>
            <a:r>
              <a:rPr lang="ko-KR" altLang="en-US" sz="1600" kern="0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kern="0" dirty="0">
                <a:latin typeface="맑은 고딕" panose="020B0503020000020004" pitchFamily="50" charset="-127"/>
              </a:rPr>
              <a:t>현금잔액은 오히려 증가</a:t>
            </a:r>
            <a:endParaRPr lang="en-US" altLang="ko-KR" sz="1600" b="1" kern="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70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51315" y="4158320"/>
            <a:ext cx="8641369" cy="2397957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marL="180975" indent="-180975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kern="0" dirty="0">
                <a:latin typeface="맑은 고딕" panose="020B0503020000020004" pitchFamily="50" charset="-127"/>
              </a:rPr>
              <a:t>△매출채권</a:t>
            </a:r>
            <a:r>
              <a:rPr lang="en-US" altLang="ko-KR" sz="1600" dirty="0">
                <a:latin typeface="맑은 고딕" panose="020B0503020000020004" pitchFamily="50" charset="-127"/>
              </a:rPr>
              <a:t> &gt; 0 : </a:t>
            </a:r>
            <a:r>
              <a:rPr lang="ko-KR" altLang="en-US" sz="1600" dirty="0">
                <a:latin typeface="맑은 고딕" panose="020B0503020000020004" pitchFamily="50" charset="-127"/>
              </a:rPr>
              <a:t>증가분만큼 현금 회수를 못한 것 </a:t>
            </a:r>
            <a:r>
              <a:rPr lang="en-US" altLang="ko-KR" sz="1600" dirty="0"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현금주의 매출액을 감소시킴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180975" indent="-180975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kern="0" dirty="0">
                <a:latin typeface="맑은 고딕" panose="020B0503020000020004" pitchFamily="50" charset="-127"/>
              </a:rPr>
              <a:t>△매출채권</a:t>
            </a:r>
            <a:r>
              <a:rPr lang="en-US" altLang="ko-KR" sz="1600" dirty="0">
                <a:latin typeface="맑은 고딕" panose="020B0503020000020004" pitchFamily="50" charset="-127"/>
              </a:rPr>
              <a:t> &lt; 0 : </a:t>
            </a:r>
            <a:r>
              <a:rPr lang="ko-KR" altLang="en-US" sz="1600" dirty="0">
                <a:latin typeface="맑은 고딕" panose="020B0503020000020004" pitchFamily="50" charset="-127"/>
              </a:rPr>
              <a:t>감소분만큼 현금 회수를 한 것    </a:t>
            </a:r>
            <a:r>
              <a:rPr lang="en-US" altLang="ko-KR" sz="1600" dirty="0"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현금주의 매출액을 증가시킴</a:t>
            </a:r>
            <a:endParaRPr lang="ko-KR" altLang="en-US" sz="1600" kern="0" dirty="0">
              <a:latin typeface="맑은 고딕" panose="020B050302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57473" y="3532070"/>
            <a:ext cx="7492624" cy="340256"/>
            <a:chOff x="257473" y="1430362"/>
            <a:chExt cx="7492624" cy="340256"/>
          </a:xfrm>
        </p:grpSpPr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매출로 인한 </a:t>
              </a: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현금유입액</a:t>
              </a: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251315" y="1187362"/>
            <a:ext cx="8641369" cy="20656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marL="360000" indent="-180000"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직접법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(direct method)</a:t>
            </a:r>
            <a:r>
              <a:rPr lang="en-US" altLang="ko-KR" sz="16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: </a:t>
            </a: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영업활동에서 발생한 현금의 </a:t>
            </a:r>
            <a:r>
              <a:rPr lang="ko-KR" altLang="en-US" sz="16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유입액과</a:t>
            </a: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유출액을</a:t>
            </a: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주요 항목별로 구분</a:t>
            </a: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하여 영업활동으로 인한 순현금흐름을 계산하는 방법</a:t>
            </a:r>
            <a:endParaRPr lang="en-US" altLang="ko-KR" sz="16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465750" indent="-285750"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Tx/>
              <a:buChar char="-"/>
            </a:pP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기업의 영업활동에서 발생한 현금흐름의 원인에 대한 자세한 정보를 제공하고 직관적으로 이해하기가 쉬움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</a:p>
          <a:p>
            <a:pPr marL="465750" indent="-285750" defTabSz="995363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Tx/>
              <a:buChar char="-"/>
            </a:pP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그러나 기업의 모든 영업활동에 대한 회계처리를 파악해야 하므로 작성하기가 복잡하고 어려움 </a:t>
            </a:r>
            <a:endParaRPr lang="en-US" altLang="ko-KR" sz="16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1727252" y="4083764"/>
            <a:ext cx="5451345" cy="11953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 anchor="ctr"/>
          <a:lstStyle/>
          <a:p>
            <a:pPr algn="ctr"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기초매출채권＋당기매출＝</a:t>
            </a:r>
            <a:r>
              <a:rPr lang="ko-KR" altLang="en-US" sz="15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현금주의</a:t>
            </a:r>
            <a:r>
              <a:rPr lang="ko-KR" altLang="en-US" sz="15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매출액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＋기말매출채권</a:t>
            </a:r>
            <a:endParaRPr lang="ko-KR" altLang="en-US" sz="15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기초매출채권＋당기매출－기말매출채권＝</a:t>
            </a:r>
            <a:r>
              <a:rPr lang="ko-KR" altLang="en-US" sz="15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현금주의</a:t>
            </a:r>
            <a:r>
              <a:rPr lang="ko-KR" altLang="en-US" sz="15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매출액</a:t>
            </a:r>
          </a:p>
          <a:p>
            <a:pPr algn="ctr" defTabSz="995363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5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현금주의 </a:t>
            </a:r>
            <a:r>
              <a:rPr lang="ko-KR" altLang="en-US" sz="15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매출액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＝당기매출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－△매출채권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5822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126251" y="1050196"/>
            <a:ext cx="8711460" cy="5630003"/>
            <a:chOff x="190714" y="1320886"/>
            <a:chExt cx="8711460" cy="5630003"/>
          </a:xfrm>
        </p:grpSpPr>
        <p:grpSp>
          <p:nvGrpSpPr>
            <p:cNvPr id="10" name="그룹 9"/>
            <p:cNvGrpSpPr/>
            <p:nvPr/>
          </p:nvGrpSpPr>
          <p:grpSpPr>
            <a:xfrm>
              <a:off x="361935" y="1461499"/>
              <a:ext cx="8540239" cy="5489390"/>
              <a:chOff x="269048" y="1722741"/>
              <a:chExt cx="8648775" cy="5489390"/>
            </a:xfrm>
          </p:grpSpPr>
          <p:sp>
            <p:nvSpPr>
              <p:cNvPr id="21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546569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latinLnBrk="0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① (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400" dirty="0" err="1">
                    <a:latin typeface="맑은 고딕" panose="020B0503020000020004" pitchFamily="50" charset="-127"/>
                  </a:rPr>
                  <a:t>덕송은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 당기에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상품 ￦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880,000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을 판매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하고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,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 대금 중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 ￦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220,000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은 현금으로 수령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하고 나머지는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매출채권으로 </a:t>
                </a:r>
                <a:r>
                  <a:rPr lang="ko-KR" altLang="en-US" sz="1400" b="1" dirty="0" err="1">
                    <a:latin typeface="맑은 고딕" panose="020B0503020000020004" pitchFamily="50" charset="-127"/>
                  </a:rPr>
                  <a:t>회계처리</a:t>
                </a:r>
                <a:r>
                  <a:rPr lang="ko-KR" altLang="en-US" sz="1400" dirty="0" err="1">
                    <a:latin typeface="맑은 고딕" panose="020B0503020000020004" pitchFamily="50" charset="-127"/>
                  </a:rPr>
                  <a:t>하였다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 (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400" dirty="0" err="1">
                    <a:latin typeface="맑은 고딕" panose="020B0503020000020004" pitchFamily="50" charset="-127"/>
                  </a:rPr>
                  <a:t>덕송은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 계속기록법을 사용하고있다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" name="그룹 10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12" name="그룹 11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14" name="타원 13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타원 14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/>
                    <a:t>예제 </a:t>
                  </a:r>
                  <a:r>
                    <a:rPr lang="en-US" altLang="ko-KR" sz="16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11-1 ①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0" name="타원 19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3" name="그림 12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32" name="Group 4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219163"/>
              </p:ext>
            </p:extLst>
          </p:nvPr>
        </p:nvGraphicFramePr>
        <p:xfrm>
          <a:off x="448382" y="2090032"/>
          <a:ext cx="3325330" cy="1097096"/>
        </p:xfrm>
        <a:graphic>
          <a:graphicData uri="http://schemas.openxmlformats.org/drawingml/2006/table">
            <a:tbl>
              <a:tblPr/>
              <a:tblGrid>
                <a:gridCol w="1928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3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01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포괄손익계산서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(20×2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16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 액</a:t>
                      </a:r>
                    </a:p>
                  </a:txBody>
                  <a:tcPr marL="91432" marR="91432" marT="45697" marB="45697" horzOverflow="overflow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880,000</a:t>
                      </a: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16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630,000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16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매출총이익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250,000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14739"/>
              </p:ext>
            </p:extLst>
          </p:nvPr>
        </p:nvGraphicFramePr>
        <p:xfrm>
          <a:off x="3828115" y="2095003"/>
          <a:ext cx="4947880" cy="1096920"/>
        </p:xfrm>
        <a:graphic>
          <a:graphicData uri="http://schemas.openxmlformats.org/drawingml/2006/table">
            <a:tbl>
              <a:tblPr/>
              <a:tblGrid>
                <a:gridCol w="1636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9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재무상태표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20×2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유동자산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현금및현금성자산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55,000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131,400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매출채권</a:t>
                      </a: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120,000</a:t>
                      </a: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156,000</a:t>
                      </a: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851873" y="2410911"/>
            <a:ext cx="956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</a:rPr>
              <a:t>+</a:t>
            </a:r>
            <a:r>
              <a:rPr lang="ko-KR" altLang="en-US" sz="1600" b="1" dirty="0">
                <a:solidFill>
                  <a:srgbClr val="C00000"/>
                </a:solidFill>
              </a:rPr>
              <a:t> </a:t>
            </a:r>
            <a:r>
              <a:rPr lang="en-US" altLang="ko-KR" sz="1600" b="1" dirty="0">
                <a:solidFill>
                  <a:srgbClr val="C00000"/>
                </a:solidFill>
              </a:rPr>
              <a:t>36,000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36" name="아래로 구부러진 화살표 35"/>
          <p:cNvSpPr/>
          <p:nvPr/>
        </p:nvSpPr>
        <p:spPr>
          <a:xfrm>
            <a:off x="6700661" y="2740995"/>
            <a:ext cx="1259236" cy="247724"/>
          </a:xfrm>
          <a:prstGeom prst="curved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5637D3A-1997-4E73-BBE8-09332D209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196774"/>
              </p:ext>
            </p:extLst>
          </p:nvPr>
        </p:nvGraphicFramePr>
        <p:xfrm>
          <a:off x="465674" y="3276222"/>
          <a:ext cx="5239800" cy="1104202"/>
        </p:xfrm>
        <a:graphic>
          <a:graphicData uri="http://schemas.openxmlformats.org/drawingml/2006/table">
            <a:tbl>
              <a:tblPr/>
              <a:tblGrid>
                <a:gridCol w="1454648">
                  <a:extLst>
                    <a:ext uri="{9D8B030D-6E8A-4147-A177-3AD203B41FA5}">
                      <a16:colId xmlns:a16="http://schemas.microsoft.com/office/drawing/2014/main" val="1407232131"/>
                    </a:ext>
                  </a:extLst>
                </a:gridCol>
                <a:gridCol w="1150325">
                  <a:extLst>
                    <a:ext uri="{9D8B030D-6E8A-4147-A177-3AD203B41FA5}">
                      <a16:colId xmlns:a16="http://schemas.microsoft.com/office/drawing/2014/main" val="684612105"/>
                    </a:ext>
                  </a:extLst>
                </a:gridCol>
                <a:gridCol w="1561090">
                  <a:extLst>
                    <a:ext uri="{9D8B030D-6E8A-4147-A177-3AD203B41FA5}">
                      <a16:colId xmlns:a16="http://schemas.microsoft.com/office/drawing/2014/main" val="2582618146"/>
                    </a:ext>
                  </a:extLst>
                </a:gridCol>
                <a:gridCol w="1073737">
                  <a:extLst>
                    <a:ext uri="{9D8B030D-6E8A-4147-A177-3AD203B41FA5}">
                      <a16:colId xmlns:a16="http://schemas.microsoft.com/office/drawing/2014/main" val="1846198028"/>
                    </a:ext>
                  </a:extLst>
                </a:gridCol>
              </a:tblGrid>
              <a:tr h="181531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0340" algn="l"/>
                          <a:tab pos="434340" algn="l"/>
                          <a:tab pos="2275840" algn="r"/>
                          <a:tab pos="2291080" algn="l"/>
                          <a:tab pos="2720340" algn="l"/>
                          <a:tab pos="2974340" algn="l"/>
                          <a:tab pos="4843780" algn="r"/>
                          <a:tab pos="4859020" algn="l"/>
                        </a:tabLs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매출채권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355798"/>
                  </a:ext>
                </a:extLst>
              </a:tr>
              <a:tr h="303021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(1)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기초잔액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120,000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(4)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현금으로 회수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624,000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4550596"/>
                  </a:ext>
                </a:extLst>
              </a:tr>
              <a:tr h="204021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(3)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외상매출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660,000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(2)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기말잔액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156,000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2962068"/>
                  </a:ext>
                </a:extLst>
              </a:tr>
              <a:tr h="216680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780,000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780,000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0530323"/>
                  </a:ext>
                </a:extLst>
              </a:tr>
            </a:tbl>
          </a:graphicData>
        </a:graphic>
      </p:graphicFrame>
      <p:sp>
        <p:nvSpPr>
          <p:cNvPr id="18" name="Rectangle 1">
            <a:extLst>
              <a:ext uri="{FF2B5EF4-FFF2-40B4-BE49-F238E27FC236}">
                <a16:creationId xmlns:a16="http://schemas.microsoft.com/office/drawing/2014/main" id="{4DC08974-90C2-4DAD-9AA4-04022D315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950" y="3525936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3E516B3-1F4B-4FB0-8E37-066C74ED362A}"/>
              </a:ext>
            </a:extLst>
          </p:cNvPr>
          <p:cNvSpPr/>
          <p:nvPr/>
        </p:nvSpPr>
        <p:spPr>
          <a:xfrm>
            <a:off x="5857547" y="3317513"/>
            <a:ext cx="2918447" cy="14354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T-</a:t>
            </a:r>
            <a:r>
              <a:rPr lang="ko-KR" altLang="en-US" sz="1400" dirty="0">
                <a:solidFill>
                  <a:schemeClr val="tx1"/>
                </a:solidFill>
              </a:rPr>
              <a:t>계정을 이용하여 외상매출액 중 현금회수액 </a:t>
            </a:r>
            <a:r>
              <a:rPr lang="ko-KR" altLang="en-US" sz="1400" b="1" dirty="0">
                <a:solidFill>
                  <a:schemeClr val="tx1"/>
                </a:solidFill>
              </a:rPr>
              <a:t>￦</a:t>
            </a:r>
            <a:r>
              <a:rPr lang="en-US" altLang="ko-KR" sz="1400" b="1" dirty="0">
                <a:solidFill>
                  <a:schemeClr val="tx1"/>
                </a:solidFill>
              </a:rPr>
              <a:t>624,000</a:t>
            </a:r>
            <a:r>
              <a:rPr lang="ko-KR" altLang="en-US" sz="1400" dirty="0">
                <a:solidFill>
                  <a:schemeClr val="tx1"/>
                </a:solidFill>
              </a:rPr>
              <a:t>을 계산할 수 있으며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이를 현금으로 직접 매출한  금액인 </a:t>
            </a:r>
            <a:r>
              <a:rPr lang="ko-KR" altLang="en-US" sz="1400" b="1" dirty="0">
                <a:solidFill>
                  <a:schemeClr val="tx1"/>
                </a:solidFill>
              </a:rPr>
              <a:t>￦</a:t>
            </a:r>
            <a:r>
              <a:rPr lang="en-US" altLang="ko-KR" sz="1400" b="1" dirty="0">
                <a:solidFill>
                  <a:schemeClr val="tx1"/>
                </a:solidFill>
              </a:rPr>
              <a:t>220,000</a:t>
            </a:r>
            <a:r>
              <a:rPr lang="ko-KR" altLang="en-US" sz="1400" dirty="0">
                <a:solidFill>
                  <a:schemeClr val="tx1"/>
                </a:solidFill>
              </a:rPr>
              <a:t>과 합하면 총현금회수액 </a:t>
            </a:r>
            <a:r>
              <a:rPr lang="ko-KR" altLang="en-US" sz="1400" b="1" dirty="0">
                <a:solidFill>
                  <a:schemeClr val="tx1"/>
                </a:solidFill>
              </a:rPr>
              <a:t>￦</a:t>
            </a:r>
            <a:r>
              <a:rPr lang="en-US" altLang="ko-KR" sz="1400" b="1" dirty="0">
                <a:solidFill>
                  <a:schemeClr val="tx1"/>
                </a:solidFill>
              </a:rPr>
              <a:t>844,000</a:t>
            </a:r>
            <a:r>
              <a:rPr lang="ko-KR" altLang="en-US" sz="1400" dirty="0">
                <a:solidFill>
                  <a:schemeClr val="tx1"/>
                </a:solidFill>
              </a:rPr>
              <a:t>을 계산할 수 있음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DCA442-B928-487C-BA77-BB95924BE600}"/>
              </a:ext>
            </a:extLst>
          </p:cNvPr>
          <p:cNvSpPr/>
          <p:nvPr/>
        </p:nvSpPr>
        <p:spPr>
          <a:xfrm>
            <a:off x="5857547" y="4949460"/>
            <a:ext cx="2918447" cy="14354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② </a:t>
            </a:r>
            <a:r>
              <a:rPr lang="ko-KR" altLang="en-US" sz="1400" dirty="0">
                <a:solidFill>
                  <a:schemeClr val="tx1"/>
                </a:solidFill>
              </a:rPr>
              <a:t>또는 왼쪽 식을 이용하여 현금주의 매출액 </a:t>
            </a:r>
            <a:r>
              <a:rPr lang="ko-KR" altLang="en-US" sz="1400" b="1" dirty="0">
                <a:solidFill>
                  <a:schemeClr val="tx1"/>
                </a:solidFill>
              </a:rPr>
              <a:t>￦</a:t>
            </a:r>
            <a:r>
              <a:rPr lang="en-US" altLang="ko-KR" sz="1400" b="1" dirty="0">
                <a:solidFill>
                  <a:schemeClr val="tx1"/>
                </a:solidFill>
              </a:rPr>
              <a:t>844,000 </a:t>
            </a:r>
            <a:r>
              <a:rPr lang="ko-KR" altLang="en-US" sz="1400" dirty="0">
                <a:solidFill>
                  <a:schemeClr val="tx1"/>
                </a:solidFill>
              </a:rPr>
              <a:t>을 구할 수 있음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74" y="4499111"/>
            <a:ext cx="4952626" cy="21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7737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57471" y="1593311"/>
            <a:ext cx="8641369" cy="483519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marL="360000" indent="-1800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360000" indent="-1800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kern="0" dirty="0">
              <a:latin typeface="맑은 고딕" panose="020B0503020000020004" pitchFamily="50" charset="-127"/>
            </a:endParaRPr>
          </a:p>
          <a:p>
            <a:pPr marL="360000" indent="-1800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500" kern="0" dirty="0">
                <a:latin typeface="맑은 고딕" panose="020B0503020000020004" pitchFamily="50" charset="-127"/>
              </a:rPr>
              <a:t>△매입채무</a:t>
            </a:r>
            <a:r>
              <a:rPr lang="en-US" altLang="ko-KR" sz="1500" dirty="0">
                <a:latin typeface="맑은 고딕" panose="020B0503020000020004" pitchFamily="50" charset="-127"/>
              </a:rPr>
              <a:t> &gt; 0 : </a:t>
            </a:r>
            <a:r>
              <a:rPr lang="ko-KR" altLang="en-US" sz="1500" dirty="0">
                <a:latin typeface="맑은 고딕" panose="020B0503020000020004" pitchFamily="50" charset="-127"/>
              </a:rPr>
              <a:t>증가분만큼 현금 지급이 일어나지 않은 것 </a:t>
            </a:r>
            <a:r>
              <a:rPr lang="en-US" altLang="ko-KR" sz="1500" dirty="0"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</a:rPr>
              <a:t>현금주의 매입액을 감소시킴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 marL="360000" indent="-1800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500" kern="0" dirty="0">
                <a:latin typeface="맑은 고딕" panose="020B0503020000020004" pitchFamily="50" charset="-127"/>
              </a:rPr>
              <a:t>△매입채무</a:t>
            </a:r>
            <a:r>
              <a:rPr lang="en-US" altLang="ko-KR" sz="1500" dirty="0">
                <a:latin typeface="맑은 고딕" panose="020B0503020000020004" pitchFamily="50" charset="-127"/>
              </a:rPr>
              <a:t> &lt; 0 : </a:t>
            </a:r>
            <a:r>
              <a:rPr lang="ko-KR" altLang="en-US" sz="1500" dirty="0">
                <a:latin typeface="맑은 고딕" panose="020B0503020000020004" pitchFamily="50" charset="-127"/>
              </a:rPr>
              <a:t>감소분만큼 현금 지급이 일어난 것       </a:t>
            </a:r>
            <a:r>
              <a:rPr lang="ko-KR" altLang="en-US" sz="1200" dirty="0">
                <a:latin typeface="맑은 고딕" panose="020B0503020000020004" pitchFamily="50" charset="-127"/>
              </a:rPr>
              <a:t>  </a:t>
            </a:r>
            <a:r>
              <a:rPr lang="ko-KR" altLang="en-US" sz="1500" dirty="0">
                <a:latin typeface="맑은 고딕" panose="020B0503020000020004" pitchFamily="50" charset="-127"/>
              </a:rPr>
              <a:t>  </a:t>
            </a:r>
            <a:r>
              <a:rPr lang="en-US" altLang="ko-KR" sz="1500" dirty="0"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</a:rPr>
              <a:t>현금주의 매입액을 증가시킴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kern="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ko-KR" altLang="en-US" sz="1400" kern="0" dirty="0">
              <a:latin typeface="맑은 고딕" panose="020B050302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57473" y="1258437"/>
            <a:ext cx="7492624" cy="340256"/>
            <a:chOff x="257473" y="1430362"/>
            <a:chExt cx="7492624" cy="340256"/>
          </a:xfrm>
        </p:grpSpPr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매입으로 인한 </a:t>
              </a: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현금유출액</a:t>
              </a: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1676400" y="1810754"/>
            <a:ext cx="5514975" cy="863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 anchor="ctr"/>
          <a:lstStyle/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기초매입채무＋당기매입＝</a:t>
            </a:r>
            <a:r>
              <a:rPr lang="ko-KR" altLang="en-US" sz="15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현금주의</a:t>
            </a:r>
            <a:r>
              <a:rPr lang="ko-KR" altLang="en-US" sz="15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매입액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＋기말매입채무</a:t>
            </a:r>
            <a:endParaRPr lang="ko-KR" altLang="en-US" sz="15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기초매입채무＋당기매입－기말매입채무＝</a:t>
            </a:r>
            <a:r>
              <a:rPr lang="ko-KR" altLang="en-US" sz="15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현금주의</a:t>
            </a:r>
            <a:r>
              <a:rPr lang="ko-KR" altLang="en-US" sz="15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 매입액</a:t>
            </a:r>
          </a:p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5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현금주의 </a:t>
            </a:r>
            <a:r>
              <a:rPr lang="ko-KR" altLang="en-US" sz="15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매입액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＝</a:t>
            </a:r>
            <a:r>
              <a:rPr lang="ko-KR" altLang="en-US" sz="1500" b="1" kern="0" dirty="0" err="1">
                <a:solidFill>
                  <a:srgbClr val="2D61C8"/>
                </a:solidFill>
                <a:latin typeface="맑은 고딕" panose="020B0503020000020004" pitchFamily="50" charset="-127"/>
              </a:rPr>
              <a:t>당기매입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－△매입채무</a:t>
            </a:r>
          </a:p>
        </p:txBody>
      </p:sp>
      <p:sp>
        <p:nvSpPr>
          <p:cNvPr id="37" name="Rectangle 15"/>
          <p:cNvSpPr>
            <a:spLocks noChangeArrowheads="1"/>
          </p:cNvSpPr>
          <p:nvPr/>
        </p:nvSpPr>
        <p:spPr bwMode="auto">
          <a:xfrm>
            <a:off x="2389789" y="3751847"/>
            <a:ext cx="4088195" cy="863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 anchor="ctr"/>
          <a:lstStyle/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기초재고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500" b="1" kern="0" dirty="0" err="1">
                <a:solidFill>
                  <a:srgbClr val="2D61C8"/>
                </a:solidFill>
                <a:latin typeface="맑은 고딕" panose="020B0503020000020004" pitchFamily="50" charset="-127"/>
              </a:rPr>
              <a:t>당기매입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–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매출원가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기말재고</a:t>
            </a:r>
            <a:endParaRPr lang="ko-KR" altLang="en-US" sz="15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500" b="1" kern="0" dirty="0" err="1">
                <a:solidFill>
                  <a:srgbClr val="2D61C8"/>
                </a:solidFill>
                <a:latin typeface="맑은 고딕" panose="020B0503020000020004" pitchFamily="50" charset="-127"/>
              </a:rPr>
              <a:t>당기매입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=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매출원가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기말재고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기초재고</a:t>
            </a:r>
            <a:endParaRPr lang="ko-KR" altLang="en-US" sz="15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매출원가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+ △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재고자산</a:t>
            </a:r>
          </a:p>
        </p:txBody>
      </p:sp>
      <p:sp>
        <p:nvSpPr>
          <p:cNvPr id="4" name="아래쪽 화살표 3"/>
          <p:cNvSpPr/>
          <p:nvPr/>
        </p:nvSpPr>
        <p:spPr>
          <a:xfrm>
            <a:off x="3893558" y="4790073"/>
            <a:ext cx="1080655" cy="429491"/>
          </a:xfrm>
          <a:prstGeom prst="downArrow">
            <a:avLst/>
          </a:prstGeom>
          <a:solidFill>
            <a:srgbClr val="2D61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Rectangle 15"/>
          <p:cNvSpPr>
            <a:spLocks noChangeArrowheads="1"/>
          </p:cNvSpPr>
          <p:nvPr/>
        </p:nvSpPr>
        <p:spPr bwMode="auto">
          <a:xfrm>
            <a:off x="1758250" y="5715120"/>
            <a:ext cx="5627499" cy="863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noFill/>
          </a:ln>
        </p:spPr>
        <p:txBody>
          <a:bodyPr lIns="99477" tIns="49735" rIns="99477" bIns="49735" anchor="ctr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5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현금주의 </a:t>
            </a:r>
            <a:r>
              <a:rPr lang="ko-KR" altLang="en-US" sz="15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매입액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＝</a:t>
            </a:r>
            <a:r>
              <a:rPr lang="ko-KR" altLang="en-US" sz="1500" b="1" kern="0" dirty="0" err="1">
                <a:solidFill>
                  <a:srgbClr val="2D61C8"/>
                </a:solidFill>
                <a:latin typeface="맑은 고딕" panose="020B0503020000020004" pitchFamily="50" charset="-127"/>
              </a:rPr>
              <a:t>당기매입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－△매입채무</a:t>
            </a:r>
            <a:endParaRPr lang="en-US" altLang="ko-KR" sz="15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=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매출원가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+ △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재고자산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－△매입채무</a:t>
            </a:r>
            <a:endParaRPr lang="en-US" altLang="ko-KR" sz="15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19334" y="228163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…①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477984" y="4277109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…②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48225" y="5369775"/>
            <a:ext cx="41802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식 </a:t>
            </a:r>
            <a:r>
              <a:rPr lang="en-US" altLang="ko-KR" sz="1500" dirty="0"/>
              <a:t>②</a:t>
            </a:r>
            <a:r>
              <a:rPr lang="ko-KR" altLang="en-US" sz="1500" dirty="0"/>
              <a:t>에서 </a:t>
            </a:r>
            <a:r>
              <a:rPr lang="ko-KR" altLang="en-US" sz="1500" b="1" dirty="0">
                <a:solidFill>
                  <a:srgbClr val="2D61C8"/>
                </a:solidFill>
              </a:rPr>
              <a:t>당기매입</a:t>
            </a:r>
            <a:r>
              <a:rPr lang="ko-KR" altLang="en-US" sz="1500" dirty="0"/>
              <a:t>을 구하여 식 ①에 대입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71835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126992" y="1079660"/>
            <a:ext cx="8711460" cy="5451508"/>
            <a:chOff x="190714" y="1320886"/>
            <a:chExt cx="8711460" cy="5451508"/>
          </a:xfrm>
        </p:grpSpPr>
        <p:grpSp>
          <p:nvGrpSpPr>
            <p:cNvPr id="10" name="그룹 9"/>
            <p:cNvGrpSpPr/>
            <p:nvPr/>
          </p:nvGrpSpPr>
          <p:grpSpPr>
            <a:xfrm>
              <a:off x="361935" y="1461499"/>
              <a:ext cx="8540239" cy="5310895"/>
              <a:chOff x="269048" y="1722741"/>
              <a:chExt cx="8648775" cy="5310895"/>
            </a:xfrm>
          </p:grpSpPr>
          <p:sp>
            <p:nvSpPr>
              <p:cNvPr id="21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528719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" name="그룹 10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12" name="그룹 11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14" name="타원 13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타원 14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③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0" name="타원 19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3" name="그림 12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23" name="Group 4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79058"/>
              </p:ext>
            </p:extLst>
          </p:nvPr>
        </p:nvGraphicFramePr>
        <p:xfrm>
          <a:off x="460682" y="1698996"/>
          <a:ext cx="3307820" cy="1432376"/>
        </p:xfrm>
        <a:graphic>
          <a:graphicData uri="http://schemas.openxmlformats.org/drawingml/2006/table">
            <a:tbl>
              <a:tblPr/>
              <a:tblGrid>
                <a:gridCol w="1917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08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포괄손익계산서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(20×2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 액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880,000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</a:p>
                  </a:txBody>
                  <a:tcPr marL="91432" marR="91432"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630,000</a:t>
                      </a: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…….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477835"/>
              </p:ext>
            </p:extLst>
          </p:nvPr>
        </p:nvGraphicFramePr>
        <p:xfrm>
          <a:off x="3890572" y="1699517"/>
          <a:ext cx="4947880" cy="2346240"/>
        </p:xfrm>
        <a:graphic>
          <a:graphicData uri="http://schemas.openxmlformats.org/drawingml/2006/table">
            <a:tbl>
              <a:tblPr/>
              <a:tblGrid>
                <a:gridCol w="1636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9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재무상태표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20×2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유동자산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현금및현금성자산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55,000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131,400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매출채권</a:t>
                      </a: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120,000</a:t>
                      </a: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156,000</a:t>
                      </a: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재고자산</a:t>
                      </a: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80,000</a:t>
                      </a: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154,000</a:t>
                      </a: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335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…..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442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유동부채</a:t>
                      </a: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265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매입채무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100,000</a:t>
                      </a: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80,400</a:t>
                      </a:r>
                    </a:p>
                  </a:txBody>
                  <a:tcPr marL="91445" marR="91445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721656"/>
                  </a:ext>
                </a:extLst>
              </a:tr>
            </a:tbl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6890034" y="2381925"/>
            <a:ext cx="1259236" cy="1395779"/>
            <a:chOff x="6803361" y="4736835"/>
            <a:chExt cx="1259236" cy="1395779"/>
          </a:xfrm>
        </p:grpSpPr>
        <p:sp>
          <p:nvSpPr>
            <p:cNvPr id="29" name="TextBox 28"/>
            <p:cNvSpPr txBox="1"/>
            <p:nvPr/>
          </p:nvSpPr>
          <p:spPr>
            <a:xfrm>
              <a:off x="6904248" y="5587901"/>
              <a:ext cx="9205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rgbClr val="C00000"/>
                  </a:solidFill>
                </a:rPr>
                <a:t>-</a:t>
              </a:r>
              <a:r>
                <a:rPr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600" b="1" dirty="0">
                  <a:solidFill>
                    <a:srgbClr val="C00000"/>
                  </a:solidFill>
                </a:rPr>
                <a:t>19,600</a:t>
              </a:r>
              <a:endParaRPr lang="ko-KR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31" name="아래로 구부러진 화살표 30"/>
            <p:cNvSpPr/>
            <p:nvPr/>
          </p:nvSpPr>
          <p:spPr>
            <a:xfrm>
              <a:off x="6803361" y="5884890"/>
              <a:ext cx="1259236" cy="247724"/>
            </a:xfrm>
            <a:prstGeom prst="curved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904248" y="4736835"/>
              <a:ext cx="9205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rgbClr val="C00000"/>
                  </a:solidFill>
                </a:rPr>
                <a:t>+</a:t>
              </a:r>
              <a:r>
                <a:rPr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600" b="1" dirty="0">
                  <a:solidFill>
                    <a:srgbClr val="C00000"/>
                  </a:solidFill>
                </a:rPr>
                <a:t>74,000</a:t>
              </a:r>
              <a:endParaRPr lang="ko-KR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33" name="아래로 구부러진 화살표 32"/>
            <p:cNvSpPr/>
            <p:nvPr/>
          </p:nvSpPr>
          <p:spPr>
            <a:xfrm>
              <a:off x="6803361" y="5033824"/>
              <a:ext cx="1259236" cy="247724"/>
            </a:xfrm>
            <a:prstGeom prst="curved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2160441" y="4227385"/>
            <a:ext cx="3471800" cy="9035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2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기초재고</a:t>
            </a:r>
            <a:r>
              <a:rPr lang="ko-KR" altLang="en-US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200" b="1" kern="0" dirty="0" err="1">
                <a:solidFill>
                  <a:srgbClr val="2D61C8"/>
                </a:solidFill>
                <a:latin typeface="맑은 고딕" panose="020B0503020000020004" pitchFamily="50" charset="-127"/>
              </a:rPr>
              <a:t>당기매입</a:t>
            </a:r>
            <a:r>
              <a:rPr lang="en-US" altLang="ko-KR" sz="1200" b="1" kern="0" dirty="0">
                <a:solidFill>
                  <a:srgbClr val="2D61C8"/>
                </a:solidFill>
                <a:latin typeface="맑은 고딕" panose="020B0503020000020004" pitchFamily="50" charset="-127"/>
              </a:rPr>
              <a:t>(?)</a:t>
            </a:r>
            <a:r>
              <a:rPr lang="ko-KR" altLang="en-US" sz="1200" b="1" kern="0" dirty="0">
                <a:solidFill>
                  <a:srgbClr val="2D61C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매출원가 </a:t>
            </a: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2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기말재고</a:t>
            </a:r>
            <a:endParaRPr lang="en-US" altLang="ko-KR" sz="12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200" b="1" kern="0" dirty="0" err="1">
                <a:solidFill>
                  <a:srgbClr val="2D61C8"/>
                </a:solidFill>
                <a:latin typeface="맑은 고딕" panose="020B0503020000020004" pitchFamily="50" charset="-127"/>
              </a:rPr>
              <a:t>당기매입</a:t>
            </a:r>
            <a:r>
              <a:rPr lang="en-US" altLang="ko-KR" sz="1200" b="1" kern="0" dirty="0">
                <a:solidFill>
                  <a:srgbClr val="2D61C8"/>
                </a:solidFill>
                <a:latin typeface="맑은 고딕" panose="020B0503020000020004" pitchFamily="50" charset="-127"/>
              </a:rPr>
              <a:t>(?) </a:t>
            </a: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매출원가 </a:t>
            </a: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2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기말재고</a:t>
            </a:r>
            <a:r>
              <a:rPr lang="ko-KR" altLang="en-US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sz="12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기초재고</a:t>
            </a:r>
            <a:endParaRPr lang="en-US" altLang="ko-KR" sz="12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= </a:t>
            </a:r>
            <a:r>
              <a:rPr lang="ko-KR" altLang="en-US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매출원가 </a:t>
            </a: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△재고자산</a:t>
            </a:r>
            <a:endParaRPr lang="en-US" altLang="ko-KR" sz="12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= 630,000 + 74,000 = </a:t>
            </a:r>
            <a:r>
              <a:rPr lang="en-US" altLang="ko-KR" sz="1200" b="1" kern="0" dirty="0">
                <a:solidFill>
                  <a:srgbClr val="2D61C8"/>
                </a:solidFill>
                <a:latin typeface="맑은 고딕" panose="020B0503020000020004" pitchFamily="50" charset="-127"/>
              </a:rPr>
              <a:t>704,000</a:t>
            </a:r>
          </a:p>
        </p:txBody>
      </p:sp>
      <p:sp>
        <p:nvSpPr>
          <p:cNvPr id="50" name="Rectangle 15"/>
          <p:cNvSpPr>
            <a:spLocks noChangeArrowheads="1"/>
          </p:cNvSpPr>
          <p:nvPr/>
        </p:nvSpPr>
        <p:spPr bwMode="auto">
          <a:xfrm>
            <a:off x="2039946" y="5461668"/>
            <a:ext cx="3592296" cy="863600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lIns="99477" tIns="49735" rIns="99477" bIns="49735" anchor="ctr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b="1" kern="0" dirty="0">
                <a:solidFill>
                  <a:srgbClr val="C00000"/>
                </a:solidFill>
                <a:latin typeface="맑은 고딕" panose="020B0503020000020004" pitchFamily="50" charset="-127"/>
              </a:rPr>
              <a:t>현금주의 </a:t>
            </a:r>
            <a:r>
              <a:rPr lang="ko-KR" altLang="en-US" sz="1400" b="1" kern="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매입액</a:t>
            </a:r>
            <a:r>
              <a:rPr lang="ko-KR" altLang="en-US" sz="14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＝</a:t>
            </a:r>
            <a:r>
              <a:rPr lang="ko-KR" altLang="en-US" sz="1400" b="1" kern="0" dirty="0" err="1">
                <a:solidFill>
                  <a:srgbClr val="2D61C8"/>
                </a:solidFill>
                <a:latin typeface="맑은 고딕" panose="020B0503020000020004" pitchFamily="50" charset="-127"/>
              </a:rPr>
              <a:t>당기매입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－△매입채무</a:t>
            </a:r>
            <a:endParaRPr lang="en-US" altLang="ko-KR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= </a:t>
            </a:r>
            <a:r>
              <a:rPr lang="en-US" altLang="ko-KR" sz="1400" b="1" kern="0" dirty="0">
                <a:solidFill>
                  <a:srgbClr val="2D61C8"/>
                </a:solidFill>
                <a:latin typeface="맑은 고딕" panose="020B0503020000020004" pitchFamily="50" charset="-127"/>
              </a:rPr>
              <a:t>704,000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– ( -19,600)</a:t>
            </a: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= 723,600</a:t>
            </a:r>
          </a:p>
        </p:txBody>
      </p:sp>
      <p:sp>
        <p:nvSpPr>
          <p:cNvPr id="49" name="아래쪽 화살표 48"/>
          <p:cNvSpPr/>
          <p:nvPr/>
        </p:nvSpPr>
        <p:spPr>
          <a:xfrm>
            <a:off x="3551237" y="5149736"/>
            <a:ext cx="690209" cy="420058"/>
          </a:xfrm>
          <a:prstGeom prst="downArrow">
            <a:avLst/>
          </a:prstGeom>
          <a:solidFill>
            <a:srgbClr val="2D61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642999" y="4085758"/>
            <a:ext cx="4180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②</a:t>
            </a:r>
            <a:r>
              <a:rPr lang="ko-KR" altLang="en-US" sz="1400" dirty="0"/>
              <a:t>의 </a:t>
            </a:r>
            <a:r>
              <a:rPr lang="ko-KR" altLang="en-US" sz="1400" dirty="0" err="1">
                <a:solidFill>
                  <a:srgbClr val="2D61C8"/>
                </a:solidFill>
              </a:rPr>
              <a:t>당기매입</a:t>
            </a:r>
            <a:r>
              <a:rPr lang="ko-KR" altLang="en-US" sz="1400" dirty="0" err="1"/>
              <a:t>을</a:t>
            </a:r>
            <a:r>
              <a:rPr lang="ko-KR" altLang="en-US" sz="1400" dirty="0"/>
              <a:t> 먼저 구하기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2999" y="5281524"/>
            <a:ext cx="4180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①</a:t>
            </a:r>
            <a:r>
              <a:rPr lang="ko-KR" altLang="en-US" sz="1400" dirty="0"/>
              <a:t>에 </a:t>
            </a:r>
            <a:r>
              <a:rPr lang="ko-KR" altLang="en-US" sz="1400" dirty="0" err="1">
                <a:solidFill>
                  <a:srgbClr val="2D61C8"/>
                </a:solidFill>
              </a:rPr>
              <a:t>당기매입</a:t>
            </a:r>
            <a:r>
              <a:rPr lang="ko-KR" altLang="en-US" sz="1400" dirty="0" err="1"/>
              <a:t>을</a:t>
            </a:r>
            <a:r>
              <a:rPr lang="ko-KR" altLang="en-US" sz="1400" dirty="0"/>
              <a:t> 대입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3976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126251" y="1076106"/>
            <a:ext cx="8711460" cy="5504802"/>
            <a:chOff x="190714" y="1320886"/>
            <a:chExt cx="8711460" cy="5504802"/>
          </a:xfrm>
        </p:grpSpPr>
        <p:grpSp>
          <p:nvGrpSpPr>
            <p:cNvPr id="10" name="그룹 9"/>
            <p:cNvGrpSpPr/>
            <p:nvPr/>
          </p:nvGrpSpPr>
          <p:grpSpPr>
            <a:xfrm>
              <a:off x="361935" y="1461499"/>
              <a:ext cx="8540239" cy="5364189"/>
              <a:chOff x="269048" y="1722741"/>
              <a:chExt cx="8648775" cy="5364189"/>
            </a:xfrm>
          </p:grpSpPr>
          <p:sp>
            <p:nvSpPr>
              <p:cNvPr id="21" name="Rectangle 15"/>
              <p:cNvSpPr>
                <a:spLocks noChangeArrowheads="1"/>
              </p:cNvSpPr>
              <p:nvPr/>
            </p:nvSpPr>
            <p:spPr bwMode="auto">
              <a:xfrm>
                <a:off x="269048" y="1746439"/>
                <a:ext cx="8641369" cy="534049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" name="그룹 10"/>
            <p:cNvGrpSpPr/>
            <p:nvPr/>
          </p:nvGrpSpPr>
          <p:grpSpPr>
            <a:xfrm>
              <a:off x="190714" y="1320886"/>
              <a:ext cx="5085158" cy="326952"/>
              <a:chOff x="190714" y="1320889"/>
              <a:chExt cx="4349968" cy="290354"/>
            </a:xfrm>
            <a:solidFill>
              <a:srgbClr val="2D61C8"/>
            </a:solidFill>
          </p:grpSpPr>
          <p:grpSp>
            <p:nvGrpSpPr>
              <p:cNvPr id="12" name="그룹 11"/>
              <p:cNvGrpSpPr/>
              <p:nvPr/>
            </p:nvGrpSpPr>
            <p:grpSpPr>
              <a:xfrm>
                <a:off x="190714" y="1320889"/>
                <a:ext cx="4349968" cy="290354"/>
                <a:chOff x="405822" y="2237753"/>
                <a:chExt cx="4349968" cy="290354"/>
              </a:xfrm>
              <a:grpFill/>
            </p:grpSpPr>
            <p:sp>
              <p:nvSpPr>
                <p:cNvPr id="14" name="타원 13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타원 14"/>
                <p:cNvSpPr/>
                <p:nvPr/>
              </p:nvSpPr>
              <p:spPr>
                <a:xfrm>
                  <a:off x="4465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542509" y="2237755"/>
                  <a:ext cx="406497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11-1 ③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현금흐름표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작성을 위한 거래의 분석 </a:t>
                  </a:r>
                  <a:endParaRPr lang="ko-KR" altLang="en-US" sz="1600" b="1" dirty="0"/>
                </a:p>
              </p:txBody>
            </p:sp>
            <p:sp>
              <p:nvSpPr>
                <p:cNvPr id="20" name="타원 19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3" name="그림 12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94" y="1870551"/>
            <a:ext cx="7853082" cy="4080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6027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57471" y="1423799"/>
            <a:ext cx="8641369" cy="4904471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52000" indent="-252000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⑥ 당기의 종업원 급여로 ￦</a:t>
            </a:r>
            <a:r>
              <a:rPr lang="en-US" altLang="ko-KR" sz="1400" dirty="0">
                <a:latin typeface="맑은 고딕" panose="020B0503020000020004" pitchFamily="50" charset="-127"/>
              </a:rPr>
              <a:t>150,000</a:t>
            </a:r>
            <a:r>
              <a:rPr lang="ko-KR" altLang="en-US" sz="1400" dirty="0">
                <a:latin typeface="맑은 고딕" panose="020B0503020000020004" pitchFamily="50" charset="-127"/>
              </a:rPr>
              <a:t>을 현금으로 지출하였으며</a:t>
            </a:r>
            <a:r>
              <a:rPr lang="en-US" altLang="ko-KR" sz="1400" dirty="0"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</a:rPr>
              <a:t>기존 사무실이 협소하여 사무실을 임대하여 사용한 결과 ￦</a:t>
            </a:r>
            <a:r>
              <a:rPr lang="en-US" altLang="ko-KR" sz="1400" dirty="0">
                <a:latin typeface="맑은 고딕" panose="020B0503020000020004" pitchFamily="50" charset="-127"/>
              </a:rPr>
              <a:t>5,000</a:t>
            </a:r>
            <a:r>
              <a:rPr lang="ko-KR" altLang="en-US" sz="1400" dirty="0">
                <a:latin typeface="맑은 고딕" panose="020B0503020000020004" pitchFamily="50" charset="-127"/>
              </a:rPr>
              <a:t>의 임차료가 발생하였다</a:t>
            </a:r>
            <a:r>
              <a:rPr lang="en-US" altLang="ko-KR" sz="1400" dirty="0">
                <a:latin typeface="맑은 고딕" panose="020B0503020000020004" pitchFamily="50" charset="-127"/>
              </a:rPr>
              <a:t>. </a:t>
            </a:r>
            <a:r>
              <a:rPr lang="ko-KR" altLang="en-US" sz="1400" dirty="0">
                <a:latin typeface="맑은 고딕" panose="020B0503020000020004" pitchFamily="50" charset="-127"/>
              </a:rPr>
              <a:t>임차료는 </a:t>
            </a:r>
            <a:r>
              <a:rPr lang="en-US" altLang="ko-KR" sz="1400" dirty="0">
                <a:latin typeface="맑은 고딕" panose="020B0503020000020004" pitchFamily="50" charset="-127"/>
              </a:rPr>
              <a:t>20×3</a:t>
            </a:r>
            <a:r>
              <a:rPr lang="ko-KR" altLang="en-US" sz="1400" dirty="0">
                <a:latin typeface="맑은 고딕" panose="020B0503020000020004" pitchFamily="50" charset="-127"/>
              </a:rPr>
              <a:t>년 </a:t>
            </a:r>
            <a:r>
              <a:rPr lang="en-US" altLang="ko-KR" sz="1400" dirty="0">
                <a:latin typeface="맑은 고딕" panose="020B0503020000020004" pitchFamily="50" charset="-127"/>
              </a:rPr>
              <a:t>1</a:t>
            </a:r>
            <a:r>
              <a:rPr lang="ko-KR" altLang="en-US" sz="1400" dirty="0">
                <a:latin typeface="맑은 고딕" panose="020B0503020000020004" pitchFamily="50" charset="-127"/>
              </a:rPr>
              <a:t>월에 지급하기로 하였다</a:t>
            </a:r>
            <a:r>
              <a:rPr lang="en-US" altLang="ko-KR" sz="1400" dirty="0">
                <a:latin typeface="맑은 고딕" panose="020B0503020000020004" pitchFamily="50" charset="-127"/>
              </a:rPr>
              <a:t>.</a:t>
            </a:r>
          </a:p>
          <a:p>
            <a:pPr marL="252000" indent="-252000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en-US" altLang="ko-KR" sz="1400" dirty="0">
                <a:latin typeface="맑은 고딕" panose="020B0503020000020004" pitchFamily="50" charset="-127"/>
              </a:rPr>
              <a:t>⑦ </a:t>
            </a:r>
            <a:r>
              <a:rPr lang="ko-KR" altLang="en-US" sz="1400" dirty="0">
                <a:latin typeface="맑은 고딕" panose="020B0503020000020004" pitchFamily="50" charset="-127"/>
              </a:rPr>
              <a:t>건물의 취득을 위하여 ￦</a:t>
            </a:r>
            <a:r>
              <a:rPr lang="en-US" altLang="ko-KR" sz="1400" dirty="0">
                <a:latin typeface="맑은 고딕" panose="020B0503020000020004" pitchFamily="50" charset="-127"/>
              </a:rPr>
              <a:t>100,000</a:t>
            </a:r>
            <a:r>
              <a:rPr lang="ko-KR" altLang="en-US" sz="1400" dirty="0">
                <a:latin typeface="맑은 고딕" panose="020B0503020000020004" pitchFamily="50" charset="-127"/>
              </a:rPr>
              <a:t>을 은행에서 차입하였다</a:t>
            </a:r>
            <a:r>
              <a:rPr lang="en-US" altLang="ko-KR" sz="1400" dirty="0">
                <a:latin typeface="맑은 고딕" panose="020B0503020000020004" pitchFamily="50" charset="-127"/>
              </a:rPr>
              <a:t>. </a:t>
            </a:r>
            <a:r>
              <a:rPr lang="ko-KR" altLang="en-US" sz="1400" dirty="0">
                <a:latin typeface="맑은 고딕" panose="020B0503020000020004" pitchFamily="50" charset="-127"/>
              </a:rPr>
              <a:t>새로운 차입금과 기존 </a:t>
            </a:r>
            <a:r>
              <a:rPr lang="ko-KR" altLang="en-US" sz="1400" dirty="0" err="1">
                <a:latin typeface="맑은 고딕" panose="020B0503020000020004" pitchFamily="50" charset="-127"/>
              </a:rPr>
              <a:t>차입금으로부터</a:t>
            </a:r>
            <a:r>
              <a:rPr lang="ko-KR" altLang="en-US" sz="1400" dirty="0">
                <a:latin typeface="맑은 고딕" panose="020B0503020000020004" pitchFamily="50" charset="-127"/>
              </a:rPr>
              <a:t> 발생한 당기 이자비용은 총 ￦</a:t>
            </a:r>
            <a:r>
              <a:rPr lang="en-US" altLang="ko-KR" sz="1400" dirty="0">
                <a:latin typeface="맑은 고딕" panose="020B0503020000020004" pitchFamily="50" charset="-127"/>
              </a:rPr>
              <a:t>24,000</a:t>
            </a:r>
            <a:r>
              <a:rPr lang="ko-KR" altLang="en-US" sz="1400" dirty="0">
                <a:latin typeface="맑은 고딕" panose="020B0503020000020004" pitchFamily="50" charset="-127"/>
              </a:rPr>
              <a:t>이며 모두 현금으로 지급하였다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kern="0" dirty="0">
              <a:latin typeface="맑은 고딕" panose="020B050302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57473" y="1088926"/>
            <a:ext cx="7492624" cy="340256"/>
            <a:chOff x="257473" y="1430362"/>
            <a:chExt cx="7492624" cy="340256"/>
          </a:xfrm>
        </p:grpSpPr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기타 수익과 비용에 의한 </a:t>
              </a:r>
              <a:r>
                <a:rPr lang="ko-KR" altLang="en-US" sz="1800" b="1" dirty="0" err="1">
                  <a:latin typeface="맑은 고딕" panose="020B0503020000020004" pitchFamily="50" charset="-127"/>
                </a:rPr>
                <a:t>현금유출</a:t>
              </a:r>
              <a:r>
                <a:rPr lang="en-US" altLang="ko-KR" sz="1800" b="1" dirty="0">
                  <a:latin typeface="맑은 고딕" panose="020B0503020000020004" pitchFamily="50" charset="-127"/>
                </a:rPr>
                <a:t>•</a:t>
              </a:r>
              <a:r>
                <a:rPr lang="ko-KR" altLang="en-US" sz="1800" b="1" dirty="0" err="1">
                  <a:latin typeface="맑은 고딕" panose="020B0503020000020004" pitchFamily="50" charset="-127"/>
                </a:rPr>
                <a:t>유입액</a:t>
              </a:r>
              <a:endParaRPr lang="ko-KR" altLang="en-US" sz="1800" b="1" dirty="0">
                <a:latin typeface="맑은 고딕" panose="020B0503020000020004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9" name="Group 4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262259"/>
              </p:ext>
            </p:extLst>
          </p:nvPr>
        </p:nvGraphicFramePr>
        <p:xfrm>
          <a:off x="306052" y="2765596"/>
          <a:ext cx="3307820" cy="3054776"/>
        </p:xfrm>
        <a:graphic>
          <a:graphicData uri="http://schemas.openxmlformats.org/drawingml/2006/table">
            <a:tbl>
              <a:tblPr/>
              <a:tblGrid>
                <a:gridCol w="1917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199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포괄손익계산서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(20×2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 액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880,000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630,000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매출총이익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급 여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무형자산상각비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 차 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유형자산처분이익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30,000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marT="45697" marB="4569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Group 40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9927558"/>
              </p:ext>
            </p:extLst>
          </p:nvPr>
        </p:nvGraphicFramePr>
        <p:xfrm>
          <a:off x="312891" y="5829659"/>
          <a:ext cx="3300981" cy="304800"/>
        </p:xfrm>
        <a:graphic>
          <a:graphicData uri="http://schemas.openxmlformats.org/drawingml/2006/table">
            <a:tbl>
              <a:tblPr/>
              <a:tblGrid>
                <a:gridCol w="1912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당기순이익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76,000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2" marR="9143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3393230" y="2875855"/>
            <a:ext cx="5377763" cy="9465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급여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현금지급액＝포괄손익계산서상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급여</a:t>
            </a:r>
            <a:endParaRPr lang="en-US" altLang="ko-KR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   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기말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미지급급여－기초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미지급급여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 ＝￦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150,000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0)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＝￦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150,000</a:t>
            </a: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ko-KR" altLang="en-US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393229" y="3914686"/>
            <a:ext cx="5377763" cy="9894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임차료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현금지급액＝포괄손익계산서상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임차료</a:t>
            </a: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     －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기말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미지급임차료－기초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미지급임차료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    ＝￦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0)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＝￦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0</a:t>
            </a:r>
            <a:endParaRPr lang="ko-KR" altLang="en-US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393229" y="5024251"/>
            <a:ext cx="5377763" cy="9859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이자비용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현금지급액＝포괄손익계산서상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이자비용</a:t>
            </a: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        －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기말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미지급이자－기초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미지급이자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      ＝￦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24,000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－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0)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＝￦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24,000</a:t>
            </a:r>
          </a:p>
        </p:txBody>
      </p:sp>
      <p:sp>
        <p:nvSpPr>
          <p:cNvPr id="14" name="타원 13"/>
          <p:cNvSpPr/>
          <p:nvPr/>
        </p:nvSpPr>
        <p:spPr>
          <a:xfrm>
            <a:off x="76994" y="4026784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5241" y="5210768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76994" y="4930095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298456" y="2783294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3298456" y="3816057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3298456" y="4909957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8228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C13BB35-0757-4701-BD20-3C1EF6BC557D}"/>
              </a:ext>
            </a:extLst>
          </p:cNvPr>
          <p:cNvGrpSpPr/>
          <p:nvPr/>
        </p:nvGrpSpPr>
        <p:grpSpPr>
          <a:xfrm>
            <a:off x="152698" y="1446684"/>
            <a:ext cx="1896235" cy="661528"/>
            <a:chOff x="1163638" y="4776539"/>
            <a:chExt cx="1896235" cy="661528"/>
          </a:xfrm>
        </p:grpSpPr>
        <p:sp>
          <p:nvSpPr>
            <p:cNvPr id="6" name="오각형 8">
              <a:extLst>
                <a:ext uri="{FF2B5EF4-FFF2-40B4-BE49-F238E27FC236}">
                  <a16:creationId xmlns:a16="http://schemas.microsoft.com/office/drawing/2014/main" id="{040EE6D2-D45F-4CB1-A7CB-B95AFC5E5379}"/>
                </a:ext>
              </a:extLst>
            </p:cNvPr>
            <p:cNvSpPr/>
            <p:nvPr/>
          </p:nvSpPr>
          <p:spPr>
            <a:xfrm>
              <a:off x="1163638" y="4841633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D7F1C2-AD57-4374-A8E2-78AB1C24457E}"/>
                </a:ext>
              </a:extLst>
            </p:cNvPr>
            <p:cNvSpPr txBox="1"/>
            <p:nvPr/>
          </p:nvSpPr>
          <p:spPr>
            <a:xfrm>
              <a:off x="1754115" y="4776539"/>
              <a:ext cx="1305758" cy="661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600" b="1" dirty="0"/>
                <a:t>현금흐름표 </a:t>
              </a:r>
              <a:r>
                <a:rPr lang="en-US" altLang="ko-KR" sz="1600" b="1" dirty="0"/>
                <a:t>-</a:t>
              </a:r>
              <a:r>
                <a:rPr lang="ko-KR" altLang="en-US" sz="1600" b="1" dirty="0"/>
                <a:t>직접법</a:t>
              </a:r>
            </a:p>
          </p:txBody>
        </p:sp>
      </p:grp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933" y="1006086"/>
            <a:ext cx="6827349" cy="5623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592976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x.2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x.2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x.2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x.3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x.4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x.4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x.4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_x.4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_x.4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3_x.4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4_x.4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840E53-07FA-4F96-9466-DB6B4F3ACF44}">
  <we:reference id="wa200005566" version="3.0.0.2" store="ko-K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3051</Words>
  <Application>Microsoft Office PowerPoint</Application>
  <PresentationFormat>화면 슬라이드 쇼(4:3)</PresentationFormat>
  <Paragraphs>786</Paragraphs>
  <Slides>33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14</vt:i4>
      </vt:variant>
      <vt:variant>
        <vt:lpstr>슬라이드 제목</vt:lpstr>
      </vt:variant>
      <vt:variant>
        <vt:i4>33</vt:i4>
      </vt:variant>
    </vt:vector>
  </HeadingPairs>
  <TitlesOfParts>
    <vt:vector size="54" baseType="lpstr">
      <vt:lpstr>HY견고딕</vt:lpstr>
      <vt:lpstr>굴림</vt:lpstr>
      <vt:lpstr>맑은 고딕</vt:lpstr>
      <vt:lpstr>함초롬바탕 확장</vt:lpstr>
      <vt:lpstr>Arial</vt:lpstr>
      <vt:lpstr>Calibri</vt:lpstr>
      <vt:lpstr>Wingdings</vt:lpstr>
      <vt:lpstr>디자인 사용자 지정</vt:lpstr>
      <vt:lpstr>x.1 - 1.</vt:lpstr>
      <vt:lpstr>x.1 - 2.</vt:lpstr>
      <vt:lpstr>x.2 - 1.</vt:lpstr>
      <vt:lpstr>x.2 - 2.</vt:lpstr>
      <vt:lpstr>x.2 - 3.</vt:lpstr>
      <vt:lpstr>x.3 - 1.</vt:lpstr>
      <vt:lpstr>x.4 - 1.</vt:lpstr>
      <vt:lpstr>x.4 - 2.</vt:lpstr>
      <vt:lpstr>x.4 - 3.</vt:lpstr>
      <vt:lpstr>1_x.4 - 3.</vt:lpstr>
      <vt:lpstr>2_x.4 - 3.</vt:lpstr>
      <vt:lpstr>3_x.4 - 3.</vt:lpstr>
      <vt:lpstr>4_x.4 - 3.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석주 이</cp:lastModifiedBy>
  <cp:revision>1</cp:revision>
  <dcterms:created xsi:type="dcterms:W3CDTF">2024-07-23T07:27:25Z</dcterms:created>
  <dcterms:modified xsi:type="dcterms:W3CDTF">2025-12-06T05:28:15Z</dcterms:modified>
</cp:coreProperties>
</file>