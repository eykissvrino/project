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sldIdLst>
    <p:sldId id="257" r:id="rId3"/>
    <p:sldId id="258" r:id="rId4"/>
    <p:sldId id="260" r:id="rId5"/>
    <p:sldId id="264" r:id="rId6"/>
    <p:sldId id="261" r:id="rId7"/>
    <p:sldId id="265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2" r:id="rId17"/>
    <p:sldId id="274" r:id="rId18"/>
    <p:sldId id="275" r:id="rId19"/>
    <p:sldId id="276" r:id="rId20"/>
    <p:sldId id="277" r:id="rId21"/>
  </p:sldIdLst>
  <p:sldSz cx="12192000" cy="6858000"/>
  <p:notesSz cx="6858000" cy="9144000"/>
  <p:embeddedFontLst>
    <p:embeddedFont>
      <p:font typeface="맑은 고딕" panose="020B0503020000020004" pitchFamily="50" charset="-127"/>
      <p:regular r:id="rId22"/>
      <p:bold r:id="rId23"/>
    </p:embeddedFont>
    <p:embeddedFont>
      <p:font typeface="세방고딕 Bold" panose="00000800000000000000" pitchFamily="2" charset="-127"/>
      <p:bold r:id="rId24"/>
    </p:embeddedFont>
    <p:embeddedFont>
      <p:font typeface="세방고딕 Regular" panose="00000500000000000000" pitchFamily="2" charset="-127"/>
      <p:regular r:id="rId2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73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8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60F18-7058-74B3-9DA0-416E2959E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70A947-4B79-4162-AB82-7C38D611E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7D1AD0-9771-E19F-F77B-DC7058097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6410-C434-4D7F-8FD5-CC04585CCD70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E67974-7C9A-A10B-27A7-3D7E282F9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96BBBA-6507-402A-2E22-92B072407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3564E-32B3-4CE8-BC94-342791787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3599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0B724B-241E-EF51-9B2B-5BFB84F5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8F3D4F-9ED9-6E70-C07E-3D319BE36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271C9D-6A85-EF67-8B0D-A3F75B76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6410-C434-4D7F-8FD5-CC04585CCD70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7C6161-5CD4-09DB-F17C-57E8FC29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80E246-2C90-3110-B6EB-35C7709FE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3564E-32B3-4CE8-BC94-342791787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816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F419D6-FA2B-7FF6-DD81-6491D9412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6F10D2-0ED6-8247-DFE5-C2886F668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27B797-F015-7CEE-8A3E-5622ED0A0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6410-C434-4D7F-8FD5-CC04585CCD70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A536F2-BDFA-EE73-8FCF-D799774D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152A94-9C1F-C17C-A463-838EB1E7F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3564E-32B3-4CE8-BC94-342791787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162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13B21D-F533-A978-E15C-8E1A4DDA3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B240CB-42E5-7C01-519A-72F115206C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4DC27A-BED5-06C1-5898-9F329138C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339B8A-95B0-CAB6-CB85-38EE21E6C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6410-C434-4D7F-8FD5-CC04585CCD70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EFAFDC-CC98-9A13-A38E-356BDE92B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370295-7E65-99EE-5006-9439B8F6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3564E-32B3-4CE8-BC94-342791787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241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8B81F-7867-BFD9-2D2C-878E0BD65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9B4257-BE26-F00B-A5C1-0D93C36EC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B4D2F44-3627-E20A-1995-21457361E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862C77-3EA2-B3F1-9353-11C5FE6957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F4D32C5-0117-D6AB-AB39-09E9FA6600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F5537A2-F820-0F18-7D52-A14FEFE7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6410-C434-4D7F-8FD5-CC04585CCD70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EB70898-5639-0E3E-FD46-5E015589C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FDA0241-3062-C35C-E05E-D105DB175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3564E-32B3-4CE8-BC94-342791787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751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D5411D-5083-C8B5-72FD-FA79C4F79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06C5FC4-711F-CA62-83C6-FFA10366D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6410-C434-4D7F-8FD5-CC04585CCD70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0118D5-8811-BB4D-2E2A-455CE1EFF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4B065C-F972-F366-C9F1-9AA106AC5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3564E-32B3-4CE8-BC94-342791787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237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738603C-F58D-F643-D52A-12F761AD5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6410-C434-4D7F-8FD5-CC04585CCD70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D5D42FA-18DB-A2FB-E486-FAFAF8F72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A26AA6-5064-957D-D2A2-44FD2D9F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3564E-32B3-4CE8-BC94-342791787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0194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F3FD48-3D60-2DD2-600F-0F76E4EE2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3C5C05-E538-0422-F56E-DA8BAFEC4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8EC9C4-46EC-58DE-2D44-DFD2A3BD0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F7F19D-1416-C2BC-8435-D4E2EC191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6410-C434-4D7F-8FD5-CC04585CCD70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B61CE9-07FF-DB30-DA36-A4DBBC3F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80C0F5-F55B-BE9D-4AC2-A21B49C48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3564E-32B3-4CE8-BC94-342791787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30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C50CF0-E4EE-B971-B031-1B8CF475D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FC89699-58E9-E658-BA83-98FC8FA5FA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AAF7D5-068C-C80B-278E-E8C02AB1D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586DB6-D8F4-27EA-B219-50B8127DD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6410-C434-4D7F-8FD5-CC04585CCD70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CDEFD8-88FF-7821-D49C-9477CFEF8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3801E0-C2C0-C7BB-3193-320956719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3564E-32B3-4CE8-BC94-342791787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981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8FF37F-DC4C-9D27-09A8-6A4A12E0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BF57FE-21F6-CD5B-B909-70C51F9B6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34874F-82FB-9691-E734-7010E3F1F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6410-C434-4D7F-8FD5-CC04585CCD70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84889C-751F-07BB-B956-D5A96177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2B3823-8E45-AECE-196E-8E0CE2AE0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3564E-32B3-4CE8-BC94-342791787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211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E1B63A8-C93E-304F-EF98-BDD09E11D8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836F09-1ECC-A650-0982-5A9F00AAA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8CB0F8-FFF4-085C-BEC4-B9229DD6C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6410-C434-4D7F-8FD5-CC04585CCD70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73227F-AF40-FCF7-1BDC-835D1C940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6DC4F7-F7BB-D817-BB49-08DDC52FF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3564E-32B3-4CE8-BC94-342791787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459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1D1A07-3EE4-B570-B316-F492279D4C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9BD7C2-CE8C-01EE-C7DE-AC8027C1F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495D42-B9B4-487E-EBC9-93F8FED7A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49E2-9479-4933-907C-FB05F581403B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68FF0C-6BFE-2A31-7541-B42C58BF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969399-613D-1196-76B6-AA9F0C728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4A8ED-7270-4367-A0E3-DA91CDF5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863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E5D6B6-CA26-F71D-894C-3EAAA5A88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146092-EDA1-A3A9-39BB-02D650352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217B10-1A6B-3424-5705-0469E20CE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49E2-9479-4933-907C-FB05F581403B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705A90-8C28-A380-D136-6B1305ECF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C494E0-C8E6-A90A-D202-40B8EBDE7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4A8ED-7270-4367-A0E3-DA91CDF5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313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7026BA-C4F1-979D-17B2-422A3EF20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B15B9A-A75A-FC15-D632-BE1AD7EBB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C5B121-91FF-620F-9950-B1D21938E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49E2-9479-4933-907C-FB05F581403B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1C8B7D-D76E-45CA-BFAB-45C7EA068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E578CB-EE6E-BB80-77A4-CDDF9EE88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4A8ED-7270-4367-A0E3-DA91CDF5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7411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F4346F-1E5D-F9DC-C599-7D26CF2CC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E478C6-D770-A364-0C88-09FFB2154E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642A88-D4C3-D485-7F29-B1B3388B4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04D24B-6FC5-07CB-4627-8F5894784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49E2-9479-4933-907C-FB05F581403B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E520D6-E9F9-4A16-B667-0A6B07439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7168A9-A05B-AC3C-2AE3-3D26C8FD3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4A8ED-7270-4367-A0E3-DA91CDF5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3997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F5414-529E-8432-1F9D-4A842BEBF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40AC3B-C68A-EE41-B723-F134F20EF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357D23-9DD3-A574-CAE9-160ECF9BF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0C56F27-EFD1-6DE1-9E85-7225E467F6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F66904-C85A-4F45-92AD-9E94FE3F99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A8553C9-34AE-90FB-76FE-324F21027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49E2-9479-4933-907C-FB05F581403B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532A1C8-3CB3-B665-A232-AF6746F93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958963F-3FC7-8AB8-7EB1-5E642A09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4A8ED-7270-4367-A0E3-DA91CDF5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1422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487589-3399-9D82-7D81-52721F47E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DC7808-DD9B-5975-17DC-CAD917F47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49E2-9479-4933-907C-FB05F581403B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F106EB-A041-F8C5-F468-DF416CFC9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0FA682-D0AF-6E0F-3587-134777326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4A8ED-7270-4367-A0E3-DA91CDF5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4653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04E6680-BA4D-5511-F2D2-9F1C058C0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49E2-9479-4933-907C-FB05F581403B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820A618-8D42-B230-77EE-1CA48A46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882688-2424-3FB1-5AB8-8D8530CA3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4A8ED-7270-4367-A0E3-DA91CDF5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668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45A7AF-732D-9D64-1A20-665A6AA33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F86366-E652-699B-05AD-C0E86CAF0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A014B3-5A57-E90C-095A-13A16273C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45E592-2AB7-D4E9-D4D5-10AA6BF2A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49E2-9479-4933-907C-FB05F581403B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E0A5CD-307C-AAB2-09B7-F15223D18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D6BE45-52CA-583B-6A3C-73411DA67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4A8ED-7270-4367-A0E3-DA91CDF5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030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344A77-705A-40FD-98AD-1C146A1FB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03E5607-8892-5BBE-EB14-9838C2553B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A27B62-D607-55F4-95D9-69CD185AAD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32D10B-8EB1-4720-FAA6-93B40FF7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49E2-9479-4933-907C-FB05F581403B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8C7139-86F7-3309-C02E-EEBAD0681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4A566F-F8AE-6471-007A-DB7AC427C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4A8ED-7270-4367-A0E3-DA91CDF5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4796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26ABAF-31EB-4C01-CC13-37C2BC86E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4AC8FD-C859-2C7D-351A-73E19287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A7A367-08D6-EA81-B42B-34326B212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49E2-9479-4933-907C-FB05F581403B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1D9CAB-5DB8-6828-00B8-83C4E94B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54FCF-80B1-D952-3040-7E8BAD52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4A8ED-7270-4367-A0E3-DA91CDF5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0889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666373-93A5-F4A1-E6B9-9682D9C388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101C59-1176-C85D-AAD1-F8E6EAAB3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39D660-056E-380C-067E-C9F77377E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749E2-9479-4933-907C-FB05F581403B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E6A7E8-3196-4F2A-B856-BF4AFA023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BF93BF-0ECC-5178-F183-61D042B6E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4A8ED-7270-4367-A0E3-DA91CDF5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11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008D7E6-9263-84EB-4C9C-D1C08A5A4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28178C-2419-9DA8-BE6D-52BC09F49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251B0B-4764-1170-CF27-F1DC3455E7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356410-C434-4D7F-8FD5-CC04585CCD70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6E57C9-9378-F9B1-9FBD-D853C1F38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3A8CE2-D299-7375-20F8-D7EA6724B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13564E-32B3-4CE8-BC94-342791787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22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A6F477-AE14-1A4B-1A42-E0FEC91D2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DC342C-D555-4279-DBE9-4AD4B41B3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808A64-C5AE-717A-2BC7-F9E52D9C2A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2749E2-9479-4933-907C-FB05F581403B}" type="datetimeFigureOut">
              <a:rPr lang="ko-KR" altLang="en-US" smtClean="0"/>
              <a:t>2026-05-07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5D83F6-7B64-3B1D-6A78-A8FD6FA4E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77A2C1-7109-21DF-D704-C569FCEFB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F4A8ED-7270-4367-A0E3-DA91CDF5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136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73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4544C148-E1D7-5A02-C687-7C92F7A62382}"/>
              </a:ext>
            </a:extLst>
          </p:cNvPr>
          <p:cNvSpPr/>
          <p:nvPr/>
        </p:nvSpPr>
        <p:spPr>
          <a:xfrm>
            <a:off x="0" y="0"/>
            <a:ext cx="2604407" cy="6867303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F2A929-5038-1ADA-C6F1-1CB36E608576}"/>
              </a:ext>
            </a:extLst>
          </p:cNvPr>
          <p:cNvSpPr txBox="1"/>
          <p:nvPr/>
        </p:nvSpPr>
        <p:spPr>
          <a:xfrm>
            <a:off x="3131743" y="1776834"/>
            <a:ext cx="87091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[#6 CASE] </a:t>
            </a:r>
            <a:r>
              <a:rPr lang="ko-KR" altLang="en-US" sz="36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리더육성 및 교육훈련</a:t>
            </a:r>
            <a:endParaRPr lang="en-US" altLang="ko-KR" sz="36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36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GE’s</a:t>
            </a:r>
            <a:r>
              <a:rPr lang="ko-KR" altLang="en-US" sz="36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36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Talent</a:t>
            </a:r>
            <a:r>
              <a:rPr lang="ko-KR" altLang="en-US" sz="36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36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Machine: </a:t>
            </a:r>
            <a:r>
              <a:rPr lang="en-US" altLang="ko-KR" sz="2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The Making of a CEO</a:t>
            </a:r>
            <a:endParaRPr lang="ko-KR" altLang="en-US" sz="36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62D14305-4E3D-3438-5EEB-039C22FB5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824" y="5832"/>
            <a:ext cx="2371166" cy="2371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5E34AFF-20F5-CE8A-52EC-21DDBFD189E5}"/>
              </a:ext>
            </a:extLst>
          </p:cNvPr>
          <p:cNvSpPr txBox="1"/>
          <p:nvPr/>
        </p:nvSpPr>
        <p:spPr>
          <a:xfrm>
            <a:off x="5385071" y="4088086"/>
            <a:ext cx="4202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2026. 5. 9.(</a:t>
            </a:r>
            <a:r>
              <a:rPr lang="ko-KR" altLang="en-US" sz="2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토</a:t>
            </a:r>
            <a:r>
              <a:rPr lang="en-US" altLang="ko-KR" sz="2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)</a:t>
            </a:r>
            <a:endParaRPr lang="ko-KR" altLang="en-US" sz="28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2F8D7E-0B2C-18C4-1AA3-84EC190B6F87}"/>
              </a:ext>
            </a:extLst>
          </p:cNvPr>
          <p:cNvSpPr txBox="1"/>
          <p:nvPr/>
        </p:nvSpPr>
        <p:spPr>
          <a:xfrm>
            <a:off x="5385071" y="5122064"/>
            <a:ext cx="42025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Bold" panose="00000800000000000000" pitchFamily="2" charset="-127"/>
                <a:ea typeface="세방고딕 Bold" panose="00000800000000000000" pitchFamily="2" charset="-127"/>
                <a:cs typeface="+mn-cs"/>
              </a:rPr>
              <a:t>건국대경영전문대학원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세방고딕 Bold" panose="00000800000000000000" pitchFamily="2" charset="-127"/>
              <a:ea typeface="세방고딕 Bold" panose="000008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Bold" panose="00000800000000000000" pitchFamily="2" charset="-127"/>
                <a:ea typeface="세방고딕 Bold" panose="00000800000000000000" pitchFamily="2" charset="-127"/>
                <a:cs typeface="+mn-cs"/>
              </a:rPr>
              <a:t>인사조직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Bold" panose="00000800000000000000" pitchFamily="2" charset="-127"/>
                <a:ea typeface="세방고딕 Bold" panose="00000800000000000000" pitchFamily="2" charset="-127"/>
                <a:cs typeface="+mn-cs"/>
              </a:rPr>
              <a:t>·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Bold" panose="00000800000000000000" pitchFamily="2" charset="-127"/>
                <a:ea typeface="세방고딕 Bold" panose="00000800000000000000" pitchFamily="2" charset="-127"/>
                <a:cs typeface="+mn-cs"/>
              </a:rPr>
              <a:t>노사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세방고딕 Bold" panose="00000800000000000000" pitchFamily="2" charset="-127"/>
                <a:ea typeface="세방고딕 Bold" panose="00000800000000000000" pitchFamily="2" charset="-127"/>
                <a:cs typeface="+mn-cs"/>
              </a:rPr>
              <a:t>MBA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세방고딕 Bold" panose="00000800000000000000" pitchFamily="2" charset="-127"/>
              <a:ea typeface="세방고딕 Bold" panose="00000800000000000000" pitchFamily="2" charset="-127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811131-348F-1D41-1009-5D639484B1F3}"/>
              </a:ext>
            </a:extLst>
          </p:cNvPr>
          <p:cNvSpPr txBox="1"/>
          <p:nvPr/>
        </p:nvSpPr>
        <p:spPr>
          <a:xfrm>
            <a:off x="7631084" y="2900565"/>
            <a:ext cx="4209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Harvard Business School Nov. 2006</a:t>
            </a:r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5B43C7-CE26-56AB-DEE5-33E3EF67C659}"/>
              </a:ext>
            </a:extLst>
          </p:cNvPr>
          <p:cNvSpPr txBox="1"/>
          <p:nvPr/>
        </p:nvSpPr>
        <p:spPr>
          <a:xfrm>
            <a:off x="200340" y="4349696"/>
            <a:ext cx="22037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오늘의 순서</a:t>
            </a:r>
            <a:endParaRPr lang="en-US" altLang="ko-KR" b="1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r>
              <a:rPr lang="en-US" altLang="ko-KR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1. GE</a:t>
            </a:r>
            <a:r>
              <a: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기업소개</a:t>
            </a:r>
            <a:endParaRPr lang="en-US" altLang="ko-KR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r>
              <a:rPr lang="en-US" altLang="ko-KR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2. GE</a:t>
            </a:r>
            <a:r>
              <a: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의 인재육성</a:t>
            </a:r>
            <a:endParaRPr lang="en-US" altLang="ko-KR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r>
              <a:rPr lang="en-US" altLang="ko-KR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3. CEO</a:t>
            </a:r>
            <a:r>
              <a: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육성사례</a:t>
            </a:r>
            <a:endParaRPr lang="en-US" altLang="ko-KR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r>
              <a:rPr lang="en-US" altLang="ko-KR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4. </a:t>
            </a:r>
            <a:r>
              <a: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전략적 함의</a:t>
            </a:r>
            <a:endParaRPr lang="en-US" altLang="ko-KR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r>
              <a:rPr lang="en-US" altLang="ko-KR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5. </a:t>
            </a:r>
            <a:r>
              <a: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그때는 맞고</a:t>
            </a:r>
            <a:r>
              <a:rPr lang="en-US" altLang="ko-KR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</a:p>
          <a:p>
            <a:r>
              <a: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    지금은 틀리다</a:t>
            </a:r>
            <a:endParaRPr lang="en-US" altLang="ko-KR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r>
              <a:rPr lang="en-US" altLang="ko-KR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6. </a:t>
            </a:r>
            <a:r>
              <a: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토론</a:t>
            </a:r>
          </a:p>
        </p:txBody>
      </p:sp>
      <p:pic>
        <p:nvPicPr>
          <p:cNvPr id="3" name="Picture 2" descr="건국대학교 MBA">
            <a:extLst>
              <a:ext uri="{FF2B5EF4-FFF2-40B4-BE49-F238E27FC236}">
                <a16:creationId xmlns:a16="http://schemas.microsoft.com/office/drawing/2014/main" id="{92CF384B-76B6-7FF1-2701-CAA9E6C69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861" y="146481"/>
            <a:ext cx="3029625" cy="38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4954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73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07E389-9660-523E-A54C-A90C061E1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7EF1579-09DD-EE44-AA64-FC6385767564}"/>
              </a:ext>
            </a:extLst>
          </p:cNvPr>
          <p:cNvSpPr/>
          <p:nvPr/>
        </p:nvSpPr>
        <p:spPr>
          <a:xfrm>
            <a:off x="0" y="0"/>
            <a:ext cx="2604407" cy="6867303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73301B-FD6C-D1B5-8AF5-C9A53178D90C}"/>
              </a:ext>
            </a:extLst>
          </p:cNvPr>
          <p:cNvSpPr txBox="1"/>
          <p:nvPr/>
        </p:nvSpPr>
        <p:spPr>
          <a:xfrm>
            <a:off x="0" y="6048565"/>
            <a:ext cx="269276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[#6 CASE]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리더육성 및 교육훈련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GE’s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Talent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Machine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The Making of a CEO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DED493E0-EE8C-0E6A-6009-649D1B44B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01" y="1149556"/>
            <a:ext cx="1147328" cy="114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E9B79E5-324E-3E26-15CA-28017B733B14}"/>
              </a:ext>
            </a:extLst>
          </p:cNvPr>
          <p:cNvSpPr txBox="1"/>
          <p:nvPr/>
        </p:nvSpPr>
        <p:spPr>
          <a:xfrm>
            <a:off x="3369240" y="672503"/>
            <a:ext cx="79188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</a:t>
            </a:r>
            <a:r>
              <a:rPr lang="ko-KR" altLang="en-US" sz="2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는 미국의 유명한 발명가</a:t>
            </a:r>
            <a:endParaRPr lang="en-US" altLang="ko-KR" sz="28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토마스 에디슨이 창업한 회사로 알려져 있지만</a:t>
            </a:r>
            <a:r>
              <a:rPr lang="en-US" altLang="ko-KR" sz="2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…</a:t>
            </a:r>
            <a:endParaRPr lang="ko-KR" altLang="en-US" sz="28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AC9200-73A8-2B57-3293-6F1F98F4F11B}"/>
              </a:ext>
            </a:extLst>
          </p:cNvPr>
          <p:cNvSpPr txBox="1"/>
          <p:nvPr/>
        </p:nvSpPr>
        <p:spPr>
          <a:xfrm>
            <a:off x="252808" y="2528754"/>
            <a:ext cx="2098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GE?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1C70DEA-4BE3-6E41-765F-618D667E5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765" y="2008645"/>
            <a:ext cx="3399725" cy="35744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445F7B-1EBD-F9E8-5448-30DAF0CB3CD9}"/>
              </a:ext>
            </a:extLst>
          </p:cNvPr>
          <p:cNvSpPr txBox="1"/>
          <p:nvPr/>
        </p:nvSpPr>
        <p:spPr>
          <a:xfrm>
            <a:off x="6671099" y="1922029"/>
            <a:ext cx="46170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표준화 경쟁에서 밀리면서</a:t>
            </a:r>
            <a:endParaRPr lang="en-US" altLang="ko-KR" sz="240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/>
            <a:r>
              <a:rPr lang="en-US" altLang="ko-KR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1892</a:t>
            </a:r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 톰슨</a:t>
            </a:r>
            <a:r>
              <a:rPr lang="en-US" altLang="ko-KR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-</a:t>
            </a:r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휴스턴과 합병해</a:t>
            </a:r>
            <a:endParaRPr lang="en-US" altLang="ko-KR" sz="240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/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제너럴 일렉트릭 탄생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7CD3B3B-2B0F-E97E-EDEF-4D091BE12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140" y="3450204"/>
            <a:ext cx="1952898" cy="25244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43037A-F300-6194-57EE-AAA57009F7AA}"/>
              </a:ext>
            </a:extLst>
          </p:cNvPr>
          <p:cNvSpPr txBox="1"/>
          <p:nvPr/>
        </p:nvSpPr>
        <p:spPr>
          <a:xfrm>
            <a:off x="7485517" y="4897463"/>
            <a:ext cx="23006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GE </a:t>
            </a:r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초대사장</a:t>
            </a:r>
            <a:endParaRPr lang="en-US" altLang="ko-KR" sz="240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/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찰스 앨버트 코핀</a:t>
            </a:r>
            <a:endParaRPr lang="en-US" altLang="ko-KR" sz="240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(1844~1926)</a:t>
            </a:r>
            <a:endParaRPr lang="ko-KR" altLang="en-US" sz="160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5214AF-AECF-E036-C694-D9E9CC30D111}"/>
              </a:ext>
            </a:extLst>
          </p:cNvPr>
          <p:cNvSpPr txBox="1"/>
          <p:nvPr/>
        </p:nvSpPr>
        <p:spPr>
          <a:xfrm>
            <a:off x="6178361" y="3718770"/>
            <a:ext cx="23006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토마스 에디슨</a:t>
            </a:r>
            <a:endParaRPr lang="en-US" altLang="ko-KR" sz="240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(1877~1930)</a:t>
            </a:r>
            <a:endParaRPr lang="ko-KR" altLang="en-US" sz="110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3A252F78-81E9-DE13-B905-BD484132B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526" y="4403008"/>
            <a:ext cx="1428750" cy="36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EEC56A4-84C4-50F7-B4A1-86ED0D4324F4}"/>
              </a:ext>
            </a:extLst>
          </p:cNvPr>
          <p:cNvSpPr txBox="1"/>
          <p:nvPr/>
        </p:nvSpPr>
        <p:spPr>
          <a:xfrm>
            <a:off x="95335" y="116938"/>
            <a:ext cx="2381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Harvard Business School </a:t>
            </a:r>
          </a:p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CASE study</a:t>
            </a:r>
            <a:endParaRPr lang="ko-KR" altLang="en-US" sz="12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" name="Picture 2" descr="건국대학교 MBA">
            <a:extLst>
              <a:ext uri="{FF2B5EF4-FFF2-40B4-BE49-F238E27FC236}">
                <a16:creationId xmlns:a16="http://schemas.microsoft.com/office/drawing/2014/main" id="{EDE99D55-C444-6623-EA2A-4239651B2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861" y="146481"/>
            <a:ext cx="3029625" cy="38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06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73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CF3D55-DFD2-EAD9-7D34-47D6626D7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873C6A3-781D-EF5A-5B98-E1AB8A4161C8}"/>
              </a:ext>
            </a:extLst>
          </p:cNvPr>
          <p:cNvSpPr/>
          <p:nvPr/>
        </p:nvSpPr>
        <p:spPr>
          <a:xfrm>
            <a:off x="0" y="0"/>
            <a:ext cx="2604407" cy="6867303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3DB781-213F-C2AD-13BF-9FABC4D0FEA1}"/>
              </a:ext>
            </a:extLst>
          </p:cNvPr>
          <p:cNvSpPr txBox="1"/>
          <p:nvPr/>
        </p:nvSpPr>
        <p:spPr>
          <a:xfrm>
            <a:off x="0" y="6048565"/>
            <a:ext cx="269276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[#6 CASE]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리더육성 및 교육훈련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GE’s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Talent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Machine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The Making of a CEO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A3D9BA17-DA09-FC78-4917-C0EBF34A2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01" y="1149556"/>
            <a:ext cx="1147328" cy="114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C1774C-A98E-6A98-EE69-3FB43A65B739}"/>
              </a:ext>
            </a:extLst>
          </p:cNvPr>
          <p:cNvSpPr txBox="1"/>
          <p:nvPr/>
        </p:nvSpPr>
        <p:spPr>
          <a:xfrm>
            <a:off x="252808" y="2528754"/>
            <a:ext cx="2098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오래된 기업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FD56FC-DAF5-A2F4-B455-F0A31F4CA31B}"/>
              </a:ext>
            </a:extLst>
          </p:cNvPr>
          <p:cNvSpPr txBox="1"/>
          <p:nvPr/>
        </p:nvSpPr>
        <p:spPr>
          <a:xfrm>
            <a:off x="95335" y="116938"/>
            <a:ext cx="2381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Harvard Business School </a:t>
            </a:r>
          </a:p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CASE study</a:t>
            </a:r>
            <a:endParaRPr lang="ko-KR" altLang="en-US" sz="12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061F8D-1BB2-10FF-92C1-FA59B8C09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708" y="310919"/>
            <a:ext cx="8455801" cy="54821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5619FB-5C08-824E-A61F-2ECA440DD2FA}"/>
              </a:ext>
            </a:extLst>
          </p:cNvPr>
          <p:cNvSpPr txBox="1"/>
          <p:nvPr/>
        </p:nvSpPr>
        <p:spPr>
          <a:xfrm>
            <a:off x="5478093" y="6048565"/>
            <a:ext cx="4093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1896</a:t>
            </a:r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 </a:t>
            </a:r>
            <a:r>
              <a:rPr lang="en-US" altLang="ko-KR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GE </a:t>
            </a:r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건물</a:t>
            </a:r>
            <a:endParaRPr lang="ko-KR" altLang="en-US" sz="110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8953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73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2AA961-0D6B-C1CF-82DA-D8E5AF00B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85F29706-D0C0-7CBF-D6D1-8B36395D008D}"/>
              </a:ext>
            </a:extLst>
          </p:cNvPr>
          <p:cNvSpPr/>
          <p:nvPr/>
        </p:nvSpPr>
        <p:spPr>
          <a:xfrm>
            <a:off x="0" y="0"/>
            <a:ext cx="2604407" cy="6867303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D4706D-4DFA-7191-BD42-722F4BAF2EDE}"/>
              </a:ext>
            </a:extLst>
          </p:cNvPr>
          <p:cNvSpPr txBox="1"/>
          <p:nvPr/>
        </p:nvSpPr>
        <p:spPr>
          <a:xfrm>
            <a:off x="0" y="6048565"/>
            <a:ext cx="269276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[#6 CASE]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리더육성 및 교육훈련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GE’s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Talent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Machine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The Making of a CEO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A93F1AF1-975F-E241-F6BC-31E030629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01" y="1149556"/>
            <a:ext cx="1147328" cy="114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E6ECB2-3CB0-B86C-3386-24AD052DCBC8}"/>
              </a:ext>
            </a:extLst>
          </p:cNvPr>
          <p:cNvSpPr txBox="1"/>
          <p:nvPr/>
        </p:nvSpPr>
        <p:spPr>
          <a:xfrm>
            <a:off x="252808" y="2528754"/>
            <a:ext cx="2098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 </a:t>
            </a:r>
            <a:r>
              <a:rPr lang="ko-KR" alt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주요연혁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286CF9-D9D5-AC38-08D5-8B6B8A7678FA}"/>
              </a:ext>
            </a:extLst>
          </p:cNvPr>
          <p:cNvSpPr txBox="1"/>
          <p:nvPr/>
        </p:nvSpPr>
        <p:spPr>
          <a:xfrm>
            <a:off x="95335" y="116938"/>
            <a:ext cx="2381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Harvard Business School </a:t>
            </a:r>
          </a:p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CASE study</a:t>
            </a:r>
            <a:endParaRPr lang="ko-KR" altLang="en-US" sz="12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4A1691-EB4D-C571-7064-D69B20E62461}"/>
              </a:ext>
            </a:extLst>
          </p:cNvPr>
          <p:cNvSpPr txBox="1"/>
          <p:nvPr/>
        </p:nvSpPr>
        <p:spPr>
          <a:xfrm>
            <a:off x="4411746" y="425962"/>
            <a:ext cx="7437569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제너럴 일렉트릭</a:t>
            </a: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(GE)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이 공식 출범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다우존스 산업평균지수의 최초 구성 종목으로 편입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미국 최초의 기업 부설 연구소인 </a:t>
            </a: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 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연구소를 설립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잭 </a:t>
            </a:r>
            <a:r>
              <a:rPr lang="ko-KR" altLang="en-US" sz="2400" dirty="0" err="1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웰치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CEO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가 취임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글로벌 금융위기로 인해 기업의 쇠퇴가 시작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122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년 만에 다우존스 지수에서 공식 퇴출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헬스케어</a:t>
            </a: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, 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에너지의 </a:t>
            </a: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3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개 독립 기업으로 분할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B6AF89-46C9-C9A0-EED3-DE73EBFAE9A7}"/>
              </a:ext>
            </a:extLst>
          </p:cNvPr>
          <p:cNvSpPr txBox="1"/>
          <p:nvPr/>
        </p:nvSpPr>
        <p:spPr>
          <a:xfrm>
            <a:off x="2954023" y="398509"/>
            <a:ext cx="1592629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1892</a:t>
            </a:r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</a:t>
            </a:r>
            <a:endParaRPr lang="en-US" altLang="ko-KR" sz="240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1896</a:t>
            </a:r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</a:t>
            </a:r>
            <a:endParaRPr lang="en-US" altLang="ko-KR" sz="240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1900</a:t>
            </a:r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</a:t>
            </a:r>
            <a:endParaRPr lang="en-US" altLang="ko-KR" sz="240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1981</a:t>
            </a:r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</a:t>
            </a:r>
            <a:endParaRPr lang="en-US" altLang="ko-KR" sz="240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2008</a:t>
            </a:r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</a:t>
            </a:r>
            <a:endParaRPr lang="en-US" altLang="ko-KR" sz="240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2018</a:t>
            </a:r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</a:t>
            </a:r>
            <a:endParaRPr lang="en-US" altLang="ko-KR" sz="240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2024</a:t>
            </a:r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21D0393-0F91-BE7D-CC94-E1A541C86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5299" y="4796967"/>
            <a:ext cx="3223835" cy="19315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CB14E2B-C1D2-4E2F-F86D-AAE414CDF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7192" y="4784431"/>
            <a:ext cx="2993224" cy="19566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28CAA6B-87FF-2A12-92AE-CB63CAE893DF}"/>
              </a:ext>
            </a:extLst>
          </p:cNvPr>
          <p:cNvSpPr txBox="1"/>
          <p:nvPr/>
        </p:nvSpPr>
        <p:spPr>
          <a:xfrm>
            <a:off x="5672059" y="5071374"/>
            <a:ext cx="3003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GE</a:t>
            </a:r>
            <a:r>
              <a:rPr lang="ko-KR" altLang="en-US" sz="2000" dirty="0" err="1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에어로스페이스</a:t>
            </a:r>
            <a:endParaRPr lang="en-US" altLang="ko-KR" sz="200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/>
            <a:r>
              <a:rPr lang="ko-KR" altLang="en-US" sz="20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기존 법인 승계</a:t>
            </a:r>
            <a:endParaRPr lang="en-US" altLang="ko-KR" sz="200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/>
            <a:r>
              <a:rPr lang="en-US" altLang="ko-KR" sz="20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GE </a:t>
            </a:r>
            <a:r>
              <a:rPr lang="ko-KR" altLang="en-US" sz="2000" dirty="0" err="1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버노마</a:t>
            </a:r>
            <a:r>
              <a:rPr lang="ko-KR" altLang="en-US" sz="20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분사</a:t>
            </a:r>
            <a:r>
              <a:rPr lang="en-US" altLang="ko-KR" sz="20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(2024)</a:t>
            </a:r>
          </a:p>
          <a:p>
            <a:pPr algn="ctr"/>
            <a:r>
              <a:rPr lang="en-US" altLang="ko-KR" sz="20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GE</a:t>
            </a:r>
            <a:r>
              <a:rPr lang="ko-KR" altLang="en-US" sz="20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헬스케어 분사</a:t>
            </a:r>
            <a:r>
              <a:rPr lang="en-US" altLang="ko-KR" sz="20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(2023)</a:t>
            </a:r>
            <a:endParaRPr lang="ko-KR" altLang="en-US" sz="105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" name="Picture 2" descr="건국대학교 MBA">
            <a:extLst>
              <a:ext uri="{FF2B5EF4-FFF2-40B4-BE49-F238E27FC236}">
                <a16:creationId xmlns:a16="http://schemas.microsoft.com/office/drawing/2014/main" id="{671BF754-CA55-317D-5BA0-919EF3C8B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861" y="146481"/>
            <a:ext cx="3029625" cy="38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2746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73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47AC9-F2E6-CD09-357C-566DF5338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4476794B-7D57-CABA-0714-BD7FAF866987}"/>
              </a:ext>
            </a:extLst>
          </p:cNvPr>
          <p:cNvSpPr/>
          <p:nvPr/>
        </p:nvSpPr>
        <p:spPr>
          <a:xfrm>
            <a:off x="0" y="0"/>
            <a:ext cx="2604407" cy="6867303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D8FA29-48CE-F783-A7E5-D31463B72475}"/>
              </a:ext>
            </a:extLst>
          </p:cNvPr>
          <p:cNvSpPr txBox="1"/>
          <p:nvPr/>
        </p:nvSpPr>
        <p:spPr>
          <a:xfrm>
            <a:off x="0" y="6048565"/>
            <a:ext cx="269276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[#6 CASE]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리더육성 및 교육훈련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GE’s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Talent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Machine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The Making of a CEO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96ACB86A-5409-C08E-298F-A4DF5AAE7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01" y="1149556"/>
            <a:ext cx="1147328" cy="114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770731-BC8F-9CA7-C7E7-C458515E5877}"/>
              </a:ext>
            </a:extLst>
          </p:cNvPr>
          <p:cNvSpPr txBox="1"/>
          <p:nvPr/>
        </p:nvSpPr>
        <p:spPr>
          <a:xfrm>
            <a:off x="252808" y="2528754"/>
            <a:ext cx="20987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노벨상</a:t>
            </a:r>
            <a:endParaRPr lang="en-US" altLang="ko-KR" sz="28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수상자를</a:t>
            </a:r>
            <a:endParaRPr lang="en-US" altLang="ko-KR" sz="28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배출한 기업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CAAA63-ED4D-2B97-1E3D-5A4E5F80F695}"/>
              </a:ext>
            </a:extLst>
          </p:cNvPr>
          <p:cNvSpPr txBox="1"/>
          <p:nvPr/>
        </p:nvSpPr>
        <p:spPr>
          <a:xfrm>
            <a:off x="95335" y="116938"/>
            <a:ext cx="2381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Harvard Business School </a:t>
            </a:r>
          </a:p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CASE study</a:t>
            </a:r>
            <a:endParaRPr lang="ko-KR" altLang="en-US" sz="12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7AA3BA-7376-31B1-E435-B80C5450F997}"/>
              </a:ext>
            </a:extLst>
          </p:cNvPr>
          <p:cNvSpPr txBox="1"/>
          <p:nvPr/>
        </p:nvSpPr>
        <p:spPr>
          <a:xfrm>
            <a:off x="3356083" y="5517454"/>
            <a:ext cx="3663042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err="1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어빙</a:t>
            </a:r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ko-KR" altLang="en-US" sz="2400" dirty="0" err="1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랭뮤어</a:t>
            </a:r>
            <a:r>
              <a:rPr lang="en-US" altLang="ko-KR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(1881~1957)</a:t>
            </a:r>
            <a:endParaRPr lang="en-US" altLang="ko-KR" sz="240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/>
            <a:r>
              <a:rPr lang="en-US" altLang="ko-KR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1932</a:t>
            </a:r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 노벨 화학상 수상</a:t>
            </a:r>
            <a:endParaRPr lang="en-US" altLang="ko-KR" sz="240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/>
            <a:endParaRPr lang="ko-KR" altLang="en-US" sz="110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9A9BD47-96AB-2556-F083-F8367488AA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003"/>
          <a:stretch>
            <a:fillRect/>
          </a:stretch>
        </p:blipFill>
        <p:spPr>
          <a:xfrm>
            <a:off x="3296708" y="869024"/>
            <a:ext cx="3722417" cy="43027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8FD0349-53BA-A508-7302-0409B83EE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274" y="883681"/>
            <a:ext cx="3749300" cy="43027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8C14FD3-EFF9-D2C5-CC19-6DE85437B0B6}"/>
              </a:ext>
            </a:extLst>
          </p:cNvPr>
          <p:cNvSpPr txBox="1"/>
          <p:nvPr/>
        </p:nvSpPr>
        <p:spPr>
          <a:xfrm>
            <a:off x="7783673" y="5517454"/>
            <a:ext cx="4154502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err="1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이바르</a:t>
            </a:r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ko-KR" altLang="en-US" sz="2400" dirty="0" err="1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예이버</a:t>
            </a:r>
            <a:r>
              <a:rPr lang="en-US" altLang="ko-KR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(1929~2025)</a:t>
            </a:r>
            <a:endParaRPr lang="en-US" altLang="ko-KR" sz="240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/>
            <a:r>
              <a:rPr lang="en-US" altLang="ko-KR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1973</a:t>
            </a:r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 노벨 물리학상 수상</a:t>
            </a:r>
            <a:endParaRPr lang="en-US" altLang="ko-KR" sz="240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/>
            <a:endParaRPr lang="ko-KR" altLang="en-US" sz="110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" name="Picture 2" descr="건국대학교 MBA">
            <a:extLst>
              <a:ext uri="{FF2B5EF4-FFF2-40B4-BE49-F238E27FC236}">
                <a16:creationId xmlns:a16="http://schemas.microsoft.com/office/drawing/2014/main" id="{199239B1-4B9A-7BA8-FDBD-D130EA68F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861" y="146481"/>
            <a:ext cx="3029625" cy="38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7193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73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C838D4-435E-A13D-7192-7267D81FA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84DE828-3E25-9D9E-0EEE-B6B59244DCAE}"/>
              </a:ext>
            </a:extLst>
          </p:cNvPr>
          <p:cNvSpPr/>
          <p:nvPr/>
        </p:nvSpPr>
        <p:spPr>
          <a:xfrm>
            <a:off x="0" y="0"/>
            <a:ext cx="2604407" cy="6867303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392EE9-FDA9-34F7-7E1F-5D582EADF2AA}"/>
              </a:ext>
            </a:extLst>
          </p:cNvPr>
          <p:cNvSpPr txBox="1"/>
          <p:nvPr/>
        </p:nvSpPr>
        <p:spPr>
          <a:xfrm>
            <a:off x="0" y="6048565"/>
            <a:ext cx="269276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[#6 CASE]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리더육성 및 교육훈련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GE’s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Talent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Machine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The Making of a CEO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F5A7A2FC-9188-CE5C-D2F7-5EDF07832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01" y="1149556"/>
            <a:ext cx="1147328" cy="114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589343-634C-B6DA-63AA-E49A169D29C1}"/>
              </a:ext>
            </a:extLst>
          </p:cNvPr>
          <p:cNvSpPr txBox="1"/>
          <p:nvPr/>
        </p:nvSpPr>
        <p:spPr>
          <a:xfrm>
            <a:off x="252808" y="2528754"/>
            <a:ext cx="20987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의</a:t>
            </a:r>
            <a:endParaRPr lang="en-US" altLang="ko-KR" sz="28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HR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시스템의</a:t>
            </a:r>
            <a:endParaRPr lang="en-US" altLang="ko-KR" sz="28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변화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D91C4C-92B8-9E4F-8606-B43921E4C179}"/>
              </a:ext>
            </a:extLst>
          </p:cNvPr>
          <p:cNvSpPr txBox="1"/>
          <p:nvPr/>
        </p:nvSpPr>
        <p:spPr>
          <a:xfrm>
            <a:off x="95335" y="116938"/>
            <a:ext cx="2381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Harvard Business School </a:t>
            </a:r>
          </a:p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CASE study</a:t>
            </a:r>
            <a:endParaRPr lang="ko-KR" altLang="en-US" sz="12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" name="Picture 2" descr="건국대학교 MBA">
            <a:extLst>
              <a:ext uri="{FF2B5EF4-FFF2-40B4-BE49-F238E27FC236}">
                <a16:creationId xmlns:a16="http://schemas.microsoft.com/office/drawing/2014/main" id="{3314639D-BDC4-0135-0AAE-7B77FDF66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861" y="146481"/>
            <a:ext cx="3029625" cy="38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3A4DA9EF-4DD0-914E-C912-6992E428D731}"/>
              </a:ext>
            </a:extLst>
          </p:cNvPr>
          <p:cNvGrpSpPr/>
          <p:nvPr/>
        </p:nvGrpSpPr>
        <p:grpSpPr>
          <a:xfrm>
            <a:off x="2594535" y="1061744"/>
            <a:ext cx="2517505" cy="5247741"/>
            <a:chOff x="2594535" y="1080516"/>
            <a:chExt cx="2517505" cy="524774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9B9CB45A-AB38-51E1-96F5-FF6D41DC2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4859" r="20091"/>
            <a:stretch>
              <a:fillRect/>
            </a:stretch>
          </p:blipFill>
          <p:spPr>
            <a:xfrm>
              <a:off x="2898879" y="1958636"/>
              <a:ext cx="1908816" cy="164412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A7EB7C7-12C7-686E-6058-C5BF41418105}"/>
                </a:ext>
              </a:extLst>
            </p:cNvPr>
            <p:cNvSpPr txBox="1"/>
            <p:nvPr/>
          </p:nvSpPr>
          <p:spPr>
            <a:xfrm>
              <a:off x="2794366" y="1080516"/>
              <a:ext cx="211784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1950~60</a:t>
              </a:r>
              <a:r>
                <a:rPr lang="ko-KR" altLang="en-US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대</a:t>
              </a:r>
              <a:endPara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algn="ctr"/>
              <a:r>
                <a:rPr lang="ko-KR" altLang="en-US" dirty="0" err="1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랄프</a:t>
              </a:r>
              <a:r>
                <a:rPr lang="ko-KR" altLang="en-US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en-US" altLang="ko-KR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J </a:t>
              </a:r>
              <a:r>
                <a:rPr lang="ko-KR" altLang="en-US" dirty="0" err="1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코디너</a:t>
              </a:r>
              <a:endPara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1EA86D3-58EA-8853-081F-AFD4C15A08A0}"/>
                </a:ext>
              </a:extLst>
            </p:cNvPr>
            <p:cNvSpPr txBox="1"/>
            <p:nvPr/>
          </p:nvSpPr>
          <p:spPr>
            <a:xfrm>
              <a:off x="2754579" y="3762353"/>
              <a:ext cx="219741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 err="1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크래톤빌</a:t>
              </a:r>
              <a:r>
                <a:rPr lang="ko-KR" altLang="en-US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설립</a:t>
              </a:r>
              <a:endPara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dirty="0"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최초의 기업대학교</a:t>
              </a:r>
              <a:r>
                <a:rPr lang="en-US" altLang="ko-KR" dirty="0"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endParaRPr lang="ko-KR" altLang="en-US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F1D5B7A-2639-ED28-E7A3-80097E04DF53}"/>
                </a:ext>
              </a:extLst>
            </p:cNvPr>
            <p:cNvSpPr txBox="1"/>
            <p:nvPr/>
          </p:nvSpPr>
          <p:spPr>
            <a:xfrm>
              <a:off x="2709483" y="4597899"/>
              <a:ext cx="228760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세션 </a:t>
              </a:r>
              <a:r>
                <a:rPr lang="en-US" altLang="ko-KR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C</a:t>
              </a:r>
              <a:r>
                <a:rPr lang="ko-KR" altLang="en-US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endPara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dirty="0"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인사평가 프로세스</a:t>
              </a:r>
              <a:r>
                <a:rPr lang="en-US" altLang="ko-KR" dirty="0"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</a:p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핵심인재 프로그램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1B132FC-6AAA-CA2E-7950-ECEE2A7C0323}"/>
                </a:ext>
              </a:extLst>
            </p:cNvPr>
            <p:cNvSpPr txBox="1"/>
            <p:nvPr/>
          </p:nvSpPr>
          <p:spPr>
            <a:xfrm>
              <a:off x="2594535" y="5866592"/>
              <a:ext cx="25175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29</a:t>
              </a:r>
              <a:r>
                <a:rPr lang="ko-KR" altLang="en-US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단계 직급체계 </a:t>
              </a:r>
              <a:endPara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DFEE585-198F-918F-731F-F47BF7764DBA}"/>
              </a:ext>
            </a:extLst>
          </p:cNvPr>
          <p:cNvGrpSpPr/>
          <p:nvPr/>
        </p:nvGrpSpPr>
        <p:grpSpPr>
          <a:xfrm>
            <a:off x="5188142" y="1061744"/>
            <a:ext cx="2117844" cy="5364111"/>
            <a:chOff x="4907766" y="1061744"/>
            <a:chExt cx="2117844" cy="536411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542A4F-C10E-27EC-AACD-0B5B684F335E}"/>
                </a:ext>
              </a:extLst>
            </p:cNvPr>
            <p:cNvSpPr txBox="1"/>
            <p:nvPr/>
          </p:nvSpPr>
          <p:spPr>
            <a:xfrm>
              <a:off x="4907767" y="1061744"/>
              <a:ext cx="211784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1963~72</a:t>
              </a:r>
              <a:r>
                <a:rPr lang="ko-KR" altLang="en-US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년</a:t>
              </a:r>
              <a:endPara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algn="ctr"/>
              <a:r>
                <a:rPr lang="ko-KR" altLang="en-US" dirty="0" err="1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프레드</a:t>
              </a:r>
              <a:r>
                <a:rPr lang="ko-KR" altLang="en-US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dirty="0" err="1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보취</a:t>
              </a:r>
              <a:endPara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A80750D-C752-F152-8D61-666EDFC942F8}"/>
                </a:ext>
              </a:extLst>
            </p:cNvPr>
            <p:cNvSpPr txBox="1"/>
            <p:nvPr/>
          </p:nvSpPr>
          <p:spPr>
            <a:xfrm>
              <a:off x="5076797" y="3726383"/>
              <a:ext cx="177978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EMS</a:t>
              </a:r>
              <a:r>
                <a:rPr lang="ko-KR" altLang="en-US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설립</a:t>
              </a:r>
              <a:endPara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dirty="0"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임원 인재관리</a:t>
              </a:r>
              <a:r>
                <a:rPr lang="en-US" altLang="ko-KR" dirty="0"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endParaRPr lang="ko-KR" altLang="en-US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8DF6E08-0769-8D34-4D40-20AB55FF44B4}"/>
                </a:ext>
              </a:extLst>
            </p:cNvPr>
            <p:cNvSpPr txBox="1"/>
            <p:nvPr/>
          </p:nvSpPr>
          <p:spPr>
            <a:xfrm>
              <a:off x="4907766" y="5594858"/>
              <a:ext cx="211784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HR</a:t>
              </a:r>
            </a:p>
            <a:p>
              <a:pPr algn="ctr"/>
              <a:r>
                <a:rPr lang="ko-KR" altLang="en-US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→ 경영파트너</a:t>
              </a:r>
              <a:endParaRPr lang="ko-KR" altLang="en-US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9A0CB77-9D70-404A-2D69-E81BA5C5F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6654" t="322" r="6925" b="8502"/>
            <a:stretch>
              <a:fillRect/>
            </a:stretch>
          </p:blipFill>
          <p:spPr>
            <a:xfrm>
              <a:off x="5102695" y="1954672"/>
              <a:ext cx="1727986" cy="163833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B8B0F27-1350-EF62-5CFF-EDEE12362A09}"/>
                </a:ext>
              </a:extLst>
            </p:cNvPr>
            <p:cNvSpPr txBox="1"/>
            <p:nvPr/>
          </p:nvSpPr>
          <p:spPr>
            <a:xfrm>
              <a:off x="5076797" y="4656001"/>
              <a:ext cx="177978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 err="1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고잠재</a:t>
              </a:r>
              <a:r>
                <a:rPr lang="ko-KR" altLang="en-US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인재</a:t>
              </a:r>
              <a:endPara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algn="ctr"/>
              <a:r>
                <a:rPr lang="ko-KR" altLang="en-US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중앙관리</a:t>
              </a:r>
              <a:endParaRPr lang="ko-KR" altLang="en-US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88F8841D-38F5-2E53-D343-19123801DDC5}"/>
              </a:ext>
            </a:extLst>
          </p:cNvPr>
          <p:cNvGrpSpPr/>
          <p:nvPr/>
        </p:nvGrpSpPr>
        <p:grpSpPr>
          <a:xfrm>
            <a:off x="7382088" y="1061744"/>
            <a:ext cx="2117844" cy="5400081"/>
            <a:chOff x="6950683" y="1061744"/>
            <a:chExt cx="2117844" cy="540008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2332A71-44F9-DFC3-9D17-EB09DDCDDD1F}"/>
                </a:ext>
              </a:extLst>
            </p:cNvPr>
            <p:cNvSpPr txBox="1"/>
            <p:nvPr/>
          </p:nvSpPr>
          <p:spPr>
            <a:xfrm>
              <a:off x="6950683" y="3762353"/>
              <a:ext cx="211784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전략사업단위</a:t>
              </a:r>
              <a:endPara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(SBU)</a:t>
              </a:r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B2AA3A27-A3B3-1E17-61A4-73C94B887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7038"/>
            <a:stretch>
              <a:fillRect/>
            </a:stretch>
          </p:blipFill>
          <p:spPr>
            <a:xfrm>
              <a:off x="7228446" y="1954671"/>
              <a:ext cx="1562318" cy="1638338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05F8F0D-FEB8-30CF-C08A-35C104C3322A}"/>
                </a:ext>
              </a:extLst>
            </p:cNvPr>
            <p:cNvSpPr txBox="1"/>
            <p:nvPr/>
          </p:nvSpPr>
          <p:spPr>
            <a:xfrm>
              <a:off x="6950684" y="1061744"/>
              <a:ext cx="211784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1972~81</a:t>
              </a:r>
              <a:r>
                <a:rPr lang="ko-KR" altLang="en-US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년</a:t>
              </a:r>
              <a:endPara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algn="ctr"/>
              <a:r>
                <a:rPr lang="ko-KR" altLang="en-US" dirty="0" err="1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레지날드</a:t>
              </a:r>
              <a:r>
                <a:rPr lang="ko-KR" altLang="en-US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존스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3F02FDE-606B-EF69-1C13-9CB2E956AA00}"/>
                </a:ext>
              </a:extLst>
            </p:cNvPr>
            <p:cNvSpPr txBox="1"/>
            <p:nvPr/>
          </p:nvSpPr>
          <p:spPr>
            <a:xfrm>
              <a:off x="6950683" y="4670361"/>
              <a:ext cx="211784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섹터 조직 신설 </a:t>
              </a:r>
              <a:r>
                <a:rPr lang="en-US" altLang="ko-KR" dirty="0"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(CEO</a:t>
              </a:r>
              <a:r>
                <a:rPr lang="ko-KR" altLang="en-US" dirty="0"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후보육성</a:t>
              </a:r>
              <a:r>
                <a:rPr lang="en-US" altLang="ko-KR" dirty="0"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80CBC70-D556-D6AD-3E97-0E4D41C0AB44}"/>
                </a:ext>
              </a:extLst>
            </p:cNvPr>
            <p:cNvSpPr txBox="1"/>
            <p:nvPr/>
          </p:nvSpPr>
          <p:spPr>
            <a:xfrm>
              <a:off x="6950683" y="5630828"/>
              <a:ext cx="211784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엄격한 승계</a:t>
              </a:r>
              <a:endPara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algn="ctr"/>
              <a:r>
                <a:rPr lang="ko-KR" altLang="en-US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계획 수립</a:t>
              </a:r>
              <a:endParaRPr lang="en-US" altLang="ko-KR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F39EFC8-41A4-1360-1794-C4CF806F9085}"/>
              </a:ext>
            </a:extLst>
          </p:cNvPr>
          <p:cNvGrpSpPr/>
          <p:nvPr/>
        </p:nvGrpSpPr>
        <p:grpSpPr>
          <a:xfrm>
            <a:off x="9576034" y="1061744"/>
            <a:ext cx="2344578" cy="5428472"/>
            <a:chOff x="9459923" y="1040984"/>
            <a:chExt cx="2344578" cy="5428472"/>
          </a:xfrm>
        </p:grpSpPr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62C1C5BD-A869-985B-6C1D-9684170F7C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92402" y="1946241"/>
              <a:ext cx="1562318" cy="1646768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DF2B62A-3231-9B9E-238A-AC51B05422CA}"/>
                </a:ext>
              </a:extLst>
            </p:cNvPr>
            <p:cNvSpPr txBox="1"/>
            <p:nvPr/>
          </p:nvSpPr>
          <p:spPr>
            <a:xfrm>
              <a:off x="9459923" y="1040984"/>
              <a:ext cx="234457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1981~2001</a:t>
              </a:r>
              <a:r>
                <a:rPr lang="ko-KR" altLang="en-US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년</a:t>
              </a:r>
              <a:endPara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잭 </a:t>
              </a:r>
              <a:r>
                <a:rPr lang="ko-KR" altLang="en-US" dirty="0" err="1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웰치</a:t>
              </a:r>
              <a:endPara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E9626E0-57DC-347A-16F7-3C182C00D1DF}"/>
                </a:ext>
              </a:extLst>
            </p:cNvPr>
            <p:cNvSpPr txBox="1"/>
            <p:nvPr/>
          </p:nvSpPr>
          <p:spPr>
            <a:xfrm>
              <a:off x="9614639" y="3825098"/>
              <a:ext cx="21178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활력곡선 도입</a:t>
              </a:r>
              <a:endParaRPr lang="en-US" altLang="ko-KR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F63E361-E9FF-E608-3CCC-256303F13525}"/>
                </a:ext>
              </a:extLst>
            </p:cNvPr>
            <p:cNvSpPr txBox="1"/>
            <p:nvPr/>
          </p:nvSpPr>
          <p:spPr>
            <a:xfrm>
              <a:off x="9614639" y="5638459"/>
              <a:ext cx="211784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 err="1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크래톤빌</a:t>
              </a:r>
              <a:endPara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algn="ctr"/>
              <a:r>
                <a:rPr lang="ko-KR" altLang="en-US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문화혁신도구화</a:t>
              </a:r>
              <a:endPara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00F09AB-084E-508D-6E37-513E513DF8E2}"/>
                </a:ext>
              </a:extLst>
            </p:cNvPr>
            <p:cNvSpPr txBox="1"/>
            <p:nvPr/>
          </p:nvSpPr>
          <p:spPr>
            <a:xfrm>
              <a:off x="9614639" y="4797666"/>
              <a:ext cx="21178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워크아웃</a:t>
              </a:r>
              <a:endParaRPr lang="en-US" altLang="ko-KR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5865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73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9E6F01-B089-12BE-345A-67AEB9AC3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95A5BBF-D321-B6CE-6831-69F68D25105E}"/>
              </a:ext>
            </a:extLst>
          </p:cNvPr>
          <p:cNvSpPr/>
          <p:nvPr/>
        </p:nvSpPr>
        <p:spPr>
          <a:xfrm>
            <a:off x="0" y="0"/>
            <a:ext cx="2604407" cy="6867303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69F10E-AF27-8055-7364-CB209BC752BD}"/>
              </a:ext>
            </a:extLst>
          </p:cNvPr>
          <p:cNvSpPr txBox="1"/>
          <p:nvPr/>
        </p:nvSpPr>
        <p:spPr>
          <a:xfrm>
            <a:off x="0" y="6048565"/>
            <a:ext cx="269276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[#6 CASE]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리더육성 및 교육훈련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GE’s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Talent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Machine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The Making of a CEO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D8D425A6-5EFC-F361-B171-B3AB4FF0B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01" y="1149556"/>
            <a:ext cx="1147328" cy="114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4904AC-1061-41CA-42EB-DCC500DE6FAA}"/>
              </a:ext>
            </a:extLst>
          </p:cNvPr>
          <p:cNvSpPr txBox="1"/>
          <p:nvPr/>
        </p:nvSpPr>
        <p:spPr>
          <a:xfrm>
            <a:off x="252808" y="2528754"/>
            <a:ext cx="20987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의</a:t>
            </a:r>
            <a:endParaRPr lang="en-US" altLang="ko-KR" sz="28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HR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시스템의</a:t>
            </a:r>
            <a:endParaRPr lang="en-US" altLang="ko-KR" sz="28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기능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89EE8A-DE24-50C7-7505-578985AF1EFC}"/>
              </a:ext>
            </a:extLst>
          </p:cNvPr>
          <p:cNvSpPr txBox="1"/>
          <p:nvPr/>
        </p:nvSpPr>
        <p:spPr>
          <a:xfrm>
            <a:off x="95335" y="116938"/>
            <a:ext cx="2381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Harvard Business School </a:t>
            </a:r>
          </a:p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CASE study</a:t>
            </a:r>
            <a:endParaRPr lang="ko-KR" altLang="en-US" sz="12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" name="Picture 2" descr="건국대학교 MBA">
            <a:extLst>
              <a:ext uri="{FF2B5EF4-FFF2-40B4-BE49-F238E27FC236}">
                <a16:creationId xmlns:a16="http://schemas.microsoft.com/office/drawing/2014/main" id="{60E93409-B47D-E758-6ED2-C1562F097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861" y="146481"/>
            <a:ext cx="3029625" cy="38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31A9AB8-F8C5-DD06-EE84-D08D332451CD}"/>
              </a:ext>
            </a:extLst>
          </p:cNvPr>
          <p:cNvSpPr txBox="1"/>
          <p:nvPr/>
        </p:nvSpPr>
        <p:spPr>
          <a:xfrm>
            <a:off x="3296708" y="2251755"/>
            <a:ext cx="82897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HR</a:t>
            </a:r>
            <a:r>
              <a:rPr lang="ko-KR" altLang="en-US" sz="40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시스템이</a:t>
            </a:r>
            <a:endParaRPr lang="en-US" altLang="ko-KR" sz="40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4000" dirty="0">
                <a:solidFill>
                  <a:schemeClr val="tx2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단순한 인사 기능</a:t>
            </a:r>
            <a:r>
              <a:rPr lang="ko-KR" altLang="en-US" sz="40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이 아니라</a:t>
            </a:r>
            <a:r>
              <a:rPr lang="en-US" altLang="ko-KR" sz="40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,</a:t>
            </a:r>
          </a:p>
          <a:p>
            <a:pPr algn="ctr"/>
            <a:r>
              <a:rPr lang="ko-KR" altLang="en-US" sz="40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ko-KR" altLang="en-US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경영 운영 시스템의 핵심 축</a:t>
            </a:r>
            <a:r>
              <a:rPr lang="ko-KR" altLang="en-US" sz="40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으로 기능</a:t>
            </a:r>
            <a:endParaRPr lang="en-US" altLang="ko-KR" sz="40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8754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73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FFFB4B-4106-81A9-6655-512EFE1C8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F529DD6-C828-4B9E-FDE7-D7AE1E5002FB}"/>
              </a:ext>
            </a:extLst>
          </p:cNvPr>
          <p:cNvSpPr/>
          <p:nvPr/>
        </p:nvSpPr>
        <p:spPr>
          <a:xfrm>
            <a:off x="0" y="0"/>
            <a:ext cx="2604407" cy="6867303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4AAA0B-9906-BCAF-7991-7E7D1B675C4B}"/>
              </a:ext>
            </a:extLst>
          </p:cNvPr>
          <p:cNvSpPr txBox="1"/>
          <p:nvPr/>
        </p:nvSpPr>
        <p:spPr>
          <a:xfrm>
            <a:off x="0" y="6048565"/>
            <a:ext cx="269276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[#6 CASE]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리더육성 및 교육훈련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GE’s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Talent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Machine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The Making of a CEO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1539CD85-E3A7-70DE-B255-F45BC231D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01" y="1149556"/>
            <a:ext cx="1147328" cy="114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7E2B3B-CA31-1171-EB8C-DB224C496A02}"/>
              </a:ext>
            </a:extLst>
          </p:cNvPr>
          <p:cNvSpPr txBox="1"/>
          <p:nvPr/>
        </p:nvSpPr>
        <p:spPr>
          <a:xfrm>
            <a:off x="252808" y="2528754"/>
            <a:ext cx="20987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의</a:t>
            </a:r>
            <a:endParaRPr lang="en-US" altLang="ko-KR" sz="28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3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대 핵심</a:t>
            </a:r>
            <a:endParaRPr lang="en-US" altLang="ko-KR" sz="28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HR 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도구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E4F45F-5415-EA46-827F-560C6B67392E}"/>
              </a:ext>
            </a:extLst>
          </p:cNvPr>
          <p:cNvSpPr txBox="1"/>
          <p:nvPr/>
        </p:nvSpPr>
        <p:spPr>
          <a:xfrm>
            <a:off x="95335" y="116938"/>
            <a:ext cx="2381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Harvard Business School </a:t>
            </a:r>
          </a:p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CASE study</a:t>
            </a:r>
            <a:endParaRPr lang="ko-KR" altLang="en-US" sz="12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" name="Picture 2" descr="건국대학교 MBA">
            <a:extLst>
              <a:ext uri="{FF2B5EF4-FFF2-40B4-BE49-F238E27FC236}">
                <a16:creationId xmlns:a16="http://schemas.microsoft.com/office/drawing/2014/main" id="{75C4D5B1-0693-7CB3-360D-D65778FB1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861" y="146481"/>
            <a:ext cx="3029625" cy="38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eader-image">
            <a:extLst>
              <a:ext uri="{FF2B5EF4-FFF2-40B4-BE49-F238E27FC236}">
                <a16:creationId xmlns:a16="http://schemas.microsoft.com/office/drawing/2014/main" id="{CDAFF389-6A4B-8E66-97A7-14EB677391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144" b="26184"/>
          <a:stretch>
            <a:fillRect/>
          </a:stretch>
        </p:blipFill>
        <p:spPr bwMode="auto">
          <a:xfrm>
            <a:off x="6165511" y="2114771"/>
            <a:ext cx="2805410" cy="16495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90DEC3-F7EE-3949-0C2E-FACB1E7DA876}"/>
              </a:ext>
            </a:extLst>
          </p:cNvPr>
          <p:cNvSpPr txBox="1"/>
          <p:nvPr/>
        </p:nvSpPr>
        <p:spPr>
          <a:xfrm>
            <a:off x="2846765" y="1149556"/>
            <a:ext cx="30895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Session 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D7E3B0-E596-2849-0D4B-CE4CE6575C2E}"/>
              </a:ext>
            </a:extLst>
          </p:cNvPr>
          <p:cNvSpPr txBox="1"/>
          <p:nvPr/>
        </p:nvSpPr>
        <p:spPr>
          <a:xfrm>
            <a:off x="6023427" y="1149556"/>
            <a:ext cx="30895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 err="1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크래톤빌</a:t>
            </a:r>
            <a:endParaRPr lang="en-US" altLang="ko-KR" sz="4000" dirty="0">
              <a:solidFill>
                <a:srgbClr val="FFC000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3CB2BB-4753-C79B-8C37-E2CC79D3F16C}"/>
              </a:ext>
            </a:extLst>
          </p:cNvPr>
          <p:cNvSpPr txBox="1"/>
          <p:nvPr/>
        </p:nvSpPr>
        <p:spPr>
          <a:xfrm>
            <a:off x="9102422" y="1149556"/>
            <a:ext cx="30895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활력곡선</a:t>
            </a:r>
            <a:endParaRPr lang="en-US" altLang="ko-KR" sz="4000" dirty="0">
              <a:solidFill>
                <a:srgbClr val="FFC000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19C676-5F06-EB8D-3685-A03313C115D9}"/>
              </a:ext>
            </a:extLst>
          </p:cNvPr>
          <p:cNvSpPr txBox="1"/>
          <p:nvPr/>
        </p:nvSpPr>
        <p:spPr>
          <a:xfrm>
            <a:off x="2725585" y="2067089"/>
            <a:ext cx="3331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자기평가 → 면대면 토론</a:t>
            </a:r>
            <a:endParaRPr lang="ko-KR" altLang="en-US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6A73F9-41A9-447A-E5C6-C8072D0048AD}"/>
              </a:ext>
            </a:extLst>
          </p:cNvPr>
          <p:cNvSpPr txBox="1"/>
          <p:nvPr/>
        </p:nvSpPr>
        <p:spPr>
          <a:xfrm>
            <a:off x="2692764" y="2939570"/>
            <a:ext cx="3331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개인경력개발 전망 작성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E86E6E-F824-44EC-F43F-F49F409E43A2}"/>
              </a:ext>
            </a:extLst>
          </p:cNvPr>
          <p:cNvSpPr txBox="1"/>
          <p:nvPr/>
        </p:nvSpPr>
        <p:spPr>
          <a:xfrm>
            <a:off x="2725585" y="3812051"/>
            <a:ext cx="33319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인재진단 매트릭스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(9-Block</a:t>
            </a:r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매트릭스</a:t>
            </a:r>
            <a:r>
              <a:rPr lang="en-US" altLang="ko-KR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)</a:t>
            </a:r>
            <a:endParaRPr lang="ko-KR" altLang="en-US" sz="1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BB93F75-80B3-52E7-E890-30FCAF3E1A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5585" y="4684532"/>
            <a:ext cx="3146999" cy="17780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186EEE9-5505-ACBB-89AF-385C8F01EA09}"/>
              </a:ext>
            </a:extLst>
          </p:cNvPr>
          <p:cNvCxnSpPr/>
          <p:nvPr/>
        </p:nvCxnSpPr>
        <p:spPr>
          <a:xfrm>
            <a:off x="6082758" y="827314"/>
            <a:ext cx="0" cy="591374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639DE27-3BB9-497B-E69D-B4D953BCEFAE}"/>
              </a:ext>
            </a:extLst>
          </p:cNvPr>
          <p:cNvCxnSpPr/>
          <p:nvPr/>
        </p:nvCxnSpPr>
        <p:spPr>
          <a:xfrm>
            <a:off x="9139980" y="827314"/>
            <a:ext cx="0" cy="591374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284918E-66D2-6B91-04EE-475B240556E9}"/>
              </a:ext>
            </a:extLst>
          </p:cNvPr>
          <p:cNvSpPr txBox="1"/>
          <p:nvPr/>
        </p:nvSpPr>
        <p:spPr>
          <a:xfrm>
            <a:off x="6106186" y="4175185"/>
            <a:ext cx="2864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 err="1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웰치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격주 방문 강의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60105C-13E0-21A0-C17C-74A8AF80E8C9}"/>
              </a:ext>
            </a:extLst>
          </p:cNvPr>
          <p:cNvSpPr txBox="1"/>
          <p:nvPr/>
        </p:nvSpPr>
        <p:spPr>
          <a:xfrm>
            <a:off x="6082758" y="5047666"/>
            <a:ext cx="28647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문화 변혁의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공동의 커피포트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975165-ACAF-5E79-3F9D-8B4F2C89FB38}"/>
              </a:ext>
            </a:extLst>
          </p:cNvPr>
          <p:cNvSpPr txBox="1"/>
          <p:nvPr/>
        </p:nvSpPr>
        <p:spPr>
          <a:xfrm>
            <a:off x="9736968" y="3191256"/>
            <a:ext cx="18580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2">
                    <a:lumMod val="90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중위 </a:t>
            </a:r>
            <a:r>
              <a:rPr lang="en-US" altLang="ko-KR" dirty="0">
                <a:solidFill>
                  <a:schemeClr val="bg2">
                    <a:lumMod val="90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70%</a:t>
            </a:r>
          </a:p>
          <a:p>
            <a:pPr algn="ctr"/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핵심 허리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C0026A-2A54-A472-1635-EA5B1157AA92}"/>
              </a:ext>
            </a:extLst>
          </p:cNvPr>
          <p:cNvSpPr txBox="1"/>
          <p:nvPr/>
        </p:nvSpPr>
        <p:spPr>
          <a:xfrm>
            <a:off x="9570885" y="2350338"/>
            <a:ext cx="21902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2">
                    <a:lumMod val="90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상위 </a:t>
            </a:r>
            <a:r>
              <a:rPr lang="en-US" altLang="ko-KR" dirty="0">
                <a:solidFill>
                  <a:schemeClr val="bg2">
                    <a:lumMod val="90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20%</a:t>
            </a:r>
          </a:p>
          <a:p>
            <a:pPr algn="ctr"/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집중 보상</a:t>
            </a: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/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육성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AE7064-1FD8-4BCC-418C-E60AB1FC501E}"/>
              </a:ext>
            </a:extLst>
          </p:cNvPr>
          <p:cNvSpPr txBox="1"/>
          <p:nvPr/>
        </p:nvSpPr>
        <p:spPr>
          <a:xfrm>
            <a:off x="9535874" y="4032213"/>
            <a:ext cx="219021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2">
                    <a:lumMod val="90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하위 </a:t>
            </a:r>
            <a:r>
              <a:rPr lang="en-US" altLang="ko-KR" dirty="0">
                <a:solidFill>
                  <a:schemeClr val="bg2">
                    <a:lumMod val="90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10%</a:t>
            </a:r>
          </a:p>
          <a:p>
            <a:pPr algn="ctr"/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개선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또는</a:t>
            </a:r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권고사직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9BD0FC-5069-72D6-3285-584856301963}"/>
              </a:ext>
            </a:extLst>
          </p:cNvPr>
          <p:cNvSpPr txBox="1"/>
          <p:nvPr/>
        </p:nvSpPr>
        <p:spPr>
          <a:xfrm>
            <a:off x="9466415" y="5708444"/>
            <a:ext cx="24924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성과</a:t>
            </a: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+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가치관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동시 평가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6931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73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8F8768-CBA8-0AE5-1F0C-D3BED4242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BAEC38-D706-4232-4DDD-E35C31BB07EA}"/>
              </a:ext>
            </a:extLst>
          </p:cNvPr>
          <p:cNvSpPr/>
          <p:nvPr/>
        </p:nvSpPr>
        <p:spPr>
          <a:xfrm>
            <a:off x="0" y="0"/>
            <a:ext cx="2604407" cy="6867303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AC0172-F82F-8416-4CE8-E560E45E58C6}"/>
              </a:ext>
            </a:extLst>
          </p:cNvPr>
          <p:cNvSpPr txBox="1"/>
          <p:nvPr/>
        </p:nvSpPr>
        <p:spPr>
          <a:xfrm>
            <a:off x="0" y="6048565"/>
            <a:ext cx="269276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[#6 CASE]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리더육성 및 교육훈련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GE’s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Talent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Machine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The Making of a CEO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7A2E6E3B-4AB8-33BF-ED58-82BBD30AF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01" y="1149556"/>
            <a:ext cx="1147328" cy="114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7816DE-AC41-CA3C-F280-3EC9E9D287B5}"/>
              </a:ext>
            </a:extLst>
          </p:cNvPr>
          <p:cNvSpPr txBox="1"/>
          <p:nvPr/>
        </p:nvSpPr>
        <p:spPr>
          <a:xfrm>
            <a:off x="252808" y="2528754"/>
            <a:ext cx="209878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CEO</a:t>
            </a:r>
          </a:p>
          <a:p>
            <a:pPr algn="ctr"/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육성사례</a:t>
            </a:r>
            <a:endParaRPr lang="en-US" altLang="ko-KR" sz="28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endParaRPr lang="en-US" altLang="ko-KR" sz="28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제프 </a:t>
            </a:r>
            <a:r>
              <a:rPr lang="ko-KR" alt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이멜트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44BC24-C98A-F786-4F1C-93ADF6D6061E}"/>
              </a:ext>
            </a:extLst>
          </p:cNvPr>
          <p:cNvSpPr txBox="1"/>
          <p:nvPr/>
        </p:nvSpPr>
        <p:spPr>
          <a:xfrm>
            <a:off x="95335" y="116938"/>
            <a:ext cx="2381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Harvard Business School </a:t>
            </a:r>
          </a:p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CASE study</a:t>
            </a:r>
            <a:endParaRPr lang="ko-KR" altLang="en-US" sz="12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" name="Picture 2" descr="건국대학교 MBA">
            <a:extLst>
              <a:ext uri="{FF2B5EF4-FFF2-40B4-BE49-F238E27FC236}">
                <a16:creationId xmlns:a16="http://schemas.microsoft.com/office/drawing/2014/main" id="{15D24361-1F53-F53D-5EFD-CA3B98E71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861" y="146481"/>
            <a:ext cx="3029625" cy="38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F5B2887-C949-C888-306E-B35E6D239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2046" y="2959099"/>
            <a:ext cx="4782845" cy="37524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50A9AF-FFEE-11A9-C39C-3E036BD7E432}"/>
              </a:ext>
            </a:extLst>
          </p:cNvPr>
          <p:cNvSpPr txBox="1"/>
          <p:nvPr/>
        </p:nvSpPr>
        <p:spPr>
          <a:xfrm>
            <a:off x="3801918" y="1149556"/>
            <a:ext cx="3809636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 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입사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 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플라스틱 영업매니저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 err="1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크래프톤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EDC 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수료</a:t>
            </a: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(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최연소</a:t>
            </a: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냉장고 리콜 위기 총괄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GM  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가격분쟁 위기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 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메디컬 시스템 매출 </a:t>
            </a: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2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배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 22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대 회장 취임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9BE93-DA76-4B48-BBD1-6140066E470F}"/>
              </a:ext>
            </a:extLst>
          </p:cNvPr>
          <p:cNvSpPr txBox="1"/>
          <p:nvPr/>
        </p:nvSpPr>
        <p:spPr>
          <a:xfrm>
            <a:off x="2857215" y="1162649"/>
            <a:ext cx="1592629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’82</a:t>
            </a:r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</a:t>
            </a:r>
            <a:endParaRPr lang="en-US" altLang="ko-KR" sz="2400" dirty="0">
              <a:solidFill>
                <a:schemeClr val="bg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’84</a:t>
            </a:r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’87</a:t>
            </a:r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’89</a:t>
            </a:r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’92</a:t>
            </a:r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’97</a:t>
            </a:r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’01</a:t>
            </a:r>
            <a:r>
              <a:rPr lang="ko-KR" altLang="en-US" sz="2400" dirty="0">
                <a:solidFill>
                  <a:schemeClr val="bg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C8D2E3-4FF2-0777-FE96-1AD5BBC2FAB9}"/>
              </a:ext>
            </a:extLst>
          </p:cNvPr>
          <p:cNvSpPr txBox="1"/>
          <p:nvPr/>
        </p:nvSpPr>
        <p:spPr>
          <a:xfrm>
            <a:off x="3341165" y="5099893"/>
            <a:ext cx="3505926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실패해도 </a:t>
            </a:r>
            <a:r>
              <a:rPr lang="en-US" altLang="ko-KR" sz="24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OK,</a:t>
            </a: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하지만 </a:t>
            </a:r>
            <a:r>
              <a:rPr lang="ko-KR" altLang="en-US" sz="2400" dirty="0" err="1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두번</a:t>
            </a:r>
            <a:r>
              <a:rPr lang="ko-KR" altLang="en-US" sz="24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반복은 없다</a:t>
            </a:r>
          </a:p>
        </p:txBody>
      </p:sp>
    </p:spTree>
    <p:extLst>
      <p:ext uri="{BB962C8B-B14F-4D97-AF65-F5344CB8AC3E}">
        <p14:creationId xmlns:p14="http://schemas.microsoft.com/office/powerpoint/2010/main" val="2017120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73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EFA948-B148-81D2-5F2E-0B49F1556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B72F6E0-F0F6-A0C9-B6EC-A1448977E31B}"/>
              </a:ext>
            </a:extLst>
          </p:cNvPr>
          <p:cNvSpPr/>
          <p:nvPr/>
        </p:nvSpPr>
        <p:spPr>
          <a:xfrm>
            <a:off x="7577323" y="3784554"/>
            <a:ext cx="4245882" cy="236205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B1D870E-94F4-00F7-3CCA-43E37A1C9CC4}"/>
              </a:ext>
            </a:extLst>
          </p:cNvPr>
          <p:cNvSpPr/>
          <p:nvPr/>
        </p:nvSpPr>
        <p:spPr>
          <a:xfrm>
            <a:off x="7577323" y="993781"/>
            <a:ext cx="4245882" cy="236205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890B3CF-4AA4-C554-B7FC-E63E0CE8809A}"/>
              </a:ext>
            </a:extLst>
          </p:cNvPr>
          <p:cNvSpPr/>
          <p:nvPr/>
        </p:nvSpPr>
        <p:spPr>
          <a:xfrm>
            <a:off x="3093143" y="3784555"/>
            <a:ext cx="4245882" cy="236205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28069E2-BEDE-44DE-FD39-9EA6E11096BB}"/>
              </a:ext>
            </a:extLst>
          </p:cNvPr>
          <p:cNvSpPr/>
          <p:nvPr/>
        </p:nvSpPr>
        <p:spPr>
          <a:xfrm>
            <a:off x="3066898" y="993782"/>
            <a:ext cx="4245882" cy="236205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00D0DA-D4F4-EEC4-C786-675180E0DE9F}"/>
              </a:ext>
            </a:extLst>
          </p:cNvPr>
          <p:cNvSpPr/>
          <p:nvPr/>
        </p:nvSpPr>
        <p:spPr>
          <a:xfrm>
            <a:off x="0" y="0"/>
            <a:ext cx="2604407" cy="6867303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0594CF-BB35-C1CC-6677-17D86613E7A5}"/>
              </a:ext>
            </a:extLst>
          </p:cNvPr>
          <p:cNvSpPr txBox="1"/>
          <p:nvPr/>
        </p:nvSpPr>
        <p:spPr>
          <a:xfrm>
            <a:off x="0" y="6048565"/>
            <a:ext cx="269276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[#6 CASE]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리더육성 및 교육훈련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GE’s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Talent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Machine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The Making of a CEO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4D20645C-A8AF-397F-8D60-378DB4D2B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01" y="1149556"/>
            <a:ext cx="1147328" cy="114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9A968C-24B4-FD97-692D-9704D78E3E21}"/>
              </a:ext>
            </a:extLst>
          </p:cNvPr>
          <p:cNvSpPr txBox="1"/>
          <p:nvPr/>
        </p:nvSpPr>
        <p:spPr>
          <a:xfrm>
            <a:off x="252808" y="2528754"/>
            <a:ext cx="20987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인재육성의</a:t>
            </a:r>
            <a:endParaRPr lang="en-US" altLang="ko-KR" sz="28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전략적 함의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59F834-83B5-0BF5-BF96-12CE56B0650B}"/>
              </a:ext>
            </a:extLst>
          </p:cNvPr>
          <p:cNvSpPr txBox="1"/>
          <p:nvPr/>
        </p:nvSpPr>
        <p:spPr>
          <a:xfrm>
            <a:off x="95335" y="116938"/>
            <a:ext cx="2381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Harvard Business School </a:t>
            </a:r>
          </a:p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CASE study</a:t>
            </a:r>
            <a:endParaRPr lang="ko-KR" altLang="en-US" sz="12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" name="Picture 2" descr="건국대학교 MBA">
            <a:extLst>
              <a:ext uri="{FF2B5EF4-FFF2-40B4-BE49-F238E27FC236}">
                <a16:creationId xmlns:a16="http://schemas.microsoft.com/office/drawing/2014/main" id="{D0D6CF2E-52BA-81D7-E42F-5983B6531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861" y="146481"/>
            <a:ext cx="3029625" cy="38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842F98-317B-C7DE-3432-766B20BAFBEF}"/>
              </a:ext>
            </a:extLst>
          </p:cNvPr>
          <p:cNvSpPr txBox="1"/>
          <p:nvPr/>
        </p:nvSpPr>
        <p:spPr>
          <a:xfrm>
            <a:off x="3671295" y="1149982"/>
            <a:ext cx="30895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시스템 통합</a:t>
            </a:r>
            <a:endParaRPr lang="en-US" altLang="ko-KR" sz="4000" dirty="0">
              <a:solidFill>
                <a:srgbClr val="FFC000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3F5370-A1BD-8668-1E6E-C781AC1E532A}"/>
              </a:ext>
            </a:extLst>
          </p:cNvPr>
          <p:cNvSpPr txBox="1"/>
          <p:nvPr/>
        </p:nvSpPr>
        <p:spPr>
          <a:xfrm>
            <a:off x="8155475" y="1112982"/>
            <a:ext cx="30895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전략연계</a:t>
            </a:r>
            <a:endParaRPr lang="en-US" altLang="ko-KR" sz="4000" dirty="0">
              <a:solidFill>
                <a:srgbClr val="FFC000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024B86-8392-3055-6669-1AAD8F1377DC}"/>
              </a:ext>
            </a:extLst>
          </p:cNvPr>
          <p:cNvSpPr txBox="1"/>
          <p:nvPr/>
        </p:nvSpPr>
        <p:spPr>
          <a:xfrm>
            <a:off x="3645050" y="4002170"/>
            <a:ext cx="30895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장기투자</a:t>
            </a:r>
            <a:endParaRPr lang="en-US" altLang="ko-KR" sz="4000" dirty="0">
              <a:solidFill>
                <a:srgbClr val="FFC000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F1EEB1-11A1-8917-4557-18EF2C854A5C}"/>
              </a:ext>
            </a:extLst>
          </p:cNvPr>
          <p:cNvSpPr txBox="1"/>
          <p:nvPr/>
        </p:nvSpPr>
        <p:spPr>
          <a:xfrm>
            <a:off x="8155475" y="3921539"/>
            <a:ext cx="30895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 err="1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메리토크라시</a:t>
            </a:r>
            <a:endParaRPr lang="en-US" altLang="ko-KR" sz="4000" dirty="0">
              <a:solidFill>
                <a:srgbClr val="FFC000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2B4918-AD82-5AFC-A635-F2A61C2CC3EC}"/>
              </a:ext>
            </a:extLst>
          </p:cNvPr>
          <p:cNvSpPr txBox="1"/>
          <p:nvPr/>
        </p:nvSpPr>
        <p:spPr>
          <a:xfrm>
            <a:off x="3311266" y="1857868"/>
            <a:ext cx="3809636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HR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을 단독 기능이 아닌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경영운영의 핵심 축으로 통합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F496E-ADC4-8955-6A37-A9F56BC9F975}"/>
              </a:ext>
            </a:extLst>
          </p:cNvPr>
          <p:cNvSpPr txBox="1"/>
          <p:nvPr/>
        </p:nvSpPr>
        <p:spPr>
          <a:xfrm>
            <a:off x="7795446" y="1851645"/>
            <a:ext cx="3809636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모든 전략이 채용</a:t>
            </a: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, </a:t>
            </a:r>
            <a:r>
              <a:rPr lang="ko-KR" altLang="en-US" sz="2400" dirty="0" err="1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크래톤빌</a:t>
            </a: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, 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세션</a:t>
            </a: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C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로 즉시 번역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1DE08B-154E-3636-C705-DBA0502B21B0}"/>
              </a:ext>
            </a:extLst>
          </p:cNvPr>
          <p:cNvSpPr txBox="1"/>
          <p:nvPr/>
        </p:nvSpPr>
        <p:spPr>
          <a:xfrm>
            <a:off x="3453556" y="4710056"/>
            <a:ext cx="3525056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단기 비용 절감 시기에도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인재개발에 투자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6244F9-F09A-2AA8-AE4E-AFC999EBCBA2}"/>
              </a:ext>
            </a:extLst>
          </p:cNvPr>
          <p:cNvSpPr txBox="1"/>
          <p:nvPr/>
        </p:nvSpPr>
        <p:spPr>
          <a:xfrm>
            <a:off x="7827761" y="4766410"/>
            <a:ext cx="3809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성과기반문화 </a:t>
            </a: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+</a:t>
            </a:r>
          </a:p>
          <a:p>
            <a:pPr algn="ctr"/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명확한 피드백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= 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인재유지 및 동기부여</a:t>
            </a:r>
          </a:p>
        </p:txBody>
      </p:sp>
    </p:spTree>
    <p:extLst>
      <p:ext uri="{BB962C8B-B14F-4D97-AF65-F5344CB8AC3E}">
        <p14:creationId xmlns:p14="http://schemas.microsoft.com/office/powerpoint/2010/main" val="4204049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73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3DECAA-7DFB-85A6-C2B1-2FEE9FE2A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1770B32-4180-17DF-6BD4-2402289E559A}"/>
              </a:ext>
            </a:extLst>
          </p:cNvPr>
          <p:cNvSpPr/>
          <p:nvPr/>
        </p:nvSpPr>
        <p:spPr>
          <a:xfrm>
            <a:off x="0" y="0"/>
            <a:ext cx="2604407" cy="6867303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392B2C-F680-7927-0081-18BB7C81994F}"/>
              </a:ext>
            </a:extLst>
          </p:cNvPr>
          <p:cNvSpPr txBox="1"/>
          <p:nvPr/>
        </p:nvSpPr>
        <p:spPr>
          <a:xfrm>
            <a:off x="0" y="6048565"/>
            <a:ext cx="269276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[#6 CASE]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리더육성 및 교육훈련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GE’s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Talent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Machine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The Making of a CEO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5DCD12-FD65-E472-9539-B8A5020E5987}"/>
              </a:ext>
            </a:extLst>
          </p:cNvPr>
          <p:cNvSpPr txBox="1"/>
          <p:nvPr/>
        </p:nvSpPr>
        <p:spPr>
          <a:xfrm>
            <a:off x="252808" y="2528754"/>
            <a:ext cx="209878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이멜트의</a:t>
            </a:r>
            <a:endParaRPr lang="en-US" altLang="ko-KR" sz="28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고민</a:t>
            </a:r>
            <a:endParaRPr lang="en-US" altLang="ko-KR" sz="28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2003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년</a:t>
            </a:r>
            <a:endParaRPr lang="en-US" altLang="ko-KR" sz="28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HR 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딜레마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39EDD1-F2DA-3846-B707-AD3F2EF1136A}"/>
              </a:ext>
            </a:extLst>
          </p:cNvPr>
          <p:cNvSpPr txBox="1"/>
          <p:nvPr/>
        </p:nvSpPr>
        <p:spPr>
          <a:xfrm>
            <a:off x="95335" y="116938"/>
            <a:ext cx="2381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Harvard Business School </a:t>
            </a:r>
          </a:p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CASE study</a:t>
            </a:r>
            <a:endParaRPr lang="ko-KR" altLang="en-US" sz="12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" name="Picture 2" descr="건국대학교 MBA">
            <a:extLst>
              <a:ext uri="{FF2B5EF4-FFF2-40B4-BE49-F238E27FC236}">
                <a16:creationId xmlns:a16="http://schemas.microsoft.com/office/drawing/2014/main" id="{3BDA2AD1-315D-843A-CFD4-F156411C3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861" y="146481"/>
            <a:ext cx="3029625" cy="38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BAFE3D-B9CD-B689-75D9-BDDABEDE1367}"/>
              </a:ext>
            </a:extLst>
          </p:cNvPr>
          <p:cNvSpPr txBox="1"/>
          <p:nvPr/>
        </p:nvSpPr>
        <p:spPr>
          <a:xfrm>
            <a:off x="2782615" y="943705"/>
            <a:ext cx="308957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1">
                    <a:lumMod val="50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Q1</a:t>
            </a:r>
          </a:p>
          <a:p>
            <a:pPr algn="ctr"/>
            <a:r>
              <a:rPr lang="ko-KR" altLang="en-US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활력곡선</a:t>
            </a:r>
            <a:endParaRPr lang="en-US" altLang="ko-KR" sz="4000" dirty="0">
              <a:solidFill>
                <a:srgbClr val="FFC000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유지</a:t>
            </a:r>
            <a:r>
              <a:rPr lang="en-US" altLang="ko-KR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4122FE-DCDC-5512-A5DE-9CF38F2E497E}"/>
              </a:ext>
            </a:extLst>
          </p:cNvPr>
          <p:cNvSpPr txBox="1"/>
          <p:nvPr/>
        </p:nvSpPr>
        <p:spPr>
          <a:xfrm>
            <a:off x="2604405" y="3429000"/>
            <a:ext cx="3331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중간 </a:t>
            </a: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70% </a:t>
            </a:r>
            <a:r>
              <a:rPr lang="ko-KR" altLang="en-US" sz="2400" dirty="0" err="1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집중스카우트</a:t>
            </a:r>
            <a:endParaRPr lang="ko-KR" altLang="en-US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8532857-BBC7-E1C2-D3BD-75D28D07FDD5}"/>
              </a:ext>
            </a:extLst>
          </p:cNvPr>
          <p:cNvCxnSpPr/>
          <p:nvPr/>
        </p:nvCxnSpPr>
        <p:spPr>
          <a:xfrm>
            <a:off x="5908590" y="827314"/>
            <a:ext cx="0" cy="591374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33EC63F-3F3B-AC61-5B99-C3369196D00B}"/>
              </a:ext>
            </a:extLst>
          </p:cNvPr>
          <p:cNvCxnSpPr/>
          <p:nvPr/>
        </p:nvCxnSpPr>
        <p:spPr>
          <a:xfrm>
            <a:off x="8981109" y="827314"/>
            <a:ext cx="0" cy="591374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4F143DB-CF8E-962B-3EEF-30F83C76F6CD}"/>
              </a:ext>
            </a:extLst>
          </p:cNvPr>
          <p:cNvSpPr txBox="1"/>
          <p:nvPr/>
        </p:nvSpPr>
        <p:spPr>
          <a:xfrm>
            <a:off x="6051187" y="827314"/>
            <a:ext cx="27122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1">
                    <a:lumMod val="50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Q2</a:t>
            </a:r>
          </a:p>
          <a:p>
            <a:pPr algn="ctr"/>
            <a:r>
              <a:rPr lang="en-US" altLang="ko-KR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MBA</a:t>
            </a:r>
            <a:r>
              <a:rPr lang="ko-KR" altLang="en-US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채용</a:t>
            </a:r>
            <a:endParaRPr lang="en-US" altLang="ko-KR" sz="4000" dirty="0">
              <a:solidFill>
                <a:srgbClr val="FFC000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재활성화</a:t>
            </a:r>
            <a:r>
              <a:rPr lang="en-US" altLang="ko-KR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5CAF88-4B55-7A66-779F-1D2581E874EB}"/>
              </a:ext>
            </a:extLst>
          </p:cNvPr>
          <p:cNvSpPr txBox="1"/>
          <p:nvPr/>
        </p:nvSpPr>
        <p:spPr>
          <a:xfrm>
            <a:off x="9198821" y="827314"/>
            <a:ext cx="28718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1">
                    <a:lumMod val="50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Q3</a:t>
            </a:r>
          </a:p>
          <a:p>
            <a:pPr algn="ctr"/>
            <a:r>
              <a:rPr lang="ko-KR" altLang="en-US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글로벌 </a:t>
            </a:r>
            <a:r>
              <a:rPr lang="en-US" altLang="ko-KR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PL</a:t>
            </a:r>
          </a:p>
          <a:p>
            <a:pPr algn="ctr"/>
            <a:r>
              <a:rPr lang="ko-KR" altLang="en-US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세분화</a:t>
            </a:r>
            <a:r>
              <a:rPr lang="en-US" altLang="ko-KR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?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9CA1684-CBBC-C9FD-BE7E-D8918BB771A4}"/>
              </a:ext>
            </a:extLst>
          </p:cNvPr>
          <p:cNvSpPr/>
          <p:nvPr/>
        </p:nvSpPr>
        <p:spPr>
          <a:xfrm>
            <a:off x="3639641" y="2882697"/>
            <a:ext cx="1208127" cy="441552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세방고딕 Bold" panose="00000800000000000000" pitchFamily="2" charset="-127"/>
                <a:ea typeface="세방고딕 Bold" panose="00000800000000000000" pitchFamily="2" charset="-127"/>
              </a:rPr>
              <a:t>ISSUSE</a:t>
            </a:r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DAFC132-1420-5B77-F6A1-14FEED01C00E}"/>
              </a:ext>
            </a:extLst>
          </p:cNvPr>
          <p:cNvSpPr/>
          <p:nvPr/>
        </p:nvSpPr>
        <p:spPr>
          <a:xfrm>
            <a:off x="6869980" y="2882697"/>
            <a:ext cx="1208127" cy="441552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세방고딕 Bold" panose="00000800000000000000" pitchFamily="2" charset="-127"/>
                <a:ea typeface="세방고딕 Bold" panose="00000800000000000000" pitchFamily="2" charset="-127"/>
              </a:rPr>
              <a:t>ISSUSE</a:t>
            </a:r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23BDDB9-BE68-2DA7-6440-391D3E6919C7}"/>
              </a:ext>
            </a:extLst>
          </p:cNvPr>
          <p:cNvSpPr/>
          <p:nvPr/>
        </p:nvSpPr>
        <p:spPr>
          <a:xfrm>
            <a:off x="10015070" y="2882697"/>
            <a:ext cx="1208127" cy="441552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세방고딕 Bold" panose="00000800000000000000" pitchFamily="2" charset="-127"/>
                <a:ea typeface="세방고딕 Bold" panose="00000800000000000000" pitchFamily="2" charset="-127"/>
              </a:rPr>
              <a:t>ISSUSE</a:t>
            </a:r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E06C0F-B04F-FB60-48C6-7954F4F538BE}"/>
              </a:ext>
            </a:extLst>
          </p:cNvPr>
          <p:cNvSpPr txBox="1"/>
          <p:nvPr/>
        </p:nvSpPr>
        <p:spPr>
          <a:xfrm>
            <a:off x="5952132" y="3403600"/>
            <a:ext cx="2970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서비스중심</a:t>
            </a: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,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글로벌 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성장전략으로 인한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마케팅</a:t>
            </a: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, 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전략인재 부족</a:t>
            </a:r>
            <a:endParaRPr lang="ko-KR" altLang="en-US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D346C3-25EC-FBF1-3EC5-47BBE38A7A7F}"/>
              </a:ext>
            </a:extLst>
          </p:cNvPr>
          <p:cNvSpPr txBox="1"/>
          <p:nvPr/>
        </p:nvSpPr>
        <p:spPr>
          <a:xfrm>
            <a:off x="9124417" y="3436695"/>
            <a:ext cx="2970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매출 </a:t>
            </a: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40% 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해외 발생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임원은 미국편중</a:t>
            </a:r>
            <a:endParaRPr lang="ko-KR" altLang="en-US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EE8A34-C1BD-6EDD-1CBE-86193A3FE7FC}"/>
              </a:ext>
            </a:extLst>
          </p:cNvPr>
          <p:cNvSpPr txBox="1"/>
          <p:nvPr/>
        </p:nvSpPr>
        <p:spPr>
          <a:xfrm>
            <a:off x="2640804" y="5263241"/>
            <a:ext cx="31212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(</a:t>
            </a:r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유지</a:t>
            </a:r>
            <a:r>
              <a:rPr lang="en-US" altLang="ko-KR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) </a:t>
            </a:r>
            <a:r>
              <a:rPr lang="ko-KR" altLang="en-US" dirty="0" err="1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메리토크라시</a:t>
            </a:r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문화 유지</a:t>
            </a:r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(</a:t>
            </a:r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완화</a:t>
            </a:r>
            <a:r>
              <a:rPr lang="en-US" altLang="ko-KR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) 70%</a:t>
            </a:r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내 세분화</a:t>
            </a:r>
            <a:r>
              <a:rPr lang="en-US" altLang="ko-KR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차별성</a:t>
            </a:r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B687A66A-29DC-B415-B736-F3560AF13B40}"/>
              </a:ext>
            </a:extLst>
          </p:cNvPr>
          <p:cNvSpPr/>
          <p:nvPr/>
        </p:nvSpPr>
        <p:spPr>
          <a:xfrm>
            <a:off x="3813270" y="4690767"/>
            <a:ext cx="860868" cy="44155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옵션</a:t>
            </a:r>
            <a:r>
              <a:rPr lang="en-US" altLang="ko-KR" dirty="0">
                <a:solidFill>
                  <a:schemeClr val="tx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1</a:t>
            </a:r>
            <a:endParaRPr lang="ko-KR" altLang="en-US" dirty="0">
              <a:solidFill>
                <a:schemeClr val="tx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0A2392F-6DC0-F57D-CA41-8AC246A28C60}"/>
              </a:ext>
            </a:extLst>
          </p:cNvPr>
          <p:cNvSpPr/>
          <p:nvPr/>
        </p:nvSpPr>
        <p:spPr>
          <a:xfrm>
            <a:off x="3841453" y="5827295"/>
            <a:ext cx="860868" cy="44155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옵션</a:t>
            </a:r>
            <a:r>
              <a:rPr lang="en-US" altLang="ko-KR" dirty="0">
                <a:solidFill>
                  <a:schemeClr val="tx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2</a:t>
            </a:r>
            <a:endParaRPr lang="ko-KR" altLang="en-US" dirty="0">
              <a:solidFill>
                <a:schemeClr val="tx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2ACCD0-72A1-8732-2951-E714B4210B67}"/>
              </a:ext>
            </a:extLst>
          </p:cNvPr>
          <p:cNvSpPr txBox="1"/>
          <p:nvPr/>
        </p:nvSpPr>
        <p:spPr>
          <a:xfrm>
            <a:off x="5869025" y="5225660"/>
            <a:ext cx="31212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(</a:t>
            </a:r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재활성화</a:t>
            </a:r>
            <a:r>
              <a:rPr lang="en-US" altLang="ko-KR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) </a:t>
            </a:r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관련 리더교육 신설</a:t>
            </a:r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(</a:t>
            </a:r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유지</a:t>
            </a:r>
            <a:r>
              <a:rPr lang="en-US" altLang="ko-KR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) </a:t>
            </a:r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공학전공</a:t>
            </a:r>
            <a:r>
              <a:rPr lang="en-US" altLang="ko-KR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군 출신 중심</a:t>
            </a:r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7AF752BE-4482-156D-2489-760861343DCA}"/>
              </a:ext>
            </a:extLst>
          </p:cNvPr>
          <p:cNvSpPr/>
          <p:nvPr/>
        </p:nvSpPr>
        <p:spPr>
          <a:xfrm>
            <a:off x="7041491" y="4653186"/>
            <a:ext cx="860868" cy="44155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옵션</a:t>
            </a:r>
            <a:r>
              <a:rPr lang="en-US" altLang="ko-KR" dirty="0">
                <a:solidFill>
                  <a:schemeClr val="tx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1</a:t>
            </a:r>
            <a:endParaRPr lang="ko-KR" altLang="en-US" dirty="0">
              <a:solidFill>
                <a:schemeClr val="tx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0316AB6-BEAC-DB87-5C91-A412DB3ADD21}"/>
              </a:ext>
            </a:extLst>
          </p:cNvPr>
          <p:cNvSpPr/>
          <p:nvPr/>
        </p:nvSpPr>
        <p:spPr>
          <a:xfrm>
            <a:off x="7069674" y="5789714"/>
            <a:ext cx="860868" cy="44155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옵션</a:t>
            </a:r>
            <a:r>
              <a:rPr lang="en-US" altLang="ko-KR" dirty="0">
                <a:solidFill>
                  <a:schemeClr val="tx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2</a:t>
            </a:r>
            <a:endParaRPr lang="ko-KR" altLang="en-US" dirty="0">
              <a:solidFill>
                <a:schemeClr val="tx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B32E08-6DFC-CB19-4BD4-7FE2B73A729B}"/>
              </a:ext>
            </a:extLst>
          </p:cNvPr>
          <p:cNvSpPr txBox="1"/>
          <p:nvPr/>
        </p:nvSpPr>
        <p:spPr>
          <a:xfrm>
            <a:off x="8965886" y="5171402"/>
            <a:ext cx="31212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(</a:t>
            </a:r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세분화</a:t>
            </a:r>
            <a:r>
              <a:rPr lang="en-US" altLang="ko-KR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) </a:t>
            </a:r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해외 맞춤 직급 추가</a:t>
            </a:r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(</a:t>
            </a:r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유지</a:t>
            </a:r>
            <a:r>
              <a:rPr lang="en-US" altLang="ko-KR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) </a:t>
            </a:r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단순성</a:t>
            </a:r>
            <a:r>
              <a:rPr lang="en-US" altLang="ko-KR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/</a:t>
            </a:r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명료성 보존</a:t>
            </a:r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7FD6DCD-6065-72DD-0765-1C1A9CF1B28E}"/>
              </a:ext>
            </a:extLst>
          </p:cNvPr>
          <p:cNvSpPr/>
          <p:nvPr/>
        </p:nvSpPr>
        <p:spPr>
          <a:xfrm>
            <a:off x="10138352" y="4598928"/>
            <a:ext cx="860868" cy="44155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옵션</a:t>
            </a:r>
            <a:r>
              <a:rPr lang="en-US" altLang="ko-KR" dirty="0">
                <a:solidFill>
                  <a:schemeClr val="tx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1</a:t>
            </a:r>
            <a:endParaRPr lang="ko-KR" altLang="en-US" dirty="0">
              <a:solidFill>
                <a:schemeClr val="tx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1390E32D-C950-2D83-5927-662651F503C8}"/>
              </a:ext>
            </a:extLst>
          </p:cNvPr>
          <p:cNvSpPr/>
          <p:nvPr/>
        </p:nvSpPr>
        <p:spPr>
          <a:xfrm>
            <a:off x="10166535" y="5735456"/>
            <a:ext cx="860868" cy="44155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옵션</a:t>
            </a:r>
            <a:r>
              <a:rPr lang="en-US" altLang="ko-KR" dirty="0">
                <a:solidFill>
                  <a:schemeClr val="tx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2</a:t>
            </a:r>
            <a:endParaRPr lang="ko-KR" altLang="en-US" dirty="0">
              <a:solidFill>
                <a:schemeClr val="tx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38" name="Picture 10">
            <a:extLst>
              <a:ext uri="{FF2B5EF4-FFF2-40B4-BE49-F238E27FC236}">
                <a16:creationId xmlns:a16="http://schemas.microsoft.com/office/drawing/2014/main" id="{4FCA6AAF-0854-AFC1-9DD3-C1B806255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01" y="1149556"/>
            <a:ext cx="1147328" cy="114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7934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73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ED8CC9-661A-29A9-B1F3-127D0CB18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33E8AA6-8FC5-FF54-6287-6B46770A0FDE}"/>
              </a:ext>
            </a:extLst>
          </p:cNvPr>
          <p:cNvSpPr/>
          <p:nvPr/>
        </p:nvSpPr>
        <p:spPr>
          <a:xfrm>
            <a:off x="5979886" y="0"/>
            <a:ext cx="6212114" cy="68580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A82CF7-4C94-F3B1-0844-196F539A6B0E}"/>
              </a:ext>
            </a:extLst>
          </p:cNvPr>
          <p:cNvSpPr txBox="1"/>
          <p:nvPr/>
        </p:nvSpPr>
        <p:spPr>
          <a:xfrm>
            <a:off x="950027" y="2216706"/>
            <a:ext cx="405740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그때는</a:t>
            </a:r>
            <a:endParaRPr lang="en-US" altLang="ko-KR" sz="88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8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맞고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69C7F-9335-D88F-308A-C703C6C48882}"/>
              </a:ext>
            </a:extLst>
          </p:cNvPr>
          <p:cNvSpPr txBox="1"/>
          <p:nvPr/>
        </p:nvSpPr>
        <p:spPr>
          <a:xfrm>
            <a:off x="7184571" y="2216705"/>
            <a:ext cx="405740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지금은</a:t>
            </a:r>
            <a:endParaRPr lang="en-US" altLang="ko-KR" sz="88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8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틀리다</a:t>
            </a:r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B5C16740-A0BE-00D9-E51A-2E778F7FFAD1}"/>
              </a:ext>
            </a:extLst>
          </p:cNvPr>
          <p:cNvSpPr/>
          <p:nvPr/>
        </p:nvSpPr>
        <p:spPr>
          <a:xfrm>
            <a:off x="5979886" y="0"/>
            <a:ext cx="0" cy="68580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51373A88-7C76-A0F6-6211-483BEF24D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540" y="598013"/>
            <a:ext cx="1618692" cy="1618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331F70F-CA99-98A8-E146-01A228C3D2C1}"/>
              </a:ext>
            </a:extLst>
          </p:cNvPr>
          <p:cNvSpPr txBox="1"/>
          <p:nvPr/>
        </p:nvSpPr>
        <p:spPr>
          <a:xfrm>
            <a:off x="4279897" y="4918406"/>
            <a:ext cx="325120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20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세기 </a:t>
            </a:r>
            <a:r>
              <a:rPr lang="en-US" altLang="ko-KR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 E</a:t>
            </a:r>
            <a:r>
              <a:rPr lang="ko-KR" altLang="en-US" sz="2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모델의</a:t>
            </a:r>
            <a:endParaRPr lang="en-US" altLang="ko-KR" sz="24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4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영광</a:t>
            </a:r>
            <a:r>
              <a:rPr lang="ko-KR" altLang="en-US" sz="20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과</a:t>
            </a:r>
            <a:r>
              <a:rPr lang="ko-KR" altLang="en-US" sz="44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한계</a:t>
            </a:r>
          </a:p>
        </p:txBody>
      </p:sp>
    </p:spTree>
    <p:extLst>
      <p:ext uri="{BB962C8B-B14F-4D97-AF65-F5344CB8AC3E}">
        <p14:creationId xmlns:p14="http://schemas.microsoft.com/office/powerpoint/2010/main" val="993312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73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2431CA-2898-DB1C-6A6C-4042FF663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9120933C-55EC-BE51-EC49-B7252C35E478}"/>
              </a:ext>
            </a:extLst>
          </p:cNvPr>
          <p:cNvSpPr/>
          <p:nvPr/>
        </p:nvSpPr>
        <p:spPr>
          <a:xfrm>
            <a:off x="0" y="0"/>
            <a:ext cx="2604407" cy="6867303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8B8334-B3B2-F118-D699-DB48426980A9}"/>
              </a:ext>
            </a:extLst>
          </p:cNvPr>
          <p:cNvSpPr txBox="1"/>
          <p:nvPr/>
        </p:nvSpPr>
        <p:spPr>
          <a:xfrm>
            <a:off x="0" y="6048565"/>
            <a:ext cx="269276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[#6 CASE]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리더육성 및 교육훈련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GE’s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Talent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Machine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The Making of a CEO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DA8608-5B2C-3993-A7C8-9EFE07712BC6}"/>
              </a:ext>
            </a:extLst>
          </p:cNvPr>
          <p:cNvSpPr txBox="1"/>
          <p:nvPr/>
        </p:nvSpPr>
        <p:spPr>
          <a:xfrm>
            <a:off x="252808" y="2528754"/>
            <a:ext cx="20987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의 몰락</a:t>
            </a:r>
            <a:endParaRPr lang="en-US" altLang="ko-KR" sz="28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추앙받던</a:t>
            </a: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시스템의</a:t>
            </a: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구조적 실패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601C6E-A6BB-DEA1-4DB9-01A946984447}"/>
              </a:ext>
            </a:extLst>
          </p:cNvPr>
          <p:cNvSpPr txBox="1"/>
          <p:nvPr/>
        </p:nvSpPr>
        <p:spPr>
          <a:xfrm>
            <a:off x="95335" y="116938"/>
            <a:ext cx="2381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Harvard Business School </a:t>
            </a:r>
          </a:p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CASE study</a:t>
            </a:r>
            <a:endParaRPr lang="ko-KR" altLang="en-US" sz="12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" name="Picture 2" descr="건국대학교 MBA">
            <a:extLst>
              <a:ext uri="{FF2B5EF4-FFF2-40B4-BE49-F238E27FC236}">
                <a16:creationId xmlns:a16="http://schemas.microsoft.com/office/drawing/2014/main" id="{B5522AE9-7158-2CFB-E84A-A159741EF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861" y="146481"/>
            <a:ext cx="3029625" cy="38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0">
            <a:extLst>
              <a:ext uri="{FF2B5EF4-FFF2-40B4-BE49-F238E27FC236}">
                <a16:creationId xmlns:a16="http://schemas.microsoft.com/office/drawing/2014/main" id="{C6B8941C-C91E-0F74-58F3-97F8A25B4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01" y="1149556"/>
            <a:ext cx="1147328" cy="114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F49742F-FA40-A969-BBB7-C713F175C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1030" y="623668"/>
            <a:ext cx="9550717" cy="536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10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73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F5970D-13B1-C21A-0324-5FCBA1E25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9D153E34-D194-F879-A7C9-31521CBD3FCC}"/>
              </a:ext>
            </a:extLst>
          </p:cNvPr>
          <p:cNvSpPr/>
          <p:nvPr/>
        </p:nvSpPr>
        <p:spPr>
          <a:xfrm>
            <a:off x="0" y="0"/>
            <a:ext cx="2604407" cy="6867303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44A3C8-F735-C0B0-0EB9-BAFBD2F50F10}"/>
              </a:ext>
            </a:extLst>
          </p:cNvPr>
          <p:cNvSpPr txBox="1"/>
          <p:nvPr/>
        </p:nvSpPr>
        <p:spPr>
          <a:xfrm>
            <a:off x="0" y="6048565"/>
            <a:ext cx="269276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[#6 CASE]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리더육성 및 교육훈련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GE’s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Talent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Machine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The Making of a CEO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5D932D-A3EB-145E-15E7-7A0D1D270D93}"/>
              </a:ext>
            </a:extLst>
          </p:cNvPr>
          <p:cNvSpPr txBox="1"/>
          <p:nvPr/>
        </p:nvSpPr>
        <p:spPr>
          <a:xfrm>
            <a:off x="252808" y="2528754"/>
            <a:ext cx="20987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</a:t>
            </a:r>
            <a:r>
              <a:rPr lang="ko-KR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의 몰락</a:t>
            </a:r>
            <a:endParaRPr lang="en-US" altLang="ko-KR" sz="28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추앙받던</a:t>
            </a: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시스템의</a:t>
            </a: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구조적 실패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E2D680-3576-B84A-C33E-0F02E3C8762E}"/>
              </a:ext>
            </a:extLst>
          </p:cNvPr>
          <p:cNvSpPr txBox="1"/>
          <p:nvPr/>
        </p:nvSpPr>
        <p:spPr>
          <a:xfrm>
            <a:off x="95335" y="116938"/>
            <a:ext cx="2381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Harvard Business School </a:t>
            </a:r>
          </a:p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CASE study</a:t>
            </a:r>
            <a:endParaRPr lang="ko-KR" altLang="en-US" sz="12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" name="Picture 2" descr="건국대학교 MBA">
            <a:extLst>
              <a:ext uri="{FF2B5EF4-FFF2-40B4-BE49-F238E27FC236}">
                <a16:creationId xmlns:a16="http://schemas.microsoft.com/office/drawing/2014/main" id="{D17E9146-0FAE-68D5-9F69-BF3FECD72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861" y="146481"/>
            <a:ext cx="3029625" cy="38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0">
            <a:extLst>
              <a:ext uri="{FF2B5EF4-FFF2-40B4-BE49-F238E27FC236}">
                <a16:creationId xmlns:a16="http://schemas.microsoft.com/office/drawing/2014/main" id="{2C5D902A-E3A0-9191-5CBF-E57F94AB7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01" y="1149556"/>
            <a:ext cx="1147328" cy="114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3A01C76-4533-12B8-3E07-9780361C4F64}"/>
              </a:ext>
            </a:extLst>
          </p:cNvPr>
          <p:cNvSpPr txBox="1"/>
          <p:nvPr/>
        </p:nvSpPr>
        <p:spPr>
          <a:xfrm>
            <a:off x="3089831" y="1951649"/>
            <a:ext cx="232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시가총액 급락</a:t>
            </a:r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31B88D-BE32-C7C6-2D85-9475FA033512}"/>
              </a:ext>
            </a:extLst>
          </p:cNvPr>
          <p:cNvSpPr txBox="1"/>
          <p:nvPr/>
        </p:nvSpPr>
        <p:spPr>
          <a:xfrm>
            <a:off x="5900056" y="1766338"/>
            <a:ext cx="24423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다우존스</a:t>
            </a:r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산업평균지수 제외</a:t>
            </a:r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(1896</a:t>
            </a:r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년 이후 최초</a:t>
            </a:r>
            <a:r>
              <a:rPr lang="en-US" altLang="ko-KR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1AA92D-19C2-131B-3E7B-E6BAFFBAC961}"/>
              </a:ext>
            </a:extLst>
          </p:cNvPr>
          <p:cNvSpPr txBox="1"/>
          <p:nvPr/>
        </p:nvSpPr>
        <p:spPr>
          <a:xfrm>
            <a:off x="9345235" y="1904837"/>
            <a:ext cx="2212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전체 이익의</a:t>
            </a:r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50% </a:t>
            </a:r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의존</a:t>
            </a:r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5EA737-551C-557B-BCF5-030DE6293C61}"/>
              </a:ext>
            </a:extLst>
          </p:cNvPr>
          <p:cNvSpPr txBox="1"/>
          <p:nvPr/>
        </p:nvSpPr>
        <p:spPr>
          <a:xfrm>
            <a:off x="2688164" y="873786"/>
            <a:ext cx="29216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$6,000</a:t>
            </a:r>
            <a:r>
              <a:rPr lang="ko-KR" altLang="en-US" sz="24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억</a:t>
            </a:r>
            <a:endParaRPr lang="en-US" altLang="ko-KR" sz="2400" dirty="0">
              <a:solidFill>
                <a:srgbClr val="FFC000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ko-KR" altLang="en-US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→ </a:t>
            </a:r>
            <a:r>
              <a:rPr lang="en-US" altLang="ko-KR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$600</a:t>
            </a:r>
            <a:r>
              <a:rPr lang="ko-KR" altLang="en-US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억</a:t>
            </a:r>
            <a:endParaRPr lang="en-US" altLang="ko-KR" sz="4000" dirty="0">
              <a:solidFill>
                <a:srgbClr val="FFC000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5A5D41-DC20-0297-C2E3-1E2185A4936D}"/>
              </a:ext>
            </a:extLst>
          </p:cNvPr>
          <p:cNvSpPr txBox="1"/>
          <p:nvPr/>
        </p:nvSpPr>
        <p:spPr>
          <a:xfrm>
            <a:off x="5983815" y="1058452"/>
            <a:ext cx="22748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2018</a:t>
            </a:r>
            <a:r>
              <a:rPr lang="ko-KR" altLang="en-US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년</a:t>
            </a:r>
            <a:endParaRPr lang="en-US" altLang="ko-KR" sz="4000" dirty="0">
              <a:solidFill>
                <a:srgbClr val="FFC000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2EA983-CFBC-0267-2564-BBF5CFC2A7F1}"/>
              </a:ext>
            </a:extLst>
          </p:cNvPr>
          <p:cNvSpPr txBox="1"/>
          <p:nvPr/>
        </p:nvSpPr>
        <p:spPr>
          <a:xfrm>
            <a:off x="8592458" y="1093645"/>
            <a:ext cx="3539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 Capital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0F78E34-14E3-2AB6-AA7E-AC1182E083BB}"/>
              </a:ext>
            </a:extLst>
          </p:cNvPr>
          <p:cNvSpPr/>
          <p:nvPr/>
        </p:nvSpPr>
        <p:spPr>
          <a:xfrm>
            <a:off x="3229890" y="3311784"/>
            <a:ext cx="2519943" cy="80322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600" dirty="0">
                <a:latin typeface="세방고딕 Bold" panose="00000800000000000000" pitchFamily="2" charset="-127"/>
                <a:ea typeface="세방고딕 Bold" panose="00000800000000000000" pitchFamily="2" charset="-127"/>
              </a:rPr>
              <a:t>단기 성과주의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B812F1B-CCEA-7D20-DA2A-A1747FF86FAB}"/>
              </a:ext>
            </a:extLst>
          </p:cNvPr>
          <p:cNvSpPr/>
          <p:nvPr/>
        </p:nvSpPr>
        <p:spPr>
          <a:xfrm>
            <a:off x="6140706" y="3311784"/>
            <a:ext cx="2519943" cy="80322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00">
                <a:latin typeface="세방고딕 Bold" panose="00000800000000000000" pitchFamily="2" charset="-127"/>
                <a:ea typeface="세방고딕 Bold" panose="00000800000000000000" pitchFamily="2" charset="-127"/>
              </a:rPr>
              <a:t>1,2</a:t>
            </a:r>
            <a:r>
              <a:rPr lang="ko-KR" altLang="en-US" sz="2600" dirty="0">
                <a:latin typeface="세방고딕 Bold" panose="00000800000000000000" pitchFamily="2" charset="-127"/>
                <a:ea typeface="세방고딕 Bold" panose="00000800000000000000" pitchFamily="2" charset="-127"/>
              </a:rPr>
              <a:t>위 집착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E75559F-9346-8849-611A-3C0568306BB6}"/>
              </a:ext>
            </a:extLst>
          </p:cNvPr>
          <p:cNvSpPr/>
          <p:nvPr/>
        </p:nvSpPr>
        <p:spPr>
          <a:xfrm>
            <a:off x="9051521" y="3311784"/>
            <a:ext cx="2519943" cy="80322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세방고딕 Bold" panose="00000800000000000000" pitchFamily="2" charset="-127"/>
                <a:ea typeface="세방고딕 Bold" panose="00000800000000000000" pitchFamily="2" charset="-127"/>
              </a:rPr>
              <a:t>GE</a:t>
            </a:r>
            <a:r>
              <a:rPr lang="ko-KR" altLang="en-US" sz="2400" dirty="0"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2400" dirty="0">
                <a:latin typeface="세방고딕 Bold" panose="00000800000000000000" pitchFamily="2" charset="-127"/>
                <a:ea typeface="세방고딕 Bold" panose="00000800000000000000" pitchFamily="2" charset="-127"/>
              </a:rPr>
              <a:t>Capital</a:t>
            </a:r>
          </a:p>
          <a:p>
            <a:pPr algn="ctr"/>
            <a:r>
              <a:rPr lang="ko-KR" altLang="en-US" sz="2400" dirty="0">
                <a:latin typeface="세방고딕 Bold" panose="00000800000000000000" pitchFamily="2" charset="-127"/>
                <a:ea typeface="세방고딕 Bold" panose="00000800000000000000" pitchFamily="2" charset="-127"/>
              </a:rPr>
              <a:t>과잉의존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E916690-CBA0-859A-BEA4-24F438AC4C96}"/>
              </a:ext>
            </a:extLst>
          </p:cNvPr>
          <p:cNvSpPr/>
          <p:nvPr/>
        </p:nvSpPr>
        <p:spPr>
          <a:xfrm>
            <a:off x="3226264" y="5085197"/>
            <a:ext cx="2519943" cy="80322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600" dirty="0">
                <a:latin typeface="세방고딕 Bold" panose="00000800000000000000" pitchFamily="2" charset="-127"/>
                <a:ea typeface="세방고딕 Bold" panose="00000800000000000000" pitchFamily="2" charset="-127"/>
              </a:rPr>
              <a:t>문화적 오만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2A041B7-8BAC-4115-7CDD-EC68098225BA}"/>
              </a:ext>
            </a:extLst>
          </p:cNvPr>
          <p:cNvSpPr/>
          <p:nvPr/>
        </p:nvSpPr>
        <p:spPr>
          <a:xfrm>
            <a:off x="6140705" y="5053564"/>
            <a:ext cx="2519943" cy="80322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600">
                <a:latin typeface="세방고딕 Bold" panose="00000800000000000000" pitchFamily="2" charset="-127"/>
                <a:ea typeface="세방고딕 Bold" panose="00000800000000000000" pitchFamily="2" charset="-127"/>
              </a:rPr>
              <a:t>내부승진 편향</a:t>
            </a:r>
            <a:endParaRPr lang="ko-KR" altLang="en-US" sz="2600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3BAE7C2-7548-6C14-CC45-3EF5DDCC994E}"/>
              </a:ext>
            </a:extLst>
          </p:cNvPr>
          <p:cNvSpPr/>
          <p:nvPr/>
        </p:nvSpPr>
        <p:spPr>
          <a:xfrm>
            <a:off x="9051520" y="5053564"/>
            <a:ext cx="2519943" cy="80322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00" dirty="0">
                <a:latin typeface="세방고딕 Bold" panose="00000800000000000000" pitchFamily="2" charset="-127"/>
                <a:ea typeface="세방고딕 Bold" panose="00000800000000000000" pitchFamily="2" charset="-127"/>
              </a:rPr>
              <a:t>DX </a:t>
            </a:r>
            <a:r>
              <a:rPr lang="ko-KR" altLang="en-US" sz="2600" dirty="0">
                <a:latin typeface="세방고딕 Bold" panose="00000800000000000000" pitchFamily="2" charset="-127"/>
                <a:ea typeface="세방고딕 Bold" panose="00000800000000000000" pitchFamily="2" charset="-127"/>
              </a:rPr>
              <a:t>실패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813242-A495-6761-C1A8-6831F0190403}"/>
              </a:ext>
            </a:extLst>
          </p:cNvPr>
          <p:cNvSpPr txBox="1"/>
          <p:nvPr/>
        </p:nvSpPr>
        <p:spPr>
          <a:xfrm>
            <a:off x="3323835" y="4233903"/>
            <a:ext cx="232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장기 </a:t>
            </a:r>
            <a:r>
              <a:rPr lang="en-US" altLang="ko-KR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R&amp;D</a:t>
            </a:r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혁신 약화</a:t>
            </a:r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334033-82B0-4CF2-F221-F0CCF7F10D3C}"/>
              </a:ext>
            </a:extLst>
          </p:cNvPr>
          <p:cNvSpPr txBox="1"/>
          <p:nvPr/>
        </p:nvSpPr>
        <p:spPr>
          <a:xfrm>
            <a:off x="6267658" y="4258272"/>
            <a:ext cx="232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핵심 역량 분산</a:t>
            </a:r>
            <a:r>
              <a:rPr lang="en-US" altLang="ko-KR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,</a:t>
            </a: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정체성 약화</a:t>
            </a:r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2E6F83-5892-964E-AF1C-768E818CC1AA}"/>
              </a:ext>
            </a:extLst>
          </p:cNvPr>
          <p:cNvSpPr txBox="1"/>
          <p:nvPr/>
        </p:nvSpPr>
        <p:spPr>
          <a:xfrm>
            <a:off x="9051520" y="4274574"/>
            <a:ext cx="232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실체 없는 성장의 반복</a:t>
            </a:r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233157-A7DF-98A5-F8B7-0F16F6DC9D10}"/>
              </a:ext>
            </a:extLst>
          </p:cNvPr>
          <p:cNvSpPr txBox="1"/>
          <p:nvPr/>
        </p:nvSpPr>
        <p:spPr>
          <a:xfrm>
            <a:off x="3284974" y="6075250"/>
            <a:ext cx="232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환경 변화 신호 묵살</a:t>
            </a:r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9A45CD-D5E3-072B-8961-DB98AFB87A81}"/>
              </a:ext>
            </a:extLst>
          </p:cNvPr>
          <p:cNvSpPr txBox="1"/>
          <p:nvPr/>
        </p:nvSpPr>
        <p:spPr>
          <a:xfrm>
            <a:off x="6243712" y="6028846"/>
            <a:ext cx="232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외부관점 결핍</a:t>
            </a:r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F51551-603B-03EC-D719-46E7A841C029}"/>
              </a:ext>
            </a:extLst>
          </p:cNvPr>
          <p:cNvSpPr txBox="1"/>
          <p:nvPr/>
        </p:nvSpPr>
        <p:spPr>
          <a:xfrm>
            <a:off x="9143381" y="6025481"/>
            <a:ext cx="232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실행력</a:t>
            </a:r>
            <a:r>
              <a:rPr lang="en-US" altLang="ko-KR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시장이해 부족</a:t>
            </a:r>
            <a:endParaRPr lang="en-US" altLang="ko-KR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6465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73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3386BC-7BF2-AF46-A9B5-AECC3C63C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047B3E49-42DC-F564-B309-0F8032AC5CFB}"/>
              </a:ext>
            </a:extLst>
          </p:cNvPr>
          <p:cNvSpPr/>
          <p:nvPr/>
        </p:nvSpPr>
        <p:spPr>
          <a:xfrm>
            <a:off x="0" y="0"/>
            <a:ext cx="2604407" cy="6867303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1DCAE7-1605-D64E-CBE3-0351C251A858}"/>
              </a:ext>
            </a:extLst>
          </p:cNvPr>
          <p:cNvSpPr txBox="1"/>
          <p:nvPr/>
        </p:nvSpPr>
        <p:spPr>
          <a:xfrm>
            <a:off x="0" y="6048565"/>
            <a:ext cx="269276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[#6 CASE]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리더육성 및 교육훈련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GE’s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Talent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Machine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The Making of a CEO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5E71AC-0169-9E6A-D4C1-B00E36A5698B}"/>
              </a:ext>
            </a:extLst>
          </p:cNvPr>
          <p:cNvSpPr txBox="1"/>
          <p:nvPr/>
        </p:nvSpPr>
        <p:spPr>
          <a:xfrm>
            <a:off x="252808" y="2528754"/>
            <a:ext cx="20987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그때는 맞았고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,</a:t>
            </a:r>
          </a:p>
          <a:p>
            <a:pPr algn="ctr"/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지금은 틀리다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94C95C-A2FE-1C3E-1615-6364AFE25ECD}"/>
              </a:ext>
            </a:extLst>
          </p:cNvPr>
          <p:cNvSpPr txBox="1"/>
          <p:nvPr/>
        </p:nvSpPr>
        <p:spPr>
          <a:xfrm>
            <a:off x="95335" y="116938"/>
            <a:ext cx="2381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Harvard Business School </a:t>
            </a:r>
          </a:p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CASE study</a:t>
            </a:r>
            <a:endParaRPr lang="ko-KR" altLang="en-US" sz="12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" name="Picture 2" descr="건국대학교 MBA">
            <a:extLst>
              <a:ext uri="{FF2B5EF4-FFF2-40B4-BE49-F238E27FC236}">
                <a16:creationId xmlns:a16="http://schemas.microsoft.com/office/drawing/2014/main" id="{239433F6-6D19-64FC-BFCC-9147794C6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861" y="146481"/>
            <a:ext cx="3029625" cy="38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0">
            <a:extLst>
              <a:ext uri="{FF2B5EF4-FFF2-40B4-BE49-F238E27FC236}">
                <a16:creationId xmlns:a16="http://schemas.microsoft.com/office/drawing/2014/main" id="{3A9E00A4-B3F7-3BCE-6A2D-DDF7618A4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01" y="1149556"/>
            <a:ext cx="1147328" cy="114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8" name="그룹 67">
            <a:extLst>
              <a:ext uri="{FF2B5EF4-FFF2-40B4-BE49-F238E27FC236}">
                <a16:creationId xmlns:a16="http://schemas.microsoft.com/office/drawing/2014/main" id="{AF5E6AB6-9DEF-D2F3-594C-9FC2353334CB}"/>
              </a:ext>
            </a:extLst>
          </p:cNvPr>
          <p:cNvGrpSpPr/>
          <p:nvPr/>
        </p:nvGrpSpPr>
        <p:grpSpPr>
          <a:xfrm>
            <a:off x="2692764" y="1499107"/>
            <a:ext cx="9333722" cy="4825493"/>
            <a:chOff x="3139440" y="1499108"/>
            <a:chExt cx="8503920" cy="3776472"/>
          </a:xfrm>
        </p:grpSpPr>
        <p:sp>
          <p:nvSpPr>
            <p:cNvPr id="40" name="Shape 2">
              <a:extLst>
                <a:ext uri="{FF2B5EF4-FFF2-40B4-BE49-F238E27FC236}">
                  <a16:creationId xmlns:a16="http://schemas.microsoft.com/office/drawing/2014/main" id="{6780F845-14D4-B521-3A8D-AD0F4B295DAC}"/>
                </a:ext>
              </a:extLst>
            </p:cNvPr>
            <p:cNvSpPr/>
            <p:nvPr/>
          </p:nvSpPr>
          <p:spPr>
            <a:xfrm>
              <a:off x="3139440" y="1499108"/>
              <a:ext cx="4160520" cy="411480"/>
            </a:xfrm>
            <a:prstGeom prst="rect">
              <a:avLst/>
            </a:prstGeom>
            <a:solidFill>
              <a:schemeClr val="accent1"/>
            </a:solidFill>
            <a:ln w="12700">
              <a:noFill/>
              <a:prstDash val="solid"/>
            </a:ln>
            <a:effectLst>
              <a:softEdge rad="0"/>
            </a:effectLst>
          </p:spPr>
          <p:txBody>
            <a:bodyPr/>
            <a:lstStyle/>
            <a:p>
              <a:endParaRPr lang="ko-KR" altLang="en-US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1" name="Text 3">
              <a:extLst>
                <a:ext uri="{FF2B5EF4-FFF2-40B4-BE49-F238E27FC236}">
                  <a16:creationId xmlns:a16="http://schemas.microsoft.com/office/drawing/2014/main" id="{FB583B8F-995A-8218-A006-39F908446D3E}"/>
                </a:ext>
              </a:extLst>
            </p:cNvPr>
            <p:cNvSpPr/>
            <p:nvPr/>
          </p:nvSpPr>
          <p:spPr>
            <a:xfrm>
              <a:off x="3139440" y="1499108"/>
              <a:ext cx="41605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그때는 맞았다 </a:t>
              </a:r>
              <a:r>
                <a:rPr lang="en-US" sz="1400" b="1" dirty="0">
                  <a:solidFill>
                    <a:srgbClr val="FFFFFF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(1980~2000</a:t>
              </a:r>
              <a:r>
                <a:rPr lang="ko-KR" altLang="en-US" sz="1400" b="1" dirty="0">
                  <a:solidFill>
                    <a:srgbClr val="FFFFFF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년대</a:t>
              </a:r>
              <a:r>
                <a:rPr lang="en-US" sz="1400" b="1" dirty="0">
                  <a:solidFill>
                    <a:srgbClr val="FFFFFF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)</a:t>
              </a:r>
              <a:endParaRPr lang="en-US" sz="1400" dirty="0"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42" name="Shape 4">
              <a:extLst>
                <a:ext uri="{FF2B5EF4-FFF2-40B4-BE49-F238E27FC236}">
                  <a16:creationId xmlns:a16="http://schemas.microsoft.com/office/drawing/2014/main" id="{6E8754BC-04EE-C224-B562-DFC22931E558}"/>
                </a:ext>
              </a:extLst>
            </p:cNvPr>
            <p:cNvSpPr/>
            <p:nvPr/>
          </p:nvSpPr>
          <p:spPr>
            <a:xfrm>
              <a:off x="3139440" y="1983740"/>
              <a:ext cx="4160520" cy="502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 sz="200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3" name="Text 5">
              <a:extLst>
                <a:ext uri="{FF2B5EF4-FFF2-40B4-BE49-F238E27FC236}">
                  <a16:creationId xmlns:a16="http://schemas.microsoft.com/office/drawing/2014/main" id="{E07DA27E-B39B-1E51-5868-67ECC1A4A592}"/>
                </a:ext>
              </a:extLst>
            </p:cNvPr>
            <p:cNvSpPr/>
            <p:nvPr/>
          </p:nvSpPr>
          <p:spPr>
            <a:xfrm>
              <a:off x="3230880" y="2002028"/>
              <a:ext cx="3977640" cy="4663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334155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✔  안정적 산업 환경 → 장기 커리어 계획 가능</a:t>
              </a:r>
              <a:endParaRPr lang="en-US" sz="15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FFAEE55B-C248-81BF-8E80-B5394890975C}"/>
                </a:ext>
              </a:extLst>
            </p:cNvPr>
            <p:cNvSpPr/>
            <p:nvPr/>
          </p:nvSpPr>
          <p:spPr>
            <a:xfrm>
              <a:off x="3139440" y="2541524"/>
              <a:ext cx="4160520" cy="502920"/>
            </a:xfrm>
            <a:prstGeom prst="rect">
              <a:avLst/>
            </a:prstGeom>
            <a:solidFill>
              <a:srgbClr val="F0F6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 sz="150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Text 7">
              <a:extLst>
                <a:ext uri="{FF2B5EF4-FFF2-40B4-BE49-F238E27FC236}">
                  <a16:creationId xmlns:a16="http://schemas.microsoft.com/office/drawing/2014/main" id="{33EE45D4-065C-FD8C-74B5-66ECAF382C12}"/>
                </a:ext>
              </a:extLst>
            </p:cNvPr>
            <p:cNvSpPr/>
            <p:nvPr/>
          </p:nvSpPr>
          <p:spPr>
            <a:xfrm>
              <a:off x="3230880" y="2559812"/>
              <a:ext cx="3977640" cy="4663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334155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✔  </a:t>
              </a:r>
              <a:r>
                <a:rPr lang="en-US" sz="1400" dirty="0">
                  <a:solidFill>
                    <a:srgbClr val="334155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대규모 조직 = 복잡성 </a:t>
              </a:r>
              <a:r>
                <a:rPr lang="en-US" sz="1400" dirty="0" err="1">
                  <a:solidFill>
                    <a:srgbClr val="334155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관리</a:t>
              </a:r>
              <a:r>
                <a:rPr lang="en-US" sz="1400" dirty="0">
                  <a:solidFill>
                    <a:srgbClr val="334155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</a:t>
              </a:r>
              <a:r>
                <a:rPr lang="en-US" sz="1400" dirty="0" err="1">
                  <a:solidFill>
                    <a:srgbClr val="334155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도구로</a:t>
              </a:r>
              <a:r>
                <a:rPr lang="ko-KR" altLang="en-US" sz="1400" dirty="0">
                  <a:solidFill>
                    <a:srgbClr val="334155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써</a:t>
              </a:r>
              <a:r>
                <a:rPr lang="en-US" sz="1400" dirty="0">
                  <a:solidFill>
                    <a:srgbClr val="334155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</a:t>
              </a:r>
              <a:r>
                <a:rPr lang="ko-KR" altLang="en-US" sz="1400" dirty="0">
                  <a:solidFill>
                    <a:srgbClr val="334155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세션 </a:t>
              </a:r>
              <a:r>
                <a:rPr lang="en-US" sz="1400" dirty="0">
                  <a:solidFill>
                    <a:srgbClr val="334155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C 효과적</a:t>
              </a:r>
              <a:endParaRPr lang="en-US" sz="14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6" name="Shape 8">
              <a:extLst>
                <a:ext uri="{FF2B5EF4-FFF2-40B4-BE49-F238E27FC236}">
                  <a16:creationId xmlns:a16="http://schemas.microsoft.com/office/drawing/2014/main" id="{F9A73E35-7F14-AE54-F6B6-F26DF5BC00E6}"/>
                </a:ext>
              </a:extLst>
            </p:cNvPr>
            <p:cNvSpPr/>
            <p:nvPr/>
          </p:nvSpPr>
          <p:spPr>
            <a:xfrm>
              <a:off x="3139440" y="3099308"/>
              <a:ext cx="4160520" cy="502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 sz="200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7" name="Text 9">
              <a:extLst>
                <a:ext uri="{FF2B5EF4-FFF2-40B4-BE49-F238E27FC236}">
                  <a16:creationId xmlns:a16="http://schemas.microsoft.com/office/drawing/2014/main" id="{B0CBE4B9-58AC-7C8E-41FA-DF2A1BC0D17F}"/>
                </a:ext>
              </a:extLst>
            </p:cNvPr>
            <p:cNvSpPr/>
            <p:nvPr/>
          </p:nvSpPr>
          <p:spPr>
            <a:xfrm>
              <a:off x="3230880" y="3117596"/>
              <a:ext cx="3977640" cy="4663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334155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✔  활력 곡선 → 관료주의 타파, 성과 문화 정착</a:t>
              </a:r>
              <a:endParaRPr lang="en-US" sz="15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8" name="Shape 10">
              <a:extLst>
                <a:ext uri="{FF2B5EF4-FFF2-40B4-BE49-F238E27FC236}">
                  <a16:creationId xmlns:a16="http://schemas.microsoft.com/office/drawing/2014/main" id="{2553CD58-2073-BAEA-1CB9-D91C3EDC3B4D}"/>
                </a:ext>
              </a:extLst>
            </p:cNvPr>
            <p:cNvSpPr/>
            <p:nvPr/>
          </p:nvSpPr>
          <p:spPr>
            <a:xfrm>
              <a:off x="3139440" y="3657092"/>
              <a:ext cx="4160520" cy="502920"/>
            </a:xfrm>
            <a:prstGeom prst="rect">
              <a:avLst/>
            </a:prstGeom>
            <a:solidFill>
              <a:srgbClr val="F0F6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 sz="200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9" name="Text 11">
              <a:extLst>
                <a:ext uri="{FF2B5EF4-FFF2-40B4-BE49-F238E27FC236}">
                  <a16:creationId xmlns:a16="http://schemas.microsoft.com/office/drawing/2014/main" id="{DF45BEAA-A953-1E83-7CC6-4B73212D5FF2}"/>
                </a:ext>
              </a:extLst>
            </p:cNvPr>
            <p:cNvSpPr/>
            <p:nvPr/>
          </p:nvSpPr>
          <p:spPr>
            <a:xfrm>
              <a:off x="3230880" y="3675380"/>
              <a:ext cx="3977640" cy="4663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334155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✔  </a:t>
              </a:r>
              <a:r>
                <a:rPr lang="ko-KR" altLang="en-US" sz="1500" dirty="0" err="1">
                  <a:solidFill>
                    <a:srgbClr val="334155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크래톤빌</a:t>
              </a:r>
              <a:r>
                <a:rPr lang="en-US" sz="1500" dirty="0">
                  <a:solidFill>
                    <a:srgbClr val="334155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= 문화 공유·네트워크 허브</a:t>
              </a:r>
              <a:endParaRPr lang="en-US" sz="15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50" name="Shape 12">
              <a:extLst>
                <a:ext uri="{FF2B5EF4-FFF2-40B4-BE49-F238E27FC236}">
                  <a16:creationId xmlns:a16="http://schemas.microsoft.com/office/drawing/2014/main" id="{B0CE8C93-5FFE-15C9-675B-D9F97F1F4073}"/>
                </a:ext>
              </a:extLst>
            </p:cNvPr>
            <p:cNvSpPr/>
            <p:nvPr/>
          </p:nvSpPr>
          <p:spPr>
            <a:xfrm>
              <a:off x="3139440" y="4214876"/>
              <a:ext cx="4160520" cy="502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 sz="150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51" name="Text 13">
              <a:extLst>
                <a:ext uri="{FF2B5EF4-FFF2-40B4-BE49-F238E27FC236}">
                  <a16:creationId xmlns:a16="http://schemas.microsoft.com/office/drawing/2014/main" id="{7B8DC46C-E3E5-8F24-6BD5-D474873E14A0}"/>
                </a:ext>
              </a:extLst>
            </p:cNvPr>
            <p:cNvSpPr/>
            <p:nvPr/>
          </p:nvSpPr>
          <p:spPr>
            <a:xfrm>
              <a:off x="3230880" y="4233164"/>
              <a:ext cx="3977640" cy="4663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334155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✔  내부 육성 = 암묵지 축적 + 충성도 확보</a:t>
              </a:r>
              <a:endParaRPr lang="en-US" sz="15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52" name="Shape 14">
              <a:extLst>
                <a:ext uri="{FF2B5EF4-FFF2-40B4-BE49-F238E27FC236}">
                  <a16:creationId xmlns:a16="http://schemas.microsoft.com/office/drawing/2014/main" id="{F57196DD-4B3A-F7BF-D043-DF2AE6220F24}"/>
                </a:ext>
              </a:extLst>
            </p:cNvPr>
            <p:cNvSpPr/>
            <p:nvPr/>
          </p:nvSpPr>
          <p:spPr>
            <a:xfrm>
              <a:off x="3139440" y="4772660"/>
              <a:ext cx="4160520" cy="502920"/>
            </a:xfrm>
            <a:prstGeom prst="rect">
              <a:avLst/>
            </a:prstGeom>
            <a:solidFill>
              <a:srgbClr val="F0F6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 sz="200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53" name="Text 15">
              <a:extLst>
                <a:ext uri="{FF2B5EF4-FFF2-40B4-BE49-F238E27FC236}">
                  <a16:creationId xmlns:a16="http://schemas.microsoft.com/office/drawing/2014/main" id="{2DE30E84-17D7-7E96-13EB-E0386C035793}"/>
                </a:ext>
              </a:extLst>
            </p:cNvPr>
            <p:cNvSpPr/>
            <p:nvPr/>
          </p:nvSpPr>
          <p:spPr>
            <a:xfrm>
              <a:off x="3230880" y="4790948"/>
              <a:ext cx="3977640" cy="4663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334155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✔  GE Capital의 안정적 이익으로 산업 투자 지원</a:t>
              </a:r>
              <a:endParaRPr lang="en-US" sz="15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54" name="Shape 16">
              <a:extLst>
                <a:ext uri="{FF2B5EF4-FFF2-40B4-BE49-F238E27FC236}">
                  <a16:creationId xmlns:a16="http://schemas.microsoft.com/office/drawing/2014/main" id="{407FFDDC-803D-CA4C-C2FD-82A325DDA248}"/>
                </a:ext>
              </a:extLst>
            </p:cNvPr>
            <p:cNvSpPr/>
            <p:nvPr/>
          </p:nvSpPr>
          <p:spPr>
            <a:xfrm>
              <a:off x="7482840" y="1499108"/>
              <a:ext cx="4160520" cy="41148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>
                <a:solidFill>
                  <a:schemeClr val="accent2">
                    <a:lumMod val="50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55" name="Text 17">
              <a:extLst>
                <a:ext uri="{FF2B5EF4-FFF2-40B4-BE49-F238E27FC236}">
                  <a16:creationId xmlns:a16="http://schemas.microsoft.com/office/drawing/2014/main" id="{52C384FA-B91D-1FE0-909B-9B0BFB8926EC}"/>
                </a:ext>
              </a:extLst>
            </p:cNvPr>
            <p:cNvSpPr/>
            <p:nvPr/>
          </p:nvSpPr>
          <p:spPr>
            <a:xfrm>
              <a:off x="7482840" y="1499108"/>
              <a:ext cx="41605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 err="1">
                  <a:solidFill>
                    <a:srgbClr val="FFFFFF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지금은</a:t>
              </a:r>
              <a:r>
                <a:rPr lang="en-US" sz="2000" b="1" dirty="0">
                  <a:solidFill>
                    <a:srgbClr val="FFFFFF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틀리다 </a:t>
              </a:r>
              <a:r>
                <a:rPr lang="en-US" sz="1400" b="1" dirty="0">
                  <a:solidFill>
                    <a:srgbClr val="FFFFFF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(2010</a:t>
              </a:r>
              <a:r>
                <a:rPr lang="ko-KR" altLang="en-US" sz="1400" b="1" dirty="0">
                  <a:solidFill>
                    <a:srgbClr val="FFFFFF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년대</a:t>
              </a:r>
              <a:r>
                <a:rPr lang="en-US" sz="1400" b="1" dirty="0">
                  <a:solidFill>
                    <a:srgbClr val="FFFFFF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~현재)</a:t>
              </a:r>
              <a:endParaRPr lang="en-US" sz="14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56" name="Shape 18">
              <a:extLst>
                <a:ext uri="{FF2B5EF4-FFF2-40B4-BE49-F238E27FC236}">
                  <a16:creationId xmlns:a16="http://schemas.microsoft.com/office/drawing/2014/main" id="{DE41F0DA-9633-26CD-45E7-DDB28D2CE2E5}"/>
                </a:ext>
              </a:extLst>
            </p:cNvPr>
            <p:cNvSpPr/>
            <p:nvPr/>
          </p:nvSpPr>
          <p:spPr>
            <a:xfrm>
              <a:off x="7482840" y="1983740"/>
              <a:ext cx="4160520" cy="502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57" name="Text 19">
              <a:extLst>
                <a:ext uri="{FF2B5EF4-FFF2-40B4-BE49-F238E27FC236}">
                  <a16:creationId xmlns:a16="http://schemas.microsoft.com/office/drawing/2014/main" id="{1C4D01A2-0754-B979-9C5F-8B356AA19BDF}"/>
                </a:ext>
              </a:extLst>
            </p:cNvPr>
            <p:cNvSpPr/>
            <p:nvPr/>
          </p:nvSpPr>
          <p:spPr>
            <a:xfrm>
              <a:off x="7574280" y="2002028"/>
              <a:ext cx="3977640" cy="4663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DC2626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✖  VUCA 환경 → 5~10년 커리어 경로 예측 불가</a:t>
              </a:r>
              <a:endParaRPr lang="en-US" sz="15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58" name="Shape 20">
              <a:extLst>
                <a:ext uri="{FF2B5EF4-FFF2-40B4-BE49-F238E27FC236}">
                  <a16:creationId xmlns:a16="http://schemas.microsoft.com/office/drawing/2014/main" id="{AF056FFB-6222-F77B-C836-FD898208C34A}"/>
                </a:ext>
              </a:extLst>
            </p:cNvPr>
            <p:cNvSpPr/>
            <p:nvPr/>
          </p:nvSpPr>
          <p:spPr>
            <a:xfrm>
              <a:off x="7482840" y="2541524"/>
              <a:ext cx="4160520" cy="502920"/>
            </a:xfrm>
            <a:prstGeom prst="rect">
              <a:avLst/>
            </a:prstGeom>
            <a:solidFill>
              <a:srgbClr val="F0F6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59" name="Text 21">
              <a:extLst>
                <a:ext uri="{FF2B5EF4-FFF2-40B4-BE49-F238E27FC236}">
                  <a16:creationId xmlns:a16="http://schemas.microsoft.com/office/drawing/2014/main" id="{E64BB451-5FE2-B30A-0B27-C6C4C019A91B}"/>
                </a:ext>
              </a:extLst>
            </p:cNvPr>
            <p:cNvSpPr/>
            <p:nvPr/>
          </p:nvSpPr>
          <p:spPr>
            <a:xfrm>
              <a:off x="7574280" y="2559812"/>
              <a:ext cx="3977640" cy="4663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DC2626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✖  강제 서열화(10% 퇴출) → 협업·심리 안전감 훼손</a:t>
              </a:r>
              <a:endParaRPr lang="en-US" sz="15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60" name="Shape 22">
              <a:extLst>
                <a:ext uri="{FF2B5EF4-FFF2-40B4-BE49-F238E27FC236}">
                  <a16:creationId xmlns:a16="http://schemas.microsoft.com/office/drawing/2014/main" id="{83C890C7-D36D-87D2-5744-6FA21594A0E1}"/>
                </a:ext>
              </a:extLst>
            </p:cNvPr>
            <p:cNvSpPr/>
            <p:nvPr/>
          </p:nvSpPr>
          <p:spPr>
            <a:xfrm>
              <a:off x="7482840" y="3099308"/>
              <a:ext cx="4160520" cy="502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 sz="150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61" name="Text 23">
              <a:extLst>
                <a:ext uri="{FF2B5EF4-FFF2-40B4-BE49-F238E27FC236}">
                  <a16:creationId xmlns:a16="http://schemas.microsoft.com/office/drawing/2014/main" id="{0EB4B132-6752-05BD-1E99-F31B472FA7C0}"/>
                </a:ext>
              </a:extLst>
            </p:cNvPr>
            <p:cNvSpPr/>
            <p:nvPr/>
          </p:nvSpPr>
          <p:spPr>
            <a:xfrm>
              <a:off x="7574280" y="3117596"/>
              <a:ext cx="3977640" cy="4663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DC2626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✖  디지털 시대 = 외부 인재·다양한 시각 필수</a:t>
              </a:r>
              <a:endParaRPr lang="en-US" sz="15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62" name="Shape 24">
              <a:extLst>
                <a:ext uri="{FF2B5EF4-FFF2-40B4-BE49-F238E27FC236}">
                  <a16:creationId xmlns:a16="http://schemas.microsoft.com/office/drawing/2014/main" id="{804BC6E3-A5A8-A5C4-919E-E7F1D511042A}"/>
                </a:ext>
              </a:extLst>
            </p:cNvPr>
            <p:cNvSpPr/>
            <p:nvPr/>
          </p:nvSpPr>
          <p:spPr>
            <a:xfrm>
              <a:off x="7482840" y="3657092"/>
              <a:ext cx="4160520" cy="502920"/>
            </a:xfrm>
            <a:prstGeom prst="rect">
              <a:avLst/>
            </a:prstGeom>
            <a:solidFill>
              <a:srgbClr val="F0F6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63" name="Text 25">
              <a:extLst>
                <a:ext uri="{FF2B5EF4-FFF2-40B4-BE49-F238E27FC236}">
                  <a16:creationId xmlns:a16="http://schemas.microsoft.com/office/drawing/2014/main" id="{46015BF2-81DB-F1AE-EE1E-82D9E0DC6075}"/>
                </a:ext>
              </a:extLst>
            </p:cNvPr>
            <p:cNvSpPr/>
            <p:nvPr/>
          </p:nvSpPr>
          <p:spPr>
            <a:xfrm>
              <a:off x="7574280" y="3675380"/>
              <a:ext cx="3977640" cy="4663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DC2626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✖  원격·분산 조직 → 물리적 집합 교육 모델 한계</a:t>
              </a:r>
              <a:endParaRPr lang="en-US" sz="15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64" name="Shape 26">
              <a:extLst>
                <a:ext uri="{FF2B5EF4-FFF2-40B4-BE49-F238E27FC236}">
                  <a16:creationId xmlns:a16="http://schemas.microsoft.com/office/drawing/2014/main" id="{4FEF5876-1048-1BD4-D5FB-31E227AB3DF2}"/>
                </a:ext>
              </a:extLst>
            </p:cNvPr>
            <p:cNvSpPr/>
            <p:nvPr/>
          </p:nvSpPr>
          <p:spPr>
            <a:xfrm>
              <a:off x="7482840" y="4214876"/>
              <a:ext cx="4160520" cy="502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65" name="Text 27">
              <a:extLst>
                <a:ext uri="{FF2B5EF4-FFF2-40B4-BE49-F238E27FC236}">
                  <a16:creationId xmlns:a16="http://schemas.microsoft.com/office/drawing/2014/main" id="{93646A4F-2B25-6CB4-953F-5AB899CC7799}"/>
                </a:ext>
              </a:extLst>
            </p:cNvPr>
            <p:cNvSpPr/>
            <p:nvPr/>
          </p:nvSpPr>
          <p:spPr>
            <a:xfrm>
              <a:off x="7574280" y="4233164"/>
              <a:ext cx="3977640" cy="4663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DC2626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✖  지식 노동자는 '소유'가 아닌 자율성 추구</a:t>
              </a:r>
              <a:endParaRPr lang="en-US" sz="15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66" name="Shape 28">
              <a:extLst>
                <a:ext uri="{FF2B5EF4-FFF2-40B4-BE49-F238E27FC236}">
                  <a16:creationId xmlns:a16="http://schemas.microsoft.com/office/drawing/2014/main" id="{75C19D62-2AEF-0C80-351E-EEA4207353C9}"/>
                </a:ext>
              </a:extLst>
            </p:cNvPr>
            <p:cNvSpPr/>
            <p:nvPr/>
          </p:nvSpPr>
          <p:spPr>
            <a:xfrm>
              <a:off x="7482840" y="4772660"/>
              <a:ext cx="4160520" cy="502920"/>
            </a:xfrm>
            <a:prstGeom prst="rect">
              <a:avLst/>
            </a:prstGeom>
            <a:solidFill>
              <a:srgbClr val="F0F6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 sz="200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67" name="Text 29">
              <a:extLst>
                <a:ext uri="{FF2B5EF4-FFF2-40B4-BE49-F238E27FC236}">
                  <a16:creationId xmlns:a16="http://schemas.microsoft.com/office/drawing/2014/main" id="{C6A881F9-7CDD-4C8A-E45D-A7D5586F7EF8}"/>
                </a:ext>
              </a:extLst>
            </p:cNvPr>
            <p:cNvSpPr/>
            <p:nvPr/>
          </p:nvSpPr>
          <p:spPr>
            <a:xfrm>
              <a:off x="7574280" y="4790948"/>
              <a:ext cx="3977640" cy="4663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DC2626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✖  ESG·다양성 요구 → 단일 기준 메리토크라시 비판</a:t>
              </a:r>
              <a:endParaRPr lang="en-US" sz="15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2526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73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DEC03E-51B2-5948-FB61-E973279AA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7E3B2D87-EFC7-2BC2-EF78-1F2C0C05F324}"/>
              </a:ext>
            </a:extLst>
          </p:cNvPr>
          <p:cNvSpPr/>
          <p:nvPr/>
        </p:nvSpPr>
        <p:spPr>
          <a:xfrm>
            <a:off x="0" y="0"/>
            <a:ext cx="2604407" cy="6867303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52E419-5A5B-DDE4-BEAC-704367AA604C}"/>
              </a:ext>
            </a:extLst>
          </p:cNvPr>
          <p:cNvSpPr txBox="1"/>
          <p:nvPr/>
        </p:nvSpPr>
        <p:spPr>
          <a:xfrm>
            <a:off x="0" y="6048565"/>
            <a:ext cx="269276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[#6 CASE]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리더육성 및 교육훈련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GE’s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Talent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Machine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The Making of a CEO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DDDEFA-780B-9783-8A4B-03D0DFE08626}"/>
              </a:ext>
            </a:extLst>
          </p:cNvPr>
          <p:cNvSpPr txBox="1"/>
          <p:nvPr/>
        </p:nvSpPr>
        <p:spPr>
          <a:xfrm>
            <a:off x="-2" y="2528754"/>
            <a:ext cx="26044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현대 인재육성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패러다임으로의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전환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DCAD2C-FB66-7A0B-D99D-14F0B6C2CB18}"/>
              </a:ext>
            </a:extLst>
          </p:cNvPr>
          <p:cNvSpPr txBox="1"/>
          <p:nvPr/>
        </p:nvSpPr>
        <p:spPr>
          <a:xfrm>
            <a:off x="95335" y="116938"/>
            <a:ext cx="2381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Harvard Business School </a:t>
            </a:r>
          </a:p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CASE study</a:t>
            </a:r>
            <a:endParaRPr lang="ko-KR" altLang="en-US" sz="12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" name="Picture 2" descr="건국대학교 MBA">
            <a:extLst>
              <a:ext uri="{FF2B5EF4-FFF2-40B4-BE49-F238E27FC236}">
                <a16:creationId xmlns:a16="http://schemas.microsoft.com/office/drawing/2014/main" id="{6DBABE59-F47C-CFC9-4148-47529C6C9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861" y="146481"/>
            <a:ext cx="3029625" cy="38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0">
            <a:extLst>
              <a:ext uri="{FF2B5EF4-FFF2-40B4-BE49-F238E27FC236}">
                <a16:creationId xmlns:a16="http://schemas.microsoft.com/office/drawing/2014/main" id="{BFC6BF27-B0EA-3A1C-10F2-44469D57C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01" y="1149556"/>
            <a:ext cx="1147328" cy="114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Shape 2">
            <a:extLst>
              <a:ext uri="{FF2B5EF4-FFF2-40B4-BE49-F238E27FC236}">
                <a16:creationId xmlns:a16="http://schemas.microsoft.com/office/drawing/2014/main" id="{97362F06-E5C8-03D6-9B8B-EAE80FE9E3D2}"/>
              </a:ext>
            </a:extLst>
          </p:cNvPr>
          <p:cNvSpPr/>
          <p:nvPr/>
        </p:nvSpPr>
        <p:spPr>
          <a:xfrm>
            <a:off x="2895964" y="1499107"/>
            <a:ext cx="3970211" cy="52578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D151B786-807B-43A0-EE1A-26E70F486DFD}"/>
              </a:ext>
            </a:extLst>
          </p:cNvPr>
          <p:cNvSpPr/>
          <p:nvPr/>
        </p:nvSpPr>
        <p:spPr>
          <a:xfrm>
            <a:off x="2895964" y="1499107"/>
            <a:ext cx="3970211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과거의 </a:t>
            </a:r>
            <a:r>
              <a:rPr lang="en-US" altLang="ko-KR" sz="2000" b="1" dirty="0">
                <a:solidFill>
                  <a:srgbClr val="FFFFFF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 </a:t>
            </a:r>
            <a:r>
              <a:rPr lang="ko-KR" altLang="en-US" sz="2000" b="1" dirty="0">
                <a:solidFill>
                  <a:srgbClr val="FFFFFF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모델</a:t>
            </a:r>
            <a:endParaRPr lang="en-US" sz="1400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09D53529-B5F3-C051-52BB-4FDBA12A0648}"/>
              </a:ext>
            </a:extLst>
          </p:cNvPr>
          <p:cNvSpPr/>
          <p:nvPr/>
        </p:nvSpPr>
        <p:spPr>
          <a:xfrm>
            <a:off x="2895964" y="2118359"/>
            <a:ext cx="3970211" cy="642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3" name="Text 5">
            <a:extLst>
              <a:ext uri="{FF2B5EF4-FFF2-40B4-BE49-F238E27FC236}">
                <a16:creationId xmlns:a16="http://schemas.microsoft.com/office/drawing/2014/main" id="{D817484F-D130-F421-96E5-57517C1183B8}"/>
              </a:ext>
            </a:extLst>
          </p:cNvPr>
          <p:cNvSpPr/>
          <p:nvPr/>
        </p:nvSpPr>
        <p:spPr>
          <a:xfrm>
            <a:off x="2983221" y="2141727"/>
            <a:ext cx="3795696" cy="595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 종신고용 </a:t>
            </a:r>
            <a:r>
              <a:rPr lang="en-US" altLang="ko-KR" sz="1500" dirty="0"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&amp; </a:t>
            </a:r>
            <a:r>
              <a:rPr lang="ko-KR" altLang="en-US" sz="1500" dirty="0"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내부육성 중심</a:t>
            </a:r>
            <a:endParaRPr lang="en-US" sz="1500" dirty="0">
              <a:solidFill>
                <a:srgbClr val="C0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EE30FABA-B859-53AB-6CA2-A8A3A62E4031}"/>
              </a:ext>
            </a:extLst>
          </p:cNvPr>
          <p:cNvSpPr/>
          <p:nvPr/>
        </p:nvSpPr>
        <p:spPr>
          <a:xfrm>
            <a:off x="2895964" y="2831083"/>
            <a:ext cx="3970211" cy="64262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50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EAE26CB5-5CE5-72FE-2231-21500AA91EC9}"/>
              </a:ext>
            </a:extLst>
          </p:cNvPr>
          <p:cNvSpPr/>
          <p:nvPr/>
        </p:nvSpPr>
        <p:spPr>
          <a:xfrm>
            <a:off x="2983221" y="2854451"/>
            <a:ext cx="3795696" cy="595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 연간 강제 서열화</a:t>
            </a:r>
            <a:r>
              <a:rPr lang="en-US" altLang="ko-KR" sz="1500" dirty="0"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</a:t>
            </a:r>
            <a:r>
              <a:rPr lang="ko-KR" altLang="en-US" sz="1500" dirty="0"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활력곡선</a:t>
            </a:r>
            <a:r>
              <a:rPr lang="en-US" altLang="ko-KR" sz="1500" dirty="0"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)</a:t>
            </a:r>
            <a:endParaRPr lang="en-US" sz="1400" dirty="0">
              <a:solidFill>
                <a:srgbClr val="C0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6" name="Shape 8">
            <a:extLst>
              <a:ext uri="{FF2B5EF4-FFF2-40B4-BE49-F238E27FC236}">
                <a16:creationId xmlns:a16="http://schemas.microsoft.com/office/drawing/2014/main" id="{937E2077-6F2A-4199-4F07-D1179A8F88A6}"/>
              </a:ext>
            </a:extLst>
          </p:cNvPr>
          <p:cNvSpPr/>
          <p:nvPr/>
        </p:nvSpPr>
        <p:spPr>
          <a:xfrm>
            <a:off x="2895964" y="3543807"/>
            <a:ext cx="3970211" cy="642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4668FBE0-0BC6-3330-96A0-CE9B65D1D290}"/>
              </a:ext>
            </a:extLst>
          </p:cNvPr>
          <p:cNvSpPr/>
          <p:nvPr/>
        </p:nvSpPr>
        <p:spPr>
          <a:xfrm>
            <a:off x="2983221" y="3567175"/>
            <a:ext cx="3795696" cy="595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ko-KR" altLang="en-US" sz="1500" dirty="0"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집합교육 중심의 </a:t>
            </a:r>
            <a:r>
              <a:rPr lang="ko-KR" altLang="en-US" sz="1500" dirty="0" err="1"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크래톤빌</a:t>
            </a:r>
            <a:r>
              <a:rPr lang="ko-KR" altLang="en-US" sz="1500" dirty="0"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교육</a:t>
            </a:r>
            <a:endParaRPr lang="en-US" sz="1500" dirty="0">
              <a:solidFill>
                <a:srgbClr val="C0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48BE6227-7161-9037-A25C-829F17AB4608}"/>
              </a:ext>
            </a:extLst>
          </p:cNvPr>
          <p:cNvSpPr/>
          <p:nvPr/>
        </p:nvSpPr>
        <p:spPr>
          <a:xfrm>
            <a:off x="2895964" y="4256532"/>
            <a:ext cx="3970211" cy="64262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accent2">
                  <a:lumMod val="50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4C677390-9002-BA9D-A274-AC5E9761BD79}"/>
              </a:ext>
            </a:extLst>
          </p:cNvPr>
          <p:cNvSpPr/>
          <p:nvPr/>
        </p:nvSpPr>
        <p:spPr>
          <a:xfrm>
            <a:off x="2983221" y="4279900"/>
            <a:ext cx="3795696" cy="595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 </a:t>
            </a:r>
            <a:r>
              <a:rPr lang="ko-KR" altLang="en-US" sz="1500" dirty="0"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단일 가치관의 </a:t>
            </a:r>
            <a:r>
              <a:rPr lang="ko-KR" altLang="en-US" sz="1500" dirty="0" err="1"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메리토크라시</a:t>
            </a:r>
            <a:endParaRPr lang="en-US" sz="1500" dirty="0">
              <a:solidFill>
                <a:srgbClr val="C0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0" name="Shape 12">
            <a:extLst>
              <a:ext uri="{FF2B5EF4-FFF2-40B4-BE49-F238E27FC236}">
                <a16:creationId xmlns:a16="http://schemas.microsoft.com/office/drawing/2014/main" id="{4AA77FD5-4729-F602-522C-44C373FB1777}"/>
              </a:ext>
            </a:extLst>
          </p:cNvPr>
          <p:cNvSpPr/>
          <p:nvPr/>
        </p:nvSpPr>
        <p:spPr>
          <a:xfrm>
            <a:off x="2895964" y="4969256"/>
            <a:ext cx="3970211" cy="642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50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F5C4107E-3689-A7C1-3918-D50FE047B16E}"/>
              </a:ext>
            </a:extLst>
          </p:cNvPr>
          <p:cNvSpPr/>
          <p:nvPr/>
        </p:nvSpPr>
        <p:spPr>
          <a:xfrm>
            <a:off x="2983221" y="4992624"/>
            <a:ext cx="3795696" cy="595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CEO </a:t>
            </a:r>
            <a:r>
              <a:rPr lang="ko-KR" altLang="en-US" sz="1500" dirty="0"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공장식 계획적 승계</a:t>
            </a:r>
            <a:endParaRPr lang="en-US" sz="1500" dirty="0">
              <a:solidFill>
                <a:srgbClr val="C0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2" name="Shape 14">
            <a:extLst>
              <a:ext uri="{FF2B5EF4-FFF2-40B4-BE49-F238E27FC236}">
                <a16:creationId xmlns:a16="http://schemas.microsoft.com/office/drawing/2014/main" id="{7DDF4666-D1A9-3825-C918-BC1CBE21B3E5}"/>
              </a:ext>
            </a:extLst>
          </p:cNvPr>
          <p:cNvSpPr/>
          <p:nvPr/>
        </p:nvSpPr>
        <p:spPr>
          <a:xfrm>
            <a:off x="2895964" y="5681980"/>
            <a:ext cx="3970211" cy="64262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3" name="Text 15">
            <a:extLst>
              <a:ext uri="{FF2B5EF4-FFF2-40B4-BE49-F238E27FC236}">
                <a16:creationId xmlns:a16="http://schemas.microsoft.com/office/drawing/2014/main" id="{B4A024F2-F59B-84A1-76D2-83B916EE5AEA}"/>
              </a:ext>
            </a:extLst>
          </p:cNvPr>
          <p:cNvSpPr/>
          <p:nvPr/>
        </p:nvSpPr>
        <p:spPr>
          <a:xfrm>
            <a:off x="2983221" y="5705348"/>
            <a:ext cx="3795696" cy="595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 HR = </a:t>
            </a:r>
            <a:r>
              <a:rPr lang="ko-KR" altLang="en-US" sz="1500" dirty="0"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행정</a:t>
            </a:r>
            <a:r>
              <a:rPr lang="en-US" altLang="ko-KR" sz="1500" dirty="0"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. </a:t>
            </a:r>
            <a:r>
              <a:rPr lang="ko-KR" altLang="en-US" sz="1500" dirty="0"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통제기능</a:t>
            </a:r>
            <a:endParaRPr lang="en-US" sz="1500" dirty="0">
              <a:solidFill>
                <a:srgbClr val="C0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487C965D-2C6C-1D92-0BCF-98F5A011CBEA}"/>
              </a:ext>
            </a:extLst>
          </p:cNvPr>
          <p:cNvSpPr/>
          <p:nvPr/>
        </p:nvSpPr>
        <p:spPr>
          <a:xfrm>
            <a:off x="7967789" y="1499107"/>
            <a:ext cx="3970211" cy="525780"/>
          </a:xfrm>
          <a:prstGeom prst="rect">
            <a:avLst/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>
              <a:solidFill>
                <a:schemeClr val="accent2">
                  <a:lumMod val="50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CA907A71-44CD-205A-2B91-CF8D0968ECA4}"/>
              </a:ext>
            </a:extLst>
          </p:cNvPr>
          <p:cNvSpPr/>
          <p:nvPr/>
        </p:nvSpPr>
        <p:spPr>
          <a:xfrm>
            <a:off x="7967789" y="1499107"/>
            <a:ext cx="3970211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현대의 패러다임</a:t>
            </a:r>
            <a:endParaRPr lang="en-US" sz="14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BE15425A-EA3D-A2B7-18B9-F33C0E58FE70}"/>
              </a:ext>
            </a:extLst>
          </p:cNvPr>
          <p:cNvSpPr/>
          <p:nvPr/>
        </p:nvSpPr>
        <p:spPr>
          <a:xfrm>
            <a:off x="7967789" y="2118359"/>
            <a:ext cx="3970211" cy="642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B7F6BF83-1C80-A3EF-044F-935227A88110}"/>
              </a:ext>
            </a:extLst>
          </p:cNvPr>
          <p:cNvSpPr/>
          <p:nvPr/>
        </p:nvSpPr>
        <p:spPr>
          <a:xfrm>
            <a:off x="8055047" y="2141727"/>
            <a:ext cx="3795696" cy="595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 </a:t>
            </a:r>
            <a:r>
              <a:rPr lang="ko-KR" altLang="en-US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유동적 경력 </a:t>
            </a:r>
            <a:r>
              <a:rPr lang="en-US" altLang="ko-KR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&amp; </a:t>
            </a:r>
            <a:r>
              <a:rPr lang="ko-KR" altLang="en-US" sz="1500" dirty="0" err="1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내외부</a:t>
            </a:r>
            <a:r>
              <a:rPr lang="ko-KR" altLang="en-US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채용</a:t>
            </a:r>
            <a:endParaRPr lang="en-US" sz="1500" dirty="0">
              <a:solidFill>
                <a:schemeClr val="accent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FC562F8F-9E97-9F3F-9FCE-2415CCF6F2EA}"/>
              </a:ext>
            </a:extLst>
          </p:cNvPr>
          <p:cNvSpPr/>
          <p:nvPr/>
        </p:nvSpPr>
        <p:spPr>
          <a:xfrm>
            <a:off x="7967789" y="2831083"/>
            <a:ext cx="3970211" cy="64262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43873FA2-08E9-AC72-6692-2319FC77C7AD}"/>
              </a:ext>
            </a:extLst>
          </p:cNvPr>
          <p:cNvSpPr/>
          <p:nvPr/>
        </p:nvSpPr>
        <p:spPr>
          <a:xfrm>
            <a:off x="8055047" y="2854451"/>
            <a:ext cx="3795696" cy="595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 </a:t>
            </a:r>
            <a:r>
              <a:rPr lang="ko-KR" altLang="en-US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지속적 성장 피드백 </a:t>
            </a:r>
            <a:r>
              <a:rPr lang="en-US" altLang="ko-KR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&amp; </a:t>
            </a:r>
            <a:r>
              <a:rPr lang="ko-KR" altLang="en-US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코칭 문화</a:t>
            </a:r>
            <a:endParaRPr lang="en-US" sz="1500" dirty="0">
              <a:solidFill>
                <a:schemeClr val="accent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60" name="Shape 22">
            <a:extLst>
              <a:ext uri="{FF2B5EF4-FFF2-40B4-BE49-F238E27FC236}">
                <a16:creationId xmlns:a16="http://schemas.microsoft.com/office/drawing/2014/main" id="{815DC06F-04D4-E88B-8E12-4D5F009AD1AE}"/>
              </a:ext>
            </a:extLst>
          </p:cNvPr>
          <p:cNvSpPr/>
          <p:nvPr/>
        </p:nvSpPr>
        <p:spPr>
          <a:xfrm>
            <a:off x="7967789" y="3543807"/>
            <a:ext cx="3970211" cy="642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150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9F8ED433-D14E-DD11-3785-C17A2EA3D730}"/>
              </a:ext>
            </a:extLst>
          </p:cNvPr>
          <p:cNvSpPr/>
          <p:nvPr/>
        </p:nvSpPr>
        <p:spPr>
          <a:xfrm>
            <a:off x="8055047" y="3567175"/>
            <a:ext cx="3795696" cy="595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ko-KR" altLang="en-US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개인 맞춤형 디지털 학습 </a:t>
            </a:r>
            <a:r>
              <a:rPr lang="en-US" altLang="ko-KR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+ </a:t>
            </a:r>
            <a:r>
              <a:rPr lang="ko-KR" altLang="en-US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경험 학습</a:t>
            </a:r>
            <a:endParaRPr lang="en-US" sz="1500" dirty="0">
              <a:solidFill>
                <a:schemeClr val="accent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62" name="Shape 24">
            <a:extLst>
              <a:ext uri="{FF2B5EF4-FFF2-40B4-BE49-F238E27FC236}">
                <a16:creationId xmlns:a16="http://schemas.microsoft.com/office/drawing/2014/main" id="{CFFB0E09-8D83-1F54-27DD-6EA3C08D7144}"/>
              </a:ext>
            </a:extLst>
          </p:cNvPr>
          <p:cNvSpPr/>
          <p:nvPr/>
        </p:nvSpPr>
        <p:spPr>
          <a:xfrm>
            <a:off x="7967789" y="4256532"/>
            <a:ext cx="3970211" cy="64262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63" name="Text 25">
            <a:extLst>
              <a:ext uri="{FF2B5EF4-FFF2-40B4-BE49-F238E27FC236}">
                <a16:creationId xmlns:a16="http://schemas.microsoft.com/office/drawing/2014/main" id="{D1FB6A02-E4D4-9259-D267-B2F665AD70AB}"/>
              </a:ext>
            </a:extLst>
          </p:cNvPr>
          <p:cNvSpPr/>
          <p:nvPr/>
        </p:nvSpPr>
        <p:spPr>
          <a:xfrm>
            <a:off x="8055047" y="4279900"/>
            <a:ext cx="3795696" cy="595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ko-KR" altLang="en-US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다양성</a:t>
            </a:r>
            <a:r>
              <a:rPr lang="en-US" altLang="ko-KR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  <a:r>
              <a:rPr lang="ko-KR" altLang="en-US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형평성</a:t>
            </a:r>
            <a:r>
              <a:rPr lang="en-US" altLang="ko-KR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  <a:r>
              <a:rPr lang="ko-KR" altLang="en-US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포용성</a:t>
            </a:r>
            <a:r>
              <a:rPr lang="en-US" altLang="ko-KR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(DEI) </a:t>
            </a:r>
            <a:r>
              <a:rPr lang="ko-KR" altLang="en-US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기반 평가</a:t>
            </a:r>
            <a:endParaRPr lang="en-US" sz="1500" dirty="0">
              <a:solidFill>
                <a:schemeClr val="accent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64" name="Shape 26">
            <a:extLst>
              <a:ext uri="{FF2B5EF4-FFF2-40B4-BE49-F238E27FC236}">
                <a16:creationId xmlns:a16="http://schemas.microsoft.com/office/drawing/2014/main" id="{61771F4E-1DD9-2914-41A1-25C0D944505A}"/>
              </a:ext>
            </a:extLst>
          </p:cNvPr>
          <p:cNvSpPr/>
          <p:nvPr/>
        </p:nvSpPr>
        <p:spPr>
          <a:xfrm>
            <a:off x="7967789" y="4969256"/>
            <a:ext cx="3970211" cy="6426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65" name="Text 27">
            <a:extLst>
              <a:ext uri="{FF2B5EF4-FFF2-40B4-BE49-F238E27FC236}">
                <a16:creationId xmlns:a16="http://schemas.microsoft.com/office/drawing/2014/main" id="{B2D7BCBA-C111-331E-4669-6A137C2C7698}"/>
              </a:ext>
            </a:extLst>
          </p:cNvPr>
          <p:cNvSpPr/>
          <p:nvPr/>
        </p:nvSpPr>
        <p:spPr>
          <a:xfrm>
            <a:off x="8055047" y="4992624"/>
            <a:ext cx="3795696" cy="595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ko-KR" altLang="en-US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애자일 리더십 풀 </a:t>
            </a:r>
            <a:r>
              <a:rPr lang="en-US" altLang="ko-KR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&amp; </a:t>
            </a:r>
            <a:r>
              <a:rPr lang="ko-KR" altLang="en-US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분산 의사결정</a:t>
            </a:r>
            <a:endParaRPr lang="en-US" sz="1500" dirty="0">
              <a:solidFill>
                <a:schemeClr val="accent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66" name="Shape 28">
            <a:extLst>
              <a:ext uri="{FF2B5EF4-FFF2-40B4-BE49-F238E27FC236}">
                <a16:creationId xmlns:a16="http://schemas.microsoft.com/office/drawing/2014/main" id="{2CD620A8-C1EB-6C45-E40B-CE3711A4C529}"/>
              </a:ext>
            </a:extLst>
          </p:cNvPr>
          <p:cNvSpPr/>
          <p:nvPr/>
        </p:nvSpPr>
        <p:spPr>
          <a:xfrm>
            <a:off x="7967789" y="5681980"/>
            <a:ext cx="3970211" cy="642620"/>
          </a:xfrm>
          <a:prstGeom prst="rect">
            <a:avLst/>
          </a:prstGeom>
          <a:solidFill>
            <a:srgbClr val="F0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67" name="Text 29">
            <a:extLst>
              <a:ext uri="{FF2B5EF4-FFF2-40B4-BE49-F238E27FC236}">
                <a16:creationId xmlns:a16="http://schemas.microsoft.com/office/drawing/2014/main" id="{08C9899D-CB7E-4F91-6A7C-0ED9E7DE46F9}"/>
              </a:ext>
            </a:extLst>
          </p:cNvPr>
          <p:cNvSpPr/>
          <p:nvPr/>
        </p:nvSpPr>
        <p:spPr>
          <a:xfrm>
            <a:off x="8055047" y="5705348"/>
            <a:ext cx="3795696" cy="595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HR = </a:t>
            </a:r>
            <a:r>
              <a:rPr lang="ko-KR" altLang="en-US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직원경험</a:t>
            </a:r>
            <a:r>
              <a:rPr lang="en-US" altLang="ko-KR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  <a:r>
              <a:rPr lang="ko-KR" altLang="en-US" sz="1500" dirty="0">
                <a:solidFill>
                  <a:schemeClr val="accent1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비즈니스 파트너</a:t>
            </a:r>
            <a:endParaRPr lang="en-US" sz="1500" dirty="0">
              <a:solidFill>
                <a:schemeClr val="accent1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3300FE70-C751-9F46-5967-9C2EAC50FC8C}"/>
              </a:ext>
            </a:extLst>
          </p:cNvPr>
          <p:cNvSpPr/>
          <p:nvPr/>
        </p:nvSpPr>
        <p:spPr>
          <a:xfrm>
            <a:off x="7157732" y="3450335"/>
            <a:ext cx="539568" cy="736092"/>
          </a:xfrm>
          <a:prstGeom prst="rightArrow">
            <a:avLst>
              <a:gd name="adj1" fmla="val 42095"/>
              <a:gd name="adj2" fmla="val 37879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121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73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082822-FBF5-DD37-A7FB-2554A9E7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016E770-6322-F990-3C4A-21984123CC31}"/>
              </a:ext>
            </a:extLst>
          </p:cNvPr>
          <p:cNvSpPr/>
          <p:nvPr/>
        </p:nvSpPr>
        <p:spPr>
          <a:xfrm>
            <a:off x="2853916" y="3833584"/>
            <a:ext cx="4446860" cy="2717800"/>
          </a:xfrm>
          <a:prstGeom prst="roundRect">
            <a:avLst>
              <a:gd name="adj" fmla="val 1292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C18FB69-2D5C-66FF-7A1E-AE8575618AD8}"/>
              </a:ext>
            </a:extLst>
          </p:cNvPr>
          <p:cNvSpPr/>
          <p:nvPr/>
        </p:nvSpPr>
        <p:spPr>
          <a:xfrm>
            <a:off x="7517198" y="955484"/>
            <a:ext cx="4446860" cy="2717800"/>
          </a:xfrm>
          <a:prstGeom prst="roundRect">
            <a:avLst>
              <a:gd name="adj" fmla="val 1292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CCD5B18-9937-6467-23ED-0BFB0D2B57FC}"/>
              </a:ext>
            </a:extLst>
          </p:cNvPr>
          <p:cNvSpPr/>
          <p:nvPr/>
        </p:nvSpPr>
        <p:spPr>
          <a:xfrm>
            <a:off x="7570629" y="3833584"/>
            <a:ext cx="4446860" cy="2717800"/>
          </a:xfrm>
          <a:prstGeom prst="roundRect">
            <a:avLst>
              <a:gd name="adj" fmla="val 1292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130FD82-CF68-F514-1625-3E5BB4E0458F}"/>
              </a:ext>
            </a:extLst>
          </p:cNvPr>
          <p:cNvSpPr/>
          <p:nvPr/>
        </p:nvSpPr>
        <p:spPr>
          <a:xfrm>
            <a:off x="2853916" y="937984"/>
            <a:ext cx="4446860" cy="2717800"/>
          </a:xfrm>
          <a:prstGeom prst="roundRect">
            <a:avLst>
              <a:gd name="adj" fmla="val 1292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1D7EBC-5444-891B-EF39-0FE86812DB22}"/>
              </a:ext>
            </a:extLst>
          </p:cNvPr>
          <p:cNvSpPr/>
          <p:nvPr/>
        </p:nvSpPr>
        <p:spPr>
          <a:xfrm>
            <a:off x="0" y="0"/>
            <a:ext cx="2604407" cy="6867303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84C96F-E633-B234-454E-CD5A3FD2FD64}"/>
              </a:ext>
            </a:extLst>
          </p:cNvPr>
          <p:cNvSpPr txBox="1"/>
          <p:nvPr/>
        </p:nvSpPr>
        <p:spPr>
          <a:xfrm>
            <a:off x="0" y="6048565"/>
            <a:ext cx="269276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[#6 CASE]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리더육성 및 교육훈련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GE’s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Talent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Machine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The Making of a CEO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A03A6A-0D34-26AC-753B-D728DB714371}"/>
              </a:ext>
            </a:extLst>
          </p:cNvPr>
          <p:cNvSpPr txBox="1"/>
          <p:nvPr/>
        </p:nvSpPr>
        <p:spPr>
          <a:xfrm>
            <a:off x="-2" y="2528754"/>
            <a:ext cx="26044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현대 기업의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인재육성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CEDB5E-615D-48AE-0228-D5E58345F666}"/>
              </a:ext>
            </a:extLst>
          </p:cNvPr>
          <p:cNvSpPr txBox="1"/>
          <p:nvPr/>
        </p:nvSpPr>
        <p:spPr>
          <a:xfrm>
            <a:off x="95335" y="116938"/>
            <a:ext cx="2381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Harvard Business School </a:t>
            </a:r>
          </a:p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CASE study</a:t>
            </a:r>
            <a:endParaRPr lang="ko-KR" altLang="en-US" sz="12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" name="Picture 2" descr="건국대학교 MBA">
            <a:extLst>
              <a:ext uri="{FF2B5EF4-FFF2-40B4-BE49-F238E27FC236}">
                <a16:creationId xmlns:a16="http://schemas.microsoft.com/office/drawing/2014/main" id="{FB643038-F3BC-1D04-881C-C5816FBC6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861" y="146481"/>
            <a:ext cx="3029625" cy="38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0">
            <a:extLst>
              <a:ext uri="{FF2B5EF4-FFF2-40B4-BE49-F238E27FC236}">
                <a16:creationId xmlns:a16="http://schemas.microsoft.com/office/drawing/2014/main" id="{340A7B7E-2535-C8F9-74BC-D96F8BD80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01" y="1149556"/>
            <a:ext cx="1147328" cy="114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한정되지 않은">
            <a:extLst>
              <a:ext uri="{FF2B5EF4-FFF2-40B4-BE49-F238E27FC236}">
                <a16:creationId xmlns:a16="http://schemas.microsoft.com/office/drawing/2014/main" id="{6F023623-4367-1A13-6780-1059735C4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247" y="4044419"/>
            <a:ext cx="1493053" cy="504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 for the Netflix service.">
            <a:extLst>
              <a:ext uri="{FF2B5EF4-FFF2-40B4-BE49-F238E27FC236}">
                <a16:creationId xmlns:a16="http://schemas.microsoft.com/office/drawing/2014/main" id="{782DF04A-8009-1327-2ADC-81130EC87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484" y="1144909"/>
            <a:ext cx="1308916" cy="352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icrosoft logo, depicting a square divided into four sub-squares, colored red-orange, green, yellow and blue (clockwise), with the company name appearing to its right">
            <a:extLst>
              <a:ext uri="{FF2B5EF4-FFF2-40B4-BE49-F238E27FC236}">
                <a16:creationId xmlns:a16="http://schemas.microsoft.com/office/drawing/2014/main" id="{9CF975AA-C890-40AE-EDE0-1BDFA209F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987" y="1149556"/>
            <a:ext cx="1570046" cy="335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2A0C6DBB-7884-27FF-9D7B-921289948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484" y="4027845"/>
            <a:ext cx="1557282" cy="521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3A6A73C-AE9E-8126-7571-8A1176F07047}"/>
              </a:ext>
            </a:extLst>
          </p:cNvPr>
          <p:cNvSpPr txBox="1"/>
          <p:nvPr/>
        </p:nvSpPr>
        <p:spPr>
          <a:xfrm>
            <a:off x="3173064" y="1666354"/>
            <a:ext cx="382890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성장마인드셋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문화 전환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강제 서열화 폐지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협업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·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학습 강조 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33F024-C444-8670-E8FC-A0960F7F627B}"/>
              </a:ext>
            </a:extLst>
          </p:cNvPr>
          <p:cNvSpPr txBox="1"/>
          <p:nvPr/>
        </p:nvSpPr>
        <p:spPr>
          <a:xfrm>
            <a:off x="4722540" y="1012014"/>
            <a:ext cx="2373195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 err="1">
                <a:solidFill>
                  <a:srgbClr val="3B73B9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Groth</a:t>
            </a:r>
            <a:r>
              <a:rPr lang="en-US" altLang="ko-KR" dirty="0">
                <a:solidFill>
                  <a:srgbClr val="3B73B9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Mindset</a:t>
            </a:r>
            <a:r>
              <a:rPr lang="ko-KR" altLang="en-US" dirty="0">
                <a:solidFill>
                  <a:srgbClr val="3B73B9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문화</a:t>
            </a:r>
            <a:endParaRPr lang="en-US" altLang="ko-KR" dirty="0">
              <a:solidFill>
                <a:srgbClr val="3B73B9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7B68D6-3C5E-E98D-B9B5-029231BBF121}"/>
              </a:ext>
            </a:extLst>
          </p:cNvPr>
          <p:cNvSpPr txBox="1"/>
          <p:nvPr/>
        </p:nvSpPr>
        <p:spPr>
          <a:xfrm>
            <a:off x="9325075" y="1063495"/>
            <a:ext cx="2373195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3B73B9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자유와 책임 모델</a:t>
            </a:r>
            <a:endParaRPr lang="en-US" altLang="ko-KR" dirty="0">
              <a:solidFill>
                <a:srgbClr val="3B73B9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2DCADC-C231-54C2-FBA6-CEE39D46A805}"/>
              </a:ext>
            </a:extLst>
          </p:cNvPr>
          <p:cNvSpPr txBox="1"/>
          <p:nvPr/>
        </p:nvSpPr>
        <p:spPr>
          <a:xfrm>
            <a:off x="9417766" y="3915678"/>
            <a:ext cx="2373195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3B73B9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리더십 원칙 내재화</a:t>
            </a:r>
            <a:endParaRPr lang="en-US" altLang="ko-KR" dirty="0">
              <a:solidFill>
                <a:srgbClr val="3B73B9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D06113-6AEA-DDBF-9C5D-EB6D41ADDFB5}"/>
              </a:ext>
            </a:extLst>
          </p:cNvPr>
          <p:cNvSpPr txBox="1"/>
          <p:nvPr/>
        </p:nvSpPr>
        <p:spPr>
          <a:xfrm>
            <a:off x="4614036" y="4020964"/>
            <a:ext cx="2373195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rgbClr val="3B73B9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OKR</a:t>
            </a:r>
            <a:r>
              <a:rPr lang="ko-KR" altLang="en-US" dirty="0">
                <a:solidFill>
                  <a:srgbClr val="3B73B9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dirty="0">
                <a:solidFill>
                  <a:srgbClr val="3B73B9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+</a:t>
            </a:r>
            <a:r>
              <a:rPr lang="ko-KR" altLang="en-US" dirty="0">
                <a:solidFill>
                  <a:srgbClr val="3B73B9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심리적 안정감</a:t>
            </a:r>
            <a:endParaRPr lang="en-US" altLang="ko-KR" dirty="0">
              <a:solidFill>
                <a:srgbClr val="3B73B9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EC25BB-6BD9-81CD-EE24-1C316CE8BA21}"/>
              </a:ext>
            </a:extLst>
          </p:cNvPr>
          <p:cNvSpPr txBox="1"/>
          <p:nvPr/>
        </p:nvSpPr>
        <p:spPr>
          <a:xfrm>
            <a:off x="7670791" y="1618795"/>
            <a:ext cx="412017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인재 밀도 극대화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, 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절차 최소화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최고성과자 유지 집중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후한 퇴직금으로 권고사직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30694B-63A0-53D6-7CE0-0CF64458124D}"/>
              </a:ext>
            </a:extLst>
          </p:cNvPr>
          <p:cNvSpPr txBox="1"/>
          <p:nvPr/>
        </p:nvSpPr>
        <p:spPr>
          <a:xfrm>
            <a:off x="3027433" y="4472996"/>
            <a:ext cx="4120170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(</a:t>
            </a:r>
            <a:r>
              <a:rPr lang="ko-KR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아리스토텔레스 프로젝트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팀 성과 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1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순위 요인은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심리적 안정감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투명한 </a:t>
            </a:r>
            <a:r>
              <a:rPr lang="ko-KR" alt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목표정렬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+</a:t>
            </a:r>
            <a:r>
              <a:rPr lang="ko-KR" alt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실험장려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문화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F823AA-B33C-9FDD-ADB5-6FDE815300B3}"/>
              </a:ext>
            </a:extLst>
          </p:cNvPr>
          <p:cNvSpPr txBox="1"/>
          <p:nvPr/>
        </p:nvSpPr>
        <p:spPr>
          <a:xfrm>
            <a:off x="7826174" y="4726912"/>
            <a:ext cx="38289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16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개 리더십 원칙을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채용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,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평가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,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승진 전과정에 적용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,</a:t>
            </a:r>
          </a:p>
          <a:p>
            <a:pPr algn="ctr"/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Bar Raiser 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제도로 채용기준 일관성 유지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2314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73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C1B632-26E9-4080-C4C7-678753170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96690F7-834A-573A-240D-0D1207DBA4C2}"/>
              </a:ext>
            </a:extLst>
          </p:cNvPr>
          <p:cNvSpPr/>
          <p:nvPr/>
        </p:nvSpPr>
        <p:spPr>
          <a:xfrm>
            <a:off x="0" y="0"/>
            <a:ext cx="2604407" cy="6867303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751F0B-820F-59E2-6003-25F9586DBF4A}"/>
              </a:ext>
            </a:extLst>
          </p:cNvPr>
          <p:cNvSpPr txBox="1"/>
          <p:nvPr/>
        </p:nvSpPr>
        <p:spPr>
          <a:xfrm>
            <a:off x="0" y="6048565"/>
            <a:ext cx="269276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[#6 CASE]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리더육성 및 교육훈련</a:t>
            </a:r>
            <a:endParaRPr lang="en-US" altLang="ko-KR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GE’s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Talent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Machine</a:t>
            </a:r>
          </a:p>
          <a:p>
            <a:pPr algn="ctr"/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The Making of a CEO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C3A84B-8AEC-8ACB-D271-D229FF75894E}"/>
              </a:ext>
            </a:extLst>
          </p:cNvPr>
          <p:cNvSpPr txBox="1"/>
          <p:nvPr/>
        </p:nvSpPr>
        <p:spPr>
          <a:xfrm>
            <a:off x="-2" y="2528754"/>
            <a:ext cx="26044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우리 같이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토론해봐요</a:t>
            </a: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!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D3FB94-24FF-F2C8-C08A-DC1E75E79B42}"/>
              </a:ext>
            </a:extLst>
          </p:cNvPr>
          <p:cNvSpPr txBox="1"/>
          <p:nvPr/>
        </p:nvSpPr>
        <p:spPr>
          <a:xfrm>
            <a:off x="95335" y="116938"/>
            <a:ext cx="2381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Harvard Business School </a:t>
            </a:r>
          </a:p>
          <a:p>
            <a:r>
              <a:rPr lang="en-US" altLang="ko-KR" sz="1200" dirty="0"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CASE study</a:t>
            </a:r>
            <a:endParaRPr lang="ko-KR" altLang="en-US" sz="12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" name="Picture 2" descr="건국대학교 MBA">
            <a:extLst>
              <a:ext uri="{FF2B5EF4-FFF2-40B4-BE49-F238E27FC236}">
                <a16:creationId xmlns:a16="http://schemas.microsoft.com/office/drawing/2014/main" id="{D534CF17-995E-B482-C06A-7C0215526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861" y="146481"/>
            <a:ext cx="3029625" cy="38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0">
            <a:extLst>
              <a:ext uri="{FF2B5EF4-FFF2-40B4-BE49-F238E27FC236}">
                <a16:creationId xmlns:a16="http://schemas.microsoft.com/office/drawing/2014/main" id="{1CE250F9-292B-7633-1B34-83423B696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01" y="1149556"/>
            <a:ext cx="1147328" cy="114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F6F72E-8C49-34F9-1F6E-55DC816E7B2D}"/>
              </a:ext>
            </a:extLst>
          </p:cNvPr>
          <p:cNvSpPr txBox="1"/>
          <p:nvPr/>
        </p:nvSpPr>
        <p:spPr>
          <a:xfrm>
            <a:off x="3443015" y="1005260"/>
            <a:ext cx="308957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Q1</a:t>
            </a:r>
          </a:p>
          <a:p>
            <a:pPr algn="ctr"/>
            <a:r>
              <a:rPr lang="ko-KR" altLang="en-US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평가의</a:t>
            </a:r>
            <a:endParaRPr lang="en-US" altLang="ko-KR" sz="4000" dirty="0">
              <a:solidFill>
                <a:srgbClr val="FFC000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강제서열화는</a:t>
            </a:r>
            <a:endParaRPr lang="en-US" altLang="ko-KR" sz="4000" dirty="0">
              <a:solidFill>
                <a:srgbClr val="FFC000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필요한가</a:t>
            </a:r>
            <a:r>
              <a:rPr lang="en-US" altLang="ko-KR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FA7D65-CEC3-4F23-8A30-5410B0E0AAB2}"/>
              </a:ext>
            </a:extLst>
          </p:cNvPr>
          <p:cNvSpPr txBox="1"/>
          <p:nvPr/>
        </p:nvSpPr>
        <p:spPr>
          <a:xfrm>
            <a:off x="8299087" y="916360"/>
            <a:ext cx="27122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Q2</a:t>
            </a:r>
          </a:p>
          <a:p>
            <a:pPr algn="ctr"/>
            <a:r>
              <a:rPr lang="en-US" altLang="ko-KR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GE</a:t>
            </a:r>
            <a:r>
              <a:rPr lang="ko-KR" altLang="en-US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는 왜</a:t>
            </a:r>
            <a:endParaRPr lang="en-US" altLang="ko-KR" sz="4000" dirty="0">
              <a:solidFill>
                <a:srgbClr val="FFC000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실패했는가</a:t>
            </a:r>
            <a:r>
              <a:rPr lang="en-US" altLang="ko-KR" sz="4000" dirty="0"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583436-8019-C064-272D-5677A44D78F0}"/>
              </a:ext>
            </a:extLst>
          </p:cNvPr>
          <p:cNvSpPr txBox="1"/>
          <p:nvPr/>
        </p:nvSpPr>
        <p:spPr>
          <a:xfrm>
            <a:off x="3097550" y="3714522"/>
            <a:ext cx="37805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강제서열화</a:t>
            </a:r>
            <a:r>
              <a:rPr lang="en-US" altLang="ko-KR" sz="2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,</a:t>
            </a: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보상의 집중화가</a:t>
            </a:r>
            <a:endParaRPr lang="en-US" altLang="ko-KR" sz="28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리더 육성에</a:t>
            </a:r>
            <a:endParaRPr lang="en-US" altLang="ko-KR" sz="28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기여하는가</a:t>
            </a:r>
            <a:r>
              <a:rPr lang="en-US" altLang="ko-KR" sz="2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DBEFD-0BDF-17AE-5623-101DAAE2C4A1}"/>
              </a:ext>
            </a:extLst>
          </p:cNvPr>
          <p:cNvSpPr txBox="1"/>
          <p:nvPr/>
        </p:nvSpPr>
        <p:spPr>
          <a:xfrm>
            <a:off x="7467601" y="3236105"/>
            <a:ext cx="43751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인재육성 시스템 자체의</a:t>
            </a:r>
            <a:endParaRPr lang="en-US" altLang="ko-KR" sz="28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문제인가</a:t>
            </a:r>
            <a:r>
              <a:rPr lang="en-US" altLang="ko-KR" sz="2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,</a:t>
            </a: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전략적 판단의 실패인가</a:t>
            </a:r>
            <a:r>
              <a:rPr lang="en-US" altLang="ko-KR" sz="2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,</a:t>
            </a: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아니면 외부 환경 변화</a:t>
            </a:r>
            <a:endParaRPr lang="en-US" altLang="ko-KR" sz="28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적응을 하지 못한 결과인가</a:t>
            </a:r>
            <a:r>
              <a:rPr lang="en-US" altLang="ko-KR" sz="2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99018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73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077020-F8DA-5A38-E920-B8572DA88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9166EAD-8E77-A99C-B10E-7222C2B81F5B}"/>
              </a:ext>
            </a:extLst>
          </p:cNvPr>
          <p:cNvSpPr txBox="1"/>
          <p:nvPr/>
        </p:nvSpPr>
        <p:spPr>
          <a:xfrm>
            <a:off x="1741411" y="3013501"/>
            <a:ext cx="8709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경청하여 주셔서 감사합니다</a:t>
            </a:r>
            <a:r>
              <a:rPr lang="en-US" altLang="ko-KR" sz="4800" dirty="0">
                <a:solidFill>
                  <a:schemeClr val="bg1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!</a:t>
            </a:r>
            <a:endParaRPr lang="ko-KR" altLang="en-US" sz="4800" dirty="0">
              <a:solidFill>
                <a:schemeClr val="bg1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3" name="Picture 2" descr="건국대학교 MBA">
            <a:extLst>
              <a:ext uri="{FF2B5EF4-FFF2-40B4-BE49-F238E27FC236}">
                <a16:creationId xmlns:a16="http://schemas.microsoft.com/office/drawing/2014/main" id="{80D7C5C9-6940-9106-EA08-4940FAABE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861" y="146481"/>
            <a:ext cx="3029625" cy="38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711E98B-BC16-31CD-B251-91EEF360DB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180" y="3844498"/>
            <a:ext cx="1844741" cy="223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66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1318</Words>
  <Application>Microsoft Office PowerPoint</Application>
  <PresentationFormat>와이드스크린</PresentationFormat>
  <Paragraphs>380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맑은 고딕</vt:lpstr>
      <vt:lpstr>Arial</vt:lpstr>
      <vt:lpstr>세방고딕 Bold</vt:lpstr>
      <vt:lpstr>세방고딕 Regular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이승민</dc:creator>
  <cp:lastModifiedBy>이승민</cp:lastModifiedBy>
  <cp:revision>8</cp:revision>
  <dcterms:created xsi:type="dcterms:W3CDTF">2026-05-02T13:02:30Z</dcterms:created>
  <dcterms:modified xsi:type="dcterms:W3CDTF">2026-05-06T15:39:46Z</dcterms:modified>
</cp:coreProperties>
</file>