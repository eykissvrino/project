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 saveSubsetFonts="1">
  <p:sldMasterIdLst>
    <p:sldMasterId id="2147483660" r:id="rId1"/>
  </p:sldMasterIdLst>
  <p:notesMasterIdLst>
    <p:notesMasterId r:id="rId18"/>
  </p:notesMasterIdLst>
  <p:handoutMasterIdLst>
    <p:handoutMasterId r:id="rId19"/>
  </p:handoutMasterIdLst>
  <p:sldIdLst>
    <p:sldId id="390" r:id="rId2"/>
    <p:sldId id="412" r:id="rId3"/>
    <p:sldId id="393" r:id="rId4"/>
    <p:sldId id="403" r:id="rId5"/>
    <p:sldId id="396" r:id="rId6"/>
    <p:sldId id="416" r:id="rId7"/>
    <p:sldId id="415" r:id="rId8"/>
    <p:sldId id="404" r:id="rId9"/>
    <p:sldId id="413" r:id="rId10"/>
    <p:sldId id="406" r:id="rId11"/>
    <p:sldId id="407" r:id="rId12"/>
    <p:sldId id="408" r:id="rId13"/>
    <p:sldId id="409" r:id="rId14"/>
    <p:sldId id="411" r:id="rId15"/>
    <p:sldId id="410" r:id="rId16"/>
    <p:sldId id="402" r:id="rId17"/>
  </p:sldIdLst>
  <p:sldSz cx="9906000" cy="6858000" type="A4"/>
  <p:notesSz cx="9866313" cy="6735763"/>
  <p:embeddedFontLst>
    <p:embeddedFont>
      <p:font typeface="나눔고딕 ExtraBold" panose="020D0904000000000000" pitchFamily="34" charset="-127"/>
      <p:bold r:id="rId20"/>
    </p:embeddedFont>
    <p:embeddedFont>
      <p:font typeface="맑은 고딕" panose="020B0503020000020004" pitchFamily="34" charset="-127"/>
      <p:regular r:id="rId21"/>
      <p:bold r:id="rId22"/>
    </p:embeddedFont>
    <p:embeddedFont>
      <p:font typeface="맑은 고딕" panose="020B0503020000020004" pitchFamily="34" charset="-127"/>
      <p:regular r:id="rId21"/>
      <p:bold r:id="rId2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88" userDrawn="1">
          <p15:clr>
            <a:srgbClr val="A4A3A4"/>
          </p15:clr>
        </p15:guide>
        <p15:guide id="5" orient="horz" pos="1026" userDrawn="1">
          <p15:clr>
            <a:srgbClr val="A4A3A4"/>
          </p15:clr>
        </p15:guide>
        <p15:guide id="9" orient="horz" pos="1820" userDrawn="1">
          <p15:clr>
            <a:srgbClr val="A4A3A4"/>
          </p15:clr>
        </p15:guide>
        <p15:guide id="10" orient="horz" pos="1298" userDrawn="1">
          <p15:clr>
            <a:srgbClr val="A4A3A4"/>
          </p15:clr>
        </p15:guide>
        <p15:guide id="11" orient="horz" pos="1344" userDrawn="1">
          <p15:clr>
            <a:srgbClr val="A4A3A4"/>
          </p15:clr>
        </p15:guide>
        <p15:guide id="14" orient="horz" pos="1888" userDrawn="1">
          <p15:clr>
            <a:srgbClr val="A4A3A4"/>
          </p15:clr>
        </p15:guide>
        <p15:guide id="15" pos="3075" userDrawn="1">
          <p15:clr>
            <a:srgbClr val="A4A3A4"/>
          </p15:clr>
        </p15:guide>
        <p15:guide id="16" pos="3165" userDrawn="1">
          <p15:clr>
            <a:srgbClr val="A4A3A4"/>
          </p15:clr>
        </p15:guide>
        <p15:guide id="17" pos="1328" userDrawn="1">
          <p15:clr>
            <a:srgbClr val="A4A3A4"/>
          </p15:clr>
        </p15:guide>
        <p15:guide id="18" orient="horz" pos="211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22" userDrawn="1">
          <p15:clr>
            <a:srgbClr val="A4A3A4"/>
          </p15:clr>
        </p15:guide>
        <p15:guide id="2" pos="310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0B5395"/>
    <a:srgbClr val="666699"/>
    <a:srgbClr val="4B4C9E"/>
    <a:srgbClr val="025C9A"/>
    <a:srgbClr val="024C87"/>
    <a:srgbClr val="002060"/>
    <a:srgbClr val="2F497D"/>
    <a:srgbClr val="005128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보통 스타일 3 - 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9631B5-78F2-41C9-869B-9F39066F8104}" styleName="보통 스타일 3 - 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00" autoAdjust="0"/>
    <p:restoredTop sz="66997" autoAdjust="0"/>
  </p:normalViewPr>
  <p:slideViewPr>
    <p:cSldViewPr snapToGrid="0" showGuides="1">
      <p:cViewPr varScale="1">
        <p:scale>
          <a:sx n="105" d="100"/>
          <a:sy n="105" d="100"/>
        </p:scale>
        <p:origin x="2224" y="184"/>
      </p:cViewPr>
      <p:guideLst>
        <p:guide orient="horz" pos="4088"/>
        <p:guide orient="horz" pos="1026"/>
        <p:guide orient="horz" pos="1820"/>
        <p:guide orient="horz" pos="1298"/>
        <p:guide orient="horz" pos="1344"/>
        <p:guide orient="horz" pos="1888"/>
        <p:guide pos="3075"/>
        <p:guide pos="3165"/>
        <p:guide pos="1328"/>
        <p:guide orient="horz" pos="211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 snapToGrid="0" showGuides="1">
      <p:cViewPr varScale="1">
        <p:scale>
          <a:sx n="113" d="100"/>
          <a:sy n="113" d="100"/>
        </p:scale>
        <p:origin x="1362" y="90"/>
      </p:cViewPr>
      <p:guideLst>
        <p:guide orient="horz" pos="2122"/>
        <p:guide pos="310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4276255" cy="337059"/>
          </a:xfrm>
          <a:prstGeom prst="rect">
            <a:avLst/>
          </a:prstGeom>
        </p:spPr>
        <p:txBody>
          <a:bodyPr vert="horz" lIns="91415" tIns="45707" rIns="91415" bIns="4570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587733" y="2"/>
            <a:ext cx="4276254" cy="337059"/>
          </a:xfrm>
          <a:prstGeom prst="rect">
            <a:avLst/>
          </a:prstGeom>
        </p:spPr>
        <p:txBody>
          <a:bodyPr vert="horz" lIns="91415" tIns="45707" rIns="91415" bIns="45707" rtlCol="0"/>
          <a:lstStyle>
            <a:lvl1pPr algn="r">
              <a:defRPr sz="1200"/>
            </a:lvl1pPr>
          </a:lstStyle>
          <a:p>
            <a:fld id="{10B99DD3-0319-461A-B70C-53BD84DB0174}" type="datetimeFigureOut">
              <a:rPr lang="ko-KR" altLang="en-US" smtClean="0"/>
              <a:t>2026. 4. 15.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6397621"/>
            <a:ext cx="4276255" cy="337059"/>
          </a:xfrm>
          <a:prstGeom prst="rect">
            <a:avLst/>
          </a:prstGeom>
        </p:spPr>
        <p:txBody>
          <a:bodyPr vert="horz" lIns="91415" tIns="45707" rIns="91415" bIns="4570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587733" y="6397621"/>
            <a:ext cx="4276254" cy="337059"/>
          </a:xfrm>
          <a:prstGeom prst="rect">
            <a:avLst/>
          </a:prstGeom>
        </p:spPr>
        <p:txBody>
          <a:bodyPr vert="horz" lIns="91415" tIns="45707" rIns="91415" bIns="45707" rtlCol="0" anchor="b"/>
          <a:lstStyle>
            <a:lvl1pPr algn="r">
              <a:defRPr sz="1200"/>
            </a:lvl1pPr>
          </a:lstStyle>
          <a:p>
            <a:fld id="{7AC16169-012F-4F62-8B6F-2A5BCBB3B5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52124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4276255" cy="338143"/>
          </a:xfrm>
          <a:prstGeom prst="rect">
            <a:avLst/>
          </a:prstGeom>
        </p:spPr>
        <p:txBody>
          <a:bodyPr vert="horz" lIns="91415" tIns="45707" rIns="91415" bIns="4570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587733" y="1"/>
            <a:ext cx="4276254" cy="338143"/>
          </a:xfrm>
          <a:prstGeom prst="rect">
            <a:avLst/>
          </a:prstGeom>
        </p:spPr>
        <p:txBody>
          <a:bodyPr vert="horz" lIns="91415" tIns="45707" rIns="91415" bIns="45707" rtlCol="0"/>
          <a:lstStyle>
            <a:lvl1pPr algn="r">
              <a:defRPr sz="1200"/>
            </a:lvl1pPr>
          </a:lstStyle>
          <a:p>
            <a:fld id="{61636321-2EBC-4172-AA24-82C6FBF86156}" type="datetimeFigureOut">
              <a:rPr lang="ko-KR" altLang="en-US" smtClean="0"/>
              <a:t>2026. 4. 15.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290888" y="841375"/>
            <a:ext cx="3284537" cy="22733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15" tIns="45707" rIns="91415" bIns="45707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5935" y="3241620"/>
            <a:ext cx="7894446" cy="2652038"/>
          </a:xfrm>
          <a:prstGeom prst="rect">
            <a:avLst/>
          </a:prstGeom>
        </p:spPr>
        <p:txBody>
          <a:bodyPr vert="horz" lIns="91415" tIns="45707" rIns="91415" bIns="45707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6397622"/>
            <a:ext cx="4276255" cy="338143"/>
          </a:xfrm>
          <a:prstGeom prst="rect">
            <a:avLst/>
          </a:prstGeom>
        </p:spPr>
        <p:txBody>
          <a:bodyPr vert="horz" lIns="91415" tIns="45707" rIns="91415" bIns="4570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587733" y="6397622"/>
            <a:ext cx="4276254" cy="338143"/>
          </a:xfrm>
          <a:prstGeom prst="rect">
            <a:avLst/>
          </a:prstGeom>
        </p:spPr>
        <p:txBody>
          <a:bodyPr vert="horz" lIns="91415" tIns="45707" rIns="91415" bIns="45707" rtlCol="0" anchor="b"/>
          <a:lstStyle>
            <a:lvl1pPr algn="r">
              <a:defRPr sz="1200"/>
            </a:lvl1pPr>
          </a:lstStyle>
          <a:p>
            <a:fld id="{624C9200-E5CA-41A8-A041-610F568DCE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0890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2830C-9D7E-08F3-63AA-539ED261C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6D14825-4DA7-882E-E678-8EC0B70F78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AE8350D-D860-DD8D-AE77-65E4C9560C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EFCA9F-CE99-1086-992A-FCA238FBAA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C9200-E5CA-41A8-A041-610F568DCE0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89413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C9200-E5CA-41A8-A041-610F568DCE0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48868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90E36-C812-98B6-C97E-96E3F9444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1FDCD35-B421-6E77-3D10-BEA713E38D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AB04A6-D00D-B029-AD67-195BAB23C0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ko-KR" altLang="en-US" sz="1200" dirty="0"/>
              <a:t>모건 스탠리와 같은 글로벌 최고 수준 투자은행의 핵심 경쟁력은 설비나 공장이 아닌 **</a:t>
            </a:r>
            <a:r>
              <a:rPr lang="en-US" altLang="ko-KR" sz="1200" dirty="0"/>
              <a:t>'</a:t>
            </a:r>
            <a:r>
              <a:rPr lang="ko-KR" altLang="en-US" sz="1200" dirty="0"/>
              <a:t>뛰어난 인재</a:t>
            </a:r>
            <a:r>
              <a:rPr lang="en-US" altLang="ko-KR" sz="1200" dirty="0"/>
              <a:t>(</a:t>
            </a:r>
            <a:r>
              <a:rPr lang="en" altLang="ko-KR" sz="1200" dirty="0"/>
              <a:t>Talent)'**</a:t>
            </a:r>
            <a:r>
              <a:rPr lang="ko-KR" altLang="en-US" sz="1200" dirty="0" err="1"/>
              <a:t>에</a:t>
            </a:r>
            <a:r>
              <a:rPr lang="ko-KR" altLang="en-US" sz="1200" dirty="0"/>
              <a:t> 있습니다</a:t>
            </a:r>
            <a:r>
              <a:rPr lang="en-US" altLang="ko-KR" sz="1200" dirty="0"/>
              <a:t>. </a:t>
            </a:r>
            <a:r>
              <a:rPr lang="ko-KR" altLang="en-US" sz="1200" dirty="0"/>
              <a:t>수많은 엘리트 전문가들이 전 세계 각지에서 고도의 전문성</a:t>
            </a:r>
            <a:r>
              <a:rPr lang="en-US" altLang="ko-KR" sz="1200" dirty="0"/>
              <a:t>, </a:t>
            </a:r>
            <a:r>
              <a:rPr lang="ko-KR" altLang="en-US" sz="1200" dirty="0"/>
              <a:t>상업적 본능</a:t>
            </a:r>
            <a:r>
              <a:rPr lang="en-US" altLang="ko-KR" sz="1200" dirty="0"/>
              <a:t>, </a:t>
            </a:r>
            <a:r>
              <a:rPr lang="ko-KR" altLang="en-US" sz="1200" dirty="0"/>
              <a:t>그리고 협업을 요구하는 대규모 프로젝트를 수행합니다</a:t>
            </a:r>
            <a:r>
              <a:rPr lang="en-US" altLang="ko-KR" sz="1200" dirty="0"/>
              <a:t>. </a:t>
            </a:r>
            <a:r>
              <a:rPr lang="ko-KR" altLang="en-US" sz="1200" dirty="0"/>
              <a:t>따라서 </a:t>
            </a:r>
            <a:r>
              <a:rPr lang="en-US" altLang="ko-KR" sz="1200" dirty="0"/>
              <a:t>1993</a:t>
            </a:r>
            <a:r>
              <a:rPr lang="ko-KR" altLang="en-US" sz="1200" dirty="0"/>
              <a:t>년에 선도적으로 막대한 비용을 투자해 **</a:t>
            </a:r>
            <a:r>
              <a:rPr lang="en-US" altLang="ko-KR" sz="1200" dirty="0"/>
              <a:t>'360</a:t>
            </a:r>
            <a:r>
              <a:rPr lang="ko-KR" altLang="en-US" sz="1200" dirty="0"/>
              <a:t>도 다면 평가 시스템</a:t>
            </a:r>
            <a:r>
              <a:rPr lang="en-US" altLang="ko-KR" sz="1200" dirty="0"/>
              <a:t>'**</a:t>
            </a:r>
            <a:r>
              <a:rPr lang="ko-KR" altLang="en-US" sz="1200" dirty="0"/>
              <a:t>을 도입한 것은</a:t>
            </a:r>
            <a:r>
              <a:rPr lang="en-US" altLang="ko-KR" sz="1200" dirty="0"/>
              <a:t>, </a:t>
            </a:r>
            <a:r>
              <a:rPr lang="ko-KR" altLang="en-US" sz="1200" dirty="0"/>
              <a:t>이처럼 복잡한 업무 환경 속에서 최고급 인재들의 성과를 입체적으로 측정하고</a:t>
            </a:r>
            <a:r>
              <a:rPr lang="en-US" altLang="ko-KR" sz="1200" dirty="0"/>
              <a:t>, </a:t>
            </a:r>
            <a:r>
              <a:rPr lang="ko-KR" altLang="en-US" sz="1200" dirty="0"/>
              <a:t>지속적인 동기부여와 전문성 개발을 이끌어내어 시장 내 압도적인 우위를 유지하기 위한 필수적인 전략이었습니다</a:t>
            </a:r>
            <a:r>
              <a:rPr lang="en-US" altLang="ko-KR" sz="1200" dirty="0"/>
              <a:t>.</a:t>
            </a:r>
            <a:r>
              <a:rPr lang="ko-KR" altLang="en-US" sz="1200" dirty="0"/>
              <a:t>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통합 기업의 미래 성장과 장기적인 성공은 궁극적으로 풍부한 인적 자본과 직원들을 이끄는 확고한 가치관에 의해 좌우될 것입니다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테드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픽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회장 겸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CEO)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ADFAC3-28F2-42D0-E8C5-D87A1863E8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C9200-E5CA-41A8-A041-610F568DCE08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42360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이 시스템은 단방향 평가에서 벗어나</a:t>
            </a:r>
            <a:r>
              <a:rPr lang="en-US" altLang="ko-KR" dirty="0"/>
              <a:t>, </a:t>
            </a:r>
            <a:r>
              <a:rPr lang="ko-KR" altLang="en-US" dirty="0"/>
              <a:t>입체적이고 종합적인 피드백을 수집하도록 설계되었습니다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C9200-E5CA-41A8-A041-610F568DCE08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69555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7690C-B095-A18B-BF18-B1F459905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0E588C7-7A9E-E3A7-C129-09AA79CDA5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1199260-C513-FE11-80A4-E29C8305A5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2FB1B2-E716-ADAB-7454-C49A8C4279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C9200-E5CA-41A8-A041-610F568DCE08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95085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9435B-63F1-DDBB-CE3D-85D423846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60F0EB3-D61C-2A13-7104-5B33C13039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4AE50B-2306-EB41-9D36-D6AB2C11D2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수집된 방대한 데이터는 철저한 관리 감독하에 의미 있는 결과물로 가공됩니다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연말 데이터 패킷 생성</a:t>
            </a:r>
            <a:r>
              <a:rPr lang="en-US" altLang="ko-KR" b="1" dirty="0"/>
              <a:t>:</a:t>
            </a:r>
            <a:r>
              <a:rPr lang="ko-KR" altLang="en-US" dirty="0"/>
              <a:t> 개발 부서</a:t>
            </a:r>
            <a:r>
              <a:rPr lang="en-US" altLang="ko-KR" dirty="0"/>
              <a:t>(</a:t>
            </a:r>
            <a:r>
              <a:rPr lang="en" altLang="ko-KR" dirty="0"/>
              <a:t>Office of Development)</a:t>
            </a:r>
            <a:r>
              <a:rPr lang="ko-KR" altLang="en-US" dirty="0"/>
              <a:t>는 수집된 평가 양식을 통합하여 피평가자 </a:t>
            </a:r>
            <a:r>
              <a:rPr lang="en-US" altLang="ko-KR" dirty="0"/>
              <a:t>1</a:t>
            </a:r>
            <a:r>
              <a:rPr lang="ko-KR" altLang="en-US" dirty="0"/>
              <a:t>인당 </a:t>
            </a:r>
            <a:r>
              <a:rPr lang="en-US" altLang="ko-KR" dirty="0"/>
              <a:t>10~20</a:t>
            </a:r>
            <a:r>
              <a:rPr lang="ko-KR" altLang="en-US" dirty="0"/>
              <a:t>페이지 분량의 문서인 일명 </a:t>
            </a:r>
            <a:r>
              <a:rPr lang="en-US" altLang="ko-KR" dirty="0"/>
              <a:t>'</a:t>
            </a:r>
            <a:r>
              <a:rPr lang="ko-KR" altLang="en-US" dirty="0"/>
              <a:t>연말 데이터 패킷</a:t>
            </a:r>
            <a:r>
              <a:rPr lang="en-US" altLang="ko-KR" dirty="0"/>
              <a:t>(</a:t>
            </a:r>
            <a:r>
              <a:rPr lang="en" altLang="ko-KR" dirty="0"/>
              <a:t>the book)'</a:t>
            </a:r>
            <a:r>
              <a:rPr lang="ko-KR" altLang="en-US" dirty="0"/>
              <a:t>을 만듭니다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평가 디렉터의 역할</a:t>
            </a:r>
            <a:r>
              <a:rPr lang="en-US" altLang="ko-KR" b="1" dirty="0"/>
              <a:t>:</a:t>
            </a:r>
            <a:r>
              <a:rPr lang="ko-KR" altLang="en-US" dirty="0"/>
              <a:t> 평가 디렉터</a:t>
            </a:r>
            <a:r>
              <a:rPr lang="en-US" altLang="ko-KR" dirty="0"/>
              <a:t>(</a:t>
            </a:r>
            <a:r>
              <a:rPr lang="ko-KR" altLang="en-US" dirty="0"/>
              <a:t>주로 피평가자의 관리자</a:t>
            </a:r>
            <a:r>
              <a:rPr lang="en-US" altLang="ko-KR" dirty="0"/>
              <a:t>)</a:t>
            </a:r>
            <a:r>
              <a:rPr lang="ko-KR" altLang="en-US" dirty="0"/>
              <a:t>는 이 방대한 원시 데이터를 해석하고 종합하는 매우 중요한 역할을 맡습니다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익명성 보장</a:t>
            </a:r>
            <a:r>
              <a:rPr lang="en-US" altLang="ko-KR" b="1" dirty="0"/>
              <a:t>:</a:t>
            </a:r>
            <a:r>
              <a:rPr lang="ko-KR" altLang="en-US" dirty="0"/>
              <a:t> 피평가자는 동료나 부하 직원이 작성한 실제 평가 코멘트 원본을 절대 볼 수 없습니다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평가 및 개발 요약본 작성</a:t>
            </a:r>
            <a:r>
              <a:rPr lang="en-US" altLang="ko-KR" b="1" dirty="0"/>
              <a:t>:</a:t>
            </a:r>
            <a:r>
              <a:rPr lang="ko-KR" altLang="en-US" dirty="0"/>
              <a:t> 평가 디렉터는 익명이 보장된 원본 데이터 대신 </a:t>
            </a:r>
            <a:r>
              <a:rPr lang="en-US" altLang="ko-KR" dirty="0"/>
              <a:t>'</a:t>
            </a:r>
            <a:r>
              <a:rPr lang="ko-KR" altLang="en-US" dirty="0"/>
              <a:t>평가 및 개발 요약본</a:t>
            </a:r>
            <a:r>
              <a:rPr lang="en-US" altLang="ko-KR" dirty="0"/>
              <a:t>(</a:t>
            </a:r>
            <a:r>
              <a:rPr lang="en" altLang="ko-KR" dirty="0"/>
              <a:t>Evaluation and Development Summary)'</a:t>
            </a:r>
            <a:r>
              <a:rPr lang="ko-KR" altLang="en-US" dirty="0"/>
              <a:t>을 작성하여 성과 검토 논의의 기본 틀로 사용합니다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2AC983-F52A-8740-98D2-2A6AC6A380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C9200-E5CA-41A8-A041-610F568DCE08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01331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8DC38-8068-8A91-1ADA-EF89C1BD1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4AF9DA7-2F9D-8278-B13F-84834B3BF1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5BE129B-DB83-443A-6FBE-E7D238748A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사운드 바이트는 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원래 언론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방송에서 긴 발언이나 인터뷰를 짧고 인상적인 한두 문장으로 잘라서 보도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전파하는 것을 뜻합니다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네이버 블로그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+1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즉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 메시지를 짧게 요약해 인용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반복이 쉬운 ‘짧은 인용구’ 또는 ‘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클립’으로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쓰는 개념입니다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네이버 블로그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+1</a:t>
            </a:r>
            <a:endParaRPr lang="ko-KR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사운드 바이트 뜻</a:t>
            </a:r>
            <a:endParaRPr lang="ko-KR" altLang="en-US" dirty="0"/>
          </a:p>
          <a:p>
            <a:pPr fontAlgn="t"/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사운드 바이트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sound bite)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 긴 발언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연설에서 발췌한 짧은 발언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또는 오디오 클립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뉴스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방송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정치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광고 등에서 메시지를 간결하고 기억에 남게 전달하기 위해 의도적으로 편집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사용하는 표현입니다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일반 인용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quote)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 달리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미디어 친화성과 전달 효과를 위해 ‘짧고 임팩트 있게’ 구성된다는 뉘앙스를 포함합니다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CB73E5-DBA8-F486-A167-2BCFABDA80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C9200-E5CA-41A8-A041-610F568DCE08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8269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01F65-7462-0298-F5DA-F54867677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B89A37C-C419-87A2-614A-27D6D37C34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B12632-4E77-7414-CB46-7C68834C7F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다음 그림에서 제시된 제고과자들이 인사고과의 내용이 되는 피고과자의 능력</a:t>
            </a:r>
            <a:r>
              <a:rPr lang="en-US" altLang="ko-KR" dirty="0"/>
              <a:t>(</a:t>
            </a:r>
            <a:r>
              <a:rPr lang="ko-KR" altLang="en-US" dirty="0"/>
              <a:t>현재</a:t>
            </a:r>
            <a:r>
              <a:rPr lang="en-US" altLang="ko-KR" dirty="0"/>
              <a:t>/</a:t>
            </a:r>
            <a:r>
              <a:rPr lang="ko-KR" altLang="en-US" dirty="0"/>
              <a:t>잡제능력</a:t>
            </a:r>
            <a:r>
              <a:rPr lang="en-US" altLang="ko-KR" dirty="0"/>
              <a:t>), </a:t>
            </a:r>
            <a:r>
              <a:rPr lang="ko-KR" altLang="en-US" dirty="0"/>
              <a:t>개인특성</a:t>
            </a:r>
            <a:r>
              <a:rPr lang="en-US" altLang="ko-KR" dirty="0"/>
              <a:t>(</a:t>
            </a:r>
            <a:r>
              <a:rPr lang="ko-KR" altLang="en-US" dirty="0"/>
              <a:t>성격</a:t>
            </a:r>
            <a:r>
              <a:rPr lang="en-US" altLang="ko-KR" dirty="0"/>
              <a:t>/</a:t>
            </a:r>
            <a:r>
              <a:rPr lang="ko-KR" altLang="en-US" dirty="0"/>
              <a:t>적성</a:t>
            </a:r>
            <a:r>
              <a:rPr lang="en-US" altLang="ko-KR" dirty="0"/>
              <a:t>/</a:t>
            </a:r>
            <a:r>
              <a:rPr lang="ko-KR" altLang="en-US" dirty="0"/>
              <a:t>태도</a:t>
            </a:r>
            <a:r>
              <a:rPr lang="en-US" altLang="ko-KR" dirty="0"/>
              <a:t>, </a:t>
            </a:r>
            <a:r>
              <a:rPr lang="ko-KR" altLang="en-US" dirty="0"/>
              <a:t>작업행동 그리고 성과에 대해 어 </a:t>
            </a:r>
            <a:r>
              <a:rPr lang="ko-KR" altLang="en-US" dirty="0" err="1"/>
              <a:t>느</a:t>
            </a:r>
            <a:r>
              <a:rPr lang="ko-KR" altLang="en-US" dirty="0"/>
              <a:t> 정도의 정보를 획득할 수 </a:t>
            </a:r>
            <a:r>
              <a:rPr lang="ko-KR" altLang="en-US" dirty="0" err="1"/>
              <a:t>있느냐에</a:t>
            </a:r>
            <a:r>
              <a:rPr lang="ko-KR" altLang="en-US" dirty="0"/>
              <a:t> 대해 살펴본다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〈</a:t>
            </a:r>
            <a:r>
              <a:rPr lang="ko-KR" altLang="en-US" dirty="0"/>
              <a:t>표</a:t>
            </a:r>
            <a:r>
              <a:rPr lang="en-US" altLang="ko-KR" dirty="0"/>
              <a:t>&gt;</a:t>
            </a:r>
            <a:r>
              <a:rPr lang="ko-KR" altLang="en-US" dirty="0" err="1"/>
              <a:t>에</a:t>
            </a:r>
            <a:r>
              <a:rPr lang="ko-KR" altLang="en-US" dirty="0"/>
              <a:t> 나타난 바와 같이 어느 고과자라도 고과내용 전부에 대한 완벽 한 정보를 보유하지 못하고 있다</a:t>
            </a:r>
            <a:r>
              <a:rPr lang="en-US" altLang="ko-KR" dirty="0"/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직속상사의 경우 피고과자의 현재능력</a:t>
            </a:r>
            <a:r>
              <a:rPr lang="en-US" altLang="ko-KR" dirty="0"/>
              <a:t>, </a:t>
            </a:r>
            <a:r>
              <a:rPr lang="ko-KR" altLang="en-US" dirty="0"/>
              <a:t>작업 행동 및 성과에 대해서는 관찰 및 업무지시를 통해 상당히 많은 양의 정보를 가 지고 있겠지만 부하인 피고과자의 잠재능력 및 적성에 대해서는 해당직무에 관 </a:t>
            </a:r>
            <a:r>
              <a:rPr lang="ko-KR" altLang="en-US" dirty="0" err="1"/>
              <a:t>련되는</a:t>
            </a:r>
            <a:r>
              <a:rPr lang="ko-KR" altLang="en-US" dirty="0"/>
              <a:t> 것 이외에는 알기가 쉽지 않다</a:t>
            </a:r>
            <a:r>
              <a:rPr lang="en-US" altLang="ko-KR" dirty="0"/>
              <a:t>. </a:t>
            </a:r>
            <a:r>
              <a:rPr lang="ko-KR" altLang="en-US" dirty="0"/>
              <a:t>예를 들면 피고과자가 판매직에 종사하 고 있는 경우</a:t>
            </a:r>
            <a:r>
              <a:rPr lang="en-US" altLang="ko-KR" dirty="0"/>
              <a:t>, </a:t>
            </a:r>
            <a:r>
              <a:rPr lang="ko-KR" altLang="en-US" dirty="0"/>
              <a:t>상사는 판매 분야에 자기의 부하가 잠재능력이 있는지</a:t>
            </a:r>
            <a:r>
              <a:rPr lang="en-US" altLang="ko-KR" dirty="0"/>
              <a:t>, </a:t>
            </a:r>
            <a:r>
              <a:rPr lang="ko-KR" altLang="en-US" dirty="0"/>
              <a:t>적성이 맞는지는 비교적 정확하게 판단할 수 있겠지만 판매직 이외의 분야인 관리직</a:t>
            </a:r>
            <a:r>
              <a:rPr lang="en-US" altLang="ko-KR" dirty="0"/>
              <a:t>, </a:t>
            </a:r>
            <a:r>
              <a:rPr lang="ko-KR" altLang="en-US" dirty="0" err="1"/>
              <a:t>총무직</a:t>
            </a:r>
            <a:r>
              <a:rPr lang="en-US" altLang="ko-KR" dirty="0"/>
              <a:t>, </a:t>
            </a:r>
            <a:r>
              <a:rPr lang="ko-KR" altLang="en-US" dirty="0"/>
              <a:t>경리직에 잠재능력 내지 적성이 맞는지는 판단하기가 어렵다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직속상사는 부하인 피고과자의 직무태도에 대해 진실된 정보를 획득하기는 어렵다</a:t>
            </a:r>
            <a:r>
              <a:rPr lang="en-US" altLang="ko-KR" dirty="0"/>
              <a:t>. </a:t>
            </a:r>
            <a:r>
              <a:rPr lang="ko-KR" altLang="en-US" dirty="0"/>
              <a:t>왜냐하면 대부분의 부하는 상사 앞에서 회사에 대한 충성심</a:t>
            </a:r>
            <a:r>
              <a:rPr lang="en-US" altLang="ko-KR" dirty="0"/>
              <a:t>, </a:t>
            </a:r>
            <a:r>
              <a:rPr lang="ko-KR" altLang="en-US" dirty="0"/>
              <a:t>열성 등을 실제보다 높게 보이기를 원하기 때문이다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고과자가 직속상사의 상사인 </a:t>
            </a:r>
            <a:r>
              <a:rPr lang="en-US" altLang="ko-KR" dirty="0"/>
              <a:t>2</a:t>
            </a:r>
            <a:r>
              <a:rPr lang="ko-KR" altLang="en-US" dirty="0"/>
              <a:t>차 </a:t>
            </a:r>
            <a:r>
              <a:rPr lang="ko-KR" altLang="en-US" dirty="0" err="1"/>
              <a:t>고과차일</a:t>
            </a:r>
            <a:r>
              <a:rPr lang="ko-KR" altLang="en-US" dirty="0"/>
              <a:t> 경우</a:t>
            </a:r>
            <a:r>
              <a:rPr lang="en-US" altLang="ko-KR" dirty="0"/>
              <a:t>, </a:t>
            </a:r>
            <a:r>
              <a:rPr lang="ko-KR" altLang="en-US" dirty="0"/>
              <a:t>피고과자의 현재능력</a:t>
            </a:r>
            <a:r>
              <a:rPr lang="en-US" altLang="ko-KR" dirty="0"/>
              <a:t>, </a:t>
            </a:r>
            <a:r>
              <a:rPr lang="ko-KR" altLang="en-US" dirty="0"/>
              <a:t>작 </a:t>
            </a:r>
            <a:r>
              <a:rPr lang="ko-KR" altLang="en-US" dirty="0" err="1"/>
              <a:t>업행동</a:t>
            </a:r>
            <a:r>
              <a:rPr lang="ko-KR" altLang="en-US" dirty="0"/>
              <a:t> 및 성과에 대해서는 어느 정도 알 수 있겠지만</a:t>
            </a:r>
            <a:r>
              <a:rPr lang="en-US" altLang="ko-KR" dirty="0"/>
              <a:t>, </a:t>
            </a:r>
            <a:r>
              <a:rPr lang="ko-KR" altLang="en-US" dirty="0"/>
              <a:t>피고과자의 잠재능력</a:t>
            </a:r>
            <a:r>
              <a:rPr lang="en-US" altLang="ko-KR" dirty="0"/>
              <a:t>, </a:t>
            </a:r>
            <a:r>
              <a:rPr lang="ko-KR" altLang="en-US" dirty="0"/>
              <a:t>적성</a:t>
            </a:r>
            <a:r>
              <a:rPr lang="en-US" altLang="ko-KR" dirty="0"/>
              <a:t>, </a:t>
            </a:r>
            <a:r>
              <a:rPr lang="ko-KR" altLang="en-US" dirty="0"/>
              <a:t>태도 등을 관찰하기에는 시간적 </a:t>
            </a:r>
            <a:r>
              <a:rPr lang="en-US" altLang="ko-KR" dirty="0"/>
              <a:t>• </a:t>
            </a:r>
            <a:r>
              <a:rPr lang="ko-KR" altLang="en-US" dirty="0"/>
              <a:t>공간적 측면에서 역부족이다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피고과자</a:t>
            </a:r>
            <a:r>
              <a:rPr lang="en-US" altLang="ko-KR" dirty="0"/>
              <a:t>(</a:t>
            </a:r>
            <a:r>
              <a:rPr lang="ko-KR" altLang="en-US" dirty="0"/>
              <a:t>본인이 자신을 고과한다면 어떨까</a:t>
            </a:r>
            <a:r>
              <a:rPr lang="en-US" altLang="ko-KR" dirty="0"/>
              <a:t>? </a:t>
            </a:r>
            <a:r>
              <a:rPr lang="ko-KR" altLang="en-US" dirty="0"/>
              <a:t>이런 경우 피고과자 자신은 평가내용의 대부분에 대해 충분한 정보를 갖고 있지만 대개 과장되게 평가하는 경향이 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동료가 고과자가 되었을 때는 피고과자의 직무태도에 대해서는 비교적 충 분한 정보를 관찰을 통해 갖게 된다</a:t>
            </a:r>
            <a:r>
              <a:rPr lang="en-US" altLang="ko-KR" dirty="0"/>
              <a:t>. </a:t>
            </a:r>
            <a:r>
              <a:rPr lang="ko-KR" altLang="en-US" dirty="0"/>
              <a:t>대개 상사 앞에서 보여주는 피고과자의 태 도보다 동료 앞에서 보여주는 태도는 보다 진실된 것일 가능성이 높다</a:t>
            </a:r>
            <a:r>
              <a:rPr lang="en-US" altLang="ko-KR" dirty="0"/>
              <a:t>. </a:t>
            </a:r>
            <a:r>
              <a:rPr lang="ko-KR" altLang="en-US" dirty="0"/>
              <a:t>그러나 동료는 피고과자의 현재능력 및 성과에 대해서는 거의 판단하기가 어렵다</a:t>
            </a:r>
            <a:r>
              <a:rPr lang="en-US" altLang="ko-KR" dirty="0"/>
              <a:t>. </a:t>
            </a:r>
            <a:r>
              <a:rPr lang="ko-KR" altLang="en-US" dirty="0" err="1"/>
              <a:t>왜냐</a:t>
            </a:r>
            <a:r>
              <a:rPr lang="ko-KR" altLang="en-US" dirty="0"/>
              <a:t> 하면 그가 피고과자에게 직접 업무지시를 하지 않기 때문이다</a:t>
            </a:r>
            <a:r>
              <a:rPr lang="en-US" altLang="ko-KR" dirty="0"/>
              <a:t>. </a:t>
            </a:r>
            <a:r>
              <a:rPr lang="ko-KR" altLang="en-US" dirty="0"/>
              <a:t>그러나 동료는 피고과자의 잠재능력</a:t>
            </a:r>
            <a:r>
              <a:rPr lang="en-US" altLang="ko-KR" dirty="0"/>
              <a:t>, </a:t>
            </a:r>
            <a:r>
              <a:rPr lang="ko-KR" altLang="en-US" dirty="0"/>
              <a:t>적성 그리고 작업행동에 대해서는 대화 및 관찰을 통해 어느 정도 정보를 획득할 수도 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부하가 상사를 평가하는 경우 상사의 업무지시 및 업무결과에 대한 </a:t>
            </a:r>
            <a:r>
              <a:rPr lang="ko-KR" altLang="en-US" dirty="0" err="1"/>
              <a:t>평가활</a:t>
            </a:r>
            <a:r>
              <a:rPr lang="ko-KR" altLang="en-US" dirty="0"/>
              <a:t> 동 등을 통해 상사의 현재능력 및 잠재능력 특히 리더십에 대해서 어느 정도의 정보를 획득할 수 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외부전문가는 사실상 피고과자의 직무태도</a:t>
            </a:r>
            <a:r>
              <a:rPr lang="en-US" altLang="ko-KR" dirty="0"/>
              <a:t>, </a:t>
            </a:r>
            <a:r>
              <a:rPr lang="ko-KR" altLang="en-US" dirty="0"/>
              <a:t>작업행동</a:t>
            </a:r>
            <a:r>
              <a:rPr lang="en-US" altLang="ko-KR" dirty="0"/>
              <a:t>, </a:t>
            </a:r>
            <a:r>
              <a:rPr lang="ko-KR" altLang="en-US" dirty="0"/>
              <a:t>성과에 대해서는 관 찰기회가 없기 때문에 알 수가 없다</a:t>
            </a:r>
            <a:r>
              <a:rPr lang="en-US" altLang="ko-KR" dirty="0"/>
              <a:t>. </a:t>
            </a:r>
            <a:r>
              <a:rPr lang="ko-KR" altLang="en-US" dirty="0"/>
              <a:t>그러나 피고과자와 관련되는 서류나 몇 가 지 테스트 및 인터뷰를 통해 현재의 능력</a:t>
            </a:r>
            <a:r>
              <a:rPr lang="en-US" altLang="ko-KR" dirty="0"/>
              <a:t>, </a:t>
            </a:r>
            <a:r>
              <a:rPr lang="ko-KR" altLang="en-US" dirty="0"/>
              <a:t>잠재능력 그리고 적성에 대해서는 </a:t>
            </a:r>
            <a:r>
              <a:rPr lang="ko-KR" altLang="en-US" dirty="0" err="1"/>
              <a:t>많</a:t>
            </a:r>
            <a:r>
              <a:rPr lang="ko-KR" altLang="en-US" dirty="0"/>
              <a:t> 은 정보를 획득할 수 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고객이 피고과자를 평가하는 경우 획득할 수 있는 정보는 극히 제한적이 다</a:t>
            </a:r>
            <a:r>
              <a:rPr lang="en-US" altLang="ko-KR" dirty="0"/>
              <a:t>. </a:t>
            </a:r>
            <a:r>
              <a:rPr lang="ko-KR" altLang="en-US" dirty="0"/>
              <a:t>피고과자의 고객에 대한 태도 및 작업행동</a:t>
            </a:r>
            <a:r>
              <a:rPr lang="en-US" altLang="ko-KR" dirty="0"/>
              <a:t>(</a:t>
            </a:r>
            <a:r>
              <a:rPr lang="ko-KR" altLang="en-US" dirty="0"/>
              <a:t>서비스</a:t>
            </a:r>
            <a:r>
              <a:rPr lang="en-US" altLang="ko-KR" dirty="0"/>
              <a:t>, </a:t>
            </a:r>
            <a:r>
              <a:rPr lang="ko-KR" altLang="en-US" dirty="0" err="1"/>
              <a:t>친절성</a:t>
            </a:r>
            <a:r>
              <a:rPr lang="en-US" altLang="ko-KR" dirty="0"/>
              <a:t>) </a:t>
            </a:r>
            <a:r>
              <a:rPr lang="ko-KR" altLang="en-US" dirty="0"/>
              <a:t>정도에 대한 어느 정도 정보를 획득할 뿐이다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복수의 고과자를 동원하는 </a:t>
            </a:r>
            <a:r>
              <a:rPr lang="ko-KR" altLang="en-US" dirty="0" err="1"/>
              <a:t>다면고과식</a:t>
            </a:r>
            <a:r>
              <a:rPr lang="ko-KR" altLang="en-US" dirty="0"/>
              <a:t> 접근은 제 고과자의 평가내용</a:t>
            </a:r>
            <a:r>
              <a:rPr lang="en-US" altLang="ko-KR" dirty="0"/>
              <a:t>(</a:t>
            </a:r>
            <a:r>
              <a:rPr lang="ko-KR" altLang="en-US" dirty="0"/>
              <a:t>요소</a:t>
            </a:r>
            <a:r>
              <a:rPr lang="en-US" altLang="ko-KR" dirty="0"/>
              <a:t>)</a:t>
            </a:r>
            <a:r>
              <a:rPr lang="ko-KR" altLang="en-US" dirty="0" err="1"/>
              <a:t>에</a:t>
            </a:r>
            <a:r>
              <a:rPr lang="ko-KR" altLang="en-US" dirty="0"/>
              <a:t> 관한 정보를 충분히 획득한 상황을 만들어주자는 데 그 목적이 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A63C71-9E9C-684B-84B2-18EE4BD0E3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C9200-E5CA-41A8-A041-610F568DCE08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01450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684FC-6F9F-5B2D-387F-4651C73D2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891428-DBD5-AA10-7821-14DF378B94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BB2AFE3-77BB-8303-17AE-8F4D94DED4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A0C127-0B55-8C3E-31EB-B038AD5857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C9200-E5CA-41A8-A041-610F568DCE08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39869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31DE9-8A93-0A75-A6D0-B022DD1F9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6575E72-699A-454E-F941-6E9CB3CA7D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98837A-BE8A-A6CC-D95E-734409D2CE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5B26A9-601C-E9D6-BBAC-61FB62E469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C9200-E5CA-41A8-A041-610F568DCE08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0951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42058-EC2B-C761-4F92-998653164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61079B-5CCD-38BD-08D5-E2F2B6B576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B39837F-CFEF-174E-966D-8A1C1268AA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"</a:t>
            </a:r>
            <a:r>
              <a:rPr lang="ko-KR" altLang="en-US" dirty="0"/>
              <a:t>만약 여러분이 우리 회사의 인사 담당 임원이라면</a:t>
            </a:r>
            <a:r>
              <a:rPr lang="en-US" altLang="ko-KR" dirty="0"/>
              <a:t>, </a:t>
            </a:r>
            <a:r>
              <a:rPr lang="ko-KR" altLang="en-US" dirty="0"/>
              <a:t>새롭게 도입하는 </a:t>
            </a:r>
            <a:r>
              <a:rPr lang="en-US" altLang="ko-KR" dirty="0"/>
              <a:t>360</a:t>
            </a:r>
            <a:r>
              <a:rPr lang="ko-KR" altLang="en-US" dirty="0"/>
              <a:t>도 다면평가 결과를 올해 연말 성과급 지급 기준에 </a:t>
            </a:r>
            <a:r>
              <a:rPr lang="en-US" altLang="ko-KR" dirty="0"/>
              <a:t>100% </a:t>
            </a:r>
            <a:r>
              <a:rPr lang="ko-KR" altLang="en-US" dirty="0" err="1"/>
              <a:t>반영하시겠습니까</a:t>
            </a:r>
            <a:r>
              <a:rPr lang="en-US" altLang="ko-KR" dirty="0"/>
              <a:t>? </a:t>
            </a:r>
            <a:r>
              <a:rPr lang="ko-KR" altLang="en-US" dirty="0"/>
              <a:t>아니면 참고 자료로만 </a:t>
            </a:r>
            <a:r>
              <a:rPr lang="ko-KR" altLang="en-US" dirty="0" err="1"/>
              <a:t>활용하시겠습니까</a:t>
            </a:r>
            <a:r>
              <a:rPr lang="en-US" altLang="ko-KR" dirty="0"/>
              <a:t>? </a:t>
            </a:r>
            <a:r>
              <a:rPr lang="ko-KR" altLang="en-US" dirty="0"/>
              <a:t>그 이유는 무엇입니까</a:t>
            </a:r>
            <a:r>
              <a:rPr lang="en-US" altLang="ko-KR" dirty="0"/>
              <a:t>?"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"</a:t>
            </a:r>
            <a:r>
              <a:rPr lang="ko-KR" altLang="en-US" dirty="0"/>
              <a:t>솔직한 피드백이 불이익으로 돌아오지 않는다는 </a:t>
            </a:r>
            <a:r>
              <a:rPr lang="en-US" altLang="ko-KR" dirty="0"/>
              <a:t>'</a:t>
            </a:r>
            <a:r>
              <a:rPr lang="ko-KR" altLang="en-US" dirty="0"/>
              <a:t>심리적 </a:t>
            </a:r>
            <a:r>
              <a:rPr lang="ko-KR" altLang="en-US" dirty="0" err="1"/>
              <a:t>안전감</a:t>
            </a:r>
            <a:r>
              <a:rPr lang="en-US" altLang="ko-KR" dirty="0"/>
              <a:t>'</a:t>
            </a:r>
            <a:r>
              <a:rPr lang="ko-KR" altLang="en-US" dirty="0"/>
              <a:t>을 조직 내에 구축하기 위해</a:t>
            </a:r>
            <a:r>
              <a:rPr lang="en-US" altLang="ko-KR" dirty="0"/>
              <a:t>, </a:t>
            </a:r>
            <a:r>
              <a:rPr lang="ko-KR" altLang="en-US" dirty="0"/>
              <a:t>제도 도입 전 리더와 구성원들에게 가장 먼저 필요한 조치나 교육은 무엇이라고 생각하십니까</a:t>
            </a:r>
            <a:r>
              <a:rPr lang="en-US" altLang="ko-KR" dirty="0"/>
              <a:t>?”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주제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모범 답안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평가 목적의 딜레마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다면평가와 보상의 연계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방향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초기에는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육성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Development)'</a:t>
            </a:r>
            <a:r>
              <a:rPr lang="ko-KR" alt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집중하고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보상 연계는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참고용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으로만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활용하는 </a:t>
            </a:r>
            <a:r>
              <a:rPr lang="ko-KR" alt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투트랙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Two-Track)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전략이 필요합니다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도입기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육성 목적 한정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제도를 처음 도입할 때는 모건 스탠리의 초기 설계 의도처럼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개인의 전문성 개발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에만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목적을 두어야 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자신의 피드백이 동료의 연봉을 깎는다고 생각하면 직원들은 모난 돌이 되지 않기 위해 부정적인 피드백을 피하게 되며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결국 모건 스탠리에서 나타난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점수 인플레이션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현상이나 모호한 비판만 남게 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안정기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보상의 간접적 연계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제도가 정착되고 직원들이 솔직한 피드백을 주고받는 데 익숙해진 후에는 보상에 연계할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동료 평가 점수를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기계적 비율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연봉에 직결시키는 것은 위험합니다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해결책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평가 디렉터의 활용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모건 스탠리처럼 다면평가 결과를 직접 당사자에게 주지 않고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관리자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평가 디렉터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10~20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페이지 분량의 원시 데이터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Raw data)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종합하고 해석하게 해야 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관리자는 이 데이터를 바탕으로 성과 중심의 객관적 고과를 내리되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다면평가 결과는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정성적인 참고 자료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활용하여 종합적인 판단을 내리는 것이 모범적입니다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ko-KR" altLang="en-US" dirty="0"/>
            </a:br>
            <a:endParaRPr lang="ko-KR" altLang="en-US" dirty="0"/>
          </a:p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주제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모범 답안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한국적 조직 문화와의 충돌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서열과 체면 극복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방향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철저한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구조적 익명성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보장과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과거 지적보다는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미래 행동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중심의 피드백 설계가 필수적입니다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구조적 익명성의 장치 마련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하극상이나 관계 악화에 대한 두려움을 없애기 위해 완벽한 익명성이 보장되어야 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예를 들어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모건 스탠리에서는 익명성을 보장하기 위해 상향 평가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부하가 상사를 평가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경우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평가자가 최소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 이상일 때만 결과 보고서가 생성되도록 시스템을 설계했습니다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한국 기업 도입 시에도 이러한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최소 응답자 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제한 같은 구조적 안전망이 필수입니다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과거의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잘못 지적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미래의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행동 제안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프레임 전환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서열 문화가 강한 곳에서 상사나 동료의 부족한 점을 대놓고 지적하는 것은 매우 껄끄러운 일입니다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따라서 평가 항목을 점수 매기기보다 다음과 같은 미래지향적 서술형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Start-Stop-Continue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구성하는 것이 좋습니다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모건 스탠리의 상향 평가서에도 이 방식이 사용되었습니다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1"/>
            <a:r>
              <a:rPr lang="en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Stop:</a:t>
            </a:r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더 효과적인 리더가 되기 위해 그만두어야 할 행동은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</a:p>
          <a:p>
            <a:pPr lvl="1"/>
            <a:r>
              <a:rPr lang="en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Continue:</a:t>
            </a:r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앞으로도 계속 유지해야 할 긍정적인 행동은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</a:p>
          <a:p>
            <a:pPr lvl="1"/>
            <a:r>
              <a:rPr lang="en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Start:</a:t>
            </a:r>
            <a:r>
              <a:rPr lang="en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조직을 위해 새롭게 시작해야 할 행동은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</a:p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리더의 취약성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Vulnerability)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인정 교육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제도 도입 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경영진과 리더들을 대상으로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비판을 수용하는 자세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대한 교육이 선행되어야 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리더가 먼저 다면평가 결과를 팀원들에게 투명하게 공유하고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제가 이런 부분은 부족했으니 앞으로 이렇게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고쳐나가겠습니다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라고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선언하는 문화를 만들면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서열을 중시하는 문화 속에서도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심리적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안전감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빠르게 구축할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71A376-D583-2390-624F-735645D3D7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4C9200-E5CA-41A8-A041-610F568DCE08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196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엠블럼, 로고, 원이(가) 표시된 사진&#10;&#10;자동 생성된 설명">
            <a:extLst>
              <a:ext uri="{FF2B5EF4-FFF2-40B4-BE49-F238E27FC236}">
                <a16:creationId xmlns:a16="http://schemas.microsoft.com/office/drawing/2014/main" id="{1AD252CD-C0D7-0CFA-2C96-F1F12F9922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1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6520" y="1137976"/>
            <a:ext cx="4592960" cy="4592960"/>
          </a:xfrm>
          <a:prstGeom prst="rect">
            <a:avLst/>
          </a:prstGeom>
        </p:spPr>
      </p:pic>
      <p:sp>
        <p:nvSpPr>
          <p:cNvPr id="9" name="직사각형 8"/>
          <p:cNvSpPr/>
          <p:nvPr userDrawn="1"/>
        </p:nvSpPr>
        <p:spPr>
          <a:xfrm>
            <a:off x="0" y="2535193"/>
            <a:ext cx="9906000" cy="1800000"/>
          </a:xfrm>
          <a:prstGeom prst="rect">
            <a:avLst/>
          </a:prstGeom>
          <a:solidFill>
            <a:schemeClr val="accent2">
              <a:lumMod val="75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dirty="0">
              <a:solidFill>
                <a:srgbClr val="4BAB2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직사각형 7"/>
          <p:cNvSpPr/>
          <p:nvPr userDrawn="1"/>
        </p:nvSpPr>
        <p:spPr>
          <a:xfrm>
            <a:off x="0" y="0"/>
            <a:ext cx="9906000" cy="16033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1059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>
              <a:solidFill>
                <a:srgbClr val="4BAB26"/>
              </a:solidFill>
            </a:endParaRPr>
          </a:p>
        </p:txBody>
      </p:sp>
      <p:sp>
        <p:nvSpPr>
          <p:cNvPr id="15" name="직사각형 14"/>
          <p:cNvSpPr/>
          <p:nvPr userDrawn="1"/>
        </p:nvSpPr>
        <p:spPr>
          <a:xfrm>
            <a:off x="0" y="6697662"/>
            <a:ext cx="9906000" cy="16033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1059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>
              <a:solidFill>
                <a:srgbClr val="4BAB26"/>
              </a:solidFill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DE46E25-8F7B-4D15-89B4-3BE4EEF81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315" y="3128039"/>
            <a:ext cx="8207372" cy="612000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3600" spc="-1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B8B30BB-7D55-8110-C60D-807F0F7452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00" t="37819" r="14629" b="37778"/>
          <a:stretch/>
        </p:blipFill>
        <p:spPr>
          <a:xfrm>
            <a:off x="8455442" y="276227"/>
            <a:ext cx="1251185" cy="433885"/>
          </a:xfrm>
          <a:prstGeom prst="rect">
            <a:avLst/>
          </a:prstGeom>
        </p:spPr>
      </p:pic>
      <p:sp>
        <p:nvSpPr>
          <p:cNvPr id="7" name="내용 개체 틀 5" descr="날짜(DD-MM-YYYY)" title="날짜(DD-MM-YYYY)">
            <a:extLst>
              <a:ext uri="{FF2B5EF4-FFF2-40B4-BE49-F238E27FC236}">
                <a16:creationId xmlns:a16="http://schemas.microsoft.com/office/drawing/2014/main" id="{7E77401D-E056-9D92-6FE5-DF2A2C4BFFB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49314" y="6183380"/>
            <a:ext cx="8207373" cy="432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marR="8467" indent="0" algn="ctr" defTabSz="1219193" rtl="0" eaLnBrk="1" latinLnBrk="0" hangingPunct="1">
              <a:lnSpc>
                <a:spcPct val="100000"/>
              </a:lnSpc>
              <a:spcBef>
                <a:spcPts val="600"/>
              </a:spcBef>
              <a:buFontTx/>
              <a:buNone/>
              <a:defRPr lang="ko-KR" altLang="en-US" sz="2200" b="1" kern="1200" spc="-1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defRPr>
            </a:lvl1pPr>
          </a:lstStyle>
          <a:p>
            <a:pPr lvl="0"/>
            <a:r>
              <a:rPr lang="ko-KR" altLang="en-US" dirty="0"/>
              <a:t>부서명</a:t>
            </a:r>
          </a:p>
        </p:txBody>
      </p:sp>
      <p:sp>
        <p:nvSpPr>
          <p:cNvPr id="10" name="내용 개체 틀 5" descr="날짜(DD-MM-YYYY)" title="날짜(DD-MM-YYYY)">
            <a:extLst>
              <a:ext uri="{FF2B5EF4-FFF2-40B4-BE49-F238E27FC236}">
                <a16:creationId xmlns:a16="http://schemas.microsoft.com/office/drawing/2014/main" id="{161B4548-BA7F-C7A8-88E2-9E2547F6925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49314" y="5121188"/>
            <a:ext cx="8207373" cy="406344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marR="8467" indent="0" algn="ctr" defTabSz="1219193" rtl="0" eaLnBrk="1" latinLnBrk="0" hangingPunct="1">
              <a:lnSpc>
                <a:spcPct val="100000"/>
              </a:lnSpc>
              <a:spcBef>
                <a:spcPts val="600"/>
              </a:spcBef>
              <a:buFontTx/>
              <a:buNone/>
              <a:defRPr lang="ko-KR" altLang="en-US" sz="2000" b="1" kern="1200" spc="-100" baseline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defRPr>
            </a:lvl1pPr>
          </a:lstStyle>
          <a:p>
            <a:pPr lvl="0"/>
            <a:r>
              <a:rPr lang="en-US" altLang="ko-KR" dirty="0"/>
              <a:t>YYYY.MM.DD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312761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16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 rot="5400000">
            <a:off x="825360" y="3729868"/>
            <a:ext cx="4104000" cy="15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각 삼각형 4"/>
          <p:cNvSpPr/>
          <p:nvPr userDrawn="1"/>
        </p:nvSpPr>
        <p:spPr bwMode="auto">
          <a:xfrm rot="16200000">
            <a:off x="8079679" y="5037190"/>
            <a:ext cx="547497" cy="3105150"/>
          </a:xfrm>
          <a:prstGeom prst="rtTriangle">
            <a:avLst/>
          </a:prstGeom>
          <a:solidFill>
            <a:schemeClr val="accent2">
              <a:lumMod val="75000"/>
            </a:schemeClr>
          </a:solidFill>
          <a:ln>
            <a:solidFill>
              <a:srgbClr val="1059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dirty="0">
              <a:solidFill>
                <a:srgbClr val="4BAB26"/>
              </a:solidFill>
            </a:endParaRPr>
          </a:p>
        </p:txBody>
      </p:sp>
      <p:sp>
        <p:nvSpPr>
          <p:cNvPr id="6" name="직각 삼각형 5"/>
          <p:cNvSpPr/>
          <p:nvPr userDrawn="1"/>
        </p:nvSpPr>
        <p:spPr bwMode="auto">
          <a:xfrm rot="16200000" flipH="1" flipV="1">
            <a:off x="1278830" y="-1278825"/>
            <a:ext cx="547497" cy="3105150"/>
          </a:xfrm>
          <a:prstGeom prst="rtTriangle">
            <a:avLst/>
          </a:prstGeom>
          <a:solidFill>
            <a:schemeClr val="accent2">
              <a:lumMod val="75000"/>
            </a:schemeClr>
          </a:solidFill>
          <a:ln>
            <a:solidFill>
              <a:srgbClr val="1059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dirty="0">
              <a:solidFill>
                <a:srgbClr val="4BAB26"/>
              </a:solidFill>
            </a:endParaRP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1234288" y="1678660"/>
            <a:ext cx="1643074" cy="158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1001612" y="950336"/>
            <a:ext cx="2103542" cy="65883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800" b="1" spc="-150" dirty="0">
                <a:solidFill>
                  <a:srgbClr val="005128"/>
                </a:solidFill>
                <a:effectLst>
                  <a:reflection blurRad="6350" stA="55000" endA="300" endPos="45500" dir="5400000" sy="-100000" algn="bl" rotWithShape="0"/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ko-KR" altLang="en-US" sz="2800" b="1" spc="-150" dirty="0">
              <a:solidFill>
                <a:srgbClr val="005128"/>
              </a:solidFill>
              <a:effectLst>
                <a:reflection blurRad="6350" stA="55000" endA="300" endPos="45500" dir="5400000" sy="-100000" algn="bl" rotWithShape="0"/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1437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21">
            <a:extLst>
              <a:ext uri="{FF2B5EF4-FFF2-40B4-BE49-F238E27FC236}">
                <a16:creationId xmlns:a16="http://schemas.microsoft.com/office/drawing/2014/main" id="{53747CCC-133C-0DDA-96B0-B5E1DBCB05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0975" y="396750"/>
            <a:ext cx="9360000" cy="361784"/>
          </a:xfrm>
          <a:prstGeom prst="rect">
            <a:avLst/>
          </a:prstGeom>
        </p:spPr>
        <p:txBody>
          <a:bodyPr lIns="0" rIns="0" anchor="t" anchorCtr="0"/>
          <a:lstStyle>
            <a:lvl1pPr>
              <a:defRPr kumimoji="0" lang="ko-KR" altLang="en-US" sz="1800" b="1" i="0" u="none" strike="noStrike" kern="0" cap="none" spc="-10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defRPr>
            </a:lvl1pPr>
          </a:lstStyle>
          <a:p>
            <a:pPr marL="11824" marR="0" lvl="0" indent="0" algn="l" defTabSz="8513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제목</a:t>
            </a:r>
          </a:p>
        </p:txBody>
      </p:sp>
      <p:sp>
        <p:nvSpPr>
          <p:cNvPr id="9" name="텍스트 개체 틀 21">
            <a:extLst>
              <a:ext uri="{FF2B5EF4-FFF2-40B4-BE49-F238E27FC236}">
                <a16:creationId xmlns:a16="http://schemas.microsoft.com/office/drawing/2014/main" id="{4CC15851-3BC7-23E1-CFFC-59F2522FD24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0975" y="767550"/>
            <a:ext cx="9360000" cy="360040"/>
          </a:xfrm>
          <a:prstGeom prst="rect">
            <a:avLst/>
          </a:prstGeom>
        </p:spPr>
        <p:txBody>
          <a:bodyPr lIns="0" rIns="0" anchor="t" anchorCtr="0"/>
          <a:lstStyle>
            <a:lvl1pPr marL="0" indent="0" algn="l" defTabSz="913975" rtl="0" eaLnBrk="0" latinLnBrk="0" hangingPunct="0">
              <a:spcBef>
                <a:spcPct val="20000"/>
              </a:spcBef>
              <a:buFont typeface="Arial" pitchFamily="34" charset="0"/>
              <a:buNone/>
              <a:defRPr kumimoji="0" lang="ko-KR" altLang="en-US" sz="2000" b="1" i="0" u="none" strike="noStrike" kern="0" cap="none" spc="-10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defRPr>
            </a:lvl1pPr>
          </a:lstStyle>
          <a:p>
            <a:pPr marL="11824" marR="0" lvl="0" indent="0" algn="l" defTabSz="8513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핵심 </a:t>
            </a:r>
            <a:r>
              <a:rPr lang="ko-KR" altLang="en-US" dirty="0" err="1"/>
              <a:t>메세지</a:t>
            </a:r>
            <a:endParaRPr lang="ko-KR" alt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7150" y="6599206"/>
            <a:ext cx="2228850" cy="25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>
                <a:solidFill>
                  <a:schemeClr val="bg1"/>
                </a:solidFill>
              </a:defRPr>
            </a:lvl1pPr>
          </a:lstStyle>
          <a:p>
            <a:fld id="{88142A5B-241F-4620-9671-A7A83982CCB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990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of Docu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하늘, 구름, 야외, 도시 풍경이(가) 표시된 사진&#10;&#10;자동 생성된 설명">
            <a:extLst>
              <a:ext uri="{FF2B5EF4-FFF2-40B4-BE49-F238E27FC236}">
                <a16:creationId xmlns:a16="http://schemas.microsoft.com/office/drawing/2014/main" id="{B332526C-B845-B825-A137-C40898D059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47" r="9527"/>
          <a:stretch/>
        </p:blipFill>
        <p:spPr>
          <a:xfrm>
            <a:off x="-14301" y="-23155"/>
            <a:ext cx="9918023" cy="6875438"/>
          </a:xfrm>
          <a:prstGeom prst="rect">
            <a:avLst/>
          </a:prstGeom>
          <a:solidFill>
            <a:srgbClr val="005426"/>
          </a:solidFill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3794491-B551-0FE1-BFF1-3CCF6B7820F5}"/>
              </a:ext>
            </a:extLst>
          </p:cNvPr>
          <p:cNvSpPr/>
          <p:nvPr userDrawn="1"/>
        </p:nvSpPr>
        <p:spPr>
          <a:xfrm rot="16200000">
            <a:off x="-818573" y="799089"/>
            <a:ext cx="6863184" cy="5254638"/>
          </a:xfrm>
          <a:prstGeom prst="rect">
            <a:avLst/>
          </a:prstGeom>
          <a:solidFill>
            <a:schemeClr val="accent2">
              <a:lumMod val="7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21354F6-B2BA-4642-F652-587978064120}"/>
              </a:ext>
            </a:extLst>
          </p:cNvPr>
          <p:cNvSpPr/>
          <p:nvPr userDrawn="1"/>
        </p:nvSpPr>
        <p:spPr>
          <a:xfrm>
            <a:off x="285750" y="285750"/>
            <a:ext cx="9347200" cy="6275598"/>
          </a:xfrm>
          <a:prstGeom prst="rect">
            <a:avLst/>
          </a:prstGeom>
          <a:noFill/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C058D878-FF27-4A02-BFD0-14A1A81714CD}"/>
              </a:ext>
            </a:extLst>
          </p:cNvPr>
          <p:cNvSpPr txBox="1"/>
          <p:nvPr userDrawn="1"/>
        </p:nvSpPr>
        <p:spPr>
          <a:xfrm>
            <a:off x="344486" y="1506850"/>
            <a:ext cx="4895851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804" marR="0" lvl="0" indent="0" algn="ctr" defTabSz="912327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End of Document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35F8F9AC-DF63-E713-AE72-3178706DD581}"/>
              </a:ext>
            </a:extLst>
          </p:cNvPr>
          <p:cNvSpPr txBox="1"/>
          <p:nvPr userDrawn="1"/>
        </p:nvSpPr>
        <p:spPr>
          <a:xfrm rot="5400000">
            <a:off x="2700079" y="3858637"/>
            <a:ext cx="184666" cy="489585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1824" algn="ctr">
              <a:lnSpc>
                <a:spcPct val="100000"/>
              </a:lnSpc>
            </a:pPr>
            <a:r>
              <a:rPr sz="1200" spc="-50" dirty="0">
                <a:solidFill>
                  <a:schemeClr val="bg1"/>
                </a:solidFill>
                <a:latin typeface="+mn-lt"/>
                <a:cs typeface="Arial"/>
              </a:rPr>
              <a:t>Copyright </a:t>
            </a:r>
            <a:r>
              <a:rPr lang="en-US" sz="1200" spc="-50" dirty="0">
                <a:solidFill>
                  <a:schemeClr val="bg1"/>
                </a:solidFill>
                <a:latin typeface="+mn-lt"/>
                <a:cs typeface="Arial"/>
              </a:rPr>
              <a:t>2023.</a:t>
            </a:r>
            <a:r>
              <a:rPr sz="1200" spc="-50" dirty="0">
                <a:solidFill>
                  <a:schemeClr val="bg1"/>
                </a:solidFill>
                <a:latin typeface="+mn-lt"/>
                <a:cs typeface="Arial"/>
              </a:rPr>
              <a:t> </a:t>
            </a:r>
            <a:r>
              <a:rPr lang="en-US" sz="1200" spc="-50" dirty="0">
                <a:solidFill>
                  <a:schemeClr val="bg1"/>
                </a:solidFill>
                <a:latin typeface="+mn-lt"/>
                <a:cs typeface="Arial"/>
              </a:rPr>
              <a:t>KONKUK University a</a:t>
            </a:r>
            <a:r>
              <a:rPr sz="1200" spc="-50" dirty="0">
                <a:solidFill>
                  <a:schemeClr val="bg1"/>
                </a:solidFill>
                <a:latin typeface="+mn-lt"/>
                <a:cs typeface="Arial"/>
              </a:rPr>
              <a:t>ll rights reserved.</a:t>
            </a:r>
            <a:r>
              <a:rPr lang="en-US" sz="1200" spc="-50" dirty="0">
                <a:solidFill>
                  <a:schemeClr val="bg1"/>
                </a:solidFill>
                <a:latin typeface="+mn-lt"/>
                <a:cs typeface="Arial"/>
              </a:rPr>
              <a:t> </a:t>
            </a:r>
            <a:endParaRPr sz="1200" spc="-50" dirty="0">
              <a:solidFill>
                <a:schemeClr val="bg1"/>
              </a:solidFill>
              <a:latin typeface="+mn-lt"/>
              <a:cs typeface="Arial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C2283C8-CAA4-D0BF-89BE-D9DB86933D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00" t="37819" r="14629" b="37778"/>
          <a:stretch/>
        </p:blipFill>
        <p:spPr>
          <a:xfrm>
            <a:off x="7941368" y="419297"/>
            <a:ext cx="1565053" cy="542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691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0" y="6580190"/>
            <a:ext cx="9906000" cy="27781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1059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>
              <a:solidFill>
                <a:srgbClr val="4BAB26"/>
              </a:solidFill>
            </a:endParaRPr>
          </a:p>
        </p:txBody>
      </p:sp>
      <p:sp>
        <p:nvSpPr>
          <p:cNvPr id="11" name="자유형 10"/>
          <p:cNvSpPr/>
          <p:nvPr userDrawn="1"/>
        </p:nvSpPr>
        <p:spPr>
          <a:xfrm rot="16200000">
            <a:off x="4629153" y="-4629155"/>
            <a:ext cx="647700" cy="9906007"/>
          </a:xfrm>
          <a:custGeom>
            <a:avLst/>
            <a:gdLst>
              <a:gd name="connsiteX0" fmla="*/ 504231 w 504231"/>
              <a:gd name="connsiteY0" fmla="*/ 0 h 9906002"/>
              <a:gd name="connsiteX1" fmla="*/ 504231 w 504231"/>
              <a:gd name="connsiteY1" fmla="*/ 9906000 h 9906002"/>
              <a:gd name="connsiteX2" fmla="*/ 392707 w 504231"/>
              <a:gd name="connsiteY2" fmla="*/ 9906000 h 9906002"/>
              <a:gd name="connsiteX3" fmla="*/ 392707 w 504231"/>
              <a:gd name="connsiteY3" fmla="*/ 9906002 h 9906002"/>
              <a:gd name="connsiteX4" fmla="*/ 0 w 504231"/>
              <a:gd name="connsiteY4" fmla="*/ 9906002 h 9906002"/>
              <a:gd name="connsiteX5" fmla="*/ 0 w 504231"/>
              <a:gd name="connsiteY5" fmla="*/ 8183881 h 9906002"/>
              <a:gd name="connsiteX6" fmla="*/ 297459 w 504231"/>
              <a:gd name="connsiteY6" fmla="*/ 7857773 h 9906002"/>
              <a:gd name="connsiteX7" fmla="*/ 297459 w 504231"/>
              <a:gd name="connsiteY7" fmla="*/ 0 h 9906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4231" h="9906002">
                <a:moveTo>
                  <a:pt x="504231" y="0"/>
                </a:moveTo>
                <a:lnTo>
                  <a:pt x="504231" y="9906000"/>
                </a:lnTo>
                <a:lnTo>
                  <a:pt x="392707" y="9906000"/>
                </a:lnTo>
                <a:lnTo>
                  <a:pt x="392707" y="9906002"/>
                </a:lnTo>
                <a:lnTo>
                  <a:pt x="0" y="9906002"/>
                </a:lnTo>
                <a:lnTo>
                  <a:pt x="0" y="8183881"/>
                </a:lnTo>
                <a:lnTo>
                  <a:pt x="297459" y="7857773"/>
                </a:lnTo>
                <a:lnTo>
                  <a:pt x="297459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solidFill>
              <a:srgbClr val="1059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>
              <a:solidFill>
                <a:srgbClr val="4BAB26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A98A12E-260C-401C-AEC1-86AA31AFCC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00" t="37819" r="14629" b="37778"/>
          <a:stretch/>
        </p:blipFill>
        <p:spPr>
          <a:xfrm>
            <a:off x="8455442" y="102393"/>
            <a:ext cx="1251185" cy="433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176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8" r:id="rId2"/>
    <p:sldLayoutId id="2147483662" r:id="rId3"/>
    <p:sldLayoutId id="2147483670" r:id="rId4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90000"/>
        </a:lnSpc>
        <a:spcBef>
          <a:spcPct val="0"/>
        </a:spcBef>
        <a:buFont typeface="Arial" panose="020B0604020202020204" pitchFamily="34" charset="0"/>
        <a:buNone/>
        <a:defRPr lang="ko-KR" altLang="en-US" sz="1400" kern="1200" dirty="0" smtClean="0">
          <a:solidFill>
            <a:schemeClr val="tx1"/>
          </a:solidFill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  <a:lvl2pPr marL="457200" indent="0" algn="l" defTabSz="914400" rtl="0" eaLnBrk="1" latinLnBrk="1" hangingPunct="1">
        <a:lnSpc>
          <a:spcPct val="90000"/>
        </a:lnSpc>
        <a:spcBef>
          <a:spcPct val="0"/>
        </a:spcBef>
        <a:buFont typeface="Arial" panose="020B0604020202020204" pitchFamily="34" charset="0"/>
        <a:buNone/>
        <a:defRPr lang="ko-KR" altLang="en-US" sz="1400" kern="1200" dirty="0" smtClean="0">
          <a:solidFill>
            <a:schemeClr val="tx1"/>
          </a:solidFill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2pPr>
      <a:lvl3pPr marL="914400" indent="0" algn="l" defTabSz="914400" rtl="0" eaLnBrk="1" latinLnBrk="1" hangingPunct="1">
        <a:lnSpc>
          <a:spcPct val="90000"/>
        </a:lnSpc>
        <a:spcBef>
          <a:spcPct val="0"/>
        </a:spcBef>
        <a:buFont typeface="Arial" panose="020B0604020202020204" pitchFamily="34" charset="0"/>
        <a:buNone/>
        <a:defRPr lang="ko-KR" altLang="en-US" sz="1400" kern="1200" dirty="0" smtClean="0">
          <a:solidFill>
            <a:schemeClr val="tx1"/>
          </a:solidFill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3pPr>
      <a:lvl4pPr marL="1371600" indent="0" algn="l" defTabSz="914400" rtl="0" eaLnBrk="1" latinLnBrk="1" hangingPunct="1">
        <a:lnSpc>
          <a:spcPct val="90000"/>
        </a:lnSpc>
        <a:spcBef>
          <a:spcPct val="0"/>
        </a:spcBef>
        <a:buFont typeface="Arial" panose="020B0604020202020204" pitchFamily="34" charset="0"/>
        <a:buNone/>
        <a:defRPr lang="ko-KR" altLang="en-US" sz="1400" kern="1200" dirty="0" smtClean="0">
          <a:solidFill>
            <a:schemeClr val="tx1"/>
          </a:solidFill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4pPr>
      <a:lvl5pPr marL="1828800" indent="0" algn="l" defTabSz="914400" rtl="0" eaLnBrk="1" latinLnBrk="1" hangingPunct="1">
        <a:lnSpc>
          <a:spcPct val="90000"/>
        </a:lnSpc>
        <a:spcBef>
          <a:spcPct val="0"/>
        </a:spcBef>
        <a:buFont typeface="Arial" panose="020B0604020202020204" pitchFamily="34" charset="0"/>
        <a:buNone/>
        <a:defRPr lang="en-US" altLang="en-US" sz="1400" kern="1200" dirty="0">
          <a:solidFill>
            <a:schemeClr val="tx1"/>
          </a:solidFill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20" userDrawn="1">
          <p15:clr>
            <a:srgbClr val="F26B43"/>
          </p15:clr>
        </p15:guide>
        <p15:guide id="2" pos="126" userDrawn="1">
          <p15:clr>
            <a:srgbClr val="F26B43"/>
          </p15:clr>
        </p15:guide>
        <p15:guide id="3" pos="611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igitaltoday.co.kr/news/articleView.html?idxno=264335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hyperlink" Target="https://www.newsway.co.kr/news/view?tp=1&amp;ud=2019062014154358586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108424-F5C3-0D66-37BC-07B56DB95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sz="2800" dirty="0"/>
              <a:t>모건 스탠리의 전사적 </a:t>
            </a:r>
            <a:r>
              <a:rPr lang="en-US" altLang="ko-KR" sz="2800" dirty="0"/>
              <a:t>360</a:t>
            </a:r>
            <a:r>
              <a:rPr lang="ko-KR" altLang="en-US" sz="2800" dirty="0"/>
              <a:t>도 성과 평가 프로세스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311D89-64E7-82CD-6D4D-03C28DAD906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443080" y="5791494"/>
            <a:ext cx="8207373" cy="432000"/>
          </a:xfrm>
        </p:spPr>
        <p:txBody>
          <a:bodyPr/>
          <a:lstStyle/>
          <a:p>
            <a:pPr algn="r"/>
            <a:r>
              <a:rPr lang="ko-KR" altLang="en-US" dirty="0"/>
              <a:t>구 우 회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D006B2B-98C6-0A4A-2B4C-DA62F07310AE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altLang="ko-KR" dirty="0"/>
              <a:t>2026. 4.</a:t>
            </a:r>
            <a:r>
              <a:rPr lang="ko-KR" altLang="en-US" dirty="0"/>
              <a:t> </a:t>
            </a:r>
            <a:r>
              <a:rPr lang="en-US" altLang="ko-KR" dirty="0"/>
              <a:t>18.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토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6463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0640E-8CFF-5D15-A11C-42ADDEC2A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65DBA58-C1C8-73CE-46DB-18BE8B9211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spc="-100" dirty="0"/>
              <a:t>      </a:t>
            </a:r>
            <a:r>
              <a:rPr lang="ko-KR" altLang="en-US" spc="-100" dirty="0"/>
              <a:t>목차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B723702-3A7E-7EC0-5049-E944CD0CAEB1}"/>
              </a:ext>
            </a:extLst>
          </p:cNvPr>
          <p:cNvSpPr/>
          <p:nvPr/>
        </p:nvSpPr>
        <p:spPr>
          <a:xfrm>
            <a:off x="211138" y="767550"/>
            <a:ext cx="360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0</a:t>
            </a:r>
            <a:endParaRPr lang="ko-KR" altLang="en-US" sz="2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011C8B3-8571-547E-4AB0-BC748E6B3A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모건 스탠리 </a:t>
            </a:r>
            <a:r>
              <a:rPr lang="en-US" altLang="ko-KR" dirty="0"/>
              <a:t>360</a:t>
            </a:r>
            <a:r>
              <a:rPr lang="ko-KR" altLang="en-US" dirty="0"/>
              <a:t>도 평가 프로세스</a:t>
            </a: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C9AFED85-7790-1C23-8BF2-B9E5D3EEF2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8142A5B-241F-4620-9671-A7A83982CCBB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8E6DDA8D-18DC-4FE7-F9EA-285C9018F99F}"/>
              </a:ext>
            </a:extLst>
          </p:cNvPr>
          <p:cNvGrpSpPr/>
          <p:nvPr/>
        </p:nvGrpSpPr>
        <p:grpSpPr>
          <a:xfrm>
            <a:off x="537763" y="1337428"/>
            <a:ext cx="9360000" cy="360040"/>
            <a:chOff x="537763" y="1337428"/>
            <a:chExt cx="9360000" cy="360040"/>
          </a:xfrm>
        </p:grpSpPr>
        <p:sp>
          <p:nvSpPr>
            <p:cNvPr id="5" name="텍스트 개체 틀 2">
              <a:extLst>
                <a:ext uri="{FF2B5EF4-FFF2-40B4-BE49-F238E27FC236}">
                  <a16:creationId xmlns:a16="http://schemas.microsoft.com/office/drawing/2014/main" id="{9B042A14-5B63-44AB-D5F5-FE1939B33871}"/>
                </a:ext>
              </a:extLst>
            </p:cNvPr>
            <p:cNvSpPr txBox="1">
              <a:spLocks/>
            </p:cNvSpPr>
            <p:nvPr/>
          </p:nvSpPr>
          <p:spPr>
            <a:xfrm>
              <a:off x="537763" y="1337428"/>
              <a:ext cx="9360000" cy="360040"/>
            </a:xfrm>
            <a:prstGeom prst="rect">
              <a:avLst/>
            </a:prstGeom>
          </p:spPr>
          <p:txBody>
            <a:bodyPr lIns="0" rIns="0" anchor="t" anchorCtr="0"/>
            <a:lstStyle>
              <a:lvl1pPr marL="0" indent="0" algn="l" defTabSz="913975" rtl="0" eaLnBrk="0" latinLnBrk="0" hangingPunct="0">
                <a:lnSpc>
                  <a:spcPct val="90000"/>
                </a:lnSpc>
                <a:spcBef>
                  <a:spcPct val="20000"/>
                </a:spcBef>
                <a:buFont typeface="Arial" pitchFamily="34" charset="0"/>
                <a:buNone/>
                <a:defRPr kumimoji="0" lang="ko-KR" altLang="en-US" sz="2000" b="1" i="0" u="none" strike="noStrike" kern="0" cap="none" spc="-100" normalizeH="0" baseline="0" dirty="0" smtClean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/>
                </a:defRPr>
              </a:lvl1pPr>
              <a:lvl2pPr marL="457200" indent="0"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ko-KR" altLang="en-US" sz="1400" kern="1200" dirty="0" smtClean="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+mj-cs"/>
                </a:defRPr>
              </a:lvl2pPr>
              <a:lvl3pPr marL="914400" indent="0"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ko-KR" altLang="en-US" sz="1400" kern="1200" dirty="0" smtClean="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+mj-cs"/>
                </a:defRPr>
              </a:lvl3pPr>
              <a:lvl4pPr marL="1371600" indent="0"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ko-KR" altLang="en-US" sz="1400" kern="1200" dirty="0" smtClean="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+mj-cs"/>
                </a:defRPr>
              </a:lvl4pPr>
              <a:lvl5pPr marL="1828800" indent="0"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en-US" altLang="en-US" sz="1400" kern="1200" dirty="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+mj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dirty="0"/>
                <a:t>      기업 개요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D2B3FD8-D003-6AB8-8955-8674DC8D7067}"/>
                </a:ext>
              </a:extLst>
            </p:cNvPr>
            <p:cNvSpPr/>
            <p:nvPr/>
          </p:nvSpPr>
          <p:spPr>
            <a:xfrm>
              <a:off x="537763" y="1337428"/>
              <a:ext cx="385301" cy="3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altLang="ko-KR" sz="2000" b="1" dirty="0">
                  <a:solidFill>
                    <a:schemeClr val="bg1"/>
                  </a:solidFill>
                  <a:latin typeface="+mn-ea"/>
                </a:rPr>
                <a:t>1</a:t>
              </a:r>
              <a:endParaRPr lang="ko-KR" altLang="en-US" sz="20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2C5AD5C4-0684-CE4E-DE40-16EC69BB09A7}"/>
              </a:ext>
            </a:extLst>
          </p:cNvPr>
          <p:cNvGrpSpPr/>
          <p:nvPr/>
        </p:nvGrpSpPr>
        <p:grpSpPr>
          <a:xfrm>
            <a:off x="537763" y="1900950"/>
            <a:ext cx="9384975" cy="377256"/>
            <a:chOff x="537763" y="1900950"/>
            <a:chExt cx="9384975" cy="377256"/>
          </a:xfrm>
        </p:grpSpPr>
        <p:sp>
          <p:nvSpPr>
            <p:cNvPr id="8" name="텍스트 개체 틀 2">
              <a:extLst>
                <a:ext uri="{FF2B5EF4-FFF2-40B4-BE49-F238E27FC236}">
                  <a16:creationId xmlns:a16="http://schemas.microsoft.com/office/drawing/2014/main" id="{5F741584-066C-F034-BE09-D4A0EF76BBF5}"/>
                </a:ext>
              </a:extLst>
            </p:cNvPr>
            <p:cNvSpPr txBox="1">
              <a:spLocks/>
            </p:cNvSpPr>
            <p:nvPr/>
          </p:nvSpPr>
          <p:spPr>
            <a:xfrm>
              <a:off x="562738" y="1918166"/>
              <a:ext cx="9360000" cy="360040"/>
            </a:xfrm>
            <a:prstGeom prst="rect">
              <a:avLst/>
            </a:prstGeom>
          </p:spPr>
          <p:txBody>
            <a:bodyPr lIns="0" rIns="0" anchor="t" anchorCtr="0"/>
            <a:lstStyle>
              <a:lvl1pPr marL="0" indent="0" algn="l" defTabSz="913975" rtl="0" eaLnBrk="0" latinLnBrk="0" hangingPunct="0">
                <a:lnSpc>
                  <a:spcPct val="90000"/>
                </a:lnSpc>
                <a:spcBef>
                  <a:spcPct val="20000"/>
                </a:spcBef>
                <a:buFont typeface="Arial" pitchFamily="34" charset="0"/>
                <a:buNone/>
                <a:defRPr kumimoji="0" lang="ko-KR" altLang="en-US" sz="2000" b="1" i="0" u="none" strike="noStrike" kern="0" cap="none" spc="-100" normalizeH="0" baseline="0" dirty="0" smtClean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/>
                </a:defRPr>
              </a:lvl1pPr>
              <a:lvl2pPr marL="457200" indent="0"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ko-KR" altLang="en-US" sz="1400" kern="1200" dirty="0" smtClean="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+mj-cs"/>
                </a:defRPr>
              </a:lvl2pPr>
              <a:lvl3pPr marL="914400" indent="0"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ko-KR" altLang="en-US" sz="1400" kern="1200" dirty="0" smtClean="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+mj-cs"/>
                </a:defRPr>
              </a:lvl3pPr>
              <a:lvl4pPr marL="1371600" indent="0"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ko-KR" altLang="en-US" sz="1400" kern="1200" dirty="0" smtClean="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+mj-cs"/>
                </a:defRPr>
              </a:lvl4pPr>
              <a:lvl5pPr marL="1828800" indent="0"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en-US" altLang="en-US" sz="1400" kern="1200" dirty="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+mj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/>
                <a:t>      새로운 평가 시스템의 탄생 배경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DA1D456-4BE3-8E3D-2BC9-BC764367884B}"/>
                </a:ext>
              </a:extLst>
            </p:cNvPr>
            <p:cNvSpPr/>
            <p:nvPr/>
          </p:nvSpPr>
          <p:spPr>
            <a:xfrm>
              <a:off x="537763" y="1900950"/>
              <a:ext cx="360000" cy="3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altLang="ko-KR" sz="2000" b="1" dirty="0">
                  <a:solidFill>
                    <a:schemeClr val="bg1"/>
                  </a:solidFill>
                  <a:latin typeface="+mn-ea"/>
                </a:rPr>
                <a:t>2</a:t>
              </a:r>
              <a:endParaRPr lang="ko-KR" altLang="en-US" sz="20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69E2EA05-B3CA-742E-45DE-928941217DF5}"/>
              </a:ext>
            </a:extLst>
          </p:cNvPr>
          <p:cNvGrpSpPr/>
          <p:nvPr/>
        </p:nvGrpSpPr>
        <p:grpSpPr>
          <a:xfrm>
            <a:off x="537763" y="2496925"/>
            <a:ext cx="9360000" cy="360040"/>
            <a:chOff x="546000" y="2911716"/>
            <a:chExt cx="9360000" cy="360040"/>
          </a:xfrm>
        </p:grpSpPr>
        <p:sp>
          <p:nvSpPr>
            <p:cNvPr id="10" name="텍스트 개체 틀 2">
              <a:extLst>
                <a:ext uri="{FF2B5EF4-FFF2-40B4-BE49-F238E27FC236}">
                  <a16:creationId xmlns:a16="http://schemas.microsoft.com/office/drawing/2014/main" id="{1AE8E4A1-F123-C94F-37B1-D808FE286655}"/>
                </a:ext>
              </a:extLst>
            </p:cNvPr>
            <p:cNvSpPr txBox="1">
              <a:spLocks/>
            </p:cNvSpPr>
            <p:nvPr/>
          </p:nvSpPr>
          <p:spPr>
            <a:xfrm>
              <a:off x="546000" y="2911716"/>
              <a:ext cx="9360000" cy="360040"/>
            </a:xfrm>
            <a:prstGeom prst="rect">
              <a:avLst/>
            </a:prstGeom>
          </p:spPr>
          <p:txBody>
            <a:bodyPr lIns="0" rIns="0" anchor="t" anchorCtr="0"/>
            <a:lstStyle>
              <a:lvl1pPr marL="0" indent="0" algn="l" defTabSz="913975" rtl="0" eaLnBrk="0" latinLnBrk="0" hangingPunct="0">
                <a:lnSpc>
                  <a:spcPct val="90000"/>
                </a:lnSpc>
                <a:spcBef>
                  <a:spcPct val="20000"/>
                </a:spcBef>
                <a:buFont typeface="Arial" pitchFamily="34" charset="0"/>
                <a:buNone/>
                <a:defRPr kumimoji="0" lang="ko-KR" altLang="en-US" sz="2000" b="1" i="0" u="none" strike="noStrike" kern="0" cap="none" spc="-100" normalizeH="0" baseline="0" dirty="0" smtClean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/>
                </a:defRPr>
              </a:lvl1pPr>
              <a:lvl2pPr marL="457200" indent="0"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ko-KR" altLang="en-US" sz="1400" kern="1200" dirty="0" smtClean="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+mj-cs"/>
                </a:defRPr>
              </a:lvl2pPr>
              <a:lvl3pPr marL="914400" indent="0"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ko-KR" altLang="en-US" sz="1400" kern="1200" dirty="0" smtClean="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+mj-cs"/>
                </a:defRPr>
              </a:lvl3pPr>
              <a:lvl4pPr marL="1371600" indent="0"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ko-KR" altLang="en-US" sz="1400" kern="1200" dirty="0" smtClean="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+mj-cs"/>
                </a:defRPr>
              </a:lvl4pPr>
              <a:lvl5pPr marL="1828800" indent="0"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en-US" altLang="en-US" sz="1400" kern="1200" dirty="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+mj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/>
                <a:t>      평가 시스템의 핵심 구성 요소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882036F-587F-5B5D-6F56-54A029D0B008}"/>
                </a:ext>
              </a:extLst>
            </p:cNvPr>
            <p:cNvSpPr/>
            <p:nvPr/>
          </p:nvSpPr>
          <p:spPr>
            <a:xfrm>
              <a:off x="546163" y="2911716"/>
              <a:ext cx="360000" cy="3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altLang="ko-KR" sz="2000" b="1" dirty="0">
                  <a:solidFill>
                    <a:schemeClr val="bg1"/>
                  </a:solidFill>
                  <a:latin typeface="+mn-ea"/>
                </a:rPr>
                <a:t>3</a:t>
              </a:r>
              <a:endParaRPr lang="ko-KR" altLang="en-US" sz="20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8591B82B-AF41-8957-2C2C-002DA7F24AE0}"/>
              </a:ext>
            </a:extLst>
          </p:cNvPr>
          <p:cNvGrpSpPr/>
          <p:nvPr/>
        </p:nvGrpSpPr>
        <p:grpSpPr>
          <a:xfrm>
            <a:off x="537329" y="3098904"/>
            <a:ext cx="9360000" cy="360040"/>
            <a:chOff x="546000" y="3529854"/>
            <a:chExt cx="9360000" cy="360040"/>
          </a:xfrm>
        </p:grpSpPr>
        <p:sp>
          <p:nvSpPr>
            <p:cNvPr id="12" name="텍스트 개체 틀 2">
              <a:extLst>
                <a:ext uri="{FF2B5EF4-FFF2-40B4-BE49-F238E27FC236}">
                  <a16:creationId xmlns:a16="http://schemas.microsoft.com/office/drawing/2014/main" id="{2EBB94C0-3200-79B1-F281-927BE42ABEB9}"/>
                </a:ext>
              </a:extLst>
            </p:cNvPr>
            <p:cNvSpPr txBox="1">
              <a:spLocks/>
            </p:cNvSpPr>
            <p:nvPr/>
          </p:nvSpPr>
          <p:spPr>
            <a:xfrm>
              <a:off x="546000" y="3529854"/>
              <a:ext cx="9360000" cy="360040"/>
            </a:xfrm>
            <a:prstGeom prst="rect">
              <a:avLst/>
            </a:prstGeom>
          </p:spPr>
          <p:txBody>
            <a:bodyPr lIns="0" rIns="0" anchor="t" anchorCtr="0"/>
            <a:lstStyle>
              <a:lvl1pPr marL="0" indent="0" algn="l" defTabSz="913975" rtl="0" eaLnBrk="0" latinLnBrk="0" hangingPunct="0">
                <a:lnSpc>
                  <a:spcPct val="90000"/>
                </a:lnSpc>
                <a:spcBef>
                  <a:spcPct val="20000"/>
                </a:spcBef>
                <a:buFont typeface="Arial" pitchFamily="34" charset="0"/>
                <a:buNone/>
                <a:defRPr kumimoji="0" lang="ko-KR" altLang="en-US" sz="2000" b="1" i="0" u="none" strike="noStrike" kern="0" cap="none" spc="-100" normalizeH="0" baseline="0" dirty="0" smtClean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/>
                </a:defRPr>
              </a:lvl1pPr>
              <a:lvl2pPr marL="457200" indent="0"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ko-KR" altLang="en-US" sz="1400" kern="1200" dirty="0" smtClean="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+mj-cs"/>
                </a:defRPr>
              </a:lvl2pPr>
              <a:lvl3pPr marL="914400" indent="0"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ko-KR" altLang="en-US" sz="1400" kern="1200" dirty="0" smtClean="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+mj-cs"/>
                </a:defRPr>
              </a:lvl3pPr>
              <a:lvl4pPr marL="1371600" indent="0"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ko-KR" altLang="en-US" sz="1400" kern="1200" dirty="0" smtClean="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+mj-cs"/>
                </a:defRPr>
              </a:lvl4pPr>
              <a:lvl5pPr marL="1828800" indent="0"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en-US" altLang="en-US" sz="1400" kern="1200" dirty="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+mj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/>
                <a:t>      </a:t>
              </a:r>
              <a:r>
                <a:rPr lang="en-US" altLang="ko-KR"/>
                <a:t>4</a:t>
              </a:r>
              <a:r>
                <a:rPr lang="ko-KR" altLang="en-US"/>
                <a:t>가지 주요 평가 기준</a:t>
              </a:r>
              <a:r>
                <a:rPr lang="en-US" altLang="ko-KR"/>
                <a:t>(Evaluation Criteria)</a:t>
              </a:r>
              <a:endParaRPr 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7B234B5B-5AA1-5FEF-F090-AA9F286D4AF7}"/>
                </a:ext>
              </a:extLst>
            </p:cNvPr>
            <p:cNvSpPr/>
            <p:nvPr/>
          </p:nvSpPr>
          <p:spPr>
            <a:xfrm>
              <a:off x="546163" y="3529854"/>
              <a:ext cx="360000" cy="3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altLang="ko-KR" sz="2000" b="1" dirty="0">
                  <a:solidFill>
                    <a:schemeClr val="bg1"/>
                  </a:solidFill>
                  <a:latin typeface="+mn-ea"/>
                </a:rPr>
                <a:t>4</a:t>
              </a:r>
              <a:endParaRPr lang="ko-KR" altLang="en-US" sz="20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2AACF87B-FCD3-94C0-63DA-9C0B600F8140}"/>
              </a:ext>
            </a:extLst>
          </p:cNvPr>
          <p:cNvGrpSpPr/>
          <p:nvPr/>
        </p:nvGrpSpPr>
        <p:grpSpPr>
          <a:xfrm>
            <a:off x="537329" y="3694879"/>
            <a:ext cx="9360000" cy="360040"/>
            <a:chOff x="537763" y="4147952"/>
            <a:chExt cx="9360000" cy="360040"/>
          </a:xfrm>
        </p:grpSpPr>
        <p:sp>
          <p:nvSpPr>
            <p:cNvPr id="17" name="텍스트 개체 틀 2">
              <a:extLst>
                <a:ext uri="{FF2B5EF4-FFF2-40B4-BE49-F238E27FC236}">
                  <a16:creationId xmlns:a16="http://schemas.microsoft.com/office/drawing/2014/main" id="{E0C1C8EE-EA44-BB15-3A01-792107CE76AF}"/>
                </a:ext>
              </a:extLst>
            </p:cNvPr>
            <p:cNvSpPr txBox="1">
              <a:spLocks/>
            </p:cNvSpPr>
            <p:nvPr/>
          </p:nvSpPr>
          <p:spPr>
            <a:xfrm>
              <a:off x="537763" y="4147952"/>
              <a:ext cx="9360000" cy="360040"/>
            </a:xfrm>
            <a:prstGeom prst="rect">
              <a:avLst/>
            </a:prstGeom>
          </p:spPr>
          <p:txBody>
            <a:bodyPr lIns="0" rIns="0" anchor="t" anchorCtr="0"/>
            <a:lstStyle>
              <a:lvl1pPr marL="0" indent="0" algn="l" defTabSz="913975" rtl="0" eaLnBrk="0" latinLnBrk="0" hangingPunct="0">
                <a:lnSpc>
                  <a:spcPct val="90000"/>
                </a:lnSpc>
                <a:spcBef>
                  <a:spcPct val="20000"/>
                </a:spcBef>
                <a:buFont typeface="Arial" pitchFamily="34" charset="0"/>
                <a:buNone/>
                <a:defRPr kumimoji="0" lang="ko-KR" altLang="en-US" sz="2000" b="1" i="0" u="none" strike="noStrike" kern="0" cap="none" spc="-100" normalizeH="0" baseline="0" dirty="0" smtClean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/>
                </a:defRPr>
              </a:lvl1pPr>
              <a:lvl2pPr marL="457200" indent="0"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ko-KR" altLang="en-US" sz="1400" kern="1200" dirty="0" smtClean="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+mj-cs"/>
                </a:defRPr>
              </a:lvl2pPr>
              <a:lvl3pPr marL="914400" indent="0"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ko-KR" altLang="en-US" sz="1400" kern="1200" dirty="0" smtClean="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+mj-cs"/>
                </a:defRPr>
              </a:lvl3pPr>
              <a:lvl4pPr marL="1371600" indent="0"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ko-KR" altLang="en-US" sz="1400" kern="1200" dirty="0" smtClean="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+mj-cs"/>
                </a:defRPr>
              </a:lvl4pPr>
              <a:lvl5pPr marL="1828800" indent="0"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en-US" altLang="en-US" sz="1400" kern="1200" dirty="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+mj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/>
                <a:t>      평가 진행 및 피드백 프로세스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EB3ED517-7E32-42D7-927E-467A0CBF7CAF}"/>
                </a:ext>
              </a:extLst>
            </p:cNvPr>
            <p:cNvSpPr/>
            <p:nvPr/>
          </p:nvSpPr>
          <p:spPr>
            <a:xfrm>
              <a:off x="537926" y="4147952"/>
              <a:ext cx="360000" cy="3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altLang="ko-KR" sz="2000" b="1" dirty="0">
                  <a:solidFill>
                    <a:schemeClr val="bg1"/>
                  </a:solidFill>
                  <a:latin typeface="+mn-ea"/>
                </a:rPr>
                <a:t>5</a:t>
              </a: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181F3A8B-EDFD-7721-53C7-683D8D7E9C4D}"/>
              </a:ext>
            </a:extLst>
          </p:cNvPr>
          <p:cNvGrpSpPr/>
          <p:nvPr/>
        </p:nvGrpSpPr>
        <p:grpSpPr>
          <a:xfrm>
            <a:off x="537329" y="4289340"/>
            <a:ext cx="9360000" cy="360040"/>
            <a:chOff x="446502" y="4290814"/>
            <a:chExt cx="9360000" cy="360040"/>
          </a:xfrm>
        </p:grpSpPr>
        <p:sp>
          <p:nvSpPr>
            <p:cNvPr id="19" name="텍스트 개체 틀 2">
              <a:extLst>
                <a:ext uri="{FF2B5EF4-FFF2-40B4-BE49-F238E27FC236}">
                  <a16:creationId xmlns:a16="http://schemas.microsoft.com/office/drawing/2014/main" id="{1C5D3EB3-394A-98B5-4423-2AF2281CC205}"/>
                </a:ext>
              </a:extLst>
            </p:cNvPr>
            <p:cNvSpPr txBox="1">
              <a:spLocks/>
            </p:cNvSpPr>
            <p:nvPr/>
          </p:nvSpPr>
          <p:spPr>
            <a:xfrm>
              <a:off x="446502" y="4290814"/>
              <a:ext cx="9360000" cy="360040"/>
            </a:xfrm>
            <a:prstGeom prst="rect">
              <a:avLst/>
            </a:prstGeom>
          </p:spPr>
          <p:txBody>
            <a:bodyPr lIns="0" rIns="0" anchor="t" anchorCtr="0"/>
            <a:lstStyle>
              <a:lvl1pPr marL="0" indent="0" algn="l" defTabSz="913975" rtl="0" eaLnBrk="0" latinLnBrk="0" hangingPunct="0">
                <a:lnSpc>
                  <a:spcPct val="90000"/>
                </a:lnSpc>
                <a:spcBef>
                  <a:spcPct val="20000"/>
                </a:spcBef>
                <a:buFont typeface="Arial" pitchFamily="34" charset="0"/>
                <a:buNone/>
                <a:defRPr kumimoji="0" lang="ko-KR" altLang="en-US" sz="2000" b="1" i="0" u="none" strike="noStrike" kern="0" cap="none" spc="-100" normalizeH="0" baseline="0" dirty="0" smtClean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/>
                </a:defRPr>
              </a:lvl1pPr>
              <a:lvl2pPr marL="457200" indent="0"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ko-KR" altLang="en-US" sz="1400" kern="1200" dirty="0" smtClean="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+mj-cs"/>
                </a:defRPr>
              </a:lvl2pPr>
              <a:lvl3pPr marL="914400" indent="0"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ko-KR" altLang="en-US" sz="1400" kern="1200" dirty="0" smtClean="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+mj-cs"/>
                </a:defRPr>
              </a:lvl3pPr>
              <a:lvl4pPr marL="1371600" indent="0"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ko-KR" altLang="en-US" sz="1400" kern="1200" dirty="0" smtClean="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+mj-cs"/>
                </a:defRPr>
              </a:lvl4pPr>
              <a:lvl5pPr marL="1828800" indent="0"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en-US" altLang="en-US" sz="1400" kern="1200" dirty="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+mj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/>
                <a:t>      시스템의 성과와 한계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FC64FCA5-7165-4C80-30C2-69100DB16E6B}"/>
                </a:ext>
              </a:extLst>
            </p:cNvPr>
            <p:cNvSpPr/>
            <p:nvPr/>
          </p:nvSpPr>
          <p:spPr>
            <a:xfrm>
              <a:off x="446665" y="4290814"/>
              <a:ext cx="360000" cy="3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altLang="ko-KR" sz="2000" b="1" dirty="0">
                  <a:solidFill>
                    <a:schemeClr val="bg1"/>
                  </a:solidFill>
                  <a:latin typeface="+mn-ea"/>
                </a:rPr>
                <a:t>6</a:t>
              </a:r>
              <a:endParaRPr lang="ko-KR" altLang="en-US" sz="20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A76F88EA-2B82-761B-1267-4C990722A003}"/>
              </a:ext>
            </a:extLst>
          </p:cNvPr>
          <p:cNvGrpSpPr/>
          <p:nvPr/>
        </p:nvGrpSpPr>
        <p:grpSpPr>
          <a:xfrm>
            <a:off x="537329" y="4883761"/>
            <a:ext cx="9360000" cy="360040"/>
            <a:chOff x="446502" y="5380146"/>
            <a:chExt cx="9360000" cy="360040"/>
          </a:xfrm>
        </p:grpSpPr>
        <p:sp>
          <p:nvSpPr>
            <p:cNvPr id="21" name="텍스트 개체 틀 2">
              <a:extLst>
                <a:ext uri="{FF2B5EF4-FFF2-40B4-BE49-F238E27FC236}">
                  <a16:creationId xmlns:a16="http://schemas.microsoft.com/office/drawing/2014/main" id="{C5D87C4D-5A94-C15C-9E64-131D7FCA9357}"/>
                </a:ext>
              </a:extLst>
            </p:cNvPr>
            <p:cNvSpPr txBox="1">
              <a:spLocks/>
            </p:cNvSpPr>
            <p:nvPr/>
          </p:nvSpPr>
          <p:spPr>
            <a:xfrm>
              <a:off x="446502" y="5380146"/>
              <a:ext cx="9360000" cy="360040"/>
            </a:xfrm>
            <a:prstGeom prst="rect">
              <a:avLst/>
            </a:prstGeom>
          </p:spPr>
          <p:txBody>
            <a:bodyPr lIns="0" rIns="0" anchor="t" anchorCtr="0"/>
            <a:lstStyle>
              <a:lvl1pPr marL="0" indent="0" algn="l" defTabSz="913975" rtl="0" eaLnBrk="0" latinLnBrk="0" hangingPunct="0">
                <a:lnSpc>
                  <a:spcPct val="90000"/>
                </a:lnSpc>
                <a:spcBef>
                  <a:spcPct val="20000"/>
                </a:spcBef>
                <a:buFont typeface="Arial" pitchFamily="34" charset="0"/>
                <a:buNone/>
                <a:defRPr kumimoji="0" lang="ko-KR" altLang="en-US" sz="2000" b="1" i="0" u="none" strike="noStrike" kern="0" cap="none" spc="-100" normalizeH="0" baseline="0" dirty="0" smtClean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/>
                </a:defRPr>
              </a:lvl1pPr>
              <a:lvl2pPr marL="457200" indent="0"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ko-KR" altLang="en-US" sz="1400" kern="1200" dirty="0" smtClean="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+mj-cs"/>
                </a:defRPr>
              </a:lvl2pPr>
              <a:lvl3pPr marL="914400" indent="0"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ko-KR" altLang="en-US" sz="1400" kern="1200" dirty="0" smtClean="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+mj-cs"/>
                </a:defRPr>
              </a:lvl3pPr>
              <a:lvl4pPr marL="1371600" indent="0"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ko-KR" altLang="en-US" sz="1400" kern="1200" dirty="0" smtClean="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+mj-cs"/>
                </a:defRPr>
              </a:lvl4pPr>
              <a:lvl5pPr marL="1828800" indent="0"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en-US" altLang="en-US" sz="1400" kern="1200" dirty="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+mj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/>
                <a:t>      </a:t>
              </a:r>
              <a:r>
                <a:rPr lang="en-US" altLang="ko-KR"/>
                <a:t>360</a:t>
              </a:r>
              <a:r>
                <a:rPr lang="ko-KR" altLang="en-US"/>
                <a:t>도 다면평가에서 각 평가자가 가지는 정보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26C1509E-A1E3-DB40-42D0-FB3866EA7EA1}"/>
                </a:ext>
              </a:extLst>
            </p:cNvPr>
            <p:cNvSpPr/>
            <p:nvPr/>
          </p:nvSpPr>
          <p:spPr>
            <a:xfrm>
              <a:off x="446665" y="5380146"/>
              <a:ext cx="360000" cy="3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altLang="ko-KR" sz="2000" b="1" dirty="0">
                  <a:solidFill>
                    <a:schemeClr val="bg1"/>
                  </a:solidFill>
                  <a:latin typeface="+mn-ea"/>
                </a:rPr>
                <a:t>7</a:t>
              </a:r>
              <a:endParaRPr lang="ko-KR" altLang="en-US" sz="20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A57237A3-7B0E-E4F4-8EDD-A003E895983C}"/>
              </a:ext>
            </a:extLst>
          </p:cNvPr>
          <p:cNvGrpSpPr/>
          <p:nvPr/>
        </p:nvGrpSpPr>
        <p:grpSpPr>
          <a:xfrm>
            <a:off x="537329" y="5487105"/>
            <a:ext cx="9360000" cy="360040"/>
            <a:chOff x="273000" y="5864669"/>
            <a:chExt cx="9360000" cy="360040"/>
          </a:xfrm>
        </p:grpSpPr>
        <p:sp>
          <p:nvSpPr>
            <p:cNvPr id="23" name="텍스트 개체 틀 2">
              <a:extLst>
                <a:ext uri="{FF2B5EF4-FFF2-40B4-BE49-F238E27FC236}">
                  <a16:creationId xmlns:a16="http://schemas.microsoft.com/office/drawing/2014/main" id="{FEB6B532-9529-A30A-1D50-55208F1202BF}"/>
                </a:ext>
              </a:extLst>
            </p:cNvPr>
            <p:cNvSpPr txBox="1">
              <a:spLocks/>
            </p:cNvSpPr>
            <p:nvPr/>
          </p:nvSpPr>
          <p:spPr>
            <a:xfrm>
              <a:off x="273000" y="5864669"/>
              <a:ext cx="9360000" cy="360040"/>
            </a:xfrm>
            <a:prstGeom prst="rect">
              <a:avLst/>
            </a:prstGeom>
          </p:spPr>
          <p:txBody>
            <a:bodyPr lIns="0" rIns="0" anchor="t" anchorCtr="0"/>
            <a:lstStyle>
              <a:lvl1pPr marL="0" indent="0" algn="l" defTabSz="913975" rtl="0" eaLnBrk="0" latinLnBrk="0" hangingPunct="0">
                <a:lnSpc>
                  <a:spcPct val="90000"/>
                </a:lnSpc>
                <a:spcBef>
                  <a:spcPct val="20000"/>
                </a:spcBef>
                <a:buFont typeface="Arial" pitchFamily="34" charset="0"/>
                <a:buNone/>
                <a:defRPr kumimoji="0" lang="ko-KR" altLang="en-US" sz="2000" b="1" i="0" u="none" strike="noStrike" kern="0" cap="none" spc="-100" normalizeH="0" baseline="0" dirty="0" smtClean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/>
                </a:defRPr>
              </a:lvl1pPr>
              <a:lvl2pPr marL="457200" indent="0"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ko-KR" altLang="en-US" sz="1400" kern="1200" dirty="0" smtClean="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+mj-cs"/>
                </a:defRPr>
              </a:lvl2pPr>
              <a:lvl3pPr marL="914400" indent="0"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ko-KR" altLang="en-US" sz="1400" kern="1200" dirty="0" smtClean="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+mj-cs"/>
                </a:defRPr>
              </a:lvl3pPr>
              <a:lvl4pPr marL="1371600" indent="0"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ko-KR" altLang="en-US" sz="1400" kern="1200" dirty="0" smtClean="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+mj-cs"/>
                </a:defRPr>
              </a:lvl4pPr>
              <a:lvl5pPr marL="1828800" indent="0"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en-US" altLang="en-US" sz="1400" kern="1200" dirty="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+mj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/>
                <a:t>      국내 기업의 다면평가 도입 사례</a:t>
              </a:r>
              <a:r>
                <a:rPr lang="en-US" altLang="ko-KR"/>
                <a:t>(</a:t>
              </a:r>
              <a:r>
                <a:rPr lang="ko-KR" altLang="en-US"/>
                <a:t>평가 결과 활용</a:t>
              </a:r>
              <a:r>
                <a:rPr lang="en-US" altLang="ko-KR"/>
                <a:t>)</a:t>
              </a:r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7737A17C-2809-F4C4-3B26-7CF74AB7906F}"/>
                </a:ext>
              </a:extLst>
            </p:cNvPr>
            <p:cNvSpPr/>
            <p:nvPr/>
          </p:nvSpPr>
          <p:spPr>
            <a:xfrm>
              <a:off x="273163" y="5864669"/>
              <a:ext cx="360000" cy="3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altLang="ko-KR" sz="2000" b="1" dirty="0">
                  <a:solidFill>
                    <a:schemeClr val="bg1"/>
                  </a:solidFill>
                  <a:latin typeface="+mn-ea"/>
                </a:rPr>
                <a:t>8</a:t>
              </a:r>
              <a:endParaRPr lang="ko-KR" altLang="en-US" sz="20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FCA11B81-DCF7-44DE-2110-137D4F42B92B}"/>
              </a:ext>
            </a:extLst>
          </p:cNvPr>
          <p:cNvGrpSpPr/>
          <p:nvPr/>
        </p:nvGrpSpPr>
        <p:grpSpPr>
          <a:xfrm>
            <a:off x="537329" y="6003191"/>
            <a:ext cx="9360000" cy="360040"/>
            <a:chOff x="1384653" y="6090450"/>
            <a:chExt cx="9360000" cy="360040"/>
          </a:xfrm>
        </p:grpSpPr>
        <p:sp>
          <p:nvSpPr>
            <p:cNvPr id="25" name="텍스트 개체 틀 2">
              <a:extLst>
                <a:ext uri="{FF2B5EF4-FFF2-40B4-BE49-F238E27FC236}">
                  <a16:creationId xmlns:a16="http://schemas.microsoft.com/office/drawing/2014/main" id="{8DD90A1D-8FE4-8499-F821-AEDDC8D764C2}"/>
                </a:ext>
              </a:extLst>
            </p:cNvPr>
            <p:cNvSpPr txBox="1">
              <a:spLocks/>
            </p:cNvSpPr>
            <p:nvPr/>
          </p:nvSpPr>
          <p:spPr>
            <a:xfrm>
              <a:off x="1384653" y="6090450"/>
              <a:ext cx="9360000" cy="360040"/>
            </a:xfrm>
            <a:prstGeom prst="rect">
              <a:avLst/>
            </a:prstGeom>
          </p:spPr>
          <p:txBody>
            <a:bodyPr lIns="0" rIns="0" anchor="t" anchorCtr="0"/>
            <a:lstStyle>
              <a:lvl1pPr marL="0" indent="0" algn="l" defTabSz="913975" rtl="0" eaLnBrk="0" latinLnBrk="0" hangingPunct="0">
                <a:lnSpc>
                  <a:spcPct val="90000"/>
                </a:lnSpc>
                <a:spcBef>
                  <a:spcPct val="20000"/>
                </a:spcBef>
                <a:buFont typeface="Arial" pitchFamily="34" charset="0"/>
                <a:buNone/>
                <a:defRPr kumimoji="0" lang="ko-KR" altLang="en-US" sz="2000" b="1" i="0" u="none" strike="noStrike" kern="0" cap="none" spc="-100" normalizeH="0" baseline="0" dirty="0" smtClean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/>
                </a:defRPr>
              </a:lvl1pPr>
              <a:lvl2pPr marL="457200" indent="0"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ko-KR" altLang="en-US" sz="1400" kern="1200" dirty="0" smtClean="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+mj-cs"/>
                </a:defRPr>
              </a:lvl2pPr>
              <a:lvl3pPr marL="914400" indent="0"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ko-KR" altLang="en-US" sz="1400" kern="1200" dirty="0" smtClean="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+mj-cs"/>
                </a:defRPr>
              </a:lvl3pPr>
              <a:lvl4pPr marL="1371600" indent="0"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ko-KR" altLang="en-US" sz="1400" kern="1200" dirty="0" smtClean="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+mj-cs"/>
                </a:defRPr>
              </a:lvl4pPr>
              <a:lvl5pPr marL="1828800" indent="0"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en-US" altLang="en-US" sz="1400" kern="1200" dirty="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+mj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/>
                <a:t>      시사점</a:t>
              </a: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DAAB3FBE-57D3-FDDB-54F4-38021CFE3515}"/>
                </a:ext>
              </a:extLst>
            </p:cNvPr>
            <p:cNvSpPr/>
            <p:nvPr/>
          </p:nvSpPr>
          <p:spPr>
            <a:xfrm>
              <a:off x="1384816" y="6090450"/>
              <a:ext cx="360000" cy="3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altLang="ko-KR" sz="2000" b="1" dirty="0">
                  <a:solidFill>
                    <a:schemeClr val="bg1"/>
                  </a:solidFill>
                  <a:latin typeface="+mn-ea"/>
                </a:rPr>
                <a:t>9</a:t>
              </a:r>
              <a:endParaRPr lang="ko-KR" altLang="en-US" sz="20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A33D194D-EB13-3A61-9766-0AE9CD9FE6D8}"/>
              </a:ext>
            </a:extLst>
          </p:cNvPr>
          <p:cNvGrpSpPr/>
          <p:nvPr/>
        </p:nvGrpSpPr>
        <p:grpSpPr>
          <a:xfrm>
            <a:off x="2631562" y="5995862"/>
            <a:ext cx="9360000" cy="360040"/>
            <a:chOff x="5719147" y="4674194"/>
            <a:chExt cx="9360000" cy="360040"/>
          </a:xfrm>
        </p:grpSpPr>
        <p:sp>
          <p:nvSpPr>
            <p:cNvPr id="27" name="텍스트 개체 틀 2">
              <a:extLst>
                <a:ext uri="{FF2B5EF4-FFF2-40B4-BE49-F238E27FC236}">
                  <a16:creationId xmlns:a16="http://schemas.microsoft.com/office/drawing/2014/main" id="{08EB85C3-F923-9AD1-F3BA-498267CFD83D}"/>
                </a:ext>
              </a:extLst>
            </p:cNvPr>
            <p:cNvSpPr txBox="1">
              <a:spLocks/>
            </p:cNvSpPr>
            <p:nvPr/>
          </p:nvSpPr>
          <p:spPr>
            <a:xfrm>
              <a:off x="5719147" y="4674194"/>
              <a:ext cx="9360000" cy="360040"/>
            </a:xfrm>
            <a:prstGeom prst="rect">
              <a:avLst/>
            </a:prstGeom>
          </p:spPr>
          <p:txBody>
            <a:bodyPr lIns="0" rIns="0" anchor="t" anchorCtr="0"/>
            <a:lstStyle>
              <a:lvl1pPr marL="0" indent="0" algn="l" defTabSz="913975" rtl="0" eaLnBrk="0" latinLnBrk="0" hangingPunct="0">
                <a:lnSpc>
                  <a:spcPct val="90000"/>
                </a:lnSpc>
                <a:spcBef>
                  <a:spcPct val="20000"/>
                </a:spcBef>
                <a:buFont typeface="Arial" pitchFamily="34" charset="0"/>
                <a:buNone/>
                <a:defRPr kumimoji="0" lang="ko-KR" altLang="en-US" sz="2000" b="1" i="0" u="none" strike="noStrike" kern="0" cap="none" spc="-100" normalizeH="0" baseline="0" dirty="0" smtClean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/>
                </a:defRPr>
              </a:lvl1pPr>
              <a:lvl2pPr marL="457200" indent="0"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ko-KR" altLang="en-US" sz="1400" kern="1200" dirty="0" smtClean="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+mj-cs"/>
                </a:defRPr>
              </a:lvl2pPr>
              <a:lvl3pPr marL="914400" indent="0"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ko-KR" altLang="en-US" sz="1400" kern="1200" dirty="0" smtClean="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+mj-cs"/>
                </a:defRPr>
              </a:lvl3pPr>
              <a:lvl4pPr marL="1371600" indent="0"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ko-KR" altLang="en-US" sz="1400" kern="1200" dirty="0" smtClean="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+mj-cs"/>
                </a:defRPr>
              </a:lvl4pPr>
              <a:lvl5pPr marL="1828800" indent="0"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en-US" altLang="en-US" sz="1400" kern="1200" dirty="0">
                  <a:solidFill>
                    <a:schemeClr val="tx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  <a:cs typeface="+mj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/>
                <a:t>      생각해 볼 내용</a:t>
              </a: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DB6FDB80-9BA7-9291-0614-274AFEA6FDD8}"/>
                </a:ext>
              </a:extLst>
            </p:cNvPr>
            <p:cNvSpPr/>
            <p:nvPr/>
          </p:nvSpPr>
          <p:spPr>
            <a:xfrm>
              <a:off x="5719310" y="4674194"/>
              <a:ext cx="360000" cy="3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altLang="ko-KR" sz="2000" b="1" dirty="0">
                  <a:solidFill>
                    <a:schemeClr val="bg1"/>
                  </a:solidFill>
                  <a:latin typeface="+mn-ea"/>
                </a:rPr>
                <a:t>10</a:t>
              </a:r>
              <a:endParaRPr lang="ko-KR" altLang="en-US" sz="2000" b="1" dirty="0">
                <a:solidFill>
                  <a:schemeClr val="bg1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10691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AA0A40B-5DC1-3693-C562-15C082B8B4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모건 스탠리 </a:t>
            </a:r>
            <a:r>
              <a:rPr lang="en-US" altLang="ko-KR" dirty="0"/>
              <a:t>360</a:t>
            </a:r>
            <a:r>
              <a:rPr lang="ko-KR" altLang="en-US" dirty="0"/>
              <a:t>도 평가 프로세스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E8DFC3E-EBB4-CD83-0C14-3FF089B426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0975" y="767550"/>
            <a:ext cx="9360000" cy="360040"/>
          </a:xfrm>
        </p:spPr>
        <p:txBody>
          <a:bodyPr/>
          <a:lstStyle/>
          <a:p>
            <a:r>
              <a:rPr lang="en-US" altLang="ko-KR" dirty="0"/>
              <a:t>      </a:t>
            </a:r>
            <a:r>
              <a:rPr lang="ko-KR" altLang="en-US" dirty="0"/>
              <a:t>기업 개요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6921170-EF83-5E82-3769-C0273C85FC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7541187"/>
              </p:ext>
            </p:extLst>
          </p:nvPr>
        </p:nvGraphicFramePr>
        <p:xfrm>
          <a:off x="210975" y="1628775"/>
          <a:ext cx="4670588" cy="4654080"/>
        </p:xfrm>
        <a:graphic>
          <a:graphicData uri="http://schemas.openxmlformats.org/drawingml/2006/table">
            <a:tbl>
              <a:tblPr/>
              <a:tblGrid>
                <a:gridCol w="1198725">
                  <a:extLst>
                    <a:ext uri="{9D8B030D-6E8A-4147-A177-3AD203B41FA5}">
                      <a16:colId xmlns:a16="http://schemas.microsoft.com/office/drawing/2014/main" val="2193660861"/>
                    </a:ext>
                  </a:extLst>
                </a:gridCol>
                <a:gridCol w="3471863">
                  <a:extLst>
                    <a:ext uri="{9D8B030D-6E8A-4147-A177-3AD203B41FA5}">
                      <a16:colId xmlns:a16="http://schemas.microsoft.com/office/drawing/2014/main" val="722362454"/>
                    </a:ext>
                  </a:extLst>
                </a:gridCol>
              </a:tblGrid>
              <a:tr h="143247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50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개요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183600" marR="0" indent="-18360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i="0" kern="0" spc="-50" baseline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모건스탠리는</a:t>
                      </a:r>
                      <a:r>
                        <a:rPr lang="ko-KR" altLang="en-US" sz="1400" b="0" i="0" kern="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미국 뉴욕에 본사를 둔 세계 최고 수준의 다국적 투자은행이자 글로벌 금융 서비스 기업</a:t>
                      </a:r>
                      <a:endParaRPr lang="en-US" altLang="ko-KR" sz="1400" b="0" i="0" kern="0" spc="-5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83600" marR="0" indent="-18360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i="0" kern="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 세계 정부</a:t>
                      </a:r>
                      <a:r>
                        <a:rPr lang="en-US" altLang="ko-KR" sz="1400" b="0" i="0" kern="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400" b="0" i="0" kern="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기업</a:t>
                      </a:r>
                      <a:r>
                        <a:rPr lang="en-US" altLang="ko-KR" sz="1400" b="0" i="0" kern="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400" b="0" i="0" kern="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금융 기관 및 개인 고객을 대상으로 다양한 금융 솔루션 제공</a:t>
                      </a: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095892"/>
                  </a:ext>
                </a:extLst>
              </a:tr>
              <a:tr h="874644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50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설립배경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dirty="0"/>
                        <a:t>1935</a:t>
                      </a:r>
                      <a:r>
                        <a:rPr lang="ko-KR" altLang="en-US" sz="1400" dirty="0"/>
                        <a:t>년 </a:t>
                      </a:r>
                      <a:r>
                        <a:rPr lang="en-US" altLang="ko-KR" sz="1400" dirty="0"/>
                        <a:t>9</a:t>
                      </a:r>
                      <a:r>
                        <a:rPr lang="ko-KR" altLang="en-US" sz="1400" dirty="0"/>
                        <a:t>월 </a:t>
                      </a:r>
                      <a:r>
                        <a:rPr lang="en-US" altLang="ko-KR" sz="1400" dirty="0"/>
                        <a:t>16</a:t>
                      </a:r>
                      <a:r>
                        <a:rPr lang="ko-KR" altLang="en-US" sz="1400" dirty="0"/>
                        <a:t>일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헨리 </a:t>
                      </a:r>
                      <a:r>
                        <a:rPr lang="en" altLang="ko-KR" sz="1400" dirty="0"/>
                        <a:t>S. </a:t>
                      </a:r>
                      <a:r>
                        <a:rPr lang="ko-KR" altLang="en-US" sz="1400" dirty="0"/>
                        <a:t>모건</a:t>
                      </a:r>
                      <a:r>
                        <a:rPr lang="en-US" altLang="ko-KR" sz="1400" dirty="0"/>
                        <a:t>(</a:t>
                      </a:r>
                      <a:r>
                        <a:rPr lang="en" altLang="ko-KR" sz="1400" dirty="0"/>
                        <a:t>Henry S. Morgan, J.P. </a:t>
                      </a:r>
                      <a:r>
                        <a:rPr lang="ko-KR" altLang="en-US" sz="1400" dirty="0"/>
                        <a:t>모건의 손자</a:t>
                      </a:r>
                      <a:r>
                        <a:rPr lang="en-US" altLang="ko-KR" sz="1400" dirty="0"/>
                        <a:t>)</a:t>
                      </a:r>
                      <a:r>
                        <a:rPr lang="ko-KR" altLang="en-US" sz="1400" dirty="0"/>
                        <a:t>과 해럴드 스탠리</a:t>
                      </a:r>
                      <a:r>
                        <a:rPr lang="en-US" altLang="ko-KR" sz="1400" dirty="0"/>
                        <a:t>(</a:t>
                      </a:r>
                      <a:r>
                        <a:rPr lang="en" altLang="ko-KR" sz="1400" dirty="0"/>
                        <a:t>Harold Stanley)</a:t>
                      </a:r>
                      <a:r>
                        <a:rPr lang="ko-KR" altLang="en-US" sz="1400" dirty="0" err="1"/>
                        <a:t>를</a:t>
                      </a:r>
                      <a:r>
                        <a:rPr lang="ko-KR" altLang="en-US" sz="1400" dirty="0"/>
                        <a:t> 주축으로 설립</a:t>
                      </a:r>
                      <a:endParaRPr lang="ko-KR" altLang="en-US" sz="1400" b="0" i="1" kern="0" spc="-5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458941"/>
                  </a:ext>
                </a:extLst>
              </a:tr>
              <a:tr h="2346959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50" baseline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dirty="0" err="1"/>
                        <a:t>글래스</a:t>
                      </a:r>
                      <a:r>
                        <a:rPr lang="en-US" altLang="ko-KR" sz="1400" b="1" dirty="0"/>
                        <a:t>-</a:t>
                      </a:r>
                      <a:r>
                        <a:rPr lang="ko-KR" altLang="en-US" sz="1400" b="1" dirty="0" err="1"/>
                        <a:t>스티걸</a:t>
                      </a:r>
                      <a:r>
                        <a:rPr lang="ko-KR" altLang="en-US" sz="1400" b="1" dirty="0"/>
                        <a:t> 법</a:t>
                      </a:r>
                      <a:r>
                        <a:rPr lang="en-US" altLang="ko-KR" sz="1400" b="1" dirty="0"/>
                        <a:t>(</a:t>
                      </a:r>
                      <a:r>
                        <a:rPr lang="en" altLang="ko-KR" sz="1400" b="1" dirty="0"/>
                        <a:t>Glass-Steagall Act):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altLang="ko-KR" sz="1400" b="1" dirty="0"/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1400" dirty="0"/>
                        <a:t>1930</a:t>
                      </a:r>
                      <a:r>
                        <a:rPr lang="ko-KR" altLang="en-US" sz="1400" dirty="0"/>
                        <a:t>년대 대공황 이후 상업은행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예금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대출</a:t>
                      </a:r>
                      <a:r>
                        <a:rPr lang="en-US" altLang="ko-KR" sz="1400" dirty="0"/>
                        <a:t>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과 투자은행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증권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유가증권 인수</a:t>
                      </a:r>
                      <a:r>
                        <a:rPr lang="en-US" altLang="ko-KR" sz="1400" dirty="0"/>
                        <a:t>) </a:t>
                      </a:r>
                      <a:r>
                        <a:rPr lang="ko-KR" altLang="en-US" sz="1400" dirty="0"/>
                        <a:t>업무를 엄격히 분리하도록 규정한 미국의 금융법에 따라</a:t>
                      </a:r>
                      <a:r>
                        <a:rPr lang="en-US" altLang="ko-KR" sz="1400" dirty="0"/>
                        <a:t>,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기존 </a:t>
                      </a:r>
                      <a:r>
                        <a:rPr lang="en" altLang="ko-KR" sz="1400" dirty="0"/>
                        <a:t>J.P. </a:t>
                      </a:r>
                      <a:r>
                        <a:rPr lang="ko-KR" altLang="en-US" sz="1400" dirty="0"/>
                        <a:t>모건 </a:t>
                      </a:r>
                      <a:r>
                        <a:rPr lang="en-US" altLang="ko-KR" sz="1400" dirty="0"/>
                        <a:t>&amp; </a:t>
                      </a:r>
                      <a:r>
                        <a:rPr lang="ko-KR" altLang="en-US" sz="1400" dirty="0"/>
                        <a:t>코</a:t>
                      </a:r>
                      <a:r>
                        <a:rPr lang="en-US" altLang="ko-KR" sz="1400" dirty="0"/>
                        <a:t>(</a:t>
                      </a:r>
                      <a:r>
                        <a:rPr lang="en" altLang="ko-KR" sz="1400" dirty="0"/>
                        <a:t>J.P. Morgan &amp; Co.)</a:t>
                      </a:r>
                      <a:r>
                        <a:rPr lang="ko-KR" altLang="en-US" sz="1400" dirty="0"/>
                        <a:t>에서 투자은행 부문이 독립하여 만들어진 기업이 바로 모건 스탠리</a:t>
                      </a:r>
                      <a:endParaRPr lang="ko-KR" altLang="en-US" sz="1400" b="0" i="1" kern="0" spc="-5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3502498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944F4602-D10D-F939-0C7D-3B05DDABEC7E}"/>
              </a:ext>
            </a:extLst>
          </p:cNvPr>
          <p:cNvSpPr/>
          <p:nvPr/>
        </p:nvSpPr>
        <p:spPr>
          <a:xfrm>
            <a:off x="211138" y="767550"/>
            <a:ext cx="360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2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E090AE-92FD-4E19-2A05-FEFFD015308C}"/>
              </a:ext>
            </a:extLst>
          </p:cNvPr>
          <p:cNvSpPr txBox="1"/>
          <p:nvPr/>
        </p:nvSpPr>
        <p:spPr>
          <a:xfrm>
            <a:off x="5024438" y="1628775"/>
            <a:ext cx="4681536" cy="3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397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spc="-50" dirty="0">
                <a:latin typeface="+mn-ea"/>
              </a:rPr>
              <a:t>3</a:t>
            </a:r>
            <a:r>
              <a:rPr lang="ko-KR" altLang="en-US" sz="1400" b="1" spc="-50" dirty="0">
                <a:latin typeface="+mn-ea"/>
              </a:rPr>
              <a:t>대 핵심 비즈니스 부문</a:t>
            </a:r>
            <a:endParaRPr lang="ko-KR" altLang="en-US" sz="1400" spc="-50" dirty="0">
              <a:latin typeface="+mn-ea"/>
            </a:endParaRPr>
          </a:p>
        </p:txBody>
      </p:sp>
      <p:cxnSp>
        <p:nvCxnSpPr>
          <p:cNvPr id="8" name="직선 연결선 207">
            <a:extLst>
              <a:ext uri="{FF2B5EF4-FFF2-40B4-BE49-F238E27FC236}">
                <a16:creationId xmlns:a16="http://schemas.microsoft.com/office/drawing/2014/main" id="{36F7B69D-8695-C2DA-7CE3-F9F1D078F7FF}"/>
              </a:ext>
            </a:extLst>
          </p:cNvPr>
          <p:cNvCxnSpPr>
            <a:cxnSpLocks/>
          </p:cNvCxnSpPr>
          <p:nvPr/>
        </p:nvCxnSpPr>
        <p:spPr>
          <a:xfrm>
            <a:off x="5024438" y="1988775"/>
            <a:ext cx="4681022" cy="0"/>
          </a:xfrm>
          <a:prstGeom prst="line">
            <a:avLst/>
          </a:prstGeom>
          <a:ln w="63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9C8756F-505F-FA6B-051A-295DFCF4BD87}"/>
              </a:ext>
            </a:extLst>
          </p:cNvPr>
          <p:cNvSpPr/>
          <p:nvPr/>
        </p:nvSpPr>
        <p:spPr>
          <a:xfrm>
            <a:off x="5033962" y="2178049"/>
            <a:ext cx="720000" cy="1548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spc="-50" dirty="0">
                <a:solidFill>
                  <a:schemeClr val="tx1"/>
                </a:solidFill>
                <a:latin typeface="+mn-ea"/>
              </a:rPr>
              <a:t>기관</a:t>
            </a:r>
            <a:endParaRPr lang="en-US" altLang="ko-KR" sz="1400" b="1" spc="-5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400" b="1" spc="-50" dirty="0">
                <a:solidFill>
                  <a:schemeClr val="tx1"/>
                </a:solidFill>
                <a:latin typeface="+mn-ea"/>
              </a:rPr>
              <a:t>증권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68E76DB-AA46-738D-D5D8-DDC0E6EB05E8}"/>
              </a:ext>
            </a:extLst>
          </p:cNvPr>
          <p:cNvSpPr/>
          <p:nvPr/>
        </p:nvSpPr>
        <p:spPr>
          <a:xfrm>
            <a:off x="5033962" y="3810991"/>
            <a:ext cx="720000" cy="972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자산 관리</a:t>
            </a:r>
            <a:endParaRPr lang="ko-KR" altLang="en-US" sz="1400" b="1" i="1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DF3819C-DD30-B367-FD0B-01F4BA229D08}"/>
              </a:ext>
            </a:extLst>
          </p:cNvPr>
          <p:cNvSpPr/>
          <p:nvPr/>
        </p:nvSpPr>
        <p:spPr>
          <a:xfrm>
            <a:off x="5033962" y="4867934"/>
            <a:ext cx="720000" cy="972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투자 관리</a:t>
            </a:r>
            <a:endParaRPr lang="ko-KR" altLang="en-US" sz="1400" b="1" i="1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28AEDF-E368-C696-9AAD-2F9E5D0EBD75}"/>
              </a:ext>
            </a:extLst>
          </p:cNvPr>
          <p:cNvSpPr txBox="1"/>
          <p:nvPr/>
        </p:nvSpPr>
        <p:spPr>
          <a:xfrm>
            <a:off x="5816600" y="2178049"/>
            <a:ext cx="3889375" cy="154800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</p:spPr>
        <p:txBody>
          <a:bodyPr wrap="square" lIns="126000" rIns="72000" rtlCol="0" anchor="ctr">
            <a:noAutofit/>
          </a:bodyPr>
          <a:lstStyle/>
          <a:p>
            <a:pPr marL="180000" indent="-18000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400" dirty="0"/>
              <a:t>모건 스탠리의 가장 핵심적이고 수익성이 </a:t>
            </a:r>
            <a:endParaRPr lang="en-US" altLang="ko-KR" sz="1400" dirty="0"/>
          </a:p>
          <a:p>
            <a:pPr>
              <a:spcAft>
                <a:spcPts val="300"/>
              </a:spcAft>
            </a:pPr>
            <a:r>
              <a:rPr lang="ko-KR" altLang="en-US" sz="1400" dirty="0"/>
              <a:t>   높은 부문</a:t>
            </a:r>
            <a:endParaRPr lang="en-US" altLang="ko-KR" sz="1400" dirty="0"/>
          </a:p>
          <a:p>
            <a:pPr marL="180000" indent="-18000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400" dirty="0"/>
              <a:t>기업공개</a:t>
            </a:r>
            <a:r>
              <a:rPr lang="en-US" altLang="ko-KR" sz="1400" dirty="0"/>
              <a:t>(</a:t>
            </a:r>
            <a:r>
              <a:rPr lang="en" altLang="ko-KR" sz="1400" dirty="0"/>
              <a:t>IPO), </a:t>
            </a:r>
            <a:r>
              <a:rPr lang="ko-KR" altLang="en-US" sz="1400" dirty="0"/>
              <a:t>인수합병</a:t>
            </a:r>
            <a:r>
              <a:rPr lang="en-US" altLang="ko-KR" sz="1400" dirty="0"/>
              <a:t>(</a:t>
            </a:r>
            <a:r>
              <a:rPr lang="en" altLang="ko-KR" sz="1400" dirty="0"/>
              <a:t>M&amp;A) </a:t>
            </a:r>
            <a:r>
              <a:rPr lang="ko-KR" altLang="en-US" sz="1400" dirty="0"/>
              <a:t>자문</a:t>
            </a:r>
            <a:r>
              <a:rPr lang="en-US" altLang="ko-KR" sz="1400" dirty="0"/>
              <a:t>, </a:t>
            </a:r>
            <a:r>
              <a:rPr lang="ko-KR" altLang="en-US" sz="1400" dirty="0"/>
              <a:t>자본 조달 등 전통적인 </a:t>
            </a:r>
            <a:r>
              <a:rPr lang="ko-KR" altLang="en-US" sz="1400" b="1" dirty="0"/>
              <a:t>투자은행</a:t>
            </a:r>
            <a:r>
              <a:rPr lang="en-US" altLang="ko-KR" sz="1400" b="1" dirty="0"/>
              <a:t>(</a:t>
            </a:r>
            <a:r>
              <a:rPr lang="en" altLang="ko-KR" sz="1400" b="1" dirty="0"/>
              <a:t>IB) </a:t>
            </a:r>
            <a:r>
              <a:rPr lang="ko-KR" altLang="en-US" sz="1400" b="1" dirty="0" err="1"/>
              <a:t>업무</a:t>
            </a:r>
            <a:r>
              <a:rPr lang="ko-KR" altLang="en-US" sz="1400" dirty="0" err="1"/>
              <a:t>뿐만</a:t>
            </a:r>
            <a:r>
              <a:rPr lang="ko-KR" altLang="en-US" sz="1400" dirty="0"/>
              <a:t> </a:t>
            </a:r>
            <a:endParaRPr lang="en-US" altLang="ko-KR" sz="1400" dirty="0"/>
          </a:p>
          <a:p>
            <a:pPr>
              <a:spcAft>
                <a:spcPts val="300"/>
              </a:spcAft>
            </a:pPr>
            <a:r>
              <a:rPr lang="ko-KR" altLang="en-US" sz="1400" dirty="0"/>
              <a:t>   아니라</a:t>
            </a:r>
            <a:r>
              <a:rPr lang="en-US" altLang="ko-KR" sz="1400" dirty="0"/>
              <a:t>, </a:t>
            </a:r>
            <a:r>
              <a:rPr lang="ko-KR" altLang="en-US" sz="1400" dirty="0"/>
              <a:t>주식 및 채권의 세일즈와 트레이딩 </a:t>
            </a:r>
            <a:endParaRPr lang="en-US" altLang="ko-KR" sz="1400" dirty="0"/>
          </a:p>
          <a:p>
            <a:pPr>
              <a:spcAft>
                <a:spcPts val="300"/>
              </a:spcAft>
            </a:pPr>
            <a:r>
              <a:rPr lang="ko-KR" altLang="en-US" sz="1400" dirty="0"/>
              <a:t>   서비스를 전 세계 주요 기관과 정부에 제공</a:t>
            </a:r>
            <a:endParaRPr lang="ko-KR" altLang="en-US" sz="1400" i="1" spc="-15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64D3DE-ACF6-C45A-72C1-B313BE14445A}"/>
              </a:ext>
            </a:extLst>
          </p:cNvPr>
          <p:cNvSpPr txBox="1"/>
          <p:nvPr/>
        </p:nvSpPr>
        <p:spPr>
          <a:xfrm>
            <a:off x="5816600" y="3810991"/>
            <a:ext cx="3889375" cy="97200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</p:spPr>
        <p:txBody>
          <a:bodyPr wrap="square" lIns="126000" rIns="72000" rtlCol="0" anchor="ctr">
            <a:noAutofit/>
          </a:bodyPr>
          <a:lstStyle/>
          <a:p>
            <a:pPr marL="180000" indent="-18000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400" dirty="0"/>
              <a:t>고액 자산가</a:t>
            </a:r>
            <a:r>
              <a:rPr lang="en-US" altLang="ko-KR" sz="1400" dirty="0"/>
              <a:t>, </a:t>
            </a:r>
            <a:r>
              <a:rPr lang="ko-KR" altLang="en-US" sz="1400" dirty="0"/>
              <a:t>일반 개인 투자자</a:t>
            </a:r>
            <a:r>
              <a:rPr lang="en-US" altLang="ko-KR" sz="1400" dirty="0"/>
              <a:t>, </a:t>
            </a:r>
            <a:r>
              <a:rPr lang="ko-KR" altLang="en-US" sz="1400" dirty="0"/>
              <a:t>중소기업 등을 대상으로 </a:t>
            </a:r>
            <a:r>
              <a:rPr lang="ko-KR" altLang="en-US" sz="1400" b="1" dirty="0"/>
              <a:t>투자 자문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재무 설계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은퇴 </a:t>
            </a:r>
            <a:endParaRPr lang="en-US" altLang="ko-KR" sz="1400" b="1" dirty="0"/>
          </a:p>
          <a:p>
            <a:pPr>
              <a:spcAft>
                <a:spcPts val="300"/>
              </a:spcAft>
            </a:pPr>
            <a:r>
              <a:rPr lang="ko-KR" altLang="en-US" sz="1400" b="1" dirty="0"/>
              <a:t>   계획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중개 서비스 </a:t>
            </a:r>
            <a:r>
              <a:rPr lang="ko-KR" altLang="en-US" sz="1400" dirty="0"/>
              <a:t>등 맞춤형 자산 증식 및 </a:t>
            </a:r>
            <a:endParaRPr lang="en-US" altLang="ko-KR" sz="1400" dirty="0"/>
          </a:p>
          <a:p>
            <a:pPr>
              <a:spcAft>
                <a:spcPts val="300"/>
              </a:spcAft>
            </a:pPr>
            <a:r>
              <a:rPr lang="ko-KR" altLang="en-US" sz="1400" dirty="0"/>
              <a:t>   보전 서비스를 제공</a:t>
            </a:r>
            <a:endParaRPr lang="ko-KR" altLang="en-US" sz="1400" i="1" spc="-15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722627-7B28-D6A2-E7C7-656CE3C05F43}"/>
              </a:ext>
            </a:extLst>
          </p:cNvPr>
          <p:cNvSpPr txBox="1"/>
          <p:nvPr/>
        </p:nvSpPr>
        <p:spPr>
          <a:xfrm>
            <a:off x="5816600" y="4867934"/>
            <a:ext cx="3889375" cy="97200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</p:spPr>
        <p:txBody>
          <a:bodyPr wrap="square" lIns="126000" rIns="72000" rtlCol="0" anchor="ctr">
            <a:noAutofit/>
          </a:bodyPr>
          <a:lstStyle/>
          <a:p>
            <a:pPr marL="180000" indent="-18000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400" b="1" dirty="0"/>
              <a:t>주식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채권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대체 투자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부동산 등</a:t>
            </a:r>
            <a:r>
              <a:rPr lang="ko-KR" altLang="en-US" sz="1400" dirty="0"/>
              <a:t> 다양한 자산군에 걸쳐 전 세계 기관 및 개인 투자자들을 위한 전문적인 펀드 운용 및 투자 전략을 제공</a:t>
            </a:r>
            <a:endParaRPr lang="ko-KR" altLang="en-US" sz="1400" i="1" spc="-15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25" name="슬라이드 번호 개체 틀 24">
            <a:extLst>
              <a:ext uri="{FF2B5EF4-FFF2-40B4-BE49-F238E27FC236}">
                <a16:creationId xmlns:a16="http://schemas.microsoft.com/office/drawing/2014/main" id="{5EA92171-36AF-0101-4E7F-6CEF2C2E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77150" y="6566265"/>
            <a:ext cx="2228850" cy="291736"/>
          </a:xfrm>
        </p:spPr>
        <p:txBody>
          <a:bodyPr/>
          <a:lstStyle/>
          <a:p>
            <a:fld id="{88142A5B-241F-4620-9671-A7A83982CCBB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75185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844A9-361B-BB6B-9D15-39B3AD03F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23FABBA-CC74-3968-B968-41032E2D5A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모건 스탠리 </a:t>
            </a:r>
            <a:r>
              <a:rPr lang="en-US" altLang="ko-KR" dirty="0"/>
              <a:t>360</a:t>
            </a:r>
            <a:r>
              <a:rPr lang="ko-KR" altLang="en-US" dirty="0"/>
              <a:t>도 평가 프로세스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EBCF75E-282A-6D18-1C99-4033D85308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0975" y="767550"/>
            <a:ext cx="9360000" cy="360040"/>
          </a:xfrm>
        </p:spPr>
        <p:txBody>
          <a:bodyPr/>
          <a:lstStyle/>
          <a:p>
            <a:r>
              <a:rPr lang="en-US" altLang="ko-KR" dirty="0"/>
              <a:t>      </a:t>
            </a:r>
            <a:r>
              <a:rPr lang="ko-KR" altLang="en-US" dirty="0"/>
              <a:t>기업 개요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820AB6D-068A-8B62-606F-E9A169D9AF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9371773"/>
              </p:ext>
            </p:extLst>
          </p:nvPr>
        </p:nvGraphicFramePr>
        <p:xfrm>
          <a:off x="210974" y="4721087"/>
          <a:ext cx="9359999" cy="1506606"/>
        </p:xfrm>
        <a:graphic>
          <a:graphicData uri="http://schemas.openxmlformats.org/drawingml/2006/table">
            <a:tbl>
              <a:tblPr/>
              <a:tblGrid>
                <a:gridCol w="1617826">
                  <a:extLst>
                    <a:ext uri="{9D8B030D-6E8A-4147-A177-3AD203B41FA5}">
                      <a16:colId xmlns:a16="http://schemas.microsoft.com/office/drawing/2014/main" val="2193660861"/>
                    </a:ext>
                  </a:extLst>
                </a:gridCol>
                <a:gridCol w="7742173">
                  <a:extLst>
                    <a:ext uri="{9D8B030D-6E8A-4147-A177-3AD203B41FA5}">
                      <a16:colId xmlns:a16="http://schemas.microsoft.com/office/drawing/2014/main" val="722362454"/>
                    </a:ext>
                  </a:extLst>
                </a:gridCol>
              </a:tblGrid>
              <a:tr h="150660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50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글로벌 위상과 규모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183600" marR="0" indent="-18360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1" dirty="0"/>
                        <a:t>규모</a:t>
                      </a:r>
                      <a:r>
                        <a:rPr lang="en-US" altLang="ko-KR" sz="1400" b="1" dirty="0"/>
                        <a:t>:</a:t>
                      </a:r>
                      <a:r>
                        <a:rPr lang="ko-KR" altLang="en-US" sz="1400" dirty="0"/>
                        <a:t> 현재 전 세계 </a:t>
                      </a:r>
                      <a:r>
                        <a:rPr lang="en-US" altLang="ko-KR" sz="1400" dirty="0"/>
                        <a:t>40</a:t>
                      </a:r>
                      <a:r>
                        <a:rPr lang="ko-KR" altLang="en-US" sz="1400" dirty="0"/>
                        <a:t>여 개국에 지사를 두고 있으며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b="1" dirty="0"/>
                        <a:t>약 </a:t>
                      </a:r>
                      <a:r>
                        <a:rPr lang="en-US" altLang="ko-KR" sz="1400" b="1" dirty="0"/>
                        <a:t>8</a:t>
                      </a:r>
                      <a:r>
                        <a:rPr lang="ko-KR" altLang="en-US" sz="1400" b="1" dirty="0"/>
                        <a:t>만 명 이상</a:t>
                      </a:r>
                      <a:r>
                        <a:rPr lang="ko-KR" altLang="en-US" sz="1400" dirty="0"/>
                        <a:t>의 임직원이 근무하고 있음</a:t>
                      </a:r>
                      <a:r>
                        <a:rPr lang="en-US" altLang="ko-KR" sz="1400" dirty="0"/>
                        <a:t>. </a:t>
                      </a:r>
                      <a:r>
                        <a:rPr lang="ko-KR" altLang="en-US" sz="1400" dirty="0"/>
                        <a:t>운용 및 관리하는 고객 자산의 규모는 수조 달러에 달하며</a:t>
                      </a:r>
                      <a:r>
                        <a:rPr lang="en-US" altLang="ko-KR" sz="1400" dirty="0"/>
                        <a:t>,</a:t>
                      </a:r>
                      <a:r>
                        <a:rPr lang="ko-KR" altLang="en-US" sz="1400" dirty="0"/>
                        <a:t> </a:t>
                      </a:r>
                      <a:r>
                        <a:rPr lang="ko-KR" altLang="en-US" sz="1400" b="0" i="0" kern="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 세계 정부</a:t>
                      </a:r>
                      <a:r>
                        <a:rPr lang="en-US" altLang="ko-KR" sz="1400" b="0" i="0" kern="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400" b="0" i="0" kern="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기업</a:t>
                      </a:r>
                      <a:r>
                        <a:rPr lang="en-US" altLang="ko-KR" sz="1400" b="0" i="0" kern="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400" b="0" i="0" kern="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금융 기관 및 개인 고객을 대상으로 다양한 금융 솔루션 제공</a:t>
                      </a:r>
                      <a:endParaRPr lang="en-US" altLang="ko-KR" sz="1400" b="0" i="0" kern="0" spc="-5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83600" marR="0" indent="-18360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1" dirty="0"/>
                        <a:t>위상</a:t>
                      </a:r>
                      <a:r>
                        <a:rPr lang="en-US" altLang="ko-KR" sz="1400" b="1" dirty="0"/>
                        <a:t>:</a:t>
                      </a:r>
                      <a:r>
                        <a:rPr lang="ko-KR" altLang="en-US" sz="1400" dirty="0"/>
                        <a:t> 세계 경제 및 금융 시스템에 미치는 영향력이 지대하여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금융안정위원회</a:t>
                      </a:r>
                      <a:r>
                        <a:rPr lang="en-US" altLang="ko-KR" sz="1400" dirty="0"/>
                        <a:t>(</a:t>
                      </a:r>
                      <a:r>
                        <a:rPr lang="en" altLang="ko-KR" sz="1400" dirty="0"/>
                        <a:t>FSB)</a:t>
                      </a:r>
                      <a:r>
                        <a:rPr lang="ko-KR" altLang="en-US" sz="1400" dirty="0"/>
                        <a:t>가 지정하는 </a:t>
                      </a:r>
                      <a:r>
                        <a:rPr lang="en-US" altLang="ko-KR" sz="1400" b="1" dirty="0"/>
                        <a:t>'</a:t>
                      </a:r>
                      <a:r>
                        <a:rPr lang="ko-KR" altLang="en-US" sz="1400" b="1" dirty="0"/>
                        <a:t>글로벌 시스템적 중요 은행</a:t>
                      </a:r>
                      <a:r>
                        <a:rPr lang="en-US" altLang="ko-KR" sz="1400" b="1" dirty="0"/>
                        <a:t>(</a:t>
                      </a:r>
                      <a:r>
                        <a:rPr lang="en" altLang="ko-KR" sz="1400" b="1" dirty="0"/>
                        <a:t>G-SIB)'</a:t>
                      </a:r>
                      <a:r>
                        <a:rPr lang="en" altLang="ko-KR" sz="1400" dirty="0"/>
                        <a:t> </a:t>
                      </a:r>
                      <a:r>
                        <a:rPr lang="ko-KR" altLang="en-US" sz="1400" dirty="0"/>
                        <a:t>중 하나로 꼽히는 </a:t>
                      </a:r>
                      <a:r>
                        <a:rPr lang="ko-KR" altLang="en-US" sz="1400" dirty="0" err="1"/>
                        <a:t>월스트리트의</a:t>
                      </a:r>
                      <a:r>
                        <a:rPr lang="ko-KR" altLang="en-US" sz="1400" dirty="0"/>
                        <a:t> 대표적인 핵심 </a:t>
                      </a:r>
                      <a:r>
                        <a:rPr lang="ko-KR" altLang="en-US" sz="1400" dirty="0" err="1"/>
                        <a:t>금융사</a:t>
                      </a:r>
                      <a:endParaRPr lang="ko-KR" altLang="en-US" sz="1400" b="0" i="0" kern="0" spc="-5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0" marB="0" anchor="ctr">
                    <a:lnL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095892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77F53C16-ABF6-7C13-3377-F804CCD7A74F}"/>
              </a:ext>
            </a:extLst>
          </p:cNvPr>
          <p:cNvSpPr/>
          <p:nvPr/>
        </p:nvSpPr>
        <p:spPr>
          <a:xfrm>
            <a:off x="211138" y="767550"/>
            <a:ext cx="360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2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5" name="슬라이드 번호 개체 틀 24">
            <a:extLst>
              <a:ext uri="{FF2B5EF4-FFF2-40B4-BE49-F238E27FC236}">
                <a16:creationId xmlns:a16="http://schemas.microsoft.com/office/drawing/2014/main" id="{D813A9B7-2B3B-6CBB-04E7-E365136A9F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77150" y="6566265"/>
            <a:ext cx="2228850" cy="291736"/>
          </a:xfrm>
        </p:spPr>
        <p:txBody>
          <a:bodyPr/>
          <a:lstStyle/>
          <a:p>
            <a:fld id="{88142A5B-241F-4620-9671-A7A83982CCBB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pic>
        <p:nvPicPr>
          <p:cNvPr id="1026" name="Picture 2" descr="바이낸스 &quot;모건스탠리 주도 속 암호화폐, 기관 채택 '2라운드' 진입&quot; &lt; 해외뉴스 &lt; 기사본문 - 블록체인투데이">
            <a:extLst>
              <a:ext uri="{FF2B5EF4-FFF2-40B4-BE49-F238E27FC236}">
                <a16:creationId xmlns:a16="http://schemas.microsoft.com/office/drawing/2014/main" id="{810EF805-05B3-F8DB-EF74-D3B7D06B43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973" y="1378469"/>
            <a:ext cx="2701191" cy="2973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0ED37AA-DBF7-2E06-CDB9-EB3FA734E9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2304" y="1378469"/>
            <a:ext cx="4612053" cy="297356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551F56B-621B-6864-9DB3-97F62E7840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5036" y="1378469"/>
            <a:ext cx="6880964" cy="2973559"/>
          </a:xfrm>
          <a:prstGeom prst="rect">
            <a:avLst/>
          </a:prstGeom>
        </p:spPr>
      </p:pic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6C62D1A4-0DBF-C2DF-11D1-0A4BD1A7F1AE}"/>
              </a:ext>
            </a:extLst>
          </p:cNvPr>
          <p:cNvCxnSpPr/>
          <p:nvPr/>
        </p:nvCxnSpPr>
        <p:spPr>
          <a:xfrm>
            <a:off x="3458817" y="2673626"/>
            <a:ext cx="4800600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9183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9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" dur="2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1844A1-4C43-08BC-1FE8-CBE855F317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spc="-100" dirty="0"/>
              <a:t>      </a:t>
            </a:r>
            <a:r>
              <a:rPr lang="ko-KR" altLang="en-US" dirty="0"/>
              <a:t>새로운 평가 시스템의 탄생 배경</a:t>
            </a:r>
            <a:endParaRPr lang="ko-KR" altLang="en-US" spc="-1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07F5E1E-1C96-948A-3D9F-B8F4E7A13A00}"/>
              </a:ext>
            </a:extLst>
          </p:cNvPr>
          <p:cNvSpPr/>
          <p:nvPr/>
        </p:nvSpPr>
        <p:spPr>
          <a:xfrm>
            <a:off x="211138" y="767550"/>
            <a:ext cx="360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2</a:t>
            </a:r>
            <a:endParaRPr lang="ko-KR" altLang="en-US" sz="2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CC4F66A-2841-7C22-9854-167E6CC65F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모건 스탠리 </a:t>
            </a:r>
            <a:r>
              <a:rPr lang="en-US" altLang="ko-KR" dirty="0"/>
              <a:t>360</a:t>
            </a:r>
            <a:r>
              <a:rPr lang="ko-KR" altLang="en-US" dirty="0"/>
              <a:t>도 평가 프로세스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742331D-588F-F68E-87B5-6C7D4FC40F2C}"/>
              </a:ext>
            </a:extLst>
          </p:cNvPr>
          <p:cNvSpPr/>
          <p:nvPr/>
        </p:nvSpPr>
        <p:spPr>
          <a:xfrm>
            <a:off x="210974" y="1628775"/>
            <a:ext cx="1800000" cy="865043"/>
          </a:xfrm>
          <a:prstGeom prst="rect">
            <a:avLst/>
          </a:prstGeom>
          <a:solidFill>
            <a:schemeClr val="accent2"/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spc="-50" dirty="0">
                <a:solidFill>
                  <a:schemeClr val="bg1"/>
                </a:solidFill>
                <a:latin typeface="+mn-ea"/>
              </a:rPr>
              <a:t>도입 시기 및 규모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B58E8A-80F0-E713-96DD-79841A58597C}"/>
              </a:ext>
            </a:extLst>
          </p:cNvPr>
          <p:cNvSpPr txBox="1"/>
          <p:nvPr/>
        </p:nvSpPr>
        <p:spPr>
          <a:xfrm>
            <a:off x="2108200" y="1628775"/>
            <a:ext cx="7597775" cy="865043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</p:spPr>
        <p:txBody>
          <a:bodyPr wrap="square" lIns="180000" rIns="108000" rtlCol="0" anchor="ctr">
            <a:noAutofit/>
          </a:bodyPr>
          <a:lstStyle/>
          <a:p>
            <a:pPr marL="216000" indent="-21600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ko-KR" sz="1600" dirty="0"/>
              <a:t>1993</a:t>
            </a:r>
            <a:r>
              <a:rPr lang="ko-KR" altLang="en-US" sz="1600" dirty="0"/>
              <a:t>년</a:t>
            </a:r>
            <a:r>
              <a:rPr lang="en-US" altLang="ko-KR" sz="1600" dirty="0"/>
              <a:t>, </a:t>
            </a:r>
            <a:r>
              <a:rPr lang="ko-KR" altLang="en-US" sz="1600" dirty="0"/>
              <a:t>전 세계 </a:t>
            </a:r>
            <a:r>
              <a:rPr lang="en-US" altLang="ko-KR" sz="1600" dirty="0"/>
              <a:t>2,000</a:t>
            </a:r>
            <a:r>
              <a:rPr lang="ko-KR" altLang="en-US" sz="1600" dirty="0"/>
              <a:t>명 이상의 전문직 직원을 대상으로 </a:t>
            </a:r>
            <a:r>
              <a:rPr lang="en-US" altLang="ko-KR" sz="1600" dirty="0"/>
              <a:t>150</a:t>
            </a:r>
            <a:r>
              <a:rPr lang="ko-KR" altLang="en-US" sz="1600" dirty="0"/>
              <a:t>만 달러 이상의 비용을 투자하여 새로운 </a:t>
            </a:r>
            <a:r>
              <a:rPr lang="en-US" altLang="ko-KR" sz="1600" dirty="0"/>
              <a:t>360</a:t>
            </a:r>
            <a:r>
              <a:rPr lang="ko-KR" altLang="en-US" sz="1600" dirty="0"/>
              <a:t>도 다면 평가 시스템을 도입</a:t>
            </a:r>
            <a:endParaRPr lang="en-US" altLang="ko-KR" sz="160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22BD2F5-71DC-DA3D-B1F8-7A5A4AA1443B}"/>
              </a:ext>
            </a:extLst>
          </p:cNvPr>
          <p:cNvSpPr/>
          <p:nvPr/>
        </p:nvSpPr>
        <p:spPr>
          <a:xfrm>
            <a:off x="210974" y="4643703"/>
            <a:ext cx="1800000" cy="1260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spc="-50" dirty="0">
                <a:solidFill>
                  <a:schemeClr val="tx1"/>
                </a:solidFill>
                <a:latin typeface="+mn-ea"/>
              </a:rPr>
              <a:t>기대 효과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71BFBC-6E66-BF6F-78EF-171C144B7434}"/>
              </a:ext>
            </a:extLst>
          </p:cNvPr>
          <p:cNvSpPr txBox="1"/>
          <p:nvPr/>
        </p:nvSpPr>
        <p:spPr>
          <a:xfrm>
            <a:off x="2108200" y="4643703"/>
            <a:ext cx="7597775" cy="126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</p:spPr>
        <p:txBody>
          <a:bodyPr wrap="square" lIns="180000" rIns="108000" rtlCol="0" anchor="ctr">
            <a:noAutofit/>
          </a:bodyPr>
          <a:lstStyle/>
          <a:p>
            <a:pPr marL="216000" indent="-21600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600" dirty="0"/>
              <a:t>솔직한 피드백을 바탕으로 각 개인의 개발 계획을 수립</a:t>
            </a:r>
            <a:endParaRPr lang="en-US" altLang="ko-KR" sz="1600" dirty="0"/>
          </a:p>
          <a:p>
            <a:pPr marL="216000" indent="-21600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600" dirty="0"/>
              <a:t>직원의 지속적인 전문성 개발이라는 회사의 가장 중요한 목표를 달성</a:t>
            </a:r>
            <a:endParaRPr lang="ko-KR" altLang="en-US" sz="1600" spc="-150" dirty="0">
              <a:latin typeface="+mn-ea"/>
            </a:endParaRP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7C85D1BC-17BD-B33F-969A-F519EE0AB0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8142A5B-241F-4620-9671-A7A83982CCBB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B9C8860-A3A8-AC6F-F2D5-7E8C60EC4070}"/>
              </a:ext>
            </a:extLst>
          </p:cNvPr>
          <p:cNvSpPr/>
          <p:nvPr/>
        </p:nvSpPr>
        <p:spPr>
          <a:xfrm>
            <a:off x="210974" y="2633751"/>
            <a:ext cx="1800000" cy="865043"/>
          </a:xfrm>
          <a:prstGeom prst="rect">
            <a:avLst/>
          </a:prstGeom>
          <a:solidFill>
            <a:schemeClr val="accent2"/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spc="-50" dirty="0">
                <a:solidFill>
                  <a:schemeClr val="bg1"/>
                </a:solidFill>
                <a:latin typeface="+mn-ea"/>
              </a:rPr>
              <a:t>주도 부서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F07504-981C-0785-99DE-DE86273D3DE8}"/>
              </a:ext>
            </a:extLst>
          </p:cNvPr>
          <p:cNvSpPr txBox="1"/>
          <p:nvPr/>
        </p:nvSpPr>
        <p:spPr>
          <a:xfrm>
            <a:off x="2108200" y="2633751"/>
            <a:ext cx="7597775" cy="865043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</p:spPr>
        <p:txBody>
          <a:bodyPr wrap="square" lIns="180000" rIns="108000" rtlCol="0" anchor="ctr">
            <a:noAutofit/>
          </a:bodyPr>
          <a:lstStyle/>
          <a:p>
            <a:pPr marL="216000" indent="-21600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600" dirty="0"/>
              <a:t>톰 </a:t>
            </a:r>
            <a:r>
              <a:rPr lang="ko-KR" altLang="en-US" sz="1600" dirty="0" err="1"/>
              <a:t>딜롱</a:t>
            </a:r>
            <a:r>
              <a:rPr lang="en-US" altLang="ko-KR" sz="1600" dirty="0"/>
              <a:t>(</a:t>
            </a:r>
            <a:r>
              <a:rPr lang="en" altLang="ko-KR" sz="1600" dirty="0"/>
              <a:t>Tom DeLong) </a:t>
            </a:r>
            <a:r>
              <a:rPr lang="ko-KR" altLang="en-US" sz="1600" dirty="0"/>
              <a:t>최고 개발 책임자의 지휘 아래</a:t>
            </a:r>
            <a:r>
              <a:rPr lang="en-US" altLang="ko-KR" sz="1600" dirty="0"/>
              <a:t>, </a:t>
            </a:r>
            <a:r>
              <a:rPr lang="ko-KR" altLang="en-US" sz="1600" dirty="0"/>
              <a:t>인사 관리 부서인 </a:t>
            </a:r>
            <a:r>
              <a:rPr lang="en-US" altLang="ko-KR" sz="1600" dirty="0"/>
              <a:t>'</a:t>
            </a:r>
            <a:r>
              <a:rPr lang="ko-KR" altLang="en-US" sz="1600" dirty="0"/>
              <a:t>개발 부서</a:t>
            </a:r>
            <a:r>
              <a:rPr lang="en-US" altLang="ko-KR" sz="1600" dirty="0"/>
              <a:t>(</a:t>
            </a:r>
            <a:r>
              <a:rPr lang="en" altLang="ko-KR" sz="1600" dirty="0"/>
              <a:t>Office of Development)'</a:t>
            </a:r>
            <a:r>
              <a:rPr lang="ko-KR" altLang="en-US" sz="1600" dirty="0"/>
              <a:t>가 이 프로젝트를 주도</a:t>
            </a:r>
            <a:endParaRPr lang="en-US" altLang="ko-KR" sz="16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021ABEF-9988-CA0E-4652-0995D548A310}"/>
              </a:ext>
            </a:extLst>
          </p:cNvPr>
          <p:cNvSpPr/>
          <p:nvPr/>
        </p:nvSpPr>
        <p:spPr>
          <a:xfrm>
            <a:off x="210974" y="3638727"/>
            <a:ext cx="1800000" cy="865043"/>
          </a:xfrm>
          <a:prstGeom prst="rect">
            <a:avLst/>
          </a:prstGeom>
          <a:solidFill>
            <a:schemeClr val="accent2"/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spc="-50" dirty="0">
                <a:solidFill>
                  <a:schemeClr val="bg1"/>
                </a:solidFill>
                <a:latin typeface="+mn-ea"/>
              </a:rPr>
              <a:t>핵심 목표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58560E-4426-83D4-98D2-D9605680BC75}"/>
              </a:ext>
            </a:extLst>
          </p:cNvPr>
          <p:cNvSpPr txBox="1"/>
          <p:nvPr/>
        </p:nvSpPr>
        <p:spPr>
          <a:xfrm>
            <a:off x="2108200" y="3638727"/>
            <a:ext cx="7597775" cy="865043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</p:spPr>
        <p:txBody>
          <a:bodyPr wrap="square" lIns="180000" rIns="108000" rtlCol="0" anchor="ctr">
            <a:noAutofit/>
          </a:bodyPr>
          <a:lstStyle/>
          <a:p>
            <a:pPr marL="216000" indent="-21600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600" dirty="0"/>
              <a:t>모든 직원에게 양질의 성과 피드백을 제공하는 것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520901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4F002-AF0B-7B80-3A9D-6222D0FA8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>
            <a:extLst>
              <a:ext uri="{FF2B5EF4-FFF2-40B4-BE49-F238E27FC236}">
                <a16:creationId xmlns:a16="http://schemas.microsoft.com/office/drawing/2014/main" id="{8A1ACC23-96FD-AB7A-15AF-35AF78D6A1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856" y="840250"/>
            <a:ext cx="7772400" cy="5177500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51157D-3154-8F31-FE18-7EF537DED3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spc="-100" dirty="0"/>
              <a:t>      </a:t>
            </a:r>
            <a:r>
              <a:rPr lang="ko-KR" altLang="en-US" dirty="0"/>
              <a:t>새로운 평가 시스템의 탄생 배경</a:t>
            </a:r>
            <a:endParaRPr lang="ko-KR" altLang="en-US" spc="-1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F408D48-9735-2FB2-5E1F-B91CE44C5F45}"/>
              </a:ext>
            </a:extLst>
          </p:cNvPr>
          <p:cNvSpPr/>
          <p:nvPr/>
        </p:nvSpPr>
        <p:spPr>
          <a:xfrm>
            <a:off x="211138" y="767550"/>
            <a:ext cx="360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2</a:t>
            </a:r>
            <a:endParaRPr lang="ko-KR" altLang="en-US" sz="2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28AE88D-D91A-EFC3-7272-92F2B4A348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모건 스탠리 </a:t>
            </a:r>
            <a:r>
              <a:rPr lang="en-US" altLang="ko-KR" dirty="0"/>
              <a:t>360</a:t>
            </a:r>
            <a:r>
              <a:rPr lang="ko-KR" altLang="en-US" dirty="0"/>
              <a:t>도 평가 프로세스</a:t>
            </a: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2871FF7F-0927-2018-CB57-71C4A1DD9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8142A5B-241F-4620-9671-A7A83982CCBB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AAB3D2-9C84-5256-A228-27826B4D6622}"/>
              </a:ext>
            </a:extLst>
          </p:cNvPr>
          <p:cNvSpPr txBox="1"/>
          <p:nvPr/>
        </p:nvSpPr>
        <p:spPr>
          <a:xfrm>
            <a:off x="391138" y="1555666"/>
            <a:ext cx="25170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000" b="1" dirty="0"/>
              <a:t>360</a:t>
            </a:r>
            <a:r>
              <a:rPr kumimoji="1" lang="ko-KR" altLang="en-US" sz="2000" b="1" dirty="0"/>
              <a:t>도 다면평가에서</a:t>
            </a:r>
            <a:endParaRPr kumimoji="1" lang="en-US" altLang="ko-KR" sz="2000" b="1" dirty="0"/>
          </a:p>
          <a:p>
            <a:r>
              <a:rPr kumimoji="1" lang="ko-KR" altLang="en-US" sz="2000" b="1" dirty="0"/>
              <a:t>고과자의 종류</a:t>
            </a:r>
          </a:p>
        </p:txBody>
      </p:sp>
    </p:spTree>
    <p:extLst>
      <p:ext uri="{BB962C8B-B14F-4D97-AF65-F5344CB8AC3E}">
        <p14:creationId xmlns:p14="http://schemas.microsoft.com/office/powerpoint/2010/main" val="871519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282E4-2CC5-7708-26A0-E7F1F5403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0B71AC-9AC8-8A7D-B775-B1D5A23541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spc="-100" dirty="0"/>
              <a:t>      </a:t>
            </a:r>
            <a:r>
              <a:rPr lang="ko-KR" altLang="en-US" dirty="0"/>
              <a:t>새로운 평가 시스템의 탄생 배경</a:t>
            </a:r>
            <a:endParaRPr lang="ko-KR" altLang="en-US" spc="-1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74022FE-5121-1A67-696D-570B34003610}"/>
              </a:ext>
            </a:extLst>
          </p:cNvPr>
          <p:cNvSpPr/>
          <p:nvPr/>
        </p:nvSpPr>
        <p:spPr>
          <a:xfrm>
            <a:off x="211138" y="767550"/>
            <a:ext cx="360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2</a:t>
            </a:r>
            <a:endParaRPr lang="ko-KR" altLang="en-US" sz="2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CFEDFC9-3722-4969-CD63-B4F6E4C0F2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모건 스탠리 </a:t>
            </a:r>
            <a:r>
              <a:rPr lang="en-US" altLang="ko-KR" dirty="0"/>
              <a:t>360</a:t>
            </a:r>
            <a:r>
              <a:rPr lang="ko-KR" altLang="en-US" dirty="0"/>
              <a:t>도 평가 프로세스</a:t>
            </a: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C58CC29-7393-DD0A-85AF-6E57C04DC5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8142A5B-241F-4620-9671-A7A83982CCBB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297B692-370A-4178-9164-3C5BACBF6E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546000"/>
              </p:ext>
            </p:extLst>
          </p:nvPr>
        </p:nvGraphicFramePr>
        <p:xfrm>
          <a:off x="571138" y="1753758"/>
          <a:ext cx="4050966" cy="4015939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4050966">
                  <a:extLst>
                    <a:ext uri="{9D8B030D-6E8A-4147-A177-3AD203B41FA5}">
                      <a16:colId xmlns:a16="http://schemas.microsoft.com/office/drawing/2014/main" val="1676561348"/>
                    </a:ext>
                  </a:extLst>
                </a:gridCol>
              </a:tblGrid>
              <a:tr h="5259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/>
                        <a:t>기존 시스템의 한계</a:t>
                      </a:r>
                      <a:endParaRPr lang="ko-KR" altLang="en-US" sz="24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177046"/>
                  </a:ext>
                </a:extLst>
              </a:tr>
              <a:tr h="3098342"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200000"/>
                        </a:lnSpc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altLang="ko-KR" dirty="0" err="1">
                          <a:solidFill>
                            <a:srgbClr val="4A5568"/>
                          </a:solidFill>
                        </a:rPr>
                        <a:t>구두</a:t>
                      </a:r>
                      <a:r>
                        <a:rPr lang="en-US" altLang="ko-KR" dirty="0">
                          <a:solidFill>
                            <a:srgbClr val="4A5568"/>
                          </a:solidFill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rgbClr val="4A5568"/>
                          </a:solidFill>
                        </a:rPr>
                        <a:t>평가</a:t>
                      </a:r>
                      <a:r>
                        <a:rPr lang="en-US" altLang="ko-KR" dirty="0">
                          <a:solidFill>
                            <a:srgbClr val="4A5568"/>
                          </a:solidFill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rgbClr val="4A5568"/>
                          </a:solidFill>
                        </a:rPr>
                        <a:t>중심</a:t>
                      </a:r>
                      <a:endParaRPr lang="en-US" altLang="ko-KR" dirty="0"/>
                    </a:p>
                    <a:p>
                      <a:pPr marL="342900" indent="-342900">
                        <a:lnSpc>
                          <a:spcPct val="200000"/>
                        </a:lnSpc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altLang="ko-KR" dirty="0" err="1">
                          <a:solidFill>
                            <a:srgbClr val="4A5568"/>
                          </a:solidFill>
                        </a:rPr>
                        <a:t>집단적</a:t>
                      </a:r>
                      <a:r>
                        <a:rPr lang="en-US" altLang="ko-KR" dirty="0">
                          <a:solidFill>
                            <a:srgbClr val="4A5568"/>
                          </a:solidFill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rgbClr val="4A5568"/>
                          </a:solidFill>
                        </a:rPr>
                        <a:t>일괄</a:t>
                      </a:r>
                      <a:r>
                        <a:rPr lang="en-US" altLang="ko-KR" dirty="0">
                          <a:solidFill>
                            <a:srgbClr val="4A5568"/>
                          </a:solidFill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rgbClr val="4A5568"/>
                          </a:solidFill>
                        </a:rPr>
                        <a:t>평가</a:t>
                      </a:r>
                      <a:r>
                        <a:rPr lang="en-US" altLang="ko-KR" dirty="0">
                          <a:solidFill>
                            <a:srgbClr val="4A5568"/>
                          </a:solidFill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rgbClr val="4A5568"/>
                          </a:solidFill>
                        </a:rPr>
                        <a:t>방식</a:t>
                      </a:r>
                      <a:endParaRPr lang="en-US" altLang="ko-KR" dirty="0"/>
                    </a:p>
                    <a:p>
                      <a:pPr marL="342900" indent="-342900">
                        <a:lnSpc>
                          <a:spcPct val="200000"/>
                        </a:lnSpc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altLang="ko-KR" dirty="0" err="1">
                          <a:solidFill>
                            <a:srgbClr val="4A5568"/>
                          </a:solidFill>
                        </a:rPr>
                        <a:t>개별</a:t>
                      </a:r>
                      <a:r>
                        <a:rPr lang="en-US" altLang="ko-KR" dirty="0">
                          <a:solidFill>
                            <a:srgbClr val="4A5568"/>
                          </a:solidFill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rgbClr val="4A5568"/>
                          </a:solidFill>
                        </a:rPr>
                        <a:t>피드백</a:t>
                      </a:r>
                      <a:r>
                        <a:rPr lang="en-US" altLang="ko-KR" dirty="0">
                          <a:solidFill>
                            <a:srgbClr val="4A5568"/>
                          </a:solidFill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rgbClr val="4A5568"/>
                          </a:solidFill>
                        </a:rPr>
                        <a:t>거의</a:t>
                      </a:r>
                      <a:r>
                        <a:rPr lang="en-US" altLang="ko-KR" dirty="0">
                          <a:solidFill>
                            <a:srgbClr val="4A5568"/>
                          </a:solidFill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rgbClr val="4A5568"/>
                          </a:solidFill>
                        </a:rPr>
                        <a:t>없음</a:t>
                      </a:r>
                      <a:endParaRPr lang="en-US" altLang="ko-KR" dirty="0"/>
                    </a:p>
                    <a:p>
                      <a:pPr marL="342900" indent="-342900">
                        <a:lnSpc>
                          <a:spcPct val="200000"/>
                        </a:lnSpc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altLang="ko-KR" dirty="0" err="1">
                          <a:solidFill>
                            <a:srgbClr val="4A5568"/>
                          </a:solidFill>
                        </a:rPr>
                        <a:t>단편적</a:t>
                      </a:r>
                      <a:r>
                        <a:rPr lang="en-US" altLang="ko-KR" dirty="0">
                          <a:solidFill>
                            <a:srgbClr val="4A5568"/>
                          </a:solidFill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rgbClr val="4A5568"/>
                          </a:solidFill>
                        </a:rPr>
                        <a:t>의견만</a:t>
                      </a:r>
                      <a:r>
                        <a:rPr lang="en-US" altLang="ko-KR" dirty="0">
                          <a:solidFill>
                            <a:srgbClr val="4A5568"/>
                          </a:solidFill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rgbClr val="4A5568"/>
                          </a:solidFill>
                        </a:rPr>
                        <a:t>제시</a:t>
                      </a:r>
                      <a:endParaRPr lang="en-US" altLang="ko-KR" dirty="0"/>
                    </a:p>
                    <a:p>
                      <a:pPr marL="342900" indent="-342900">
                        <a:lnSpc>
                          <a:spcPct val="200000"/>
                        </a:lnSpc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altLang="ko-KR" dirty="0" err="1">
                          <a:solidFill>
                            <a:srgbClr val="4A5568"/>
                          </a:solidFill>
                        </a:rPr>
                        <a:t>상사</a:t>
                      </a:r>
                      <a:r>
                        <a:rPr lang="en-US" altLang="ko-KR" dirty="0">
                          <a:solidFill>
                            <a:srgbClr val="4A5568"/>
                          </a:solidFill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rgbClr val="4A5568"/>
                          </a:solidFill>
                        </a:rPr>
                        <a:t>단독</a:t>
                      </a:r>
                      <a:r>
                        <a:rPr lang="en-US" altLang="ko-KR" dirty="0">
                          <a:solidFill>
                            <a:srgbClr val="4A5568"/>
                          </a:solidFill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rgbClr val="4A5568"/>
                          </a:solidFill>
                        </a:rPr>
                        <a:t>평가로</a:t>
                      </a:r>
                      <a:r>
                        <a:rPr lang="en-US" altLang="ko-KR" dirty="0">
                          <a:solidFill>
                            <a:srgbClr val="4A5568"/>
                          </a:solidFill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rgbClr val="4A5568"/>
                          </a:solidFill>
                        </a:rPr>
                        <a:t>편향</a:t>
                      </a:r>
                      <a:r>
                        <a:rPr lang="en-US" altLang="ko-KR" dirty="0">
                          <a:solidFill>
                            <a:srgbClr val="4A5568"/>
                          </a:solidFill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rgbClr val="4A5568"/>
                          </a:solidFill>
                        </a:rPr>
                        <a:t>가능성</a:t>
                      </a:r>
                      <a:endParaRPr lang="en-US" altLang="ko-KR" sz="1400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2103958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F2BFC76-9060-E68E-1054-6D66AD2BCF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5209130"/>
              </p:ext>
            </p:extLst>
          </p:nvPr>
        </p:nvGraphicFramePr>
        <p:xfrm>
          <a:off x="5283896" y="1753757"/>
          <a:ext cx="4050966" cy="4015939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4050966">
                  <a:extLst>
                    <a:ext uri="{9D8B030D-6E8A-4147-A177-3AD203B41FA5}">
                      <a16:colId xmlns:a16="http://schemas.microsoft.com/office/drawing/2014/main" val="1676561348"/>
                    </a:ext>
                  </a:extLst>
                </a:gridCol>
              </a:tblGrid>
              <a:tr h="5828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/>
                        <a:t>새로운 시스템의 목표</a:t>
                      </a:r>
                      <a:endParaRPr lang="ko-KR" altLang="en-US" sz="24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177046"/>
                  </a:ext>
                </a:extLst>
              </a:tr>
              <a:tr h="3433127"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200000"/>
                        </a:lnSpc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altLang="ko-KR" dirty="0" err="1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다방향</a:t>
                      </a:r>
                      <a:r>
                        <a:rPr lang="en-US" altLang="ko-KR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 360도 </a:t>
                      </a:r>
                      <a:r>
                        <a:rPr lang="en-US" altLang="ko-KR" dirty="0" err="1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피드백</a:t>
                      </a:r>
                      <a:r>
                        <a:rPr lang="en-US" altLang="ko-KR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수집</a:t>
                      </a:r>
                      <a:endParaRPr lang="en-US" altLang="ko-KR" dirty="0">
                        <a:latin typeface="+mn-lt"/>
                      </a:endParaRPr>
                    </a:p>
                    <a:p>
                      <a:pPr marL="342900" indent="-342900">
                        <a:lnSpc>
                          <a:spcPct val="200000"/>
                        </a:lnSpc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altLang="ko-KR" dirty="0" err="1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서면·정량데이터</a:t>
                      </a:r>
                      <a:r>
                        <a:rPr lang="en-US" altLang="ko-KR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기반</a:t>
                      </a:r>
                      <a:r>
                        <a:rPr lang="en-US" altLang="ko-KR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객관성</a:t>
                      </a:r>
                      <a:r>
                        <a:rPr lang="en-US" altLang="ko-KR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확보</a:t>
                      </a:r>
                      <a:endParaRPr lang="en-US" altLang="ko-KR" dirty="0">
                        <a:latin typeface="+mn-lt"/>
                      </a:endParaRPr>
                    </a:p>
                    <a:p>
                      <a:pPr marL="342900" indent="-342900">
                        <a:lnSpc>
                          <a:spcPct val="200000"/>
                        </a:lnSpc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altLang="ko-KR" dirty="0" err="1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명시적</a:t>
                      </a:r>
                      <a:r>
                        <a:rPr lang="en-US" altLang="ko-KR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평가</a:t>
                      </a:r>
                      <a:r>
                        <a:rPr lang="en-US" altLang="ko-KR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기준</a:t>
                      </a:r>
                      <a:r>
                        <a:rPr lang="en-US" altLang="ko-KR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 4개 </a:t>
                      </a:r>
                      <a:r>
                        <a:rPr lang="en-US" altLang="ko-KR" dirty="0" err="1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범주</a:t>
                      </a:r>
                      <a:r>
                        <a:rPr lang="en-US" altLang="ko-KR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적용</a:t>
                      </a:r>
                      <a:endParaRPr lang="en-US" altLang="ko-KR" dirty="0">
                        <a:latin typeface="+mn-lt"/>
                      </a:endParaRPr>
                    </a:p>
                    <a:p>
                      <a:pPr marL="342900" indent="-342900">
                        <a:lnSpc>
                          <a:spcPct val="200000"/>
                        </a:lnSpc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altLang="ko-KR" dirty="0" err="1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개인</a:t>
                      </a:r>
                      <a:r>
                        <a:rPr lang="en-US" altLang="ko-KR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개발</a:t>
                      </a:r>
                      <a:r>
                        <a:rPr lang="en-US" altLang="ko-KR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계획</a:t>
                      </a:r>
                      <a:r>
                        <a:rPr lang="en-US" altLang="ko-KR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수립</a:t>
                      </a:r>
                      <a:r>
                        <a:rPr lang="en-US" altLang="ko-KR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지원</a:t>
                      </a:r>
                      <a:endParaRPr lang="en-US" altLang="ko-KR" dirty="0">
                        <a:latin typeface="+mn-lt"/>
                      </a:endParaRPr>
                    </a:p>
                    <a:p>
                      <a:pPr marL="342900" indent="-342900">
                        <a:lnSpc>
                          <a:spcPct val="200000"/>
                        </a:lnSpc>
                        <a:spcAft>
                          <a:spcPts val="600"/>
                        </a:spcAft>
                        <a:buSzPct val="100000"/>
                        <a:buChar char="•"/>
                      </a:pPr>
                      <a:r>
                        <a:rPr lang="en-US" altLang="ko-KR" dirty="0" err="1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공정하고</a:t>
                      </a:r>
                      <a:r>
                        <a:rPr lang="en-US" altLang="ko-KR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일관된</a:t>
                      </a:r>
                      <a:r>
                        <a:rPr lang="en-US" altLang="ko-KR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성과</a:t>
                      </a:r>
                      <a:r>
                        <a:rPr lang="en-US" altLang="ko-KR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altLang="ko-KR" dirty="0" err="1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측정</a:t>
                      </a:r>
                      <a:endParaRPr lang="en-US" altLang="ko-KR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2103958"/>
                  </a:ext>
                </a:extLst>
              </a:tr>
            </a:tbl>
          </a:graphicData>
        </a:graphic>
      </p:graphicFrame>
      <p:sp>
        <p:nvSpPr>
          <p:cNvPr id="8" name="오른쪽 화살표[R] 7">
            <a:extLst>
              <a:ext uri="{FF2B5EF4-FFF2-40B4-BE49-F238E27FC236}">
                <a16:creationId xmlns:a16="http://schemas.microsoft.com/office/drawing/2014/main" id="{474FD3DD-6250-121D-700E-BBD6CAA70C4C}"/>
              </a:ext>
            </a:extLst>
          </p:cNvPr>
          <p:cNvSpPr/>
          <p:nvPr/>
        </p:nvSpPr>
        <p:spPr>
          <a:xfrm>
            <a:off x="4715005" y="3636466"/>
            <a:ext cx="475989" cy="250520"/>
          </a:xfrm>
          <a:prstGeom prst="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85375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5EE49-3C53-959D-73E9-7AE407376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3DF91AA-BC98-E828-B971-A478B4C907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spc="-100" dirty="0"/>
              <a:t>      </a:t>
            </a:r>
            <a:r>
              <a:rPr lang="ko-KR" altLang="en-US" dirty="0"/>
              <a:t>평가 시스템의 핵심 구성 요소</a:t>
            </a:r>
            <a:endParaRPr lang="ko-KR" altLang="en-US" spc="-1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922A881-3F5E-98D3-56A4-B3D4730EF624}"/>
              </a:ext>
            </a:extLst>
          </p:cNvPr>
          <p:cNvSpPr/>
          <p:nvPr/>
        </p:nvSpPr>
        <p:spPr>
          <a:xfrm>
            <a:off x="211138" y="767550"/>
            <a:ext cx="360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3</a:t>
            </a:r>
            <a:endParaRPr lang="ko-KR" altLang="en-US" sz="2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F70F6EF-23CD-A92B-1A1F-B07C17471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모건 스탠리 </a:t>
            </a:r>
            <a:r>
              <a:rPr lang="en-US" altLang="ko-KR" dirty="0"/>
              <a:t>360</a:t>
            </a:r>
            <a:r>
              <a:rPr lang="ko-KR" altLang="en-US" dirty="0"/>
              <a:t>도 평가 프로세스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0765333-15DB-7E97-445A-254E44E13C04}"/>
              </a:ext>
            </a:extLst>
          </p:cNvPr>
          <p:cNvSpPr/>
          <p:nvPr/>
        </p:nvSpPr>
        <p:spPr>
          <a:xfrm>
            <a:off x="571137" y="3223796"/>
            <a:ext cx="4381862" cy="353291"/>
          </a:xfrm>
          <a:prstGeom prst="rect">
            <a:avLst/>
          </a:prstGeom>
          <a:solidFill>
            <a:schemeClr val="accent2"/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/>
              <a:t>360</a:t>
            </a:r>
            <a:r>
              <a:rPr lang="ko-KR" altLang="en-US" sz="1400" b="1" dirty="0"/>
              <a:t>도 피드백</a:t>
            </a:r>
            <a:endParaRPr lang="ko-KR" altLang="en-US" sz="1400" b="1" spc="-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A2A4FA-E185-E829-7687-FA38C27A11D5}"/>
              </a:ext>
            </a:extLst>
          </p:cNvPr>
          <p:cNvSpPr txBox="1"/>
          <p:nvPr/>
        </p:nvSpPr>
        <p:spPr>
          <a:xfrm>
            <a:off x="571138" y="1559503"/>
            <a:ext cx="4381862" cy="1585671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</p:spPr>
        <p:txBody>
          <a:bodyPr wrap="square" lIns="180000" rIns="108000" rtlCol="0" anchor="ctr">
            <a:noAutofit/>
          </a:bodyPr>
          <a:lstStyle/>
          <a:p>
            <a:pPr marL="216000" indent="-21600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dirty="0"/>
              <a:t>상사</a:t>
            </a:r>
            <a:r>
              <a:rPr lang="en-US" altLang="ko-KR" dirty="0"/>
              <a:t>, </a:t>
            </a:r>
            <a:r>
              <a:rPr lang="ko-KR" altLang="en-US" dirty="0"/>
              <a:t>동료</a:t>
            </a:r>
            <a:r>
              <a:rPr lang="en-US" altLang="ko-KR" dirty="0"/>
              <a:t>, </a:t>
            </a:r>
            <a:r>
              <a:rPr lang="ko-KR" altLang="en-US" dirty="0"/>
              <a:t>부하 직원 및 </a:t>
            </a:r>
            <a:r>
              <a:rPr lang="en-US" altLang="ko-KR" dirty="0"/>
              <a:t>'</a:t>
            </a:r>
            <a:r>
              <a:rPr lang="ko-KR" altLang="en-US" dirty="0"/>
              <a:t>내부 고객</a:t>
            </a:r>
            <a:r>
              <a:rPr lang="en-US" altLang="ko-KR" dirty="0"/>
              <a:t>'</a:t>
            </a:r>
            <a:r>
              <a:rPr lang="ko-KR" altLang="en-US" dirty="0" err="1"/>
              <a:t>으로부터</a:t>
            </a:r>
            <a:r>
              <a:rPr lang="ko-KR" altLang="en-US" dirty="0"/>
              <a:t> 피드백을 요청하는 것이 </a:t>
            </a:r>
            <a:endParaRPr lang="en-US" altLang="ko-KR" dirty="0"/>
          </a:p>
          <a:p>
            <a:pPr>
              <a:spcAft>
                <a:spcPts val="300"/>
              </a:spcAft>
            </a:pPr>
            <a:r>
              <a:rPr lang="ko-KR" altLang="en-US" dirty="0"/>
              <a:t>   새로운 시스템의 기본 원칙</a:t>
            </a:r>
            <a:endParaRPr lang="en-US" altLang="ko-KR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E3C0B8CB-3884-ECB5-5A41-CA96FC3A7C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8142A5B-241F-4620-9671-A7A83982CCBB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B62053A-5C4E-FEB5-2FD6-CBB924EDA4D2}"/>
              </a:ext>
            </a:extLst>
          </p:cNvPr>
          <p:cNvSpPr/>
          <p:nvPr/>
        </p:nvSpPr>
        <p:spPr>
          <a:xfrm>
            <a:off x="5189112" y="3223796"/>
            <a:ext cx="4381862" cy="353291"/>
          </a:xfrm>
          <a:prstGeom prst="rect">
            <a:avLst/>
          </a:prstGeom>
          <a:solidFill>
            <a:schemeClr val="accent2"/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평가 요청서</a:t>
            </a:r>
            <a:r>
              <a:rPr lang="en-US" altLang="ko-KR" sz="1400" b="1" dirty="0"/>
              <a:t>(</a:t>
            </a:r>
            <a:r>
              <a:rPr lang="en" altLang="ko-KR" sz="1400" b="1" dirty="0"/>
              <a:t>ERF) </a:t>
            </a:r>
            <a:r>
              <a:rPr lang="ko-KR" altLang="en-US" sz="1400" b="1" dirty="0"/>
              <a:t>작성</a:t>
            </a:r>
            <a:endParaRPr lang="ko-KR" altLang="en-US" sz="1400" b="1" spc="-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E2C9C5-7159-694D-7F67-F28D8FC8E9B3}"/>
              </a:ext>
            </a:extLst>
          </p:cNvPr>
          <p:cNvSpPr txBox="1"/>
          <p:nvPr/>
        </p:nvSpPr>
        <p:spPr>
          <a:xfrm>
            <a:off x="5189113" y="1559503"/>
            <a:ext cx="4381862" cy="1585671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</p:spPr>
        <p:txBody>
          <a:bodyPr wrap="square" lIns="180000" rIns="108000" rtlCol="0" anchor="ctr">
            <a:noAutofit/>
          </a:bodyPr>
          <a:lstStyle/>
          <a:p>
            <a:pPr marL="216000" indent="-21600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dirty="0"/>
              <a:t>피평가자는 자신의 성과에 대해 </a:t>
            </a:r>
            <a:endParaRPr lang="en-US" altLang="ko-KR" dirty="0"/>
          </a:p>
          <a:p>
            <a:pPr>
              <a:spcAft>
                <a:spcPts val="300"/>
              </a:spcAft>
            </a:pPr>
            <a:r>
              <a:rPr lang="ko-KR" altLang="en-US" dirty="0"/>
              <a:t>  실질적인 피드백을 줄 수 있는 사람들</a:t>
            </a:r>
            <a:endParaRPr lang="en-US" altLang="ko-KR" dirty="0"/>
          </a:p>
          <a:p>
            <a:pPr>
              <a:spcAft>
                <a:spcPts val="300"/>
              </a:spcAft>
            </a:pPr>
            <a:r>
              <a:rPr lang="ko-KR" altLang="en-US" dirty="0"/>
              <a:t>  을 직접 선정하여 평가 요청서</a:t>
            </a:r>
            <a:r>
              <a:rPr lang="en-US" altLang="ko-KR" dirty="0"/>
              <a:t>(</a:t>
            </a:r>
            <a:r>
              <a:rPr lang="en" altLang="ko-KR" dirty="0"/>
              <a:t>ERF)</a:t>
            </a:r>
            <a:r>
              <a:rPr lang="ko-KR" altLang="en-US" dirty="0" err="1"/>
              <a:t>를</a:t>
            </a:r>
            <a:r>
              <a:rPr lang="ko-KR" altLang="en-US" dirty="0"/>
              <a:t> </a:t>
            </a:r>
            <a:endParaRPr lang="en-US" altLang="ko-KR" dirty="0"/>
          </a:p>
          <a:p>
            <a:pPr>
              <a:spcAft>
                <a:spcPts val="300"/>
              </a:spcAft>
            </a:pPr>
            <a:r>
              <a:rPr lang="ko-KR" altLang="en-US" dirty="0"/>
              <a:t>  작성</a:t>
            </a:r>
            <a:endParaRPr lang="en-US" altLang="ko-KR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3E764AE-AA7B-95B3-A4A7-2BE2A96043DC}"/>
              </a:ext>
            </a:extLst>
          </p:cNvPr>
          <p:cNvSpPr/>
          <p:nvPr/>
        </p:nvSpPr>
        <p:spPr>
          <a:xfrm>
            <a:off x="571137" y="5636718"/>
            <a:ext cx="4381862" cy="353291"/>
          </a:xfrm>
          <a:prstGeom prst="rect">
            <a:avLst/>
          </a:prstGeom>
          <a:solidFill>
            <a:schemeClr val="accent2"/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자기 평가</a:t>
            </a:r>
            <a:r>
              <a:rPr lang="en-US" altLang="ko-KR" sz="1400" b="1" dirty="0"/>
              <a:t>(</a:t>
            </a:r>
            <a:r>
              <a:rPr lang="en" altLang="ko-KR" sz="1400" b="1" dirty="0"/>
              <a:t>Self-Assessment)</a:t>
            </a:r>
            <a:endParaRPr lang="ko-KR" altLang="en-US" sz="1400" b="1" spc="-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9C5513-0192-198E-25DD-1A7AEFC66383}"/>
              </a:ext>
            </a:extLst>
          </p:cNvPr>
          <p:cNvSpPr txBox="1"/>
          <p:nvPr/>
        </p:nvSpPr>
        <p:spPr>
          <a:xfrm>
            <a:off x="571138" y="3989299"/>
            <a:ext cx="4381862" cy="1585671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</p:spPr>
        <p:txBody>
          <a:bodyPr wrap="square" lIns="180000" rIns="108000" rtlCol="0" anchor="ctr">
            <a:noAutofit/>
          </a:bodyPr>
          <a:lstStyle/>
          <a:p>
            <a:pPr marL="216000" indent="-21600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dirty="0"/>
              <a:t>타인의 평가와 더불어 직원 본인도</a:t>
            </a:r>
            <a:endParaRPr lang="en-US" altLang="ko-KR" dirty="0"/>
          </a:p>
          <a:p>
            <a:pPr>
              <a:spcAft>
                <a:spcPts val="300"/>
              </a:spcAft>
            </a:pPr>
            <a:r>
              <a:rPr lang="ko-KR" altLang="en-US" dirty="0"/>
              <a:t>  스스로의 성과를 되돌아보는 자기 </a:t>
            </a:r>
            <a:endParaRPr lang="en-US" altLang="ko-KR" dirty="0"/>
          </a:p>
          <a:p>
            <a:pPr>
              <a:spcAft>
                <a:spcPts val="300"/>
              </a:spcAft>
            </a:pPr>
            <a:r>
              <a:rPr lang="ko-KR" altLang="en-US" dirty="0"/>
              <a:t>  평가를 완료</a:t>
            </a:r>
            <a:endParaRPr lang="en-US" altLang="ko-KR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96C9B09-1AE6-85FF-1235-4FA91241DAE8}"/>
              </a:ext>
            </a:extLst>
          </p:cNvPr>
          <p:cNvSpPr/>
          <p:nvPr/>
        </p:nvSpPr>
        <p:spPr>
          <a:xfrm>
            <a:off x="5189112" y="5636718"/>
            <a:ext cx="4381862" cy="353291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자기 평가의 의의</a:t>
            </a:r>
            <a:endParaRPr lang="ko-KR" altLang="en-US" sz="1400" b="1" spc="-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AD692F-5935-714E-F19A-E1F1B4D1E037}"/>
              </a:ext>
            </a:extLst>
          </p:cNvPr>
          <p:cNvSpPr txBox="1"/>
          <p:nvPr/>
        </p:nvSpPr>
        <p:spPr>
          <a:xfrm>
            <a:off x="5189113" y="3989299"/>
            <a:ext cx="4381862" cy="1585671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</p:spPr>
        <p:txBody>
          <a:bodyPr wrap="square" lIns="180000" rIns="108000" rtlCol="0" anchor="ctr">
            <a:noAutofit/>
          </a:bodyPr>
          <a:lstStyle/>
          <a:p>
            <a:pPr marL="216000" indent="-21600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dirty="0"/>
              <a:t>자기평가는 직원이 자신의 관점을</a:t>
            </a:r>
            <a:endParaRPr lang="en-US" altLang="ko-KR" dirty="0"/>
          </a:p>
          <a:p>
            <a:pPr>
              <a:spcAft>
                <a:spcPts val="300"/>
              </a:spcAft>
            </a:pPr>
            <a:r>
              <a:rPr lang="ko-KR" altLang="en-US" dirty="0"/>
              <a:t>   최종 평가에 반영할 수 있는 중요한 </a:t>
            </a:r>
            <a:endParaRPr lang="en-US" altLang="ko-KR" dirty="0"/>
          </a:p>
          <a:p>
            <a:pPr>
              <a:spcAft>
                <a:spcPts val="300"/>
              </a:spcAft>
            </a:pPr>
            <a:r>
              <a:rPr lang="ko-KR" altLang="en-US" dirty="0"/>
              <a:t>   개발 도구로 간주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51054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A5695-C62E-A955-9077-03F4954CA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195F3C-01F1-3B44-3847-F1AFD706C1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spc="-100" dirty="0"/>
              <a:t>      4</a:t>
            </a:r>
            <a:r>
              <a:rPr lang="ko-KR" altLang="en-US" spc="-100" dirty="0"/>
              <a:t>가지 주요 평가 기준</a:t>
            </a:r>
            <a:r>
              <a:rPr lang="en-US" altLang="ko-KR" spc="-100" dirty="0"/>
              <a:t>(Evaluation Criteria)</a:t>
            </a:r>
            <a:endParaRPr lang="ko-KR" altLang="en-US" spc="-1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9CA0BE5-DECC-89CE-8FEA-96CC9EAA82C3}"/>
              </a:ext>
            </a:extLst>
          </p:cNvPr>
          <p:cNvSpPr/>
          <p:nvPr/>
        </p:nvSpPr>
        <p:spPr>
          <a:xfrm>
            <a:off x="211138" y="767550"/>
            <a:ext cx="360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4</a:t>
            </a:r>
            <a:endParaRPr lang="ko-KR" altLang="en-US" sz="2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54D3D92-D490-3876-194C-5CE4F34C32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모건 스탠리 </a:t>
            </a:r>
            <a:r>
              <a:rPr lang="en-US" altLang="ko-KR" dirty="0"/>
              <a:t>360</a:t>
            </a:r>
            <a:r>
              <a:rPr lang="ko-KR" altLang="en-US" dirty="0"/>
              <a:t>도 평가 프로세스</a:t>
            </a: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8D95C4A8-A4B6-A1F0-97A0-B55A927CF4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8142A5B-241F-4620-9671-A7A83982CCBB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35150B5-FB04-C122-62A0-AD79335EF793}"/>
              </a:ext>
            </a:extLst>
          </p:cNvPr>
          <p:cNvGrpSpPr/>
          <p:nvPr/>
        </p:nvGrpSpPr>
        <p:grpSpPr>
          <a:xfrm>
            <a:off x="282058" y="1442371"/>
            <a:ext cx="9469079" cy="4432335"/>
            <a:chOff x="274320" y="868680"/>
            <a:chExt cx="8595360" cy="4023360"/>
          </a:xfrm>
        </p:grpSpPr>
        <p:sp>
          <p:nvSpPr>
            <p:cNvPr id="12" name="Shape 2">
              <a:extLst>
                <a:ext uri="{FF2B5EF4-FFF2-40B4-BE49-F238E27FC236}">
                  <a16:creationId xmlns:a16="http://schemas.microsoft.com/office/drawing/2014/main" id="{5A682B5E-A021-F9FE-647C-090870F2F6E6}"/>
                </a:ext>
              </a:extLst>
            </p:cNvPr>
            <p:cNvSpPr/>
            <p:nvPr/>
          </p:nvSpPr>
          <p:spPr>
            <a:xfrm>
              <a:off x="274320" y="868680"/>
              <a:ext cx="4160520" cy="19202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4" name="Shape 3">
              <a:extLst>
                <a:ext uri="{FF2B5EF4-FFF2-40B4-BE49-F238E27FC236}">
                  <a16:creationId xmlns:a16="http://schemas.microsoft.com/office/drawing/2014/main" id="{8113D348-2A6B-B715-82CD-9C4A75071688}"/>
                </a:ext>
              </a:extLst>
            </p:cNvPr>
            <p:cNvSpPr/>
            <p:nvPr/>
          </p:nvSpPr>
          <p:spPr>
            <a:xfrm>
              <a:off x="274320" y="868680"/>
              <a:ext cx="73152" cy="1920240"/>
            </a:xfrm>
            <a:prstGeom prst="rect">
              <a:avLst/>
            </a:prstGeom>
            <a:solidFill>
              <a:srgbClr val="2471A3"/>
            </a:solidFill>
            <a:ln/>
          </p:spPr>
        </p:sp>
        <p:sp>
          <p:nvSpPr>
            <p:cNvPr id="15" name="Shape 4">
              <a:extLst>
                <a:ext uri="{FF2B5EF4-FFF2-40B4-BE49-F238E27FC236}">
                  <a16:creationId xmlns:a16="http://schemas.microsoft.com/office/drawing/2014/main" id="{906591F9-1403-8B1E-16F9-EBD4C7DD7994}"/>
                </a:ext>
              </a:extLst>
            </p:cNvPr>
            <p:cNvSpPr/>
            <p:nvPr/>
          </p:nvSpPr>
          <p:spPr>
            <a:xfrm>
              <a:off x="438912" y="1005840"/>
              <a:ext cx="438912" cy="438912"/>
            </a:xfrm>
            <a:prstGeom prst="ellipse">
              <a:avLst/>
            </a:prstGeom>
            <a:solidFill>
              <a:srgbClr val="2471A3"/>
            </a:solidFill>
            <a:ln/>
          </p:spPr>
        </p:sp>
        <p:sp>
          <p:nvSpPr>
            <p:cNvPr id="16" name="Text 5">
              <a:extLst>
                <a:ext uri="{FF2B5EF4-FFF2-40B4-BE49-F238E27FC236}">
                  <a16:creationId xmlns:a16="http://schemas.microsoft.com/office/drawing/2014/main" id="{214C8A3F-7924-D715-218B-23310C71FED6}"/>
                </a:ext>
              </a:extLst>
            </p:cNvPr>
            <p:cNvSpPr/>
            <p:nvPr/>
          </p:nvSpPr>
          <p:spPr>
            <a:xfrm>
              <a:off x="438912" y="1005840"/>
              <a:ext cx="438912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Calibri" pitchFamily="34" charset="-120"/>
                </a:rPr>
                <a:t>01</a:t>
              </a:r>
              <a:endParaRPr lang="en-US" sz="11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17" name="Text 6">
              <a:extLst>
                <a:ext uri="{FF2B5EF4-FFF2-40B4-BE49-F238E27FC236}">
                  <a16:creationId xmlns:a16="http://schemas.microsoft.com/office/drawing/2014/main" id="{62B914D0-4795-DC02-1381-6032194C8507}"/>
                </a:ext>
              </a:extLst>
            </p:cNvPr>
            <p:cNvSpPr/>
            <p:nvPr/>
          </p:nvSpPr>
          <p:spPr>
            <a:xfrm>
              <a:off x="960120" y="1005840"/>
              <a:ext cx="333756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1E276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Georgia" pitchFamily="34" charset="-120"/>
                </a:rPr>
                <a:t>시장/전문 기술</a:t>
              </a:r>
              <a:endParaRPr lang="en-US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18" name="Text 7">
              <a:extLst>
                <a:ext uri="{FF2B5EF4-FFF2-40B4-BE49-F238E27FC236}">
                  <a16:creationId xmlns:a16="http://schemas.microsoft.com/office/drawing/2014/main" id="{F268890E-2AE5-B65D-BFB0-923A798830C6}"/>
                </a:ext>
              </a:extLst>
            </p:cNvPr>
            <p:cNvSpPr/>
            <p:nvPr/>
          </p:nvSpPr>
          <p:spPr>
            <a:xfrm>
              <a:off x="438912" y="1463040"/>
              <a:ext cx="3840480" cy="12344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342900" indent="-342900">
                <a:spcAft>
                  <a:spcPts val="3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4A5568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Calibri" pitchFamily="34" charset="-120"/>
                </a:rPr>
                <a:t>시장 및 제품 지식</a:t>
              </a:r>
              <a:endParaRPr lang="en-US" sz="14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 marL="342900" indent="-342900">
                <a:spcAft>
                  <a:spcPts val="3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4A5568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Calibri" pitchFamily="34" charset="-120"/>
                </a:rPr>
                <a:t>분석·정량·문제 해결 능력</a:t>
              </a:r>
              <a:endParaRPr lang="en-US" sz="14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 marL="342900" indent="-342900">
                <a:spcAft>
                  <a:spcPts val="3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4A5568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Calibri" pitchFamily="34" charset="-120"/>
                </a:rPr>
                <a:t>창의성 및 주도성</a:t>
              </a:r>
              <a:endParaRPr lang="en-US" sz="14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 marL="342900" indent="-342900">
                <a:spcAft>
                  <a:spcPts val="3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4A5568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Calibri" pitchFamily="34" charset="-120"/>
                </a:rPr>
                <a:t>판단력·의사결정 능력</a:t>
              </a:r>
              <a:endParaRPr lang="en-US" sz="14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 marL="342900" indent="-342900">
                <a:spcAft>
                  <a:spcPts val="3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4A5568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Calibri" pitchFamily="34" charset="-120"/>
                </a:rPr>
                <a:t>구두·서면 의사소통</a:t>
              </a:r>
              <a:endParaRPr lang="en-US" sz="14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19" name="Shape 8">
              <a:extLst>
                <a:ext uri="{FF2B5EF4-FFF2-40B4-BE49-F238E27FC236}">
                  <a16:creationId xmlns:a16="http://schemas.microsoft.com/office/drawing/2014/main" id="{EB387941-80EE-7AB1-1088-E39B9D19D369}"/>
                </a:ext>
              </a:extLst>
            </p:cNvPr>
            <p:cNvSpPr/>
            <p:nvPr/>
          </p:nvSpPr>
          <p:spPr>
            <a:xfrm>
              <a:off x="4709160" y="868680"/>
              <a:ext cx="4160520" cy="19202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0" name="Shape 9">
              <a:extLst>
                <a:ext uri="{FF2B5EF4-FFF2-40B4-BE49-F238E27FC236}">
                  <a16:creationId xmlns:a16="http://schemas.microsoft.com/office/drawing/2014/main" id="{85108AD3-0D11-BD0D-40F9-1B140CFE2D1A}"/>
                </a:ext>
              </a:extLst>
            </p:cNvPr>
            <p:cNvSpPr/>
            <p:nvPr/>
          </p:nvSpPr>
          <p:spPr>
            <a:xfrm>
              <a:off x="4709160" y="868680"/>
              <a:ext cx="73152" cy="1920240"/>
            </a:xfrm>
            <a:prstGeom prst="rect">
              <a:avLst/>
            </a:prstGeom>
            <a:solidFill>
              <a:srgbClr val="1E8449"/>
            </a:solidFill>
            <a:ln/>
          </p:spPr>
        </p:sp>
        <p:sp>
          <p:nvSpPr>
            <p:cNvPr id="21" name="Shape 10">
              <a:extLst>
                <a:ext uri="{FF2B5EF4-FFF2-40B4-BE49-F238E27FC236}">
                  <a16:creationId xmlns:a16="http://schemas.microsoft.com/office/drawing/2014/main" id="{D01D39A1-FD65-08B4-BA36-1CB823F275E1}"/>
                </a:ext>
              </a:extLst>
            </p:cNvPr>
            <p:cNvSpPr/>
            <p:nvPr/>
          </p:nvSpPr>
          <p:spPr>
            <a:xfrm>
              <a:off x="4873752" y="1005840"/>
              <a:ext cx="438912" cy="438912"/>
            </a:xfrm>
            <a:prstGeom prst="ellipse">
              <a:avLst/>
            </a:prstGeom>
            <a:solidFill>
              <a:srgbClr val="1E8449"/>
            </a:solidFill>
            <a:ln/>
          </p:spPr>
        </p:sp>
        <p:sp>
          <p:nvSpPr>
            <p:cNvPr id="22" name="Text 11">
              <a:extLst>
                <a:ext uri="{FF2B5EF4-FFF2-40B4-BE49-F238E27FC236}">
                  <a16:creationId xmlns:a16="http://schemas.microsoft.com/office/drawing/2014/main" id="{EF66021C-23D3-8DF7-053A-1A212EC299C6}"/>
                </a:ext>
              </a:extLst>
            </p:cNvPr>
            <p:cNvSpPr/>
            <p:nvPr/>
          </p:nvSpPr>
          <p:spPr>
            <a:xfrm>
              <a:off x="4873752" y="1005840"/>
              <a:ext cx="438912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Calibri" pitchFamily="34" charset="-120"/>
                </a:rPr>
                <a:t>02</a:t>
              </a:r>
              <a:endParaRPr lang="en-US" sz="11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23" name="Text 12">
              <a:extLst>
                <a:ext uri="{FF2B5EF4-FFF2-40B4-BE49-F238E27FC236}">
                  <a16:creationId xmlns:a16="http://schemas.microsoft.com/office/drawing/2014/main" id="{7AE26296-0BC3-020B-50EF-88C3C5D1A0FB}"/>
                </a:ext>
              </a:extLst>
            </p:cNvPr>
            <p:cNvSpPr/>
            <p:nvPr/>
          </p:nvSpPr>
          <p:spPr>
            <a:xfrm>
              <a:off x="5394960" y="1005840"/>
              <a:ext cx="333756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1E276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Georgia" pitchFamily="34" charset="-120"/>
                </a:rPr>
                <a:t>관리 및 리더십</a:t>
              </a:r>
              <a:endParaRPr lang="en-US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24" name="Text 13">
              <a:extLst>
                <a:ext uri="{FF2B5EF4-FFF2-40B4-BE49-F238E27FC236}">
                  <a16:creationId xmlns:a16="http://schemas.microsoft.com/office/drawing/2014/main" id="{D56FF2A2-D5F5-FA56-3034-D7E78B763CEA}"/>
                </a:ext>
              </a:extLst>
            </p:cNvPr>
            <p:cNvSpPr/>
            <p:nvPr/>
          </p:nvSpPr>
          <p:spPr>
            <a:xfrm>
              <a:off x="4873752" y="1463040"/>
              <a:ext cx="3840480" cy="12344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342900" indent="-342900">
                <a:spcAft>
                  <a:spcPts val="3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4A5568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Calibri" pitchFamily="34" charset="-120"/>
                </a:rPr>
                <a:t>인력 관리 능력</a:t>
              </a:r>
              <a:endParaRPr lang="en-US" sz="14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 marL="342900" indent="-342900">
                <a:spcAft>
                  <a:spcPts val="3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4A5568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Calibri" pitchFamily="34" charset="-120"/>
                </a:rPr>
                <a:t>글로벌 비즈니스 지향성</a:t>
              </a:r>
              <a:endParaRPr lang="en-US" sz="14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 marL="342900" indent="-342900">
                <a:spcAft>
                  <a:spcPts val="3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4A5568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Calibri" pitchFamily="34" charset="-120"/>
                </a:rPr>
                <a:t>평가·개발·코칭 능력</a:t>
              </a:r>
              <a:endParaRPr lang="en-US" sz="14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 marL="342900" indent="-342900">
                <a:spcAft>
                  <a:spcPts val="3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4A5568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Calibri" pitchFamily="34" charset="-120"/>
                </a:rPr>
                <a:t>다양성 협력 및 공정성</a:t>
              </a:r>
              <a:endParaRPr lang="en-US" sz="14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 marL="342900" indent="-342900">
                <a:spcAft>
                  <a:spcPts val="3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4A5568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Calibri" pitchFamily="34" charset="-120"/>
                </a:rPr>
                <a:t>자원·시간 관리</a:t>
              </a:r>
              <a:endParaRPr lang="en-US" sz="14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25" name="Shape 14">
              <a:extLst>
                <a:ext uri="{FF2B5EF4-FFF2-40B4-BE49-F238E27FC236}">
                  <a16:creationId xmlns:a16="http://schemas.microsoft.com/office/drawing/2014/main" id="{B25BE3AE-AC81-0313-A24C-16DDBF1C3AF4}"/>
                </a:ext>
              </a:extLst>
            </p:cNvPr>
            <p:cNvSpPr/>
            <p:nvPr/>
          </p:nvSpPr>
          <p:spPr>
            <a:xfrm>
              <a:off x="274320" y="2971800"/>
              <a:ext cx="4160520" cy="19202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6" name="Shape 15">
              <a:extLst>
                <a:ext uri="{FF2B5EF4-FFF2-40B4-BE49-F238E27FC236}">
                  <a16:creationId xmlns:a16="http://schemas.microsoft.com/office/drawing/2014/main" id="{CF786CDD-CDA8-8157-FDE9-0862C54091E5}"/>
                </a:ext>
              </a:extLst>
            </p:cNvPr>
            <p:cNvSpPr/>
            <p:nvPr/>
          </p:nvSpPr>
          <p:spPr>
            <a:xfrm>
              <a:off x="274320" y="2971800"/>
              <a:ext cx="73152" cy="1920240"/>
            </a:xfrm>
            <a:prstGeom prst="rect">
              <a:avLst/>
            </a:prstGeom>
            <a:solidFill>
              <a:srgbClr val="C0392B"/>
            </a:solidFill>
            <a:ln/>
          </p:spPr>
        </p:sp>
        <p:sp>
          <p:nvSpPr>
            <p:cNvPr id="27" name="Shape 16">
              <a:extLst>
                <a:ext uri="{FF2B5EF4-FFF2-40B4-BE49-F238E27FC236}">
                  <a16:creationId xmlns:a16="http://schemas.microsoft.com/office/drawing/2014/main" id="{F613E35C-44EC-C4F3-B718-212B3A798E70}"/>
                </a:ext>
              </a:extLst>
            </p:cNvPr>
            <p:cNvSpPr/>
            <p:nvPr/>
          </p:nvSpPr>
          <p:spPr>
            <a:xfrm>
              <a:off x="438912" y="3108960"/>
              <a:ext cx="438912" cy="438912"/>
            </a:xfrm>
            <a:prstGeom prst="ellipse">
              <a:avLst/>
            </a:prstGeom>
            <a:solidFill>
              <a:srgbClr val="C0392B"/>
            </a:solidFill>
            <a:ln/>
          </p:spPr>
        </p:sp>
        <p:sp>
          <p:nvSpPr>
            <p:cNvPr id="28" name="Text 17">
              <a:extLst>
                <a:ext uri="{FF2B5EF4-FFF2-40B4-BE49-F238E27FC236}">
                  <a16:creationId xmlns:a16="http://schemas.microsoft.com/office/drawing/2014/main" id="{49E468D3-4D29-A91F-DFB4-ACB29EE8D049}"/>
                </a:ext>
              </a:extLst>
            </p:cNvPr>
            <p:cNvSpPr/>
            <p:nvPr/>
          </p:nvSpPr>
          <p:spPr>
            <a:xfrm>
              <a:off x="438912" y="3108960"/>
              <a:ext cx="438912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Calibri" pitchFamily="34" charset="-120"/>
                </a:rPr>
                <a:t>03</a:t>
              </a:r>
              <a:endParaRPr lang="en-US" sz="11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29" name="Text 18">
              <a:extLst>
                <a:ext uri="{FF2B5EF4-FFF2-40B4-BE49-F238E27FC236}">
                  <a16:creationId xmlns:a16="http://schemas.microsoft.com/office/drawing/2014/main" id="{1CD0C88B-5194-0F7C-27B3-6C5BB3AB2AAF}"/>
                </a:ext>
              </a:extLst>
            </p:cNvPr>
            <p:cNvSpPr/>
            <p:nvPr/>
          </p:nvSpPr>
          <p:spPr>
            <a:xfrm>
              <a:off x="960120" y="3108960"/>
              <a:ext cx="333756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1E276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Georgia" pitchFamily="34" charset="-120"/>
                </a:rPr>
                <a:t>상업적 지향성</a:t>
              </a:r>
              <a:endParaRPr lang="en-US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0" name="Text 19">
              <a:extLst>
                <a:ext uri="{FF2B5EF4-FFF2-40B4-BE49-F238E27FC236}">
                  <a16:creationId xmlns:a16="http://schemas.microsoft.com/office/drawing/2014/main" id="{4D023B93-1E88-E841-2E43-79CC7158E80B}"/>
                </a:ext>
              </a:extLst>
            </p:cNvPr>
            <p:cNvSpPr/>
            <p:nvPr/>
          </p:nvSpPr>
          <p:spPr>
            <a:xfrm>
              <a:off x="438912" y="3566160"/>
              <a:ext cx="3840480" cy="12344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342900" indent="-342900">
                <a:spcAft>
                  <a:spcPts val="3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4A5568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Calibri" pitchFamily="34" charset="-120"/>
                </a:rPr>
                <a:t>고객 관계 관리</a:t>
              </a:r>
              <a:endParaRPr lang="en-US" sz="14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 marL="342900" indent="-342900">
                <a:spcAft>
                  <a:spcPts val="3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4A5568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Calibri" pitchFamily="34" charset="-120"/>
                </a:rPr>
                <a:t>판매 및 교차 판매 능력</a:t>
              </a:r>
              <a:endParaRPr lang="en-US" sz="14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 marL="342900" indent="-342900">
                <a:spcAft>
                  <a:spcPts val="3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4A5568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Calibri" pitchFamily="34" charset="-120"/>
                </a:rPr>
                <a:t>상업적 감각·수익 기여</a:t>
              </a:r>
              <a:endParaRPr lang="en-US" sz="14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 marL="342900" indent="-342900">
                <a:spcAft>
                  <a:spcPts val="3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4A5568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Calibri" pitchFamily="34" charset="-120"/>
                </a:rPr>
                <a:t>위험/수익 균형 평가</a:t>
              </a:r>
              <a:endParaRPr lang="en-US" sz="14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 marL="342900" indent="-342900">
                <a:spcAft>
                  <a:spcPts val="3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4A5568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Calibri" pitchFamily="34" charset="-120"/>
                </a:rPr>
                <a:t>거래 실행·프로젝트 관리</a:t>
              </a:r>
              <a:endParaRPr lang="en-US" sz="14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1" name="Shape 20">
              <a:extLst>
                <a:ext uri="{FF2B5EF4-FFF2-40B4-BE49-F238E27FC236}">
                  <a16:creationId xmlns:a16="http://schemas.microsoft.com/office/drawing/2014/main" id="{555E1494-9A51-DFDB-6924-BA068E5B38CD}"/>
                </a:ext>
              </a:extLst>
            </p:cNvPr>
            <p:cNvSpPr/>
            <p:nvPr/>
          </p:nvSpPr>
          <p:spPr>
            <a:xfrm>
              <a:off x="4709160" y="2971800"/>
              <a:ext cx="4160520" cy="19202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32" name="Shape 21">
              <a:extLst>
                <a:ext uri="{FF2B5EF4-FFF2-40B4-BE49-F238E27FC236}">
                  <a16:creationId xmlns:a16="http://schemas.microsoft.com/office/drawing/2014/main" id="{56023038-CE58-9767-AF32-FCE7C016E51F}"/>
                </a:ext>
              </a:extLst>
            </p:cNvPr>
            <p:cNvSpPr/>
            <p:nvPr/>
          </p:nvSpPr>
          <p:spPr>
            <a:xfrm>
              <a:off x="4709160" y="2971800"/>
              <a:ext cx="73152" cy="1920240"/>
            </a:xfrm>
            <a:prstGeom prst="rect">
              <a:avLst/>
            </a:prstGeom>
            <a:solidFill>
              <a:srgbClr val="7D3C98"/>
            </a:solidFill>
            <a:ln/>
          </p:spPr>
        </p:sp>
        <p:sp>
          <p:nvSpPr>
            <p:cNvPr id="33" name="Shape 22">
              <a:extLst>
                <a:ext uri="{FF2B5EF4-FFF2-40B4-BE49-F238E27FC236}">
                  <a16:creationId xmlns:a16="http://schemas.microsoft.com/office/drawing/2014/main" id="{A195BEF7-6C12-A5C0-4864-B28FA0E9D1C8}"/>
                </a:ext>
              </a:extLst>
            </p:cNvPr>
            <p:cNvSpPr/>
            <p:nvPr/>
          </p:nvSpPr>
          <p:spPr>
            <a:xfrm>
              <a:off x="4873752" y="3108960"/>
              <a:ext cx="438912" cy="438912"/>
            </a:xfrm>
            <a:prstGeom prst="ellipse">
              <a:avLst/>
            </a:prstGeom>
            <a:solidFill>
              <a:srgbClr val="7D3C98"/>
            </a:solidFill>
            <a:ln/>
          </p:spPr>
        </p:sp>
        <p:sp>
          <p:nvSpPr>
            <p:cNvPr id="34" name="Text 23">
              <a:extLst>
                <a:ext uri="{FF2B5EF4-FFF2-40B4-BE49-F238E27FC236}">
                  <a16:creationId xmlns:a16="http://schemas.microsoft.com/office/drawing/2014/main" id="{A3B97EFA-A3C9-0E03-CC5F-4337C0247369}"/>
                </a:ext>
              </a:extLst>
            </p:cNvPr>
            <p:cNvSpPr/>
            <p:nvPr/>
          </p:nvSpPr>
          <p:spPr>
            <a:xfrm>
              <a:off x="4873752" y="3108960"/>
              <a:ext cx="438912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Calibri" pitchFamily="34" charset="-120"/>
                </a:rPr>
                <a:t>04</a:t>
              </a:r>
              <a:endParaRPr lang="en-US" sz="11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5" name="Text 24">
              <a:extLst>
                <a:ext uri="{FF2B5EF4-FFF2-40B4-BE49-F238E27FC236}">
                  <a16:creationId xmlns:a16="http://schemas.microsoft.com/office/drawing/2014/main" id="{4BEF7986-B9AB-4CCE-3A03-9ACDD608AEB6}"/>
                </a:ext>
              </a:extLst>
            </p:cNvPr>
            <p:cNvSpPr/>
            <p:nvPr/>
          </p:nvSpPr>
          <p:spPr>
            <a:xfrm>
              <a:off x="5394960" y="3108960"/>
              <a:ext cx="333756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1E276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Georgia" pitchFamily="34" charset="-120"/>
                </a:rPr>
                <a:t>팀워크/회사 기여</a:t>
              </a:r>
              <a:endParaRPr lang="en-US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6" name="Text 25">
              <a:extLst>
                <a:ext uri="{FF2B5EF4-FFF2-40B4-BE49-F238E27FC236}">
                  <a16:creationId xmlns:a16="http://schemas.microsoft.com/office/drawing/2014/main" id="{693880DD-4C56-78AB-5DC9-3E9DC18A1C8B}"/>
                </a:ext>
              </a:extLst>
            </p:cNvPr>
            <p:cNvSpPr/>
            <p:nvPr/>
          </p:nvSpPr>
          <p:spPr>
            <a:xfrm>
              <a:off x="4873752" y="3566160"/>
              <a:ext cx="3840480" cy="12344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342900" indent="-342900">
                <a:spcAft>
                  <a:spcPts val="3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4A5568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Calibri" pitchFamily="34" charset="-120"/>
                </a:rPr>
                <a:t>팀 구성·이끌기·참여</a:t>
              </a:r>
              <a:endParaRPr lang="en-US" sz="14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 marL="342900" indent="-342900">
                <a:spcAft>
                  <a:spcPts val="3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4A5568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Calibri" pitchFamily="34" charset="-120"/>
                </a:rPr>
                <a:t>채용 및 내부 태스크포스</a:t>
              </a:r>
              <a:endParaRPr lang="en-US" sz="14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 marL="342900" indent="-342900">
                <a:spcAft>
                  <a:spcPts val="3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4A5568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Calibri" pitchFamily="34" charset="-120"/>
                </a:rPr>
                <a:t>부서 간 프로젝트 참여</a:t>
              </a:r>
              <a:endParaRPr lang="en-US" sz="14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 marL="342900" indent="-342900">
                <a:spcAft>
                  <a:spcPts val="300"/>
                </a:spcAft>
                <a:buSzPct val="100000"/>
                <a:buChar char="•"/>
              </a:pPr>
              <a:r>
                <a:rPr lang="en-US" sz="1400" dirty="0">
                  <a:solidFill>
                    <a:srgbClr val="4A5568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Calibri" pitchFamily="34" charset="-120"/>
                </a:rPr>
                <a:t>내부·외부 커뮤니티 활동</a:t>
              </a:r>
              <a:endParaRPr lang="en-US" sz="14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28892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64664-1CF7-956D-7345-A23C533AC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4CE0F3-D293-621B-1093-18AF765D69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spc="-100" dirty="0"/>
              <a:t>      </a:t>
            </a:r>
            <a:r>
              <a:rPr lang="ko-KR" altLang="en-US" spc="-100" dirty="0"/>
              <a:t>평가 진행 및 피드백 프로세스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5E3B0F8-37EA-95A2-61F0-7AEFBA19E54B}"/>
              </a:ext>
            </a:extLst>
          </p:cNvPr>
          <p:cNvSpPr/>
          <p:nvPr/>
        </p:nvSpPr>
        <p:spPr>
          <a:xfrm>
            <a:off x="211138" y="767550"/>
            <a:ext cx="360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5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C7D10F4-D415-A7BF-F34F-3250A88F17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모건 스탠리 </a:t>
            </a:r>
            <a:r>
              <a:rPr lang="en-US" altLang="ko-KR" dirty="0"/>
              <a:t>360</a:t>
            </a:r>
            <a:r>
              <a:rPr lang="ko-KR" altLang="en-US" dirty="0"/>
              <a:t>도 평가 프로세스</a:t>
            </a: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9DD16123-7045-4D36-F896-1434E1A5BA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8142A5B-241F-4620-9671-A7A83982CCBB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D0766F6-C20F-FF3E-A6A5-9E1A2DCF6FD6}"/>
              </a:ext>
            </a:extLst>
          </p:cNvPr>
          <p:cNvGrpSpPr/>
          <p:nvPr/>
        </p:nvGrpSpPr>
        <p:grpSpPr>
          <a:xfrm>
            <a:off x="798321" y="1617467"/>
            <a:ext cx="8309358" cy="4307344"/>
            <a:chOff x="1332295" y="1801996"/>
            <a:chExt cx="7241410" cy="3753749"/>
          </a:xfrm>
        </p:grpSpPr>
        <p:pic>
          <p:nvPicPr>
            <p:cNvPr id="2052" name="Picture 4">
              <a:extLst>
                <a:ext uri="{FF2B5EF4-FFF2-40B4-BE49-F238E27FC236}">
                  <a16:creationId xmlns:a16="http://schemas.microsoft.com/office/drawing/2014/main" id="{D1D46191-6E69-7F8C-F59D-BBA07BBB36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2295" y="1801996"/>
              <a:ext cx="7241410" cy="37537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1927F5C-E744-D8A4-07A4-011D50A79AD2}"/>
                </a:ext>
              </a:extLst>
            </p:cNvPr>
            <p:cNvSpPr/>
            <p:nvPr/>
          </p:nvSpPr>
          <p:spPr>
            <a:xfrm>
              <a:off x="7153835" y="5120640"/>
              <a:ext cx="1419870" cy="3012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253351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E3D39-B6A0-21C2-D244-90121AFB6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D331E9-53D6-BB55-2245-6546EBB7D3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spc="-100" dirty="0"/>
              <a:t>      </a:t>
            </a:r>
            <a:r>
              <a:rPr lang="ko-KR" altLang="en-US" spc="-100" dirty="0"/>
              <a:t>시스템의 성과와 한계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2D8CE5A-B8CB-0D3D-7B32-C30DE0FCA521}"/>
              </a:ext>
            </a:extLst>
          </p:cNvPr>
          <p:cNvSpPr/>
          <p:nvPr/>
        </p:nvSpPr>
        <p:spPr>
          <a:xfrm>
            <a:off x="211138" y="767550"/>
            <a:ext cx="360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6</a:t>
            </a:r>
            <a:endParaRPr lang="ko-KR" altLang="en-US" sz="2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DB79400-6CD7-5240-5230-AAC764A84A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모건 스탠리 </a:t>
            </a:r>
            <a:r>
              <a:rPr lang="en-US" altLang="ko-KR" dirty="0"/>
              <a:t>360</a:t>
            </a:r>
            <a:r>
              <a:rPr lang="ko-KR" altLang="en-US" dirty="0"/>
              <a:t>도 평가 프로세스</a:t>
            </a: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13312ECF-7903-BDA8-72E6-170DA7396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8142A5B-241F-4620-9671-A7A83982CCBB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48A5DAF-3B97-B494-B3E2-598EFFEE2A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7401695"/>
              </p:ext>
            </p:extLst>
          </p:nvPr>
        </p:nvGraphicFramePr>
        <p:xfrm>
          <a:off x="210975" y="2133601"/>
          <a:ext cx="4681538" cy="4363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301">
                  <a:extLst>
                    <a:ext uri="{9D8B030D-6E8A-4147-A177-3AD203B41FA5}">
                      <a16:colId xmlns:a16="http://schemas.microsoft.com/office/drawing/2014/main" val="427325384"/>
                    </a:ext>
                  </a:extLst>
                </a:gridCol>
                <a:gridCol w="3579237">
                  <a:extLst>
                    <a:ext uri="{9D8B030D-6E8A-4147-A177-3AD203B41FA5}">
                      <a16:colId xmlns:a16="http://schemas.microsoft.com/office/drawing/2014/main" val="869419070"/>
                    </a:ext>
                  </a:extLst>
                </a:gridCol>
              </a:tblGrid>
              <a:tr h="2842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pc="-50" baseline="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pc="-50" baseline="0" dirty="0">
                          <a:latin typeface="+mn-ea"/>
                          <a:ea typeface="+mn-ea"/>
                        </a:rPr>
                        <a:t>세부사항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153629"/>
                  </a:ext>
                </a:extLst>
              </a:tr>
              <a:tr h="18306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spc="-50" baseline="0" dirty="0">
                          <a:latin typeface="+mn-ea"/>
                          <a:ea typeface="+mn-ea"/>
                        </a:rPr>
                        <a:t>객관성</a:t>
                      </a:r>
                      <a:endParaRPr lang="en-US" altLang="ko-KR" sz="1400" b="1" spc="-50" baseline="0" dirty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400" b="1" spc="-50" baseline="0" dirty="0">
                          <a:latin typeface="+mn-ea"/>
                          <a:ea typeface="+mn-ea"/>
                        </a:rPr>
                        <a:t>향상</a:t>
                      </a:r>
                      <a:endParaRPr lang="en-US" altLang="ko-KR" sz="1400" b="1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/>
                        <a:t>모든 하급자를 한꺼번에 구두로 평가하던 과거의 </a:t>
                      </a:r>
                      <a:r>
                        <a:rPr lang="en-US" altLang="ko-KR" sz="1400" dirty="0"/>
                        <a:t>'</a:t>
                      </a:r>
                      <a:r>
                        <a:rPr lang="ko-KR" altLang="en-US" sz="1400" dirty="0"/>
                        <a:t>사운드 바이트</a:t>
                      </a:r>
                      <a:r>
                        <a:rPr lang="en-US" altLang="ko-KR" sz="1400" dirty="0"/>
                        <a:t>(</a:t>
                      </a:r>
                      <a:r>
                        <a:rPr lang="en" altLang="ko-KR" sz="1400" dirty="0"/>
                        <a:t>sound-bite)'</a:t>
                      </a:r>
                      <a:r>
                        <a:rPr lang="ko-KR" altLang="en-US" sz="1400" dirty="0"/>
                        <a:t>식 평가에서 벗어나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방대한 데이터와 서면 형식을 통해 공정성과 객관성을 높였다는 폭넓은 공감대가 형성</a:t>
                      </a:r>
                      <a:endParaRPr lang="ko-KR" altLang="en-US" sz="14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5760876"/>
                  </a:ext>
                </a:extLst>
              </a:tr>
              <a:tr h="22285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spc="-50" baseline="0" dirty="0">
                          <a:latin typeface="+mn-ea"/>
                          <a:ea typeface="+mn-ea"/>
                        </a:rPr>
                        <a:t>자기홍보</a:t>
                      </a:r>
                      <a:endParaRPr lang="en-US" altLang="ko-KR" sz="1400" b="1" spc="-50" baseline="0" dirty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400" b="1" spc="-50" baseline="0" dirty="0">
                          <a:latin typeface="+mn-ea"/>
                          <a:ea typeface="+mn-ea"/>
                        </a:rPr>
                        <a:t>한계 극복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/>
                        <a:t>시스템 덕분에 자기 </a:t>
                      </a:r>
                      <a:r>
                        <a:rPr lang="en" altLang="ko-KR" sz="1400" dirty="0"/>
                        <a:t>PR</a:t>
                      </a:r>
                      <a:r>
                        <a:rPr lang="ko-KR" altLang="en-US" sz="1400" dirty="0" err="1"/>
                        <a:t>에</a:t>
                      </a:r>
                      <a:r>
                        <a:rPr lang="ko-KR" altLang="en-US" sz="1400" dirty="0"/>
                        <a:t> 능하지 않은 사람이 불이익을 받지 않으며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반대로 자기 홍보에만 과도하게 능한 사람의 실체를 파악할 수 있게 됨</a:t>
                      </a:r>
                      <a:endParaRPr lang="ko-KR" altLang="en-US" sz="14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53920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3E7B74E-9AC6-EF7C-DD53-3CE1C06C035F}"/>
              </a:ext>
            </a:extLst>
          </p:cNvPr>
          <p:cNvSpPr txBox="1"/>
          <p:nvPr/>
        </p:nvSpPr>
        <p:spPr>
          <a:xfrm>
            <a:off x="200025" y="1638299"/>
            <a:ext cx="4681538" cy="432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spc="-50" dirty="0"/>
              <a:t>[</a:t>
            </a:r>
            <a:r>
              <a:rPr lang="ko-KR" altLang="en-US" sz="2000" b="1" spc="-50" dirty="0"/>
              <a:t>시스템의 </a:t>
            </a:r>
            <a:r>
              <a:rPr lang="ko-KR" altLang="en-US" sz="2000" b="1" spc="-50" dirty="0">
                <a:solidFill>
                  <a:srgbClr val="FF0000"/>
                </a:solidFill>
              </a:rPr>
              <a:t>성과</a:t>
            </a:r>
            <a:r>
              <a:rPr lang="en-US" altLang="ko-KR" sz="2000" b="1" spc="-50" dirty="0"/>
              <a:t>]</a:t>
            </a:r>
            <a:endParaRPr lang="ko-KR" altLang="en-US" sz="2000" b="1" i="1" spc="-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D2ABF7FC-85CA-E169-0383-D821BBD18D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4300186"/>
              </p:ext>
            </p:extLst>
          </p:nvPr>
        </p:nvGraphicFramePr>
        <p:xfrm>
          <a:off x="5035389" y="2133600"/>
          <a:ext cx="4681538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301">
                  <a:extLst>
                    <a:ext uri="{9D8B030D-6E8A-4147-A177-3AD203B41FA5}">
                      <a16:colId xmlns:a16="http://schemas.microsoft.com/office/drawing/2014/main" val="427325384"/>
                    </a:ext>
                  </a:extLst>
                </a:gridCol>
                <a:gridCol w="3579237">
                  <a:extLst>
                    <a:ext uri="{9D8B030D-6E8A-4147-A177-3AD203B41FA5}">
                      <a16:colId xmlns:a16="http://schemas.microsoft.com/office/drawing/2014/main" val="86941907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pc="-50" baseline="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pc="-50" baseline="0" dirty="0">
                          <a:latin typeface="+mn-ea"/>
                          <a:ea typeface="+mn-ea"/>
                        </a:rPr>
                        <a:t>세부사항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153629"/>
                  </a:ext>
                </a:extLst>
              </a:tr>
              <a:tr h="11613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숫자 집착 현상</a:t>
                      </a:r>
                      <a:endParaRPr lang="en-US" altLang="ko-KR" sz="1400" b="1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/>
                        <a:t>4.7</a:t>
                      </a:r>
                      <a:r>
                        <a:rPr lang="ko-KR" altLang="en-US" sz="1400" dirty="0"/>
                        <a:t>점과 </a:t>
                      </a:r>
                      <a:r>
                        <a:rPr lang="en-US" altLang="ko-KR" sz="1400" dirty="0"/>
                        <a:t>4.65</a:t>
                      </a:r>
                      <a:r>
                        <a:rPr lang="ko-KR" altLang="en-US" sz="1400" dirty="0"/>
                        <a:t>점 사이의 미세한 차이에 집착하며 정성적 정보를 무시하게 만드는  </a:t>
                      </a:r>
                      <a:r>
                        <a:rPr lang="en-US" altLang="ko-KR" sz="1400" dirty="0"/>
                        <a:t>'</a:t>
                      </a:r>
                      <a:r>
                        <a:rPr lang="ko-KR" altLang="en-US" sz="1400" dirty="0"/>
                        <a:t>숫자 척도의 부작용</a:t>
                      </a:r>
                      <a:r>
                        <a:rPr lang="en-US" altLang="ko-KR" sz="1400" dirty="0"/>
                        <a:t>'</a:t>
                      </a:r>
                      <a:r>
                        <a:rPr lang="ko-KR" altLang="en-US" sz="1400" dirty="0"/>
                        <a:t>이 발생</a:t>
                      </a:r>
                      <a:endParaRPr lang="ko-KR" altLang="en-US" sz="14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5760876"/>
                  </a:ext>
                </a:extLst>
              </a:tr>
              <a:tr h="11613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점수 인플레이션 및 모호한 </a:t>
                      </a:r>
                      <a:endParaRPr lang="en-US" altLang="ko-KR" sz="1400" b="1" dirty="0"/>
                    </a:p>
                    <a:p>
                      <a:pPr algn="ctr" latinLnBrk="1"/>
                      <a:r>
                        <a:rPr lang="ko-KR" altLang="en-US" sz="1400" b="1" dirty="0"/>
                        <a:t>비판</a:t>
                      </a:r>
                      <a:endParaRPr lang="ko-KR" altLang="en-US" sz="1400" b="1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/>
                        <a:t>부정적인 피드백을 직설적으로 적지 않고 완곡하게 돌려 말하는 일명 </a:t>
                      </a:r>
                      <a:r>
                        <a:rPr lang="en-US" altLang="ko-KR" sz="1400" dirty="0"/>
                        <a:t>'</a:t>
                      </a:r>
                      <a:r>
                        <a:rPr lang="ko-KR" altLang="en-US" sz="1400" dirty="0"/>
                        <a:t>점수 인플레이션</a:t>
                      </a:r>
                      <a:r>
                        <a:rPr lang="en-US" altLang="ko-KR" sz="1400" dirty="0"/>
                        <a:t>' </a:t>
                      </a:r>
                      <a:r>
                        <a:rPr lang="ko-KR" altLang="en-US" sz="1400" dirty="0"/>
                        <a:t>현상이 만연하여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행간의 의미를 유추해야 하는 어려움</a:t>
                      </a:r>
                      <a:endParaRPr lang="ko-KR" altLang="en-US" sz="14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539209"/>
                  </a:ext>
                </a:extLst>
              </a:tr>
              <a:tr h="166079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/>
                        <a:t>보상과의 연계 문제</a:t>
                      </a:r>
                      <a:endParaRPr lang="ko-KR" altLang="en-US" sz="1400" b="1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/>
                        <a:t>원래 </a:t>
                      </a:r>
                      <a:r>
                        <a:rPr lang="en-US" altLang="ko-KR" sz="1400" dirty="0"/>
                        <a:t>‘</a:t>
                      </a:r>
                      <a:r>
                        <a:rPr lang="ko-KR" altLang="en-US" sz="1400" dirty="0"/>
                        <a:t>보상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개발</a:t>
                      </a:r>
                      <a:r>
                        <a:rPr lang="en-US" altLang="ko-KR" sz="1400" dirty="0"/>
                        <a:t>’</a:t>
                      </a:r>
                      <a:r>
                        <a:rPr lang="ko-KR" altLang="en-US" sz="1400" dirty="0"/>
                        <a:t>로 분리하려 했으나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실제로는 보상 결정의 근거로 사용되어 </a:t>
                      </a:r>
                      <a:r>
                        <a:rPr lang="en-US" altLang="ko-KR" sz="1400" dirty="0"/>
                        <a:t>'</a:t>
                      </a:r>
                      <a:r>
                        <a:rPr lang="ko-KR" altLang="en-US" sz="1400" dirty="0"/>
                        <a:t>상업성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수익 창출</a:t>
                      </a:r>
                      <a:r>
                        <a:rPr lang="en-US" altLang="ko-KR" sz="1400" dirty="0"/>
                        <a:t>)'</a:t>
                      </a:r>
                      <a:r>
                        <a:rPr lang="ko-KR" altLang="en-US" sz="1400" dirty="0"/>
                        <a:t>과 </a:t>
                      </a:r>
                      <a:r>
                        <a:rPr lang="en-US" altLang="ko-KR" sz="1400" dirty="0"/>
                        <a:t>'</a:t>
                      </a:r>
                      <a:r>
                        <a:rPr lang="ko-KR" altLang="en-US" sz="1400" dirty="0"/>
                        <a:t>리더십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소프트 스킬</a:t>
                      </a:r>
                      <a:r>
                        <a:rPr lang="en-US" altLang="ko-KR" sz="1400" dirty="0"/>
                        <a:t>' </a:t>
                      </a:r>
                      <a:r>
                        <a:rPr lang="ko-KR" altLang="en-US" sz="1400" dirty="0"/>
                        <a:t>중 무엇을 더 중요하게 가중치를 두어야 하는지에 대한 논쟁이 끊이지 않음</a:t>
                      </a:r>
                      <a:endParaRPr lang="ko-KR" altLang="en-US" sz="14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32733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8CF5139-0B5F-60F7-017F-ECA048541257}"/>
              </a:ext>
            </a:extLst>
          </p:cNvPr>
          <p:cNvSpPr txBox="1"/>
          <p:nvPr/>
        </p:nvSpPr>
        <p:spPr>
          <a:xfrm>
            <a:off x="5024439" y="1638299"/>
            <a:ext cx="4681538" cy="432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2000" b="1" spc="-50" dirty="0"/>
              <a:t>[</a:t>
            </a:r>
            <a:r>
              <a:rPr lang="ko-KR" altLang="en-US" sz="2000" b="1" spc="-50" dirty="0"/>
              <a:t>시스템의 </a:t>
            </a:r>
            <a:r>
              <a:rPr lang="ko-KR" altLang="en-US" sz="2000" b="1" spc="-50" dirty="0">
                <a:solidFill>
                  <a:srgbClr val="0432FF"/>
                </a:solidFill>
              </a:rPr>
              <a:t>한계</a:t>
            </a:r>
            <a:r>
              <a:rPr lang="en-US" altLang="ko-KR" sz="2000" b="1" spc="-50" dirty="0"/>
              <a:t>]</a:t>
            </a:r>
            <a:endParaRPr lang="ko-KR" altLang="en-US" sz="2000" b="1" i="1" spc="-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0296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A9306-B175-0394-6E38-B1EDED8A6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7D7984-A55D-7F16-365F-6F9E9AD179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spc="-100" dirty="0"/>
              <a:t>      360</a:t>
            </a:r>
            <a:r>
              <a:rPr lang="ko-KR" altLang="en-US" spc="-100" dirty="0"/>
              <a:t>도 다면평가에서 각 평가자가 가지는 정보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CE8FEEE-547E-6B17-3E02-4AD782FB2D65}"/>
              </a:ext>
            </a:extLst>
          </p:cNvPr>
          <p:cNvSpPr/>
          <p:nvPr/>
        </p:nvSpPr>
        <p:spPr>
          <a:xfrm>
            <a:off x="211138" y="767550"/>
            <a:ext cx="360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7</a:t>
            </a:r>
            <a:endParaRPr lang="ko-KR" altLang="en-US" sz="2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FB80B53-0CC2-B7C5-D8B6-729868CCD8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모건 스탠리 </a:t>
            </a:r>
            <a:r>
              <a:rPr lang="en-US" altLang="ko-KR" dirty="0"/>
              <a:t>360</a:t>
            </a:r>
            <a:r>
              <a:rPr lang="ko-KR" altLang="en-US" dirty="0"/>
              <a:t>도 평가 프로세스</a:t>
            </a: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2398E501-5080-935B-EE00-CD39BAF564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8142A5B-241F-4620-9671-A7A83982CCBB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8764457-3F6F-D192-D9F3-7E38298B87AE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17314921"/>
              </p:ext>
            </p:extLst>
          </p:nvPr>
        </p:nvGraphicFramePr>
        <p:xfrm>
          <a:off x="391138" y="1340400"/>
          <a:ext cx="9179835" cy="49186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88599">
                  <a:extLst>
                    <a:ext uri="{9D8B030D-6E8A-4147-A177-3AD203B41FA5}">
                      <a16:colId xmlns:a16="http://schemas.microsoft.com/office/drawing/2014/main" val="2341252253"/>
                    </a:ext>
                  </a:extLst>
                </a:gridCol>
                <a:gridCol w="1265129">
                  <a:extLst>
                    <a:ext uri="{9D8B030D-6E8A-4147-A177-3AD203B41FA5}">
                      <a16:colId xmlns:a16="http://schemas.microsoft.com/office/drawing/2014/main" val="1793735841"/>
                    </a:ext>
                  </a:extLst>
                </a:gridCol>
                <a:gridCol w="1202498">
                  <a:extLst>
                    <a:ext uri="{9D8B030D-6E8A-4147-A177-3AD203B41FA5}">
                      <a16:colId xmlns:a16="http://schemas.microsoft.com/office/drawing/2014/main" val="3769689343"/>
                    </a:ext>
                  </a:extLst>
                </a:gridCol>
                <a:gridCol w="1177447">
                  <a:extLst>
                    <a:ext uri="{9D8B030D-6E8A-4147-A177-3AD203B41FA5}">
                      <a16:colId xmlns:a16="http://schemas.microsoft.com/office/drawing/2014/main" val="284837639"/>
                    </a:ext>
                  </a:extLst>
                </a:gridCol>
                <a:gridCol w="1215025">
                  <a:extLst>
                    <a:ext uri="{9D8B030D-6E8A-4147-A177-3AD203B41FA5}">
                      <a16:colId xmlns:a16="http://schemas.microsoft.com/office/drawing/2014/main" val="3645512205"/>
                    </a:ext>
                  </a:extLst>
                </a:gridCol>
                <a:gridCol w="1177446">
                  <a:extLst>
                    <a:ext uri="{9D8B030D-6E8A-4147-A177-3AD203B41FA5}">
                      <a16:colId xmlns:a16="http://schemas.microsoft.com/office/drawing/2014/main" val="3306892856"/>
                    </a:ext>
                  </a:extLst>
                </a:gridCol>
                <a:gridCol w="1253691">
                  <a:extLst>
                    <a:ext uri="{9D8B030D-6E8A-4147-A177-3AD203B41FA5}">
                      <a16:colId xmlns:a16="http://schemas.microsoft.com/office/drawing/2014/main" val="662844327"/>
                    </a:ext>
                  </a:extLst>
                </a:gridCol>
              </a:tblGrid>
              <a:tr h="611219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고과내용</a:t>
                      </a:r>
                      <a:endParaRPr lang="en-US" altLang="ko-KR" b="1" dirty="0">
                        <a:solidFill>
                          <a:schemeClr val="bg1"/>
                        </a:solidFill>
                      </a:endParaRPr>
                    </a:p>
                    <a:p>
                      <a:pPr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고과자</a:t>
                      </a: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현재능력</a:t>
                      </a:r>
                    </a:p>
                  </a:txBody>
                  <a:tcPr anchor="ctr"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잠재능력</a:t>
                      </a:r>
                    </a:p>
                  </a:txBody>
                  <a:tcPr anchor="ctr"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적 성</a:t>
                      </a:r>
                    </a:p>
                  </a:txBody>
                  <a:tcPr anchor="ctr"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태 도</a:t>
                      </a:r>
                    </a:p>
                  </a:txBody>
                  <a:tcPr anchor="ctr"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작업행동</a:t>
                      </a:r>
                    </a:p>
                  </a:txBody>
                  <a:tcPr anchor="ctr"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성 과</a:t>
                      </a:r>
                    </a:p>
                  </a:txBody>
                  <a:tcPr anchor="ctr"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0054403"/>
                  </a:ext>
                </a:extLst>
              </a:tr>
              <a:tr h="6112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피고과자 본인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+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+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+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+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+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8716449"/>
                  </a:ext>
                </a:extLst>
              </a:tr>
              <a:tr h="6112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직속상사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+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+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+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0955117"/>
                  </a:ext>
                </a:extLst>
              </a:tr>
              <a:tr h="6112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차 고과자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△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3528900"/>
                  </a:ext>
                </a:extLst>
              </a:tr>
              <a:tr h="6112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동료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+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1757847"/>
                  </a:ext>
                </a:extLst>
              </a:tr>
              <a:tr h="6112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부하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5824481"/>
                  </a:ext>
                </a:extLst>
              </a:tr>
              <a:tr h="6112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외부 전문가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+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+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+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4663381"/>
                  </a:ext>
                </a:extLst>
              </a:tr>
              <a:tr h="6112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고객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948353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538BAA3-9185-FDE3-0226-5E6D9C8F2B9F}"/>
              </a:ext>
            </a:extLst>
          </p:cNvPr>
          <p:cNvSpPr txBox="1"/>
          <p:nvPr/>
        </p:nvSpPr>
        <p:spPr>
          <a:xfrm>
            <a:off x="6175168" y="935069"/>
            <a:ext cx="33958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600" dirty="0">
                <a:solidFill>
                  <a:schemeClr val="accent2">
                    <a:lumMod val="75000"/>
                  </a:schemeClr>
                </a:solidFill>
              </a:rPr>
              <a:t>범례 </a:t>
            </a:r>
            <a:r>
              <a:rPr kumimoji="1" lang="en-US" altLang="ko-KR" sz="1600" dirty="0">
                <a:solidFill>
                  <a:schemeClr val="accent2">
                    <a:lumMod val="75000"/>
                  </a:schemeClr>
                </a:solidFill>
              </a:rPr>
              <a:t>:</a:t>
            </a:r>
            <a:r>
              <a:rPr kumimoji="1" lang="ko-KR" altLang="en-US" sz="16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kumimoji="1" lang="en-US" altLang="ko-KR" sz="1600" dirty="0">
                <a:solidFill>
                  <a:schemeClr val="accent2">
                    <a:lumMod val="75000"/>
                  </a:schemeClr>
                </a:solidFill>
              </a:rPr>
              <a:t>+</a:t>
            </a:r>
            <a:r>
              <a:rPr kumimoji="1" lang="ko-KR" altLang="en-US" sz="1600" dirty="0">
                <a:solidFill>
                  <a:schemeClr val="accent2">
                    <a:lumMod val="75000"/>
                  </a:schemeClr>
                </a:solidFill>
              </a:rPr>
              <a:t> 많음</a:t>
            </a:r>
            <a:r>
              <a:rPr kumimoji="1" lang="en-US" altLang="ko-KR" sz="1600" dirty="0">
                <a:solidFill>
                  <a:schemeClr val="accent2">
                    <a:lumMod val="75000"/>
                  </a:schemeClr>
                </a:solidFill>
              </a:rPr>
              <a:t>,</a:t>
            </a:r>
            <a:r>
              <a:rPr kumimoji="1" lang="ko-KR" altLang="en-US" sz="16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△</a:t>
            </a:r>
            <a:r>
              <a:rPr kumimoji="1" lang="ko-KR" altLang="en-US" sz="1600" dirty="0">
                <a:solidFill>
                  <a:schemeClr val="accent2">
                    <a:lumMod val="75000"/>
                  </a:schemeClr>
                </a:solidFill>
              </a:rPr>
              <a:t> 중간 정도</a:t>
            </a:r>
            <a:r>
              <a:rPr kumimoji="1" lang="en-US" altLang="ko-KR" sz="1600" dirty="0">
                <a:solidFill>
                  <a:schemeClr val="accent2">
                    <a:lumMod val="75000"/>
                  </a:schemeClr>
                </a:solidFill>
              </a:rPr>
              <a:t>,</a:t>
            </a:r>
            <a:r>
              <a:rPr kumimoji="1" lang="ko-KR" altLang="en-US" sz="16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kumimoji="1" lang="en-US" altLang="ko-KR" sz="1600" dirty="0">
                <a:solidFill>
                  <a:schemeClr val="accent2">
                    <a:lumMod val="75000"/>
                  </a:schemeClr>
                </a:solidFill>
              </a:rPr>
              <a:t>-</a:t>
            </a:r>
            <a:r>
              <a:rPr kumimoji="1" lang="ko-KR" altLang="en-US" sz="1600" dirty="0">
                <a:solidFill>
                  <a:schemeClr val="accent2">
                    <a:lumMod val="75000"/>
                  </a:schemeClr>
                </a:solidFill>
              </a:rPr>
              <a:t> 적음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3C0E30-3A06-DED9-6A45-5FA2E0442359}"/>
              </a:ext>
            </a:extLst>
          </p:cNvPr>
          <p:cNvSpPr txBox="1"/>
          <p:nvPr/>
        </p:nvSpPr>
        <p:spPr>
          <a:xfrm>
            <a:off x="3443844" y="6259730"/>
            <a:ext cx="64621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400" dirty="0">
                <a:solidFill>
                  <a:schemeClr val="accent2">
                    <a:lumMod val="75000"/>
                  </a:schemeClr>
                </a:solidFill>
              </a:rPr>
              <a:t>고과자별 고과내용에 대한 정보보유 현황</a:t>
            </a:r>
            <a:r>
              <a:rPr kumimoji="1" lang="en-US" altLang="ko-KR" sz="1400" dirty="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kumimoji="1" lang="ko-KR" altLang="en-US" sz="1400" dirty="0" err="1">
                <a:solidFill>
                  <a:schemeClr val="accent2">
                    <a:lumMod val="75000"/>
                  </a:schemeClr>
                </a:solidFill>
              </a:rPr>
              <a:t>박경규</a:t>
            </a:r>
            <a:r>
              <a:rPr kumimoji="1" lang="en-US" altLang="ko-KR" sz="1400" dirty="0">
                <a:solidFill>
                  <a:schemeClr val="accent2">
                    <a:lumMod val="75000"/>
                  </a:schemeClr>
                </a:solidFill>
              </a:rPr>
              <a:t>,</a:t>
            </a:r>
            <a:r>
              <a:rPr kumimoji="1" lang="ko-KR" altLang="en-US" sz="1400" dirty="0">
                <a:solidFill>
                  <a:schemeClr val="accent2">
                    <a:lumMod val="75000"/>
                  </a:schemeClr>
                </a:solidFill>
              </a:rPr>
              <a:t> 신인사관리</a:t>
            </a:r>
            <a:r>
              <a:rPr kumimoji="1" lang="en-US" altLang="ko-KR" sz="1400" dirty="0">
                <a:solidFill>
                  <a:schemeClr val="accent2">
                    <a:lumMod val="75000"/>
                  </a:schemeClr>
                </a:solidFill>
              </a:rPr>
              <a:t>, p.270, </a:t>
            </a:r>
            <a:r>
              <a:rPr kumimoji="1" lang="ko-KR" altLang="en-US" sz="1400" dirty="0">
                <a:solidFill>
                  <a:schemeClr val="accent2">
                    <a:lumMod val="75000"/>
                  </a:schemeClr>
                </a:solidFill>
              </a:rPr>
              <a:t>표 </a:t>
            </a:r>
            <a:r>
              <a:rPr kumimoji="1" lang="en-US" altLang="ko-KR" sz="1400" dirty="0">
                <a:solidFill>
                  <a:schemeClr val="accent2">
                    <a:lumMod val="75000"/>
                  </a:schemeClr>
                </a:solidFill>
              </a:rPr>
              <a:t>7-5)</a:t>
            </a:r>
            <a:r>
              <a:rPr kumimoji="1" lang="ko-KR" altLang="en-US" sz="1400" dirty="0">
                <a:solidFill>
                  <a:schemeClr val="accent2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D17D0DD-3490-31F8-4B53-DC132FF1F90B}"/>
              </a:ext>
            </a:extLst>
          </p:cNvPr>
          <p:cNvSpPr/>
          <p:nvPr/>
        </p:nvSpPr>
        <p:spPr>
          <a:xfrm>
            <a:off x="301575" y="2522269"/>
            <a:ext cx="9360000" cy="134191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99779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712FA-4A6C-79B0-2871-CFB33B25B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1CA63C-C6A3-C6D9-681A-97744225D4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spc="-100" dirty="0"/>
              <a:t>      </a:t>
            </a:r>
            <a:r>
              <a:rPr lang="ko-KR" altLang="en-US" spc="-100" dirty="0"/>
              <a:t>국내 기업의 다면평가 도입 사례</a:t>
            </a:r>
            <a:r>
              <a:rPr lang="en-US" altLang="ko-KR" spc="-100" dirty="0"/>
              <a:t>(</a:t>
            </a:r>
            <a:r>
              <a:rPr lang="ko-KR" altLang="en-US" dirty="0"/>
              <a:t>평가 결과 활용</a:t>
            </a:r>
            <a:r>
              <a:rPr lang="en-US" altLang="ko-KR" dirty="0"/>
              <a:t>)</a:t>
            </a:r>
            <a:endParaRPr lang="ko-KR" altLang="en-US" spc="-1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6DDB215-ACEB-236D-13BD-C5087E93DEC6}"/>
              </a:ext>
            </a:extLst>
          </p:cNvPr>
          <p:cNvSpPr/>
          <p:nvPr/>
        </p:nvSpPr>
        <p:spPr>
          <a:xfrm>
            <a:off x="211138" y="767550"/>
            <a:ext cx="360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8</a:t>
            </a:r>
            <a:endParaRPr lang="ko-KR" altLang="en-US" sz="2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E4FA2071-1105-12D8-A1E1-3433FA36D3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모건 스탠리 </a:t>
            </a:r>
            <a:r>
              <a:rPr lang="en-US" altLang="ko-KR" dirty="0"/>
              <a:t>360</a:t>
            </a:r>
            <a:r>
              <a:rPr lang="ko-KR" altLang="en-US" dirty="0"/>
              <a:t>도 평가 프로세스</a:t>
            </a: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08F92A1C-27B9-4EDD-5F6C-67EB59B4F8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8142A5B-241F-4620-9671-A7A83982CCBB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B71D37B-8596-7830-6413-E574426642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3310720"/>
              </p:ext>
            </p:extLst>
          </p:nvPr>
        </p:nvGraphicFramePr>
        <p:xfrm>
          <a:off x="210975" y="1496909"/>
          <a:ext cx="4681538" cy="45037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301">
                  <a:extLst>
                    <a:ext uri="{9D8B030D-6E8A-4147-A177-3AD203B41FA5}">
                      <a16:colId xmlns:a16="http://schemas.microsoft.com/office/drawing/2014/main" val="427325384"/>
                    </a:ext>
                  </a:extLst>
                </a:gridCol>
                <a:gridCol w="3579237">
                  <a:extLst>
                    <a:ext uri="{9D8B030D-6E8A-4147-A177-3AD203B41FA5}">
                      <a16:colId xmlns:a16="http://schemas.microsoft.com/office/drawing/2014/main" val="869419070"/>
                    </a:ext>
                  </a:extLst>
                </a:gridCol>
              </a:tblGrid>
              <a:tr h="2842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pc="-50" baseline="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pc="-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카카오</a:t>
                      </a:r>
                      <a:endParaRPr lang="ko-KR" altLang="en-US" sz="1400" spc="-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53629"/>
                  </a:ext>
                </a:extLst>
              </a:tr>
              <a:tr h="18306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spc="-50" baseline="0" dirty="0">
                          <a:latin typeface="+mn-ea"/>
                          <a:ea typeface="+mn-ea"/>
                        </a:rPr>
                        <a:t>운영 방식</a:t>
                      </a:r>
                      <a:endParaRPr lang="en-US" altLang="ko-KR" sz="1400" b="1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/>
                        <a:t>함께 일하는 동료가 나를 직접 평가하는 제도를 운영하며</a:t>
                      </a:r>
                      <a:r>
                        <a:rPr lang="en-US" altLang="ko-KR" sz="1400" dirty="0"/>
                        <a:t>, </a:t>
                      </a: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/>
                        <a:t>평가 항목 중 </a:t>
                      </a:r>
                      <a:r>
                        <a:rPr lang="en-US" altLang="ko-KR" sz="1400" dirty="0"/>
                        <a:t>"</a:t>
                      </a:r>
                      <a:r>
                        <a:rPr lang="ko-KR" altLang="en-US" sz="1400" dirty="0"/>
                        <a:t>이 사람과 다시 함께 일하고 싶은가</a:t>
                      </a:r>
                      <a:r>
                        <a:rPr lang="en-US" altLang="ko-KR" sz="1400" dirty="0"/>
                        <a:t>?"</a:t>
                      </a:r>
                      <a:r>
                        <a:rPr lang="ko-KR" altLang="en-US" sz="1400" dirty="0"/>
                        <a:t>라는 질문을 던져 </a:t>
                      </a:r>
                      <a:r>
                        <a:rPr lang="en-US" altLang="ko-KR" sz="1400" dirty="0"/>
                        <a:t>'</a:t>
                      </a:r>
                      <a:r>
                        <a:rPr lang="ko-KR" altLang="en-US" sz="1400" dirty="0"/>
                        <a:t>다시 함께 일하고 싶다 </a:t>
                      </a:r>
                      <a:r>
                        <a:rPr lang="en-US" altLang="ko-KR" sz="1400" dirty="0"/>
                        <a:t>/ </a:t>
                      </a:r>
                      <a:r>
                        <a:rPr lang="ko-KR" altLang="en-US" sz="1400" dirty="0"/>
                        <a:t>상관없다 </a:t>
                      </a:r>
                      <a:r>
                        <a:rPr lang="en-US" altLang="ko-KR" sz="1400" dirty="0"/>
                        <a:t>/ </a:t>
                      </a:r>
                      <a:r>
                        <a:rPr lang="ko-KR" altLang="en-US" sz="1400" dirty="0"/>
                        <a:t>일하고 싶지 않다</a:t>
                      </a:r>
                      <a:r>
                        <a:rPr lang="en-US" altLang="ko-KR" sz="1400" dirty="0"/>
                        <a:t>' </a:t>
                      </a:r>
                      <a:r>
                        <a:rPr lang="ko-KR" altLang="en-US" sz="1400" dirty="0"/>
                        <a:t>등으로 응답하게 함</a:t>
                      </a:r>
                      <a:endParaRPr lang="ko-KR" altLang="en-US" sz="14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5760876"/>
                  </a:ext>
                </a:extLst>
              </a:tr>
              <a:tr h="22285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spc="-50" baseline="0" dirty="0">
                          <a:latin typeface="+mn-ea"/>
                          <a:ea typeface="+mn-ea"/>
                        </a:rPr>
                        <a:t>주요 특징</a:t>
                      </a:r>
                      <a:endParaRPr lang="en-US" altLang="ko-KR" sz="1400" b="1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/>
                        <a:t>본인과 </a:t>
                      </a:r>
                      <a:r>
                        <a:rPr lang="en-US" altLang="ko-KR" sz="1400" dirty="0"/>
                        <a:t>'</a:t>
                      </a:r>
                      <a:r>
                        <a:rPr lang="ko-KR" altLang="en-US" sz="1400" dirty="0"/>
                        <a:t>함께 일하고 싶지 않다</a:t>
                      </a:r>
                      <a:r>
                        <a:rPr lang="en-US" altLang="ko-KR" sz="1400" dirty="0"/>
                        <a:t>'</a:t>
                      </a:r>
                      <a:r>
                        <a:rPr lang="ko-KR" altLang="en-US" sz="1400" dirty="0"/>
                        <a:t>고 응답한 동료의 숫자와 비율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전사 평균치 등이 당사자에게 투명하게 공개</a:t>
                      </a:r>
                      <a:endParaRPr lang="en-US" altLang="ko-KR" sz="1400" dirty="0"/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/>
                        <a:t>이로 인해 한때 사내에서 </a:t>
                      </a:r>
                      <a:r>
                        <a:rPr lang="en-US" altLang="ko-KR" sz="1400" dirty="0"/>
                        <a:t>"</a:t>
                      </a:r>
                      <a:r>
                        <a:rPr lang="ko-KR" altLang="en-US" sz="1400" dirty="0"/>
                        <a:t>인간의 자존감을 무너뜨리는 잔인한 제도</a:t>
                      </a:r>
                      <a:r>
                        <a:rPr lang="en-US" altLang="ko-KR" sz="1400" dirty="0"/>
                        <a:t>"</a:t>
                      </a:r>
                      <a:r>
                        <a:rPr lang="ko-KR" altLang="en-US" sz="1400" dirty="0"/>
                        <a:t>라는 논란이 일기도</a:t>
                      </a:r>
                      <a:r>
                        <a:rPr lang="en-US" altLang="ko-KR" sz="1400" dirty="0"/>
                        <a:t>…</a:t>
                      </a:r>
                      <a:endParaRPr lang="ko-KR" altLang="en-US" sz="14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539209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140508F-857F-863A-9369-4CA1272939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9242635"/>
              </p:ext>
            </p:extLst>
          </p:nvPr>
        </p:nvGraphicFramePr>
        <p:xfrm>
          <a:off x="5035389" y="1496909"/>
          <a:ext cx="4681538" cy="45075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301">
                  <a:extLst>
                    <a:ext uri="{9D8B030D-6E8A-4147-A177-3AD203B41FA5}">
                      <a16:colId xmlns:a16="http://schemas.microsoft.com/office/drawing/2014/main" val="427325384"/>
                    </a:ext>
                  </a:extLst>
                </a:gridCol>
                <a:gridCol w="3579237">
                  <a:extLst>
                    <a:ext uri="{9D8B030D-6E8A-4147-A177-3AD203B41FA5}">
                      <a16:colId xmlns:a16="http://schemas.microsoft.com/office/drawing/2014/main" val="869419070"/>
                    </a:ext>
                  </a:extLst>
                </a:gridCol>
              </a:tblGrid>
              <a:tr h="3009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pc="-50" baseline="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pc="-5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삼성전자</a:t>
                      </a:r>
                      <a:endParaRPr lang="ko-KR" altLang="en-US" sz="1400" spc="-5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53629"/>
                  </a:ext>
                </a:extLst>
              </a:tr>
              <a:tr h="19411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spc="-50" baseline="0" dirty="0">
                          <a:latin typeface="+mn-ea"/>
                          <a:ea typeface="+mn-ea"/>
                        </a:rPr>
                        <a:t>운영 방식</a:t>
                      </a:r>
                      <a:endParaRPr lang="en-US" altLang="ko-KR" sz="1400" b="1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/>
                        <a:t>과거 부장급 이상 간부에게만 적용하던 다면평가를 일반 </a:t>
                      </a:r>
                      <a:r>
                        <a:rPr lang="ko-KR" altLang="en-US" sz="1400" dirty="0" err="1"/>
                        <a:t>평직원에게까지</a:t>
                      </a:r>
                      <a:r>
                        <a:rPr lang="ko-KR" altLang="en-US" sz="1400" dirty="0"/>
                        <a:t> 전면 확대</a:t>
                      </a:r>
                      <a:endParaRPr lang="en-US" altLang="ko-KR" sz="1400" dirty="0"/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/>
                        <a:t>연 </a:t>
                      </a:r>
                      <a:r>
                        <a:rPr lang="en-US" altLang="ko-KR" sz="1400" dirty="0"/>
                        <a:t>2~3</a:t>
                      </a:r>
                      <a:r>
                        <a:rPr lang="ko-KR" altLang="en-US" sz="1400" dirty="0"/>
                        <a:t>회 이상 수시 진행 권장</a:t>
                      </a:r>
                      <a:endParaRPr lang="ko-KR" altLang="en-US" sz="14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5760876"/>
                  </a:ext>
                </a:extLst>
              </a:tr>
              <a:tr h="22616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spc="-50" baseline="0" dirty="0">
                          <a:latin typeface="+mn-ea"/>
                          <a:ea typeface="+mn-ea"/>
                        </a:rPr>
                        <a:t>주요 특징</a:t>
                      </a:r>
                      <a:endParaRPr lang="en-US" altLang="ko-KR" sz="1400" b="1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/>
                        <a:t>단순한 등급 매기기를 지양하고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동료의 업무적 </a:t>
                      </a:r>
                      <a:r>
                        <a:rPr lang="en-US" altLang="ko-KR" sz="1400" b="0" dirty="0"/>
                        <a:t>'</a:t>
                      </a:r>
                      <a:r>
                        <a:rPr lang="ko-KR" altLang="en-US" sz="1400" b="0" dirty="0"/>
                        <a:t>강점</a:t>
                      </a:r>
                      <a:r>
                        <a:rPr lang="en-US" altLang="ko-KR" sz="1400" b="0" dirty="0"/>
                        <a:t>'</a:t>
                      </a:r>
                      <a:r>
                        <a:rPr lang="ko-KR" altLang="en-US" sz="1400" b="0" dirty="0"/>
                        <a:t>과 </a:t>
                      </a:r>
                      <a:r>
                        <a:rPr lang="en-US" altLang="ko-KR" sz="1400" b="0" dirty="0"/>
                        <a:t>'</a:t>
                      </a:r>
                      <a:r>
                        <a:rPr lang="ko-KR" altLang="en-US" sz="1400" b="0" dirty="0"/>
                        <a:t>보완</a:t>
                      </a:r>
                      <a:r>
                        <a:rPr lang="en-US" altLang="ko-KR" sz="1400" b="0" dirty="0"/>
                        <a:t>(</a:t>
                      </a:r>
                      <a:r>
                        <a:rPr lang="ko-KR" altLang="en-US" sz="1400" b="0" dirty="0"/>
                        <a:t>양성</a:t>
                      </a:r>
                      <a:r>
                        <a:rPr lang="en-US" altLang="ko-KR" sz="1400" b="0" dirty="0"/>
                        <a:t>)</a:t>
                      </a:r>
                      <a:r>
                        <a:rPr lang="ko-KR" altLang="en-US" sz="1400" b="0" dirty="0"/>
                        <a:t>이 필요한 사항</a:t>
                      </a:r>
                      <a:r>
                        <a:rPr lang="en-US" altLang="ko-KR" sz="1400" b="0" dirty="0"/>
                        <a:t>'</a:t>
                      </a:r>
                      <a:r>
                        <a:rPr lang="ko-KR" altLang="en-US" sz="1400" b="0" dirty="0" err="1"/>
                        <a:t>에</a:t>
                      </a:r>
                      <a:r>
                        <a:rPr lang="ko-KR" altLang="en-US" sz="1400" b="0" dirty="0"/>
                        <a:t> 대해 철저히 서술형으로 </a:t>
                      </a:r>
                      <a:r>
                        <a:rPr lang="ko-KR" altLang="en-US" sz="1400" dirty="0"/>
                        <a:t>의견 작성</a:t>
                      </a:r>
                      <a:endParaRPr lang="en-US" altLang="ko-KR" sz="1400" dirty="0"/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/>
                        <a:t>수집된 동료의 피드백은 부서장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리더</a:t>
                      </a:r>
                      <a:r>
                        <a:rPr lang="en-US" altLang="ko-KR" sz="1400" dirty="0"/>
                        <a:t>)</a:t>
                      </a:r>
                      <a:r>
                        <a:rPr lang="ko-KR" altLang="en-US" sz="1400" dirty="0"/>
                        <a:t>에게 전달되어 팀원의 면담과 커리어 성장을 돕는 참고 자료로 쓰임</a:t>
                      </a:r>
                      <a:endParaRPr lang="ko-KR" altLang="en-US" sz="14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539209"/>
                  </a:ext>
                </a:extLst>
              </a:tr>
            </a:tbl>
          </a:graphicData>
        </a:graphic>
      </p:graphicFrame>
      <p:pic>
        <p:nvPicPr>
          <p:cNvPr id="7170" name="Picture 2" descr="네이버와 카카오 주가가 제자리인 이유 — 실적은 좋은데 왜 주가는 안 오를까?">
            <a:extLst>
              <a:ext uri="{FF2B5EF4-FFF2-40B4-BE49-F238E27FC236}">
                <a16:creationId xmlns:a16="http://schemas.microsoft.com/office/drawing/2014/main" id="{DACBD6EA-6174-C69E-35A4-50AC4FF475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746" y="1172850"/>
            <a:ext cx="1171863" cy="468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삼성 로고">
            <a:extLst>
              <a:ext uri="{FF2B5EF4-FFF2-40B4-BE49-F238E27FC236}">
                <a16:creationId xmlns:a16="http://schemas.microsoft.com/office/drawing/2014/main" id="{22BC42B6-53C1-A855-A366-F55F53380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4893" y="891596"/>
            <a:ext cx="1077520" cy="605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63915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66F9A-D0CA-325F-B789-1DA1D8AF0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80F386F-C5DA-18FC-74C2-B145B2C366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spc="-100" dirty="0"/>
              <a:t>      </a:t>
            </a:r>
            <a:r>
              <a:rPr lang="ko-KR" altLang="en-US" spc="-100" dirty="0"/>
              <a:t>시사점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7FF6F7B-5D30-6E13-E6E2-5B0F9FCE62DF}"/>
              </a:ext>
            </a:extLst>
          </p:cNvPr>
          <p:cNvSpPr/>
          <p:nvPr/>
        </p:nvSpPr>
        <p:spPr>
          <a:xfrm>
            <a:off x="211138" y="767550"/>
            <a:ext cx="360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9</a:t>
            </a:r>
            <a:endParaRPr lang="ko-KR" altLang="en-US" sz="2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3C775FA-8CCF-5318-5E6B-F83F20D305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모건 스탠리 </a:t>
            </a:r>
            <a:r>
              <a:rPr lang="en-US" altLang="ko-KR" dirty="0"/>
              <a:t>360</a:t>
            </a:r>
            <a:r>
              <a:rPr lang="ko-KR" altLang="en-US" dirty="0"/>
              <a:t>도 평가 프로세스</a:t>
            </a: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2A23ABCF-DBA5-D8A8-F672-BA594C459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8142A5B-241F-4620-9671-A7A83982CCBB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FA1F957-E504-B9B6-2AA7-EDF8E07E5228}"/>
              </a:ext>
            </a:extLst>
          </p:cNvPr>
          <p:cNvSpPr/>
          <p:nvPr/>
        </p:nvSpPr>
        <p:spPr>
          <a:xfrm>
            <a:off x="210975" y="2072769"/>
            <a:ext cx="1800000" cy="1152774"/>
          </a:xfrm>
          <a:prstGeom prst="rect">
            <a:avLst/>
          </a:prstGeom>
          <a:solidFill>
            <a:schemeClr val="accent2"/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spc="-50" dirty="0">
                <a:solidFill>
                  <a:schemeClr val="bg1"/>
                </a:solidFill>
                <a:latin typeface="+mn-ea"/>
              </a:rPr>
              <a:t>명확한 </a:t>
            </a:r>
            <a:endParaRPr lang="en-US" altLang="ko-KR" b="1" spc="-5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ko-KR" altLang="en-US" b="1" spc="-50" dirty="0">
                <a:solidFill>
                  <a:schemeClr val="bg1"/>
                </a:solidFill>
                <a:latin typeface="+mn-ea"/>
              </a:rPr>
              <a:t>목적 설정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4CA6DA-9FFD-23E6-9C75-4C541523F50C}"/>
              </a:ext>
            </a:extLst>
          </p:cNvPr>
          <p:cNvSpPr txBox="1"/>
          <p:nvPr/>
        </p:nvSpPr>
        <p:spPr>
          <a:xfrm>
            <a:off x="2108201" y="2072769"/>
            <a:ext cx="7597775" cy="1152774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</p:spPr>
        <p:txBody>
          <a:bodyPr wrap="square" lIns="180000" rIns="108000" rtlCol="0" anchor="ctr">
            <a:noAutofit/>
          </a:bodyPr>
          <a:lstStyle/>
          <a:p>
            <a:pPr marL="216000" indent="-21600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600" dirty="0"/>
              <a:t>평가 결과가 </a:t>
            </a:r>
            <a:r>
              <a:rPr lang="en-US" altLang="ko-KR" sz="1600" dirty="0"/>
              <a:t>'</a:t>
            </a:r>
            <a:r>
              <a:rPr lang="ko-KR" altLang="en-US" sz="1600" dirty="0"/>
              <a:t>인사 고과 및 보상</a:t>
            </a:r>
            <a:r>
              <a:rPr lang="en-US" altLang="ko-KR" sz="1600" dirty="0"/>
              <a:t>'</a:t>
            </a:r>
            <a:r>
              <a:rPr lang="ko-KR" altLang="en-US" sz="1600" dirty="0" err="1"/>
              <a:t>에</a:t>
            </a:r>
            <a:r>
              <a:rPr lang="ko-KR" altLang="en-US" sz="1600" dirty="0"/>
              <a:t> 직결될 것인지</a:t>
            </a:r>
            <a:r>
              <a:rPr lang="en-US" altLang="ko-KR" sz="1600" dirty="0"/>
              <a:t>, </a:t>
            </a:r>
          </a:p>
          <a:p>
            <a:pPr marL="216000" indent="-21600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altLang="ko-KR" sz="1600" dirty="0"/>
              <a:t>'</a:t>
            </a:r>
            <a:r>
              <a:rPr lang="ko-KR" altLang="en-US" sz="1600" dirty="0"/>
              <a:t>개인의 역량 개발</a:t>
            </a:r>
            <a:r>
              <a:rPr lang="en-US" altLang="ko-KR" sz="1600" dirty="0"/>
              <a:t>(</a:t>
            </a:r>
            <a:r>
              <a:rPr lang="ko-KR" altLang="en-US" sz="1600" dirty="0"/>
              <a:t>육성</a:t>
            </a:r>
            <a:r>
              <a:rPr lang="en-US" altLang="ko-KR" sz="1600" dirty="0"/>
              <a:t>)'</a:t>
            </a:r>
            <a:r>
              <a:rPr lang="ko-KR" altLang="en-US" sz="1600" dirty="0" err="1"/>
              <a:t>에</a:t>
            </a:r>
            <a:r>
              <a:rPr lang="ko-KR" altLang="en-US" sz="1600" dirty="0"/>
              <a:t> 한정할 것인지 명확히 </a:t>
            </a:r>
            <a:r>
              <a:rPr lang="ko-KR" altLang="en-US" sz="1600" b="1" dirty="0"/>
              <a:t>분리</a:t>
            </a:r>
            <a:r>
              <a:rPr lang="ko-KR" altLang="en-US" sz="1600" dirty="0"/>
              <a:t>하고 </a:t>
            </a:r>
            <a:r>
              <a:rPr lang="ko-KR" altLang="en-US" sz="1600" b="1" dirty="0"/>
              <a:t>소통</a:t>
            </a:r>
            <a:r>
              <a:rPr lang="ko-KR" altLang="en-US" sz="1600" dirty="0"/>
              <a:t>해야</a:t>
            </a:r>
            <a:endParaRPr lang="en-US" altLang="ko-KR" sz="16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48B92FD-AAF5-CFE0-8553-5A100EF6989A}"/>
              </a:ext>
            </a:extLst>
          </p:cNvPr>
          <p:cNvSpPr/>
          <p:nvPr/>
        </p:nvSpPr>
        <p:spPr>
          <a:xfrm>
            <a:off x="210975" y="3480038"/>
            <a:ext cx="1800000" cy="1152774"/>
          </a:xfrm>
          <a:prstGeom prst="rect">
            <a:avLst/>
          </a:prstGeom>
          <a:solidFill>
            <a:schemeClr val="accent2"/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spc="-50" dirty="0">
                <a:solidFill>
                  <a:schemeClr val="bg1"/>
                </a:solidFill>
                <a:latin typeface="+mn-ea"/>
              </a:rPr>
              <a:t>익명성 및 </a:t>
            </a:r>
            <a:endParaRPr lang="en-US" altLang="ko-KR" b="1" spc="-5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ko-KR" altLang="en-US" b="1" spc="-50" dirty="0">
                <a:solidFill>
                  <a:schemeClr val="bg1"/>
                </a:solidFill>
                <a:latin typeface="+mn-ea"/>
              </a:rPr>
              <a:t>신뢰 보장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501745-60B2-323A-E069-CDBA1FCBC616}"/>
              </a:ext>
            </a:extLst>
          </p:cNvPr>
          <p:cNvSpPr txBox="1"/>
          <p:nvPr/>
        </p:nvSpPr>
        <p:spPr>
          <a:xfrm>
            <a:off x="2108201" y="3480038"/>
            <a:ext cx="7597775" cy="1152774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</p:spPr>
        <p:txBody>
          <a:bodyPr wrap="square" lIns="180000" rIns="108000" rtlCol="0" anchor="ctr">
            <a:noAutofit/>
          </a:bodyPr>
          <a:lstStyle/>
          <a:p>
            <a:pPr marL="216000" indent="-21600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600" dirty="0"/>
              <a:t>솔직한 피드백</a:t>
            </a:r>
            <a:r>
              <a:rPr lang="en-US" altLang="ko-KR" sz="1600" dirty="0"/>
              <a:t>(</a:t>
            </a:r>
            <a:r>
              <a:rPr lang="ko-KR" altLang="en-US" sz="1600" dirty="0"/>
              <a:t>점수 인플레이션 방지</a:t>
            </a:r>
            <a:r>
              <a:rPr lang="en-US" altLang="ko-KR" sz="1600" dirty="0"/>
              <a:t>)</a:t>
            </a:r>
            <a:r>
              <a:rPr lang="ko-KR" altLang="en-US" sz="1600" dirty="0"/>
              <a:t>을 끌어내기 위한 </a:t>
            </a:r>
            <a:endParaRPr lang="en-US" altLang="ko-KR" sz="1600" dirty="0"/>
          </a:p>
          <a:p>
            <a:pPr marL="216000" indent="-21600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600" b="1" dirty="0"/>
              <a:t>심리적 안전망 </a:t>
            </a:r>
            <a:r>
              <a:rPr lang="ko-KR" altLang="en-US" sz="1600" dirty="0"/>
              <a:t>구축이 필수적</a:t>
            </a:r>
            <a:endParaRPr lang="en-US" altLang="ko-KR" sz="16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5A456D8-C5D6-5A1F-796C-FB5456D08F23}"/>
              </a:ext>
            </a:extLst>
          </p:cNvPr>
          <p:cNvSpPr/>
          <p:nvPr/>
        </p:nvSpPr>
        <p:spPr>
          <a:xfrm>
            <a:off x="210975" y="4887307"/>
            <a:ext cx="1800000" cy="1152774"/>
          </a:xfrm>
          <a:prstGeom prst="rect">
            <a:avLst/>
          </a:prstGeom>
          <a:solidFill>
            <a:schemeClr val="accent2"/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spc="-50" dirty="0">
                <a:solidFill>
                  <a:schemeClr val="bg1"/>
                </a:solidFill>
                <a:latin typeface="+mn-ea"/>
              </a:rPr>
              <a:t>리더의 </a:t>
            </a:r>
            <a:endParaRPr lang="en-US" altLang="ko-KR" b="1" spc="-5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ko-KR" altLang="en-US" b="1" spc="-50" dirty="0">
                <a:solidFill>
                  <a:schemeClr val="bg1"/>
                </a:solidFill>
                <a:latin typeface="+mn-ea"/>
              </a:rPr>
              <a:t>피드백 역량 </a:t>
            </a:r>
            <a:endParaRPr lang="en-US" altLang="ko-KR" b="1" spc="-5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ko-KR" altLang="en-US" b="1" spc="-50" dirty="0">
                <a:solidFill>
                  <a:schemeClr val="bg1"/>
                </a:solidFill>
                <a:latin typeface="+mn-ea"/>
              </a:rPr>
              <a:t>강화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D5C06B-5451-B8E7-35A2-27C208BCFFB6}"/>
              </a:ext>
            </a:extLst>
          </p:cNvPr>
          <p:cNvSpPr txBox="1"/>
          <p:nvPr/>
        </p:nvSpPr>
        <p:spPr>
          <a:xfrm>
            <a:off x="2108201" y="4887307"/>
            <a:ext cx="7597775" cy="1152774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2">
                <a:lumMod val="50000"/>
              </a:schemeClr>
            </a:solidFill>
          </a:ln>
        </p:spPr>
        <p:txBody>
          <a:bodyPr wrap="square" lIns="180000" rIns="108000" rtlCol="0" anchor="ctr">
            <a:noAutofit/>
          </a:bodyPr>
          <a:lstStyle/>
          <a:p>
            <a:pPr marL="216000" indent="-21600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600" dirty="0"/>
              <a:t>모건 스탠리의 </a:t>
            </a:r>
            <a:r>
              <a:rPr lang="en-US" altLang="ko-KR" sz="1600" dirty="0"/>
              <a:t>'</a:t>
            </a:r>
            <a:r>
              <a:rPr lang="ko-KR" altLang="en-US" sz="1600" dirty="0"/>
              <a:t>평가 디렉터</a:t>
            </a:r>
            <a:r>
              <a:rPr lang="en-US" altLang="ko-KR" sz="1600" dirty="0"/>
              <a:t>'</a:t>
            </a:r>
            <a:r>
              <a:rPr lang="ko-KR" altLang="en-US" sz="1600" dirty="0" err="1"/>
              <a:t>처럼</a:t>
            </a:r>
            <a:r>
              <a:rPr lang="en-US" altLang="ko-KR" sz="1600" dirty="0"/>
              <a:t>, </a:t>
            </a:r>
          </a:p>
          <a:p>
            <a:pPr marL="216000" indent="-21600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600" dirty="0"/>
              <a:t>다면평가 결과를 해석하고 직원에게 발전적으로 전달하는 </a:t>
            </a:r>
            <a:endParaRPr lang="en-US" altLang="ko-KR" sz="1600" dirty="0"/>
          </a:p>
          <a:p>
            <a:pPr marL="216000" indent="-21600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sz="1600" b="1" dirty="0"/>
              <a:t>리더의 코칭 역량</a:t>
            </a:r>
            <a:r>
              <a:rPr lang="ko-KR" altLang="en-US" sz="1600" dirty="0"/>
              <a:t>이 시스템의 성패를 좌우</a:t>
            </a:r>
            <a:endParaRPr lang="en-US" altLang="ko-KR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09B29F-55AA-447D-A721-9FC3EEC5AD0F}"/>
              </a:ext>
            </a:extLst>
          </p:cNvPr>
          <p:cNvSpPr txBox="1"/>
          <p:nvPr/>
        </p:nvSpPr>
        <p:spPr>
          <a:xfrm>
            <a:off x="391138" y="1448942"/>
            <a:ext cx="3277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b="1" dirty="0"/>
              <a:t>성공적인 다면평가를 위해</a:t>
            </a:r>
            <a:r>
              <a:rPr kumimoji="1" lang="en-US" altLang="ko-KR" b="1" dirty="0"/>
              <a:t>…</a:t>
            </a:r>
            <a:endParaRPr kumimoji="1"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4773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3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BC4C5-EDA9-DFDE-AF96-04FB01576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C44EFF-6DC2-D93E-3DC0-DD9EA76951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spc="-100" dirty="0"/>
              <a:t>      </a:t>
            </a:r>
            <a:r>
              <a:rPr lang="ko-KR" altLang="en-US" dirty="0"/>
              <a:t>생각해 볼 </a:t>
            </a:r>
            <a:r>
              <a:rPr lang="ko-KR" altLang="en-US" spc="-100" dirty="0"/>
              <a:t>내용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1995B78-E92C-1CE8-B86A-880D18870865}"/>
              </a:ext>
            </a:extLst>
          </p:cNvPr>
          <p:cNvSpPr/>
          <p:nvPr/>
        </p:nvSpPr>
        <p:spPr>
          <a:xfrm>
            <a:off x="211138" y="767550"/>
            <a:ext cx="360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10</a:t>
            </a:r>
            <a:endParaRPr lang="ko-KR" altLang="en-US" sz="2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AD61B29-52B9-77E3-F0F1-8BF1437EF5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모건 스탠리 </a:t>
            </a:r>
            <a:r>
              <a:rPr lang="en-US" altLang="ko-KR" dirty="0"/>
              <a:t>360</a:t>
            </a:r>
            <a:r>
              <a:rPr lang="ko-KR" altLang="en-US" dirty="0"/>
              <a:t>도 평가 프로세스</a:t>
            </a: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DACD9469-CAD9-3F29-BC4D-DB43EAA9BE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8142A5B-241F-4620-9671-A7A83982CCBB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86DAAD-F44E-3778-057F-98FDF96C211B}"/>
              </a:ext>
            </a:extLst>
          </p:cNvPr>
          <p:cNvSpPr txBox="1"/>
          <p:nvPr/>
        </p:nvSpPr>
        <p:spPr>
          <a:xfrm>
            <a:off x="571138" y="4412096"/>
            <a:ext cx="8877751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kumimoji="1" lang="ko-KR" altLang="en-US" dirty="0"/>
              <a:t>모건 스탠리와 같은 </a:t>
            </a:r>
            <a:r>
              <a:rPr kumimoji="1" lang="ko-KR" altLang="en-US" dirty="0" err="1"/>
              <a:t>서구권</a:t>
            </a:r>
            <a:r>
              <a:rPr kumimoji="1" lang="ko-KR" altLang="en-US" dirty="0"/>
              <a:t> 투자은행에서도 상호간 껄끄러움을 피하고자 한 사례</a:t>
            </a:r>
            <a:endParaRPr kumimoji="1" lang="en-US" altLang="ko-KR" dirty="0"/>
          </a:p>
          <a:p>
            <a:pPr marL="285750" indent="-285750">
              <a:buFont typeface="Wingdings" pitchFamily="2" charset="2"/>
              <a:buChar char="§"/>
            </a:pPr>
            <a:r>
              <a:rPr kumimoji="1" lang="ko-KR" altLang="en-US" dirty="0"/>
              <a:t>나이</a:t>
            </a:r>
            <a:r>
              <a:rPr kumimoji="1" lang="en-US" altLang="ko-KR" dirty="0"/>
              <a:t>,</a:t>
            </a:r>
            <a:r>
              <a:rPr kumimoji="1" lang="ko-KR" altLang="en-US" dirty="0"/>
              <a:t> 직급 등 서열을 중시하고 체면을 중요하게 여기는 </a:t>
            </a:r>
            <a:r>
              <a:rPr kumimoji="1" lang="ko-KR" altLang="en-US" b="1" dirty="0"/>
              <a:t>대한민국</a:t>
            </a:r>
            <a:r>
              <a:rPr kumimoji="1" lang="ko-KR" altLang="en-US" dirty="0"/>
              <a:t>에서 다면평가를</a:t>
            </a:r>
            <a:endParaRPr kumimoji="1" lang="en-US" altLang="ko-KR" dirty="0"/>
          </a:p>
          <a:p>
            <a:r>
              <a:rPr kumimoji="1" lang="ko-KR" altLang="en-US" dirty="0"/>
              <a:t>    제대로 할 수 있을까</a:t>
            </a:r>
            <a:r>
              <a:rPr kumimoji="1" lang="en-US" altLang="ko-KR" dirty="0"/>
              <a:t>?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23AF57D2-2E71-A69D-E07B-61FC50BCF81A}"/>
              </a:ext>
            </a:extLst>
          </p:cNvPr>
          <p:cNvSpPr/>
          <p:nvPr/>
        </p:nvSpPr>
        <p:spPr>
          <a:xfrm>
            <a:off x="632873" y="2275742"/>
            <a:ext cx="2692960" cy="495307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b="1" dirty="0"/>
              <a:t>보상</a:t>
            </a:r>
            <a:r>
              <a:rPr kumimoji="1" lang="ko-KR" altLang="en-US" dirty="0"/>
              <a:t>연계 </a:t>
            </a:r>
            <a:r>
              <a:rPr kumimoji="1" lang="ko-KR" altLang="en-US" dirty="0">
                <a:solidFill>
                  <a:schemeClr val="bg1"/>
                </a:solidFill>
              </a:rPr>
              <a:t>찬성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5E28D0DC-0B77-FFD6-7FD8-CF067871D48C}"/>
              </a:ext>
            </a:extLst>
          </p:cNvPr>
          <p:cNvSpPr/>
          <p:nvPr/>
        </p:nvSpPr>
        <p:spPr>
          <a:xfrm>
            <a:off x="4169013" y="2275742"/>
            <a:ext cx="2692960" cy="495307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b="1" dirty="0"/>
              <a:t>보상</a:t>
            </a:r>
            <a:r>
              <a:rPr kumimoji="1" lang="ko-KR" altLang="en-US" dirty="0"/>
              <a:t>연계 </a:t>
            </a:r>
            <a:r>
              <a:rPr kumimoji="1" lang="ko-KR" altLang="en-US" dirty="0">
                <a:solidFill>
                  <a:schemeClr val="bg1"/>
                </a:solidFill>
              </a:rPr>
              <a:t>반대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EFA2560-827A-7192-F67B-48508B654361}"/>
              </a:ext>
            </a:extLst>
          </p:cNvPr>
          <p:cNvSpPr/>
          <p:nvPr/>
        </p:nvSpPr>
        <p:spPr>
          <a:xfrm>
            <a:off x="379262" y="1384075"/>
            <a:ext cx="6080913" cy="357460"/>
          </a:xfrm>
          <a:prstGeom prst="rect">
            <a:avLst/>
          </a:prstGeom>
          <a:solidFill>
            <a:schemeClr val="accent2"/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spc="-50" dirty="0">
                <a:solidFill>
                  <a:schemeClr val="bg1"/>
                </a:solidFill>
                <a:latin typeface="+mn-ea"/>
              </a:rPr>
              <a:t>1.</a:t>
            </a:r>
            <a:r>
              <a:rPr lang="ko-KR" altLang="en-US" b="1" spc="-50" dirty="0">
                <a:solidFill>
                  <a:schemeClr val="bg1"/>
                </a:solidFill>
                <a:latin typeface="+mn-ea"/>
              </a:rPr>
              <a:t> 다면평가 결과를 연봉</a:t>
            </a:r>
            <a:r>
              <a:rPr lang="en-US" altLang="ko-KR" b="1" spc="-50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b="1" spc="-50" dirty="0">
                <a:solidFill>
                  <a:schemeClr val="bg1"/>
                </a:solidFill>
                <a:latin typeface="+mn-ea"/>
              </a:rPr>
              <a:t>임금</a:t>
            </a:r>
            <a:r>
              <a:rPr lang="en-US" altLang="ko-KR" b="1" spc="-50" dirty="0">
                <a:solidFill>
                  <a:schemeClr val="bg1"/>
                </a:solidFill>
                <a:latin typeface="+mn-ea"/>
              </a:rPr>
              <a:t>)</a:t>
            </a:r>
            <a:r>
              <a:rPr lang="ko-KR" altLang="en-US" b="1" spc="-50" dirty="0" err="1">
                <a:solidFill>
                  <a:schemeClr val="bg1"/>
                </a:solidFill>
                <a:latin typeface="+mn-ea"/>
              </a:rPr>
              <a:t>에</a:t>
            </a:r>
            <a:r>
              <a:rPr lang="ko-KR" altLang="en-US" b="1" spc="-50" dirty="0">
                <a:solidFill>
                  <a:schemeClr val="bg1"/>
                </a:solidFill>
                <a:latin typeface="+mn-ea"/>
              </a:rPr>
              <a:t> 연동해야 할까</a:t>
            </a:r>
            <a:r>
              <a:rPr lang="en-US" altLang="ko-KR" b="1" spc="-50" dirty="0">
                <a:solidFill>
                  <a:schemeClr val="bg1"/>
                </a:solidFill>
                <a:latin typeface="+mn-ea"/>
              </a:rPr>
              <a:t>?</a:t>
            </a:r>
            <a:endParaRPr lang="ko-KR" altLang="en-US" b="1" spc="-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CDCF71-726D-5B6E-25BB-11D366C0852D}"/>
              </a:ext>
            </a:extLst>
          </p:cNvPr>
          <p:cNvSpPr txBox="1"/>
          <p:nvPr/>
        </p:nvSpPr>
        <p:spPr>
          <a:xfrm>
            <a:off x="3528134" y="2275742"/>
            <a:ext cx="4683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400" dirty="0"/>
              <a:t>vs</a:t>
            </a:r>
            <a:endParaRPr kumimoji="1" lang="ko-KR" altLang="en-US" sz="2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C3CE045-F7FD-F33C-E6FE-7B8E555A41BE}"/>
              </a:ext>
            </a:extLst>
          </p:cNvPr>
          <p:cNvSpPr/>
          <p:nvPr/>
        </p:nvSpPr>
        <p:spPr>
          <a:xfrm>
            <a:off x="391137" y="3800564"/>
            <a:ext cx="6069039" cy="357460"/>
          </a:xfrm>
          <a:prstGeom prst="rect">
            <a:avLst/>
          </a:prstGeom>
          <a:solidFill>
            <a:schemeClr val="accent2"/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spc="-50" dirty="0">
                <a:solidFill>
                  <a:schemeClr val="bg1"/>
                </a:solidFill>
                <a:latin typeface="+mn-ea"/>
              </a:rPr>
              <a:t>2.</a:t>
            </a:r>
            <a:r>
              <a:rPr lang="ko-KR" altLang="en-US" b="1" spc="-50" dirty="0">
                <a:solidFill>
                  <a:schemeClr val="bg1"/>
                </a:solidFill>
                <a:latin typeface="+mn-ea"/>
              </a:rPr>
              <a:t> 서열과 체념을 넘어서 다면평가를 제대로 할 수 있을까</a:t>
            </a:r>
            <a:r>
              <a:rPr lang="en-US" altLang="ko-KR" b="1" spc="-50" dirty="0">
                <a:solidFill>
                  <a:schemeClr val="bg1"/>
                </a:solidFill>
                <a:latin typeface="+mn-ea"/>
              </a:rPr>
              <a:t>?</a:t>
            </a:r>
            <a:endParaRPr lang="ko-KR" altLang="en-US" b="1" spc="-50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374228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148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KU Color Palette">
      <a:dk1>
        <a:sysClr val="windowText" lastClr="000000"/>
      </a:dk1>
      <a:lt1>
        <a:sysClr val="window" lastClr="FFFFFF"/>
      </a:lt1>
      <a:dk2>
        <a:srgbClr val="505046"/>
      </a:dk2>
      <a:lt2>
        <a:srgbClr val="E8E8E8"/>
      </a:lt2>
      <a:accent1>
        <a:srgbClr val="005128"/>
      </a:accent1>
      <a:accent2>
        <a:srgbClr val="036B3F"/>
      </a:accent2>
      <a:accent3>
        <a:srgbClr val="B8F329"/>
      </a:accent3>
      <a:accent4>
        <a:srgbClr val="21BA31"/>
      </a:accent4>
      <a:accent5>
        <a:srgbClr val="2155A4"/>
      </a:accent5>
      <a:accent6>
        <a:srgbClr val="FF0000"/>
      </a:accent6>
      <a:hlink>
        <a:srgbClr val="505046"/>
      </a:hlink>
      <a:folHlink>
        <a:srgbClr val="2155A4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17825</TotalTime>
  <Words>2745</Words>
  <Application>Microsoft Macintosh PowerPoint</Application>
  <PresentationFormat>A4 용지(210x297mm)</PresentationFormat>
  <Paragraphs>348</Paragraphs>
  <Slides>16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Arial</vt:lpstr>
      <vt:lpstr>맑은 고딕</vt:lpstr>
      <vt:lpstr>Wingdings</vt:lpstr>
      <vt:lpstr>맑은 고딕</vt:lpstr>
      <vt:lpstr>나눔고딕 ExtraBold</vt:lpstr>
      <vt:lpstr>Office 테마</vt:lpstr>
      <vt:lpstr>모건 스탠리의 전사적 360도 성과 평가 프로세스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구우회</cp:lastModifiedBy>
  <cp:revision>606</cp:revision>
  <cp:lastPrinted>2018-02-20T04:21:19Z</cp:lastPrinted>
  <dcterms:created xsi:type="dcterms:W3CDTF">2015-12-08T08:19:15Z</dcterms:created>
  <dcterms:modified xsi:type="dcterms:W3CDTF">2026-04-15T10:38:49Z</dcterms:modified>
</cp:coreProperties>
</file>