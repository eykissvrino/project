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256" r:id="rId2"/>
    <p:sldId id="257" r:id="rId3"/>
    <p:sldId id="267" r:id="rId4"/>
    <p:sldId id="274" r:id="rId5"/>
    <p:sldId id="258" r:id="rId6"/>
    <p:sldId id="259" r:id="rId7"/>
    <p:sldId id="260" r:id="rId8"/>
    <p:sldId id="261" r:id="rId9"/>
    <p:sldId id="262" r:id="rId10"/>
    <p:sldId id="285" r:id="rId11"/>
    <p:sldId id="275" r:id="rId12"/>
    <p:sldId id="280" r:id="rId13"/>
    <p:sldId id="282" r:id="rId14"/>
    <p:sldId id="278" r:id="rId15"/>
    <p:sldId id="277" r:id="rId16"/>
    <p:sldId id="279" r:id="rId17"/>
    <p:sldId id="283" r:id="rId18"/>
    <p:sldId id="271" r:id="rId19"/>
    <p:sldId id="284" r:id="rId20"/>
    <p:sldId id="287" r:id="rId21"/>
  </p:sldIdLst>
  <p:sldSz cx="9144000" cy="5143500" type="screen16x9"/>
  <p:notesSz cx="6888163" cy="100187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Gm2aKYOq2oJkvkew0QisSQ==" hashData="HFTMyeWz2tlMTAbrhiG1scQbGdCQVSB/GQNKbd1BKDprktg4FSmOd1CVatC+/lIDUInjbelOmk3RHFP8TQfAVw=="/>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414"/>
    <a:srgbClr val="FEE500"/>
    <a:srgbClr val="E509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7440" autoAdjust="0"/>
  </p:normalViewPr>
  <p:slideViewPr>
    <p:cSldViewPr snapToGrid="0" snapToObjects="1">
      <p:cViewPr varScale="1">
        <p:scale>
          <a:sx n="214" d="100"/>
          <a:sy n="214" d="100"/>
        </p:scale>
        <p:origin x="264" y="168"/>
      </p:cViewPr>
      <p:guideLst/>
    </p:cSldViewPr>
  </p:slideViewPr>
  <p:notesTextViewPr>
    <p:cViewPr>
      <p:scale>
        <a:sx n="125" d="100"/>
        <a:sy n="125" d="100"/>
      </p:scale>
      <p:origin x="0" y="0"/>
    </p:cViewPr>
  </p:notesTextViewPr>
  <p:notesViewPr>
    <p:cSldViewPr snapToGrid="0" snapToObjects="1">
      <p:cViewPr varScale="1">
        <p:scale>
          <a:sx n="113" d="100"/>
          <a:sy n="113" d="100"/>
        </p:scale>
        <p:origin x="5190" y="1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3" y="0"/>
            <a:ext cx="2984870" cy="502676"/>
          </a:xfrm>
          <a:prstGeom prst="rect">
            <a:avLst/>
          </a:prstGeom>
        </p:spPr>
        <p:txBody>
          <a:bodyPr vert="horz" lIns="108220" tIns="54109" rIns="108220" bIns="54109" rtlCol="0"/>
          <a:lstStyle>
            <a:lvl1pPr algn="l">
              <a:defRPr sz="1400"/>
            </a:lvl1pPr>
          </a:lstStyle>
          <a:p>
            <a:endParaRPr lang="ko-KR" altLang="en-US"/>
          </a:p>
        </p:txBody>
      </p:sp>
      <p:sp>
        <p:nvSpPr>
          <p:cNvPr id="3" name="날짜 개체 틀 2"/>
          <p:cNvSpPr>
            <a:spLocks noGrp="1"/>
          </p:cNvSpPr>
          <p:nvPr>
            <p:ph type="dt" sz="quarter" idx="1"/>
          </p:nvPr>
        </p:nvSpPr>
        <p:spPr>
          <a:xfrm>
            <a:off x="3901170" y="0"/>
            <a:ext cx="2984870" cy="502676"/>
          </a:xfrm>
          <a:prstGeom prst="rect">
            <a:avLst/>
          </a:prstGeom>
        </p:spPr>
        <p:txBody>
          <a:bodyPr vert="horz" lIns="108220" tIns="54109" rIns="108220" bIns="54109" rtlCol="0"/>
          <a:lstStyle>
            <a:lvl1pPr algn="r">
              <a:defRPr sz="1400"/>
            </a:lvl1pPr>
          </a:lstStyle>
          <a:p>
            <a:fld id="{860FCF79-B5AA-4A99-AB70-73C83D2803E9}" type="datetimeFigureOut">
              <a:rPr lang="ko-KR" altLang="en-US" smtClean="0"/>
              <a:t>2026-03-28</a:t>
            </a:fld>
            <a:endParaRPr lang="ko-KR" altLang="en-US"/>
          </a:p>
        </p:txBody>
      </p:sp>
      <p:sp>
        <p:nvSpPr>
          <p:cNvPr id="4" name="바닥글 개체 틀 3"/>
          <p:cNvSpPr>
            <a:spLocks noGrp="1"/>
          </p:cNvSpPr>
          <p:nvPr>
            <p:ph type="ftr" sz="quarter" idx="2"/>
          </p:nvPr>
        </p:nvSpPr>
        <p:spPr>
          <a:xfrm>
            <a:off x="3" y="9516037"/>
            <a:ext cx="2984870" cy="502676"/>
          </a:xfrm>
          <a:prstGeom prst="rect">
            <a:avLst/>
          </a:prstGeom>
        </p:spPr>
        <p:txBody>
          <a:bodyPr vert="horz" lIns="108220" tIns="54109" rIns="108220" bIns="54109" rtlCol="0" anchor="b"/>
          <a:lstStyle>
            <a:lvl1pPr algn="l">
              <a:defRPr sz="1400"/>
            </a:lvl1pPr>
          </a:lstStyle>
          <a:p>
            <a:endParaRPr lang="ko-KR" altLang="en-US"/>
          </a:p>
        </p:txBody>
      </p:sp>
      <p:sp>
        <p:nvSpPr>
          <p:cNvPr id="5" name="슬라이드 번호 개체 틀 4"/>
          <p:cNvSpPr>
            <a:spLocks noGrp="1"/>
          </p:cNvSpPr>
          <p:nvPr>
            <p:ph type="sldNum" sz="quarter" idx="3"/>
          </p:nvPr>
        </p:nvSpPr>
        <p:spPr>
          <a:xfrm>
            <a:off x="3901170" y="9516037"/>
            <a:ext cx="2984870" cy="502676"/>
          </a:xfrm>
          <a:prstGeom prst="rect">
            <a:avLst/>
          </a:prstGeom>
        </p:spPr>
        <p:txBody>
          <a:bodyPr vert="horz" lIns="108220" tIns="54109" rIns="108220" bIns="54109" rtlCol="0" anchor="b"/>
          <a:lstStyle>
            <a:lvl1pPr algn="r">
              <a:defRPr sz="1400"/>
            </a:lvl1pPr>
          </a:lstStyle>
          <a:p>
            <a:fld id="{C8E603D2-8131-4675-94CA-47276CE8E005}" type="slidenum">
              <a:rPr lang="ko-KR" altLang="en-US" smtClean="0"/>
              <a:t>‹#›</a:t>
            </a:fld>
            <a:endParaRPr lang="ko-KR" altLang="en-US"/>
          </a:p>
        </p:txBody>
      </p:sp>
    </p:spTree>
    <p:extLst>
      <p:ext uri="{BB962C8B-B14F-4D97-AF65-F5344CB8AC3E}">
        <p14:creationId xmlns:p14="http://schemas.microsoft.com/office/powerpoint/2010/main" val="26262461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idx="2"/>
          </p:nvPr>
        </p:nvSpPr>
        <p:spPr>
          <a:xfrm>
            <a:off x="439738" y="1252538"/>
            <a:ext cx="6010275" cy="3381375"/>
          </a:xfrm>
          <a:prstGeom prst="rect">
            <a:avLst/>
          </a:prstGeom>
          <a:noFill/>
          <a:ln w="12700">
            <a:solidFill>
              <a:prstClr val="black"/>
            </a:solidFill>
          </a:ln>
        </p:spPr>
        <p:txBody>
          <a:bodyPr vert="horz" lIns="89183" tIns="44592" rIns="89183" bIns="44592" rtlCol="0" anchor="ctr"/>
          <a:lstStyle/>
          <a:p>
            <a:endParaRPr lang="ko-KR" altLang="en-US"/>
          </a:p>
        </p:txBody>
      </p:sp>
      <p:sp>
        <p:nvSpPr>
          <p:cNvPr id="3" name="슬라이드 노트 개체 틀 2"/>
          <p:cNvSpPr>
            <a:spLocks noGrp="1"/>
          </p:cNvSpPr>
          <p:nvPr>
            <p:ph type="body" sz="quarter" idx="3"/>
          </p:nvPr>
        </p:nvSpPr>
        <p:spPr>
          <a:xfrm>
            <a:off x="689586" y="4822100"/>
            <a:ext cx="5510530" cy="3944081"/>
          </a:xfrm>
          <a:prstGeom prst="rect">
            <a:avLst/>
          </a:prstGeom>
        </p:spPr>
        <p:txBody>
          <a:bodyPr vert="horz" lIns="89183" tIns="44592" rIns="89183" bIns="44592"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Tree>
    <p:extLst>
      <p:ext uri="{BB962C8B-B14F-4D97-AF65-F5344CB8AC3E}">
        <p14:creationId xmlns:p14="http://schemas.microsoft.com/office/powerpoint/2010/main" val="5131265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pPr defTabSz="924367">
              <a:defRPr/>
            </a:pPr>
            <a:endParaRPr lang="en-US" dirty="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endParaRPr lang="en-US" altLang="ko-KR" dirty="0" smtClean="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endParaRPr lang="en-US" altLang="ko-KR" dirty="0" smtClean="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3</a:t>
            </a:fld>
            <a:endParaRPr lang="en-US"/>
          </a:p>
        </p:txBody>
      </p:sp>
    </p:spTree>
    <p:extLst>
      <p:ext uri="{BB962C8B-B14F-4D97-AF65-F5344CB8AC3E}">
        <p14:creationId xmlns:p14="http://schemas.microsoft.com/office/powerpoint/2010/main" val="2657771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endParaRPr lang="en-US" altLang="ko-KR" dirty="0" smtClean="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4</a:t>
            </a:fld>
            <a:endParaRPr lang="en-US"/>
          </a:p>
        </p:txBody>
      </p:sp>
    </p:spTree>
    <p:extLst>
      <p:ext uri="{BB962C8B-B14F-4D97-AF65-F5344CB8AC3E}">
        <p14:creationId xmlns:p14="http://schemas.microsoft.com/office/powerpoint/2010/main" val="849203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endParaRPr lang="en-US" altLang="ko-KR" baseline="0" dirty="0" smtClean="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endParaRPr lang="en-US" altLang="ko-KR" dirty="0" smtClean="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endParaRPr lang="en-US" altLang="ko-KR" dirty="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endParaRPr lang="en-US" altLang="ko-KR" dirty="0" smtClean="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endParaRPr lang="en-US" altLang="ko-KR" dirty="0">
              <a:latin typeface="+mn-ea"/>
            </a:endParaRPr>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pPr marL="231092" indent="-231092">
              <a:buAutoNum type="arabicPeriod"/>
            </a:pPr>
            <a:endParaRPr lang="en-US" altLang="ko-KR" dirty="0" smtClean="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10</a:t>
            </a:fld>
            <a:endParaRPr lang="en-US"/>
          </a:p>
        </p:txBody>
      </p:sp>
    </p:spTree>
    <p:extLst>
      <p:ext uri="{BB962C8B-B14F-4D97-AF65-F5344CB8AC3E}">
        <p14:creationId xmlns:p14="http://schemas.microsoft.com/office/powerpoint/2010/main" val="1475914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endParaRPr lang="en-US" altLang="ko-KR" dirty="0">
              <a:solidFill>
                <a:srgbClr val="FFFFFF"/>
              </a:solidFill>
              <a:ea typeface="Arial Black" pitchFamily="34" charset="-122"/>
              <a:cs typeface="Arial Black" pitchFamily="34" charset="-120"/>
            </a:endParaRPr>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11</a:t>
            </a:fld>
            <a:endParaRPr lang="en-US"/>
          </a:p>
        </p:txBody>
      </p:sp>
    </p:spTree>
    <p:extLst>
      <p:ext uri="{BB962C8B-B14F-4D97-AF65-F5344CB8AC3E}">
        <p14:creationId xmlns:p14="http://schemas.microsoft.com/office/powerpoint/2010/main" val="4131116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92456" tIns="46228" rIns="92456" bIns="46228"/>
          <a:lstStyle/>
          <a:p>
            <a:endParaRPr lang="en-US" dirty="0"/>
          </a:p>
        </p:txBody>
      </p:sp>
      <p:sp>
        <p:nvSpPr>
          <p:cNvPr id="4" name="Slide Number Placeholder 3"/>
          <p:cNvSpPr>
            <a:spLocks noGrp="1"/>
          </p:cNvSpPr>
          <p:nvPr>
            <p:ph type="sldNum" sz="quarter" idx="10"/>
          </p:nvPr>
        </p:nvSpPr>
        <p:spPr/>
        <p:txBody>
          <a:bodyPr lIns="92456" tIns="46228" rIns="92456" bIns="46228"/>
          <a:lstStyle/>
          <a:p>
            <a:fld id="{F7021451-1387-4CA6-816F-3879F97B5CBC}" type="slidenum">
              <a:rPr lang="en-US"/>
              <a:t>12</a:t>
            </a:fld>
            <a:endParaRPr lang="en-US"/>
          </a:p>
        </p:txBody>
      </p:sp>
    </p:spTree>
    <p:extLst>
      <p:ext uri="{BB962C8B-B14F-4D97-AF65-F5344CB8AC3E}">
        <p14:creationId xmlns:p14="http://schemas.microsoft.com/office/powerpoint/2010/main" val="881318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92456" tIns="46228" rIns="92456" bIns="46228"/>
          <a:lstStyle/>
          <a:p>
            <a:endParaRPr lang="en-US" dirty="0"/>
          </a:p>
        </p:txBody>
      </p:sp>
      <p:sp>
        <p:nvSpPr>
          <p:cNvPr id="4" name="Slide Number Placeholder 3"/>
          <p:cNvSpPr>
            <a:spLocks noGrp="1"/>
          </p:cNvSpPr>
          <p:nvPr>
            <p:ph type="sldNum" sz="quarter" idx="10"/>
          </p:nvPr>
        </p:nvSpPr>
        <p:spPr/>
        <p:txBody>
          <a:bodyPr lIns="92456" tIns="46228" rIns="92456" bIns="46228"/>
          <a:lstStyle/>
          <a:p>
            <a:fld id="{F7021451-1387-4CA6-816F-3879F97B5CBC}" type="slidenum">
              <a:rPr lang="en-US"/>
              <a:t>13</a:t>
            </a:fld>
            <a:endParaRPr lang="en-US"/>
          </a:p>
        </p:txBody>
      </p:sp>
    </p:spTree>
    <p:extLst>
      <p:ext uri="{BB962C8B-B14F-4D97-AF65-F5344CB8AC3E}">
        <p14:creationId xmlns:p14="http://schemas.microsoft.com/office/powerpoint/2010/main" val="1504663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92456" tIns="46228" rIns="92456" bIns="46228"/>
          <a:lstStyle/>
          <a:p>
            <a:endParaRPr lang="en-US" dirty="0"/>
          </a:p>
        </p:txBody>
      </p:sp>
      <p:sp>
        <p:nvSpPr>
          <p:cNvPr id="4" name="Slide Number Placeholder 3"/>
          <p:cNvSpPr>
            <a:spLocks noGrp="1"/>
          </p:cNvSpPr>
          <p:nvPr>
            <p:ph type="sldNum" sz="quarter" idx="10"/>
          </p:nvPr>
        </p:nvSpPr>
        <p:spPr/>
        <p:txBody>
          <a:bodyPr lIns="92456" tIns="46228" rIns="92456" bIns="46228"/>
          <a:lstStyle/>
          <a:p>
            <a:fld id="{F7021451-1387-4CA6-816F-3879F97B5CBC}" type="slidenum">
              <a:rPr lang="en-US"/>
              <a:t>14</a:t>
            </a:fld>
            <a:endParaRPr lang="en-US"/>
          </a:p>
        </p:txBody>
      </p:sp>
    </p:spTree>
    <p:extLst>
      <p:ext uri="{BB962C8B-B14F-4D97-AF65-F5344CB8AC3E}">
        <p14:creationId xmlns:p14="http://schemas.microsoft.com/office/powerpoint/2010/main" val="1103186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92456" tIns="46228" rIns="92456" bIns="46228"/>
          <a:lstStyle/>
          <a:p>
            <a:endParaRPr lang="en-US" dirty="0"/>
          </a:p>
        </p:txBody>
      </p:sp>
      <p:sp>
        <p:nvSpPr>
          <p:cNvPr id="4" name="Slide Number Placeholder 3"/>
          <p:cNvSpPr>
            <a:spLocks noGrp="1"/>
          </p:cNvSpPr>
          <p:nvPr>
            <p:ph type="sldNum" sz="quarter" idx="10"/>
          </p:nvPr>
        </p:nvSpPr>
        <p:spPr/>
        <p:txBody>
          <a:bodyPr lIns="92456" tIns="46228" rIns="92456" bIns="46228"/>
          <a:lstStyle/>
          <a:p>
            <a:fld id="{F7021451-1387-4CA6-816F-3879F97B5CBC}" type="slidenum">
              <a:rPr lang="en-US"/>
              <a:t>15</a:t>
            </a:fld>
            <a:endParaRPr lang="en-US"/>
          </a:p>
        </p:txBody>
      </p:sp>
    </p:spTree>
    <p:extLst>
      <p:ext uri="{BB962C8B-B14F-4D97-AF65-F5344CB8AC3E}">
        <p14:creationId xmlns:p14="http://schemas.microsoft.com/office/powerpoint/2010/main" val="125671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92456" tIns="46228" rIns="92456" bIns="46228"/>
          <a:lstStyle/>
          <a:p>
            <a:endParaRPr lang="en-US" dirty="0"/>
          </a:p>
        </p:txBody>
      </p:sp>
      <p:sp>
        <p:nvSpPr>
          <p:cNvPr id="4" name="Slide Number Placeholder 3"/>
          <p:cNvSpPr>
            <a:spLocks noGrp="1"/>
          </p:cNvSpPr>
          <p:nvPr>
            <p:ph type="sldNum" sz="quarter" idx="10"/>
          </p:nvPr>
        </p:nvSpPr>
        <p:spPr/>
        <p:txBody>
          <a:bodyPr lIns="92456" tIns="46228" rIns="92456" bIns="46228"/>
          <a:lstStyle/>
          <a:p>
            <a:fld id="{F7021451-1387-4CA6-816F-3879F97B5CBC}" type="slidenum">
              <a:rPr lang="en-US"/>
              <a:t>16</a:t>
            </a:fld>
            <a:endParaRPr lang="en-US"/>
          </a:p>
        </p:txBody>
      </p:sp>
    </p:spTree>
    <p:extLst>
      <p:ext uri="{BB962C8B-B14F-4D97-AF65-F5344CB8AC3E}">
        <p14:creationId xmlns:p14="http://schemas.microsoft.com/office/powerpoint/2010/main" val="13822103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altLang="ko-KR" dirty="0"/>
              <a:t>Netflix </a:t>
            </a:r>
            <a:r>
              <a:rPr lang="ko-KR" altLang="ko-KR" dirty="0"/>
              <a:t>사례의 핵심은 문화를 얼마나 많이 </a:t>
            </a:r>
            <a:r>
              <a:rPr lang="ko-KR" altLang="ko-KR" dirty="0" err="1"/>
              <a:t>바꿨느냐가</a:t>
            </a:r>
            <a:r>
              <a:rPr lang="ko-KR" altLang="ko-KR" dirty="0"/>
              <a:t> 아니라</a:t>
            </a:r>
            <a:r>
              <a:rPr lang="en-US" altLang="ko-KR" dirty="0"/>
              <a:t>, </a:t>
            </a:r>
            <a:r>
              <a:rPr lang="ko-KR" altLang="ko-KR" dirty="0"/>
              <a:t>무엇이 바뀌면 안 되는 핵심인지 정확히 구분했다는 점이다</a:t>
            </a:r>
            <a:r>
              <a:rPr lang="en-US" altLang="ko-KR" dirty="0"/>
              <a:t>.</a:t>
            </a:r>
            <a:endParaRPr lang="ko-KR" altLang="ko-KR" dirty="0"/>
          </a:p>
          <a:p>
            <a:pPr latinLnBrk="1"/>
            <a:r>
              <a:rPr lang="en-US" altLang="ko-KR" dirty="0"/>
              <a:t>Netflix</a:t>
            </a:r>
            <a:r>
              <a:rPr lang="ko-KR" altLang="ko-KR" dirty="0"/>
              <a:t>는 기존</a:t>
            </a:r>
            <a:r>
              <a:rPr lang="en-US" altLang="ko-KR" dirty="0"/>
              <a:t> HR </a:t>
            </a:r>
            <a:r>
              <a:rPr lang="ko-KR" altLang="ko-KR" dirty="0"/>
              <a:t>철학을 전면적으로 폐기하지 않았다</a:t>
            </a:r>
            <a:r>
              <a:rPr lang="en-US" altLang="ko-KR" dirty="0"/>
              <a:t>. </a:t>
            </a:r>
            <a:r>
              <a:rPr lang="ko-KR" altLang="ko-KR" dirty="0"/>
              <a:t>오히려 고성과 인재</a:t>
            </a:r>
            <a:r>
              <a:rPr lang="en-US" altLang="ko-KR" dirty="0"/>
              <a:t>, </a:t>
            </a:r>
            <a:r>
              <a:rPr lang="ko-KR" altLang="ko-KR" dirty="0"/>
              <a:t>솔직한 피드백</a:t>
            </a:r>
            <a:r>
              <a:rPr lang="en-US" altLang="ko-KR" dirty="0"/>
              <a:t>, </a:t>
            </a:r>
            <a:r>
              <a:rPr lang="ko-KR" altLang="ko-KR" dirty="0"/>
              <a:t>자율과 책임이라는 핵심은 유지했다</a:t>
            </a:r>
            <a:r>
              <a:rPr lang="en-US" altLang="ko-KR" dirty="0"/>
              <a:t>. </a:t>
            </a:r>
            <a:r>
              <a:rPr lang="ko-KR" altLang="ko-KR" dirty="0"/>
              <a:t>대신 성장 둔화</a:t>
            </a:r>
            <a:r>
              <a:rPr lang="en-US" altLang="ko-KR" dirty="0"/>
              <a:t>, </a:t>
            </a:r>
            <a:r>
              <a:rPr lang="ko-KR" altLang="ko-KR" dirty="0"/>
              <a:t>수익성 압박</a:t>
            </a:r>
            <a:r>
              <a:rPr lang="en-US" altLang="ko-KR" dirty="0"/>
              <a:t>, </a:t>
            </a:r>
            <a:r>
              <a:rPr lang="ko-KR" altLang="ko-KR" dirty="0"/>
              <a:t>글로벌 확장이라는 새로운 환경에 대응하기 위해 운영 방식을 조정했다</a:t>
            </a:r>
            <a:r>
              <a:rPr lang="en-US" altLang="ko-KR" dirty="0"/>
              <a:t>. </a:t>
            </a:r>
            <a:r>
              <a:rPr lang="ko-KR" altLang="ko-KR" dirty="0"/>
              <a:t>다시 말해</a:t>
            </a:r>
            <a:r>
              <a:rPr lang="en-US" altLang="ko-KR" dirty="0"/>
              <a:t>, </a:t>
            </a:r>
            <a:r>
              <a:rPr lang="ko-KR" altLang="ko-KR" dirty="0"/>
              <a:t>핵심은 유지하고</a:t>
            </a:r>
            <a:r>
              <a:rPr lang="en-US" altLang="ko-KR" dirty="0"/>
              <a:t>, </a:t>
            </a:r>
            <a:r>
              <a:rPr lang="ko-KR" altLang="ko-KR" dirty="0"/>
              <a:t>운영은 환경에 맞게 진화시켰다</a:t>
            </a:r>
            <a:r>
              <a:rPr lang="en-US" altLang="ko-KR" dirty="0"/>
              <a:t>.</a:t>
            </a:r>
            <a:endParaRPr lang="ko-KR" altLang="ko-KR" dirty="0"/>
          </a:p>
          <a:p>
            <a:pPr latinLnBrk="1"/>
            <a:r>
              <a:rPr lang="ko-KR" altLang="ko-KR" dirty="0"/>
              <a:t>이 점에서</a:t>
            </a:r>
            <a:r>
              <a:rPr lang="en-US" altLang="ko-KR" dirty="0"/>
              <a:t> Netflix</a:t>
            </a:r>
            <a:r>
              <a:rPr lang="ko-KR" altLang="ko-KR" dirty="0"/>
              <a:t>의 </a:t>
            </a:r>
            <a:r>
              <a:rPr lang="ko-KR" altLang="ko-KR" dirty="0" err="1"/>
              <a:t>턴어라운드는</a:t>
            </a:r>
            <a:r>
              <a:rPr lang="en-US" altLang="ko-KR" dirty="0"/>
              <a:t> “</a:t>
            </a:r>
            <a:r>
              <a:rPr lang="ko-KR" altLang="ko-KR" dirty="0"/>
              <a:t>변화의 크기</a:t>
            </a:r>
            <a:r>
              <a:rPr lang="en-US" altLang="ko-KR" dirty="0"/>
              <a:t>”</a:t>
            </a:r>
            <a:r>
              <a:rPr lang="ko-KR" altLang="ko-KR" dirty="0"/>
              <a:t>가 아니라</a:t>
            </a:r>
            <a:r>
              <a:rPr lang="en-US" altLang="ko-KR" dirty="0"/>
              <a:t> “</a:t>
            </a:r>
            <a:r>
              <a:rPr lang="ko-KR" altLang="ko-KR" dirty="0"/>
              <a:t>핵심을 지키면서도 적응했는가</a:t>
            </a:r>
            <a:r>
              <a:rPr lang="en-US" altLang="ko-KR" dirty="0"/>
              <a:t>”</a:t>
            </a:r>
            <a:r>
              <a:rPr lang="ko-KR" altLang="ko-KR" dirty="0"/>
              <a:t>가 조직 성패를 가른 사례라고 볼 수 있다</a:t>
            </a:r>
            <a:r>
              <a:rPr lang="en-US" altLang="ko-KR" dirty="0"/>
              <a:t>.</a:t>
            </a:r>
            <a:endParaRPr lang="ko-KR" altLang="ko-KR" dirty="0"/>
          </a:p>
          <a:p>
            <a:pPr latinLnBrk="1"/>
            <a:r>
              <a:rPr lang="en-US" altLang="ko-KR" dirty="0"/>
              <a:t> </a:t>
            </a:r>
            <a:endParaRPr lang="ko-KR" altLang="ko-KR" dirty="0"/>
          </a:p>
          <a:p>
            <a:pPr latinLnBrk="1"/>
            <a:r>
              <a:rPr lang="ko-KR" altLang="ko-KR" dirty="0"/>
              <a:t>기업이 위기에 대응할 때 중요한 것은 모든 것을 바꾸는 것이 아니라</a:t>
            </a:r>
            <a:r>
              <a:rPr lang="en-US" altLang="ko-KR" dirty="0"/>
              <a:t>, </a:t>
            </a:r>
            <a:r>
              <a:rPr lang="ko-KR" altLang="ko-KR" dirty="0"/>
              <a:t>자사의 핵심역량과 문화적 정체성이 무엇인지 먼저 명확히 아는 것이다</a:t>
            </a:r>
            <a:r>
              <a:rPr lang="en-US" altLang="ko-KR" dirty="0"/>
              <a:t>.</a:t>
            </a:r>
            <a:endParaRPr lang="ko-KR" altLang="ko-KR" dirty="0"/>
          </a:p>
          <a:p>
            <a:pPr latinLnBrk="1"/>
            <a:r>
              <a:rPr lang="ko-KR" altLang="ko-KR" dirty="0"/>
              <a:t>그 위에서 외부 환경 변화에 맞게 제도와 운영 방식을 조정해야 한다</a:t>
            </a:r>
            <a:r>
              <a:rPr lang="en-US" altLang="ko-KR" dirty="0"/>
              <a:t>.</a:t>
            </a:r>
            <a:endParaRPr lang="ko-KR" altLang="ko-KR" dirty="0"/>
          </a:p>
          <a:p>
            <a:pPr latinLnBrk="1"/>
            <a:r>
              <a:rPr lang="ko-KR" altLang="ko-KR" dirty="0"/>
              <a:t>즉</a:t>
            </a:r>
            <a:r>
              <a:rPr lang="en-US" altLang="ko-KR" dirty="0"/>
              <a:t>, </a:t>
            </a:r>
            <a:r>
              <a:rPr lang="ko-KR" altLang="ko-KR" dirty="0" err="1"/>
              <a:t>경쟁우위는</a:t>
            </a:r>
            <a:r>
              <a:rPr lang="en-US" altLang="ko-KR" dirty="0"/>
              <a:t> ‘</a:t>
            </a:r>
            <a:r>
              <a:rPr lang="ko-KR" altLang="ko-KR" dirty="0"/>
              <a:t>고정된 원칙</a:t>
            </a:r>
            <a:r>
              <a:rPr lang="en-US" altLang="ko-KR" dirty="0"/>
              <a:t>’</a:t>
            </a:r>
            <a:r>
              <a:rPr lang="ko-KR" altLang="ko-KR" dirty="0"/>
              <a:t>만으로도</a:t>
            </a:r>
            <a:r>
              <a:rPr lang="en-US" altLang="ko-KR" dirty="0"/>
              <a:t>, ‘</a:t>
            </a:r>
            <a:r>
              <a:rPr lang="ko-KR" altLang="ko-KR" dirty="0"/>
              <a:t>잦은 변화</a:t>
            </a:r>
            <a:r>
              <a:rPr lang="en-US" altLang="ko-KR" dirty="0"/>
              <a:t>’</a:t>
            </a:r>
            <a:r>
              <a:rPr lang="ko-KR" altLang="ko-KR" dirty="0"/>
              <a:t>만으로도 만들어지지 않는다</a:t>
            </a:r>
            <a:r>
              <a:rPr lang="en-US" altLang="ko-KR" dirty="0"/>
              <a:t>.</a:t>
            </a:r>
            <a:endParaRPr lang="ko-KR" altLang="ko-KR" dirty="0"/>
          </a:p>
          <a:p>
            <a:pPr latinLnBrk="1"/>
            <a:r>
              <a:rPr lang="ko-KR" altLang="ko-KR" dirty="0"/>
              <a:t>자사의 핵심을 유지하면서</a:t>
            </a:r>
            <a:r>
              <a:rPr lang="en-US" altLang="ko-KR" dirty="0"/>
              <a:t>, </a:t>
            </a:r>
            <a:r>
              <a:rPr lang="ko-KR" altLang="ko-KR" dirty="0"/>
              <a:t>그것을 환경에 맞게 어떻게 </a:t>
            </a:r>
            <a:r>
              <a:rPr lang="ko-KR" altLang="ko-KR" dirty="0" err="1"/>
              <a:t>변주하느냐가</a:t>
            </a:r>
            <a:r>
              <a:rPr lang="ko-KR" altLang="ko-KR" dirty="0"/>
              <a:t> 경쟁우위의 지속가능성을 결정한다</a:t>
            </a:r>
            <a:r>
              <a:rPr lang="en-US" altLang="ko-KR" dirty="0"/>
              <a:t>.</a:t>
            </a:r>
            <a:endParaRPr lang="ko-KR" altLang="ko-KR" dirty="0"/>
          </a:p>
          <a:p>
            <a:endParaRPr lang="en-US" dirty="0"/>
          </a:p>
        </p:txBody>
      </p:sp>
      <p:sp>
        <p:nvSpPr>
          <p:cNvPr id="4" name="Slide Number Placeholder 3"/>
          <p:cNvSpPr>
            <a:spLocks noGrp="1"/>
          </p:cNvSpPr>
          <p:nvPr>
            <p:ph type="sldNum" sz="quarter" idx="10"/>
          </p:nvPr>
        </p:nvSpPr>
        <p:spPr/>
        <p:txBody>
          <a:bodyPr lIns="92437" tIns="46218" rIns="92437" bIns="46218"/>
          <a:lstStyle/>
          <a:p>
            <a:fld id="{F7021451-1387-4CA6-816F-3879F97B5CBC}" type="slidenum">
              <a:rPr lang="en-US"/>
              <a:t>17</a:t>
            </a:fld>
            <a:endParaRPr lang="en-US"/>
          </a:p>
        </p:txBody>
      </p:sp>
    </p:spTree>
    <p:extLst>
      <p:ext uri="{BB962C8B-B14F-4D97-AF65-F5344CB8AC3E}">
        <p14:creationId xmlns:p14="http://schemas.microsoft.com/office/powerpoint/2010/main" val="2532701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pPr defTabSz="1082197"/>
            <a:endParaRPr lang="en-US" altLang="ko-KR" sz="1400" dirty="0">
              <a:solidFill>
                <a:srgbClr val="2A2A2A"/>
              </a:solidFill>
              <a:latin typeface="Calibri" pitchFamily="34" charset="0"/>
              <a:ea typeface="Calibri" pitchFamily="34" charset="-122"/>
              <a:cs typeface="Calibri" pitchFamily="34" charset="-120"/>
            </a:endParaRPr>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18</a:t>
            </a:fld>
            <a:endParaRPr lang="en-US"/>
          </a:p>
        </p:txBody>
      </p:sp>
    </p:spTree>
    <p:extLst>
      <p:ext uri="{BB962C8B-B14F-4D97-AF65-F5344CB8AC3E}">
        <p14:creationId xmlns:p14="http://schemas.microsoft.com/office/powerpoint/2010/main" val="26353169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367"/>
            <a:r>
              <a:rPr lang="ko-KR" altLang="ko-KR" dirty="0"/>
              <a:t>한국 기업의 과제는</a:t>
            </a:r>
            <a:r>
              <a:rPr lang="en-US" altLang="ko-KR" dirty="0"/>
              <a:t> Netflix</a:t>
            </a:r>
            <a:r>
              <a:rPr lang="ko-KR" altLang="ko-KR" dirty="0"/>
              <a:t>를 따라 하거나</a:t>
            </a:r>
            <a:r>
              <a:rPr lang="en-US" altLang="ko-KR" dirty="0"/>
              <a:t>, </a:t>
            </a:r>
            <a:r>
              <a:rPr lang="ko-KR" altLang="ko-KR" b="1" dirty="0"/>
              <a:t>자율과 통제 중 하나를 고르는 것이 아니라</a:t>
            </a:r>
            <a:r>
              <a:rPr lang="en-US" altLang="ko-KR" b="1" dirty="0"/>
              <a:t>, </a:t>
            </a:r>
            <a:r>
              <a:rPr lang="ko-KR" altLang="ko-KR" dirty="0"/>
              <a:t>자사의 핵심역량이 무엇인지 정의하고</a:t>
            </a:r>
            <a:r>
              <a:rPr lang="ko-KR" altLang="ko-KR" b="1" dirty="0"/>
              <a:t> 핵심은 지키고 운영은 기업환경과</a:t>
            </a:r>
            <a:r>
              <a:rPr lang="en-US" altLang="ko-KR" b="1" dirty="0"/>
              <a:t> scale</a:t>
            </a:r>
            <a:r>
              <a:rPr lang="ko-KR" altLang="ko-KR" b="1" dirty="0"/>
              <a:t>에 맞게 조정하는 능력을 </a:t>
            </a:r>
            <a:r>
              <a:rPr lang="ko-KR" altLang="ko-KR" b="1" dirty="0" err="1"/>
              <a:t>키우는것</a:t>
            </a:r>
            <a:r>
              <a:rPr lang="en-US" altLang="ko-KR" b="1" dirty="0"/>
              <a:t>.</a:t>
            </a:r>
            <a:endParaRPr lang="ko-KR" altLang="ko-KR" dirty="0"/>
          </a:p>
          <a:p>
            <a:endParaRPr lang="en-US" dirty="0"/>
          </a:p>
        </p:txBody>
      </p:sp>
      <p:sp>
        <p:nvSpPr>
          <p:cNvPr id="4" name="Slide Number Placeholder 3"/>
          <p:cNvSpPr>
            <a:spLocks noGrp="1"/>
          </p:cNvSpPr>
          <p:nvPr>
            <p:ph type="sldNum" sz="quarter" idx="10"/>
          </p:nvPr>
        </p:nvSpPr>
        <p:spPr/>
        <p:txBody>
          <a:bodyPr lIns="92437" tIns="46218" rIns="92437" bIns="46218"/>
          <a:lstStyle/>
          <a:p>
            <a:fld id="{F7021451-1387-4CA6-816F-3879F97B5CBC}" type="slidenum">
              <a:rPr lang="en-US"/>
              <a:t>19</a:t>
            </a:fld>
            <a:endParaRPr lang="en-US"/>
          </a:p>
        </p:txBody>
      </p:sp>
    </p:spTree>
    <p:extLst>
      <p:ext uri="{BB962C8B-B14F-4D97-AF65-F5344CB8AC3E}">
        <p14:creationId xmlns:p14="http://schemas.microsoft.com/office/powerpoint/2010/main" val="5589964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8220" tIns="54109" rIns="108220" bIns="54109"/>
          <a:lstStyle/>
          <a:p>
            <a:pPr defTabSz="924367">
              <a:defRPr/>
            </a:pPr>
            <a:endParaRPr lang="en-US" dirty="0"/>
          </a:p>
        </p:txBody>
      </p:sp>
      <p:sp>
        <p:nvSpPr>
          <p:cNvPr id="4" name="Slide Number Placeholder 3"/>
          <p:cNvSpPr>
            <a:spLocks noGrp="1"/>
          </p:cNvSpPr>
          <p:nvPr>
            <p:ph type="sldNum" sz="quarter" idx="10"/>
          </p:nvPr>
        </p:nvSpPr>
        <p:spPr/>
        <p:txBody>
          <a:bodyPr lIns="108220" tIns="54109" rIns="108220" bIns="54109"/>
          <a:lstStyle/>
          <a:p>
            <a:fld id="{F7021451-1387-4CA6-816F-3879F97B5CBC}" type="slidenum">
              <a:rPr lang="en-US"/>
              <a:t>20</a:t>
            </a:fld>
            <a:endParaRPr lang="en-US"/>
          </a:p>
        </p:txBody>
      </p:sp>
    </p:spTree>
    <p:extLst>
      <p:ext uri="{BB962C8B-B14F-4D97-AF65-F5344CB8AC3E}">
        <p14:creationId xmlns:p14="http://schemas.microsoft.com/office/powerpoint/2010/main" val="1228921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50914"/>
          </a:solidFill>
          <a:ln w="12700">
            <a:solidFill>
              <a:srgbClr val="E50914"/>
            </a:solidFill>
            <a:prstDash val="solid"/>
          </a:ln>
        </p:spPr>
      </p:sp>
      <p:sp>
        <p:nvSpPr>
          <p:cNvPr id="9" name="Shape 7"/>
          <p:cNvSpPr/>
          <p:nvPr/>
        </p:nvSpPr>
        <p:spPr>
          <a:xfrm>
            <a:off x="320040" y="4800600"/>
            <a:ext cx="8823960" cy="342900"/>
          </a:xfrm>
          <a:prstGeom prst="rect">
            <a:avLst/>
          </a:prstGeom>
          <a:solidFill>
            <a:srgbClr val="2A2A2A"/>
          </a:solidFill>
          <a:ln w="12700">
            <a:solidFill>
              <a:srgbClr val="2A2A2A"/>
            </a:solidFill>
            <a:prstDash val="solid"/>
          </a:ln>
        </p:spPr>
      </p:sp>
      <p:pic>
        <p:nvPicPr>
          <p:cNvPr id="5" name="그림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6895" y="0"/>
            <a:ext cx="2830210" cy="5143500"/>
          </a:xfrm>
          <a:prstGeom prst="rect">
            <a:avLst/>
          </a:prstGeom>
        </p:spPr>
      </p:pic>
      <p:sp>
        <p:nvSpPr>
          <p:cNvPr id="8" name="Text 6"/>
          <p:cNvSpPr/>
          <p:nvPr/>
        </p:nvSpPr>
        <p:spPr>
          <a:xfrm>
            <a:off x="2651760" y="4792980"/>
            <a:ext cx="4440803" cy="365760"/>
          </a:xfrm>
          <a:prstGeom prst="rect">
            <a:avLst/>
          </a:prstGeom>
          <a:noFill/>
          <a:ln/>
        </p:spPr>
        <p:txBody>
          <a:bodyPr wrap="square" lIns="0" tIns="0" rIns="0" bIns="0" rtlCol="0" anchor="ctr"/>
          <a:lstStyle/>
          <a:p>
            <a:r>
              <a:rPr lang="en-US" sz="1050" dirty="0" smtClean="0">
                <a:solidFill>
                  <a:srgbClr val="888888"/>
                </a:solidFill>
                <a:latin typeface="Calibri" pitchFamily="34" charset="0"/>
                <a:ea typeface="Calibri" pitchFamily="34" charset="-122"/>
                <a:cs typeface="Calibri" pitchFamily="34" charset="-120"/>
              </a:rPr>
              <a:t>KUMBA </a:t>
            </a:r>
            <a:r>
              <a:rPr lang="en-US" sz="1050" dirty="0">
                <a:solidFill>
                  <a:srgbClr val="888888"/>
                </a:solidFill>
                <a:latin typeface="Calibri" pitchFamily="34" charset="0"/>
                <a:ea typeface="Calibri" pitchFamily="34" charset="-122"/>
                <a:cs typeface="Calibri" pitchFamily="34" charset="-120"/>
              </a:rPr>
              <a:t>인적자원관리   |   Harvard Business Case </a:t>
            </a:r>
            <a:r>
              <a:rPr lang="en-US" sz="1050" dirty="0" smtClean="0">
                <a:solidFill>
                  <a:srgbClr val="888888"/>
                </a:solidFill>
                <a:latin typeface="Calibri" pitchFamily="34" charset="0"/>
                <a:ea typeface="Calibri" pitchFamily="34" charset="-122"/>
                <a:cs typeface="Calibri" pitchFamily="34" charset="-120"/>
              </a:rPr>
              <a:t> </a:t>
            </a:r>
            <a:r>
              <a:rPr lang="en-US" sz="1050" dirty="0" err="1" smtClean="0">
                <a:solidFill>
                  <a:srgbClr val="888888"/>
                </a:solidFill>
                <a:latin typeface="Calibri" pitchFamily="34" charset="0"/>
                <a:ea typeface="Calibri" pitchFamily="34" charset="-122"/>
                <a:cs typeface="Calibri" pitchFamily="34" charset="-120"/>
              </a:rPr>
              <a:t>사례발표</a:t>
            </a:r>
            <a:r>
              <a:rPr lang="en-US" sz="1050" dirty="0" smtClean="0">
                <a:solidFill>
                  <a:srgbClr val="888888"/>
                </a:solidFill>
                <a:latin typeface="Calibri" pitchFamily="34" charset="0"/>
                <a:ea typeface="Calibri" pitchFamily="34" charset="-122"/>
                <a:cs typeface="Calibri" pitchFamily="34" charset="-120"/>
              </a:rPr>
              <a:t> </a:t>
            </a:r>
            <a:r>
              <a:rPr lang="en-US" altLang="ko-KR" sz="1050" dirty="0">
                <a:solidFill>
                  <a:srgbClr val="888888"/>
                </a:solidFill>
                <a:latin typeface="Calibri" pitchFamily="34" charset="0"/>
                <a:ea typeface="Calibri" pitchFamily="34" charset="-122"/>
                <a:cs typeface="Calibri" pitchFamily="34" charset="-120"/>
              </a:rPr>
              <a:t> | </a:t>
            </a:r>
            <a:r>
              <a:rPr lang="en-US" altLang="ko-KR" sz="1050" dirty="0" smtClean="0">
                <a:solidFill>
                  <a:srgbClr val="888888"/>
                </a:solidFill>
                <a:latin typeface="Calibri" pitchFamily="34" charset="0"/>
                <a:ea typeface="Calibri" pitchFamily="34" charset="-122"/>
                <a:cs typeface="Calibri" pitchFamily="34" charset="-120"/>
              </a:rPr>
              <a:t>  </a:t>
            </a:r>
            <a:r>
              <a:rPr lang="ko-KR" altLang="en-US" sz="1050" dirty="0" smtClean="0">
                <a:solidFill>
                  <a:srgbClr val="888888"/>
                </a:solidFill>
                <a:latin typeface="Calibri" pitchFamily="34" charset="0"/>
                <a:ea typeface="Calibri" pitchFamily="34" charset="-122"/>
                <a:cs typeface="Calibri" pitchFamily="34" charset="-120"/>
              </a:rPr>
              <a:t>김동찬</a:t>
            </a:r>
            <a:endParaRPr lang="en-US" sz="1050" dirty="0"/>
          </a:p>
        </p:txBody>
      </p:sp>
      <p:sp>
        <p:nvSpPr>
          <p:cNvPr id="4" name="Text 2"/>
          <p:cNvSpPr/>
          <p:nvPr/>
        </p:nvSpPr>
        <p:spPr>
          <a:xfrm>
            <a:off x="1386840" y="2320290"/>
            <a:ext cx="6797040" cy="502920"/>
          </a:xfrm>
          <a:prstGeom prst="rect">
            <a:avLst/>
          </a:prstGeom>
          <a:noFill/>
          <a:ln/>
        </p:spPr>
        <p:txBody>
          <a:bodyPr wrap="square" lIns="0" tIns="0" rIns="0" bIns="0" rtlCol="0" anchor="ctr"/>
          <a:lstStyle/>
          <a:p>
            <a:pPr algn="ctr"/>
            <a:r>
              <a:rPr lang="en-US" altLang="ko-KR" sz="4000" b="1" dirty="0" smtClean="0">
                <a:solidFill>
                  <a:srgbClr val="FFFFFF"/>
                </a:solidFill>
                <a:ea typeface="Arial Black" pitchFamily="34" charset="-122"/>
                <a:cs typeface="Arial Black" pitchFamily="34" charset="-120"/>
              </a:rPr>
              <a:t>Binge </a:t>
            </a:r>
            <a:r>
              <a:rPr lang="en-US" altLang="ko-KR" sz="4000" b="1" dirty="0">
                <a:solidFill>
                  <a:srgbClr val="FFFFFF"/>
                </a:solidFill>
                <a:ea typeface="Arial Black" pitchFamily="34" charset="-122"/>
                <a:cs typeface="Arial Black" pitchFamily="34" charset="-120"/>
              </a:rPr>
              <a:t>or  </a:t>
            </a:r>
            <a:r>
              <a:rPr lang="en-US" altLang="ko-KR" sz="4000" b="1" dirty="0" smtClean="0">
                <a:solidFill>
                  <a:srgbClr val="FFFFFF"/>
                </a:solidFill>
                <a:ea typeface="Arial Black" pitchFamily="34" charset="-122"/>
                <a:cs typeface="Arial Black" pitchFamily="34" charset="-120"/>
              </a:rPr>
              <a:t>           ?</a:t>
            </a:r>
            <a:endParaRPr lang="en-US" altLang="ko-KR" sz="4000" b="1" dirty="0"/>
          </a:p>
        </p:txBody>
      </p:sp>
      <p:sp>
        <p:nvSpPr>
          <p:cNvPr id="10" name="Text 2"/>
          <p:cNvSpPr/>
          <p:nvPr/>
        </p:nvSpPr>
        <p:spPr>
          <a:xfrm rot="10800000">
            <a:off x="4488180" y="2440305"/>
            <a:ext cx="2194560" cy="502920"/>
          </a:xfrm>
          <a:prstGeom prst="rect">
            <a:avLst/>
          </a:prstGeom>
          <a:noFill/>
          <a:ln/>
        </p:spPr>
        <p:txBody>
          <a:bodyPr wrap="square" lIns="0" tIns="0" rIns="0" bIns="0" rtlCol="0" anchor="ctr"/>
          <a:lstStyle/>
          <a:p>
            <a:pPr algn="ctr"/>
            <a:r>
              <a:rPr lang="en-US" altLang="ko-KR" sz="4000" b="1" dirty="0" smtClean="0">
                <a:solidFill>
                  <a:srgbClr val="FFFFFF"/>
                </a:solidFill>
                <a:ea typeface="Arial Black" pitchFamily="34" charset="-122"/>
                <a:cs typeface="Arial Black" pitchFamily="34" charset="-120"/>
              </a:rPr>
              <a:t>Cringe</a:t>
            </a:r>
            <a:endParaRPr lang="en-US" altLang="ko-KR" sz="4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10800000">
                                      <p:cBhvr>
                                        <p:cTn id="6" dur="2000" fill="hold"/>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DVD에서 글로벌 스트리밍 제국으로 — 그러나 성장의 </a:t>
            </a:r>
            <a:r>
              <a:rPr lang="en-US" sz="1300" b="1" dirty="0" err="1">
                <a:solidFill>
                  <a:srgbClr val="FFFFFF"/>
                </a:solidFill>
                <a:latin typeface="Calibri" pitchFamily="34" charset="0"/>
                <a:ea typeface="Calibri" pitchFamily="34" charset="-122"/>
                <a:cs typeface="Calibri" pitchFamily="34" charset="-120"/>
              </a:rPr>
              <a:t>한계에</a:t>
            </a:r>
            <a:r>
              <a:rPr lang="en-US" sz="1300" b="1" dirty="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직면</a:t>
            </a:r>
            <a:endParaRPr lang="en-US" sz="1300" dirty="0"/>
          </a:p>
        </p:txBody>
      </p:sp>
      <p:sp>
        <p:nvSpPr>
          <p:cNvPr id="4" name="Text 2"/>
          <p:cNvSpPr/>
          <p:nvPr/>
        </p:nvSpPr>
        <p:spPr>
          <a:xfrm>
            <a:off x="365760" y="777240"/>
            <a:ext cx="8229600" cy="411480"/>
          </a:xfrm>
          <a:prstGeom prst="rect">
            <a:avLst/>
          </a:prstGeom>
          <a:noFill/>
          <a:ln/>
        </p:spPr>
        <p:txBody>
          <a:bodyPr wrap="square" lIns="0" tIns="0" rIns="0" bIns="0" rtlCol="0" anchor="ctr"/>
          <a:lstStyle/>
          <a:p>
            <a:pPr marL="0" indent="0" algn="l">
              <a:buNone/>
            </a:pPr>
            <a:r>
              <a:rPr lang="en-US" sz="2200" b="1" dirty="0">
                <a:solidFill>
                  <a:srgbClr val="141414"/>
                </a:solidFill>
                <a:latin typeface="Arial Black" pitchFamily="34" charset="0"/>
                <a:ea typeface="Arial Black" pitchFamily="34" charset="-122"/>
                <a:cs typeface="Arial Black" pitchFamily="34" charset="-120"/>
              </a:rPr>
              <a:t>Netflix 개요 및 문제 상황</a:t>
            </a:r>
            <a:endParaRPr lang="en-US" sz="2200" dirty="0"/>
          </a:p>
        </p:txBody>
      </p:sp>
      <p:sp>
        <p:nvSpPr>
          <p:cNvPr id="5" name="Shape 3"/>
          <p:cNvSpPr/>
          <p:nvPr/>
        </p:nvSpPr>
        <p:spPr>
          <a:xfrm>
            <a:off x="365760" y="1325880"/>
            <a:ext cx="2560320" cy="1005840"/>
          </a:xfrm>
          <a:prstGeom prst="rect">
            <a:avLst/>
          </a:prstGeom>
          <a:solidFill>
            <a:srgbClr val="2A2A2A"/>
          </a:solidFill>
          <a:ln w="12700">
            <a:solidFill>
              <a:srgbClr val="2A2A2A"/>
            </a:solidFill>
            <a:prstDash val="solid"/>
          </a:ln>
        </p:spPr>
      </p:sp>
      <p:sp>
        <p:nvSpPr>
          <p:cNvPr id="6" name="Text 4"/>
          <p:cNvSpPr/>
          <p:nvPr/>
        </p:nvSpPr>
        <p:spPr>
          <a:xfrm>
            <a:off x="365760" y="1325880"/>
            <a:ext cx="25603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① DVD 대여</a:t>
            </a:r>
            <a:endParaRPr lang="en-US" sz="1200" dirty="0"/>
          </a:p>
        </p:txBody>
      </p:sp>
      <p:sp>
        <p:nvSpPr>
          <p:cNvPr id="7" name="Text 5"/>
          <p:cNvSpPr/>
          <p:nvPr/>
        </p:nvSpPr>
        <p:spPr>
          <a:xfrm>
            <a:off x="365760" y="1673352"/>
            <a:ext cx="2560320" cy="658368"/>
          </a:xfrm>
          <a:prstGeom prst="rect">
            <a:avLst/>
          </a:prstGeom>
          <a:noFill/>
          <a:ln/>
        </p:spPr>
        <p:txBody>
          <a:bodyPr wrap="square" lIns="101600" tIns="101600" rIns="101600" bIns="1016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1997년 설립</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우편 DVD 대여 서비스</a:t>
            </a:r>
            <a:endParaRPr lang="en-US" sz="1000" dirty="0"/>
          </a:p>
        </p:txBody>
      </p:sp>
      <p:sp>
        <p:nvSpPr>
          <p:cNvPr id="8" name="Shape 6"/>
          <p:cNvSpPr/>
          <p:nvPr/>
        </p:nvSpPr>
        <p:spPr>
          <a:xfrm>
            <a:off x="3154680" y="1325880"/>
            <a:ext cx="2560320" cy="1005840"/>
          </a:xfrm>
          <a:prstGeom prst="rect">
            <a:avLst/>
          </a:prstGeom>
          <a:solidFill>
            <a:srgbClr val="E50914"/>
          </a:solidFill>
          <a:ln w="12700">
            <a:solidFill>
              <a:srgbClr val="E50914"/>
            </a:solidFill>
            <a:prstDash val="solid"/>
          </a:ln>
        </p:spPr>
      </p:sp>
      <p:sp>
        <p:nvSpPr>
          <p:cNvPr id="9" name="Text 7"/>
          <p:cNvSpPr/>
          <p:nvPr/>
        </p:nvSpPr>
        <p:spPr>
          <a:xfrm>
            <a:off x="3154680" y="1325880"/>
            <a:ext cx="25603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② 스트리밍</a:t>
            </a:r>
            <a:endParaRPr lang="en-US" sz="1200" dirty="0"/>
          </a:p>
        </p:txBody>
      </p:sp>
      <p:sp>
        <p:nvSpPr>
          <p:cNvPr id="10" name="Text 8"/>
          <p:cNvSpPr/>
          <p:nvPr/>
        </p:nvSpPr>
        <p:spPr>
          <a:xfrm>
            <a:off x="3154680" y="1673352"/>
            <a:ext cx="2560320" cy="658368"/>
          </a:xfrm>
          <a:prstGeom prst="rect">
            <a:avLst/>
          </a:prstGeom>
          <a:noFill/>
          <a:ln/>
        </p:spPr>
        <p:txBody>
          <a:bodyPr wrap="square" lIns="101600" tIns="101600" rIns="101600" bIns="1016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2007년 스트리밍 전환</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디지털 엔터테인먼트 혁신</a:t>
            </a:r>
            <a:endParaRPr lang="en-US" sz="1000" dirty="0"/>
          </a:p>
        </p:txBody>
      </p:sp>
      <p:sp>
        <p:nvSpPr>
          <p:cNvPr id="11" name="Shape 9"/>
          <p:cNvSpPr/>
          <p:nvPr/>
        </p:nvSpPr>
        <p:spPr>
          <a:xfrm>
            <a:off x="5943600" y="1325880"/>
            <a:ext cx="2560320" cy="1005840"/>
          </a:xfrm>
          <a:prstGeom prst="rect">
            <a:avLst/>
          </a:prstGeom>
          <a:solidFill>
            <a:srgbClr val="141414"/>
          </a:solidFill>
          <a:ln w="12700">
            <a:solidFill>
              <a:srgbClr val="141414"/>
            </a:solidFill>
            <a:prstDash val="solid"/>
          </a:ln>
        </p:spPr>
      </p:sp>
      <p:sp>
        <p:nvSpPr>
          <p:cNvPr id="12" name="Text 10"/>
          <p:cNvSpPr/>
          <p:nvPr/>
        </p:nvSpPr>
        <p:spPr>
          <a:xfrm>
            <a:off x="5943600" y="1325880"/>
            <a:ext cx="25603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③ 오리지널 콘텐츠</a:t>
            </a:r>
            <a:endParaRPr lang="en-US" sz="1200" dirty="0"/>
          </a:p>
        </p:txBody>
      </p:sp>
      <p:sp>
        <p:nvSpPr>
          <p:cNvPr id="13" name="Text 11"/>
          <p:cNvSpPr/>
          <p:nvPr/>
        </p:nvSpPr>
        <p:spPr>
          <a:xfrm>
            <a:off x="5943600" y="1673352"/>
            <a:ext cx="2560320" cy="658368"/>
          </a:xfrm>
          <a:prstGeom prst="rect">
            <a:avLst/>
          </a:prstGeom>
          <a:noFill/>
          <a:ln/>
        </p:spPr>
        <p:txBody>
          <a:bodyPr wrap="square" lIns="101600" tIns="101600" rIns="101600" bIns="1016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글로벌 콘텐츠 제작</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2억+ 구독자 확보</a:t>
            </a:r>
            <a:endParaRPr lang="en-US" sz="1000" dirty="0"/>
          </a:p>
        </p:txBody>
      </p:sp>
      <p:sp>
        <p:nvSpPr>
          <p:cNvPr id="14" name="Shape 12"/>
          <p:cNvSpPr/>
          <p:nvPr/>
        </p:nvSpPr>
        <p:spPr>
          <a:xfrm>
            <a:off x="2971800" y="1828800"/>
            <a:ext cx="182880" cy="0"/>
          </a:xfrm>
          <a:prstGeom prst="line">
            <a:avLst/>
          </a:prstGeom>
          <a:noFill/>
          <a:ln w="25400">
            <a:solidFill>
              <a:srgbClr val="2A2A2A"/>
            </a:solidFill>
            <a:prstDash val="solid"/>
          </a:ln>
        </p:spPr>
      </p:sp>
      <p:sp>
        <p:nvSpPr>
          <p:cNvPr id="15" name="Shape 13"/>
          <p:cNvSpPr/>
          <p:nvPr/>
        </p:nvSpPr>
        <p:spPr>
          <a:xfrm>
            <a:off x="5760720" y="1828800"/>
            <a:ext cx="182880" cy="0"/>
          </a:xfrm>
          <a:prstGeom prst="line">
            <a:avLst/>
          </a:prstGeom>
          <a:noFill/>
          <a:ln w="25400">
            <a:solidFill>
              <a:srgbClr val="2A2A2A"/>
            </a:solidFill>
            <a:prstDash val="solid"/>
          </a:ln>
        </p:spPr>
      </p:sp>
      <p:sp>
        <p:nvSpPr>
          <p:cNvPr id="16" name="Shape 14"/>
          <p:cNvSpPr/>
          <p:nvPr/>
        </p:nvSpPr>
        <p:spPr>
          <a:xfrm>
            <a:off x="365760" y="2514600"/>
            <a:ext cx="2286000" cy="347472"/>
          </a:xfrm>
          <a:prstGeom prst="rect">
            <a:avLst/>
          </a:prstGeom>
          <a:solidFill>
            <a:srgbClr val="141414"/>
          </a:solidFill>
          <a:ln w="12700">
            <a:solidFill>
              <a:srgbClr val="141414"/>
            </a:solidFill>
            <a:prstDash val="solid"/>
          </a:ln>
        </p:spPr>
      </p:sp>
      <p:sp>
        <p:nvSpPr>
          <p:cNvPr id="17" name="Text 15"/>
          <p:cNvSpPr/>
          <p:nvPr/>
        </p:nvSpPr>
        <p:spPr>
          <a:xfrm>
            <a:off x="365760" y="2514600"/>
            <a:ext cx="22860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핵심 문제</a:t>
            </a:r>
            <a:endParaRPr lang="en-US" sz="1200" dirty="0"/>
          </a:p>
        </p:txBody>
      </p:sp>
      <p:sp>
        <p:nvSpPr>
          <p:cNvPr id="18" name="Shape 16"/>
          <p:cNvSpPr/>
          <p:nvPr/>
        </p:nvSpPr>
        <p:spPr>
          <a:xfrm>
            <a:off x="365760" y="2971800"/>
            <a:ext cx="54864" cy="320040"/>
          </a:xfrm>
          <a:prstGeom prst="rect">
            <a:avLst/>
          </a:prstGeom>
          <a:solidFill>
            <a:srgbClr val="E50914"/>
          </a:solidFill>
          <a:ln w="12700">
            <a:solidFill>
              <a:srgbClr val="E50914"/>
            </a:solidFill>
            <a:prstDash val="solid"/>
          </a:ln>
        </p:spPr>
      </p:sp>
      <p:sp>
        <p:nvSpPr>
          <p:cNvPr id="19" name="Text 17"/>
          <p:cNvSpPr/>
          <p:nvPr/>
        </p:nvSpPr>
        <p:spPr>
          <a:xfrm>
            <a:off x="548640" y="2971800"/>
            <a:ext cx="3200400" cy="320040"/>
          </a:xfrm>
          <a:prstGeom prst="rect">
            <a:avLst/>
          </a:prstGeom>
          <a:noFill/>
          <a:ln/>
        </p:spPr>
        <p:txBody>
          <a:bodyPr wrap="square" lIns="0" tIns="0" rIns="0" bIns="0" rtlCol="0" anchor="ctr"/>
          <a:lstStyle/>
          <a:p>
            <a:pPr marL="0" indent="0" algn="l">
              <a:buNone/>
            </a:pPr>
            <a:r>
              <a:rPr lang="en-US" sz="1200" b="1" dirty="0">
                <a:solidFill>
                  <a:srgbClr val="141414"/>
                </a:solidFill>
                <a:latin typeface="Calibri" pitchFamily="34" charset="0"/>
                <a:ea typeface="Calibri" pitchFamily="34" charset="-122"/>
                <a:cs typeface="Calibri" pitchFamily="34" charset="-120"/>
              </a:rPr>
              <a:t>2022년 구독자 감소</a:t>
            </a:r>
            <a:endParaRPr lang="en-US" sz="1200" dirty="0"/>
          </a:p>
        </p:txBody>
      </p:sp>
      <p:sp>
        <p:nvSpPr>
          <p:cNvPr id="20" name="Text 18"/>
          <p:cNvSpPr/>
          <p:nvPr/>
        </p:nvSpPr>
        <p:spPr>
          <a:xfrm>
            <a:off x="3840480" y="2971800"/>
            <a:ext cx="4937760" cy="320040"/>
          </a:xfrm>
          <a:prstGeom prst="rect">
            <a:avLst/>
          </a:prstGeom>
          <a:noFill/>
          <a:ln/>
        </p:spPr>
        <p:txBody>
          <a:bodyPr wrap="square" lIns="0" tIns="0" rIns="0" bIns="0" rtlCol="0" anchor="ctr"/>
          <a:lstStyle/>
          <a:p>
            <a:pPr marL="0" indent="0" algn="l">
              <a:buNone/>
            </a:pPr>
            <a:r>
              <a:rPr lang="en-US" sz="1100" dirty="0">
                <a:solidFill>
                  <a:srgbClr val="2A2A2A"/>
                </a:solidFill>
                <a:latin typeface="Calibri" pitchFamily="34" charset="0"/>
                <a:ea typeface="Calibri" pitchFamily="34" charset="-122"/>
                <a:cs typeface="Calibri" pitchFamily="34" charset="-120"/>
              </a:rPr>
              <a:t>처음으로 성장 둔화 발생 — 구독자 순감소</a:t>
            </a:r>
            <a:endParaRPr lang="en-US" sz="1100" dirty="0"/>
          </a:p>
        </p:txBody>
      </p:sp>
      <p:sp>
        <p:nvSpPr>
          <p:cNvPr id="21" name="Shape 19"/>
          <p:cNvSpPr/>
          <p:nvPr/>
        </p:nvSpPr>
        <p:spPr>
          <a:xfrm>
            <a:off x="365760" y="3319272"/>
            <a:ext cx="8412480" cy="0"/>
          </a:xfrm>
          <a:prstGeom prst="line">
            <a:avLst/>
          </a:prstGeom>
          <a:noFill/>
          <a:ln w="6350">
            <a:solidFill>
              <a:srgbClr val="E0E0E0"/>
            </a:solidFill>
            <a:prstDash val="solid"/>
          </a:ln>
        </p:spPr>
      </p:sp>
      <p:sp>
        <p:nvSpPr>
          <p:cNvPr id="22" name="Shape 20"/>
          <p:cNvSpPr/>
          <p:nvPr/>
        </p:nvSpPr>
        <p:spPr>
          <a:xfrm>
            <a:off x="365760" y="3520440"/>
            <a:ext cx="54864" cy="320040"/>
          </a:xfrm>
          <a:prstGeom prst="rect">
            <a:avLst/>
          </a:prstGeom>
          <a:solidFill>
            <a:srgbClr val="E50914"/>
          </a:solidFill>
          <a:ln w="12700">
            <a:solidFill>
              <a:srgbClr val="E50914"/>
            </a:solidFill>
            <a:prstDash val="solid"/>
          </a:ln>
        </p:spPr>
      </p:sp>
      <p:sp>
        <p:nvSpPr>
          <p:cNvPr id="23" name="Text 21"/>
          <p:cNvSpPr/>
          <p:nvPr/>
        </p:nvSpPr>
        <p:spPr>
          <a:xfrm>
            <a:off x="548640" y="3520440"/>
            <a:ext cx="3200400" cy="320040"/>
          </a:xfrm>
          <a:prstGeom prst="rect">
            <a:avLst/>
          </a:prstGeom>
          <a:noFill/>
          <a:ln/>
        </p:spPr>
        <p:txBody>
          <a:bodyPr wrap="square" lIns="0" tIns="0" rIns="0" bIns="0" rtlCol="0" anchor="ctr"/>
          <a:lstStyle/>
          <a:p>
            <a:pPr marL="0" indent="0" algn="l">
              <a:buNone/>
            </a:pPr>
            <a:r>
              <a:rPr lang="en-US" sz="1200" b="1" dirty="0">
                <a:solidFill>
                  <a:srgbClr val="141414"/>
                </a:solidFill>
                <a:latin typeface="Calibri" pitchFamily="34" charset="0"/>
                <a:ea typeface="Calibri" pitchFamily="34" charset="-122"/>
                <a:cs typeface="Calibri" pitchFamily="34" charset="-120"/>
              </a:rPr>
              <a:t>경쟁 심화</a:t>
            </a:r>
            <a:endParaRPr lang="en-US" sz="1200" dirty="0"/>
          </a:p>
        </p:txBody>
      </p:sp>
      <p:sp>
        <p:nvSpPr>
          <p:cNvPr id="24" name="Text 22"/>
          <p:cNvSpPr/>
          <p:nvPr/>
        </p:nvSpPr>
        <p:spPr>
          <a:xfrm>
            <a:off x="3840480" y="3520440"/>
            <a:ext cx="4937760" cy="320040"/>
          </a:xfrm>
          <a:prstGeom prst="rect">
            <a:avLst/>
          </a:prstGeom>
          <a:noFill/>
          <a:ln/>
        </p:spPr>
        <p:txBody>
          <a:bodyPr wrap="square" lIns="0" tIns="0" rIns="0" bIns="0" rtlCol="0" anchor="ctr"/>
          <a:lstStyle/>
          <a:p>
            <a:pPr marL="0" indent="0" algn="l">
              <a:buNone/>
            </a:pPr>
            <a:r>
              <a:rPr lang="en-US" sz="1100" dirty="0">
                <a:solidFill>
                  <a:srgbClr val="2A2A2A"/>
                </a:solidFill>
                <a:latin typeface="Calibri" pitchFamily="34" charset="0"/>
                <a:ea typeface="Calibri" pitchFamily="34" charset="-122"/>
                <a:cs typeface="Calibri" pitchFamily="34" charset="-120"/>
              </a:rPr>
              <a:t>Disney+, Amazon Prime 등 강력한 경쟁자 등장</a:t>
            </a:r>
            <a:endParaRPr lang="en-US" sz="1100" dirty="0"/>
          </a:p>
        </p:txBody>
      </p:sp>
      <p:sp>
        <p:nvSpPr>
          <p:cNvPr id="25" name="Shape 23"/>
          <p:cNvSpPr/>
          <p:nvPr/>
        </p:nvSpPr>
        <p:spPr>
          <a:xfrm>
            <a:off x="365760" y="3867912"/>
            <a:ext cx="8412480" cy="0"/>
          </a:xfrm>
          <a:prstGeom prst="line">
            <a:avLst/>
          </a:prstGeom>
          <a:noFill/>
          <a:ln w="6350">
            <a:solidFill>
              <a:srgbClr val="E0E0E0"/>
            </a:solidFill>
            <a:prstDash val="solid"/>
          </a:ln>
        </p:spPr>
      </p:sp>
      <p:sp>
        <p:nvSpPr>
          <p:cNvPr id="26" name="Shape 24"/>
          <p:cNvSpPr/>
          <p:nvPr/>
        </p:nvSpPr>
        <p:spPr>
          <a:xfrm>
            <a:off x="365760" y="4069080"/>
            <a:ext cx="54864" cy="320040"/>
          </a:xfrm>
          <a:prstGeom prst="rect">
            <a:avLst/>
          </a:prstGeom>
          <a:solidFill>
            <a:srgbClr val="E50914"/>
          </a:solidFill>
          <a:ln w="12700">
            <a:solidFill>
              <a:srgbClr val="E50914"/>
            </a:solidFill>
            <a:prstDash val="solid"/>
          </a:ln>
        </p:spPr>
      </p:sp>
      <p:sp>
        <p:nvSpPr>
          <p:cNvPr id="27" name="Text 25"/>
          <p:cNvSpPr/>
          <p:nvPr/>
        </p:nvSpPr>
        <p:spPr>
          <a:xfrm>
            <a:off x="548640" y="4069080"/>
            <a:ext cx="3200400" cy="320040"/>
          </a:xfrm>
          <a:prstGeom prst="rect">
            <a:avLst/>
          </a:prstGeom>
          <a:noFill/>
          <a:ln/>
        </p:spPr>
        <p:txBody>
          <a:bodyPr wrap="square" lIns="0" tIns="0" rIns="0" bIns="0" rtlCol="0" anchor="ctr"/>
          <a:lstStyle/>
          <a:p>
            <a:pPr marL="0" indent="0" algn="l">
              <a:buNone/>
            </a:pPr>
            <a:r>
              <a:rPr lang="en-US" sz="1200" b="1" dirty="0">
                <a:solidFill>
                  <a:srgbClr val="141414"/>
                </a:solidFill>
                <a:latin typeface="Calibri" pitchFamily="34" charset="0"/>
                <a:ea typeface="Calibri" pitchFamily="34" charset="-122"/>
                <a:cs typeface="Calibri" pitchFamily="34" charset="-120"/>
              </a:rPr>
              <a:t>콘텐츠 투자 부담</a:t>
            </a:r>
            <a:endParaRPr lang="en-US" sz="1200" dirty="0"/>
          </a:p>
        </p:txBody>
      </p:sp>
      <p:sp>
        <p:nvSpPr>
          <p:cNvPr id="28" name="Text 26"/>
          <p:cNvSpPr/>
          <p:nvPr/>
        </p:nvSpPr>
        <p:spPr>
          <a:xfrm>
            <a:off x="3840480" y="4069080"/>
            <a:ext cx="4937760" cy="320040"/>
          </a:xfrm>
          <a:prstGeom prst="rect">
            <a:avLst/>
          </a:prstGeom>
          <a:noFill/>
          <a:ln/>
        </p:spPr>
        <p:txBody>
          <a:bodyPr wrap="square" lIns="0" tIns="0" rIns="0" bIns="0" rtlCol="0" anchor="ctr"/>
          <a:lstStyle/>
          <a:p>
            <a:pPr marL="0" indent="0" algn="l">
              <a:buNone/>
            </a:pPr>
            <a:r>
              <a:rPr lang="en-US" sz="1100" dirty="0">
                <a:solidFill>
                  <a:srgbClr val="2A2A2A"/>
                </a:solidFill>
                <a:latin typeface="Calibri" pitchFamily="34" charset="0"/>
                <a:ea typeface="Calibri" pitchFamily="34" charset="-122"/>
                <a:cs typeface="Calibri" pitchFamily="34" charset="-120"/>
              </a:rPr>
              <a:t>막대한 오리지널 콘텐츠 투자 비용 증가</a:t>
            </a:r>
            <a:endParaRPr lang="en-US" sz="1100" dirty="0"/>
          </a:p>
        </p:txBody>
      </p:sp>
      <p:sp>
        <p:nvSpPr>
          <p:cNvPr id="29" name="Shape 27"/>
          <p:cNvSpPr/>
          <p:nvPr/>
        </p:nvSpPr>
        <p:spPr>
          <a:xfrm>
            <a:off x="365760" y="4416552"/>
            <a:ext cx="8412480" cy="0"/>
          </a:xfrm>
          <a:prstGeom prst="line">
            <a:avLst/>
          </a:prstGeom>
          <a:noFill/>
          <a:ln w="6350">
            <a:solidFill>
              <a:srgbClr val="E0E0E0"/>
            </a:solidFill>
            <a:prstDash val="solid"/>
          </a:ln>
        </p:spPr>
      </p:sp>
      <p:sp>
        <p:nvSpPr>
          <p:cNvPr id="30" name="Shape 28"/>
          <p:cNvSpPr/>
          <p:nvPr/>
        </p:nvSpPr>
        <p:spPr>
          <a:xfrm>
            <a:off x="365760" y="4663440"/>
            <a:ext cx="8412480" cy="347472"/>
          </a:xfrm>
          <a:prstGeom prst="rect">
            <a:avLst/>
          </a:prstGeom>
          <a:solidFill>
            <a:srgbClr val="141414"/>
          </a:solidFill>
          <a:ln w="12700">
            <a:solidFill>
              <a:srgbClr val="141414"/>
            </a:solidFill>
            <a:prstDash val="solid"/>
          </a:ln>
        </p:spPr>
      </p:sp>
      <p:sp>
        <p:nvSpPr>
          <p:cNvPr id="31" name="Text 29"/>
          <p:cNvSpPr/>
          <p:nvPr/>
        </p:nvSpPr>
        <p:spPr>
          <a:xfrm>
            <a:off x="365760" y="4663440"/>
            <a:ext cx="8412480" cy="347472"/>
          </a:xfrm>
          <a:prstGeom prst="rect">
            <a:avLst/>
          </a:prstGeom>
          <a:noFill/>
          <a:ln/>
        </p:spPr>
        <p:txBody>
          <a:bodyPr wrap="square" lIns="0" tIns="0" rIns="0" bIns="0" rtlCol="0" anchor="ctr"/>
          <a:lstStyle/>
          <a:p>
            <a:pPr marL="0" indent="0" algn="ctr">
              <a:buNone/>
            </a:pPr>
            <a:r>
              <a:rPr lang="en-US" sz="1200" b="1" dirty="0">
                <a:solidFill>
                  <a:srgbClr val="E50914"/>
                </a:solidFill>
                <a:latin typeface="Calibri" pitchFamily="34" charset="0"/>
                <a:ea typeface="Calibri" pitchFamily="34" charset="-122"/>
                <a:cs typeface="Calibri" pitchFamily="34" charset="-120"/>
              </a:rPr>
              <a:t>핵심 질문 👉  "Netflix의 성공을 만든 </a:t>
            </a:r>
            <a:r>
              <a:rPr lang="en-US" sz="1200" b="1" dirty="0" err="1">
                <a:solidFill>
                  <a:srgbClr val="E50914"/>
                </a:solidFill>
                <a:latin typeface="Calibri" pitchFamily="34" charset="0"/>
                <a:ea typeface="Calibri" pitchFamily="34" charset="-122"/>
                <a:cs typeface="Calibri" pitchFamily="34" charset="-120"/>
              </a:rPr>
              <a:t>문화가</a:t>
            </a:r>
            <a:r>
              <a:rPr lang="en-US" sz="1200" b="1" dirty="0">
                <a:solidFill>
                  <a:srgbClr val="E50914"/>
                </a:solidFill>
                <a:latin typeface="Calibri" pitchFamily="34" charset="0"/>
                <a:ea typeface="Calibri" pitchFamily="34" charset="-122"/>
                <a:cs typeface="Calibri" pitchFamily="34" charset="-120"/>
              </a:rPr>
              <a:t> </a:t>
            </a:r>
            <a:r>
              <a:rPr lang="ko-KR" altLang="en-US" sz="1200" b="1" dirty="0" smtClean="0">
                <a:solidFill>
                  <a:srgbClr val="E50914"/>
                </a:solidFill>
                <a:latin typeface="Calibri" pitchFamily="34" charset="0"/>
                <a:ea typeface="Calibri" pitchFamily="34" charset="-122"/>
                <a:cs typeface="Calibri" pitchFamily="34" charset="-120"/>
              </a:rPr>
              <a:t>경쟁우위를 </a:t>
            </a:r>
            <a:r>
              <a:rPr lang="ko-KR" altLang="en-US" sz="1200" b="1" dirty="0" err="1" smtClean="0">
                <a:solidFill>
                  <a:srgbClr val="E50914"/>
                </a:solidFill>
                <a:latin typeface="Calibri" pitchFamily="34" charset="0"/>
                <a:ea typeface="Calibri" pitchFamily="34" charset="-122"/>
                <a:cs typeface="Calibri" pitchFamily="34" charset="-120"/>
              </a:rPr>
              <a:t>지속케</a:t>
            </a:r>
            <a:r>
              <a:rPr lang="ko-KR" altLang="en-US" sz="1200" b="1" dirty="0" smtClean="0">
                <a:solidFill>
                  <a:srgbClr val="E50914"/>
                </a:solidFill>
                <a:latin typeface="Calibri" pitchFamily="34" charset="0"/>
                <a:ea typeface="Calibri" pitchFamily="34" charset="-122"/>
                <a:cs typeface="Calibri" pitchFamily="34" charset="-120"/>
              </a:rPr>
              <a:t> 하는</a:t>
            </a:r>
            <a:r>
              <a:rPr lang="en-US" sz="1200" b="1" dirty="0" smtClean="0">
                <a:solidFill>
                  <a:srgbClr val="E50914"/>
                </a:solidFill>
                <a:latin typeface="Calibri" pitchFamily="34" charset="0"/>
                <a:ea typeface="Calibri" pitchFamily="34" charset="-122"/>
                <a:cs typeface="Calibri" pitchFamily="34" charset="-120"/>
              </a:rPr>
              <a:t>가</a:t>
            </a:r>
            <a:r>
              <a:rPr lang="en-US" sz="1200" b="1" dirty="0">
                <a:solidFill>
                  <a:srgbClr val="E50914"/>
                </a:solidFill>
                <a:latin typeface="Calibri" pitchFamily="34" charset="0"/>
                <a:ea typeface="Calibri" pitchFamily="34" charset="-122"/>
                <a:cs typeface="Calibri" pitchFamily="34" charset="-120"/>
              </a:rPr>
              <a:t>?"</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4" name="Text 2"/>
          <p:cNvSpPr/>
          <p:nvPr/>
        </p:nvSpPr>
        <p:spPr>
          <a:xfrm>
            <a:off x="707666" y="2222883"/>
            <a:ext cx="7772400" cy="502920"/>
          </a:xfrm>
          <a:prstGeom prst="rect">
            <a:avLst/>
          </a:prstGeom>
          <a:noFill/>
          <a:ln/>
        </p:spPr>
        <p:txBody>
          <a:bodyPr wrap="square" lIns="0" tIns="0" rIns="0" bIns="0" rtlCol="0" anchor="ctr"/>
          <a:lstStyle/>
          <a:p>
            <a:pPr algn="ctr"/>
            <a:r>
              <a:rPr lang="en-US" altLang="ko-KR" sz="7200" dirty="0" smtClean="0">
                <a:solidFill>
                  <a:srgbClr val="FFFFFF"/>
                </a:solidFill>
                <a:ea typeface="Arial Black" pitchFamily="34" charset="-122"/>
                <a:cs typeface="Arial Black" pitchFamily="34" charset="-120"/>
              </a:rPr>
              <a:t>Binge </a:t>
            </a:r>
            <a:r>
              <a:rPr lang="en-US" altLang="ko-KR" sz="7200" dirty="0">
                <a:solidFill>
                  <a:srgbClr val="FFFFFF"/>
                </a:solidFill>
                <a:ea typeface="Arial Black" pitchFamily="34" charset="-122"/>
                <a:cs typeface="Arial Black" pitchFamily="34" charset="-120"/>
              </a:rPr>
              <a:t>or Cringe?</a:t>
            </a:r>
            <a:endParaRPr lang="en-US" altLang="ko-KR" sz="7200" dirty="0"/>
          </a:p>
        </p:txBody>
      </p:sp>
      <p:sp>
        <p:nvSpPr>
          <p:cNvPr id="11" name="Shape 5"/>
          <p:cNvSpPr/>
          <p:nvPr/>
        </p:nvSpPr>
        <p:spPr>
          <a:xfrm>
            <a:off x="1538576" y="2971793"/>
            <a:ext cx="5677233" cy="237547"/>
          </a:xfrm>
          <a:prstGeom prst="rect">
            <a:avLst/>
          </a:prstGeom>
          <a:noFill/>
          <a:ln w="12700">
            <a:noFill/>
            <a:prstDash val="solid"/>
          </a:ln>
        </p:spPr>
        <p:txBody>
          <a:bodyPr/>
          <a:lstStyle/>
          <a:p>
            <a:r>
              <a:rPr lang="ko-KR" altLang="en-US" sz="800" dirty="0" smtClean="0">
                <a:solidFill>
                  <a:schemeClr val="accent1"/>
                </a:solidFill>
              </a:rPr>
              <a:t>의미</a:t>
            </a:r>
            <a:r>
              <a:rPr lang="en-US" altLang="ko-KR" sz="800" dirty="0">
                <a:solidFill>
                  <a:schemeClr val="accent1"/>
                </a:solidFill>
              </a:rPr>
              <a:t> </a:t>
            </a:r>
            <a:r>
              <a:rPr lang="en-US" altLang="ko-KR" sz="800" dirty="0" smtClean="0">
                <a:solidFill>
                  <a:schemeClr val="accent1"/>
                </a:solidFill>
              </a:rPr>
              <a:t>: </a:t>
            </a:r>
            <a:r>
              <a:rPr lang="en-US" altLang="ko-KR" sz="800" dirty="0" smtClean="0">
                <a:solidFill>
                  <a:schemeClr val="bg1">
                    <a:lumMod val="65000"/>
                  </a:schemeClr>
                </a:solidFill>
              </a:rPr>
              <a:t>(</a:t>
            </a:r>
            <a:r>
              <a:rPr lang="ko-KR" altLang="en-US" sz="800" dirty="0">
                <a:solidFill>
                  <a:schemeClr val="bg1">
                    <a:lumMod val="65000"/>
                  </a:schemeClr>
                </a:solidFill>
              </a:rPr>
              <a:t>동사</a:t>
            </a:r>
            <a:r>
              <a:rPr lang="en-US" altLang="ko-KR" sz="800" dirty="0">
                <a:solidFill>
                  <a:schemeClr val="bg1">
                    <a:lumMod val="65000"/>
                  </a:schemeClr>
                </a:solidFill>
              </a:rPr>
              <a:t>/</a:t>
            </a:r>
            <a:r>
              <a:rPr lang="ko-KR" altLang="en-US" sz="800" dirty="0">
                <a:solidFill>
                  <a:schemeClr val="bg1">
                    <a:lumMod val="65000"/>
                  </a:schemeClr>
                </a:solidFill>
              </a:rPr>
              <a:t>명사</a:t>
            </a:r>
            <a:r>
              <a:rPr lang="en-US" altLang="ko-KR" sz="800" dirty="0">
                <a:solidFill>
                  <a:schemeClr val="bg1">
                    <a:lumMod val="65000"/>
                  </a:schemeClr>
                </a:solidFill>
              </a:rPr>
              <a:t>)  </a:t>
            </a:r>
            <a:r>
              <a:rPr lang="ko-KR" altLang="en-US" sz="800" dirty="0" smtClean="0">
                <a:solidFill>
                  <a:schemeClr val="bg1">
                    <a:lumMod val="65000"/>
                  </a:schemeClr>
                </a:solidFill>
              </a:rPr>
              <a:t>폭식하다</a:t>
            </a:r>
            <a:r>
              <a:rPr lang="en-US" altLang="ko-KR" sz="800" dirty="0">
                <a:solidFill>
                  <a:schemeClr val="bg1">
                    <a:lumMod val="65000"/>
                  </a:schemeClr>
                </a:solidFill>
              </a:rPr>
              <a:t>, </a:t>
            </a:r>
            <a:r>
              <a:rPr lang="ko-KR" altLang="en-US" sz="800" dirty="0">
                <a:solidFill>
                  <a:schemeClr val="bg1">
                    <a:lumMod val="65000"/>
                  </a:schemeClr>
                </a:solidFill>
              </a:rPr>
              <a:t>과하게 몰아서 </a:t>
            </a:r>
            <a:r>
              <a:rPr lang="ko-KR" altLang="en-US" sz="800" dirty="0" smtClean="0">
                <a:solidFill>
                  <a:schemeClr val="bg1">
                    <a:lumMod val="65000"/>
                  </a:schemeClr>
                </a:solidFill>
              </a:rPr>
              <a:t>하다                                                   </a:t>
            </a:r>
            <a:r>
              <a:rPr lang="en-US" altLang="ko-KR" sz="800" dirty="0">
                <a:solidFill>
                  <a:schemeClr val="bg1">
                    <a:lumMod val="65000"/>
                  </a:schemeClr>
                </a:solidFill>
              </a:rPr>
              <a:t>(</a:t>
            </a:r>
            <a:r>
              <a:rPr lang="ko-KR" altLang="en-US" sz="800" dirty="0">
                <a:solidFill>
                  <a:schemeClr val="bg1">
                    <a:lumMod val="65000"/>
                  </a:schemeClr>
                </a:solidFill>
              </a:rPr>
              <a:t>동사</a:t>
            </a:r>
            <a:r>
              <a:rPr lang="en-US" altLang="ko-KR" sz="800" dirty="0">
                <a:solidFill>
                  <a:schemeClr val="bg1">
                    <a:lumMod val="65000"/>
                  </a:schemeClr>
                </a:solidFill>
              </a:rPr>
              <a:t>) </a:t>
            </a:r>
            <a:r>
              <a:rPr lang="ko-KR" altLang="en-US" sz="800" dirty="0">
                <a:solidFill>
                  <a:schemeClr val="bg1">
                    <a:lumMod val="65000"/>
                  </a:schemeClr>
                </a:solidFill>
              </a:rPr>
              <a:t>몸을 움츠리다</a:t>
            </a:r>
            <a:r>
              <a:rPr lang="en-US" altLang="ko-KR" sz="800" dirty="0">
                <a:solidFill>
                  <a:schemeClr val="bg1">
                    <a:lumMod val="65000"/>
                  </a:schemeClr>
                </a:solidFill>
              </a:rPr>
              <a:t>, </a:t>
            </a:r>
            <a:r>
              <a:rPr lang="ko-KR" altLang="en-US" sz="800" dirty="0" err="1" smtClean="0">
                <a:solidFill>
                  <a:schemeClr val="bg1">
                    <a:lumMod val="65000"/>
                  </a:schemeClr>
                </a:solidFill>
              </a:rPr>
              <a:t>민망해하다</a:t>
            </a:r>
            <a:endParaRPr lang="en-US" altLang="ko-KR" sz="800" dirty="0">
              <a:solidFill>
                <a:schemeClr val="bg1">
                  <a:lumMod val="65000"/>
                </a:schemeClr>
              </a:solidFill>
            </a:endParaRPr>
          </a:p>
        </p:txBody>
      </p:sp>
      <p:sp>
        <p:nvSpPr>
          <p:cNvPr id="12" name="Shape 5"/>
          <p:cNvSpPr/>
          <p:nvPr/>
        </p:nvSpPr>
        <p:spPr>
          <a:xfrm>
            <a:off x="4952670" y="3397461"/>
            <a:ext cx="2263139" cy="769290"/>
          </a:xfrm>
          <a:prstGeom prst="rect">
            <a:avLst/>
          </a:prstGeom>
          <a:noFill/>
          <a:ln w="12700">
            <a:noFill/>
            <a:prstDash val="solid"/>
          </a:ln>
        </p:spPr>
        <p:txBody>
          <a:bodyPr/>
          <a:lstStyle/>
          <a:p>
            <a:pPr algn="ctr"/>
            <a:r>
              <a:rPr lang="ko-KR" altLang="en-US" sz="900" b="1" dirty="0" smtClean="0">
                <a:solidFill>
                  <a:schemeClr val="bg1">
                    <a:lumMod val="65000"/>
                  </a:schemeClr>
                </a:solidFill>
              </a:rPr>
              <a:t>오글거리다</a:t>
            </a:r>
            <a:r>
              <a:rPr lang="en-US" altLang="ko-KR" sz="900" b="1" dirty="0">
                <a:solidFill>
                  <a:schemeClr val="bg1">
                    <a:lumMod val="65000"/>
                  </a:schemeClr>
                </a:solidFill>
              </a:rPr>
              <a:t>, </a:t>
            </a:r>
            <a:r>
              <a:rPr lang="ko-KR" altLang="en-US" sz="900" b="1" dirty="0">
                <a:solidFill>
                  <a:schemeClr val="bg1">
                    <a:lumMod val="65000"/>
                  </a:schemeClr>
                </a:solidFill>
              </a:rPr>
              <a:t>불편하다</a:t>
            </a:r>
            <a:r>
              <a:rPr lang="en-US" altLang="ko-KR" sz="900" b="1" dirty="0">
                <a:solidFill>
                  <a:schemeClr val="bg1">
                    <a:lumMod val="65000"/>
                  </a:schemeClr>
                </a:solidFill>
              </a:rPr>
              <a:t>, </a:t>
            </a:r>
            <a:r>
              <a:rPr lang="ko-KR" altLang="en-US" sz="900" b="1" dirty="0">
                <a:solidFill>
                  <a:schemeClr val="bg1">
                    <a:lumMod val="65000"/>
                  </a:schemeClr>
                </a:solidFill>
              </a:rPr>
              <a:t>보기 </a:t>
            </a:r>
            <a:r>
              <a:rPr lang="ko-KR" altLang="en-US" sz="900" b="1" dirty="0" smtClean="0">
                <a:solidFill>
                  <a:schemeClr val="bg1">
                    <a:lumMod val="65000"/>
                  </a:schemeClr>
                </a:solidFill>
              </a:rPr>
              <a:t>민망하다</a:t>
            </a:r>
            <a:endParaRPr lang="en-US" altLang="ko-KR" sz="900" b="1" dirty="0" smtClean="0">
              <a:solidFill>
                <a:schemeClr val="bg1">
                  <a:lumMod val="65000"/>
                </a:schemeClr>
              </a:solidFill>
            </a:endParaRPr>
          </a:p>
          <a:p>
            <a:pPr algn="ctr"/>
            <a:r>
              <a:rPr lang="ko-KR" altLang="en-US" sz="900" b="1" dirty="0" smtClean="0">
                <a:solidFill>
                  <a:schemeClr val="bg1">
                    <a:lumMod val="65000"/>
                  </a:schemeClr>
                </a:solidFill>
              </a:rPr>
              <a:t>↓</a:t>
            </a:r>
            <a:endParaRPr lang="en-US" altLang="ko-KR" sz="900" b="1" dirty="0" smtClean="0">
              <a:solidFill>
                <a:schemeClr val="bg1">
                  <a:lumMod val="65000"/>
                </a:schemeClr>
              </a:solidFill>
            </a:endParaRPr>
          </a:p>
          <a:p>
            <a:pPr algn="ctr"/>
            <a:r>
              <a:rPr lang="ko-KR" altLang="en-US" sz="900" b="1" dirty="0">
                <a:solidFill>
                  <a:schemeClr val="bg1">
                    <a:lumMod val="65000"/>
                  </a:schemeClr>
                </a:solidFill>
              </a:rPr>
              <a:t>문제 있다 </a:t>
            </a:r>
            <a:r>
              <a:rPr lang="en-US" altLang="ko-KR" sz="900" b="1" dirty="0">
                <a:solidFill>
                  <a:schemeClr val="bg1">
                    <a:lumMod val="65000"/>
                  </a:schemeClr>
                </a:solidFill>
              </a:rPr>
              <a:t>/ </a:t>
            </a:r>
            <a:r>
              <a:rPr lang="ko-KR" altLang="en-US" sz="900" b="1" dirty="0">
                <a:solidFill>
                  <a:schemeClr val="bg1">
                    <a:lumMod val="65000"/>
                  </a:schemeClr>
                </a:solidFill>
              </a:rPr>
              <a:t>지속하기 </a:t>
            </a:r>
            <a:r>
              <a:rPr lang="ko-KR" altLang="en-US" sz="900" b="1" dirty="0" smtClean="0">
                <a:solidFill>
                  <a:schemeClr val="bg1">
                    <a:lumMod val="65000"/>
                  </a:schemeClr>
                </a:solidFill>
              </a:rPr>
              <a:t>어렵다</a:t>
            </a:r>
            <a:endParaRPr lang="en-US" altLang="ko-KR" sz="900" b="1" dirty="0" smtClean="0">
              <a:solidFill>
                <a:schemeClr val="bg1">
                  <a:lumMod val="65000"/>
                </a:schemeClr>
              </a:solidFill>
            </a:endParaRPr>
          </a:p>
          <a:p>
            <a:pPr algn="ctr"/>
            <a:endParaRPr lang="en-US" altLang="ko-KR" sz="900" b="1" dirty="0" smtClean="0">
              <a:solidFill>
                <a:schemeClr val="bg1">
                  <a:lumMod val="65000"/>
                </a:schemeClr>
              </a:solidFill>
            </a:endParaRPr>
          </a:p>
          <a:p>
            <a:pPr algn="ctr"/>
            <a:r>
              <a:rPr lang="en-US" altLang="ko-KR" sz="900" b="1" dirty="0" smtClean="0">
                <a:solidFill>
                  <a:schemeClr val="bg1"/>
                </a:solidFill>
              </a:rPr>
              <a:t>(</a:t>
            </a:r>
            <a:r>
              <a:rPr lang="ko-KR" altLang="en-US" sz="900" b="1" dirty="0" smtClean="0">
                <a:solidFill>
                  <a:schemeClr val="bg1"/>
                </a:solidFill>
              </a:rPr>
              <a:t>부정</a:t>
            </a:r>
            <a:r>
              <a:rPr lang="en-US" altLang="ko-KR" sz="900" b="1" dirty="0" smtClean="0">
                <a:solidFill>
                  <a:schemeClr val="bg1"/>
                </a:solidFill>
              </a:rPr>
              <a:t>)</a:t>
            </a:r>
            <a:endParaRPr lang="en-US" altLang="ko-KR" sz="900" b="1" dirty="0">
              <a:solidFill>
                <a:schemeClr val="bg1"/>
              </a:solidFill>
            </a:endParaRPr>
          </a:p>
        </p:txBody>
      </p:sp>
      <p:sp>
        <p:nvSpPr>
          <p:cNvPr id="13" name="Shape 0"/>
          <p:cNvSpPr/>
          <p:nvPr/>
        </p:nvSpPr>
        <p:spPr>
          <a:xfrm>
            <a:off x="0" y="0"/>
            <a:ext cx="9144000" cy="640080"/>
          </a:xfrm>
          <a:prstGeom prst="rect">
            <a:avLst/>
          </a:prstGeom>
          <a:solidFill>
            <a:srgbClr val="E50914"/>
          </a:solidFill>
          <a:ln w="12700">
            <a:solidFill>
              <a:srgbClr val="E50914"/>
            </a:solidFill>
            <a:prstDash val="solid"/>
          </a:ln>
        </p:spPr>
        <p:txBody>
          <a:bodyPr anchor="ctr"/>
          <a:lstStyle/>
          <a:p>
            <a:r>
              <a:rPr lang="ko-KR" altLang="en-US" sz="1300" b="1" dirty="0" smtClean="0">
                <a:solidFill>
                  <a:schemeClr val="bg1"/>
                </a:solidFill>
              </a:rPr>
              <a:t>    “</a:t>
            </a:r>
            <a:r>
              <a:rPr lang="en-US" altLang="ko-KR" sz="1300" b="1" dirty="0">
                <a:solidFill>
                  <a:schemeClr val="bg1"/>
                </a:solidFill>
              </a:rPr>
              <a:t>Netflix</a:t>
            </a:r>
            <a:r>
              <a:rPr lang="ko-KR" altLang="en-US" sz="1300" b="1" dirty="0">
                <a:solidFill>
                  <a:schemeClr val="bg1"/>
                </a:solidFill>
              </a:rPr>
              <a:t>의 문화는 계속 유지하고 싶은 성공 요인인가</a:t>
            </a:r>
            <a:r>
              <a:rPr lang="en-US" altLang="ko-KR" sz="1300" b="1" dirty="0" smtClean="0">
                <a:solidFill>
                  <a:schemeClr val="bg1"/>
                </a:solidFill>
              </a:rPr>
              <a:t>, </a:t>
            </a:r>
            <a:r>
              <a:rPr lang="ko-KR" altLang="en-US" sz="1300" b="1" dirty="0" smtClean="0">
                <a:solidFill>
                  <a:schemeClr val="bg1"/>
                </a:solidFill>
              </a:rPr>
              <a:t>아니면 </a:t>
            </a:r>
            <a:r>
              <a:rPr lang="ko-KR" altLang="en-US" sz="1300" b="1" dirty="0">
                <a:solidFill>
                  <a:schemeClr val="bg1"/>
                </a:solidFill>
              </a:rPr>
              <a:t>이제는 불편하고 문제가 되는 방식인가</a:t>
            </a:r>
            <a:r>
              <a:rPr lang="en-US" altLang="ko-KR" sz="1300" b="1" dirty="0">
                <a:solidFill>
                  <a:schemeClr val="bg1"/>
                </a:solidFill>
              </a:rPr>
              <a:t>?” </a:t>
            </a:r>
          </a:p>
        </p:txBody>
      </p:sp>
      <p:sp>
        <p:nvSpPr>
          <p:cNvPr id="15" name="Shape 5"/>
          <p:cNvSpPr/>
          <p:nvPr/>
        </p:nvSpPr>
        <p:spPr>
          <a:xfrm>
            <a:off x="1538576" y="3412103"/>
            <a:ext cx="2690523" cy="809046"/>
          </a:xfrm>
          <a:prstGeom prst="rect">
            <a:avLst/>
          </a:prstGeom>
          <a:noFill/>
          <a:ln w="12700">
            <a:noFill/>
            <a:prstDash val="solid"/>
          </a:ln>
        </p:spPr>
        <p:txBody>
          <a:bodyPr/>
          <a:lstStyle/>
          <a:p>
            <a:pPr algn="ctr"/>
            <a:r>
              <a:rPr lang="ko-KR" altLang="en-US" sz="900" b="1" dirty="0" smtClean="0">
                <a:solidFill>
                  <a:schemeClr val="bg1">
                    <a:lumMod val="65000"/>
                  </a:schemeClr>
                </a:solidFill>
              </a:rPr>
              <a:t>한 </a:t>
            </a:r>
            <a:r>
              <a:rPr lang="ko-KR" altLang="en-US" sz="900" b="1" dirty="0">
                <a:solidFill>
                  <a:schemeClr val="bg1">
                    <a:lumMod val="65000"/>
                  </a:schemeClr>
                </a:solidFill>
              </a:rPr>
              <a:t>번에 몰아서 </a:t>
            </a:r>
            <a:r>
              <a:rPr lang="ko-KR" altLang="en-US" sz="900" b="1" dirty="0" smtClean="0">
                <a:solidFill>
                  <a:schemeClr val="bg1">
                    <a:lumMod val="65000"/>
                  </a:schemeClr>
                </a:solidFill>
              </a:rPr>
              <a:t>콘텐츠를 소비하다</a:t>
            </a:r>
            <a:r>
              <a:rPr lang="en-US" altLang="ko-KR" sz="900" b="1" dirty="0">
                <a:solidFill>
                  <a:schemeClr val="bg1">
                    <a:lumMod val="65000"/>
                  </a:schemeClr>
                </a:solidFill>
              </a:rPr>
              <a:t> </a:t>
            </a:r>
            <a:r>
              <a:rPr lang="en-US" altLang="ko-KR" sz="900" b="1" dirty="0" smtClean="0">
                <a:solidFill>
                  <a:schemeClr val="bg1">
                    <a:lumMod val="65000"/>
                  </a:schemeClr>
                </a:solidFill>
              </a:rPr>
              <a:t>(</a:t>
            </a:r>
            <a:r>
              <a:rPr lang="en-US" altLang="ko-KR" sz="900" b="1" dirty="0">
                <a:solidFill>
                  <a:schemeClr val="bg1">
                    <a:lumMod val="65000"/>
                  </a:schemeClr>
                </a:solidFill>
              </a:rPr>
              <a:t>binge-watch</a:t>
            </a:r>
            <a:r>
              <a:rPr lang="en-US" altLang="ko-KR" sz="900" b="1" dirty="0" smtClean="0">
                <a:solidFill>
                  <a:schemeClr val="bg1">
                    <a:lumMod val="65000"/>
                  </a:schemeClr>
                </a:solidFill>
              </a:rPr>
              <a:t>)</a:t>
            </a:r>
          </a:p>
          <a:p>
            <a:pPr algn="ctr"/>
            <a:r>
              <a:rPr lang="ko-KR" altLang="en-US" sz="900" b="1" dirty="0" smtClean="0">
                <a:solidFill>
                  <a:schemeClr val="bg1">
                    <a:lumMod val="65000"/>
                  </a:schemeClr>
                </a:solidFill>
              </a:rPr>
              <a:t>↓</a:t>
            </a:r>
            <a:endParaRPr lang="en-US" altLang="ko-KR" sz="900" b="1" dirty="0" smtClean="0">
              <a:solidFill>
                <a:schemeClr val="bg1">
                  <a:lumMod val="65000"/>
                </a:schemeClr>
              </a:solidFill>
            </a:endParaRPr>
          </a:p>
          <a:p>
            <a:pPr algn="ctr"/>
            <a:r>
              <a:rPr lang="ko-KR" altLang="en-US" sz="900" b="1" dirty="0">
                <a:solidFill>
                  <a:schemeClr val="bg1">
                    <a:lumMod val="65000"/>
                  </a:schemeClr>
                </a:solidFill>
              </a:rPr>
              <a:t>매우 매력적이고 빠져든다 </a:t>
            </a:r>
            <a:r>
              <a:rPr lang="en-US" altLang="ko-KR" sz="900" b="1" dirty="0">
                <a:solidFill>
                  <a:schemeClr val="bg1">
                    <a:lumMod val="65000"/>
                  </a:schemeClr>
                </a:solidFill>
              </a:rPr>
              <a:t>/ </a:t>
            </a:r>
            <a:r>
              <a:rPr lang="ko-KR" altLang="en-US" sz="900" b="1" dirty="0" smtClean="0">
                <a:solidFill>
                  <a:schemeClr val="bg1">
                    <a:lumMod val="65000"/>
                  </a:schemeClr>
                </a:solidFill>
              </a:rPr>
              <a:t>성공적이다</a:t>
            </a:r>
            <a:endParaRPr lang="en-US" altLang="ko-KR" sz="900" b="1" dirty="0" smtClean="0">
              <a:solidFill>
                <a:schemeClr val="bg1">
                  <a:lumMod val="65000"/>
                </a:schemeClr>
              </a:solidFill>
            </a:endParaRPr>
          </a:p>
          <a:p>
            <a:pPr algn="ctr"/>
            <a:endParaRPr lang="en-US" altLang="ko-KR" sz="900" b="1" dirty="0" smtClean="0">
              <a:solidFill>
                <a:schemeClr val="bg1">
                  <a:lumMod val="65000"/>
                </a:schemeClr>
              </a:solidFill>
            </a:endParaRPr>
          </a:p>
          <a:p>
            <a:pPr algn="ctr"/>
            <a:r>
              <a:rPr lang="en-US" altLang="ko-KR" sz="900" b="1" dirty="0" smtClean="0">
                <a:solidFill>
                  <a:schemeClr val="bg1"/>
                </a:solidFill>
              </a:rPr>
              <a:t>(</a:t>
            </a:r>
            <a:r>
              <a:rPr lang="ko-KR" altLang="en-US" sz="900" b="1" dirty="0" smtClean="0">
                <a:solidFill>
                  <a:schemeClr val="bg1"/>
                </a:solidFill>
              </a:rPr>
              <a:t>긍정</a:t>
            </a:r>
            <a:r>
              <a:rPr lang="en-US" altLang="ko-KR" sz="900" b="1" dirty="0" smtClean="0">
                <a:solidFill>
                  <a:schemeClr val="bg1"/>
                </a:solidFill>
              </a:rPr>
              <a:t>)</a:t>
            </a:r>
            <a:endParaRPr lang="ko-KR" altLang="en-US" sz="900" b="1" dirty="0">
              <a:solidFill>
                <a:schemeClr val="bg1"/>
              </a:solidFill>
            </a:endParaRPr>
          </a:p>
        </p:txBody>
      </p:sp>
    </p:spTree>
    <p:extLst>
      <p:ext uri="{BB962C8B-B14F-4D97-AF65-F5344CB8AC3E}">
        <p14:creationId xmlns:p14="http://schemas.microsoft.com/office/powerpoint/2010/main" val="215724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ko-KR" altLang="en-US" sz="1300" b="1" dirty="0" smtClean="0">
                <a:solidFill>
                  <a:srgbClr val="FFFFFF"/>
                </a:solidFill>
                <a:latin typeface="Calibri" pitchFamily="34" charset="0"/>
                <a:ea typeface="Calibri" pitchFamily="34" charset="-122"/>
                <a:cs typeface="Calibri" pitchFamily="34" charset="-120"/>
              </a:rPr>
              <a:t>무엇이 </a:t>
            </a:r>
            <a:r>
              <a:rPr lang="en-US" sz="1300" b="1" dirty="0" smtClean="0">
                <a:solidFill>
                  <a:srgbClr val="FFFFFF"/>
                </a:solidFill>
                <a:latin typeface="Calibri" pitchFamily="34" charset="0"/>
                <a:ea typeface="Calibri" pitchFamily="34" charset="-122"/>
                <a:cs typeface="Calibri" pitchFamily="34" charset="-120"/>
              </a:rPr>
              <a:t>Netflix</a:t>
            </a:r>
            <a:r>
              <a:rPr lang="ko-KR" altLang="en-US" sz="1300" b="1" dirty="0" smtClean="0">
                <a:solidFill>
                  <a:srgbClr val="FFFFFF"/>
                </a:solidFill>
                <a:latin typeface="Calibri" pitchFamily="34" charset="0"/>
                <a:ea typeface="Calibri" pitchFamily="34" charset="-122"/>
                <a:cs typeface="Calibri" pitchFamily="34" charset="-120"/>
              </a:rPr>
              <a:t>의 경쟁우위를 만들었나</a:t>
            </a:r>
            <a:r>
              <a:rPr lang="en-US" altLang="ko-KR" sz="1300" b="1" dirty="0" smtClean="0">
                <a:solidFill>
                  <a:srgbClr val="FFFFFF"/>
                </a:solidFill>
                <a:latin typeface="Calibri" pitchFamily="34" charset="0"/>
                <a:ea typeface="Calibri" pitchFamily="34" charset="-122"/>
                <a:cs typeface="Calibri" pitchFamily="34" charset="-120"/>
              </a:rPr>
              <a:t>? </a:t>
            </a:r>
            <a:endParaRPr lang="en-US" sz="13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r>
              <a:rPr lang="en-US" sz="2000" b="1" dirty="0">
                <a:solidFill>
                  <a:srgbClr val="141414"/>
                </a:solidFill>
                <a:latin typeface="Arial Black" pitchFamily="34" charset="0"/>
                <a:ea typeface="Arial Black" pitchFamily="34" charset="-122"/>
                <a:cs typeface="Arial Black" pitchFamily="34" charset="-120"/>
              </a:rPr>
              <a:t>Netflix </a:t>
            </a:r>
            <a:r>
              <a:rPr lang="en-US" sz="2000" b="1" dirty="0" err="1" smtClean="0">
                <a:solidFill>
                  <a:srgbClr val="141414"/>
                </a:solidFill>
                <a:latin typeface="Arial Black" pitchFamily="34" charset="0"/>
                <a:ea typeface="Arial Black" pitchFamily="34" charset="-122"/>
                <a:cs typeface="Arial Black" pitchFamily="34" charset="-120"/>
              </a:rPr>
              <a:t>경쟁우위</a:t>
            </a:r>
            <a:r>
              <a:rPr lang="en-US" sz="2000" b="1" dirty="0" smtClean="0">
                <a:solidFill>
                  <a:srgbClr val="141414"/>
                </a:solidFill>
                <a:latin typeface="Arial Black" pitchFamily="34" charset="0"/>
                <a:ea typeface="Arial Black" pitchFamily="34" charset="-122"/>
                <a:cs typeface="Arial Black" pitchFamily="34" charset="-120"/>
              </a:rPr>
              <a:t> = Differentiation + Integration + Speed</a:t>
            </a:r>
            <a:endParaRPr lang="en-US" sz="2000" dirty="0"/>
          </a:p>
        </p:txBody>
      </p:sp>
      <p:sp>
        <p:nvSpPr>
          <p:cNvPr id="5" name="Shape 3"/>
          <p:cNvSpPr/>
          <p:nvPr/>
        </p:nvSpPr>
        <p:spPr>
          <a:xfrm>
            <a:off x="274320" y="1261872"/>
            <a:ext cx="3840480" cy="292608"/>
          </a:xfrm>
          <a:prstGeom prst="rect">
            <a:avLst/>
          </a:prstGeom>
          <a:solidFill>
            <a:srgbClr val="141414"/>
          </a:solidFill>
          <a:ln w="12700">
            <a:solidFill>
              <a:srgbClr val="141414"/>
            </a:solidFill>
            <a:prstDash val="solid"/>
          </a:ln>
        </p:spPr>
      </p:sp>
      <p:sp>
        <p:nvSpPr>
          <p:cNvPr id="6" name="Text 4"/>
          <p:cNvSpPr/>
          <p:nvPr/>
        </p:nvSpPr>
        <p:spPr>
          <a:xfrm>
            <a:off x="274320" y="1261872"/>
            <a:ext cx="3840480" cy="292608"/>
          </a:xfrm>
          <a:prstGeom prst="rect">
            <a:avLst/>
          </a:prstGeom>
          <a:noFill/>
          <a:ln/>
        </p:spPr>
        <p:txBody>
          <a:bodyPr wrap="square" lIns="0" tIns="0" rIns="0" bIns="0" rtlCol="0" anchor="ctr"/>
          <a:lstStyle/>
          <a:p>
            <a:pPr marL="0" indent="0" algn="ctr">
              <a:buNone/>
            </a:pPr>
            <a:r>
              <a:rPr lang="en-US" sz="1000" b="1" smtClean="0">
                <a:solidFill>
                  <a:srgbClr val="FFFFFF"/>
                </a:solidFill>
                <a:latin typeface="Calibri" pitchFamily="34" charset="0"/>
                <a:ea typeface="Calibri" pitchFamily="34" charset="-122"/>
                <a:cs typeface="Calibri" pitchFamily="34" charset="-120"/>
              </a:rPr>
              <a:t>차별화 </a:t>
            </a:r>
            <a:r>
              <a:rPr lang="en-US" sz="1000" b="1" dirty="0">
                <a:solidFill>
                  <a:srgbClr val="FFFFFF"/>
                </a:solidFill>
                <a:latin typeface="Calibri" pitchFamily="34" charset="0"/>
                <a:ea typeface="Calibri" pitchFamily="34" charset="-122"/>
                <a:cs typeface="Calibri" pitchFamily="34" charset="-120"/>
              </a:rPr>
              <a:t>(Differentiation)</a:t>
            </a:r>
            <a:endParaRPr lang="en-US" sz="1000" dirty="0"/>
          </a:p>
        </p:txBody>
      </p:sp>
      <p:sp>
        <p:nvSpPr>
          <p:cNvPr id="7" name="Shape 5"/>
          <p:cNvSpPr/>
          <p:nvPr/>
        </p:nvSpPr>
        <p:spPr>
          <a:xfrm>
            <a:off x="274320" y="1591056"/>
            <a:ext cx="54864" cy="256032"/>
          </a:xfrm>
          <a:prstGeom prst="rect">
            <a:avLst/>
          </a:prstGeom>
          <a:solidFill>
            <a:srgbClr val="E50914"/>
          </a:solidFill>
          <a:ln w="12700">
            <a:solidFill>
              <a:srgbClr val="E50914"/>
            </a:solidFill>
            <a:prstDash val="solid"/>
          </a:ln>
        </p:spPr>
      </p:sp>
      <p:sp>
        <p:nvSpPr>
          <p:cNvPr id="8" name="Text 6"/>
          <p:cNvSpPr/>
          <p:nvPr/>
        </p:nvSpPr>
        <p:spPr>
          <a:xfrm>
            <a:off x="438912" y="1591056"/>
            <a:ext cx="3611880" cy="256032"/>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가격이 아닌 콘텐츠 &amp; 경험으로 경쟁</a:t>
            </a:r>
            <a:endParaRPr lang="en-US" sz="1000" dirty="0"/>
          </a:p>
        </p:txBody>
      </p:sp>
      <p:sp>
        <p:nvSpPr>
          <p:cNvPr id="9" name="Shape 7"/>
          <p:cNvSpPr/>
          <p:nvPr/>
        </p:nvSpPr>
        <p:spPr>
          <a:xfrm>
            <a:off x="274320" y="1865376"/>
            <a:ext cx="3822192" cy="0"/>
          </a:xfrm>
          <a:prstGeom prst="line">
            <a:avLst/>
          </a:prstGeom>
          <a:noFill/>
          <a:ln w="6350">
            <a:solidFill>
              <a:srgbClr val="E0E0E0"/>
            </a:solidFill>
            <a:prstDash val="solid"/>
          </a:ln>
        </p:spPr>
      </p:sp>
      <p:sp>
        <p:nvSpPr>
          <p:cNvPr id="10" name="Shape 8"/>
          <p:cNvSpPr/>
          <p:nvPr/>
        </p:nvSpPr>
        <p:spPr>
          <a:xfrm>
            <a:off x="274320" y="1920240"/>
            <a:ext cx="54864" cy="256032"/>
          </a:xfrm>
          <a:prstGeom prst="rect">
            <a:avLst/>
          </a:prstGeom>
          <a:solidFill>
            <a:srgbClr val="E50914"/>
          </a:solidFill>
          <a:ln w="12700">
            <a:solidFill>
              <a:srgbClr val="E50914"/>
            </a:solidFill>
            <a:prstDash val="solid"/>
          </a:ln>
        </p:spPr>
      </p:sp>
      <p:sp>
        <p:nvSpPr>
          <p:cNvPr id="11" name="Text 9"/>
          <p:cNvSpPr/>
          <p:nvPr/>
        </p:nvSpPr>
        <p:spPr>
          <a:xfrm>
            <a:off x="438912" y="1920240"/>
            <a:ext cx="3611880" cy="256032"/>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오리지널 콘텐츠 — 타사 모방 어려운 독점 IP</a:t>
            </a:r>
            <a:endParaRPr lang="en-US" sz="1000" dirty="0"/>
          </a:p>
        </p:txBody>
      </p:sp>
      <p:sp>
        <p:nvSpPr>
          <p:cNvPr id="12" name="Shape 10"/>
          <p:cNvSpPr/>
          <p:nvPr/>
        </p:nvSpPr>
        <p:spPr>
          <a:xfrm>
            <a:off x="274320" y="2194560"/>
            <a:ext cx="3822192" cy="0"/>
          </a:xfrm>
          <a:prstGeom prst="line">
            <a:avLst/>
          </a:prstGeom>
          <a:noFill/>
          <a:ln w="6350">
            <a:solidFill>
              <a:srgbClr val="E0E0E0"/>
            </a:solidFill>
            <a:prstDash val="solid"/>
          </a:ln>
        </p:spPr>
      </p:sp>
      <p:sp>
        <p:nvSpPr>
          <p:cNvPr id="13" name="Shape 11"/>
          <p:cNvSpPr/>
          <p:nvPr/>
        </p:nvSpPr>
        <p:spPr>
          <a:xfrm>
            <a:off x="274320" y="2249424"/>
            <a:ext cx="54864" cy="256032"/>
          </a:xfrm>
          <a:prstGeom prst="rect">
            <a:avLst/>
          </a:prstGeom>
          <a:solidFill>
            <a:srgbClr val="E50914"/>
          </a:solidFill>
          <a:ln w="12700">
            <a:solidFill>
              <a:srgbClr val="E50914"/>
            </a:solidFill>
            <a:prstDash val="solid"/>
          </a:ln>
        </p:spPr>
      </p:sp>
      <p:sp>
        <p:nvSpPr>
          <p:cNvPr id="14" name="Text 12"/>
          <p:cNvSpPr/>
          <p:nvPr/>
        </p:nvSpPr>
        <p:spPr>
          <a:xfrm>
            <a:off x="438912" y="2249424"/>
            <a:ext cx="3611880" cy="256032"/>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개인화 추천 알고리즘 — 데이터 기반 UX</a:t>
            </a:r>
            <a:endParaRPr lang="en-US" sz="1000" dirty="0"/>
          </a:p>
        </p:txBody>
      </p:sp>
      <p:sp>
        <p:nvSpPr>
          <p:cNvPr id="15" name="Shape 13"/>
          <p:cNvSpPr/>
          <p:nvPr/>
        </p:nvSpPr>
        <p:spPr>
          <a:xfrm>
            <a:off x="274320" y="2523744"/>
            <a:ext cx="3822192" cy="0"/>
          </a:xfrm>
          <a:prstGeom prst="line">
            <a:avLst/>
          </a:prstGeom>
          <a:noFill/>
          <a:ln w="6350">
            <a:solidFill>
              <a:srgbClr val="E0E0E0"/>
            </a:solidFill>
            <a:prstDash val="solid"/>
          </a:ln>
        </p:spPr>
      </p:sp>
      <p:sp>
        <p:nvSpPr>
          <p:cNvPr id="18" name="Shape 16"/>
          <p:cNvSpPr/>
          <p:nvPr/>
        </p:nvSpPr>
        <p:spPr>
          <a:xfrm>
            <a:off x="274320" y="2605104"/>
            <a:ext cx="3840480" cy="292608"/>
          </a:xfrm>
          <a:prstGeom prst="rect">
            <a:avLst/>
          </a:prstGeom>
          <a:solidFill>
            <a:srgbClr val="141414"/>
          </a:solidFill>
          <a:ln w="12700">
            <a:solidFill>
              <a:srgbClr val="141414"/>
            </a:solidFill>
            <a:prstDash val="solid"/>
          </a:ln>
        </p:spPr>
      </p:sp>
      <p:sp>
        <p:nvSpPr>
          <p:cNvPr id="19" name="Text 17"/>
          <p:cNvSpPr/>
          <p:nvPr/>
        </p:nvSpPr>
        <p:spPr>
          <a:xfrm>
            <a:off x="274320" y="2605104"/>
            <a:ext cx="3840480" cy="292608"/>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Value Chain </a:t>
            </a:r>
            <a:r>
              <a:rPr lang="en-US" sz="1000" b="1" dirty="0" err="1" smtClean="0">
                <a:solidFill>
                  <a:srgbClr val="FFFFFF"/>
                </a:solidFill>
                <a:latin typeface="Calibri" pitchFamily="34" charset="0"/>
                <a:ea typeface="Calibri" pitchFamily="34" charset="-122"/>
                <a:cs typeface="Calibri" pitchFamily="34" charset="-120"/>
              </a:rPr>
              <a:t>통합</a:t>
            </a:r>
            <a:r>
              <a:rPr lang="en-US" sz="1000" b="1" dirty="0">
                <a:solidFill>
                  <a:srgbClr val="FFFFFF"/>
                </a:solidFill>
                <a:latin typeface="Calibri" pitchFamily="34" charset="0"/>
                <a:ea typeface="Calibri" pitchFamily="34" charset="-122"/>
                <a:cs typeface="Calibri" pitchFamily="34" charset="-120"/>
              </a:rPr>
              <a:t> (</a:t>
            </a:r>
            <a:r>
              <a:rPr lang="en-US" sz="1000" b="1" dirty="0" smtClean="0">
                <a:solidFill>
                  <a:srgbClr val="FFFFFF"/>
                </a:solidFill>
                <a:latin typeface="Calibri" pitchFamily="34" charset="0"/>
                <a:ea typeface="Calibri" pitchFamily="34" charset="-122"/>
                <a:cs typeface="Calibri" pitchFamily="34" charset="-120"/>
              </a:rPr>
              <a:t>Integration)</a:t>
            </a:r>
            <a:endParaRPr lang="en-US" sz="1000" dirty="0"/>
          </a:p>
        </p:txBody>
      </p:sp>
      <p:sp>
        <p:nvSpPr>
          <p:cNvPr id="20" name="Shape 18"/>
          <p:cNvSpPr/>
          <p:nvPr/>
        </p:nvSpPr>
        <p:spPr>
          <a:xfrm>
            <a:off x="274320" y="2934288"/>
            <a:ext cx="3840480" cy="384048"/>
          </a:xfrm>
          <a:prstGeom prst="rect">
            <a:avLst/>
          </a:prstGeom>
          <a:solidFill>
            <a:srgbClr val="F5F5F5"/>
          </a:solidFill>
          <a:ln w="12700">
            <a:solidFill>
              <a:srgbClr val="DDDDDD"/>
            </a:solidFill>
            <a:prstDash val="solid"/>
          </a:ln>
        </p:spPr>
      </p:sp>
      <p:sp>
        <p:nvSpPr>
          <p:cNvPr id="21" name="Text 19"/>
          <p:cNvSpPr/>
          <p:nvPr/>
        </p:nvSpPr>
        <p:spPr>
          <a:xfrm>
            <a:off x="347472" y="2934288"/>
            <a:ext cx="1097280" cy="384048"/>
          </a:xfrm>
          <a:prstGeom prst="rect">
            <a:avLst/>
          </a:prstGeom>
          <a:noFill/>
          <a:ln/>
        </p:spPr>
        <p:txBody>
          <a:bodyPr wrap="square" lIns="0" tIns="0" rIns="0" bIns="0" rtlCol="0" anchor="ctr"/>
          <a:lstStyle/>
          <a:p>
            <a:pPr marL="0" indent="0" algn="l">
              <a:buNone/>
            </a:pPr>
            <a:r>
              <a:rPr lang="en-US" sz="950" b="1" dirty="0">
                <a:solidFill>
                  <a:srgbClr val="E50914"/>
                </a:solidFill>
                <a:latin typeface="Calibri" pitchFamily="34" charset="0"/>
                <a:ea typeface="Calibri" pitchFamily="34" charset="-122"/>
                <a:cs typeface="Calibri" pitchFamily="34" charset="-120"/>
              </a:rPr>
              <a:t>콘텐츠 제작</a:t>
            </a:r>
            <a:endParaRPr lang="en-US" sz="950" dirty="0"/>
          </a:p>
        </p:txBody>
      </p:sp>
      <p:sp>
        <p:nvSpPr>
          <p:cNvPr id="22" name="Text 20"/>
          <p:cNvSpPr/>
          <p:nvPr/>
        </p:nvSpPr>
        <p:spPr>
          <a:xfrm>
            <a:off x="1463040" y="2934288"/>
            <a:ext cx="2596896" cy="384048"/>
          </a:xfrm>
          <a:prstGeom prst="rect">
            <a:avLst/>
          </a:prstGeom>
          <a:noFill/>
          <a:ln/>
        </p:spPr>
        <p:txBody>
          <a:bodyPr wrap="square" lIns="0" tIns="0" rIns="0" bIns="0" rtlCol="0" anchor="ctr"/>
          <a:lstStyle/>
          <a:p>
            <a:pPr marL="0" indent="0" algn="l">
              <a:buNone/>
            </a:pPr>
            <a:r>
              <a:rPr lang="en-US" sz="900" dirty="0">
                <a:solidFill>
                  <a:srgbClr val="2A2A2A"/>
                </a:solidFill>
                <a:latin typeface="Calibri" pitchFamily="34" charset="0"/>
                <a:ea typeface="Calibri" pitchFamily="34" charset="-122"/>
                <a:cs typeface="Calibri" pitchFamily="34" charset="-120"/>
              </a:rPr>
              <a:t>스튜디오 내재화, 오리지널 IP 직접 생산</a:t>
            </a:r>
            <a:endParaRPr lang="en-US" sz="900" dirty="0"/>
          </a:p>
        </p:txBody>
      </p:sp>
      <p:sp>
        <p:nvSpPr>
          <p:cNvPr id="23" name="Shape 21"/>
          <p:cNvSpPr/>
          <p:nvPr/>
        </p:nvSpPr>
        <p:spPr>
          <a:xfrm>
            <a:off x="274320" y="3345768"/>
            <a:ext cx="3840480" cy="384048"/>
          </a:xfrm>
          <a:prstGeom prst="rect">
            <a:avLst/>
          </a:prstGeom>
          <a:solidFill>
            <a:srgbClr val="FFFFFF"/>
          </a:solidFill>
          <a:ln w="12700">
            <a:solidFill>
              <a:srgbClr val="DDDDDD"/>
            </a:solidFill>
            <a:prstDash val="solid"/>
          </a:ln>
        </p:spPr>
      </p:sp>
      <p:sp>
        <p:nvSpPr>
          <p:cNvPr id="24" name="Text 22"/>
          <p:cNvSpPr/>
          <p:nvPr/>
        </p:nvSpPr>
        <p:spPr>
          <a:xfrm>
            <a:off x="347472" y="3345768"/>
            <a:ext cx="1097280" cy="384048"/>
          </a:xfrm>
          <a:prstGeom prst="rect">
            <a:avLst/>
          </a:prstGeom>
          <a:noFill/>
          <a:ln/>
        </p:spPr>
        <p:txBody>
          <a:bodyPr wrap="square" lIns="0" tIns="0" rIns="0" bIns="0" rtlCol="0" anchor="ctr"/>
          <a:lstStyle/>
          <a:p>
            <a:pPr marL="0" indent="0" algn="l">
              <a:buNone/>
            </a:pPr>
            <a:r>
              <a:rPr lang="en-US" sz="950" b="1" dirty="0">
                <a:solidFill>
                  <a:srgbClr val="E50914"/>
                </a:solidFill>
                <a:latin typeface="Calibri" pitchFamily="34" charset="0"/>
                <a:ea typeface="Calibri" pitchFamily="34" charset="-122"/>
                <a:cs typeface="Calibri" pitchFamily="34" charset="-120"/>
              </a:rPr>
              <a:t>플랫폼 + 데이터</a:t>
            </a:r>
            <a:endParaRPr lang="en-US" sz="950" dirty="0"/>
          </a:p>
        </p:txBody>
      </p:sp>
      <p:sp>
        <p:nvSpPr>
          <p:cNvPr id="25" name="Text 23"/>
          <p:cNvSpPr/>
          <p:nvPr/>
        </p:nvSpPr>
        <p:spPr>
          <a:xfrm>
            <a:off x="1463040" y="3345768"/>
            <a:ext cx="2596896" cy="384048"/>
          </a:xfrm>
          <a:prstGeom prst="rect">
            <a:avLst/>
          </a:prstGeom>
          <a:noFill/>
          <a:ln/>
        </p:spPr>
        <p:txBody>
          <a:bodyPr wrap="square" lIns="0" tIns="0" rIns="0" bIns="0" rtlCol="0" anchor="ctr"/>
          <a:lstStyle/>
          <a:p>
            <a:pPr marL="0" indent="0" algn="l">
              <a:buNone/>
            </a:pPr>
            <a:r>
              <a:rPr lang="en-US" sz="900" dirty="0">
                <a:solidFill>
                  <a:srgbClr val="2A2A2A"/>
                </a:solidFill>
                <a:latin typeface="Calibri" pitchFamily="34" charset="0"/>
                <a:ea typeface="Calibri" pitchFamily="34" charset="-122"/>
                <a:cs typeface="Calibri" pitchFamily="34" charset="-120"/>
              </a:rPr>
              <a:t>재생 품질, 추천 알고리즘, 멤버 데이터</a:t>
            </a:r>
            <a:endParaRPr lang="en-US" sz="900" dirty="0"/>
          </a:p>
        </p:txBody>
      </p:sp>
      <p:sp>
        <p:nvSpPr>
          <p:cNvPr id="29" name="Shape 27"/>
          <p:cNvSpPr/>
          <p:nvPr/>
        </p:nvSpPr>
        <p:spPr>
          <a:xfrm>
            <a:off x="4572000" y="1234440"/>
            <a:ext cx="4251960" cy="3657600"/>
          </a:xfrm>
          <a:prstGeom prst="rect">
            <a:avLst/>
          </a:prstGeom>
          <a:solidFill>
            <a:srgbClr val="F5F5F5"/>
          </a:solidFill>
          <a:ln w="12700">
            <a:solidFill>
              <a:srgbClr val="DDDDDD"/>
            </a:solidFill>
            <a:prstDash val="solid"/>
          </a:ln>
        </p:spPr>
      </p:sp>
      <p:sp>
        <p:nvSpPr>
          <p:cNvPr id="30" name="Text 28"/>
          <p:cNvSpPr/>
          <p:nvPr/>
        </p:nvSpPr>
        <p:spPr>
          <a:xfrm>
            <a:off x="4663440" y="1298448"/>
            <a:ext cx="4069080" cy="274320"/>
          </a:xfrm>
          <a:prstGeom prst="rect">
            <a:avLst/>
          </a:prstGeom>
          <a:noFill/>
          <a:ln/>
        </p:spPr>
        <p:txBody>
          <a:bodyPr wrap="square" lIns="0" tIns="0" rIns="0" bIns="0" rtlCol="0" anchor="ctr"/>
          <a:lstStyle/>
          <a:p>
            <a:pPr marL="0" indent="0" algn="ctr">
              <a:buNone/>
            </a:pPr>
            <a:r>
              <a:rPr lang="en-US" sz="1000" b="1" dirty="0" smtClean="0">
                <a:solidFill>
                  <a:srgbClr val="141414"/>
                </a:solidFill>
                <a:latin typeface="Calibri" pitchFamily="34" charset="0"/>
                <a:ea typeface="Calibri" pitchFamily="34" charset="-122"/>
                <a:cs typeface="Calibri" pitchFamily="34" charset="-120"/>
              </a:rPr>
              <a:t>Porter`s </a:t>
            </a:r>
            <a:r>
              <a:rPr lang="en-US" sz="1000" b="1" dirty="0">
                <a:solidFill>
                  <a:srgbClr val="141414"/>
                </a:solidFill>
                <a:latin typeface="Calibri" pitchFamily="34" charset="0"/>
                <a:ea typeface="Calibri" pitchFamily="34" charset="-122"/>
                <a:cs typeface="Calibri" pitchFamily="34" charset="-120"/>
              </a:rPr>
              <a:t>Generic Strategy Map</a:t>
            </a:r>
            <a:endParaRPr lang="en-US" sz="1000" dirty="0"/>
          </a:p>
        </p:txBody>
      </p:sp>
      <p:sp>
        <p:nvSpPr>
          <p:cNvPr id="31" name="Shape 29"/>
          <p:cNvSpPr/>
          <p:nvPr/>
        </p:nvSpPr>
        <p:spPr>
          <a:xfrm>
            <a:off x="4709160" y="3177540"/>
            <a:ext cx="3977640" cy="0"/>
          </a:xfrm>
          <a:prstGeom prst="line">
            <a:avLst/>
          </a:prstGeom>
          <a:noFill/>
          <a:ln w="6350">
            <a:solidFill>
              <a:schemeClr val="bg1">
                <a:lumMod val="65000"/>
              </a:schemeClr>
            </a:solidFill>
            <a:prstDash val="solid"/>
          </a:ln>
        </p:spPr>
      </p:sp>
      <p:sp>
        <p:nvSpPr>
          <p:cNvPr id="32" name="Shape 30"/>
          <p:cNvSpPr/>
          <p:nvPr/>
        </p:nvSpPr>
        <p:spPr>
          <a:xfrm>
            <a:off x="6355080" y="1874520"/>
            <a:ext cx="0" cy="2788920"/>
          </a:xfrm>
          <a:prstGeom prst="line">
            <a:avLst/>
          </a:prstGeom>
          <a:noFill/>
          <a:ln w="6350">
            <a:solidFill>
              <a:schemeClr val="bg1">
                <a:lumMod val="65000"/>
              </a:schemeClr>
            </a:solidFill>
            <a:prstDash val="solid"/>
          </a:ln>
        </p:spPr>
      </p:sp>
      <p:sp>
        <p:nvSpPr>
          <p:cNvPr id="33" name="Text 31"/>
          <p:cNvSpPr/>
          <p:nvPr/>
        </p:nvSpPr>
        <p:spPr>
          <a:xfrm>
            <a:off x="5440680" y="1691640"/>
            <a:ext cx="1828800" cy="228600"/>
          </a:xfrm>
          <a:prstGeom prst="rect">
            <a:avLst/>
          </a:prstGeom>
          <a:noFill/>
          <a:ln/>
        </p:spPr>
        <p:txBody>
          <a:bodyPr wrap="square" lIns="0" tIns="0" rIns="0" bIns="0" rtlCol="0" anchor="ctr"/>
          <a:lstStyle/>
          <a:p>
            <a:pPr marL="0" indent="0" algn="ctr">
              <a:buNone/>
            </a:pPr>
            <a:r>
              <a:rPr lang="en-US" sz="850" b="1" dirty="0">
                <a:solidFill>
                  <a:srgbClr val="2A2A2A"/>
                </a:solidFill>
                <a:latin typeface="Calibri" pitchFamily="34" charset="0"/>
                <a:ea typeface="Calibri" pitchFamily="34" charset="-122"/>
                <a:cs typeface="Calibri" pitchFamily="34" charset="-120"/>
              </a:rPr>
              <a:t>차별화 높음</a:t>
            </a:r>
            <a:endParaRPr lang="en-US" sz="850" dirty="0"/>
          </a:p>
        </p:txBody>
      </p:sp>
      <p:sp>
        <p:nvSpPr>
          <p:cNvPr id="34" name="Text 32"/>
          <p:cNvSpPr/>
          <p:nvPr/>
        </p:nvSpPr>
        <p:spPr>
          <a:xfrm>
            <a:off x="5440680" y="4645152"/>
            <a:ext cx="1828800" cy="228600"/>
          </a:xfrm>
          <a:prstGeom prst="rect">
            <a:avLst/>
          </a:prstGeom>
          <a:noFill/>
          <a:ln/>
        </p:spPr>
        <p:txBody>
          <a:bodyPr wrap="square" lIns="0" tIns="0" rIns="0" bIns="0" rtlCol="0" anchor="ctr"/>
          <a:lstStyle/>
          <a:p>
            <a:pPr marL="0" indent="0" algn="ctr">
              <a:buNone/>
            </a:pPr>
            <a:r>
              <a:rPr lang="en-US" sz="850" b="1" dirty="0">
                <a:solidFill>
                  <a:srgbClr val="2A2A2A"/>
                </a:solidFill>
                <a:latin typeface="Calibri" pitchFamily="34" charset="0"/>
                <a:ea typeface="Calibri" pitchFamily="34" charset="-122"/>
                <a:cs typeface="Calibri" pitchFamily="34" charset="-120"/>
              </a:rPr>
              <a:t>차별화 낮음</a:t>
            </a:r>
            <a:endParaRPr lang="en-US" sz="850" dirty="0"/>
          </a:p>
        </p:txBody>
      </p:sp>
      <p:sp>
        <p:nvSpPr>
          <p:cNvPr id="35" name="Text 33"/>
          <p:cNvSpPr/>
          <p:nvPr/>
        </p:nvSpPr>
        <p:spPr>
          <a:xfrm>
            <a:off x="4617720" y="2976372"/>
            <a:ext cx="822960" cy="201168"/>
          </a:xfrm>
          <a:prstGeom prst="rect">
            <a:avLst/>
          </a:prstGeom>
          <a:noFill/>
          <a:ln/>
        </p:spPr>
        <p:txBody>
          <a:bodyPr wrap="square" lIns="0" tIns="0" rIns="0" bIns="0" rtlCol="0" anchor="ctr"/>
          <a:lstStyle/>
          <a:p>
            <a:pPr marL="0" indent="0" algn="ctr">
              <a:buNone/>
            </a:pPr>
            <a:r>
              <a:rPr lang="en-US" sz="800" dirty="0">
                <a:solidFill>
                  <a:srgbClr val="2A2A2A"/>
                </a:solidFill>
                <a:latin typeface="Calibri" pitchFamily="34" charset="0"/>
                <a:ea typeface="Calibri" pitchFamily="34" charset="-122"/>
                <a:cs typeface="Calibri" pitchFamily="34" charset="-120"/>
              </a:rPr>
              <a:t>저비용</a:t>
            </a:r>
            <a:endParaRPr lang="en-US" sz="800" dirty="0"/>
          </a:p>
        </p:txBody>
      </p:sp>
      <p:sp>
        <p:nvSpPr>
          <p:cNvPr id="36" name="Text 34"/>
          <p:cNvSpPr/>
          <p:nvPr/>
        </p:nvSpPr>
        <p:spPr>
          <a:xfrm>
            <a:off x="7955280" y="2976372"/>
            <a:ext cx="822960" cy="201168"/>
          </a:xfrm>
          <a:prstGeom prst="rect">
            <a:avLst/>
          </a:prstGeom>
          <a:noFill/>
          <a:ln/>
        </p:spPr>
        <p:txBody>
          <a:bodyPr wrap="square" lIns="0" tIns="0" rIns="0" bIns="0" rtlCol="0" anchor="ctr"/>
          <a:lstStyle/>
          <a:p>
            <a:pPr marL="0" indent="0" algn="ctr">
              <a:buNone/>
            </a:pPr>
            <a:r>
              <a:rPr lang="en-US" sz="800" dirty="0">
                <a:solidFill>
                  <a:srgbClr val="2A2A2A"/>
                </a:solidFill>
                <a:latin typeface="Calibri" pitchFamily="34" charset="0"/>
                <a:ea typeface="Calibri" pitchFamily="34" charset="-122"/>
                <a:cs typeface="Calibri" pitchFamily="34" charset="-120"/>
              </a:rPr>
              <a:t>고비용</a:t>
            </a:r>
            <a:endParaRPr lang="en-US" sz="800" dirty="0"/>
          </a:p>
        </p:txBody>
      </p:sp>
      <p:sp>
        <p:nvSpPr>
          <p:cNvPr id="37" name="Text 35"/>
          <p:cNvSpPr/>
          <p:nvPr/>
        </p:nvSpPr>
        <p:spPr>
          <a:xfrm>
            <a:off x="4754880" y="3840480"/>
            <a:ext cx="1554480" cy="256032"/>
          </a:xfrm>
          <a:prstGeom prst="rect">
            <a:avLst/>
          </a:prstGeom>
          <a:noFill/>
          <a:ln/>
        </p:spPr>
        <p:txBody>
          <a:bodyPr wrap="square" lIns="0" tIns="0" rIns="0" bIns="0" rtlCol="0" anchor="ctr"/>
          <a:lstStyle/>
          <a:p>
            <a:pPr marL="0" indent="0" algn="ctr">
              <a:buNone/>
            </a:pPr>
            <a:r>
              <a:rPr lang="ko-KR" altLang="en-US" sz="750" i="1" dirty="0" err="1" smtClean="0">
                <a:solidFill>
                  <a:srgbClr val="BBBBBB"/>
                </a:solidFill>
                <a:latin typeface="Calibri" pitchFamily="34" charset="0"/>
                <a:ea typeface="Calibri" pitchFamily="34" charset="-122"/>
                <a:cs typeface="Calibri" pitchFamily="34" charset="-120"/>
              </a:rPr>
              <a:t>원가우위</a:t>
            </a:r>
            <a:endParaRPr lang="en-US" altLang="ko-KR" sz="750" i="1" dirty="0" smtClean="0">
              <a:solidFill>
                <a:srgbClr val="BBBBBB"/>
              </a:solidFill>
              <a:latin typeface="Calibri" pitchFamily="34" charset="0"/>
              <a:ea typeface="Calibri" pitchFamily="34" charset="-122"/>
              <a:cs typeface="Calibri" pitchFamily="34" charset="-120"/>
            </a:endParaRPr>
          </a:p>
          <a:p>
            <a:pPr marL="0" indent="0" algn="ctr">
              <a:buNone/>
            </a:pPr>
            <a:r>
              <a:rPr lang="en-US" altLang="ko-KR" sz="750" i="1" dirty="0" smtClean="0">
                <a:solidFill>
                  <a:srgbClr val="BBBBBB"/>
                </a:solidFill>
                <a:latin typeface="Calibri" pitchFamily="34" charset="0"/>
                <a:ea typeface="Calibri" pitchFamily="34" charset="-122"/>
                <a:cs typeface="Calibri" pitchFamily="34" charset="-120"/>
              </a:rPr>
              <a:t>(</a:t>
            </a:r>
            <a:r>
              <a:rPr lang="ko-KR" altLang="en-US" sz="750" i="1" dirty="0" smtClean="0">
                <a:solidFill>
                  <a:srgbClr val="BBBBBB"/>
                </a:solidFill>
                <a:latin typeface="Calibri" pitchFamily="34" charset="0"/>
                <a:ea typeface="Calibri" pitchFamily="34" charset="-122"/>
                <a:cs typeface="Calibri" pitchFamily="34" charset="-120"/>
              </a:rPr>
              <a:t>집중</a:t>
            </a:r>
            <a:r>
              <a:rPr lang="en-US" altLang="ko-KR" sz="750" i="1" dirty="0" smtClean="0">
                <a:solidFill>
                  <a:srgbClr val="BBBBBB"/>
                </a:solidFill>
                <a:latin typeface="Calibri" pitchFamily="34" charset="0"/>
                <a:ea typeface="Calibri" pitchFamily="34" charset="-122"/>
                <a:cs typeface="Calibri" pitchFamily="34" charset="-120"/>
              </a:rPr>
              <a:t>)</a:t>
            </a:r>
            <a:endParaRPr lang="en-US" sz="750" dirty="0"/>
          </a:p>
        </p:txBody>
      </p:sp>
      <p:sp>
        <p:nvSpPr>
          <p:cNvPr id="38" name="Text 36"/>
          <p:cNvSpPr/>
          <p:nvPr/>
        </p:nvSpPr>
        <p:spPr>
          <a:xfrm>
            <a:off x="6727371" y="3840480"/>
            <a:ext cx="1645920" cy="256032"/>
          </a:xfrm>
          <a:prstGeom prst="rect">
            <a:avLst/>
          </a:prstGeom>
          <a:noFill/>
          <a:ln/>
        </p:spPr>
        <p:txBody>
          <a:bodyPr wrap="square" lIns="0" tIns="0" rIns="0" bIns="0" rtlCol="0" anchor="ctr"/>
          <a:lstStyle/>
          <a:p>
            <a:pPr marL="0" indent="0" algn="ctr">
              <a:buNone/>
            </a:pPr>
            <a:r>
              <a:rPr lang="ko-KR" altLang="en-US" sz="750" i="1" dirty="0" err="1" smtClean="0">
                <a:solidFill>
                  <a:srgbClr val="BBBBBB"/>
                </a:solidFill>
                <a:latin typeface="Calibri" pitchFamily="34" charset="0"/>
                <a:cs typeface="Calibri" pitchFamily="34" charset="-120"/>
              </a:rPr>
              <a:t>차별화우위</a:t>
            </a:r>
            <a:endParaRPr lang="en-US" altLang="ko-KR" sz="750" i="1" dirty="0" smtClean="0">
              <a:solidFill>
                <a:srgbClr val="BBBBBB"/>
              </a:solidFill>
              <a:latin typeface="Calibri" pitchFamily="34" charset="0"/>
              <a:cs typeface="Calibri" pitchFamily="34" charset="-120"/>
            </a:endParaRPr>
          </a:p>
          <a:p>
            <a:pPr marL="0" indent="0" algn="ctr">
              <a:buNone/>
            </a:pPr>
            <a:r>
              <a:rPr lang="en-US" altLang="ko-KR" sz="750" i="1" dirty="0" smtClean="0">
                <a:solidFill>
                  <a:srgbClr val="BBBBBB"/>
                </a:solidFill>
                <a:latin typeface="Calibri" pitchFamily="34" charset="0"/>
                <a:cs typeface="Calibri" pitchFamily="34" charset="-120"/>
              </a:rPr>
              <a:t>(</a:t>
            </a:r>
            <a:r>
              <a:rPr lang="ko-KR" altLang="en-US" sz="750" i="1" dirty="0" smtClean="0">
                <a:solidFill>
                  <a:srgbClr val="BBBBBB"/>
                </a:solidFill>
                <a:latin typeface="Calibri" pitchFamily="34" charset="0"/>
                <a:cs typeface="Calibri" pitchFamily="34" charset="-120"/>
              </a:rPr>
              <a:t>집중</a:t>
            </a:r>
            <a:r>
              <a:rPr lang="en-US" altLang="ko-KR" sz="750" i="1" dirty="0" smtClean="0">
                <a:solidFill>
                  <a:srgbClr val="BBBBBB"/>
                </a:solidFill>
                <a:latin typeface="Calibri" pitchFamily="34" charset="0"/>
                <a:cs typeface="Calibri" pitchFamily="34" charset="-120"/>
              </a:rPr>
              <a:t>)</a:t>
            </a:r>
            <a:endParaRPr lang="en-US" sz="750" dirty="0"/>
          </a:p>
        </p:txBody>
      </p:sp>
      <p:sp>
        <p:nvSpPr>
          <p:cNvPr id="39" name="Text 37"/>
          <p:cNvSpPr/>
          <p:nvPr/>
        </p:nvSpPr>
        <p:spPr>
          <a:xfrm>
            <a:off x="4754880" y="1920240"/>
            <a:ext cx="1554480" cy="256032"/>
          </a:xfrm>
          <a:prstGeom prst="rect">
            <a:avLst/>
          </a:prstGeom>
          <a:noFill/>
          <a:ln/>
        </p:spPr>
        <p:txBody>
          <a:bodyPr wrap="square" lIns="0" tIns="0" rIns="0" bIns="0" rtlCol="0" anchor="ctr"/>
          <a:lstStyle/>
          <a:p>
            <a:pPr marL="0" indent="0" algn="ctr">
              <a:buNone/>
            </a:pPr>
            <a:r>
              <a:rPr lang="ko-KR" altLang="en-US" sz="750" i="1" dirty="0" err="1" smtClean="0">
                <a:solidFill>
                  <a:srgbClr val="BBBBBB"/>
                </a:solidFill>
                <a:latin typeface="Calibri" pitchFamily="34" charset="0"/>
                <a:ea typeface="Calibri" pitchFamily="34" charset="-122"/>
                <a:cs typeface="Calibri" pitchFamily="34" charset="-120"/>
              </a:rPr>
              <a:t>원가우위</a:t>
            </a:r>
            <a:endParaRPr lang="en-US" sz="750" dirty="0"/>
          </a:p>
        </p:txBody>
      </p:sp>
      <p:sp>
        <p:nvSpPr>
          <p:cNvPr id="40" name="Text 38"/>
          <p:cNvSpPr/>
          <p:nvPr/>
        </p:nvSpPr>
        <p:spPr>
          <a:xfrm>
            <a:off x="6675120" y="1920240"/>
            <a:ext cx="1645920" cy="256032"/>
          </a:xfrm>
          <a:prstGeom prst="rect">
            <a:avLst/>
          </a:prstGeom>
          <a:noFill/>
          <a:ln/>
        </p:spPr>
        <p:txBody>
          <a:bodyPr wrap="square" lIns="0" tIns="0" rIns="0" bIns="0" rtlCol="0" anchor="ctr"/>
          <a:lstStyle/>
          <a:p>
            <a:pPr marL="0" indent="0" algn="ctr">
              <a:buNone/>
            </a:pPr>
            <a:r>
              <a:rPr lang="ko-KR" altLang="en-US" sz="750" i="1" dirty="0" err="1" smtClean="0">
                <a:solidFill>
                  <a:srgbClr val="BBBBBB"/>
                </a:solidFill>
                <a:latin typeface="Calibri" pitchFamily="34" charset="0"/>
                <a:ea typeface="Calibri" pitchFamily="34" charset="-122"/>
                <a:cs typeface="Calibri" pitchFamily="34" charset="-120"/>
              </a:rPr>
              <a:t>차별화우위</a:t>
            </a:r>
            <a:endParaRPr lang="en-US" sz="750" dirty="0"/>
          </a:p>
        </p:txBody>
      </p:sp>
      <p:sp>
        <p:nvSpPr>
          <p:cNvPr id="41" name="Shape 39"/>
          <p:cNvSpPr/>
          <p:nvPr/>
        </p:nvSpPr>
        <p:spPr>
          <a:xfrm>
            <a:off x="6711696" y="2231136"/>
            <a:ext cx="201168" cy="201168"/>
          </a:xfrm>
          <a:prstGeom prst="ellipse">
            <a:avLst/>
          </a:prstGeom>
          <a:solidFill>
            <a:srgbClr val="3355AA"/>
          </a:solidFill>
          <a:ln w="12700">
            <a:solidFill>
              <a:srgbClr val="3355AA"/>
            </a:solidFill>
            <a:prstDash val="solid"/>
          </a:ln>
        </p:spPr>
      </p:sp>
      <p:sp>
        <p:nvSpPr>
          <p:cNvPr id="42" name="Text 40"/>
          <p:cNvSpPr/>
          <p:nvPr/>
        </p:nvSpPr>
        <p:spPr>
          <a:xfrm>
            <a:off x="6263640" y="2450592"/>
            <a:ext cx="1097280" cy="292608"/>
          </a:xfrm>
          <a:prstGeom prst="rect">
            <a:avLst/>
          </a:prstGeom>
          <a:noFill/>
          <a:ln/>
        </p:spPr>
        <p:txBody>
          <a:bodyPr wrap="square" lIns="0" tIns="0" rIns="0" bIns="0" rtlCol="0" anchor="ctr"/>
          <a:lstStyle/>
          <a:p>
            <a:pPr marL="0" indent="0" algn="ctr">
              <a:buNone/>
            </a:pPr>
            <a:r>
              <a:rPr lang="en-US" sz="700" dirty="0">
                <a:solidFill>
                  <a:srgbClr val="2A2A2A"/>
                </a:solidFill>
                <a:latin typeface="Calibri" pitchFamily="34" charset="0"/>
                <a:ea typeface="Calibri" pitchFamily="34" charset="-122"/>
                <a:cs typeface="Calibri" pitchFamily="34" charset="-120"/>
              </a:rPr>
              <a:t>Disney+</a:t>
            </a:r>
            <a:endParaRPr lang="en-US" sz="700" dirty="0"/>
          </a:p>
        </p:txBody>
      </p:sp>
      <p:sp>
        <p:nvSpPr>
          <p:cNvPr id="43" name="Shape 41"/>
          <p:cNvSpPr/>
          <p:nvPr/>
        </p:nvSpPr>
        <p:spPr>
          <a:xfrm>
            <a:off x="5705856" y="2505456"/>
            <a:ext cx="201168" cy="201168"/>
          </a:xfrm>
          <a:prstGeom prst="ellipse">
            <a:avLst/>
          </a:prstGeom>
          <a:solidFill>
            <a:srgbClr val="FF9900"/>
          </a:solidFill>
          <a:ln w="12700">
            <a:solidFill>
              <a:srgbClr val="FF9900"/>
            </a:solidFill>
            <a:prstDash val="solid"/>
          </a:ln>
        </p:spPr>
      </p:sp>
      <p:sp>
        <p:nvSpPr>
          <p:cNvPr id="44" name="Text 42"/>
          <p:cNvSpPr/>
          <p:nvPr/>
        </p:nvSpPr>
        <p:spPr>
          <a:xfrm>
            <a:off x="5257800" y="2724912"/>
            <a:ext cx="1097280" cy="292608"/>
          </a:xfrm>
          <a:prstGeom prst="rect">
            <a:avLst/>
          </a:prstGeom>
          <a:noFill/>
          <a:ln/>
        </p:spPr>
        <p:txBody>
          <a:bodyPr wrap="square" lIns="0" tIns="0" rIns="0" bIns="0" rtlCol="0" anchor="ctr"/>
          <a:lstStyle/>
          <a:p>
            <a:pPr marL="0" indent="0" algn="ctr">
              <a:buNone/>
            </a:pPr>
            <a:r>
              <a:rPr lang="en-US" sz="700" dirty="0">
                <a:solidFill>
                  <a:srgbClr val="2A2A2A"/>
                </a:solidFill>
                <a:latin typeface="Calibri" pitchFamily="34" charset="0"/>
                <a:ea typeface="Calibri" pitchFamily="34" charset="-122"/>
                <a:cs typeface="Calibri" pitchFamily="34" charset="-120"/>
              </a:rPr>
              <a:t>Amazon</a:t>
            </a:r>
            <a:endParaRPr lang="en-US" sz="700" dirty="0"/>
          </a:p>
          <a:p>
            <a:pPr marL="0" indent="0" algn="ctr">
              <a:buNone/>
            </a:pPr>
            <a:r>
              <a:rPr lang="en-US" sz="700" dirty="0">
                <a:solidFill>
                  <a:srgbClr val="2A2A2A"/>
                </a:solidFill>
                <a:latin typeface="Calibri" pitchFamily="34" charset="0"/>
                <a:ea typeface="Calibri" pitchFamily="34" charset="-122"/>
                <a:cs typeface="Calibri" pitchFamily="34" charset="-120"/>
              </a:rPr>
              <a:t>Prime</a:t>
            </a:r>
            <a:endParaRPr lang="en-US" sz="700" dirty="0"/>
          </a:p>
        </p:txBody>
      </p:sp>
      <p:sp>
        <p:nvSpPr>
          <p:cNvPr id="45" name="Shape 43"/>
          <p:cNvSpPr/>
          <p:nvPr/>
        </p:nvSpPr>
        <p:spPr>
          <a:xfrm>
            <a:off x="5907024" y="3255264"/>
            <a:ext cx="164592" cy="164592"/>
          </a:xfrm>
          <a:prstGeom prst="ellipse">
            <a:avLst/>
          </a:prstGeom>
          <a:solidFill>
            <a:srgbClr val="888888"/>
          </a:solidFill>
          <a:ln w="12700">
            <a:solidFill>
              <a:srgbClr val="888888"/>
            </a:solidFill>
            <a:prstDash val="solid"/>
          </a:ln>
        </p:spPr>
      </p:sp>
      <p:sp>
        <p:nvSpPr>
          <p:cNvPr id="46" name="Text 44"/>
          <p:cNvSpPr/>
          <p:nvPr/>
        </p:nvSpPr>
        <p:spPr>
          <a:xfrm>
            <a:off x="5440680" y="3438144"/>
            <a:ext cx="1097280" cy="292608"/>
          </a:xfrm>
          <a:prstGeom prst="rect">
            <a:avLst/>
          </a:prstGeom>
          <a:noFill/>
          <a:ln/>
        </p:spPr>
        <p:txBody>
          <a:bodyPr wrap="square" lIns="0" tIns="0" rIns="0" bIns="0" rtlCol="0" anchor="ctr"/>
          <a:lstStyle/>
          <a:p>
            <a:pPr marL="0" indent="0" algn="ctr">
              <a:buNone/>
            </a:pPr>
            <a:r>
              <a:rPr lang="en-US" sz="700" dirty="0">
                <a:solidFill>
                  <a:srgbClr val="2A2A2A"/>
                </a:solidFill>
                <a:latin typeface="Calibri" pitchFamily="34" charset="0"/>
                <a:ea typeface="Calibri" pitchFamily="34" charset="-122"/>
                <a:cs typeface="Calibri" pitchFamily="34" charset="-120"/>
              </a:rPr>
              <a:t>Peacock</a:t>
            </a:r>
            <a:endParaRPr lang="en-US" sz="700" dirty="0"/>
          </a:p>
          <a:p>
            <a:pPr marL="0" indent="0" algn="ctr">
              <a:buNone/>
            </a:pPr>
            <a:r>
              <a:rPr lang="en-US" sz="700" dirty="0">
                <a:solidFill>
                  <a:srgbClr val="2A2A2A"/>
                </a:solidFill>
                <a:latin typeface="Calibri" pitchFamily="34" charset="0"/>
                <a:ea typeface="Calibri" pitchFamily="34" charset="-122"/>
                <a:cs typeface="Calibri" pitchFamily="34" charset="-120"/>
              </a:rPr>
              <a:t>/ Paramount</a:t>
            </a:r>
            <a:endParaRPr lang="en-US" sz="700" dirty="0"/>
          </a:p>
        </p:txBody>
      </p:sp>
      <p:sp>
        <p:nvSpPr>
          <p:cNvPr id="47" name="Shape 45"/>
          <p:cNvSpPr/>
          <p:nvPr/>
        </p:nvSpPr>
        <p:spPr>
          <a:xfrm>
            <a:off x="7754112" y="1673352"/>
            <a:ext cx="402336" cy="402336"/>
          </a:xfrm>
          <a:prstGeom prst="ellipse">
            <a:avLst/>
          </a:prstGeom>
          <a:solidFill>
            <a:srgbClr val="E50914"/>
          </a:solidFill>
          <a:ln w="12700">
            <a:solidFill>
              <a:srgbClr val="E50914"/>
            </a:solidFill>
            <a:prstDash val="solid"/>
          </a:ln>
          <a:effectLst>
            <a:outerShdw blurRad="50800" dist="38100" dir="2700000" algn="tl" rotWithShape="0">
              <a:prstClr val="black">
                <a:alpha val="40000"/>
              </a:prstClr>
            </a:outerShdw>
          </a:effectLst>
        </p:spPr>
      </p:sp>
      <p:sp>
        <p:nvSpPr>
          <p:cNvPr id="48" name="Text 46"/>
          <p:cNvSpPr/>
          <p:nvPr/>
        </p:nvSpPr>
        <p:spPr>
          <a:xfrm>
            <a:off x="7754112" y="167335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N</a:t>
            </a:r>
            <a:endParaRPr lang="en-US" sz="1100" dirty="0"/>
          </a:p>
        </p:txBody>
      </p:sp>
      <p:sp>
        <p:nvSpPr>
          <p:cNvPr id="49" name="Text 47"/>
          <p:cNvSpPr/>
          <p:nvPr/>
        </p:nvSpPr>
        <p:spPr>
          <a:xfrm>
            <a:off x="7498080" y="2103120"/>
            <a:ext cx="914400" cy="228600"/>
          </a:xfrm>
          <a:prstGeom prst="rect">
            <a:avLst/>
          </a:prstGeom>
          <a:noFill/>
          <a:ln/>
        </p:spPr>
        <p:txBody>
          <a:bodyPr wrap="square" lIns="0" tIns="0" rIns="0" bIns="0" rtlCol="0" anchor="ctr"/>
          <a:lstStyle/>
          <a:p>
            <a:pPr marL="0" indent="0" algn="ctr">
              <a:buNone/>
            </a:pPr>
            <a:r>
              <a:rPr lang="en-US" sz="900" b="1" dirty="0">
                <a:solidFill>
                  <a:srgbClr val="E50914"/>
                </a:solidFill>
                <a:latin typeface="Calibri" pitchFamily="34" charset="0"/>
                <a:ea typeface="Calibri" pitchFamily="34" charset="-122"/>
                <a:cs typeface="Calibri" pitchFamily="34" charset="-120"/>
              </a:rPr>
              <a:t>Netflix</a:t>
            </a:r>
            <a:endParaRPr lang="en-US" sz="900" dirty="0"/>
          </a:p>
        </p:txBody>
      </p:sp>
      <p:sp>
        <p:nvSpPr>
          <p:cNvPr id="50" name="Shape 48"/>
          <p:cNvSpPr/>
          <p:nvPr/>
        </p:nvSpPr>
        <p:spPr>
          <a:xfrm>
            <a:off x="4572000" y="4617720"/>
            <a:ext cx="4251960" cy="274320"/>
          </a:xfrm>
          <a:prstGeom prst="rect">
            <a:avLst/>
          </a:prstGeom>
          <a:solidFill>
            <a:srgbClr val="E50914"/>
          </a:solidFill>
          <a:ln w="12700">
            <a:solidFill>
              <a:srgbClr val="E50914"/>
            </a:solidFill>
            <a:prstDash val="solid"/>
          </a:ln>
        </p:spPr>
      </p:sp>
      <p:sp>
        <p:nvSpPr>
          <p:cNvPr id="51" name="Text 49"/>
          <p:cNvSpPr/>
          <p:nvPr/>
        </p:nvSpPr>
        <p:spPr>
          <a:xfrm>
            <a:off x="4572000" y="4617720"/>
            <a:ext cx="425196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Netflix = High Differentiation 전략  |  가격보다 </a:t>
            </a:r>
            <a:r>
              <a:rPr lang="en-US" sz="900" b="1" dirty="0" err="1">
                <a:solidFill>
                  <a:srgbClr val="FFFFFF"/>
                </a:solidFill>
                <a:latin typeface="Calibri" pitchFamily="34" charset="0"/>
                <a:ea typeface="Calibri" pitchFamily="34" charset="-122"/>
                <a:cs typeface="Calibri" pitchFamily="34" charset="-120"/>
              </a:rPr>
              <a:t>가치로</a:t>
            </a:r>
            <a:r>
              <a:rPr lang="en-US" sz="900" b="1" dirty="0">
                <a:solidFill>
                  <a:srgbClr val="FFFFFF"/>
                </a:solidFill>
                <a:latin typeface="Calibri" pitchFamily="34" charset="0"/>
                <a:ea typeface="Calibri" pitchFamily="34" charset="-122"/>
                <a:cs typeface="Calibri" pitchFamily="34" charset="-120"/>
              </a:rPr>
              <a:t> </a:t>
            </a:r>
            <a:r>
              <a:rPr lang="en-US" sz="900" b="1" dirty="0" err="1" smtClean="0">
                <a:solidFill>
                  <a:srgbClr val="FFFFFF"/>
                </a:solidFill>
                <a:latin typeface="Calibri" pitchFamily="34" charset="0"/>
                <a:ea typeface="Calibri" pitchFamily="34" charset="-122"/>
                <a:cs typeface="Calibri" pitchFamily="34" charset="-120"/>
              </a:rPr>
              <a:t>승부</a:t>
            </a:r>
            <a:endParaRPr lang="en-US" sz="900" dirty="0"/>
          </a:p>
        </p:txBody>
      </p:sp>
      <p:sp>
        <p:nvSpPr>
          <p:cNvPr id="52" name="Shape 50"/>
          <p:cNvSpPr/>
          <p:nvPr/>
        </p:nvSpPr>
        <p:spPr>
          <a:xfrm>
            <a:off x="0" y="4892040"/>
            <a:ext cx="9144000" cy="251460"/>
          </a:xfrm>
          <a:prstGeom prst="rect">
            <a:avLst/>
          </a:prstGeom>
          <a:solidFill>
            <a:srgbClr val="141414"/>
          </a:solidFill>
          <a:ln w="12700">
            <a:solidFill>
              <a:srgbClr val="141414"/>
            </a:solidFill>
            <a:prstDash val="solid"/>
          </a:ln>
        </p:spPr>
      </p:sp>
      <p:sp>
        <p:nvSpPr>
          <p:cNvPr id="53" name="Text 51"/>
          <p:cNvSpPr/>
          <p:nvPr/>
        </p:nvSpPr>
        <p:spPr>
          <a:xfrm>
            <a:off x="274320" y="4892040"/>
            <a:ext cx="8595360" cy="251460"/>
          </a:xfrm>
          <a:prstGeom prst="rect">
            <a:avLst/>
          </a:prstGeom>
          <a:noFill/>
          <a:ln/>
        </p:spPr>
        <p:txBody>
          <a:bodyPr wrap="square" lIns="0" tIns="0" rIns="0" bIns="0" rtlCol="0" anchor="ctr"/>
          <a:lstStyle/>
          <a:p>
            <a:pPr algn="ctr"/>
            <a:r>
              <a:rPr lang="en-US" altLang="ko-KR" sz="900" dirty="0" smtClean="0">
                <a:solidFill>
                  <a:srgbClr val="888888"/>
                </a:solidFill>
                <a:latin typeface="Calibri" pitchFamily="34" charset="0"/>
                <a:ea typeface="Calibri" pitchFamily="34" charset="-122"/>
                <a:cs typeface="Calibri" pitchFamily="34" charset="-120"/>
              </a:rPr>
              <a:t>Netflix</a:t>
            </a:r>
            <a:r>
              <a:rPr lang="ko-KR" altLang="en-US" sz="900" dirty="0">
                <a:solidFill>
                  <a:srgbClr val="888888"/>
                </a:solidFill>
                <a:latin typeface="Calibri" pitchFamily="34" charset="0"/>
                <a:ea typeface="Calibri" pitchFamily="34" charset="-122"/>
                <a:cs typeface="Calibri" pitchFamily="34" charset="-120"/>
              </a:rPr>
              <a:t>의 </a:t>
            </a:r>
            <a:r>
              <a:rPr lang="ko-KR" altLang="en-US" sz="900" dirty="0" err="1">
                <a:solidFill>
                  <a:srgbClr val="888888"/>
                </a:solidFill>
                <a:latin typeface="Calibri" pitchFamily="34" charset="0"/>
                <a:ea typeface="Calibri" pitchFamily="34" charset="-122"/>
                <a:cs typeface="Calibri" pitchFamily="34" charset="-120"/>
              </a:rPr>
              <a:t>경쟁우위는</a:t>
            </a:r>
            <a:r>
              <a:rPr lang="ko-KR" altLang="en-US" sz="900" dirty="0">
                <a:solidFill>
                  <a:srgbClr val="888888"/>
                </a:solidFill>
                <a:latin typeface="Calibri" pitchFamily="34" charset="0"/>
                <a:ea typeface="Calibri" pitchFamily="34" charset="-122"/>
                <a:cs typeface="Calibri" pitchFamily="34" charset="-120"/>
              </a:rPr>
              <a:t> 전략이 아니라</a:t>
            </a:r>
            <a:r>
              <a:rPr lang="en-US" altLang="ko-KR" sz="900" dirty="0">
                <a:solidFill>
                  <a:srgbClr val="888888"/>
                </a:solidFill>
                <a:latin typeface="Calibri" pitchFamily="34" charset="0"/>
                <a:ea typeface="Calibri" pitchFamily="34" charset="-122"/>
                <a:cs typeface="Calibri" pitchFamily="34" charset="-120"/>
              </a:rPr>
              <a:t>, </a:t>
            </a:r>
            <a:r>
              <a:rPr lang="ko-KR" altLang="en-US" sz="900" dirty="0">
                <a:solidFill>
                  <a:srgbClr val="888888"/>
                </a:solidFill>
                <a:latin typeface="Calibri" pitchFamily="34" charset="0"/>
                <a:ea typeface="Calibri" pitchFamily="34" charset="-122"/>
                <a:cs typeface="Calibri" pitchFamily="34" charset="-120"/>
              </a:rPr>
              <a:t>그 전략을 실행하는 </a:t>
            </a:r>
            <a:r>
              <a:rPr lang="ko-KR" altLang="en-US" sz="900" dirty="0" smtClean="0">
                <a:solidFill>
                  <a:srgbClr val="888888"/>
                </a:solidFill>
                <a:latin typeface="Calibri" pitchFamily="34" charset="0"/>
                <a:ea typeface="Calibri" pitchFamily="34" charset="-122"/>
                <a:cs typeface="Calibri" pitchFamily="34" charset="-120"/>
              </a:rPr>
              <a:t>속도에</a:t>
            </a:r>
            <a:r>
              <a:rPr lang="en-US" altLang="ko-KR" sz="900" dirty="0" smtClean="0">
                <a:solidFill>
                  <a:srgbClr val="888888"/>
                </a:solidFill>
                <a:latin typeface="Calibri" pitchFamily="34" charset="0"/>
                <a:ea typeface="Calibri" pitchFamily="34" charset="-122"/>
                <a:cs typeface="Calibri" pitchFamily="34" charset="-120"/>
              </a:rPr>
              <a:t>. </a:t>
            </a:r>
            <a:r>
              <a:rPr lang="ko-KR" altLang="en-US" sz="900" dirty="0">
                <a:solidFill>
                  <a:srgbClr val="888888"/>
                </a:solidFill>
                <a:latin typeface="Calibri" pitchFamily="34" charset="0"/>
                <a:ea typeface="Calibri" pitchFamily="34" charset="-122"/>
                <a:cs typeface="Calibri" pitchFamily="34" charset="-120"/>
              </a:rPr>
              <a:t>그리고 그 속도는 </a:t>
            </a:r>
            <a:r>
              <a:rPr lang="en-US" altLang="ko-KR" sz="900" dirty="0">
                <a:solidFill>
                  <a:srgbClr val="888888"/>
                </a:solidFill>
                <a:latin typeface="Calibri" pitchFamily="34" charset="0"/>
                <a:ea typeface="Calibri" pitchFamily="34" charset="-122"/>
                <a:cs typeface="Calibri" pitchFamily="34" charset="-120"/>
              </a:rPr>
              <a:t>HR</a:t>
            </a:r>
            <a:r>
              <a:rPr lang="ko-KR" altLang="en-US" sz="900" dirty="0">
                <a:solidFill>
                  <a:srgbClr val="888888"/>
                </a:solidFill>
                <a:latin typeface="Calibri" pitchFamily="34" charset="0"/>
                <a:ea typeface="Calibri" pitchFamily="34" charset="-122"/>
                <a:cs typeface="Calibri" pitchFamily="34" charset="-120"/>
              </a:rPr>
              <a:t>이 </a:t>
            </a:r>
            <a:r>
              <a:rPr lang="ko-KR" altLang="en-US" sz="900" dirty="0" err="1" smtClean="0">
                <a:solidFill>
                  <a:srgbClr val="888888"/>
                </a:solidFill>
                <a:latin typeface="Calibri" pitchFamily="34" charset="0"/>
                <a:ea typeface="Calibri" pitchFamily="34" charset="-122"/>
                <a:cs typeface="Calibri" pitchFamily="34" charset="-120"/>
              </a:rPr>
              <a:t>만듬</a:t>
            </a:r>
            <a:r>
              <a:rPr lang="en-US" altLang="ko-KR" sz="900" dirty="0" smtClean="0">
                <a:solidFill>
                  <a:srgbClr val="888888"/>
                </a:solidFill>
                <a:latin typeface="Calibri" pitchFamily="34" charset="0"/>
                <a:ea typeface="Calibri" pitchFamily="34" charset="-122"/>
                <a:cs typeface="Calibri" pitchFamily="34" charset="-120"/>
              </a:rPr>
              <a:t>.</a:t>
            </a:r>
            <a:endParaRPr lang="en-US" altLang="ko-KR" sz="900" dirty="0">
              <a:solidFill>
                <a:srgbClr val="888888"/>
              </a:solidFill>
              <a:latin typeface="Calibri" pitchFamily="34" charset="0"/>
              <a:ea typeface="Calibri" pitchFamily="34" charset="-122"/>
              <a:cs typeface="Calibri" pitchFamily="34" charset="-120"/>
            </a:endParaRPr>
          </a:p>
        </p:txBody>
      </p:sp>
      <p:sp>
        <p:nvSpPr>
          <p:cNvPr id="70" name="Shape 3"/>
          <p:cNvSpPr/>
          <p:nvPr/>
        </p:nvSpPr>
        <p:spPr>
          <a:xfrm>
            <a:off x="274320" y="3812302"/>
            <a:ext cx="3840480" cy="292608"/>
          </a:xfrm>
          <a:prstGeom prst="rect">
            <a:avLst/>
          </a:prstGeom>
          <a:solidFill>
            <a:srgbClr val="141414"/>
          </a:solidFill>
          <a:ln w="12700">
            <a:solidFill>
              <a:srgbClr val="141414"/>
            </a:solidFill>
            <a:prstDash val="solid"/>
          </a:ln>
        </p:spPr>
      </p:sp>
      <p:sp>
        <p:nvSpPr>
          <p:cNvPr id="71" name="Text 4"/>
          <p:cNvSpPr/>
          <p:nvPr/>
        </p:nvSpPr>
        <p:spPr>
          <a:xfrm>
            <a:off x="274320" y="3812302"/>
            <a:ext cx="3840480" cy="292608"/>
          </a:xfrm>
          <a:prstGeom prst="rect">
            <a:avLst/>
          </a:prstGeom>
          <a:noFill/>
          <a:ln/>
        </p:spPr>
        <p:txBody>
          <a:bodyPr wrap="square" lIns="0" tIns="0" rIns="0" bIns="0" rtlCol="0" anchor="ctr"/>
          <a:lstStyle/>
          <a:p>
            <a:pPr marL="0" indent="0" algn="ctr">
              <a:buNone/>
            </a:pPr>
            <a:r>
              <a:rPr lang="ko-KR" altLang="en-US" sz="1000" b="1" dirty="0" err="1" smtClean="0">
                <a:solidFill>
                  <a:srgbClr val="FFFFFF"/>
                </a:solidFill>
                <a:latin typeface="Calibri" pitchFamily="34" charset="0"/>
                <a:ea typeface="Calibri" pitchFamily="34" charset="-122"/>
                <a:cs typeface="Calibri" pitchFamily="34" charset="-120"/>
              </a:rPr>
              <a:t>실행속도</a:t>
            </a:r>
            <a:endParaRPr lang="en-US" sz="1000" dirty="0"/>
          </a:p>
        </p:txBody>
      </p:sp>
      <p:sp>
        <p:nvSpPr>
          <p:cNvPr id="72" name="Shape 5"/>
          <p:cNvSpPr/>
          <p:nvPr/>
        </p:nvSpPr>
        <p:spPr>
          <a:xfrm>
            <a:off x="274320" y="4141486"/>
            <a:ext cx="54864" cy="256032"/>
          </a:xfrm>
          <a:prstGeom prst="rect">
            <a:avLst/>
          </a:prstGeom>
          <a:solidFill>
            <a:srgbClr val="E50914"/>
          </a:solidFill>
          <a:ln w="12700">
            <a:solidFill>
              <a:srgbClr val="E50914"/>
            </a:solidFill>
            <a:prstDash val="solid"/>
          </a:ln>
        </p:spPr>
      </p:sp>
      <p:sp>
        <p:nvSpPr>
          <p:cNvPr id="73" name="Text 6"/>
          <p:cNvSpPr/>
          <p:nvPr/>
        </p:nvSpPr>
        <p:spPr>
          <a:xfrm>
            <a:off x="438912" y="4141486"/>
            <a:ext cx="3611880" cy="256032"/>
          </a:xfrm>
          <a:prstGeom prst="rect">
            <a:avLst/>
          </a:prstGeom>
          <a:noFill/>
          <a:ln/>
        </p:spPr>
        <p:txBody>
          <a:bodyPr wrap="square" lIns="0" tIns="0" rIns="0" bIns="0" rtlCol="0" anchor="ctr"/>
          <a:lstStyle/>
          <a:p>
            <a:pPr marL="0" indent="0" algn="l">
              <a:buNone/>
            </a:pPr>
            <a:r>
              <a:rPr lang="ko-KR" altLang="en-US" sz="1000" dirty="0" err="1" smtClean="0">
                <a:solidFill>
                  <a:srgbClr val="2A2A2A"/>
                </a:solidFill>
                <a:latin typeface="Calibri" pitchFamily="34" charset="0"/>
                <a:ea typeface="Calibri" pitchFamily="34" charset="-122"/>
                <a:cs typeface="Calibri" pitchFamily="34" charset="-120"/>
              </a:rPr>
              <a:t>승인과정</a:t>
            </a:r>
            <a:r>
              <a:rPr lang="ko-KR" altLang="en-US" sz="1000" dirty="0" smtClean="0">
                <a:solidFill>
                  <a:srgbClr val="2A2A2A"/>
                </a:solidFill>
                <a:latin typeface="Calibri" pitchFamily="34" charset="0"/>
                <a:ea typeface="Calibri" pitchFamily="34" charset="-122"/>
                <a:cs typeface="Calibri" pitchFamily="34" charset="-120"/>
              </a:rPr>
              <a:t> 없음 </a:t>
            </a:r>
            <a:r>
              <a:rPr lang="en-US" altLang="ko-KR" sz="1000" dirty="0" smtClean="0">
                <a:solidFill>
                  <a:srgbClr val="2A2A2A"/>
                </a:solidFill>
                <a:latin typeface="Calibri" pitchFamily="34" charset="0"/>
                <a:ea typeface="Calibri" pitchFamily="34" charset="-122"/>
                <a:cs typeface="Calibri" pitchFamily="34" charset="-120"/>
              </a:rPr>
              <a:t>(</a:t>
            </a:r>
            <a:r>
              <a:rPr lang="ko-KR" altLang="en-US" sz="1000" dirty="0" err="1" smtClean="0">
                <a:solidFill>
                  <a:srgbClr val="2A2A2A"/>
                </a:solidFill>
                <a:latin typeface="Calibri" pitchFamily="34" charset="0"/>
                <a:ea typeface="Calibri" pitchFamily="34" charset="-122"/>
                <a:cs typeface="Calibri" pitchFamily="34" charset="-120"/>
              </a:rPr>
              <a:t>책임기반</a:t>
            </a:r>
            <a:r>
              <a:rPr lang="ko-KR" altLang="en-US" sz="1000" dirty="0" smtClean="0">
                <a:solidFill>
                  <a:srgbClr val="2A2A2A"/>
                </a:solidFill>
                <a:latin typeface="Calibri" pitchFamily="34" charset="0"/>
                <a:ea typeface="Calibri" pitchFamily="34" charset="-122"/>
                <a:cs typeface="Calibri" pitchFamily="34" charset="-120"/>
              </a:rPr>
              <a:t> 실행</a:t>
            </a:r>
            <a:r>
              <a:rPr lang="en-US" altLang="ko-KR" sz="1000" dirty="0" smtClean="0">
                <a:solidFill>
                  <a:srgbClr val="2A2A2A"/>
                </a:solidFill>
                <a:latin typeface="Calibri" pitchFamily="34" charset="0"/>
                <a:ea typeface="Calibri" pitchFamily="34" charset="-122"/>
                <a:cs typeface="Calibri" pitchFamily="34" charset="-120"/>
              </a:rPr>
              <a:t>)</a:t>
            </a:r>
            <a:endParaRPr lang="en-US" sz="1000" dirty="0"/>
          </a:p>
        </p:txBody>
      </p:sp>
      <p:sp>
        <p:nvSpPr>
          <p:cNvPr id="74" name="Shape 7"/>
          <p:cNvSpPr/>
          <p:nvPr/>
        </p:nvSpPr>
        <p:spPr>
          <a:xfrm>
            <a:off x="274320" y="4415806"/>
            <a:ext cx="3822192" cy="0"/>
          </a:xfrm>
          <a:prstGeom prst="line">
            <a:avLst/>
          </a:prstGeom>
          <a:noFill/>
          <a:ln w="6350">
            <a:solidFill>
              <a:srgbClr val="E0E0E0"/>
            </a:solidFill>
            <a:prstDash val="solid"/>
          </a:ln>
        </p:spPr>
      </p:sp>
      <p:sp>
        <p:nvSpPr>
          <p:cNvPr id="75" name="Shape 8"/>
          <p:cNvSpPr/>
          <p:nvPr/>
        </p:nvSpPr>
        <p:spPr>
          <a:xfrm>
            <a:off x="274320" y="4470670"/>
            <a:ext cx="54864" cy="256032"/>
          </a:xfrm>
          <a:prstGeom prst="rect">
            <a:avLst/>
          </a:prstGeom>
          <a:solidFill>
            <a:srgbClr val="E50914"/>
          </a:solidFill>
          <a:ln w="12700">
            <a:solidFill>
              <a:srgbClr val="E50914"/>
            </a:solidFill>
            <a:prstDash val="solid"/>
          </a:ln>
        </p:spPr>
      </p:sp>
      <p:sp>
        <p:nvSpPr>
          <p:cNvPr id="76" name="Text 9"/>
          <p:cNvSpPr/>
          <p:nvPr/>
        </p:nvSpPr>
        <p:spPr>
          <a:xfrm>
            <a:off x="438912" y="4470670"/>
            <a:ext cx="3611880" cy="256032"/>
          </a:xfrm>
          <a:prstGeom prst="rect">
            <a:avLst/>
          </a:prstGeom>
          <a:noFill/>
          <a:ln/>
        </p:spPr>
        <p:txBody>
          <a:bodyPr wrap="square" lIns="0" tIns="0" rIns="0" bIns="0" rtlCol="0" anchor="ctr"/>
          <a:lstStyle/>
          <a:p>
            <a:pPr marL="0" indent="0" algn="l">
              <a:buNone/>
            </a:pPr>
            <a:r>
              <a:rPr lang="ko-KR" altLang="en-US" sz="1000" dirty="0" smtClean="0">
                <a:solidFill>
                  <a:srgbClr val="2A2A2A"/>
                </a:solidFill>
                <a:latin typeface="Calibri" pitchFamily="34" charset="0"/>
                <a:ea typeface="Calibri" pitchFamily="34" charset="-122"/>
                <a:cs typeface="Calibri" pitchFamily="34" charset="-120"/>
              </a:rPr>
              <a:t>의사결정 빠름</a:t>
            </a:r>
            <a:endParaRPr lang="en-US" sz="1000" dirty="0"/>
          </a:p>
        </p:txBody>
      </p:sp>
      <p:sp>
        <p:nvSpPr>
          <p:cNvPr id="77" name="Shape 10"/>
          <p:cNvSpPr/>
          <p:nvPr/>
        </p:nvSpPr>
        <p:spPr>
          <a:xfrm>
            <a:off x="274320" y="4744990"/>
            <a:ext cx="3822192" cy="0"/>
          </a:xfrm>
          <a:prstGeom prst="line">
            <a:avLst/>
          </a:prstGeom>
          <a:noFill/>
          <a:ln w="6350">
            <a:solidFill>
              <a:srgbClr val="E0E0E0"/>
            </a:solidFill>
            <a:prstDash val="solid"/>
          </a:ln>
        </p:spPr>
      </p:sp>
    </p:spTree>
    <p:extLst>
      <p:ext uri="{BB962C8B-B14F-4D97-AF65-F5344CB8AC3E}">
        <p14:creationId xmlns:p14="http://schemas.microsoft.com/office/powerpoint/2010/main" val="15622382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141414"/>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모든 HR 철학의 뿌리 — 단 두 단어로 요약되는 Netflix의 DNA</a:t>
            </a:r>
            <a:endParaRPr lang="en-US" sz="1300" dirty="0"/>
          </a:p>
        </p:txBody>
      </p:sp>
      <p:sp>
        <p:nvSpPr>
          <p:cNvPr id="4" name="Text 2"/>
          <p:cNvSpPr/>
          <p:nvPr/>
        </p:nvSpPr>
        <p:spPr>
          <a:xfrm>
            <a:off x="365760" y="777240"/>
            <a:ext cx="8229600" cy="411480"/>
          </a:xfrm>
          <a:prstGeom prst="rect">
            <a:avLst/>
          </a:prstGeom>
          <a:noFill/>
          <a:ln/>
        </p:spPr>
        <p:txBody>
          <a:bodyPr wrap="square" lIns="0" tIns="0" rIns="0" bIns="0" rtlCol="0" anchor="ctr"/>
          <a:lstStyle/>
          <a:p>
            <a:pPr marL="0" indent="0" algn="l">
              <a:buNone/>
            </a:pPr>
            <a:r>
              <a:rPr lang="en-US" sz="2200" b="1" dirty="0">
                <a:solidFill>
                  <a:srgbClr val="FFFFFF"/>
                </a:solidFill>
                <a:latin typeface="Arial Black" pitchFamily="34" charset="0"/>
                <a:ea typeface="Arial Black" pitchFamily="34" charset="-122"/>
                <a:cs typeface="Arial Black" pitchFamily="34" charset="-120"/>
              </a:rPr>
              <a:t>Netflix HRM 핵심 철학</a:t>
            </a:r>
            <a:endParaRPr lang="en-US" sz="2200" dirty="0"/>
          </a:p>
        </p:txBody>
      </p:sp>
      <p:sp>
        <p:nvSpPr>
          <p:cNvPr id="5" name="Shape 3"/>
          <p:cNvSpPr/>
          <p:nvPr/>
        </p:nvSpPr>
        <p:spPr>
          <a:xfrm>
            <a:off x="1371600" y="1371600"/>
            <a:ext cx="6400800" cy="1097280"/>
          </a:xfrm>
          <a:prstGeom prst="rect">
            <a:avLst/>
          </a:prstGeom>
          <a:solidFill>
            <a:srgbClr val="E50914"/>
          </a:solidFill>
          <a:ln w="12700">
            <a:solidFill>
              <a:srgbClr val="E50914"/>
            </a:solidFill>
            <a:prstDash val="solid"/>
          </a:ln>
        </p:spPr>
      </p:sp>
      <p:sp>
        <p:nvSpPr>
          <p:cNvPr id="6" name="Text 4"/>
          <p:cNvSpPr/>
          <p:nvPr/>
        </p:nvSpPr>
        <p:spPr>
          <a:xfrm>
            <a:off x="1371600" y="1371600"/>
            <a:ext cx="6400800" cy="59436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Black" pitchFamily="34" charset="0"/>
                <a:ea typeface="Arial Black" pitchFamily="34" charset="-122"/>
                <a:cs typeface="Arial Black" pitchFamily="34" charset="-120"/>
              </a:rPr>
              <a:t>Freedom &amp; Responsibility</a:t>
            </a:r>
            <a:endParaRPr lang="en-US" sz="3000" dirty="0"/>
          </a:p>
        </p:txBody>
      </p:sp>
      <p:sp>
        <p:nvSpPr>
          <p:cNvPr id="7" name="Text 5"/>
          <p:cNvSpPr/>
          <p:nvPr/>
        </p:nvSpPr>
        <p:spPr>
          <a:xfrm>
            <a:off x="1371600" y="1965960"/>
            <a:ext cx="6400800" cy="502920"/>
          </a:xfrm>
          <a:prstGeom prst="rect">
            <a:avLst/>
          </a:prstGeom>
          <a:noFill/>
          <a:ln/>
        </p:spPr>
        <p:txBody>
          <a:bodyPr wrap="square" lIns="0" tIns="0" rIns="0" bIns="0"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자율과 책임</a:t>
            </a:r>
            <a:endParaRPr lang="en-US" sz="1800" dirty="0"/>
          </a:p>
        </p:txBody>
      </p:sp>
      <p:sp>
        <p:nvSpPr>
          <p:cNvPr id="8" name="Shape 6"/>
          <p:cNvSpPr/>
          <p:nvPr/>
        </p:nvSpPr>
        <p:spPr>
          <a:xfrm>
            <a:off x="457200" y="3449002"/>
            <a:ext cx="2560320" cy="1457325"/>
          </a:xfrm>
          <a:prstGeom prst="rect">
            <a:avLst/>
          </a:prstGeom>
          <a:solidFill>
            <a:srgbClr val="2A2A2A"/>
          </a:solidFill>
          <a:ln w="12700">
            <a:solidFill>
              <a:srgbClr val="2A2A2A"/>
            </a:solidFill>
            <a:prstDash val="solid"/>
          </a:ln>
        </p:spPr>
      </p:sp>
      <p:sp>
        <p:nvSpPr>
          <p:cNvPr id="9" name="Shape 7"/>
          <p:cNvSpPr/>
          <p:nvPr/>
        </p:nvSpPr>
        <p:spPr>
          <a:xfrm>
            <a:off x="457200" y="3449002"/>
            <a:ext cx="2560320" cy="73152"/>
          </a:xfrm>
          <a:prstGeom prst="rect">
            <a:avLst/>
          </a:prstGeom>
          <a:solidFill>
            <a:srgbClr val="E50914"/>
          </a:solidFill>
          <a:ln w="12700">
            <a:solidFill>
              <a:srgbClr val="E50914"/>
            </a:solidFill>
            <a:prstDash val="solid"/>
          </a:ln>
        </p:spPr>
      </p:sp>
      <p:sp>
        <p:nvSpPr>
          <p:cNvPr id="10" name="Text 8"/>
          <p:cNvSpPr/>
          <p:nvPr/>
        </p:nvSpPr>
        <p:spPr>
          <a:xfrm>
            <a:off x="457200" y="3540442"/>
            <a:ext cx="2560320" cy="457200"/>
          </a:xfrm>
          <a:prstGeom prst="rect">
            <a:avLst/>
          </a:prstGeom>
          <a:noFill/>
          <a:ln/>
        </p:spPr>
        <p:txBody>
          <a:bodyPr wrap="square" lIns="0" tIns="0" rIns="0" bIns="0" rtlCol="0" anchor="ctr"/>
          <a:lstStyle/>
          <a:p>
            <a:pPr marL="0" indent="0" algn="ctr">
              <a:buNone/>
            </a:pPr>
            <a:r>
              <a:rPr lang="en-US" sz="2200" b="1" dirty="0">
                <a:solidFill>
                  <a:srgbClr val="E50914"/>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457200" y="3997642"/>
            <a:ext cx="2560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규칙 최소화</a:t>
            </a:r>
            <a:endParaRPr lang="en-US" sz="1300" dirty="0"/>
          </a:p>
        </p:txBody>
      </p:sp>
      <p:sp>
        <p:nvSpPr>
          <p:cNvPr id="12" name="Text 10"/>
          <p:cNvSpPr/>
          <p:nvPr/>
        </p:nvSpPr>
        <p:spPr>
          <a:xfrm>
            <a:off x="457200" y="4363402"/>
            <a:ext cx="2560320" cy="640080"/>
          </a:xfrm>
          <a:prstGeom prst="rect">
            <a:avLst/>
          </a:prstGeom>
          <a:noFill/>
          <a:ln/>
        </p:spPr>
        <p:txBody>
          <a:bodyPr wrap="square" lIns="50800" tIns="50800" rIns="50800" bIns="50800" rtlCol="0" anchor="t"/>
          <a:lstStyle/>
          <a:p>
            <a:pPr marL="0" indent="0" algn="ctr">
              <a:buNone/>
            </a:pPr>
            <a:r>
              <a:rPr lang="en-US" sz="1000" dirty="0">
                <a:solidFill>
                  <a:srgbClr val="AAAAAA"/>
                </a:solidFill>
                <a:latin typeface="Calibri" pitchFamily="34" charset="0"/>
                <a:ea typeface="Calibri" pitchFamily="34" charset="-122"/>
                <a:cs typeface="Calibri" pitchFamily="34" charset="-120"/>
              </a:rPr>
              <a:t>불필요한 규정과</a:t>
            </a:r>
            <a:endParaRPr lang="en-US" sz="1000" dirty="0"/>
          </a:p>
          <a:p>
            <a:pPr marL="0" indent="0" algn="ctr">
              <a:buNone/>
            </a:pPr>
            <a:r>
              <a:rPr lang="en-US" sz="1000" dirty="0">
                <a:solidFill>
                  <a:srgbClr val="AAAAAA"/>
                </a:solidFill>
                <a:latin typeface="Calibri" pitchFamily="34" charset="0"/>
                <a:ea typeface="Calibri" pitchFamily="34" charset="-122"/>
                <a:cs typeface="Calibri" pitchFamily="34" charset="-120"/>
              </a:rPr>
              <a:t>프로세스 제거</a:t>
            </a:r>
            <a:endParaRPr lang="en-US" sz="1000" dirty="0"/>
          </a:p>
        </p:txBody>
      </p:sp>
      <p:sp>
        <p:nvSpPr>
          <p:cNvPr id="13" name="Shape 11"/>
          <p:cNvSpPr/>
          <p:nvPr/>
        </p:nvSpPr>
        <p:spPr>
          <a:xfrm>
            <a:off x="3337560" y="3449002"/>
            <a:ext cx="2560320" cy="1457325"/>
          </a:xfrm>
          <a:prstGeom prst="rect">
            <a:avLst/>
          </a:prstGeom>
          <a:solidFill>
            <a:srgbClr val="2A2A2A"/>
          </a:solidFill>
          <a:ln w="12700">
            <a:solidFill>
              <a:srgbClr val="2A2A2A"/>
            </a:solidFill>
            <a:prstDash val="solid"/>
          </a:ln>
        </p:spPr>
      </p:sp>
      <p:sp>
        <p:nvSpPr>
          <p:cNvPr id="14" name="Shape 12"/>
          <p:cNvSpPr/>
          <p:nvPr/>
        </p:nvSpPr>
        <p:spPr>
          <a:xfrm>
            <a:off x="3337560" y="3449002"/>
            <a:ext cx="2560320" cy="73152"/>
          </a:xfrm>
          <a:prstGeom prst="rect">
            <a:avLst/>
          </a:prstGeom>
          <a:solidFill>
            <a:srgbClr val="E50914"/>
          </a:solidFill>
          <a:ln w="12700">
            <a:solidFill>
              <a:srgbClr val="E50914"/>
            </a:solidFill>
            <a:prstDash val="solid"/>
          </a:ln>
        </p:spPr>
      </p:sp>
      <p:sp>
        <p:nvSpPr>
          <p:cNvPr id="15" name="Text 13"/>
          <p:cNvSpPr/>
          <p:nvPr/>
        </p:nvSpPr>
        <p:spPr>
          <a:xfrm>
            <a:off x="3337560" y="3540442"/>
            <a:ext cx="2560320" cy="457200"/>
          </a:xfrm>
          <a:prstGeom prst="rect">
            <a:avLst/>
          </a:prstGeom>
          <a:noFill/>
          <a:ln/>
        </p:spPr>
        <p:txBody>
          <a:bodyPr wrap="square" lIns="0" tIns="0" rIns="0" bIns="0" rtlCol="0" anchor="ctr"/>
          <a:lstStyle/>
          <a:p>
            <a:pPr marL="0" indent="0" algn="ctr">
              <a:buNone/>
            </a:pPr>
            <a:r>
              <a:rPr lang="en-US" sz="2200" b="1" dirty="0">
                <a:solidFill>
                  <a:srgbClr val="E50914"/>
                </a:solidFill>
                <a:latin typeface="Arial" pitchFamily="34" charset="0"/>
                <a:ea typeface="Arial" pitchFamily="34" charset="-122"/>
                <a:cs typeface="Arial" pitchFamily="34" charset="-120"/>
              </a:rPr>
              <a:t>◎</a:t>
            </a:r>
            <a:endParaRPr lang="en-US" sz="2200" dirty="0"/>
          </a:p>
        </p:txBody>
      </p:sp>
      <p:sp>
        <p:nvSpPr>
          <p:cNvPr id="16" name="Text 14"/>
          <p:cNvSpPr/>
          <p:nvPr/>
        </p:nvSpPr>
        <p:spPr>
          <a:xfrm>
            <a:off x="3337560" y="3997642"/>
            <a:ext cx="2560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개인 판단 극대화</a:t>
            </a:r>
            <a:endParaRPr lang="en-US" sz="1300" dirty="0"/>
          </a:p>
        </p:txBody>
      </p:sp>
      <p:sp>
        <p:nvSpPr>
          <p:cNvPr id="17" name="Text 15"/>
          <p:cNvSpPr/>
          <p:nvPr/>
        </p:nvSpPr>
        <p:spPr>
          <a:xfrm>
            <a:off x="3337560" y="4363402"/>
            <a:ext cx="2560320" cy="640080"/>
          </a:xfrm>
          <a:prstGeom prst="rect">
            <a:avLst/>
          </a:prstGeom>
          <a:noFill/>
          <a:ln/>
        </p:spPr>
        <p:txBody>
          <a:bodyPr wrap="square" lIns="50800" tIns="50800" rIns="50800" bIns="50800" rtlCol="0" anchor="t"/>
          <a:lstStyle/>
          <a:p>
            <a:pPr marL="0" indent="0" algn="ctr">
              <a:buNone/>
            </a:pPr>
            <a:r>
              <a:rPr lang="en-US" sz="1000" dirty="0">
                <a:solidFill>
                  <a:srgbClr val="AAAAAA"/>
                </a:solidFill>
                <a:latin typeface="Calibri" pitchFamily="34" charset="0"/>
                <a:ea typeface="Calibri" pitchFamily="34" charset="-122"/>
                <a:cs typeface="Calibri" pitchFamily="34" charset="-120"/>
              </a:rPr>
              <a:t>스스로 최선의</a:t>
            </a:r>
            <a:endParaRPr lang="en-US" sz="1000" dirty="0"/>
          </a:p>
          <a:p>
            <a:pPr marL="0" indent="0" algn="ctr">
              <a:buNone/>
            </a:pPr>
            <a:r>
              <a:rPr lang="en-US" sz="1000" dirty="0">
                <a:solidFill>
                  <a:srgbClr val="AAAAAA"/>
                </a:solidFill>
                <a:latin typeface="Calibri" pitchFamily="34" charset="0"/>
                <a:ea typeface="Calibri" pitchFamily="34" charset="-122"/>
                <a:cs typeface="Calibri" pitchFamily="34" charset="-120"/>
              </a:rPr>
              <a:t>결정을 내리는 직원</a:t>
            </a:r>
            <a:endParaRPr lang="en-US" sz="1000" dirty="0"/>
          </a:p>
        </p:txBody>
      </p:sp>
      <p:sp>
        <p:nvSpPr>
          <p:cNvPr id="18" name="Shape 16"/>
          <p:cNvSpPr/>
          <p:nvPr/>
        </p:nvSpPr>
        <p:spPr>
          <a:xfrm>
            <a:off x="6217920" y="3449002"/>
            <a:ext cx="2560320" cy="1457325"/>
          </a:xfrm>
          <a:prstGeom prst="rect">
            <a:avLst/>
          </a:prstGeom>
          <a:solidFill>
            <a:srgbClr val="2A2A2A"/>
          </a:solidFill>
          <a:ln w="12700">
            <a:solidFill>
              <a:srgbClr val="2A2A2A"/>
            </a:solidFill>
            <a:prstDash val="solid"/>
          </a:ln>
        </p:spPr>
      </p:sp>
      <p:sp>
        <p:nvSpPr>
          <p:cNvPr id="19" name="Shape 17"/>
          <p:cNvSpPr/>
          <p:nvPr/>
        </p:nvSpPr>
        <p:spPr>
          <a:xfrm>
            <a:off x="6217920" y="3449002"/>
            <a:ext cx="2560320" cy="73152"/>
          </a:xfrm>
          <a:prstGeom prst="rect">
            <a:avLst/>
          </a:prstGeom>
          <a:solidFill>
            <a:srgbClr val="E50914"/>
          </a:solidFill>
          <a:ln w="12700">
            <a:solidFill>
              <a:srgbClr val="E50914"/>
            </a:solidFill>
            <a:prstDash val="solid"/>
          </a:ln>
        </p:spPr>
      </p:sp>
      <p:sp>
        <p:nvSpPr>
          <p:cNvPr id="20" name="Text 18"/>
          <p:cNvSpPr/>
          <p:nvPr/>
        </p:nvSpPr>
        <p:spPr>
          <a:xfrm>
            <a:off x="6217920" y="3540442"/>
            <a:ext cx="2560320" cy="457200"/>
          </a:xfrm>
          <a:prstGeom prst="rect">
            <a:avLst/>
          </a:prstGeom>
          <a:noFill/>
          <a:ln/>
        </p:spPr>
        <p:txBody>
          <a:bodyPr wrap="square" lIns="0" tIns="0" rIns="0" bIns="0" rtlCol="0" anchor="ctr"/>
          <a:lstStyle/>
          <a:p>
            <a:pPr marL="0" indent="0" algn="ctr">
              <a:buNone/>
            </a:pPr>
            <a:r>
              <a:rPr lang="en-US" sz="2200" b="1" dirty="0">
                <a:solidFill>
                  <a:srgbClr val="E50914"/>
                </a:solidFill>
                <a:latin typeface="Arial" pitchFamily="34" charset="0"/>
                <a:ea typeface="Arial" pitchFamily="34" charset="-122"/>
                <a:cs typeface="Arial" pitchFamily="34" charset="-120"/>
              </a:rPr>
              <a:t>▲</a:t>
            </a:r>
            <a:endParaRPr lang="en-US" sz="2200" dirty="0"/>
          </a:p>
        </p:txBody>
      </p:sp>
      <p:sp>
        <p:nvSpPr>
          <p:cNvPr id="21" name="Text 19"/>
          <p:cNvSpPr/>
          <p:nvPr/>
        </p:nvSpPr>
        <p:spPr>
          <a:xfrm>
            <a:off x="6217920" y="3997642"/>
            <a:ext cx="2560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강한 성과 책임</a:t>
            </a:r>
            <a:endParaRPr lang="en-US" sz="1300" dirty="0"/>
          </a:p>
        </p:txBody>
      </p:sp>
      <p:sp>
        <p:nvSpPr>
          <p:cNvPr id="22" name="Text 20"/>
          <p:cNvSpPr/>
          <p:nvPr/>
        </p:nvSpPr>
        <p:spPr>
          <a:xfrm>
            <a:off x="6217920" y="4363402"/>
            <a:ext cx="2560320" cy="640080"/>
          </a:xfrm>
          <a:prstGeom prst="rect">
            <a:avLst/>
          </a:prstGeom>
          <a:noFill/>
          <a:ln/>
        </p:spPr>
        <p:txBody>
          <a:bodyPr wrap="square" lIns="50800" tIns="50800" rIns="50800" bIns="50800" rtlCol="0" anchor="t"/>
          <a:lstStyle/>
          <a:p>
            <a:pPr marL="0" indent="0" algn="ctr">
              <a:buNone/>
            </a:pPr>
            <a:r>
              <a:rPr lang="en-US" sz="1000" dirty="0">
                <a:solidFill>
                  <a:srgbClr val="AAAAAA"/>
                </a:solidFill>
                <a:latin typeface="Calibri" pitchFamily="34" charset="0"/>
                <a:ea typeface="Calibri" pitchFamily="34" charset="-122"/>
                <a:cs typeface="Calibri" pitchFamily="34" charset="-120"/>
              </a:rPr>
              <a:t>결과에 대한</a:t>
            </a:r>
            <a:endParaRPr lang="en-US" sz="1000" dirty="0"/>
          </a:p>
          <a:p>
            <a:pPr marL="0" indent="0" algn="ctr">
              <a:buNone/>
            </a:pPr>
            <a:r>
              <a:rPr lang="en-US" sz="1000" dirty="0">
                <a:solidFill>
                  <a:srgbClr val="AAAAAA"/>
                </a:solidFill>
                <a:latin typeface="Calibri" pitchFamily="34" charset="0"/>
                <a:ea typeface="Calibri" pitchFamily="34" charset="-122"/>
                <a:cs typeface="Calibri" pitchFamily="34" charset="-120"/>
              </a:rPr>
              <a:t>명확한 책임 귀속</a:t>
            </a:r>
            <a:endParaRPr lang="en-US" sz="1000" dirty="0"/>
          </a:p>
        </p:txBody>
      </p:sp>
      <p:sp>
        <p:nvSpPr>
          <p:cNvPr id="23" name="Text 21"/>
          <p:cNvSpPr/>
          <p:nvPr/>
        </p:nvSpPr>
        <p:spPr>
          <a:xfrm>
            <a:off x="457200" y="2611183"/>
            <a:ext cx="8229600" cy="654939"/>
          </a:xfrm>
          <a:prstGeom prst="rect">
            <a:avLst/>
          </a:prstGeom>
          <a:noFill/>
          <a:ln/>
        </p:spPr>
        <p:txBody>
          <a:bodyPr wrap="square" lIns="0" tIns="0" rIns="0" bIns="0" rtlCol="0" anchor="ctr"/>
          <a:lstStyle/>
          <a:p>
            <a:r>
              <a:rPr lang="en-US" sz="1100" i="1" dirty="0" smtClean="0">
                <a:solidFill>
                  <a:schemeClr val="bg1"/>
                </a:solidFill>
                <a:latin typeface="Calibri" pitchFamily="34" charset="0"/>
                <a:ea typeface="Calibri" pitchFamily="34" charset="-122"/>
                <a:cs typeface="Calibri" pitchFamily="34" charset="-120"/>
              </a:rPr>
              <a:t>"</a:t>
            </a:r>
            <a:r>
              <a:rPr lang="en-US" sz="1100" i="1" dirty="0">
                <a:solidFill>
                  <a:schemeClr val="bg1"/>
                </a:solidFill>
                <a:latin typeface="Calibri" pitchFamily="34" charset="0"/>
                <a:ea typeface="Calibri" pitchFamily="34" charset="-122"/>
                <a:cs typeface="Calibri" pitchFamily="34" charset="-120"/>
              </a:rPr>
              <a:t>If you want to build a ship, don't drum up the people to gather wood, divide the work, and give orders. Instead, teach them to yearn for the vast and endless sea." </a:t>
            </a:r>
            <a:endParaRPr lang="en-US" sz="1100" i="1" dirty="0" smtClean="0">
              <a:solidFill>
                <a:schemeClr val="bg1"/>
              </a:solidFill>
              <a:latin typeface="Calibri" pitchFamily="34" charset="0"/>
              <a:ea typeface="Calibri" pitchFamily="34" charset="-122"/>
              <a:cs typeface="Calibri" pitchFamily="34" charset="-120"/>
            </a:endParaRPr>
          </a:p>
          <a:p>
            <a:endParaRPr lang="en-US" sz="700" i="1" dirty="0" smtClean="0">
              <a:solidFill>
                <a:srgbClr val="888888"/>
              </a:solidFill>
              <a:latin typeface="Calibri" pitchFamily="34" charset="0"/>
              <a:ea typeface="Calibri" pitchFamily="34" charset="-122"/>
              <a:cs typeface="Calibri" pitchFamily="34" charset="-120"/>
            </a:endParaRPr>
          </a:p>
          <a:p>
            <a:r>
              <a:rPr lang="en-US" sz="900" i="1" dirty="0" smtClean="0">
                <a:solidFill>
                  <a:srgbClr val="888888"/>
                </a:solidFill>
                <a:latin typeface="Calibri" pitchFamily="34" charset="0"/>
                <a:ea typeface="Calibri" pitchFamily="34" charset="-122"/>
                <a:cs typeface="Calibri" pitchFamily="34" charset="-120"/>
              </a:rPr>
              <a:t>"</a:t>
            </a:r>
            <a:r>
              <a:rPr lang="ko-KR" altLang="en-US" sz="900" i="1" dirty="0">
                <a:solidFill>
                  <a:srgbClr val="888888"/>
                </a:solidFill>
                <a:latin typeface="Calibri" pitchFamily="34" charset="0"/>
                <a:ea typeface="Calibri" pitchFamily="34" charset="-122"/>
                <a:cs typeface="Calibri" pitchFamily="34" charset="-120"/>
              </a:rPr>
              <a:t>배를 만들고 싶다면 사람들을 불러모아 나무를 가져오게 하고 업무를 나누며 명령하지 마십시오</a:t>
            </a:r>
            <a:r>
              <a:rPr lang="en-US" altLang="ko-KR" sz="900" i="1" dirty="0">
                <a:solidFill>
                  <a:srgbClr val="888888"/>
                </a:solidFill>
                <a:latin typeface="Calibri" pitchFamily="34" charset="0"/>
                <a:ea typeface="Calibri" pitchFamily="34" charset="-122"/>
                <a:cs typeface="Calibri" pitchFamily="34" charset="-120"/>
              </a:rPr>
              <a:t>. </a:t>
            </a:r>
            <a:r>
              <a:rPr lang="ko-KR" altLang="en-US" sz="900" i="1" dirty="0">
                <a:solidFill>
                  <a:srgbClr val="888888"/>
                </a:solidFill>
                <a:latin typeface="Calibri" pitchFamily="34" charset="0"/>
                <a:ea typeface="Calibri" pitchFamily="34" charset="-122"/>
                <a:cs typeface="Calibri" pitchFamily="34" charset="-120"/>
              </a:rPr>
              <a:t>대신 그들이 광활하고 끝없는 바다를 갈망하게 만드십시오</a:t>
            </a:r>
            <a:r>
              <a:rPr lang="en-US" altLang="ko-KR" sz="900" i="1" dirty="0" smtClean="0">
                <a:solidFill>
                  <a:srgbClr val="888888"/>
                </a:solidFill>
                <a:latin typeface="Calibri" pitchFamily="34" charset="0"/>
                <a:ea typeface="Calibri" pitchFamily="34" charset="-122"/>
                <a:cs typeface="Calibri" pitchFamily="34" charset="-120"/>
              </a:rPr>
              <a:t>."</a:t>
            </a:r>
            <a:r>
              <a:rPr lang="en-US" sz="900" i="1" dirty="0" smtClean="0">
                <a:solidFill>
                  <a:srgbClr val="888888"/>
                </a:solidFill>
                <a:latin typeface="Calibri" pitchFamily="34" charset="0"/>
                <a:ea typeface="Calibri" pitchFamily="34" charset="-122"/>
                <a:cs typeface="Calibri" pitchFamily="34" charset="-120"/>
              </a:rPr>
              <a:t> </a:t>
            </a:r>
          </a:p>
          <a:p>
            <a:pPr algn="r"/>
            <a:endParaRPr lang="en-US" sz="200" i="1" dirty="0">
              <a:solidFill>
                <a:srgbClr val="888888"/>
              </a:solidFill>
              <a:latin typeface="Calibri" pitchFamily="34" charset="0"/>
              <a:ea typeface="Calibri" pitchFamily="34" charset="-122"/>
              <a:cs typeface="Calibri" pitchFamily="34" charset="-120"/>
            </a:endParaRPr>
          </a:p>
          <a:p>
            <a:pPr algn="r"/>
            <a:r>
              <a:rPr lang="en-US" sz="800" i="1" dirty="0" smtClean="0">
                <a:solidFill>
                  <a:schemeClr val="bg1">
                    <a:lumMod val="50000"/>
                  </a:schemeClr>
                </a:solidFill>
                <a:latin typeface="Calibri" pitchFamily="34" charset="0"/>
                <a:ea typeface="Calibri" pitchFamily="34" charset="-122"/>
                <a:cs typeface="Calibri" pitchFamily="34" charset="-120"/>
              </a:rPr>
              <a:t>— </a:t>
            </a:r>
            <a:r>
              <a:rPr lang="ko-KR" altLang="en-US" sz="800" dirty="0" err="1">
                <a:solidFill>
                  <a:schemeClr val="bg1">
                    <a:lumMod val="50000"/>
                  </a:schemeClr>
                </a:solidFill>
              </a:rPr>
              <a:t>넷플릭스</a:t>
            </a:r>
            <a:r>
              <a:rPr lang="ko-KR" altLang="en-US" sz="800" dirty="0">
                <a:solidFill>
                  <a:schemeClr val="bg1">
                    <a:lumMod val="50000"/>
                  </a:schemeClr>
                </a:solidFill>
              </a:rPr>
              <a:t> 공동 창립자 리드 </a:t>
            </a:r>
            <a:r>
              <a:rPr lang="ko-KR" altLang="en-US" sz="800" dirty="0" err="1">
                <a:solidFill>
                  <a:schemeClr val="bg1">
                    <a:lumMod val="50000"/>
                  </a:schemeClr>
                </a:solidFill>
              </a:rPr>
              <a:t>헤이스팅스의</a:t>
            </a:r>
            <a:r>
              <a:rPr lang="ko-KR" altLang="en-US" sz="800" dirty="0">
                <a:solidFill>
                  <a:schemeClr val="bg1">
                    <a:lumMod val="50000"/>
                  </a:schemeClr>
                </a:solidFill>
              </a:rPr>
              <a:t> 저서 *규칙 없음</a:t>
            </a:r>
            <a:r>
              <a:rPr lang="en-US" altLang="ko-KR" sz="800" dirty="0">
                <a:solidFill>
                  <a:schemeClr val="bg1">
                    <a:lumMod val="50000"/>
                  </a:schemeClr>
                </a:solidFill>
              </a:rPr>
              <a:t>(No Rules Rules)*</a:t>
            </a:r>
            <a:r>
              <a:rPr lang="ko-KR" altLang="en-US" sz="800" dirty="0">
                <a:solidFill>
                  <a:schemeClr val="bg1">
                    <a:lumMod val="50000"/>
                  </a:schemeClr>
                </a:solidFill>
              </a:rPr>
              <a:t>에서 </a:t>
            </a:r>
            <a:r>
              <a:rPr lang="ko-KR" altLang="en-US" sz="800" dirty="0" err="1">
                <a:solidFill>
                  <a:schemeClr val="bg1">
                    <a:lumMod val="50000"/>
                  </a:schemeClr>
                </a:solidFill>
              </a:rPr>
              <a:t>앙투안</a:t>
            </a:r>
            <a:r>
              <a:rPr lang="ko-KR" altLang="en-US" sz="800" dirty="0">
                <a:solidFill>
                  <a:schemeClr val="bg1">
                    <a:lumMod val="50000"/>
                  </a:schemeClr>
                </a:solidFill>
              </a:rPr>
              <a:t> 드 생텍쥐페리의 말로 인용됨</a:t>
            </a:r>
            <a:endParaRPr lang="en-US" sz="1050" dirty="0">
              <a:solidFill>
                <a:schemeClr val="bg1">
                  <a:lumMod val="50000"/>
                </a:schemeClr>
              </a:solidFill>
            </a:endParaRPr>
          </a:p>
        </p:txBody>
      </p:sp>
      <p:grpSp>
        <p:nvGrpSpPr>
          <p:cNvPr id="26" name="그룹 25"/>
          <p:cNvGrpSpPr/>
          <p:nvPr/>
        </p:nvGrpSpPr>
        <p:grpSpPr>
          <a:xfrm>
            <a:off x="457200" y="3449002"/>
            <a:ext cx="8321039" cy="1411606"/>
            <a:chOff x="457200" y="1188719"/>
            <a:chExt cx="8321039" cy="1411606"/>
          </a:xfrm>
        </p:grpSpPr>
        <p:sp>
          <p:nvSpPr>
            <p:cNvPr id="24" name="Shape 3"/>
            <p:cNvSpPr/>
            <p:nvPr/>
          </p:nvSpPr>
          <p:spPr>
            <a:xfrm>
              <a:off x="457200" y="1188720"/>
              <a:ext cx="8321039" cy="1411605"/>
            </a:xfrm>
            <a:prstGeom prst="rect">
              <a:avLst/>
            </a:prstGeom>
            <a:solidFill>
              <a:srgbClr val="E50914"/>
            </a:solidFill>
            <a:ln w="12700">
              <a:solidFill>
                <a:srgbClr val="E50914"/>
              </a:solidFill>
              <a:prstDash val="solid"/>
            </a:ln>
          </p:spPr>
          <p:txBody>
            <a:bodyPr/>
            <a:lstStyle/>
            <a:p>
              <a:r>
                <a:rPr lang="en-US" altLang="ko-KR" u="sng" dirty="0">
                  <a:latin typeface="Arial Black" panose="020B0A04020102020204" pitchFamily="34" charset="0"/>
                </a:rPr>
                <a:t>Culture </a:t>
              </a:r>
              <a:r>
                <a:rPr lang="en-US" altLang="ko-KR" u="sng" dirty="0" smtClean="0">
                  <a:latin typeface="Arial Black" panose="020B0A04020102020204" pitchFamily="34" charset="0"/>
                </a:rPr>
                <a:t>Memo</a:t>
              </a:r>
            </a:p>
            <a:p>
              <a:endParaRPr lang="en-US" altLang="ko-KR" sz="700" u="sng" dirty="0" smtClean="0">
                <a:latin typeface="Arial Black" panose="020B0A04020102020204" pitchFamily="34" charset="0"/>
              </a:endParaRPr>
            </a:p>
            <a:p>
              <a:pPr marL="171450" indent="-171450">
                <a:buFont typeface="Arial" panose="020B0604020202020204" pitchFamily="34" charset="0"/>
                <a:buChar char="•"/>
              </a:pPr>
              <a:r>
                <a:rPr lang="en-US" altLang="ko-KR" sz="1200" dirty="0">
                  <a:latin typeface="Arial Black" panose="020B0A04020102020204" pitchFamily="34" charset="0"/>
                </a:rPr>
                <a:t>Encourage independent </a:t>
              </a:r>
              <a:r>
                <a:rPr lang="en-US" altLang="ko-KR" sz="1200" dirty="0" smtClean="0">
                  <a:latin typeface="Arial Black" panose="020B0A04020102020204" pitchFamily="34" charset="0"/>
                </a:rPr>
                <a:t>decision-making</a:t>
              </a:r>
              <a:endParaRPr lang="en-US" altLang="ko-KR" sz="1200" dirty="0" smtClean="0">
                <a:solidFill>
                  <a:schemeClr val="bg1"/>
                </a:solidFill>
                <a:latin typeface="Arial Black" panose="020B0A04020102020204" pitchFamily="34" charset="0"/>
              </a:endParaRPr>
            </a:p>
            <a:p>
              <a:pPr marL="171450" indent="-171450">
                <a:buFont typeface="Arial" panose="020B0604020202020204" pitchFamily="34" charset="0"/>
                <a:buChar char="•"/>
              </a:pPr>
              <a:r>
                <a:rPr lang="en-US" altLang="ko-KR" sz="1200" dirty="0" smtClean="0">
                  <a:latin typeface="Arial Black" panose="020B0A04020102020204" pitchFamily="34" charset="0"/>
                </a:rPr>
                <a:t>Share </a:t>
              </a:r>
              <a:r>
                <a:rPr lang="en-US" altLang="ko-KR" sz="1200" dirty="0">
                  <a:latin typeface="Arial Black" panose="020B0A04020102020204" pitchFamily="34" charset="0"/>
                </a:rPr>
                <a:t>information openly, broadly, and </a:t>
              </a:r>
              <a:r>
                <a:rPr lang="en-US" altLang="ko-KR" sz="1200" dirty="0" smtClean="0">
                  <a:latin typeface="Arial Black" panose="020B0A04020102020204" pitchFamily="34" charset="0"/>
                </a:rPr>
                <a:t>deliberately</a:t>
              </a:r>
              <a:endParaRPr lang="en-US" altLang="ko-KR" sz="1200" dirty="0" smtClean="0">
                <a:solidFill>
                  <a:schemeClr val="bg1"/>
                </a:solidFill>
                <a:latin typeface="Arial Black" panose="020B0A04020102020204" pitchFamily="34" charset="0"/>
              </a:endParaRPr>
            </a:p>
            <a:p>
              <a:pPr marL="171450" indent="-171450">
                <a:buFont typeface="Arial" panose="020B0604020202020204" pitchFamily="34" charset="0"/>
                <a:buChar char="•"/>
              </a:pPr>
              <a:r>
                <a:rPr lang="en-US" altLang="ko-KR" sz="1200" dirty="0" smtClean="0">
                  <a:latin typeface="Arial Black" panose="020B0A04020102020204" pitchFamily="34" charset="0"/>
                </a:rPr>
                <a:t>Are </a:t>
              </a:r>
              <a:r>
                <a:rPr lang="en-US" altLang="ko-KR" sz="1200" dirty="0">
                  <a:latin typeface="Arial Black" panose="020B0A04020102020204" pitchFamily="34" charset="0"/>
                </a:rPr>
                <a:t>extraordinarily candid with each </a:t>
              </a:r>
              <a:r>
                <a:rPr lang="en-US" altLang="ko-KR" sz="1200" dirty="0" smtClean="0">
                  <a:latin typeface="Arial Black" panose="020B0A04020102020204" pitchFamily="34" charset="0"/>
                </a:rPr>
                <a:t>other</a:t>
              </a:r>
              <a:endParaRPr lang="en-US" altLang="ko-KR" sz="1200" dirty="0" smtClean="0">
                <a:solidFill>
                  <a:schemeClr val="bg1"/>
                </a:solidFill>
                <a:latin typeface="Arial Black" panose="020B0A04020102020204" pitchFamily="34" charset="0"/>
              </a:endParaRPr>
            </a:p>
            <a:p>
              <a:pPr marL="171450" indent="-171450">
                <a:buFont typeface="Arial" panose="020B0604020202020204" pitchFamily="34" charset="0"/>
                <a:buChar char="•"/>
              </a:pPr>
              <a:r>
                <a:rPr lang="en-US" altLang="ko-KR" sz="1200" dirty="0" smtClean="0">
                  <a:latin typeface="Arial Black" panose="020B0A04020102020204" pitchFamily="34" charset="0"/>
                </a:rPr>
                <a:t>Keep </a:t>
              </a:r>
              <a:r>
                <a:rPr lang="en-US" altLang="ko-KR" sz="1200" dirty="0">
                  <a:latin typeface="Arial Black" panose="020B0A04020102020204" pitchFamily="34" charset="0"/>
                </a:rPr>
                <a:t>only our highly effective </a:t>
              </a:r>
              <a:r>
                <a:rPr lang="en-US" altLang="ko-KR" sz="1200" dirty="0" smtClean="0">
                  <a:latin typeface="Arial Black" panose="020B0A04020102020204" pitchFamily="34" charset="0"/>
                </a:rPr>
                <a:t>people</a:t>
              </a:r>
              <a:endParaRPr lang="en-US" altLang="ko-KR" sz="1200" dirty="0" smtClean="0">
                <a:solidFill>
                  <a:schemeClr val="bg1"/>
                </a:solidFill>
                <a:latin typeface="Arial Black" panose="020B0A04020102020204" pitchFamily="34" charset="0"/>
              </a:endParaRPr>
            </a:p>
            <a:p>
              <a:pPr marL="171450" indent="-171450">
                <a:buFont typeface="Arial" panose="020B0604020202020204" pitchFamily="34" charset="0"/>
                <a:buChar char="•"/>
              </a:pPr>
              <a:r>
                <a:rPr lang="en-US" altLang="ko-KR" sz="1200" dirty="0" smtClean="0">
                  <a:latin typeface="Arial Black" panose="020B0A04020102020204" pitchFamily="34" charset="0"/>
                </a:rPr>
                <a:t>Avoid rules</a:t>
              </a:r>
              <a:endParaRPr lang="ko-KR" altLang="en-US" sz="1200" dirty="0">
                <a:solidFill>
                  <a:schemeClr val="bg1"/>
                </a:solidFill>
                <a:latin typeface="Arial Black" panose="020B0A04020102020204" pitchFamily="34" charset="0"/>
              </a:endParaRPr>
            </a:p>
          </p:txBody>
        </p:sp>
        <p:sp>
          <p:nvSpPr>
            <p:cNvPr id="25" name="Shape 3"/>
            <p:cNvSpPr/>
            <p:nvPr/>
          </p:nvSpPr>
          <p:spPr>
            <a:xfrm>
              <a:off x="5246556" y="1188719"/>
              <a:ext cx="3531683" cy="1411605"/>
            </a:xfrm>
            <a:prstGeom prst="rect">
              <a:avLst/>
            </a:prstGeom>
            <a:solidFill>
              <a:srgbClr val="E50914"/>
            </a:solidFill>
            <a:ln w="12700">
              <a:solidFill>
                <a:srgbClr val="E50914"/>
              </a:solidFill>
              <a:prstDash val="solid"/>
            </a:ln>
          </p:spPr>
          <p:txBody>
            <a:bodyPr/>
            <a:lstStyle/>
            <a:p>
              <a:r>
                <a:rPr lang="en-US" altLang="ko-KR" u="sng" dirty="0">
                  <a:solidFill>
                    <a:srgbClr val="E50914"/>
                  </a:solidFill>
                </a:rPr>
                <a:t>Culture </a:t>
              </a:r>
              <a:r>
                <a:rPr lang="en-US" altLang="ko-KR" u="sng" dirty="0" smtClean="0">
                  <a:solidFill>
                    <a:srgbClr val="E50914"/>
                  </a:solidFill>
                </a:rPr>
                <a:t>Memo</a:t>
              </a:r>
            </a:p>
            <a:p>
              <a:endParaRPr lang="en-US" altLang="ko-KR" sz="700" u="sng" dirty="0" smtClean="0"/>
            </a:p>
            <a:p>
              <a:pPr marL="171450" indent="-171450">
                <a:buFont typeface="Arial" panose="020B0604020202020204" pitchFamily="34" charset="0"/>
                <a:buChar char="•"/>
              </a:pPr>
              <a:r>
                <a:rPr lang="ko-KR" altLang="en-US" sz="1200" dirty="0" smtClean="0">
                  <a:solidFill>
                    <a:schemeClr val="bg1"/>
                  </a:solidFill>
                </a:rPr>
                <a:t>직원이 </a:t>
              </a:r>
              <a:r>
                <a:rPr lang="ko-KR" altLang="en-US" sz="1200" dirty="0">
                  <a:solidFill>
                    <a:schemeClr val="bg1"/>
                  </a:solidFill>
                </a:rPr>
                <a:t>스스로 결정하게 </a:t>
              </a:r>
              <a:r>
                <a:rPr lang="ko-KR" altLang="en-US" sz="1200" dirty="0" smtClean="0">
                  <a:solidFill>
                    <a:schemeClr val="bg1"/>
                  </a:solidFill>
                </a:rPr>
                <a:t>한다</a:t>
              </a:r>
              <a:endParaRPr lang="en-US" altLang="ko-KR" sz="1200" dirty="0" smtClean="0">
                <a:solidFill>
                  <a:schemeClr val="bg1"/>
                </a:solidFill>
              </a:endParaRPr>
            </a:p>
            <a:p>
              <a:pPr marL="171450" indent="-171450">
                <a:buFont typeface="Arial" panose="020B0604020202020204" pitchFamily="34" charset="0"/>
                <a:buChar char="•"/>
              </a:pPr>
              <a:r>
                <a:rPr lang="ko-KR" altLang="en-US" sz="1200" dirty="0" smtClean="0">
                  <a:solidFill>
                    <a:schemeClr val="bg1"/>
                  </a:solidFill>
                </a:rPr>
                <a:t>정보를 </a:t>
              </a:r>
              <a:r>
                <a:rPr lang="ko-KR" altLang="en-US" sz="1200" dirty="0">
                  <a:solidFill>
                    <a:schemeClr val="bg1"/>
                  </a:solidFill>
                </a:rPr>
                <a:t>투명하게 </a:t>
              </a:r>
              <a:r>
                <a:rPr lang="ko-KR" altLang="en-US" sz="1200" dirty="0" smtClean="0">
                  <a:solidFill>
                    <a:schemeClr val="bg1"/>
                  </a:solidFill>
                </a:rPr>
                <a:t>공유한다</a:t>
              </a:r>
              <a:endParaRPr lang="en-US" altLang="ko-KR" sz="1200" dirty="0" smtClean="0">
                <a:solidFill>
                  <a:schemeClr val="bg1"/>
                </a:solidFill>
              </a:endParaRPr>
            </a:p>
            <a:p>
              <a:pPr marL="171450" indent="-171450">
                <a:buFont typeface="Arial" panose="020B0604020202020204" pitchFamily="34" charset="0"/>
                <a:buChar char="•"/>
              </a:pPr>
              <a:r>
                <a:rPr lang="ko-KR" altLang="en-US" sz="1200" dirty="0" smtClean="0">
                  <a:solidFill>
                    <a:schemeClr val="bg1"/>
                  </a:solidFill>
                </a:rPr>
                <a:t>극도로 </a:t>
              </a:r>
              <a:r>
                <a:rPr lang="ko-KR" altLang="en-US" sz="1200" dirty="0">
                  <a:solidFill>
                    <a:schemeClr val="bg1"/>
                  </a:solidFill>
                </a:rPr>
                <a:t>솔직하게 </a:t>
              </a:r>
              <a:r>
                <a:rPr lang="ko-KR" altLang="en-US" sz="1200" dirty="0" err="1" smtClean="0">
                  <a:solidFill>
                    <a:schemeClr val="bg1"/>
                  </a:solidFill>
                </a:rPr>
                <a:t>피드백한다</a:t>
              </a:r>
              <a:endParaRPr lang="en-US" altLang="ko-KR" sz="1200" dirty="0" smtClean="0">
                <a:solidFill>
                  <a:schemeClr val="bg1"/>
                </a:solidFill>
              </a:endParaRPr>
            </a:p>
            <a:p>
              <a:pPr marL="171450" indent="-171450">
                <a:buFont typeface="Arial" panose="020B0604020202020204" pitchFamily="34" charset="0"/>
                <a:buChar char="•"/>
              </a:pPr>
              <a:r>
                <a:rPr lang="ko-KR" altLang="en-US" sz="1200" dirty="0" err="1" smtClean="0">
                  <a:solidFill>
                    <a:schemeClr val="bg1"/>
                  </a:solidFill>
                </a:rPr>
                <a:t>고성과자만</a:t>
              </a:r>
              <a:r>
                <a:rPr lang="ko-KR" altLang="en-US" sz="1200" dirty="0" smtClean="0">
                  <a:solidFill>
                    <a:schemeClr val="bg1"/>
                  </a:solidFill>
                </a:rPr>
                <a:t> 남긴다</a:t>
              </a:r>
              <a:endParaRPr lang="en-US" altLang="ko-KR" sz="1200" dirty="0" smtClean="0">
                <a:solidFill>
                  <a:schemeClr val="bg1"/>
                </a:solidFill>
              </a:endParaRPr>
            </a:p>
            <a:p>
              <a:pPr marL="171450" indent="-171450">
                <a:buFont typeface="Arial" panose="020B0604020202020204" pitchFamily="34" charset="0"/>
                <a:buChar char="•"/>
              </a:pPr>
              <a:r>
                <a:rPr lang="ko-KR" altLang="en-US" sz="1200" dirty="0" smtClean="0">
                  <a:solidFill>
                    <a:schemeClr val="bg1"/>
                  </a:solidFill>
                </a:rPr>
                <a:t>규칙을 최소화한다</a:t>
              </a:r>
              <a:endParaRPr lang="ko-KR" altLang="en-US" sz="1200" dirty="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최고 인재만 남기고, 솔직하게 소통하며, 강력한 퍼포먼스 </a:t>
            </a:r>
            <a:r>
              <a:rPr lang="en-US" sz="1300" b="1" dirty="0" err="1">
                <a:solidFill>
                  <a:srgbClr val="FFFFFF"/>
                </a:solidFill>
                <a:latin typeface="Calibri" pitchFamily="34" charset="0"/>
                <a:ea typeface="Calibri" pitchFamily="34" charset="-122"/>
                <a:cs typeface="Calibri" pitchFamily="34" charset="-120"/>
              </a:rPr>
              <a:t>문화를</a:t>
            </a:r>
            <a:r>
              <a:rPr lang="en-US" sz="1300" b="1" dirty="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구축</a:t>
            </a:r>
            <a:endParaRPr lang="en-US" sz="1300" dirty="0"/>
          </a:p>
        </p:txBody>
      </p:sp>
      <p:sp>
        <p:nvSpPr>
          <p:cNvPr id="4" name="Text 2"/>
          <p:cNvSpPr/>
          <p:nvPr/>
        </p:nvSpPr>
        <p:spPr>
          <a:xfrm>
            <a:off x="365760" y="758952"/>
            <a:ext cx="8229600" cy="365760"/>
          </a:xfrm>
          <a:prstGeom prst="rect">
            <a:avLst/>
          </a:prstGeom>
          <a:noFill/>
          <a:ln/>
        </p:spPr>
        <p:txBody>
          <a:bodyPr wrap="square" lIns="0" tIns="0" rIns="0" bIns="0" rtlCol="0" anchor="ctr"/>
          <a:lstStyle/>
          <a:p>
            <a:r>
              <a:rPr lang="en-US" sz="2200" b="1" dirty="0">
                <a:solidFill>
                  <a:srgbClr val="141414"/>
                </a:solidFill>
                <a:latin typeface="Arial Black" pitchFamily="34" charset="0"/>
                <a:ea typeface="Arial Black" pitchFamily="34" charset="-122"/>
                <a:cs typeface="Arial Black" pitchFamily="34" charset="-120"/>
              </a:rPr>
              <a:t>주요 HR </a:t>
            </a:r>
            <a:r>
              <a:rPr lang="en-US" sz="2200" b="1" dirty="0" err="1">
                <a:solidFill>
                  <a:srgbClr val="141414"/>
                </a:solidFill>
                <a:latin typeface="Arial Black" pitchFamily="34" charset="0"/>
                <a:ea typeface="Arial Black" pitchFamily="34" charset="-122"/>
                <a:cs typeface="Arial Black" pitchFamily="34" charset="-120"/>
              </a:rPr>
              <a:t>제도</a:t>
            </a:r>
            <a:r>
              <a:rPr lang="en-US" sz="2200" b="1" dirty="0">
                <a:solidFill>
                  <a:srgbClr val="141414"/>
                </a:solidFill>
                <a:latin typeface="Arial Black" pitchFamily="34" charset="0"/>
                <a:ea typeface="Arial Black" pitchFamily="34" charset="-122"/>
                <a:cs typeface="Arial Black" pitchFamily="34" charset="-120"/>
              </a:rPr>
              <a:t> </a:t>
            </a:r>
            <a:r>
              <a:rPr lang="en-US" sz="2200" b="1" dirty="0" smtClean="0">
                <a:solidFill>
                  <a:srgbClr val="141414"/>
                </a:solidFill>
                <a:latin typeface="Arial Black" pitchFamily="34" charset="0"/>
                <a:ea typeface="Arial Black" pitchFamily="34" charset="-122"/>
                <a:cs typeface="Arial Black" pitchFamily="34" charset="-120"/>
              </a:rPr>
              <a:t>①②③</a:t>
            </a:r>
            <a:r>
              <a:rPr lang="en-US" altLang="ko-KR" sz="2200" b="1" dirty="0" smtClean="0">
                <a:solidFill>
                  <a:schemeClr val="bg1">
                    <a:lumMod val="85000"/>
                  </a:schemeClr>
                </a:solidFill>
                <a:latin typeface="Arial Black" pitchFamily="34" charset="0"/>
                <a:ea typeface="Arial Black" pitchFamily="34" charset="-122"/>
                <a:cs typeface="Arial Black" pitchFamily="34" charset="-120"/>
              </a:rPr>
              <a:t>④⑤</a:t>
            </a:r>
            <a:endParaRPr lang="en-US" altLang="ko-KR" sz="2200" dirty="0">
              <a:solidFill>
                <a:schemeClr val="bg1">
                  <a:lumMod val="85000"/>
                </a:schemeClr>
              </a:solidFill>
            </a:endParaRPr>
          </a:p>
        </p:txBody>
      </p:sp>
      <p:sp>
        <p:nvSpPr>
          <p:cNvPr id="5" name="Shape 3"/>
          <p:cNvSpPr/>
          <p:nvPr/>
        </p:nvSpPr>
        <p:spPr>
          <a:xfrm>
            <a:off x="274320" y="1234440"/>
            <a:ext cx="2697480" cy="3566160"/>
          </a:xfrm>
          <a:prstGeom prst="rect">
            <a:avLst/>
          </a:prstGeom>
          <a:solidFill>
            <a:srgbClr val="141414"/>
          </a:solidFill>
          <a:ln w="12700">
            <a:solidFill>
              <a:srgbClr val="141414"/>
            </a:solidFill>
            <a:prstDash val="solid"/>
          </a:ln>
        </p:spPr>
      </p:sp>
      <p:sp>
        <p:nvSpPr>
          <p:cNvPr id="6" name="Shape 4"/>
          <p:cNvSpPr/>
          <p:nvPr/>
        </p:nvSpPr>
        <p:spPr>
          <a:xfrm>
            <a:off x="274320" y="1234440"/>
            <a:ext cx="2697480" cy="411480"/>
          </a:xfrm>
          <a:prstGeom prst="rect">
            <a:avLst/>
          </a:prstGeom>
          <a:solidFill>
            <a:srgbClr val="E50914"/>
          </a:solidFill>
          <a:ln w="12700">
            <a:solidFill>
              <a:srgbClr val="E50914"/>
            </a:solidFill>
            <a:prstDash val="solid"/>
          </a:ln>
        </p:spPr>
      </p:sp>
      <p:sp>
        <p:nvSpPr>
          <p:cNvPr id="7" name="Text 5"/>
          <p:cNvSpPr/>
          <p:nvPr/>
        </p:nvSpPr>
        <p:spPr>
          <a:xfrm>
            <a:off x="274320" y="1234440"/>
            <a:ext cx="2697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① Talent </a:t>
            </a:r>
            <a:r>
              <a:rPr lang="en-US" sz="1200" b="1" dirty="0" smtClean="0">
                <a:solidFill>
                  <a:srgbClr val="FFFFFF"/>
                </a:solidFill>
                <a:latin typeface="Calibri" pitchFamily="34" charset="0"/>
                <a:ea typeface="Calibri" pitchFamily="34" charset="-122"/>
                <a:cs typeface="Calibri" pitchFamily="34" charset="-120"/>
              </a:rPr>
              <a:t>Density</a:t>
            </a:r>
            <a:endParaRPr lang="en-US" sz="1200" dirty="0"/>
          </a:p>
        </p:txBody>
      </p:sp>
      <p:sp>
        <p:nvSpPr>
          <p:cNvPr id="8" name="Text 6"/>
          <p:cNvSpPr/>
          <p:nvPr/>
        </p:nvSpPr>
        <p:spPr>
          <a:xfrm>
            <a:off x="274320" y="1664208"/>
            <a:ext cx="2697480" cy="320040"/>
          </a:xfrm>
          <a:prstGeom prst="rect">
            <a:avLst/>
          </a:prstGeom>
          <a:noFill/>
          <a:ln/>
        </p:spPr>
        <p:txBody>
          <a:bodyPr wrap="square" lIns="0" tIns="0" rIns="0" bIns="0" rtlCol="0" anchor="ctr"/>
          <a:lstStyle/>
          <a:p>
            <a:pPr marL="0" indent="0" algn="ctr">
              <a:buNone/>
            </a:pPr>
            <a:r>
              <a:rPr lang="en-US" sz="1100" dirty="0">
                <a:solidFill>
                  <a:srgbClr val="888888"/>
                </a:solidFill>
                <a:latin typeface="Calibri" pitchFamily="34" charset="0"/>
                <a:ea typeface="Calibri" pitchFamily="34" charset="-122"/>
                <a:cs typeface="Calibri" pitchFamily="34" charset="-120"/>
              </a:rPr>
              <a:t>인재 밀도</a:t>
            </a:r>
            <a:endParaRPr lang="en-US" sz="1100" dirty="0"/>
          </a:p>
        </p:txBody>
      </p:sp>
      <p:sp>
        <p:nvSpPr>
          <p:cNvPr id="9" name="Text 7"/>
          <p:cNvSpPr/>
          <p:nvPr/>
        </p:nvSpPr>
        <p:spPr>
          <a:xfrm>
            <a:off x="411480" y="2057400"/>
            <a:ext cx="2423160" cy="2560320"/>
          </a:xfrm>
          <a:prstGeom prst="rect">
            <a:avLst/>
          </a:prstGeom>
          <a:noFill/>
          <a:ln/>
        </p:spPr>
        <p:txBody>
          <a:bodyPr wrap="square" lIns="50800" tIns="50800" rIns="50800" bIns="50800" rtlCol="0" anchor="t"/>
          <a:lstStyle/>
          <a:p>
            <a:r>
              <a:rPr lang="en-US" sz="1100" b="1" dirty="0" smtClean="0">
                <a:solidFill>
                  <a:srgbClr val="FFFFFF"/>
                </a:solidFill>
                <a:latin typeface="Calibri" pitchFamily="34" charset="0"/>
                <a:ea typeface="Calibri" pitchFamily="34" charset="-122"/>
                <a:cs typeface="Calibri" pitchFamily="34" charset="-120"/>
              </a:rPr>
              <a:t>“Keep </a:t>
            </a:r>
            <a:r>
              <a:rPr lang="en-US" sz="1100" b="1" dirty="0">
                <a:solidFill>
                  <a:srgbClr val="FFFFFF"/>
                </a:solidFill>
                <a:latin typeface="Calibri" pitchFamily="34" charset="0"/>
                <a:ea typeface="Calibri" pitchFamily="34" charset="-122"/>
                <a:cs typeface="Calibri" pitchFamily="34" charset="-120"/>
              </a:rPr>
              <a:t>only our highly effective </a:t>
            </a:r>
            <a:r>
              <a:rPr lang="en-US" sz="1100" b="1" dirty="0" smtClean="0">
                <a:solidFill>
                  <a:srgbClr val="FFFFFF"/>
                </a:solidFill>
                <a:latin typeface="Calibri" pitchFamily="34" charset="0"/>
                <a:ea typeface="Calibri" pitchFamily="34" charset="-122"/>
                <a:cs typeface="Calibri" pitchFamily="34" charset="-120"/>
              </a:rPr>
              <a:t>people”</a:t>
            </a:r>
          </a:p>
          <a:p>
            <a:pPr marL="0" indent="0" algn="l">
              <a:buNone/>
            </a:pPr>
            <a:endParaRPr lang="en-US" sz="1100" dirty="0">
              <a:solidFill>
                <a:srgbClr val="FFFFFF"/>
              </a:solidFill>
              <a:latin typeface="Calibri" pitchFamily="34" charset="0"/>
              <a:ea typeface="Calibri" pitchFamily="34" charset="-122"/>
              <a:cs typeface="Calibri" pitchFamily="34" charset="-120"/>
            </a:endParaRPr>
          </a:p>
          <a:p>
            <a:pPr marL="0" indent="0" algn="l">
              <a:buNone/>
            </a:pPr>
            <a:r>
              <a:rPr lang="en-US" sz="1100" dirty="0" smtClean="0">
                <a:solidFill>
                  <a:srgbClr val="FFFFFF"/>
                </a:solidFill>
                <a:latin typeface="Calibri" pitchFamily="34" charset="0"/>
                <a:ea typeface="Calibri" pitchFamily="34" charset="-122"/>
                <a:cs typeface="Calibri" pitchFamily="34" charset="-120"/>
              </a:rPr>
              <a:t>• </a:t>
            </a:r>
            <a:r>
              <a:rPr lang="en-US" sz="1100" dirty="0">
                <a:solidFill>
                  <a:srgbClr val="FFFFFF"/>
                </a:solidFill>
                <a:latin typeface="Calibri" pitchFamily="34" charset="0"/>
                <a:ea typeface="Calibri" pitchFamily="34" charset="-122"/>
                <a:cs typeface="Calibri" pitchFamily="34" charset="-120"/>
              </a:rPr>
              <a:t>최고 인재만 채용 &amp; 유지</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 시장 최고 수준 보상 제공</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 평균 인재는 </a:t>
            </a:r>
            <a:r>
              <a:rPr lang="en-US" sz="1100" dirty="0" err="1">
                <a:solidFill>
                  <a:srgbClr val="FFFFFF"/>
                </a:solidFill>
                <a:latin typeface="Calibri" pitchFamily="34" charset="0"/>
                <a:ea typeface="Calibri" pitchFamily="34" charset="-122"/>
                <a:cs typeface="Calibri" pitchFamily="34" charset="-120"/>
              </a:rPr>
              <a:t>유지하지</a:t>
            </a:r>
            <a:r>
              <a:rPr lang="en-US" sz="1100" dirty="0">
                <a:solidFill>
                  <a:srgbClr val="FFFFFF"/>
                </a:solidFill>
                <a:latin typeface="Calibri" pitchFamily="34" charset="0"/>
                <a:ea typeface="Calibri" pitchFamily="34" charset="-122"/>
                <a:cs typeface="Calibri" pitchFamily="34" charset="-120"/>
              </a:rPr>
              <a:t> </a:t>
            </a:r>
            <a:r>
              <a:rPr lang="en-US" sz="1100" dirty="0" err="1" smtClean="0">
                <a:solidFill>
                  <a:srgbClr val="FFFFFF"/>
                </a:solidFill>
                <a:latin typeface="Calibri" pitchFamily="34" charset="0"/>
                <a:ea typeface="Calibri" pitchFamily="34" charset="-122"/>
                <a:cs typeface="Calibri" pitchFamily="34" charset="-120"/>
              </a:rPr>
              <a:t>않음</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 </a:t>
            </a:r>
            <a:endParaRPr lang="en-US" sz="1100" dirty="0"/>
          </a:p>
          <a:p>
            <a:r>
              <a:rPr lang="en-US" sz="1100" b="1" dirty="0" smtClean="0">
                <a:solidFill>
                  <a:srgbClr val="E50914"/>
                </a:solidFill>
                <a:latin typeface="Calibri" pitchFamily="34" charset="0"/>
                <a:ea typeface="Calibri" pitchFamily="34" charset="-122"/>
                <a:cs typeface="Calibri" pitchFamily="34" charset="-120"/>
              </a:rPr>
              <a:t>“F</a:t>
            </a:r>
            <a:r>
              <a:rPr lang="en-US" altLang="ko-KR" sz="1100" b="1" dirty="0" smtClean="0">
                <a:solidFill>
                  <a:srgbClr val="E50914"/>
                </a:solidFill>
                <a:latin typeface="Calibri" pitchFamily="34" charset="0"/>
                <a:ea typeface="Calibri" pitchFamily="34" charset="-122"/>
                <a:cs typeface="Calibri" pitchFamily="34" charset="-120"/>
              </a:rPr>
              <a:t>amily</a:t>
            </a:r>
            <a:r>
              <a:rPr lang="ko-KR" altLang="en-US" sz="1100" b="1" dirty="0" smtClean="0">
                <a:solidFill>
                  <a:srgbClr val="E50914"/>
                </a:solidFill>
                <a:latin typeface="Calibri" pitchFamily="34" charset="0"/>
                <a:ea typeface="Calibri" pitchFamily="34" charset="-122"/>
                <a:cs typeface="Calibri" pitchFamily="34" charset="-120"/>
              </a:rPr>
              <a:t>가</a:t>
            </a:r>
            <a:r>
              <a:rPr lang="en-US" sz="1100" b="1" dirty="0" smtClean="0">
                <a:solidFill>
                  <a:srgbClr val="E50914"/>
                </a:solidFill>
                <a:latin typeface="Calibri" pitchFamily="34" charset="0"/>
                <a:ea typeface="Calibri" pitchFamily="34" charset="-122"/>
                <a:cs typeface="Calibri" pitchFamily="34" charset="-120"/>
              </a:rPr>
              <a:t> </a:t>
            </a:r>
            <a:r>
              <a:rPr lang="en-US" sz="1100" b="1" dirty="0" err="1" smtClean="0">
                <a:solidFill>
                  <a:srgbClr val="E50914"/>
                </a:solidFill>
                <a:latin typeface="Calibri" pitchFamily="34" charset="0"/>
                <a:ea typeface="Calibri" pitchFamily="34" charset="-122"/>
                <a:cs typeface="Calibri" pitchFamily="34" charset="-120"/>
              </a:rPr>
              <a:t>아니라</a:t>
            </a:r>
            <a:r>
              <a:rPr lang="en-US" sz="1100" dirty="0"/>
              <a:t> </a:t>
            </a:r>
            <a:r>
              <a:rPr lang="en-US" sz="1100" b="1" dirty="0" err="1" smtClean="0">
                <a:solidFill>
                  <a:srgbClr val="E50914"/>
                </a:solidFill>
                <a:latin typeface="Calibri" pitchFamily="34" charset="0"/>
                <a:ea typeface="Calibri" pitchFamily="34" charset="-122"/>
                <a:cs typeface="Calibri" pitchFamily="34" charset="-120"/>
              </a:rPr>
              <a:t>프로</a:t>
            </a:r>
            <a:r>
              <a:rPr lang="en-US" sz="1100" b="1" dirty="0" smtClean="0">
                <a:solidFill>
                  <a:srgbClr val="E50914"/>
                </a:solidFill>
                <a:latin typeface="Calibri" pitchFamily="34" charset="0"/>
                <a:ea typeface="Calibri" pitchFamily="34" charset="-122"/>
                <a:cs typeface="Calibri" pitchFamily="34" charset="-120"/>
              </a:rPr>
              <a:t> </a:t>
            </a:r>
            <a:r>
              <a:rPr lang="en-US" sz="1100" b="1" dirty="0" err="1">
                <a:solidFill>
                  <a:srgbClr val="E50914"/>
                </a:solidFill>
                <a:latin typeface="Calibri" pitchFamily="34" charset="0"/>
                <a:ea typeface="Calibri" pitchFamily="34" charset="-122"/>
                <a:cs typeface="Calibri" pitchFamily="34" charset="-120"/>
              </a:rPr>
              <a:t>스포츠</a:t>
            </a:r>
            <a:r>
              <a:rPr lang="en-US" sz="1100" b="1" dirty="0">
                <a:solidFill>
                  <a:srgbClr val="E50914"/>
                </a:solidFill>
                <a:latin typeface="Calibri" pitchFamily="34" charset="0"/>
                <a:ea typeface="Calibri" pitchFamily="34" charset="-122"/>
                <a:cs typeface="Calibri" pitchFamily="34" charset="-120"/>
              </a:rPr>
              <a:t> </a:t>
            </a:r>
            <a:r>
              <a:rPr lang="en-US" sz="1100" b="1" dirty="0" smtClean="0">
                <a:solidFill>
                  <a:srgbClr val="E50914"/>
                </a:solidFill>
                <a:latin typeface="Calibri" pitchFamily="34" charset="0"/>
                <a:ea typeface="Calibri" pitchFamily="34" charset="-122"/>
                <a:cs typeface="Calibri" pitchFamily="34" charset="-120"/>
              </a:rPr>
              <a:t>팀"</a:t>
            </a:r>
            <a:endParaRPr lang="en-US" sz="1100" dirty="0"/>
          </a:p>
        </p:txBody>
      </p:sp>
      <p:sp>
        <p:nvSpPr>
          <p:cNvPr id="10" name="Shape 8"/>
          <p:cNvSpPr/>
          <p:nvPr/>
        </p:nvSpPr>
        <p:spPr>
          <a:xfrm>
            <a:off x="3200400" y="1234440"/>
            <a:ext cx="2697480" cy="3566160"/>
          </a:xfrm>
          <a:prstGeom prst="rect">
            <a:avLst/>
          </a:prstGeom>
          <a:solidFill>
            <a:srgbClr val="141414"/>
          </a:solidFill>
          <a:ln w="12700">
            <a:solidFill>
              <a:srgbClr val="141414"/>
            </a:solidFill>
            <a:prstDash val="solid"/>
          </a:ln>
        </p:spPr>
      </p:sp>
      <p:sp>
        <p:nvSpPr>
          <p:cNvPr id="11" name="Shape 9"/>
          <p:cNvSpPr/>
          <p:nvPr/>
        </p:nvSpPr>
        <p:spPr>
          <a:xfrm>
            <a:off x="3200400" y="1234440"/>
            <a:ext cx="2697480" cy="411480"/>
          </a:xfrm>
          <a:prstGeom prst="rect">
            <a:avLst/>
          </a:prstGeom>
          <a:solidFill>
            <a:srgbClr val="E50914"/>
          </a:solidFill>
          <a:ln w="12700">
            <a:solidFill>
              <a:srgbClr val="E50914"/>
            </a:solidFill>
            <a:prstDash val="solid"/>
          </a:ln>
        </p:spPr>
      </p:sp>
      <p:sp>
        <p:nvSpPr>
          <p:cNvPr id="12" name="Text 10"/>
          <p:cNvSpPr/>
          <p:nvPr/>
        </p:nvSpPr>
        <p:spPr>
          <a:xfrm>
            <a:off x="3200400" y="1234440"/>
            <a:ext cx="2697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② Keeper Test</a:t>
            </a:r>
            <a:endParaRPr lang="en-US" sz="1200" dirty="0"/>
          </a:p>
        </p:txBody>
      </p:sp>
      <p:sp>
        <p:nvSpPr>
          <p:cNvPr id="13" name="Text 11"/>
          <p:cNvSpPr/>
          <p:nvPr/>
        </p:nvSpPr>
        <p:spPr>
          <a:xfrm>
            <a:off x="3200400" y="1664208"/>
            <a:ext cx="2697480" cy="320040"/>
          </a:xfrm>
          <a:prstGeom prst="rect">
            <a:avLst/>
          </a:prstGeom>
          <a:noFill/>
          <a:ln/>
        </p:spPr>
        <p:txBody>
          <a:bodyPr wrap="square" lIns="0" tIns="0" rIns="0" bIns="0" rtlCol="0" anchor="ctr"/>
          <a:lstStyle/>
          <a:p>
            <a:pPr marL="0" indent="0" algn="ctr">
              <a:buNone/>
            </a:pPr>
            <a:r>
              <a:rPr lang="en-US" sz="1100" dirty="0">
                <a:solidFill>
                  <a:srgbClr val="888888"/>
                </a:solidFill>
                <a:latin typeface="Calibri" pitchFamily="34" charset="0"/>
                <a:ea typeface="Calibri" pitchFamily="34" charset="-122"/>
                <a:cs typeface="Calibri" pitchFamily="34" charset="-120"/>
              </a:rPr>
              <a:t>지속적 인재 업그레이드</a:t>
            </a:r>
            <a:endParaRPr lang="en-US" sz="1100" dirty="0"/>
          </a:p>
        </p:txBody>
      </p:sp>
      <p:sp>
        <p:nvSpPr>
          <p:cNvPr id="14" name="Text 12"/>
          <p:cNvSpPr/>
          <p:nvPr/>
        </p:nvSpPr>
        <p:spPr>
          <a:xfrm>
            <a:off x="3337560" y="2057400"/>
            <a:ext cx="2423160" cy="2560320"/>
          </a:xfrm>
          <a:prstGeom prst="rect">
            <a:avLst/>
          </a:prstGeom>
          <a:noFill/>
          <a:ln/>
        </p:spPr>
        <p:txBody>
          <a:bodyPr wrap="square" lIns="50800" tIns="50800" rIns="50800" bIns="50800" rtlCol="0" anchor="t"/>
          <a:lstStyle/>
          <a:p>
            <a:pPr marL="0" indent="0" algn="l">
              <a:buNone/>
            </a:pPr>
            <a:endParaRPr lang="en-US" sz="1100" b="1" dirty="0" smtClean="0">
              <a:solidFill>
                <a:srgbClr val="E50914"/>
              </a:solidFill>
              <a:latin typeface="Calibri" pitchFamily="34" charset="0"/>
              <a:ea typeface="Calibri" pitchFamily="34" charset="-122"/>
              <a:cs typeface="Calibri" pitchFamily="34" charset="-120"/>
            </a:endParaRPr>
          </a:p>
          <a:p>
            <a:pPr marL="0" indent="0" algn="l">
              <a:buNone/>
            </a:pPr>
            <a:endParaRPr lang="en-US" sz="1100" b="1" dirty="0">
              <a:solidFill>
                <a:srgbClr val="E50914"/>
              </a:solidFill>
              <a:latin typeface="Calibri" pitchFamily="34" charset="0"/>
              <a:ea typeface="Calibri" pitchFamily="34" charset="-122"/>
              <a:cs typeface="Calibri" pitchFamily="34" charset="-120"/>
            </a:endParaRPr>
          </a:p>
          <a:p>
            <a:pPr marL="0" indent="0" algn="l">
              <a:buNone/>
            </a:pPr>
            <a:r>
              <a:rPr lang="en-US" sz="1100" b="1" dirty="0" smtClean="0">
                <a:solidFill>
                  <a:srgbClr val="E50914"/>
                </a:solidFill>
                <a:latin typeface="Calibri" pitchFamily="34" charset="0"/>
                <a:ea typeface="Calibri" pitchFamily="34" charset="-122"/>
                <a:cs typeface="Calibri" pitchFamily="34" charset="-120"/>
              </a:rPr>
              <a:t>"</a:t>
            </a:r>
            <a:r>
              <a:rPr lang="en-US" sz="1100" b="1" dirty="0">
                <a:solidFill>
                  <a:srgbClr val="E50914"/>
                </a:solidFill>
                <a:latin typeface="Calibri" pitchFamily="34" charset="0"/>
                <a:ea typeface="Calibri" pitchFamily="34" charset="-122"/>
                <a:cs typeface="Calibri" pitchFamily="34" charset="-120"/>
              </a:rPr>
              <a:t>이 </a:t>
            </a:r>
            <a:r>
              <a:rPr lang="en-US" sz="1100" b="1" dirty="0" err="1">
                <a:solidFill>
                  <a:srgbClr val="E50914"/>
                </a:solidFill>
                <a:latin typeface="Calibri" pitchFamily="34" charset="0"/>
                <a:ea typeface="Calibri" pitchFamily="34" charset="-122"/>
                <a:cs typeface="Calibri" pitchFamily="34" charset="-120"/>
              </a:rPr>
              <a:t>직원이</a:t>
            </a:r>
            <a:r>
              <a:rPr lang="en-US" sz="1100" b="1" dirty="0">
                <a:solidFill>
                  <a:srgbClr val="E50914"/>
                </a:solidFill>
                <a:latin typeface="Calibri" pitchFamily="34" charset="0"/>
                <a:ea typeface="Calibri" pitchFamily="34" charset="-122"/>
                <a:cs typeface="Calibri" pitchFamily="34" charset="-120"/>
              </a:rPr>
              <a:t> </a:t>
            </a:r>
            <a:r>
              <a:rPr lang="en-US" sz="1100" b="1" dirty="0" err="1" smtClean="0">
                <a:solidFill>
                  <a:srgbClr val="E50914"/>
                </a:solidFill>
                <a:latin typeface="Calibri" pitchFamily="34" charset="0"/>
                <a:ea typeface="Calibri" pitchFamily="34" charset="-122"/>
                <a:cs typeface="Calibri" pitchFamily="34" charset="-120"/>
              </a:rPr>
              <a:t>떠난다면</a:t>
            </a:r>
            <a:r>
              <a:rPr lang="en-US" sz="1100" dirty="0"/>
              <a:t> </a:t>
            </a:r>
            <a:r>
              <a:rPr lang="en-US" sz="1100" b="1" dirty="0" err="1" smtClean="0">
                <a:solidFill>
                  <a:srgbClr val="E50914"/>
                </a:solidFill>
                <a:latin typeface="Calibri" pitchFamily="34" charset="0"/>
                <a:ea typeface="Calibri" pitchFamily="34" charset="-122"/>
                <a:cs typeface="Calibri" pitchFamily="34" charset="-120"/>
              </a:rPr>
              <a:t>붙잡을</a:t>
            </a:r>
            <a:r>
              <a:rPr lang="en-US" sz="1100" b="1" dirty="0" smtClean="0">
                <a:solidFill>
                  <a:srgbClr val="E50914"/>
                </a:solidFill>
                <a:latin typeface="Calibri" pitchFamily="34" charset="0"/>
                <a:ea typeface="Calibri" pitchFamily="34" charset="-122"/>
                <a:cs typeface="Calibri" pitchFamily="34" charset="-120"/>
              </a:rPr>
              <a:t> </a:t>
            </a:r>
            <a:r>
              <a:rPr lang="en-US" sz="1100" b="1" dirty="0">
                <a:solidFill>
                  <a:srgbClr val="E50914"/>
                </a:solidFill>
                <a:latin typeface="Calibri" pitchFamily="34" charset="0"/>
                <a:ea typeface="Calibri" pitchFamily="34" charset="-122"/>
                <a:cs typeface="Calibri" pitchFamily="34" charset="-120"/>
              </a:rPr>
              <a:t>것인가?"</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 </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YES → 계속 근무</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NO  → 해고 + 고액 퇴직금</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 </a:t>
            </a:r>
            <a:endParaRPr lang="en-US" sz="1100" dirty="0"/>
          </a:p>
          <a:p>
            <a:pPr marL="0" indent="0" algn="l">
              <a:buNone/>
            </a:pPr>
            <a:r>
              <a:rPr lang="en-US" sz="1100" dirty="0">
                <a:solidFill>
                  <a:srgbClr val="AAAAAA"/>
                </a:solidFill>
                <a:latin typeface="Calibri" pitchFamily="34" charset="0"/>
                <a:ea typeface="Calibri" pitchFamily="34" charset="-122"/>
                <a:cs typeface="Calibri" pitchFamily="34" charset="-120"/>
              </a:rPr>
              <a:t>→ </a:t>
            </a:r>
            <a:r>
              <a:rPr lang="en-US" sz="1100" dirty="0" err="1" smtClean="0">
                <a:solidFill>
                  <a:srgbClr val="AAAAAA"/>
                </a:solidFill>
                <a:latin typeface="Calibri" pitchFamily="34" charset="0"/>
                <a:ea typeface="Calibri" pitchFamily="34" charset="-122"/>
                <a:cs typeface="Calibri" pitchFamily="34" charset="-120"/>
              </a:rPr>
              <a:t>지속적</a:t>
            </a:r>
            <a:r>
              <a:rPr lang="en-US" sz="1100" dirty="0" smtClean="0"/>
              <a:t> </a:t>
            </a:r>
            <a:r>
              <a:rPr lang="en-US" sz="1100" dirty="0" err="1" smtClean="0">
                <a:solidFill>
                  <a:srgbClr val="AAAAAA"/>
                </a:solidFill>
                <a:latin typeface="Calibri" pitchFamily="34" charset="0"/>
                <a:ea typeface="Calibri" pitchFamily="34" charset="-122"/>
                <a:cs typeface="Calibri" pitchFamily="34" charset="-120"/>
              </a:rPr>
              <a:t>인재</a:t>
            </a:r>
            <a:r>
              <a:rPr lang="en-US" sz="1100" dirty="0" smtClean="0">
                <a:solidFill>
                  <a:srgbClr val="AAAAAA"/>
                </a:solidFill>
                <a:latin typeface="Calibri" pitchFamily="34" charset="0"/>
                <a:ea typeface="Calibri" pitchFamily="34" charset="-122"/>
                <a:cs typeface="Calibri" pitchFamily="34" charset="-120"/>
              </a:rPr>
              <a:t> </a:t>
            </a:r>
            <a:r>
              <a:rPr lang="en-US" sz="1100" dirty="0">
                <a:solidFill>
                  <a:srgbClr val="AAAAAA"/>
                </a:solidFill>
                <a:latin typeface="Calibri" pitchFamily="34" charset="0"/>
                <a:ea typeface="Calibri" pitchFamily="34" charset="-122"/>
                <a:cs typeface="Calibri" pitchFamily="34" charset="-120"/>
              </a:rPr>
              <a:t>업그레이드 시스템</a:t>
            </a:r>
            <a:endParaRPr lang="en-US" sz="1100" dirty="0"/>
          </a:p>
        </p:txBody>
      </p:sp>
      <p:sp>
        <p:nvSpPr>
          <p:cNvPr id="15" name="Shape 13"/>
          <p:cNvSpPr/>
          <p:nvPr/>
        </p:nvSpPr>
        <p:spPr>
          <a:xfrm>
            <a:off x="6126480" y="1234440"/>
            <a:ext cx="2697480" cy="3566160"/>
          </a:xfrm>
          <a:prstGeom prst="rect">
            <a:avLst/>
          </a:prstGeom>
          <a:solidFill>
            <a:srgbClr val="141414"/>
          </a:solidFill>
          <a:ln w="12700">
            <a:solidFill>
              <a:srgbClr val="141414"/>
            </a:solidFill>
            <a:prstDash val="solid"/>
          </a:ln>
        </p:spPr>
      </p:sp>
      <p:sp>
        <p:nvSpPr>
          <p:cNvPr id="16" name="Shape 14"/>
          <p:cNvSpPr/>
          <p:nvPr/>
        </p:nvSpPr>
        <p:spPr>
          <a:xfrm>
            <a:off x="6126480" y="1234440"/>
            <a:ext cx="2697480" cy="411480"/>
          </a:xfrm>
          <a:prstGeom prst="rect">
            <a:avLst/>
          </a:prstGeom>
          <a:solidFill>
            <a:srgbClr val="E50914"/>
          </a:solidFill>
          <a:ln w="12700">
            <a:solidFill>
              <a:srgbClr val="E50914"/>
            </a:solidFill>
            <a:prstDash val="solid"/>
          </a:ln>
        </p:spPr>
      </p:sp>
      <p:sp>
        <p:nvSpPr>
          <p:cNvPr id="17" name="Text 15"/>
          <p:cNvSpPr/>
          <p:nvPr/>
        </p:nvSpPr>
        <p:spPr>
          <a:xfrm>
            <a:off x="6126480" y="1234440"/>
            <a:ext cx="2697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③ Candor Culture</a:t>
            </a:r>
            <a:endParaRPr lang="en-US" sz="1200" dirty="0"/>
          </a:p>
        </p:txBody>
      </p:sp>
      <p:sp>
        <p:nvSpPr>
          <p:cNvPr id="18" name="Text 16"/>
          <p:cNvSpPr/>
          <p:nvPr/>
        </p:nvSpPr>
        <p:spPr>
          <a:xfrm>
            <a:off x="6126480" y="1664208"/>
            <a:ext cx="2697480" cy="320040"/>
          </a:xfrm>
          <a:prstGeom prst="rect">
            <a:avLst/>
          </a:prstGeom>
          <a:noFill/>
          <a:ln/>
        </p:spPr>
        <p:txBody>
          <a:bodyPr wrap="square" lIns="0" tIns="0" rIns="0" bIns="0" rtlCol="0" anchor="ctr"/>
          <a:lstStyle/>
          <a:p>
            <a:pPr marL="0" indent="0" algn="ctr">
              <a:buNone/>
            </a:pPr>
            <a:r>
              <a:rPr lang="en-US" sz="1100" dirty="0">
                <a:solidFill>
                  <a:srgbClr val="888888"/>
                </a:solidFill>
                <a:latin typeface="Calibri" pitchFamily="34" charset="0"/>
                <a:ea typeface="Calibri" pitchFamily="34" charset="-122"/>
                <a:cs typeface="Calibri" pitchFamily="34" charset="-120"/>
              </a:rPr>
              <a:t>솔직한 피드백 문화</a:t>
            </a:r>
            <a:endParaRPr lang="en-US" sz="1100" dirty="0"/>
          </a:p>
        </p:txBody>
      </p:sp>
      <p:sp>
        <p:nvSpPr>
          <p:cNvPr id="19" name="Text 17"/>
          <p:cNvSpPr/>
          <p:nvPr/>
        </p:nvSpPr>
        <p:spPr>
          <a:xfrm>
            <a:off x="6263640" y="2057400"/>
            <a:ext cx="2423160" cy="2560320"/>
          </a:xfrm>
          <a:prstGeom prst="rect">
            <a:avLst/>
          </a:prstGeom>
          <a:noFill/>
          <a:ln/>
        </p:spPr>
        <p:txBody>
          <a:bodyPr wrap="square" lIns="50800" tIns="50800" rIns="50800" bIns="508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 직급 관계없이 직접 피드백</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 침묵 = 비충성으로 간주</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 </a:t>
            </a:r>
            <a:endParaRPr lang="en-US" sz="1100" dirty="0"/>
          </a:p>
          <a:p>
            <a:pPr marL="0" indent="0" algn="l">
              <a:buNone/>
            </a:pPr>
            <a:r>
              <a:rPr lang="en-US" sz="1100" b="1" dirty="0">
                <a:solidFill>
                  <a:srgbClr val="44BB44"/>
                </a:solidFill>
                <a:latin typeface="Calibri" pitchFamily="34" charset="0"/>
                <a:ea typeface="Calibri" pitchFamily="34" charset="-122"/>
                <a:cs typeface="Calibri" pitchFamily="34" charset="-120"/>
              </a:rPr>
              <a:t>✔ 효과:</a:t>
            </a:r>
            <a:endParaRPr lang="en-US" sz="1100" dirty="0"/>
          </a:p>
          <a:p>
            <a:r>
              <a:rPr lang="en-US" sz="1100" dirty="0">
                <a:solidFill>
                  <a:srgbClr val="FFFFFF"/>
                </a:solidFill>
                <a:latin typeface="Calibri" pitchFamily="34" charset="0"/>
                <a:ea typeface="Calibri" pitchFamily="34" charset="-122"/>
                <a:cs typeface="Calibri" pitchFamily="34" charset="-120"/>
              </a:rPr>
              <a:t> </a:t>
            </a:r>
            <a:r>
              <a:rPr lang="en-US" altLang="ko-KR" sz="1100" dirty="0" err="1">
                <a:solidFill>
                  <a:srgbClr val="FFFFFF"/>
                </a:solidFill>
                <a:latin typeface="Calibri" pitchFamily="34" charset="0"/>
                <a:ea typeface="Calibri" pitchFamily="34" charset="-122"/>
                <a:cs typeface="Calibri" pitchFamily="34" charset="-120"/>
              </a:rPr>
              <a:t>문제</a:t>
            </a:r>
            <a:r>
              <a:rPr lang="en-US" altLang="ko-KR" sz="1100" dirty="0">
                <a:solidFill>
                  <a:srgbClr val="FFFFFF"/>
                </a:solidFill>
                <a:latin typeface="Calibri" pitchFamily="34" charset="0"/>
                <a:ea typeface="Calibri" pitchFamily="34" charset="-122"/>
                <a:cs typeface="Calibri" pitchFamily="34" charset="-120"/>
              </a:rPr>
              <a:t> </a:t>
            </a:r>
            <a:r>
              <a:rPr lang="en-US" altLang="ko-KR" sz="1100" dirty="0" err="1">
                <a:solidFill>
                  <a:srgbClr val="FFFFFF"/>
                </a:solidFill>
                <a:latin typeface="Calibri" pitchFamily="34" charset="0"/>
                <a:ea typeface="Calibri" pitchFamily="34" charset="-122"/>
                <a:cs typeface="Calibri" pitchFamily="34" charset="-120"/>
              </a:rPr>
              <a:t>조기</a:t>
            </a:r>
            <a:r>
              <a:rPr lang="en-US" altLang="ko-KR" sz="1100" dirty="0">
                <a:solidFill>
                  <a:srgbClr val="FFFFFF"/>
                </a:solidFill>
                <a:latin typeface="Calibri" pitchFamily="34" charset="0"/>
                <a:ea typeface="Calibri" pitchFamily="34" charset="-122"/>
                <a:cs typeface="Calibri" pitchFamily="34" charset="-120"/>
              </a:rPr>
              <a:t> </a:t>
            </a:r>
            <a:r>
              <a:rPr lang="en-US" altLang="ko-KR" sz="1100" dirty="0" err="1">
                <a:solidFill>
                  <a:srgbClr val="FFFFFF"/>
                </a:solidFill>
                <a:latin typeface="Calibri" pitchFamily="34" charset="0"/>
                <a:ea typeface="Calibri" pitchFamily="34" charset="-122"/>
                <a:cs typeface="Calibri" pitchFamily="34" charset="-120"/>
              </a:rPr>
              <a:t>발견</a:t>
            </a:r>
            <a:r>
              <a:rPr lang="en-US" altLang="ko-KR" sz="1100" dirty="0" smtClean="0">
                <a:solidFill>
                  <a:srgbClr val="FFFFFF"/>
                </a:solidFill>
                <a:latin typeface="Calibri" pitchFamily="34" charset="0"/>
                <a:ea typeface="Calibri" pitchFamily="34" charset="-122"/>
                <a:cs typeface="Calibri" pitchFamily="34" charset="-120"/>
              </a:rPr>
              <a:t>· </a:t>
            </a:r>
            <a:r>
              <a:rPr lang="en-US" sz="1100" dirty="0" err="1" smtClean="0">
                <a:solidFill>
                  <a:srgbClr val="FFFFFF"/>
                </a:solidFill>
                <a:latin typeface="Calibri" pitchFamily="34" charset="0"/>
                <a:ea typeface="Calibri" pitchFamily="34" charset="-122"/>
                <a:cs typeface="Calibri" pitchFamily="34" charset="-120"/>
              </a:rPr>
              <a:t>빠른</a:t>
            </a:r>
            <a:r>
              <a:rPr lang="en-US" sz="1100" dirty="0" smtClean="0">
                <a:solidFill>
                  <a:srgbClr val="FFFFFF"/>
                </a:solidFill>
                <a:latin typeface="Calibri" pitchFamily="34" charset="0"/>
                <a:ea typeface="Calibri" pitchFamily="34" charset="-122"/>
                <a:cs typeface="Calibri" pitchFamily="34" charset="-120"/>
              </a:rPr>
              <a:t> </a:t>
            </a:r>
            <a:r>
              <a:rPr lang="en-US" sz="1100" dirty="0" err="1" smtClean="0">
                <a:solidFill>
                  <a:srgbClr val="FFFFFF"/>
                </a:solidFill>
                <a:latin typeface="Calibri" pitchFamily="34" charset="0"/>
                <a:ea typeface="Calibri" pitchFamily="34" charset="-122"/>
                <a:cs typeface="Calibri" pitchFamily="34" charset="-120"/>
              </a:rPr>
              <a:t>의사결정</a:t>
            </a:r>
            <a:endParaRPr lang="en-US" sz="1100" dirty="0"/>
          </a:p>
          <a:p>
            <a:pPr marL="0" indent="0" algn="l">
              <a:buNone/>
            </a:pPr>
            <a:r>
              <a:rPr lang="en-US" sz="1100" dirty="0">
                <a:solidFill>
                  <a:srgbClr val="FFFFFF"/>
                </a:solidFill>
                <a:latin typeface="Calibri" pitchFamily="34" charset="0"/>
                <a:ea typeface="Calibri" pitchFamily="34" charset="-122"/>
                <a:cs typeface="Calibri" pitchFamily="34" charset="-120"/>
              </a:rPr>
              <a:t> </a:t>
            </a:r>
            <a:endParaRPr lang="en-US" sz="1100" dirty="0"/>
          </a:p>
          <a:p>
            <a:pPr marL="0" indent="0" algn="l">
              <a:buNone/>
            </a:pPr>
            <a:r>
              <a:rPr lang="en-US" sz="1100" b="1" dirty="0">
                <a:solidFill>
                  <a:srgbClr val="E50914"/>
                </a:solidFill>
                <a:latin typeface="Calibri" pitchFamily="34" charset="0"/>
                <a:ea typeface="Calibri" pitchFamily="34" charset="-122"/>
                <a:cs typeface="Calibri" pitchFamily="34" charset="-120"/>
              </a:rPr>
              <a:t>✖ 리스크:</a:t>
            </a:r>
            <a:endParaRPr lang="en-US" sz="1100" dirty="0"/>
          </a:p>
          <a:p>
            <a:pPr marL="0" indent="0" algn="l">
              <a:buNone/>
            </a:pPr>
            <a:r>
              <a:rPr lang="en-US" sz="1100" dirty="0">
                <a:solidFill>
                  <a:srgbClr val="AAAAAA"/>
                </a:solidFill>
                <a:latin typeface="Calibri" pitchFamily="34" charset="0"/>
                <a:ea typeface="Calibri" pitchFamily="34" charset="-122"/>
                <a:cs typeface="Calibri" pitchFamily="34" charset="-120"/>
              </a:rPr>
              <a:t>  공격적 문화로 인식 가능</a:t>
            </a:r>
            <a:endParaRPr lang="en-US" sz="1100" dirty="0"/>
          </a:p>
        </p:txBody>
      </p:sp>
      <p:sp>
        <p:nvSpPr>
          <p:cNvPr id="20" name="Text 18"/>
          <p:cNvSpPr/>
          <p:nvPr/>
        </p:nvSpPr>
        <p:spPr>
          <a:xfrm>
            <a:off x="8503920" y="4846320"/>
            <a:ext cx="548640" cy="182880"/>
          </a:xfrm>
          <a:prstGeom prst="rect">
            <a:avLst/>
          </a:prstGeom>
          <a:noFill/>
          <a:ln/>
        </p:spPr>
        <p:txBody>
          <a:bodyPr wrap="square" lIns="0" tIns="0" rIns="0" bIns="0"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4 / 9</a:t>
            </a:r>
            <a:endParaRPr lang="en-US" sz="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41414"/>
          </a:solidFill>
          <a:ln w="12700">
            <a:solidFill>
              <a:srgbClr val="1414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통제 없이 맥락으로 이끌고, 규칙 없이 신뢰로 움직이는 </a:t>
            </a:r>
            <a:r>
              <a:rPr lang="en-US" sz="1300" b="1" dirty="0" err="1">
                <a:solidFill>
                  <a:srgbClr val="FFFFFF"/>
                </a:solidFill>
                <a:latin typeface="Calibri" pitchFamily="34" charset="0"/>
                <a:ea typeface="Calibri" pitchFamily="34" charset="-122"/>
                <a:cs typeface="Calibri" pitchFamily="34" charset="-120"/>
              </a:rPr>
              <a:t>조직을</a:t>
            </a:r>
            <a:r>
              <a:rPr lang="en-US" sz="1300" b="1" dirty="0">
                <a:solidFill>
                  <a:srgbClr val="FFFFFF"/>
                </a:solidFill>
                <a:latin typeface="Calibri" pitchFamily="34" charset="0"/>
                <a:ea typeface="Calibri" pitchFamily="34" charset="-122"/>
                <a:cs typeface="Calibri" pitchFamily="34" charset="-120"/>
              </a:rPr>
              <a:t> </a:t>
            </a:r>
            <a:r>
              <a:rPr lang="en-US" sz="1300" b="1" dirty="0" smtClean="0">
                <a:solidFill>
                  <a:srgbClr val="FFFFFF"/>
                </a:solidFill>
                <a:latin typeface="Calibri" pitchFamily="34" charset="0"/>
                <a:ea typeface="Calibri" pitchFamily="34" charset="-122"/>
                <a:cs typeface="Calibri" pitchFamily="34" charset="-120"/>
              </a:rPr>
              <a:t>만</a:t>
            </a:r>
            <a:r>
              <a:rPr lang="ko-KR" altLang="en-US" sz="1300" b="1" dirty="0" err="1" smtClean="0">
                <a:solidFill>
                  <a:srgbClr val="FFFFFF"/>
                </a:solidFill>
                <a:latin typeface="Calibri" pitchFamily="34" charset="0"/>
                <a:ea typeface="Calibri" pitchFamily="34" charset="-122"/>
                <a:cs typeface="Calibri" pitchFamily="34" charset="-120"/>
              </a:rPr>
              <a:t>듬</a:t>
            </a:r>
            <a:endParaRPr lang="en-US" sz="1300" dirty="0"/>
          </a:p>
        </p:txBody>
      </p:sp>
      <p:sp>
        <p:nvSpPr>
          <p:cNvPr id="5" name="Shape 3"/>
          <p:cNvSpPr/>
          <p:nvPr/>
        </p:nvSpPr>
        <p:spPr>
          <a:xfrm>
            <a:off x="365760" y="1280160"/>
            <a:ext cx="3931920" cy="3520440"/>
          </a:xfrm>
          <a:prstGeom prst="rect">
            <a:avLst/>
          </a:prstGeom>
          <a:solidFill>
            <a:srgbClr val="F5F5F5"/>
          </a:solidFill>
          <a:ln w="12700">
            <a:solidFill>
              <a:srgbClr val="F5F5F5"/>
            </a:solidFill>
            <a:prstDash val="solid"/>
          </a:ln>
        </p:spPr>
      </p:sp>
      <p:sp>
        <p:nvSpPr>
          <p:cNvPr id="6" name="Shape 4"/>
          <p:cNvSpPr/>
          <p:nvPr/>
        </p:nvSpPr>
        <p:spPr>
          <a:xfrm>
            <a:off x="365760" y="1280160"/>
            <a:ext cx="3931920" cy="457200"/>
          </a:xfrm>
          <a:prstGeom prst="rect">
            <a:avLst/>
          </a:prstGeom>
          <a:solidFill>
            <a:srgbClr val="141414"/>
          </a:solidFill>
          <a:ln w="12700">
            <a:solidFill>
              <a:srgbClr val="141414"/>
            </a:solidFill>
            <a:prstDash val="solid"/>
          </a:ln>
        </p:spPr>
      </p:sp>
      <p:sp>
        <p:nvSpPr>
          <p:cNvPr id="7" name="Text 5"/>
          <p:cNvSpPr/>
          <p:nvPr/>
        </p:nvSpPr>
        <p:spPr>
          <a:xfrm>
            <a:off x="365760" y="1280160"/>
            <a:ext cx="39319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④ Context, Not Control</a:t>
            </a:r>
            <a:endParaRPr lang="en-US" sz="1300" dirty="0"/>
          </a:p>
        </p:txBody>
      </p:sp>
      <p:sp>
        <p:nvSpPr>
          <p:cNvPr id="8" name="Text 6"/>
          <p:cNvSpPr/>
          <p:nvPr/>
        </p:nvSpPr>
        <p:spPr>
          <a:xfrm>
            <a:off x="548640" y="1828800"/>
            <a:ext cx="3566160" cy="1371600"/>
          </a:xfrm>
          <a:prstGeom prst="rect">
            <a:avLst/>
          </a:prstGeom>
          <a:noFill/>
          <a:ln/>
        </p:spPr>
        <p:txBody>
          <a:bodyPr wrap="square" lIns="50800" tIns="50800" rIns="50800" bIns="50800" rtlCol="0" anchor="t"/>
          <a:lstStyle/>
          <a:p>
            <a:pPr marL="0" indent="0" algn="l">
              <a:buNone/>
            </a:pPr>
            <a:r>
              <a:rPr lang="en-US" sz="1200" b="1" dirty="0">
                <a:solidFill>
                  <a:srgbClr val="141414"/>
                </a:solidFill>
                <a:latin typeface="Calibri" pitchFamily="34" charset="0"/>
                <a:ea typeface="Calibri" pitchFamily="34" charset="-122"/>
                <a:cs typeface="Calibri" pitchFamily="34" charset="-120"/>
              </a:rPr>
              <a:t>관리자는 지시하지 않고 맥락을 제공</a:t>
            </a:r>
            <a:endParaRPr lang="en-US" sz="1200" dirty="0"/>
          </a:p>
          <a:p>
            <a:pPr marL="0" indent="0" algn="l">
              <a:buNone/>
            </a:pPr>
            <a:r>
              <a:rPr lang="en-US" sz="1200" b="1" dirty="0">
                <a:solidFill>
                  <a:srgbClr val="141414"/>
                </a:solidFill>
                <a:latin typeface="Calibri" pitchFamily="34" charset="0"/>
                <a:ea typeface="Calibri" pitchFamily="34" charset="-122"/>
                <a:cs typeface="Calibri" pitchFamily="34" charset="-120"/>
              </a:rPr>
              <a:t>의사결정은 개인의 책임</a:t>
            </a:r>
            <a:endParaRPr lang="en-US" sz="1200" dirty="0"/>
          </a:p>
          <a:p>
            <a:pPr marL="0" indent="0" algn="l">
              <a:buNone/>
            </a:pPr>
            <a:r>
              <a:rPr lang="en-US" sz="1200" dirty="0">
                <a:solidFill>
                  <a:srgbClr val="141414"/>
                </a:solidFill>
                <a:latin typeface="Calibri" pitchFamily="34" charset="0"/>
                <a:ea typeface="Calibri" pitchFamily="34" charset="-122"/>
                <a:cs typeface="Calibri" pitchFamily="34" charset="-120"/>
              </a:rPr>
              <a:t> </a:t>
            </a:r>
            <a:endParaRPr lang="en-US" sz="1200" dirty="0"/>
          </a:p>
          <a:p>
            <a:pPr marL="171450" indent="-171450" algn="l">
              <a:buFont typeface="Arial" panose="020B0604020202020204" pitchFamily="34" charset="0"/>
              <a:buChar char="•"/>
            </a:pPr>
            <a:r>
              <a:rPr lang="en-US" sz="1200" dirty="0">
                <a:solidFill>
                  <a:srgbClr val="141414"/>
                </a:solidFill>
                <a:latin typeface="Calibri" pitchFamily="34" charset="0"/>
                <a:ea typeface="Calibri" pitchFamily="34" charset="-122"/>
                <a:cs typeface="Calibri" pitchFamily="34" charset="-120"/>
              </a:rPr>
              <a:t>조직 구조 최소화</a:t>
            </a:r>
            <a:endParaRPr lang="en-US" sz="1200" dirty="0"/>
          </a:p>
          <a:p>
            <a:pPr marL="171450" indent="-171450" algn="l">
              <a:buFont typeface="Arial" panose="020B0604020202020204" pitchFamily="34" charset="0"/>
              <a:buChar char="•"/>
            </a:pPr>
            <a:r>
              <a:rPr lang="en-US" sz="1200" dirty="0">
                <a:solidFill>
                  <a:srgbClr val="141414"/>
                </a:solidFill>
                <a:latin typeface="Calibri" pitchFamily="34" charset="0"/>
                <a:ea typeface="Calibri" pitchFamily="34" charset="-122"/>
                <a:cs typeface="Calibri" pitchFamily="34" charset="-120"/>
              </a:rPr>
              <a:t>빠른 실행 가능</a:t>
            </a:r>
            <a:endParaRPr lang="en-US" sz="1200" dirty="0"/>
          </a:p>
        </p:txBody>
      </p:sp>
      <p:sp>
        <p:nvSpPr>
          <p:cNvPr id="9" name="Shape 7"/>
          <p:cNvSpPr/>
          <p:nvPr/>
        </p:nvSpPr>
        <p:spPr>
          <a:xfrm>
            <a:off x="548640" y="3246120"/>
            <a:ext cx="1600200" cy="640080"/>
          </a:xfrm>
          <a:prstGeom prst="rect">
            <a:avLst/>
          </a:prstGeom>
          <a:solidFill>
            <a:srgbClr val="DDDDDD"/>
          </a:solidFill>
          <a:ln w="12700">
            <a:solidFill>
              <a:srgbClr val="CCCCCC"/>
            </a:solidFill>
            <a:prstDash val="solid"/>
          </a:ln>
        </p:spPr>
      </p:sp>
      <p:sp>
        <p:nvSpPr>
          <p:cNvPr id="10" name="Text 8"/>
          <p:cNvSpPr/>
          <p:nvPr/>
        </p:nvSpPr>
        <p:spPr>
          <a:xfrm>
            <a:off x="548640" y="3246120"/>
            <a:ext cx="1600200" cy="640080"/>
          </a:xfrm>
          <a:prstGeom prst="rect">
            <a:avLst/>
          </a:prstGeom>
          <a:noFill/>
          <a:ln/>
        </p:spPr>
        <p:txBody>
          <a:bodyPr wrap="square" lIns="0" tIns="0" rIns="0" bIns="0" rtlCol="0" anchor="ctr"/>
          <a:lstStyle/>
          <a:p>
            <a:pPr marL="0" indent="0" algn="ctr">
              <a:buNone/>
            </a:pPr>
            <a:r>
              <a:rPr lang="en-US" sz="900" dirty="0">
                <a:solidFill>
                  <a:srgbClr val="141414"/>
                </a:solidFill>
                <a:latin typeface="Calibri" pitchFamily="34" charset="0"/>
                <a:ea typeface="Calibri" pitchFamily="34" charset="-122"/>
                <a:cs typeface="Calibri" pitchFamily="34" charset="-120"/>
              </a:rPr>
              <a:t>일반 기업</a:t>
            </a:r>
            <a:endParaRPr lang="en-US" sz="900" dirty="0"/>
          </a:p>
          <a:p>
            <a:pPr marL="0" indent="0" algn="ctr">
              <a:buNone/>
            </a:pPr>
            <a:r>
              <a:rPr lang="en-US" sz="900" dirty="0">
                <a:solidFill>
                  <a:srgbClr val="141414"/>
                </a:solidFill>
                <a:latin typeface="Calibri" pitchFamily="34" charset="0"/>
                <a:ea typeface="Calibri" pitchFamily="34" charset="-122"/>
                <a:cs typeface="Calibri" pitchFamily="34" charset="-120"/>
              </a:rPr>
              <a:t>지시 &amp; 통제</a:t>
            </a:r>
            <a:endParaRPr lang="en-US" sz="900" dirty="0"/>
          </a:p>
        </p:txBody>
      </p:sp>
      <p:sp>
        <p:nvSpPr>
          <p:cNvPr id="11" name="Shape 9"/>
          <p:cNvSpPr/>
          <p:nvPr/>
        </p:nvSpPr>
        <p:spPr>
          <a:xfrm>
            <a:off x="2167128" y="3566160"/>
            <a:ext cx="320040" cy="0"/>
          </a:xfrm>
          <a:prstGeom prst="line">
            <a:avLst/>
          </a:prstGeom>
          <a:noFill/>
          <a:ln w="25400">
            <a:solidFill>
              <a:srgbClr val="2A2A2A"/>
            </a:solidFill>
            <a:prstDash val="solid"/>
          </a:ln>
        </p:spPr>
      </p:sp>
      <p:sp>
        <p:nvSpPr>
          <p:cNvPr id="12" name="Shape 10"/>
          <p:cNvSpPr/>
          <p:nvPr/>
        </p:nvSpPr>
        <p:spPr>
          <a:xfrm>
            <a:off x="2505456" y="3246120"/>
            <a:ext cx="1600200" cy="640080"/>
          </a:xfrm>
          <a:prstGeom prst="rect">
            <a:avLst/>
          </a:prstGeom>
          <a:solidFill>
            <a:srgbClr val="E50914"/>
          </a:solidFill>
          <a:ln w="12700">
            <a:solidFill>
              <a:srgbClr val="E50914"/>
            </a:solidFill>
            <a:prstDash val="solid"/>
          </a:ln>
        </p:spPr>
      </p:sp>
      <p:sp>
        <p:nvSpPr>
          <p:cNvPr id="13" name="Text 11"/>
          <p:cNvSpPr/>
          <p:nvPr/>
        </p:nvSpPr>
        <p:spPr>
          <a:xfrm>
            <a:off x="2505456" y="3246120"/>
            <a:ext cx="1600200" cy="6400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Netflix</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맥락 &amp; 자율</a:t>
            </a:r>
            <a:endParaRPr lang="en-US" sz="900" dirty="0"/>
          </a:p>
        </p:txBody>
      </p:sp>
      <p:sp>
        <p:nvSpPr>
          <p:cNvPr id="14" name="Text 12"/>
          <p:cNvSpPr/>
          <p:nvPr/>
        </p:nvSpPr>
        <p:spPr>
          <a:xfrm>
            <a:off x="548640" y="4023360"/>
            <a:ext cx="3566160" cy="365760"/>
          </a:xfrm>
          <a:prstGeom prst="rect">
            <a:avLst/>
          </a:prstGeom>
          <a:noFill/>
          <a:ln/>
        </p:spPr>
        <p:txBody>
          <a:bodyPr wrap="square" lIns="0" tIns="0" rIns="0" bIns="0" rtlCol="0" anchor="ctr"/>
          <a:lstStyle/>
          <a:p>
            <a:pPr marL="0" indent="0" algn="ctr">
              <a:buNone/>
            </a:pPr>
            <a:r>
              <a:rPr lang="en-US" sz="1000" i="1" dirty="0">
                <a:solidFill>
                  <a:srgbClr val="2A2A2A"/>
                </a:solidFill>
                <a:latin typeface="Calibri" pitchFamily="34" charset="0"/>
                <a:ea typeface="Calibri" pitchFamily="34" charset="-122"/>
                <a:cs typeface="Calibri" pitchFamily="34" charset="-120"/>
              </a:rPr>
              <a:t>→ 빠른 의사결정 + 높은 자율성</a:t>
            </a:r>
            <a:endParaRPr lang="en-US" sz="1000" dirty="0"/>
          </a:p>
        </p:txBody>
      </p:sp>
      <p:sp>
        <p:nvSpPr>
          <p:cNvPr id="15" name="Shape 13"/>
          <p:cNvSpPr/>
          <p:nvPr/>
        </p:nvSpPr>
        <p:spPr>
          <a:xfrm>
            <a:off x="4846320" y="1280160"/>
            <a:ext cx="3931920" cy="3520440"/>
          </a:xfrm>
          <a:prstGeom prst="rect">
            <a:avLst/>
          </a:prstGeom>
          <a:solidFill>
            <a:srgbClr val="141414"/>
          </a:solidFill>
          <a:ln w="12700">
            <a:solidFill>
              <a:srgbClr val="141414"/>
            </a:solidFill>
            <a:prstDash val="solid"/>
          </a:ln>
        </p:spPr>
      </p:sp>
      <p:sp>
        <p:nvSpPr>
          <p:cNvPr id="16" name="Shape 14"/>
          <p:cNvSpPr/>
          <p:nvPr/>
        </p:nvSpPr>
        <p:spPr>
          <a:xfrm>
            <a:off x="4846320" y="1280160"/>
            <a:ext cx="3931920" cy="457200"/>
          </a:xfrm>
          <a:prstGeom prst="rect">
            <a:avLst/>
          </a:prstGeom>
          <a:solidFill>
            <a:srgbClr val="E50914"/>
          </a:solidFill>
          <a:ln w="12700">
            <a:solidFill>
              <a:srgbClr val="E50914"/>
            </a:solidFill>
            <a:prstDash val="solid"/>
          </a:ln>
        </p:spPr>
      </p:sp>
      <p:sp>
        <p:nvSpPr>
          <p:cNvPr id="17" name="Text 15"/>
          <p:cNvSpPr/>
          <p:nvPr/>
        </p:nvSpPr>
        <p:spPr>
          <a:xfrm>
            <a:off x="4846320" y="1280160"/>
            <a:ext cx="39319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⑤ No Rules Policy</a:t>
            </a:r>
            <a:endParaRPr lang="en-US" sz="1300" dirty="0"/>
          </a:p>
        </p:txBody>
      </p:sp>
      <p:sp>
        <p:nvSpPr>
          <p:cNvPr id="18" name="Shape 16"/>
          <p:cNvSpPr/>
          <p:nvPr/>
        </p:nvSpPr>
        <p:spPr>
          <a:xfrm>
            <a:off x="5029200" y="1874520"/>
            <a:ext cx="54864" cy="292608"/>
          </a:xfrm>
          <a:prstGeom prst="rect">
            <a:avLst/>
          </a:prstGeom>
          <a:solidFill>
            <a:srgbClr val="E50914"/>
          </a:solidFill>
          <a:ln w="12700">
            <a:solidFill>
              <a:srgbClr val="E50914"/>
            </a:solidFill>
            <a:prstDash val="solid"/>
          </a:ln>
        </p:spPr>
      </p:sp>
      <p:sp>
        <p:nvSpPr>
          <p:cNvPr id="19" name="Text 17"/>
          <p:cNvSpPr/>
          <p:nvPr/>
        </p:nvSpPr>
        <p:spPr>
          <a:xfrm>
            <a:off x="5212080" y="1874520"/>
            <a:ext cx="1828800"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휴가 정책</a:t>
            </a:r>
            <a:endParaRPr lang="en-US" sz="1100" dirty="0"/>
          </a:p>
        </p:txBody>
      </p:sp>
      <p:sp>
        <p:nvSpPr>
          <p:cNvPr id="20" name="Text 18"/>
          <p:cNvSpPr/>
          <p:nvPr/>
        </p:nvSpPr>
        <p:spPr>
          <a:xfrm>
            <a:off x="7086600" y="1874520"/>
            <a:ext cx="1463040" cy="292608"/>
          </a:xfrm>
          <a:prstGeom prst="rect">
            <a:avLst/>
          </a:prstGeom>
          <a:noFill/>
          <a:ln/>
        </p:spPr>
        <p:txBody>
          <a:bodyPr wrap="square" lIns="0" tIns="0" rIns="0" bIns="0" rtlCol="0" anchor="ctr"/>
          <a:lstStyle/>
          <a:p>
            <a:pPr marL="0" indent="0" algn="l">
              <a:buNone/>
            </a:pPr>
            <a:r>
              <a:rPr lang="en-US" sz="1100" dirty="0">
                <a:solidFill>
                  <a:srgbClr val="AAAAAA"/>
                </a:solidFill>
                <a:latin typeface="Calibri" pitchFamily="34" charset="0"/>
                <a:ea typeface="Calibri" pitchFamily="34" charset="-122"/>
                <a:cs typeface="Calibri" pitchFamily="34" charset="-120"/>
              </a:rPr>
              <a:t>없음 — 자유 재량</a:t>
            </a:r>
            <a:endParaRPr lang="en-US" sz="1100" dirty="0"/>
          </a:p>
        </p:txBody>
      </p:sp>
      <p:sp>
        <p:nvSpPr>
          <p:cNvPr id="21" name="Shape 19"/>
          <p:cNvSpPr/>
          <p:nvPr/>
        </p:nvSpPr>
        <p:spPr>
          <a:xfrm>
            <a:off x="5029200" y="2185416"/>
            <a:ext cx="3520440" cy="0"/>
          </a:xfrm>
          <a:prstGeom prst="line">
            <a:avLst/>
          </a:prstGeom>
          <a:noFill/>
          <a:ln w="6350">
            <a:solidFill>
              <a:srgbClr val="333333"/>
            </a:solidFill>
            <a:prstDash val="solid"/>
          </a:ln>
        </p:spPr>
      </p:sp>
      <p:sp>
        <p:nvSpPr>
          <p:cNvPr id="22" name="Shape 20"/>
          <p:cNvSpPr/>
          <p:nvPr/>
        </p:nvSpPr>
        <p:spPr>
          <a:xfrm>
            <a:off x="5029200" y="2331720"/>
            <a:ext cx="54864" cy="292608"/>
          </a:xfrm>
          <a:prstGeom prst="rect">
            <a:avLst/>
          </a:prstGeom>
          <a:solidFill>
            <a:srgbClr val="E50914"/>
          </a:solidFill>
          <a:ln w="12700">
            <a:solidFill>
              <a:srgbClr val="E50914"/>
            </a:solidFill>
            <a:prstDash val="solid"/>
          </a:ln>
        </p:spPr>
      </p:sp>
      <p:sp>
        <p:nvSpPr>
          <p:cNvPr id="23" name="Text 21"/>
          <p:cNvSpPr/>
          <p:nvPr/>
        </p:nvSpPr>
        <p:spPr>
          <a:xfrm>
            <a:off x="5212080" y="2331720"/>
            <a:ext cx="1828800"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출장 비용 정책</a:t>
            </a:r>
            <a:endParaRPr lang="en-US" sz="1100" dirty="0"/>
          </a:p>
        </p:txBody>
      </p:sp>
      <p:sp>
        <p:nvSpPr>
          <p:cNvPr id="24" name="Text 22"/>
          <p:cNvSpPr/>
          <p:nvPr/>
        </p:nvSpPr>
        <p:spPr>
          <a:xfrm>
            <a:off x="7086600" y="2331720"/>
            <a:ext cx="1463040" cy="292608"/>
          </a:xfrm>
          <a:prstGeom prst="rect">
            <a:avLst/>
          </a:prstGeom>
          <a:noFill/>
          <a:ln/>
        </p:spPr>
        <p:txBody>
          <a:bodyPr wrap="square" lIns="0" tIns="0" rIns="0" bIns="0" rtlCol="0" anchor="ctr"/>
          <a:lstStyle/>
          <a:p>
            <a:pPr marL="0" indent="0" algn="l">
              <a:buNone/>
            </a:pPr>
            <a:r>
              <a:rPr lang="en-US" sz="1100" dirty="0">
                <a:solidFill>
                  <a:srgbClr val="AAAAAA"/>
                </a:solidFill>
                <a:latin typeface="Calibri" pitchFamily="34" charset="0"/>
                <a:ea typeface="Calibri" pitchFamily="34" charset="-122"/>
                <a:cs typeface="Calibri" pitchFamily="34" charset="-120"/>
              </a:rPr>
              <a:t>없음 — 자유 사용</a:t>
            </a:r>
            <a:endParaRPr lang="en-US" sz="1100" dirty="0"/>
          </a:p>
        </p:txBody>
      </p:sp>
      <p:sp>
        <p:nvSpPr>
          <p:cNvPr id="25" name="Shape 23"/>
          <p:cNvSpPr/>
          <p:nvPr/>
        </p:nvSpPr>
        <p:spPr>
          <a:xfrm>
            <a:off x="5029200" y="2642616"/>
            <a:ext cx="3520440" cy="0"/>
          </a:xfrm>
          <a:prstGeom prst="line">
            <a:avLst/>
          </a:prstGeom>
          <a:noFill/>
          <a:ln w="6350">
            <a:solidFill>
              <a:srgbClr val="333333"/>
            </a:solidFill>
            <a:prstDash val="solid"/>
          </a:ln>
        </p:spPr>
      </p:sp>
      <p:sp>
        <p:nvSpPr>
          <p:cNvPr id="26" name="Shape 24"/>
          <p:cNvSpPr/>
          <p:nvPr/>
        </p:nvSpPr>
        <p:spPr>
          <a:xfrm>
            <a:off x="5029200" y="2788920"/>
            <a:ext cx="54864" cy="292608"/>
          </a:xfrm>
          <a:prstGeom prst="rect">
            <a:avLst/>
          </a:prstGeom>
          <a:solidFill>
            <a:srgbClr val="E50914"/>
          </a:solidFill>
          <a:ln w="12700">
            <a:solidFill>
              <a:srgbClr val="E50914"/>
            </a:solidFill>
            <a:prstDash val="solid"/>
          </a:ln>
        </p:spPr>
      </p:sp>
      <p:sp>
        <p:nvSpPr>
          <p:cNvPr id="27" name="Text 25"/>
          <p:cNvSpPr/>
          <p:nvPr/>
        </p:nvSpPr>
        <p:spPr>
          <a:xfrm>
            <a:off x="5212080" y="2788920"/>
            <a:ext cx="1828800"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복장 규정</a:t>
            </a:r>
            <a:endParaRPr lang="en-US" sz="1100" dirty="0"/>
          </a:p>
        </p:txBody>
      </p:sp>
      <p:sp>
        <p:nvSpPr>
          <p:cNvPr id="28" name="Text 26"/>
          <p:cNvSpPr/>
          <p:nvPr/>
        </p:nvSpPr>
        <p:spPr>
          <a:xfrm>
            <a:off x="7086600" y="2788920"/>
            <a:ext cx="1463040" cy="292608"/>
          </a:xfrm>
          <a:prstGeom prst="rect">
            <a:avLst/>
          </a:prstGeom>
          <a:noFill/>
          <a:ln/>
        </p:spPr>
        <p:txBody>
          <a:bodyPr wrap="square" lIns="0" tIns="0" rIns="0" bIns="0" rtlCol="0" anchor="ctr"/>
          <a:lstStyle/>
          <a:p>
            <a:pPr marL="0" indent="0" algn="l">
              <a:buNone/>
            </a:pPr>
            <a:r>
              <a:rPr lang="en-US" sz="1100" dirty="0">
                <a:solidFill>
                  <a:srgbClr val="AAAAAA"/>
                </a:solidFill>
                <a:latin typeface="Calibri" pitchFamily="34" charset="0"/>
                <a:ea typeface="Calibri" pitchFamily="34" charset="-122"/>
                <a:cs typeface="Calibri" pitchFamily="34" charset="-120"/>
              </a:rPr>
              <a:t>없음 — 개인 판단</a:t>
            </a:r>
            <a:endParaRPr lang="en-US" sz="1100" dirty="0"/>
          </a:p>
        </p:txBody>
      </p:sp>
      <p:sp>
        <p:nvSpPr>
          <p:cNvPr id="29" name="Shape 27"/>
          <p:cNvSpPr/>
          <p:nvPr/>
        </p:nvSpPr>
        <p:spPr>
          <a:xfrm>
            <a:off x="5029200" y="3099816"/>
            <a:ext cx="3520440" cy="0"/>
          </a:xfrm>
          <a:prstGeom prst="line">
            <a:avLst/>
          </a:prstGeom>
          <a:noFill/>
          <a:ln w="6350">
            <a:solidFill>
              <a:srgbClr val="333333"/>
            </a:solidFill>
            <a:prstDash val="solid"/>
          </a:ln>
        </p:spPr>
      </p:sp>
      <p:sp>
        <p:nvSpPr>
          <p:cNvPr id="30" name="Shape 28"/>
          <p:cNvSpPr/>
          <p:nvPr/>
        </p:nvSpPr>
        <p:spPr>
          <a:xfrm>
            <a:off x="5029200" y="3246120"/>
            <a:ext cx="54864" cy="292608"/>
          </a:xfrm>
          <a:prstGeom prst="rect">
            <a:avLst/>
          </a:prstGeom>
          <a:solidFill>
            <a:srgbClr val="E50914"/>
          </a:solidFill>
          <a:ln w="12700">
            <a:solidFill>
              <a:srgbClr val="E50914"/>
            </a:solidFill>
            <a:prstDash val="solid"/>
          </a:ln>
        </p:spPr>
      </p:sp>
      <p:sp>
        <p:nvSpPr>
          <p:cNvPr id="31" name="Text 29"/>
          <p:cNvSpPr/>
          <p:nvPr/>
        </p:nvSpPr>
        <p:spPr>
          <a:xfrm>
            <a:off x="5212080" y="3246120"/>
            <a:ext cx="1828800"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결재 라인</a:t>
            </a:r>
            <a:endParaRPr lang="en-US" sz="1100" dirty="0"/>
          </a:p>
        </p:txBody>
      </p:sp>
      <p:sp>
        <p:nvSpPr>
          <p:cNvPr id="32" name="Text 30"/>
          <p:cNvSpPr/>
          <p:nvPr/>
        </p:nvSpPr>
        <p:spPr>
          <a:xfrm>
            <a:off x="7086600" y="3246120"/>
            <a:ext cx="1463040" cy="292608"/>
          </a:xfrm>
          <a:prstGeom prst="rect">
            <a:avLst/>
          </a:prstGeom>
          <a:noFill/>
          <a:ln/>
        </p:spPr>
        <p:txBody>
          <a:bodyPr wrap="square" lIns="0" tIns="0" rIns="0" bIns="0" rtlCol="0" anchor="ctr"/>
          <a:lstStyle/>
          <a:p>
            <a:pPr marL="0" indent="0" algn="l">
              <a:buNone/>
            </a:pPr>
            <a:r>
              <a:rPr lang="en-US" sz="1100" dirty="0">
                <a:solidFill>
                  <a:srgbClr val="AAAAAA"/>
                </a:solidFill>
                <a:latin typeface="Calibri" pitchFamily="34" charset="0"/>
                <a:ea typeface="Calibri" pitchFamily="34" charset="-122"/>
                <a:cs typeface="Calibri" pitchFamily="34" charset="-120"/>
              </a:rPr>
              <a:t>최소화</a:t>
            </a:r>
            <a:endParaRPr lang="en-US" sz="1100" dirty="0"/>
          </a:p>
        </p:txBody>
      </p:sp>
      <p:sp>
        <p:nvSpPr>
          <p:cNvPr id="33" name="Shape 31"/>
          <p:cNvSpPr/>
          <p:nvPr/>
        </p:nvSpPr>
        <p:spPr>
          <a:xfrm>
            <a:off x="5029200" y="3557016"/>
            <a:ext cx="3520440" cy="0"/>
          </a:xfrm>
          <a:prstGeom prst="line">
            <a:avLst/>
          </a:prstGeom>
          <a:noFill/>
          <a:ln w="6350">
            <a:solidFill>
              <a:srgbClr val="333333"/>
            </a:solidFill>
            <a:prstDash val="solid"/>
          </a:ln>
        </p:spPr>
      </p:sp>
      <p:sp>
        <p:nvSpPr>
          <p:cNvPr id="34" name="Shape 32"/>
          <p:cNvSpPr/>
          <p:nvPr/>
        </p:nvSpPr>
        <p:spPr>
          <a:xfrm>
            <a:off x="4846320" y="3749040"/>
            <a:ext cx="3931920" cy="594360"/>
          </a:xfrm>
          <a:prstGeom prst="rect">
            <a:avLst/>
          </a:prstGeom>
          <a:solidFill>
            <a:srgbClr val="E50914"/>
          </a:solidFill>
          <a:ln w="12700">
            <a:solidFill>
              <a:srgbClr val="E50914"/>
            </a:solidFill>
            <a:prstDash val="solid"/>
          </a:ln>
        </p:spPr>
      </p:sp>
      <p:sp>
        <p:nvSpPr>
          <p:cNvPr id="35" name="Text 33"/>
          <p:cNvSpPr/>
          <p:nvPr/>
        </p:nvSpPr>
        <p:spPr>
          <a:xfrm>
            <a:off x="4846320" y="3749040"/>
            <a:ext cx="3931920" cy="594360"/>
          </a:xfrm>
          <a:prstGeom prst="rect">
            <a:avLst/>
          </a:prstGeom>
          <a:noFill/>
          <a:ln/>
        </p:spPr>
        <p:txBody>
          <a:bodyPr wrap="square" lIns="101600" tIns="101600" rIns="101600" bIns="1016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단 하나의 원칙: "Act in Netflix's Best </a:t>
            </a:r>
            <a:r>
              <a:rPr lang="en-US" sz="1100" b="1" dirty="0" smtClean="0">
                <a:solidFill>
                  <a:srgbClr val="FFFFFF"/>
                </a:solidFill>
                <a:latin typeface="Calibri" pitchFamily="34" charset="0"/>
                <a:ea typeface="Calibri" pitchFamily="34" charset="-122"/>
                <a:cs typeface="Calibri" pitchFamily="34" charset="-120"/>
              </a:rPr>
              <a:t>Interest“</a:t>
            </a:r>
          </a:p>
          <a:p>
            <a:pPr algn="ctr"/>
            <a:r>
              <a:rPr lang="en-US" altLang="ko-KR" sz="1100" dirty="0" smtClean="0"/>
              <a:t>“</a:t>
            </a:r>
            <a:r>
              <a:rPr lang="ko-KR" altLang="en-US" sz="1100" dirty="0" err="1" smtClean="0"/>
              <a:t>넷플릭스의</a:t>
            </a:r>
            <a:r>
              <a:rPr lang="ko-KR" altLang="en-US" sz="1100" dirty="0" smtClean="0"/>
              <a:t> </a:t>
            </a:r>
            <a:r>
              <a:rPr lang="ko-KR" altLang="en-US" sz="1100" dirty="0"/>
              <a:t>이익을 최우선으로 </a:t>
            </a:r>
            <a:r>
              <a:rPr lang="ko-KR" altLang="en-US" sz="1100" dirty="0" smtClean="0"/>
              <a:t>행동하라</a:t>
            </a:r>
            <a:r>
              <a:rPr lang="en-US" altLang="ko-KR" sz="1100" dirty="0" smtClean="0"/>
              <a:t>”</a:t>
            </a:r>
            <a:endParaRPr lang="en-US" sz="1100" dirty="0"/>
          </a:p>
        </p:txBody>
      </p:sp>
      <p:sp>
        <p:nvSpPr>
          <p:cNvPr id="36" name="Text 34"/>
          <p:cNvSpPr/>
          <p:nvPr/>
        </p:nvSpPr>
        <p:spPr>
          <a:xfrm>
            <a:off x="8503920" y="4846320"/>
            <a:ext cx="548640" cy="182880"/>
          </a:xfrm>
          <a:prstGeom prst="rect">
            <a:avLst/>
          </a:prstGeom>
          <a:noFill/>
          <a:ln/>
        </p:spPr>
        <p:txBody>
          <a:bodyPr wrap="square" lIns="0" tIns="0" rIns="0" bIns="0" rtlCol="0" anchor="ctr"/>
          <a:lstStyle/>
          <a:p>
            <a:pPr marL="0" indent="0" algn="r">
              <a:buNone/>
            </a:pPr>
            <a:r>
              <a:rPr lang="en-US" sz="800" dirty="0">
                <a:solidFill>
                  <a:srgbClr val="888888"/>
                </a:solidFill>
                <a:latin typeface="Calibri" pitchFamily="34" charset="0"/>
                <a:ea typeface="Calibri" pitchFamily="34" charset="-122"/>
                <a:cs typeface="Calibri" pitchFamily="34" charset="-120"/>
              </a:rPr>
              <a:t>5 / 9</a:t>
            </a:r>
            <a:endParaRPr lang="en-US" sz="800" dirty="0"/>
          </a:p>
        </p:txBody>
      </p:sp>
      <p:sp>
        <p:nvSpPr>
          <p:cNvPr id="38" name="Text 2"/>
          <p:cNvSpPr/>
          <p:nvPr/>
        </p:nvSpPr>
        <p:spPr>
          <a:xfrm>
            <a:off x="365760" y="758952"/>
            <a:ext cx="8229600" cy="365760"/>
          </a:xfrm>
          <a:prstGeom prst="rect">
            <a:avLst/>
          </a:prstGeom>
          <a:noFill/>
          <a:ln/>
        </p:spPr>
        <p:txBody>
          <a:bodyPr wrap="square" lIns="0" tIns="0" rIns="0" bIns="0" rtlCol="0" anchor="ctr"/>
          <a:lstStyle/>
          <a:p>
            <a:r>
              <a:rPr lang="en-US" sz="2200" b="1" dirty="0">
                <a:solidFill>
                  <a:srgbClr val="141414"/>
                </a:solidFill>
                <a:latin typeface="Arial Black" pitchFamily="34" charset="0"/>
                <a:ea typeface="Arial Black" pitchFamily="34" charset="-122"/>
                <a:cs typeface="Arial Black" pitchFamily="34" charset="-120"/>
              </a:rPr>
              <a:t>주요 HR </a:t>
            </a:r>
            <a:r>
              <a:rPr lang="en-US" sz="2200" b="1" dirty="0" err="1">
                <a:solidFill>
                  <a:srgbClr val="141414"/>
                </a:solidFill>
                <a:latin typeface="Arial Black" pitchFamily="34" charset="0"/>
                <a:ea typeface="Arial Black" pitchFamily="34" charset="-122"/>
                <a:cs typeface="Arial Black" pitchFamily="34" charset="-120"/>
              </a:rPr>
              <a:t>제도</a:t>
            </a:r>
            <a:r>
              <a:rPr lang="en-US" sz="2200" b="1" dirty="0">
                <a:solidFill>
                  <a:srgbClr val="141414"/>
                </a:solidFill>
                <a:latin typeface="Arial Black" pitchFamily="34" charset="0"/>
                <a:ea typeface="Arial Black" pitchFamily="34" charset="-122"/>
                <a:cs typeface="Arial Black" pitchFamily="34" charset="-120"/>
              </a:rPr>
              <a:t> </a:t>
            </a:r>
            <a:r>
              <a:rPr lang="en-US" sz="2200" b="1" dirty="0" smtClean="0">
                <a:solidFill>
                  <a:schemeClr val="bg1">
                    <a:lumMod val="85000"/>
                  </a:schemeClr>
                </a:solidFill>
                <a:latin typeface="Arial Black" pitchFamily="34" charset="0"/>
                <a:ea typeface="Arial Black" pitchFamily="34" charset="-122"/>
                <a:cs typeface="Arial Black" pitchFamily="34" charset="-120"/>
              </a:rPr>
              <a:t>①②③</a:t>
            </a:r>
            <a:r>
              <a:rPr lang="en-US" altLang="ko-KR" sz="2200" b="1" dirty="0" smtClean="0">
                <a:latin typeface="Arial Black" pitchFamily="34" charset="0"/>
                <a:ea typeface="Arial Black" pitchFamily="34" charset="-122"/>
                <a:cs typeface="Arial Black" pitchFamily="34" charset="-120"/>
              </a:rPr>
              <a:t>④⑤</a:t>
            </a:r>
            <a:endParaRPr lang="en-US" altLang="ko-KR" sz="2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채용부터 유지까지 — 모든 HR 기능이 단 하나의 목표 '고성과 </a:t>
            </a:r>
            <a:r>
              <a:rPr lang="en-US" sz="1300" b="1" dirty="0" err="1">
                <a:solidFill>
                  <a:srgbClr val="FFFFFF"/>
                </a:solidFill>
                <a:latin typeface="Calibri" pitchFamily="34" charset="0"/>
                <a:ea typeface="Calibri" pitchFamily="34" charset="-122"/>
                <a:cs typeface="Calibri" pitchFamily="34" charset="-120"/>
              </a:rPr>
              <a:t>문화'로</a:t>
            </a:r>
            <a:r>
              <a:rPr lang="en-US" sz="1300" b="1" dirty="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정렬</a:t>
            </a:r>
            <a:r>
              <a:rPr lang="ko-KR" altLang="en-US" sz="1300" b="1" dirty="0" smtClean="0">
                <a:solidFill>
                  <a:srgbClr val="FFFFFF"/>
                </a:solidFill>
                <a:latin typeface="Calibri" pitchFamily="34" charset="0"/>
                <a:ea typeface="Calibri" pitchFamily="34" charset="-122"/>
                <a:cs typeface="Calibri" pitchFamily="34" charset="-120"/>
              </a:rPr>
              <a:t>됨</a:t>
            </a:r>
            <a:endParaRPr lang="en-US" sz="1300" dirty="0"/>
          </a:p>
        </p:txBody>
      </p:sp>
      <p:sp>
        <p:nvSpPr>
          <p:cNvPr id="4" name="Text 2"/>
          <p:cNvSpPr/>
          <p:nvPr/>
        </p:nvSpPr>
        <p:spPr>
          <a:xfrm>
            <a:off x="365760" y="758952"/>
            <a:ext cx="8229600" cy="365760"/>
          </a:xfrm>
          <a:prstGeom prst="rect">
            <a:avLst/>
          </a:prstGeom>
          <a:noFill/>
          <a:ln/>
        </p:spPr>
        <p:txBody>
          <a:bodyPr wrap="square" lIns="0" tIns="0" rIns="0" bIns="0" rtlCol="0" anchor="ctr"/>
          <a:lstStyle/>
          <a:p>
            <a:pPr marL="0" indent="0" algn="l">
              <a:buNone/>
            </a:pPr>
            <a:r>
              <a:rPr lang="en-US" sz="2200" b="1" dirty="0">
                <a:solidFill>
                  <a:srgbClr val="141414"/>
                </a:solidFill>
                <a:latin typeface="Arial Black" pitchFamily="34" charset="0"/>
                <a:ea typeface="Arial Black" pitchFamily="34" charset="-122"/>
                <a:cs typeface="Arial Black" pitchFamily="34" charset="-120"/>
              </a:rPr>
              <a:t>HRM 관점 </a:t>
            </a:r>
            <a:r>
              <a:rPr lang="en-US" sz="2200" b="1" dirty="0" err="1">
                <a:solidFill>
                  <a:srgbClr val="141414"/>
                </a:solidFill>
                <a:latin typeface="Arial Black" pitchFamily="34" charset="0"/>
                <a:ea typeface="Arial Black" pitchFamily="34" charset="-122"/>
                <a:cs typeface="Arial Black" pitchFamily="34" charset="-120"/>
              </a:rPr>
              <a:t>핵심</a:t>
            </a:r>
            <a:r>
              <a:rPr lang="en-US" sz="2200" b="1" dirty="0">
                <a:solidFill>
                  <a:srgbClr val="141414"/>
                </a:solidFill>
                <a:latin typeface="Arial Black" pitchFamily="34" charset="0"/>
                <a:ea typeface="Arial Black" pitchFamily="34" charset="-122"/>
                <a:cs typeface="Arial Black" pitchFamily="34" charset="-120"/>
              </a:rPr>
              <a:t> </a:t>
            </a:r>
            <a:r>
              <a:rPr lang="en-US" sz="2200" b="1" dirty="0" err="1" smtClean="0">
                <a:solidFill>
                  <a:srgbClr val="141414"/>
                </a:solidFill>
                <a:latin typeface="Arial Black" pitchFamily="34" charset="0"/>
                <a:ea typeface="Arial Black" pitchFamily="34" charset="-122"/>
                <a:cs typeface="Arial Black" pitchFamily="34" charset="-120"/>
              </a:rPr>
              <a:t>분석</a:t>
            </a:r>
            <a:r>
              <a:rPr lang="en-US" sz="2200" b="1" dirty="0" smtClean="0">
                <a:solidFill>
                  <a:srgbClr val="141414"/>
                </a:solidFill>
                <a:latin typeface="Arial Black" pitchFamily="34" charset="0"/>
                <a:ea typeface="Arial Black" pitchFamily="34" charset="-122"/>
                <a:cs typeface="Arial Black" pitchFamily="34" charset="-120"/>
              </a:rPr>
              <a:t> : </a:t>
            </a:r>
            <a:r>
              <a:rPr lang="en-US" sz="2200" b="1" dirty="0">
                <a:solidFill>
                  <a:srgbClr val="141414"/>
                </a:solidFill>
                <a:latin typeface="Arial Black" pitchFamily="34" charset="0"/>
                <a:ea typeface="Arial Black" pitchFamily="34" charset="-122"/>
                <a:cs typeface="Arial Black" pitchFamily="34" charset="-120"/>
              </a:rPr>
              <a:t>Strategic Alignment</a:t>
            </a:r>
            <a:endParaRPr lang="en-US" sz="2200" dirty="0"/>
          </a:p>
        </p:txBody>
      </p:sp>
      <p:sp>
        <p:nvSpPr>
          <p:cNvPr id="5" name="Shape 3"/>
          <p:cNvSpPr/>
          <p:nvPr/>
        </p:nvSpPr>
        <p:spPr>
          <a:xfrm>
            <a:off x="365760" y="1298448"/>
            <a:ext cx="2240280" cy="411480"/>
          </a:xfrm>
          <a:prstGeom prst="rect">
            <a:avLst/>
          </a:prstGeom>
          <a:solidFill>
            <a:srgbClr val="141414"/>
          </a:solidFill>
          <a:ln w="12700">
            <a:solidFill>
              <a:srgbClr val="141414"/>
            </a:solidFill>
            <a:prstDash val="solid"/>
          </a:ln>
        </p:spPr>
      </p:sp>
      <p:sp>
        <p:nvSpPr>
          <p:cNvPr id="6" name="Text 4"/>
          <p:cNvSpPr/>
          <p:nvPr/>
        </p:nvSpPr>
        <p:spPr>
          <a:xfrm>
            <a:off x="365760" y="1298448"/>
            <a:ext cx="22402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HR 영역</a:t>
            </a:r>
            <a:endParaRPr lang="en-US" sz="1200" dirty="0"/>
          </a:p>
        </p:txBody>
      </p:sp>
      <p:sp>
        <p:nvSpPr>
          <p:cNvPr id="7" name="Shape 5"/>
          <p:cNvSpPr/>
          <p:nvPr/>
        </p:nvSpPr>
        <p:spPr>
          <a:xfrm>
            <a:off x="2697480" y="1298448"/>
            <a:ext cx="2971800" cy="411480"/>
          </a:xfrm>
          <a:prstGeom prst="rect">
            <a:avLst/>
          </a:prstGeom>
          <a:solidFill>
            <a:srgbClr val="141414"/>
          </a:solidFill>
          <a:ln w="12700">
            <a:solidFill>
              <a:srgbClr val="141414"/>
            </a:solidFill>
            <a:prstDash val="solid"/>
          </a:ln>
        </p:spPr>
      </p:sp>
      <p:sp>
        <p:nvSpPr>
          <p:cNvPr id="8" name="Text 6"/>
          <p:cNvSpPr/>
          <p:nvPr/>
        </p:nvSpPr>
        <p:spPr>
          <a:xfrm>
            <a:off x="2697480" y="1298448"/>
            <a:ext cx="2971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Netflix 방식</a:t>
            </a:r>
            <a:endParaRPr lang="en-US" sz="1200" dirty="0"/>
          </a:p>
        </p:txBody>
      </p:sp>
      <p:sp>
        <p:nvSpPr>
          <p:cNvPr id="9" name="Shape 7"/>
          <p:cNvSpPr/>
          <p:nvPr/>
        </p:nvSpPr>
        <p:spPr>
          <a:xfrm>
            <a:off x="5760720" y="1298448"/>
            <a:ext cx="2971800" cy="411480"/>
          </a:xfrm>
          <a:prstGeom prst="rect">
            <a:avLst/>
          </a:prstGeom>
          <a:solidFill>
            <a:srgbClr val="141414"/>
          </a:solidFill>
          <a:ln w="12700">
            <a:solidFill>
              <a:srgbClr val="141414"/>
            </a:solidFill>
            <a:prstDash val="solid"/>
          </a:ln>
        </p:spPr>
      </p:sp>
      <p:sp>
        <p:nvSpPr>
          <p:cNvPr id="10" name="Text 8"/>
          <p:cNvSpPr/>
          <p:nvPr/>
        </p:nvSpPr>
        <p:spPr>
          <a:xfrm>
            <a:off x="5760720" y="1298448"/>
            <a:ext cx="2971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전략적 효과</a:t>
            </a:r>
            <a:endParaRPr lang="en-US" sz="1200" dirty="0"/>
          </a:p>
        </p:txBody>
      </p:sp>
      <p:sp>
        <p:nvSpPr>
          <p:cNvPr id="11" name="Shape 9"/>
          <p:cNvSpPr/>
          <p:nvPr/>
        </p:nvSpPr>
        <p:spPr>
          <a:xfrm>
            <a:off x="365760" y="1764792"/>
            <a:ext cx="2240280" cy="438912"/>
          </a:xfrm>
          <a:prstGeom prst="rect">
            <a:avLst/>
          </a:prstGeom>
          <a:solidFill>
            <a:srgbClr val="F5F5F5"/>
          </a:solidFill>
          <a:ln w="12700">
            <a:solidFill>
              <a:srgbClr val="DDDDDD"/>
            </a:solidFill>
            <a:prstDash val="solid"/>
          </a:ln>
        </p:spPr>
      </p:sp>
      <p:sp>
        <p:nvSpPr>
          <p:cNvPr id="12" name="Text 10"/>
          <p:cNvSpPr/>
          <p:nvPr/>
        </p:nvSpPr>
        <p:spPr>
          <a:xfrm>
            <a:off x="365760" y="1764792"/>
            <a:ext cx="2240280" cy="438912"/>
          </a:xfrm>
          <a:prstGeom prst="rect">
            <a:avLst/>
          </a:prstGeom>
          <a:noFill/>
          <a:ln/>
        </p:spPr>
        <p:txBody>
          <a:bodyPr wrap="square" lIns="0" tIns="0" rIns="0" bIns="0" rtlCol="0" anchor="ctr"/>
          <a:lstStyle/>
          <a:p>
            <a:pPr marL="0" indent="0" algn="ctr">
              <a:buNone/>
            </a:pPr>
            <a:r>
              <a:rPr lang="en-US" sz="1100" b="1" dirty="0">
                <a:solidFill>
                  <a:srgbClr val="141414"/>
                </a:solidFill>
                <a:latin typeface="Calibri" pitchFamily="34" charset="0"/>
                <a:ea typeface="Calibri" pitchFamily="34" charset="-122"/>
                <a:cs typeface="Calibri" pitchFamily="34" charset="-120"/>
              </a:rPr>
              <a:t>채용 (Staffing)</a:t>
            </a:r>
            <a:endParaRPr lang="en-US" sz="1100" dirty="0"/>
          </a:p>
        </p:txBody>
      </p:sp>
      <p:sp>
        <p:nvSpPr>
          <p:cNvPr id="13" name="Shape 11"/>
          <p:cNvSpPr/>
          <p:nvPr/>
        </p:nvSpPr>
        <p:spPr>
          <a:xfrm>
            <a:off x="2697480" y="1764792"/>
            <a:ext cx="2971800" cy="438912"/>
          </a:xfrm>
          <a:prstGeom prst="rect">
            <a:avLst/>
          </a:prstGeom>
          <a:solidFill>
            <a:srgbClr val="F5F5F5"/>
          </a:solidFill>
          <a:ln w="12700">
            <a:solidFill>
              <a:srgbClr val="DDDDDD"/>
            </a:solidFill>
            <a:prstDash val="solid"/>
          </a:ln>
        </p:spPr>
      </p:sp>
      <p:sp>
        <p:nvSpPr>
          <p:cNvPr id="14" name="Text 12"/>
          <p:cNvSpPr/>
          <p:nvPr/>
        </p:nvSpPr>
        <p:spPr>
          <a:xfrm>
            <a:off x="2697480" y="1764792"/>
            <a:ext cx="2971800" cy="438912"/>
          </a:xfrm>
          <a:prstGeom prst="rect">
            <a:avLst/>
          </a:prstGeom>
          <a:noFill/>
          <a:ln/>
        </p:spPr>
        <p:txBody>
          <a:bodyPr wrap="square" lIns="0" tIns="0" rIns="0" bIns="0" rtlCol="0" anchor="ctr"/>
          <a:lstStyle/>
          <a:p>
            <a:pPr marL="0" indent="0" algn="ctr">
              <a:buNone/>
            </a:pPr>
            <a:r>
              <a:rPr lang="en-US" sz="1100" dirty="0">
                <a:solidFill>
                  <a:srgbClr val="2A2A2A"/>
                </a:solidFill>
                <a:latin typeface="Calibri" pitchFamily="34" charset="0"/>
                <a:ea typeface="Calibri" pitchFamily="34" charset="-122"/>
                <a:cs typeface="Calibri" pitchFamily="34" charset="-120"/>
              </a:rPr>
              <a:t>Top Talent Only</a:t>
            </a:r>
            <a:endParaRPr lang="en-US" sz="1100" dirty="0"/>
          </a:p>
        </p:txBody>
      </p:sp>
      <p:sp>
        <p:nvSpPr>
          <p:cNvPr id="15" name="Shape 13"/>
          <p:cNvSpPr/>
          <p:nvPr/>
        </p:nvSpPr>
        <p:spPr>
          <a:xfrm>
            <a:off x="5760720" y="1764792"/>
            <a:ext cx="2971800" cy="438912"/>
          </a:xfrm>
          <a:prstGeom prst="rect">
            <a:avLst/>
          </a:prstGeom>
          <a:solidFill>
            <a:srgbClr val="F5F5F5"/>
          </a:solidFill>
          <a:ln w="12700">
            <a:solidFill>
              <a:srgbClr val="DDDDDD"/>
            </a:solidFill>
            <a:prstDash val="solid"/>
          </a:ln>
        </p:spPr>
      </p:sp>
      <p:sp>
        <p:nvSpPr>
          <p:cNvPr id="16" name="Text 14"/>
          <p:cNvSpPr/>
          <p:nvPr/>
        </p:nvSpPr>
        <p:spPr>
          <a:xfrm>
            <a:off x="5760720" y="1764792"/>
            <a:ext cx="2971800" cy="438912"/>
          </a:xfrm>
          <a:prstGeom prst="rect">
            <a:avLst/>
          </a:prstGeom>
          <a:noFill/>
          <a:ln/>
        </p:spPr>
        <p:txBody>
          <a:bodyPr wrap="square" lIns="0" tIns="0" rIns="0" bIns="0" rtlCol="0" anchor="ctr"/>
          <a:lstStyle/>
          <a:p>
            <a:pPr marL="0" indent="0" algn="ctr">
              <a:buNone/>
            </a:pPr>
            <a:r>
              <a:rPr lang="en-US" sz="1100" dirty="0">
                <a:solidFill>
                  <a:srgbClr val="E50914"/>
                </a:solidFill>
                <a:latin typeface="Calibri" pitchFamily="34" charset="0"/>
                <a:ea typeface="Calibri" pitchFamily="34" charset="-122"/>
                <a:cs typeface="Calibri" pitchFamily="34" charset="-120"/>
              </a:rPr>
              <a:t>경쟁력 극대화</a:t>
            </a:r>
            <a:endParaRPr lang="en-US" sz="1100" dirty="0"/>
          </a:p>
        </p:txBody>
      </p:sp>
      <p:sp>
        <p:nvSpPr>
          <p:cNvPr id="17" name="Shape 15"/>
          <p:cNvSpPr/>
          <p:nvPr/>
        </p:nvSpPr>
        <p:spPr>
          <a:xfrm>
            <a:off x="365760" y="2240280"/>
            <a:ext cx="2240280" cy="438912"/>
          </a:xfrm>
          <a:prstGeom prst="rect">
            <a:avLst/>
          </a:prstGeom>
          <a:solidFill>
            <a:srgbClr val="FFFFFF"/>
          </a:solidFill>
          <a:ln w="12700">
            <a:solidFill>
              <a:srgbClr val="DDDDDD"/>
            </a:solidFill>
            <a:prstDash val="solid"/>
          </a:ln>
        </p:spPr>
      </p:sp>
      <p:sp>
        <p:nvSpPr>
          <p:cNvPr id="18" name="Text 16"/>
          <p:cNvSpPr/>
          <p:nvPr/>
        </p:nvSpPr>
        <p:spPr>
          <a:xfrm>
            <a:off x="365760" y="2240280"/>
            <a:ext cx="2240280" cy="438912"/>
          </a:xfrm>
          <a:prstGeom prst="rect">
            <a:avLst/>
          </a:prstGeom>
          <a:noFill/>
          <a:ln/>
        </p:spPr>
        <p:txBody>
          <a:bodyPr wrap="square" lIns="0" tIns="0" rIns="0" bIns="0" rtlCol="0" anchor="ctr"/>
          <a:lstStyle/>
          <a:p>
            <a:pPr marL="0" indent="0" algn="ctr">
              <a:buNone/>
            </a:pPr>
            <a:r>
              <a:rPr lang="en-US" sz="1100" b="1" dirty="0">
                <a:solidFill>
                  <a:srgbClr val="141414"/>
                </a:solidFill>
                <a:latin typeface="Calibri" pitchFamily="34" charset="0"/>
                <a:ea typeface="Calibri" pitchFamily="34" charset="-122"/>
                <a:cs typeface="Calibri" pitchFamily="34" charset="-120"/>
              </a:rPr>
              <a:t>평가 (Evaluation)</a:t>
            </a:r>
            <a:endParaRPr lang="en-US" sz="1100" dirty="0"/>
          </a:p>
        </p:txBody>
      </p:sp>
      <p:sp>
        <p:nvSpPr>
          <p:cNvPr id="19" name="Shape 17"/>
          <p:cNvSpPr/>
          <p:nvPr/>
        </p:nvSpPr>
        <p:spPr>
          <a:xfrm>
            <a:off x="2697480" y="2240280"/>
            <a:ext cx="2971800" cy="438912"/>
          </a:xfrm>
          <a:prstGeom prst="rect">
            <a:avLst/>
          </a:prstGeom>
          <a:solidFill>
            <a:srgbClr val="FFFFFF"/>
          </a:solidFill>
          <a:ln w="12700">
            <a:solidFill>
              <a:srgbClr val="DDDDDD"/>
            </a:solidFill>
            <a:prstDash val="solid"/>
          </a:ln>
        </p:spPr>
      </p:sp>
      <p:sp>
        <p:nvSpPr>
          <p:cNvPr id="20" name="Text 18"/>
          <p:cNvSpPr/>
          <p:nvPr/>
        </p:nvSpPr>
        <p:spPr>
          <a:xfrm>
            <a:off x="2697480" y="2240280"/>
            <a:ext cx="2971800" cy="438912"/>
          </a:xfrm>
          <a:prstGeom prst="rect">
            <a:avLst/>
          </a:prstGeom>
          <a:noFill/>
          <a:ln/>
        </p:spPr>
        <p:txBody>
          <a:bodyPr wrap="square" lIns="0" tIns="0" rIns="0" bIns="0" rtlCol="0" anchor="ctr"/>
          <a:lstStyle/>
          <a:p>
            <a:pPr marL="0" indent="0" algn="ctr">
              <a:buNone/>
            </a:pPr>
            <a:r>
              <a:rPr lang="en-US" sz="1100" dirty="0">
                <a:solidFill>
                  <a:srgbClr val="2A2A2A"/>
                </a:solidFill>
                <a:latin typeface="Calibri" pitchFamily="34" charset="0"/>
                <a:ea typeface="Calibri" pitchFamily="34" charset="-122"/>
                <a:cs typeface="Calibri" pitchFamily="34" charset="-120"/>
              </a:rPr>
              <a:t>Keeper Test</a:t>
            </a:r>
            <a:endParaRPr lang="en-US" sz="1100" dirty="0"/>
          </a:p>
        </p:txBody>
      </p:sp>
      <p:sp>
        <p:nvSpPr>
          <p:cNvPr id="21" name="Shape 19"/>
          <p:cNvSpPr/>
          <p:nvPr/>
        </p:nvSpPr>
        <p:spPr>
          <a:xfrm>
            <a:off x="5760720" y="2240280"/>
            <a:ext cx="2971800" cy="438912"/>
          </a:xfrm>
          <a:prstGeom prst="rect">
            <a:avLst/>
          </a:prstGeom>
          <a:solidFill>
            <a:srgbClr val="FFFFFF"/>
          </a:solidFill>
          <a:ln w="12700">
            <a:solidFill>
              <a:srgbClr val="DDDDDD"/>
            </a:solidFill>
            <a:prstDash val="solid"/>
          </a:ln>
        </p:spPr>
      </p:sp>
      <p:sp>
        <p:nvSpPr>
          <p:cNvPr id="22" name="Text 20"/>
          <p:cNvSpPr/>
          <p:nvPr/>
        </p:nvSpPr>
        <p:spPr>
          <a:xfrm>
            <a:off x="5760720" y="2240280"/>
            <a:ext cx="2971800" cy="438912"/>
          </a:xfrm>
          <a:prstGeom prst="rect">
            <a:avLst/>
          </a:prstGeom>
          <a:noFill/>
          <a:ln/>
        </p:spPr>
        <p:txBody>
          <a:bodyPr wrap="square" lIns="0" tIns="0" rIns="0" bIns="0" rtlCol="0" anchor="ctr"/>
          <a:lstStyle/>
          <a:p>
            <a:pPr marL="0" indent="0" algn="ctr">
              <a:buNone/>
            </a:pPr>
            <a:r>
              <a:rPr lang="en-US" sz="1100" dirty="0">
                <a:solidFill>
                  <a:srgbClr val="E50914"/>
                </a:solidFill>
                <a:latin typeface="Calibri" pitchFamily="34" charset="0"/>
                <a:ea typeface="Calibri" pitchFamily="34" charset="-122"/>
                <a:cs typeface="Calibri" pitchFamily="34" charset="-120"/>
              </a:rPr>
              <a:t>성과 중심 유지</a:t>
            </a:r>
            <a:endParaRPr lang="en-US" sz="1100" dirty="0"/>
          </a:p>
        </p:txBody>
      </p:sp>
      <p:sp>
        <p:nvSpPr>
          <p:cNvPr id="23" name="Shape 21"/>
          <p:cNvSpPr/>
          <p:nvPr/>
        </p:nvSpPr>
        <p:spPr>
          <a:xfrm>
            <a:off x="365760" y="2715768"/>
            <a:ext cx="2240280" cy="438912"/>
          </a:xfrm>
          <a:prstGeom prst="rect">
            <a:avLst/>
          </a:prstGeom>
          <a:solidFill>
            <a:srgbClr val="F5F5F5"/>
          </a:solidFill>
          <a:ln w="12700">
            <a:solidFill>
              <a:srgbClr val="DDDDDD"/>
            </a:solidFill>
            <a:prstDash val="solid"/>
          </a:ln>
        </p:spPr>
      </p:sp>
      <p:sp>
        <p:nvSpPr>
          <p:cNvPr id="24" name="Text 22"/>
          <p:cNvSpPr/>
          <p:nvPr/>
        </p:nvSpPr>
        <p:spPr>
          <a:xfrm>
            <a:off x="365760" y="2715768"/>
            <a:ext cx="2240280" cy="438912"/>
          </a:xfrm>
          <a:prstGeom prst="rect">
            <a:avLst/>
          </a:prstGeom>
          <a:noFill/>
          <a:ln/>
        </p:spPr>
        <p:txBody>
          <a:bodyPr wrap="square" lIns="0" tIns="0" rIns="0" bIns="0" rtlCol="0" anchor="ctr"/>
          <a:lstStyle/>
          <a:p>
            <a:pPr marL="0" indent="0" algn="ctr">
              <a:buNone/>
            </a:pPr>
            <a:r>
              <a:rPr lang="en-US" sz="1100" b="1" dirty="0">
                <a:solidFill>
                  <a:srgbClr val="141414"/>
                </a:solidFill>
                <a:latin typeface="Calibri" pitchFamily="34" charset="0"/>
                <a:ea typeface="Calibri" pitchFamily="34" charset="-122"/>
                <a:cs typeface="Calibri" pitchFamily="34" charset="-120"/>
              </a:rPr>
              <a:t>보상 (Compensation)</a:t>
            </a:r>
            <a:endParaRPr lang="en-US" sz="1100" dirty="0"/>
          </a:p>
        </p:txBody>
      </p:sp>
      <p:sp>
        <p:nvSpPr>
          <p:cNvPr id="25" name="Shape 23"/>
          <p:cNvSpPr/>
          <p:nvPr/>
        </p:nvSpPr>
        <p:spPr>
          <a:xfrm>
            <a:off x="2697480" y="2715768"/>
            <a:ext cx="2971800" cy="438912"/>
          </a:xfrm>
          <a:prstGeom prst="rect">
            <a:avLst/>
          </a:prstGeom>
          <a:solidFill>
            <a:srgbClr val="F5F5F5"/>
          </a:solidFill>
          <a:ln w="12700">
            <a:solidFill>
              <a:srgbClr val="DDDDDD"/>
            </a:solidFill>
            <a:prstDash val="solid"/>
          </a:ln>
        </p:spPr>
      </p:sp>
      <p:sp>
        <p:nvSpPr>
          <p:cNvPr id="26" name="Text 24"/>
          <p:cNvSpPr/>
          <p:nvPr/>
        </p:nvSpPr>
        <p:spPr>
          <a:xfrm>
            <a:off x="2697480" y="2715768"/>
            <a:ext cx="2971800" cy="438912"/>
          </a:xfrm>
          <a:prstGeom prst="rect">
            <a:avLst/>
          </a:prstGeom>
          <a:noFill/>
          <a:ln/>
        </p:spPr>
        <p:txBody>
          <a:bodyPr wrap="square" lIns="0" tIns="0" rIns="0" bIns="0" rtlCol="0" anchor="ctr"/>
          <a:lstStyle/>
          <a:p>
            <a:pPr marL="0" indent="0" algn="ctr">
              <a:buNone/>
            </a:pPr>
            <a:r>
              <a:rPr lang="en-US" sz="1100" dirty="0">
                <a:solidFill>
                  <a:srgbClr val="2A2A2A"/>
                </a:solidFill>
                <a:latin typeface="Calibri" pitchFamily="34" charset="0"/>
                <a:ea typeface="Calibri" pitchFamily="34" charset="-122"/>
                <a:cs typeface="Calibri" pitchFamily="34" charset="-120"/>
              </a:rPr>
              <a:t>시장 최고 수준</a:t>
            </a:r>
            <a:endParaRPr lang="en-US" sz="1100" dirty="0"/>
          </a:p>
        </p:txBody>
      </p:sp>
      <p:sp>
        <p:nvSpPr>
          <p:cNvPr id="27" name="Shape 25"/>
          <p:cNvSpPr/>
          <p:nvPr/>
        </p:nvSpPr>
        <p:spPr>
          <a:xfrm>
            <a:off x="5760720" y="2715768"/>
            <a:ext cx="2971800" cy="438912"/>
          </a:xfrm>
          <a:prstGeom prst="rect">
            <a:avLst/>
          </a:prstGeom>
          <a:solidFill>
            <a:srgbClr val="F5F5F5"/>
          </a:solidFill>
          <a:ln w="12700">
            <a:solidFill>
              <a:srgbClr val="DDDDDD"/>
            </a:solidFill>
            <a:prstDash val="solid"/>
          </a:ln>
        </p:spPr>
      </p:sp>
      <p:sp>
        <p:nvSpPr>
          <p:cNvPr id="28" name="Text 26"/>
          <p:cNvSpPr/>
          <p:nvPr/>
        </p:nvSpPr>
        <p:spPr>
          <a:xfrm>
            <a:off x="5760720" y="2715768"/>
            <a:ext cx="2971800" cy="438912"/>
          </a:xfrm>
          <a:prstGeom prst="rect">
            <a:avLst/>
          </a:prstGeom>
          <a:noFill/>
          <a:ln/>
        </p:spPr>
        <p:txBody>
          <a:bodyPr wrap="square" lIns="0" tIns="0" rIns="0" bIns="0" rtlCol="0" anchor="ctr"/>
          <a:lstStyle/>
          <a:p>
            <a:pPr marL="0" indent="0" algn="ctr">
              <a:buNone/>
            </a:pPr>
            <a:r>
              <a:rPr lang="en-US" sz="1100" dirty="0">
                <a:solidFill>
                  <a:srgbClr val="E50914"/>
                </a:solidFill>
                <a:latin typeface="Calibri" pitchFamily="34" charset="0"/>
                <a:ea typeface="Calibri" pitchFamily="34" charset="-122"/>
                <a:cs typeface="Calibri" pitchFamily="34" charset="-120"/>
              </a:rPr>
              <a:t>핵심 인재 유지</a:t>
            </a:r>
            <a:endParaRPr lang="en-US" sz="1100" dirty="0"/>
          </a:p>
        </p:txBody>
      </p:sp>
      <p:sp>
        <p:nvSpPr>
          <p:cNvPr id="29" name="Shape 27"/>
          <p:cNvSpPr/>
          <p:nvPr/>
        </p:nvSpPr>
        <p:spPr>
          <a:xfrm>
            <a:off x="365760" y="3191256"/>
            <a:ext cx="2240280" cy="438912"/>
          </a:xfrm>
          <a:prstGeom prst="rect">
            <a:avLst/>
          </a:prstGeom>
          <a:solidFill>
            <a:srgbClr val="FFFFFF"/>
          </a:solidFill>
          <a:ln w="12700">
            <a:solidFill>
              <a:srgbClr val="DDDDDD"/>
            </a:solidFill>
            <a:prstDash val="solid"/>
          </a:ln>
        </p:spPr>
      </p:sp>
      <p:sp>
        <p:nvSpPr>
          <p:cNvPr id="30" name="Text 28"/>
          <p:cNvSpPr/>
          <p:nvPr/>
        </p:nvSpPr>
        <p:spPr>
          <a:xfrm>
            <a:off x="365760" y="3191256"/>
            <a:ext cx="2240280" cy="438912"/>
          </a:xfrm>
          <a:prstGeom prst="rect">
            <a:avLst/>
          </a:prstGeom>
          <a:noFill/>
          <a:ln/>
        </p:spPr>
        <p:txBody>
          <a:bodyPr wrap="square" lIns="0" tIns="0" rIns="0" bIns="0" rtlCol="0" anchor="ctr"/>
          <a:lstStyle/>
          <a:p>
            <a:pPr marL="0" indent="0" algn="ctr">
              <a:buNone/>
            </a:pPr>
            <a:r>
              <a:rPr lang="en-US" sz="1100" b="1" dirty="0">
                <a:solidFill>
                  <a:srgbClr val="141414"/>
                </a:solidFill>
                <a:latin typeface="Calibri" pitchFamily="34" charset="0"/>
                <a:ea typeface="Calibri" pitchFamily="34" charset="-122"/>
                <a:cs typeface="Calibri" pitchFamily="34" charset="-120"/>
              </a:rPr>
              <a:t>육성 (Development)</a:t>
            </a:r>
            <a:endParaRPr lang="en-US" sz="1100" dirty="0"/>
          </a:p>
        </p:txBody>
      </p:sp>
      <p:sp>
        <p:nvSpPr>
          <p:cNvPr id="31" name="Shape 29"/>
          <p:cNvSpPr/>
          <p:nvPr/>
        </p:nvSpPr>
        <p:spPr>
          <a:xfrm>
            <a:off x="2697480" y="3191256"/>
            <a:ext cx="2971800" cy="438912"/>
          </a:xfrm>
          <a:prstGeom prst="rect">
            <a:avLst/>
          </a:prstGeom>
          <a:solidFill>
            <a:srgbClr val="FFFFFF"/>
          </a:solidFill>
          <a:ln w="12700">
            <a:solidFill>
              <a:srgbClr val="DDDDDD"/>
            </a:solidFill>
            <a:prstDash val="solid"/>
          </a:ln>
        </p:spPr>
      </p:sp>
      <p:sp>
        <p:nvSpPr>
          <p:cNvPr id="32" name="Text 30"/>
          <p:cNvSpPr/>
          <p:nvPr/>
        </p:nvSpPr>
        <p:spPr>
          <a:xfrm>
            <a:off x="2697480" y="3191256"/>
            <a:ext cx="2971800" cy="438912"/>
          </a:xfrm>
          <a:prstGeom prst="rect">
            <a:avLst/>
          </a:prstGeom>
          <a:noFill/>
          <a:ln/>
        </p:spPr>
        <p:txBody>
          <a:bodyPr wrap="square" lIns="0" tIns="0" rIns="0" bIns="0" rtlCol="0" anchor="ctr"/>
          <a:lstStyle/>
          <a:p>
            <a:pPr marL="0" indent="0" algn="ctr">
              <a:buNone/>
            </a:pPr>
            <a:r>
              <a:rPr lang="en-US" sz="1100" dirty="0">
                <a:solidFill>
                  <a:srgbClr val="2A2A2A"/>
                </a:solidFill>
                <a:latin typeface="Calibri" pitchFamily="34" charset="0"/>
                <a:ea typeface="Calibri" pitchFamily="34" charset="-122"/>
                <a:cs typeface="Calibri" pitchFamily="34" charset="-120"/>
              </a:rPr>
              <a:t>자율 학습</a:t>
            </a:r>
            <a:endParaRPr lang="en-US" sz="1100" dirty="0"/>
          </a:p>
        </p:txBody>
      </p:sp>
      <p:sp>
        <p:nvSpPr>
          <p:cNvPr id="33" name="Shape 31"/>
          <p:cNvSpPr/>
          <p:nvPr/>
        </p:nvSpPr>
        <p:spPr>
          <a:xfrm>
            <a:off x="5760720" y="3191256"/>
            <a:ext cx="2971800" cy="438912"/>
          </a:xfrm>
          <a:prstGeom prst="rect">
            <a:avLst/>
          </a:prstGeom>
          <a:solidFill>
            <a:srgbClr val="FFFFFF"/>
          </a:solidFill>
          <a:ln w="12700">
            <a:solidFill>
              <a:srgbClr val="DDDDDD"/>
            </a:solidFill>
            <a:prstDash val="solid"/>
          </a:ln>
        </p:spPr>
      </p:sp>
      <p:sp>
        <p:nvSpPr>
          <p:cNvPr id="34" name="Text 32"/>
          <p:cNvSpPr/>
          <p:nvPr/>
        </p:nvSpPr>
        <p:spPr>
          <a:xfrm>
            <a:off x="5760720" y="3191256"/>
            <a:ext cx="2971800" cy="438912"/>
          </a:xfrm>
          <a:prstGeom prst="rect">
            <a:avLst/>
          </a:prstGeom>
          <a:noFill/>
          <a:ln/>
        </p:spPr>
        <p:txBody>
          <a:bodyPr wrap="square" lIns="0" tIns="0" rIns="0" bIns="0" rtlCol="0" anchor="ctr"/>
          <a:lstStyle/>
          <a:p>
            <a:pPr marL="0" indent="0" algn="ctr">
              <a:buNone/>
            </a:pPr>
            <a:r>
              <a:rPr lang="en-US" sz="1100" dirty="0">
                <a:solidFill>
                  <a:srgbClr val="E50914"/>
                </a:solidFill>
                <a:latin typeface="Calibri" pitchFamily="34" charset="0"/>
                <a:ea typeface="Calibri" pitchFamily="34" charset="-122"/>
                <a:cs typeface="Calibri" pitchFamily="34" charset="-120"/>
              </a:rPr>
              <a:t>빠른 성장</a:t>
            </a:r>
            <a:endParaRPr lang="en-US" sz="1100" dirty="0"/>
          </a:p>
        </p:txBody>
      </p:sp>
      <p:sp>
        <p:nvSpPr>
          <p:cNvPr id="35" name="Shape 33"/>
          <p:cNvSpPr/>
          <p:nvPr/>
        </p:nvSpPr>
        <p:spPr>
          <a:xfrm>
            <a:off x="365760" y="3666744"/>
            <a:ext cx="2240280" cy="438912"/>
          </a:xfrm>
          <a:prstGeom prst="rect">
            <a:avLst/>
          </a:prstGeom>
          <a:solidFill>
            <a:srgbClr val="F5F5F5"/>
          </a:solidFill>
          <a:ln w="12700">
            <a:solidFill>
              <a:srgbClr val="DDDDDD"/>
            </a:solidFill>
            <a:prstDash val="solid"/>
          </a:ln>
        </p:spPr>
      </p:sp>
      <p:sp>
        <p:nvSpPr>
          <p:cNvPr id="36" name="Text 34"/>
          <p:cNvSpPr/>
          <p:nvPr/>
        </p:nvSpPr>
        <p:spPr>
          <a:xfrm>
            <a:off x="365760" y="3666744"/>
            <a:ext cx="2240280" cy="438912"/>
          </a:xfrm>
          <a:prstGeom prst="rect">
            <a:avLst/>
          </a:prstGeom>
          <a:noFill/>
          <a:ln/>
        </p:spPr>
        <p:txBody>
          <a:bodyPr wrap="square" lIns="0" tIns="0" rIns="0" bIns="0" rtlCol="0" anchor="ctr"/>
          <a:lstStyle/>
          <a:p>
            <a:pPr marL="0" indent="0" algn="ctr">
              <a:buNone/>
            </a:pPr>
            <a:r>
              <a:rPr lang="en-US" sz="1100" b="1" dirty="0">
                <a:solidFill>
                  <a:srgbClr val="141414"/>
                </a:solidFill>
                <a:latin typeface="Calibri" pitchFamily="34" charset="0"/>
                <a:ea typeface="Calibri" pitchFamily="34" charset="-122"/>
                <a:cs typeface="Calibri" pitchFamily="34" charset="-120"/>
              </a:rPr>
              <a:t>유지 (Retention)</a:t>
            </a:r>
            <a:endParaRPr lang="en-US" sz="1100" dirty="0"/>
          </a:p>
        </p:txBody>
      </p:sp>
      <p:sp>
        <p:nvSpPr>
          <p:cNvPr id="37" name="Shape 35"/>
          <p:cNvSpPr/>
          <p:nvPr/>
        </p:nvSpPr>
        <p:spPr>
          <a:xfrm>
            <a:off x="2697480" y="3666744"/>
            <a:ext cx="2971800" cy="438912"/>
          </a:xfrm>
          <a:prstGeom prst="rect">
            <a:avLst/>
          </a:prstGeom>
          <a:solidFill>
            <a:srgbClr val="F5F5F5"/>
          </a:solidFill>
          <a:ln w="12700">
            <a:solidFill>
              <a:srgbClr val="DDDDDD"/>
            </a:solidFill>
            <a:prstDash val="solid"/>
          </a:ln>
        </p:spPr>
      </p:sp>
      <p:sp>
        <p:nvSpPr>
          <p:cNvPr id="38" name="Text 36"/>
          <p:cNvSpPr/>
          <p:nvPr/>
        </p:nvSpPr>
        <p:spPr>
          <a:xfrm>
            <a:off x="2697480" y="3666744"/>
            <a:ext cx="2971800" cy="438912"/>
          </a:xfrm>
          <a:prstGeom prst="rect">
            <a:avLst/>
          </a:prstGeom>
          <a:noFill/>
          <a:ln/>
        </p:spPr>
        <p:txBody>
          <a:bodyPr wrap="square" lIns="0" tIns="0" rIns="0" bIns="0" rtlCol="0" anchor="ctr"/>
          <a:lstStyle/>
          <a:p>
            <a:pPr marL="0" indent="0" algn="ctr">
              <a:buNone/>
            </a:pPr>
            <a:r>
              <a:rPr lang="en-US" sz="1100" dirty="0">
                <a:solidFill>
                  <a:srgbClr val="2A2A2A"/>
                </a:solidFill>
                <a:latin typeface="Calibri" pitchFamily="34" charset="0"/>
                <a:ea typeface="Calibri" pitchFamily="34" charset="-122"/>
                <a:cs typeface="Calibri" pitchFamily="34" charset="-120"/>
              </a:rPr>
              <a:t>자유 + 고성과</a:t>
            </a:r>
            <a:endParaRPr lang="en-US" sz="1100" dirty="0"/>
          </a:p>
        </p:txBody>
      </p:sp>
      <p:sp>
        <p:nvSpPr>
          <p:cNvPr id="39" name="Shape 37"/>
          <p:cNvSpPr/>
          <p:nvPr/>
        </p:nvSpPr>
        <p:spPr>
          <a:xfrm>
            <a:off x="5760720" y="3666744"/>
            <a:ext cx="2971800" cy="438912"/>
          </a:xfrm>
          <a:prstGeom prst="rect">
            <a:avLst/>
          </a:prstGeom>
          <a:solidFill>
            <a:srgbClr val="F5F5F5"/>
          </a:solidFill>
          <a:ln w="12700">
            <a:solidFill>
              <a:srgbClr val="DDDDDD"/>
            </a:solidFill>
            <a:prstDash val="solid"/>
          </a:ln>
        </p:spPr>
      </p:sp>
      <p:sp>
        <p:nvSpPr>
          <p:cNvPr id="40" name="Text 38"/>
          <p:cNvSpPr/>
          <p:nvPr/>
        </p:nvSpPr>
        <p:spPr>
          <a:xfrm>
            <a:off x="5760720" y="3666744"/>
            <a:ext cx="2971800" cy="438912"/>
          </a:xfrm>
          <a:prstGeom prst="rect">
            <a:avLst/>
          </a:prstGeom>
          <a:noFill/>
          <a:ln/>
        </p:spPr>
        <p:txBody>
          <a:bodyPr wrap="square" lIns="0" tIns="0" rIns="0" bIns="0" rtlCol="0" anchor="ctr"/>
          <a:lstStyle/>
          <a:p>
            <a:pPr marL="0" indent="0" algn="ctr">
              <a:buNone/>
            </a:pPr>
            <a:r>
              <a:rPr lang="en-US" sz="1100" dirty="0">
                <a:solidFill>
                  <a:srgbClr val="E50914"/>
                </a:solidFill>
                <a:latin typeface="Calibri" pitchFamily="34" charset="0"/>
                <a:ea typeface="Calibri" pitchFamily="34" charset="-122"/>
                <a:cs typeface="Calibri" pitchFamily="34" charset="-120"/>
              </a:rPr>
              <a:t>동기부여 극대화</a:t>
            </a:r>
            <a:endParaRPr lang="en-US" sz="1100" dirty="0"/>
          </a:p>
        </p:txBody>
      </p:sp>
      <p:sp>
        <p:nvSpPr>
          <p:cNvPr id="41" name="Shape 39"/>
          <p:cNvSpPr/>
          <p:nvPr/>
        </p:nvSpPr>
        <p:spPr>
          <a:xfrm>
            <a:off x="365760" y="4617720"/>
            <a:ext cx="8412480" cy="384048"/>
          </a:xfrm>
          <a:prstGeom prst="rect">
            <a:avLst/>
          </a:prstGeom>
          <a:solidFill>
            <a:srgbClr val="141414"/>
          </a:solidFill>
          <a:ln w="12700">
            <a:solidFill>
              <a:srgbClr val="141414"/>
            </a:solidFill>
            <a:prstDash val="solid"/>
          </a:ln>
        </p:spPr>
      </p:sp>
      <p:sp>
        <p:nvSpPr>
          <p:cNvPr id="42" name="Text 40"/>
          <p:cNvSpPr/>
          <p:nvPr/>
        </p:nvSpPr>
        <p:spPr>
          <a:xfrm>
            <a:off x="365760" y="4617720"/>
            <a:ext cx="8412480" cy="384048"/>
          </a:xfrm>
          <a:prstGeom prst="rect">
            <a:avLst/>
          </a:prstGeom>
          <a:noFill/>
          <a:ln/>
        </p:spPr>
        <p:txBody>
          <a:bodyPr wrap="square" lIns="0" tIns="0" rIns="0" bIns="0" rtlCol="0" anchor="ctr"/>
          <a:lstStyle/>
          <a:p>
            <a:pPr marL="0" indent="0" algn="ctr">
              <a:buNone/>
            </a:pPr>
            <a:r>
              <a:rPr lang="en-US" sz="1100" b="1" dirty="0">
                <a:solidFill>
                  <a:srgbClr val="E50914"/>
                </a:solidFill>
                <a:latin typeface="Calibri" pitchFamily="34" charset="0"/>
                <a:ea typeface="Calibri" pitchFamily="34" charset="-122"/>
                <a:cs typeface="Calibri" pitchFamily="34" charset="-120"/>
              </a:rPr>
              <a:t>✔ 결론: 모든 HR 시스템이 "High Performance Culture" 로 완벽히 정렬(Alignment)됨</a:t>
            </a:r>
            <a:endParaRPr lang="en-US" sz="1100" dirty="0"/>
          </a:p>
        </p:txBody>
      </p:sp>
      <p:sp>
        <p:nvSpPr>
          <p:cNvPr id="43" name="아래쪽 화살표 42"/>
          <p:cNvSpPr/>
          <p:nvPr/>
        </p:nvSpPr>
        <p:spPr>
          <a:xfrm>
            <a:off x="7133144" y="4262834"/>
            <a:ext cx="428368" cy="197708"/>
          </a:xfrm>
          <a:prstGeom prst="downArrow">
            <a:avLst/>
          </a:prstGeom>
          <a:solidFill>
            <a:srgbClr val="FF0000"/>
          </a:solidFill>
          <a:ln w="12700">
            <a:solidFill>
              <a:srgbClr val="141414"/>
            </a:solidFill>
            <a:prstDash val="solid"/>
          </a:ln>
        </p:spPr>
        <p:txBody>
          <a:bodyPr rtlCol="0" anchor="ctr"/>
          <a:lstStyle/>
          <a:p>
            <a:pPr algn="ctr"/>
            <a:endParaRPr lang="ko-KR"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41414"/>
          </a:solidFill>
          <a:ln w="12700">
            <a:solidFill>
              <a:srgbClr val="1414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자유와 고성과의 이면 — 문화의 양면성, 확장성 한계, 환경 변화가 </a:t>
            </a:r>
            <a:r>
              <a:rPr lang="en-US" sz="1300" b="1" dirty="0" err="1">
                <a:solidFill>
                  <a:srgbClr val="FFFFFF"/>
                </a:solidFill>
                <a:latin typeface="Calibri" pitchFamily="34" charset="0"/>
                <a:ea typeface="Calibri" pitchFamily="34" charset="-122"/>
                <a:cs typeface="Calibri" pitchFamily="34" charset="-120"/>
              </a:rPr>
              <a:t>도전</a:t>
            </a:r>
            <a:r>
              <a:rPr lang="en-US" sz="1300" b="1" dirty="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요인</a:t>
            </a:r>
            <a:endParaRPr lang="en-US" sz="1300" dirty="0"/>
          </a:p>
        </p:txBody>
      </p:sp>
      <p:sp>
        <p:nvSpPr>
          <p:cNvPr id="4" name="Text 2"/>
          <p:cNvSpPr/>
          <p:nvPr/>
        </p:nvSpPr>
        <p:spPr>
          <a:xfrm>
            <a:off x="365760" y="758952"/>
            <a:ext cx="8229600" cy="365760"/>
          </a:xfrm>
          <a:prstGeom prst="rect">
            <a:avLst/>
          </a:prstGeom>
          <a:noFill/>
          <a:ln/>
        </p:spPr>
        <p:txBody>
          <a:bodyPr wrap="square" lIns="0" tIns="0" rIns="0" bIns="0" rtlCol="0" anchor="ctr"/>
          <a:lstStyle/>
          <a:p>
            <a:pPr marL="0" indent="0" algn="l">
              <a:buNone/>
            </a:pPr>
            <a:r>
              <a:rPr lang="en-US" sz="2200" b="1" dirty="0">
                <a:solidFill>
                  <a:srgbClr val="141414"/>
                </a:solidFill>
                <a:latin typeface="Arial Black" pitchFamily="34" charset="0"/>
                <a:ea typeface="Arial Black" pitchFamily="34" charset="-122"/>
                <a:cs typeface="Arial Black" pitchFamily="34" charset="-120"/>
              </a:rPr>
              <a:t>문제점 및 한계</a:t>
            </a:r>
            <a:endParaRPr lang="en-US" sz="2200" dirty="0"/>
          </a:p>
        </p:txBody>
      </p:sp>
      <p:sp>
        <p:nvSpPr>
          <p:cNvPr id="5" name="Shape 3"/>
          <p:cNvSpPr/>
          <p:nvPr/>
        </p:nvSpPr>
        <p:spPr>
          <a:xfrm>
            <a:off x="274320" y="1280160"/>
            <a:ext cx="2697480" cy="365760"/>
          </a:xfrm>
          <a:prstGeom prst="rect">
            <a:avLst/>
          </a:prstGeom>
          <a:solidFill>
            <a:srgbClr val="E50914"/>
          </a:solidFill>
          <a:ln w="12700">
            <a:solidFill>
              <a:srgbClr val="E50914"/>
            </a:solidFill>
            <a:prstDash val="solid"/>
          </a:ln>
        </p:spPr>
      </p:sp>
      <p:sp>
        <p:nvSpPr>
          <p:cNvPr id="6" name="Text 4"/>
          <p:cNvSpPr/>
          <p:nvPr/>
        </p:nvSpPr>
        <p:spPr>
          <a:xfrm>
            <a:off x="274320" y="1280160"/>
            <a:ext cx="26974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① 문화의 양면성</a:t>
            </a:r>
            <a:endParaRPr lang="en-US" sz="1100" dirty="0"/>
          </a:p>
        </p:txBody>
      </p:sp>
      <p:sp>
        <p:nvSpPr>
          <p:cNvPr id="7" name="Shape 5"/>
          <p:cNvSpPr/>
          <p:nvPr/>
        </p:nvSpPr>
        <p:spPr>
          <a:xfrm>
            <a:off x="274320" y="1691640"/>
            <a:ext cx="8549640" cy="274320"/>
          </a:xfrm>
          <a:prstGeom prst="rect">
            <a:avLst/>
          </a:prstGeom>
          <a:solidFill>
            <a:srgbClr val="E8F5E9"/>
          </a:solidFill>
          <a:ln w="12700">
            <a:solidFill>
              <a:srgbClr val="CCCCCC"/>
            </a:solidFill>
            <a:prstDash val="solid"/>
          </a:ln>
        </p:spPr>
      </p:sp>
      <p:sp>
        <p:nvSpPr>
          <p:cNvPr id="8" name="Text 6"/>
          <p:cNvSpPr/>
          <p:nvPr/>
        </p:nvSpPr>
        <p:spPr>
          <a:xfrm>
            <a:off x="3131820" y="1691640"/>
            <a:ext cx="2697480" cy="274320"/>
          </a:xfrm>
          <a:prstGeom prst="rect">
            <a:avLst/>
          </a:prstGeom>
          <a:noFill/>
          <a:ln/>
        </p:spPr>
        <p:txBody>
          <a:bodyPr wrap="square" lIns="0" tIns="0" rIns="0" bIns="0" rtlCol="0" anchor="ctr"/>
          <a:lstStyle/>
          <a:p>
            <a:pPr marL="0" indent="0" algn="ctr">
              <a:buNone/>
            </a:pPr>
            <a:r>
              <a:rPr lang="en-US" sz="1000" b="1" dirty="0">
                <a:solidFill>
                  <a:srgbClr val="2E7D32"/>
                </a:solidFill>
                <a:latin typeface="Calibri" pitchFamily="34" charset="0"/>
                <a:ea typeface="Calibri" pitchFamily="34" charset="-122"/>
                <a:cs typeface="Calibri" pitchFamily="34" charset="-120"/>
              </a:rPr>
              <a:t>✔ 긍정</a:t>
            </a:r>
            <a:endParaRPr lang="en-US" sz="1000" dirty="0"/>
          </a:p>
        </p:txBody>
      </p:sp>
      <p:sp>
        <p:nvSpPr>
          <p:cNvPr id="9" name="Shape 7"/>
          <p:cNvSpPr/>
          <p:nvPr/>
        </p:nvSpPr>
        <p:spPr>
          <a:xfrm>
            <a:off x="274320" y="2011680"/>
            <a:ext cx="2697480" cy="320040"/>
          </a:xfrm>
          <a:prstGeom prst="rect">
            <a:avLst/>
          </a:prstGeom>
          <a:solidFill>
            <a:srgbClr val="F1F8F1"/>
          </a:solidFill>
          <a:ln w="12700">
            <a:solidFill>
              <a:srgbClr val="E0E0E0"/>
            </a:solidFill>
            <a:prstDash val="solid"/>
          </a:ln>
        </p:spPr>
      </p:sp>
      <p:sp>
        <p:nvSpPr>
          <p:cNvPr id="10" name="Text 8"/>
          <p:cNvSpPr/>
          <p:nvPr/>
        </p:nvSpPr>
        <p:spPr>
          <a:xfrm>
            <a:off x="365760" y="2011680"/>
            <a:ext cx="2514600" cy="320040"/>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혁신 촉진</a:t>
            </a:r>
            <a:endParaRPr lang="en-US" sz="950" dirty="0"/>
          </a:p>
        </p:txBody>
      </p:sp>
      <p:sp>
        <p:nvSpPr>
          <p:cNvPr id="11" name="Shape 9"/>
          <p:cNvSpPr/>
          <p:nvPr/>
        </p:nvSpPr>
        <p:spPr>
          <a:xfrm>
            <a:off x="274320" y="2359152"/>
            <a:ext cx="2697480" cy="320040"/>
          </a:xfrm>
          <a:prstGeom prst="rect">
            <a:avLst/>
          </a:prstGeom>
          <a:solidFill>
            <a:srgbClr val="FFFFFF"/>
          </a:solidFill>
          <a:ln w="12700">
            <a:solidFill>
              <a:srgbClr val="E0E0E0"/>
            </a:solidFill>
            <a:prstDash val="solid"/>
          </a:ln>
        </p:spPr>
      </p:sp>
      <p:sp>
        <p:nvSpPr>
          <p:cNvPr id="12" name="Text 10"/>
          <p:cNvSpPr/>
          <p:nvPr/>
        </p:nvSpPr>
        <p:spPr>
          <a:xfrm>
            <a:off x="365760" y="2359152"/>
            <a:ext cx="2514600" cy="320040"/>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빠른 의사결정</a:t>
            </a:r>
            <a:endParaRPr lang="en-US" sz="950" dirty="0"/>
          </a:p>
        </p:txBody>
      </p:sp>
      <p:sp>
        <p:nvSpPr>
          <p:cNvPr id="13" name="Shape 11"/>
          <p:cNvSpPr/>
          <p:nvPr/>
        </p:nvSpPr>
        <p:spPr>
          <a:xfrm>
            <a:off x="274320" y="2706624"/>
            <a:ext cx="2697480" cy="320040"/>
          </a:xfrm>
          <a:prstGeom prst="rect">
            <a:avLst/>
          </a:prstGeom>
          <a:solidFill>
            <a:srgbClr val="F1F8F1"/>
          </a:solidFill>
          <a:ln w="12700">
            <a:solidFill>
              <a:srgbClr val="E0E0E0"/>
            </a:solidFill>
            <a:prstDash val="solid"/>
          </a:ln>
        </p:spPr>
      </p:sp>
      <p:sp>
        <p:nvSpPr>
          <p:cNvPr id="14" name="Text 12"/>
          <p:cNvSpPr/>
          <p:nvPr/>
        </p:nvSpPr>
        <p:spPr>
          <a:xfrm>
            <a:off x="365760" y="2706624"/>
            <a:ext cx="2514600" cy="320040"/>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높은 성과 창출</a:t>
            </a:r>
            <a:endParaRPr lang="en-US" sz="950" dirty="0"/>
          </a:p>
        </p:txBody>
      </p:sp>
      <p:sp>
        <p:nvSpPr>
          <p:cNvPr id="17" name="Shape 15"/>
          <p:cNvSpPr/>
          <p:nvPr/>
        </p:nvSpPr>
        <p:spPr>
          <a:xfrm>
            <a:off x="274320" y="3383280"/>
            <a:ext cx="2697480" cy="320040"/>
          </a:xfrm>
          <a:prstGeom prst="rect">
            <a:avLst/>
          </a:prstGeom>
          <a:solidFill>
            <a:srgbClr val="FFF5F5"/>
          </a:solidFill>
          <a:ln w="12700">
            <a:solidFill>
              <a:srgbClr val="E0E0E0"/>
            </a:solidFill>
            <a:prstDash val="solid"/>
          </a:ln>
        </p:spPr>
      </p:sp>
      <p:sp>
        <p:nvSpPr>
          <p:cNvPr id="18" name="Text 16"/>
          <p:cNvSpPr/>
          <p:nvPr/>
        </p:nvSpPr>
        <p:spPr>
          <a:xfrm>
            <a:off x="365760" y="3383280"/>
            <a:ext cx="2514600" cy="320040"/>
          </a:xfrm>
          <a:prstGeom prst="rect">
            <a:avLst/>
          </a:prstGeom>
          <a:noFill/>
          <a:ln/>
        </p:spPr>
        <p:txBody>
          <a:bodyPr wrap="square" lIns="0" tIns="0" rIns="0" bIns="0" rtlCol="0" anchor="ctr"/>
          <a:lstStyle/>
          <a:p>
            <a:pPr marL="0" indent="0" algn="l">
              <a:buNone/>
            </a:pPr>
            <a:r>
              <a:rPr lang="en-US" sz="950" dirty="0">
                <a:solidFill>
                  <a:srgbClr val="E50914"/>
                </a:solidFill>
                <a:latin typeface="Calibri" pitchFamily="34" charset="0"/>
                <a:ea typeface="Calibri" pitchFamily="34" charset="-122"/>
                <a:cs typeface="Calibri" pitchFamily="34" charset="-120"/>
              </a:rPr>
              <a:t>심리적 불안 (job insecurity)</a:t>
            </a:r>
            <a:endParaRPr lang="en-US" sz="950" dirty="0"/>
          </a:p>
        </p:txBody>
      </p:sp>
      <p:sp>
        <p:nvSpPr>
          <p:cNvPr id="19" name="Shape 17"/>
          <p:cNvSpPr/>
          <p:nvPr/>
        </p:nvSpPr>
        <p:spPr>
          <a:xfrm>
            <a:off x="274320" y="3730752"/>
            <a:ext cx="2697480" cy="320040"/>
          </a:xfrm>
          <a:prstGeom prst="rect">
            <a:avLst/>
          </a:prstGeom>
          <a:solidFill>
            <a:srgbClr val="FFFFFF"/>
          </a:solidFill>
          <a:ln w="12700">
            <a:solidFill>
              <a:srgbClr val="E0E0E0"/>
            </a:solidFill>
            <a:prstDash val="solid"/>
          </a:ln>
        </p:spPr>
      </p:sp>
      <p:sp>
        <p:nvSpPr>
          <p:cNvPr id="20" name="Text 18"/>
          <p:cNvSpPr/>
          <p:nvPr/>
        </p:nvSpPr>
        <p:spPr>
          <a:xfrm>
            <a:off x="365760" y="3730752"/>
            <a:ext cx="2514600" cy="320040"/>
          </a:xfrm>
          <a:prstGeom prst="rect">
            <a:avLst/>
          </a:prstGeom>
          <a:noFill/>
          <a:ln/>
        </p:spPr>
        <p:txBody>
          <a:bodyPr wrap="square" lIns="0" tIns="0" rIns="0" bIns="0" rtlCol="0" anchor="ctr"/>
          <a:lstStyle/>
          <a:p>
            <a:pPr marL="0" indent="0" algn="l">
              <a:buNone/>
            </a:pPr>
            <a:r>
              <a:rPr lang="en-US" sz="950" dirty="0">
                <a:solidFill>
                  <a:srgbClr val="E50914"/>
                </a:solidFill>
                <a:latin typeface="Calibri" pitchFamily="34" charset="0"/>
                <a:ea typeface="Calibri" pitchFamily="34" charset="-122"/>
                <a:cs typeface="Calibri" pitchFamily="34" charset="-120"/>
              </a:rPr>
              <a:t>내부 경쟁 심화</a:t>
            </a:r>
            <a:endParaRPr lang="en-US" sz="950" dirty="0"/>
          </a:p>
        </p:txBody>
      </p:sp>
      <p:sp>
        <p:nvSpPr>
          <p:cNvPr id="21" name="Shape 19"/>
          <p:cNvSpPr/>
          <p:nvPr/>
        </p:nvSpPr>
        <p:spPr>
          <a:xfrm>
            <a:off x="274320" y="4078224"/>
            <a:ext cx="2697480" cy="320040"/>
          </a:xfrm>
          <a:prstGeom prst="rect">
            <a:avLst/>
          </a:prstGeom>
          <a:solidFill>
            <a:srgbClr val="FFF5F5"/>
          </a:solidFill>
          <a:ln w="12700">
            <a:solidFill>
              <a:srgbClr val="E0E0E0"/>
            </a:solidFill>
            <a:prstDash val="solid"/>
          </a:ln>
        </p:spPr>
      </p:sp>
      <p:sp>
        <p:nvSpPr>
          <p:cNvPr id="22" name="Text 20"/>
          <p:cNvSpPr/>
          <p:nvPr/>
        </p:nvSpPr>
        <p:spPr>
          <a:xfrm>
            <a:off x="365760" y="4078224"/>
            <a:ext cx="2514600" cy="320040"/>
          </a:xfrm>
          <a:prstGeom prst="rect">
            <a:avLst/>
          </a:prstGeom>
          <a:noFill/>
          <a:ln/>
        </p:spPr>
        <p:txBody>
          <a:bodyPr wrap="square" lIns="0" tIns="0" rIns="0" bIns="0" rtlCol="0" anchor="ctr"/>
          <a:lstStyle/>
          <a:p>
            <a:pPr marL="0" indent="0" algn="l">
              <a:buNone/>
            </a:pPr>
            <a:r>
              <a:rPr lang="en-US" sz="950" dirty="0">
                <a:solidFill>
                  <a:srgbClr val="E50914"/>
                </a:solidFill>
                <a:latin typeface="Calibri" pitchFamily="34" charset="0"/>
                <a:ea typeface="Calibri" pitchFamily="34" charset="-122"/>
                <a:cs typeface="Calibri" pitchFamily="34" charset="-120"/>
              </a:rPr>
              <a:t>"Culture of Fear" 논란</a:t>
            </a:r>
            <a:endParaRPr lang="en-US" sz="950" dirty="0"/>
          </a:p>
        </p:txBody>
      </p:sp>
      <p:sp>
        <p:nvSpPr>
          <p:cNvPr id="23" name="Shape 21"/>
          <p:cNvSpPr/>
          <p:nvPr/>
        </p:nvSpPr>
        <p:spPr>
          <a:xfrm>
            <a:off x="3200400" y="1280160"/>
            <a:ext cx="2697480" cy="365760"/>
          </a:xfrm>
          <a:prstGeom prst="rect">
            <a:avLst/>
          </a:prstGeom>
          <a:solidFill>
            <a:srgbClr val="E50914"/>
          </a:solidFill>
          <a:ln w="12700">
            <a:solidFill>
              <a:srgbClr val="E50914"/>
            </a:solidFill>
            <a:prstDash val="solid"/>
          </a:ln>
        </p:spPr>
      </p:sp>
      <p:sp>
        <p:nvSpPr>
          <p:cNvPr id="24" name="Text 22"/>
          <p:cNvSpPr/>
          <p:nvPr/>
        </p:nvSpPr>
        <p:spPr>
          <a:xfrm>
            <a:off x="3200400" y="1280160"/>
            <a:ext cx="26974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② 조직 규모 확장 문제</a:t>
            </a:r>
            <a:endParaRPr lang="en-US" sz="1100" dirty="0"/>
          </a:p>
        </p:txBody>
      </p:sp>
      <p:sp>
        <p:nvSpPr>
          <p:cNvPr id="27" name="Shape 25"/>
          <p:cNvSpPr/>
          <p:nvPr/>
        </p:nvSpPr>
        <p:spPr>
          <a:xfrm>
            <a:off x="3200400" y="2011680"/>
            <a:ext cx="2697480" cy="320040"/>
          </a:xfrm>
          <a:prstGeom prst="rect">
            <a:avLst/>
          </a:prstGeom>
          <a:solidFill>
            <a:srgbClr val="F1F8F1"/>
          </a:solidFill>
          <a:ln w="12700">
            <a:solidFill>
              <a:srgbClr val="E0E0E0"/>
            </a:solidFill>
            <a:prstDash val="solid"/>
          </a:ln>
        </p:spPr>
      </p:sp>
      <p:sp>
        <p:nvSpPr>
          <p:cNvPr id="28" name="Text 26"/>
          <p:cNvSpPr/>
          <p:nvPr/>
        </p:nvSpPr>
        <p:spPr>
          <a:xfrm>
            <a:off x="3291840" y="2011680"/>
            <a:ext cx="2514600" cy="320040"/>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초기 소규모 조직엔 효과적</a:t>
            </a:r>
            <a:endParaRPr lang="en-US" sz="950" dirty="0"/>
          </a:p>
        </p:txBody>
      </p:sp>
      <p:sp>
        <p:nvSpPr>
          <p:cNvPr id="29" name="Shape 27"/>
          <p:cNvSpPr/>
          <p:nvPr/>
        </p:nvSpPr>
        <p:spPr>
          <a:xfrm>
            <a:off x="3200400" y="2359152"/>
            <a:ext cx="2697480" cy="320040"/>
          </a:xfrm>
          <a:prstGeom prst="rect">
            <a:avLst/>
          </a:prstGeom>
          <a:solidFill>
            <a:srgbClr val="FFFFFF"/>
          </a:solidFill>
          <a:ln w="12700">
            <a:solidFill>
              <a:srgbClr val="E0E0E0"/>
            </a:solidFill>
            <a:prstDash val="solid"/>
          </a:ln>
        </p:spPr>
      </p:sp>
      <p:sp>
        <p:nvSpPr>
          <p:cNvPr id="30" name="Text 28"/>
          <p:cNvSpPr/>
          <p:nvPr/>
        </p:nvSpPr>
        <p:spPr>
          <a:xfrm>
            <a:off x="3291840" y="2359152"/>
            <a:ext cx="2514600" cy="320040"/>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문화적 다양성 존중 가능</a:t>
            </a:r>
            <a:endParaRPr lang="en-US" sz="950" dirty="0"/>
          </a:p>
        </p:txBody>
      </p:sp>
      <p:sp>
        <p:nvSpPr>
          <p:cNvPr id="31" name="Shape 29"/>
          <p:cNvSpPr/>
          <p:nvPr/>
        </p:nvSpPr>
        <p:spPr>
          <a:xfrm>
            <a:off x="3200400" y="2706624"/>
            <a:ext cx="2697480" cy="320040"/>
          </a:xfrm>
          <a:prstGeom prst="rect">
            <a:avLst/>
          </a:prstGeom>
          <a:solidFill>
            <a:srgbClr val="F1F8F1"/>
          </a:solidFill>
          <a:ln w="12700">
            <a:solidFill>
              <a:srgbClr val="E0E0E0"/>
            </a:solidFill>
            <a:prstDash val="solid"/>
          </a:ln>
        </p:spPr>
      </p:sp>
      <p:sp>
        <p:nvSpPr>
          <p:cNvPr id="32" name="Text 30"/>
          <p:cNvSpPr/>
          <p:nvPr/>
        </p:nvSpPr>
        <p:spPr>
          <a:xfrm>
            <a:off x="3291840" y="2706624"/>
            <a:ext cx="2514600" cy="320040"/>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명확한 기준 제시</a:t>
            </a:r>
            <a:endParaRPr lang="en-US" sz="950" dirty="0"/>
          </a:p>
        </p:txBody>
      </p:sp>
      <p:sp>
        <p:nvSpPr>
          <p:cNvPr id="33" name="Shape 31"/>
          <p:cNvSpPr/>
          <p:nvPr/>
        </p:nvSpPr>
        <p:spPr>
          <a:xfrm>
            <a:off x="274320" y="3063240"/>
            <a:ext cx="8549640" cy="274320"/>
          </a:xfrm>
          <a:prstGeom prst="rect">
            <a:avLst/>
          </a:prstGeom>
          <a:solidFill>
            <a:srgbClr val="FFEBEE"/>
          </a:solidFill>
          <a:ln w="12700">
            <a:solidFill>
              <a:srgbClr val="CCCCCC"/>
            </a:solidFill>
            <a:prstDash val="solid"/>
          </a:ln>
        </p:spPr>
      </p:sp>
      <p:sp>
        <p:nvSpPr>
          <p:cNvPr id="34" name="Text 32"/>
          <p:cNvSpPr/>
          <p:nvPr/>
        </p:nvSpPr>
        <p:spPr>
          <a:xfrm>
            <a:off x="3200400" y="3063240"/>
            <a:ext cx="2697480" cy="274320"/>
          </a:xfrm>
          <a:prstGeom prst="rect">
            <a:avLst/>
          </a:prstGeom>
          <a:noFill/>
          <a:ln/>
        </p:spPr>
        <p:txBody>
          <a:bodyPr wrap="square" lIns="0" tIns="0" rIns="0" bIns="0" rtlCol="0" anchor="ctr"/>
          <a:lstStyle/>
          <a:p>
            <a:pPr marL="0" indent="0" algn="ctr">
              <a:buNone/>
            </a:pPr>
            <a:r>
              <a:rPr lang="en-US" sz="1000" b="1" dirty="0">
                <a:solidFill>
                  <a:srgbClr val="E50914"/>
                </a:solidFill>
                <a:latin typeface="Calibri" pitchFamily="34" charset="0"/>
                <a:ea typeface="Calibri" pitchFamily="34" charset="-122"/>
                <a:cs typeface="Calibri" pitchFamily="34" charset="-120"/>
              </a:rPr>
              <a:t>✖ 부정 / 리스크</a:t>
            </a:r>
            <a:endParaRPr lang="en-US" sz="1000" dirty="0"/>
          </a:p>
        </p:txBody>
      </p:sp>
      <p:sp>
        <p:nvSpPr>
          <p:cNvPr id="35" name="Shape 33"/>
          <p:cNvSpPr/>
          <p:nvPr/>
        </p:nvSpPr>
        <p:spPr>
          <a:xfrm>
            <a:off x="3200400" y="3383280"/>
            <a:ext cx="2697480" cy="320040"/>
          </a:xfrm>
          <a:prstGeom prst="rect">
            <a:avLst/>
          </a:prstGeom>
          <a:solidFill>
            <a:srgbClr val="FFF5F5"/>
          </a:solidFill>
          <a:ln w="12700">
            <a:solidFill>
              <a:srgbClr val="E0E0E0"/>
            </a:solidFill>
            <a:prstDash val="solid"/>
          </a:ln>
        </p:spPr>
      </p:sp>
      <p:sp>
        <p:nvSpPr>
          <p:cNvPr id="36" name="Text 34"/>
          <p:cNvSpPr/>
          <p:nvPr/>
        </p:nvSpPr>
        <p:spPr>
          <a:xfrm>
            <a:off x="3291840" y="3383280"/>
            <a:ext cx="2514600" cy="320040"/>
          </a:xfrm>
          <a:prstGeom prst="rect">
            <a:avLst/>
          </a:prstGeom>
          <a:noFill/>
          <a:ln/>
        </p:spPr>
        <p:txBody>
          <a:bodyPr wrap="square" lIns="0" tIns="0" rIns="0" bIns="0" rtlCol="0" anchor="ctr"/>
          <a:lstStyle/>
          <a:p>
            <a:pPr marL="0" indent="0" algn="l">
              <a:buNone/>
            </a:pPr>
            <a:r>
              <a:rPr lang="en-US" sz="950" dirty="0">
                <a:solidFill>
                  <a:srgbClr val="E50914"/>
                </a:solidFill>
                <a:latin typeface="Calibri" pitchFamily="34" charset="0"/>
                <a:ea typeface="Calibri" pitchFamily="34" charset="-122"/>
                <a:cs typeface="Calibri" pitchFamily="34" charset="-120"/>
              </a:rPr>
              <a:t>글로벌 확장 시 적용 어려움</a:t>
            </a:r>
            <a:endParaRPr lang="en-US" sz="950" dirty="0"/>
          </a:p>
        </p:txBody>
      </p:sp>
      <p:sp>
        <p:nvSpPr>
          <p:cNvPr id="37" name="Shape 35"/>
          <p:cNvSpPr/>
          <p:nvPr/>
        </p:nvSpPr>
        <p:spPr>
          <a:xfrm>
            <a:off x="3200400" y="3730752"/>
            <a:ext cx="2697480" cy="320040"/>
          </a:xfrm>
          <a:prstGeom prst="rect">
            <a:avLst/>
          </a:prstGeom>
          <a:solidFill>
            <a:srgbClr val="FFFFFF"/>
          </a:solidFill>
          <a:ln w="12700">
            <a:solidFill>
              <a:srgbClr val="E0E0E0"/>
            </a:solidFill>
            <a:prstDash val="solid"/>
          </a:ln>
        </p:spPr>
      </p:sp>
      <p:sp>
        <p:nvSpPr>
          <p:cNvPr id="38" name="Text 36"/>
          <p:cNvSpPr/>
          <p:nvPr/>
        </p:nvSpPr>
        <p:spPr>
          <a:xfrm>
            <a:off x="3291840" y="3730752"/>
            <a:ext cx="2514600" cy="320040"/>
          </a:xfrm>
          <a:prstGeom prst="rect">
            <a:avLst/>
          </a:prstGeom>
          <a:noFill/>
          <a:ln/>
        </p:spPr>
        <p:txBody>
          <a:bodyPr wrap="square" lIns="0" tIns="0" rIns="0" bIns="0" rtlCol="0" anchor="ctr"/>
          <a:lstStyle/>
          <a:p>
            <a:pPr marL="0" indent="0" algn="l">
              <a:buNone/>
            </a:pPr>
            <a:r>
              <a:rPr lang="en-US" sz="950" dirty="0">
                <a:solidFill>
                  <a:srgbClr val="E50914"/>
                </a:solidFill>
                <a:latin typeface="Calibri" pitchFamily="34" charset="0"/>
                <a:ea typeface="Calibri" pitchFamily="34" charset="-122"/>
                <a:cs typeface="Calibri" pitchFamily="34" charset="-120"/>
              </a:rPr>
              <a:t>직원 증가로 일관성 저하</a:t>
            </a:r>
            <a:endParaRPr lang="en-US" sz="950" dirty="0"/>
          </a:p>
        </p:txBody>
      </p:sp>
      <p:sp>
        <p:nvSpPr>
          <p:cNvPr id="39" name="Shape 37"/>
          <p:cNvSpPr/>
          <p:nvPr/>
        </p:nvSpPr>
        <p:spPr>
          <a:xfrm>
            <a:off x="3200400" y="4078224"/>
            <a:ext cx="2697480" cy="320040"/>
          </a:xfrm>
          <a:prstGeom prst="rect">
            <a:avLst/>
          </a:prstGeom>
          <a:solidFill>
            <a:srgbClr val="FFF5F5"/>
          </a:solidFill>
          <a:ln w="12700">
            <a:solidFill>
              <a:srgbClr val="E0E0E0"/>
            </a:solidFill>
            <a:prstDash val="solid"/>
          </a:ln>
        </p:spPr>
      </p:sp>
      <p:sp>
        <p:nvSpPr>
          <p:cNvPr id="40" name="Text 38"/>
          <p:cNvSpPr/>
          <p:nvPr/>
        </p:nvSpPr>
        <p:spPr>
          <a:xfrm>
            <a:off x="3291840" y="4078224"/>
            <a:ext cx="2514600" cy="320040"/>
          </a:xfrm>
          <a:prstGeom prst="rect">
            <a:avLst/>
          </a:prstGeom>
          <a:noFill/>
          <a:ln/>
        </p:spPr>
        <p:txBody>
          <a:bodyPr wrap="square" lIns="0" tIns="0" rIns="0" bIns="0" rtlCol="0" anchor="ctr"/>
          <a:lstStyle/>
          <a:p>
            <a:pPr marL="0" indent="0" algn="l">
              <a:buNone/>
            </a:pPr>
            <a:r>
              <a:rPr lang="en-US" sz="950" dirty="0">
                <a:solidFill>
                  <a:srgbClr val="E50914"/>
                </a:solidFill>
                <a:latin typeface="Calibri" pitchFamily="34" charset="0"/>
                <a:ea typeface="Calibri" pitchFamily="34" charset="-122"/>
                <a:cs typeface="Calibri" pitchFamily="34" charset="-120"/>
              </a:rPr>
              <a:t>"이 문화가 확장 가능할까?"</a:t>
            </a:r>
            <a:endParaRPr lang="en-US" sz="950" dirty="0"/>
          </a:p>
        </p:txBody>
      </p:sp>
      <p:sp>
        <p:nvSpPr>
          <p:cNvPr id="41" name="Shape 39"/>
          <p:cNvSpPr/>
          <p:nvPr/>
        </p:nvSpPr>
        <p:spPr>
          <a:xfrm>
            <a:off x="6126480" y="1280160"/>
            <a:ext cx="2697480" cy="365760"/>
          </a:xfrm>
          <a:prstGeom prst="rect">
            <a:avLst/>
          </a:prstGeom>
          <a:solidFill>
            <a:srgbClr val="E50914"/>
          </a:solidFill>
          <a:ln w="12700">
            <a:solidFill>
              <a:srgbClr val="E50914"/>
            </a:solidFill>
            <a:prstDash val="solid"/>
          </a:ln>
        </p:spPr>
      </p:sp>
      <p:sp>
        <p:nvSpPr>
          <p:cNvPr id="42" name="Text 40"/>
          <p:cNvSpPr/>
          <p:nvPr/>
        </p:nvSpPr>
        <p:spPr>
          <a:xfrm>
            <a:off x="6126480" y="1280160"/>
            <a:ext cx="26974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③ 사업 환경 변화</a:t>
            </a:r>
            <a:endParaRPr lang="en-US" sz="1100" dirty="0"/>
          </a:p>
        </p:txBody>
      </p:sp>
      <p:sp>
        <p:nvSpPr>
          <p:cNvPr id="45" name="Shape 43"/>
          <p:cNvSpPr/>
          <p:nvPr/>
        </p:nvSpPr>
        <p:spPr>
          <a:xfrm>
            <a:off x="6126480" y="2011680"/>
            <a:ext cx="2697480" cy="320040"/>
          </a:xfrm>
          <a:prstGeom prst="rect">
            <a:avLst/>
          </a:prstGeom>
          <a:solidFill>
            <a:srgbClr val="F1F8F1"/>
          </a:solidFill>
          <a:ln w="12700">
            <a:solidFill>
              <a:srgbClr val="E0E0E0"/>
            </a:solidFill>
            <a:prstDash val="solid"/>
          </a:ln>
        </p:spPr>
      </p:sp>
      <p:sp>
        <p:nvSpPr>
          <p:cNvPr id="46" name="Text 44"/>
          <p:cNvSpPr/>
          <p:nvPr/>
        </p:nvSpPr>
        <p:spPr>
          <a:xfrm>
            <a:off x="6217920" y="2011680"/>
            <a:ext cx="2514600" cy="320040"/>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성과 중심 명확한 기준</a:t>
            </a:r>
            <a:endParaRPr lang="en-US" sz="950" dirty="0"/>
          </a:p>
        </p:txBody>
      </p:sp>
      <p:sp>
        <p:nvSpPr>
          <p:cNvPr id="47" name="Shape 45"/>
          <p:cNvSpPr/>
          <p:nvPr/>
        </p:nvSpPr>
        <p:spPr>
          <a:xfrm>
            <a:off x="6126480" y="2359152"/>
            <a:ext cx="2697480" cy="320040"/>
          </a:xfrm>
          <a:prstGeom prst="rect">
            <a:avLst/>
          </a:prstGeom>
          <a:solidFill>
            <a:srgbClr val="FFFFFF"/>
          </a:solidFill>
          <a:ln w="12700">
            <a:solidFill>
              <a:srgbClr val="E0E0E0"/>
            </a:solidFill>
            <a:prstDash val="solid"/>
          </a:ln>
        </p:spPr>
      </p:sp>
      <p:sp>
        <p:nvSpPr>
          <p:cNvPr id="48" name="Text 46"/>
          <p:cNvSpPr/>
          <p:nvPr/>
        </p:nvSpPr>
        <p:spPr>
          <a:xfrm>
            <a:off x="6217920" y="2359152"/>
            <a:ext cx="2514600" cy="320040"/>
          </a:xfrm>
          <a:prstGeom prst="rect">
            <a:avLst/>
          </a:prstGeom>
          <a:noFill/>
          <a:ln/>
        </p:spPr>
        <p:txBody>
          <a:bodyPr wrap="square" lIns="0" tIns="0" rIns="0" bIns="0" rtlCol="0" anchor="ctr"/>
          <a:lstStyle/>
          <a:p>
            <a:pPr marL="0" indent="0" algn="l">
              <a:buNone/>
            </a:pPr>
            <a:r>
              <a:rPr lang="ko-KR" altLang="en-US" sz="950" dirty="0" err="1" smtClean="0">
                <a:solidFill>
                  <a:srgbClr val="2A2A2A"/>
                </a:solidFill>
                <a:latin typeface="Calibri" pitchFamily="34" charset="0"/>
                <a:cs typeface="Calibri" pitchFamily="34" charset="-120"/>
              </a:rPr>
              <a:t>효과성</a:t>
            </a:r>
            <a:r>
              <a:rPr lang="ko-KR" altLang="en-US" sz="950" dirty="0" smtClean="0">
                <a:solidFill>
                  <a:srgbClr val="2A2A2A"/>
                </a:solidFill>
                <a:latin typeface="Calibri" pitchFamily="34" charset="0"/>
                <a:cs typeface="Calibri" pitchFamily="34" charset="-120"/>
              </a:rPr>
              <a:t> </a:t>
            </a:r>
            <a:r>
              <a:rPr lang="en-US" altLang="ko-KR" sz="950" dirty="0" smtClean="0">
                <a:solidFill>
                  <a:srgbClr val="2A2A2A"/>
                </a:solidFill>
                <a:latin typeface="Calibri" pitchFamily="34" charset="0"/>
                <a:cs typeface="Calibri" pitchFamily="34" charset="-120"/>
              </a:rPr>
              <a:t>&gt; </a:t>
            </a:r>
            <a:r>
              <a:rPr lang="ko-KR" altLang="en-US" sz="950" dirty="0" smtClean="0">
                <a:solidFill>
                  <a:srgbClr val="2A2A2A"/>
                </a:solidFill>
                <a:latin typeface="Calibri" pitchFamily="34" charset="0"/>
                <a:cs typeface="Calibri" pitchFamily="34" charset="-120"/>
              </a:rPr>
              <a:t>효율성</a:t>
            </a:r>
            <a:endParaRPr lang="en-US" sz="950" dirty="0"/>
          </a:p>
        </p:txBody>
      </p:sp>
      <p:sp>
        <p:nvSpPr>
          <p:cNvPr id="49" name="Shape 47"/>
          <p:cNvSpPr/>
          <p:nvPr/>
        </p:nvSpPr>
        <p:spPr>
          <a:xfrm>
            <a:off x="6126480" y="2706624"/>
            <a:ext cx="2697480" cy="320040"/>
          </a:xfrm>
          <a:prstGeom prst="rect">
            <a:avLst/>
          </a:prstGeom>
          <a:solidFill>
            <a:srgbClr val="F1F8F1"/>
          </a:solidFill>
          <a:ln w="12700">
            <a:solidFill>
              <a:srgbClr val="E0E0E0"/>
            </a:solidFill>
            <a:prstDash val="solid"/>
          </a:ln>
        </p:spPr>
      </p:sp>
      <p:sp>
        <p:nvSpPr>
          <p:cNvPr id="50" name="Text 48"/>
          <p:cNvSpPr/>
          <p:nvPr/>
        </p:nvSpPr>
        <p:spPr>
          <a:xfrm>
            <a:off x="6217920" y="2706624"/>
            <a:ext cx="2514600" cy="320040"/>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빠른 환경 적응력</a:t>
            </a:r>
            <a:endParaRPr lang="en-US" sz="950" dirty="0"/>
          </a:p>
        </p:txBody>
      </p:sp>
      <p:sp>
        <p:nvSpPr>
          <p:cNvPr id="53" name="Shape 51"/>
          <p:cNvSpPr/>
          <p:nvPr/>
        </p:nvSpPr>
        <p:spPr>
          <a:xfrm>
            <a:off x="6126480" y="3383280"/>
            <a:ext cx="2697480" cy="320040"/>
          </a:xfrm>
          <a:prstGeom prst="rect">
            <a:avLst/>
          </a:prstGeom>
          <a:solidFill>
            <a:srgbClr val="FFF5F5"/>
          </a:solidFill>
          <a:ln w="12700">
            <a:solidFill>
              <a:srgbClr val="E0E0E0"/>
            </a:solidFill>
            <a:prstDash val="solid"/>
          </a:ln>
        </p:spPr>
      </p:sp>
      <p:sp>
        <p:nvSpPr>
          <p:cNvPr id="54" name="Text 52"/>
          <p:cNvSpPr/>
          <p:nvPr/>
        </p:nvSpPr>
        <p:spPr>
          <a:xfrm>
            <a:off x="6217920" y="3383280"/>
            <a:ext cx="2514600" cy="320040"/>
          </a:xfrm>
          <a:prstGeom prst="rect">
            <a:avLst/>
          </a:prstGeom>
          <a:noFill/>
          <a:ln/>
        </p:spPr>
        <p:txBody>
          <a:bodyPr wrap="square" lIns="0" tIns="0" rIns="0" bIns="0" rtlCol="0" anchor="ctr"/>
          <a:lstStyle/>
          <a:p>
            <a:pPr marL="0" indent="0" algn="l">
              <a:buNone/>
            </a:pPr>
            <a:r>
              <a:rPr lang="en-US" sz="950" dirty="0">
                <a:solidFill>
                  <a:srgbClr val="E50914"/>
                </a:solidFill>
                <a:latin typeface="Calibri" pitchFamily="34" charset="0"/>
                <a:ea typeface="Calibri" pitchFamily="34" charset="-122"/>
                <a:cs typeface="Calibri" pitchFamily="34" charset="-120"/>
              </a:rPr>
              <a:t>성장→성숙 단계 전환 시 충돌</a:t>
            </a:r>
            <a:endParaRPr lang="en-US" sz="950" dirty="0"/>
          </a:p>
        </p:txBody>
      </p:sp>
      <p:sp>
        <p:nvSpPr>
          <p:cNvPr id="55" name="Shape 53"/>
          <p:cNvSpPr/>
          <p:nvPr/>
        </p:nvSpPr>
        <p:spPr>
          <a:xfrm>
            <a:off x="6126480" y="3730752"/>
            <a:ext cx="2697480" cy="320040"/>
          </a:xfrm>
          <a:prstGeom prst="rect">
            <a:avLst/>
          </a:prstGeom>
          <a:solidFill>
            <a:srgbClr val="FFFFFF"/>
          </a:solidFill>
          <a:ln w="12700">
            <a:solidFill>
              <a:srgbClr val="E0E0E0"/>
            </a:solidFill>
            <a:prstDash val="solid"/>
          </a:ln>
        </p:spPr>
      </p:sp>
      <p:sp>
        <p:nvSpPr>
          <p:cNvPr id="56" name="Text 54"/>
          <p:cNvSpPr/>
          <p:nvPr/>
        </p:nvSpPr>
        <p:spPr>
          <a:xfrm>
            <a:off x="6217920" y="3730752"/>
            <a:ext cx="2514600" cy="320040"/>
          </a:xfrm>
          <a:prstGeom prst="rect">
            <a:avLst/>
          </a:prstGeom>
          <a:noFill/>
          <a:ln/>
        </p:spPr>
        <p:txBody>
          <a:bodyPr wrap="square" lIns="0" tIns="0" rIns="0" bIns="0" rtlCol="0" anchor="ctr"/>
          <a:lstStyle/>
          <a:p>
            <a:pPr marL="0" indent="0" algn="l">
              <a:buNone/>
            </a:pPr>
            <a:r>
              <a:rPr lang="en-US" sz="950" dirty="0">
                <a:solidFill>
                  <a:srgbClr val="E50914"/>
                </a:solidFill>
                <a:latin typeface="Calibri" pitchFamily="34" charset="0"/>
                <a:ea typeface="Calibri" pitchFamily="34" charset="-122"/>
                <a:cs typeface="Calibri" pitchFamily="34" charset="-120"/>
              </a:rPr>
              <a:t>비용 통제와 자유 문화 상충</a:t>
            </a:r>
            <a:endParaRPr lang="en-US" sz="950" dirty="0"/>
          </a:p>
        </p:txBody>
      </p:sp>
      <p:sp>
        <p:nvSpPr>
          <p:cNvPr id="57" name="Shape 55"/>
          <p:cNvSpPr/>
          <p:nvPr/>
        </p:nvSpPr>
        <p:spPr>
          <a:xfrm>
            <a:off x="6126480" y="4078224"/>
            <a:ext cx="2697480" cy="320040"/>
          </a:xfrm>
          <a:prstGeom prst="rect">
            <a:avLst/>
          </a:prstGeom>
          <a:solidFill>
            <a:srgbClr val="FFF5F5"/>
          </a:solidFill>
          <a:ln w="12700">
            <a:solidFill>
              <a:srgbClr val="E0E0E0"/>
            </a:solidFill>
            <a:prstDash val="solid"/>
          </a:ln>
        </p:spPr>
      </p:sp>
      <p:sp>
        <p:nvSpPr>
          <p:cNvPr id="58" name="Text 56"/>
          <p:cNvSpPr/>
          <p:nvPr/>
        </p:nvSpPr>
        <p:spPr>
          <a:xfrm>
            <a:off x="6217920" y="4078224"/>
            <a:ext cx="2514600" cy="320040"/>
          </a:xfrm>
          <a:prstGeom prst="rect">
            <a:avLst/>
          </a:prstGeom>
          <a:noFill/>
          <a:ln/>
        </p:spPr>
        <p:txBody>
          <a:bodyPr wrap="square" lIns="0" tIns="0" rIns="0" bIns="0" rtlCol="0" anchor="ctr"/>
          <a:lstStyle/>
          <a:p>
            <a:pPr marL="0" indent="0" algn="l">
              <a:buNone/>
            </a:pPr>
            <a:r>
              <a:rPr lang="en-US" sz="950" dirty="0">
                <a:solidFill>
                  <a:srgbClr val="E50914"/>
                </a:solidFill>
                <a:latin typeface="Calibri" pitchFamily="34" charset="0"/>
                <a:ea typeface="Calibri" pitchFamily="34" charset="-122"/>
                <a:cs typeface="Calibri" pitchFamily="34" charset="-120"/>
              </a:rPr>
              <a:t>콘텐츠 전략 변화와 마찰</a:t>
            </a:r>
            <a:endParaRPr lang="en-US" sz="9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4" name="Text 2"/>
          <p:cNvSpPr/>
          <p:nvPr/>
        </p:nvSpPr>
        <p:spPr>
          <a:xfrm>
            <a:off x="365760" y="758952"/>
            <a:ext cx="8229600" cy="365760"/>
          </a:xfrm>
          <a:prstGeom prst="rect">
            <a:avLst/>
          </a:prstGeom>
          <a:noFill/>
          <a:ln/>
        </p:spPr>
        <p:txBody>
          <a:bodyPr wrap="square" lIns="0" tIns="0" rIns="0" bIns="0" rtlCol="0" anchor="ctr"/>
          <a:lstStyle/>
          <a:p>
            <a:r>
              <a:rPr lang="en-US" altLang="ko-KR" sz="2400" b="1" dirty="0">
                <a:solidFill>
                  <a:srgbClr val="FF0000"/>
                </a:solidFill>
                <a:latin typeface="Arial Black" panose="020B0A04020102020204" pitchFamily="34" charset="0"/>
              </a:rPr>
              <a:t>Netflix</a:t>
            </a:r>
            <a:r>
              <a:rPr lang="en-US" altLang="ko-KR" sz="2400" b="1" dirty="0">
                <a:solidFill>
                  <a:schemeClr val="bg1"/>
                </a:solidFill>
                <a:latin typeface="Arial Black" panose="020B0A04020102020204" pitchFamily="34" charset="0"/>
              </a:rPr>
              <a:t> Culture Sustainability : </a:t>
            </a:r>
            <a:r>
              <a:rPr lang="ko-KR" altLang="en-US" sz="2400" b="1" dirty="0">
                <a:solidFill>
                  <a:schemeClr val="bg1"/>
                </a:solidFill>
              </a:rPr>
              <a:t>핵심 문제 </a:t>
            </a:r>
            <a:r>
              <a:rPr lang="en-US" altLang="ko-KR" sz="2400" b="1" dirty="0">
                <a:solidFill>
                  <a:schemeClr val="bg1"/>
                </a:solidFill>
              </a:rPr>
              <a:t>3</a:t>
            </a:r>
            <a:r>
              <a:rPr lang="ko-KR" altLang="en-US" sz="2400" b="1" dirty="0">
                <a:solidFill>
                  <a:schemeClr val="bg1"/>
                </a:solidFill>
              </a:rPr>
              <a:t>가지</a:t>
            </a:r>
            <a:endParaRPr lang="en-US" altLang="ko-KR" dirty="0">
              <a:solidFill>
                <a:schemeClr val="bg1"/>
              </a:solidFill>
            </a:endParaRPr>
          </a:p>
        </p:txBody>
      </p:sp>
      <p:sp>
        <p:nvSpPr>
          <p:cNvPr id="55" name="Shape 0"/>
          <p:cNvSpPr/>
          <p:nvPr/>
        </p:nvSpPr>
        <p:spPr>
          <a:xfrm>
            <a:off x="0" y="0"/>
            <a:ext cx="9144000" cy="640080"/>
          </a:xfrm>
          <a:prstGeom prst="rect">
            <a:avLst/>
          </a:prstGeom>
          <a:solidFill>
            <a:srgbClr val="E50914"/>
          </a:solidFill>
          <a:ln w="12700">
            <a:solidFill>
              <a:srgbClr val="E50914"/>
            </a:solidFill>
            <a:prstDash val="solid"/>
          </a:ln>
        </p:spPr>
      </p:sp>
      <p:sp>
        <p:nvSpPr>
          <p:cNvPr id="56" name="Text 1"/>
          <p:cNvSpPr/>
          <p:nvPr/>
        </p:nvSpPr>
        <p:spPr>
          <a:xfrm>
            <a:off x="274320" y="0"/>
            <a:ext cx="8595360" cy="640080"/>
          </a:xfrm>
          <a:prstGeom prst="rect">
            <a:avLst/>
          </a:prstGeom>
          <a:noFill/>
          <a:ln/>
        </p:spPr>
        <p:txBody>
          <a:bodyPr wrap="square" lIns="0" tIns="0" rIns="0" bIns="0" rtlCol="0" anchor="ctr"/>
          <a:lstStyle/>
          <a:p>
            <a:r>
              <a:rPr lang="ko-KR" altLang="en-US" sz="1300" b="1" dirty="0">
                <a:solidFill>
                  <a:srgbClr val="FFFFFF"/>
                </a:solidFill>
                <a:latin typeface="Calibri" pitchFamily="34" charset="0"/>
                <a:ea typeface="Calibri" pitchFamily="34" charset="-122"/>
                <a:cs typeface="Calibri" pitchFamily="34" charset="-120"/>
              </a:rPr>
              <a:t>이 문화가 성과는 높지만</a:t>
            </a:r>
            <a:r>
              <a:rPr lang="en-US" altLang="ko-KR" sz="1300" b="1" dirty="0">
                <a:solidFill>
                  <a:srgbClr val="FFFFFF"/>
                </a:solidFill>
                <a:latin typeface="Calibri" pitchFamily="34" charset="0"/>
                <a:ea typeface="Calibri" pitchFamily="34" charset="-122"/>
                <a:cs typeface="Calibri" pitchFamily="34" charset="-120"/>
              </a:rPr>
              <a:t>, scale·</a:t>
            </a:r>
            <a:r>
              <a:rPr lang="ko-KR" altLang="en-US" sz="1300" b="1" dirty="0">
                <a:solidFill>
                  <a:srgbClr val="FFFFFF"/>
                </a:solidFill>
                <a:latin typeface="Calibri" pitchFamily="34" charset="0"/>
                <a:ea typeface="Calibri" pitchFamily="34" charset="-122"/>
                <a:cs typeface="Calibri" pitchFamily="34" charset="-120"/>
              </a:rPr>
              <a:t>공정성</a:t>
            </a:r>
            <a:r>
              <a:rPr lang="en-US" altLang="ko-KR" sz="1300" b="1" dirty="0">
                <a:solidFill>
                  <a:srgbClr val="FFFFFF"/>
                </a:solidFill>
                <a:latin typeface="Calibri" pitchFamily="34" charset="0"/>
                <a:ea typeface="Calibri" pitchFamily="34" charset="-122"/>
                <a:cs typeface="Calibri" pitchFamily="34" charset="-120"/>
              </a:rPr>
              <a:t>·</a:t>
            </a:r>
            <a:r>
              <a:rPr lang="ko-KR" altLang="en-US" sz="1300" b="1" dirty="0">
                <a:solidFill>
                  <a:srgbClr val="FFFFFF"/>
                </a:solidFill>
                <a:latin typeface="Calibri" pitchFamily="34" charset="0"/>
                <a:ea typeface="Calibri" pitchFamily="34" charset="-122"/>
                <a:cs typeface="Calibri" pitchFamily="34" charset="-120"/>
              </a:rPr>
              <a:t>지속가능성 측면에서 의문이 </a:t>
            </a:r>
            <a:r>
              <a:rPr lang="ko-KR" altLang="en-US" sz="1300" b="1" dirty="0" smtClean="0">
                <a:solidFill>
                  <a:srgbClr val="FFFFFF"/>
                </a:solidFill>
                <a:latin typeface="Calibri" pitchFamily="34" charset="0"/>
                <a:ea typeface="Calibri" pitchFamily="34" charset="-122"/>
                <a:cs typeface="Calibri" pitchFamily="34" charset="-120"/>
              </a:rPr>
              <a:t>제기됨</a:t>
            </a:r>
            <a:endParaRPr lang="en-US" sz="1300" dirty="0"/>
          </a:p>
        </p:txBody>
      </p:sp>
      <p:sp>
        <p:nvSpPr>
          <p:cNvPr id="57" name="Text 40"/>
          <p:cNvSpPr/>
          <p:nvPr/>
        </p:nvSpPr>
        <p:spPr>
          <a:xfrm>
            <a:off x="365760" y="4617720"/>
            <a:ext cx="8412480" cy="384048"/>
          </a:xfrm>
          <a:prstGeom prst="rect">
            <a:avLst/>
          </a:prstGeom>
          <a:noFill/>
          <a:ln/>
        </p:spPr>
        <p:txBody>
          <a:bodyPr wrap="square" lIns="0" tIns="0" rIns="0" bIns="0" rtlCol="0" anchor="ctr"/>
          <a:lstStyle/>
          <a:p>
            <a:pPr algn="ctr"/>
            <a:r>
              <a:rPr lang="ko-KR" altLang="en-US" sz="1100" b="1" dirty="0" smtClean="0">
                <a:solidFill>
                  <a:srgbClr val="E50914"/>
                </a:solidFill>
                <a:latin typeface="Calibri" pitchFamily="34" charset="0"/>
                <a:ea typeface="Calibri" pitchFamily="34" charset="-122"/>
                <a:cs typeface="Calibri" pitchFamily="34" charset="-120"/>
              </a:rPr>
              <a:t>결국 </a:t>
            </a:r>
            <a:r>
              <a:rPr lang="ko-KR" altLang="en-US" sz="1100" b="1" dirty="0">
                <a:solidFill>
                  <a:srgbClr val="E50914"/>
                </a:solidFill>
                <a:latin typeface="Calibri" pitchFamily="34" charset="0"/>
                <a:ea typeface="Calibri" pitchFamily="34" charset="-122"/>
                <a:cs typeface="Calibri" pitchFamily="34" charset="-120"/>
              </a:rPr>
              <a:t>이 세 가지는 모두 </a:t>
            </a:r>
            <a:r>
              <a:rPr lang="en-US" altLang="ko-KR" sz="1100" b="1" dirty="0">
                <a:solidFill>
                  <a:srgbClr val="E50914"/>
                </a:solidFill>
                <a:latin typeface="Calibri" pitchFamily="34" charset="0"/>
                <a:ea typeface="Calibri" pitchFamily="34" charset="-122"/>
                <a:cs typeface="Calibri" pitchFamily="34" charset="-120"/>
              </a:rPr>
              <a:t>'</a:t>
            </a:r>
            <a:r>
              <a:rPr lang="ko-KR" altLang="en-US" sz="1100" b="1" dirty="0">
                <a:solidFill>
                  <a:srgbClr val="E50914"/>
                </a:solidFill>
                <a:latin typeface="Calibri" pitchFamily="34" charset="0"/>
                <a:ea typeface="Calibri" pitchFamily="34" charset="-122"/>
                <a:cs typeface="Calibri" pitchFamily="34" charset="-120"/>
              </a:rPr>
              <a:t>이 문화를 유지할 수 있는가</a:t>
            </a:r>
            <a:r>
              <a:rPr lang="en-US" altLang="ko-KR" sz="1100" b="1" dirty="0">
                <a:solidFill>
                  <a:srgbClr val="E50914"/>
                </a:solidFill>
                <a:latin typeface="Calibri" pitchFamily="34" charset="0"/>
                <a:ea typeface="Calibri" pitchFamily="34" charset="-122"/>
                <a:cs typeface="Calibri" pitchFamily="34" charset="-120"/>
              </a:rPr>
              <a:t>, </a:t>
            </a:r>
            <a:r>
              <a:rPr lang="ko-KR" altLang="en-US" sz="1100" b="1" dirty="0">
                <a:solidFill>
                  <a:srgbClr val="E50914"/>
                </a:solidFill>
                <a:latin typeface="Calibri" pitchFamily="34" charset="0"/>
                <a:ea typeface="Calibri" pitchFamily="34" charset="-122"/>
                <a:cs typeface="Calibri" pitchFamily="34" charset="-120"/>
              </a:rPr>
              <a:t>아니면 바꿔야 하는가</a:t>
            </a:r>
            <a:r>
              <a:rPr lang="en-US" altLang="ko-KR" sz="1100" b="1" dirty="0">
                <a:solidFill>
                  <a:srgbClr val="E50914"/>
                </a:solidFill>
                <a:latin typeface="Calibri" pitchFamily="34" charset="0"/>
                <a:ea typeface="Calibri" pitchFamily="34" charset="-122"/>
                <a:cs typeface="Calibri" pitchFamily="34" charset="-120"/>
              </a:rPr>
              <a:t>'</a:t>
            </a:r>
            <a:r>
              <a:rPr lang="ko-KR" altLang="en-US" sz="1100" b="1" dirty="0">
                <a:solidFill>
                  <a:srgbClr val="E50914"/>
                </a:solidFill>
                <a:latin typeface="Calibri" pitchFamily="34" charset="0"/>
                <a:ea typeface="Calibri" pitchFamily="34" charset="-122"/>
                <a:cs typeface="Calibri" pitchFamily="34" charset="-120"/>
              </a:rPr>
              <a:t>라는 질문으로 </a:t>
            </a:r>
            <a:r>
              <a:rPr lang="ko-KR" altLang="en-US" sz="1100" b="1" dirty="0" smtClean="0">
                <a:solidFill>
                  <a:srgbClr val="E50914"/>
                </a:solidFill>
                <a:latin typeface="Calibri" pitchFamily="34" charset="0"/>
                <a:ea typeface="Calibri" pitchFamily="34" charset="-122"/>
                <a:cs typeface="Calibri" pitchFamily="34" charset="-120"/>
              </a:rPr>
              <a:t>연결됨</a:t>
            </a:r>
            <a:r>
              <a:rPr lang="en-US" altLang="ko-KR" sz="1100" b="1" dirty="0" smtClean="0">
                <a:solidFill>
                  <a:srgbClr val="E50914"/>
                </a:solidFill>
                <a:latin typeface="Calibri" pitchFamily="34" charset="0"/>
                <a:ea typeface="Calibri" pitchFamily="34" charset="-122"/>
                <a:cs typeface="Calibri" pitchFamily="34" charset="-120"/>
              </a:rPr>
              <a:t>.</a:t>
            </a:r>
            <a:endParaRPr lang="en-US" sz="1100" dirty="0"/>
          </a:p>
        </p:txBody>
      </p:sp>
      <p:pic>
        <p:nvPicPr>
          <p:cNvPr id="58" name="그림 57"/>
          <p:cNvPicPr>
            <a:picLocks noChangeAspect="1"/>
          </p:cNvPicPr>
          <p:nvPr/>
        </p:nvPicPr>
        <p:blipFill>
          <a:blip r:embed="rId3"/>
          <a:stretch>
            <a:fillRect/>
          </a:stretch>
        </p:blipFill>
        <p:spPr>
          <a:xfrm>
            <a:off x="274320" y="1463040"/>
            <a:ext cx="8605925" cy="1647227"/>
          </a:xfrm>
          <a:prstGeom prst="rect">
            <a:avLst/>
          </a:prstGeom>
        </p:spPr>
      </p:pic>
    </p:spTree>
    <p:extLst>
      <p:ext uri="{BB962C8B-B14F-4D97-AF65-F5344CB8AC3E}">
        <p14:creationId xmlns:p14="http://schemas.microsoft.com/office/powerpoint/2010/main" val="40849608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4" name="Text 2"/>
          <p:cNvSpPr/>
          <p:nvPr/>
        </p:nvSpPr>
        <p:spPr>
          <a:xfrm>
            <a:off x="896006" y="2072070"/>
            <a:ext cx="7772400" cy="502920"/>
          </a:xfrm>
          <a:prstGeom prst="rect">
            <a:avLst/>
          </a:prstGeom>
          <a:noFill/>
          <a:ln/>
        </p:spPr>
        <p:txBody>
          <a:bodyPr wrap="square" lIns="0" tIns="0" rIns="0" bIns="0" rtlCol="0" anchor="ctr"/>
          <a:lstStyle/>
          <a:p>
            <a:pPr algn="ctr"/>
            <a:r>
              <a:rPr lang="en-US" altLang="ko-KR" sz="7200" dirty="0" smtClean="0">
                <a:solidFill>
                  <a:srgbClr val="FFFFFF"/>
                </a:solidFill>
                <a:ea typeface="Arial Black" pitchFamily="34" charset="-122"/>
                <a:cs typeface="Arial Black" pitchFamily="34" charset="-120"/>
              </a:rPr>
              <a:t>Binge vs </a:t>
            </a:r>
            <a:r>
              <a:rPr lang="en-US" altLang="ko-KR" sz="7200" dirty="0">
                <a:solidFill>
                  <a:srgbClr val="FFFFFF"/>
                </a:solidFill>
                <a:ea typeface="Arial Black" pitchFamily="34" charset="-122"/>
                <a:cs typeface="Arial Black" pitchFamily="34" charset="-120"/>
              </a:rPr>
              <a:t>Cringe?</a:t>
            </a:r>
            <a:endParaRPr lang="en-US" altLang="ko-KR" sz="7200" dirty="0"/>
          </a:p>
        </p:txBody>
      </p:sp>
      <p:sp>
        <p:nvSpPr>
          <p:cNvPr id="7" name="Shape 0"/>
          <p:cNvSpPr/>
          <p:nvPr/>
        </p:nvSpPr>
        <p:spPr>
          <a:xfrm>
            <a:off x="0" y="0"/>
            <a:ext cx="9144000" cy="640080"/>
          </a:xfrm>
          <a:prstGeom prst="rect">
            <a:avLst/>
          </a:prstGeom>
          <a:solidFill>
            <a:srgbClr val="E50914"/>
          </a:solidFill>
          <a:ln w="12700">
            <a:solidFill>
              <a:srgbClr val="E50914"/>
            </a:solidFill>
            <a:prstDash val="solid"/>
          </a:ln>
        </p:spPr>
        <p:txBody>
          <a:bodyPr anchor="ctr"/>
          <a:lstStyle/>
          <a:p>
            <a:r>
              <a:rPr lang="ko-KR" altLang="en-US" sz="1300" b="1" dirty="0" smtClean="0">
                <a:solidFill>
                  <a:schemeClr val="bg1"/>
                </a:solidFill>
              </a:rPr>
              <a:t>    </a:t>
            </a:r>
            <a:r>
              <a:rPr lang="en-US" altLang="ko-KR" sz="1300" b="1" dirty="0" smtClean="0">
                <a:solidFill>
                  <a:schemeClr val="bg1"/>
                </a:solidFill>
              </a:rPr>
              <a:t>Netflix</a:t>
            </a:r>
            <a:r>
              <a:rPr lang="ko-KR" altLang="en-US" sz="1300" b="1" dirty="0">
                <a:solidFill>
                  <a:schemeClr val="bg1"/>
                </a:solidFill>
              </a:rPr>
              <a:t>의 </a:t>
            </a:r>
            <a:r>
              <a:rPr lang="ko-KR" altLang="en-US" sz="1300" b="1" dirty="0" smtClean="0">
                <a:solidFill>
                  <a:schemeClr val="bg1"/>
                </a:solidFill>
              </a:rPr>
              <a:t>선택은</a:t>
            </a:r>
            <a:r>
              <a:rPr lang="en-US" altLang="ko-KR" sz="1300" b="1" dirty="0" smtClean="0">
                <a:solidFill>
                  <a:schemeClr val="bg1"/>
                </a:solidFill>
              </a:rPr>
              <a:t>?</a:t>
            </a:r>
            <a:endParaRPr lang="en-US" altLang="ko-KR" sz="1300" b="1" dirty="0">
              <a:solidFill>
                <a:schemeClr val="bg1"/>
              </a:solidFill>
            </a:endParaRPr>
          </a:p>
        </p:txBody>
      </p:sp>
      <p:sp>
        <p:nvSpPr>
          <p:cNvPr id="10" name="Text 2"/>
          <p:cNvSpPr/>
          <p:nvPr/>
        </p:nvSpPr>
        <p:spPr>
          <a:xfrm>
            <a:off x="685800" y="2996192"/>
            <a:ext cx="7772400" cy="502920"/>
          </a:xfrm>
          <a:prstGeom prst="rect">
            <a:avLst/>
          </a:prstGeom>
          <a:noFill/>
          <a:ln/>
        </p:spPr>
        <p:txBody>
          <a:bodyPr wrap="square" lIns="0" tIns="0" rIns="0" bIns="0" rtlCol="0" anchor="ctr"/>
          <a:lstStyle/>
          <a:p>
            <a:pPr algn="ctr"/>
            <a:r>
              <a:rPr lang="ko-KR" altLang="en-US" sz="4400" b="1" dirty="0" smtClean="0">
                <a:solidFill>
                  <a:srgbClr val="FFFFFF"/>
                </a:solidFill>
                <a:ea typeface="Arial Black" pitchFamily="34" charset="-122"/>
                <a:cs typeface="Arial Black" pitchFamily="34" charset="-120"/>
              </a:rPr>
              <a:t>유지</a:t>
            </a:r>
            <a:r>
              <a:rPr lang="en-US" altLang="ko-KR" sz="4400" b="1" dirty="0" smtClean="0">
                <a:solidFill>
                  <a:srgbClr val="FFFFFF"/>
                </a:solidFill>
                <a:ea typeface="Arial Black" pitchFamily="34" charset="-122"/>
                <a:cs typeface="Arial Black" pitchFamily="34" charset="-120"/>
              </a:rPr>
              <a:t>                </a:t>
            </a:r>
            <a:r>
              <a:rPr lang="ko-KR" altLang="en-US" sz="4400" b="1" dirty="0" smtClean="0">
                <a:solidFill>
                  <a:srgbClr val="FFFFFF"/>
                </a:solidFill>
                <a:ea typeface="Arial Black" pitchFamily="34" charset="-122"/>
                <a:cs typeface="Arial Black" pitchFamily="34" charset="-120"/>
              </a:rPr>
              <a:t>변화</a:t>
            </a:r>
            <a:endParaRPr lang="en-US" altLang="ko-KR" sz="4400" b="1" dirty="0"/>
          </a:p>
        </p:txBody>
      </p:sp>
    </p:spTree>
    <p:extLst>
      <p:ext uri="{BB962C8B-B14F-4D97-AF65-F5344CB8AC3E}">
        <p14:creationId xmlns:p14="http://schemas.microsoft.com/office/powerpoint/2010/main" val="2731224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ko-KR" altLang="en-US" sz="1300" b="1" dirty="0" smtClean="0">
                <a:solidFill>
                  <a:srgbClr val="FFFFFF"/>
                </a:solidFill>
                <a:latin typeface="Calibri" pitchFamily="34" charset="0"/>
                <a:ea typeface="Calibri" pitchFamily="34" charset="-122"/>
                <a:cs typeface="Calibri" pitchFamily="34" charset="-120"/>
              </a:rPr>
              <a:t>현재 </a:t>
            </a:r>
            <a:r>
              <a:rPr lang="en-US" altLang="ko-KR" sz="1300" b="1" dirty="0" smtClean="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위기의</a:t>
            </a:r>
            <a:r>
              <a:rPr lang="en-US" sz="1300" b="1" dirty="0" smtClean="0">
                <a:solidFill>
                  <a:srgbClr val="FFFFFF"/>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2022에서 </a:t>
            </a:r>
            <a:r>
              <a:rPr lang="en-US" sz="1300" b="1" dirty="0" err="1">
                <a:solidFill>
                  <a:srgbClr val="FFFFFF"/>
                </a:solidFill>
                <a:latin typeface="Calibri" pitchFamily="34" charset="0"/>
                <a:ea typeface="Calibri" pitchFamily="34" charset="-122"/>
                <a:cs typeface="Calibri" pitchFamily="34" charset="-120"/>
              </a:rPr>
              <a:t>재가속의</a:t>
            </a:r>
            <a:r>
              <a:rPr lang="en-US" sz="1300" b="1" dirty="0">
                <a:solidFill>
                  <a:srgbClr val="FFFFFF"/>
                </a:solidFill>
                <a:latin typeface="Calibri" pitchFamily="34" charset="0"/>
                <a:ea typeface="Calibri" pitchFamily="34" charset="-122"/>
                <a:cs typeface="Calibri" pitchFamily="34" charset="-120"/>
              </a:rPr>
              <a:t> </a:t>
            </a:r>
            <a:r>
              <a:rPr lang="ko-KR" altLang="en-US" sz="1300" b="1" dirty="0" smtClean="0">
                <a:solidFill>
                  <a:srgbClr val="FFFFFF"/>
                </a:solidFill>
                <a:latin typeface="Calibri" pitchFamily="34" charset="0"/>
                <a:ea typeface="Calibri" pitchFamily="34" charset="-122"/>
                <a:cs typeface="Calibri" pitchFamily="34" charset="-120"/>
              </a:rPr>
              <a:t>미래</a:t>
            </a:r>
            <a:r>
              <a:rPr lang="en-US" sz="1300" b="1" dirty="0" smtClean="0">
                <a:solidFill>
                  <a:srgbClr val="FFFFFF"/>
                </a:solidFill>
                <a:latin typeface="Calibri" pitchFamily="34" charset="0"/>
                <a:ea typeface="Calibri" pitchFamily="34" charset="-122"/>
                <a:cs typeface="Calibri" pitchFamily="34" charset="-120"/>
              </a:rPr>
              <a:t>로</a:t>
            </a:r>
            <a:endParaRPr lang="en-US" sz="1300" dirty="0"/>
          </a:p>
        </p:txBody>
      </p:sp>
      <p:sp>
        <p:nvSpPr>
          <p:cNvPr id="4" name="Text 2"/>
          <p:cNvSpPr/>
          <p:nvPr/>
        </p:nvSpPr>
        <p:spPr>
          <a:xfrm>
            <a:off x="365760" y="749808"/>
            <a:ext cx="8412480" cy="365760"/>
          </a:xfrm>
          <a:prstGeom prst="rect">
            <a:avLst/>
          </a:prstGeom>
          <a:noFill/>
          <a:ln/>
        </p:spPr>
        <p:txBody>
          <a:bodyPr wrap="square" lIns="0" tIns="0" rIns="0" bIns="0" rtlCol="0" anchor="ctr"/>
          <a:lstStyle/>
          <a:p>
            <a:pPr marL="0" indent="0" algn="l">
              <a:buNone/>
            </a:pPr>
            <a:r>
              <a:rPr lang="en-US" sz="2000" b="1" dirty="0">
                <a:solidFill>
                  <a:srgbClr val="141414"/>
                </a:solidFill>
                <a:latin typeface="Arial Black" pitchFamily="34" charset="0"/>
                <a:ea typeface="Arial Black" pitchFamily="34" charset="-122"/>
                <a:cs typeface="Arial Black" pitchFamily="34" charset="-120"/>
              </a:rPr>
              <a:t>2022 vs </a:t>
            </a:r>
            <a:r>
              <a:rPr lang="en-US" sz="2000" b="1" dirty="0" smtClean="0">
                <a:solidFill>
                  <a:srgbClr val="141414"/>
                </a:solidFill>
                <a:latin typeface="Arial Black" pitchFamily="34" charset="0"/>
                <a:ea typeface="Arial Black" pitchFamily="34" charset="-122"/>
                <a:cs typeface="Arial Black" pitchFamily="34" charset="-120"/>
              </a:rPr>
              <a:t>2025 : </a:t>
            </a:r>
            <a:r>
              <a:rPr lang="ko-KR" altLang="en-US" sz="2000" b="1" dirty="0" err="1" smtClean="0">
                <a:solidFill>
                  <a:srgbClr val="141414"/>
                </a:solidFill>
                <a:latin typeface="Arial Black" pitchFamily="34" charset="0"/>
                <a:ea typeface="Arial Black" pitchFamily="34" charset="-122"/>
                <a:cs typeface="Arial Black" pitchFamily="34" charset="-120"/>
              </a:rPr>
              <a:t>턴어라운드</a:t>
            </a:r>
            <a:endParaRPr lang="en-US" sz="2000" dirty="0"/>
          </a:p>
        </p:txBody>
      </p:sp>
      <p:sp>
        <p:nvSpPr>
          <p:cNvPr id="5" name="Shape 3"/>
          <p:cNvSpPr/>
          <p:nvPr/>
        </p:nvSpPr>
        <p:spPr>
          <a:xfrm>
            <a:off x="297180" y="1171338"/>
            <a:ext cx="8503920" cy="274320"/>
          </a:xfrm>
          <a:prstGeom prst="rect">
            <a:avLst/>
          </a:prstGeom>
          <a:solidFill>
            <a:srgbClr val="141414"/>
          </a:solidFill>
          <a:ln w="12700">
            <a:solidFill>
              <a:srgbClr val="141414"/>
            </a:solidFill>
            <a:prstDash val="solid"/>
          </a:ln>
        </p:spPr>
      </p:sp>
      <p:sp>
        <p:nvSpPr>
          <p:cNvPr id="6" name="Text 4"/>
          <p:cNvSpPr/>
          <p:nvPr/>
        </p:nvSpPr>
        <p:spPr>
          <a:xfrm>
            <a:off x="297180" y="1187814"/>
            <a:ext cx="850392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 핵심 실적 비교 ]</a:t>
            </a:r>
            <a:endParaRPr lang="en-US" sz="1000" dirty="0"/>
          </a:p>
        </p:txBody>
      </p:sp>
      <p:sp>
        <p:nvSpPr>
          <p:cNvPr id="7" name="Shape 5"/>
          <p:cNvSpPr/>
          <p:nvPr/>
        </p:nvSpPr>
        <p:spPr>
          <a:xfrm>
            <a:off x="297180" y="1499616"/>
            <a:ext cx="1745748" cy="329184"/>
          </a:xfrm>
          <a:prstGeom prst="rect">
            <a:avLst/>
          </a:prstGeom>
          <a:solidFill>
            <a:srgbClr val="141414"/>
          </a:solidFill>
          <a:ln w="12700">
            <a:solidFill>
              <a:srgbClr val="141414"/>
            </a:solidFill>
            <a:prstDash val="solid"/>
          </a:ln>
        </p:spPr>
      </p:sp>
      <p:sp>
        <p:nvSpPr>
          <p:cNvPr id="8" name="Text 6"/>
          <p:cNvSpPr/>
          <p:nvPr/>
        </p:nvSpPr>
        <p:spPr>
          <a:xfrm>
            <a:off x="297180" y="1499616"/>
            <a:ext cx="1745748"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지표</a:t>
            </a:r>
            <a:endParaRPr lang="en-US" sz="1000" dirty="0"/>
          </a:p>
        </p:txBody>
      </p:sp>
      <p:sp>
        <p:nvSpPr>
          <p:cNvPr id="15" name="Shape 13"/>
          <p:cNvSpPr/>
          <p:nvPr/>
        </p:nvSpPr>
        <p:spPr>
          <a:xfrm>
            <a:off x="297180" y="1847088"/>
            <a:ext cx="1745748" cy="329184"/>
          </a:xfrm>
          <a:prstGeom prst="rect">
            <a:avLst/>
          </a:prstGeom>
          <a:solidFill>
            <a:srgbClr val="F5F5F5"/>
          </a:solidFill>
          <a:ln w="12700">
            <a:solidFill>
              <a:srgbClr val="DDDDDD"/>
            </a:solidFill>
            <a:prstDash val="solid"/>
          </a:ln>
        </p:spPr>
      </p:sp>
      <p:sp>
        <p:nvSpPr>
          <p:cNvPr id="16" name="Text 14"/>
          <p:cNvSpPr/>
          <p:nvPr/>
        </p:nvSpPr>
        <p:spPr>
          <a:xfrm>
            <a:off x="352044" y="1847088"/>
            <a:ext cx="1682496" cy="329184"/>
          </a:xfrm>
          <a:prstGeom prst="rect">
            <a:avLst/>
          </a:prstGeom>
          <a:noFill/>
          <a:ln/>
        </p:spPr>
        <p:txBody>
          <a:bodyPr wrap="square" lIns="0" tIns="0" rIns="0" bIns="0" rtlCol="0" anchor="ctr"/>
          <a:lstStyle/>
          <a:p>
            <a:pPr marL="0" indent="0" algn="l">
              <a:buNone/>
            </a:pPr>
            <a:r>
              <a:rPr lang="en-US" sz="1000" dirty="0" err="1">
                <a:solidFill>
                  <a:srgbClr val="2A2A2A"/>
                </a:solidFill>
                <a:latin typeface="Calibri" pitchFamily="34" charset="0"/>
                <a:ea typeface="Calibri" pitchFamily="34" charset="-122"/>
                <a:cs typeface="Calibri" pitchFamily="34" charset="-120"/>
              </a:rPr>
              <a:t>매출</a:t>
            </a:r>
            <a:r>
              <a:rPr lang="en-US" sz="1000" dirty="0">
                <a:solidFill>
                  <a:srgbClr val="2A2A2A"/>
                </a:solidFill>
                <a:latin typeface="Calibri" pitchFamily="34" charset="0"/>
                <a:ea typeface="Calibri" pitchFamily="34" charset="-122"/>
                <a:cs typeface="Calibri" pitchFamily="34" charset="-120"/>
              </a:rPr>
              <a:t> </a:t>
            </a:r>
            <a:r>
              <a:rPr lang="en-US" sz="1000" dirty="0" err="1" smtClean="0">
                <a:solidFill>
                  <a:srgbClr val="2A2A2A"/>
                </a:solidFill>
                <a:latin typeface="Calibri" pitchFamily="34" charset="0"/>
                <a:ea typeface="Calibri" pitchFamily="34" charset="-122"/>
                <a:cs typeface="Calibri" pitchFamily="34" charset="-120"/>
              </a:rPr>
              <a:t>성장률</a:t>
            </a:r>
            <a:r>
              <a:rPr lang="en-US" sz="1000" dirty="0" smtClean="0">
                <a:solidFill>
                  <a:srgbClr val="2A2A2A"/>
                </a:solidFill>
                <a:latin typeface="Calibri" pitchFamily="34" charset="0"/>
                <a:ea typeface="Calibri" pitchFamily="34" charset="-122"/>
                <a:cs typeface="Calibri" pitchFamily="34" charset="-120"/>
              </a:rPr>
              <a:t> (YoY)</a:t>
            </a:r>
            <a:endParaRPr lang="en-US" sz="1000" dirty="0"/>
          </a:p>
        </p:txBody>
      </p:sp>
      <p:sp>
        <p:nvSpPr>
          <p:cNvPr id="23" name="Shape 21"/>
          <p:cNvSpPr/>
          <p:nvPr/>
        </p:nvSpPr>
        <p:spPr>
          <a:xfrm>
            <a:off x="297180" y="2194560"/>
            <a:ext cx="1745748" cy="329184"/>
          </a:xfrm>
          <a:prstGeom prst="rect">
            <a:avLst/>
          </a:prstGeom>
          <a:solidFill>
            <a:srgbClr val="FFFFFF"/>
          </a:solidFill>
          <a:ln w="12700">
            <a:solidFill>
              <a:srgbClr val="DDDDDD"/>
            </a:solidFill>
            <a:prstDash val="solid"/>
          </a:ln>
        </p:spPr>
      </p:sp>
      <p:sp>
        <p:nvSpPr>
          <p:cNvPr id="24" name="Text 22"/>
          <p:cNvSpPr/>
          <p:nvPr/>
        </p:nvSpPr>
        <p:spPr>
          <a:xfrm>
            <a:off x="352044" y="2194560"/>
            <a:ext cx="1682496" cy="329184"/>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영업이익률</a:t>
            </a:r>
            <a:endParaRPr lang="en-US" sz="1000" dirty="0"/>
          </a:p>
        </p:txBody>
      </p:sp>
      <p:sp>
        <p:nvSpPr>
          <p:cNvPr id="31" name="Shape 29"/>
          <p:cNvSpPr/>
          <p:nvPr/>
        </p:nvSpPr>
        <p:spPr>
          <a:xfrm>
            <a:off x="297180" y="2542032"/>
            <a:ext cx="1745748" cy="329184"/>
          </a:xfrm>
          <a:prstGeom prst="rect">
            <a:avLst/>
          </a:prstGeom>
          <a:solidFill>
            <a:srgbClr val="F5F5F5"/>
          </a:solidFill>
          <a:ln w="12700">
            <a:solidFill>
              <a:srgbClr val="DDDDDD"/>
            </a:solidFill>
            <a:prstDash val="solid"/>
          </a:ln>
        </p:spPr>
      </p:sp>
      <p:sp>
        <p:nvSpPr>
          <p:cNvPr id="32" name="Text 30"/>
          <p:cNvSpPr/>
          <p:nvPr/>
        </p:nvSpPr>
        <p:spPr>
          <a:xfrm>
            <a:off x="352044" y="2542032"/>
            <a:ext cx="1682496" cy="329184"/>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유료 멤버십</a:t>
            </a:r>
            <a:endParaRPr lang="en-US" sz="1000" dirty="0"/>
          </a:p>
        </p:txBody>
      </p:sp>
      <p:sp>
        <p:nvSpPr>
          <p:cNvPr id="39" name="Shape 37"/>
          <p:cNvSpPr/>
          <p:nvPr/>
        </p:nvSpPr>
        <p:spPr>
          <a:xfrm>
            <a:off x="297180" y="2889504"/>
            <a:ext cx="1745748" cy="329184"/>
          </a:xfrm>
          <a:prstGeom prst="rect">
            <a:avLst/>
          </a:prstGeom>
          <a:solidFill>
            <a:srgbClr val="FFFFFF"/>
          </a:solidFill>
          <a:ln w="12700">
            <a:solidFill>
              <a:srgbClr val="DDDDDD"/>
            </a:solidFill>
            <a:prstDash val="solid"/>
          </a:ln>
        </p:spPr>
      </p:sp>
      <p:sp>
        <p:nvSpPr>
          <p:cNvPr id="40" name="Text 38"/>
          <p:cNvSpPr/>
          <p:nvPr/>
        </p:nvSpPr>
        <p:spPr>
          <a:xfrm>
            <a:off x="352044" y="2889504"/>
            <a:ext cx="1682496" cy="329184"/>
          </a:xfrm>
          <a:prstGeom prst="rect">
            <a:avLst/>
          </a:prstGeom>
          <a:noFill/>
          <a:ln/>
        </p:spPr>
        <p:txBody>
          <a:bodyPr wrap="square" lIns="0" tIns="0" rIns="0" bIns="0" rtlCol="0" anchor="ctr"/>
          <a:lstStyle/>
          <a:p>
            <a:r>
              <a:rPr lang="en-US" sz="1000" dirty="0" err="1">
                <a:solidFill>
                  <a:srgbClr val="2A2A2A"/>
                </a:solidFill>
                <a:latin typeface="Calibri" pitchFamily="34" charset="0"/>
                <a:ea typeface="Calibri" pitchFamily="34" charset="-122"/>
                <a:cs typeface="Calibri" pitchFamily="34" charset="-120"/>
              </a:rPr>
              <a:t>주가</a:t>
            </a:r>
            <a:r>
              <a:rPr lang="en-US" sz="1000" dirty="0">
                <a:solidFill>
                  <a:srgbClr val="2A2A2A"/>
                </a:solidFill>
                <a:latin typeface="Calibri" pitchFamily="34" charset="0"/>
                <a:ea typeface="Calibri" pitchFamily="34" charset="-122"/>
                <a:cs typeface="Calibri" pitchFamily="34" charset="-120"/>
              </a:rPr>
              <a:t> </a:t>
            </a:r>
            <a:r>
              <a:rPr lang="en-US" sz="1000" dirty="0" smtClean="0">
                <a:solidFill>
                  <a:srgbClr val="2A2A2A"/>
                </a:solidFill>
                <a:latin typeface="Calibri" pitchFamily="34" charset="0"/>
                <a:ea typeface="Calibri" pitchFamily="34" charset="-122"/>
                <a:cs typeface="Calibri" pitchFamily="34" charset="-120"/>
              </a:rPr>
              <a:t>(</a:t>
            </a:r>
            <a:r>
              <a:rPr lang="en-US" altLang="ko-KR" sz="1000" dirty="0"/>
              <a:t>YoY</a:t>
            </a:r>
            <a:r>
              <a:rPr lang="en-US" sz="1000" dirty="0" smtClean="0">
                <a:solidFill>
                  <a:srgbClr val="2A2A2A"/>
                </a:solidFill>
                <a:latin typeface="Calibri" pitchFamily="34" charset="0"/>
                <a:ea typeface="Calibri" pitchFamily="34" charset="-122"/>
                <a:cs typeface="Calibri" pitchFamily="34" charset="-120"/>
              </a:rPr>
              <a:t>)</a:t>
            </a:r>
            <a:endParaRPr lang="en-US" sz="1000" dirty="0"/>
          </a:p>
        </p:txBody>
      </p:sp>
      <p:grpSp>
        <p:nvGrpSpPr>
          <p:cNvPr id="76" name="그룹 75"/>
          <p:cNvGrpSpPr/>
          <p:nvPr/>
        </p:nvGrpSpPr>
        <p:grpSpPr>
          <a:xfrm>
            <a:off x="2145576" y="1499616"/>
            <a:ext cx="2285128" cy="1719072"/>
            <a:chOff x="2852928" y="1499616"/>
            <a:chExt cx="2285128" cy="1719072"/>
          </a:xfrm>
        </p:grpSpPr>
        <p:sp>
          <p:nvSpPr>
            <p:cNvPr id="9" name="Shape 7"/>
            <p:cNvSpPr/>
            <p:nvPr/>
          </p:nvSpPr>
          <p:spPr>
            <a:xfrm>
              <a:off x="2852928" y="1499616"/>
              <a:ext cx="2285128" cy="329184"/>
            </a:xfrm>
            <a:prstGeom prst="rect">
              <a:avLst/>
            </a:prstGeom>
            <a:solidFill>
              <a:srgbClr val="8B0000"/>
            </a:solidFill>
            <a:ln w="12700">
              <a:solidFill>
                <a:srgbClr val="8B0000"/>
              </a:solidFill>
              <a:prstDash val="solid"/>
            </a:ln>
          </p:spPr>
        </p:sp>
        <p:sp>
          <p:nvSpPr>
            <p:cNvPr id="10" name="Text 8"/>
            <p:cNvSpPr/>
            <p:nvPr/>
          </p:nvSpPr>
          <p:spPr>
            <a:xfrm>
              <a:off x="2852928" y="1499616"/>
              <a:ext cx="2285128"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2022 (위기)</a:t>
              </a:r>
              <a:endParaRPr lang="en-US" sz="1000" dirty="0"/>
            </a:p>
          </p:txBody>
        </p:sp>
        <p:sp>
          <p:nvSpPr>
            <p:cNvPr id="17" name="Shape 15"/>
            <p:cNvSpPr/>
            <p:nvPr/>
          </p:nvSpPr>
          <p:spPr>
            <a:xfrm>
              <a:off x="2852928" y="1847088"/>
              <a:ext cx="2285128" cy="329184"/>
            </a:xfrm>
            <a:prstGeom prst="rect">
              <a:avLst/>
            </a:prstGeom>
            <a:solidFill>
              <a:srgbClr val="FFEEEE"/>
            </a:solidFill>
            <a:ln w="12700">
              <a:solidFill>
                <a:srgbClr val="DDDDDD"/>
              </a:solidFill>
              <a:prstDash val="solid"/>
            </a:ln>
          </p:spPr>
        </p:sp>
        <p:sp>
          <p:nvSpPr>
            <p:cNvPr id="18" name="Text 16"/>
            <p:cNvSpPr/>
            <p:nvPr/>
          </p:nvSpPr>
          <p:spPr>
            <a:xfrm>
              <a:off x="2907792" y="1847088"/>
              <a:ext cx="2205228" cy="329184"/>
            </a:xfrm>
            <a:prstGeom prst="rect">
              <a:avLst/>
            </a:prstGeom>
            <a:noFill/>
            <a:ln/>
          </p:spPr>
          <p:txBody>
            <a:bodyPr wrap="square" lIns="0" tIns="0" rIns="0" bIns="0" rtlCol="0" anchor="ctr"/>
            <a:lstStyle/>
            <a:p>
              <a:pPr marL="0" indent="0" algn="ctr">
                <a:buNone/>
              </a:pPr>
              <a:r>
                <a:rPr lang="en-US" sz="1000" dirty="0">
                  <a:solidFill>
                    <a:srgbClr val="AA0000"/>
                  </a:solidFill>
                  <a:latin typeface="Calibri" pitchFamily="34" charset="0"/>
                  <a:ea typeface="Calibri" pitchFamily="34" charset="-122"/>
                  <a:cs typeface="Calibri" pitchFamily="34" charset="-120"/>
                </a:rPr>
                <a:t>구독자 감소 / 성장 -</a:t>
              </a:r>
              <a:endParaRPr lang="en-US" sz="1000" dirty="0"/>
            </a:p>
          </p:txBody>
        </p:sp>
        <p:sp>
          <p:nvSpPr>
            <p:cNvPr id="25" name="Shape 23"/>
            <p:cNvSpPr/>
            <p:nvPr/>
          </p:nvSpPr>
          <p:spPr>
            <a:xfrm>
              <a:off x="2852928" y="2194560"/>
              <a:ext cx="2285128" cy="329184"/>
            </a:xfrm>
            <a:prstGeom prst="rect">
              <a:avLst/>
            </a:prstGeom>
            <a:solidFill>
              <a:srgbClr val="FFFFFF"/>
            </a:solidFill>
            <a:ln w="12700">
              <a:solidFill>
                <a:srgbClr val="DDDDDD"/>
              </a:solidFill>
              <a:prstDash val="solid"/>
            </a:ln>
          </p:spPr>
        </p:sp>
        <p:sp>
          <p:nvSpPr>
            <p:cNvPr id="26" name="Text 24"/>
            <p:cNvSpPr/>
            <p:nvPr/>
          </p:nvSpPr>
          <p:spPr>
            <a:xfrm>
              <a:off x="2907792" y="2194560"/>
              <a:ext cx="2205228" cy="329184"/>
            </a:xfrm>
            <a:prstGeom prst="rect">
              <a:avLst/>
            </a:prstGeom>
            <a:noFill/>
            <a:ln/>
          </p:spPr>
          <p:txBody>
            <a:bodyPr wrap="square" lIns="0" tIns="0" rIns="0" bIns="0" rtlCol="0" anchor="ctr"/>
            <a:lstStyle/>
            <a:p>
              <a:pPr marL="0" indent="0" algn="ctr">
                <a:buNone/>
              </a:pPr>
              <a:r>
                <a:rPr lang="en-US" sz="1000" dirty="0">
                  <a:solidFill>
                    <a:srgbClr val="AA0000"/>
                  </a:solidFill>
                  <a:latin typeface="Calibri" pitchFamily="34" charset="0"/>
                  <a:ea typeface="Calibri" pitchFamily="34" charset="-122"/>
                  <a:cs typeface="Calibri" pitchFamily="34" charset="-120"/>
                </a:rPr>
                <a:t>약 18%</a:t>
              </a:r>
              <a:endParaRPr lang="en-US" sz="1000" dirty="0"/>
            </a:p>
          </p:txBody>
        </p:sp>
        <p:sp>
          <p:nvSpPr>
            <p:cNvPr id="33" name="Shape 31"/>
            <p:cNvSpPr/>
            <p:nvPr/>
          </p:nvSpPr>
          <p:spPr>
            <a:xfrm>
              <a:off x="2852928" y="2542032"/>
              <a:ext cx="2285128" cy="329184"/>
            </a:xfrm>
            <a:prstGeom prst="rect">
              <a:avLst/>
            </a:prstGeom>
            <a:solidFill>
              <a:srgbClr val="FFEEEE"/>
            </a:solidFill>
            <a:ln w="12700">
              <a:solidFill>
                <a:srgbClr val="DDDDDD"/>
              </a:solidFill>
              <a:prstDash val="solid"/>
            </a:ln>
          </p:spPr>
        </p:sp>
        <p:sp>
          <p:nvSpPr>
            <p:cNvPr id="34" name="Text 32"/>
            <p:cNvSpPr/>
            <p:nvPr/>
          </p:nvSpPr>
          <p:spPr>
            <a:xfrm>
              <a:off x="2907792" y="2542032"/>
              <a:ext cx="2205228" cy="329184"/>
            </a:xfrm>
            <a:prstGeom prst="rect">
              <a:avLst/>
            </a:prstGeom>
            <a:noFill/>
            <a:ln/>
          </p:spPr>
          <p:txBody>
            <a:bodyPr wrap="square" lIns="0" tIns="0" rIns="0" bIns="0" rtlCol="0" anchor="ctr"/>
            <a:lstStyle/>
            <a:p>
              <a:pPr marL="0" indent="0" algn="ctr">
                <a:buNone/>
              </a:pPr>
              <a:r>
                <a:rPr lang="en-US" sz="1000" dirty="0">
                  <a:solidFill>
                    <a:srgbClr val="AA0000"/>
                  </a:solidFill>
                  <a:latin typeface="Calibri" pitchFamily="34" charset="0"/>
                  <a:ea typeface="Calibri" pitchFamily="34" charset="-122"/>
                  <a:cs typeface="Calibri" pitchFamily="34" charset="-120"/>
                </a:rPr>
                <a:t>2.21억 (순감소)</a:t>
              </a:r>
              <a:endParaRPr lang="en-US" sz="1000" dirty="0"/>
            </a:p>
          </p:txBody>
        </p:sp>
        <p:sp>
          <p:nvSpPr>
            <p:cNvPr id="41" name="Shape 39"/>
            <p:cNvSpPr/>
            <p:nvPr/>
          </p:nvSpPr>
          <p:spPr>
            <a:xfrm>
              <a:off x="2852928" y="2889504"/>
              <a:ext cx="2285128" cy="329184"/>
            </a:xfrm>
            <a:prstGeom prst="rect">
              <a:avLst/>
            </a:prstGeom>
            <a:solidFill>
              <a:srgbClr val="FFFFFF"/>
            </a:solidFill>
            <a:ln w="12700">
              <a:solidFill>
                <a:srgbClr val="DDDDDD"/>
              </a:solidFill>
              <a:prstDash val="solid"/>
            </a:ln>
          </p:spPr>
        </p:sp>
        <p:sp>
          <p:nvSpPr>
            <p:cNvPr id="42" name="Text 40"/>
            <p:cNvSpPr/>
            <p:nvPr/>
          </p:nvSpPr>
          <p:spPr>
            <a:xfrm>
              <a:off x="2907792" y="2889504"/>
              <a:ext cx="2205228" cy="329184"/>
            </a:xfrm>
            <a:prstGeom prst="rect">
              <a:avLst/>
            </a:prstGeom>
            <a:noFill/>
            <a:ln/>
          </p:spPr>
          <p:txBody>
            <a:bodyPr wrap="square" lIns="0" tIns="0" rIns="0" bIns="0" rtlCol="0" anchor="ctr"/>
            <a:lstStyle/>
            <a:p>
              <a:pPr marL="0" indent="0" algn="ctr">
                <a:buNone/>
              </a:pPr>
              <a:r>
                <a:rPr lang="en-US" sz="1000" dirty="0">
                  <a:solidFill>
                    <a:srgbClr val="AA0000"/>
                  </a:solidFill>
                  <a:latin typeface="Calibri" pitchFamily="34" charset="0"/>
                  <a:ea typeface="Calibri" pitchFamily="34" charset="-122"/>
                  <a:cs typeface="Calibri" pitchFamily="34" charset="-120"/>
                </a:rPr>
                <a:t>약 -50% 하락</a:t>
              </a:r>
              <a:endParaRPr lang="en-US" sz="1000" dirty="0"/>
            </a:p>
          </p:txBody>
        </p:sp>
      </p:grpSp>
      <p:sp>
        <p:nvSpPr>
          <p:cNvPr id="48" name="Shape 46"/>
          <p:cNvSpPr/>
          <p:nvPr/>
        </p:nvSpPr>
        <p:spPr>
          <a:xfrm>
            <a:off x="297180" y="3291840"/>
            <a:ext cx="8503920" cy="274320"/>
          </a:xfrm>
          <a:prstGeom prst="rect">
            <a:avLst/>
          </a:prstGeom>
          <a:solidFill>
            <a:srgbClr val="141414"/>
          </a:solidFill>
          <a:ln w="12700">
            <a:solidFill>
              <a:srgbClr val="141414"/>
            </a:solidFill>
            <a:prstDash val="solid"/>
          </a:ln>
        </p:spPr>
      </p:sp>
      <p:sp>
        <p:nvSpPr>
          <p:cNvPr id="49" name="Text 47"/>
          <p:cNvSpPr/>
          <p:nvPr/>
        </p:nvSpPr>
        <p:spPr>
          <a:xfrm>
            <a:off x="297180" y="3291840"/>
            <a:ext cx="850392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 </a:t>
            </a:r>
            <a:r>
              <a:rPr lang="en-US" sz="1000" dirty="0" err="1">
                <a:solidFill>
                  <a:srgbClr val="FFFFFF"/>
                </a:solidFill>
                <a:latin typeface="Calibri" pitchFamily="34" charset="0"/>
                <a:ea typeface="Calibri" pitchFamily="34" charset="-122"/>
                <a:cs typeface="Calibri" pitchFamily="34" charset="-120"/>
              </a:rPr>
              <a:t>사업</a:t>
            </a:r>
            <a:r>
              <a:rPr lang="en-US" sz="1000" dirty="0">
                <a:solidFill>
                  <a:srgbClr val="FFFFFF"/>
                </a:solidFill>
                <a:latin typeface="Calibri" pitchFamily="34" charset="0"/>
                <a:ea typeface="Calibri" pitchFamily="34" charset="-122"/>
                <a:cs typeface="Calibri" pitchFamily="34" charset="-120"/>
              </a:rPr>
              <a:t> </a:t>
            </a:r>
            <a:r>
              <a:rPr lang="en-US" sz="1000" dirty="0" err="1" smtClean="0">
                <a:solidFill>
                  <a:srgbClr val="FFFFFF"/>
                </a:solidFill>
                <a:latin typeface="Calibri" pitchFamily="34" charset="0"/>
                <a:ea typeface="Calibri" pitchFamily="34" charset="-122"/>
                <a:cs typeface="Calibri" pitchFamily="34" charset="-120"/>
              </a:rPr>
              <a:t>다변화</a:t>
            </a:r>
            <a:r>
              <a:rPr lang="en-US" sz="1000" dirty="0" smtClean="0">
                <a:solidFill>
                  <a:srgbClr val="FFFFFF"/>
                </a:solidFill>
                <a:latin typeface="Calibri" pitchFamily="34" charset="0"/>
                <a:ea typeface="Calibri" pitchFamily="34" charset="-122"/>
                <a:cs typeface="Calibri" pitchFamily="34" charset="-120"/>
              </a:rPr>
              <a:t> : </a:t>
            </a:r>
            <a:r>
              <a:rPr lang="en-US" sz="1000" dirty="0">
                <a:solidFill>
                  <a:srgbClr val="FFFFFF"/>
                </a:solidFill>
                <a:latin typeface="Calibri" pitchFamily="34" charset="0"/>
                <a:ea typeface="Calibri" pitchFamily="34" charset="-122"/>
                <a:cs typeface="Calibri" pitchFamily="34" charset="-120"/>
              </a:rPr>
              <a:t>구독 </a:t>
            </a:r>
            <a:r>
              <a:rPr lang="en-US" sz="1000" dirty="0" err="1">
                <a:solidFill>
                  <a:srgbClr val="FFFFFF"/>
                </a:solidFill>
                <a:latin typeface="Calibri" pitchFamily="34" charset="0"/>
                <a:ea typeface="Calibri" pitchFamily="34" charset="-122"/>
                <a:cs typeface="Calibri" pitchFamily="34" charset="-120"/>
              </a:rPr>
              <a:t>단일</a:t>
            </a:r>
            <a:r>
              <a:rPr lang="en-US" sz="1000" dirty="0">
                <a:solidFill>
                  <a:srgbClr val="FFFFFF"/>
                </a:solidFill>
                <a:latin typeface="Calibri" pitchFamily="34" charset="0"/>
                <a:ea typeface="Calibri" pitchFamily="34" charset="-122"/>
                <a:cs typeface="Calibri" pitchFamily="34" charset="-120"/>
              </a:rPr>
              <a:t> </a:t>
            </a:r>
            <a:r>
              <a:rPr lang="en-US" sz="1000" dirty="0" err="1" smtClean="0">
                <a:solidFill>
                  <a:srgbClr val="FFFFFF"/>
                </a:solidFill>
                <a:latin typeface="Calibri" pitchFamily="34" charset="0"/>
                <a:ea typeface="Calibri" pitchFamily="34" charset="-122"/>
                <a:cs typeface="Calibri" pitchFamily="34" charset="-120"/>
              </a:rPr>
              <a:t>모델</a:t>
            </a:r>
            <a:r>
              <a:rPr lang="en-US" sz="1000" dirty="0" smtClean="0">
                <a:solidFill>
                  <a:srgbClr val="FFFFFF"/>
                </a:solidFill>
                <a:latin typeface="Calibri" pitchFamily="34" charset="0"/>
                <a:ea typeface="Calibri" pitchFamily="34" charset="-122"/>
                <a:cs typeface="Calibri" pitchFamily="34" charset="-120"/>
              </a:rPr>
              <a:t> → </a:t>
            </a:r>
            <a:r>
              <a:rPr lang="en-US" sz="1000" dirty="0">
                <a:solidFill>
                  <a:srgbClr val="FFFFFF"/>
                </a:solidFill>
                <a:latin typeface="Calibri" pitchFamily="34" charset="0"/>
                <a:ea typeface="Calibri" pitchFamily="34" charset="-122"/>
                <a:cs typeface="Calibri" pitchFamily="34" charset="-120"/>
              </a:rPr>
              <a:t>멀티 </a:t>
            </a:r>
            <a:r>
              <a:rPr lang="en-US" sz="1000" dirty="0" err="1">
                <a:solidFill>
                  <a:srgbClr val="FFFFFF"/>
                </a:solidFill>
                <a:latin typeface="Calibri" pitchFamily="34" charset="0"/>
                <a:ea typeface="Calibri" pitchFamily="34" charset="-122"/>
                <a:cs typeface="Calibri" pitchFamily="34" charset="-120"/>
              </a:rPr>
              <a:t>레버</a:t>
            </a:r>
            <a:r>
              <a:rPr lang="en-US" sz="1000" dirty="0">
                <a:solidFill>
                  <a:srgbClr val="FFFFFF"/>
                </a:solidFill>
                <a:latin typeface="Calibri" pitchFamily="34" charset="0"/>
                <a:ea typeface="Calibri" pitchFamily="34" charset="-122"/>
                <a:cs typeface="Calibri" pitchFamily="34" charset="-120"/>
              </a:rPr>
              <a:t> </a:t>
            </a:r>
            <a:r>
              <a:rPr lang="en-US" sz="1000" dirty="0" err="1" smtClean="0">
                <a:solidFill>
                  <a:srgbClr val="FFFFFF"/>
                </a:solidFill>
                <a:latin typeface="Calibri" pitchFamily="34" charset="0"/>
                <a:ea typeface="Calibri" pitchFamily="34" charset="-122"/>
                <a:cs typeface="Calibri" pitchFamily="34" charset="-120"/>
              </a:rPr>
              <a:t>플랫폼</a:t>
            </a:r>
            <a:r>
              <a:rPr lang="en-US" sz="1000" dirty="0" smtClean="0">
                <a:solidFill>
                  <a:srgbClr val="FFFFFF"/>
                </a:solidFill>
                <a:latin typeface="Calibri" pitchFamily="34" charset="0"/>
                <a:ea typeface="Calibri" pitchFamily="34" charset="-122"/>
                <a:cs typeface="Calibri" pitchFamily="34" charset="-120"/>
              </a:rPr>
              <a:t> ]</a:t>
            </a:r>
            <a:endParaRPr lang="en-US" sz="1000" dirty="0"/>
          </a:p>
        </p:txBody>
      </p:sp>
      <p:sp>
        <p:nvSpPr>
          <p:cNvPr id="50" name="Shape 48"/>
          <p:cNvSpPr/>
          <p:nvPr/>
        </p:nvSpPr>
        <p:spPr>
          <a:xfrm>
            <a:off x="297180" y="3611880"/>
            <a:ext cx="1682496" cy="1188720"/>
          </a:xfrm>
          <a:prstGeom prst="rect">
            <a:avLst/>
          </a:prstGeom>
          <a:solidFill>
            <a:srgbClr val="F5F5F5"/>
          </a:solidFill>
          <a:ln w="12700">
            <a:solidFill>
              <a:srgbClr val="DDDDDD"/>
            </a:solidFill>
            <a:prstDash val="solid"/>
          </a:ln>
        </p:spPr>
      </p:sp>
      <p:sp>
        <p:nvSpPr>
          <p:cNvPr id="51" name="Shape 49"/>
          <p:cNvSpPr/>
          <p:nvPr/>
        </p:nvSpPr>
        <p:spPr>
          <a:xfrm>
            <a:off x="297180" y="3611880"/>
            <a:ext cx="1682496" cy="292608"/>
          </a:xfrm>
          <a:prstGeom prst="rect">
            <a:avLst/>
          </a:prstGeom>
          <a:solidFill>
            <a:srgbClr val="E50914"/>
          </a:solidFill>
          <a:ln w="12700">
            <a:solidFill>
              <a:srgbClr val="E50914"/>
            </a:solidFill>
            <a:prstDash val="solid"/>
          </a:ln>
        </p:spPr>
      </p:sp>
      <p:sp>
        <p:nvSpPr>
          <p:cNvPr id="52" name="Text 50"/>
          <p:cNvSpPr/>
          <p:nvPr/>
        </p:nvSpPr>
        <p:spPr>
          <a:xfrm>
            <a:off x="297180" y="3611880"/>
            <a:ext cx="168249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광고 요금제</a:t>
            </a:r>
            <a:endParaRPr lang="en-US" sz="950" dirty="0"/>
          </a:p>
        </p:txBody>
      </p:sp>
      <p:sp>
        <p:nvSpPr>
          <p:cNvPr id="53" name="Text 51"/>
          <p:cNvSpPr/>
          <p:nvPr/>
        </p:nvSpPr>
        <p:spPr>
          <a:xfrm>
            <a:off x="370332" y="3931920"/>
            <a:ext cx="1536192" cy="822960"/>
          </a:xfrm>
          <a:prstGeom prst="rect">
            <a:avLst/>
          </a:prstGeom>
          <a:noFill/>
          <a:ln/>
        </p:spPr>
        <p:txBody>
          <a:bodyPr wrap="square" lIns="0" tIns="0" rIns="0" bIns="0" rtlCol="0" anchor="t"/>
          <a:lstStyle/>
          <a:p>
            <a:pPr marL="0" indent="0" algn="l">
              <a:buNone/>
            </a:pPr>
            <a:r>
              <a:rPr lang="en-US" sz="850" dirty="0">
                <a:solidFill>
                  <a:srgbClr val="2A2A2A"/>
                </a:solidFill>
                <a:latin typeface="Calibri" pitchFamily="34" charset="0"/>
                <a:ea typeface="Calibri" pitchFamily="34" charset="-122"/>
                <a:cs typeface="Calibri" pitchFamily="34" charset="-120"/>
              </a:rPr>
              <a:t>Ad-supported 티어 도입. </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smtClean="0">
                <a:solidFill>
                  <a:srgbClr val="2A2A2A"/>
                </a:solidFill>
                <a:latin typeface="Calibri" pitchFamily="34" charset="0"/>
                <a:ea typeface="Calibri" pitchFamily="34" charset="-122"/>
                <a:cs typeface="Calibri" pitchFamily="34" charset="-120"/>
              </a:rPr>
              <a:t>2025 </a:t>
            </a:r>
            <a:r>
              <a:rPr lang="en-US" sz="850" dirty="0">
                <a:solidFill>
                  <a:srgbClr val="2A2A2A"/>
                </a:solidFill>
                <a:latin typeface="Calibri" pitchFamily="34" charset="0"/>
                <a:ea typeface="Calibri" pitchFamily="34" charset="-122"/>
                <a:cs typeface="Calibri" pitchFamily="34" charset="-120"/>
              </a:rPr>
              <a:t>광고매출 $15억+, 2026년 약 2배 전망</a:t>
            </a:r>
            <a:endParaRPr lang="en-US" sz="850" dirty="0"/>
          </a:p>
        </p:txBody>
      </p:sp>
      <p:sp>
        <p:nvSpPr>
          <p:cNvPr id="54" name="Shape 52"/>
          <p:cNvSpPr/>
          <p:nvPr/>
        </p:nvSpPr>
        <p:spPr>
          <a:xfrm>
            <a:off x="2005584" y="3611880"/>
            <a:ext cx="1682496" cy="1188720"/>
          </a:xfrm>
          <a:prstGeom prst="rect">
            <a:avLst/>
          </a:prstGeom>
          <a:solidFill>
            <a:srgbClr val="F5F5F5"/>
          </a:solidFill>
          <a:ln w="12700">
            <a:solidFill>
              <a:srgbClr val="DDDDDD"/>
            </a:solidFill>
            <a:prstDash val="solid"/>
          </a:ln>
        </p:spPr>
      </p:sp>
      <p:sp>
        <p:nvSpPr>
          <p:cNvPr id="55" name="Shape 53"/>
          <p:cNvSpPr/>
          <p:nvPr/>
        </p:nvSpPr>
        <p:spPr>
          <a:xfrm>
            <a:off x="2005584" y="3611880"/>
            <a:ext cx="1682496" cy="292608"/>
          </a:xfrm>
          <a:prstGeom prst="rect">
            <a:avLst/>
          </a:prstGeom>
          <a:solidFill>
            <a:srgbClr val="E50914"/>
          </a:solidFill>
          <a:ln w="12700">
            <a:solidFill>
              <a:srgbClr val="E50914"/>
            </a:solidFill>
            <a:prstDash val="solid"/>
          </a:ln>
        </p:spPr>
      </p:sp>
      <p:sp>
        <p:nvSpPr>
          <p:cNvPr id="56" name="Text 54"/>
          <p:cNvSpPr/>
          <p:nvPr/>
        </p:nvSpPr>
        <p:spPr>
          <a:xfrm>
            <a:off x="1997964" y="3611880"/>
            <a:ext cx="168249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유료 공유 제한</a:t>
            </a:r>
            <a:endParaRPr lang="en-US" sz="950" dirty="0"/>
          </a:p>
        </p:txBody>
      </p:sp>
      <p:sp>
        <p:nvSpPr>
          <p:cNvPr id="57" name="Text 55"/>
          <p:cNvSpPr/>
          <p:nvPr/>
        </p:nvSpPr>
        <p:spPr>
          <a:xfrm>
            <a:off x="2078736" y="3931920"/>
            <a:ext cx="1536192" cy="822960"/>
          </a:xfrm>
          <a:prstGeom prst="rect">
            <a:avLst/>
          </a:prstGeom>
          <a:noFill/>
          <a:ln/>
        </p:spPr>
        <p:txBody>
          <a:bodyPr wrap="square" lIns="0" tIns="0" rIns="0" bIns="0" rtlCol="0" anchor="t"/>
          <a:lstStyle/>
          <a:p>
            <a:pPr marL="0" indent="0" algn="l">
              <a:buNone/>
            </a:pPr>
            <a:r>
              <a:rPr lang="en-US" sz="850" dirty="0">
                <a:solidFill>
                  <a:srgbClr val="2A2A2A"/>
                </a:solidFill>
                <a:latin typeface="Calibri" pitchFamily="34" charset="0"/>
                <a:ea typeface="Calibri" pitchFamily="34" charset="-122"/>
                <a:cs typeface="Calibri" pitchFamily="34" charset="-120"/>
              </a:rPr>
              <a:t>계정 공유 유료화. </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err="1" smtClean="0">
                <a:solidFill>
                  <a:srgbClr val="2A2A2A"/>
                </a:solidFill>
                <a:latin typeface="Calibri" pitchFamily="34" charset="0"/>
                <a:ea typeface="Calibri" pitchFamily="34" charset="-122"/>
                <a:cs typeface="Calibri" pitchFamily="34" charset="-120"/>
              </a:rPr>
              <a:t>즉각적</a:t>
            </a:r>
            <a:r>
              <a:rPr lang="en-US" sz="850" dirty="0" smtClean="0">
                <a:solidFill>
                  <a:srgbClr val="2A2A2A"/>
                </a:solidFill>
                <a:latin typeface="Calibri" pitchFamily="34" charset="0"/>
                <a:ea typeface="Calibri" pitchFamily="34" charset="-122"/>
                <a:cs typeface="Calibri" pitchFamily="34" charset="-120"/>
              </a:rPr>
              <a:t> </a:t>
            </a:r>
            <a:r>
              <a:rPr lang="en-US" sz="850" dirty="0">
                <a:solidFill>
                  <a:srgbClr val="2A2A2A"/>
                </a:solidFill>
                <a:latin typeface="Calibri" pitchFamily="34" charset="0"/>
                <a:ea typeface="Calibri" pitchFamily="34" charset="-122"/>
                <a:cs typeface="Calibri" pitchFamily="34" charset="-120"/>
              </a:rPr>
              <a:t>구독자 증가 및 ARPU </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err="1" smtClean="0">
                <a:solidFill>
                  <a:srgbClr val="2A2A2A"/>
                </a:solidFill>
                <a:latin typeface="Calibri" pitchFamily="34" charset="0"/>
                <a:ea typeface="Calibri" pitchFamily="34" charset="-122"/>
                <a:cs typeface="Calibri" pitchFamily="34" charset="-120"/>
              </a:rPr>
              <a:t>개선</a:t>
            </a:r>
            <a:r>
              <a:rPr lang="en-US" sz="850" dirty="0" smtClean="0">
                <a:solidFill>
                  <a:srgbClr val="2A2A2A"/>
                </a:solidFill>
                <a:latin typeface="Calibri" pitchFamily="34" charset="0"/>
                <a:ea typeface="Calibri" pitchFamily="34" charset="-122"/>
                <a:cs typeface="Calibri" pitchFamily="34" charset="-120"/>
              </a:rPr>
              <a:t> </a:t>
            </a:r>
            <a:r>
              <a:rPr lang="en-US" sz="850" dirty="0">
                <a:solidFill>
                  <a:srgbClr val="2A2A2A"/>
                </a:solidFill>
                <a:latin typeface="Calibri" pitchFamily="34" charset="0"/>
                <a:ea typeface="Calibri" pitchFamily="34" charset="-122"/>
                <a:cs typeface="Calibri" pitchFamily="34" charset="-120"/>
              </a:rPr>
              <a:t>효과</a:t>
            </a:r>
            <a:endParaRPr lang="en-US" sz="850" dirty="0"/>
          </a:p>
        </p:txBody>
      </p:sp>
      <p:sp>
        <p:nvSpPr>
          <p:cNvPr id="58" name="Shape 56"/>
          <p:cNvSpPr/>
          <p:nvPr/>
        </p:nvSpPr>
        <p:spPr>
          <a:xfrm>
            <a:off x="3713988" y="3611880"/>
            <a:ext cx="1682496" cy="1188720"/>
          </a:xfrm>
          <a:prstGeom prst="rect">
            <a:avLst/>
          </a:prstGeom>
          <a:solidFill>
            <a:srgbClr val="F5F5F5"/>
          </a:solidFill>
          <a:ln w="12700">
            <a:solidFill>
              <a:srgbClr val="DDDDDD"/>
            </a:solidFill>
            <a:prstDash val="solid"/>
          </a:ln>
        </p:spPr>
      </p:sp>
      <p:sp>
        <p:nvSpPr>
          <p:cNvPr id="59" name="Shape 57"/>
          <p:cNvSpPr/>
          <p:nvPr/>
        </p:nvSpPr>
        <p:spPr>
          <a:xfrm>
            <a:off x="3713988" y="3611880"/>
            <a:ext cx="1682496" cy="292608"/>
          </a:xfrm>
          <a:prstGeom prst="rect">
            <a:avLst/>
          </a:prstGeom>
          <a:solidFill>
            <a:srgbClr val="E50914"/>
          </a:solidFill>
          <a:ln w="12700">
            <a:solidFill>
              <a:srgbClr val="E50914"/>
            </a:solidFill>
            <a:prstDash val="solid"/>
          </a:ln>
        </p:spPr>
      </p:sp>
      <p:sp>
        <p:nvSpPr>
          <p:cNvPr id="60" name="Text 58"/>
          <p:cNvSpPr/>
          <p:nvPr/>
        </p:nvSpPr>
        <p:spPr>
          <a:xfrm>
            <a:off x="3698748" y="3611880"/>
            <a:ext cx="168249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라이브 콘텐츠</a:t>
            </a:r>
            <a:endParaRPr lang="en-US" sz="950" dirty="0"/>
          </a:p>
        </p:txBody>
      </p:sp>
      <p:sp>
        <p:nvSpPr>
          <p:cNvPr id="61" name="Text 59"/>
          <p:cNvSpPr/>
          <p:nvPr/>
        </p:nvSpPr>
        <p:spPr>
          <a:xfrm>
            <a:off x="3787140" y="3931920"/>
            <a:ext cx="1536192" cy="822960"/>
          </a:xfrm>
          <a:prstGeom prst="rect">
            <a:avLst/>
          </a:prstGeom>
          <a:noFill/>
          <a:ln/>
        </p:spPr>
        <p:txBody>
          <a:bodyPr wrap="square" lIns="0" tIns="0" rIns="0" bIns="0" rtlCol="0" anchor="t"/>
          <a:lstStyle/>
          <a:p>
            <a:pPr marL="0" indent="0" algn="l">
              <a:buNone/>
            </a:pPr>
            <a:r>
              <a:rPr lang="ko-KR" altLang="en-US" sz="850" dirty="0" smtClean="0">
                <a:solidFill>
                  <a:srgbClr val="2A2A2A"/>
                </a:solidFill>
                <a:latin typeface="Calibri" pitchFamily="34" charset="0"/>
                <a:ea typeface="Calibri" pitchFamily="34" charset="-122"/>
                <a:cs typeface="Calibri" pitchFamily="34" charset="-120"/>
              </a:rPr>
              <a:t>음악 중계 </a:t>
            </a:r>
            <a:r>
              <a:rPr lang="en-US" altLang="ko-KR" sz="850" dirty="0" smtClean="0">
                <a:solidFill>
                  <a:srgbClr val="2A2A2A"/>
                </a:solidFill>
                <a:latin typeface="Calibri" pitchFamily="34" charset="0"/>
                <a:ea typeface="Calibri" pitchFamily="34" charset="-122"/>
                <a:cs typeface="Calibri" pitchFamily="34" charset="-120"/>
              </a:rPr>
              <a:t>(BTS)</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err="1" smtClean="0">
                <a:solidFill>
                  <a:srgbClr val="2A2A2A"/>
                </a:solidFill>
                <a:latin typeface="Calibri" pitchFamily="34" charset="0"/>
                <a:ea typeface="Calibri" pitchFamily="34" charset="-122"/>
                <a:cs typeface="Calibri" pitchFamily="34" charset="-120"/>
              </a:rPr>
              <a:t>스포츠</a:t>
            </a:r>
            <a:r>
              <a:rPr lang="en-US" sz="850" dirty="0" smtClean="0">
                <a:solidFill>
                  <a:srgbClr val="2A2A2A"/>
                </a:solidFill>
                <a:latin typeface="Calibri" pitchFamily="34" charset="0"/>
                <a:ea typeface="Calibri" pitchFamily="34" charset="-122"/>
                <a:cs typeface="Calibri" pitchFamily="34" charset="-120"/>
              </a:rPr>
              <a:t> </a:t>
            </a:r>
            <a:r>
              <a:rPr lang="en-US" sz="850" dirty="0" err="1" smtClean="0">
                <a:solidFill>
                  <a:srgbClr val="2A2A2A"/>
                </a:solidFill>
                <a:latin typeface="Calibri" pitchFamily="34" charset="0"/>
                <a:ea typeface="Calibri" pitchFamily="34" charset="-122"/>
                <a:cs typeface="Calibri" pitchFamily="34" charset="-120"/>
              </a:rPr>
              <a:t>중계</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smtClean="0">
                <a:solidFill>
                  <a:srgbClr val="2A2A2A"/>
                </a:solidFill>
                <a:latin typeface="Calibri" pitchFamily="34" charset="0"/>
                <a:ea typeface="Calibri" pitchFamily="34" charset="-122"/>
                <a:cs typeface="Calibri" pitchFamily="34" charset="-120"/>
              </a:rPr>
              <a:t>(</a:t>
            </a:r>
            <a:r>
              <a:rPr lang="en-US" sz="850" dirty="0">
                <a:solidFill>
                  <a:srgbClr val="2A2A2A"/>
                </a:solidFill>
                <a:latin typeface="Calibri" pitchFamily="34" charset="0"/>
                <a:ea typeface="Calibri" pitchFamily="34" charset="-122"/>
                <a:cs typeface="Calibri" pitchFamily="34" charset="-120"/>
              </a:rPr>
              <a:t>NFL 크리스마스 게임), </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smtClean="0">
                <a:solidFill>
                  <a:srgbClr val="2A2A2A"/>
                </a:solidFill>
                <a:latin typeface="Calibri" pitchFamily="34" charset="0"/>
                <a:ea typeface="Calibri" pitchFamily="34" charset="-122"/>
                <a:cs typeface="Calibri" pitchFamily="34" charset="-120"/>
              </a:rPr>
              <a:t>WWE</a:t>
            </a:r>
            <a:r>
              <a:rPr lang="en-US" sz="850" dirty="0">
                <a:solidFill>
                  <a:srgbClr val="2A2A2A"/>
                </a:solidFill>
                <a:latin typeface="Calibri" pitchFamily="34" charset="0"/>
                <a:ea typeface="Calibri" pitchFamily="34" charset="-122"/>
                <a:cs typeface="Calibri" pitchFamily="34" charset="-120"/>
              </a:rPr>
              <a:t>, </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err="1" smtClean="0">
                <a:solidFill>
                  <a:srgbClr val="2A2A2A"/>
                </a:solidFill>
                <a:latin typeface="Calibri" pitchFamily="34" charset="0"/>
                <a:ea typeface="Calibri" pitchFamily="34" charset="-122"/>
                <a:cs typeface="Calibri" pitchFamily="34" charset="-120"/>
              </a:rPr>
              <a:t>이벤트</a:t>
            </a:r>
            <a:r>
              <a:rPr lang="en-US" sz="850" dirty="0" smtClean="0">
                <a:solidFill>
                  <a:srgbClr val="2A2A2A"/>
                </a:solidFill>
                <a:latin typeface="Calibri" pitchFamily="34" charset="0"/>
                <a:ea typeface="Calibri" pitchFamily="34" charset="-122"/>
                <a:cs typeface="Calibri" pitchFamily="34" charset="-120"/>
              </a:rPr>
              <a:t> </a:t>
            </a:r>
            <a:r>
              <a:rPr lang="en-US" sz="850" dirty="0">
                <a:solidFill>
                  <a:srgbClr val="2A2A2A"/>
                </a:solidFill>
                <a:latin typeface="Calibri" pitchFamily="34" charset="0"/>
                <a:ea typeface="Calibri" pitchFamily="34" charset="-122"/>
                <a:cs typeface="Calibri" pitchFamily="34" charset="-120"/>
              </a:rPr>
              <a:t>스트리밍 확장</a:t>
            </a:r>
            <a:endParaRPr lang="en-US" sz="850" dirty="0"/>
          </a:p>
        </p:txBody>
      </p:sp>
      <p:sp>
        <p:nvSpPr>
          <p:cNvPr id="62" name="Shape 60"/>
          <p:cNvSpPr/>
          <p:nvPr/>
        </p:nvSpPr>
        <p:spPr>
          <a:xfrm>
            <a:off x="5422392" y="3611880"/>
            <a:ext cx="1682496" cy="1188720"/>
          </a:xfrm>
          <a:prstGeom prst="rect">
            <a:avLst/>
          </a:prstGeom>
          <a:solidFill>
            <a:srgbClr val="F5F5F5"/>
          </a:solidFill>
          <a:ln w="12700">
            <a:solidFill>
              <a:srgbClr val="DDDDDD"/>
            </a:solidFill>
            <a:prstDash val="solid"/>
          </a:ln>
        </p:spPr>
      </p:sp>
      <p:sp>
        <p:nvSpPr>
          <p:cNvPr id="63" name="Shape 61"/>
          <p:cNvSpPr/>
          <p:nvPr/>
        </p:nvSpPr>
        <p:spPr>
          <a:xfrm>
            <a:off x="5422392" y="3611880"/>
            <a:ext cx="1682496" cy="292608"/>
          </a:xfrm>
          <a:prstGeom prst="rect">
            <a:avLst/>
          </a:prstGeom>
          <a:solidFill>
            <a:srgbClr val="E50914"/>
          </a:solidFill>
          <a:ln w="12700">
            <a:solidFill>
              <a:srgbClr val="E50914"/>
            </a:solidFill>
            <a:prstDash val="solid"/>
          </a:ln>
        </p:spPr>
      </p:sp>
      <p:sp>
        <p:nvSpPr>
          <p:cNvPr id="64" name="Text 62"/>
          <p:cNvSpPr/>
          <p:nvPr/>
        </p:nvSpPr>
        <p:spPr>
          <a:xfrm>
            <a:off x="5399532" y="3611880"/>
            <a:ext cx="168249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게임</a:t>
            </a:r>
            <a:endParaRPr lang="en-US" sz="950" dirty="0"/>
          </a:p>
        </p:txBody>
      </p:sp>
      <p:sp>
        <p:nvSpPr>
          <p:cNvPr id="65" name="Text 63"/>
          <p:cNvSpPr/>
          <p:nvPr/>
        </p:nvSpPr>
        <p:spPr>
          <a:xfrm>
            <a:off x="5495544" y="3931920"/>
            <a:ext cx="1536192" cy="822960"/>
          </a:xfrm>
          <a:prstGeom prst="rect">
            <a:avLst/>
          </a:prstGeom>
          <a:noFill/>
          <a:ln/>
        </p:spPr>
        <p:txBody>
          <a:bodyPr wrap="square" lIns="0" tIns="0" rIns="0" bIns="0" rtlCol="0" anchor="t"/>
          <a:lstStyle/>
          <a:p>
            <a:pPr marL="0" indent="0" algn="l">
              <a:buNone/>
            </a:pPr>
            <a:r>
              <a:rPr lang="en-US" sz="850" dirty="0">
                <a:solidFill>
                  <a:srgbClr val="2A2A2A"/>
                </a:solidFill>
                <a:latin typeface="Calibri" pitchFamily="34" charset="0"/>
                <a:ea typeface="Calibri" pitchFamily="34" charset="-122"/>
                <a:cs typeface="Calibri" pitchFamily="34" charset="-120"/>
              </a:rPr>
              <a:t>Netflix Games 확장. </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err="1" smtClean="0">
                <a:solidFill>
                  <a:srgbClr val="2A2A2A"/>
                </a:solidFill>
                <a:latin typeface="Calibri" pitchFamily="34" charset="0"/>
                <a:ea typeface="Calibri" pitchFamily="34" charset="-122"/>
                <a:cs typeface="Calibri" pitchFamily="34" charset="-120"/>
              </a:rPr>
              <a:t>구독</a:t>
            </a:r>
            <a:r>
              <a:rPr lang="en-US" sz="850" dirty="0" smtClean="0">
                <a:solidFill>
                  <a:srgbClr val="2A2A2A"/>
                </a:solidFill>
                <a:latin typeface="Calibri" pitchFamily="34" charset="0"/>
                <a:ea typeface="Calibri" pitchFamily="34" charset="-122"/>
                <a:cs typeface="Calibri" pitchFamily="34" charset="-120"/>
              </a:rPr>
              <a:t> </a:t>
            </a:r>
            <a:r>
              <a:rPr lang="en-US" sz="850" dirty="0">
                <a:solidFill>
                  <a:srgbClr val="2A2A2A"/>
                </a:solidFill>
                <a:latin typeface="Calibri" pitchFamily="34" charset="0"/>
                <a:ea typeface="Calibri" pitchFamily="34" charset="-122"/>
                <a:cs typeface="Calibri" pitchFamily="34" charset="-120"/>
              </a:rPr>
              <a:t>내 포함 게임 100종+, </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err="1" smtClean="0">
                <a:solidFill>
                  <a:srgbClr val="2A2A2A"/>
                </a:solidFill>
                <a:latin typeface="Calibri" pitchFamily="34" charset="0"/>
                <a:ea typeface="Calibri" pitchFamily="34" charset="-122"/>
                <a:cs typeface="Calibri" pitchFamily="34" charset="-120"/>
              </a:rPr>
              <a:t>별도</a:t>
            </a:r>
            <a:r>
              <a:rPr lang="en-US" sz="850" dirty="0" smtClean="0">
                <a:solidFill>
                  <a:srgbClr val="2A2A2A"/>
                </a:solidFill>
                <a:latin typeface="Calibri" pitchFamily="34" charset="0"/>
                <a:ea typeface="Calibri" pitchFamily="34" charset="-122"/>
                <a:cs typeface="Calibri" pitchFamily="34" charset="-120"/>
              </a:rPr>
              <a:t> </a:t>
            </a:r>
            <a:r>
              <a:rPr lang="en-US" sz="850" dirty="0">
                <a:solidFill>
                  <a:srgbClr val="2A2A2A"/>
                </a:solidFill>
                <a:latin typeface="Calibri" pitchFamily="34" charset="0"/>
                <a:ea typeface="Calibri" pitchFamily="34" charset="-122"/>
                <a:cs typeface="Calibri" pitchFamily="34" charset="-120"/>
              </a:rPr>
              <a:t>과금 없이 제공</a:t>
            </a:r>
            <a:endParaRPr lang="en-US" sz="850" dirty="0"/>
          </a:p>
        </p:txBody>
      </p:sp>
      <p:sp>
        <p:nvSpPr>
          <p:cNvPr id="66" name="Shape 64"/>
          <p:cNvSpPr/>
          <p:nvPr/>
        </p:nvSpPr>
        <p:spPr>
          <a:xfrm>
            <a:off x="7123176" y="3611880"/>
            <a:ext cx="1682496" cy="1188720"/>
          </a:xfrm>
          <a:prstGeom prst="rect">
            <a:avLst/>
          </a:prstGeom>
          <a:solidFill>
            <a:srgbClr val="F5F5F5"/>
          </a:solidFill>
          <a:ln w="12700">
            <a:solidFill>
              <a:srgbClr val="DDDDDD"/>
            </a:solidFill>
            <a:prstDash val="solid"/>
          </a:ln>
        </p:spPr>
      </p:sp>
      <p:sp>
        <p:nvSpPr>
          <p:cNvPr id="67" name="Shape 65"/>
          <p:cNvSpPr/>
          <p:nvPr/>
        </p:nvSpPr>
        <p:spPr>
          <a:xfrm>
            <a:off x="7123176" y="3611880"/>
            <a:ext cx="1682496" cy="292608"/>
          </a:xfrm>
          <a:prstGeom prst="rect">
            <a:avLst/>
          </a:prstGeom>
          <a:solidFill>
            <a:srgbClr val="E50914"/>
          </a:solidFill>
          <a:ln w="12700">
            <a:solidFill>
              <a:srgbClr val="E50914"/>
            </a:solidFill>
            <a:prstDash val="solid"/>
          </a:ln>
        </p:spPr>
      </p:sp>
      <p:sp>
        <p:nvSpPr>
          <p:cNvPr id="68" name="Text 66"/>
          <p:cNvSpPr/>
          <p:nvPr/>
        </p:nvSpPr>
        <p:spPr>
          <a:xfrm>
            <a:off x="7100316" y="3611880"/>
            <a:ext cx="1682496"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가격 최적화</a:t>
            </a:r>
            <a:endParaRPr lang="en-US" sz="950" dirty="0"/>
          </a:p>
        </p:txBody>
      </p:sp>
      <p:sp>
        <p:nvSpPr>
          <p:cNvPr id="69" name="Text 67"/>
          <p:cNvSpPr/>
          <p:nvPr/>
        </p:nvSpPr>
        <p:spPr>
          <a:xfrm>
            <a:off x="7196328" y="3931920"/>
            <a:ext cx="1536192" cy="822960"/>
          </a:xfrm>
          <a:prstGeom prst="rect">
            <a:avLst/>
          </a:prstGeom>
          <a:noFill/>
          <a:ln/>
        </p:spPr>
        <p:txBody>
          <a:bodyPr wrap="square" lIns="0" tIns="0" rIns="0" bIns="0" rtlCol="0" anchor="t"/>
          <a:lstStyle/>
          <a:p>
            <a:pPr marL="0" indent="0" algn="l">
              <a:buNone/>
            </a:pPr>
            <a:r>
              <a:rPr lang="en-US" sz="850" dirty="0" err="1">
                <a:solidFill>
                  <a:srgbClr val="2A2A2A"/>
                </a:solidFill>
                <a:latin typeface="Calibri" pitchFamily="34" charset="0"/>
                <a:ea typeface="Calibri" pitchFamily="34" charset="-122"/>
                <a:cs typeface="Calibri" pitchFamily="34" charset="-120"/>
              </a:rPr>
              <a:t>요금제</a:t>
            </a:r>
            <a:r>
              <a:rPr lang="en-US" sz="850" dirty="0">
                <a:solidFill>
                  <a:srgbClr val="2A2A2A"/>
                </a:solidFill>
                <a:latin typeface="Calibri" pitchFamily="34" charset="0"/>
                <a:ea typeface="Calibri" pitchFamily="34" charset="-122"/>
                <a:cs typeface="Calibri" pitchFamily="34" charset="-120"/>
              </a:rPr>
              <a:t> </a:t>
            </a:r>
            <a:r>
              <a:rPr lang="en-US" sz="850" dirty="0" err="1" smtClean="0">
                <a:solidFill>
                  <a:srgbClr val="2A2A2A"/>
                </a:solidFill>
                <a:latin typeface="Calibri" pitchFamily="34" charset="0"/>
                <a:ea typeface="Calibri" pitchFamily="34" charset="-122"/>
                <a:cs typeface="Calibri" pitchFamily="34" charset="-120"/>
              </a:rPr>
              <a:t>다층화</a:t>
            </a:r>
            <a:endParaRPr lang="en-US" sz="850" dirty="0" smtClean="0">
              <a:solidFill>
                <a:srgbClr val="2A2A2A"/>
              </a:solidFill>
              <a:latin typeface="Calibri" pitchFamily="34" charset="0"/>
              <a:ea typeface="Calibri" pitchFamily="34" charset="-122"/>
              <a:cs typeface="Calibri" pitchFamily="34" charset="-120"/>
            </a:endParaRPr>
          </a:p>
          <a:p>
            <a:pPr marL="0" indent="0" algn="l">
              <a:buNone/>
            </a:pPr>
            <a:r>
              <a:rPr lang="en-US" sz="850" dirty="0" smtClean="0">
                <a:solidFill>
                  <a:srgbClr val="2A2A2A"/>
                </a:solidFill>
                <a:latin typeface="Calibri" pitchFamily="34" charset="0"/>
                <a:ea typeface="Calibri" pitchFamily="34" charset="-122"/>
                <a:cs typeface="Calibri" pitchFamily="34" charset="-120"/>
              </a:rPr>
              <a:t>(</a:t>
            </a:r>
            <a:r>
              <a:rPr lang="en-US" sz="850" dirty="0">
                <a:solidFill>
                  <a:srgbClr val="2A2A2A"/>
                </a:solidFill>
                <a:latin typeface="Calibri" pitchFamily="34" charset="0"/>
                <a:ea typeface="Calibri" pitchFamily="34" charset="-122"/>
                <a:cs typeface="Calibri" pitchFamily="34" charset="-120"/>
              </a:rPr>
              <a:t>광고/스탠다드/프리미엄)</a:t>
            </a:r>
            <a:r>
              <a:rPr lang="en-US" sz="850" dirty="0" smtClean="0">
                <a:solidFill>
                  <a:srgbClr val="2A2A2A"/>
                </a:solidFill>
                <a:latin typeface="Calibri" pitchFamily="34" charset="0"/>
                <a:ea typeface="Calibri" pitchFamily="34" charset="-122"/>
                <a:cs typeface="Calibri" pitchFamily="34" charset="-120"/>
              </a:rPr>
              <a:t>로</a:t>
            </a:r>
          </a:p>
          <a:p>
            <a:pPr marL="0" indent="0" algn="l">
              <a:buNone/>
            </a:pPr>
            <a:r>
              <a:rPr lang="en-US" sz="850" dirty="0" smtClean="0">
                <a:solidFill>
                  <a:srgbClr val="2A2A2A"/>
                </a:solidFill>
                <a:latin typeface="Calibri" pitchFamily="34" charset="0"/>
                <a:ea typeface="Calibri" pitchFamily="34" charset="-122"/>
                <a:cs typeface="Calibri" pitchFamily="34" charset="-120"/>
              </a:rPr>
              <a:t> </a:t>
            </a:r>
            <a:r>
              <a:rPr lang="en-US" sz="850" dirty="0">
                <a:solidFill>
                  <a:srgbClr val="2A2A2A"/>
                </a:solidFill>
                <a:latin typeface="Calibri" pitchFamily="34" charset="0"/>
                <a:ea typeface="Calibri" pitchFamily="34" charset="-122"/>
                <a:cs typeface="Calibri" pitchFamily="34" charset="-120"/>
              </a:rPr>
              <a:t>수익성 및 고객군 극대화</a:t>
            </a:r>
            <a:endParaRPr lang="en-US" sz="850" dirty="0"/>
          </a:p>
        </p:txBody>
      </p:sp>
      <p:sp>
        <p:nvSpPr>
          <p:cNvPr id="74" name="오른쪽 화살표 73"/>
          <p:cNvSpPr/>
          <p:nvPr/>
        </p:nvSpPr>
        <p:spPr>
          <a:xfrm>
            <a:off x="4733000" y="2194560"/>
            <a:ext cx="382524" cy="321564"/>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Shape 9"/>
          <p:cNvSpPr/>
          <p:nvPr/>
        </p:nvSpPr>
        <p:spPr>
          <a:xfrm>
            <a:off x="5417820" y="1499616"/>
            <a:ext cx="1655064" cy="329184"/>
          </a:xfrm>
          <a:prstGeom prst="rect">
            <a:avLst/>
          </a:prstGeom>
          <a:solidFill>
            <a:srgbClr val="2A2A2A"/>
          </a:solidFill>
          <a:ln w="12700">
            <a:solidFill>
              <a:srgbClr val="2A2A2A"/>
            </a:solidFill>
            <a:prstDash val="solid"/>
          </a:ln>
        </p:spPr>
      </p:sp>
      <p:sp>
        <p:nvSpPr>
          <p:cNvPr id="12" name="Text 10"/>
          <p:cNvSpPr/>
          <p:nvPr/>
        </p:nvSpPr>
        <p:spPr>
          <a:xfrm>
            <a:off x="5417820" y="1499616"/>
            <a:ext cx="165506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2024</a:t>
            </a:r>
            <a:endParaRPr lang="en-US" sz="1000" dirty="0"/>
          </a:p>
        </p:txBody>
      </p:sp>
      <p:sp>
        <p:nvSpPr>
          <p:cNvPr id="13" name="Shape 11"/>
          <p:cNvSpPr/>
          <p:nvPr/>
        </p:nvSpPr>
        <p:spPr>
          <a:xfrm>
            <a:off x="7127748" y="1499616"/>
            <a:ext cx="1655064" cy="329184"/>
          </a:xfrm>
          <a:prstGeom prst="rect">
            <a:avLst/>
          </a:prstGeom>
          <a:solidFill>
            <a:srgbClr val="2A2A2A"/>
          </a:solidFill>
          <a:ln w="12700">
            <a:solidFill>
              <a:srgbClr val="2A2A2A"/>
            </a:solidFill>
            <a:prstDash val="solid"/>
          </a:ln>
        </p:spPr>
      </p:sp>
      <p:sp>
        <p:nvSpPr>
          <p:cNvPr id="14" name="Text 12"/>
          <p:cNvSpPr/>
          <p:nvPr/>
        </p:nvSpPr>
        <p:spPr>
          <a:xfrm>
            <a:off x="7127748" y="1499616"/>
            <a:ext cx="165506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2025</a:t>
            </a:r>
            <a:endParaRPr lang="en-US" sz="1000" dirty="0"/>
          </a:p>
        </p:txBody>
      </p:sp>
      <p:sp>
        <p:nvSpPr>
          <p:cNvPr id="19" name="Shape 17"/>
          <p:cNvSpPr/>
          <p:nvPr/>
        </p:nvSpPr>
        <p:spPr>
          <a:xfrm>
            <a:off x="5417820" y="1847088"/>
            <a:ext cx="1655064" cy="329184"/>
          </a:xfrm>
          <a:prstGeom prst="rect">
            <a:avLst/>
          </a:prstGeom>
          <a:solidFill>
            <a:srgbClr val="F0F0F0"/>
          </a:solidFill>
          <a:ln w="12700">
            <a:solidFill>
              <a:srgbClr val="DDDDDD"/>
            </a:solidFill>
            <a:prstDash val="solid"/>
          </a:ln>
        </p:spPr>
      </p:sp>
      <p:sp>
        <p:nvSpPr>
          <p:cNvPr id="20" name="Text 18"/>
          <p:cNvSpPr/>
          <p:nvPr/>
        </p:nvSpPr>
        <p:spPr>
          <a:xfrm>
            <a:off x="5472684" y="1847088"/>
            <a:ext cx="1563624" cy="329184"/>
          </a:xfrm>
          <a:prstGeom prst="rect">
            <a:avLst/>
          </a:prstGeom>
          <a:noFill/>
          <a:ln/>
        </p:spPr>
        <p:txBody>
          <a:bodyPr wrap="square" lIns="0" tIns="0" rIns="0" bIns="0"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+16%</a:t>
            </a:r>
            <a:endParaRPr lang="en-US" sz="1000" dirty="0"/>
          </a:p>
        </p:txBody>
      </p:sp>
      <p:sp>
        <p:nvSpPr>
          <p:cNvPr id="21" name="Shape 19"/>
          <p:cNvSpPr/>
          <p:nvPr/>
        </p:nvSpPr>
        <p:spPr>
          <a:xfrm>
            <a:off x="7127748" y="1847088"/>
            <a:ext cx="1655064" cy="329184"/>
          </a:xfrm>
          <a:prstGeom prst="rect">
            <a:avLst/>
          </a:prstGeom>
          <a:solidFill>
            <a:srgbClr val="FFF0F0"/>
          </a:solidFill>
          <a:ln w="12700">
            <a:solidFill>
              <a:srgbClr val="DDDDDD"/>
            </a:solidFill>
            <a:prstDash val="solid"/>
          </a:ln>
        </p:spPr>
      </p:sp>
      <p:sp>
        <p:nvSpPr>
          <p:cNvPr id="22" name="Text 20"/>
          <p:cNvSpPr/>
          <p:nvPr/>
        </p:nvSpPr>
        <p:spPr>
          <a:xfrm>
            <a:off x="7182612" y="1847088"/>
            <a:ext cx="1563624" cy="329184"/>
          </a:xfrm>
          <a:prstGeom prst="rect">
            <a:avLst/>
          </a:prstGeom>
          <a:noFill/>
          <a:ln/>
        </p:spPr>
        <p:txBody>
          <a:bodyPr wrap="square" lIns="0" tIns="0" rIns="0" bIns="0" rtlCol="0" anchor="ctr"/>
          <a:lstStyle/>
          <a:p>
            <a:pPr marL="0" indent="0" algn="ctr">
              <a:buNone/>
            </a:pPr>
            <a:r>
              <a:rPr lang="en-US" sz="1000" b="1" dirty="0" smtClean="0">
                <a:solidFill>
                  <a:srgbClr val="E50914"/>
                </a:solidFill>
                <a:latin typeface="Calibri" pitchFamily="34" charset="0"/>
                <a:ea typeface="Calibri" pitchFamily="34" charset="-122"/>
                <a:cs typeface="Calibri" pitchFamily="34" charset="-120"/>
              </a:rPr>
              <a:t>+ 15</a:t>
            </a:r>
            <a:r>
              <a:rPr lang="en-US" sz="1000" b="1" dirty="0">
                <a:solidFill>
                  <a:srgbClr val="E50914"/>
                </a:solidFill>
                <a:latin typeface="Calibri" pitchFamily="34" charset="0"/>
                <a:ea typeface="Calibri" pitchFamily="34" charset="-122"/>
                <a:cs typeface="Calibri" pitchFamily="34" charset="-120"/>
              </a:rPr>
              <a:t>%</a:t>
            </a:r>
            <a:endParaRPr lang="en-US" sz="1000" dirty="0"/>
          </a:p>
        </p:txBody>
      </p:sp>
      <p:sp>
        <p:nvSpPr>
          <p:cNvPr id="27" name="Shape 25"/>
          <p:cNvSpPr/>
          <p:nvPr/>
        </p:nvSpPr>
        <p:spPr>
          <a:xfrm>
            <a:off x="5417820" y="2194560"/>
            <a:ext cx="1655064" cy="329184"/>
          </a:xfrm>
          <a:prstGeom prst="rect">
            <a:avLst/>
          </a:prstGeom>
          <a:solidFill>
            <a:srgbClr val="FFFFFF"/>
          </a:solidFill>
          <a:ln w="12700">
            <a:solidFill>
              <a:srgbClr val="DDDDDD"/>
            </a:solidFill>
            <a:prstDash val="solid"/>
          </a:ln>
        </p:spPr>
      </p:sp>
      <p:sp>
        <p:nvSpPr>
          <p:cNvPr id="28" name="Text 26"/>
          <p:cNvSpPr/>
          <p:nvPr/>
        </p:nvSpPr>
        <p:spPr>
          <a:xfrm>
            <a:off x="5472684" y="2194560"/>
            <a:ext cx="1563624" cy="329184"/>
          </a:xfrm>
          <a:prstGeom prst="rect">
            <a:avLst/>
          </a:prstGeom>
          <a:noFill/>
          <a:ln/>
        </p:spPr>
        <p:txBody>
          <a:bodyPr wrap="square" lIns="0" tIns="0" rIns="0" bIns="0"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27%</a:t>
            </a:r>
            <a:endParaRPr lang="en-US" sz="1000" dirty="0"/>
          </a:p>
        </p:txBody>
      </p:sp>
      <p:sp>
        <p:nvSpPr>
          <p:cNvPr id="29" name="Shape 27"/>
          <p:cNvSpPr/>
          <p:nvPr/>
        </p:nvSpPr>
        <p:spPr>
          <a:xfrm>
            <a:off x="7127748" y="2194560"/>
            <a:ext cx="1655064" cy="329184"/>
          </a:xfrm>
          <a:prstGeom prst="rect">
            <a:avLst/>
          </a:prstGeom>
          <a:solidFill>
            <a:srgbClr val="FFFFFF"/>
          </a:solidFill>
          <a:ln w="12700">
            <a:solidFill>
              <a:srgbClr val="DDDDDD"/>
            </a:solidFill>
            <a:prstDash val="solid"/>
          </a:ln>
        </p:spPr>
      </p:sp>
      <p:sp>
        <p:nvSpPr>
          <p:cNvPr id="30" name="Text 28"/>
          <p:cNvSpPr/>
          <p:nvPr/>
        </p:nvSpPr>
        <p:spPr>
          <a:xfrm>
            <a:off x="7182612" y="2194560"/>
            <a:ext cx="1563624" cy="329184"/>
          </a:xfrm>
          <a:prstGeom prst="rect">
            <a:avLst/>
          </a:prstGeom>
          <a:noFill/>
          <a:ln/>
        </p:spPr>
        <p:txBody>
          <a:bodyPr wrap="square" lIns="0" tIns="0" rIns="0" bIns="0" rtlCol="0" anchor="ctr"/>
          <a:lstStyle/>
          <a:p>
            <a:pPr marL="0" indent="0" algn="ctr">
              <a:buNone/>
            </a:pPr>
            <a:r>
              <a:rPr lang="en-US" sz="1000" b="1" dirty="0">
                <a:solidFill>
                  <a:srgbClr val="E50914"/>
                </a:solidFill>
                <a:latin typeface="Calibri" pitchFamily="34" charset="0"/>
                <a:ea typeface="Calibri" pitchFamily="34" charset="-122"/>
                <a:cs typeface="Calibri" pitchFamily="34" charset="-120"/>
              </a:rPr>
              <a:t>29.5%</a:t>
            </a:r>
            <a:endParaRPr lang="en-US" sz="1000" dirty="0"/>
          </a:p>
        </p:txBody>
      </p:sp>
      <p:sp>
        <p:nvSpPr>
          <p:cNvPr id="35" name="Shape 33"/>
          <p:cNvSpPr/>
          <p:nvPr/>
        </p:nvSpPr>
        <p:spPr>
          <a:xfrm>
            <a:off x="5417820" y="2542032"/>
            <a:ext cx="1655064" cy="329184"/>
          </a:xfrm>
          <a:prstGeom prst="rect">
            <a:avLst/>
          </a:prstGeom>
          <a:solidFill>
            <a:srgbClr val="F0F0F0"/>
          </a:solidFill>
          <a:ln w="12700">
            <a:solidFill>
              <a:srgbClr val="DDDDDD"/>
            </a:solidFill>
            <a:prstDash val="solid"/>
          </a:ln>
        </p:spPr>
      </p:sp>
      <p:sp>
        <p:nvSpPr>
          <p:cNvPr id="36" name="Text 34"/>
          <p:cNvSpPr/>
          <p:nvPr/>
        </p:nvSpPr>
        <p:spPr>
          <a:xfrm>
            <a:off x="5472684" y="2542032"/>
            <a:ext cx="1563624" cy="329184"/>
          </a:xfrm>
          <a:prstGeom prst="rect">
            <a:avLst/>
          </a:prstGeom>
          <a:noFill/>
          <a:ln/>
        </p:spPr>
        <p:txBody>
          <a:bodyPr wrap="square" lIns="0" tIns="0" rIns="0" bIns="0"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3.02억</a:t>
            </a:r>
            <a:endParaRPr lang="en-US" sz="1000" dirty="0"/>
          </a:p>
        </p:txBody>
      </p:sp>
      <p:sp>
        <p:nvSpPr>
          <p:cNvPr id="37" name="Shape 35"/>
          <p:cNvSpPr/>
          <p:nvPr/>
        </p:nvSpPr>
        <p:spPr>
          <a:xfrm>
            <a:off x="7127748" y="2542032"/>
            <a:ext cx="1655064" cy="329184"/>
          </a:xfrm>
          <a:prstGeom prst="rect">
            <a:avLst/>
          </a:prstGeom>
          <a:solidFill>
            <a:srgbClr val="FFF0F0"/>
          </a:solidFill>
          <a:ln w="12700">
            <a:solidFill>
              <a:srgbClr val="DDDDDD"/>
            </a:solidFill>
            <a:prstDash val="solid"/>
          </a:ln>
        </p:spPr>
      </p:sp>
      <p:sp>
        <p:nvSpPr>
          <p:cNvPr id="38" name="Text 36"/>
          <p:cNvSpPr/>
          <p:nvPr/>
        </p:nvSpPr>
        <p:spPr>
          <a:xfrm>
            <a:off x="7182612" y="2542032"/>
            <a:ext cx="1563624" cy="329184"/>
          </a:xfrm>
          <a:prstGeom prst="rect">
            <a:avLst/>
          </a:prstGeom>
          <a:noFill/>
          <a:ln/>
        </p:spPr>
        <p:txBody>
          <a:bodyPr wrap="square" lIns="0" tIns="0" rIns="0" bIns="0" rtlCol="0" anchor="ctr"/>
          <a:lstStyle/>
          <a:p>
            <a:pPr marL="0" indent="0" algn="ctr">
              <a:buNone/>
            </a:pPr>
            <a:r>
              <a:rPr lang="en-US" sz="1000" b="1" dirty="0">
                <a:solidFill>
                  <a:srgbClr val="E50914"/>
                </a:solidFill>
                <a:latin typeface="Calibri" pitchFamily="34" charset="0"/>
                <a:ea typeface="Calibri" pitchFamily="34" charset="-122"/>
                <a:cs typeface="Calibri" pitchFamily="34" charset="-120"/>
              </a:rPr>
              <a:t>3.25억+</a:t>
            </a:r>
            <a:endParaRPr lang="en-US" sz="1000" dirty="0"/>
          </a:p>
        </p:txBody>
      </p:sp>
      <p:sp>
        <p:nvSpPr>
          <p:cNvPr id="43" name="Shape 41"/>
          <p:cNvSpPr/>
          <p:nvPr/>
        </p:nvSpPr>
        <p:spPr>
          <a:xfrm>
            <a:off x="5417820" y="2889504"/>
            <a:ext cx="1655064" cy="329184"/>
          </a:xfrm>
          <a:prstGeom prst="rect">
            <a:avLst/>
          </a:prstGeom>
          <a:solidFill>
            <a:srgbClr val="FFFFFF"/>
          </a:solidFill>
          <a:ln w="12700">
            <a:solidFill>
              <a:srgbClr val="DDDDDD"/>
            </a:solidFill>
            <a:prstDash val="solid"/>
          </a:ln>
        </p:spPr>
      </p:sp>
      <p:sp>
        <p:nvSpPr>
          <p:cNvPr id="44" name="Text 42"/>
          <p:cNvSpPr/>
          <p:nvPr/>
        </p:nvSpPr>
        <p:spPr>
          <a:xfrm>
            <a:off x="5472684" y="2889504"/>
            <a:ext cx="1563624" cy="329184"/>
          </a:xfrm>
          <a:prstGeom prst="rect">
            <a:avLst/>
          </a:prstGeom>
          <a:noFill/>
          <a:ln/>
        </p:spPr>
        <p:txBody>
          <a:bodyPr wrap="square" lIns="0" tIns="0" rIns="0" bIns="0"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약 +83%</a:t>
            </a:r>
            <a:endParaRPr lang="en-US" sz="1000" dirty="0"/>
          </a:p>
        </p:txBody>
      </p:sp>
      <p:sp>
        <p:nvSpPr>
          <p:cNvPr id="45" name="Shape 43"/>
          <p:cNvSpPr/>
          <p:nvPr/>
        </p:nvSpPr>
        <p:spPr>
          <a:xfrm>
            <a:off x="7127748" y="2889504"/>
            <a:ext cx="1655064" cy="329184"/>
          </a:xfrm>
          <a:prstGeom prst="rect">
            <a:avLst/>
          </a:prstGeom>
          <a:solidFill>
            <a:srgbClr val="FFFFFF"/>
          </a:solidFill>
          <a:ln w="12700">
            <a:solidFill>
              <a:srgbClr val="DDDDDD"/>
            </a:solidFill>
            <a:prstDash val="solid"/>
          </a:ln>
        </p:spPr>
      </p:sp>
      <p:sp>
        <p:nvSpPr>
          <p:cNvPr id="46" name="Text 44"/>
          <p:cNvSpPr/>
          <p:nvPr/>
        </p:nvSpPr>
        <p:spPr>
          <a:xfrm>
            <a:off x="7182612" y="2889504"/>
            <a:ext cx="1563624" cy="329184"/>
          </a:xfrm>
          <a:prstGeom prst="rect">
            <a:avLst/>
          </a:prstGeom>
          <a:noFill/>
          <a:ln/>
        </p:spPr>
        <p:txBody>
          <a:bodyPr wrap="square" lIns="0" tIns="0" rIns="0" bIns="0" rtlCol="0" anchor="ctr"/>
          <a:lstStyle/>
          <a:p>
            <a:pPr marL="0" indent="0" algn="ctr">
              <a:buNone/>
            </a:pPr>
            <a:r>
              <a:rPr lang="en-US" sz="1000" b="1" dirty="0">
                <a:solidFill>
                  <a:srgbClr val="E50914"/>
                </a:solidFill>
                <a:latin typeface="Calibri" pitchFamily="34" charset="0"/>
                <a:ea typeface="Calibri" pitchFamily="34" charset="-122"/>
                <a:cs typeface="Calibri" pitchFamily="34" charset="-120"/>
              </a:rPr>
              <a:t>신고가 경신</a:t>
            </a:r>
            <a:endParaRPr lang="en-US" sz="1000" dirty="0"/>
          </a:p>
        </p:txBody>
      </p:sp>
      <p:sp>
        <p:nvSpPr>
          <p:cNvPr id="75" name="직사각형 74"/>
          <p:cNvSpPr/>
          <p:nvPr/>
        </p:nvSpPr>
        <p:spPr>
          <a:xfrm>
            <a:off x="5417820" y="1499616"/>
            <a:ext cx="3364992" cy="17190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0769079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41414"/>
          </a:solidFill>
          <a:ln w="12700">
            <a:solidFill>
              <a:srgbClr val="1414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원칙은 </a:t>
            </a:r>
            <a:r>
              <a:rPr lang="en-US" sz="1300" b="1" dirty="0" err="1">
                <a:solidFill>
                  <a:srgbClr val="FFFFFF"/>
                </a:solidFill>
                <a:latin typeface="Calibri" pitchFamily="34" charset="0"/>
                <a:ea typeface="Calibri" pitchFamily="34" charset="-122"/>
                <a:cs typeface="Calibri" pitchFamily="34" charset="-120"/>
              </a:rPr>
              <a:t>유지하되</a:t>
            </a:r>
            <a:r>
              <a:rPr lang="en-US" sz="1300" b="1" dirty="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운영</a:t>
            </a:r>
            <a:r>
              <a:rPr lang="ko-KR" altLang="en-US" sz="1300" b="1" dirty="0" smtClean="0">
                <a:solidFill>
                  <a:srgbClr val="FFFFFF"/>
                </a:solidFill>
                <a:latin typeface="Calibri" pitchFamily="34" charset="0"/>
                <a:ea typeface="Calibri" pitchFamily="34" charset="-122"/>
                <a:cs typeface="Calibri" pitchFamily="34" charset="-120"/>
              </a:rPr>
              <a:t>을 차별화 </a:t>
            </a:r>
            <a:endParaRPr lang="en-US" sz="13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lgn="l">
              <a:buNone/>
            </a:pPr>
            <a:r>
              <a:rPr lang="en-US" sz="2000" b="1" dirty="0">
                <a:solidFill>
                  <a:srgbClr val="141414"/>
                </a:solidFill>
                <a:latin typeface="Arial Black" pitchFamily="34" charset="0"/>
                <a:ea typeface="Arial Black" pitchFamily="34" charset="-122"/>
                <a:cs typeface="Arial Black" pitchFamily="34" charset="-120"/>
              </a:rPr>
              <a:t>Culture Memo </a:t>
            </a:r>
            <a:r>
              <a:rPr lang="en-US" sz="2000" b="1" dirty="0" err="1" smtClean="0">
                <a:solidFill>
                  <a:srgbClr val="141414"/>
                </a:solidFill>
                <a:latin typeface="Arial Black" pitchFamily="34" charset="0"/>
                <a:ea typeface="Arial Black" pitchFamily="34" charset="-122"/>
                <a:cs typeface="Arial Black" pitchFamily="34" charset="-120"/>
              </a:rPr>
              <a:t>비교</a:t>
            </a:r>
            <a:r>
              <a:rPr lang="en-US" sz="2000" b="1" dirty="0" smtClean="0">
                <a:solidFill>
                  <a:srgbClr val="141414"/>
                </a:solidFill>
                <a:latin typeface="Arial Black" pitchFamily="34" charset="0"/>
                <a:ea typeface="Arial Black" pitchFamily="34" charset="-122"/>
                <a:cs typeface="Arial Black" pitchFamily="34" charset="-120"/>
              </a:rPr>
              <a:t> : </a:t>
            </a:r>
            <a:r>
              <a:rPr lang="en-US" sz="2000" b="1" dirty="0">
                <a:solidFill>
                  <a:srgbClr val="141414"/>
                </a:solidFill>
                <a:latin typeface="Arial Black" pitchFamily="34" charset="0"/>
                <a:ea typeface="Arial Black" pitchFamily="34" charset="-122"/>
                <a:cs typeface="Arial Black" pitchFamily="34" charset="-120"/>
              </a:rPr>
              <a:t>2022 vs 2024</a:t>
            </a:r>
            <a:endParaRPr lang="en-US" sz="2000" dirty="0"/>
          </a:p>
        </p:txBody>
      </p:sp>
      <p:sp>
        <p:nvSpPr>
          <p:cNvPr id="5" name="Shape 3"/>
          <p:cNvSpPr/>
          <p:nvPr/>
        </p:nvSpPr>
        <p:spPr>
          <a:xfrm>
            <a:off x="274320" y="1234440"/>
            <a:ext cx="1975104" cy="384048"/>
          </a:xfrm>
          <a:prstGeom prst="rect">
            <a:avLst/>
          </a:prstGeom>
          <a:solidFill>
            <a:srgbClr val="141414"/>
          </a:solidFill>
          <a:ln w="12700">
            <a:solidFill>
              <a:srgbClr val="141414"/>
            </a:solidFill>
            <a:prstDash val="solid"/>
          </a:ln>
        </p:spPr>
      </p:sp>
      <p:sp>
        <p:nvSpPr>
          <p:cNvPr id="6" name="Text 4"/>
          <p:cNvSpPr/>
          <p:nvPr/>
        </p:nvSpPr>
        <p:spPr>
          <a:xfrm>
            <a:off x="274320" y="1234440"/>
            <a:ext cx="1975104"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구분</a:t>
            </a:r>
            <a:endParaRPr lang="en-US" sz="1100" dirty="0"/>
          </a:p>
        </p:txBody>
      </p:sp>
      <p:sp>
        <p:nvSpPr>
          <p:cNvPr id="7" name="Shape 5"/>
          <p:cNvSpPr/>
          <p:nvPr/>
        </p:nvSpPr>
        <p:spPr>
          <a:xfrm>
            <a:off x="2304288" y="1234440"/>
            <a:ext cx="3255264" cy="384048"/>
          </a:xfrm>
          <a:prstGeom prst="rect">
            <a:avLst/>
          </a:prstGeom>
          <a:solidFill>
            <a:srgbClr val="8B0000"/>
          </a:solidFill>
          <a:ln w="12700">
            <a:solidFill>
              <a:srgbClr val="8B0000"/>
            </a:solidFill>
            <a:prstDash val="solid"/>
          </a:ln>
        </p:spPr>
      </p:sp>
      <p:sp>
        <p:nvSpPr>
          <p:cNvPr id="8" name="Text 6"/>
          <p:cNvSpPr/>
          <p:nvPr/>
        </p:nvSpPr>
        <p:spPr>
          <a:xfrm>
            <a:off x="2304288" y="1234440"/>
            <a:ext cx="3255264"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2022년 버전</a:t>
            </a:r>
            <a:endParaRPr lang="en-US" sz="1100" dirty="0"/>
          </a:p>
        </p:txBody>
      </p:sp>
      <p:sp>
        <p:nvSpPr>
          <p:cNvPr id="9" name="Shape 7"/>
          <p:cNvSpPr/>
          <p:nvPr/>
        </p:nvSpPr>
        <p:spPr>
          <a:xfrm>
            <a:off x="5614416" y="1234440"/>
            <a:ext cx="3255264" cy="384048"/>
          </a:xfrm>
          <a:prstGeom prst="rect">
            <a:avLst/>
          </a:prstGeom>
          <a:solidFill>
            <a:srgbClr val="E50914"/>
          </a:solidFill>
          <a:ln w="12700">
            <a:solidFill>
              <a:srgbClr val="E50914"/>
            </a:solidFill>
            <a:prstDash val="solid"/>
          </a:ln>
        </p:spPr>
      </p:sp>
      <p:sp>
        <p:nvSpPr>
          <p:cNvPr id="10" name="Text 8"/>
          <p:cNvSpPr/>
          <p:nvPr/>
        </p:nvSpPr>
        <p:spPr>
          <a:xfrm>
            <a:off x="5614416" y="1234440"/>
            <a:ext cx="3255264"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2024년 버전 (최신)</a:t>
            </a:r>
            <a:endParaRPr lang="en-US" sz="1100" dirty="0"/>
          </a:p>
        </p:txBody>
      </p:sp>
      <p:sp>
        <p:nvSpPr>
          <p:cNvPr id="11" name="Shape 9"/>
          <p:cNvSpPr/>
          <p:nvPr/>
        </p:nvSpPr>
        <p:spPr>
          <a:xfrm>
            <a:off x="274320" y="1636776"/>
            <a:ext cx="1975104" cy="594360"/>
          </a:xfrm>
          <a:prstGeom prst="rect">
            <a:avLst/>
          </a:prstGeom>
          <a:solidFill>
            <a:srgbClr val="EEEEEE"/>
          </a:solidFill>
          <a:ln w="12700">
            <a:solidFill>
              <a:srgbClr val="DDDDDD"/>
            </a:solidFill>
            <a:prstDash val="solid"/>
          </a:ln>
        </p:spPr>
      </p:sp>
      <p:sp>
        <p:nvSpPr>
          <p:cNvPr id="12" name="Shape 10"/>
          <p:cNvSpPr/>
          <p:nvPr/>
        </p:nvSpPr>
        <p:spPr>
          <a:xfrm>
            <a:off x="274320" y="1636776"/>
            <a:ext cx="54864" cy="594360"/>
          </a:xfrm>
          <a:prstGeom prst="rect">
            <a:avLst/>
          </a:prstGeom>
          <a:solidFill>
            <a:srgbClr val="E50914"/>
          </a:solidFill>
          <a:ln w="12700">
            <a:solidFill>
              <a:srgbClr val="E50914"/>
            </a:solidFill>
            <a:prstDash val="solid"/>
          </a:ln>
        </p:spPr>
      </p:sp>
      <p:sp>
        <p:nvSpPr>
          <p:cNvPr id="13" name="Text 11"/>
          <p:cNvSpPr/>
          <p:nvPr/>
        </p:nvSpPr>
        <p:spPr>
          <a:xfrm>
            <a:off x="384048" y="1636776"/>
            <a:ext cx="1828800" cy="594360"/>
          </a:xfrm>
          <a:prstGeom prst="rect">
            <a:avLst/>
          </a:prstGeom>
          <a:noFill/>
          <a:ln/>
        </p:spPr>
        <p:txBody>
          <a:bodyPr wrap="square" lIns="0" tIns="0" rIns="0" bIns="0" rtlCol="0" anchor="ctr"/>
          <a:lstStyle/>
          <a:p>
            <a:pPr marL="0" indent="0" algn="l">
              <a:buNone/>
            </a:pPr>
            <a:r>
              <a:rPr lang="en-US" sz="1050" b="1" dirty="0">
                <a:solidFill>
                  <a:srgbClr val="141414"/>
                </a:solidFill>
                <a:latin typeface="Calibri" pitchFamily="34" charset="0"/>
                <a:ea typeface="Calibri" pitchFamily="34" charset="-122"/>
                <a:cs typeface="Calibri" pitchFamily="34" charset="-120"/>
              </a:rPr>
              <a:t>핵심 슬로건</a:t>
            </a:r>
            <a:endParaRPr lang="en-US" sz="1050" dirty="0"/>
          </a:p>
        </p:txBody>
      </p:sp>
      <p:sp>
        <p:nvSpPr>
          <p:cNvPr id="14" name="Shape 12"/>
          <p:cNvSpPr/>
          <p:nvPr/>
        </p:nvSpPr>
        <p:spPr>
          <a:xfrm>
            <a:off x="2304288" y="1636776"/>
            <a:ext cx="3255264" cy="594360"/>
          </a:xfrm>
          <a:prstGeom prst="rect">
            <a:avLst/>
          </a:prstGeom>
          <a:solidFill>
            <a:srgbClr val="F5F5F5"/>
          </a:solidFill>
          <a:ln w="12700">
            <a:solidFill>
              <a:srgbClr val="DDDDDD"/>
            </a:solidFill>
            <a:prstDash val="solid"/>
          </a:ln>
        </p:spPr>
      </p:sp>
      <p:sp>
        <p:nvSpPr>
          <p:cNvPr id="15" name="Text 13"/>
          <p:cNvSpPr/>
          <p:nvPr/>
        </p:nvSpPr>
        <p:spPr>
          <a:xfrm>
            <a:off x="2395728" y="1636776"/>
            <a:ext cx="3127248" cy="594360"/>
          </a:xfrm>
          <a:prstGeom prst="rect">
            <a:avLst/>
          </a:prstGeom>
          <a:noFill/>
          <a:ln/>
        </p:spPr>
        <p:txBody>
          <a:bodyPr wrap="square" lIns="0" tIns="0" rIns="0" bIns="0"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자유와 책임</a:t>
            </a:r>
            <a:endParaRPr lang="en-US" sz="1000" dirty="0"/>
          </a:p>
          <a:p>
            <a:pPr marL="0" indent="0" algn="ctr">
              <a:buNone/>
            </a:pPr>
            <a:r>
              <a:rPr lang="en-US" sz="1000" dirty="0">
                <a:solidFill>
                  <a:srgbClr val="2A2A2A"/>
                </a:solidFill>
                <a:latin typeface="Calibri" pitchFamily="34" charset="0"/>
                <a:ea typeface="Calibri" pitchFamily="34" charset="-122"/>
                <a:cs typeface="Calibri" pitchFamily="34" charset="-120"/>
              </a:rPr>
              <a:t>(Freedom &amp; Responsibility)</a:t>
            </a:r>
            <a:endParaRPr lang="en-US" sz="1000" dirty="0"/>
          </a:p>
        </p:txBody>
      </p:sp>
      <p:sp>
        <p:nvSpPr>
          <p:cNvPr id="16" name="Shape 14"/>
          <p:cNvSpPr/>
          <p:nvPr/>
        </p:nvSpPr>
        <p:spPr>
          <a:xfrm>
            <a:off x="5614416" y="1636776"/>
            <a:ext cx="3255264" cy="594360"/>
          </a:xfrm>
          <a:prstGeom prst="rect">
            <a:avLst/>
          </a:prstGeom>
          <a:solidFill>
            <a:srgbClr val="F5F5F5"/>
          </a:solidFill>
          <a:ln w="12700">
            <a:solidFill>
              <a:srgbClr val="DDDDDD"/>
            </a:solidFill>
            <a:prstDash val="solid"/>
          </a:ln>
        </p:spPr>
      </p:sp>
      <p:sp>
        <p:nvSpPr>
          <p:cNvPr id="17" name="Text 15"/>
          <p:cNvSpPr/>
          <p:nvPr/>
        </p:nvSpPr>
        <p:spPr>
          <a:xfrm>
            <a:off x="5705856" y="1636776"/>
            <a:ext cx="3127248" cy="594360"/>
          </a:xfrm>
          <a:prstGeom prst="rect">
            <a:avLst/>
          </a:prstGeom>
          <a:noFill/>
          <a:ln/>
        </p:spPr>
        <p:txBody>
          <a:bodyPr wrap="square" lIns="0" tIns="0" rIns="0" bIns="0" rtlCol="0" anchor="ctr"/>
          <a:lstStyle/>
          <a:p>
            <a:pPr marL="0" indent="0" algn="ctr">
              <a:buNone/>
            </a:pPr>
            <a:r>
              <a:rPr lang="en-US" sz="1000" dirty="0">
                <a:solidFill>
                  <a:srgbClr val="E50914"/>
                </a:solidFill>
                <a:latin typeface="Calibri" pitchFamily="34" charset="0"/>
                <a:ea typeface="Calibri" pitchFamily="34" charset="-122"/>
                <a:cs typeface="Calibri" pitchFamily="34" charset="-120"/>
              </a:rPr>
              <a:t>사람이 프로세스보다 우선</a:t>
            </a:r>
            <a:endParaRPr lang="en-US" sz="1000" dirty="0"/>
          </a:p>
          <a:p>
            <a:pPr marL="0" indent="0" algn="ctr">
              <a:buNone/>
            </a:pPr>
            <a:r>
              <a:rPr lang="en-US" sz="1000" dirty="0">
                <a:solidFill>
                  <a:srgbClr val="E50914"/>
                </a:solidFill>
                <a:latin typeface="Calibri" pitchFamily="34" charset="0"/>
                <a:ea typeface="Calibri" pitchFamily="34" charset="-122"/>
                <a:cs typeface="Calibri" pitchFamily="34" charset="-120"/>
              </a:rPr>
              <a:t>(People Over Process)</a:t>
            </a:r>
            <a:endParaRPr lang="en-US" sz="1000" dirty="0"/>
          </a:p>
        </p:txBody>
      </p:sp>
      <p:sp>
        <p:nvSpPr>
          <p:cNvPr id="18" name="Shape 16"/>
          <p:cNvSpPr/>
          <p:nvPr/>
        </p:nvSpPr>
        <p:spPr>
          <a:xfrm>
            <a:off x="274320" y="2267712"/>
            <a:ext cx="1975104" cy="438912"/>
          </a:xfrm>
          <a:prstGeom prst="rect">
            <a:avLst/>
          </a:prstGeom>
          <a:solidFill>
            <a:srgbClr val="F8F8F8"/>
          </a:solidFill>
          <a:ln w="12700">
            <a:solidFill>
              <a:srgbClr val="DDDDDD"/>
            </a:solidFill>
            <a:prstDash val="solid"/>
          </a:ln>
        </p:spPr>
      </p:sp>
      <p:sp>
        <p:nvSpPr>
          <p:cNvPr id="19" name="Shape 17"/>
          <p:cNvSpPr/>
          <p:nvPr/>
        </p:nvSpPr>
        <p:spPr>
          <a:xfrm>
            <a:off x="274320" y="2267712"/>
            <a:ext cx="54864" cy="438912"/>
          </a:xfrm>
          <a:prstGeom prst="rect">
            <a:avLst/>
          </a:prstGeom>
          <a:solidFill>
            <a:srgbClr val="E50914"/>
          </a:solidFill>
          <a:ln w="12700">
            <a:solidFill>
              <a:srgbClr val="E50914"/>
            </a:solidFill>
            <a:prstDash val="solid"/>
          </a:ln>
        </p:spPr>
      </p:sp>
      <p:sp>
        <p:nvSpPr>
          <p:cNvPr id="20" name="Text 18"/>
          <p:cNvSpPr/>
          <p:nvPr/>
        </p:nvSpPr>
        <p:spPr>
          <a:xfrm>
            <a:off x="384048" y="2267712"/>
            <a:ext cx="1828800" cy="438912"/>
          </a:xfrm>
          <a:prstGeom prst="rect">
            <a:avLst/>
          </a:prstGeom>
          <a:noFill/>
          <a:ln/>
        </p:spPr>
        <p:txBody>
          <a:bodyPr wrap="square" lIns="0" tIns="0" rIns="0" bIns="0" rtlCol="0" anchor="ctr"/>
          <a:lstStyle/>
          <a:p>
            <a:pPr marL="0" indent="0" algn="l">
              <a:buNone/>
            </a:pPr>
            <a:r>
              <a:rPr lang="en-US" sz="1050" b="1" dirty="0">
                <a:solidFill>
                  <a:srgbClr val="141414"/>
                </a:solidFill>
                <a:latin typeface="Calibri" pitchFamily="34" charset="0"/>
                <a:ea typeface="Calibri" pitchFamily="34" charset="-122"/>
                <a:cs typeface="Calibri" pitchFamily="34" charset="-120"/>
              </a:rPr>
              <a:t>조직 정의</a:t>
            </a:r>
            <a:endParaRPr lang="en-US" sz="1050" dirty="0"/>
          </a:p>
        </p:txBody>
      </p:sp>
      <p:sp>
        <p:nvSpPr>
          <p:cNvPr id="21" name="Shape 19"/>
          <p:cNvSpPr/>
          <p:nvPr/>
        </p:nvSpPr>
        <p:spPr>
          <a:xfrm>
            <a:off x="2304288" y="2267712"/>
            <a:ext cx="3255264" cy="438912"/>
          </a:xfrm>
          <a:prstGeom prst="rect">
            <a:avLst/>
          </a:prstGeom>
          <a:solidFill>
            <a:srgbClr val="FFFFFF"/>
          </a:solidFill>
          <a:ln w="12700">
            <a:solidFill>
              <a:srgbClr val="DDDDDD"/>
            </a:solidFill>
            <a:prstDash val="solid"/>
          </a:ln>
        </p:spPr>
      </p:sp>
      <p:sp>
        <p:nvSpPr>
          <p:cNvPr id="22" name="Text 20"/>
          <p:cNvSpPr/>
          <p:nvPr/>
        </p:nvSpPr>
        <p:spPr>
          <a:xfrm>
            <a:off x="2395728" y="2267712"/>
            <a:ext cx="3127248" cy="438912"/>
          </a:xfrm>
          <a:prstGeom prst="rect">
            <a:avLst/>
          </a:prstGeom>
          <a:noFill/>
          <a:ln/>
        </p:spPr>
        <p:txBody>
          <a:bodyPr wrap="square" lIns="0" tIns="0" rIns="0" bIns="0"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프로 스포츠 팀</a:t>
            </a:r>
            <a:endParaRPr lang="en-US" sz="1000" dirty="0"/>
          </a:p>
        </p:txBody>
      </p:sp>
      <p:sp>
        <p:nvSpPr>
          <p:cNvPr id="23" name="Shape 21"/>
          <p:cNvSpPr/>
          <p:nvPr/>
        </p:nvSpPr>
        <p:spPr>
          <a:xfrm>
            <a:off x="5614416" y="2267712"/>
            <a:ext cx="3255264" cy="438912"/>
          </a:xfrm>
          <a:prstGeom prst="rect">
            <a:avLst/>
          </a:prstGeom>
          <a:solidFill>
            <a:srgbClr val="FFFFFF"/>
          </a:solidFill>
          <a:ln w="12700">
            <a:solidFill>
              <a:srgbClr val="DDDDDD"/>
            </a:solidFill>
            <a:prstDash val="solid"/>
          </a:ln>
        </p:spPr>
      </p:sp>
      <p:sp>
        <p:nvSpPr>
          <p:cNvPr id="24" name="Text 22"/>
          <p:cNvSpPr/>
          <p:nvPr/>
        </p:nvSpPr>
        <p:spPr>
          <a:xfrm>
            <a:off x="5705856" y="2267712"/>
            <a:ext cx="3127248" cy="438912"/>
          </a:xfrm>
          <a:prstGeom prst="rect">
            <a:avLst/>
          </a:prstGeom>
          <a:noFill/>
          <a:ln/>
        </p:spPr>
        <p:txBody>
          <a:bodyPr wrap="square" lIns="0" tIns="0" rIns="0" bIns="0" rtlCol="0" anchor="ctr"/>
          <a:lstStyle/>
          <a:p>
            <a:pPr marL="0" indent="0" algn="ctr">
              <a:buNone/>
            </a:pPr>
            <a:r>
              <a:rPr lang="en-US" sz="1000" dirty="0">
                <a:solidFill>
                  <a:srgbClr val="E50914"/>
                </a:solidFill>
                <a:latin typeface="Calibri" pitchFamily="34" charset="0"/>
                <a:ea typeface="Calibri" pitchFamily="34" charset="-122"/>
                <a:cs typeface="Calibri" pitchFamily="34" charset="-120"/>
              </a:rPr>
              <a:t>드림팀 (The Dream Team)</a:t>
            </a:r>
            <a:endParaRPr lang="en-US" sz="1000" dirty="0"/>
          </a:p>
        </p:txBody>
      </p:sp>
      <p:sp>
        <p:nvSpPr>
          <p:cNvPr id="25" name="Shape 23"/>
          <p:cNvSpPr/>
          <p:nvPr/>
        </p:nvSpPr>
        <p:spPr>
          <a:xfrm>
            <a:off x="274320" y="2743200"/>
            <a:ext cx="1975104" cy="530352"/>
          </a:xfrm>
          <a:prstGeom prst="rect">
            <a:avLst/>
          </a:prstGeom>
          <a:solidFill>
            <a:srgbClr val="EEEEEE"/>
          </a:solidFill>
          <a:ln w="12700">
            <a:solidFill>
              <a:srgbClr val="DDDDDD"/>
            </a:solidFill>
            <a:prstDash val="solid"/>
          </a:ln>
        </p:spPr>
      </p:sp>
      <p:sp>
        <p:nvSpPr>
          <p:cNvPr id="26" name="Shape 24"/>
          <p:cNvSpPr/>
          <p:nvPr/>
        </p:nvSpPr>
        <p:spPr>
          <a:xfrm>
            <a:off x="274320" y="2743200"/>
            <a:ext cx="54864" cy="530352"/>
          </a:xfrm>
          <a:prstGeom prst="rect">
            <a:avLst/>
          </a:prstGeom>
          <a:solidFill>
            <a:srgbClr val="E50914"/>
          </a:solidFill>
          <a:ln w="12700">
            <a:solidFill>
              <a:srgbClr val="E50914"/>
            </a:solidFill>
            <a:prstDash val="solid"/>
          </a:ln>
        </p:spPr>
      </p:sp>
      <p:sp>
        <p:nvSpPr>
          <p:cNvPr id="27" name="Text 25"/>
          <p:cNvSpPr/>
          <p:nvPr/>
        </p:nvSpPr>
        <p:spPr>
          <a:xfrm>
            <a:off x="384048" y="2743200"/>
            <a:ext cx="1828800" cy="530352"/>
          </a:xfrm>
          <a:prstGeom prst="rect">
            <a:avLst/>
          </a:prstGeom>
          <a:noFill/>
          <a:ln/>
        </p:spPr>
        <p:txBody>
          <a:bodyPr wrap="square" lIns="0" tIns="0" rIns="0" bIns="0" rtlCol="0" anchor="ctr"/>
          <a:lstStyle/>
          <a:p>
            <a:pPr marL="0" indent="0" algn="l">
              <a:buNone/>
            </a:pPr>
            <a:r>
              <a:rPr lang="en-US" sz="1050" b="1" dirty="0">
                <a:solidFill>
                  <a:srgbClr val="141414"/>
                </a:solidFill>
                <a:latin typeface="Calibri" pitchFamily="34" charset="0"/>
                <a:ea typeface="Calibri" pitchFamily="34" charset="-122"/>
                <a:cs typeface="Calibri" pitchFamily="34" charset="-120"/>
              </a:rPr>
              <a:t>콘텐츠 철학</a:t>
            </a:r>
            <a:endParaRPr lang="en-US" sz="1050" dirty="0"/>
          </a:p>
        </p:txBody>
      </p:sp>
      <p:sp>
        <p:nvSpPr>
          <p:cNvPr id="28" name="Shape 26"/>
          <p:cNvSpPr/>
          <p:nvPr/>
        </p:nvSpPr>
        <p:spPr>
          <a:xfrm>
            <a:off x="2304288" y="2743200"/>
            <a:ext cx="3255264" cy="530352"/>
          </a:xfrm>
          <a:prstGeom prst="rect">
            <a:avLst/>
          </a:prstGeom>
          <a:solidFill>
            <a:srgbClr val="F5F5F5"/>
          </a:solidFill>
          <a:ln w="12700">
            <a:solidFill>
              <a:srgbClr val="DDDDDD"/>
            </a:solidFill>
            <a:prstDash val="solid"/>
          </a:ln>
        </p:spPr>
      </p:sp>
      <p:sp>
        <p:nvSpPr>
          <p:cNvPr id="29" name="Text 27"/>
          <p:cNvSpPr/>
          <p:nvPr/>
        </p:nvSpPr>
        <p:spPr>
          <a:xfrm>
            <a:off x="2395728" y="2743200"/>
            <a:ext cx="3127248" cy="530352"/>
          </a:xfrm>
          <a:prstGeom prst="rect">
            <a:avLst/>
          </a:prstGeom>
          <a:noFill/>
          <a:ln/>
        </p:spPr>
        <p:txBody>
          <a:bodyPr wrap="square" lIns="0" tIns="0" rIns="0" bIns="0"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예술적 표현의 자유 강조</a:t>
            </a:r>
            <a:endParaRPr lang="en-US" sz="1000" dirty="0"/>
          </a:p>
        </p:txBody>
      </p:sp>
      <p:sp>
        <p:nvSpPr>
          <p:cNvPr id="30" name="Shape 28"/>
          <p:cNvSpPr/>
          <p:nvPr/>
        </p:nvSpPr>
        <p:spPr>
          <a:xfrm>
            <a:off x="5614416" y="2743200"/>
            <a:ext cx="3255264" cy="530352"/>
          </a:xfrm>
          <a:prstGeom prst="rect">
            <a:avLst/>
          </a:prstGeom>
          <a:solidFill>
            <a:srgbClr val="F5F5F5"/>
          </a:solidFill>
          <a:ln w="12700">
            <a:solidFill>
              <a:srgbClr val="DDDDDD"/>
            </a:solidFill>
            <a:prstDash val="solid"/>
          </a:ln>
        </p:spPr>
      </p:sp>
      <p:sp>
        <p:nvSpPr>
          <p:cNvPr id="31" name="Text 29"/>
          <p:cNvSpPr/>
          <p:nvPr/>
        </p:nvSpPr>
        <p:spPr>
          <a:xfrm>
            <a:off x="5705856" y="2743200"/>
            <a:ext cx="3127248" cy="530352"/>
          </a:xfrm>
          <a:prstGeom prst="rect">
            <a:avLst/>
          </a:prstGeom>
          <a:noFill/>
          <a:ln/>
        </p:spPr>
        <p:txBody>
          <a:bodyPr wrap="square" lIns="0" tIns="0" rIns="0" bIns="0" rtlCol="0" anchor="ctr"/>
          <a:lstStyle/>
          <a:p>
            <a:pPr marL="0" indent="0" algn="ctr">
              <a:buNone/>
            </a:pPr>
            <a:r>
              <a:rPr lang="en-US" sz="1000" dirty="0">
                <a:solidFill>
                  <a:srgbClr val="E50914"/>
                </a:solidFill>
                <a:latin typeface="Calibri" pitchFamily="34" charset="0"/>
                <a:ea typeface="Calibri" pitchFamily="34" charset="-122"/>
                <a:cs typeface="Calibri" pitchFamily="34" charset="-120"/>
              </a:rPr>
              <a:t>'불편할 정도의 </a:t>
            </a:r>
            <a:r>
              <a:rPr lang="en-US" sz="1000" dirty="0" err="1">
                <a:solidFill>
                  <a:srgbClr val="E50914"/>
                </a:solidFill>
                <a:latin typeface="Calibri" pitchFamily="34" charset="0"/>
                <a:ea typeface="Calibri" pitchFamily="34" charset="-122"/>
                <a:cs typeface="Calibri" pitchFamily="34" charset="-120"/>
              </a:rPr>
              <a:t>설렘'</a:t>
            </a:r>
            <a:r>
              <a:rPr lang="en-US" sz="1000" dirty="0" err="1" smtClean="0">
                <a:solidFill>
                  <a:srgbClr val="E50914"/>
                </a:solidFill>
                <a:latin typeface="Calibri" pitchFamily="34" charset="0"/>
                <a:ea typeface="Calibri" pitchFamily="34" charset="-122"/>
                <a:cs typeface="Calibri" pitchFamily="34" charset="-120"/>
              </a:rPr>
              <a:t>과</a:t>
            </a:r>
            <a:r>
              <a:rPr lang="en-US" sz="1000" dirty="0"/>
              <a:t> </a:t>
            </a:r>
            <a:r>
              <a:rPr lang="en-US" sz="1000" dirty="0" err="1" smtClean="0">
                <a:solidFill>
                  <a:srgbClr val="E50914"/>
                </a:solidFill>
                <a:latin typeface="Calibri" pitchFamily="34" charset="0"/>
                <a:ea typeface="Calibri" pitchFamily="34" charset="-122"/>
                <a:cs typeface="Calibri" pitchFamily="34" charset="-120"/>
              </a:rPr>
              <a:t>실험</a:t>
            </a:r>
            <a:r>
              <a:rPr lang="en-US" sz="1000" dirty="0" smtClean="0">
                <a:solidFill>
                  <a:srgbClr val="E50914"/>
                </a:solidFill>
                <a:latin typeface="Calibri" pitchFamily="34" charset="0"/>
                <a:ea typeface="Calibri" pitchFamily="34" charset="-122"/>
                <a:cs typeface="Calibri" pitchFamily="34" charset="-120"/>
              </a:rPr>
              <a:t> </a:t>
            </a:r>
            <a:r>
              <a:rPr lang="en-US" sz="1000" dirty="0">
                <a:solidFill>
                  <a:srgbClr val="E50914"/>
                </a:solidFill>
                <a:latin typeface="Calibri" pitchFamily="34" charset="0"/>
                <a:ea typeface="Calibri" pitchFamily="34" charset="-122"/>
                <a:cs typeface="Calibri" pitchFamily="34" charset="-120"/>
              </a:rPr>
              <a:t>강조</a:t>
            </a:r>
            <a:endParaRPr lang="en-US" sz="1000" dirty="0"/>
          </a:p>
        </p:txBody>
      </p:sp>
      <p:sp>
        <p:nvSpPr>
          <p:cNvPr id="32" name="Shape 30"/>
          <p:cNvSpPr/>
          <p:nvPr/>
        </p:nvSpPr>
        <p:spPr>
          <a:xfrm>
            <a:off x="274320" y="3310128"/>
            <a:ext cx="1975104" cy="594360"/>
          </a:xfrm>
          <a:prstGeom prst="rect">
            <a:avLst/>
          </a:prstGeom>
          <a:solidFill>
            <a:srgbClr val="F8F8F8"/>
          </a:solidFill>
          <a:ln w="12700">
            <a:solidFill>
              <a:srgbClr val="DDDDDD"/>
            </a:solidFill>
            <a:prstDash val="solid"/>
          </a:ln>
        </p:spPr>
      </p:sp>
      <p:sp>
        <p:nvSpPr>
          <p:cNvPr id="33" name="Shape 31"/>
          <p:cNvSpPr/>
          <p:nvPr/>
        </p:nvSpPr>
        <p:spPr>
          <a:xfrm>
            <a:off x="274320" y="3310128"/>
            <a:ext cx="54864" cy="594360"/>
          </a:xfrm>
          <a:prstGeom prst="rect">
            <a:avLst/>
          </a:prstGeom>
          <a:solidFill>
            <a:srgbClr val="E50914"/>
          </a:solidFill>
          <a:ln w="12700">
            <a:solidFill>
              <a:srgbClr val="E50914"/>
            </a:solidFill>
            <a:prstDash val="solid"/>
          </a:ln>
        </p:spPr>
      </p:sp>
      <p:sp>
        <p:nvSpPr>
          <p:cNvPr id="34" name="Text 32"/>
          <p:cNvSpPr/>
          <p:nvPr/>
        </p:nvSpPr>
        <p:spPr>
          <a:xfrm>
            <a:off x="384048" y="3310128"/>
            <a:ext cx="1828800" cy="594360"/>
          </a:xfrm>
          <a:prstGeom prst="rect">
            <a:avLst/>
          </a:prstGeom>
          <a:noFill/>
          <a:ln/>
        </p:spPr>
        <p:txBody>
          <a:bodyPr wrap="square" lIns="0" tIns="0" rIns="0" bIns="0" rtlCol="0" anchor="ctr"/>
          <a:lstStyle/>
          <a:p>
            <a:pPr marL="0" indent="0" algn="l">
              <a:buNone/>
            </a:pPr>
            <a:r>
              <a:rPr lang="en-US" sz="1050" b="1" dirty="0">
                <a:solidFill>
                  <a:srgbClr val="141414"/>
                </a:solidFill>
                <a:latin typeface="Calibri" pitchFamily="34" charset="0"/>
                <a:ea typeface="Calibri" pitchFamily="34" charset="-122"/>
                <a:cs typeface="Calibri" pitchFamily="34" charset="-120"/>
              </a:rPr>
              <a:t>매니저 역할</a:t>
            </a:r>
            <a:endParaRPr lang="en-US" sz="1050" dirty="0"/>
          </a:p>
        </p:txBody>
      </p:sp>
      <p:sp>
        <p:nvSpPr>
          <p:cNvPr id="35" name="Shape 33"/>
          <p:cNvSpPr/>
          <p:nvPr/>
        </p:nvSpPr>
        <p:spPr>
          <a:xfrm>
            <a:off x="2304288" y="3310128"/>
            <a:ext cx="3255264" cy="594360"/>
          </a:xfrm>
          <a:prstGeom prst="rect">
            <a:avLst/>
          </a:prstGeom>
          <a:solidFill>
            <a:srgbClr val="FFFFFF"/>
          </a:solidFill>
          <a:ln w="12700">
            <a:solidFill>
              <a:srgbClr val="DDDDDD"/>
            </a:solidFill>
            <a:prstDash val="solid"/>
          </a:ln>
        </p:spPr>
      </p:sp>
      <p:sp>
        <p:nvSpPr>
          <p:cNvPr id="36" name="Text 34"/>
          <p:cNvSpPr/>
          <p:nvPr/>
        </p:nvSpPr>
        <p:spPr>
          <a:xfrm>
            <a:off x="2395728" y="3310128"/>
            <a:ext cx="3127248" cy="594360"/>
          </a:xfrm>
          <a:prstGeom prst="rect">
            <a:avLst/>
          </a:prstGeom>
          <a:noFill/>
          <a:ln/>
        </p:spPr>
        <p:txBody>
          <a:bodyPr wrap="square" lIns="0" tIns="0" rIns="0" bIns="0" rtlCol="0" anchor="ctr"/>
          <a:lstStyle/>
          <a:p>
            <a:pPr marL="0" indent="0" algn="ctr">
              <a:buNone/>
            </a:pPr>
            <a:r>
              <a:rPr lang="en-US" sz="1000" dirty="0">
                <a:solidFill>
                  <a:srgbClr val="2A2A2A"/>
                </a:solidFill>
                <a:latin typeface="Calibri" pitchFamily="34" charset="0"/>
                <a:ea typeface="Calibri" pitchFamily="34" charset="-122"/>
                <a:cs typeface="Calibri" pitchFamily="34" charset="-120"/>
              </a:rPr>
              <a:t>맥락 공유</a:t>
            </a:r>
            <a:endParaRPr lang="en-US" sz="1000" dirty="0"/>
          </a:p>
          <a:p>
            <a:pPr marL="0" indent="0" algn="ctr">
              <a:buNone/>
            </a:pPr>
            <a:r>
              <a:rPr lang="en-US" sz="1000" dirty="0">
                <a:solidFill>
                  <a:srgbClr val="2A2A2A"/>
                </a:solidFill>
                <a:latin typeface="Calibri" pitchFamily="34" charset="0"/>
                <a:ea typeface="Calibri" pitchFamily="34" charset="-122"/>
                <a:cs typeface="Calibri" pitchFamily="34" charset="-120"/>
              </a:rPr>
              <a:t>(Context, not Control)</a:t>
            </a:r>
            <a:endParaRPr lang="en-US" sz="1000" dirty="0"/>
          </a:p>
        </p:txBody>
      </p:sp>
      <p:sp>
        <p:nvSpPr>
          <p:cNvPr id="37" name="Shape 35"/>
          <p:cNvSpPr/>
          <p:nvPr/>
        </p:nvSpPr>
        <p:spPr>
          <a:xfrm>
            <a:off x="5614416" y="3310128"/>
            <a:ext cx="3255264" cy="594360"/>
          </a:xfrm>
          <a:prstGeom prst="rect">
            <a:avLst/>
          </a:prstGeom>
          <a:solidFill>
            <a:srgbClr val="FFFFFF"/>
          </a:solidFill>
          <a:ln w="12700">
            <a:solidFill>
              <a:srgbClr val="DDDDDD"/>
            </a:solidFill>
            <a:prstDash val="solid"/>
          </a:ln>
        </p:spPr>
      </p:sp>
      <p:sp>
        <p:nvSpPr>
          <p:cNvPr id="38" name="Text 36"/>
          <p:cNvSpPr/>
          <p:nvPr/>
        </p:nvSpPr>
        <p:spPr>
          <a:xfrm>
            <a:off x="5705856" y="3310128"/>
            <a:ext cx="3127248" cy="594360"/>
          </a:xfrm>
          <a:prstGeom prst="rect">
            <a:avLst/>
          </a:prstGeom>
          <a:noFill/>
          <a:ln/>
        </p:spPr>
        <p:txBody>
          <a:bodyPr wrap="square" lIns="0" tIns="0" rIns="0" bIns="0" rtlCol="0" anchor="ctr"/>
          <a:lstStyle/>
          <a:p>
            <a:pPr marL="0" indent="0" algn="ctr">
              <a:buNone/>
            </a:pPr>
            <a:r>
              <a:rPr lang="en-US" sz="1000" dirty="0">
                <a:solidFill>
                  <a:srgbClr val="E50914"/>
                </a:solidFill>
                <a:latin typeface="Calibri" pitchFamily="34" charset="0"/>
                <a:ea typeface="Calibri" pitchFamily="34" charset="-122"/>
                <a:cs typeface="Calibri" pitchFamily="34" charset="-120"/>
              </a:rPr>
              <a:t>맥락 공유 +</a:t>
            </a:r>
            <a:endParaRPr lang="en-US" sz="1000" dirty="0"/>
          </a:p>
          <a:p>
            <a:pPr marL="0" indent="0" algn="ctr">
              <a:buNone/>
            </a:pPr>
            <a:r>
              <a:rPr lang="en-US" sz="1000" dirty="0">
                <a:solidFill>
                  <a:srgbClr val="E50914"/>
                </a:solidFill>
                <a:latin typeface="Calibri" pitchFamily="34" charset="0"/>
                <a:ea typeface="Calibri" pitchFamily="34" charset="-122"/>
                <a:cs typeface="Calibri" pitchFamily="34" charset="-120"/>
              </a:rPr>
              <a:t>적극적인 코칭과 개입</a:t>
            </a:r>
            <a:endParaRPr lang="en-US" sz="1000" dirty="0"/>
          </a:p>
        </p:txBody>
      </p:sp>
    </p:spTree>
    <p:extLst>
      <p:ext uri="{BB962C8B-B14F-4D97-AF65-F5344CB8AC3E}">
        <p14:creationId xmlns:p14="http://schemas.microsoft.com/office/powerpoint/2010/main" val="39206809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r>
              <a:rPr lang="en-US" sz="1300" b="1" dirty="0" smtClean="0">
                <a:solidFill>
                  <a:srgbClr val="FFFFFF"/>
                </a:solidFill>
                <a:latin typeface="Calibri" pitchFamily="34" charset="0"/>
                <a:ea typeface="Calibri" pitchFamily="34" charset="-122"/>
                <a:cs typeface="Calibri" pitchFamily="34" charset="-120"/>
              </a:rPr>
              <a:t>2024 </a:t>
            </a:r>
            <a:r>
              <a:rPr lang="en-US" sz="1300" b="1" dirty="0">
                <a:solidFill>
                  <a:srgbClr val="FFFFFF"/>
                </a:solidFill>
                <a:latin typeface="Calibri" pitchFamily="34" charset="0"/>
                <a:ea typeface="Calibri" pitchFamily="34" charset="-122"/>
                <a:cs typeface="Calibri" pitchFamily="34" charset="-120"/>
              </a:rPr>
              <a:t>Culture </a:t>
            </a:r>
            <a:r>
              <a:rPr lang="en-US" sz="1300" b="1" dirty="0" smtClean="0">
                <a:solidFill>
                  <a:srgbClr val="FFFFFF"/>
                </a:solidFill>
                <a:latin typeface="Calibri" pitchFamily="34" charset="0"/>
                <a:ea typeface="Calibri" pitchFamily="34" charset="-122"/>
                <a:cs typeface="Calibri" pitchFamily="34" charset="-120"/>
              </a:rPr>
              <a:t>Memo </a:t>
            </a:r>
            <a:r>
              <a:rPr lang="en-US" altLang="ko-KR" sz="1300" b="1" dirty="0" err="1">
                <a:solidFill>
                  <a:srgbClr val="FFFFFF"/>
                </a:solidFill>
                <a:latin typeface="Calibri" pitchFamily="34" charset="0"/>
                <a:ea typeface="Calibri" pitchFamily="34" charset="-122"/>
                <a:cs typeface="Calibri" pitchFamily="34" charset="-120"/>
              </a:rPr>
              <a:t>재정</a:t>
            </a:r>
            <a:r>
              <a:rPr lang="ko-KR" altLang="en-US" sz="1300" b="1" dirty="0" err="1">
                <a:solidFill>
                  <a:srgbClr val="FFFFFF"/>
                </a:solidFill>
                <a:latin typeface="Calibri" pitchFamily="34" charset="0"/>
                <a:ea typeface="Calibri" pitchFamily="34" charset="-122"/>
                <a:cs typeface="Calibri" pitchFamily="34" charset="-120"/>
              </a:rPr>
              <a:t>렬</a:t>
            </a:r>
            <a:r>
              <a:rPr lang="ko-KR" altLang="en-US" sz="1300" b="1" dirty="0">
                <a:solidFill>
                  <a:srgbClr val="FFFFFF"/>
                </a:solidFill>
                <a:latin typeface="Calibri" pitchFamily="34" charset="0"/>
                <a:ea typeface="Calibri" pitchFamily="34" charset="-122"/>
                <a:cs typeface="Calibri" pitchFamily="34" charset="-120"/>
              </a:rPr>
              <a:t> </a:t>
            </a:r>
            <a:r>
              <a:rPr lang="en-US" altLang="ko-KR" sz="1300" b="1" dirty="0" smtClean="0">
                <a:solidFill>
                  <a:srgbClr val="FFFFFF"/>
                </a:solidFill>
                <a:latin typeface="Calibri" pitchFamily="34" charset="0"/>
                <a:ea typeface="Calibri" pitchFamily="34" charset="-122"/>
                <a:cs typeface="Calibri" pitchFamily="34" charset="-120"/>
              </a:rPr>
              <a:t>: </a:t>
            </a:r>
            <a:r>
              <a:rPr lang="en-US" sz="1300" b="1" dirty="0" smtClean="0">
                <a:solidFill>
                  <a:srgbClr val="FFFFFF"/>
                </a:solidFill>
                <a:latin typeface="Calibri" pitchFamily="34" charset="0"/>
                <a:ea typeface="Calibri" pitchFamily="34" charset="-122"/>
                <a:cs typeface="Calibri" pitchFamily="34" charset="-120"/>
              </a:rPr>
              <a:t>더 </a:t>
            </a:r>
            <a:r>
              <a:rPr lang="ko-KR" altLang="en-US" sz="1300" b="1" dirty="0" smtClean="0">
                <a:solidFill>
                  <a:srgbClr val="FFFFFF"/>
                </a:solidFill>
                <a:latin typeface="Calibri" pitchFamily="34" charset="0"/>
                <a:ea typeface="Calibri" pitchFamily="34" charset="-122"/>
                <a:cs typeface="Calibri" pitchFamily="34" charset="-120"/>
              </a:rPr>
              <a:t>직관적이고</a:t>
            </a:r>
            <a:r>
              <a:rPr lang="en-US" sz="1300" b="1" dirty="0" smtClean="0">
                <a:solidFill>
                  <a:srgbClr val="FFFFFF"/>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더 </a:t>
            </a:r>
            <a:r>
              <a:rPr lang="en-US" sz="1300" b="1" dirty="0" err="1" smtClean="0">
                <a:solidFill>
                  <a:srgbClr val="FFFFFF"/>
                </a:solidFill>
                <a:latin typeface="Calibri" pitchFamily="34" charset="0"/>
                <a:ea typeface="Calibri" pitchFamily="34" charset="-122"/>
                <a:cs typeface="Calibri" pitchFamily="34" charset="-120"/>
              </a:rPr>
              <a:t>글로벌하게</a:t>
            </a:r>
            <a:r>
              <a:rPr lang="en-US" sz="1300" b="1" dirty="0" smtClean="0">
                <a:solidFill>
                  <a:srgbClr val="FFFFFF"/>
                </a:solidFill>
                <a:latin typeface="Calibri" pitchFamily="34" charset="0"/>
                <a:ea typeface="Calibri" pitchFamily="34" charset="-122"/>
                <a:cs typeface="Calibri" pitchFamily="34" charset="-120"/>
              </a:rPr>
              <a:t>, </a:t>
            </a:r>
            <a:r>
              <a:rPr lang="ko-KR" altLang="en-US" sz="1300" b="1" dirty="0" smtClean="0">
                <a:solidFill>
                  <a:srgbClr val="FFFFFF"/>
                </a:solidFill>
                <a:latin typeface="Calibri" pitchFamily="34" charset="0"/>
                <a:ea typeface="Calibri" pitchFamily="34" charset="-122"/>
                <a:cs typeface="Calibri" pitchFamily="34" charset="-120"/>
              </a:rPr>
              <a:t>공격적으로</a:t>
            </a:r>
            <a:r>
              <a:rPr lang="en-US" altLang="ko-KR" sz="1300" b="1" dirty="0" smtClean="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lgn="l">
              <a:buNone/>
            </a:pPr>
            <a:r>
              <a:rPr lang="en-US" sz="2000" b="1" dirty="0">
                <a:solidFill>
                  <a:srgbClr val="141414"/>
                </a:solidFill>
                <a:latin typeface="Arial Black" pitchFamily="34" charset="0"/>
                <a:ea typeface="Arial Black" pitchFamily="34" charset="-122"/>
                <a:cs typeface="Arial Black" pitchFamily="34" charset="-120"/>
              </a:rPr>
              <a:t>2024 Culture </a:t>
            </a:r>
            <a:r>
              <a:rPr lang="en-US" sz="2000" b="1" dirty="0" smtClean="0">
                <a:solidFill>
                  <a:srgbClr val="141414"/>
                </a:solidFill>
                <a:latin typeface="Arial Black" pitchFamily="34" charset="0"/>
                <a:ea typeface="Arial Black" pitchFamily="34" charset="-122"/>
                <a:cs typeface="Arial Black" pitchFamily="34" charset="-120"/>
              </a:rPr>
              <a:t>Memo : </a:t>
            </a:r>
            <a:r>
              <a:rPr lang="en-US" sz="2000" b="1" dirty="0">
                <a:solidFill>
                  <a:srgbClr val="141414"/>
                </a:solidFill>
                <a:latin typeface="Arial Black" pitchFamily="34" charset="0"/>
                <a:ea typeface="Arial Black" pitchFamily="34" charset="-122"/>
                <a:cs typeface="Arial Black" pitchFamily="34" charset="-120"/>
              </a:rPr>
              <a:t>무엇이 달라졌나</a:t>
            </a:r>
            <a:endParaRPr lang="en-US" sz="2000" dirty="0"/>
          </a:p>
        </p:txBody>
      </p:sp>
      <p:sp>
        <p:nvSpPr>
          <p:cNvPr id="5" name="Shape 3"/>
          <p:cNvSpPr/>
          <p:nvPr/>
        </p:nvSpPr>
        <p:spPr>
          <a:xfrm>
            <a:off x="274320" y="1261872"/>
            <a:ext cx="4160520" cy="320040"/>
          </a:xfrm>
          <a:prstGeom prst="rect">
            <a:avLst/>
          </a:prstGeom>
          <a:solidFill>
            <a:srgbClr val="141414"/>
          </a:solidFill>
          <a:ln w="12700">
            <a:solidFill>
              <a:srgbClr val="141414"/>
            </a:solidFill>
            <a:prstDash val="solid"/>
          </a:ln>
        </p:spPr>
      </p:sp>
      <p:sp>
        <p:nvSpPr>
          <p:cNvPr id="6" name="Text 4"/>
          <p:cNvSpPr/>
          <p:nvPr/>
        </p:nvSpPr>
        <p:spPr>
          <a:xfrm>
            <a:off x="274320" y="1261872"/>
            <a:ext cx="41605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2024 업데이트 핵심 4가지</a:t>
            </a:r>
            <a:endParaRPr lang="en-US" sz="1100" dirty="0"/>
          </a:p>
        </p:txBody>
      </p:sp>
      <p:sp>
        <p:nvSpPr>
          <p:cNvPr id="7" name="Shape 5"/>
          <p:cNvSpPr/>
          <p:nvPr/>
        </p:nvSpPr>
        <p:spPr>
          <a:xfrm>
            <a:off x="274320" y="1645920"/>
            <a:ext cx="457200" cy="640080"/>
          </a:xfrm>
          <a:prstGeom prst="rect">
            <a:avLst/>
          </a:prstGeom>
          <a:solidFill>
            <a:srgbClr val="E50914"/>
          </a:solidFill>
          <a:ln w="12700">
            <a:solidFill>
              <a:srgbClr val="E50914"/>
            </a:solidFill>
            <a:prstDash val="solid"/>
          </a:ln>
        </p:spPr>
      </p:sp>
      <p:sp>
        <p:nvSpPr>
          <p:cNvPr id="8" name="Text 6"/>
          <p:cNvSpPr/>
          <p:nvPr/>
        </p:nvSpPr>
        <p:spPr>
          <a:xfrm>
            <a:off x="274320" y="1645920"/>
            <a:ext cx="4572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9" name="Shape 7"/>
          <p:cNvSpPr/>
          <p:nvPr/>
        </p:nvSpPr>
        <p:spPr>
          <a:xfrm>
            <a:off x="749808" y="1645920"/>
            <a:ext cx="3685032" cy="640080"/>
          </a:xfrm>
          <a:prstGeom prst="rect">
            <a:avLst/>
          </a:prstGeom>
          <a:solidFill>
            <a:srgbClr val="F5F5F5"/>
          </a:solidFill>
          <a:ln w="12700">
            <a:solidFill>
              <a:srgbClr val="DDDDDD"/>
            </a:solidFill>
            <a:prstDash val="solid"/>
          </a:ln>
        </p:spPr>
      </p:sp>
      <p:sp>
        <p:nvSpPr>
          <p:cNvPr id="10" name="Text 8"/>
          <p:cNvSpPr/>
          <p:nvPr/>
        </p:nvSpPr>
        <p:spPr>
          <a:xfrm>
            <a:off x="841248" y="1682496"/>
            <a:ext cx="3520440" cy="274320"/>
          </a:xfrm>
          <a:prstGeom prst="rect">
            <a:avLst/>
          </a:prstGeom>
          <a:noFill/>
          <a:ln/>
        </p:spPr>
        <p:txBody>
          <a:bodyPr wrap="square" lIns="0" tIns="0" rIns="0" bIns="0" rtlCol="0" anchor="ctr"/>
          <a:lstStyle/>
          <a:p>
            <a:pPr marL="0" indent="0" algn="l">
              <a:buNone/>
            </a:pPr>
            <a:r>
              <a:rPr lang="en-US" sz="1100" b="1" dirty="0">
                <a:solidFill>
                  <a:srgbClr val="141414"/>
                </a:solidFill>
                <a:latin typeface="Calibri" pitchFamily="34" charset="0"/>
                <a:ea typeface="Calibri" pitchFamily="34" charset="-122"/>
                <a:cs typeface="Calibri" pitchFamily="34" charset="-120"/>
              </a:rPr>
              <a:t>더 짧고 명확하게</a:t>
            </a:r>
            <a:endParaRPr lang="en-US" sz="1100" dirty="0"/>
          </a:p>
        </p:txBody>
      </p:sp>
      <p:sp>
        <p:nvSpPr>
          <p:cNvPr id="11" name="Text 9"/>
          <p:cNvSpPr/>
          <p:nvPr/>
        </p:nvSpPr>
        <p:spPr>
          <a:xfrm>
            <a:off x="841248" y="1956816"/>
            <a:ext cx="3520440" cy="310896"/>
          </a:xfrm>
          <a:prstGeom prst="rect">
            <a:avLst/>
          </a:prstGeom>
          <a:noFill/>
          <a:ln/>
        </p:spPr>
        <p:txBody>
          <a:bodyPr wrap="square" lIns="0" tIns="0" rIns="0" bIns="0" rtlCol="0" anchor="t"/>
          <a:lstStyle/>
          <a:p>
            <a:pPr marL="0" indent="0" algn="l">
              <a:buNone/>
            </a:pPr>
            <a:r>
              <a:rPr lang="en-US" sz="900" dirty="0">
                <a:solidFill>
                  <a:srgbClr val="2A2A2A"/>
                </a:solidFill>
                <a:latin typeface="Calibri" pitchFamily="34" charset="0"/>
                <a:ea typeface="Calibri" pitchFamily="34" charset="-122"/>
                <a:cs typeface="Calibri" pitchFamily="34" charset="-120"/>
              </a:rPr>
              <a:t>문서를 간결하게 압축. </a:t>
            </a:r>
            <a:endParaRPr lang="en-US" sz="900" dirty="0" smtClean="0">
              <a:solidFill>
                <a:srgbClr val="2A2A2A"/>
              </a:solidFill>
              <a:latin typeface="Calibri" pitchFamily="34" charset="0"/>
              <a:ea typeface="Calibri" pitchFamily="34" charset="-122"/>
              <a:cs typeface="Calibri" pitchFamily="34" charset="-120"/>
            </a:endParaRPr>
          </a:p>
          <a:p>
            <a:pPr marL="0" indent="0" algn="l">
              <a:buNone/>
            </a:pPr>
            <a:r>
              <a:rPr lang="en-US" sz="900" dirty="0" smtClean="0">
                <a:solidFill>
                  <a:srgbClr val="2A2A2A"/>
                </a:solidFill>
                <a:latin typeface="Calibri" pitchFamily="34" charset="0"/>
                <a:ea typeface="Calibri" pitchFamily="34" charset="-122"/>
                <a:cs typeface="Calibri" pitchFamily="34" charset="-120"/>
              </a:rPr>
              <a:t>13,000</a:t>
            </a:r>
            <a:r>
              <a:rPr lang="en-US" sz="900" dirty="0">
                <a:solidFill>
                  <a:srgbClr val="2A2A2A"/>
                </a:solidFill>
                <a:latin typeface="Calibri" pitchFamily="34" charset="0"/>
                <a:ea typeface="Calibri" pitchFamily="34" charset="-122"/>
                <a:cs typeface="Calibri" pitchFamily="34" charset="-120"/>
              </a:rPr>
              <a:t>명+ 글로벌 조직이 동일하게 해석할 수 있도록 재작성</a:t>
            </a:r>
            <a:endParaRPr lang="en-US" sz="900" dirty="0"/>
          </a:p>
        </p:txBody>
      </p:sp>
      <p:sp>
        <p:nvSpPr>
          <p:cNvPr id="12" name="Shape 10"/>
          <p:cNvSpPr/>
          <p:nvPr/>
        </p:nvSpPr>
        <p:spPr>
          <a:xfrm>
            <a:off x="274320" y="2395728"/>
            <a:ext cx="457200" cy="640080"/>
          </a:xfrm>
          <a:prstGeom prst="rect">
            <a:avLst/>
          </a:prstGeom>
          <a:solidFill>
            <a:srgbClr val="E50914"/>
          </a:solidFill>
          <a:ln w="12700">
            <a:solidFill>
              <a:srgbClr val="E50914"/>
            </a:solidFill>
            <a:prstDash val="solid"/>
          </a:ln>
        </p:spPr>
      </p:sp>
      <p:sp>
        <p:nvSpPr>
          <p:cNvPr id="13" name="Text 11"/>
          <p:cNvSpPr/>
          <p:nvPr/>
        </p:nvSpPr>
        <p:spPr>
          <a:xfrm>
            <a:off x="274320" y="2395728"/>
            <a:ext cx="4572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14" name="Shape 12"/>
          <p:cNvSpPr/>
          <p:nvPr/>
        </p:nvSpPr>
        <p:spPr>
          <a:xfrm>
            <a:off x="749808" y="2395728"/>
            <a:ext cx="3685032" cy="640080"/>
          </a:xfrm>
          <a:prstGeom prst="rect">
            <a:avLst/>
          </a:prstGeom>
          <a:solidFill>
            <a:srgbClr val="F5F5F5"/>
          </a:solidFill>
          <a:ln w="12700">
            <a:solidFill>
              <a:srgbClr val="DDDDDD"/>
            </a:solidFill>
            <a:prstDash val="solid"/>
          </a:ln>
        </p:spPr>
      </p:sp>
      <p:sp>
        <p:nvSpPr>
          <p:cNvPr id="15" name="Text 13"/>
          <p:cNvSpPr/>
          <p:nvPr/>
        </p:nvSpPr>
        <p:spPr>
          <a:xfrm>
            <a:off x="841248" y="2432304"/>
            <a:ext cx="3520440" cy="274320"/>
          </a:xfrm>
          <a:prstGeom prst="rect">
            <a:avLst/>
          </a:prstGeom>
          <a:noFill/>
          <a:ln/>
        </p:spPr>
        <p:txBody>
          <a:bodyPr wrap="square" lIns="0" tIns="0" rIns="0" bIns="0" rtlCol="0" anchor="ctr"/>
          <a:lstStyle/>
          <a:p>
            <a:pPr marL="0" indent="0" algn="l">
              <a:buNone/>
            </a:pPr>
            <a:r>
              <a:rPr lang="en-US" sz="1100" b="1" dirty="0">
                <a:solidFill>
                  <a:srgbClr val="141414"/>
                </a:solidFill>
                <a:latin typeface="Calibri" pitchFamily="34" charset="0"/>
                <a:ea typeface="Calibri" pitchFamily="34" charset="-122"/>
                <a:cs typeface="Calibri" pitchFamily="34" charset="-120"/>
              </a:rPr>
              <a:t>Responsibility 재강조</a:t>
            </a:r>
            <a:endParaRPr lang="en-US" sz="1100" dirty="0"/>
          </a:p>
        </p:txBody>
      </p:sp>
      <p:sp>
        <p:nvSpPr>
          <p:cNvPr id="16" name="Text 14"/>
          <p:cNvSpPr/>
          <p:nvPr/>
        </p:nvSpPr>
        <p:spPr>
          <a:xfrm>
            <a:off x="841248" y="2706624"/>
            <a:ext cx="3520440" cy="310896"/>
          </a:xfrm>
          <a:prstGeom prst="rect">
            <a:avLst/>
          </a:prstGeom>
          <a:noFill/>
          <a:ln/>
        </p:spPr>
        <p:txBody>
          <a:bodyPr wrap="square" lIns="0" tIns="0" rIns="0" bIns="0" rtlCol="0" anchor="t"/>
          <a:lstStyle/>
          <a:p>
            <a:pPr marL="0" indent="0" algn="l">
              <a:buNone/>
            </a:pPr>
            <a:r>
              <a:rPr lang="en-US" sz="900" dirty="0">
                <a:solidFill>
                  <a:srgbClr val="2A2A2A"/>
                </a:solidFill>
                <a:latin typeface="Calibri" pitchFamily="34" charset="0"/>
                <a:ea typeface="Calibri" pitchFamily="34" charset="-122"/>
                <a:cs typeface="Calibri" pitchFamily="34" charset="-120"/>
              </a:rPr>
              <a:t>희석되었던 책임 의식을 다시 전면에. </a:t>
            </a:r>
            <a:endParaRPr lang="en-US" sz="900" dirty="0" smtClean="0">
              <a:solidFill>
                <a:srgbClr val="2A2A2A"/>
              </a:solidFill>
              <a:latin typeface="Calibri" pitchFamily="34" charset="0"/>
              <a:ea typeface="Calibri" pitchFamily="34" charset="-122"/>
              <a:cs typeface="Calibri" pitchFamily="34" charset="-120"/>
            </a:endParaRPr>
          </a:p>
          <a:p>
            <a:pPr marL="0" indent="0" algn="l">
              <a:buNone/>
            </a:pPr>
            <a:r>
              <a:rPr lang="en-US" sz="900" dirty="0" err="1" smtClean="0">
                <a:solidFill>
                  <a:srgbClr val="2A2A2A"/>
                </a:solidFill>
                <a:latin typeface="Calibri" pitchFamily="34" charset="0"/>
                <a:ea typeface="Calibri" pitchFamily="34" charset="-122"/>
                <a:cs typeface="Calibri" pitchFamily="34" charset="-120"/>
              </a:rPr>
              <a:t>자유와</a:t>
            </a:r>
            <a:r>
              <a:rPr lang="en-US" sz="900" dirty="0" smtClean="0">
                <a:solidFill>
                  <a:srgbClr val="2A2A2A"/>
                </a:solidFill>
                <a:latin typeface="Calibri" pitchFamily="34" charset="0"/>
                <a:ea typeface="Calibri" pitchFamily="34" charset="-122"/>
                <a:cs typeface="Calibri" pitchFamily="34" charset="-120"/>
              </a:rPr>
              <a:t> </a:t>
            </a:r>
            <a:r>
              <a:rPr lang="en-US" sz="900" dirty="0">
                <a:solidFill>
                  <a:srgbClr val="2A2A2A"/>
                </a:solidFill>
                <a:latin typeface="Calibri" pitchFamily="34" charset="0"/>
                <a:ea typeface="Calibri" pitchFamily="34" charset="-122"/>
                <a:cs typeface="Calibri" pitchFamily="34" charset="-120"/>
              </a:rPr>
              <a:t>함께 책임이 동등하게 작동하도록 재정립</a:t>
            </a:r>
            <a:endParaRPr lang="en-US" sz="900" dirty="0"/>
          </a:p>
        </p:txBody>
      </p:sp>
      <p:sp>
        <p:nvSpPr>
          <p:cNvPr id="17" name="Shape 15"/>
          <p:cNvSpPr/>
          <p:nvPr/>
        </p:nvSpPr>
        <p:spPr>
          <a:xfrm>
            <a:off x="274320" y="3145536"/>
            <a:ext cx="457200" cy="640080"/>
          </a:xfrm>
          <a:prstGeom prst="rect">
            <a:avLst/>
          </a:prstGeom>
          <a:solidFill>
            <a:srgbClr val="E50914"/>
          </a:solidFill>
          <a:ln w="12700">
            <a:solidFill>
              <a:srgbClr val="E50914"/>
            </a:solidFill>
            <a:prstDash val="solid"/>
          </a:ln>
        </p:spPr>
      </p:sp>
      <p:sp>
        <p:nvSpPr>
          <p:cNvPr id="18" name="Text 16"/>
          <p:cNvSpPr/>
          <p:nvPr/>
        </p:nvSpPr>
        <p:spPr>
          <a:xfrm>
            <a:off x="274320" y="3145536"/>
            <a:ext cx="4572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9" name="Shape 17"/>
          <p:cNvSpPr/>
          <p:nvPr/>
        </p:nvSpPr>
        <p:spPr>
          <a:xfrm>
            <a:off x="749808" y="3145536"/>
            <a:ext cx="3685032" cy="640080"/>
          </a:xfrm>
          <a:prstGeom prst="rect">
            <a:avLst/>
          </a:prstGeom>
          <a:solidFill>
            <a:srgbClr val="F5F5F5"/>
          </a:solidFill>
          <a:ln w="12700">
            <a:solidFill>
              <a:srgbClr val="DDDDDD"/>
            </a:solidFill>
            <a:prstDash val="solid"/>
          </a:ln>
        </p:spPr>
      </p:sp>
      <p:sp>
        <p:nvSpPr>
          <p:cNvPr id="20" name="Text 18"/>
          <p:cNvSpPr/>
          <p:nvPr/>
        </p:nvSpPr>
        <p:spPr>
          <a:xfrm>
            <a:off x="841248" y="3182112"/>
            <a:ext cx="3520440" cy="274320"/>
          </a:xfrm>
          <a:prstGeom prst="rect">
            <a:avLst/>
          </a:prstGeom>
          <a:noFill/>
          <a:ln/>
        </p:spPr>
        <p:txBody>
          <a:bodyPr wrap="square" lIns="0" tIns="0" rIns="0" bIns="0" rtlCol="0" anchor="ctr"/>
          <a:lstStyle/>
          <a:p>
            <a:pPr marL="0" indent="0" algn="l">
              <a:buNone/>
            </a:pPr>
            <a:r>
              <a:rPr lang="en-US" sz="1100" b="1" dirty="0">
                <a:solidFill>
                  <a:srgbClr val="141414"/>
                </a:solidFill>
                <a:latin typeface="Calibri" pitchFamily="34" charset="0"/>
                <a:ea typeface="Calibri" pitchFamily="34" charset="-122"/>
                <a:cs typeface="Calibri" pitchFamily="34" charset="-120"/>
              </a:rPr>
              <a:t>Good Process </a:t>
            </a:r>
            <a:r>
              <a:rPr lang="en-US" sz="1100" b="1" dirty="0" err="1" smtClean="0">
                <a:solidFill>
                  <a:srgbClr val="141414"/>
                </a:solidFill>
                <a:latin typeface="Calibri" pitchFamily="34" charset="0"/>
                <a:ea typeface="Calibri" pitchFamily="34" charset="-122"/>
                <a:cs typeface="Calibri" pitchFamily="34" charset="-120"/>
              </a:rPr>
              <a:t>도입</a:t>
            </a:r>
            <a:endParaRPr lang="en-US" sz="1100" dirty="0"/>
          </a:p>
        </p:txBody>
      </p:sp>
      <p:sp>
        <p:nvSpPr>
          <p:cNvPr id="21" name="Text 19"/>
          <p:cNvSpPr/>
          <p:nvPr/>
        </p:nvSpPr>
        <p:spPr>
          <a:xfrm>
            <a:off x="841248" y="3456432"/>
            <a:ext cx="3520440" cy="310896"/>
          </a:xfrm>
          <a:prstGeom prst="rect">
            <a:avLst/>
          </a:prstGeom>
          <a:noFill/>
          <a:ln/>
        </p:spPr>
        <p:txBody>
          <a:bodyPr wrap="square" lIns="0" tIns="0" rIns="0" bIns="0" rtlCol="0" anchor="t"/>
          <a:lstStyle/>
          <a:p>
            <a:pPr marL="0" indent="0" algn="l">
              <a:buNone/>
            </a:pPr>
            <a:r>
              <a:rPr lang="en-US" sz="900" dirty="0">
                <a:solidFill>
                  <a:srgbClr val="2A2A2A"/>
                </a:solidFill>
                <a:latin typeface="Calibri" pitchFamily="34" charset="0"/>
                <a:ea typeface="Calibri" pitchFamily="34" charset="-122"/>
                <a:cs typeface="Calibri" pitchFamily="34" charset="-120"/>
              </a:rPr>
              <a:t>'No Process'에서 Good vs Bad Process로 전환. </a:t>
            </a:r>
            <a:endParaRPr lang="en-US" sz="900" dirty="0" smtClean="0">
              <a:solidFill>
                <a:srgbClr val="2A2A2A"/>
              </a:solidFill>
              <a:latin typeface="Calibri" pitchFamily="34" charset="0"/>
              <a:ea typeface="Calibri" pitchFamily="34" charset="-122"/>
              <a:cs typeface="Calibri" pitchFamily="34" charset="-120"/>
            </a:endParaRPr>
          </a:p>
          <a:p>
            <a:pPr marL="0" indent="0" algn="l">
              <a:buNone/>
            </a:pPr>
            <a:r>
              <a:rPr lang="en-US" sz="900" dirty="0" err="1" smtClean="0">
                <a:solidFill>
                  <a:srgbClr val="2A2A2A"/>
                </a:solidFill>
                <a:latin typeface="Calibri" pitchFamily="34" charset="0"/>
                <a:ea typeface="Calibri" pitchFamily="34" charset="-122"/>
                <a:cs typeface="Calibri" pitchFamily="34" charset="-120"/>
              </a:rPr>
              <a:t>좋은</a:t>
            </a:r>
            <a:r>
              <a:rPr lang="en-US" sz="900" dirty="0" smtClean="0">
                <a:solidFill>
                  <a:srgbClr val="2A2A2A"/>
                </a:solidFill>
                <a:latin typeface="Calibri" pitchFamily="34" charset="0"/>
                <a:ea typeface="Calibri" pitchFamily="34" charset="-122"/>
                <a:cs typeface="Calibri" pitchFamily="34" charset="-120"/>
              </a:rPr>
              <a:t> </a:t>
            </a:r>
            <a:r>
              <a:rPr lang="en-US" sz="900" dirty="0">
                <a:solidFill>
                  <a:srgbClr val="2A2A2A"/>
                </a:solidFill>
                <a:latin typeface="Calibri" pitchFamily="34" charset="0"/>
                <a:ea typeface="Calibri" pitchFamily="34" charset="-122"/>
                <a:cs typeface="Calibri" pitchFamily="34" charset="-120"/>
              </a:rPr>
              <a:t>프로세스는 속도를 높이는 도구</a:t>
            </a:r>
            <a:endParaRPr lang="en-US" sz="900" dirty="0"/>
          </a:p>
        </p:txBody>
      </p:sp>
      <p:sp>
        <p:nvSpPr>
          <p:cNvPr id="22" name="Shape 20"/>
          <p:cNvSpPr/>
          <p:nvPr/>
        </p:nvSpPr>
        <p:spPr>
          <a:xfrm>
            <a:off x="274320" y="3895344"/>
            <a:ext cx="457200" cy="640080"/>
          </a:xfrm>
          <a:prstGeom prst="rect">
            <a:avLst/>
          </a:prstGeom>
          <a:solidFill>
            <a:srgbClr val="E50914"/>
          </a:solidFill>
          <a:ln w="12700">
            <a:solidFill>
              <a:srgbClr val="E50914"/>
            </a:solidFill>
            <a:prstDash val="solid"/>
          </a:ln>
        </p:spPr>
      </p:sp>
      <p:sp>
        <p:nvSpPr>
          <p:cNvPr id="23" name="Text 21"/>
          <p:cNvSpPr/>
          <p:nvPr/>
        </p:nvSpPr>
        <p:spPr>
          <a:xfrm>
            <a:off x="274320" y="3895344"/>
            <a:ext cx="4572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24" name="Shape 22"/>
          <p:cNvSpPr/>
          <p:nvPr/>
        </p:nvSpPr>
        <p:spPr>
          <a:xfrm>
            <a:off x="749808" y="3895344"/>
            <a:ext cx="3685032" cy="640080"/>
          </a:xfrm>
          <a:prstGeom prst="rect">
            <a:avLst/>
          </a:prstGeom>
          <a:solidFill>
            <a:srgbClr val="F5F5F5"/>
          </a:solidFill>
          <a:ln w="12700">
            <a:solidFill>
              <a:srgbClr val="DDDDDD"/>
            </a:solidFill>
            <a:prstDash val="solid"/>
          </a:ln>
        </p:spPr>
      </p:sp>
      <p:sp>
        <p:nvSpPr>
          <p:cNvPr id="25" name="Text 23"/>
          <p:cNvSpPr/>
          <p:nvPr/>
        </p:nvSpPr>
        <p:spPr>
          <a:xfrm>
            <a:off x="841248" y="3931920"/>
            <a:ext cx="3520440" cy="274320"/>
          </a:xfrm>
          <a:prstGeom prst="rect">
            <a:avLst/>
          </a:prstGeom>
          <a:noFill/>
          <a:ln/>
        </p:spPr>
        <p:txBody>
          <a:bodyPr wrap="square" lIns="0" tIns="0" rIns="0" bIns="0" rtlCol="0" anchor="ctr"/>
          <a:lstStyle/>
          <a:p>
            <a:pPr marL="0" indent="0" algn="l">
              <a:buNone/>
            </a:pPr>
            <a:r>
              <a:rPr lang="en-US" sz="1100" b="1" dirty="0">
                <a:solidFill>
                  <a:srgbClr val="141414"/>
                </a:solidFill>
                <a:latin typeface="Calibri" pitchFamily="34" charset="0"/>
                <a:ea typeface="Calibri" pitchFamily="34" charset="-122"/>
                <a:cs typeface="Calibri" pitchFamily="34" charset="-120"/>
              </a:rPr>
              <a:t>4대 원칙으로 재구성</a:t>
            </a:r>
            <a:endParaRPr lang="en-US" sz="1100" dirty="0"/>
          </a:p>
        </p:txBody>
      </p:sp>
      <p:sp>
        <p:nvSpPr>
          <p:cNvPr id="26" name="Text 24"/>
          <p:cNvSpPr/>
          <p:nvPr/>
        </p:nvSpPr>
        <p:spPr>
          <a:xfrm>
            <a:off x="841248" y="4206240"/>
            <a:ext cx="3520440" cy="310896"/>
          </a:xfrm>
          <a:prstGeom prst="rect">
            <a:avLst/>
          </a:prstGeom>
          <a:noFill/>
          <a:ln/>
        </p:spPr>
        <p:txBody>
          <a:bodyPr wrap="square" lIns="0" tIns="0" rIns="0" bIns="0" rtlCol="0" anchor="t"/>
          <a:lstStyle/>
          <a:p>
            <a:pPr marL="0" indent="0" algn="l">
              <a:buNone/>
            </a:pPr>
            <a:r>
              <a:rPr lang="en-US" sz="900" dirty="0">
                <a:solidFill>
                  <a:srgbClr val="2A2A2A"/>
                </a:solidFill>
                <a:latin typeface="Calibri" pitchFamily="34" charset="0"/>
                <a:ea typeface="Calibri" pitchFamily="34" charset="-122"/>
                <a:cs typeface="Calibri" pitchFamily="34" charset="-120"/>
              </a:rPr>
              <a:t>Dream Team / People Over Process / Uncomfortably Exciting / Great and Always Better</a:t>
            </a:r>
            <a:endParaRPr lang="en-US" sz="900" dirty="0"/>
          </a:p>
        </p:txBody>
      </p:sp>
      <p:sp>
        <p:nvSpPr>
          <p:cNvPr id="27" name="Shape 25"/>
          <p:cNvSpPr/>
          <p:nvPr/>
        </p:nvSpPr>
        <p:spPr>
          <a:xfrm>
            <a:off x="4754880" y="1261872"/>
            <a:ext cx="4114800" cy="320040"/>
          </a:xfrm>
          <a:prstGeom prst="rect">
            <a:avLst/>
          </a:prstGeom>
          <a:solidFill>
            <a:srgbClr val="E50914"/>
          </a:solidFill>
          <a:ln w="12700">
            <a:solidFill>
              <a:srgbClr val="E50914"/>
            </a:solidFill>
            <a:prstDash val="solid"/>
          </a:ln>
        </p:spPr>
      </p:sp>
      <p:sp>
        <p:nvSpPr>
          <p:cNvPr id="28" name="Text 26"/>
          <p:cNvSpPr/>
          <p:nvPr/>
        </p:nvSpPr>
        <p:spPr>
          <a:xfrm>
            <a:off x="4754880" y="1261872"/>
            <a:ext cx="411480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4대 원칙 — HR 전략적 함의</a:t>
            </a:r>
            <a:endParaRPr lang="en-US" sz="1100" dirty="0"/>
          </a:p>
        </p:txBody>
      </p:sp>
      <p:sp>
        <p:nvSpPr>
          <p:cNvPr id="29" name="Shape 27"/>
          <p:cNvSpPr/>
          <p:nvPr/>
        </p:nvSpPr>
        <p:spPr>
          <a:xfrm>
            <a:off x="4754880" y="1737360"/>
            <a:ext cx="4114800" cy="310896"/>
          </a:xfrm>
          <a:prstGeom prst="rect">
            <a:avLst/>
          </a:prstGeom>
          <a:solidFill>
            <a:srgbClr val="141414"/>
          </a:solidFill>
          <a:ln w="12700">
            <a:solidFill>
              <a:srgbClr val="141414"/>
            </a:solidFill>
            <a:prstDash val="solid"/>
          </a:ln>
        </p:spPr>
      </p:sp>
      <p:sp>
        <p:nvSpPr>
          <p:cNvPr id="30" name="Text 28"/>
          <p:cNvSpPr/>
          <p:nvPr/>
        </p:nvSpPr>
        <p:spPr>
          <a:xfrm>
            <a:off x="4754880" y="1737360"/>
            <a:ext cx="4114800" cy="310896"/>
          </a:xfrm>
          <a:prstGeom prst="rect">
            <a:avLst/>
          </a:prstGeom>
          <a:noFill/>
          <a:ln/>
        </p:spPr>
        <p:txBody>
          <a:bodyPr wrap="square" lIns="0" tIns="0" rIns="0" bIns="0" rtlCol="0" anchor="ctr"/>
          <a:lstStyle/>
          <a:p>
            <a:pPr marL="0" indent="0" algn="ctr">
              <a:buNone/>
            </a:pPr>
            <a:r>
              <a:rPr lang="en-US" sz="1100" b="1" dirty="0">
                <a:solidFill>
                  <a:srgbClr val="E50914"/>
                </a:solidFill>
                <a:latin typeface="Calibri" pitchFamily="34" charset="0"/>
                <a:ea typeface="Calibri" pitchFamily="34" charset="-122"/>
                <a:cs typeface="Calibri" pitchFamily="34" charset="-120"/>
              </a:rPr>
              <a:t>Dream Team</a:t>
            </a:r>
            <a:endParaRPr lang="en-US" sz="1100" dirty="0"/>
          </a:p>
        </p:txBody>
      </p:sp>
      <p:sp>
        <p:nvSpPr>
          <p:cNvPr id="31" name="Shape 29"/>
          <p:cNvSpPr/>
          <p:nvPr/>
        </p:nvSpPr>
        <p:spPr>
          <a:xfrm>
            <a:off x="4754880" y="2066544"/>
            <a:ext cx="4114800" cy="384048"/>
          </a:xfrm>
          <a:prstGeom prst="rect">
            <a:avLst/>
          </a:prstGeom>
          <a:solidFill>
            <a:srgbClr val="F5F5F5"/>
          </a:solidFill>
          <a:ln w="12700">
            <a:solidFill>
              <a:srgbClr val="DDDDDD"/>
            </a:solidFill>
            <a:prstDash val="solid"/>
          </a:ln>
        </p:spPr>
      </p:sp>
      <p:sp>
        <p:nvSpPr>
          <p:cNvPr id="32" name="Text 30"/>
          <p:cNvSpPr/>
          <p:nvPr/>
        </p:nvSpPr>
        <p:spPr>
          <a:xfrm>
            <a:off x="4846320" y="2066544"/>
            <a:ext cx="3931920" cy="384048"/>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높은 인재 밀도 유지. Talent Density 원칙 재확인</a:t>
            </a:r>
            <a:endParaRPr lang="en-US" sz="950" dirty="0"/>
          </a:p>
        </p:txBody>
      </p:sp>
      <p:sp>
        <p:nvSpPr>
          <p:cNvPr id="33" name="Shape 31"/>
          <p:cNvSpPr/>
          <p:nvPr/>
        </p:nvSpPr>
        <p:spPr>
          <a:xfrm>
            <a:off x="4754880" y="2487168"/>
            <a:ext cx="4114800" cy="310896"/>
          </a:xfrm>
          <a:prstGeom prst="rect">
            <a:avLst/>
          </a:prstGeom>
          <a:solidFill>
            <a:srgbClr val="141414"/>
          </a:solidFill>
          <a:ln w="12700">
            <a:solidFill>
              <a:srgbClr val="141414"/>
            </a:solidFill>
            <a:prstDash val="solid"/>
          </a:ln>
        </p:spPr>
      </p:sp>
      <p:sp>
        <p:nvSpPr>
          <p:cNvPr id="34" name="Text 32"/>
          <p:cNvSpPr/>
          <p:nvPr/>
        </p:nvSpPr>
        <p:spPr>
          <a:xfrm>
            <a:off x="4754880" y="2487168"/>
            <a:ext cx="4114800" cy="310896"/>
          </a:xfrm>
          <a:prstGeom prst="rect">
            <a:avLst/>
          </a:prstGeom>
          <a:noFill/>
          <a:ln/>
        </p:spPr>
        <p:txBody>
          <a:bodyPr wrap="square" lIns="0" tIns="0" rIns="0" bIns="0" rtlCol="0" anchor="ctr"/>
          <a:lstStyle/>
          <a:p>
            <a:pPr marL="0" indent="0" algn="ctr">
              <a:buNone/>
            </a:pPr>
            <a:r>
              <a:rPr lang="en-US" sz="1100" b="1" dirty="0">
                <a:solidFill>
                  <a:srgbClr val="E50914"/>
                </a:solidFill>
                <a:latin typeface="Calibri" pitchFamily="34" charset="0"/>
                <a:ea typeface="Calibri" pitchFamily="34" charset="-122"/>
                <a:cs typeface="Calibri" pitchFamily="34" charset="-120"/>
              </a:rPr>
              <a:t>People Over Process</a:t>
            </a:r>
            <a:endParaRPr lang="en-US" sz="1100" dirty="0"/>
          </a:p>
        </p:txBody>
      </p:sp>
      <p:sp>
        <p:nvSpPr>
          <p:cNvPr id="35" name="Shape 33"/>
          <p:cNvSpPr/>
          <p:nvPr/>
        </p:nvSpPr>
        <p:spPr>
          <a:xfrm>
            <a:off x="4754880" y="2816352"/>
            <a:ext cx="4114800" cy="384048"/>
          </a:xfrm>
          <a:prstGeom prst="rect">
            <a:avLst/>
          </a:prstGeom>
          <a:solidFill>
            <a:srgbClr val="F5F5F5"/>
          </a:solidFill>
          <a:ln w="12700">
            <a:solidFill>
              <a:srgbClr val="DDDDDD"/>
            </a:solidFill>
            <a:prstDash val="solid"/>
          </a:ln>
        </p:spPr>
      </p:sp>
      <p:sp>
        <p:nvSpPr>
          <p:cNvPr id="36" name="Text 34"/>
          <p:cNvSpPr/>
          <p:nvPr/>
        </p:nvSpPr>
        <p:spPr>
          <a:xfrm>
            <a:off x="4846320" y="2816352"/>
            <a:ext cx="3931920" cy="384048"/>
          </a:xfrm>
          <a:prstGeom prst="rect">
            <a:avLst/>
          </a:prstGeom>
          <a:noFill/>
          <a:ln/>
        </p:spPr>
        <p:txBody>
          <a:bodyPr wrap="square" lIns="0" tIns="0" rIns="0" bIns="0" rtlCol="0" anchor="ctr"/>
          <a:lstStyle/>
          <a:p>
            <a:pPr marL="0" indent="0" algn="l">
              <a:buNone/>
            </a:pPr>
            <a:r>
              <a:rPr lang="ko-KR" altLang="en-US" sz="950" dirty="0" smtClean="0">
                <a:solidFill>
                  <a:srgbClr val="2A2A2A"/>
                </a:solidFill>
                <a:latin typeface="Calibri" pitchFamily="34" charset="0"/>
                <a:ea typeface="Calibri" pitchFamily="34" charset="-122"/>
                <a:cs typeface="Calibri" pitchFamily="34" charset="-120"/>
              </a:rPr>
              <a:t>유연성 확보</a:t>
            </a:r>
            <a:r>
              <a:rPr lang="en-US" altLang="ko-KR" sz="950" dirty="0" smtClean="0">
                <a:solidFill>
                  <a:srgbClr val="2A2A2A"/>
                </a:solidFill>
                <a:latin typeface="Calibri" pitchFamily="34" charset="0"/>
                <a:ea typeface="Calibri" pitchFamily="34" charset="-122"/>
                <a:cs typeface="Calibri" pitchFamily="34" charset="-120"/>
              </a:rPr>
              <a:t>,</a:t>
            </a:r>
            <a:r>
              <a:rPr lang="en-US" sz="950" dirty="0" smtClean="0">
                <a:solidFill>
                  <a:srgbClr val="2A2A2A"/>
                </a:solidFill>
                <a:latin typeface="Calibri" pitchFamily="34" charset="0"/>
                <a:ea typeface="Calibri" pitchFamily="34" charset="-122"/>
                <a:cs typeface="Calibri" pitchFamily="34" charset="-120"/>
              </a:rPr>
              <a:t> </a:t>
            </a:r>
            <a:r>
              <a:rPr lang="en-US" sz="950" dirty="0">
                <a:solidFill>
                  <a:srgbClr val="2A2A2A"/>
                </a:solidFill>
                <a:latin typeface="Calibri" pitchFamily="34" charset="0"/>
                <a:ea typeface="Calibri" pitchFamily="34" charset="-122"/>
                <a:cs typeface="Calibri" pitchFamily="34" charset="-120"/>
              </a:rPr>
              <a:t>빠른 의사결정 유지</a:t>
            </a:r>
            <a:endParaRPr lang="en-US" sz="950" dirty="0"/>
          </a:p>
        </p:txBody>
      </p:sp>
      <p:sp>
        <p:nvSpPr>
          <p:cNvPr id="37" name="Shape 35"/>
          <p:cNvSpPr/>
          <p:nvPr/>
        </p:nvSpPr>
        <p:spPr>
          <a:xfrm>
            <a:off x="4754880" y="3236976"/>
            <a:ext cx="4114800" cy="310896"/>
          </a:xfrm>
          <a:prstGeom prst="rect">
            <a:avLst/>
          </a:prstGeom>
          <a:solidFill>
            <a:srgbClr val="141414"/>
          </a:solidFill>
          <a:ln w="12700">
            <a:solidFill>
              <a:srgbClr val="141414"/>
            </a:solidFill>
            <a:prstDash val="solid"/>
          </a:ln>
        </p:spPr>
      </p:sp>
      <p:sp>
        <p:nvSpPr>
          <p:cNvPr id="38" name="Text 36"/>
          <p:cNvSpPr/>
          <p:nvPr/>
        </p:nvSpPr>
        <p:spPr>
          <a:xfrm>
            <a:off x="4754880" y="3236976"/>
            <a:ext cx="4114800" cy="310896"/>
          </a:xfrm>
          <a:prstGeom prst="rect">
            <a:avLst/>
          </a:prstGeom>
          <a:noFill/>
          <a:ln/>
        </p:spPr>
        <p:txBody>
          <a:bodyPr wrap="square" lIns="0" tIns="0" rIns="0" bIns="0" rtlCol="0" anchor="ctr"/>
          <a:lstStyle/>
          <a:p>
            <a:pPr marL="0" indent="0" algn="ctr">
              <a:buNone/>
            </a:pPr>
            <a:r>
              <a:rPr lang="en-US" sz="1100" b="1" dirty="0">
                <a:solidFill>
                  <a:srgbClr val="E50914"/>
                </a:solidFill>
                <a:latin typeface="Calibri" pitchFamily="34" charset="0"/>
                <a:ea typeface="Calibri" pitchFamily="34" charset="-122"/>
                <a:cs typeface="Calibri" pitchFamily="34" charset="-120"/>
              </a:rPr>
              <a:t>Uncomfortably Exciting</a:t>
            </a:r>
            <a:endParaRPr lang="en-US" sz="1100" dirty="0"/>
          </a:p>
        </p:txBody>
      </p:sp>
      <p:sp>
        <p:nvSpPr>
          <p:cNvPr id="39" name="Shape 37"/>
          <p:cNvSpPr/>
          <p:nvPr/>
        </p:nvSpPr>
        <p:spPr>
          <a:xfrm>
            <a:off x="4754880" y="3566160"/>
            <a:ext cx="4114800" cy="384048"/>
          </a:xfrm>
          <a:prstGeom prst="rect">
            <a:avLst/>
          </a:prstGeom>
          <a:solidFill>
            <a:srgbClr val="F5F5F5"/>
          </a:solidFill>
          <a:ln w="12700">
            <a:solidFill>
              <a:srgbClr val="DDDDDD"/>
            </a:solidFill>
            <a:prstDash val="solid"/>
          </a:ln>
        </p:spPr>
      </p:sp>
      <p:sp>
        <p:nvSpPr>
          <p:cNvPr id="40" name="Text 38"/>
          <p:cNvSpPr/>
          <p:nvPr/>
        </p:nvSpPr>
        <p:spPr>
          <a:xfrm>
            <a:off x="4846320" y="3566160"/>
            <a:ext cx="3931920" cy="384048"/>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기존 방식에 안주하지 않음. 광고·유료공유 같은 민감한 전략 실행 기반</a:t>
            </a:r>
            <a:endParaRPr lang="en-US" sz="950" dirty="0"/>
          </a:p>
        </p:txBody>
      </p:sp>
      <p:sp>
        <p:nvSpPr>
          <p:cNvPr id="41" name="Shape 39"/>
          <p:cNvSpPr/>
          <p:nvPr/>
        </p:nvSpPr>
        <p:spPr>
          <a:xfrm>
            <a:off x="4754880" y="3986784"/>
            <a:ext cx="4114800" cy="310896"/>
          </a:xfrm>
          <a:prstGeom prst="rect">
            <a:avLst/>
          </a:prstGeom>
          <a:solidFill>
            <a:srgbClr val="141414"/>
          </a:solidFill>
          <a:ln w="12700">
            <a:solidFill>
              <a:srgbClr val="141414"/>
            </a:solidFill>
            <a:prstDash val="solid"/>
          </a:ln>
        </p:spPr>
      </p:sp>
      <p:sp>
        <p:nvSpPr>
          <p:cNvPr id="42" name="Text 40"/>
          <p:cNvSpPr/>
          <p:nvPr/>
        </p:nvSpPr>
        <p:spPr>
          <a:xfrm>
            <a:off x="4754880" y="3986784"/>
            <a:ext cx="4114800" cy="310896"/>
          </a:xfrm>
          <a:prstGeom prst="rect">
            <a:avLst/>
          </a:prstGeom>
          <a:noFill/>
          <a:ln/>
        </p:spPr>
        <p:txBody>
          <a:bodyPr wrap="square" lIns="0" tIns="0" rIns="0" bIns="0" rtlCol="0" anchor="ctr"/>
          <a:lstStyle/>
          <a:p>
            <a:pPr marL="0" indent="0" algn="ctr">
              <a:buNone/>
            </a:pPr>
            <a:r>
              <a:rPr lang="en-US" sz="1100" b="1" dirty="0">
                <a:solidFill>
                  <a:srgbClr val="E50914"/>
                </a:solidFill>
                <a:latin typeface="Calibri" pitchFamily="34" charset="0"/>
                <a:ea typeface="Calibri" pitchFamily="34" charset="-122"/>
                <a:cs typeface="Calibri" pitchFamily="34" charset="-120"/>
              </a:rPr>
              <a:t>Great and Always Better</a:t>
            </a:r>
            <a:endParaRPr lang="en-US" sz="1100" dirty="0"/>
          </a:p>
        </p:txBody>
      </p:sp>
      <p:sp>
        <p:nvSpPr>
          <p:cNvPr id="43" name="Shape 41"/>
          <p:cNvSpPr/>
          <p:nvPr/>
        </p:nvSpPr>
        <p:spPr>
          <a:xfrm>
            <a:off x="4754880" y="4315968"/>
            <a:ext cx="4114800" cy="384048"/>
          </a:xfrm>
          <a:prstGeom prst="rect">
            <a:avLst/>
          </a:prstGeom>
          <a:solidFill>
            <a:srgbClr val="F5F5F5"/>
          </a:solidFill>
          <a:ln w="12700">
            <a:solidFill>
              <a:srgbClr val="DDDDDD"/>
            </a:solidFill>
            <a:prstDash val="solid"/>
          </a:ln>
        </p:spPr>
      </p:sp>
      <p:sp>
        <p:nvSpPr>
          <p:cNvPr id="44" name="Text 42"/>
          <p:cNvSpPr/>
          <p:nvPr/>
        </p:nvSpPr>
        <p:spPr>
          <a:xfrm>
            <a:off x="4846320" y="4315968"/>
            <a:ext cx="3931920" cy="384048"/>
          </a:xfrm>
          <a:prstGeom prst="rect">
            <a:avLst/>
          </a:prstGeom>
          <a:noFill/>
          <a:ln/>
        </p:spPr>
        <p:txBody>
          <a:bodyPr wrap="square" lIns="0" tIns="0" rIns="0" bIns="0" rtlCol="0" anchor="ctr"/>
          <a:lstStyle/>
          <a:p>
            <a:pPr marL="0" indent="0" algn="l">
              <a:buNone/>
            </a:pPr>
            <a:r>
              <a:rPr lang="en-US" sz="950" dirty="0">
                <a:solidFill>
                  <a:srgbClr val="2A2A2A"/>
                </a:solidFill>
                <a:latin typeface="Calibri" pitchFamily="34" charset="0"/>
                <a:ea typeface="Calibri" pitchFamily="34" charset="-122"/>
                <a:cs typeface="Calibri" pitchFamily="34" charset="-120"/>
              </a:rPr>
              <a:t>지속적 개선 문화. 수익성 개선을 위한 빠른 피드백 루프</a:t>
            </a:r>
            <a:endParaRPr lang="en-US" sz="950" dirty="0"/>
          </a:p>
        </p:txBody>
      </p:sp>
      <p:sp>
        <p:nvSpPr>
          <p:cNvPr id="45" name="Shape 43"/>
          <p:cNvSpPr/>
          <p:nvPr/>
        </p:nvSpPr>
        <p:spPr>
          <a:xfrm>
            <a:off x="0" y="4818888"/>
            <a:ext cx="9144000" cy="329184"/>
          </a:xfrm>
          <a:prstGeom prst="rect">
            <a:avLst/>
          </a:prstGeom>
          <a:solidFill>
            <a:srgbClr val="141414"/>
          </a:solidFill>
          <a:ln w="12700">
            <a:solidFill>
              <a:srgbClr val="141414"/>
            </a:solidFill>
            <a:prstDash val="solid"/>
          </a:ln>
        </p:spPr>
      </p:sp>
      <p:sp>
        <p:nvSpPr>
          <p:cNvPr id="46" name="Text 44"/>
          <p:cNvSpPr/>
          <p:nvPr/>
        </p:nvSpPr>
        <p:spPr>
          <a:xfrm>
            <a:off x="274320" y="4818888"/>
            <a:ext cx="8595360" cy="329184"/>
          </a:xfrm>
          <a:prstGeom prst="rect">
            <a:avLst/>
          </a:prstGeom>
          <a:noFill/>
          <a:ln/>
        </p:spPr>
        <p:txBody>
          <a:bodyPr wrap="square" lIns="0" tIns="0" rIns="0" bIns="0" rtlCol="0" anchor="ctr"/>
          <a:lstStyle/>
          <a:p>
            <a:pPr marL="0" indent="0" algn="ctr">
              <a:buNone/>
            </a:pPr>
            <a:r>
              <a:rPr lang="en-US" sz="1000" b="1" i="1" dirty="0" err="1" smtClean="0">
                <a:solidFill>
                  <a:srgbClr val="E50914"/>
                </a:solidFill>
                <a:latin typeface="Calibri" pitchFamily="34" charset="0"/>
                <a:ea typeface="Calibri" pitchFamily="34" charset="-122"/>
                <a:cs typeface="Calibri" pitchFamily="34" charset="-120"/>
              </a:rPr>
              <a:t>자유</a:t>
            </a:r>
            <a:r>
              <a:rPr lang="ko-KR" altLang="en-US" sz="1000" b="1" i="1" dirty="0" smtClean="0">
                <a:solidFill>
                  <a:srgbClr val="E50914"/>
                </a:solidFill>
                <a:latin typeface="Calibri" pitchFamily="34" charset="0"/>
                <a:ea typeface="Calibri" pitchFamily="34" charset="-122"/>
                <a:cs typeface="Calibri" pitchFamily="34" charset="-120"/>
              </a:rPr>
              <a:t>는 유지하되</a:t>
            </a:r>
            <a:r>
              <a:rPr lang="en-US" sz="1000" b="1" i="1" dirty="0" smtClean="0">
                <a:solidFill>
                  <a:srgbClr val="E50914"/>
                </a:solidFill>
                <a:latin typeface="Calibri" pitchFamily="34" charset="0"/>
                <a:ea typeface="Calibri" pitchFamily="34" charset="-122"/>
                <a:cs typeface="Calibri" pitchFamily="34" charset="-120"/>
              </a:rPr>
              <a:t>, </a:t>
            </a:r>
            <a:r>
              <a:rPr lang="en-US" sz="1000" b="1" i="1" dirty="0">
                <a:solidFill>
                  <a:srgbClr val="E50914"/>
                </a:solidFill>
                <a:latin typeface="Calibri" pitchFamily="34" charset="0"/>
                <a:ea typeface="Calibri" pitchFamily="34" charset="-122"/>
                <a:cs typeface="Calibri" pitchFamily="34" charset="-120"/>
              </a:rPr>
              <a:t>자유가 성과로 연결되도록 </a:t>
            </a:r>
            <a:r>
              <a:rPr lang="en-US" sz="1000" b="1" i="1" dirty="0" err="1">
                <a:solidFill>
                  <a:srgbClr val="E50914"/>
                </a:solidFill>
                <a:latin typeface="Calibri" pitchFamily="34" charset="0"/>
                <a:ea typeface="Calibri" pitchFamily="34" charset="-122"/>
                <a:cs typeface="Calibri" pitchFamily="34" charset="-120"/>
              </a:rPr>
              <a:t>책임과</a:t>
            </a:r>
            <a:r>
              <a:rPr lang="en-US" sz="1000" b="1" i="1" dirty="0">
                <a:solidFill>
                  <a:srgbClr val="E50914"/>
                </a:solidFill>
                <a:latin typeface="Calibri" pitchFamily="34" charset="0"/>
                <a:ea typeface="Calibri" pitchFamily="34" charset="-122"/>
                <a:cs typeface="Calibri" pitchFamily="34" charset="-120"/>
              </a:rPr>
              <a:t> </a:t>
            </a:r>
            <a:r>
              <a:rPr lang="en-US" sz="1000" b="1" i="1" dirty="0" err="1" smtClean="0">
                <a:solidFill>
                  <a:srgbClr val="E50914"/>
                </a:solidFill>
                <a:latin typeface="Calibri" pitchFamily="34" charset="0"/>
                <a:ea typeface="Calibri" pitchFamily="34" charset="-122"/>
                <a:cs typeface="Calibri" pitchFamily="34" charset="-120"/>
              </a:rPr>
              <a:t>프로세스를</a:t>
            </a:r>
            <a:r>
              <a:rPr lang="en-US" sz="1000" b="1" i="1" dirty="0" smtClean="0">
                <a:solidFill>
                  <a:srgbClr val="E50914"/>
                </a:solidFill>
                <a:latin typeface="Calibri" pitchFamily="34" charset="0"/>
                <a:ea typeface="Calibri" pitchFamily="34" charset="-122"/>
                <a:cs typeface="Calibri" pitchFamily="34" charset="-120"/>
              </a:rPr>
              <a:t> </a:t>
            </a:r>
            <a:r>
              <a:rPr lang="ko-KR" altLang="en-US" sz="1000" b="1" i="1" dirty="0" smtClean="0">
                <a:solidFill>
                  <a:srgbClr val="E50914"/>
                </a:solidFill>
                <a:latin typeface="Calibri" pitchFamily="34" charset="0"/>
                <a:ea typeface="Calibri" pitchFamily="34" charset="-122"/>
                <a:cs typeface="Calibri" pitchFamily="34" charset="-120"/>
              </a:rPr>
              <a:t>조정</a:t>
            </a:r>
            <a:endParaRPr lang="en-US" sz="1000" dirty="0"/>
          </a:p>
        </p:txBody>
      </p:sp>
    </p:spTree>
    <p:extLst>
      <p:ext uri="{BB962C8B-B14F-4D97-AF65-F5344CB8AC3E}">
        <p14:creationId xmlns:p14="http://schemas.microsoft.com/office/powerpoint/2010/main" val="38310789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Netflix의 </a:t>
            </a:r>
            <a:r>
              <a:rPr lang="en-US" sz="1300" b="1" dirty="0" err="1">
                <a:solidFill>
                  <a:srgbClr val="FFFFFF"/>
                </a:solidFill>
                <a:latin typeface="Calibri" pitchFamily="34" charset="0"/>
                <a:ea typeface="Calibri" pitchFamily="34" charset="-122"/>
                <a:cs typeface="Calibri" pitchFamily="34" charset="-120"/>
              </a:rPr>
              <a:t>턴어라운드는</a:t>
            </a:r>
            <a:r>
              <a:rPr lang="en-US" sz="1300" b="1" dirty="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문화를</a:t>
            </a:r>
            <a:r>
              <a:rPr lang="en-US" sz="1300" b="1" dirty="0" smtClean="0">
                <a:solidFill>
                  <a:srgbClr val="FFFFFF"/>
                </a:solidFill>
                <a:latin typeface="Calibri" pitchFamily="34" charset="0"/>
                <a:ea typeface="Calibri" pitchFamily="34" charset="-122"/>
                <a:cs typeface="Calibri" pitchFamily="34" charset="-120"/>
              </a:rPr>
              <a:t> 더</a:t>
            </a:r>
            <a:r>
              <a:rPr lang="ko-KR" altLang="en-US" sz="1300" b="1" dirty="0" smtClean="0">
                <a:solidFill>
                  <a:srgbClr val="FFFFFF"/>
                </a:solidFill>
                <a:latin typeface="Calibri" pitchFamily="34" charset="0"/>
                <a:ea typeface="Calibri" pitchFamily="34" charset="-122"/>
                <a:cs typeface="Calibri" pitchFamily="34" charset="-120"/>
              </a:rPr>
              <a:t>욱 강하게</a:t>
            </a:r>
            <a:r>
              <a:rPr lang="en-US" sz="1300" b="1" dirty="0" smtClean="0">
                <a:solidFill>
                  <a:srgbClr val="FFFFFF"/>
                </a:solidFill>
                <a:latin typeface="Calibri" pitchFamily="34" charset="0"/>
                <a:ea typeface="Calibri" pitchFamily="34" charset="-122"/>
                <a:cs typeface="Calibri" pitchFamily="34" charset="-120"/>
              </a:rPr>
              <a:t> </a:t>
            </a:r>
            <a:r>
              <a:rPr lang="en-US" sz="1300" b="1" dirty="0" err="1">
                <a:solidFill>
                  <a:srgbClr val="FFFFFF"/>
                </a:solidFill>
                <a:latin typeface="Calibri" pitchFamily="34" charset="0"/>
                <a:ea typeface="Calibri" pitchFamily="34" charset="-122"/>
                <a:cs typeface="Calibri" pitchFamily="34" charset="-120"/>
              </a:rPr>
              <a:t>재정렬한</a:t>
            </a:r>
            <a:r>
              <a:rPr lang="en-US" sz="1300" b="1" dirty="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결과</a:t>
            </a:r>
            <a:endParaRPr lang="en-US" sz="13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lgn="l">
              <a:buNone/>
            </a:pPr>
            <a:r>
              <a:rPr lang="en-US" sz="2000" b="1" dirty="0" err="1" smtClean="0">
                <a:latin typeface="Arial Black" pitchFamily="34" charset="0"/>
                <a:ea typeface="Arial Black" pitchFamily="34" charset="-122"/>
                <a:cs typeface="Arial Black" pitchFamily="34" charset="-120"/>
              </a:rPr>
              <a:t>문화</a:t>
            </a:r>
            <a:r>
              <a:rPr lang="en-US" sz="2000" b="1" dirty="0" smtClean="0">
                <a:latin typeface="Arial Black" pitchFamily="34" charset="0"/>
                <a:ea typeface="Arial Black" pitchFamily="34" charset="-122"/>
                <a:cs typeface="Arial Black" pitchFamily="34" charset="-120"/>
              </a:rPr>
              <a:t> </a:t>
            </a:r>
            <a:r>
              <a:rPr lang="en-US" sz="2000" b="1" dirty="0">
                <a:latin typeface="Arial Black" pitchFamily="34" charset="0"/>
                <a:ea typeface="Arial Black" pitchFamily="34" charset="-122"/>
                <a:cs typeface="Arial Black" pitchFamily="34" charset="-120"/>
              </a:rPr>
              <a:t>교체 vs 문화 업데이트</a:t>
            </a:r>
            <a:endParaRPr lang="en-US" sz="2000" dirty="0"/>
          </a:p>
        </p:txBody>
      </p:sp>
      <p:sp>
        <p:nvSpPr>
          <p:cNvPr id="5" name="Shape 3"/>
          <p:cNvSpPr/>
          <p:nvPr/>
        </p:nvSpPr>
        <p:spPr>
          <a:xfrm>
            <a:off x="365760" y="1261872"/>
            <a:ext cx="8412480" cy="640080"/>
          </a:xfrm>
          <a:prstGeom prst="rect">
            <a:avLst/>
          </a:prstGeom>
          <a:solidFill>
            <a:srgbClr val="E50914"/>
          </a:solidFill>
          <a:ln w="12700">
            <a:solidFill>
              <a:srgbClr val="E50914"/>
            </a:solidFill>
            <a:prstDash val="solid"/>
          </a:ln>
        </p:spPr>
      </p:sp>
      <p:sp>
        <p:nvSpPr>
          <p:cNvPr id="6" name="Text 4"/>
          <p:cNvSpPr/>
          <p:nvPr/>
        </p:nvSpPr>
        <p:spPr>
          <a:xfrm>
            <a:off x="457200" y="1261872"/>
            <a:ext cx="8229600" cy="640080"/>
          </a:xfrm>
          <a:prstGeom prst="rect">
            <a:avLst/>
          </a:prstGeom>
          <a:noFill/>
          <a:ln/>
        </p:spPr>
        <p:txBody>
          <a:bodyPr wrap="square" lIns="101600" tIns="101600" rIns="101600" bIns="101600" rtlCol="0" anchor="ctr"/>
          <a:lstStyle/>
          <a:p>
            <a:pPr marL="0" indent="0" algn="ctr">
              <a:buNone/>
            </a:pPr>
            <a:r>
              <a:rPr lang="ko-KR" altLang="en-US" sz="1100" b="1" dirty="0" smtClean="0">
                <a:solidFill>
                  <a:srgbClr val="FFFFFF"/>
                </a:solidFill>
                <a:latin typeface="Calibri" pitchFamily="34" charset="0"/>
                <a:ea typeface="Calibri" pitchFamily="34" charset="-122"/>
                <a:cs typeface="Calibri" pitchFamily="34" charset="-120"/>
              </a:rPr>
              <a:t>핵심가치 유지</a:t>
            </a:r>
            <a:r>
              <a:rPr lang="en-US" sz="1100" b="1" dirty="0" smtClean="0">
                <a:solidFill>
                  <a:srgbClr val="FFFFFF"/>
                </a:solidFill>
                <a:latin typeface="Calibri" pitchFamily="34" charset="0"/>
                <a:ea typeface="Calibri" pitchFamily="34" charset="-122"/>
                <a:cs typeface="Calibri" pitchFamily="34" charset="-120"/>
              </a:rPr>
              <a:t>. </a:t>
            </a:r>
            <a:r>
              <a:rPr lang="ko-KR" altLang="en-US" sz="1100" b="1" dirty="0" smtClean="0">
                <a:solidFill>
                  <a:srgbClr val="FFFFFF"/>
                </a:solidFill>
                <a:latin typeface="Calibri" pitchFamily="34" charset="0"/>
                <a:ea typeface="Calibri" pitchFamily="34" charset="-122"/>
                <a:cs typeface="Calibri" pitchFamily="34" charset="-120"/>
              </a:rPr>
              <a:t>다른 경쟁환경</a:t>
            </a:r>
            <a:r>
              <a:rPr lang="en-US" altLang="ko-KR" sz="1100" b="1" dirty="0" smtClean="0">
                <a:solidFill>
                  <a:srgbClr val="FFFFFF"/>
                </a:solidFill>
                <a:latin typeface="Calibri" pitchFamily="34" charset="0"/>
                <a:ea typeface="Calibri" pitchFamily="34" charset="-122"/>
                <a:cs typeface="Calibri" pitchFamily="34" charset="-120"/>
              </a:rPr>
              <a:t>,</a:t>
            </a:r>
            <a:r>
              <a:rPr lang="ko-KR" altLang="en-US" sz="1100" b="1" dirty="0" smtClean="0">
                <a:solidFill>
                  <a:srgbClr val="FFFFFF"/>
                </a:solidFill>
                <a:latin typeface="Calibri" pitchFamily="34" charset="0"/>
                <a:ea typeface="Calibri" pitchFamily="34" charset="-122"/>
                <a:cs typeface="Calibri" pitchFamily="34" charset="-120"/>
              </a:rPr>
              <a:t> 더 </a:t>
            </a:r>
            <a:r>
              <a:rPr lang="en-US" sz="1100" b="1" dirty="0" smtClean="0">
                <a:solidFill>
                  <a:srgbClr val="FFFFFF"/>
                </a:solidFill>
                <a:latin typeface="Calibri" pitchFamily="34" charset="0"/>
                <a:ea typeface="Calibri" pitchFamily="34" charset="-122"/>
                <a:cs typeface="Calibri" pitchFamily="34" charset="-120"/>
              </a:rPr>
              <a:t>큰 </a:t>
            </a:r>
            <a:r>
              <a:rPr lang="en-US" sz="1100" b="1" dirty="0">
                <a:solidFill>
                  <a:srgbClr val="FFFFFF"/>
                </a:solidFill>
                <a:latin typeface="Calibri" pitchFamily="34" charset="0"/>
                <a:ea typeface="Calibri" pitchFamily="34" charset="-122"/>
                <a:cs typeface="Calibri" pitchFamily="34" charset="-120"/>
              </a:rPr>
              <a:t>조직에서 어떻게 </a:t>
            </a:r>
            <a:r>
              <a:rPr lang="en-US" sz="1100" b="1" dirty="0" err="1">
                <a:solidFill>
                  <a:srgbClr val="FFFFFF"/>
                </a:solidFill>
                <a:latin typeface="Calibri" pitchFamily="34" charset="0"/>
                <a:ea typeface="Calibri" pitchFamily="34" charset="-122"/>
                <a:cs typeface="Calibri" pitchFamily="34" charset="-120"/>
              </a:rPr>
              <a:t>작동하게</a:t>
            </a:r>
            <a:r>
              <a:rPr lang="en-US" sz="1100" b="1" dirty="0">
                <a:solidFill>
                  <a:srgbClr val="FFFFFF"/>
                </a:solidFill>
                <a:latin typeface="Calibri" pitchFamily="34" charset="0"/>
                <a:ea typeface="Calibri" pitchFamily="34" charset="-122"/>
                <a:cs typeface="Calibri" pitchFamily="34" charset="-120"/>
              </a:rPr>
              <a:t> </a:t>
            </a:r>
            <a:r>
              <a:rPr lang="en-US" sz="1100" b="1" dirty="0" err="1" smtClean="0">
                <a:solidFill>
                  <a:srgbClr val="FFFFFF"/>
                </a:solidFill>
                <a:latin typeface="Calibri" pitchFamily="34" charset="0"/>
                <a:ea typeface="Calibri" pitchFamily="34" charset="-122"/>
                <a:cs typeface="Calibri" pitchFamily="34" charset="-120"/>
              </a:rPr>
              <a:t>할지</a:t>
            </a:r>
            <a:r>
              <a:rPr lang="ko-KR" altLang="en-US" sz="1100" b="1" dirty="0" smtClean="0">
                <a:solidFill>
                  <a:srgbClr val="FFFFFF"/>
                </a:solidFill>
                <a:latin typeface="Calibri" pitchFamily="34" charset="0"/>
                <a:ea typeface="Calibri" pitchFamily="34" charset="-122"/>
                <a:cs typeface="Calibri" pitchFamily="34" charset="-120"/>
              </a:rPr>
              <a:t>를</a:t>
            </a:r>
            <a:r>
              <a:rPr lang="en-US" sz="1100" b="1" dirty="0" smtClean="0">
                <a:solidFill>
                  <a:srgbClr val="FFFFFF"/>
                </a:solidFill>
                <a:latin typeface="Calibri" pitchFamily="34" charset="0"/>
                <a:ea typeface="Calibri" pitchFamily="34" charset="-122"/>
                <a:cs typeface="Calibri" pitchFamily="34" charset="-120"/>
              </a:rPr>
              <a:t> </a:t>
            </a:r>
            <a:r>
              <a:rPr lang="en-US" sz="1100" b="1" dirty="0">
                <a:solidFill>
                  <a:srgbClr val="FFFFFF"/>
                </a:solidFill>
                <a:latin typeface="Calibri" pitchFamily="34" charset="0"/>
                <a:ea typeface="Calibri" pitchFamily="34" charset="-122"/>
                <a:cs typeface="Calibri" pitchFamily="34" charset="-120"/>
              </a:rPr>
              <a:t>더 </a:t>
            </a:r>
            <a:r>
              <a:rPr lang="ko-KR" altLang="en-US" sz="1100" b="1" dirty="0" smtClean="0">
                <a:solidFill>
                  <a:srgbClr val="FFFFFF"/>
                </a:solidFill>
                <a:latin typeface="Calibri" pitchFamily="34" charset="0"/>
                <a:ea typeface="Calibri" pitchFamily="34" charset="-122"/>
                <a:cs typeface="Calibri" pitchFamily="34" charset="-120"/>
              </a:rPr>
              <a:t>명확화</a:t>
            </a:r>
            <a:r>
              <a:rPr lang="en-US" altLang="ko-KR" sz="1100" b="1" dirty="0" smtClean="0">
                <a:solidFill>
                  <a:srgbClr val="FFFFFF"/>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365760" y="2029968"/>
            <a:ext cx="3886200" cy="347472"/>
          </a:xfrm>
          <a:prstGeom prst="rect">
            <a:avLst/>
          </a:prstGeom>
          <a:solidFill>
            <a:srgbClr val="2A2A2A"/>
          </a:solidFill>
          <a:ln w="12700">
            <a:solidFill>
              <a:srgbClr val="2A2A2A"/>
            </a:solidFill>
            <a:prstDash val="solid"/>
          </a:ln>
        </p:spPr>
      </p:sp>
      <p:sp>
        <p:nvSpPr>
          <p:cNvPr id="8" name="Text 6"/>
          <p:cNvSpPr/>
          <p:nvPr/>
        </p:nvSpPr>
        <p:spPr>
          <a:xfrm>
            <a:off x="365760" y="2029968"/>
            <a:ext cx="3886200" cy="347472"/>
          </a:xfrm>
          <a:prstGeom prst="rect">
            <a:avLst/>
          </a:prstGeom>
          <a:noFill/>
          <a:ln/>
        </p:spPr>
        <p:txBody>
          <a:bodyPr wrap="square" lIns="0" tIns="0" rIns="0" bIns="0" rtlCol="0" anchor="ctr"/>
          <a:lstStyle/>
          <a:p>
            <a:pPr marL="0" indent="0" algn="ctr">
              <a:buNone/>
            </a:pPr>
            <a:r>
              <a:rPr lang="en-US" sz="1200" b="1" dirty="0">
                <a:solidFill>
                  <a:srgbClr val="888888"/>
                </a:solidFill>
                <a:latin typeface="Calibri" pitchFamily="34" charset="0"/>
                <a:ea typeface="Calibri" pitchFamily="34" charset="-122"/>
                <a:cs typeface="Calibri" pitchFamily="34" charset="-120"/>
              </a:rPr>
              <a:t>문화 교체?  (X)</a:t>
            </a:r>
            <a:endParaRPr lang="en-US" sz="1200" dirty="0"/>
          </a:p>
        </p:txBody>
      </p:sp>
      <p:sp>
        <p:nvSpPr>
          <p:cNvPr id="9" name="Shape 7"/>
          <p:cNvSpPr/>
          <p:nvPr/>
        </p:nvSpPr>
        <p:spPr>
          <a:xfrm>
            <a:off x="365760" y="2395728"/>
            <a:ext cx="3886200" cy="2267712"/>
          </a:xfrm>
          <a:prstGeom prst="rect">
            <a:avLst/>
          </a:prstGeom>
          <a:solidFill>
            <a:srgbClr val="2A2A2A"/>
          </a:solidFill>
          <a:ln w="12700">
            <a:solidFill>
              <a:srgbClr val="333333"/>
            </a:solidFill>
            <a:prstDash val="solid"/>
          </a:ln>
        </p:spPr>
      </p:sp>
      <p:sp>
        <p:nvSpPr>
          <p:cNvPr id="10" name="Shape 8"/>
          <p:cNvSpPr/>
          <p:nvPr/>
        </p:nvSpPr>
        <p:spPr>
          <a:xfrm>
            <a:off x="457200" y="2450592"/>
            <a:ext cx="274320" cy="292608"/>
          </a:xfrm>
          <a:prstGeom prst="rect">
            <a:avLst/>
          </a:prstGeom>
          <a:solidFill>
            <a:srgbClr val="444444"/>
          </a:solidFill>
          <a:ln w="12700">
            <a:solidFill>
              <a:srgbClr val="444444"/>
            </a:solidFill>
            <a:prstDash val="solid"/>
          </a:ln>
        </p:spPr>
      </p:sp>
      <p:sp>
        <p:nvSpPr>
          <p:cNvPr id="11" name="Text 9"/>
          <p:cNvSpPr/>
          <p:nvPr/>
        </p:nvSpPr>
        <p:spPr>
          <a:xfrm>
            <a:off x="457200" y="2450592"/>
            <a:ext cx="274320" cy="292608"/>
          </a:xfrm>
          <a:prstGeom prst="rect">
            <a:avLst/>
          </a:prstGeom>
          <a:noFill/>
          <a:ln/>
        </p:spPr>
        <p:txBody>
          <a:bodyPr wrap="square" lIns="0" tIns="0" rIns="0" bIns="0" rtlCol="0" anchor="ctr"/>
          <a:lstStyle/>
          <a:p>
            <a:pPr marL="0" indent="0" algn="ctr">
              <a:buNone/>
            </a:pPr>
            <a:r>
              <a:rPr lang="en-US" sz="1000" b="1" dirty="0">
                <a:solidFill>
                  <a:srgbClr val="888888"/>
                </a:solidFill>
                <a:latin typeface="Calibri" pitchFamily="34" charset="0"/>
                <a:ea typeface="Calibri" pitchFamily="34" charset="-122"/>
                <a:cs typeface="Calibri" pitchFamily="34" charset="-120"/>
              </a:rPr>
              <a:t>X</a:t>
            </a:r>
            <a:endParaRPr lang="en-US" sz="1000" dirty="0"/>
          </a:p>
        </p:txBody>
      </p:sp>
      <p:sp>
        <p:nvSpPr>
          <p:cNvPr id="12" name="Text 10"/>
          <p:cNvSpPr/>
          <p:nvPr/>
        </p:nvSpPr>
        <p:spPr>
          <a:xfrm>
            <a:off x="804672" y="2450592"/>
            <a:ext cx="3364992" cy="292608"/>
          </a:xfrm>
          <a:prstGeom prst="rect">
            <a:avLst/>
          </a:prstGeom>
          <a:noFill/>
          <a:ln/>
        </p:spPr>
        <p:txBody>
          <a:bodyPr wrap="square" lIns="0" tIns="0" rIns="0" bIns="0" rtlCol="0" anchor="ctr"/>
          <a:lstStyle/>
          <a:p>
            <a:pPr marL="0" indent="0" algn="l">
              <a:buNone/>
            </a:pPr>
            <a:r>
              <a:rPr lang="en-US" sz="950" dirty="0">
                <a:solidFill>
                  <a:srgbClr val="888888"/>
                </a:solidFill>
                <a:latin typeface="Calibri" pitchFamily="34" charset="0"/>
                <a:ea typeface="Calibri" pitchFamily="34" charset="-122"/>
                <a:cs typeface="Calibri" pitchFamily="34" charset="-120"/>
              </a:rPr>
              <a:t>High Performers 기준 → </a:t>
            </a:r>
            <a:r>
              <a:rPr lang="en-US" sz="950" dirty="0" err="1" smtClean="0">
                <a:solidFill>
                  <a:srgbClr val="888888"/>
                </a:solidFill>
                <a:latin typeface="Calibri" pitchFamily="34" charset="0"/>
                <a:ea typeface="Calibri" pitchFamily="34" charset="-122"/>
                <a:cs typeface="Calibri" pitchFamily="34" charset="-120"/>
              </a:rPr>
              <a:t>완화</a:t>
            </a:r>
            <a:r>
              <a:rPr lang="en-US" sz="950" dirty="0" smtClean="0">
                <a:solidFill>
                  <a:srgbClr val="888888"/>
                </a:solidFill>
                <a:latin typeface="Calibri" pitchFamily="34" charset="0"/>
                <a:ea typeface="Calibri" pitchFamily="34" charset="-122"/>
                <a:cs typeface="Calibri" pitchFamily="34" charset="-120"/>
              </a:rPr>
              <a:t>?</a:t>
            </a:r>
            <a:endParaRPr lang="en-US" sz="950" dirty="0"/>
          </a:p>
        </p:txBody>
      </p:sp>
      <p:sp>
        <p:nvSpPr>
          <p:cNvPr id="13" name="Shape 11"/>
          <p:cNvSpPr/>
          <p:nvPr/>
        </p:nvSpPr>
        <p:spPr>
          <a:xfrm>
            <a:off x="457200" y="2852928"/>
            <a:ext cx="274320" cy="292608"/>
          </a:xfrm>
          <a:prstGeom prst="rect">
            <a:avLst/>
          </a:prstGeom>
          <a:solidFill>
            <a:srgbClr val="444444"/>
          </a:solidFill>
          <a:ln w="12700">
            <a:solidFill>
              <a:srgbClr val="444444"/>
            </a:solidFill>
            <a:prstDash val="solid"/>
          </a:ln>
        </p:spPr>
      </p:sp>
      <p:sp>
        <p:nvSpPr>
          <p:cNvPr id="14" name="Text 12"/>
          <p:cNvSpPr/>
          <p:nvPr/>
        </p:nvSpPr>
        <p:spPr>
          <a:xfrm>
            <a:off x="457200" y="2852928"/>
            <a:ext cx="274320" cy="292608"/>
          </a:xfrm>
          <a:prstGeom prst="rect">
            <a:avLst/>
          </a:prstGeom>
          <a:noFill/>
          <a:ln/>
        </p:spPr>
        <p:txBody>
          <a:bodyPr wrap="square" lIns="0" tIns="0" rIns="0" bIns="0" rtlCol="0" anchor="ctr"/>
          <a:lstStyle/>
          <a:p>
            <a:pPr marL="0" indent="0" algn="ctr">
              <a:buNone/>
            </a:pPr>
            <a:r>
              <a:rPr lang="en-US" sz="1000" b="1" dirty="0">
                <a:solidFill>
                  <a:srgbClr val="888888"/>
                </a:solidFill>
                <a:latin typeface="Calibri" pitchFamily="34" charset="0"/>
                <a:ea typeface="Calibri" pitchFamily="34" charset="-122"/>
                <a:cs typeface="Calibri" pitchFamily="34" charset="-120"/>
              </a:rPr>
              <a:t>X</a:t>
            </a:r>
            <a:endParaRPr lang="en-US" sz="1000" dirty="0"/>
          </a:p>
        </p:txBody>
      </p:sp>
      <p:sp>
        <p:nvSpPr>
          <p:cNvPr id="15" name="Text 13"/>
          <p:cNvSpPr/>
          <p:nvPr/>
        </p:nvSpPr>
        <p:spPr>
          <a:xfrm>
            <a:off x="804672" y="2852928"/>
            <a:ext cx="3364992" cy="292608"/>
          </a:xfrm>
          <a:prstGeom prst="rect">
            <a:avLst/>
          </a:prstGeom>
          <a:noFill/>
          <a:ln/>
        </p:spPr>
        <p:txBody>
          <a:bodyPr wrap="square" lIns="0" tIns="0" rIns="0" bIns="0" rtlCol="0" anchor="ctr"/>
          <a:lstStyle/>
          <a:p>
            <a:pPr marL="0" indent="0" algn="l">
              <a:buNone/>
            </a:pPr>
            <a:r>
              <a:rPr lang="en-US" sz="950" dirty="0">
                <a:solidFill>
                  <a:srgbClr val="888888"/>
                </a:solidFill>
                <a:latin typeface="Calibri" pitchFamily="34" charset="0"/>
                <a:ea typeface="Calibri" pitchFamily="34" charset="-122"/>
                <a:cs typeface="Calibri" pitchFamily="34" charset="-120"/>
              </a:rPr>
              <a:t>Keeper Test → </a:t>
            </a:r>
            <a:r>
              <a:rPr lang="en-US" sz="950" dirty="0" err="1" smtClean="0">
                <a:solidFill>
                  <a:srgbClr val="888888"/>
                </a:solidFill>
                <a:latin typeface="Calibri" pitchFamily="34" charset="0"/>
                <a:ea typeface="Calibri" pitchFamily="34" charset="-122"/>
                <a:cs typeface="Calibri" pitchFamily="34" charset="-120"/>
              </a:rPr>
              <a:t>폐지</a:t>
            </a:r>
            <a:r>
              <a:rPr lang="en-US" sz="950" dirty="0" smtClean="0">
                <a:solidFill>
                  <a:srgbClr val="888888"/>
                </a:solidFill>
                <a:latin typeface="Calibri" pitchFamily="34" charset="0"/>
                <a:ea typeface="Calibri" pitchFamily="34" charset="-122"/>
                <a:cs typeface="Calibri" pitchFamily="34" charset="-120"/>
              </a:rPr>
              <a:t>?</a:t>
            </a:r>
            <a:endParaRPr lang="en-US" sz="950" dirty="0"/>
          </a:p>
        </p:txBody>
      </p:sp>
      <p:sp>
        <p:nvSpPr>
          <p:cNvPr id="16" name="Shape 14"/>
          <p:cNvSpPr/>
          <p:nvPr/>
        </p:nvSpPr>
        <p:spPr>
          <a:xfrm>
            <a:off x="457200" y="3255264"/>
            <a:ext cx="274320" cy="292608"/>
          </a:xfrm>
          <a:prstGeom prst="rect">
            <a:avLst/>
          </a:prstGeom>
          <a:solidFill>
            <a:srgbClr val="444444"/>
          </a:solidFill>
          <a:ln w="12700">
            <a:solidFill>
              <a:srgbClr val="444444"/>
            </a:solidFill>
            <a:prstDash val="solid"/>
          </a:ln>
        </p:spPr>
      </p:sp>
      <p:sp>
        <p:nvSpPr>
          <p:cNvPr id="17" name="Text 15"/>
          <p:cNvSpPr/>
          <p:nvPr/>
        </p:nvSpPr>
        <p:spPr>
          <a:xfrm>
            <a:off x="457200" y="3255264"/>
            <a:ext cx="274320" cy="292608"/>
          </a:xfrm>
          <a:prstGeom prst="rect">
            <a:avLst/>
          </a:prstGeom>
          <a:noFill/>
          <a:ln/>
        </p:spPr>
        <p:txBody>
          <a:bodyPr wrap="square" lIns="0" tIns="0" rIns="0" bIns="0" rtlCol="0" anchor="ctr"/>
          <a:lstStyle/>
          <a:p>
            <a:pPr marL="0" indent="0" algn="ctr">
              <a:buNone/>
            </a:pPr>
            <a:r>
              <a:rPr lang="en-US" sz="1000" b="1" dirty="0">
                <a:solidFill>
                  <a:srgbClr val="888888"/>
                </a:solidFill>
                <a:latin typeface="Calibri" pitchFamily="34" charset="0"/>
                <a:ea typeface="Calibri" pitchFamily="34" charset="-122"/>
                <a:cs typeface="Calibri" pitchFamily="34" charset="-120"/>
              </a:rPr>
              <a:t>X</a:t>
            </a:r>
            <a:endParaRPr lang="en-US" sz="1000" dirty="0"/>
          </a:p>
        </p:txBody>
      </p:sp>
      <p:sp>
        <p:nvSpPr>
          <p:cNvPr id="18" name="Text 16"/>
          <p:cNvSpPr/>
          <p:nvPr/>
        </p:nvSpPr>
        <p:spPr>
          <a:xfrm>
            <a:off x="804672" y="3255264"/>
            <a:ext cx="3364992" cy="292608"/>
          </a:xfrm>
          <a:prstGeom prst="rect">
            <a:avLst/>
          </a:prstGeom>
          <a:noFill/>
          <a:ln/>
        </p:spPr>
        <p:txBody>
          <a:bodyPr wrap="square" lIns="0" tIns="0" rIns="0" bIns="0" rtlCol="0" anchor="ctr"/>
          <a:lstStyle/>
          <a:p>
            <a:pPr marL="0" indent="0" algn="l">
              <a:buNone/>
            </a:pPr>
            <a:r>
              <a:rPr lang="en-US" sz="950" dirty="0">
                <a:solidFill>
                  <a:srgbClr val="888888"/>
                </a:solidFill>
                <a:latin typeface="Calibri" pitchFamily="34" charset="0"/>
                <a:ea typeface="Calibri" pitchFamily="34" charset="-122"/>
                <a:cs typeface="Calibri" pitchFamily="34" charset="-120"/>
              </a:rPr>
              <a:t>Candor → 부드러워짐?</a:t>
            </a:r>
            <a:endParaRPr lang="en-US" sz="950" dirty="0"/>
          </a:p>
        </p:txBody>
      </p:sp>
      <p:sp>
        <p:nvSpPr>
          <p:cNvPr id="19" name="Shape 17"/>
          <p:cNvSpPr/>
          <p:nvPr/>
        </p:nvSpPr>
        <p:spPr>
          <a:xfrm>
            <a:off x="457200" y="3657600"/>
            <a:ext cx="274320" cy="292608"/>
          </a:xfrm>
          <a:prstGeom prst="rect">
            <a:avLst/>
          </a:prstGeom>
          <a:solidFill>
            <a:srgbClr val="444444"/>
          </a:solidFill>
          <a:ln w="12700">
            <a:solidFill>
              <a:srgbClr val="444444"/>
            </a:solidFill>
            <a:prstDash val="solid"/>
          </a:ln>
        </p:spPr>
      </p:sp>
      <p:sp>
        <p:nvSpPr>
          <p:cNvPr id="20" name="Text 18"/>
          <p:cNvSpPr/>
          <p:nvPr/>
        </p:nvSpPr>
        <p:spPr>
          <a:xfrm>
            <a:off x="457200" y="3657600"/>
            <a:ext cx="274320" cy="292608"/>
          </a:xfrm>
          <a:prstGeom prst="rect">
            <a:avLst/>
          </a:prstGeom>
          <a:noFill/>
          <a:ln/>
        </p:spPr>
        <p:txBody>
          <a:bodyPr wrap="square" lIns="0" tIns="0" rIns="0" bIns="0" rtlCol="0" anchor="ctr"/>
          <a:lstStyle/>
          <a:p>
            <a:pPr marL="0" indent="0" algn="ctr">
              <a:buNone/>
            </a:pPr>
            <a:r>
              <a:rPr lang="en-US" sz="1000" b="1" dirty="0">
                <a:solidFill>
                  <a:srgbClr val="888888"/>
                </a:solidFill>
                <a:latin typeface="Calibri" pitchFamily="34" charset="0"/>
                <a:ea typeface="Calibri" pitchFamily="34" charset="-122"/>
                <a:cs typeface="Calibri" pitchFamily="34" charset="-120"/>
              </a:rPr>
              <a:t>X</a:t>
            </a:r>
            <a:endParaRPr lang="en-US" sz="1000" dirty="0"/>
          </a:p>
        </p:txBody>
      </p:sp>
      <p:sp>
        <p:nvSpPr>
          <p:cNvPr id="21" name="Text 19"/>
          <p:cNvSpPr/>
          <p:nvPr/>
        </p:nvSpPr>
        <p:spPr>
          <a:xfrm>
            <a:off x="804672" y="3657600"/>
            <a:ext cx="3364992" cy="292608"/>
          </a:xfrm>
          <a:prstGeom prst="rect">
            <a:avLst/>
          </a:prstGeom>
          <a:noFill/>
          <a:ln/>
        </p:spPr>
        <p:txBody>
          <a:bodyPr wrap="square" lIns="0" tIns="0" rIns="0" bIns="0" rtlCol="0" anchor="ctr"/>
          <a:lstStyle/>
          <a:p>
            <a:pPr marL="0" indent="0" algn="l">
              <a:buNone/>
            </a:pPr>
            <a:r>
              <a:rPr lang="en-US" sz="950" dirty="0">
                <a:solidFill>
                  <a:srgbClr val="888888"/>
                </a:solidFill>
                <a:latin typeface="Calibri" pitchFamily="34" charset="0"/>
                <a:ea typeface="Calibri" pitchFamily="34" charset="-122"/>
                <a:cs typeface="Calibri" pitchFamily="34" charset="-120"/>
              </a:rPr>
              <a:t>Context not Control → </a:t>
            </a:r>
            <a:r>
              <a:rPr lang="en-US" sz="950" dirty="0" err="1">
                <a:solidFill>
                  <a:srgbClr val="888888"/>
                </a:solidFill>
                <a:latin typeface="Calibri" pitchFamily="34" charset="0"/>
                <a:ea typeface="Calibri" pitchFamily="34" charset="-122"/>
                <a:cs typeface="Calibri" pitchFamily="34" charset="-120"/>
              </a:rPr>
              <a:t>통제</a:t>
            </a:r>
            <a:r>
              <a:rPr lang="en-US" sz="950" dirty="0">
                <a:solidFill>
                  <a:srgbClr val="888888"/>
                </a:solidFill>
                <a:latin typeface="Calibri" pitchFamily="34" charset="0"/>
                <a:ea typeface="Calibri" pitchFamily="34" charset="-122"/>
                <a:cs typeface="Calibri" pitchFamily="34" charset="-120"/>
              </a:rPr>
              <a:t> </a:t>
            </a:r>
            <a:r>
              <a:rPr lang="en-US" sz="950" dirty="0" err="1" smtClean="0">
                <a:solidFill>
                  <a:srgbClr val="888888"/>
                </a:solidFill>
                <a:latin typeface="Calibri" pitchFamily="34" charset="0"/>
                <a:ea typeface="Calibri" pitchFamily="34" charset="-122"/>
                <a:cs typeface="Calibri" pitchFamily="34" charset="-120"/>
              </a:rPr>
              <a:t>강화</a:t>
            </a:r>
            <a:r>
              <a:rPr lang="en-US" sz="950" dirty="0" smtClean="0">
                <a:solidFill>
                  <a:srgbClr val="888888"/>
                </a:solidFill>
                <a:latin typeface="Calibri" pitchFamily="34" charset="0"/>
                <a:ea typeface="Calibri" pitchFamily="34" charset="-122"/>
                <a:cs typeface="Calibri" pitchFamily="34" charset="-120"/>
              </a:rPr>
              <a:t>?</a:t>
            </a:r>
            <a:endParaRPr lang="en-US" sz="950" dirty="0"/>
          </a:p>
        </p:txBody>
      </p:sp>
      <p:sp>
        <p:nvSpPr>
          <p:cNvPr id="22" name="Shape 20"/>
          <p:cNvSpPr/>
          <p:nvPr/>
        </p:nvSpPr>
        <p:spPr>
          <a:xfrm>
            <a:off x="457200" y="4059936"/>
            <a:ext cx="274320" cy="292608"/>
          </a:xfrm>
          <a:prstGeom prst="rect">
            <a:avLst/>
          </a:prstGeom>
          <a:solidFill>
            <a:srgbClr val="444444"/>
          </a:solidFill>
          <a:ln w="12700">
            <a:solidFill>
              <a:srgbClr val="444444"/>
            </a:solidFill>
            <a:prstDash val="solid"/>
          </a:ln>
        </p:spPr>
      </p:sp>
      <p:sp>
        <p:nvSpPr>
          <p:cNvPr id="23" name="Text 21"/>
          <p:cNvSpPr/>
          <p:nvPr/>
        </p:nvSpPr>
        <p:spPr>
          <a:xfrm>
            <a:off x="457200" y="4059936"/>
            <a:ext cx="274320" cy="292608"/>
          </a:xfrm>
          <a:prstGeom prst="rect">
            <a:avLst/>
          </a:prstGeom>
          <a:noFill/>
          <a:ln/>
        </p:spPr>
        <p:txBody>
          <a:bodyPr wrap="square" lIns="0" tIns="0" rIns="0" bIns="0" rtlCol="0" anchor="ctr"/>
          <a:lstStyle/>
          <a:p>
            <a:pPr marL="0" indent="0" algn="ctr">
              <a:buNone/>
            </a:pPr>
            <a:r>
              <a:rPr lang="en-US" sz="1000" b="1" dirty="0">
                <a:solidFill>
                  <a:srgbClr val="888888"/>
                </a:solidFill>
                <a:latin typeface="Calibri" pitchFamily="34" charset="0"/>
                <a:ea typeface="Calibri" pitchFamily="34" charset="-122"/>
                <a:cs typeface="Calibri" pitchFamily="34" charset="-120"/>
              </a:rPr>
              <a:t>X</a:t>
            </a:r>
            <a:endParaRPr lang="en-US" sz="1000" dirty="0"/>
          </a:p>
        </p:txBody>
      </p:sp>
      <p:sp>
        <p:nvSpPr>
          <p:cNvPr id="24" name="Text 22"/>
          <p:cNvSpPr/>
          <p:nvPr/>
        </p:nvSpPr>
        <p:spPr>
          <a:xfrm>
            <a:off x="804672" y="4059936"/>
            <a:ext cx="3364992" cy="292608"/>
          </a:xfrm>
          <a:prstGeom prst="rect">
            <a:avLst/>
          </a:prstGeom>
          <a:noFill/>
          <a:ln/>
        </p:spPr>
        <p:txBody>
          <a:bodyPr wrap="square" lIns="0" tIns="0" rIns="0" bIns="0" rtlCol="0" anchor="ctr"/>
          <a:lstStyle/>
          <a:p>
            <a:pPr marL="0" indent="0" algn="l">
              <a:buNone/>
            </a:pPr>
            <a:r>
              <a:rPr lang="en-US" sz="950" dirty="0">
                <a:solidFill>
                  <a:srgbClr val="888888"/>
                </a:solidFill>
                <a:latin typeface="Calibri" pitchFamily="34" charset="0"/>
                <a:ea typeface="Calibri" pitchFamily="34" charset="-122"/>
                <a:cs typeface="Calibri" pitchFamily="34" charset="-120"/>
              </a:rPr>
              <a:t>자율 기반 휴가정책 → </a:t>
            </a:r>
            <a:r>
              <a:rPr lang="en-US" sz="950" dirty="0" err="1" smtClean="0">
                <a:solidFill>
                  <a:srgbClr val="888888"/>
                </a:solidFill>
                <a:latin typeface="Calibri" pitchFamily="34" charset="0"/>
                <a:ea typeface="Calibri" pitchFamily="34" charset="-122"/>
                <a:cs typeface="Calibri" pitchFamily="34" charset="-120"/>
              </a:rPr>
              <a:t>규제</a:t>
            </a:r>
            <a:r>
              <a:rPr lang="en-US" sz="950" dirty="0" smtClean="0">
                <a:solidFill>
                  <a:srgbClr val="888888"/>
                </a:solidFill>
                <a:latin typeface="Calibri" pitchFamily="34" charset="0"/>
                <a:ea typeface="Calibri" pitchFamily="34" charset="-122"/>
                <a:cs typeface="Calibri" pitchFamily="34" charset="-120"/>
              </a:rPr>
              <a:t>?</a:t>
            </a:r>
            <a:endParaRPr lang="en-US" sz="950" dirty="0"/>
          </a:p>
        </p:txBody>
      </p:sp>
      <p:sp>
        <p:nvSpPr>
          <p:cNvPr id="25" name="Shape 23"/>
          <p:cNvSpPr/>
          <p:nvPr/>
        </p:nvSpPr>
        <p:spPr>
          <a:xfrm>
            <a:off x="4892040" y="2029968"/>
            <a:ext cx="3886200" cy="347472"/>
          </a:xfrm>
          <a:prstGeom prst="rect">
            <a:avLst/>
          </a:prstGeom>
          <a:solidFill>
            <a:srgbClr val="E50914"/>
          </a:solidFill>
          <a:ln w="12700">
            <a:solidFill>
              <a:srgbClr val="E50914"/>
            </a:solidFill>
            <a:prstDash val="solid"/>
          </a:ln>
        </p:spPr>
      </p:sp>
      <p:sp>
        <p:nvSpPr>
          <p:cNvPr id="26" name="Text 24"/>
          <p:cNvSpPr/>
          <p:nvPr/>
        </p:nvSpPr>
        <p:spPr>
          <a:xfrm>
            <a:off x="4892040" y="2029968"/>
            <a:ext cx="38862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문화 업데이트  (O)</a:t>
            </a:r>
            <a:endParaRPr lang="en-US" sz="1200" dirty="0"/>
          </a:p>
        </p:txBody>
      </p:sp>
      <p:sp>
        <p:nvSpPr>
          <p:cNvPr id="27" name="Shape 25"/>
          <p:cNvSpPr/>
          <p:nvPr/>
        </p:nvSpPr>
        <p:spPr>
          <a:xfrm>
            <a:off x="4892040" y="2395728"/>
            <a:ext cx="3886200" cy="2267712"/>
          </a:xfrm>
          <a:prstGeom prst="rect">
            <a:avLst/>
          </a:prstGeom>
          <a:solidFill>
            <a:srgbClr val="2A2A2A"/>
          </a:solidFill>
          <a:ln w="12700">
            <a:solidFill>
              <a:srgbClr val="333333"/>
            </a:solidFill>
            <a:prstDash val="solid"/>
          </a:ln>
        </p:spPr>
      </p:sp>
      <p:sp>
        <p:nvSpPr>
          <p:cNvPr id="28" name="Shape 26"/>
          <p:cNvSpPr/>
          <p:nvPr/>
        </p:nvSpPr>
        <p:spPr>
          <a:xfrm>
            <a:off x="4983480" y="2450592"/>
            <a:ext cx="274320" cy="292608"/>
          </a:xfrm>
          <a:prstGeom prst="rect">
            <a:avLst/>
          </a:prstGeom>
          <a:solidFill>
            <a:srgbClr val="E50914"/>
          </a:solidFill>
          <a:ln w="12700">
            <a:solidFill>
              <a:srgbClr val="E50914"/>
            </a:solidFill>
            <a:prstDash val="solid"/>
          </a:ln>
        </p:spPr>
      </p:sp>
      <p:sp>
        <p:nvSpPr>
          <p:cNvPr id="29" name="Text 27"/>
          <p:cNvSpPr/>
          <p:nvPr/>
        </p:nvSpPr>
        <p:spPr>
          <a:xfrm>
            <a:off x="4983480" y="2450592"/>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a:t>
            </a:r>
            <a:endParaRPr lang="en-US" sz="1000" dirty="0"/>
          </a:p>
        </p:txBody>
      </p:sp>
      <p:sp>
        <p:nvSpPr>
          <p:cNvPr id="30" name="Text 28"/>
          <p:cNvSpPr/>
          <p:nvPr/>
        </p:nvSpPr>
        <p:spPr>
          <a:xfrm>
            <a:off x="5330952" y="2450592"/>
            <a:ext cx="3364992" cy="29260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High Performers → 여전히 중심 원칙</a:t>
            </a:r>
            <a:endParaRPr lang="en-US" sz="950" dirty="0"/>
          </a:p>
        </p:txBody>
      </p:sp>
      <p:sp>
        <p:nvSpPr>
          <p:cNvPr id="31" name="Shape 29"/>
          <p:cNvSpPr/>
          <p:nvPr/>
        </p:nvSpPr>
        <p:spPr>
          <a:xfrm>
            <a:off x="4983480" y="2852928"/>
            <a:ext cx="274320" cy="292608"/>
          </a:xfrm>
          <a:prstGeom prst="rect">
            <a:avLst/>
          </a:prstGeom>
          <a:solidFill>
            <a:srgbClr val="E50914"/>
          </a:solidFill>
          <a:ln w="12700">
            <a:solidFill>
              <a:srgbClr val="E50914"/>
            </a:solidFill>
            <a:prstDash val="solid"/>
          </a:ln>
        </p:spPr>
      </p:sp>
      <p:sp>
        <p:nvSpPr>
          <p:cNvPr id="32" name="Text 30"/>
          <p:cNvSpPr/>
          <p:nvPr/>
        </p:nvSpPr>
        <p:spPr>
          <a:xfrm>
            <a:off x="4983480" y="2852928"/>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a:t>
            </a:r>
            <a:endParaRPr lang="en-US" sz="1000" dirty="0"/>
          </a:p>
        </p:txBody>
      </p:sp>
      <p:sp>
        <p:nvSpPr>
          <p:cNvPr id="33" name="Text 31"/>
          <p:cNvSpPr/>
          <p:nvPr/>
        </p:nvSpPr>
        <p:spPr>
          <a:xfrm>
            <a:off x="5330952" y="2852928"/>
            <a:ext cx="3364992" cy="29260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Keeper Test → 2024 메모에도 유지</a:t>
            </a:r>
            <a:endParaRPr lang="en-US" sz="950" dirty="0"/>
          </a:p>
        </p:txBody>
      </p:sp>
      <p:sp>
        <p:nvSpPr>
          <p:cNvPr id="34" name="Shape 32"/>
          <p:cNvSpPr/>
          <p:nvPr/>
        </p:nvSpPr>
        <p:spPr>
          <a:xfrm>
            <a:off x="4983480" y="3255264"/>
            <a:ext cx="274320" cy="292608"/>
          </a:xfrm>
          <a:prstGeom prst="rect">
            <a:avLst/>
          </a:prstGeom>
          <a:solidFill>
            <a:srgbClr val="E50914"/>
          </a:solidFill>
          <a:ln w="12700">
            <a:solidFill>
              <a:srgbClr val="E50914"/>
            </a:solidFill>
            <a:prstDash val="solid"/>
          </a:ln>
        </p:spPr>
      </p:sp>
      <p:sp>
        <p:nvSpPr>
          <p:cNvPr id="35" name="Text 33"/>
          <p:cNvSpPr/>
          <p:nvPr/>
        </p:nvSpPr>
        <p:spPr>
          <a:xfrm>
            <a:off x="4983480" y="3255264"/>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a:t>
            </a:r>
            <a:endParaRPr lang="en-US" sz="1000" dirty="0"/>
          </a:p>
        </p:txBody>
      </p:sp>
      <p:sp>
        <p:nvSpPr>
          <p:cNvPr id="36" name="Text 34"/>
          <p:cNvSpPr/>
          <p:nvPr/>
        </p:nvSpPr>
        <p:spPr>
          <a:xfrm>
            <a:off x="5330952" y="3255264"/>
            <a:ext cx="3364992" cy="29260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Candor → 핵심 가치로 재강조</a:t>
            </a:r>
            <a:endParaRPr lang="en-US" sz="950" dirty="0"/>
          </a:p>
        </p:txBody>
      </p:sp>
      <p:sp>
        <p:nvSpPr>
          <p:cNvPr id="37" name="Shape 35"/>
          <p:cNvSpPr/>
          <p:nvPr/>
        </p:nvSpPr>
        <p:spPr>
          <a:xfrm>
            <a:off x="4983480" y="3657600"/>
            <a:ext cx="274320" cy="292608"/>
          </a:xfrm>
          <a:prstGeom prst="rect">
            <a:avLst/>
          </a:prstGeom>
          <a:solidFill>
            <a:srgbClr val="E50914"/>
          </a:solidFill>
          <a:ln w="12700">
            <a:solidFill>
              <a:srgbClr val="E50914"/>
            </a:solidFill>
            <a:prstDash val="solid"/>
          </a:ln>
        </p:spPr>
      </p:sp>
      <p:sp>
        <p:nvSpPr>
          <p:cNvPr id="38" name="Text 36"/>
          <p:cNvSpPr/>
          <p:nvPr/>
        </p:nvSpPr>
        <p:spPr>
          <a:xfrm>
            <a:off x="4983480" y="3657600"/>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a:t>
            </a:r>
            <a:endParaRPr lang="en-US" sz="1000" dirty="0"/>
          </a:p>
        </p:txBody>
      </p:sp>
      <p:sp>
        <p:nvSpPr>
          <p:cNvPr id="39" name="Text 37"/>
          <p:cNvSpPr/>
          <p:nvPr/>
        </p:nvSpPr>
        <p:spPr>
          <a:xfrm>
            <a:off x="5330952" y="3657600"/>
            <a:ext cx="3364992" cy="29260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Context not Control → 원칙 재정립</a:t>
            </a:r>
            <a:endParaRPr lang="en-US" sz="950" dirty="0"/>
          </a:p>
        </p:txBody>
      </p:sp>
      <p:sp>
        <p:nvSpPr>
          <p:cNvPr id="40" name="Shape 38"/>
          <p:cNvSpPr/>
          <p:nvPr/>
        </p:nvSpPr>
        <p:spPr>
          <a:xfrm>
            <a:off x="4983480" y="4059936"/>
            <a:ext cx="274320" cy="292608"/>
          </a:xfrm>
          <a:prstGeom prst="rect">
            <a:avLst/>
          </a:prstGeom>
          <a:solidFill>
            <a:srgbClr val="E50914"/>
          </a:solidFill>
          <a:ln w="12700">
            <a:solidFill>
              <a:srgbClr val="E50914"/>
            </a:solidFill>
            <a:prstDash val="solid"/>
          </a:ln>
        </p:spPr>
      </p:sp>
      <p:sp>
        <p:nvSpPr>
          <p:cNvPr id="41" name="Text 39"/>
          <p:cNvSpPr/>
          <p:nvPr/>
        </p:nvSpPr>
        <p:spPr>
          <a:xfrm>
            <a:off x="4983480" y="4059936"/>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a:t>
            </a:r>
            <a:endParaRPr lang="en-US" sz="1000" dirty="0"/>
          </a:p>
        </p:txBody>
      </p:sp>
      <p:sp>
        <p:nvSpPr>
          <p:cNvPr id="42" name="Text 40"/>
          <p:cNvSpPr/>
          <p:nvPr/>
        </p:nvSpPr>
        <p:spPr>
          <a:xfrm>
            <a:off x="5330952" y="4059936"/>
            <a:ext cx="3364992" cy="292608"/>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자율 기반 휴가정책 → 그대로 유지</a:t>
            </a:r>
            <a:endParaRPr lang="en-US" sz="950" dirty="0"/>
          </a:p>
        </p:txBody>
      </p:sp>
      <p:sp>
        <p:nvSpPr>
          <p:cNvPr id="43" name="Shape 41"/>
          <p:cNvSpPr/>
          <p:nvPr/>
        </p:nvSpPr>
        <p:spPr>
          <a:xfrm>
            <a:off x="0" y="4818888"/>
            <a:ext cx="9144000" cy="329184"/>
          </a:xfrm>
          <a:prstGeom prst="rect">
            <a:avLst/>
          </a:prstGeom>
          <a:solidFill>
            <a:srgbClr val="E50914"/>
          </a:solidFill>
          <a:ln w="12700">
            <a:solidFill>
              <a:srgbClr val="E50914"/>
            </a:solidFill>
            <a:prstDash val="solid"/>
          </a:ln>
        </p:spPr>
      </p:sp>
      <p:sp>
        <p:nvSpPr>
          <p:cNvPr id="44" name="Text 42"/>
          <p:cNvSpPr/>
          <p:nvPr/>
        </p:nvSpPr>
        <p:spPr>
          <a:xfrm>
            <a:off x="274320" y="4818888"/>
            <a:ext cx="8595360" cy="329184"/>
          </a:xfrm>
          <a:prstGeom prst="rect">
            <a:avLst/>
          </a:prstGeom>
          <a:noFill/>
          <a:ln/>
        </p:spPr>
        <p:txBody>
          <a:bodyPr wrap="square" lIns="0" tIns="0" rIns="0" bIns="0" rtlCol="0" anchor="ctr"/>
          <a:lstStyle/>
          <a:p>
            <a:pPr marL="0" indent="0" algn="ctr">
              <a:buNone/>
            </a:pPr>
            <a:r>
              <a:rPr lang="en-US" sz="1000" b="1" i="1" dirty="0">
                <a:solidFill>
                  <a:srgbClr val="FFFFFF"/>
                </a:solidFill>
                <a:latin typeface="Calibri" pitchFamily="34" charset="0"/>
                <a:ea typeface="Calibri" pitchFamily="34" charset="-122"/>
                <a:cs typeface="Calibri" pitchFamily="34" charset="-120"/>
              </a:rPr>
              <a:t>"예전의 문화는 강한 문화였고, 업데이트된 문화는 큰 </a:t>
            </a:r>
            <a:r>
              <a:rPr lang="en-US" sz="1000" b="1" i="1" dirty="0" err="1" smtClean="0">
                <a:solidFill>
                  <a:srgbClr val="FFFFFF"/>
                </a:solidFill>
                <a:latin typeface="Calibri" pitchFamily="34" charset="0"/>
                <a:ea typeface="Calibri" pitchFamily="34" charset="-122"/>
                <a:cs typeface="Calibri" pitchFamily="34" charset="-120"/>
              </a:rPr>
              <a:t>조직</a:t>
            </a:r>
            <a:r>
              <a:rPr lang="en-US" sz="1000" b="1" i="1" dirty="0" smtClean="0">
                <a:solidFill>
                  <a:srgbClr val="FFFFFF"/>
                </a:solidFill>
                <a:latin typeface="Calibri" pitchFamily="34" charset="0"/>
                <a:ea typeface="Calibri" pitchFamily="34" charset="-122"/>
                <a:cs typeface="Calibri" pitchFamily="34" charset="-120"/>
              </a:rPr>
              <a:t> </a:t>
            </a:r>
            <a:r>
              <a:rPr lang="ko-KR" altLang="en-US" sz="1000" b="1" i="1" dirty="0" smtClean="0">
                <a:solidFill>
                  <a:srgbClr val="FFFFFF"/>
                </a:solidFill>
                <a:latin typeface="Calibri" pitchFamily="34" charset="0"/>
                <a:ea typeface="Calibri" pitchFamily="34" charset="-122"/>
                <a:cs typeface="Calibri" pitchFamily="34" charset="-120"/>
              </a:rPr>
              <a:t>새로운 </a:t>
            </a:r>
            <a:r>
              <a:rPr lang="ko-KR" altLang="en-US" sz="1000" b="1" i="1" dirty="0" err="1" smtClean="0">
                <a:solidFill>
                  <a:srgbClr val="FFFFFF"/>
                </a:solidFill>
                <a:latin typeface="Calibri" pitchFamily="34" charset="0"/>
                <a:ea typeface="Calibri" pitchFamily="34" charset="-122"/>
                <a:cs typeface="Calibri" pitchFamily="34" charset="-120"/>
              </a:rPr>
              <a:t>환경애서도</a:t>
            </a:r>
            <a:r>
              <a:rPr lang="ko-KR" altLang="en-US" sz="1000" b="1" i="1" dirty="0" smtClean="0">
                <a:solidFill>
                  <a:srgbClr val="FFFFFF"/>
                </a:solidFill>
                <a:latin typeface="Calibri" pitchFamily="34" charset="0"/>
                <a:ea typeface="Calibri" pitchFamily="34" charset="-122"/>
                <a:cs typeface="Calibri" pitchFamily="34" charset="-120"/>
              </a:rPr>
              <a:t> </a:t>
            </a:r>
            <a:r>
              <a:rPr lang="en-US" sz="1000" b="1" i="1" dirty="0" err="1" smtClean="0">
                <a:solidFill>
                  <a:srgbClr val="FFFFFF"/>
                </a:solidFill>
                <a:latin typeface="Calibri" pitchFamily="34" charset="0"/>
                <a:ea typeface="Calibri" pitchFamily="34" charset="-122"/>
                <a:cs typeface="Calibri" pitchFamily="34" charset="-120"/>
              </a:rPr>
              <a:t>작동하는</a:t>
            </a:r>
            <a:r>
              <a:rPr lang="en-US" sz="1000" b="1" i="1" dirty="0" smtClean="0">
                <a:solidFill>
                  <a:srgbClr val="FFFFFF"/>
                </a:solidFill>
                <a:latin typeface="Calibri" pitchFamily="34" charset="0"/>
                <a:ea typeface="Calibri" pitchFamily="34" charset="-122"/>
                <a:cs typeface="Calibri" pitchFamily="34" charset="-120"/>
              </a:rPr>
              <a:t> </a:t>
            </a:r>
            <a:r>
              <a:rPr lang="en-US" sz="1000" b="1" i="1" dirty="0">
                <a:solidFill>
                  <a:srgbClr val="FFFFFF"/>
                </a:solidFill>
                <a:latin typeface="Calibri" pitchFamily="34" charset="0"/>
                <a:ea typeface="Calibri" pitchFamily="34" charset="-122"/>
                <a:cs typeface="Calibri" pitchFamily="34" charset="-120"/>
              </a:rPr>
              <a:t>강한 문화가 된 것"</a:t>
            </a:r>
            <a:endParaRPr lang="en-US" sz="1000" dirty="0"/>
          </a:p>
        </p:txBody>
      </p:sp>
    </p:spTree>
    <p:extLst>
      <p:ext uri="{BB962C8B-B14F-4D97-AF65-F5344CB8AC3E}">
        <p14:creationId xmlns:p14="http://schemas.microsoft.com/office/powerpoint/2010/main" val="30847371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방향 재정립 + Scale 해결 + 전략 실행 뒷받침 — 문화 </a:t>
            </a:r>
            <a:r>
              <a:rPr lang="en-US" sz="1300" b="1" dirty="0" err="1">
                <a:solidFill>
                  <a:srgbClr val="FFFFFF"/>
                </a:solidFill>
                <a:latin typeface="Calibri" pitchFamily="34" charset="0"/>
                <a:ea typeface="Calibri" pitchFamily="34" charset="-122"/>
                <a:cs typeface="Calibri" pitchFamily="34" charset="-120"/>
              </a:rPr>
              <a:t>업데이트가</a:t>
            </a:r>
            <a:r>
              <a:rPr lang="en-US" sz="1300" b="1" dirty="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턴어라운드</a:t>
            </a:r>
            <a:r>
              <a:rPr lang="en-US" sz="1300" b="1" dirty="0" smtClean="0">
                <a:solidFill>
                  <a:srgbClr val="FFFFFF"/>
                </a:solidFill>
                <a:latin typeface="Calibri" pitchFamily="34" charset="0"/>
                <a:ea typeface="Calibri" pitchFamily="34" charset="-122"/>
                <a:cs typeface="Calibri" pitchFamily="34" charset="-120"/>
              </a:rPr>
              <a:t> </a:t>
            </a:r>
            <a:r>
              <a:rPr lang="ko-KR" altLang="en-US" sz="1300" b="1" dirty="0" smtClean="0">
                <a:solidFill>
                  <a:srgbClr val="FFFFFF"/>
                </a:solidFill>
                <a:latin typeface="Calibri" pitchFamily="34" charset="0"/>
                <a:ea typeface="Calibri" pitchFamily="34" charset="-122"/>
                <a:cs typeface="Calibri" pitchFamily="34" charset="-120"/>
              </a:rPr>
              <a:t>핵심</a:t>
            </a:r>
            <a:endParaRPr lang="en-US" sz="13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lgn="l">
              <a:buNone/>
            </a:pPr>
            <a:r>
              <a:rPr lang="en-US" sz="1800" b="1" dirty="0">
                <a:latin typeface="Arial Black" pitchFamily="34" charset="0"/>
                <a:ea typeface="Arial Black" pitchFamily="34" charset="-122"/>
                <a:cs typeface="Arial Black" pitchFamily="34" charset="-120"/>
              </a:rPr>
              <a:t>문화 업데이트가 턴어라운드를 뒷받침한 3가지 메커니즘</a:t>
            </a:r>
            <a:endParaRPr lang="en-US" sz="1800" dirty="0"/>
          </a:p>
        </p:txBody>
      </p:sp>
      <p:sp>
        <p:nvSpPr>
          <p:cNvPr id="5" name="Shape 3"/>
          <p:cNvSpPr/>
          <p:nvPr/>
        </p:nvSpPr>
        <p:spPr>
          <a:xfrm>
            <a:off x="274320" y="1261872"/>
            <a:ext cx="566928" cy="1005840"/>
          </a:xfrm>
          <a:prstGeom prst="rect">
            <a:avLst/>
          </a:prstGeom>
          <a:solidFill>
            <a:srgbClr val="E50914"/>
          </a:solidFill>
          <a:ln w="12700">
            <a:solidFill>
              <a:srgbClr val="E50914"/>
            </a:solidFill>
            <a:prstDash val="solid"/>
          </a:ln>
        </p:spPr>
      </p:sp>
      <p:sp>
        <p:nvSpPr>
          <p:cNvPr id="6" name="Text 4"/>
          <p:cNvSpPr/>
          <p:nvPr/>
        </p:nvSpPr>
        <p:spPr>
          <a:xfrm>
            <a:off x="274320" y="1261872"/>
            <a:ext cx="566928" cy="10058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7" name="Shape 5"/>
          <p:cNvSpPr/>
          <p:nvPr/>
        </p:nvSpPr>
        <p:spPr>
          <a:xfrm>
            <a:off x="859536" y="1261872"/>
            <a:ext cx="8010144" cy="1005840"/>
          </a:xfrm>
          <a:prstGeom prst="rect">
            <a:avLst/>
          </a:prstGeom>
          <a:solidFill>
            <a:srgbClr val="2A2A2A"/>
          </a:solidFill>
          <a:ln w="12700">
            <a:solidFill>
              <a:srgbClr val="333333"/>
            </a:solidFill>
            <a:prstDash val="solid"/>
          </a:ln>
        </p:spPr>
      </p:sp>
      <p:sp>
        <p:nvSpPr>
          <p:cNvPr id="8" name="Text 6"/>
          <p:cNvSpPr/>
          <p:nvPr/>
        </p:nvSpPr>
        <p:spPr>
          <a:xfrm>
            <a:off x="969264" y="1316736"/>
            <a:ext cx="7772400" cy="301752"/>
          </a:xfrm>
          <a:prstGeom prst="rect">
            <a:avLst/>
          </a:prstGeom>
          <a:noFill/>
          <a:ln/>
        </p:spPr>
        <p:txBody>
          <a:bodyPr wrap="square" lIns="0" tIns="0" rIns="0" bIns="0" rtlCol="0" anchor="ctr"/>
          <a:lstStyle/>
          <a:p>
            <a:pPr marL="0" indent="0" algn="l">
              <a:buNone/>
            </a:pPr>
            <a:r>
              <a:rPr lang="en-US" sz="1200" dirty="0">
                <a:solidFill>
                  <a:srgbClr val="FFFFFF"/>
                </a:solidFill>
                <a:latin typeface="Arial" pitchFamily="34" charset="0"/>
                <a:ea typeface="Arial" pitchFamily="34" charset="-122"/>
                <a:cs typeface="Arial" pitchFamily="34" charset="-120"/>
              </a:rPr>
              <a:t>문화의 방향을 다시 선명하게</a:t>
            </a:r>
            <a:endParaRPr lang="en-US" sz="1200" dirty="0"/>
          </a:p>
        </p:txBody>
      </p:sp>
      <p:sp>
        <p:nvSpPr>
          <p:cNvPr id="9" name="Text 7"/>
          <p:cNvSpPr/>
          <p:nvPr/>
        </p:nvSpPr>
        <p:spPr>
          <a:xfrm>
            <a:off x="969264" y="1609344"/>
            <a:ext cx="5029200" cy="411480"/>
          </a:xfrm>
          <a:prstGeom prst="rect">
            <a:avLst/>
          </a:prstGeom>
          <a:noFill/>
          <a:ln/>
        </p:spPr>
        <p:txBody>
          <a:bodyPr wrap="square" lIns="0" tIns="0" rIns="0" bIns="0" rtlCol="0" anchor="t"/>
          <a:lstStyle/>
          <a:p>
            <a:pPr marL="0" indent="0" algn="l">
              <a:buNone/>
            </a:pPr>
            <a:r>
              <a:rPr lang="en-US" sz="950" dirty="0">
                <a:solidFill>
                  <a:srgbClr val="BBBBBB"/>
                </a:solidFill>
                <a:latin typeface="Calibri" pitchFamily="34" charset="0"/>
                <a:ea typeface="Calibri" pitchFamily="34" charset="-122"/>
                <a:cs typeface="Calibri" pitchFamily="34" charset="-120"/>
              </a:rPr>
              <a:t>위기 </a:t>
            </a:r>
            <a:r>
              <a:rPr lang="en-US" sz="950" dirty="0" err="1">
                <a:solidFill>
                  <a:srgbClr val="BBBBBB"/>
                </a:solidFill>
                <a:latin typeface="Calibri" pitchFamily="34" charset="0"/>
                <a:ea typeface="Calibri" pitchFamily="34" charset="-122"/>
                <a:cs typeface="Calibri" pitchFamily="34" charset="-120"/>
              </a:rPr>
              <a:t>이후</a:t>
            </a:r>
            <a:r>
              <a:rPr lang="en-US" sz="950" dirty="0">
                <a:solidFill>
                  <a:srgbClr val="BBBBBB"/>
                </a:solidFill>
                <a:latin typeface="Calibri" pitchFamily="34" charset="0"/>
                <a:ea typeface="Calibri" pitchFamily="34" charset="-122"/>
                <a:cs typeface="Calibri" pitchFamily="34" charset="-120"/>
              </a:rPr>
              <a:t> </a:t>
            </a:r>
            <a:r>
              <a:rPr lang="en-US" sz="950" dirty="0" err="1" smtClean="0">
                <a:solidFill>
                  <a:srgbClr val="BBBBBB"/>
                </a:solidFill>
                <a:latin typeface="Calibri" pitchFamily="34" charset="0"/>
                <a:ea typeface="Calibri" pitchFamily="34" charset="-122"/>
                <a:cs typeface="Calibri" pitchFamily="34" charset="-120"/>
              </a:rPr>
              <a:t>조직</a:t>
            </a:r>
            <a:r>
              <a:rPr lang="ko-KR" altLang="en-US" sz="950" dirty="0" smtClean="0">
                <a:solidFill>
                  <a:srgbClr val="BBBBBB"/>
                </a:solidFill>
                <a:latin typeface="Calibri" pitchFamily="34" charset="0"/>
                <a:ea typeface="Calibri" pitchFamily="34" charset="-122"/>
                <a:cs typeface="Calibri" pitchFamily="34" charset="-120"/>
              </a:rPr>
              <a:t>의</a:t>
            </a:r>
            <a:r>
              <a:rPr lang="en-US" sz="950" dirty="0" smtClean="0">
                <a:solidFill>
                  <a:srgbClr val="BBBBBB"/>
                </a:solidFill>
                <a:latin typeface="Calibri" pitchFamily="34" charset="0"/>
                <a:ea typeface="Calibri" pitchFamily="34" charset="-122"/>
                <a:cs typeface="Calibri" pitchFamily="34" charset="-120"/>
              </a:rPr>
              <a:t> </a:t>
            </a:r>
            <a:r>
              <a:rPr lang="en-US" sz="950" dirty="0">
                <a:solidFill>
                  <a:srgbClr val="BBBBBB"/>
                </a:solidFill>
                <a:latin typeface="Calibri" pitchFamily="34" charset="0"/>
                <a:ea typeface="Calibri" pitchFamily="34" charset="-122"/>
                <a:cs typeface="Calibri" pitchFamily="34" charset="-120"/>
              </a:rPr>
              <a:t>자유는 유지하되 더 높은 책임감과 실행 규율로 움직이게 하는 효과. </a:t>
            </a:r>
            <a:endParaRPr lang="en-US" sz="950" dirty="0" smtClean="0">
              <a:solidFill>
                <a:srgbClr val="BBBBBB"/>
              </a:solidFill>
              <a:latin typeface="Calibri" pitchFamily="34" charset="0"/>
              <a:ea typeface="Calibri" pitchFamily="34" charset="-122"/>
              <a:cs typeface="Calibri" pitchFamily="34" charset="-120"/>
            </a:endParaRPr>
          </a:p>
          <a:p>
            <a:pPr marL="0" indent="0" algn="l">
              <a:buNone/>
            </a:pPr>
            <a:r>
              <a:rPr lang="en-US" sz="950" dirty="0" err="1" smtClean="0">
                <a:solidFill>
                  <a:srgbClr val="BBBBBB"/>
                </a:solidFill>
                <a:latin typeface="Calibri" pitchFamily="34" charset="0"/>
                <a:ea typeface="Calibri" pitchFamily="34" charset="-122"/>
                <a:cs typeface="Calibri" pitchFamily="34" charset="-120"/>
              </a:rPr>
              <a:t>책임과</a:t>
            </a:r>
            <a:r>
              <a:rPr lang="en-US" sz="950" dirty="0" smtClean="0">
                <a:solidFill>
                  <a:srgbClr val="BBBBBB"/>
                </a:solidFill>
                <a:latin typeface="Calibri" pitchFamily="34" charset="0"/>
                <a:ea typeface="Calibri" pitchFamily="34" charset="-122"/>
                <a:cs typeface="Calibri" pitchFamily="34" charset="-120"/>
              </a:rPr>
              <a:t> </a:t>
            </a:r>
            <a:r>
              <a:rPr lang="en-US" sz="950" dirty="0">
                <a:solidFill>
                  <a:srgbClr val="BBBBBB"/>
                </a:solidFill>
                <a:latin typeface="Calibri" pitchFamily="34" charset="0"/>
                <a:ea typeface="Calibri" pitchFamily="34" charset="-122"/>
                <a:cs typeface="Calibri" pitchFamily="34" charset="-120"/>
              </a:rPr>
              <a:t>좋은 프로세스를 다시 꺼내 든 것이 핵심.</a:t>
            </a:r>
            <a:endParaRPr lang="en-US" sz="950" dirty="0"/>
          </a:p>
        </p:txBody>
      </p:sp>
      <p:sp>
        <p:nvSpPr>
          <p:cNvPr id="10" name="Shape 8"/>
          <p:cNvSpPr/>
          <p:nvPr/>
        </p:nvSpPr>
        <p:spPr>
          <a:xfrm>
            <a:off x="6126480" y="1536192"/>
            <a:ext cx="2578608" cy="457200"/>
          </a:xfrm>
          <a:prstGeom prst="rect">
            <a:avLst/>
          </a:prstGeom>
          <a:solidFill>
            <a:srgbClr val="E50914"/>
          </a:solidFill>
          <a:ln w="12700">
            <a:solidFill>
              <a:srgbClr val="E50914"/>
            </a:solidFill>
            <a:prstDash val="solid"/>
          </a:ln>
        </p:spPr>
      </p:sp>
      <p:sp>
        <p:nvSpPr>
          <p:cNvPr id="11" name="Text 9"/>
          <p:cNvSpPr/>
          <p:nvPr/>
        </p:nvSpPr>
        <p:spPr>
          <a:xfrm>
            <a:off x="6126480" y="1536192"/>
            <a:ext cx="2578608" cy="457200"/>
          </a:xfrm>
          <a:prstGeom prst="rect">
            <a:avLst/>
          </a:prstGeom>
          <a:noFill/>
          <a:ln/>
        </p:spPr>
        <p:txBody>
          <a:bodyPr wrap="square" lIns="76200" tIns="76200" rIns="76200" bIns="7620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자유 유지 + 책임 강화 = 빠른 실행 규율 회복</a:t>
            </a:r>
            <a:endParaRPr lang="en-US" sz="850" dirty="0"/>
          </a:p>
        </p:txBody>
      </p:sp>
      <p:sp>
        <p:nvSpPr>
          <p:cNvPr id="12" name="Shape 10"/>
          <p:cNvSpPr/>
          <p:nvPr/>
        </p:nvSpPr>
        <p:spPr>
          <a:xfrm>
            <a:off x="274320" y="2468880"/>
            <a:ext cx="566928" cy="1005840"/>
          </a:xfrm>
          <a:prstGeom prst="rect">
            <a:avLst/>
          </a:prstGeom>
          <a:solidFill>
            <a:srgbClr val="E50914"/>
          </a:solidFill>
          <a:ln w="12700">
            <a:solidFill>
              <a:srgbClr val="E50914"/>
            </a:solidFill>
            <a:prstDash val="solid"/>
          </a:ln>
        </p:spPr>
      </p:sp>
      <p:sp>
        <p:nvSpPr>
          <p:cNvPr id="13" name="Text 11"/>
          <p:cNvSpPr/>
          <p:nvPr/>
        </p:nvSpPr>
        <p:spPr>
          <a:xfrm>
            <a:off x="274320" y="2468880"/>
            <a:ext cx="566928" cy="10058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14" name="Shape 12"/>
          <p:cNvSpPr/>
          <p:nvPr/>
        </p:nvSpPr>
        <p:spPr>
          <a:xfrm>
            <a:off x="859536" y="2468880"/>
            <a:ext cx="8010144" cy="1005840"/>
          </a:xfrm>
          <a:prstGeom prst="rect">
            <a:avLst/>
          </a:prstGeom>
          <a:solidFill>
            <a:srgbClr val="2A2A2A"/>
          </a:solidFill>
          <a:ln w="12700">
            <a:solidFill>
              <a:srgbClr val="333333"/>
            </a:solidFill>
            <a:prstDash val="solid"/>
          </a:ln>
        </p:spPr>
      </p:sp>
      <p:sp>
        <p:nvSpPr>
          <p:cNvPr id="15" name="Text 13"/>
          <p:cNvSpPr/>
          <p:nvPr/>
        </p:nvSpPr>
        <p:spPr>
          <a:xfrm>
            <a:off x="969264" y="2523744"/>
            <a:ext cx="7772400" cy="301752"/>
          </a:xfrm>
          <a:prstGeom prst="rect">
            <a:avLst/>
          </a:prstGeom>
          <a:noFill/>
          <a:ln/>
        </p:spPr>
        <p:txBody>
          <a:bodyPr wrap="square" lIns="0" tIns="0" rIns="0" bIns="0" rtlCol="0" anchor="ctr"/>
          <a:lstStyle/>
          <a:p>
            <a:pPr marL="0" indent="0" algn="l">
              <a:buNone/>
            </a:pPr>
            <a:r>
              <a:rPr lang="en-US" sz="1200" dirty="0">
                <a:solidFill>
                  <a:srgbClr val="FFFFFF"/>
                </a:solidFill>
                <a:latin typeface="Arial" pitchFamily="34" charset="0"/>
                <a:ea typeface="Arial" pitchFamily="34" charset="-122"/>
                <a:cs typeface="Arial" pitchFamily="34" charset="-120"/>
              </a:rPr>
              <a:t>Scale 상황에서 문화 해석 차이를 줄임</a:t>
            </a:r>
            <a:endParaRPr lang="en-US" sz="1200" dirty="0"/>
          </a:p>
        </p:txBody>
      </p:sp>
      <p:sp>
        <p:nvSpPr>
          <p:cNvPr id="16" name="Text 14"/>
          <p:cNvSpPr/>
          <p:nvPr/>
        </p:nvSpPr>
        <p:spPr>
          <a:xfrm>
            <a:off x="969264" y="2816352"/>
            <a:ext cx="5029200" cy="411480"/>
          </a:xfrm>
          <a:prstGeom prst="rect">
            <a:avLst/>
          </a:prstGeom>
          <a:noFill/>
          <a:ln/>
        </p:spPr>
        <p:txBody>
          <a:bodyPr wrap="square" lIns="0" tIns="0" rIns="0" bIns="0" rtlCol="0" anchor="t"/>
          <a:lstStyle/>
          <a:p>
            <a:pPr marL="0" indent="0" algn="l">
              <a:buNone/>
            </a:pPr>
            <a:r>
              <a:rPr lang="en-US" sz="950" dirty="0">
                <a:solidFill>
                  <a:srgbClr val="BBBBBB"/>
                </a:solidFill>
                <a:latin typeface="Calibri" pitchFamily="34" charset="0"/>
                <a:ea typeface="Calibri" pitchFamily="34" charset="-122"/>
                <a:cs typeface="Calibri" pitchFamily="34" charset="-120"/>
              </a:rPr>
              <a:t>13,000명+ 글로벌 조직에서는 암묵적으로 통하던 문화가 다르게 해석될 수 있음. </a:t>
            </a:r>
            <a:endParaRPr lang="en-US" sz="950" dirty="0" smtClean="0">
              <a:solidFill>
                <a:srgbClr val="BBBBBB"/>
              </a:solidFill>
              <a:latin typeface="Calibri" pitchFamily="34" charset="0"/>
              <a:ea typeface="Calibri" pitchFamily="34" charset="-122"/>
              <a:cs typeface="Calibri" pitchFamily="34" charset="-120"/>
            </a:endParaRPr>
          </a:p>
          <a:p>
            <a:pPr marL="0" indent="0" algn="l">
              <a:buNone/>
            </a:pPr>
            <a:r>
              <a:rPr lang="en-US" sz="950" dirty="0" err="1" smtClean="0">
                <a:solidFill>
                  <a:srgbClr val="BBBBBB"/>
                </a:solidFill>
                <a:latin typeface="Calibri" pitchFamily="34" charset="0"/>
                <a:ea typeface="Calibri" pitchFamily="34" charset="-122"/>
                <a:cs typeface="Calibri" pitchFamily="34" charset="-120"/>
              </a:rPr>
              <a:t>메모</a:t>
            </a:r>
            <a:r>
              <a:rPr lang="en-US" sz="950" dirty="0" smtClean="0">
                <a:solidFill>
                  <a:srgbClr val="BBBBBB"/>
                </a:solidFill>
                <a:latin typeface="Calibri" pitchFamily="34" charset="0"/>
                <a:ea typeface="Calibri" pitchFamily="34" charset="-122"/>
                <a:cs typeface="Calibri" pitchFamily="34" charset="-120"/>
              </a:rPr>
              <a:t> </a:t>
            </a:r>
            <a:r>
              <a:rPr lang="en-US" sz="950" dirty="0">
                <a:solidFill>
                  <a:srgbClr val="BBBBBB"/>
                </a:solidFill>
                <a:latin typeface="Calibri" pitchFamily="34" charset="0"/>
                <a:ea typeface="Calibri" pitchFamily="34" charset="-122"/>
                <a:cs typeface="Calibri" pitchFamily="34" charset="-120"/>
              </a:rPr>
              <a:t>업데이트가 그 차이를 줄여 일관된 실행을 가능하게 했음.</a:t>
            </a:r>
            <a:endParaRPr lang="en-US" sz="950" dirty="0"/>
          </a:p>
        </p:txBody>
      </p:sp>
      <p:sp>
        <p:nvSpPr>
          <p:cNvPr id="17" name="Shape 15"/>
          <p:cNvSpPr/>
          <p:nvPr/>
        </p:nvSpPr>
        <p:spPr>
          <a:xfrm>
            <a:off x="6126480" y="2743200"/>
            <a:ext cx="2578608" cy="457200"/>
          </a:xfrm>
          <a:prstGeom prst="rect">
            <a:avLst/>
          </a:prstGeom>
          <a:solidFill>
            <a:srgbClr val="E50914"/>
          </a:solidFill>
          <a:ln w="12700">
            <a:solidFill>
              <a:srgbClr val="E50914"/>
            </a:solidFill>
            <a:prstDash val="solid"/>
          </a:ln>
        </p:spPr>
      </p:sp>
      <p:sp>
        <p:nvSpPr>
          <p:cNvPr id="18" name="Text 16"/>
          <p:cNvSpPr/>
          <p:nvPr/>
        </p:nvSpPr>
        <p:spPr>
          <a:xfrm>
            <a:off x="6126480" y="2743200"/>
            <a:ext cx="2578608" cy="457200"/>
          </a:xfrm>
          <a:prstGeom prst="rect">
            <a:avLst/>
          </a:prstGeom>
          <a:noFill/>
          <a:ln/>
        </p:spPr>
        <p:txBody>
          <a:bodyPr wrap="square" lIns="76200" tIns="76200" rIns="76200" bIns="7620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문화 해석의 일관성 → 글로벌 실행 속도 향상</a:t>
            </a:r>
            <a:endParaRPr lang="en-US" sz="850" dirty="0"/>
          </a:p>
        </p:txBody>
      </p:sp>
      <p:sp>
        <p:nvSpPr>
          <p:cNvPr id="19" name="Shape 17"/>
          <p:cNvSpPr/>
          <p:nvPr/>
        </p:nvSpPr>
        <p:spPr>
          <a:xfrm>
            <a:off x="274320" y="3675888"/>
            <a:ext cx="566928" cy="1005840"/>
          </a:xfrm>
          <a:prstGeom prst="rect">
            <a:avLst/>
          </a:prstGeom>
          <a:solidFill>
            <a:srgbClr val="E50914"/>
          </a:solidFill>
          <a:ln w="12700">
            <a:solidFill>
              <a:srgbClr val="E50914"/>
            </a:solidFill>
            <a:prstDash val="solid"/>
          </a:ln>
        </p:spPr>
      </p:sp>
      <p:sp>
        <p:nvSpPr>
          <p:cNvPr id="20" name="Text 18"/>
          <p:cNvSpPr/>
          <p:nvPr/>
        </p:nvSpPr>
        <p:spPr>
          <a:xfrm>
            <a:off x="274320" y="3675888"/>
            <a:ext cx="566928" cy="10058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1" name="Shape 19"/>
          <p:cNvSpPr/>
          <p:nvPr/>
        </p:nvSpPr>
        <p:spPr>
          <a:xfrm>
            <a:off x="859536" y="3675888"/>
            <a:ext cx="8010144" cy="1005840"/>
          </a:xfrm>
          <a:prstGeom prst="rect">
            <a:avLst/>
          </a:prstGeom>
          <a:solidFill>
            <a:srgbClr val="2A2A2A"/>
          </a:solidFill>
          <a:ln w="12700">
            <a:solidFill>
              <a:srgbClr val="333333"/>
            </a:solidFill>
            <a:prstDash val="solid"/>
          </a:ln>
        </p:spPr>
      </p:sp>
      <p:sp>
        <p:nvSpPr>
          <p:cNvPr id="22" name="Text 20"/>
          <p:cNvSpPr/>
          <p:nvPr/>
        </p:nvSpPr>
        <p:spPr>
          <a:xfrm>
            <a:off x="969264" y="3730752"/>
            <a:ext cx="7772400" cy="301752"/>
          </a:xfrm>
          <a:prstGeom prst="rect">
            <a:avLst/>
          </a:prstGeom>
          <a:noFill/>
          <a:ln/>
        </p:spPr>
        <p:txBody>
          <a:bodyPr wrap="square" lIns="0" tIns="0" rIns="0" bIns="0" rtlCol="0" anchor="ctr"/>
          <a:lstStyle/>
          <a:p>
            <a:pPr marL="0" indent="0" algn="l">
              <a:buNone/>
            </a:pPr>
            <a:r>
              <a:rPr lang="en-US" sz="1200" dirty="0">
                <a:solidFill>
                  <a:srgbClr val="FFFFFF"/>
                </a:solidFill>
                <a:latin typeface="Arial" pitchFamily="34" charset="0"/>
                <a:ea typeface="Arial" pitchFamily="34" charset="-122"/>
                <a:cs typeface="Arial" pitchFamily="34" charset="-120"/>
              </a:rPr>
              <a:t>민감한 전략 전환의 HR 기반 제공</a:t>
            </a:r>
            <a:endParaRPr lang="en-US" sz="1200" dirty="0"/>
          </a:p>
        </p:txBody>
      </p:sp>
      <p:sp>
        <p:nvSpPr>
          <p:cNvPr id="23" name="Text 21"/>
          <p:cNvSpPr/>
          <p:nvPr/>
        </p:nvSpPr>
        <p:spPr>
          <a:xfrm>
            <a:off x="969264" y="4023360"/>
            <a:ext cx="5029200" cy="411480"/>
          </a:xfrm>
          <a:prstGeom prst="rect">
            <a:avLst/>
          </a:prstGeom>
          <a:noFill/>
          <a:ln/>
        </p:spPr>
        <p:txBody>
          <a:bodyPr wrap="square" lIns="0" tIns="0" rIns="0" bIns="0" rtlCol="0" anchor="t"/>
          <a:lstStyle/>
          <a:p>
            <a:pPr marL="0" indent="0" algn="l">
              <a:buNone/>
            </a:pPr>
            <a:r>
              <a:rPr lang="en-US" sz="950" dirty="0">
                <a:solidFill>
                  <a:srgbClr val="BBBBBB"/>
                </a:solidFill>
                <a:latin typeface="Calibri" pitchFamily="34" charset="0"/>
                <a:ea typeface="Calibri" pitchFamily="34" charset="-122"/>
                <a:cs typeface="Calibri" pitchFamily="34" charset="-120"/>
              </a:rPr>
              <a:t>광고·유료공유·가격정책 같은 민감한 전환에서 사람들이 어떤 방식으로 </a:t>
            </a:r>
            <a:r>
              <a:rPr lang="en-US" sz="950" dirty="0" err="1">
                <a:solidFill>
                  <a:srgbClr val="BBBBBB"/>
                </a:solidFill>
                <a:latin typeface="Calibri" pitchFamily="34" charset="0"/>
                <a:ea typeface="Calibri" pitchFamily="34" charset="-122"/>
                <a:cs typeface="Calibri" pitchFamily="34" charset="-120"/>
              </a:rPr>
              <a:t>판단하고</a:t>
            </a:r>
            <a:r>
              <a:rPr lang="en-US" sz="950" dirty="0">
                <a:solidFill>
                  <a:srgbClr val="BBBBBB"/>
                </a:solidFill>
                <a:latin typeface="Calibri" pitchFamily="34" charset="0"/>
                <a:ea typeface="Calibri" pitchFamily="34" charset="-122"/>
                <a:cs typeface="Calibri" pitchFamily="34" charset="-120"/>
              </a:rPr>
              <a:t> </a:t>
            </a:r>
            <a:endParaRPr lang="en-US" sz="950" dirty="0" smtClean="0">
              <a:solidFill>
                <a:srgbClr val="BBBBBB"/>
              </a:solidFill>
              <a:latin typeface="Calibri" pitchFamily="34" charset="0"/>
              <a:ea typeface="Calibri" pitchFamily="34" charset="-122"/>
              <a:cs typeface="Calibri" pitchFamily="34" charset="-120"/>
            </a:endParaRPr>
          </a:p>
          <a:p>
            <a:pPr marL="0" indent="0" algn="l">
              <a:buNone/>
            </a:pPr>
            <a:r>
              <a:rPr lang="en-US" sz="950" dirty="0" err="1" smtClean="0">
                <a:solidFill>
                  <a:srgbClr val="BBBBBB"/>
                </a:solidFill>
                <a:latin typeface="Calibri" pitchFamily="34" charset="0"/>
                <a:ea typeface="Calibri" pitchFamily="34" charset="-122"/>
                <a:cs typeface="Calibri" pitchFamily="34" charset="-120"/>
              </a:rPr>
              <a:t>실행해야</a:t>
            </a:r>
            <a:r>
              <a:rPr lang="en-US" sz="950" dirty="0" smtClean="0">
                <a:solidFill>
                  <a:srgbClr val="BBBBBB"/>
                </a:solidFill>
                <a:latin typeface="Calibri" pitchFamily="34" charset="0"/>
                <a:ea typeface="Calibri" pitchFamily="34" charset="-122"/>
                <a:cs typeface="Calibri" pitchFamily="34" charset="-120"/>
              </a:rPr>
              <a:t> </a:t>
            </a:r>
            <a:r>
              <a:rPr lang="en-US" sz="950" dirty="0">
                <a:solidFill>
                  <a:srgbClr val="BBBBBB"/>
                </a:solidFill>
                <a:latin typeface="Calibri" pitchFamily="34" charset="0"/>
                <a:ea typeface="Calibri" pitchFamily="34" charset="-122"/>
                <a:cs typeface="Calibri" pitchFamily="34" charset="-120"/>
              </a:rPr>
              <a:t>하는지를 명확히 함. Culture Memo가 전략 실행의 가이드 역할.</a:t>
            </a:r>
            <a:endParaRPr lang="en-US" sz="950" dirty="0"/>
          </a:p>
        </p:txBody>
      </p:sp>
      <p:sp>
        <p:nvSpPr>
          <p:cNvPr id="24" name="Shape 22"/>
          <p:cNvSpPr/>
          <p:nvPr/>
        </p:nvSpPr>
        <p:spPr>
          <a:xfrm>
            <a:off x="6126480" y="3950208"/>
            <a:ext cx="2578608" cy="457200"/>
          </a:xfrm>
          <a:prstGeom prst="rect">
            <a:avLst/>
          </a:prstGeom>
          <a:solidFill>
            <a:srgbClr val="E50914"/>
          </a:solidFill>
          <a:ln w="12700">
            <a:solidFill>
              <a:srgbClr val="E50914"/>
            </a:solidFill>
            <a:prstDash val="solid"/>
          </a:ln>
        </p:spPr>
      </p:sp>
      <p:sp>
        <p:nvSpPr>
          <p:cNvPr id="25" name="Text 23"/>
          <p:cNvSpPr/>
          <p:nvPr/>
        </p:nvSpPr>
        <p:spPr>
          <a:xfrm>
            <a:off x="6126480" y="3950208"/>
            <a:ext cx="2578608" cy="457200"/>
          </a:xfrm>
          <a:prstGeom prst="rect">
            <a:avLst/>
          </a:prstGeom>
          <a:noFill/>
          <a:ln/>
        </p:spPr>
        <p:txBody>
          <a:bodyPr wrap="square" lIns="76200" tIns="76200" rIns="76200" bIns="7620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People Over Process + Candor → 전략 전환 속도 가속</a:t>
            </a:r>
            <a:endParaRPr lang="en-US" sz="850" dirty="0"/>
          </a:p>
        </p:txBody>
      </p:sp>
      <p:sp>
        <p:nvSpPr>
          <p:cNvPr id="26" name="Shape 24"/>
          <p:cNvSpPr/>
          <p:nvPr/>
        </p:nvSpPr>
        <p:spPr>
          <a:xfrm>
            <a:off x="0" y="4773168"/>
            <a:ext cx="9144000" cy="370332"/>
          </a:xfrm>
          <a:prstGeom prst="rect">
            <a:avLst/>
          </a:prstGeom>
          <a:solidFill>
            <a:srgbClr val="E50914"/>
          </a:solidFill>
          <a:ln w="12700">
            <a:solidFill>
              <a:srgbClr val="E50914"/>
            </a:solidFill>
            <a:prstDash val="solid"/>
          </a:ln>
        </p:spPr>
      </p:sp>
      <p:sp>
        <p:nvSpPr>
          <p:cNvPr id="27" name="Text 25"/>
          <p:cNvSpPr/>
          <p:nvPr/>
        </p:nvSpPr>
        <p:spPr>
          <a:xfrm>
            <a:off x="274320" y="4773168"/>
            <a:ext cx="8595360" cy="370332"/>
          </a:xfrm>
          <a:prstGeom prst="rect">
            <a:avLst/>
          </a:prstGeom>
          <a:noFill/>
          <a:ln/>
        </p:spPr>
        <p:txBody>
          <a:bodyPr wrap="square" lIns="0" tIns="0" rIns="0" bIns="0" rtlCol="0" anchor="ctr"/>
          <a:lstStyle/>
          <a:p>
            <a:pPr marL="0" indent="0" algn="ctr">
              <a:buNone/>
            </a:pPr>
            <a:r>
              <a:rPr lang="en-US" sz="1000" dirty="0" smtClean="0">
                <a:solidFill>
                  <a:srgbClr val="FFFFFF"/>
                </a:solidFill>
                <a:latin typeface="Calibri" pitchFamily="34" charset="0"/>
                <a:ea typeface="Calibri" pitchFamily="34" charset="-122"/>
                <a:cs typeface="Calibri" pitchFamily="34" charset="-120"/>
              </a:rPr>
              <a:t>Culture </a:t>
            </a:r>
            <a:r>
              <a:rPr lang="en-US" sz="1000" dirty="0">
                <a:solidFill>
                  <a:srgbClr val="FFFFFF"/>
                </a:solidFill>
                <a:latin typeface="Calibri" pitchFamily="34" charset="0"/>
                <a:ea typeface="Calibri" pitchFamily="34" charset="-122"/>
                <a:cs typeface="Calibri" pitchFamily="34" charset="-120"/>
              </a:rPr>
              <a:t>Memo 업데이트는 문화 교체가 아니라 문화의 재정렬 — 이 재정렬이 위기 이후 전략 실행의 속도와 일관성을 높여 </a:t>
            </a:r>
            <a:r>
              <a:rPr lang="en-US" sz="1000" dirty="0" err="1">
                <a:solidFill>
                  <a:srgbClr val="FFFFFF"/>
                </a:solidFill>
                <a:latin typeface="Calibri" pitchFamily="34" charset="0"/>
                <a:ea typeface="Calibri" pitchFamily="34" charset="-122"/>
                <a:cs typeface="Calibri" pitchFamily="34" charset="-120"/>
              </a:rPr>
              <a:t>턴어라운드를</a:t>
            </a:r>
            <a:r>
              <a:rPr lang="en-US" sz="1000" dirty="0">
                <a:solidFill>
                  <a:srgbClr val="FFFFFF"/>
                </a:solidFill>
                <a:latin typeface="Calibri" pitchFamily="34" charset="0"/>
                <a:ea typeface="Calibri" pitchFamily="34" charset="-122"/>
                <a:cs typeface="Calibri" pitchFamily="34" charset="-120"/>
              </a:rPr>
              <a:t> </a:t>
            </a:r>
            <a:r>
              <a:rPr lang="en-US" sz="1000" dirty="0" err="1" smtClean="0">
                <a:solidFill>
                  <a:srgbClr val="FFFFFF"/>
                </a:solidFill>
                <a:latin typeface="Calibri" pitchFamily="34" charset="0"/>
                <a:ea typeface="Calibri" pitchFamily="34" charset="-122"/>
                <a:cs typeface="Calibri" pitchFamily="34" charset="-120"/>
              </a:rPr>
              <a:t>뒷받침</a:t>
            </a:r>
            <a:r>
              <a:rPr lang="ko-KR" altLang="en-US" sz="1000" dirty="0" smtClean="0">
                <a:solidFill>
                  <a:srgbClr val="FFFFFF"/>
                </a:solidFill>
                <a:latin typeface="Calibri" pitchFamily="34" charset="0"/>
                <a:ea typeface="Calibri" pitchFamily="34" charset="-122"/>
                <a:cs typeface="Calibri" pitchFamily="34" charset="-120"/>
              </a:rPr>
              <a:t>함</a:t>
            </a:r>
            <a:r>
              <a:rPr lang="en-US" sz="1000" dirty="0" smtClean="0">
                <a:solidFill>
                  <a:srgbClr val="FFFFFF"/>
                </a:solidFill>
                <a:latin typeface="Calibri" pitchFamily="34" charset="0"/>
                <a:ea typeface="Calibri" pitchFamily="34" charset="-122"/>
                <a:cs typeface="Calibri" pitchFamily="34" charset="-120"/>
              </a:rPr>
              <a:t>.</a:t>
            </a:r>
            <a:endParaRPr lang="en-US" sz="1000" dirty="0"/>
          </a:p>
        </p:txBody>
      </p:sp>
    </p:spTree>
    <p:extLst>
      <p:ext uri="{BB962C8B-B14F-4D97-AF65-F5344CB8AC3E}">
        <p14:creationId xmlns:p14="http://schemas.microsoft.com/office/powerpoint/2010/main" val="21597700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Netflix 사례의 핵심은 얼마나 많이 바꿨느냐가 아니라, 무엇을 끝까지 지켜야 하는지 알았다는 점이다</a:t>
            </a:r>
            <a:endParaRPr lang="en-US" sz="13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lgn="l">
              <a:buNone/>
            </a:pPr>
            <a:r>
              <a:rPr lang="en-US" sz="1900" b="1" dirty="0">
                <a:solidFill>
                  <a:srgbClr val="FFFFFF"/>
                </a:solidFill>
                <a:latin typeface="Arial Black" pitchFamily="34" charset="0"/>
                <a:ea typeface="Arial Black" pitchFamily="34" charset="-122"/>
                <a:cs typeface="Arial Black" pitchFamily="34" charset="-120"/>
              </a:rPr>
              <a:t>결론: 핵심을 지키면서 변화할 수 있는 능력</a:t>
            </a:r>
            <a:endParaRPr lang="en-US" sz="1900" dirty="0"/>
          </a:p>
        </p:txBody>
      </p:sp>
      <p:sp>
        <p:nvSpPr>
          <p:cNvPr id="5" name="Shape 3"/>
          <p:cNvSpPr/>
          <p:nvPr/>
        </p:nvSpPr>
        <p:spPr>
          <a:xfrm>
            <a:off x="274320" y="1234440"/>
            <a:ext cx="4023360" cy="329184"/>
          </a:xfrm>
          <a:prstGeom prst="rect">
            <a:avLst/>
          </a:prstGeom>
          <a:solidFill>
            <a:srgbClr val="E50914"/>
          </a:solidFill>
          <a:ln w="12700">
            <a:solidFill>
              <a:srgbClr val="E50914"/>
            </a:solidFill>
            <a:prstDash val="solid"/>
          </a:ln>
        </p:spPr>
      </p:sp>
      <p:sp>
        <p:nvSpPr>
          <p:cNvPr id="6" name="Text 4"/>
          <p:cNvSpPr/>
          <p:nvPr/>
        </p:nvSpPr>
        <p:spPr>
          <a:xfrm>
            <a:off x="274320" y="1234440"/>
            <a:ext cx="40233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유지한 핵심</a:t>
            </a:r>
            <a:endParaRPr lang="en-US" sz="1100" dirty="0"/>
          </a:p>
        </p:txBody>
      </p:sp>
      <p:sp>
        <p:nvSpPr>
          <p:cNvPr id="7" name="Shape 5"/>
          <p:cNvSpPr/>
          <p:nvPr/>
        </p:nvSpPr>
        <p:spPr>
          <a:xfrm>
            <a:off x="274320" y="1591056"/>
            <a:ext cx="4023360" cy="320040"/>
          </a:xfrm>
          <a:prstGeom prst="rect">
            <a:avLst/>
          </a:prstGeom>
          <a:solidFill>
            <a:srgbClr val="2A2A2A"/>
          </a:solidFill>
          <a:ln w="12700">
            <a:solidFill>
              <a:srgbClr val="333333"/>
            </a:solidFill>
            <a:prstDash val="solid"/>
          </a:ln>
        </p:spPr>
      </p:sp>
      <p:sp>
        <p:nvSpPr>
          <p:cNvPr id="8" name="Shape 6"/>
          <p:cNvSpPr/>
          <p:nvPr/>
        </p:nvSpPr>
        <p:spPr>
          <a:xfrm>
            <a:off x="274320" y="1591056"/>
            <a:ext cx="54864" cy="320040"/>
          </a:xfrm>
          <a:prstGeom prst="rect">
            <a:avLst/>
          </a:prstGeom>
          <a:solidFill>
            <a:srgbClr val="44BB44"/>
          </a:solidFill>
          <a:ln w="12700">
            <a:solidFill>
              <a:srgbClr val="44BB44"/>
            </a:solidFill>
            <a:prstDash val="solid"/>
          </a:ln>
        </p:spPr>
      </p:sp>
      <p:sp>
        <p:nvSpPr>
          <p:cNvPr id="9" name="Text 7"/>
          <p:cNvSpPr/>
          <p:nvPr/>
        </p:nvSpPr>
        <p:spPr>
          <a:xfrm>
            <a:off x="402336" y="1591056"/>
            <a:ext cx="3749040" cy="320040"/>
          </a:xfrm>
          <a:prstGeom prst="rect">
            <a:avLst/>
          </a:prstGeom>
          <a:noFill/>
          <a:ln/>
        </p:spPr>
        <p:txBody>
          <a:bodyPr wrap="square" lIns="0" tIns="0" rIns="0" bIns="0"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고성과 인재 밀도 (Talent Density)</a:t>
            </a:r>
            <a:endParaRPr lang="en-US" sz="1000" dirty="0"/>
          </a:p>
        </p:txBody>
      </p:sp>
      <p:sp>
        <p:nvSpPr>
          <p:cNvPr id="10" name="Shape 8"/>
          <p:cNvSpPr/>
          <p:nvPr/>
        </p:nvSpPr>
        <p:spPr>
          <a:xfrm>
            <a:off x="274320" y="1938528"/>
            <a:ext cx="4023360" cy="320040"/>
          </a:xfrm>
          <a:prstGeom prst="rect">
            <a:avLst/>
          </a:prstGeom>
          <a:solidFill>
            <a:srgbClr val="2A2A2A"/>
          </a:solidFill>
          <a:ln w="12700">
            <a:solidFill>
              <a:srgbClr val="333333"/>
            </a:solidFill>
            <a:prstDash val="solid"/>
          </a:ln>
        </p:spPr>
      </p:sp>
      <p:sp>
        <p:nvSpPr>
          <p:cNvPr id="11" name="Shape 9"/>
          <p:cNvSpPr/>
          <p:nvPr/>
        </p:nvSpPr>
        <p:spPr>
          <a:xfrm>
            <a:off x="274320" y="1938528"/>
            <a:ext cx="54864" cy="320040"/>
          </a:xfrm>
          <a:prstGeom prst="rect">
            <a:avLst/>
          </a:prstGeom>
          <a:solidFill>
            <a:srgbClr val="44BB44"/>
          </a:solidFill>
          <a:ln w="12700">
            <a:solidFill>
              <a:srgbClr val="44BB44"/>
            </a:solidFill>
            <a:prstDash val="solid"/>
          </a:ln>
        </p:spPr>
      </p:sp>
      <p:sp>
        <p:nvSpPr>
          <p:cNvPr id="12" name="Text 10"/>
          <p:cNvSpPr/>
          <p:nvPr/>
        </p:nvSpPr>
        <p:spPr>
          <a:xfrm>
            <a:off x="402336" y="1938528"/>
            <a:ext cx="3749040" cy="320040"/>
          </a:xfrm>
          <a:prstGeom prst="rect">
            <a:avLst/>
          </a:prstGeom>
          <a:noFill/>
          <a:ln/>
        </p:spPr>
        <p:txBody>
          <a:bodyPr wrap="square" lIns="0" tIns="0" rIns="0" bIns="0"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솔직한 피드백 (Candor)</a:t>
            </a:r>
            <a:endParaRPr lang="en-US" sz="1000" dirty="0"/>
          </a:p>
        </p:txBody>
      </p:sp>
      <p:sp>
        <p:nvSpPr>
          <p:cNvPr id="13" name="Shape 11"/>
          <p:cNvSpPr/>
          <p:nvPr/>
        </p:nvSpPr>
        <p:spPr>
          <a:xfrm>
            <a:off x="274320" y="2286000"/>
            <a:ext cx="4023360" cy="320040"/>
          </a:xfrm>
          <a:prstGeom prst="rect">
            <a:avLst/>
          </a:prstGeom>
          <a:solidFill>
            <a:srgbClr val="2A2A2A"/>
          </a:solidFill>
          <a:ln w="12700">
            <a:solidFill>
              <a:srgbClr val="333333"/>
            </a:solidFill>
            <a:prstDash val="solid"/>
          </a:ln>
        </p:spPr>
      </p:sp>
      <p:sp>
        <p:nvSpPr>
          <p:cNvPr id="14" name="Shape 12"/>
          <p:cNvSpPr/>
          <p:nvPr/>
        </p:nvSpPr>
        <p:spPr>
          <a:xfrm>
            <a:off x="274320" y="2286000"/>
            <a:ext cx="54864" cy="320040"/>
          </a:xfrm>
          <a:prstGeom prst="rect">
            <a:avLst/>
          </a:prstGeom>
          <a:solidFill>
            <a:srgbClr val="44BB44"/>
          </a:solidFill>
          <a:ln w="12700">
            <a:solidFill>
              <a:srgbClr val="44BB44"/>
            </a:solidFill>
            <a:prstDash val="solid"/>
          </a:ln>
        </p:spPr>
      </p:sp>
      <p:sp>
        <p:nvSpPr>
          <p:cNvPr id="15" name="Text 13"/>
          <p:cNvSpPr/>
          <p:nvPr/>
        </p:nvSpPr>
        <p:spPr>
          <a:xfrm>
            <a:off x="402336" y="2286000"/>
            <a:ext cx="3749040" cy="320040"/>
          </a:xfrm>
          <a:prstGeom prst="rect">
            <a:avLst/>
          </a:prstGeom>
          <a:noFill/>
          <a:ln/>
        </p:spPr>
        <p:txBody>
          <a:bodyPr wrap="square" lIns="0" tIns="0" rIns="0" bIns="0"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자율과 책임 (Freedom &amp; Responsibility)</a:t>
            </a:r>
            <a:endParaRPr lang="en-US" sz="1000" dirty="0"/>
          </a:p>
        </p:txBody>
      </p:sp>
      <p:sp>
        <p:nvSpPr>
          <p:cNvPr id="16" name="Shape 14"/>
          <p:cNvSpPr/>
          <p:nvPr/>
        </p:nvSpPr>
        <p:spPr>
          <a:xfrm>
            <a:off x="4846320" y="1234440"/>
            <a:ext cx="4023360" cy="329184"/>
          </a:xfrm>
          <a:prstGeom prst="rect">
            <a:avLst/>
          </a:prstGeom>
          <a:solidFill>
            <a:srgbClr val="2A2A2A"/>
          </a:solidFill>
          <a:ln w="12700">
            <a:solidFill>
              <a:srgbClr val="2A2A2A"/>
            </a:solidFill>
            <a:prstDash val="solid"/>
          </a:ln>
        </p:spPr>
      </p:sp>
      <p:sp>
        <p:nvSpPr>
          <p:cNvPr id="17" name="Text 15"/>
          <p:cNvSpPr/>
          <p:nvPr/>
        </p:nvSpPr>
        <p:spPr>
          <a:xfrm>
            <a:off x="4846320" y="1234440"/>
            <a:ext cx="40233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조정한 운영 방식</a:t>
            </a:r>
            <a:endParaRPr lang="en-US" sz="1100" dirty="0"/>
          </a:p>
        </p:txBody>
      </p:sp>
      <p:sp>
        <p:nvSpPr>
          <p:cNvPr id="18" name="Shape 16"/>
          <p:cNvSpPr/>
          <p:nvPr/>
        </p:nvSpPr>
        <p:spPr>
          <a:xfrm>
            <a:off x="4846320" y="1591056"/>
            <a:ext cx="4023360" cy="320040"/>
          </a:xfrm>
          <a:prstGeom prst="rect">
            <a:avLst/>
          </a:prstGeom>
          <a:solidFill>
            <a:srgbClr val="2A2A2A"/>
          </a:solidFill>
          <a:ln w="12700">
            <a:solidFill>
              <a:srgbClr val="333333"/>
            </a:solidFill>
            <a:prstDash val="solid"/>
          </a:ln>
        </p:spPr>
      </p:sp>
      <p:sp>
        <p:nvSpPr>
          <p:cNvPr id="19" name="Shape 17"/>
          <p:cNvSpPr/>
          <p:nvPr/>
        </p:nvSpPr>
        <p:spPr>
          <a:xfrm>
            <a:off x="4846320" y="1591056"/>
            <a:ext cx="54864" cy="320040"/>
          </a:xfrm>
          <a:prstGeom prst="rect">
            <a:avLst/>
          </a:prstGeom>
          <a:solidFill>
            <a:srgbClr val="E50914"/>
          </a:solidFill>
          <a:ln w="12700">
            <a:solidFill>
              <a:srgbClr val="E50914"/>
            </a:solidFill>
            <a:prstDash val="solid"/>
          </a:ln>
        </p:spPr>
      </p:sp>
      <p:sp>
        <p:nvSpPr>
          <p:cNvPr id="20" name="Text 18"/>
          <p:cNvSpPr/>
          <p:nvPr/>
        </p:nvSpPr>
        <p:spPr>
          <a:xfrm>
            <a:off x="4974336" y="1591056"/>
            <a:ext cx="3749040" cy="320040"/>
          </a:xfrm>
          <a:prstGeom prst="rect">
            <a:avLst/>
          </a:prstGeom>
          <a:noFill/>
          <a:ln/>
        </p:spPr>
        <p:txBody>
          <a:bodyPr wrap="square" lIns="0" tIns="0" rIns="0" bIns="0" rtlCol="0" anchor="ctr"/>
          <a:lstStyle/>
          <a:p>
            <a:pPr marL="0" indent="0" algn="l">
              <a:buNone/>
            </a:pPr>
            <a:r>
              <a:rPr lang="en-US" sz="1000" dirty="0">
                <a:solidFill>
                  <a:srgbClr val="AAAAAA"/>
                </a:solidFill>
                <a:latin typeface="Calibri" pitchFamily="34" charset="0"/>
                <a:ea typeface="Calibri" pitchFamily="34" charset="-122"/>
                <a:cs typeface="Calibri" pitchFamily="34" charset="-120"/>
              </a:rPr>
              <a:t>메모 구조·문서 방식 간소화</a:t>
            </a:r>
            <a:endParaRPr lang="en-US" sz="1000" dirty="0"/>
          </a:p>
        </p:txBody>
      </p:sp>
      <p:sp>
        <p:nvSpPr>
          <p:cNvPr id="21" name="Shape 19"/>
          <p:cNvSpPr/>
          <p:nvPr/>
        </p:nvSpPr>
        <p:spPr>
          <a:xfrm>
            <a:off x="4846320" y="1938528"/>
            <a:ext cx="4023360" cy="320040"/>
          </a:xfrm>
          <a:prstGeom prst="rect">
            <a:avLst/>
          </a:prstGeom>
          <a:solidFill>
            <a:srgbClr val="2A2A2A"/>
          </a:solidFill>
          <a:ln w="12700">
            <a:solidFill>
              <a:srgbClr val="333333"/>
            </a:solidFill>
            <a:prstDash val="solid"/>
          </a:ln>
        </p:spPr>
      </p:sp>
      <p:sp>
        <p:nvSpPr>
          <p:cNvPr id="22" name="Shape 20"/>
          <p:cNvSpPr/>
          <p:nvPr/>
        </p:nvSpPr>
        <p:spPr>
          <a:xfrm>
            <a:off x="4846320" y="1938528"/>
            <a:ext cx="54864" cy="320040"/>
          </a:xfrm>
          <a:prstGeom prst="rect">
            <a:avLst/>
          </a:prstGeom>
          <a:solidFill>
            <a:srgbClr val="E50914"/>
          </a:solidFill>
          <a:ln w="12700">
            <a:solidFill>
              <a:srgbClr val="E50914"/>
            </a:solidFill>
            <a:prstDash val="solid"/>
          </a:ln>
        </p:spPr>
      </p:sp>
      <p:sp>
        <p:nvSpPr>
          <p:cNvPr id="23" name="Text 21"/>
          <p:cNvSpPr/>
          <p:nvPr/>
        </p:nvSpPr>
        <p:spPr>
          <a:xfrm>
            <a:off x="4974336" y="1938528"/>
            <a:ext cx="3749040" cy="320040"/>
          </a:xfrm>
          <a:prstGeom prst="rect">
            <a:avLst/>
          </a:prstGeom>
          <a:noFill/>
          <a:ln/>
        </p:spPr>
        <p:txBody>
          <a:bodyPr wrap="square" lIns="0" tIns="0" rIns="0" bIns="0" rtlCol="0" anchor="ctr"/>
          <a:lstStyle/>
          <a:p>
            <a:pPr marL="0" indent="0" algn="l">
              <a:buNone/>
            </a:pPr>
            <a:r>
              <a:rPr lang="en-US" sz="1000" dirty="0">
                <a:solidFill>
                  <a:srgbClr val="AAAAAA"/>
                </a:solidFill>
                <a:latin typeface="Calibri" pitchFamily="34" charset="0"/>
                <a:ea typeface="Calibri" pitchFamily="34" charset="-122"/>
                <a:cs typeface="Calibri" pitchFamily="34" charset="-120"/>
              </a:rPr>
              <a:t>Good Process 재도입 (Scale 대응)</a:t>
            </a:r>
            <a:endParaRPr lang="en-US" sz="1000" dirty="0"/>
          </a:p>
        </p:txBody>
      </p:sp>
      <p:sp>
        <p:nvSpPr>
          <p:cNvPr id="24" name="Shape 22"/>
          <p:cNvSpPr/>
          <p:nvPr/>
        </p:nvSpPr>
        <p:spPr>
          <a:xfrm>
            <a:off x="4846320" y="2286000"/>
            <a:ext cx="4023360" cy="320040"/>
          </a:xfrm>
          <a:prstGeom prst="rect">
            <a:avLst/>
          </a:prstGeom>
          <a:solidFill>
            <a:srgbClr val="2A2A2A"/>
          </a:solidFill>
          <a:ln w="12700">
            <a:solidFill>
              <a:srgbClr val="333333"/>
            </a:solidFill>
            <a:prstDash val="solid"/>
          </a:ln>
        </p:spPr>
      </p:sp>
      <p:sp>
        <p:nvSpPr>
          <p:cNvPr id="25" name="Shape 23"/>
          <p:cNvSpPr/>
          <p:nvPr/>
        </p:nvSpPr>
        <p:spPr>
          <a:xfrm>
            <a:off x="4846320" y="2286000"/>
            <a:ext cx="54864" cy="320040"/>
          </a:xfrm>
          <a:prstGeom prst="rect">
            <a:avLst/>
          </a:prstGeom>
          <a:solidFill>
            <a:srgbClr val="E50914"/>
          </a:solidFill>
          <a:ln w="12700">
            <a:solidFill>
              <a:srgbClr val="E50914"/>
            </a:solidFill>
            <a:prstDash val="solid"/>
          </a:ln>
        </p:spPr>
      </p:sp>
      <p:sp>
        <p:nvSpPr>
          <p:cNvPr id="26" name="Text 24"/>
          <p:cNvSpPr/>
          <p:nvPr/>
        </p:nvSpPr>
        <p:spPr>
          <a:xfrm>
            <a:off x="4974336" y="2286000"/>
            <a:ext cx="3749040" cy="320040"/>
          </a:xfrm>
          <a:prstGeom prst="rect">
            <a:avLst/>
          </a:prstGeom>
          <a:noFill/>
          <a:ln/>
        </p:spPr>
        <p:txBody>
          <a:bodyPr wrap="square" lIns="0" tIns="0" rIns="0" bIns="0" rtlCol="0" anchor="ctr"/>
          <a:lstStyle/>
          <a:p>
            <a:pPr marL="0" indent="0" algn="l">
              <a:buNone/>
            </a:pPr>
            <a:r>
              <a:rPr lang="en-US" sz="1000" dirty="0">
                <a:solidFill>
                  <a:srgbClr val="AAAAAA"/>
                </a:solidFill>
                <a:latin typeface="Calibri" pitchFamily="34" charset="0"/>
                <a:ea typeface="Calibri" pitchFamily="34" charset="-122"/>
                <a:cs typeface="Calibri" pitchFamily="34" charset="-120"/>
              </a:rPr>
              <a:t>글로벌 확장 맞춤 4대 원칙 재구성</a:t>
            </a:r>
            <a:endParaRPr lang="en-US" sz="1000" dirty="0"/>
          </a:p>
        </p:txBody>
      </p:sp>
      <p:sp>
        <p:nvSpPr>
          <p:cNvPr id="27" name="Text 25"/>
          <p:cNvSpPr/>
          <p:nvPr/>
        </p:nvSpPr>
        <p:spPr>
          <a:xfrm>
            <a:off x="4315968" y="1591056"/>
            <a:ext cx="512064" cy="1042416"/>
          </a:xfrm>
          <a:prstGeom prst="rect">
            <a:avLst/>
          </a:prstGeom>
          <a:noFill/>
          <a:ln/>
        </p:spPr>
        <p:txBody>
          <a:bodyPr wrap="square" lIns="0" tIns="0" rIns="0" bIns="0" rtlCol="0" anchor="ctr"/>
          <a:lstStyle/>
          <a:p>
            <a:pPr marL="0" indent="0" algn="ctr">
              <a:buNone/>
            </a:pPr>
            <a:r>
              <a:rPr lang="en-US" sz="1600" b="1" dirty="0">
                <a:solidFill>
                  <a:srgbClr val="E50914"/>
                </a:solidFill>
                <a:latin typeface="Arial Black" pitchFamily="34" charset="0"/>
                <a:ea typeface="Arial Black" pitchFamily="34" charset="-122"/>
                <a:cs typeface="Arial Black" pitchFamily="34" charset="-120"/>
              </a:rPr>
              <a:t>vs</a:t>
            </a:r>
            <a:endParaRPr lang="en-US" sz="1600" dirty="0"/>
          </a:p>
        </p:txBody>
      </p:sp>
      <p:sp>
        <p:nvSpPr>
          <p:cNvPr id="28" name="Shape 26"/>
          <p:cNvSpPr/>
          <p:nvPr/>
        </p:nvSpPr>
        <p:spPr>
          <a:xfrm>
            <a:off x="274320" y="2788920"/>
            <a:ext cx="8595360" cy="292608"/>
          </a:xfrm>
          <a:prstGeom prst="rect">
            <a:avLst/>
          </a:prstGeom>
          <a:solidFill>
            <a:srgbClr val="E50914"/>
          </a:solidFill>
          <a:ln w="12700">
            <a:solidFill>
              <a:srgbClr val="E50914"/>
            </a:solidFill>
            <a:prstDash val="solid"/>
          </a:ln>
        </p:spPr>
      </p:sp>
      <p:sp>
        <p:nvSpPr>
          <p:cNvPr id="29" name="Text 27"/>
          <p:cNvSpPr/>
          <p:nvPr/>
        </p:nvSpPr>
        <p:spPr>
          <a:xfrm>
            <a:off x="274320" y="2788920"/>
            <a:ext cx="85953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핵심 인사이트</a:t>
            </a:r>
            <a:endParaRPr lang="en-US" sz="1000" dirty="0"/>
          </a:p>
        </p:txBody>
      </p:sp>
      <p:sp>
        <p:nvSpPr>
          <p:cNvPr id="30" name="Shape 28"/>
          <p:cNvSpPr/>
          <p:nvPr/>
        </p:nvSpPr>
        <p:spPr>
          <a:xfrm>
            <a:off x="274320" y="3108960"/>
            <a:ext cx="347472" cy="365760"/>
          </a:xfrm>
          <a:prstGeom prst="rect">
            <a:avLst/>
          </a:prstGeom>
          <a:solidFill>
            <a:srgbClr val="E50914"/>
          </a:solidFill>
          <a:ln w="12700">
            <a:solidFill>
              <a:srgbClr val="E50914"/>
            </a:solidFill>
            <a:prstDash val="solid"/>
          </a:ln>
        </p:spPr>
      </p:sp>
      <p:sp>
        <p:nvSpPr>
          <p:cNvPr id="31" name="Text 29"/>
          <p:cNvSpPr/>
          <p:nvPr/>
        </p:nvSpPr>
        <p:spPr>
          <a:xfrm>
            <a:off x="274320" y="3108960"/>
            <a:ext cx="34747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1</a:t>
            </a:r>
            <a:endParaRPr lang="en-US" sz="1200" dirty="0"/>
          </a:p>
        </p:txBody>
      </p:sp>
      <p:sp>
        <p:nvSpPr>
          <p:cNvPr id="32" name="Shape 30"/>
          <p:cNvSpPr/>
          <p:nvPr/>
        </p:nvSpPr>
        <p:spPr>
          <a:xfrm>
            <a:off x="640080" y="3108960"/>
            <a:ext cx="8229600" cy="365760"/>
          </a:xfrm>
          <a:prstGeom prst="rect">
            <a:avLst/>
          </a:prstGeom>
          <a:solidFill>
            <a:srgbClr val="2A2A2A"/>
          </a:solidFill>
          <a:ln w="12700">
            <a:solidFill>
              <a:srgbClr val="333333"/>
            </a:solidFill>
            <a:prstDash val="solid"/>
          </a:ln>
        </p:spPr>
      </p:sp>
      <p:sp>
        <p:nvSpPr>
          <p:cNvPr id="33" name="Text 31"/>
          <p:cNvSpPr/>
          <p:nvPr/>
        </p:nvSpPr>
        <p:spPr>
          <a:xfrm>
            <a:off x="749808" y="3108960"/>
            <a:ext cx="8028432" cy="365760"/>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핵심을 유지하고, 운영은 환경에 맞게 진화시켰다 — 이것이 Netflix 턴어라운드의 HR 해석이다.</a:t>
            </a:r>
            <a:endParaRPr lang="en-US" sz="950" dirty="0"/>
          </a:p>
        </p:txBody>
      </p:sp>
      <p:sp>
        <p:nvSpPr>
          <p:cNvPr id="34" name="Shape 32"/>
          <p:cNvSpPr/>
          <p:nvPr/>
        </p:nvSpPr>
        <p:spPr>
          <a:xfrm>
            <a:off x="274320" y="3529584"/>
            <a:ext cx="347472" cy="365760"/>
          </a:xfrm>
          <a:prstGeom prst="rect">
            <a:avLst/>
          </a:prstGeom>
          <a:solidFill>
            <a:srgbClr val="E50914"/>
          </a:solidFill>
          <a:ln w="12700">
            <a:solidFill>
              <a:srgbClr val="E50914"/>
            </a:solidFill>
            <a:prstDash val="solid"/>
          </a:ln>
        </p:spPr>
      </p:sp>
      <p:sp>
        <p:nvSpPr>
          <p:cNvPr id="35" name="Text 33"/>
          <p:cNvSpPr/>
          <p:nvPr/>
        </p:nvSpPr>
        <p:spPr>
          <a:xfrm>
            <a:off x="274320" y="3529584"/>
            <a:ext cx="34747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2</a:t>
            </a:r>
            <a:endParaRPr lang="en-US" sz="1200" dirty="0"/>
          </a:p>
        </p:txBody>
      </p:sp>
      <p:sp>
        <p:nvSpPr>
          <p:cNvPr id="36" name="Shape 34"/>
          <p:cNvSpPr/>
          <p:nvPr/>
        </p:nvSpPr>
        <p:spPr>
          <a:xfrm>
            <a:off x="640080" y="3529584"/>
            <a:ext cx="8229600" cy="365760"/>
          </a:xfrm>
          <a:prstGeom prst="rect">
            <a:avLst/>
          </a:prstGeom>
          <a:solidFill>
            <a:srgbClr val="2A2A2A"/>
          </a:solidFill>
          <a:ln w="12700">
            <a:solidFill>
              <a:srgbClr val="333333"/>
            </a:solidFill>
            <a:prstDash val="solid"/>
          </a:ln>
        </p:spPr>
      </p:sp>
      <p:sp>
        <p:nvSpPr>
          <p:cNvPr id="37" name="Text 35"/>
          <p:cNvSpPr/>
          <p:nvPr/>
        </p:nvSpPr>
        <p:spPr>
          <a:xfrm>
            <a:off x="749808" y="3529584"/>
            <a:ext cx="8028432" cy="365760"/>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경쟁우위는 '고정된 원칙'만으로도, '잦은 변화'만으로도 만들어지지 않는다. 핵심을 지키면서 그것을 어떻게 변주하느냐가 지속가능성을 결정한다.</a:t>
            </a:r>
            <a:endParaRPr lang="en-US" sz="950" dirty="0"/>
          </a:p>
        </p:txBody>
      </p:sp>
      <p:sp>
        <p:nvSpPr>
          <p:cNvPr id="38" name="Shape 36"/>
          <p:cNvSpPr/>
          <p:nvPr/>
        </p:nvSpPr>
        <p:spPr>
          <a:xfrm>
            <a:off x="274320" y="3950208"/>
            <a:ext cx="347472" cy="365760"/>
          </a:xfrm>
          <a:prstGeom prst="rect">
            <a:avLst/>
          </a:prstGeom>
          <a:solidFill>
            <a:srgbClr val="E50914"/>
          </a:solidFill>
          <a:ln w="12700">
            <a:solidFill>
              <a:srgbClr val="E50914"/>
            </a:solidFill>
            <a:prstDash val="solid"/>
          </a:ln>
        </p:spPr>
      </p:sp>
      <p:sp>
        <p:nvSpPr>
          <p:cNvPr id="39" name="Text 37"/>
          <p:cNvSpPr/>
          <p:nvPr/>
        </p:nvSpPr>
        <p:spPr>
          <a:xfrm>
            <a:off x="274320" y="3950208"/>
            <a:ext cx="347472"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3</a:t>
            </a:r>
            <a:endParaRPr lang="en-US" sz="1200" dirty="0"/>
          </a:p>
        </p:txBody>
      </p:sp>
      <p:sp>
        <p:nvSpPr>
          <p:cNvPr id="40" name="Shape 38"/>
          <p:cNvSpPr/>
          <p:nvPr/>
        </p:nvSpPr>
        <p:spPr>
          <a:xfrm>
            <a:off x="640080" y="3950208"/>
            <a:ext cx="8229600" cy="365760"/>
          </a:xfrm>
          <a:prstGeom prst="rect">
            <a:avLst/>
          </a:prstGeom>
          <a:solidFill>
            <a:srgbClr val="2A2A2A"/>
          </a:solidFill>
          <a:ln w="12700">
            <a:solidFill>
              <a:srgbClr val="333333"/>
            </a:solidFill>
            <a:prstDash val="solid"/>
          </a:ln>
        </p:spPr>
      </p:sp>
      <p:sp>
        <p:nvSpPr>
          <p:cNvPr id="41" name="Text 39"/>
          <p:cNvSpPr/>
          <p:nvPr/>
        </p:nvSpPr>
        <p:spPr>
          <a:xfrm>
            <a:off x="749808" y="3950208"/>
            <a:ext cx="8028432" cy="365760"/>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기업의 성패는 변화의 크기가 아니라, 핵심역량에 대한 명확한 이해와 상황에 맞는 변주 능력에 달려 있다.</a:t>
            </a:r>
            <a:endParaRPr lang="en-US" sz="950" dirty="0"/>
          </a:p>
        </p:txBody>
      </p:sp>
      <p:sp>
        <p:nvSpPr>
          <p:cNvPr id="42" name="Shape 40"/>
          <p:cNvSpPr/>
          <p:nvPr/>
        </p:nvSpPr>
        <p:spPr>
          <a:xfrm>
            <a:off x="0" y="4754880"/>
            <a:ext cx="9144000" cy="388620"/>
          </a:xfrm>
          <a:prstGeom prst="rect">
            <a:avLst/>
          </a:prstGeom>
          <a:solidFill>
            <a:srgbClr val="E50914"/>
          </a:solidFill>
          <a:ln w="12700">
            <a:solidFill>
              <a:srgbClr val="E50914"/>
            </a:solidFill>
            <a:prstDash val="solid"/>
          </a:ln>
        </p:spPr>
      </p:sp>
      <p:sp>
        <p:nvSpPr>
          <p:cNvPr id="43" name="Text 41"/>
          <p:cNvSpPr/>
          <p:nvPr/>
        </p:nvSpPr>
        <p:spPr>
          <a:xfrm>
            <a:off x="274320" y="4754880"/>
            <a:ext cx="8595360" cy="388620"/>
          </a:xfrm>
          <a:prstGeom prst="rect">
            <a:avLst/>
          </a:prstGeom>
          <a:noFill/>
          <a:ln/>
        </p:spPr>
        <p:txBody>
          <a:bodyPr wrap="square" lIns="0" tIns="0" rIns="0" bIns="0" rtlCol="0" anchor="ctr"/>
          <a:lstStyle/>
          <a:p>
            <a:pPr marL="0" indent="0" algn="ctr">
              <a:buNone/>
            </a:pPr>
            <a:r>
              <a:rPr lang="en-US" sz="1100" b="1" i="1" dirty="0">
                <a:solidFill>
                  <a:srgbClr val="FFFFFF"/>
                </a:solidFill>
                <a:latin typeface="Calibri" pitchFamily="34" charset="0"/>
                <a:ea typeface="Calibri" pitchFamily="34" charset="-122"/>
                <a:cs typeface="Calibri" pitchFamily="34" charset="-120"/>
              </a:rPr>
              <a:t>"결국 조직을 살리는 것은 변화 그 자체가 아니라, 핵심을 지키면서 변화할 수 있는 능력이다"</a:t>
            </a:r>
            <a:endParaRPr lang="en-US" sz="1100" dirty="0"/>
          </a:p>
        </p:txBody>
      </p:sp>
    </p:spTree>
    <p:extLst>
      <p:ext uri="{BB962C8B-B14F-4D97-AF65-F5344CB8AC3E}">
        <p14:creationId xmlns:p14="http://schemas.microsoft.com/office/powerpoint/2010/main" val="38386958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E50914"/>
          </a:solidFill>
          <a:ln w="12700">
            <a:solidFill>
              <a:srgbClr val="E509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Netflix </a:t>
            </a:r>
            <a:r>
              <a:rPr lang="en-US" sz="1300" b="1" dirty="0" err="1" smtClean="0">
                <a:solidFill>
                  <a:srgbClr val="FFFFFF"/>
                </a:solidFill>
                <a:latin typeface="Calibri" pitchFamily="34" charset="0"/>
                <a:ea typeface="Calibri" pitchFamily="34" charset="-122"/>
                <a:cs typeface="Calibri" pitchFamily="34" charset="-120"/>
              </a:rPr>
              <a:t>모델</a:t>
            </a:r>
            <a:r>
              <a:rPr lang="ko-KR" altLang="en-US" sz="1300" b="1" dirty="0" smtClean="0">
                <a:solidFill>
                  <a:srgbClr val="FFFFFF"/>
                </a:solidFill>
                <a:latin typeface="Calibri" pitchFamily="34" charset="0"/>
                <a:ea typeface="Calibri" pitchFamily="34" charset="-122"/>
                <a:cs typeface="Calibri" pitchFamily="34" charset="-120"/>
              </a:rPr>
              <a:t>은 한국에서 적용 가능한가</a:t>
            </a:r>
            <a:r>
              <a:rPr lang="en-US" altLang="ko-KR" sz="1300" b="1" dirty="0" smtClean="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marL="0" indent="0" algn="l">
              <a:buNone/>
            </a:pPr>
            <a:r>
              <a:rPr lang="en-US" sz="2200" b="1" dirty="0" smtClean="0">
                <a:solidFill>
                  <a:srgbClr val="141414"/>
                </a:solidFill>
                <a:latin typeface="Arial Black" pitchFamily="34" charset="0"/>
                <a:ea typeface="Arial Black" pitchFamily="34" charset="-122"/>
                <a:cs typeface="Arial Black" pitchFamily="34" charset="-120"/>
              </a:rPr>
              <a:t>Netflix </a:t>
            </a:r>
            <a:r>
              <a:rPr lang="ko-KR" altLang="en-US" sz="2200" b="1" dirty="0" smtClean="0">
                <a:solidFill>
                  <a:srgbClr val="141414"/>
                </a:solidFill>
                <a:latin typeface="Arial Black" pitchFamily="34" charset="0"/>
                <a:ea typeface="Arial Black" pitchFamily="34" charset="-122"/>
                <a:cs typeface="Arial Black" pitchFamily="34" charset="-120"/>
              </a:rPr>
              <a:t>모델과 유사한 </a:t>
            </a:r>
            <a:r>
              <a:rPr lang="en-US" sz="2200" b="1" dirty="0" err="1" smtClean="0">
                <a:solidFill>
                  <a:srgbClr val="141414"/>
                </a:solidFill>
                <a:latin typeface="Arial Black" pitchFamily="34" charset="0"/>
                <a:ea typeface="Arial Black" pitchFamily="34" charset="-122"/>
                <a:cs typeface="Arial Black" pitchFamily="34" charset="-120"/>
              </a:rPr>
              <a:t>한국</a:t>
            </a:r>
            <a:r>
              <a:rPr lang="en-US" sz="2200" b="1" dirty="0" smtClean="0">
                <a:solidFill>
                  <a:srgbClr val="141414"/>
                </a:solidFill>
                <a:latin typeface="Arial Black" pitchFamily="34" charset="0"/>
                <a:ea typeface="Arial Black" pitchFamily="34" charset="-122"/>
                <a:cs typeface="Arial Black" pitchFamily="34" charset="-120"/>
              </a:rPr>
              <a:t> </a:t>
            </a:r>
            <a:r>
              <a:rPr lang="en-US" sz="2200" b="1" dirty="0" err="1">
                <a:solidFill>
                  <a:srgbClr val="141414"/>
                </a:solidFill>
                <a:latin typeface="Arial Black" pitchFamily="34" charset="0"/>
                <a:ea typeface="Arial Black" pitchFamily="34" charset="-122"/>
                <a:cs typeface="Arial Black" pitchFamily="34" charset="-120"/>
              </a:rPr>
              <a:t>기업</a:t>
            </a:r>
            <a:r>
              <a:rPr lang="en-US" sz="2200" b="1" dirty="0">
                <a:solidFill>
                  <a:srgbClr val="141414"/>
                </a:solidFill>
                <a:latin typeface="Arial Black" pitchFamily="34" charset="0"/>
                <a:ea typeface="Arial Black" pitchFamily="34" charset="-122"/>
                <a:cs typeface="Arial Black" pitchFamily="34" charset="-120"/>
              </a:rPr>
              <a:t> </a:t>
            </a:r>
            <a:r>
              <a:rPr lang="en-US" sz="2200" b="1" dirty="0" err="1" smtClean="0">
                <a:solidFill>
                  <a:srgbClr val="141414"/>
                </a:solidFill>
                <a:latin typeface="Arial Black" pitchFamily="34" charset="0"/>
                <a:ea typeface="Arial Black" pitchFamily="34" charset="-122"/>
                <a:cs typeface="Arial Black" pitchFamily="34" charset="-120"/>
              </a:rPr>
              <a:t>비교</a:t>
            </a:r>
            <a:r>
              <a:rPr lang="en-US" sz="2200" b="1" dirty="0" smtClean="0">
                <a:solidFill>
                  <a:srgbClr val="141414"/>
                </a:solidFill>
                <a:latin typeface="Arial Black" pitchFamily="34" charset="0"/>
                <a:ea typeface="Arial Black" pitchFamily="34" charset="-122"/>
                <a:cs typeface="Arial Black" pitchFamily="34" charset="-120"/>
              </a:rPr>
              <a:t> : </a:t>
            </a:r>
            <a:r>
              <a:rPr lang="en-US" sz="2200" b="1" dirty="0">
                <a:solidFill>
                  <a:srgbClr val="141414"/>
                </a:solidFill>
                <a:latin typeface="Arial Black" pitchFamily="34" charset="0"/>
                <a:ea typeface="Arial Black" pitchFamily="34" charset="-122"/>
                <a:cs typeface="Arial Black" pitchFamily="34" charset="-120"/>
              </a:rPr>
              <a:t>NAVER &amp; 카카오</a:t>
            </a:r>
            <a:endParaRPr lang="en-US" sz="2200" dirty="0"/>
          </a:p>
        </p:txBody>
      </p:sp>
      <p:sp>
        <p:nvSpPr>
          <p:cNvPr id="5" name="Shape 3"/>
          <p:cNvSpPr/>
          <p:nvPr/>
        </p:nvSpPr>
        <p:spPr>
          <a:xfrm>
            <a:off x="274320" y="1234440"/>
            <a:ext cx="4023360" cy="384048"/>
          </a:xfrm>
          <a:prstGeom prst="rect">
            <a:avLst/>
          </a:prstGeom>
          <a:solidFill>
            <a:schemeClr val="accent6"/>
          </a:solidFill>
          <a:ln w="12700">
            <a:solidFill>
              <a:srgbClr val="141414"/>
            </a:solidFill>
            <a:prstDash val="solid"/>
          </a:ln>
        </p:spPr>
      </p:sp>
      <p:sp>
        <p:nvSpPr>
          <p:cNvPr id="6" name="Text 4"/>
          <p:cNvSpPr/>
          <p:nvPr/>
        </p:nvSpPr>
        <p:spPr>
          <a:xfrm>
            <a:off x="274320" y="1234440"/>
            <a:ext cx="4023360" cy="384048"/>
          </a:xfrm>
          <a:prstGeom prst="rect">
            <a:avLst/>
          </a:prstGeom>
          <a:noFill/>
          <a:ln/>
        </p:spPr>
        <p:txBody>
          <a:bodyPr wrap="square" lIns="0" tIns="0" rIns="0" bIns="0" rtlCol="0" anchor="ctr"/>
          <a:lstStyle/>
          <a:p>
            <a:pPr marL="0" indent="0" algn="ctr">
              <a:buNone/>
            </a:pPr>
            <a:r>
              <a:rPr lang="en-US" sz="1200" b="1" dirty="0" smtClean="0">
                <a:solidFill>
                  <a:srgbClr val="FFFFFF"/>
                </a:solidFill>
                <a:latin typeface="Calibri" pitchFamily="34" charset="0"/>
                <a:ea typeface="Calibri" pitchFamily="34" charset="-122"/>
                <a:cs typeface="Calibri" pitchFamily="34" charset="-120"/>
              </a:rPr>
              <a:t>NAVER</a:t>
            </a:r>
            <a:endParaRPr lang="en-US" sz="1200" dirty="0"/>
          </a:p>
        </p:txBody>
      </p:sp>
      <p:sp>
        <p:nvSpPr>
          <p:cNvPr id="7" name="Shape 5"/>
          <p:cNvSpPr/>
          <p:nvPr/>
        </p:nvSpPr>
        <p:spPr>
          <a:xfrm>
            <a:off x="274320" y="1636776"/>
            <a:ext cx="4023360" cy="3246120"/>
          </a:xfrm>
          <a:prstGeom prst="rect">
            <a:avLst/>
          </a:prstGeom>
          <a:solidFill>
            <a:srgbClr val="F5F5F5"/>
          </a:solidFill>
          <a:ln w="12700">
            <a:solidFill>
              <a:srgbClr val="DDDDDD"/>
            </a:solidFill>
            <a:prstDash val="solid"/>
          </a:ln>
        </p:spPr>
      </p:sp>
      <p:sp>
        <p:nvSpPr>
          <p:cNvPr id="8" name="Shape 6"/>
          <p:cNvSpPr/>
          <p:nvPr/>
        </p:nvSpPr>
        <p:spPr>
          <a:xfrm>
            <a:off x="274320" y="1636776"/>
            <a:ext cx="4023360" cy="256032"/>
          </a:xfrm>
          <a:prstGeom prst="rect">
            <a:avLst/>
          </a:prstGeom>
          <a:solidFill>
            <a:srgbClr val="2A2A2A"/>
          </a:solidFill>
          <a:ln w="12700">
            <a:solidFill>
              <a:srgbClr val="2A2A2A"/>
            </a:solidFill>
            <a:prstDash val="solid"/>
          </a:ln>
        </p:spPr>
      </p:sp>
      <p:sp>
        <p:nvSpPr>
          <p:cNvPr id="9" name="Text 7"/>
          <p:cNvSpPr/>
          <p:nvPr/>
        </p:nvSpPr>
        <p:spPr>
          <a:xfrm>
            <a:off x="274320" y="1636776"/>
            <a:ext cx="40233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공통점 (Netflix와 유사)</a:t>
            </a:r>
            <a:endParaRPr lang="en-US" sz="1000" dirty="0"/>
          </a:p>
        </p:txBody>
      </p:sp>
      <p:sp>
        <p:nvSpPr>
          <p:cNvPr id="10" name="Shape 8"/>
          <p:cNvSpPr/>
          <p:nvPr/>
        </p:nvSpPr>
        <p:spPr>
          <a:xfrm>
            <a:off x="274320" y="1938528"/>
            <a:ext cx="54864" cy="274320"/>
          </a:xfrm>
          <a:prstGeom prst="rect">
            <a:avLst/>
          </a:prstGeom>
          <a:solidFill>
            <a:srgbClr val="2E7D32"/>
          </a:solidFill>
          <a:ln w="12700">
            <a:solidFill>
              <a:srgbClr val="2E7D32"/>
            </a:solidFill>
            <a:prstDash val="solid"/>
          </a:ln>
        </p:spPr>
      </p:sp>
      <p:sp>
        <p:nvSpPr>
          <p:cNvPr id="11" name="Text 9"/>
          <p:cNvSpPr/>
          <p:nvPr/>
        </p:nvSpPr>
        <p:spPr>
          <a:xfrm>
            <a:off x="438912" y="1938528"/>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역량·마인드셋 중심 채용 (직급 우선 X)</a:t>
            </a:r>
            <a:endParaRPr lang="en-US" sz="1000" dirty="0"/>
          </a:p>
        </p:txBody>
      </p:sp>
      <p:sp>
        <p:nvSpPr>
          <p:cNvPr id="12" name="Shape 10"/>
          <p:cNvSpPr/>
          <p:nvPr/>
        </p:nvSpPr>
        <p:spPr>
          <a:xfrm>
            <a:off x="274320" y="2286000"/>
            <a:ext cx="54864" cy="274320"/>
          </a:xfrm>
          <a:prstGeom prst="rect">
            <a:avLst/>
          </a:prstGeom>
          <a:solidFill>
            <a:srgbClr val="2E7D32"/>
          </a:solidFill>
          <a:ln w="12700">
            <a:solidFill>
              <a:srgbClr val="2E7D32"/>
            </a:solidFill>
            <a:prstDash val="solid"/>
          </a:ln>
        </p:spPr>
      </p:sp>
      <p:sp>
        <p:nvSpPr>
          <p:cNvPr id="13" name="Text 11"/>
          <p:cNvSpPr/>
          <p:nvPr/>
        </p:nvSpPr>
        <p:spPr>
          <a:xfrm>
            <a:off x="438912" y="2286000"/>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유연·책임 기반 근무 (고정 출퇴근 X)</a:t>
            </a:r>
            <a:endParaRPr lang="en-US" sz="1000" dirty="0"/>
          </a:p>
        </p:txBody>
      </p:sp>
      <p:sp>
        <p:nvSpPr>
          <p:cNvPr id="14" name="Shape 12"/>
          <p:cNvSpPr/>
          <p:nvPr/>
        </p:nvSpPr>
        <p:spPr>
          <a:xfrm>
            <a:off x="274320" y="2633472"/>
            <a:ext cx="54864" cy="274320"/>
          </a:xfrm>
          <a:prstGeom prst="rect">
            <a:avLst/>
          </a:prstGeom>
          <a:solidFill>
            <a:srgbClr val="2E7D32"/>
          </a:solidFill>
          <a:ln w="12700">
            <a:solidFill>
              <a:srgbClr val="2E7D32"/>
            </a:solidFill>
            <a:prstDash val="solid"/>
          </a:ln>
        </p:spPr>
      </p:sp>
      <p:sp>
        <p:nvSpPr>
          <p:cNvPr id="15" name="Text 13"/>
          <p:cNvSpPr/>
          <p:nvPr/>
        </p:nvSpPr>
        <p:spPr>
          <a:xfrm>
            <a:off x="438912" y="2633472"/>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Self-approval 방식 (휴가·업무도구)</a:t>
            </a:r>
            <a:endParaRPr lang="en-US" sz="1000" dirty="0"/>
          </a:p>
        </p:txBody>
      </p:sp>
      <p:sp>
        <p:nvSpPr>
          <p:cNvPr id="16" name="Shape 14"/>
          <p:cNvSpPr/>
          <p:nvPr/>
        </p:nvSpPr>
        <p:spPr>
          <a:xfrm>
            <a:off x="274320" y="2980944"/>
            <a:ext cx="54864" cy="274320"/>
          </a:xfrm>
          <a:prstGeom prst="rect">
            <a:avLst/>
          </a:prstGeom>
          <a:solidFill>
            <a:srgbClr val="2E7D32"/>
          </a:solidFill>
          <a:ln w="12700">
            <a:solidFill>
              <a:srgbClr val="2E7D32"/>
            </a:solidFill>
            <a:prstDash val="solid"/>
          </a:ln>
        </p:spPr>
      </p:sp>
      <p:sp>
        <p:nvSpPr>
          <p:cNvPr id="17" name="Text 15"/>
          <p:cNvSpPr/>
          <p:nvPr/>
        </p:nvSpPr>
        <p:spPr>
          <a:xfrm>
            <a:off x="438912" y="2980944"/>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권한 위임 통한 빠른 의사결정</a:t>
            </a:r>
            <a:endParaRPr lang="en-US" sz="1000" dirty="0"/>
          </a:p>
        </p:txBody>
      </p:sp>
      <p:sp>
        <p:nvSpPr>
          <p:cNvPr id="18" name="Shape 16"/>
          <p:cNvSpPr/>
          <p:nvPr/>
        </p:nvSpPr>
        <p:spPr>
          <a:xfrm>
            <a:off x="274320" y="3337560"/>
            <a:ext cx="4023360" cy="256032"/>
          </a:xfrm>
          <a:prstGeom prst="rect">
            <a:avLst/>
          </a:prstGeom>
          <a:solidFill>
            <a:srgbClr val="E50914"/>
          </a:solidFill>
          <a:ln w="12700">
            <a:solidFill>
              <a:srgbClr val="E50914"/>
            </a:solidFill>
            <a:prstDash val="solid"/>
          </a:ln>
        </p:spPr>
      </p:sp>
      <p:sp>
        <p:nvSpPr>
          <p:cNvPr id="19" name="Text 17"/>
          <p:cNvSpPr/>
          <p:nvPr/>
        </p:nvSpPr>
        <p:spPr>
          <a:xfrm>
            <a:off x="274320" y="3337560"/>
            <a:ext cx="40233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차이점</a:t>
            </a:r>
            <a:endParaRPr lang="en-US" sz="1000" dirty="0"/>
          </a:p>
        </p:txBody>
      </p:sp>
      <p:sp>
        <p:nvSpPr>
          <p:cNvPr id="20" name="Shape 18"/>
          <p:cNvSpPr/>
          <p:nvPr/>
        </p:nvSpPr>
        <p:spPr>
          <a:xfrm>
            <a:off x="274320" y="3630168"/>
            <a:ext cx="54864" cy="292608"/>
          </a:xfrm>
          <a:prstGeom prst="rect">
            <a:avLst/>
          </a:prstGeom>
          <a:solidFill>
            <a:srgbClr val="E50914"/>
          </a:solidFill>
          <a:ln w="12700">
            <a:solidFill>
              <a:srgbClr val="E50914"/>
            </a:solidFill>
            <a:prstDash val="solid"/>
          </a:ln>
        </p:spPr>
      </p:sp>
      <p:sp>
        <p:nvSpPr>
          <p:cNvPr id="21" name="Text 19"/>
          <p:cNvSpPr/>
          <p:nvPr/>
        </p:nvSpPr>
        <p:spPr>
          <a:xfrm>
            <a:off x="438912" y="3630168"/>
            <a:ext cx="3749040" cy="292608"/>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성과 하위자 퇴출 강도 상대적으로 약함</a:t>
            </a:r>
            <a:endParaRPr lang="en-US" sz="1000" dirty="0"/>
          </a:p>
        </p:txBody>
      </p:sp>
      <p:sp>
        <p:nvSpPr>
          <p:cNvPr id="22" name="Shape 20"/>
          <p:cNvSpPr/>
          <p:nvPr/>
        </p:nvSpPr>
        <p:spPr>
          <a:xfrm>
            <a:off x="274320" y="4014216"/>
            <a:ext cx="54864" cy="292608"/>
          </a:xfrm>
          <a:prstGeom prst="rect">
            <a:avLst/>
          </a:prstGeom>
          <a:solidFill>
            <a:srgbClr val="E50914"/>
          </a:solidFill>
          <a:ln w="12700">
            <a:solidFill>
              <a:srgbClr val="E50914"/>
            </a:solidFill>
            <a:prstDash val="solid"/>
          </a:ln>
        </p:spPr>
      </p:sp>
      <p:sp>
        <p:nvSpPr>
          <p:cNvPr id="23" name="Text 21"/>
          <p:cNvSpPr/>
          <p:nvPr/>
        </p:nvSpPr>
        <p:spPr>
          <a:xfrm>
            <a:off x="438912" y="4014216"/>
            <a:ext cx="3749040" cy="292608"/>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자율 + 시스템 균형 — 규칙 최소화보다 정교한 기반 유지</a:t>
            </a:r>
            <a:endParaRPr lang="en-US" sz="1000" dirty="0"/>
          </a:p>
        </p:txBody>
      </p:sp>
      <p:sp>
        <p:nvSpPr>
          <p:cNvPr id="24" name="Shape 22"/>
          <p:cNvSpPr/>
          <p:nvPr/>
        </p:nvSpPr>
        <p:spPr>
          <a:xfrm>
            <a:off x="4846320" y="1234440"/>
            <a:ext cx="4023360" cy="384048"/>
          </a:xfrm>
          <a:prstGeom prst="rect">
            <a:avLst/>
          </a:prstGeom>
          <a:solidFill>
            <a:srgbClr val="FEE500"/>
          </a:solidFill>
          <a:ln w="12700">
            <a:solidFill>
              <a:srgbClr val="2A2A2A"/>
            </a:solidFill>
            <a:prstDash val="solid"/>
          </a:ln>
        </p:spPr>
      </p:sp>
      <p:sp>
        <p:nvSpPr>
          <p:cNvPr id="25" name="Text 23"/>
          <p:cNvSpPr/>
          <p:nvPr/>
        </p:nvSpPr>
        <p:spPr>
          <a:xfrm>
            <a:off x="4846320" y="1234440"/>
            <a:ext cx="4023360" cy="384048"/>
          </a:xfrm>
          <a:prstGeom prst="rect">
            <a:avLst/>
          </a:prstGeom>
          <a:noFill/>
          <a:ln/>
        </p:spPr>
        <p:txBody>
          <a:bodyPr wrap="square" lIns="0" tIns="0" rIns="0" bIns="0" rtlCol="0" anchor="ctr"/>
          <a:lstStyle/>
          <a:p>
            <a:pPr marL="0" indent="0" algn="ctr">
              <a:buNone/>
            </a:pPr>
            <a:endParaRPr lang="en-US" sz="1200" dirty="0"/>
          </a:p>
        </p:txBody>
      </p:sp>
      <p:sp>
        <p:nvSpPr>
          <p:cNvPr id="26" name="Shape 24"/>
          <p:cNvSpPr/>
          <p:nvPr/>
        </p:nvSpPr>
        <p:spPr>
          <a:xfrm>
            <a:off x="4846320" y="1636776"/>
            <a:ext cx="4023360" cy="3246120"/>
          </a:xfrm>
          <a:prstGeom prst="rect">
            <a:avLst/>
          </a:prstGeom>
          <a:solidFill>
            <a:srgbClr val="F5F5F5"/>
          </a:solidFill>
          <a:ln w="12700">
            <a:solidFill>
              <a:srgbClr val="DDDDDD"/>
            </a:solidFill>
            <a:prstDash val="solid"/>
          </a:ln>
        </p:spPr>
      </p:sp>
      <p:sp>
        <p:nvSpPr>
          <p:cNvPr id="27" name="Shape 25"/>
          <p:cNvSpPr/>
          <p:nvPr/>
        </p:nvSpPr>
        <p:spPr>
          <a:xfrm>
            <a:off x="4846320" y="1636776"/>
            <a:ext cx="4023360" cy="256032"/>
          </a:xfrm>
          <a:prstGeom prst="rect">
            <a:avLst/>
          </a:prstGeom>
          <a:solidFill>
            <a:srgbClr val="2A2A2A"/>
          </a:solidFill>
          <a:ln w="12700">
            <a:solidFill>
              <a:srgbClr val="2A2A2A"/>
            </a:solidFill>
            <a:prstDash val="solid"/>
          </a:ln>
        </p:spPr>
      </p:sp>
      <p:sp>
        <p:nvSpPr>
          <p:cNvPr id="28" name="Text 26"/>
          <p:cNvSpPr/>
          <p:nvPr/>
        </p:nvSpPr>
        <p:spPr>
          <a:xfrm>
            <a:off x="4846320" y="1636776"/>
            <a:ext cx="40233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공통점 (Candor 문화 유사)</a:t>
            </a:r>
            <a:endParaRPr lang="en-US" sz="1000" dirty="0"/>
          </a:p>
        </p:txBody>
      </p:sp>
      <p:sp>
        <p:nvSpPr>
          <p:cNvPr id="29" name="Shape 27"/>
          <p:cNvSpPr/>
          <p:nvPr/>
        </p:nvSpPr>
        <p:spPr>
          <a:xfrm>
            <a:off x="4846320" y="1938528"/>
            <a:ext cx="54864" cy="274320"/>
          </a:xfrm>
          <a:prstGeom prst="rect">
            <a:avLst/>
          </a:prstGeom>
          <a:solidFill>
            <a:srgbClr val="2E7D32"/>
          </a:solidFill>
          <a:ln w="12700">
            <a:solidFill>
              <a:srgbClr val="2E7D32"/>
            </a:solidFill>
            <a:prstDash val="solid"/>
          </a:ln>
        </p:spPr>
      </p:sp>
      <p:sp>
        <p:nvSpPr>
          <p:cNvPr id="30" name="Text 28"/>
          <p:cNvSpPr/>
          <p:nvPr/>
        </p:nvSpPr>
        <p:spPr>
          <a:xfrm>
            <a:off x="5010912" y="1938528"/>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수평적 관계 &amp; 자기주도성 강조</a:t>
            </a:r>
            <a:endParaRPr lang="en-US" sz="1000" dirty="0"/>
          </a:p>
        </p:txBody>
      </p:sp>
      <p:sp>
        <p:nvSpPr>
          <p:cNvPr id="31" name="Shape 29"/>
          <p:cNvSpPr/>
          <p:nvPr/>
        </p:nvSpPr>
        <p:spPr>
          <a:xfrm>
            <a:off x="4846320" y="2304288"/>
            <a:ext cx="54864" cy="274320"/>
          </a:xfrm>
          <a:prstGeom prst="rect">
            <a:avLst/>
          </a:prstGeom>
          <a:solidFill>
            <a:srgbClr val="2E7D32"/>
          </a:solidFill>
          <a:ln w="12700">
            <a:solidFill>
              <a:srgbClr val="2E7D32"/>
            </a:solidFill>
            <a:prstDash val="solid"/>
          </a:ln>
        </p:spPr>
      </p:sp>
      <p:sp>
        <p:nvSpPr>
          <p:cNvPr id="32" name="Text 30"/>
          <p:cNvSpPr/>
          <p:nvPr/>
        </p:nvSpPr>
        <p:spPr>
          <a:xfrm>
            <a:off x="5010912" y="2304288"/>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신뢰-충돌-헌신 문화 — 자유롭게 의견 충돌 후 헌신</a:t>
            </a:r>
            <a:endParaRPr lang="en-US" sz="1000" dirty="0"/>
          </a:p>
        </p:txBody>
      </p:sp>
      <p:sp>
        <p:nvSpPr>
          <p:cNvPr id="33" name="Shape 31"/>
          <p:cNvSpPr/>
          <p:nvPr/>
        </p:nvSpPr>
        <p:spPr>
          <a:xfrm>
            <a:off x="4846320" y="2670048"/>
            <a:ext cx="54864" cy="274320"/>
          </a:xfrm>
          <a:prstGeom prst="rect">
            <a:avLst/>
          </a:prstGeom>
          <a:solidFill>
            <a:srgbClr val="2E7D32"/>
          </a:solidFill>
          <a:ln w="12700">
            <a:solidFill>
              <a:srgbClr val="2E7D32"/>
            </a:solidFill>
            <a:prstDash val="solid"/>
          </a:ln>
        </p:spPr>
      </p:sp>
      <p:sp>
        <p:nvSpPr>
          <p:cNvPr id="34" name="Text 32"/>
          <p:cNvSpPr/>
          <p:nvPr/>
        </p:nvSpPr>
        <p:spPr>
          <a:xfrm>
            <a:off x="5010912" y="2670048"/>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Netflix Candor 문화와 일정 부분 유사</a:t>
            </a:r>
            <a:endParaRPr lang="en-US" sz="1000" dirty="0"/>
          </a:p>
        </p:txBody>
      </p:sp>
      <p:sp>
        <p:nvSpPr>
          <p:cNvPr id="35" name="Shape 33"/>
          <p:cNvSpPr/>
          <p:nvPr/>
        </p:nvSpPr>
        <p:spPr>
          <a:xfrm>
            <a:off x="4846320" y="3063240"/>
            <a:ext cx="4023360" cy="256032"/>
          </a:xfrm>
          <a:prstGeom prst="rect">
            <a:avLst/>
          </a:prstGeom>
          <a:solidFill>
            <a:srgbClr val="E50914"/>
          </a:solidFill>
          <a:ln w="12700">
            <a:solidFill>
              <a:srgbClr val="E50914"/>
            </a:solidFill>
            <a:prstDash val="solid"/>
          </a:ln>
        </p:spPr>
      </p:sp>
      <p:sp>
        <p:nvSpPr>
          <p:cNvPr id="36" name="Text 34"/>
          <p:cNvSpPr/>
          <p:nvPr/>
        </p:nvSpPr>
        <p:spPr>
          <a:xfrm>
            <a:off x="4846320" y="3063240"/>
            <a:ext cx="402336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차이점</a:t>
            </a:r>
            <a:endParaRPr lang="en-US" sz="1000" dirty="0"/>
          </a:p>
        </p:txBody>
      </p:sp>
      <p:sp>
        <p:nvSpPr>
          <p:cNvPr id="37" name="Shape 35"/>
          <p:cNvSpPr/>
          <p:nvPr/>
        </p:nvSpPr>
        <p:spPr>
          <a:xfrm>
            <a:off x="4846320" y="3364992"/>
            <a:ext cx="54864" cy="274320"/>
          </a:xfrm>
          <a:prstGeom prst="rect">
            <a:avLst/>
          </a:prstGeom>
          <a:solidFill>
            <a:srgbClr val="E50914"/>
          </a:solidFill>
          <a:ln w="12700">
            <a:solidFill>
              <a:srgbClr val="E50914"/>
            </a:solidFill>
            <a:prstDash val="solid"/>
          </a:ln>
        </p:spPr>
      </p:sp>
      <p:sp>
        <p:nvSpPr>
          <p:cNvPr id="38" name="Text 36"/>
          <p:cNvSpPr/>
          <p:nvPr/>
        </p:nvSpPr>
        <p:spPr>
          <a:xfrm>
            <a:off x="5010912" y="3364992"/>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관계적 신뢰·합의 비중이 더 큼</a:t>
            </a:r>
            <a:endParaRPr lang="en-US" sz="1000" dirty="0"/>
          </a:p>
        </p:txBody>
      </p:sp>
      <p:sp>
        <p:nvSpPr>
          <p:cNvPr id="39" name="Shape 37"/>
          <p:cNvSpPr/>
          <p:nvPr/>
        </p:nvSpPr>
        <p:spPr>
          <a:xfrm>
            <a:off x="4846320" y="3730752"/>
            <a:ext cx="54864" cy="274320"/>
          </a:xfrm>
          <a:prstGeom prst="rect">
            <a:avLst/>
          </a:prstGeom>
          <a:solidFill>
            <a:srgbClr val="E50914"/>
          </a:solidFill>
          <a:ln w="12700">
            <a:solidFill>
              <a:srgbClr val="E50914"/>
            </a:solidFill>
            <a:prstDash val="solid"/>
          </a:ln>
        </p:spPr>
      </p:sp>
      <p:sp>
        <p:nvSpPr>
          <p:cNvPr id="40" name="Text 38"/>
          <p:cNvSpPr/>
          <p:nvPr/>
        </p:nvSpPr>
        <p:spPr>
          <a:xfrm>
            <a:off x="5010912" y="3730752"/>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공개적·냉정한 퇴출 메커니즘 전면에 없음</a:t>
            </a:r>
            <a:endParaRPr lang="en-US" sz="1000" dirty="0"/>
          </a:p>
        </p:txBody>
      </p:sp>
      <p:sp>
        <p:nvSpPr>
          <p:cNvPr id="41" name="Shape 39"/>
          <p:cNvSpPr/>
          <p:nvPr/>
        </p:nvSpPr>
        <p:spPr>
          <a:xfrm>
            <a:off x="4846320" y="4096512"/>
            <a:ext cx="54864" cy="274320"/>
          </a:xfrm>
          <a:prstGeom prst="rect">
            <a:avLst/>
          </a:prstGeom>
          <a:solidFill>
            <a:srgbClr val="E50914"/>
          </a:solidFill>
          <a:ln w="12700">
            <a:solidFill>
              <a:srgbClr val="E50914"/>
            </a:solidFill>
            <a:prstDash val="solid"/>
          </a:ln>
        </p:spPr>
      </p:sp>
      <p:sp>
        <p:nvSpPr>
          <p:cNvPr id="42" name="Text 40"/>
          <p:cNvSpPr/>
          <p:nvPr/>
        </p:nvSpPr>
        <p:spPr>
          <a:xfrm>
            <a:off x="5010912" y="4096512"/>
            <a:ext cx="3749040" cy="274320"/>
          </a:xfrm>
          <a:prstGeom prst="rect">
            <a:avLst/>
          </a:prstGeom>
          <a:noFill/>
          <a:ln/>
        </p:spPr>
        <p:txBody>
          <a:bodyPr wrap="square" lIns="0" tIns="0" rIns="0" bIns="0" rtlCol="0" anchor="ctr"/>
          <a:lstStyle/>
          <a:p>
            <a:pPr marL="0" indent="0" algn="l">
              <a:buNone/>
            </a:pPr>
            <a:r>
              <a:rPr lang="en-US" sz="1000" dirty="0">
                <a:solidFill>
                  <a:srgbClr val="2A2A2A"/>
                </a:solidFill>
                <a:latin typeface="Calibri" pitchFamily="34" charset="0"/>
                <a:ea typeface="Calibri" pitchFamily="34" charset="-122"/>
                <a:cs typeface="Calibri" pitchFamily="34" charset="-120"/>
              </a:rPr>
              <a:t>한국 조직 특성상 체면 문화 영향 존재</a:t>
            </a:r>
            <a:endParaRPr lang="en-US" sz="1000" dirty="0"/>
          </a:p>
        </p:txBody>
      </p:sp>
      <p:pic>
        <p:nvPicPr>
          <p:cNvPr id="43" name="그림 42"/>
          <p:cNvPicPr>
            <a:picLocks noChangeAspect="1"/>
          </p:cNvPicPr>
          <p:nvPr/>
        </p:nvPicPr>
        <p:blipFill>
          <a:blip r:embed="rId3"/>
          <a:stretch>
            <a:fillRect/>
          </a:stretch>
        </p:blipFill>
        <p:spPr>
          <a:xfrm>
            <a:off x="6623661" y="1281466"/>
            <a:ext cx="468678" cy="301752"/>
          </a:xfrm>
          <a:prstGeom prst="rect">
            <a:avLst/>
          </a:prstGeom>
          <a:solidFill>
            <a:srgbClr val="FEE500"/>
          </a:solidFill>
        </p:spPr>
      </p:pic>
    </p:spTree>
    <p:extLst>
      <p:ext uri="{BB962C8B-B14F-4D97-AF65-F5344CB8AC3E}">
        <p14:creationId xmlns:p14="http://schemas.microsoft.com/office/powerpoint/2010/main" val="9222751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41414"/>
          </a:solidFill>
          <a:ln w="12700">
            <a:solidFill>
              <a:srgbClr val="141414"/>
            </a:solidFill>
            <a:prstDash val="solid"/>
          </a:ln>
        </p:spPr>
      </p:sp>
      <p:sp>
        <p:nvSpPr>
          <p:cNvPr id="3" name="Text 1"/>
          <p:cNvSpPr/>
          <p:nvPr/>
        </p:nvSpPr>
        <p:spPr>
          <a:xfrm>
            <a:off x="274320" y="0"/>
            <a:ext cx="8595360" cy="6400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Netflix를 복제하는 것이 아니라 — 자사의 핵심역량을 먼저 정의하고 환경에 맞게 변주하는 것이 과제다</a:t>
            </a:r>
            <a:endParaRPr lang="en-US" sz="1300" dirty="0"/>
          </a:p>
        </p:txBody>
      </p:sp>
      <p:sp>
        <p:nvSpPr>
          <p:cNvPr id="4" name="Text 2"/>
          <p:cNvSpPr/>
          <p:nvPr/>
        </p:nvSpPr>
        <p:spPr>
          <a:xfrm>
            <a:off x="365760" y="749808"/>
            <a:ext cx="8412480" cy="347472"/>
          </a:xfrm>
          <a:prstGeom prst="rect">
            <a:avLst/>
          </a:prstGeom>
          <a:noFill/>
          <a:ln/>
        </p:spPr>
        <p:txBody>
          <a:bodyPr wrap="square" lIns="0" tIns="0" rIns="0" bIns="0" rtlCol="0" anchor="ctr"/>
          <a:lstStyle/>
          <a:p>
            <a:pPr marL="0" indent="0" algn="l">
              <a:buNone/>
            </a:pPr>
            <a:r>
              <a:rPr lang="en-US" sz="2000" b="1" dirty="0">
                <a:solidFill>
                  <a:srgbClr val="141414"/>
                </a:solidFill>
                <a:latin typeface="Arial Black" pitchFamily="34" charset="0"/>
                <a:ea typeface="Arial Black" pitchFamily="34" charset="-122"/>
                <a:cs typeface="Arial Black" pitchFamily="34" charset="-120"/>
              </a:rPr>
              <a:t>한국 기업에 대한 3가지 시사점</a:t>
            </a:r>
            <a:endParaRPr lang="en-US" sz="2000" dirty="0"/>
          </a:p>
        </p:txBody>
      </p:sp>
      <p:sp>
        <p:nvSpPr>
          <p:cNvPr id="5" name="Shape 3"/>
          <p:cNvSpPr/>
          <p:nvPr/>
        </p:nvSpPr>
        <p:spPr>
          <a:xfrm>
            <a:off x="274320" y="1188720"/>
            <a:ext cx="475488" cy="1152144"/>
          </a:xfrm>
          <a:prstGeom prst="rect">
            <a:avLst/>
          </a:prstGeom>
          <a:solidFill>
            <a:srgbClr val="E50914"/>
          </a:solidFill>
          <a:ln w="12700">
            <a:solidFill>
              <a:srgbClr val="E50914"/>
            </a:solidFill>
            <a:prstDash val="solid"/>
          </a:ln>
        </p:spPr>
      </p:sp>
      <p:sp>
        <p:nvSpPr>
          <p:cNvPr id="6" name="Text 4"/>
          <p:cNvSpPr/>
          <p:nvPr/>
        </p:nvSpPr>
        <p:spPr>
          <a:xfrm>
            <a:off x="274320" y="1188720"/>
            <a:ext cx="475488" cy="115214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01</a:t>
            </a:r>
            <a:endParaRPr lang="en-US" sz="1400" dirty="0"/>
          </a:p>
        </p:txBody>
      </p:sp>
      <p:sp>
        <p:nvSpPr>
          <p:cNvPr id="7" name="Shape 5"/>
          <p:cNvSpPr/>
          <p:nvPr/>
        </p:nvSpPr>
        <p:spPr>
          <a:xfrm>
            <a:off x="768096" y="1188720"/>
            <a:ext cx="8101584" cy="1152144"/>
          </a:xfrm>
          <a:prstGeom prst="rect">
            <a:avLst/>
          </a:prstGeom>
          <a:solidFill>
            <a:srgbClr val="F5F5F5"/>
          </a:solidFill>
          <a:ln w="12700">
            <a:solidFill>
              <a:srgbClr val="DDDDDD"/>
            </a:solidFill>
            <a:prstDash val="solid"/>
          </a:ln>
        </p:spPr>
      </p:sp>
      <p:sp>
        <p:nvSpPr>
          <p:cNvPr id="8" name="Text 6"/>
          <p:cNvSpPr/>
          <p:nvPr/>
        </p:nvSpPr>
        <p:spPr>
          <a:xfrm>
            <a:off x="896112" y="1243584"/>
            <a:ext cx="7827264" cy="329184"/>
          </a:xfrm>
          <a:prstGeom prst="rect">
            <a:avLst/>
          </a:prstGeom>
          <a:noFill/>
          <a:ln/>
        </p:spPr>
        <p:txBody>
          <a:bodyPr wrap="square" lIns="0" tIns="0" rIns="0" bIns="0" rtlCol="0" anchor="ctr"/>
          <a:lstStyle/>
          <a:p>
            <a:pPr marL="0" indent="0" algn="l">
              <a:buNone/>
            </a:pPr>
            <a:r>
              <a:rPr lang="en-US" sz="1100" b="1" dirty="0">
                <a:solidFill>
                  <a:srgbClr val="141414"/>
                </a:solidFill>
                <a:latin typeface="Calibri" pitchFamily="34" charset="0"/>
                <a:ea typeface="Calibri" pitchFamily="34" charset="-122"/>
                <a:cs typeface="Calibri" pitchFamily="34" charset="-120"/>
              </a:rPr>
              <a:t>Netflix를 그대로 복제하지 말고 자사의 핵심을 중심으로 번역하라</a:t>
            </a:r>
            <a:endParaRPr lang="en-US" sz="1100" dirty="0"/>
          </a:p>
        </p:txBody>
      </p:sp>
      <p:sp>
        <p:nvSpPr>
          <p:cNvPr id="9" name="Text 7"/>
          <p:cNvSpPr/>
          <p:nvPr/>
        </p:nvSpPr>
        <p:spPr>
          <a:xfrm>
            <a:off x="896112" y="1572768"/>
            <a:ext cx="7827264" cy="420624"/>
          </a:xfrm>
          <a:prstGeom prst="rect">
            <a:avLst/>
          </a:prstGeom>
          <a:noFill/>
          <a:ln/>
        </p:spPr>
        <p:txBody>
          <a:bodyPr wrap="square" lIns="0" tIns="0" rIns="0" bIns="0" rtlCol="0" anchor="t"/>
          <a:lstStyle/>
          <a:p>
            <a:pPr marL="0" indent="0" algn="l">
              <a:buNone/>
            </a:pPr>
            <a:r>
              <a:rPr lang="en-US" sz="900" dirty="0">
                <a:solidFill>
                  <a:srgbClr val="2A2A2A"/>
                </a:solidFill>
                <a:latin typeface="Calibri" pitchFamily="34" charset="0"/>
                <a:ea typeface="Calibri" pitchFamily="34" charset="-122"/>
                <a:cs typeface="Calibri" pitchFamily="34" charset="-120"/>
              </a:rPr>
              <a:t>NAVER처럼 자율과 권한위임을 도입할 수 있지만, 시스템·투명성·역할 정렬이 함께 갈 때 작동한다. 핵심 문화와 운영 메커니즘을 구분하는 것이 먼저다. 핵심은 오래 유지해야 하지만, 운영은 환경에 따라 바뀌어야 한다.</a:t>
            </a:r>
            <a:endParaRPr lang="en-US" sz="900" dirty="0"/>
          </a:p>
        </p:txBody>
      </p:sp>
      <p:sp>
        <p:nvSpPr>
          <p:cNvPr id="10" name="Shape 8"/>
          <p:cNvSpPr/>
          <p:nvPr/>
        </p:nvSpPr>
        <p:spPr>
          <a:xfrm>
            <a:off x="768096" y="2066544"/>
            <a:ext cx="8101584" cy="274320"/>
          </a:xfrm>
          <a:prstGeom prst="rect">
            <a:avLst/>
          </a:prstGeom>
          <a:solidFill>
            <a:srgbClr val="141414"/>
          </a:solidFill>
          <a:ln w="12700">
            <a:solidFill>
              <a:srgbClr val="141414"/>
            </a:solidFill>
            <a:prstDash val="solid"/>
          </a:ln>
        </p:spPr>
      </p:sp>
      <p:sp>
        <p:nvSpPr>
          <p:cNvPr id="11" name="Text 9"/>
          <p:cNvSpPr/>
          <p:nvPr/>
        </p:nvSpPr>
        <p:spPr>
          <a:xfrm>
            <a:off x="822960" y="2066544"/>
            <a:ext cx="7991856" cy="274320"/>
          </a:xfrm>
          <a:prstGeom prst="rect">
            <a:avLst/>
          </a:prstGeom>
          <a:noFill/>
          <a:ln/>
        </p:spPr>
        <p:txBody>
          <a:bodyPr wrap="square" lIns="0" tIns="0" rIns="0" bIns="0" rtlCol="0" anchor="ctr"/>
          <a:lstStyle/>
          <a:p>
            <a:pPr marL="0" indent="0" algn="l">
              <a:buNone/>
            </a:pPr>
            <a:r>
              <a:rPr lang="en-US" sz="850" b="1" dirty="0">
                <a:solidFill>
                  <a:srgbClr val="E50914"/>
                </a:solidFill>
                <a:latin typeface="Calibri" pitchFamily="34" charset="0"/>
                <a:ea typeface="Calibri" pitchFamily="34" charset="-122"/>
                <a:cs typeface="Calibri" pitchFamily="34" charset="-120"/>
              </a:rPr>
              <a:t>핵심문화는 유지 — 운영방식은 환경에 맞게 재설계</a:t>
            </a:r>
            <a:endParaRPr lang="en-US" sz="850" dirty="0"/>
          </a:p>
        </p:txBody>
      </p:sp>
      <p:sp>
        <p:nvSpPr>
          <p:cNvPr id="12" name="Shape 10"/>
          <p:cNvSpPr/>
          <p:nvPr/>
        </p:nvSpPr>
        <p:spPr>
          <a:xfrm>
            <a:off x="274320" y="2450592"/>
            <a:ext cx="475488" cy="1152144"/>
          </a:xfrm>
          <a:prstGeom prst="rect">
            <a:avLst/>
          </a:prstGeom>
          <a:solidFill>
            <a:srgbClr val="E50914"/>
          </a:solidFill>
          <a:ln w="12700">
            <a:solidFill>
              <a:srgbClr val="E50914"/>
            </a:solidFill>
            <a:prstDash val="solid"/>
          </a:ln>
        </p:spPr>
      </p:sp>
      <p:sp>
        <p:nvSpPr>
          <p:cNvPr id="13" name="Text 11"/>
          <p:cNvSpPr/>
          <p:nvPr/>
        </p:nvSpPr>
        <p:spPr>
          <a:xfrm>
            <a:off x="274320" y="2450592"/>
            <a:ext cx="475488" cy="115214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02</a:t>
            </a:r>
            <a:endParaRPr lang="en-US" sz="1400" dirty="0"/>
          </a:p>
        </p:txBody>
      </p:sp>
      <p:sp>
        <p:nvSpPr>
          <p:cNvPr id="14" name="Shape 12"/>
          <p:cNvSpPr/>
          <p:nvPr/>
        </p:nvSpPr>
        <p:spPr>
          <a:xfrm>
            <a:off x="768096" y="2450592"/>
            <a:ext cx="8101584" cy="1152144"/>
          </a:xfrm>
          <a:prstGeom prst="rect">
            <a:avLst/>
          </a:prstGeom>
          <a:solidFill>
            <a:srgbClr val="F5F5F5"/>
          </a:solidFill>
          <a:ln w="12700">
            <a:solidFill>
              <a:srgbClr val="DDDDDD"/>
            </a:solidFill>
            <a:prstDash val="solid"/>
          </a:ln>
        </p:spPr>
      </p:sp>
      <p:sp>
        <p:nvSpPr>
          <p:cNvPr id="15" name="Text 13"/>
          <p:cNvSpPr/>
          <p:nvPr/>
        </p:nvSpPr>
        <p:spPr>
          <a:xfrm>
            <a:off x="896112" y="2505456"/>
            <a:ext cx="7827264" cy="329184"/>
          </a:xfrm>
          <a:prstGeom prst="rect">
            <a:avLst/>
          </a:prstGeom>
          <a:noFill/>
          <a:ln/>
        </p:spPr>
        <p:txBody>
          <a:bodyPr wrap="square" lIns="0" tIns="0" rIns="0" bIns="0" rtlCol="0" anchor="ctr"/>
          <a:lstStyle/>
          <a:p>
            <a:pPr marL="0" indent="0" algn="l">
              <a:buNone/>
            </a:pPr>
            <a:r>
              <a:rPr lang="en-US" sz="1100" b="1" dirty="0">
                <a:solidFill>
                  <a:srgbClr val="141414"/>
                </a:solidFill>
                <a:latin typeface="Calibri" pitchFamily="34" charset="0"/>
                <a:ea typeface="Calibri" pitchFamily="34" charset="-122"/>
                <a:cs typeface="Calibri" pitchFamily="34" charset="-120"/>
              </a:rPr>
              <a:t>한국에서는 냉정한 성과주의보다 증거 기반 성과관리가 현실적이다</a:t>
            </a:r>
            <a:endParaRPr lang="en-US" sz="1100" dirty="0"/>
          </a:p>
        </p:txBody>
      </p:sp>
      <p:sp>
        <p:nvSpPr>
          <p:cNvPr id="16" name="Text 14"/>
          <p:cNvSpPr/>
          <p:nvPr/>
        </p:nvSpPr>
        <p:spPr>
          <a:xfrm>
            <a:off x="896112" y="2834640"/>
            <a:ext cx="7827264" cy="420624"/>
          </a:xfrm>
          <a:prstGeom prst="rect">
            <a:avLst/>
          </a:prstGeom>
          <a:noFill/>
          <a:ln/>
        </p:spPr>
        <p:txBody>
          <a:bodyPr wrap="square" lIns="0" tIns="0" rIns="0" bIns="0" rtlCol="0" anchor="t"/>
          <a:lstStyle/>
          <a:p>
            <a:pPr marL="0" indent="0" algn="l">
              <a:buNone/>
            </a:pPr>
            <a:r>
              <a:rPr lang="en-US" sz="900" dirty="0">
                <a:solidFill>
                  <a:srgbClr val="2A2A2A"/>
                </a:solidFill>
                <a:latin typeface="Calibri" pitchFamily="34" charset="0"/>
                <a:ea typeface="Calibri" pitchFamily="34" charset="-122"/>
                <a:cs typeface="Calibri" pitchFamily="34" charset="-120"/>
              </a:rPr>
              <a:t>한국 근로기준법은 정당한 이유 없는 해고를 금지하고 서면 통지를 요구한다. Netflix식 Keeper Test를 그대로 들여오기보다 정교한 피드백·재배치·개선기회·문서화 체계가 필요하다. 카카오처럼 자율의 정체성을 유지하면서 신뢰·준법 레이어를 함께 강화해야 한다.</a:t>
            </a:r>
            <a:endParaRPr lang="en-US" sz="900" dirty="0"/>
          </a:p>
        </p:txBody>
      </p:sp>
      <p:sp>
        <p:nvSpPr>
          <p:cNvPr id="17" name="Shape 15"/>
          <p:cNvSpPr/>
          <p:nvPr/>
        </p:nvSpPr>
        <p:spPr>
          <a:xfrm>
            <a:off x="768096" y="3328416"/>
            <a:ext cx="8101584" cy="274320"/>
          </a:xfrm>
          <a:prstGeom prst="rect">
            <a:avLst/>
          </a:prstGeom>
          <a:solidFill>
            <a:srgbClr val="141414"/>
          </a:solidFill>
          <a:ln w="12700">
            <a:solidFill>
              <a:srgbClr val="141414"/>
            </a:solidFill>
            <a:prstDash val="solid"/>
          </a:ln>
        </p:spPr>
      </p:sp>
      <p:sp>
        <p:nvSpPr>
          <p:cNvPr id="18" name="Text 16"/>
          <p:cNvSpPr/>
          <p:nvPr/>
        </p:nvSpPr>
        <p:spPr>
          <a:xfrm>
            <a:off x="822960" y="3328416"/>
            <a:ext cx="7991856" cy="274320"/>
          </a:xfrm>
          <a:prstGeom prst="rect">
            <a:avLst/>
          </a:prstGeom>
          <a:noFill/>
          <a:ln/>
        </p:spPr>
        <p:txBody>
          <a:bodyPr wrap="square" lIns="0" tIns="0" rIns="0" bIns="0" rtlCol="0" anchor="ctr"/>
          <a:lstStyle/>
          <a:p>
            <a:pPr marL="0" indent="0" algn="l">
              <a:buNone/>
            </a:pPr>
            <a:r>
              <a:rPr lang="en-US" sz="850" b="1" dirty="0">
                <a:solidFill>
                  <a:srgbClr val="E50914"/>
                </a:solidFill>
                <a:latin typeface="Calibri" pitchFamily="34" charset="0"/>
                <a:ea typeface="Calibri" pitchFamily="34" charset="-122"/>
                <a:cs typeface="Calibri" pitchFamily="34" charset="-120"/>
              </a:rPr>
              <a:t>Keeper Test 직도입 X — 성과관리·피드백 시스템 정교화 O</a:t>
            </a:r>
            <a:endParaRPr lang="en-US" sz="850" dirty="0"/>
          </a:p>
        </p:txBody>
      </p:sp>
      <p:sp>
        <p:nvSpPr>
          <p:cNvPr id="19" name="Shape 17"/>
          <p:cNvSpPr/>
          <p:nvPr/>
        </p:nvSpPr>
        <p:spPr>
          <a:xfrm>
            <a:off x="274320" y="3712464"/>
            <a:ext cx="475488" cy="1152144"/>
          </a:xfrm>
          <a:prstGeom prst="rect">
            <a:avLst/>
          </a:prstGeom>
          <a:solidFill>
            <a:srgbClr val="E50914"/>
          </a:solidFill>
          <a:ln w="12700">
            <a:solidFill>
              <a:srgbClr val="E50914"/>
            </a:solidFill>
            <a:prstDash val="solid"/>
          </a:ln>
        </p:spPr>
      </p:sp>
      <p:sp>
        <p:nvSpPr>
          <p:cNvPr id="20" name="Text 18"/>
          <p:cNvSpPr/>
          <p:nvPr/>
        </p:nvSpPr>
        <p:spPr>
          <a:xfrm>
            <a:off x="274320" y="3712464"/>
            <a:ext cx="475488" cy="115214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03</a:t>
            </a:r>
            <a:endParaRPr lang="en-US" sz="1400" dirty="0"/>
          </a:p>
        </p:txBody>
      </p:sp>
      <p:sp>
        <p:nvSpPr>
          <p:cNvPr id="21" name="Shape 19"/>
          <p:cNvSpPr/>
          <p:nvPr/>
        </p:nvSpPr>
        <p:spPr>
          <a:xfrm>
            <a:off x="768096" y="3712464"/>
            <a:ext cx="8101584" cy="1152144"/>
          </a:xfrm>
          <a:prstGeom prst="rect">
            <a:avLst/>
          </a:prstGeom>
          <a:solidFill>
            <a:srgbClr val="F5F5F5"/>
          </a:solidFill>
          <a:ln w="12700">
            <a:solidFill>
              <a:srgbClr val="DDDDDD"/>
            </a:solidFill>
            <a:prstDash val="solid"/>
          </a:ln>
        </p:spPr>
      </p:sp>
      <p:sp>
        <p:nvSpPr>
          <p:cNvPr id="22" name="Text 20"/>
          <p:cNvSpPr/>
          <p:nvPr/>
        </p:nvSpPr>
        <p:spPr>
          <a:xfrm>
            <a:off x="896112" y="3767328"/>
            <a:ext cx="7827264" cy="329184"/>
          </a:xfrm>
          <a:prstGeom prst="rect">
            <a:avLst/>
          </a:prstGeom>
          <a:noFill/>
          <a:ln/>
        </p:spPr>
        <p:txBody>
          <a:bodyPr wrap="square" lIns="0" tIns="0" rIns="0" bIns="0" rtlCol="0" anchor="ctr"/>
          <a:lstStyle/>
          <a:p>
            <a:pPr marL="0" indent="0" algn="l">
              <a:buNone/>
            </a:pPr>
            <a:r>
              <a:rPr lang="en-US" sz="1100" b="1" dirty="0">
                <a:solidFill>
                  <a:srgbClr val="141414"/>
                </a:solidFill>
                <a:latin typeface="Calibri" pitchFamily="34" charset="0"/>
                <a:ea typeface="Calibri" pitchFamily="34" charset="-122"/>
                <a:cs typeface="Calibri" pitchFamily="34" charset="-120"/>
              </a:rPr>
              <a:t>좋은 문화는 자율이냐 통제냐의 선택이 아니다</a:t>
            </a:r>
            <a:endParaRPr lang="en-US" sz="1100" dirty="0"/>
          </a:p>
        </p:txBody>
      </p:sp>
      <p:sp>
        <p:nvSpPr>
          <p:cNvPr id="23" name="Text 21"/>
          <p:cNvSpPr/>
          <p:nvPr/>
        </p:nvSpPr>
        <p:spPr>
          <a:xfrm>
            <a:off x="896112" y="4096512"/>
            <a:ext cx="7827264" cy="420624"/>
          </a:xfrm>
          <a:prstGeom prst="rect">
            <a:avLst/>
          </a:prstGeom>
          <a:noFill/>
          <a:ln/>
        </p:spPr>
        <p:txBody>
          <a:bodyPr wrap="square" lIns="0" tIns="0" rIns="0" bIns="0" rtlCol="0" anchor="t"/>
          <a:lstStyle/>
          <a:p>
            <a:pPr marL="0" indent="0" algn="l">
              <a:buNone/>
            </a:pPr>
            <a:r>
              <a:rPr lang="en-US" sz="900" dirty="0">
                <a:solidFill>
                  <a:srgbClr val="2A2A2A"/>
                </a:solidFill>
                <a:latin typeface="Calibri" pitchFamily="34" charset="0"/>
                <a:ea typeface="Calibri" pitchFamily="34" charset="-122"/>
                <a:cs typeface="Calibri" pitchFamily="34" charset="-120"/>
              </a:rPr>
              <a:t>경쟁우위는 많이 바꾸는 데서 나오지 않고, 자사의 핵심역량이 무엇인지 정의하고 핵심은 지키되 제도와 운영을 기업 환경과 scale에 맞게 조정하는 능력에서 나온다. 한국 기업의 과제는 Netflix를 따라 하는 것이 아니라, 자사 핵심을 먼저 명확히 아는 것이다.</a:t>
            </a:r>
            <a:endParaRPr lang="en-US" sz="900" dirty="0"/>
          </a:p>
        </p:txBody>
      </p:sp>
      <p:sp>
        <p:nvSpPr>
          <p:cNvPr id="24" name="Shape 22"/>
          <p:cNvSpPr/>
          <p:nvPr/>
        </p:nvSpPr>
        <p:spPr>
          <a:xfrm>
            <a:off x="768096" y="4590288"/>
            <a:ext cx="8101584" cy="274320"/>
          </a:xfrm>
          <a:prstGeom prst="rect">
            <a:avLst/>
          </a:prstGeom>
          <a:solidFill>
            <a:srgbClr val="141414"/>
          </a:solidFill>
          <a:ln w="12700">
            <a:solidFill>
              <a:srgbClr val="141414"/>
            </a:solidFill>
            <a:prstDash val="solid"/>
          </a:ln>
        </p:spPr>
      </p:sp>
      <p:sp>
        <p:nvSpPr>
          <p:cNvPr id="25" name="Text 23"/>
          <p:cNvSpPr/>
          <p:nvPr/>
        </p:nvSpPr>
        <p:spPr>
          <a:xfrm>
            <a:off x="822960" y="4590288"/>
            <a:ext cx="7991856" cy="274320"/>
          </a:xfrm>
          <a:prstGeom prst="rect">
            <a:avLst/>
          </a:prstGeom>
          <a:noFill/>
          <a:ln/>
        </p:spPr>
        <p:txBody>
          <a:bodyPr wrap="square" lIns="0" tIns="0" rIns="0" bIns="0" rtlCol="0" anchor="ctr"/>
          <a:lstStyle/>
          <a:p>
            <a:pPr marL="0" indent="0" algn="l">
              <a:buNone/>
            </a:pPr>
            <a:r>
              <a:rPr lang="en-US" sz="850" b="1" dirty="0">
                <a:solidFill>
                  <a:srgbClr val="E50914"/>
                </a:solidFill>
                <a:latin typeface="Calibri" pitchFamily="34" charset="0"/>
                <a:ea typeface="Calibri" pitchFamily="34" charset="-122"/>
                <a:cs typeface="Calibri" pitchFamily="34" charset="-120"/>
              </a:rPr>
              <a:t>핵심역량 정의 → 핵심 유지 → 운영 변주 능력이 경쟁우위를 만든다</a:t>
            </a:r>
            <a:endParaRPr lang="en-US" sz="850" dirty="0"/>
          </a:p>
        </p:txBody>
      </p:sp>
      <p:sp>
        <p:nvSpPr>
          <p:cNvPr id="26" name="Shape 24"/>
          <p:cNvSpPr/>
          <p:nvPr/>
        </p:nvSpPr>
        <p:spPr>
          <a:xfrm>
            <a:off x="0" y="4864608"/>
            <a:ext cx="9144000" cy="278892"/>
          </a:xfrm>
          <a:prstGeom prst="rect">
            <a:avLst/>
          </a:prstGeom>
          <a:solidFill>
            <a:srgbClr val="E50914"/>
          </a:solidFill>
          <a:ln w="12700">
            <a:solidFill>
              <a:srgbClr val="E50914"/>
            </a:solidFill>
            <a:prstDash val="solid"/>
          </a:ln>
        </p:spPr>
      </p:sp>
      <p:sp>
        <p:nvSpPr>
          <p:cNvPr id="27" name="Text 25"/>
          <p:cNvSpPr/>
          <p:nvPr/>
        </p:nvSpPr>
        <p:spPr>
          <a:xfrm>
            <a:off x="274320" y="4864608"/>
            <a:ext cx="8595360" cy="278892"/>
          </a:xfrm>
          <a:prstGeom prst="rect">
            <a:avLst/>
          </a:prstGeom>
          <a:noFill/>
          <a:ln/>
        </p:spPr>
        <p:txBody>
          <a:bodyPr wrap="square" lIns="0" tIns="0" rIns="0" bIns="0" rtlCol="0" anchor="ctr"/>
          <a:lstStyle/>
          <a:p>
            <a:pPr marL="0" indent="0" algn="ctr">
              <a:buNone/>
            </a:pPr>
            <a:r>
              <a:rPr lang="en-US" sz="1000" b="1" i="1" dirty="0">
                <a:solidFill>
                  <a:srgbClr val="FFFFFF"/>
                </a:solidFill>
                <a:latin typeface="Calibri" pitchFamily="34" charset="0"/>
                <a:ea typeface="Calibri" pitchFamily="34" charset="-122"/>
                <a:cs typeface="Calibri" pitchFamily="34" charset="-120"/>
              </a:rPr>
              <a:t>"경쟁우위는 많이 바꾸는 데서 나오지 않고, 무엇을 끝까지 지켜야 하는지 아는 데서 나온다"</a:t>
            </a:r>
            <a:endParaRPr lang="en-US" sz="1000" dirty="0"/>
          </a:p>
        </p:txBody>
      </p:sp>
    </p:spTree>
    <p:extLst>
      <p:ext uri="{BB962C8B-B14F-4D97-AF65-F5344CB8AC3E}">
        <p14:creationId xmlns:p14="http://schemas.microsoft.com/office/powerpoint/2010/main" val="28663115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50914"/>
          </a:solidFill>
          <a:ln w="12700">
            <a:solidFill>
              <a:srgbClr val="E50914"/>
            </a:solidFill>
            <a:prstDash val="solid"/>
          </a:ln>
        </p:spPr>
      </p:sp>
      <p:pic>
        <p:nvPicPr>
          <p:cNvPr id="5" name="그림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6895" y="0"/>
            <a:ext cx="2830210" cy="5143500"/>
          </a:xfrm>
          <a:prstGeom prst="rect">
            <a:avLst/>
          </a:prstGeom>
        </p:spPr>
      </p:pic>
      <p:sp>
        <p:nvSpPr>
          <p:cNvPr id="4" name="Text 2"/>
          <p:cNvSpPr/>
          <p:nvPr/>
        </p:nvSpPr>
        <p:spPr>
          <a:xfrm>
            <a:off x="3156895" y="2320290"/>
            <a:ext cx="689719" cy="502920"/>
          </a:xfrm>
          <a:prstGeom prst="rect">
            <a:avLst/>
          </a:prstGeom>
          <a:noFill/>
          <a:ln/>
        </p:spPr>
        <p:txBody>
          <a:bodyPr wrap="square" lIns="0" tIns="0" rIns="0" bIns="0" rtlCol="0" anchor="ctr"/>
          <a:lstStyle/>
          <a:p>
            <a:pPr algn="ctr"/>
            <a:r>
              <a:rPr lang="en-US" altLang="ko-KR" sz="4000" b="1" dirty="0" smtClean="0"/>
              <a:t>E</a:t>
            </a:r>
            <a:endParaRPr lang="en-US" altLang="ko-KR" sz="4000" b="1" dirty="0"/>
          </a:p>
        </p:txBody>
      </p:sp>
      <p:sp>
        <p:nvSpPr>
          <p:cNvPr id="13" name="Text 2"/>
          <p:cNvSpPr/>
          <p:nvPr/>
        </p:nvSpPr>
        <p:spPr>
          <a:xfrm>
            <a:off x="5297386" y="2320290"/>
            <a:ext cx="689719" cy="502920"/>
          </a:xfrm>
          <a:prstGeom prst="rect">
            <a:avLst/>
          </a:prstGeom>
          <a:noFill/>
          <a:ln/>
        </p:spPr>
        <p:txBody>
          <a:bodyPr wrap="square" lIns="0" tIns="0" rIns="0" bIns="0" rtlCol="0" anchor="ctr"/>
          <a:lstStyle/>
          <a:p>
            <a:pPr algn="ctr"/>
            <a:r>
              <a:rPr lang="en-US" altLang="ko-KR" sz="4000" b="1" dirty="0" smtClean="0"/>
              <a:t>D</a:t>
            </a:r>
            <a:endParaRPr lang="en-US" altLang="ko-KR" sz="4000" b="1" dirty="0"/>
          </a:p>
        </p:txBody>
      </p:sp>
    </p:spTree>
    <p:extLst>
      <p:ext uri="{BB962C8B-B14F-4D97-AF65-F5344CB8AC3E}">
        <p14:creationId xmlns:p14="http://schemas.microsoft.com/office/powerpoint/2010/main" val="290966405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1197</TotalTime>
  <Words>2344</Words>
  <Application>Microsoft Office PowerPoint</Application>
  <PresentationFormat>화면 슬라이드 쇼(16:9)</PresentationFormat>
  <Paragraphs>435</Paragraphs>
  <Slides>20</Slides>
  <Notes>20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20</vt:i4>
      </vt:variant>
    </vt:vector>
  </HeadingPairs>
  <TitlesOfParts>
    <vt:vector size="25" baseType="lpstr">
      <vt:lpstr>맑은 고딕</vt:lpstr>
      <vt:lpstr>Arial</vt:lpstr>
      <vt:lpstr>Arial Black</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HRM Case Study</dc:title>
  <dc:subject>PptxGenJS Presentation</dc:subject>
  <dc:creator>MBA HRM</dc:creator>
  <cp:lastModifiedBy>김동찬</cp:lastModifiedBy>
  <cp:revision>275</cp:revision>
  <cp:lastPrinted>2026-03-27T14:57:11Z</cp:lastPrinted>
  <dcterms:created xsi:type="dcterms:W3CDTF">2026-03-17T19:34:21Z</dcterms:created>
  <dcterms:modified xsi:type="dcterms:W3CDTF">2026-03-28T13:04:10Z</dcterms:modified>
</cp:coreProperties>
</file>