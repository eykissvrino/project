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2" r:id="rId7"/>
    <p:sldId id="261" r:id="rId8"/>
    <p:sldId id="264" r:id="rId9"/>
    <p:sldId id="265" r:id="rId10"/>
    <p:sldId id="266" r:id="rId11"/>
    <p:sldId id="267" r:id="rId12"/>
    <p:sldId id="268" r:id="rId13"/>
    <p:sldId id="269" r:id="rId14"/>
    <p:sldId id="270" r:id="rId15"/>
    <p:sldId id="271" r:id="rId16"/>
    <p:sldId id="272" r:id="rId17"/>
    <p:sldId id="273"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98" d="100"/>
          <a:sy n="198" d="100"/>
        </p:scale>
        <p:origin x="714"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977169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 발표할 주제는 하버드 경영대학원의 'SG 코웬: 신규 채용' 사례연구입니다. 이 케이스는 2001년 미국 투자은행 SG 코웬이 신입 어소시에이트를 채용하는 과정에서 마주한 의사결정 딜레마를 다루고 있습니다. 채용이 단순한 인력 충원이 아니라 조직 문화를 형성하는 전략적 활동임을 잘 보여주는 사례입니다.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크게 6개 파트로 진행됩니다. 먼저 산업 배경과 회사를 소개하고, 채용 프로세스를 분석한 뒤, 4명의 후보자를 상세히 살펴봅니다. 이후 시사점을 도출하고, 한국 상황에의 적용 가능성을 검토한 후, 토론 거리로 마무리하겠습니다.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2001년 투자은행 산업은 큰 변화의 시기였습니다. 업계 전반에 걸쳐 통합이 진행되었고, 경기 하강으로 거래량과 IPO가 급감했습니다. 보상 비용이 수익의 50%를 차지할 정도로 인건비 비중이 높았고, 이에 따라 많은 은행이 인력 감축에 나섰습니다. 동시에 VC, 사모펀드, 헤지펀드, 컨설팅, 테크 기업 등 다양한 산업과 인재를 놓고 치열하게 경쟁하고 있었습니다. 이런 환경에서 '누구를 채용하느냐'가 곧 회사의 미래를 결정짓는 핵심 전략적 의사결정이 된 것입니다.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SG 코웬은 1998년 프랑스 국제은행 소시에테 제네랄이 코웬 앤 컴퍼니를 6억 달러에 인수하면서 탄생했습니다. 코웬은 원래 1918년 채권 중개업으로 시작해 최고 수준의 리서치와 강력한 주식 영업 역량으로 성장한 회사입니다. SG 코웬은 부티크 규모를 유지하면서도 </a:t>
            </a:r>
            <a:r>
              <a:rPr lang="en-US" dirty="0" err="1"/>
              <a:t>모회사의</a:t>
            </a:r>
            <a:r>
              <a:rPr lang="en-US" dirty="0"/>
              <a:t> </a:t>
            </a:r>
            <a:r>
              <a:rPr lang="ko-KR" altLang="en-US" dirty="0"/>
              <a:t>자본력</a:t>
            </a:r>
            <a:r>
              <a:rPr lang="en-US" dirty="0"/>
              <a:t> 활용할 수 있는 독특한 포지셔닝을 가졌습니다. 핵심 전략은 헬스케어와 기술 분야의 신흥 성장 기업에 집중하는 것이었고, CEO 페네브레스크는 리서치를 고객 관계의 출발점으로 중시했습니다. 주목할 점은 1999년 대규모 적자에서 2000년 흑자로의 극적인 턴어라운드를 달성했다는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채용 프로세스는 4단계로 진행됩니다. 먼저 가을에 핵심 비즈니스 스쿨 9곳을 방문해 회사 프레젠테이션을 합니다. 이후 캠퍼스에서 1차 면접을 진행하는데, </a:t>
            </a:r>
            <a:r>
              <a:rPr lang="en-US" dirty="0" err="1"/>
              <a:t>오픈</a:t>
            </a:r>
            <a:r>
              <a:rPr lang="en-US" dirty="0"/>
              <a:t> </a:t>
            </a:r>
            <a:r>
              <a:rPr lang="ko-KR" altLang="en-US" dirty="0"/>
              <a:t>리스트와</a:t>
            </a:r>
            <a:r>
              <a:rPr lang="en-US" dirty="0"/>
              <a:t> </a:t>
            </a:r>
            <a:r>
              <a:rPr lang="en-US" dirty="0" err="1"/>
              <a:t>클로즈드</a:t>
            </a:r>
            <a:r>
              <a:rPr lang="en-US" dirty="0"/>
              <a:t> </a:t>
            </a:r>
            <a:r>
              <a:rPr lang="ko-KR" altLang="en-US" dirty="0"/>
              <a:t>리스트를</a:t>
            </a:r>
            <a:r>
              <a:rPr lang="en-US" dirty="0"/>
              <a:t> 병행합니다. 1차 통과자들은 '슈퍼 새터데이'에 초대되는데, 금요일 저녁 만찬으로 시작해 토요일 아침에 5회의 30분 면접을 치릅니다. 면접 직후 뱅커들이 모여 즉석에서 채용 결정을 내립니다. 핵심 숫자들을 보면, 30명의 어소시에이트 클래스를 채우기 위해 20개의 오퍼를 내고, 약 75%인 15명의 수락을 예상합니다. 나머지 15명은 여름 인턴 전환 8명과 내부 승진 7명으로 구성됩니다.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칩 레이의 가장 큰 전략적 전환은 타깃 학교의 변경이었습니다. 기존에는 상위 10개 학교에 집중했지만, 거기서는 클래스 중간 수준의 학생만 확보할 수 있었습니다. 그래서 에모리, USC 같은 상위 25개 중 차순위 15개 학교로 관심을 돌려, 클래스 상위권 학생들을 채용하는 전략을 택했습니다. 처음에는 경영진의 저항이 있었지만, 실제로 이 학생들이 더 충성스러운 경향이 있다는 결과를 얻었습니다. 채용 원칙 세 가지도 주목할 만합니다. 첫째, 문화 적합성을 기술 역량보다 우선시했고, 둘째, 인재 발굴과 오퍼 클로징의 역할을 분리했으며, 셋째, 단기 기술보다 장기적으로 일을 사랑하는 사람을 찾았습니다.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슈퍼 새터데이는 SG 코웬 채용 프로세스의 핵심입니다. 사실 금요일 오후부터 시작되는데요, 여러 학교에서 온 지원자들이 미드타운의 고급 레스토랑 와인 셀러에서 면접관들과 함께 만찬을 즐깁니다. CEO 페네브레스크가 직접 연설을 하는데, 채용 과정에서 CEO가 직접 나서는 것은 드문 일이어서 지원자들에게 강한 인상을 남깁니다. 이 자리는 비공식적 환경에서 지원자의 사교성과 문화 적합성을 관찰하는 기회이기도 합니다. 토요일 아침 9시부터는 본격적인 면접이 시작됩니다. 각 </a:t>
            </a:r>
            <a:r>
              <a:rPr lang="en-US" dirty="0" err="1"/>
              <a:t>지원자는</a:t>
            </a:r>
            <a:r>
              <a:rPr lang="en-US" dirty="0"/>
              <a:t> 30분씩 총 5회 면접을 치르며, 30명의 뱅커가 30명의 지원자를 동시에 평가하는 대규모 행사입니다. 면접이 끝나면 '자이언츠 스타디움'이라는 별명의 대회의실에서 점심을 먹으며 즉석 채용 회의를 진행합니다. 칩 레이가 지원자 이름이 적힌 마그네틱 플래카드를 보드에 붙이고, 논의가 진행되면서 Yes, No, Maybe 그룹으로 이동시키는 방식이죠. 확실한 Yes와 명확한 No는 빠르게 결정되지만, '아마도' 그룹에 대한 논의가 가장 어려운 부분입니다. 오늘 사례의 4명의 후보자가 바로 이 '아마도' 그룹에 속한 사람들입니다.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핵심 부분입니다. 슈퍼 새터데이 면접 후, 대부분의 지원자는 결정되었지만 4명이 '아마도' 카테고리에 남았습니다. 남은 2자리에 이 4명 중 누구를 선택할 것인가가 핵심 딜레마입니다. 나탈리아는 코넬 MBA로 뛰어난 재무 역량이 있지만 문화 적합성과 영어 문제가 제기되었습니다. 마틴은 와튼 MBA 출신 군 경력자로 역동적이지만, 사업 경험이 없고 충성도가 불확실합니다. 켄은 버클리 MBA로 PwC 상위 5%의 성과를 냈지만, 두 아이의 아버지로서 워라밸 우려가 있습니다. 앤디는 USC MBA의 성공적 창업가이지만 학점이 2.8로 낮습니다.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나탈리아 고들레프스카는 폴란드 출신으로 22세에 미국으로 이주했습니다. 객관적 역량은 매우 뛰어납니다. 재무학과 최고 학점, M&amp;A 소프트웨어 회사에서 4년 근무, 4개 국어 구사 등 다방면에서 강점이 있죠. 추천인도 '힘든 협상에 데려가고 싶은 사람'이라고 극찬했습니다. 그러나 두 가지 우려가 제기되었습니다. 어소시에이트는 그녀가 잡담이나 만찬에서 딱딱해 보였다며 문화 적합성을 의문시했고, 매니징 디렉터는 영어가 완벽하지 않아 일부 뱅커들이 인내심을 잃을 수 있다고 했습니다. 이에 대해 옹호하는 면접관들은 '문화를 핑계로 쓰기 쉽다'고 반박하며, 다양한 배경의 사람과 일하는 것이 중요하다고 주장했습니다. 핵심 쟁점은 문화 적합성이란 기준이 실질적 업무 역량과 무관한 편견을 정당화하는 도구가 되고 있지 않은가 하는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마틴 스트리트는 와튼 MBA 재학 중으로, 군에서 4년간 복무하며 보스니아 구조작전을 이끈 경험이 있습니다. 리더십 면에서는 의심할 여지가 없습니다. 섹션 회장, 러닝 클럽 회장을 맡고, 마라톤과 트라이애슬론을 완주할 정도로 강한 의지력을 가지고 있죠. 하지만 비즈니스 경험이 전무하다는 것이 가장 큰 약점입니다. 또한 와튼 규칙상 성적을 확인할 수 없었고, SG 코웬이 와튼에 늦게 갔기 때문에 '정말 원해서 온 것인지 다른 곳에서 떨어져서 온 것인지' 불분명합니다. 가장 우려스러운 점은 계속 다른 회사 채용 행사에 참석하고 있어 오퍼를 내더라도 수락할지 불확실하다는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켄 골드스틴은 이 사례에서 가장 논쟁적인 후보입니다. 객관적 역량은 4명 중 가장 검증되어 있습니다. PwC 상위 5%, 빠른 승진, 모든 면접관의 긍정 평가까지. 그런데 왜 즉시 '예'가 되지 못했을까요? 한 뱅커가 "모두가 말하기 두려워하는 것"이라고 꺼낸 것은, 켄이 결혼해서 신생아와 두 살짜리가 있다는 점이었습니다. 주 7일 24시간 일할 수 있겠느냐, 다른 1년차에게 불공평하지 않느냐는 우려였죠. 또한 '너무 성숙하다'며 지시를 잘 따르겠느냐는 의문도 있었습니다. 이것은 명백한 가정 상황에 기반한 차별 우려입니다. 한국 맥락에서도 기혼자, 특히 자녀가 있는 지원자에 대한 편견이 존재하기 때문에 매우 시사적인 부분입니다.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앤디 산체스는 독특한 프로필입니다. 대학 1학년 때 카플란 스타일의 과외 사업을 창업해 매출 200만 달러, 이익 40만 달러를 달성한 성공적 기업가입니다. 면접관 모두가 그의 열정과 인간적 매력에 감탄했고, 사전에 회사를 철저히 조사하고 적극적으로 네트워킹한 점도 높이 평가됐습니다. 그러나 학부 GPA 2.8이 큰 걸림돌이었죠. 학점 인플레이션 시대에 이 점수는 확실히 눈에 띕니다. 하지만 산체스의 설명은 설득력이 있습니다. 본인과 두 형제의 학비를 벌기 위해 사업에 시간을 투자할 수밖에 없었다는 것이죠. SAT와 GMAT은 매우 높아 지적 역량은 검증되었습니다. 빌 뷰캐넌이 말했듯이 '기업가 경험이 있으면 큰 차이'가 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비교표는 4명의 후보자를 주요 기준별로 정리한 것입니다. 재무 역량은 나탈리아가 가장 강하고, 리더십은 마틴이 압도적입니다. 문화 적합성에서는 켄과 앤디가 높은 평가를 받았고, 충성도 면에서도 이 둘이 우수합니다. 기업가 정신은 앤디가 독보적이고요. 주목할 점은 각 후보의 우려 사항이 서로 다른 유형의 편견을 드러낸다는 것입니다. 나탈리아는 국적과 언어, 마틴은 학교 브랜드, 켄은 가정 상황, 앤디는 학점에 대한 편견입니다. 즉, 이 사례는 단순한 채용 결정이 아니라 조직이 가진 무의식적 편견을 드러내는 거울이라고 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시사점을 네 가지로 정리했습니다. 첫째, 채용 기준의 모호성이 편견의 온상이 됩니다. '문화 적합성'이란 기준은 그 정의가 불명확해서 면접관 개인의 편향이 합리화되는 통로가 됩니다. 둘째, 무의식적 편견은 매우 다양한 형태로 나타납니다. 나탈리아에 대한 국적/언어 편견, 켄에 대한 가정 상황 편견, 앤디에 대한 학점 편견 등 각각 다른 모습이지만 본질은 같습니다. 셋째, 채용은 곧 문화의 재생산 과정입니다. 누구를 뽑느냐가 곧 어떤 조직을 만들겠다는 선언입니다. 넷째, 구조화된 프로세스가 필요합니다. 사례에서 일부 뱅커가 과학적 접근을 거부했지만, 체계적 평가 도구 없이는 일관된 의사결정이 불가능합니다.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한국 상황에의 적용 가능성을 네 가지 측면에서 살펴보겠습니다. 첫째, 학벌 중심 채용 문화입니다. SG 코웬의 학교 티어 전략은 한국의 학벌 편향과 매우 유사합니다. 칩 레이가 차순위 학교의 상위권을 선택해 성과를 낸 것처럼, 한국에서도 소위 '비명문대' 상위권 인재를 발굴하는 전략이 유효할 수 있습니다. 둘째, 켄 골드스틴 사례와 유사하게, 한국에서도 기혼자나 육아 중인 지원자에 대한 편견이 있습니다. 남녀고용평등법이 이를 금지하고 있지만, 실무에서는 '야근 가능 여부'나 '헌신도'라는 이름으로 유사한 차별이 작동합니다. 셋째, 나탈리아 사례처럼 외국인 인재에 대한 '문화 적합성' 핑계의 배제가 한국에서도 발생할 수 있습니다. 넷째, 구조화된 면접 도입이 필요합니다. 대기업은 많이 도입했지만 중소·중견 기업에는 아직 확산이 부족한 상황입니다.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토론 거리를 5개 준비했습니다. 첫 번째, 가장 핵심적인 질문입니다. 여러분이 칩 레이라면 4명 중 누구 2명을 선택하시겠습니까? 그리고 그 이유는 무엇인지요. 두 번째, 문화 적합성의 정당한 범위에 대한 논의입니다. 나탈리아가 잡담에서 딱딱했다는 것이 채용을 거부할 정당한 사유가 될 수 있을까요? 세 번째, 개인 생활이 채용에 영향을 미쳐야 하는가에 대한 질문입니다. 켄의 자녀 문제는 합리적 우려인가, 명백한 차별인가? 네 번째, GPA와 업무 성과의 상관관계입니다. 앤디의 사례는 학점이 과연 좋은 예측변수인지 의문을 제기합니다. 다섯 번째, 우리 한국 조직에서 가장 개선이 필요한 채용 편견이 무엇인지 함께 논의해보겠습니다. 이상으로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감사합니다. 질문이 있으시면 말씀해주세요.</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B"/>
          </a:solidFill>
          <a:ln/>
        </p:spPr>
        <p:txBody>
          <a:bodyPr/>
          <a:lstStyle/>
          <a:p>
            <a:endParaRPr lang="ko-KR" altLang="en-US"/>
          </a:p>
        </p:txBody>
      </p:sp>
      <p:sp>
        <p:nvSpPr>
          <p:cNvPr id="3" name="Shape 1"/>
          <p:cNvSpPr/>
          <p:nvPr/>
        </p:nvSpPr>
        <p:spPr>
          <a:xfrm>
            <a:off x="640080" y="1280160"/>
            <a:ext cx="73152" cy="2011680"/>
          </a:xfrm>
          <a:prstGeom prst="rect">
            <a:avLst/>
          </a:prstGeom>
          <a:solidFill>
            <a:srgbClr val="D4A84B"/>
          </a:solidFill>
          <a:ln/>
        </p:spPr>
        <p:txBody>
          <a:bodyPr/>
          <a:lstStyle/>
          <a:p>
            <a:endParaRPr lang="ko-KR" altLang="en-US"/>
          </a:p>
        </p:txBody>
      </p:sp>
      <p:sp>
        <p:nvSpPr>
          <p:cNvPr id="4" name="Text 2"/>
          <p:cNvSpPr/>
          <p:nvPr/>
        </p:nvSpPr>
        <p:spPr>
          <a:xfrm>
            <a:off x="1005840" y="1188720"/>
            <a:ext cx="7315200" cy="914400"/>
          </a:xfrm>
          <a:prstGeom prst="rect">
            <a:avLst/>
          </a:prstGeom>
          <a:noFill/>
          <a:ln/>
        </p:spPr>
        <p:txBody>
          <a:bodyPr wrap="square" lIns="0" tIns="0" rIns="0" bIns="0" rtlCol="0" anchor="ctr"/>
          <a:lstStyle/>
          <a:p>
            <a:pPr marL="0" indent="0">
              <a:buNone/>
            </a:pPr>
            <a:r>
              <a:rPr lang="en-US" sz="4000" b="1" dirty="0">
                <a:solidFill>
                  <a:srgbClr val="FFFFFF"/>
                </a:solidFill>
                <a:latin typeface="Noto Sans KR" pitchFamily="34" charset="0"/>
                <a:ea typeface="Noto Sans KR" pitchFamily="34" charset="-122"/>
                <a:cs typeface="Noto Sans KR" pitchFamily="34" charset="-120"/>
              </a:rPr>
              <a:t>SG 코웬: 신규 채용</a:t>
            </a:r>
            <a:endParaRPr lang="en-US" sz="4000" dirty="0"/>
          </a:p>
        </p:txBody>
      </p:sp>
      <p:sp>
        <p:nvSpPr>
          <p:cNvPr id="5" name="Text 3"/>
          <p:cNvSpPr/>
          <p:nvPr/>
        </p:nvSpPr>
        <p:spPr>
          <a:xfrm>
            <a:off x="1005840" y="201168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Noto Sans KR" pitchFamily="34" charset="0"/>
                <a:ea typeface="Noto Sans KR" pitchFamily="34" charset="-122"/>
                <a:cs typeface="Noto Sans KR" pitchFamily="34" charset="-120"/>
              </a:rPr>
              <a:t>Harvard Business School Case Study 분석</a:t>
            </a:r>
            <a:endParaRPr lang="en-US" sz="1800" dirty="0"/>
          </a:p>
        </p:txBody>
      </p:sp>
      <p:sp>
        <p:nvSpPr>
          <p:cNvPr id="6" name="Text 4"/>
          <p:cNvSpPr/>
          <p:nvPr/>
        </p:nvSpPr>
        <p:spPr>
          <a:xfrm>
            <a:off x="1005840" y="2560320"/>
            <a:ext cx="7315200" cy="457200"/>
          </a:xfrm>
          <a:prstGeom prst="rect">
            <a:avLst/>
          </a:prstGeom>
          <a:noFill/>
          <a:ln/>
        </p:spPr>
        <p:txBody>
          <a:bodyPr wrap="square" lIns="0" tIns="0" rIns="0" bIns="0" rtlCol="0" anchor="ctr"/>
          <a:lstStyle/>
          <a:p>
            <a:pPr marL="0" indent="0">
              <a:buNone/>
            </a:pPr>
            <a:r>
              <a:rPr lang="en-US" sz="1400" dirty="0">
                <a:solidFill>
                  <a:srgbClr val="8A98AD"/>
                </a:solidFill>
                <a:latin typeface="Noto Sans KR" pitchFamily="34" charset="0"/>
                <a:ea typeface="Noto Sans KR" pitchFamily="34" charset="-122"/>
                <a:cs typeface="Noto Sans KR" pitchFamily="34" charset="-120"/>
              </a:rPr>
              <a:t>투자은행의 인재 채용 전략과 의사결정 딜레마</a:t>
            </a:r>
            <a:endParaRPr lang="en-US" sz="1400" dirty="0"/>
          </a:p>
        </p:txBody>
      </p:sp>
      <p:sp>
        <p:nvSpPr>
          <p:cNvPr id="7" name="Shape 5"/>
          <p:cNvSpPr/>
          <p:nvPr/>
        </p:nvSpPr>
        <p:spPr>
          <a:xfrm>
            <a:off x="0" y="4389120"/>
            <a:ext cx="9144000" cy="754380"/>
          </a:xfrm>
          <a:prstGeom prst="rect">
            <a:avLst/>
          </a:prstGeom>
          <a:solidFill>
            <a:srgbClr val="233456"/>
          </a:solidFill>
          <a:ln/>
        </p:spPr>
        <p:txBody>
          <a:bodyPr/>
          <a:lstStyle/>
          <a:p>
            <a:endParaRPr lang="ko-KR" altLang="en-US"/>
          </a:p>
        </p:txBody>
      </p:sp>
      <p:sp>
        <p:nvSpPr>
          <p:cNvPr id="8" name="Text 6"/>
          <p:cNvSpPr/>
          <p:nvPr/>
        </p:nvSpPr>
        <p:spPr>
          <a:xfrm>
            <a:off x="1005840" y="4480560"/>
            <a:ext cx="6400800" cy="548640"/>
          </a:xfrm>
          <a:prstGeom prst="rect">
            <a:avLst/>
          </a:prstGeom>
          <a:noFill/>
          <a:ln/>
        </p:spPr>
        <p:txBody>
          <a:bodyPr wrap="square" lIns="0" tIns="0" rIns="0" bIns="0" rtlCol="0" anchor="ctr"/>
          <a:lstStyle/>
          <a:p>
            <a:pPr marL="0" indent="0">
              <a:buNone/>
            </a:pPr>
            <a:r>
              <a:rPr lang="ko-KR" altLang="en-US" sz="1200" dirty="0">
                <a:solidFill>
                  <a:srgbClr val="8A98AD"/>
                </a:solidFill>
                <a:latin typeface="Noto Sans KR" pitchFamily="34" charset="0"/>
                <a:ea typeface="Noto Sans KR" pitchFamily="34" charset="-122"/>
                <a:cs typeface="Noto Sans KR" pitchFamily="34" charset="-120"/>
              </a:rPr>
              <a:t>오종민 </a:t>
            </a:r>
            <a:r>
              <a:rPr lang="en-US" sz="1200" dirty="0">
                <a:solidFill>
                  <a:srgbClr val="8A98AD"/>
                </a:solidFill>
                <a:latin typeface="Noto Sans KR" pitchFamily="34" charset="0"/>
                <a:ea typeface="Noto Sans KR" pitchFamily="34" charset="-122"/>
                <a:cs typeface="Noto Sans KR" pitchFamily="34" charset="-120"/>
              </a:rPr>
              <a:t>| 2026.04.11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2744"/>
          </a:solidFill>
          <a:ln/>
        </p:spPr>
        <p:txBody>
          <a:bodyPr/>
          <a:lstStyle/>
          <a:p>
            <a:endParaRPr lang="ko-KR" altLang="en-US"/>
          </a:p>
        </p:txBody>
      </p:sp>
      <p:sp>
        <p:nvSpPr>
          <p:cNvPr id="3" name="Text 1"/>
          <p:cNvSpPr/>
          <p:nvPr/>
        </p:nvSpPr>
        <p:spPr>
          <a:xfrm>
            <a:off x="640080" y="365760"/>
            <a:ext cx="8229600" cy="640080"/>
          </a:xfrm>
          <a:prstGeom prst="rect">
            <a:avLst/>
          </a:prstGeom>
          <a:noFill/>
          <a:ln/>
        </p:spPr>
        <p:txBody>
          <a:bodyPr wrap="square" lIns="0" tIns="0" rIns="0" bIns="0" rtlCol="0" anchor="ctr"/>
          <a:lstStyle/>
          <a:p>
            <a:pPr marL="0" indent="0">
              <a:buNone/>
            </a:pPr>
            <a:r>
              <a:rPr lang="en-US" sz="3200" b="1" dirty="0">
                <a:solidFill>
                  <a:srgbClr val="1A2744"/>
                </a:solidFill>
                <a:latin typeface="Noto Sans KR" pitchFamily="34" charset="0"/>
                <a:ea typeface="Noto Sans KR" pitchFamily="34" charset="-122"/>
                <a:cs typeface="Noto Sans KR" pitchFamily="34" charset="-120"/>
              </a:rPr>
              <a:t>발표 구성</a:t>
            </a:r>
            <a:endParaRPr lang="en-US" sz="3200" dirty="0"/>
          </a:p>
        </p:txBody>
      </p:sp>
      <p:sp>
        <p:nvSpPr>
          <p:cNvPr id="4" name="Text 2"/>
          <p:cNvSpPr/>
          <p:nvPr/>
        </p:nvSpPr>
        <p:spPr>
          <a:xfrm>
            <a:off x="640080" y="1234440"/>
            <a:ext cx="640080" cy="457200"/>
          </a:xfrm>
          <a:prstGeom prst="rect">
            <a:avLst/>
          </a:prstGeom>
          <a:noFill/>
          <a:ln/>
        </p:spPr>
        <p:txBody>
          <a:bodyPr wrap="square" lIns="0" tIns="0" rIns="0" bIns="0" rtlCol="0" anchor="ctr"/>
          <a:lstStyle/>
          <a:p>
            <a:pPr marL="0" indent="0">
              <a:buNone/>
            </a:pPr>
            <a:r>
              <a:rPr lang="en-US" sz="2200" b="1" dirty="0">
                <a:solidFill>
                  <a:srgbClr val="D4A84B"/>
                </a:solidFill>
                <a:latin typeface="Noto Sans KR" pitchFamily="34" charset="0"/>
                <a:ea typeface="Noto Sans KR" pitchFamily="34" charset="-122"/>
                <a:cs typeface="Noto Sans KR" pitchFamily="34" charset="-120"/>
              </a:rPr>
              <a:t>01</a:t>
            </a:r>
            <a:endParaRPr lang="en-US" sz="2200" dirty="0"/>
          </a:p>
        </p:txBody>
      </p:sp>
      <p:sp>
        <p:nvSpPr>
          <p:cNvPr id="5" name="Text 3"/>
          <p:cNvSpPr/>
          <p:nvPr/>
        </p:nvSpPr>
        <p:spPr>
          <a:xfrm>
            <a:off x="1371600" y="1216152"/>
            <a:ext cx="4572000" cy="292608"/>
          </a:xfrm>
          <a:prstGeom prst="rect">
            <a:avLst/>
          </a:prstGeom>
          <a:noFill/>
          <a:ln/>
        </p:spPr>
        <p:txBody>
          <a:bodyPr wrap="square" lIns="0" tIns="0" rIns="0" bIns="0" rtlCol="0" anchor="ctr"/>
          <a:lstStyle/>
          <a:p>
            <a:pPr marL="0" indent="0">
              <a:buNone/>
            </a:pPr>
            <a:r>
              <a:rPr lang="en-US" sz="1600" b="1" dirty="0">
                <a:solidFill>
                  <a:srgbClr val="1A2744"/>
                </a:solidFill>
                <a:latin typeface="Noto Sans KR" pitchFamily="34" charset="0"/>
                <a:ea typeface="Noto Sans KR" pitchFamily="34" charset="-122"/>
                <a:cs typeface="Noto Sans KR" pitchFamily="34" charset="-120"/>
              </a:rPr>
              <a:t>산업 배경 및 회사 소개</a:t>
            </a:r>
            <a:endParaRPr lang="en-US" sz="1600" dirty="0"/>
          </a:p>
        </p:txBody>
      </p:sp>
      <p:sp>
        <p:nvSpPr>
          <p:cNvPr id="6" name="Text 4"/>
          <p:cNvSpPr/>
          <p:nvPr/>
        </p:nvSpPr>
        <p:spPr>
          <a:xfrm>
            <a:off x="1371600" y="1490472"/>
            <a:ext cx="4572000" cy="256032"/>
          </a:xfrm>
          <a:prstGeom prst="rect">
            <a:avLst/>
          </a:prstGeom>
          <a:noFill/>
          <a:ln/>
        </p:spPr>
        <p:txBody>
          <a:bodyPr wrap="square" lIns="0" tIns="0" rIns="0" bIns="0" rtlCol="0" anchor="ctr"/>
          <a:lstStyle/>
          <a:p>
            <a:pPr marL="0" indent="0">
              <a:buNone/>
            </a:pPr>
            <a:r>
              <a:rPr lang="en-US" sz="1200" dirty="0">
                <a:solidFill>
                  <a:srgbClr val="8A98AD"/>
                </a:solidFill>
                <a:latin typeface="Noto Sans KR" pitchFamily="34" charset="0"/>
                <a:ea typeface="Noto Sans KR" pitchFamily="34" charset="-122"/>
                <a:cs typeface="Noto Sans KR" pitchFamily="34" charset="-120"/>
              </a:rPr>
              <a:t>2001년 투자은행 산업과 SG 코웬</a:t>
            </a:r>
            <a:endParaRPr lang="en-US" sz="1200" dirty="0"/>
          </a:p>
        </p:txBody>
      </p:sp>
      <p:sp>
        <p:nvSpPr>
          <p:cNvPr id="7" name="Text 5"/>
          <p:cNvSpPr/>
          <p:nvPr/>
        </p:nvSpPr>
        <p:spPr>
          <a:xfrm>
            <a:off x="640080" y="1828800"/>
            <a:ext cx="640080" cy="457200"/>
          </a:xfrm>
          <a:prstGeom prst="rect">
            <a:avLst/>
          </a:prstGeom>
          <a:noFill/>
          <a:ln/>
        </p:spPr>
        <p:txBody>
          <a:bodyPr wrap="square" lIns="0" tIns="0" rIns="0" bIns="0" rtlCol="0" anchor="ctr"/>
          <a:lstStyle/>
          <a:p>
            <a:pPr marL="0" indent="0">
              <a:buNone/>
            </a:pPr>
            <a:r>
              <a:rPr lang="en-US" sz="2200" b="1" dirty="0">
                <a:solidFill>
                  <a:srgbClr val="D4A84B"/>
                </a:solidFill>
                <a:latin typeface="Noto Sans KR" pitchFamily="34" charset="0"/>
                <a:ea typeface="Noto Sans KR" pitchFamily="34" charset="-122"/>
                <a:cs typeface="Noto Sans KR" pitchFamily="34" charset="-120"/>
              </a:rPr>
              <a:t>02</a:t>
            </a:r>
            <a:endParaRPr lang="en-US" sz="2200" dirty="0"/>
          </a:p>
        </p:txBody>
      </p:sp>
      <p:sp>
        <p:nvSpPr>
          <p:cNvPr id="8" name="Text 6"/>
          <p:cNvSpPr/>
          <p:nvPr/>
        </p:nvSpPr>
        <p:spPr>
          <a:xfrm>
            <a:off x="1371600" y="1810512"/>
            <a:ext cx="4572000" cy="292608"/>
          </a:xfrm>
          <a:prstGeom prst="rect">
            <a:avLst/>
          </a:prstGeom>
          <a:noFill/>
          <a:ln/>
        </p:spPr>
        <p:txBody>
          <a:bodyPr wrap="square" lIns="0" tIns="0" rIns="0" bIns="0" rtlCol="0" anchor="ctr"/>
          <a:lstStyle/>
          <a:p>
            <a:pPr marL="0" indent="0">
              <a:buNone/>
            </a:pPr>
            <a:r>
              <a:rPr lang="en-US" sz="1600" b="1" dirty="0">
                <a:solidFill>
                  <a:srgbClr val="1A2744"/>
                </a:solidFill>
                <a:latin typeface="Noto Sans KR" pitchFamily="34" charset="0"/>
                <a:ea typeface="Noto Sans KR" pitchFamily="34" charset="-122"/>
                <a:cs typeface="Noto Sans KR" pitchFamily="34" charset="-120"/>
              </a:rPr>
              <a:t>채용 프로세스 분석</a:t>
            </a:r>
            <a:endParaRPr lang="en-US" sz="1600" dirty="0"/>
          </a:p>
        </p:txBody>
      </p:sp>
      <p:sp>
        <p:nvSpPr>
          <p:cNvPr id="9" name="Text 7"/>
          <p:cNvSpPr/>
          <p:nvPr/>
        </p:nvSpPr>
        <p:spPr>
          <a:xfrm>
            <a:off x="1371600" y="2084832"/>
            <a:ext cx="4572000" cy="256032"/>
          </a:xfrm>
          <a:prstGeom prst="rect">
            <a:avLst/>
          </a:prstGeom>
          <a:noFill/>
          <a:ln/>
        </p:spPr>
        <p:txBody>
          <a:bodyPr wrap="square" lIns="0" tIns="0" rIns="0" bIns="0" rtlCol="0" anchor="ctr"/>
          <a:lstStyle/>
          <a:p>
            <a:pPr marL="0" indent="0">
              <a:buNone/>
            </a:pPr>
            <a:r>
              <a:rPr lang="en-US" sz="1200" dirty="0">
                <a:solidFill>
                  <a:srgbClr val="8A98AD"/>
                </a:solidFill>
                <a:latin typeface="Noto Sans KR" pitchFamily="34" charset="0"/>
                <a:ea typeface="Noto Sans KR" pitchFamily="34" charset="-122"/>
                <a:cs typeface="Noto Sans KR" pitchFamily="34" charset="-120"/>
              </a:rPr>
              <a:t>칩 레이의 전략과 슈퍼 새터데이</a:t>
            </a:r>
            <a:endParaRPr lang="en-US" sz="1200" dirty="0"/>
          </a:p>
        </p:txBody>
      </p:sp>
      <p:sp>
        <p:nvSpPr>
          <p:cNvPr id="10" name="Text 8"/>
          <p:cNvSpPr/>
          <p:nvPr/>
        </p:nvSpPr>
        <p:spPr>
          <a:xfrm>
            <a:off x="640080" y="2423160"/>
            <a:ext cx="640080" cy="457200"/>
          </a:xfrm>
          <a:prstGeom prst="rect">
            <a:avLst/>
          </a:prstGeom>
          <a:noFill/>
          <a:ln/>
        </p:spPr>
        <p:txBody>
          <a:bodyPr wrap="square" lIns="0" tIns="0" rIns="0" bIns="0" rtlCol="0" anchor="ctr"/>
          <a:lstStyle/>
          <a:p>
            <a:pPr marL="0" indent="0">
              <a:buNone/>
            </a:pPr>
            <a:r>
              <a:rPr lang="en-US" sz="2200" b="1" dirty="0">
                <a:solidFill>
                  <a:srgbClr val="D4A84B"/>
                </a:solidFill>
                <a:latin typeface="Noto Sans KR" pitchFamily="34" charset="0"/>
                <a:ea typeface="Noto Sans KR" pitchFamily="34" charset="-122"/>
                <a:cs typeface="Noto Sans KR" pitchFamily="34" charset="-120"/>
              </a:rPr>
              <a:t>03</a:t>
            </a:r>
            <a:endParaRPr lang="en-US" sz="2200" dirty="0"/>
          </a:p>
        </p:txBody>
      </p:sp>
      <p:sp>
        <p:nvSpPr>
          <p:cNvPr id="11" name="Text 9"/>
          <p:cNvSpPr/>
          <p:nvPr/>
        </p:nvSpPr>
        <p:spPr>
          <a:xfrm>
            <a:off x="1371600" y="2404872"/>
            <a:ext cx="4572000" cy="292608"/>
          </a:xfrm>
          <a:prstGeom prst="rect">
            <a:avLst/>
          </a:prstGeom>
          <a:noFill/>
          <a:ln/>
        </p:spPr>
        <p:txBody>
          <a:bodyPr wrap="square" lIns="0" tIns="0" rIns="0" bIns="0" rtlCol="0" anchor="ctr"/>
          <a:lstStyle/>
          <a:p>
            <a:pPr marL="0" indent="0">
              <a:buNone/>
            </a:pPr>
            <a:r>
              <a:rPr lang="en-US" sz="1600" b="1" dirty="0">
                <a:solidFill>
                  <a:srgbClr val="1A2744"/>
                </a:solidFill>
                <a:latin typeface="Noto Sans KR" pitchFamily="34" charset="0"/>
                <a:ea typeface="Noto Sans KR" pitchFamily="34" charset="-122"/>
                <a:cs typeface="Noto Sans KR" pitchFamily="34" charset="-120"/>
              </a:rPr>
              <a:t>4명의 후보자 분석</a:t>
            </a:r>
            <a:endParaRPr lang="en-US" sz="1600" dirty="0"/>
          </a:p>
        </p:txBody>
      </p:sp>
      <p:sp>
        <p:nvSpPr>
          <p:cNvPr id="12" name="Text 10"/>
          <p:cNvSpPr/>
          <p:nvPr/>
        </p:nvSpPr>
        <p:spPr>
          <a:xfrm>
            <a:off x="1371600" y="2679192"/>
            <a:ext cx="4572000" cy="256032"/>
          </a:xfrm>
          <a:prstGeom prst="rect">
            <a:avLst/>
          </a:prstGeom>
          <a:noFill/>
          <a:ln/>
        </p:spPr>
        <p:txBody>
          <a:bodyPr wrap="square" lIns="0" tIns="0" rIns="0" bIns="0" rtlCol="0" anchor="ctr"/>
          <a:lstStyle/>
          <a:p>
            <a:pPr marL="0" indent="0">
              <a:buNone/>
            </a:pPr>
            <a:r>
              <a:rPr lang="en-US" sz="1200" dirty="0">
                <a:solidFill>
                  <a:srgbClr val="8A98AD"/>
                </a:solidFill>
                <a:latin typeface="Noto Sans KR" pitchFamily="34" charset="0"/>
                <a:ea typeface="Noto Sans KR" pitchFamily="34" charset="-122"/>
                <a:cs typeface="Noto Sans KR" pitchFamily="34" charset="-120"/>
              </a:rPr>
              <a:t>각 후보자의 강점, 약점, 쟁점</a:t>
            </a:r>
            <a:endParaRPr lang="en-US" sz="1200" dirty="0"/>
          </a:p>
        </p:txBody>
      </p:sp>
      <p:sp>
        <p:nvSpPr>
          <p:cNvPr id="13" name="Text 11"/>
          <p:cNvSpPr/>
          <p:nvPr/>
        </p:nvSpPr>
        <p:spPr>
          <a:xfrm>
            <a:off x="640080" y="3017520"/>
            <a:ext cx="640080" cy="457200"/>
          </a:xfrm>
          <a:prstGeom prst="rect">
            <a:avLst/>
          </a:prstGeom>
          <a:noFill/>
          <a:ln/>
        </p:spPr>
        <p:txBody>
          <a:bodyPr wrap="square" lIns="0" tIns="0" rIns="0" bIns="0" rtlCol="0" anchor="ctr"/>
          <a:lstStyle/>
          <a:p>
            <a:pPr marL="0" indent="0">
              <a:buNone/>
            </a:pPr>
            <a:r>
              <a:rPr lang="en-US" sz="2200" b="1" dirty="0">
                <a:solidFill>
                  <a:srgbClr val="D4A84B"/>
                </a:solidFill>
                <a:latin typeface="Noto Sans KR" pitchFamily="34" charset="0"/>
                <a:ea typeface="Noto Sans KR" pitchFamily="34" charset="-122"/>
                <a:cs typeface="Noto Sans KR" pitchFamily="34" charset="-120"/>
              </a:rPr>
              <a:t>04</a:t>
            </a:r>
            <a:endParaRPr lang="en-US" sz="2200" dirty="0"/>
          </a:p>
        </p:txBody>
      </p:sp>
      <p:sp>
        <p:nvSpPr>
          <p:cNvPr id="14" name="Text 12"/>
          <p:cNvSpPr/>
          <p:nvPr/>
        </p:nvSpPr>
        <p:spPr>
          <a:xfrm>
            <a:off x="1371600" y="2999232"/>
            <a:ext cx="4572000" cy="292608"/>
          </a:xfrm>
          <a:prstGeom prst="rect">
            <a:avLst/>
          </a:prstGeom>
          <a:noFill/>
          <a:ln/>
        </p:spPr>
        <p:txBody>
          <a:bodyPr wrap="square" lIns="0" tIns="0" rIns="0" bIns="0" rtlCol="0" anchor="ctr"/>
          <a:lstStyle/>
          <a:p>
            <a:pPr marL="0" indent="0">
              <a:buNone/>
            </a:pPr>
            <a:r>
              <a:rPr lang="en-US" sz="1600" b="1" dirty="0">
                <a:solidFill>
                  <a:srgbClr val="1A2744"/>
                </a:solidFill>
                <a:latin typeface="Noto Sans KR" pitchFamily="34" charset="0"/>
                <a:ea typeface="Noto Sans KR" pitchFamily="34" charset="-122"/>
                <a:cs typeface="Noto Sans KR" pitchFamily="34" charset="-120"/>
              </a:rPr>
              <a:t>시사점 도출</a:t>
            </a:r>
            <a:endParaRPr lang="en-US" sz="1600" dirty="0"/>
          </a:p>
        </p:txBody>
      </p:sp>
      <p:sp>
        <p:nvSpPr>
          <p:cNvPr id="15" name="Text 13"/>
          <p:cNvSpPr/>
          <p:nvPr/>
        </p:nvSpPr>
        <p:spPr>
          <a:xfrm>
            <a:off x="1371600" y="3273552"/>
            <a:ext cx="4572000" cy="256032"/>
          </a:xfrm>
          <a:prstGeom prst="rect">
            <a:avLst/>
          </a:prstGeom>
          <a:noFill/>
          <a:ln/>
        </p:spPr>
        <p:txBody>
          <a:bodyPr wrap="square" lIns="0" tIns="0" rIns="0" bIns="0" rtlCol="0" anchor="ctr"/>
          <a:lstStyle/>
          <a:p>
            <a:pPr marL="0" indent="0">
              <a:buNone/>
            </a:pPr>
            <a:r>
              <a:rPr lang="en-US" sz="1200" dirty="0">
                <a:solidFill>
                  <a:srgbClr val="8A98AD"/>
                </a:solidFill>
                <a:latin typeface="Noto Sans KR" pitchFamily="34" charset="0"/>
                <a:ea typeface="Noto Sans KR" pitchFamily="34" charset="-122"/>
                <a:cs typeface="Noto Sans KR" pitchFamily="34" charset="-120"/>
              </a:rPr>
              <a:t>채용 의사결정의 핵심 교훈</a:t>
            </a:r>
            <a:endParaRPr lang="en-US" sz="1200" dirty="0"/>
          </a:p>
        </p:txBody>
      </p:sp>
      <p:sp>
        <p:nvSpPr>
          <p:cNvPr id="16" name="Text 14"/>
          <p:cNvSpPr/>
          <p:nvPr/>
        </p:nvSpPr>
        <p:spPr>
          <a:xfrm>
            <a:off x="640080" y="3611880"/>
            <a:ext cx="640080" cy="457200"/>
          </a:xfrm>
          <a:prstGeom prst="rect">
            <a:avLst/>
          </a:prstGeom>
          <a:noFill/>
          <a:ln/>
        </p:spPr>
        <p:txBody>
          <a:bodyPr wrap="square" lIns="0" tIns="0" rIns="0" bIns="0" rtlCol="0" anchor="ctr"/>
          <a:lstStyle/>
          <a:p>
            <a:pPr marL="0" indent="0">
              <a:buNone/>
            </a:pPr>
            <a:r>
              <a:rPr lang="en-US" sz="2200" b="1" dirty="0">
                <a:solidFill>
                  <a:srgbClr val="D4A84B"/>
                </a:solidFill>
                <a:latin typeface="Noto Sans KR" pitchFamily="34" charset="0"/>
                <a:ea typeface="Noto Sans KR" pitchFamily="34" charset="-122"/>
                <a:cs typeface="Noto Sans KR" pitchFamily="34" charset="-120"/>
              </a:rPr>
              <a:t>05</a:t>
            </a:r>
            <a:endParaRPr lang="en-US" sz="2200" dirty="0"/>
          </a:p>
        </p:txBody>
      </p:sp>
      <p:sp>
        <p:nvSpPr>
          <p:cNvPr id="17" name="Text 15"/>
          <p:cNvSpPr/>
          <p:nvPr/>
        </p:nvSpPr>
        <p:spPr>
          <a:xfrm>
            <a:off x="1371600" y="3593592"/>
            <a:ext cx="4572000" cy="292608"/>
          </a:xfrm>
          <a:prstGeom prst="rect">
            <a:avLst/>
          </a:prstGeom>
          <a:noFill/>
          <a:ln/>
        </p:spPr>
        <p:txBody>
          <a:bodyPr wrap="square" lIns="0" tIns="0" rIns="0" bIns="0" rtlCol="0" anchor="ctr"/>
          <a:lstStyle/>
          <a:p>
            <a:pPr marL="0" indent="0">
              <a:buNone/>
            </a:pPr>
            <a:r>
              <a:rPr lang="en-US" sz="1600" b="1" dirty="0">
                <a:solidFill>
                  <a:srgbClr val="1A2744"/>
                </a:solidFill>
                <a:latin typeface="Noto Sans KR" pitchFamily="34" charset="0"/>
                <a:ea typeface="Noto Sans KR" pitchFamily="34" charset="-122"/>
                <a:cs typeface="Noto Sans KR" pitchFamily="34" charset="-120"/>
              </a:rPr>
              <a:t>한국 상황 </a:t>
            </a:r>
            <a:r>
              <a:rPr lang="en-US" sz="1600" b="1" dirty="0" err="1">
                <a:solidFill>
                  <a:srgbClr val="1A2744"/>
                </a:solidFill>
                <a:latin typeface="Noto Sans KR" pitchFamily="34" charset="0"/>
                <a:ea typeface="Noto Sans KR" pitchFamily="34" charset="-122"/>
                <a:cs typeface="Noto Sans KR" pitchFamily="34" charset="-120"/>
              </a:rPr>
              <a:t>적용</a:t>
            </a:r>
            <a:r>
              <a:rPr lang="en-US" sz="1600" b="1" dirty="0">
                <a:solidFill>
                  <a:srgbClr val="1A2744"/>
                </a:solidFill>
                <a:latin typeface="Noto Sans KR" pitchFamily="34" charset="0"/>
                <a:ea typeface="Noto Sans KR" pitchFamily="34" charset="-122"/>
                <a:cs typeface="Noto Sans KR" pitchFamily="34" charset="-120"/>
              </a:rPr>
              <a:t> </a:t>
            </a:r>
            <a:endParaRPr lang="en-US" sz="1600" dirty="0"/>
          </a:p>
        </p:txBody>
      </p:sp>
      <p:sp>
        <p:nvSpPr>
          <p:cNvPr id="18" name="Text 16"/>
          <p:cNvSpPr/>
          <p:nvPr/>
        </p:nvSpPr>
        <p:spPr>
          <a:xfrm>
            <a:off x="1371600" y="3867912"/>
            <a:ext cx="4572000" cy="256032"/>
          </a:xfrm>
          <a:prstGeom prst="rect">
            <a:avLst/>
          </a:prstGeom>
          <a:noFill/>
          <a:ln/>
        </p:spPr>
        <p:txBody>
          <a:bodyPr wrap="square" lIns="0" tIns="0" rIns="0" bIns="0" rtlCol="0" anchor="ctr"/>
          <a:lstStyle/>
          <a:p>
            <a:pPr marL="0" indent="0">
              <a:buNone/>
            </a:pPr>
            <a:r>
              <a:rPr lang="en-US" sz="1200" dirty="0">
                <a:solidFill>
                  <a:srgbClr val="8A98AD"/>
                </a:solidFill>
                <a:latin typeface="Noto Sans KR" pitchFamily="34" charset="0"/>
                <a:ea typeface="Noto Sans KR" pitchFamily="34" charset="-122"/>
                <a:cs typeface="Noto Sans KR" pitchFamily="34" charset="-120"/>
              </a:rPr>
              <a:t>국내 기업 채용에의 함의</a:t>
            </a:r>
            <a:endParaRPr lang="en-US" sz="1200" dirty="0"/>
          </a:p>
        </p:txBody>
      </p:sp>
      <p:sp>
        <p:nvSpPr>
          <p:cNvPr id="19" name="Text 17"/>
          <p:cNvSpPr/>
          <p:nvPr/>
        </p:nvSpPr>
        <p:spPr>
          <a:xfrm>
            <a:off x="640080" y="4206240"/>
            <a:ext cx="640080" cy="457200"/>
          </a:xfrm>
          <a:prstGeom prst="rect">
            <a:avLst/>
          </a:prstGeom>
          <a:noFill/>
          <a:ln/>
        </p:spPr>
        <p:txBody>
          <a:bodyPr wrap="square" lIns="0" tIns="0" rIns="0" bIns="0" rtlCol="0" anchor="ctr"/>
          <a:lstStyle/>
          <a:p>
            <a:pPr marL="0" indent="0">
              <a:buNone/>
            </a:pPr>
            <a:r>
              <a:rPr lang="en-US" sz="2200" b="1" dirty="0">
                <a:solidFill>
                  <a:srgbClr val="D4A84B"/>
                </a:solidFill>
                <a:latin typeface="Noto Sans KR" pitchFamily="34" charset="0"/>
                <a:ea typeface="Noto Sans KR" pitchFamily="34" charset="-122"/>
                <a:cs typeface="Noto Sans KR" pitchFamily="34" charset="-120"/>
              </a:rPr>
              <a:t>06</a:t>
            </a:r>
            <a:endParaRPr lang="en-US" sz="2200" dirty="0"/>
          </a:p>
        </p:txBody>
      </p:sp>
      <p:sp>
        <p:nvSpPr>
          <p:cNvPr id="20" name="Text 18"/>
          <p:cNvSpPr/>
          <p:nvPr/>
        </p:nvSpPr>
        <p:spPr>
          <a:xfrm>
            <a:off x="1371600" y="4187952"/>
            <a:ext cx="4572000" cy="292608"/>
          </a:xfrm>
          <a:prstGeom prst="rect">
            <a:avLst/>
          </a:prstGeom>
          <a:noFill/>
          <a:ln/>
        </p:spPr>
        <p:txBody>
          <a:bodyPr wrap="square" lIns="0" tIns="0" rIns="0" bIns="0" rtlCol="0" anchor="ctr"/>
          <a:lstStyle/>
          <a:p>
            <a:pPr marL="0" indent="0">
              <a:buNone/>
            </a:pPr>
            <a:r>
              <a:rPr lang="en-US" sz="1600" b="1" dirty="0">
                <a:solidFill>
                  <a:srgbClr val="1A2744"/>
                </a:solidFill>
                <a:latin typeface="Noto Sans KR" pitchFamily="34" charset="0"/>
                <a:ea typeface="Noto Sans KR" pitchFamily="34" charset="-122"/>
                <a:cs typeface="Noto Sans KR" pitchFamily="34" charset="-120"/>
              </a:rPr>
              <a:t>토론 거리</a:t>
            </a:r>
            <a:endParaRPr lang="en-US" sz="1600" dirty="0"/>
          </a:p>
        </p:txBody>
      </p:sp>
      <p:sp>
        <p:nvSpPr>
          <p:cNvPr id="21" name="Text 19"/>
          <p:cNvSpPr/>
          <p:nvPr/>
        </p:nvSpPr>
        <p:spPr>
          <a:xfrm>
            <a:off x="1371600" y="4462272"/>
            <a:ext cx="4572000" cy="256032"/>
          </a:xfrm>
          <a:prstGeom prst="rect">
            <a:avLst/>
          </a:prstGeom>
          <a:noFill/>
          <a:ln/>
        </p:spPr>
        <p:txBody>
          <a:bodyPr wrap="square" lIns="0" tIns="0" rIns="0" bIns="0" rtlCol="0" anchor="ctr"/>
          <a:lstStyle/>
          <a:p>
            <a:pPr marL="0" indent="0">
              <a:buNone/>
            </a:pPr>
            <a:r>
              <a:rPr lang="en-US" sz="1200" dirty="0">
                <a:solidFill>
                  <a:srgbClr val="8A98AD"/>
                </a:solidFill>
                <a:latin typeface="Noto Sans KR" pitchFamily="34" charset="0"/>
                <a:ea typeface="Noto Sans KR" pitchFamily="34" charset="-122"/>
                <a:cs typeface="Noto Sans KR" pitchFamily="34" charset="-120"/>
              </a:rPr>
              <a:t>함께 생각해볼 질문들</a:t>
            </a:r>
            <a:endParaRPr lang="en-US" sz="1200" dirty="0"/>
          </a:p>
        </p:txBody>
      </p:sp>
      <p:sp>
        <p:nvSpPr>
          <p:cNvPr id="22" name="Shape 20"/>
          <p:cNvSpPr/>
          <p:nvPr/>
        </p:nvSpPr>
        <p:spPr>
          <a:xfrm>
            <a:off x="6858000" y="1097280"/>
            <a:ext cx="2011680" cy="3657600"/>
          </a:xfrm>
          <a:prstGeom prst="rect">
            <a:avLst/>
          </a:prstGeom>
          <a:solidFill>
            <a:srgbClr val="1A2744"/>
          </a:solidFill>
          <a:ln/>
        </p:spPr>
        <p:txBody>
          <a:bodyPr/>
          <a:lstStyle/>
          <a:p>
            <a:endParaRPr lang="ko-KR" altLang="en-US"/>
          </a:p>
        </p:txBody>
      </p:sp>
      <p:pic>
        <p:nvPicPr>
          <p:cNvPr id="23" name="Image 0" descr="preencoded.png"/>
          <p:cNvPicPr>
            <a:picLocks noChangeAspect="1"/>
          </p:cNvPicPr>
          <p:nvPr/>
        </p:nvPicPr>
        <p:blipFill>
          <a:blip r:embed="rId3"/>
          <a:stretch>
            <a:fillRect/>
          </a:stretch>
        </p:blipFill>
        <p:spPr>
          <a:xfrm>
            <a:off x="7452360" y="2377440"/>
            <a:ext cx="822960" cy="8229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2744"/>
          </a:solidFill>
          <a:ln/>
        </p:spPr>
        <p:txBody>
          <a:bodyPr/>
          <a:lstStyle/>
          <a:p>
            <a:endParaRPr lang="ko-KR" altLang="en-US"/>
          </a:p>
        </p:txBody>
      </p:sp>
      <p:sp>
        <p:nvSpPr>
          <p:cNvPr id="3" name="Text 1"/>
          <p:cNvSpPr/>
          <p:nvPr/>
        </p:nvSpPr>
        <p:spPr>
          <a:xfrm>
            <a:off x="640080" y="274320"/>
            <a:ext cx="8229600" cy="640080"/>
          </a:xfrm>
          <a:prstGeom prst="rect">
            <a:avLst/>
          </a:prstGeom>
          <a:noFill/>
          <a:ln/>
        </p:spPr>
        <p:txBody>
          <a:bodyPr wrap="square" lIns="0" tIns="0" rIns="0" bIns="0" rtlCol="0" anchor="ctr"/>
          <a:lstStyle/>
          <a:p>
            <a:pPr marL="0" indent="0">
              <a:buNone/>
            </a:pPr>
            <a:r>
              <a:rPr lang="en-US" sz="3000" b="1" dirty="0">
                <a:solidFill>
                  <a:srgbClr val="1A2744"/>
                </a:solidFill>
                <a:latin typeface="Noto Sans KR" pitchFamily="34" charset="0"/>
                <a:ea typeface="Noto Sans KR" pitchFamily="34" charset="-122"/>
                <a:cs typeface="Noto Sans KR" pitchFamily="34" charset="-120"/>
              </a:rPr>
              <a:t>2001년 투자은행 산업 배경</a:t>
            </a:r>
            <a:endParaRPr lang="en-US" sz="3000" dirty="0"/>
          </a:p>
        </p:txBody>
      </p:sp>
      <p:sp>
        <p:nvSpPr>
          <p:cNvPr id="4" name="Shape 2"/>
          <p:cNvSpPr/>
          <p:nvPr/>
        </p:nvSpPr>
        <p:spPr>
          <a:xfrm>
            <a:off x="640080" y="1188720"/>
            <a:ext cx="384048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5" name="Shape 3"/>
          <p:cNvSpPr/>
          <p:nvPr/>
        </p:nvSpPr>
        <p:spPr>
          <a:xfrm>
            <a:off x="640080" y="1188720"/>
            <a:ext cx="64008" cy="1005840"/>
          </a:xfrm>
          <a:prstGeom prst="rect">
            <a:avLst/>
          </a:prstGeom>
          <a:solidFill>
            <a:srgbClr val="D4A84B"/>
          </a:solidFill>
          <a:ln/>
        </p:spPr>
        <p:txBody>
          <a:bodyPr/>
          <a:lstStyle/>
          <a:p>
            <a:endParaRPr lang="ko-KR" altLang="en-US"/>
          </a:p>
        </p:txBody>
      </p:sp>
      <p:sp>
        <p:nvSpPr>
          <p:cNvPr id="6" name="Text 4"/>
          <p:cNvSpPr/>
          <p:nvPr/>
        </p:nvSpPr>
        <p:spPr>
          <a:xfrm>
            <a:off x="914400" y="1280160"/>
            <a:ext cx="3291840" cy="411480"/>
          </a:xfrm>
          <a:prstGeom prst="rect">
            <a:avLst/>
          </a:prstGeom>
          <a:noFill/>
          <a:ln/>
        </p:spPr>
        <p:txBody>
          <a:bodyPr wrap="square" lIns="0" tIns="0" rIns="0" bIns="0" rtlCol="0" anchor="ctr"/>
          <a:lstStyle/>
          <a:p>
            <a:pPr marL="0" indent="0">
              <a:buNone/>
            </a:pPr>
            <a:r>
              <a:rPr lang="en-US" sz="2200" b="1" dirty="0">
                <a:solidFill>
                  <a:srgbClr val="1A2744"/>
                </a:solidFill>
                <a:latin typeface="Noto Sans KR" pitchFamily="34" charset="0"/>
                <a:ea typeface="Noto Sans KR" pitchFamily="34" charset="-122"/>
                <a:cs typeface="Noto Sans KR" pitchFamily="34" charset="-120"/>
              </a:rPr>
              <a:t>수익의 50%</a:t>
            </a:r>
            <a:endParaRPr lang="en-US" sz="2200" dirty="0"/>
          </a:p>
        </p:txBody>
      </p:sp>
      <p:sp>
        <p:nvSpPr>
          <p:cNvPr id="7" name="Text 5"/>
          <p:cNvSpPr/>
          <p:nvPr/>
        </p:nvSpPr>
        <p:spPr>
          <a:xfrm>
            <a:off x="914400" y="1691640"/>
            <a:ext cx="3291840" cy="36576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보상 비용 — 월스트리트 최대 비용</a:t>
            </a:r>
            <a:endParaRPr lang="en-US" sz="1100" dirty="0"/>
          </a:p>
        </p:txBody>
      </p:sp>
      <p:sp>
        <p:nvSpPr>
          <p:cNvPr id="8" name="Shape 6"/>
          <p:cNvSpPr/>
          <p:nvPr/>
        </p:nvSpPr>
        <p:spPr>
          <a:xfrm>
            <a:off x="640080" y="2377440"/>
            <a:ext cx="384048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9" name="Shape 7"/>
          <p:cNvSpPr/>
          <p:nvPr/>
        </p:nvSpPr>
        <p:spPr>
          <a:xfrm>
            <a:off x="640080" y="2377440"/>
            <a:ext cx="64008" cy="1005840"/>
          </a:xfrm>
          <a:prstGeom prst="rect">
            <a:avLst/>
          </a:prstGeom>
          <a:solidFill>
            <a:srgbClr val="D4A84B"/>
          </a:solidFill>
          <a:ln/>
        </p:spPr>
        <p:txBody>
          <a:bodyPr/>
          <a:lstStyle/>
          <a:p>
            <a:endParaRPr lang="ko-KR" altLang="en-US"/>
          </a:p>
        </p:txBody>
      </p:sp>
      <p:sp>
        <p:nvSpPr>
          <p:cNvPr id="10" name="Text 8"/>
          <p:cNvSpPr/>
          <p:nvPr/>
        </p:nvSpPr>
        <p:spPr>
          <a:xfrm>
            <a:off x="914400" y="2468880"/>
            <a:ext cx="3291840" cy="411480"/>
          </a:xfrm>
          <a:prstGeom prst="rect">
            <a:avLst/>
          </a:prstGeom>
          <a:noFill/>
          <a:ln/>
        </p:spPr>
        <p:txBody>
          <a:bodyPr wrap="square" lIns="0" tIns="0" rIns="0" bIns="0" rtlCol="0" anchor="ctr"/>
          <a:lstStyle/>
          <a:p>
            <a:pPr marL="0" indent="0">
              <a:buNone/>
            </a:pPr>
            <a:r>
              <a:rPr lang="en-US" sz="2200" b="1" dirty="0">
                <a:solidFill>
                  <a:srgbClr val="1A2744"/>
                </a:solidFill>
                <a:latin typeface="Noto Sans KR" pitchFamily="34" charset="0"/>
                <a:ea typeface="Noto Sans KR" pitchFamily="34" charset="-122"/>
                <a:cs typeface="Noto Sans KR" pitchFamily="34" charset="-120"/>
              </a:rPr>
              <a:t>5개 산업+</a:t>
            </a:r>
            <a:endParaRPr lang="en-US" sz="2200" dirty="0"/>
          </a:p>
        </p:txBody>
      </p:sp>
      <p:sp>
        <p:nvSpPr>
          <p:cNvPr id="11" name="Text 9"/>
          <p:cNvSpPr/>
          <p:nvPr/>
        </p:nvSpPr>
        <p:spPr>
          <a:xfrm>
            <a:off x="914400" y="2880360"/>
            <a:ext cx="3291840" cy="36576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인재 경쟁 — VC, PE, 헤지펀드, 컨설팅, 테크</a:t>
            </a:r>
            <a:endParaRPr lang="en-US" sz="1100" dirty="0"/>
          </a:p>
        </p:txBody>
      </p:sp>
      <p:sp>
        <p:nvSpPr>
          <p:cNvPr id="12" name="Shape 10"/>
          <p:cNvSpPr/>
          <p:nvPr/>
        </p:nvSpPr>
        <p:spPr>
          <a:xfrm>
            <a:off x="640080" y="3566160"/>
            <a:ext cx="384048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13" name="Shape 11"/>
          <p:cNvSpPr/>
          <p:nvPr/>
        </p:nvSpPr>
        <p:spPr>
          <a:xfrm>
            <a:off x="640080" y="3566160"/>
            <a:ext cx="64008" cy="1005840"/>
          </a:xfrm>
          <a:prstGeom prst="rect">
            <a:avLst/>
          </a:prstGeom>
          <a:solidFill>
            <a:srgbClr val="D4A84B"/>
          </a:solidFill>
          <a:ln/>
        </p:spPr>
        <p:txBody>
          <a:bodyPr/>
          <a:lstStyle/>
          <a:p>
            <a:endParaRPr lang="ko-KR" altLang="en-US"/>
          </a:p>
        </p:txBody>
      </p:sp>
      <p:sp>
        <p:nvSpPr>
          <p:cNvPr id="14" name="Text 12"/>
          <p:cNvSpPr/>
          <p:nvPr/>
        </p:nvSpPr>
        <p:spPr>
          <a:xfrm>
            <a:off x="914400" y="3657600"/>
            <a:ext cx="3291840" cy="411480"/>
          </a:xfrm>
          <a:prstGeom prst="rect">
            <a:avLst/>
          </a:prstGeom>
          <a:noFill/>
          <a:ln/>
        </p:spPr>
        <p:txBody>
          <a:bodyPr wrap="square" lIns="0" tIns="0" rIns="0" bIns="0" rtlCol="0" anchor="ctr"/>
          <a:lstStyle/>
          <a:p>
            <a:pPr marL="0" indent="0">
              <a:buNone/>
            </a:pPr>
            <a:r>
              <a:rPr lang="en-US" sz="2200" b="1" dirty="0">
                <a:solidFill>
                  <a:srgbClr val="1A2744"/>
                </a:solidFill>
                <a:latin typeface="Noto Sans KR" pitchFamily="34" charset="0"/>
                <a:ea typeface="Noto Sans KR" pitchFamily="34" charset="-122"/>
                <a:cs typeface="Noto Sans KR" pitchFamily="34" charset="-120"/>
              </a:rPr>
              <a:t>경기 하강</a:t>
            </a:r>
            <a:endParaRPr lang="en-US" sz="2200" dirty="0"/>
          </a:p>
        </p:txBody>
      </p:sp>
      <p:sp>
        <p:nvSpPr>
          <p:cNvPr id="15" name="Text 13"/>
          <p:cNvSpPr/>
          <p:nvPr/>
        </p:nvSpPr>
        <p:spPr>
          <a:xfrm>
            <a:off x="914400" y="4069080"/>
            <a:ext cx="3291840" cy="36576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시장 상황 — 거래량·IPO 급감, 이익 감소</a:t>
            </a:r>
            <a:endParaRPr lang="en-US" sz="1100" dirty="0"/>
          </a:p>
        </p:txBody>
      </p:sp>
      <p:sp>
        <p:nvSpPr>
          <p:cNvPr id="16" name="Shape 14"/>
          <p:cNvSpPr/>
          <p:nvPr/>
        </p:nvSpPr>
        <p:spPr>
          <a:xfrm>
            <a:off x="4846320" y="1188720"/>
            <a:ext cx="3931920" cy="3566160"/>
          </a:xfrm>
          <a:prstGeom prst="rect">
            <a:avLst/>
          </a:prstGeom>
          <a:solidFill>
            <a:srgbClr val="1A2744"/>
          </a:solidFill>
          <a:ln/>
        </p:spPr>
        <p:txBody>
          <a:bodyPr/>
          <a:lstStyle/>
          <a:p>
            <a:endParaRPr lang="ko-KR" altLang="en-US"/>
          </a:p>
        </p:txBody>
      </p:sp>
      <p:pic>
        <p:nvPicPr>
          <p:cNvPr id="17" name="Image 0" descr="preencoded.png"/>
          <p:cNvPicPr>
            <a:picLocks noChangeAspect="1"/>
          </p:cNvPicPr>
          <p:nvPr/>
        </p:nvPicPr>
        <p:blipFill>
          <a:blip r:embed="rId3"/>
          <a:stretch>
            <a:fillRect/>
          </a:stretch>
        </p:blipFill>
        <p:spPr>
          <a:xfrm>
            <a:off x="5212080" y="1463040"/>
            <a:ext cx="411480" cy="411480"/>
          </a:xfrm>
          <a:prstGeom prst="rect">
            <a:avLst/>
          </a:prstGeom>
        </p:spPr>
      </p:pic>
      <p:sp>
        <p:nvSpPr>
          <p:cNvPr id="18" name="Text 15"/>
          <p:cNvSpPr/>
          <p:nvPr/>
        </p:nvSpPr>
        <p:spPr>
          <a:xfrm>
            <a:off x="5760720" y="1463040"/>
            <a:ext cx="2743200" cy="411480"/>
          </a:xfrm>
          <a:prstGeom prst="rect">
            <a:avLst/>
          </a:prstGeom>
          <a:noFill/>
          <a:ln/>
        </p:spPr>
        <p:txBody>
          <a:bodyPr wrap="square" lIns="0" tIns="0" rIns="0" bIns="0" rtlCol="0" anchor="ctr"/>
          <a:lstStyle/>
          <a:p>
            <a:pPr marL="0" indent="0">
              <a:buNone/>
            </a:pPr>
            <a:r>
              <a:rPr lang="en-US" sz="1600" b="1" dirty="0">
                <a:solidFill>
                  <a:srgbClr val="D4A84B"/>
                </a:solidFill>
                <a:latin typeface="Noto Sans KR" pitchFamily="34" charset="0"/>
                <a:ea typeface="Noto Sans KR" pitchFamily="34" charset="-122"/>
                <a:cs typeface="Noto Sans KR" pitchFamily="34" charset="-120"/>
              </a:rPr>
              <a:t>핵심 산업 동향</a:t>
            </a:r>
            <a:endParaRPr lang="en-US" sz="1600" dirty="0"/>
          </a:p>
        </p:txBody>
      </p:sp>
      <p:sp>
        <p:nvSpPr>
          <p:cNvPr id="19" name="Text 16"/>
          <p:cNvSpPr/>
          <p:nvPr/>
        </p:nvSpPr>
        <p:spPr>
          <a:xfrm>
            <a:off x="5212080" y="2103120"/>
            <a:ext cx="3291840" cy="2377440"/>
          </a:xfrm>
          <a:prstGeom prst="rect">
            <a:avLst/>
          </a:prstGeom>
          <a:noFill/>
          <a:ln/>
        </p:spPr>
        <p:txBody>
          <a:bodyPr wrap="square" rtlCol="0" anchor="ctr"/>
          <a:lstStyle/>
          <a:p>
            <a:pPr marL="342900" indent="-342900">
              <a:lnSpc>
                <a:spcPct val="150000"/>
              </a:lnSpc>
              <a:buSzPct val="100000"/>
              <a:buChar char="•"/>
            </a:pPr>
            <a:r>
              <a:rPr lang="en-US" sz="1300" dirty="0">
                <a:solidFill>
                  <a:srgbClr val="CADCFC"/>
                </a:solidFill>
                <a:latin typeface="Noto Sans KR" pitchFamily="34" charset="0"/>
                <a:ea typeface="Noto Sans KR" pitchFamily="34" charset="-122"/>
                <a:cs typeface="Noto Sans KR" pitchFamily="34" charset="-120"/>
              </a:rPr>
              <a:t>대형 은행의 소규모 은행 인수 가속</a:t>
            </a:r>
            <a:endParaRPr lang="en-US" sz="1300" dirty="0"/>
          </a:p>
          <a:p>
            <a:pPr marL="342900" indent="-342900">
              <a:lnSpc>
                <a:spcPct val="150000"/>
              </a:lnSpc>
              <a:buSzPct val="100000"/>
              <a:buChar char="•"/>
            </a:pPr>
            <a:r>
              <a:rPr lang="en-US" sz="1300" dirty="0">
                <a:solidFill>
                  <a:srgbClr val="CADCFC"/>
                </a:solidFill>
                <a:latin typeface="Noto Sans KR" pitchFamily="34" charset="0"/>
                <a:ea typeface="Noto Sans KR" pitchFamily="34" charset="-122"/>
                <a:cs typeface="Noto Sans KR" pitchFamily="34" charset="-120"/>
              </a:rPr>
              <a:t>M&amp;A·주식 = 고마진이지만 높은 변동성</a:t>
            </a:r>
            <a:endParaRPr lang="en-US" sz="1300" dirty="0"/>
          </a:p>
          <a:p>
            <a:pPr marL="342900" indent="-342900">
              <a:lnSpc>
                <a:spcPct val="150000"/>
              </a:lnSpc>
              <a:buSzPct val="100000"/>
              <a:buChar char="•"/>
            </a:pPr>
            <a:r>
              <a:rPr lang="en-US" sz="1300" dirty="0" err="1">
                <a:solidFill>
                  <a:srgbClr val="CADCFC"/>
                </a:solidFill>
                <a:latin typeface="Noto Sans KR" pitchFamily="34" charset="0"/>
                <a:ea typeface="Noto Sans KR" pitchFamily="34" charset="-122"/>
                <a:cs typeface="Noto Sans KR" pitchFamily="34" charset="-120"/>
              </a:rPr>
              <a:t>고정수입</a:t>
            </a:r>
            <a:r>
              <a:rPr lang="en-US" sz="1300" dirty="0">
                <a:solidFill>
                  <a:srgbClr val="CADCFC"/>
                </a:solidFill>
                <a:latin typeface="Noto Sans KR" pitchFamily="34" charset="0"/>
                <a:ea typeface="Noto Sans KR" pitchFamily="34" charset="-122"/>
                <a:cs typeface="Noto Sans KR" pitchFamily="34" charset="-120"/>
              </a:rPr>
              <a:t> 부문이 안전장치 역할</a:t>
            </a:r>
            <a:endParaRPr lang="en-US" sz="1300" dirty="0"/>
          </a:p>
          <a:p>
            <a:pPr marL="342900" indent="-342900">
              <a:lnSpc>
                <a:spcPct val="150000"/>
              </a:lnSpc>
              <a:buSzPct val="100000"/>
              <a:buChar char="•"/>
            </a:pPr>
            <a:r>
              <a:rPr lang="en-US" sz="1300" dirty="0">
                <a:solidFill>
                  <a:srgbClr val="CADCFC"/>
                </a:solidFill>
                <a:latin typeface="Noto Sans KR" pitchFamily="34" charset="0"/>
                <a:ea typeface="Noto Sans KR" pitchFamily="34" charset="-122"/>
                <a:cs typeface="Noto Sans KR" pitchFamily="34" charset="-120"/>
              </a:rPr>
              <a:t>이익 감소에 따른 대규모 인력 감축</a:t>
            </a:r>
            <a:endParaRPr lang="en-US" sz="1300" dirty="0"/>
          </a:p>
          <a:p>
            <a:pPr marL="342900" indent="-342900">
              <a:lnSpc>
                <a:spcPct val="150000"/>
              </a:lnSpc>
              <a:buSzPct val="100000"/>
              <a:buChar char="•"/>
            </a:pPr>
            <a:r>
              <a:rPr lang="en-US" sz="1300" dirty="0">
                <a:solidFill>
                  <a:srgbClr val="CADCFC"/>
                </a:solidFill>
                <a:latin typeface="Noto Sans KR" pitchFamily="34" charset="0"/>
                <a:ea typeface="Noto Sans KR" pitchFamily="34" charset="-122"/>
                <a:cs typeface="Noto Sans KR" pitchFamily="34" charset="-120"/>
              </a:rPr>
              <a:t>인재 확보 전쟁 (War for Talent) 심화</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2744"/>
          </a:solidFill>
          <a:ln/>
        </p:spPr>
        <p:txBody>
          <a:bodyPr/>
          <a:lstStyle/>
          <a:p>
            <a:endParaRPr lang="ko-KR" altLang="en-US"/>
          </a:p>
        </p:txBody>
      </p:sp>
      <p:sp>
        <p:nvSpPr>
          <p:cNvPr id="3" name="Text 1"/>
          <p:cNvSpPr/>
          <p:nvPr/>
        </p:nvSpPr>
        <p:spPr>
          <a:xfrm>
            <a:off x="640080" y="274320"/>
            <a:ext cx="8229600" cy="640080"/>
          </a:xfrm>
          <a:prstGeom prst="rect">
            <a:avLst/>
          </a:prstGeom>
          <a:noFill/>
          <a:ln/>
        </p:spPr>
        <p:txBody>
          <a:bodyPr wrap="square" lIns="0" tIns="0" rIns="0" bIns="0" rtlCol="0" anchor="ctr"/>
          <a:lstStyle/>
          <a:p>
            <a:pPr marL="0" indent="0">
              <a:buNone/>
            </a:pPr>
            <a:r>
              <a:rPr lang="en-US" sz="3000" b="1" dirty="0">
                <a:solidFill>
                  <a:srgbClr val="1A2744"/>
                </a:solidFill>
                <a:latin typeface="Noto Sans KR" pitchFamily="34" charset="0"/>
                <a:ea typeface="Noto Sans KR" pitchFamily="34" charset="-122"/>
                <a:cs typeface="Noto Sans KR" pitchFamily="34" charset="-120"/>
              </a:rPr>
              <a:t>SG 코웬 회사 소개</a:t>
            </a:r>
            <a:endParaRPr lang="en-US" sz="3000" dirty="0"/>
          </a:p>
        </p:txBody>
      </p:sp>
      <p:sp>
        <p:nvSpPr>
          <p:cNvPr id="4" name="Shape 2"/>
          <p:cNvSpPr/>
          <p:nvPr/>
        </p:nvSpPr>
        <p:spPr>
          <a:xfrm>
            <a:off x="640080" y="1097280"/>
            <a:ext cx="3749040" cy="1600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pic>
        <p:nvPicPr>
          <p:cNvPr id="5" name="Image 0" descr="preencoded.png"/>
          <p:cNvPicPr>
            <a:picLocks noChangeAspect="1"/>
          </p:cNvPicPr>
          <p:nvPr/>
        </p:nvPicPr>
        <p:blipFill>
          <a:blip r:embed="rId3"/>
          <a:stretch>
            <a:fillRect/>
          </a:stretch>
        </p:blipFill>
        <p:spPr>
          <a:xfrm>
            <a:off x="868680" y="1325880"/>
            <a:ext cx="365760" cy="365760"/>
          </a:xfrm>
          <a:prstGeom prst="rect">
            <a:avLst/>
          </a:prstGeom>
        </p:spPr>
      </p:pic>
      <p:sp>
        <p:nvSpPr>
          <p:cNvPr id="6" name="Text 3"/>
          <p:cNvSpPr/>
          <p:nvPr/>
        </p:nvSpPr>
        <p:spPr>
          <a:xfrm>
            <a:off x="1371600" y="1280160"/>
            <a:ext cx="2743200" cy="365760"/>
          </a:xfrm>
          <a:prstGeom prst="rect">
            <a:avLst/>
          </a:prstGeom>
          <a:noFill/>
          <a:ln/>
        </p:spPr>
        <p:txBody>
          <a:bodyPr wrap="square" lIns="0" tIns="0" rIns="0" bIns="0" rtlCol="0" anchor="ctr"/>
          <a:lstStyle/>
          <a:p>
            <a:pPr marL="0" indent="0">
              <a:buNone/>
            </a:pPr>
            <a:r>
              <a:rPr lang="en-US" sz="1500" b="1" dirty="0">
                <a:solidFill>
                  <a:srgbClr val="1A2744"/>
                </a:solidFill>
                <a:latin typeface="Noto Sans KR" pitchFamily="34" charset="0"/>
                <a:ea typeface="Noto Sans KR" pitchFamily="34" charset="-122"/>
                <a:cs typeface="Noto Sans KR" pitchFamily="34" charset="-120"/>
              </a:rPr>
              <a:t>설립 배경</a:t>
            </a:r>
            <a:endParaRPr lang="en-US" sz="1500" dirty="0"/>
          </a:p>
        </p:txBody>
      </p:sp>
      <p:sp>
        <p:nvSpPr>
          <p:cNvPr id="7" name="Text 4"/>
          <p:cNvSpPr/>
          <p:nvPr/>
        </p:nvSpPr>
        <p:spPr>
          <a:xfrm>
            <a:off x="868680" y="1783080"/>
            <a:ext cx="3291840" cy="822960"/>
          </a:xfrm>
          <a:prstGeom prst="rect">
            <a:avLst/>
          </a:prstGeom>
          <a:noFill/>
          <a:ln/>
        </p:spPr>
        <p:txBody>
          <a:bodyPr wrap="square" lIns="0" tIns="0" rIns="0" bIns="0" rtlCol="0" anchor="ctr"/>
          <a:lstStyle/>
          <a:p>
            <a:pPr marL="0" indent="0">
              <a:buNone/>
            </a:pPr>
            <a:r>
              <a:rPr lang="en-US" sz="1200" dirty="0">
                <a:solidFill>
                  <a:srgbClr val="4A5568"/>
                </a:solidFill>
                <a:latin typeface="Noto Sans KR" pitchFamily="34" charset="0"/>
                <a:ea typeface="Noto Sans KR" pitchFamily="34" charset="-122"/>
                <a:cs typeface="Noto Sans KR" pitchFamily="34" charset="-120"/>
              </a:rPr>
              <a:t>1998년 소시에테 제네랄이</a:t>
            </a:r>
            <a:endParaRPr lang="en-US" sz="1200" dirty="0"/>
          </a:p>
          <a:p>
            <a:pPr marL="0" indent="0">
              <a:buNone/>
            </a:pPr>
            <a:r>
              <a:rPr lang="en-US" sz="1200" dirty="0">
                <a:solidFill>
                  <a:srgbClr val="4A5568"/>
                </a:solidFill>
                <a:latin typeface="Noto Sans KR" pitchFamily="34" charset="0"/>
                <a:ea typeface="Noto Sans KR" pitchFamily="34" charset="-122"/>
                <a:cs typeface="Noto Sans KR" pitchFamily="34" charset="-120"/>
              </a:rPr>
              <a:t>코웬 앤 컴퍼니 인수</a:t>
            </a:r>
            <a:endParaRPr lang="en-US" sz="1200" dirty="0"/>
          </a:p>
          <a:p>
            <a:pPr marL="0" indent="0">
              <a:buNone/>
            </a:pPr>
            <a:r>
              <a:rPr lang="en-US" sz="1200" dirty="0">
                <a:solidFill>
                  <a:srgbClr val="4A5568"/>
                </a:solidFill>
                <a:latin typeface="Noto Sans KR" pitchFamily="34" charset="0"/>
                <a:ea typeface="Noto Sans KR" pitchFamily="34" charset="-122"/>
                <a:cs typeface="Noto Sans KR" pitchFamily="34" charset="-120"/>
              </a:rPr>
              <a:t>(인수가: 6억 달러)</a:t>
            </a:r>
            <a:endParaRPr lang="en-US" sz="1200" dirty="0"/>
          </a:p>
        </p:txBody>
      </p:sp>
      <p:sp>
        <p:nvSpPr>
          <p:cNvPr id="8" name="Shape 5"/>
          <p:cNvSpPr/>
          <p:nvPr/>
        </p:nvSpPr>
        <p:spPr>
          <a:xfrm>
            <a:off x="4754880" y="1097280"/>
            <a:ext cx="3749040" cy="1600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pic>
        <p:nvPicPr>
          <p:cNvPr id="9" name="Image 1" descr="preencoded.png"/>
          <p:cNvPicPr>
            <a:picLocks noChangeAspect="1"/>
          </p:cNvPicPr>
          <p:nvPr/>
        </p:nvPicPr>
        <p:blipFill>
          <a:blip r:embed="rId4"/>
          <a:stretch>
            <a:fillRect/>
          </a:stretch>
        </p:blipFill>
        <p:spPr>
          <a:xfrm>
            <a:off x="4983480" y="1325880"/>
            <a:ext cx="365760" cy="365760"/>
          </a:xfrm>
          <a:prstGeom prst="rect">
            <a:avLst/>
          </a:prstGeom>
        </p:spPr>
      </p:pic>
      <p:sp>
        <p:nvSpPr>
          <p:cNvPr id="10" name="Text 6"/>
          <p:cNvSpPr/>
          <p:nvPr/>
        </p:nvSpPr>
        <p:spPr>
          <a:xfrm>
            <a:off x="5486400" y="1280160"/>
            <a:ext cx="2743200" cy="365760"/>
          </a:xfrm>
          <a:prstGeom prst="rect">
            <a:avLst/>
          </a:prstGeom>
          <a:noFill/>
          <a:ln/>
        </p:spPr>
        <p:txBody>
          <a:bodyPr wrap="square" lIns="0" tIns="0" rIns="0" bIns="0" rtlCol="0" anchor="ctr"/>
          <a:lstStyle/>
          <a:p>
            <a:pPr marL="0" indent="0">
              <a:buNone/>
            </a:pPr>
            <a:r>
              <a:rPr lang="en-US" sz="1500" b="1" dirty="0">
                <a:solidFill>
                  <a:srgbClr val="1A2744"/>
                </a:solidFill>
                <a:latin typeface="Noto Sans KR" pitchFamily="34" charset="0"/>
                <a:ea typeface="Noto Sans KR" pitchFamily="34" charset="-122"/>
                <a:cs typeface="Noto Sans KR" pitchFamily="34" charset="-120"/>
              </a:rPr>
              <a:t>재무 성과</a:t>
            </a:r>
            <a:endParaRPr lang="en-US" sz="1500" dirty="0"/>
          </a:p>
        </p:txBody>
      </p:sp>
      <p:sp>
        <p:nvSpPr>
          <p:cNvPr id="11" name="Text 7"/>
          <p:cNvSpPr/>
          <p:nvPr/>
        </p:nvSpPr>
        <p:spPr>
          <a:xfrm>
            <a:off x="4983480" y="1783080"/>
            <a:ext cx="3291840" cy="822960"/>
          </a:xfrm>
          <a:prstGeom prst="rect">
            <a:avLst/>
          </a:prstGeom>
          <a:noFill/>
          <a:ln/>
        </p:spPr>
        <p:txBody>
          <a:bodyPr wrap="square" lIns="0" tIns="0" rIns="0" bIns="0" rtlCol="0" anchor="ctr"/>
          <a:lstStyle/>
          <a:p>
            <a:pPr marL="0" indent="0">
              <a:buNone/>
            </a:pPr>
            <a:r>
              <a:rPr lang="en-US" sz="1200" dirty="0">
                <a:solidFill>
                  <a:srgbClr val="4A5568"/>
                </a:solidFill>
                <a:latin typeface="Noto Sans KR" pitchFamily="34" charset="0"/>
                <a:ea typeface="Noto Sans KR" pitchFamily="34" charset="-122"/>
                <a:cs typeface="Noto Sans KR" pitchFamily="34" charset="-120"/>
              </a:rPr>
              <a:t>1999년 7,500만$ 영업손실</a:t>
            </a:r>
            <a:endParaRPr lang="en-US" sz="1200" dirty="0"/>
          </a:p>
          <a:p>
            <a:pPr marL="0" indent="0">
              <a:buNone/>
            </a:pPr>
            <a:r>
              <a:rPr lang="en-US" sz="1200" dirty="0">
                <a:solidFill>
                  <a:srgbClr val="4A5568"/>
                </a:solidFill>
                <a:latin typeface="Noto Sans KR" pitchFamily="34" charset="0"/>
                <a:ea typeface="Noto Sans KR" pitchFamily="34" charset="-122"/>
                <a:cs typeface="Noto Sans KR" pitchFamily="34" charset="-120"/>
              </a:rPr>
              <a:t>→ 2000년 3,400만$ 영업이익</a:t>
            </a:r>
            <a:endParaRPr lang="en-US" sz="1200" dirty="0"/>
          </a:p>
          <a:p>
            <a:pPr marL="0" indent="0">
              <a:buNone/>
            </a:pPr>
            <a:r>
              <a:rPr lang="en-US" sz="1200" dirty="0">
                <a:solidFill>
                  <a:srgbClr val="4A5568"/>
                </a:solidFill>
                <a:latin typeface="Noto Sans KR" pitchFamily="34" charset="0"/>
                <a:ea typeface="Noto Sans KR" pitchFamily="34" charset="-122"/>
                <a:cs typeface="Noto Sans KR" pitchFamily="34" charset="-120"/>
              </a:rPr>
              <a:t>(극적 턴어라운드)</a:t>
            </a:r>
            <a:endParaRPr lang="en-US" sz="1200" dirty="0"/>
          </a:p>
        </p:txBody>
      </p:sp>
      <p:sp>
        <p:nvSpPr>
          <p:cNvPr id="12" name="Shape 8"/>
          <p:cNvSpPr/>
          <p:nvPr/>
        </p:nvSpPr>
        <p:spPr>
          <a:xfrm>
            <a:off x="640080" y="2926080"/>
            <a:ext cx="3749040" cy="1600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pic>
        <p:nvPicPr>
          <p:cNvPr id="13" name="Image 2" descr="preencoded.png"/>
          <p:cNvPicPr>
            <a:picLocks noChangeAspect="1"/>
          </p:cNvPicPr>
          <p:nvPr/>
        </p:nvPicPr>
        <p:blipFill>
          <a:blip r:embed="rId5">
            <a:duotone>
              <a:prstClr val="black"/>
              <a:schemeClr val="accent2">
                <a:tint val="45000"/>
                <a:satMod val="400000"/>
              </a:schemeClr>
            </a:duotone>
          </a:blip>
          <a:stretch>
            <a:fillRect/>
          </a:stretch>
        </p:blipFill>
        <p:spPr>
          <a:xfrm>
            <a:off x="868680" y="3154680"/>
            <a:ext cx="365760" cy="365760"/>
          </a:xfrm>
          <a:prstGeom prst="rect">
            <a:avLst/>
          </a:prstGeom>
        </p:spPr>
      </p:pic>
      <p:sp>
        <p:nvSpPr>
          <p:cNvPr id="14" name="Text 9"/>
          <p:cNvSpPr/>
          <p:nvPr/>
        </p:nvSpPr>
        <p:spPr>
          <a:xfrm>
            <a:off x="1371600" y="3108960"/>
            <a:ext cx="2743200" cy="365760"/>
          </a:xfrm>
          <a:prstGeom prst="rect">
            <a:avLst/>
          </a:prstGeom>
          <a:noFill/>
          <a:ln/>
        </p:spPr>
        <p:txBody>
          <a:bodyPr wrap="square" lIns="0" tIns="0" rIns="0" bIns="0" rtlCol="0" anchor="ctr"/>
          <a:lstStyle/>
          <a:p>
            <a:pPr marL="0" indent="0">
              <a:buNone/>
            </a:pPr>
            <a:r>
              <a:rPr lang="en-US" sz="1500" b="1" dirty="0">
                <a:solidFill>
                  <a:srgbClr val="1A2744"/>
                </a:solidFill>
                <a:latin typeface="Noto Sans KR" pitchFamily="34" charset="0"/>
                <a:ea typeface="Noto Sans KR" pitchFamily="34" charset="-122"/>
                <a:cs typeface="Noto Sans KR" pitchFamily="34" charset="-120"/>
              </a:rPr>
              <a:t>조직 규모</a:t>
            </a:r>
            <a:endParaRPr lang="en-US" sz="1500" dirty="0"/>
          </a:p>
        </p:txBody>
      </p:sp>
      <p:sp>
        <p:nvSpPr>
          <p:cNvPr id="15" name="Text 10"/>
          <p:cNvSpPr/>
          <p:nvPr/>
        </p:nvSpPr>
        <p:spPr>
          <a:xfrm>
            <a:off x="868680" y="3611880"/>
            <a:ext cx="3291840" cy="822960"/>
          </a:xfrm>
          <a:prstGeom prst="rect">
            <a:avLst/>
          </a:prstGeom>
          <a:noFill/>
          <a:ln/>
        </p:spPr>
        <p:txBody>
          <a:bodyPr wrap="square" lIns="0" tIns="0" rIns="0" bIns="0" rtlCol="0" anchor="ctr"/>
          <a:lstStyle/>
          <a:p>
            <a:pPr marL="0" indent="0">
              <a:buNone/>
            </a:pPr>
            <a:r>
              <a:rPr lang="en-US" sz="1200" dirty="0">
                <a:solidFill>
                  <a:srgbClr val="4A5568"/>
                </a:solidFill>
                <a:latin typeface="Noto Sans KR" pitchFamily="34" charset="0"/>
                <a:ea typeface="Noto Sans KR" pitchFamily="34" charset="-122"/>
                <a:cs typeface="Noto Sans KR" pitchFamily="34" charset="-120"/>
              </a:rPr>
              <a:t>전문가 1,500명</a:t>
            </a:r>
            <a:endParaRPr lang="en-US" sz="1200" dirty="0"/>
          </a:p>
          <a:p>
            <a:pPr marL="0" indent="0">
              <a:buNone/>
            </a:pPr>
            <a:r>
              <a:rPr lang="en-US" sz="1200" dirty="0">
                <a:solidFill>
                  <a:srgbClr val="4A5568"/>
                </a:solidFill>
                <a:latin typeface="Noto Sans KR" pitchFamily="34" charset="0"/>
                <a:ea typeface="Noto Sans KR" pitchFamily="34" charset="-122"/>
                <a:cs typeface="Noto Sans KR" pitchFamily="34" charset="-120"/>
              </a:rPr>
              <a:t>부티크 규모 유지 전략</a:t>
            </a:r>
            <a:endParaRPr lang="en-US" sz="1200" dirty="0"/>
          </a:p>
          <a:p>
            <a:pPr marL="0" indent="0">
              <a:buNone/>
            </a:pPr>
            <a:r>
              <a:rPr lang="en-US" sz="1200" dirty="0" err="1">
                <a:solidFill>
                  <a:srgbClr val="4A5568"/>
                </a:solidFill>
                <a:latin typeface="Noto Sans KR" pitchFamily="34" charset="0"/>
                <a:ea typeface="Noto Sans KR" pitchFamily="34" charset="-122"/>
                <a:cs typeface="Noto Sans KR" pitchFamily="34" charset="-120"/>
              </a:rPr>
              <a:t>모회사</a:t>
            </a:r>
            <a:r>
              <a:rPr lang="en-US" sz="1200" dirty="0">
                <a:solidFill>
                  <a:srgbClr val="4A5568"/>
                </a:solidFill>
                <a:latin typeface="Noto Sans KR" pitchFamily="34" charset="0"/>
                <a:ea typeface="Noto Sans KR" pitchFamily="34" charset="-122"/>
                <a:cs typeface="Noto Sans KR" pitchFamily="34" charset="-120"/>
              </a:rPr>
              <a:t> </a:t>
            </a:r>
            <a:r>
              <a:rPr lang="ko-KR" altLang="en-US" sz="1200" dirty="0">
                <a:solidFill>
                  <a:srgbClr val="4A5568"/>
                </a:solidFill>
                <a:latin typeface="Noto Sans KR" pitchFamily="34" charset="0"/>
                <a:ea typeface="Noto Sans KR" pitchFamily="34" charset="-122"/>
                <a:cs typeface="Noto Sans KR" pitchFamily="34" charset="-120"/>
              </a:rPr>
              <a:t>자본력</a:t>
            </a:r>
            <a:r>
              <a:rPr lang="en-US" sz="1200" dirty="0">
                <a:solidFill>
                  <a:srgbClr val="4A5568"/>
                </a:solidFill>
                <a:latin typeface="Noto Sans KR" pitchFamily="34" charset="0"/>
                <a:ea typeface="Noto Sans KR" pitchFamily="34" charset="-122"/>
                <a:cs typeface="Noto Sans KR" pitchFamily="34" charset="-120"/>
              </a:rPr>
              <a:t> 활용</a:t>
            </a:r>
            <a:endParaRPr lang="en-US" sz="1200" dirty="0"/>
          </a:p>
        </p:txBody>
      </p:sp>
      <p:sp>
        <p:nvSpPr>
          <p:cNvPr id="16" name="Shape 11"/>
          <p:cNvSpPr/>
          <p:nvPr/>
        </p:nvSpPr>
        <p:spPr>
          <a:xfrm>
            <a:off x="4754880" y="2926080"/>
            <a:ext cx="3749040" cy="1600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pic>
        <p:nvPicPr>
          <p:cNvPr id="17" name="Image 3" descr="preencoded.png"/>
          <p:cNvPicPr>
            <a:picLocks noChangeAspect="1"/>
          </p:cNvPicPr>
          <p:nvPr/>
        </p:nvPicPr>
        <p:blipFill>
          <a:blip r:embed="rId6"/>
          <a:stretch>
            <a:fillRect/>
          </a:stretch>
        </p:blipFill>
        <p:spPr>
          <a:xfrm>
            <a:off x="4983480" y="3154680"/>
            <a:ext cx="365760" cy="365760"/>
          </a:xfrm>
          <a:prstGeom prst="rect">
            <a:avLst/>
          </a:prstGeom>
        </p:spPr>
      </p:pic>
      <p:sp>
        <p:nvSpPr>
          <p:cNvPr id="18" name="Text 12"/>
          <p:cNvSpPr/>
          <p:nvPr/>
        </p:nvSpPr>
        <p:spPr>
          <a:xfrm>
            <a:off x="5486400" y="3108960"/>
            <a:ext cx="2743200" cy="365760"/>
          </a:xfrm>
          <a:prstGeom prst="rect">
            <a:avLst/>
          </a:prstGeom>
          <a:noFill/>
          <a:ln/>
        </p:spPr>
        <p:txBody>
          <a:bodyPr wrap="square" lIns="0" tIns="0" rIns="0" bIns="0" rtlCol="0" anchor="ctr"/>
          <a:lstStyle/>
          <a:p>
            <a:pPr marL="0" indent="0">
              <a:buNone/>
            </a:pPr>
            <a:r>
              <a:rPr lang="en-US" sz="1500" b="1" dirty="0">
                <a:solidFill>
                  <a:srgbClr val="1A2744"/>
                </a:solidFill>
                <a:latin typeface="Noto Sans KR" pitchFamily="34" charset="0"/>
                <a:ea typeface="Noto Sans KR" pitchFamily="34" charset="-122"/>
                <a:cs typeface="Noto Sans KR" pitchFamily="34" charset="-120"/>
              </a:rPr>
              <a:t>전문 분야</a:t>
            </a:r>
            <a:endParaRPr lang="en-US" sz="1500" dirty="0"/>
          </a:p>
        </p:txBody>
      </p:sp>
      <p:sp>
        <p:nvSpPr>
          <p:cNvPr id="19" name="Text 13"/>
          <p:cNvSpPr/>
          <p:nvPr/>
        </p:nvSpPr>
        <p:spPr>
          <a:xfrm>
            <a:off x="4983480" y="3611880"/>
            <a:ext cx="3291840" cy="822960"/>
          </a:xfrm>
          <a:prstGeom prst="rect">
            <a:avLst/>
          </a:prstGeom>
          <a:noFill/>
          <a:ln/>
        </p:spPr>
        <p:txBody>
          <a:bodyPr wrap="square" lIns="0" tIns="0" rIns="0" bIns="0" rtlCol="0" anchor="ctr"/>
          <a:lstStyle/>
          <a:p>
            <a:pPr marL="0" indent="0">
              <a:buNone/>
            </a:pPr>
            <a:r>
              <a:rPr lang="en-US" sz="1200" dirty="0">
                <a:solidFill>
                  <a:srgbClr val="4A5568"/>
                </a:solidFill>
                <a:latin typeface="Noto Sans KR" pitchFamily="34" charset="0"/>
                <a:ea typeface="Noto Sans KR" pitchFamily="34" charset="-122"/>
                <a:cs typeface="Noto Sans KR" pitchFamily="34" charset="-120"/>
              </a:rPr>
              <a:t>헬스케어 &amp; 기술 분야</a:t>
            </a:r>
            <a:endParaRPr lang="en-US" sz="1200" dirty="0"/>
          </a:p>
          <a:p>
            <a:pPr marL="0" indent="0">
              <a:buNone/>
            </a:pPr>
            <a:r>
              <a:rPr lang="en-US" sz="1200" dirty="0">
                <a:solidFill>
                  <a:srgbClr val="4A5568"/>
                </a:solidFill>
                <a:latin typeface="Noto Sans KR" pitchFamily="34" charset="0"/>
                <a:ea typeface="Noto Sans KR" pitchFamily="34" charset="-122"/>
                <a:cs typeface="Noto Sans KR" pitchFamily="34" charset="-120"/>
              </a:rPr>
              <a:t>신흥 성장 기업 집중</a:t>
            </a:r>
            <a:endParaRPr lang="en-US" sz="1200" dirty="0"/>
          </a:p>
          <a:p>
            <a:pPr marL="0" indent="0">
              <a:buNone/>
            </a:pPr>
            <a:r>
              <a:rPr lang="en-US" sz="1200" dirty="0">
                <a:solidFill>
                  <a:srgbClr val="4A5568"/>
                </a:solidFill>
                <a:latin typeface="Noto Sans KR" pitchFamily="34" charset="0"/>
                <a:ea typeface="Noto Sans KR" pitchFamily="34" charset="-122"/>
                <a:cs typeface="Noto Sans KR" pitchFamily="34" charset="-120"/>
              </a:rPr>
              <a:t>리서치 주도형 비즈니스</a:t>
            </a:r>
            <a:endParaRPr lang="en-US" sz="1200" dirty="0"/>
          </a:p>
        </p:txBody>
      </p:sp>
      <p:sp>
        <p:nvSpPr>
          <p:cNvPr id="20" name="Shape 14"/>
          <p:cNvSpPr/>
          <p:nvPr/>
        </p:nvSpPr>
        <p:spPr>
          <a:xfrm>
            <a:off x="640080" y="4572000"/>
            <a:ext cx="7863840" cy="411480"/>
          </a:xfrm>
          <a:prstGeom prst="rect">
            <a:avLst/>
          </a:prstGeom>
          <a:solidFill>
            <a:srgbClr val="1A2744"/>
          </a:solidFill>
          <a:ln/>
        </p:spPr>
        <p:txBody>
          <a:bodyPr/>
          <a:lstStyle/>
          <a:p>
            <a:endParaRPr lang="ko-KR" altLang="en-US"/>
          </a:p>
        </p:txBody>
      </p:sp>
      <p:sp>
        <p:nvSpPr>
          <p:cNvPr id="21" name="Text 15"/>
          <p:cNvSpPr/>
          <p:nvPr/>
        </p:nvSpPr>
        <p:spPr>
          <a:xfrm>
            <a:off x="822960" y="4572000"/>
            <a:ext cx="7498080" cy="411480"/>
          </a:xfrm>
          <a:prstGeom prst="rect">
            <a:avLst/>
          </a:prstGeom>
          <a:noFill/>
          <a:ln/>
        </p:spPr>
        <p:txBody>
          <a:bodyPr wrap="square" lIns="0" tIns="0" rIns="0" bIns="0" rtlCol="0" anchor="ctr"/>
          <a:lstStyle/>
          <a:p>
            <a:pPr marL="0" indent="0">
              <a:buNone/>
            </a:pPr>
            <a:r>
              <a:rPr lang="en-US" sz="1100" i="1" dirty="0">
                <a:solidFill>
                  <a:srgbClr val="CADCFC"/>
                </a:solidFill>
                <a:latin typeface="Noto Sans KR" pitchFamily="34" charset="0"/>
                <a:ea typeface="Noto Sans KR" pitchFamily="34" charset="-122"/>
                <a:cs typeface="Noto Sans KR" pitchFamily="34" charset="-120"/>
              </a:rPr>
              <a:t>"리서치는 새로운 고객과의 관계를 여는 '쐐기의 날'이다" — 김 페네브레스크 CEO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2744"/>
          </a:solidFill>
          <a:ln/>
        </p:spPr>
        <p:txBody>
          <a:bodyPr/>
          <a:lstStyle/>
          <a:p>
            <a:endParaRPr lang="ko-KR" altLang="en-US"/>
          </a:p>
        </p:txBody>
      </p:sp>
      <p:sp>
        <p:nvSpPr>
          <p:cNvPr id="3" name="Text 1"/>
          <p:cNvSpPr/>
          <p:nvPr/>
        </p:nvSpPr>
        <p:spPr>
          <a:xfrm>
            <a:off x="640080" y="274320"/>
            <a:ext cx="8229600" cy="640080"/>
          </a:xfrm>
          <a:prstGeom prst="rect">
            <a:avLst/>
          </a:prstGeom>
          <a:noFill/>
          <a:ln/>
        </p:spPr>
        <p:txBody>
          <a:bodyPr wrap="square" lIns="0" tIns="0" rIns="0" bIns="0" rtlCol="0" anchor="ctr"/>
          <a:lstStyle/>
          <a:p>
            <a:pPr marL="0" indent="0">
              <a:buNone/>
            </a:pPr>
            <a:r>
              <a:rPr lang="en-US" sz="3000" b="1" dirty="0">
                <a:solidFill>
                  <a:srgbClr val="1A2744"/>
                </a:solidFill>
                <a:latin typeface="Noto Sans KR" pitchFamily="34" charset="0"/>
                <a:ea typeface="Noto Sans KR" pitchFamily="34" charset="-122"/>
                <a:cs typeface="Noto Sans KR" pitchFamily="34" charset="-120"/>
              </a:rPr>
              <a:t>채용 프로세스 개요</a:t>
            </a:r>
            <a:endParaRPr lang="en-US" sz="3000" dirty="0"/>
          </a:p>
        </p:txBody>
      </p:sp>
      <p:sp>
        <p:nvSpPr>
          <p:cNvPr id="4" name="Shape 2"/>
          <p:cNvSpPr/>
          <p:nvPr/>
        </p:nvSpPr>
        <p:spPr>
          <a:xfrm>
            <a:off x="1097280" y="1578543"/>
            <a:ext cx="640080" cy="640080"/>
          </a:xfrm>
          <a:prstGeom prst="ellipse">
            <a:avLst/>
          </a:prstGeom>
          <a:solidFill>
            <a:srgbClr val="2A9D8F"/>
          </a:solidFill>
          <a:ln/>
        </p:spPr>
        <p:txBody>
          <a:bodyPr/>
          <a:lstStyle/>
          <a:p>
            <a:endParaRPr lang="ko-KR" altLang="en-US"/>
          </a:p>
        </p:txBody>
      </p:sp>
      <p:sp>
        <p:nvSpPr>
          <p:cNvPr id="5" name="Text 3"/>
          <p:cNvSpPr/>
          <p:nvPr/>
        </p:nvSpPr>
        <p:spPr>
          <a:xfrm>
            <a:off x="1097280" y="1578543"/>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Noto Sans KR" pitchFamily="34" charset="0"/>
                <a:ea typeface="Noto Sans KR" pitchFamily="34" charset="-122"/>
                <a:cs typeface="Noto Sans KR" pitchFamily="34" charset="-120"/>
              </a:rPr>
              <a:t>1</a:t>
            </a:r>
            <a:endParaRPr lang="en-US" sz="2200" dirty="0"/>
          </a:p>
        </p:txBody>
      </p:sp>
      <p:sp>
        <p:nvSpPr>
          <p:cNvPr id="6" name="Shape 4"/>
          <p:cNvSpPr/>
          <p:nvPr/>
        </p:nvSpPr>
        <p:spPr>
          <a:xfrm>
            <a:off x="1874520" y="1898583"/>
            <a:ext cx="1097280" cy="0"/>
          </a:xfrm>
          <a:prstGeom prst="line">
            <a:avLst/>
          </a:prstGeom>
          <a:noFill/>
          <a:ln w="25400">
            <a:solidFill>
              <a:srgbClr val="E8ECF2"/>
            </a:solidFill>
            <a:prstDash val="solid"/>
          </a:ln>
        </p:spPr>
        <p:txBody>
          <a:bodyPr/>
          <a:lstStyle/>
          <a:p>
            <a:endParaRPr lang="ko-KR" altLang="en-US"/>
          </a:p>
        </p:txBody>
      </p:sp>
      <p:sp>
        <p:nvSpPr>
          <p:cNvPr id="7" name="Shape 5"/>
          <p:cNvSpPr/>
          <p:nvPr/>
        </p:nvSpPr>
        <p:spPr>
          <a:xfrm>
            <a:off x="457200" y="2447223"/>
            <a:ext cx="192024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8" name="Shape 6"/>
          <p:cNvSpPr/>
          <p:nvPr/>
        </p:nvSpPr>
        <p:spPr>
          <a:xfrm>
            <a:off x="457200" y="2447223"/>
            <a:ext cx="1920240" cy="54864"/>
          </a:xfrm>
          <a:prstGeom prst="rect">
            <a:avLst/>
          </a:prstGeom>
          <a:solidFill>
            <a:srgbClr val="2A9D8F"/>
          </a:solidFill>
          <a:ln/>
        </p:spPr>
        <p:txBody>
          <a:bodyPr/>
          <a:lstStyle/>
          <a:p>
            <a:endParaRPr lang="ko-KR" altLang="en-US"/>
          </a:p>
        </p:txBody>
      </p:sp>
      <p:sp>
        <p:nvSpPr>
          <p:cNvPr id="9" name="Text 7"/>
          <p:cNvSpPr/>
          <p:nvPr/>
        </p:nvSpPr>
        <p:spPr>
          <a:xfrm>
            <a:off x="594360" y="2630103"/>
            <a:ext cx="1645920" cy="365760"/>
          </a:xfrm>
          <a:prstGeom prst="rect">
            <a:avLst/>
          </a:prstGeom>
          <a:noFill/>
          <a:ln/>
        </p:spPr>
        <p:txBody>
          <a:bodyPr wrap="square" lIns="0" tIns="0" rIns="0" bIns="0" rtlCol="0" anchor="ctr"/>
          <a:lstStyle/>
          <a:p>
            <a:pPr marL="0" indent="0">
              <a:buNone/>
            </a:pPr>
            <a:r>
              <a:rPr lang="en-US" sz="1300" b="1" dirty="0">
                <a:solidFill>
                  <a:srgbClr val="1A2744"/>
                </a:solidFill>
                <a:latin typeface="Noto Sans KR" pitchFamily="34" charset="0"/>
                <a:ea typeface="Noto Sans KR" pitchFamily="34" charset="-122"/>
                <a:cs typeface="Noto Sans KR" pitchFamily="34" charset="-120"/>
              </a:rPr>
              <a:t>회사 프레젠테이션</a:t>
            </a:r>
            <a:endParaRPr lang="en-US" sz="1300" dirty="0"/>
          </a:p>
        </p:txBody>
      </p:sp>
      <p:sp>
        <p:nvSpPr>
          <p:cNvPr id="10" name="Text 8"/>
          <p:cNvSpPr/>
          <p:nvPr/>
        </p:nvSpPr>
        <p:spPr>
          <a:xfrm>
            <a:off x="594360" y="3041583"/>
            <a:ext cx="1645920" cy="82296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가을 시즌</a:t>
            </a:r>
            <a:endParaRPr lang="en-US" sz="1100" dirty="0"/>
          </a:p>
          <a:p>
            <a:pPr marL="0" indent="0">
              <a:buNone/>
            </a:pPr>
            <a:r>
              <a:rPr lang="en-US" sz="1100" dirty="0">
                <a:solidFill>
                  <a:srgbClr val="4A5568"/>
                </a:solidFill>
                <a:latin typeface="Noto Sans KR" pitchFamily="34" charset="0"/>
                <a:ea typeface="Noto Sans KR" pitchFamily="34" charset="-122"/>
                <a:cs typeface="Noto Sans KR" pitchFamily="34" charset="-120"/>
              </a:rPr>
              <a:t>핵심 비즈니스 스쿨 방문</a:t>
            </a:r>
            <a:endParaRPr lang="en-US" sz="1100" dirty="0"/>
          </a:p>
        </p:txBody>
      </p:sp>
      <p:sp>
        <p:nvSpPr>
          <p:cNvPr id="11" name="Shape 9"/>
          <p:cNvSpPr/>
          <p:nvPr/>
        </p:nvSpPr>
        <p:spPr>
          <a:xfrm>
            <a:off x="3246120" y="1578543"/>
            <a:ext cx="640080" cy="640080"/>
          </a:xfrm>
          <a:prstGeom prst="ellipse">
            <a:avLst/>
          </a:prstGeom>
          <a:solidFill>
            <a:srgbClr val="1A2744"/>
          </a:solidFill>
          <a:ln/>
        </p:spPr>
        <p:txBody>
          <a:bodyPr/>
          <a:lstStyle/>
          <a:p>
            <a:endParaRPr lang="ko-KR" altLang="en-US"/>
          </a:p>
        </p:txBody>
      </p:sp>
      <p:sp>
        <p:nvSpPr>
          <p:cNvPr id="12" name="Text 10"/>
          <p:cNvSpPr/>
          <p:nvPr/>
        </p:nvSpPr>
        <p:spPr>
          <a:xfrm>
            <a:off x="3246120" y="1578543"/>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Noto Sans KR" pitchFamily="34" charset="0"/>
                <a:ea typeface="Noto Sans KR" pitchFamily="34" charset="-122"/>
                <a:cs typeface="Noto Sans KR" pitchFamily="34" charset="-120"/>
              </a:rPr>
              <a:t>2</a:t>
            </a:r>
            <a:endParaRPr lang="en-US" sz="2200" dirty="0"/>
          </a:p>
        </p:txBody>
      </p:sp>
      <p:sp>
        <p:nvSpPr>
          <p:cNvPr id="13" name="Shape 11"/>
          <p:cNvSpPr/>
          <p:nvPr/>
        </p:nvSpPr>
        <p:spPr>
          <a:xfrm>
            <a:off x="4023360" y="1898583"/>
            <a:ext cx="1097280" cy="0"/>
          </a:xfrm>
          <a:prstGeom prst="line">
            <a:avLst/>
          </a:prstGeom>
          <a:noFill/>
          <a:ln w="25400">
            <a:solidFill>
              <a:srgbClr val="E8ECF2"/>
            </a:solidFill>
            <a:prstDash val="solid"/>
          </a:ln>
        </p:spPr>
        <p:txBody>
          <a:bodyPr/>
          <a:lstStyle/>
          <a:p>
            <a:endParaRPr lang="ko-KR" altLang="en-US"/>
          </a:p>
        </p:txBody>
      </p:sp>
      <p:sp>
        <p:nvSpPr>
          <p:cNvPr id="14" name="Shape 12"/>
          <p:cNvSpPr/>
          <p:nvPr/>
        </p:nvSpPr>
        <p:spPr>
          <a:xfrm>
            <a:off x="2606040" y="2447223"/>
            <a:ext cx="192024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15" name="Shape 13"/>
          <p:cNvSpPr/>
          <p:nvPr/>
        </p:nvSpPr>
        <p:spPr>
          <a:xfrm>
            <a:off x="2606040" y="2447223"/>
            <a:ext cx="1920240" cy="54864"/>
          </a:xfrm>
          <a:prstGeom prst="rect">
            <a:avLst/>
          </a:prstGeom>
          <a:solidFill>
            <a:srgbClr val="1A2744"/>
          </a:solidFill>
          <a:ln/>
        </p:spPr>
        <p:txBody>
          <a:bodyPr/>
          <a:lstStyle/>
          <a:p>
            <a:endParaRPr lang="ko-KR" altLang="en-US"/>
          </a:p>
        </p:txBody>
      </p:sp>
      <p:sp>
        <p:nvSpPr>
          <p:cNvPr id="16" name="Text 14"/>
          <p:cNvSpPr/>
          <p:nvPr/>
        </p:nvSpPr>
        <p:spPr>
          <a:xfrm>
            <a:off x="2743200" y="2630103"/>
            <a:ext cx="1645920" cy="365760"/>
          </a:xfrm>
          <a:prstGeom prst="rect">
            <a:avLst/>
          </a:prstGeom>
          <a:noFill/>
          <a:ln/>
        </p:spPr>
        <p:txBody>
          <a:bodyPr wrap="square" lIns="0" tIns="0" rIns="0" bIns="0" rtlCol="0" anchor="ctr"/>
          <a:lstStyle/>
          <a:p>
            <a:pPr marL="0" indent="0">
              <a:buNone/>
            </a:pPr>
            <a:r>
              <a:rPr lang="en-US" sz="1300" b="1" dirty="0">
                <a:solidFill>
                  <a:srgbClr val="1A2744"/>
                </a:solidFill>
                <a:latin typeface="Noto Sans KR" pitchFamily="34" charset="0"/>
                <a:ea typeface="Noto Sans KR" pitchFamily="34" charset="-122"/>
                <a:cs typeface="Noto Sans KR" pitchFamily="34" charset="-120"/>
              </a:rPr>
              <a:t>캠퍼스 면접</a:t>
            </a:r>
            <a:endParaRPr lang="en-US" sz="1300" dirty="0"/>
          </a:p>
        </p:txBody>
      </p:sp>
      <p:sp>
        <p:nvSpPr>
          <p:cNvPr id="17" name="Text 15"/>
          <p:cNvSpPr/>
          <p:nvPr/>
        </p:nvSpPr>
        <p:spPr>
          <a:xfrm>
            <a:off x="2743200" y="3041583"/>
            <a:ext cx="1645920" cy="822960"/>
          </a:xfrm>
          <a:prstGeom prst="rect">
            <a:avLst/>
          </a:prstGeom>
          <a:noFill/>
          <a:ln/>
        </p:spPr>
        <p:txBody>
          <a:bodyPr wrap="square" lIns="0" tIns="0" rIns="0" bIns="0" rtlCol="0" anchor="ctr"/>
          <a:lstStyle/>
          <a:p>
            <a:pPr marL="0" indent="0">
              <a:buNone/>
            </a:pPr>
            <a:r>
              <a:rPr lang="en-US" sz="1100" dirty="0" err="1">
                <a:solidFill>
                  <a:srgbClr val="4A5568"/>
                </a:solidFill>
                <a:latin typeface="Noto Sans KR" pitchFamily="34" charset="0"/>
                <a:ea typeface="Noto Sans KR" pitchFamily="34" charset="-122"/>
                <a:cs typeface="Noto Sans KR" pitchFamily="34" charset="-120"/>
              </a:rPr>
              <a:t>오픈·클로즈드</a:t>
            </a:r>
            <a:r>
              <a:rPr lang="en-US" sz="1100" dirty="0">
                <a:solidFill>
                  <a:srgbClr val="4A5568"/>
                </a:solidFill>
                <a:latin typeface="Noto Sans KR" pitchFamily="34" charset="0"/>
                <a:ea typeface="Noto Sans KR" pitchFamily="34" charset="-122"/>
                <a:cs typeface="Noto Sans KR" pitchFamily="34" charset="-120"/>
              </a:rPr>
              <a:t> </a:t>
            </a:r>
            <a:r>
              <a:rPr lang="ko-KR" altLang="en-US" sz="1100" dirty="0">
                <a:solidFill>
                  <a:srgbClr val="4A5568"/>
                </a:solidFill>
                <a:latin typeface="Noto Sans KR" pitchFamily="34" charset="0"/>
                <a:ea typeface="Noto Sans KR" pitchFamily="34" charset="-122"/>
                <a:cs typeface="Noto Sans KR" pitchFamily="34" charset="-120"/>
              </a:rPr>
              <a:t>리스트</a:t>
            </a:r>
            <a:endParaRPr lang="en-US" sz="1100" dirty="0"/>
          </a:p>
          <a:p>
            <a:pPr marL="0" indent="0">
              <a:buNone/>
            </a:pPr>
            <a:r>
              <a:rPr lang="en-US" sz="1100" dirty="0">
                <a:solidFill>
                  <a:srgbClr val="4A5568"/>
                </a:solidFill>
                <a:latin typeface="Noto Sans KR" pitchFamily="34" charset="0"/>
                <a:ea typeface="Noto Sans KR" pitchFamily="34" charset="-122"/>
                <a:cs typeface="Noto Sans KR" pitchFamily="34" charset="-120"/>
              </a:rPr>
              <a:t>어소시에이트급 면접관</a:t>
            </a:r>
            <a:endParaRPr lang="en-US" sz="1100" dirty="0"/>
          </a:p>
        </p:txBody>
      </p:sp>
      <p:sp>
        <p:nvSpPr>
          <p:cNvPr id="18" name="Shape 16"/>
          <p:cNvSpPr/>
          <p:nvPr/>
        </p:nvSpPr>
        <p:spPr>
          <a:xfrm>
            <a:off x="5394960" y="1578543"/>
            <a:ext cx="640080" cy="640080"/>
          </a:xfrm>
          <a:prstGeom prst="ellipse">
            <a:avLst/>
          </a:prstGeom>
          <a:solidFill>
            <a:srgbClr val="D4A84B"/>
          </a:solidFill>
          <a:ln/>
        </p:spPr>
        <p:txBody>
          <a:bodyPr/>
          <a:lstStyle/>
          <a:p>
            <a:endParaRPr lang="ko-KR" altLang="en-US"/>
          </a:p>
        </p:txBody>
      </p:sp>
      <p:sp>
        <p:nvSpPr>
          <p:cNvPr id="19" name="Text 17"/>
          <p:cNvSpPr/>
          <p:nvPr/>
        </p:nvSpPr>
        <p:spPr>
          <a:xfrm>
            <a:off x="5394960" y="1578543"/>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Noto Sans KR" pitchFamily="34" charset="0"/>
                <a:ea typeface="Noto Sans KR" pitchFamily="34" charset="-122"/>
                <a:cs typeface="Noto Sans KR" pitchFamily="34" charset="-120"/>
              </a:rPr>
              <a:t>3</a:t>
            </a:r>
            <a:endParaRPr lang="en-US" sz="2200" dirty="0"/>
          </a:p>
        </p:txBody>
      </p:sp>
      <p:sp>
        <p:nvSpPr>
          <p:cNvPr id="20" name="Shape 18"/>
          <p:cNvSpPr/>
          <p:nvPr/>
        </p:nvSpPr>
        <p:spPr>
          <a:xfrm>
            <a:off x="6172200" y="1898583"/>
            <a:ext cx="1097280" cy="0"/>
          </a:xfrm>
          <a:prstGeom prst="line">
            <a:avLst/>
          </a:prstGeom>
          <a:noFill/>
          <a:ln w="25400">
            <a:solidFill>
              <a:srgbClr val="E8ECF2"/>
            </a:solidFill>
            <a:prstDash val="solid"/>
          </a:ln>
        </p:spPr>
        <p:txBody>
          <a:bodyPr/>
          <a:lstStyle/>
          <a:p>
            <a:endParaRPr lang="ko-KR" altLang="en-US"/>
          </a:p>
        </p:txBody>
      </p:sp>
      <p:sp>
        <p:nvSpPr>
          <p:cNvPr id="21" name="Shape 19"/>
          <p:cNvSpPr/>
          <p:nvPr/>
        </p:nvSpPr>
        <p:spPr>
          <a:xfrm>
            <a:off x="4754880" y="2447223"/>
            <a:ext cx="192024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22" name="Shape 20"/>
          <p:cNvSpPr/>
          <p:nvPr/>
        </p:nvSpPr>
        <p:spPr>
          <a:xfrm>
            <a:off x="4754880" y="2447223"/>
            <a:ext cx="1920240" cy="54864"/>
          </a:xfrm>
          <a:prstGeom prst="rect">
            <a:avLst/>
          </a:prstGeom>
          <a:solidFill>
            <a:srgbClr val="D4A84B"/>
          </a:solidFill>
          <a:ln/>
        </p:spPr>
        <p:txBody>
          <a:bodyPr/>
          <a:lstStyle/>
          <a:p>
            <a:endParaRPr lang="ko-KR" altLang="en-US"/>
          </a:p>
        </p:txBody>
      </p:sp>
      <p:sp>
        <p:nvSpPr>
          <p:cNvPr id="23" name="Text 21"/>
          <p:cNvSpPr/>
          <p:nvPr/>
        </p:nvSpPr>
        <p:spPr>
          <a:xfrm>
            <a:off x="4892040" y="2630103"/>
            <a:ext cx="1645920" cy="365760"/>
          </a:xfrm>
          <a:prstGeom prst="rect">
            <a:avLst/>
          </a:prstGeom>
          <a:noFill/>
          <a:ln/>
        </p:spPr>
        <p:txBody>
          <a:bodyPr wrap="square" lIns="0" tIns="0" rIns="0" bIns="0" rtlCol="0" anchor="ctr"/>
          <a:lstStyle/>
          <a:p>
            <a:pPr marL="0" indent="0">
              <a:buNone/>
            </a:pPr>
            <a:r>
              <a:rPr lang="en-US" sz="1300" b="1" dirty="0">
                <a:solidFill>
                  <a:srgbClr val="1A2744"/>
                </a:solidFill>
                <a:latin typeface="Noto Sans KR" pitchFamily="34" charset="0"/>
                <a:ea typeface="Noto Sans KR" pitchFamily="34" charset="-122"/>
                <a:cs typeface="Noto Sans KR" pitchFamily="34" charset="-120"/>
              </a:rPr>
              <a:t>슈퍼 새터데이</a:t>
            </a:r>
            <a:endParaRPr lang="en-US" sz="1300" dirty="0"/>
          </a:p>
        </p:txBody>
      </p:sp>
      <p:sp>
        <p:nvSpPr>
          <p:cNvPr id="24" name="Text 22"/>
          <p:cNvSpPr/>
          <p:nvPr/>
        </p:nvSpPr>
        <p:spPr>
          <a:xfrm>
            <a:off x="4892040" y="3041583"/>
            <a:ext cx="1645920" cy="82296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금요일 만찬 + 토요일</a:t>
            </a:r>
            <a:endParaRPr lang="en-US" sz="1100" dirty="0"/>
          </a:p>
          <a:p>
            <a:pPr marL="0" indent="0">
              <a:buNone/>
            </a:pPr>
            <a:r>
              <a:rPr lang="en-US" sz="1100" dirty="0">
                <a:solidFill>
                  <a:srgbClr val="4A5568"/>
                </a:solidFill>
                <a:latin typeface="Noto Sans KR" pitchFamily="34" charset="0"/>
                <a:ea typeface="Noto Sans KR" pitchFamily="34" charset="-122"/>
                <a:cs typeface="Noto Sans KR" pitchFamily="34" charset="-120"/>
              </a:rPr>
              <a:t>5회 × 30분 면접</a:t>
            </a:r>
            <a:endParaRPr lang="en-US" sz="1100" dirty="0"/>
          </a:p>
        </p:txBody>
      </p:sp>
      <p:sp>
        <p:nvSpPr>
          <p:cNvPr id="25" name="Shape 23"/>
          <p:cNvSpPr/>
          <p:nvPr/>
        </p:nvSpPr>
        <p:spPr>
          <a:xfrm>
            <a:off x="7543800" y="1578543"/>
            <a:ext cx="640080" cy="640080"/>
          </a:xfrm>
          <a:prstGeom prst="ellipse">
            <a:avLst/>
          </a:prstGeom>
          <a:solidFill>
            <a:srgbClr val="E85D5D"/>
          </a:solidFill>
          <a:ln/>
        </p:spPr>
        <p:txBody>
          <a:bodyPr/>
          <a:lstStyle/>
          <a:p>
            <a:endParaRPr lang="ko-KR" altLang="en-US"/>
          </a:p>
        </p:txBody>
      </p:sp>
      <p:sp>
        <p:nvSpPr>
          <p:cNvPr id="26" name="Text 24"/>
          <p:cNvSpPr/>
          <p:nvPr/>
        </p:nvSpPr>
        <p:spPr>
          <a:xfrm>
            <a:off x="7543800" y="1578543"/>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Noto Sans KR" pitchFamily="34" charset="0"/>
                <a:ea typeface="Noto Sans KR" pitchFamily="34" charset="-122"/>
                <a:cs typeface="Noto Sans KR" pitchFamily="34" charset="-120"/>
              </a:rPr>
              <a:t>4</a:t>
            </a:r>
            <a:endParaRPr lang="en-US" sz="2200" dirty="0"/>
          </a:p>
        </p:txBody>
      </p:sp>
      <p:sp>
        <p:nvSpPr>
          <p:cNvPr id="27" name="Shape 25"/>
          <p:cNvSpPr/>
          <p:nvPr/>
        </p:nvSpPr>
        <p:spPr>
          <a:xfrm>
            <a:off x="6903720" y="2447223"/>
            <a:ext cx="192024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28" name="Shape 26"/>
          <p:cNvSpPr/>
          <p:nvPr/>
        </p:nvSpPr>
        <p:spPr>
          <a:xfrm>
            <a:off x="6903720" y="2447223"/>
            <a:ext cx="1920240" cy="54864"/>
          </a:xfrm>
          <a:prstGeom prst="rect">
            <a:avLst/>
          </a:prstGeom>
          <a:solidFill>
            <a:srgbClr val="E85D5D"/>
          </a:solidFill>
          <a:ln/>
        </p:spPr>
        <p:txBody>
          <a:bodyPr/>
          <a:lstStyle/>
          <a:p>
            <a:endParaRPr lang="ko-KR" altLang="en-US"/>
          </a:p>
        </p:txBody>
      </p:sp>
      <p:sp>
        <p:nvSpPr>
          <p:cNvPr id="29" name="Text 27"/>
          <p:cNvSpPr/>
          <p:nvPr/>
        </p:nvSpPr>
        <p:spPr>
          <a:xfrm>
            <a:off x="7040880" y="2630103"/>
            <a:ext cx="1645920" cy="365760"/>
          </a:xfrm>
          <a:prstGeom prst="rect">
            <a:avLst/>
          </a:prstGeom>
          <a:noFill/>
          <a:ln/>
        </p:spPr>
        <p:txBody>
          <a:bodyPr wrap="square" lIns="0" tIns="0" rIns="0" bIns="0" rtlCol="0" anchor="ctr"/>
          <a:lstStyle/>
          <a:p>
            <a:pPr marL="0" indent="0">
              <a:buNone/>
            </a:pPr>
            <a:r>
              <a:rPr lang="en-US" sz="1300" b="1" dirty="0">
                <a:solidFill>
                  <a:srgbClr val="1A2744"/>
                </a:solidFill>
                <a:latin typeface="Noto Sans KR" pitchFamily="34" charset="0"/>
                <a:ea typeface="Noto Sans KR" pitchFamily="34" charset="-122"/>
                <a:cs typeface="Noto Sans KR" pitchFamily="34" charset="-120"/>
              </a:rPr>
              <a:t>채용 결정</a:t>
            </a:r>
            <a:endParaRPr lang="en-US" sz="1300" dirty="0"/>
          </a:p>
        </p:txBody>
      </p:sp>
      <p:sp>
        <p:nvSpPr>
          <p:cNvPr id="30" name="Text 28"/>
          <p:cNvSpPr/>
          <p:nvPr/>
        </p:nvSpPr>
        <p:spPr>
          <a:xfrm>
            <a:off x="7040879" y="3041583"/>
            <a:ext cx="1742173" cy="82296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즉석 논의 &amp; </a:t>
            </a:r>
            <a:r>
              <a:rPr lang="en-US" sz="1100" dirty="0" err="1">
                <a:solidFill>
                  <a:srgbClr val="4A5568"/>
                </a:solidFill>
                <a:latin typeface="Noto Sans KR" pitchFamily="34" charset="0"/>
                <a:ea typeface="Noto Sans KR" pitchFamily="34" charset="-122"/>
                <a:cs typeface="Noto Sans KR" pitchFamily="34" charset="-120"/>
              </a:rPr>
              <a:t>투표</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2744"/>
          </a:solidFill>
          <a:ln/>
        </p:spPr>
        <p:txBody>
          <a:bodyPr/>
          <a:lstStyle/>
          <a:p>
            <a:endParaRPr lang="ko-KR" altLang="en-US"/>
          </a:p>
        </p:txBody>
      </p:sp>
      <p:sp>
        <p:nvSpPr>
          <p:cNvPr id="3" name="Text 1"/>
          <p:cNvSpPr/>
          <p:nvPr/>
        </p:nvSpPr>
        <p:spPr>
          <a:xfrm>
            <a:off x="640080" y="274320"/>
            <a:ext cx="8229600" cy="640080"/>
          </a:xfrm>
          <a:prstGeom prst="rect">
            <a:avLst/>
          </a:prstGeom>
          <a:noFill/>
          <a:ln/>
        </p:spPr>
        <p:txBody>
          <a:bodyPr wrap="square" lIns="0" tIns="0" rIns="0" bIns="0" rtlCol="0" anchor="ctr"/>
          <a:lstStyle/>
          <a:p>
            <a:pPr marL="0" indent="0">
              <a:buNone/>
            </a:pPr>
            <a:r>
              <a:rPr lang="en-US" sz="2800" b="1" dirty="0">
                <a:solidFill>
                  <a:srgbClr val="1A2744"/>
                </a:solidFill>
                <a:latin typeface="Noto Sans KR" pitchFamily="34" charset="0"/>
                <a:ea typeface="Noto Sans KR" pitchFamily="34" charset="-122"/>
                <a:cs typeface="Noto Sans KR" pitchFamily="34" charset="-120"/>
              </a:rPr>
              <a:t>칩 레이(Chip Rae)의 채용 전략</a:t>
            </a:r>
            <a:endParaRPr lang="en-US" sz="2800" dirty="0"/>
          </a:p>
        </p:txBody>
      </p:sp>
      <p:sp>
        <p:nvSpPr>
          <p:cNvPr id="4" name="Text 2"/>
          <p:cNvSpPr/>
          <p:nvPr/>
        </p:nvSpPr>
        <p:spPr>
          <a:xfrm>
            <a:off x="640080" y="1005840"/>
            <a:ext cx="3657600" cy="320040"/>
          </a:xfrm>
          <a:prstGeom prst="rect">
            <a:avLst/>
          </a:prstGeom>
          <a:noFill/>
          <a:ln/>
        </p:spPr>
        <p:txBody>
          <a:bodyPr wrap="square" lIns="0" tIns="0" rIns="0" bIns="0" rtlCol="0" anchor="ctr"/>
          <a:lstStyle/>
          <a:p>
            <a:pPr marL="0" indent="0">
              <a:buNone/>
            </a:pPr>
            <a:r>
              <a:rPr lang="en-US" sz="1400" b="1" dirty="0">
                <a:solidFill>
                  <a:srgbClr val="D4A84B"/>
                </a:solidFill>
                <a:latin typeface="Noto Sans KR" pitchFamily="34" charset="0"/>
                <a:ea typeface="Noto Sans KR" pitchFamily="34" charset="-122"/>
                <a:cs typeface="Noto Sans KR" pitchFamily="34" charset="-120"/>
              </a:rPr>
              <a:t>전략 전환</a:t>
            </a:r>
            <a:endParaRPr lang="en-US" sz="1400" dirty="0"/>
          </a:p>
        </p:txBody>
      </p:sp>
      <p:sp>
        <p:nvSpPr>
          <p:cNvPr id="5" name="Shape 3"/>
          <p:cNvSpPr/>
          <p:nvPr/>
        </p:nvSpPr>
        <p:spPr>
          <a:xfrm>
            <a:off x="640080" y="1417320"/>
            <a:ext cx="3749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6" name="Shape 4"/>
          <p:cNvSpPr/>
          <p:nvPr/>
        </p:nvSpPr>
        <p:spPr>
          <a:xfrm>
            <a:off x="640080" y="1417320"/>
            <a:ext cx="3749040" cy="365760"/>
          </a:xfrm>
          <a:prstGeom prst="rect">
            <a:avLst/>
          </a:prstGeom>
          <a:solidFill>
            <a:srgbClr val="E85D5D"/>
          </a:solidFill>
          <a:ln/>
        </p:spPr>
        <p:txBody>
          <a:bodyPr/>
          <a:lstStyle/>
          <a:p>
            <a:endParaRPr lang="ko-KR" altLang="en-US"/>
          </a:p>
        </p:txBody>
      </p:sp>
      <p:sp>
        <p:nvSpPr>
          <p:cNvPr id="7" name="Text 5"/>
          <p:cNvSpPr/>
          <p:nvPr/>
        </p:nvSpPr>
        <p:spPr>
          <a:xfrm>
            <a:off x="822960" y="1417320"/>
            <a:ext cx="3383280" cy="365760"/>
          </a:xfrm>
          <a:prstGeom prst="rect">
            <a:avLst/>
          </a:prstGeom>
          <a:noFill/>
          <a:ln/>
        </p:spPr>
        <p:txBody>
          <a:bodyPr wrap="square" lIns="0" tIns="0" rIns="0" bIns="0" rtlCol="0" anchor="ctr"/>
          <a:lstStyle/>
          <a:p>
            <a:pPr marL="0" indent="0">
              <a:buNone/>
            </a:pPr>
            <a:r>
              <a:rPr lang="en-US" sz="1200" b="1" dirty="0">
                <a:solidFill>
                  <a:srgbClr val="FFFFFF"/>
                </a:solidFill>
                <a:latin typeface="Noto Sans KR" pitchFamily="34" charset="0"/>
                <a:ea typeface="Noto Sans KR" pitchFamily="34" charset="-122"/>
                <a:cs typeface="Noto Sans KR" pitchFamily="34" charset="-120"/>
              </a:rPr>
              <a:t>BEFORE: 상위 10개 학교 집중</a:t>
            </a:r>
            <a:endParaRPr lang="en-US" sz="1200" dirty="0"/>
          </a:p>
        </p:txBody>
      </p:sp>
      <p:sp>
        <p:nvSpPr>
          <p:cNvPr id="8" name="Text 6"/>
          <p:cNvSpPr/>
          <p:nvPr/>
        </p:nvSpPr>
        <p:spPr>
          <a:xfrm>
            <a:off x="822960" y="1920240"/>
            <a:ext cx="3383280" cy="777240"/>
          </a:xfrm>
          <a:prstGeom prst="rect">
            <a:avLst/>
          </a:prstGeom>
          <a:noFill/>
          <a:ln/>
        </p:spPr>
        <p:txBody>
          <a:bodyPr wrap="square" lIns="0" tIns="0" rIns="0" bIns="0" rtlCol="0" anchor="ctr"/>
          <a:lstStyle/>
          <a:p>
            <a:pPr marL="0" indent="0">
              <a:buNone/>
            </a:pPr>
            <a:r>
              <a:rPr lang="en-US" sz="1200" dirty="0">
                <a:solidFill>
                  <a:srgbClr val="4A5568"/>
                </a:solidFill>
                <a:latin typeface="Noto Sans KR" pitchFamily="34" charset="0"/>
                <a:ea typeface="Noto Sans KR" pitchFamily="34" charset="-122"/>
                <a:cs typeface="Noto Sans KR" pitchFamily="34" charset="-120"/>
              </a:rPr>
              <a:t>클래스 중간 수준 학생만 확보</a:t>
            </a:r>
            <a:endParaRPr lang="en-US" sz="1200" dirty="0"/>
          </a:p>
          <a:p>
            <a:pPr marL="0" indent="0">
              <a:buNone/>
            </a:pPr>
            <a:r>
              <a:rPr lang="en-US" sz="1200" dirty="0">
                <a:solidFill>
                  <a:srgbClr val="4A5568"/>
                </a:solidFill>
                <a:latin typeface="Noto Sans KR" pitchFamily="34" charset="0"/>
                <a:ea typeface="Noto Sans KR" pitchFamily="34" charset="-122"/>
                <a:cs typeface="Noto Sans KR" pitchFamily="34" charset="-120"/>
              </a:rPr>
              <a:t>대형 은행과의 직접 경쟁에서 불리</a:t>
            </a:r>
            <a:endParaRPr lang="en-US" sz="1200" dirty="0"/>
          </a:p>
          <a:p>
            <a:pPr marL="0" indent="0">
              <a:buNone/>
            </a:pPr>
            <a:r>
              <a:rPr lang="en-US" sz="1200" dirty="0">
                <a:solidFill>
                  <a:srgbClr val="4A5568"/>
                </a:solidFill>
                <a:latin typeface="Noto Sans KR" pitchFamily="34" charset="0"/>
                <a:ea typeface="Noto Sans KR" pitchFamily="34" charset="-122"/>
                <a:cs typeface="Noto Sans KR" pitchFamily="34" charset="-120"/>
              </a:rPr>
              <a:t>브랜드 인지도 한계</a:t>
            </a:r>
            <a:endParaRPr lang="en-US" sz="1200" dirty="0"/>
          </a:p>
        </p:txBody>
      </p:sp>
      <p:sp>
        <p:nvSpPr>
          <p:cNvPr id="9" name="Shape 7"/>
          <p:cNvSpPr/>
          <p:nvPr/>
        </p:nvSpPr>
        <p:spPr>
          <a:xfrm>
            <a:off x="4754880" y="1417320"/>
            <a:ext cx="3749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10" name="Shape 8"/>
          <p:cNvSpPr/>
          <p:nvPr/>
        </p:nvSpPr>
        <p:spPr>
          <a:xfrm>
            <a:off x="4754880" y="1417320"/>
            <a:ext cx="3749040" cy="365760"/>
          </a:xfrm>
          <a:prstGeom prst="rect">
            <a:avLst/>
          </a:prstGeom>
          <a:solidFill>
            <a:srgbClr val="3DB07A"/>
          </a:solidFill>
          <a:ln/>
        </p:spPr>
        <p:txBody>
          <a:bodyPr/>
          <a:lstStyle/>
          <a:p>
            <a:endParaRPr lang="ko-KR" altLang="en-US"/>
          </a:p>
        </p:txBody>
      </p:sp>
      <p:sp>
        <p:nvSpPr>
          <p:cNvPr id="11" name="Text 9"/>
          <p:cNvSpPr/>
          <p:nvPr/>
        </p:nvSpPr>
        <p:spPr>
          <a:xfrm>
            <a:off x="4937760" y="1417320"/>
            <a:ext cx="3383280" cy="365760"/>
          </a:xfrm>
          <a:prstGeom prst="rect">
            <a:avLst/>
          </a:prstGeom>
          <a:noFill/>
          <a:ln/>
        </p:spPr>
        <p:txBody>
          <a:bodyPr wrap="square" lIns="0" tIns="0" rIns="0" bIns="0" rtlCol="0" anchor="ctr"/>
          <a:lstStyle/>
          <a:p>
            <a:pPr marL="0" indent="0">
              <a:buNone/>
            </a:pPr>
            <a:r>
              <a:rPr lang="en-US" sz="1200" b="1" dirty="0">
                <a:solidFill>
                  <a:srgbClr val="FFFFFF"/>
                </a:solidFill>
                <a:latin typeface="Noto Sans KR" pitchFamily="34" charset="0"/>
                <a:ea typeface="Noto Sans KR" pitchFamily="34" charset="-122"/>
                <a:cs typeface="Noto Sans KR" pitchFamily="34" charset="-120"/>
              </a:rPr>
              <a:t>AFTER: 상위 25개 중 차순위 15개 학교</a:t>
            </a:r>
            <a:endParaRPr lang="en-US" sz="1200" dirty="0"/>
          </a:p>
        </p:txBody>
      </p:sp>
      <p:sp>
        <p:nvSpPr>
          <p:cNvPr id="12" name="Text 10"/>
          <p:cNvSpPr/>
          <p:nvPr/>
        </p:nvSpPr>
        <p:spPr>
          <a:xfrm>
            <a:off x="4937760" y="1920240"/>
            <a:ext cx="3383280" cy="777240"/>
          </a:xfrm>
          <a:prstGeom prst="rect">
            <a:avLst/>
          </a:prstGeom>
          <a:noFill/>
          <a:ln/>
        </p:spPr>
        <p:txBody>
          <a:bodyPr wrap="square" lIns="0" tIns="0" rIns="0" bIns="0" rtlCol="0" anchor="ctr"/>
          <a:lstStyle/>
          <a:p>
            <a:pPr marL="0" indent="0">
              <a:buNone/>
            </a:pPr>
            <a:r>
              <a:rPr lang="en-US" sz="1200" dirty="0">
                <a:solidFill>
                  <a:srgbClr val="4A5568"/>
                </a:solidFill>
                <a:latin typeface="Noto Sans KR" pitchFamily="34" charset="0"/>
                <a:ea typeface="Noto Sans KR" pitchFamily="34" charset="-122"/>
                <a:cs typeface="Noto Sans KR" pitchFamily="34" charset="-120"/>
              </a:rPr>
              <a:t>클래스 상위권 학생 확보 가능</a:t>
            </a:r>
            <a:endParaRPr lang="en-US" sz="1200" dirty="0"/>
          </a:p>
          <a:p>
            <a:pPr marL="0" indent="0">
              <a:buNone/>
            </a:pPr>
            <a:r>
              <a:rPr lang="en-US" sz="1200" dirty="0">
                <a:solidFill>
                  <a:srgbClr val="4A5568"/>
                </a:solidFill>
                <a:latin typeface="Noto Sans KR" pitchFamily="34" charset="0"/>
                <a:ea typeface="Noto Sans KR" pitchFamily="34" charset="-122"/>
                <a:cs typeface="Noto Sans KR" pitchFamily="34" charset="-120"/>
              </a:rPr>
              <a:t>상대적으로 큰 플레이어 포지셔닝</a:t>
            </a:r>
            <a:endParaRPr lang="en-US" sz="1200" dirty="0"/>
          </a:p>
          <a:p>
            <a:pPr marL="0" indent="0">
              <a:buNone/>
            </a:pPr>
            <a:r>
              <a:rPr lang="en-US" sz="1200" dirty="0">
                <a:solidFill>
                  <a:srgbClr val="4A5568"/>
                </a:solidFill>
                <a:latin typeface="Noto Sans KR" pitchFamily="34" charset="0"/>
                <a:ea typeface="Noto Sans KR" pitchFamily="34" charset="-122"/>
                <a:cs typeface="Noto Sans KR" pitchFamily="34" charset="-120"/>
              </a:rPr>
              <a:t>높은 충성도 확보</a:t>
            </a:r>
            <a:endParaRPr lang="en-US" sz="1200" dirty="0"/>
          </a:p>
        </p:txBody>
      </p:sp>
      <p:sp>
        <p:nvSpPr>
          <p:cNvPr id="13" name="Text 11"/>
          <p:cNvSpPr/>
          <p:nvPr/>
        </p:nvSpPr>
        <p:spPr>
          <a:xfrm>
            <a:off x="640080" y="3017520"/>
            <a:ext cx="3657600" cy="320040"/>
          </a:xfrm>
          <a:prstGeom prst="rect">
            <a:avLst/>
          </a:prstGeom>
          <a:noFill/>
          <a:ln/>
        </p:spPr>
        <p:txBody>
          <a:bodyPr wrap="square" lIns="0" tIns="0" rIns="0" bIns="0" rtlCol="0" anchor="ctr"/>
          <a:lstStyle/>
          <a:p>
            <a:pPr marL="0" indent="0">
              <a:buNone/>
            </a:pPr>
            <a:r>
              <a:rPr lang="en-US" sz="1400" b="1" dirty="0">
                <a:solidFill>
                  <a:srgbClr val="D4A84B"/>
                </a:solidFill>
                <a:latin typeface="Noto Sans KR" pitchFamily="34" charset="0"/>
                <a:ea typeface="Noto Sans KR" pitchFamily="34" charset="-122"/>
                <a:cs typeface="Noto Sans KR" pitchFamily="34" charset="-120"/>
              </a:rPr>
              <a:t>채용 원칙</a:t>
            </a:r>
            <a:endParaRPr lang="en-US" sz="1400" dirty="0"/>
          </a:p>
        </p:txBody>
      </p:sp>
      <p:sp>
        <p:nvSpPr>
          <p:cNvPr id="14" name="Shape 12"/>
          <p:cNvSpPr/>
          <p:nvPr/>
        </p:nvSpPr>
        <p:spPr>
          <a:xfrm>
            <a:off x="640080" y="3429000"/>
            <a:ext cx="7863840" cy="457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15" name="Shape 13"/>
          <p:cNvSpPr/>
          <p:nvPr/>
        </p:nvSpPr>
        <p:spPr>
          <a:xfrm>
            <a:off x="640080" y="3429000"/>
            <a:ext cx="54864" cy="457200"/>
          </a:xfrm>
          <a:prstGeom prst="rect">
            <a:avLst/>
          </a:prstGeom>
          <a:solidFill>
            <a:srgbClr val="2A9D8F"/>
          </a:solidFill>
          <a:ln/>
        </p:spPr>
        <p:txBody>
          <a:bodyPr/>
          <a:lstStyle/>
          <a:p>
            <a:endParaRPr lang="ko-KR" altLang="en-US"/>
          </a:p>
        </p:txBody>
      </p:sp>
      <p:sp>
        <p:nvSpPr>
          <p:cNvPr id="16" name="Text 14"/>
          <p:cNvSpPr/>
          <p:nvPr/>
        </p:nvSpPr>
        <p:spPr>
          <a:xfrm>
            <a:off x="914400" y="3429000"/>
            <a:ext cx="2011680" cy="457200"/>
          </a:xfrm>
          <a:prstGeom prst="rect">
            <a:avLst/>
          </a:prstGeom>
          <a:noFill/>
          <a:ln/>
        </p:spPr>
        <p:txBody>
          <a:bodyPr wrap="square" lIns="0" tIns="0" rIns="0" bIns="0" rtlCol="0" anchor="ctr"/>
          <a:lstStyle/>
          <a:p>
            <a:pPr marL="0" indent="0">
              <a:buNone/>
            </a:pPr>
            <a:r>
              <a:rPr lang="en-US" sz="1300" b="1" dirty="0">
                <a:solidFill>
                  <a:srgbClr val="1A2744"/>
                </a:solidFill>
                <a:latin typeface="Noto Sans KR" pitchFamily="34" charset="0"/>
                <a:ea typeface="Noto Sans KR" pitchFamily="34" charset="-122"/>
                <a:cs typeface="Noto Sans KR" pitchFamily="34" charset="-120"/>
              </a:rPr>
              <a:t>문화 적합성 우선</a:t>
            </a:r>
            <a:endParaRPr lang="en-US" sz="1300" dirty="0"/>
          </a:p>
        </p:txBody>
      </p:sp>
      <p:sp>
        <p:nvSpPr>
          <p:cNvPr id="17" name="Text 15"/>
          <p:cNvSpPr/>
          <p:nvPr/>
        </p:nvSpPr>
        <p:spPr>
          <a:xfrm>
            <a:off x="2926080" y="3429000"/>
            <a:ext cx="5394960" cy="457200"/>
          </a:xfrm>
          <a:prstGeom prst="rect">
            <a:avLst/>
          </a:prstGeom>
          <a:noFill/>
          <a:ln/>
        </p:spPr>
        <p:txBody>
          <a:bodyPr wrap="square" lIns="0" tIns="0" rIns="0" bIns="0" rtlCol="0" anchor="ctr"/>
          <a:lstStyle/>
          <a:p>
            <a:pPr marL="0" indent="0">
              <a:buNone/>
            </a:pPr>
            <a:r>
              <a:rPr lang="en-US" sz="1200" dirty="0">
                <a:solidFill>
                  <a:srgbClr val="4A5568"/>
                </a:solidFill>
                <a:latin typeface="Noto Sans KR" pitchFamily="34" charset="0"/>
                <a:ea typeface="Noto Sans KR" pitchFamily="34" charset="-122"/>
                <a:cs typeface="Noto Sans KR" pitchFamily="34" charset="-120"/>
              </a:rPr>
              <a:t>기술적 역량보다 조직문화와의 적합성을 1차 면접에서 평가</a:t>
            </a:r>
            <a:endParaRPr lang="en-US" sz="1200" dirty="0"/>
          </a:p>
        </p:txBody>
      </p:sp>
      <p:sp>
        <p:nvSpPr>
          <p:cNvPr id="18" name="Shape 16"/>
          <p:cNvSpPr/>
          <p:nvPr/>
        </p:nvSpPr>
        <p:spPr>
          <a:xfrm>
            <a:off x="640080" y="3977640"/>
            <a:ext cx="7863840" cy="457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19" name="Shape 17"/>
          <p:cNvSpPr/>
          <p:nvPr/>
        </p:nvSpPr>
        <p:spPr>
          <a:xfrm>
            <a:off x="640080" y="3977640"/>
            <a:ext cx="54864" cy="457200"/>
          </a:xfrm>
          <a:prstGeom prst="rect">
            <a:avLst/>
          </a:prstGeom>
          <a:solidFill>
            <a:srgbClr val="2A9D8F"/>
          </a:solidFill>
          <a:ln/>
        </p:spPr>
        <p:txBody>
          <a:bodyPr/>
          <a:lstStyle/>
          <a:p>
            <a:endParaRPr lang="ko-KR" altLang="en-US"/>
          </a:p>
        </p:txBody>
      </p:sp>
      <p:sp>
        <p:nvSpPr>
          <p:cNvPr id="20" name="Text 18"/>
          <p:cNvSpPr/>
          <p:nvPr/>
        </p:nvSpPr>
        <p:spPr>
          <a:xfrm>
            <a:off x="914400" y="3977640"/>
            <a:ext cx="2011680" cy="457200"/>
          </a:xfrm>
          <a:prstGeom prst="rect">
            <a:avLst/>
          </a:prstGeom>
          <a:noFill/>
          <a:ln/>
        </p:spPr>
        <p:txBody>
          <a:bodyPr wrap="square" lIns="0" tIns="0" rIns="0" bIns="0" rtlCol="0" anchor="ctr"/>
          <a:lstStyle/>
          <a:p>
            <a:pPr marL="0" indent="0">
              <a:buNone/>
            </a:pPr>
            <a:r>
              <a:rPr lang="en-US" sz="1300" b="1" dirty="0">
                <a:solidFill>
                  <a:srgbClr val="1A2744"/>
                </a:solidFill>
                <a:latin typeface="Noto Sans KR" pitchFamily="34" charset="0"/>
                <a:ea typeface="Noto Sans KR" pitchFamily="34" charset="-122"/>
                <a:cs typeface="Noto Sans KR" pitchFamily="34" charset="-120"/>
              </a:rPr>
              <a:t>역할 분리</a:t>
            </a:r>
            <a:endParaRPr lang="en-US" sz="1300" dirty="0"/>
          </a:p>
        </p:txBody>
      </p:sp>
      <p:sp>
        <p:nvSpPr>
          <p:cNvPr id="21" name="Text 19"/>
          <p:cNvSpPr/>
          <p:nvPr/>
        </p:nvSpPr>
        <p:spPr>
          <a:xfrm>
            <a:off x="2926080" y="3977640"/>
            <a:ext cx="5394960" cy="457200"/>
          </a:xfrm>
          <a:prstGeom prst="rect">
            <a:avLst/>
          </a:prstGeom>
          <a:noFill/>
          <a:ln/>
        </p:spPr>
        <p:txBody>
          <a:bodyPr wrap="square" lIns="0" tIns="0" rIns="0" bIns="0" rtlCol="0" anchor="ctr"/>
          <a:lstStyle/>
          <a:p>
            <a:pPr marL="0" indent="0">
              <a:buNone/>
            </a:pPr>
            <a:r>
              <a:rPr lang="en-US" sz="1200" dirty="0">
                <a:solidFill>
                  <a:srgbClr val="4A5568"/>
                </a:solidFill>
                <a:latin typeface="Noto Sans KR" pitchFamily="34" charset="0"/>
                <a:ea typeface="Noto Sans KR" pitchFamily="34" charset="-122"/>
                <a:cs typeface="Noto Sans KR" pitchFamily="34" charset="-120"/>
              </a:rPr>
              <a:t>인재 발굴은 주니어에게, 오퍼 클로징은 시니어에게 분배</a:t>
            </a:r>
            <a:endParaRPr lang="en-US" sz="1200" dirty="0"/>
          </a:p>
        </p:txBody>
      </p:sp>
      <p:sp>
        <p:nvSpPr>
          <p:cNvPr id="22" name="Shape 20"/>
          <p:cNvSpPr/>
          <p:nvPr/>
        </p:nvSpPr>
        <p:spPr>
          <a:xfrm>
            <a:off x="640080" y="4526280"/>
            <a:ext cx="7863840" cy="457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23" name="Shape 21"/>
          <p:cNvSpPr/>
          <p:nvPr/>
        </p:nvSpPr>
        <p:spPr>
          <a:xfrm>
            <a:off x="640080" y="4526280"/>
            <a:ext cx="54864" cy="457200"/>
          </a:xfrm>
          <a:prstGeom prst="rect">
            <a:avLst/>
          </a:prstGeom>
          <a:solidFill>
            <a:srgbClr val="2A9D8F"/>
          </a:solidFill>
          <a:ln/>
        </p:spPr>
        <p:txBody>
          <a:bodyPr/>
          <a:lstStyle/>
          <a:p>
            <a:endParaRPr lang="ko-KR" altLang="en-US"/>
          </a:p>
        </p:txBody>
      </p:sp>
      <p:sp>
        <p:nvSpPr>
          <p:cNvPr id="24" name="Text 22"/>
          <p:cNvSpPr/>
          <p:nvPr/>
        </p:nvSpPr>
        <p:spPr>
          <a:xfrm>
            <a:off x="914400" y="4526280"/>
            <a:ext cx="2011680" cy="457200"/>
          </a:xfrm>
          <a:prstGeom prst="rect">
            <a:avLst/>
          </a:prstGeom>
          <a:noFill/>
          <a:ln/>
        </p:spPr>
        <p:txBody>
          <a:bodyPr wrap="square" lIns="0" tIns="0" rIns="0" bIns="0" rtlCol="0" anchor="ctr"/>
          <a:lstStyle/>
          <a:p>
            <a:pPr marL="0" indent="0">
              <a:buNone/>
            </a:pPr>
            <a:r>
              <a:rPr lang="en-US" sz="1300" b="1" dirty="0">
                <a:solidFill>
                  <a:srgbClr val="1A2744"/>
                </a:solidFill>
                <a:latin typeface="Noto Sans KR" pitchFamily="34" charset="0"/>
                <a:ea typeface="Noto Sans KR" pitchFamily="34" charset="-122"/>
                <a:cs typeface="Noto Sans KR" pitchFamily="34" charset="-120"/>
              </a:rPr>
              <a:t>장기적 관점</a:t>
            </a:r>
            <a:endParaRPr lang="en-US" sz="1300" dirty="0"/>
          </a:p>
        </p:txBody>
      </p:sp>
      <p:sp>
        <p:nvSpPr>
          <p:cNvPr id="25" name="Text 23"/>
          <p:cNvSpPr/>
          <p:nvPr/>
        </p:nvSpPr>
        <p:spPr>
          <a:xfrm>
            <a:off x="2926080" y="4526280"/>
            <a:ext cx="5394960" cy="457200"/>
          </a:xfrm>
          <a:prstGeom prst="rect">
            <a:avLst/>
          </a:prstGeom>
          <a:noFill/>
          <a:ln/>
        </p:spPr>
        <p:txBody>
          <a:bodyPr wrap="square" lIns="0" tIns="0" rIns="0" bIns="0" rtlCol="0" anchor="ctr"/>
          <a:lstStyle/>
          <a:p>
            <a:pPr marL="0" indent="0">
              <a:buNone/>
            </a:pPr>
            <a:r>
              <a:rPr lang="en-US" sz="1200" dirty="0">
                <a:solidFill>
                  <a:srgbClr val="4A5568"/>
                </a:solidFill>
                <a:latin typeface="Noto Sans KR" pitchFamily="34" charset="0"/>
                <a:ea typeface="Noto Sans KR" pitchFamily="34" charset="-122"/>
                <a:cs typeface="Noto Sans KR" pitchFamily="34" charset="-120"/>
              </a:rPr>
              <a:t>모델링 능력이 아닌, 일을 사랑하고 영업의 흥분을 느끼는 사람</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F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B"/>
          </a:solidFill>
          <a:ln/>
        </p:spPr>
        <p:txBody>
          <a:bodyPr/>
          <a:lstStyle/>
          <a:p>
            <a:endParaRPr lang="ko-KR" altLang="en-US"/>
          </a:p>
        </p:txBody>
      </p:sp>
      <p:pic>
        <p:nvPicPr>
          <p:cNvPr id="3" name="Image 0" descr="preencoded.png"/>
          <p:cNvPicPr>
            <a:picLocks noChangeAspect="1"/>
          </p:cNvPicPr>
          <p:nvPr/>
        </p:nvPicPr>
        <p:blipFill>
          <a:blip r:embed="rId3"/>
          <a:stretch>
            <a:fillRect/>
          </a:stretch>
        </p:blipFill>
        <p:spPr>
          <a:xfrm>
            <a:off x="640080" y="365760"/>
            <a:ext cx="411480" cy="411480"/>
          </a:xfrm>
          <a:prstGeom prst="rect">
            <a:avLst/>
          </a:prstGeom>
        </p:spPr>
      </p:pic>
      <p:sp>
        <p:nvSpPr>
          <p:cNvPr id="4" name="Text 1"/>
          <p:cNvSpPr/>
          <p:nvPr/>
        </p:nvSpPr>
        <p:spPr>
          <a:xfrm>
            <a:off x="1188720" y="320040"/>
            <a:ext cx="7315200" cy="502920"/>
          </a:xfrm>
          <a:prstGeom prst="rect">
            <a:avLst/>
          </a:prstGeom>
          <a:noFill/>
          <a:ln/>
        </p:spPr>
        <p:txBody>
          <a:bodyPr wrap="square" lIns="0" tIns="0" rIns="0" bIns="0" rtlCol="0" anchor="ctr"/>
          <a:lstStyle/>
          <a:p>
            <a:pPr marL="0" indent="0">
              <a:buNone/>
            </a:pPr>
            <a:r>
              <a:rPr lang="en-US" sz="2600" b="1" dirty="0">
                <a:solidFill>
                  <a:srgbClr val="FFFFFF"/>
                </a:solidFill>
                <a:latin typeface="Noto Sans KR" pitchFamily="34" charset="0"/>
                <a:ea typeface="Noto Sans KR" pitchFamily="34" charset="-122"/>
                <a:cs typeface="Noto Sans KR" pitchFamily="34" charset="-120"/>
              </a:rPr>
              <a:t>슈퍼 새터데이 (Super Saturday)</a:t>
            </a:r>
            <a:endParaRPr lang="en-US" sz="2600" dirty="0"/>
          </a:p>
        </p:txBody>
      </p:sp>
      <p:sp>
        <p:nvSpPr>
          <p:cNvPr id="5" name="Text 2"/>
          <p:cNvSpPr/>
          <p:nvPr/>
        </p:nvSpPr>
        <p:spPr>
          <a:xfrm>
            <a:off x="1188720" y="777240"/>
            <a:ext cx="7315200" cy="274320"/>
          </a:xfrm>
          <a:prstGeom prst="rect">
            <a:avLst/>
          </a:prstGeom>
          <a:noFill/>
          <a:ln/>
        </p:spPr>
        <p:txBody>
          <a:bodyPr wrap="square" lIns="0" tIns="0" rIns="0" bIns="0" rtlCol="0" anchor="ctr"/>
          <a:lstStyle/>
          <a:p>
            <a:pPr marL="0" indent="0">
              <a:buNone/>
            </a:pPr>
            <a:r>
              <a:rPr lang="en-US" sz="1300" dirty="0">
                <a:solidFill>
                  <a:srgbClr val="8A98AD"/>
                </a:solidFill>
                <a:latin typeface="Noto Sans KR" pitchFamily="34" charset="0"/>
                <a:ea typeface="Noto Sans KR" pitchFamily="34" charset="-122"/>
                <a:cs typeface="Noto Sans KR" pitchFamily="34" charset="-120"/>
              </a:rPr>
              <a:t>SG 코웬의 최종 면접 및 채용 결정 행사</a:t>
            </a:r>
            <a:endParaRPr lang="en-US" sz="1300" dirty="0"/>
          </a:p>
        </p:txBody>
      </p:sp>
      <p:sp>
        <p:nvSpPr>
          <p:cNvPr id="6" name="Shape 3"/>
          <p:cNvSpPr/>
          <p:nvPr/>
        </p:nvSpPr>
        <p:spPr>
          <a:xfrm>
            <a:off x="640080" y="1234440"/>
            <a:ext cx="3749040" cy="2423160"/>
          </a:xfrm>
          <a:prstGeom prst="rect">
            <a:avLst/>
          </a:prstGeom>
          <a:solidFill>
            <a:srgbClr val="233456"/>
          </a:solidFill>
          <a:ln/>
        </p:spPr>
        <p:txBody>
          <a:bodyPr/>
          <a:lstStyle/>
          <a:p>
            <a:endParaRPr lang="ko-KR" altLang="en-US"/>
          </a:p>
        </p:txBody>
      </p:sp>
      <p:sp>
        <p:nvSpPr>
          <p:cNvPr id="7" name="Shape 4"/>
          <p:cNvSpPr/>
          <p:nvPr/>
        </p:nvSpPr>
        <p:spPr>
          <a:xfrm>
            <a:off x="640080" y="1234440"/>
            <a:ext cx="3749040" cy="411480"/>
          </a:xfrm>
          <a:prstGeom prst="rect">
            <a:avLst/>
          </a:prstGeom>
          <a:solidFill>
            <a:srgbClr val="D4A84B"/>
          </a:solidFill>
          <a:ln/>
        </p:spPr>
        <p:txBody>
          <a:bodyPr/>
          <a:lstStyle/>
          <a:p>
            <a:endParaRPr lang="ko-KR" altLang="en-US"/>
          </a:p>
        </p:txBody>
      </p:sp>
      <p:sp>
        <p:nvSpPr>
          <p:cNvPr id="8" name="Text 5"/>
          <p:cNvSpPr/>
          <p:nvPr/>
        </p:nvSpPr>
        <p:spPr>
          <a:xfrm>
            <a:off x="822960" y="1234440"/>
            <a:ext cx="3383280" cy="411480"/>
          </a:xfrm>
          <a:prstGeom prst="rect">
            <a:avLst/>
          </a:prstGeom>
          <a:noFill/>
          <a:ln/>
        </p:spPr>
        <p:txBody>
          <a:bodyPr wrap="square" lIns="0" tIns="0" rIns="0" bIns="0" rtlCol="0" anchor="ctr"/>
          <a:lstStyle/>
          <a:p>
            <a:pPr marL="0" indent="0">
              <a:buNone/>
            </a:pPr>
            <a:r>
              <a:rPr lang="en-US" sz="1300" b="1" dirty="0">
                <a:solidFill>
                  <a:srgbClr val="0F1A2E"/>
                </a:solidFill>
                <a:latin typeface="Noto Sans KR" pitchFamily="34" charset="0"/>
                <a:ea typeface="Noto Sans KR" pitchFamily="34" charset="-122"/>
                <a:cs typeface="Noto Sans KR" pitchFamily="34" charset="-120"/>
              </a:rPr>
              <a:t>금요일 저녁  |  칵테일 &amp; 만찬</a:t>
            </a:r>
            <a:endParaRPr lang="en-US" sz="1300" dirty="0"/>
          </a:p>
        </p:txBody>
      </p:sp>
      <p:sp>
        <p:nvSpPr>
          <p:cNvPr id="9" name="Text 6"/>
          <p:cNvSpPr/>
          <p:nvPr/>
        </p:nvSpPr>
        <p:spPr>
          <a:xfrm>
            <a:off x="822959" y="1783080"/>
            <a:ext cx="3450657" cy="1737360"/>
          </a:xfrm>
          <a:prstGeom prst="rect">
            <a:avLst/>
          </a:prstGeom>
          <a:noFill/>
          <a:ln/>
        </p:spPr>
        <p:txBody>
          <a:bodyPr wrap="square" rtlCol="0" anchor="ctr"/>
          <a:lstStyle/>
          <a:p>
            <a:pPr marL="342900" indent="-342900">
              <a:lnSpc>
                <a:spcPct val="150000"/>
              </a:lnSpc>
              <a:buSzPct val="100000"/>
              <a:buChar char="•"/>
            </a:pPr>
            <a:r>
              <a:rPr lang="en-US" sz="1100" dirty="0">
                <a:solidFill>
                  <a:srgbClr val="CADCFC"/>
                </a:solidFill>
                <a:latin typeface="Noto Sans KR" pitchFamily="34" charset="0"/>
                <a:ea typeface="Noto Sans KR" pitchFamily="34" charset="-122"/>
                <a:cs typeface="Noto Sans KR" pitchFamily="34" charset="-120"/>
              </a:rPr>
              <a:t>미드타운 고급 레스토랑 와인 셀러에서 진행</a:t>
            </a:r>
            <a:endParaRPr lang="en-US" sz="1100" dirty="0"/>
          </a:p>
          <a:p>
            <a:pPr marL="342900" indent="-342900">
              <a:lnSpc>
                <a:spcPct val="150000"/>
              </a:lnSpc>
              <a:buSzPct val="100000"/>
              <a:buChar char="•"/>
            </a:pPr>
            <a:r>
              <a:rPr lang="en-US" sz="1100" dirty="0">
                <a:solidFill>
                  <a:srgbClr val="CADCFC"/>
                </a:solidFill>
                <a:latin typeface="Noto Sans KR" pitchFamily="34" charset="0"/>
                <a:ea typeface="Noto Sans KR" pitchFamily="34" charset="-122"/>
                <a:cs typeface="Noto Sans KR" pitchFamily="34" charset="-120"/>
              </a:rPr>
              <a:t>지원자 + 다수 면접관이 함께 참석</a:t>
            </a:r>
            <a:endParaRPr lang="en-US" sz="1100" dirty="0"/>
          </a:p>
          <a:p>
            <a:pPr marL="342900" indent="-342900">
              <a:lnSpc>
                <a:spcPct val="150000"/>
              </a:lnSpc>
              <a:buSzPct val="100000"/>
              <a:buChar char="•"/>
            </a:pPr>
            <a:r>
              <a:rPr lang="en-US" sz="1100" dirty="0">
                <a:solidFill>
                  <a:srgbClr val="CADCFC"/>
                </a:solidFill>
                <a:latin typeface="Noto Sans KR" pitchFamily="34" charset="0"/>
                <a:ea typeface="Noto Sans KR" pitchFamily="34" charset="-122"/>
                <a:cs typeface="Noto Sans KR" pitchFamily="34" charset="-120"/>
              </a:rPr>
              <a:t>CEO 페네브레스크가 직접 만찬 연설</a:t>
            </a:r>
            <a:endParaRPr lang="en-US" sz="1100" dirty="0"/>
          </a:p>
          <a:p>
            <a:pPr marL="342900" indent="-342900">
              <a:lnSpc>
                <a:spcPct val="150000"/>
              </a:lnSpc>
              <a:buSzPct val="100000"/>
              <a:buChar char="•"/>
            </a:pPr>
            <a:r>
              <a:rPr lang="en-US" sz="1100" dirty="0">
                <a:solidFill>
                  <a:srgbClr val="CADCFC"/>
                </a:solidFill>
                <a:latin typeface="Noto Sans KR" pitchFamily="34" charset="0"/>
                <a:ea typeface="Noto Sans KR" pitchFamily="34" charset="-122"/>
                <a:cs typeface="Noto Sans KR" pitchFamily="34" charset="-120"/>
              </a:rPr>
              <a:t>"채용 과정에서 CEO의 관심을 받는 것은 드문 일" → 지원자들에게 강한 인상</a:t>
            </a:r>
            <a:endParaRPr lang="en-US" sz="1100" dirty="0"/>
          </a:p>
          <a:p>
            <a:pPr marL="342900" indent="-342900">
              <a:lnSpc>
                <a:spcPct val="150000"/>
              </a:lnSpc>
              <a:buSzPct val="100000"/>
              <a:buChar char="•"/>
            </a:pPr>
            <a:r>
              <a:rPr lang="en-US" sz="1100" dirty="0">
                <a:solidFill>
                  <a:srgbClr val="CADCFC"/>
                </a:solidFill>
                <a:latin typeface="Noto Sans KR" pitchFamily="34" charset="0"/>
                <a:ea typeface="Noto Sans KR" pitchFamily="34" charset="-122"/>
                <a:cs typeface="Noto Sans KR" pitchFamily="34" charset="-120"/>
              </a:rPr>
              <a:t>비공식적 환경에서 문화 적합성 관찰 기회</a:t>
            </a:r>
            <a:endParaRPr lang="en-US" sz="1100" dirty="0"/>
          </a:p>
        </p:txBody>
      </p:sp>
      <p:sp>
        <p:nvSpPr>
          <p:cNvPr id="10" name="Shape 7"/>
          <p:cNvSpPr/>
          <p:nvPr/>
        </p:nvSpPr>
        <p:spPr>
          <a:xfrm>
            <a:off x="4754880" y="1234440"/>
            <a:ext cx="3749040" cy="2423160"/>
          </a:xfrm>
          <a:prstGeom prst="rect">
            <a:avLst/>
          </a:prstGeom>
          <a:solidFill>
            <a:srgbClr val="233456"/>
          </a:solidFill>
          <a:ln/>
        </p:spPr>
        <p:txBody>
          <a:bodyPr/>
          <a:lstStyle/>
          <a:p>
            <a:endParaRPr lang="ko-KR" altLang="en-US"/>
          </a:p>
        </p:txBody>
      </p:sp>
      <p:sp>
        <p:nvSpPr>
          <p:cNvPr id="11" name="Shape 8"/>
          <p:cNvSpPr/>
          <p:nvPr/>
        </p:nvSpPr>
        <p:spPr>
          <a:xfrm>
            <a:off x="4754880" y="1234440"/>
            <a:ext cx="3749040" cy="411480"/>
          </a:xfrm>
          <a:prstGeom prst="rect">
            <a:avLst/>
          </a:prstGeom>
          <a:solidFill>
            <a:srgbClr val="2A9D8F"/>
          </a:solidFill>
          <a:ln/>
        </p:spPr>
        <p:txBody>
          <a:bodyPr/>
          <a:lstStyle/>
          <a:p>
            <a:endParaRPr lang="ko-KR" altLang="en-US"/>
          </a:p>
        </p:txBody>
      </p:sp>
      <p:sp>
        <p:nvSpPr>
          <p:cNvPr id="12" name="Text 9"/>
          <p:cNvSpPr/>
          <p:nvPr/>
        </p:nvSpPr>
        <p:spPr>
          <a:xfrm>
            <a:off x="4937760" y="1234440"/>
            <a:ext cx="3383280" cy="411480"/>
          </a:xfrm>
          <a:prstGeom prst="rect">
            <a:avLst/>
          </a:prstGeom>
          <a:noFill/>
          <a:ln/>
        </p:spPr>
        <p:txBody>
          <a:bodyPr wrap="square" lIns="0" tIns="0" rIns="0" bIns="0" rtlCol="0" anchor="ct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토요일 오전  |  집중 면접</a:t>
            </a:r>
            <a:endParaRPr lang="en-US" sz="1300" dirty="0"/>
          </a:p>
        </p:txBody>
      </p:sp>
      <p:sp>
        <p:nvSpPr>
          <p:cNvPr id="13" name="Text 10"/>
          <p:cNvSpPr/>
          <p:nvPr/>
        </p:nvSpPr>
        <p:spPr>
          <a:xfrm>
            <a:off x="4937759" y="1783080"/>
            <a:ext cx="3465095" cy="1737360"/>
          </a:xfrm>
          <a:prstGeom prst="rect">
            <a:avLst/>
          </a:prstGeom>
          <a:noFill/>
          <a:ln/>
        </p:spPr>
        <p:txBody>
          <a:bodyPr wrap="square" rtlCol="0" anchor="ctr"/>
          <a:lstStyle/>
          <a:p>
            <a:pPr marL="342900" indent="-342900">
              <a:lnSpc>
                <a:spcPct val="150000"/>
              </a:lnSpc>
              <a:buSzPct val="100000"/>
              <a:buChar char="•"/>
            </a:pPr>
            <a:r>
              <a:rPr lang="en-US" sz="1100" dirty="0">
                <a:solidFill>
                  <a:srgbClr val="CADCFC"/>
                </a:solidFill>
                <a:latin typeface="Noto Sans KR" pitchFamily="34" charset="0"/>
                <a:ea typeface="Noto Sans KR" pitchFamily="34" charset="-122"/>
                <a:cs typeface="Noto Sans KR" pitchFamily="34" charset="-120"/>
              </a:rPr>
              <a:t>오전 9시 시작, 정오 종료</a:t>
            </a:r>
            <a:endParaRPr lang="en-US" sz="1100" dirty="0"/>
          </a:p>
          <a:p>
            <a:pPr marL="342900" indent="-342900">
              <a:lnSpc>
                <a:spcPct val="150000"/>
              </a:lnSpc>
              <a:buSzPct val="100000"/>
              <a:buChar char="•"/>
            </a:pPr>
            <a:r>
              <a:rPr lang="en-US" sz="1100" dirty="0">
                <a:solidFill>
                  <a:srgbClr val="CADCFC"/>
                </a:solidFill>
                <a:latin typeface="Noto Sans KR" pitchFamily="34" charset="0"/>
                <a:ea typeface="Noto Sans KR" pitchFamily="34" charset="-122"/>
                <a:cs typeface="Noto Sans KR" pitchFamily="34" charset="-120"/>
              </a:rPr>
              <a:t>5회 × 30분 면접 (짧은 휴식 포함)</a:t>
            </a:r>
            <a:endParaRPr lang="en-US" sz="1100" dirty="0"/>
          </a:p>
          <a:p>
            <a:pPr marL="342900" indent="-342900">
              <a:lnSpc>
                <a:spcPct val="150000"/>
              </a:lnSpc>
              <a:buSzPct val="100000"/>
              <a:buChar char="•"/>
            </a:pPr>
            <a:r>
              <a:rPr lang="en-US" sz="1100" dirty="0">
                <a:solidFill>
                  <a:srgbClr val="CADCFC"/>
                </a:solidFill>
                <a:latin typeface="Noto Sans KR" pitchFamily="34" charset="0"/>
                <a:ea typeface="Noto Sans KR" pitchFamily="34" charset="-122"/>
                <a:cs typeface="Noto Sans KR" pitchFamily="34" charset="-120"/>
              </a:rPr>
              <a:t>면접관 30명 + 지원자 30명 동원</a:t>
            </a:r>
            <a:endParaRPr lang="en-US" sz="1100" dirty="0"/>
          </a:p>
          <a:p>
            <a:pPr marL="342900" indent="-342900">
              <a:lnSpc>
                <a:spcPct val="150000"/>
              </a:lnSpc>
              <a:buSzPct val="100000"/>
              <a:buChar char="•"/>
            </a:pPr>
            <a:r>
              <a:rPr lang="en-US" sz="1100" dirty="0">
                <a:solidFill>
                  <a:srgbClr val="CADCFC"/>
                </a:solidFill>
                <a:latin typeface="Noto Sans KR" pitchFamily="34" charset="0"/>
                <a:ea typeface="Noto Sans KR" pitchFamily="34" charset="-122"/>
                <a:cs typeface="Noto Sans KR" pitchFamily="34" charset="-120"/>
              </a:rPr>
              <a:t>시니어 뱅커가 반드시 참석하여 장기적 잠재력 평가</a:t>
            </a:r>
            <a:endParaRPr lang="en-US" sz="1100" dirty="0"/>
          </a:p>
          <a:p>
            <a:pPr marL="342900" indent="-342900">
              <a:lnSpc>
                <a:spcPct val="150000"/>
              </a:lnSpc>
              <a:buSzPct val="100000"/>
              <a:buChar char="•"/>
            </a:pPr>
            <a:r>
              <a:rPr lang="en-US" sz="1100" dirty="0">
                <a:solidFill>
                  <a:srgbClr val="CADCFC"/>
                </a:solidFill>
                <a:latin typeface="Noto Sans KR" pitchFamily="34" charset="0"/>
                <a:ea typeface="Noto Sans KR" pitchFamily="34" charset="-122"/>
                <a:cs typeface="Noto Sans KR" pitchFamily="34" charset="-120"/>
              </a:rPr>
              <a:t>면접관·지원자 모두에게 고강도의 과정</a:t>
            </a:r>
            <a:endParaRPr lang="en-US" sz="1100" dirty="0"/>
          </a:p>
        </p:txBody>
      </p:sp>
      <p:sp>
        <p:nvSpPr>
          <p:cNvPr id="14" name="Shape 11"/>
          <p:cNvSpPr/>
          <p:nvPr/>
        </p:nvSpPr>
        <p:spPr>
          <a:xfrm>
            <a:off x="640080" y="3840480"/>
            <a:ext cx="7863840" cy="1097280"/>
          </a:xfrm>
          <a:prstGeom prst="rect">
            <a:avLst/>
          </a:prstGeom>
          <a:solidFill>
            <a:srgbClr val="233456"/>
          </a:solidFill>
          <a:ln/>
        </p:spPr>
        <p:txBody>
          <a:bodyPr/>
          <a:lstStyle/>
          <a:p>
            <a:endParaRPr lang="ko-KR" altLang="en-US"/>
          </a:p>
        </p:txBody>
      </p:sp>
      <p:sp>
        <p:nvSpPr>
          <p:cNvPr id="15" name="Shape 12"/>
          <p:cNvSpPr/>
          <p:nvPr/>
        </p:nvSpPr>
        <p:spPr>
          <a:xfrm>
            <a:off x="640080" y="3840480"/>
            <a:ext cx="7863840" cy="365760"/>
          </a:xfrm>
          <a:prstGeom prst="rect">
            <a:avLst/>
          </a:prstGeom>
          <a:solidFill>
            <a:srgbClr val="E85D5D"/>
          </a:solidFill>
          <a:ln/>
        </p:spPr>
        <p:txBody>
          <a:bodyPr/>
          <a:lstStyle/>
          <a:p>
            <a:endParaRPr lang="ko-KR" altLang="en-US"/>
          </a:p>
        </p:txBody>
      </p:sp>
      <p:sp>
        <p:nvSpPr>
          <p:cNvPr id="16" name="Text 13"/>
          <p:cNvSpPr/>
          <p:nvPr/>
        </p:nvSpPr>
        <p:spPr>
          <a:xfrm>
            <a:off x="822960" y="3840480"/>
            <a:ext cx="7498080" cy="365760"/>
          </a:xfrm>
          <a:prstGeom prst="rect">
            <a:avLst/>
          </a:prstGeom>
          <a:noFill/>
          <a:ln/>
        </p:spPr>
        <p:txBody>
          <a:bodyPr wrap="square" lIns="0" tIns="0" rIns="0" bIns="0" rtlCol="0" anchor="ct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토요일 오후  |  점심 식사 겸 채용 결정 회의</a:t>
            </a:r>
            <a:endParaRPr lang="en-US" sz="1300" dirty="0"/>
          </a:p>
        </p:txBody>
      </p:sp>
      <p:sp>
        <p:nvSpPr>
          <p:cNvPr id="17" name="Text 14"/>
          <p:cNvSpPr/>
          <p:nvPr/>
        </p:nvSpPr>
        <p:spPr>
          <a:xfrm>
            <a:off x="822960" y="4297680"/>
            <a:ext cx="640080" cy="201168"/>
          </a:xfrm>
          <a:prstGeom prst="rect">
            <a:avLst/>
          </a:prstGeom>
          <a:noFill/>
          <a:ln/>
        </p:spPr>
        <p:txBody>
          <a:bodyPr wrap="square" lIns="0" tIns="0" rIns="0" bIns="0" rtlCol="0" anchor="ctr"/>
          <a:lstStyle/>
          <a:p>
            <a:pPr marL="0" indent="0">
              <a:buNone/>
            </a:pPr>
            <a:r>
              <a:rPr lang="en-US" sz="1100" b="1" dirty="0">
                <a:solidFill>
                  <a:srgbClr val="D4A84B"/>
                </a:solidFill>
                <a:latin typeface="Noto Sans KR" pitchFamily="34" charset="0"/>
                <a:ea typeface="Noto Sans KR" pitchFamily="34" charset="-122"/>
                <a:cs typeface="Noto Sans KR" pitchFamily="34" charset="-120"/>
              </a:rPr>
              <a:t>장소:</a:t>
            </a:r>
            <a:endParaRPr lang="en-US" sz="1100" dirty="0"/>
          </a:p>
        </p:txBody>
      </p:sp>
      <p:sp>
        <p:nvSpPr>
          <p:cNvPr id="18" name="Text 15"/>
          <p:cNvSpPr/>
          <p:nvPr/>
        </p:nvSpPr>
        <p:spPr>
          <a:xfrm>
            <a:off x="1554480" y="4297680"/>
            <a:ext cx="6675120" cy="201168"/>
          </a:xfrm>
          <a:prstGeom prst="rect">
            <a:avLst/>
          </a:prstGeom>
          <a:noFill/>
          <a:ln/>
        </p:spPr>
        <p:txBody>
          <a:bodyPr wrap="square" lIns="0" tIns="0" rIns="0" bIns="0" rtlCol="0" anchor="ctr"/>
          <a:lstStyle/>
          <a:p>
            <a:pPr marL="0" indent="0">
              <a:buNone/>
            </a:pPr>
            <a:r>
              <a:rPr lang="en-US" sz="1100" dirty="0">
                <a:solidFill>
                  <a:srgbClr val="CADCFC"/>
                </a:solidFill>
                <a:latin typeface="Noto Sans KR" pitchFamily="34" charset="0"/>
                <a:ea typeface="Noto Sans KR" pitchFamily="34" charset="-122"/>
                <a:cs typeface="Noto Sans KR" pitchFamily="34" charset="-120"/>
              </a:rPr>
              <a:t>"자이언츠 스타디움" (사내 최대 회의실), U자형 테이블 배치</a:t>
            </a:r>
            <a:endParaRPr lang="en-US" sz="1100" dirty="0"/>
          </a:p>
        </p:txBody>
      </p:sp>
      <p:sp>
        <p:nvSpPr>
          <p:cNvPr id="19" name="Text 16"/>
          <p:cNvSpPr/>
          <p:nvPr/>
        </p:nvSpPr>
        <p:spPr>
          <a:xfrm>
            <a:off x="822960" y="4498848"/>
            <a:ext cx="640080" cy="201168"/>
          </a:xfrm>
          <a:prstGeom prst="rect">
            <a:avLst/>
          </a:prstGeom>
          <a:noFill/>
          <a:ln/>
        </p:spPr>
        <p:txBody>
          <a:bodyPr wrap="square" lIns="0" tIns="0" rIns="0" bIns="0" rtlCol="0" anchor="ctr"/>
          <a:lstStyle/>
          <a:p>
            <a:pPr marL="0" indent="0">
              <a:buNone/>
            </a:pPr>
            <a:r>
              <a:rPr lang="en-US" sz="1100" b="1" dirty="0">
                <a:solidFill>
                  <a:srgbClr val="D4A84B"/>
                </a:solidFill>
                <a:latin typeface="Noto Sans KR" pitchFamily="34" charset="0"/>
                <a:ea typeface="Noto Sans KR" pitchFamily="34" charset="-122"/>
                <a:cs typeface="Noto Sans KR" pitchFamily="34" charset="-120"/>
              </a:rPr>
              <a:t>방식:</a:t>
            </a:r>
            <a:endParaRPr lang="en-US" sz="1100" dirty="0"/>
          </a:p>
        </p:txBody>
      </p:sp>
      <p:sp>
        <p:nvSpPr>
          <p:cNvPr id="20" name="Text 17"/>
          <p:cNvSpPr/>
          <p:nvPr/>
        </p:nvSpPr>
        <p:spPr>
          <a:xfrm>
            <a:off x="1554480" y="4498848"/>
            <a:ext cx="6675120" cy="201168"/>
          </a:xfrm>
          <a:prstGeom prst="rect">
            <a:avLst/>
          </a:prstGeom>
          <a:noFill/>
          <a:ln/>
        </p:spPr>
        <p:txBody>
          <a:bodyPr wrap="square" lIns="0" tIns="0" rIns="0" bIns="0" rtlCol="0" anchor="ctr"/>
          <a:lstStyle/>
          <a:p>
            <a:pPr marL="0" indent="0">
              <a:buNone/>
            </a:pPr>
            <a:r>
              <a:rPr lang="en-US" sz="1100" dirty="0">
                <a:solidFill>
                  <a:srgbClr val="CADCFC"/>
                </a:solidFill>
                <a:latin typeface="Noto Sans KR" pitchFamily="34" charset="0"/>
                <a:ea typeface="Noto Sans KR" pitchFamily="34" charset="-122"/>
                <a:cs typeface="Noto Sans KR" pitchFamily="34" charset="-120"/>
              </a:rPr>
              <a:t>지원자 이름 마그네틱 플래카드를 보드에 부착, 논의에 따라 이동</a:t>
            </a:r>
            <a:endParaRPr lang="en-US" sz="1100" dirty="0"/>
          </a:p>
        </p:txBody>
      </p:sp>
      <p:sp>
        <p:nvSpPr>
          <p:cNvPr id="21" name="Text 18"/>
          <p:cNvSpPr/>
          <p:nvPr/>
        </p:nvSpPr>
        <p:spPr>
          <a:xfrm>
            <a:off x="822960" y="4700016"/>
            <a:ext cx="640080" cy="201168"/>
          </a:xfrm>
          <a:prstGeom prst="rect">
            <a:avLst/>
          </a:prstGeom>
          <a:noFill/>
          <a:ln/>
        </p:spPr>
        <p:txBody>
          <a:bodyPr wrap="square" lIns="0" tIns="0" rIns="0" bIns="0" rtlCol="0" anchor="ctr"/>
          <a:lstStyle/>
          <a:p>
            <a:pPr marL="0" indent="0">
              <a:buNone/>
            </a:pPr>
            <a:r>
              <a:rPr lang="en-US" sz="1100" b="1" dirty="0">
                <a:solidFill>
                  <a:srgbClr val="D4A84B"/>
                </a:solidFill>
                <a:latin typeface="Noto Sans KR" pitchFamily="34" charset="0"/>
                <a:ea typeface="Noto Sans KR" pitchFamily="34" charset="-122"/>
                <a:cs typeface="Noto Sans KR" pitchFamily="34" charset="-120"/>
              </a:rPr>
              <a:t>진행:</a:t>
            </a:r>
            <a:endParaRPr lang="en-US" sz="1100" dirty="0"/>
          </a:p>
        </p:txBody>
      </p:sp>
      <p:sp>
        <p:nvSpPr>
          <p:cNvPr id="22" name="Text 19"/>
          <p:cNvSpPr/>
          <p:nvPr/>
        </p:nvSpPr>
        <p:spPr>
          <a:xfrm>
            <a:off x="1554480" y="4700016"/>
            <a:ext cx="6675120" cy="201168"/>
          </a:xfrm>
          <a:prstGeom prst="rect">
            <a:avLst/>
          </a:prstGeom>
          <a:noFill/>
          <a:ln/>
        </p:spPr>
        <p:txBody>
          <a:bodyPr wrap="square" lIns="0" tIns="0" rIns="0" bIns="0" rtlCol="0" anchor="ctr"/>
          <a:lstStyle/>
          <a:p>
            <a:pPr marL="0" indent="0">
              <a:buNone/>
            </a:pPr>
            <a:r>
              <a:rPr lang="en-US" sz="1100" dirty="0">
                <a:solidFill>
                  <a:srgbClr val="CADCFC"/>
                </a:solidFill>
                <a:latin typeface="Noto Sans KR" pitchFamily="34" charset="0"/>
                <a:ea typeface="Noto Sans KR" pitchFamily="34" charset="-122"/>
                <a:cs typeface="Noto Sans KR" pitchFamily="34" charset="-120"/>
              </a:rPr>
              <a:t>확실한 Yes → 명확한 No → '아마도' 그룹 심층 논의 (가장 까다로운 부분)</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2744"/>
          </a:solidFill>
          <a:ln/>
        </p:spPr>
        <p:txBody>
          <a:bodyPr/>
          <a:lstStyle/>
          <a:p>
            <a:endParaRPr lang="ko-KR" altLang="en-US"/>
          </a:p>
        </p:txBody>
      </p:sp>
      <p:sp>
        <p:nvSpPr>
          <p:cNvPr id="3" name="Text 1"/>
          <p:cNvSpPr/>
          <p:nvPr/>
        </p:nvSpPr>
        <p:spPr>
          <a:xfrm>
            <a:off x="640080" y="274320"/>
            <a:ext cx="7315200" cy="548640"/>
          </a:xfrm>
          <a:prstGeom prst="rect">
            <a:avLst/>
          </a:prstGeom>
          <a:noFill/>
          <a:ln/>
        </p:spPr>
        <p:txBody>
          <a:bodyPr wrap="square" lIns="0" tIns="0" rIns="0" bIns="0" rtlCol="0" anchor="ctr"/>
          <a:lstStyle/>
          <a:p>
            <a:pPr marL="0" indent="0">
              <a:buNone/>
            </a:pPr>
            <a:r>
              <a:rPr lang="en-US" sz="2800" b="1" dirty="0">
                <a:solidFill>
                  <a:srgbClr val="1A2744"/>
                </a:solidFill>
                <a:latin typeface="Noto Sans KR" pitchFamily="34" charset="0"/>
                <a:ea typeface="Noto Sans KR" pitchFamily="34" charset="-122"/>
                <a:cs typeface="Noto Sans KR" pitchFamily="34" charset="-120"/>
              </a:rPr>
              <a:t>4명의 최종 후보자</a:t>
            </a:r>
            <a:endParaRPr lang="en-US" sz="2800" dirty="0"/>
          </a:p>
        </p:txBody>
      </p:sp>
      <p:sp>
        <p:nvSpPr>
          <p:cNvPr id="4" name="Text 2"/>
          <p:cNvSpPr/>
          <p:nvPr/>
        </p:nvSpPr>
        <p:spPr>
          <a:xfrm>
            <a:off x="640080" y="777240"/>
            <a:ext cx="7315200" cy="274320"/>
          </a:xfrm>
          <a:prstGeom prst="rect">
            <a:avLst/>
          </a:prstGeom>
          <a:noFill/>
          <a:ln/>
        </p:spPr>
        <p:txBody>
          <a:bodyPr wrap="square" lIns="0" tIns="0" rIns="0" bIns="0" rtlCol="0" anchor="ctr"/>
          <a:lstStyle/>
          <a:p>
            <a:pPr marL="0" indent="0">
              <a:buNone/>
            </a:pPr>
            <a:r>
              <a:rPr lang="en-US" sz="1300" b="1" dirty="0">
                <a:solidFill>
                  <a:srgbClr val="E85D5D"/>
                </a:solidFill>
                <a:latin typeface="Noto Sans KR" pitchFamily="34" charset="0"/>
                <a:ea typeface="Noto Sans KR" pitchFamily="34" charset="-122"/>
                <a:cs typeface="Noto Sans KR" pitchFamily="34" charset="-120"/>
              </a:rPr>
              <a:t>2자리 남음  |  결정이 필요한 순간</a:t>
            </a:r>
            <a:endParaRPr lang="en-US" sz="1300" dirty="0"/>
          </a:p>
        </p:txBody>
      </p:sp>
      <p:sp>
        <p:nvSpPr>
          <p:cNvPr id="5" name="Shape 3"/>
          <p:cNvSpPr/>
          <p:nvPr/>
        </p:nvSpPr>
        <p:spPr>
          <a:xfrm>
            <a:off x="640080" y="1234440"/>
            <a:ext cx="7863840" cy="7772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6" name="Shape 4"/>
          <p:cNvSpPr/>
          <p:nvPr/>
        </p:nvSpPr>
        <p:spPr>
          <a:xfrm>
            <a:off x="640080" y="1234440"/>
            <a:ext cx="64008" cy="777240"/>
          </a:xfrm>
          <a:prstGeom prst="rect">
            <a:avLst/>
          </a:prstGeom>
          <a:solidFill>
            <a:srgbClr val="2A9D8F"/>
          </a:solidFill>
          <a:ln/>
        </p:spPr>
        <p:txBody>
          <a:bodyPr/>
          <a:lstStyle/>
          <a:p>
            <a:endParaRPr lang="ko-KR" altLang="en-US"/>
          </a:p>
        </p:txBody>
      </p:sp>
      <p:sp>
        <p:nvSpPr>
          <p:cNvPr id="7" name="Text 5"/>
          <p:cNvSpPr/>
          <p:nvPr/>
        </p:nvSpPr>
        <p:spPr>
          <a:xfrm>
            <a:off x="914400" y="1280160"/>
            <a:ext cx="2103120" cy="320040"/>
          </a:xfrm>
          <a:prstGeom prst="rect">
            <a:avLst/>
          </a:prstGeom>
          <a:noFill/>
          <a:ln/>
        </p:spPr>
        <p:txBody>
          <a:bodyPr wrap="square" lIns="0" tIns="0" rIns="0" bIns="0" rtlCol="0" anchor="ctr"/>
          <a:lstStyle/>
          <a:p>
            <a:pPr marL="0" indent="0">
              <a:buNone/>
            </a:pPr>
            <a:r>
              <a:rPr lang="en-US" sz="1400" b="1" dirty="0">
                <a:solidFill>
                  <a:srgbClr val="1A2744"/>
                </a:solidFill>
                <a:latin typeface="Noto Sans KR" pitchFamily="34" charset="0"/>
                <a:ea typeface="Noto Sans KR" pitchFamily="34" charset="-122"/>
                <a:cs typeface="Noto Sans KR" pitchFamily="34" charset="-120"/>
              </a:rPr>
              <a:t>나탈리아 고들레프스카</a:t>
            </a:r>
            <a:endParaRPr lang="en-US" sz="1400" dirty="0"/>
          </a:p>
        </p:txBody>
      </p:sp>
      <p:sp>
        <p:nvSpPr>
          <p:cNvPr id="8" name="Text 6"/>
          <p:cNvSpPr/>
          <p:nvPr/>
        </p:nvSpPr>
        <p:spPr>
          <a:xfrm>
            <a:off x="914400" y="1618488"/>
            <a:ext cx="2103120" cy="274320"/>
          </a:xfrm>
          <a:prstGeom prst="rect">
            <a:avLst/>
          </a:prstGeom>
          <a:noFill/>
          <a:ln/>
        </p:spPr>
        <p:txBody>
          <a:bodyPr wrap="square" lIns="0" tIns="0" rIns="0" bIns="0" rtlCol="0" anchor="ctr"/>
          <a:lstStyle/>
          <a:p>
            <a:pPr marL="0" indent="0">
              <a:buNone/>
            </a:pPr>
            <a:r>
              <a:rPr lang="en-US" sz="1100" dirty="0">
                <a:solidFill>
                  <a:srgbClr val="2A9D8F"/>
                </a:solidFill>
                <a:latin typeface="Noto Sans KR" pitchFamily="34" charset="0"/>
                <a:ea typeface="Noto Sans KR" pitchFamily="34" charset="-122"/>
                <a:cs typeface="Noto Sans KR" pitchFamily="34" charset="-120"/>
              </a:rPr>
              <a:t>코넬 MBA</a:t>
            </a:r>
            <a:endParaRPr lang="en-US" sz="1100" dirty="0"/>
          </a:p>
        </p:txBody>
      </p:sp>
      <p:sp>
        <p:nvSpPr>
          <p:cNvPr id="9" name="Text 7"/>
          <p:cNvSpPr/>
          <p:nvPr/>
        </p:nvSpPr>
        <p:spPr>
          <a:xfrm>
            <a:off x="3200400" y="1280160"/>
            <a:ext cx="2560320" cy="64008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CommScan 4년 (M&amp;A 소프트웨어)</a:t>
            </a:r>
            <a:endParaRPr lang="en-US" sz="1100" dirty="0"/>
          </a:p>
        </p:txBody>
      </p:sp>
      <p:sp>
        <p:nvSpPr>
          <p:cNvPr id="10" name="Text 8"/>
          <p:cNvSpPr/>
          <p:nvPr/>
        </p:nvSpPr>
        <p:spPr>
          <a:xfrm>
            <a:off x="5943600" y="1280160"/>
            <a:ext cx="2286000" cy="640080"/>
          </a:xfrm>
          <a:prstGeom prst="rect">
            <a:avLst/>
          </a:prstGeom>
          <a:noFill/>
          <a:ln/>
        </p:spPr>
        <p:txBody>
          <a:bodyPr wrap="square" lIns="0" tIns="0" rIns="0" bIns="0" rtlCol="0" anchor="ctr"/>
          <a:lstStyle/>
          <a:p>
            <a:pPr marL="0" indent="0">
              <a:buNone/>
            </a:pPr>
            <a:r>
              <a:rPr lang="en-US" sz="1200" b="1" dirty="0">
                <a:solidFill>
                  <a:srgbClr val="E85D5D"/>
                </a:solidFill>
                <a:latin typeface="Noto Sans KR" pitchFamily="34" charset="0"/>
                <a:ea typeface="Noto Sans KR" pitchFamily="34" charset="-122"/>
                <a:cs typeface="Noto Sans KR" pitchFamily="34" charset="-120"/>
              </a:rPr>
              <a:t>문화 적합성·영어</a:t>
            </a:r>
            <a:endParaRPr lang="en-US" sz="1200" dirty="0"/>
          </a:p>
        </p:txBody>
      </p:sp>
      <p:sp>
        <p:nvSpPr>
          <p:cNvPr id="11" name="Shape 9"/>
          <p:cNvSpPr/>
          <p:nvPr/>
        </p:nvSpPr>
        <p:spPr>
          <a:xfrm>
            <a:off x="640080" y="2148840"/>
            <a:ext cx="7863840" cy="7772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12" name="Shape 10"/>
          <p:cNvSpPr/>
          <p:nvPr/>
        </p:nvSpPr>
        <p:spPr>
          <a:xfrm>
            <a:off x="640080" y="2148840"/>
            <a:ext cx="64008" cy="777240"/>
          </a:xfrm>
          <a:prstGeom prst="rect">
            <a:avLst/>
          </a:prstGeom>
          <a:solidFill>
            <a:srgbClr val="1A2744"/>
          </a:solidFill>
          <a:ln/>
        </p:spPr>
        <p:txBody>
          <a:bodyPr/>
          <a:lstStyle/>
          <a:p>
            <a:endParaRPr lang="ko-KR" altLang="en-US"/>
          </a:p>
        </p:txBody>
      </p:sp>
      <p:sp>
        <p:nvSpPr>
          <p:cNvPr id="13" name="Text 11"/>
          <p:cNvSpPr/>
          <p:nvPr/>
        </p:nvSpPr>
        <p:spPr>
          <a:xfrm>
            <a:off x="914400" y="2194560"/>
            <a:ext cx="2103120" cy="320040"/>
          </a:xfrm>
          <a:prstGeom prst="rect">
            <a:avLst/>
          </a:prstGeom>
          <a:noFill/>
          <a:ln/>
        </p:spPr>
        <p:txBody>
          <a:bodyPr wrap="square" lIns="0" tIns="0" rIns="0" bIns="0" rtlCol="0" anchor="ctr"/>
          <a:lstStyle/>
          <a:p>
            <a:pPr marL="0" indent="0">
              <a:buNone/>
            </a:pPr>
            <a:r>
              <a:rPr lang="en-US" sz="1400" b="1" dirty="0">
                <a:solidFill>
                  <a:srgbClr val="1A2744"/>
                </a:solidFill>
                <a:latin typeface="Noto Sans KR" pitchFamily="34" charset="0"/>
                <a:ea typeface="Noto Sans KR" pitchFamily="34" charset="-122"/>
                <a:cs typeface="Noto Sans KR" pitchFamily="34" charset="-120"/>
              </a:rPr>
              <a:t>마틴 스트리트</a:t>
            </a:r>
            <a:endParaRPr lang="en-US" sz="1400" dirty="0"/>
          </a:p>
        </p:txBody>
      </p:sp>
      <p:sp>
        <p:nvSpPr>
          <p:cNvPr id="14" name="Text 12"/>
          <p:cNvSpPr/>
          <p:nvPr/>
        </p:nvSpPr>
        <p:spPr>
          <a:xfrm>
            <a:off x="914400" y="2532888"/>
            <a:ext cx="2103120" cy="274320"/>
          </a:xfrm>
          <a:prstGeom prst="rect">
            <a:avLst/>
          </a:prstGeom>
          <a:noFill/>
          <a:ln/>
        </p:spPr>
        <p:txBody>
          <a:bodyPr wrap="square" lIns="0" tIns="0" rIns="0" bIns="0" rtlCol="0" anchor="ctr"/>
          <a:lstStyle/>
          <a:p>
            <a:pPr marL="0" indent="0">
              <a:buNone/>
            </a:pPr>
            <a:r>
              <a:rPr lang="en-US" sz="1100" dirty="0">
                <a:solidFill>
                  <a:srgbClr val="2A9D8F"/>
                </a:solidFill>
                <a:latin typeface="Noto Sans KR" pitchFamily="34" charset="0"/>
                <a:ea typeface="Noto Sans KR" pitchFamily="34" charset="-122"/>
                <a:cs typeface="Noto Sans KR" pitchFamily="34" charset="-120"/>
              </a:rPr>
              <a:t>와튼 MBA</a:t>
            </a:r>
            <a:endParaRPr lang="en-US" sz="1100" dirty="0"/>
          </a:p>
        </p:txBody>
      </p:sp>
      <p:sp>
        <p:nvSpPr>
          <p:cNvPr id="15" name="Text 13"/>
          <p:cNvSpPr/>
          <p:nvPr/>
        </p:nvSpPr>
        <p:spPr>
          <a:xfrm>
            <a:off x="3200400" y="2194560"/>
            <a:ext cx="2560320" cy="64008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군 복무 4년 (보스니아 구조작전)</a:t>
            </a:r>
            <a:endParaRPr lang="en-US" sz="1100" dirty="0"/>
          </a:p>
        </p:txBody>
      </p:sp>
      <p:sp>
        <p:nvSpPr>
          <p:cNvPr id="16" name="Text 14"/>
          <p:cNvSpPr/>
          <p:nvPr/>
        </p:nvSpPr>
        <p:spPr>
          <a:xfrm>
            <a:off x="5943600" y="2194560"/>
            <a:ext cx="2286000" cy="640080"/>
          </a:xfrm>
          <a:prstGeom prst="rect">
            <a:avLst/>
          </a:prstGeom>
          <a:noFill/>
          <a:ln/>
        </p:spPr>
        <p:txBody>
          <a:bodyPr wrap="square" lIns="0" tIns="0" rIns="0" bIns="0" rtlCol="0" anchor="ctr"/>
          <a:lstStyle/>
          <a:p>
            <a:pPr marL="0" indent="0">
              <a:buNone/>
            </a:pPr>
            <a:r>
              <a:rPr lang="en-US" sz="1200" b="1" dirty="0">
                <a:solidFill>
                  <a:srgbClr val="E85D5D"/>
                </a:solidFill>
                <a:latin typeface="Noto Sans KR" pitchFamily="34" charset="0"/>
                <a:ea typeface="Noto Sans KR" pitchFamily="34" charset="-122"/>
                <a:cs typeface="Noto Sans KR" pitchFamily="34" charset="-120"/>
              </a:rPr>
              <a:t>사업 경험 부재·충성도</a:t>
            </a:r>
            <a:endParaRPr lang="en-US" sz="1200" dirty="0"/>
          </a:p>
        </p:txBody>
      </p:sp>
      <p:sp>
        <p:nvSpPr>
          <p:cNvPr id="17" name="Shape 15"/>
          <p:cNvSpPr/>
          <p:nvPr/>
        </p:nvSpPr>
        <p:spPr>
          <a:xfrm>
            <a:off x="640080" y="3063240"/>
            <a:ext cx="7863840" cy="7772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18" name="Shape 16"/>
          <p:cNvSpPr/>
          <p:nvPr/>
        </p:nvSpPr>
        <p:spPr>
          <a:xfrm>
            <a:off x="640080" y="3063240"/>
            <a:ext cx="64008" cy="777240"/>
          </a:xfrm>
          <a:prstGeom prst="rect">
            <a:avLst/>
          </a:prstGeom>
          <a:solidFill>
            <a:srgbClr val="D4A84B"/>
          </a:solidFill>
          <a:ln/>
        </p:spPr>
        <p:txBody>
          <a:bodyPr/>
          <a:lstStyle/>
          <a:p>
            <a:endParaRPr lang="ko-KR" altLang="en-US"/>
          </a:p>
        </p:txBody>
      </p:sp>
      <p:sp>
        <p:nvSpPr>
          <p:cNvPr id="19" name="Text 17"/>
          <p:cNvSpPr/>
          <p:nvPr/>
        </p:nvSpPr>
        <p:spPr>
          <a:xfrm>
            <a:off x="914400" y="3108960"/>
            <a:ext cx="2103120" cy="320040"/>
          </a:xfrm>
          <a:prstGeom prst="rect">
            <a:avLst/>
          </a:prstGeom>
          <a:noFill/>
          <a:ln/>
        </p:spPr>
        <p:txBody>
          <a:bodyPr wrap="square" lIns="0" tIns="0" rIns="0" bIns="0" rtlCol="0" anchor="ctr"/>
          <a:lstStyle/>
          <a:p>
            <a:pPr marL="0" indent="0">
              <a:buNone/>
            </a:pPr>
            <a:r>
              <a:rPr lang="en-US" sz="1400" b="1" dirty="0">
                <a:solidFill>
                  <a:srgbClr val="1A2744"/>
                </a:solidFill>
                <a:latin typeface="Noto Sans KR" pitchFamily="34" charset="0"/>
                <a:ea typeface="Noto Sans KR" pitchFamily="34" charset="-122"/>
                <a:cs typeface="Noto Sans KR" pitchFamily="34" charset="-120"/>
              </a:rPr>
              <a:t>켄 골드스틴</a:t>
            </a:r>
            <a:endParaRPr lang="en-US" sz="1400" dirty="0"/>
          </a:p>
        </p:txBody>
      </p:sp>
      <p:sp>
        <p:nvSpPr>
          <p:cNvPr id="20" name="Text 18"/>
          <p:cNvSpPr/>
          <p:nvPr/>
        </p:nvSpPr>
        <p:spPr>
          <a:xfrm>
            <a:off x="914400" y="3447288"/>
            <a:ext cx="2103120" cy="274320"/>
          </a:xfrm>
          <a:prstGeom prst="rect">
            <a:avLst/>
          </a:prstGeom>
          <a:noFill/>
          <a:ln/>
        </p:spPr>
        <p:txBody>
          <a:bodyPr wrap="square" lIns="0" tIns="0" rIns="0" bIns="0" rtlCol="0" anchor="ctr"/>
          <a:lstStyle/>
          <a:p>
            <a:pPr marL="0" indent="0">
              <a:buNone/>
            </a:pPr>
            <a:r>
              <a:rPr lang="en-US" sz="1100" dirty="0">
                <a:solidFill>
                  <a:srgbClr val="2A9D8F"/>
                </a:solidFill>
                <a:latin typeface="Noto Sans KR" pitchFamily="34" charset="0"/>
                <a:ea typeface="Noto Sans KR" pitchFamily="34" charset="-122"/>
                <a:cs typeface="Noto Sans KR" pitchFamily="34" charset="-120"/>
              </a:rPr>
              <a:t>버클리 MBA</a:t>
            </a:r>
            <a:endParaRPr lang="en-US" sz="1100" dirty="0"/>
          </a:p>
        </p:txBody>
      </p:sp>
      <p:sp>
        <p:nvSpPr>
          <p:cNvPr id="21" name="Text 19"/>
          <p:cNvSpPr/>
          <p:nvPr/>
        </p:nvSpPr>
        <p:spPr>
          <a:xfrm>
            <a:off x="3200400" y="3108960"/>
            <a:ext cx="2560320" cy="64008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PwC 5년 (상위 5% 성과)</a:t>
            </a:r>
            <a:endParaRPr lang="en-US" sz="1100" dirty="0"/>
          </a:p>
        </p:txBody>
      </p:sp>
      <p:sp>
        <p:nvSpPr>
          <p:cNvPr id="22" name="Text 20"/>
          <p:cNvSpPr/>
          <p:nvPr/>
        </p:nvSpPr>
        <p:spPr>
          <a:xfrm>
            <a:off x="5943600" y="3108960"/>
            <a:ext cx="2286000" cy="640080"/>
          </a:xfrm>
          <a:prstGeom prst="rect">
            <a:avLst/>
          </a:prstGeom>
          <a:noFill/>
          <a:ln/>
        </p:spPr>
        <p:txBody>
          <a:bodyPr wrap="square" lIns="0" tIns="0" rIns="0" bIns="0" rtlCol="0" anchor="ctr"/>
          <a:lstStyle/>
          <a:p>
            <a:pPr marL="0" indent="0">
              <a:buNone/>
            </a:pPr>
            <a:r>
              <a:rPr lang="en-US" sz="1200" b="1" dirty="0">
                <a:solidFill>
                  <a:srgbClr val="E85D5D"/>
                </a:solidFill>
                <a:latin typeface="Noto Sans KR" pitchFamily="34" charset="0"/>
                <a:ea typeface="Noto Sans KR" pitchFamily="34" charset="-122"/>
                <a:cs typeface="Noto Sans KR" pitchFamily="34" charset="-120"/>
              </a:rPr>
              <a:t>가정·워라밸·과잉 성숙</a:t>
            </a:r>
            <a:endParaRPr lang="en-US" sz="1200" dirty="0"/>
          </a:p>
        </p:txBody>
      </p:sp>
      <p:sp>
        <p:nvSpPr>
          <p:cNvPr id="23" name="Shape 21"/>
          <p:cNvSpPr/>
          <p:nvPr/>
        </p:nvSpPr>
        <p:spPr>
          <a:xfrm>
            <a:off x="640080" y="3977640"/>
            <a:ext cx="7863840" cy="7772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24" name="Shape 22"/>
          <p:cNvSpPr/>
          <p:nvPr/>
        </p:nvSpPr>
        <p:spPr>
          <a:xfrm>
            <a:off x="640080" y="3977640"/>
            <a:ext cx="64008" cy="777240"/>
          </a:xfrm>
          <a:prstGeom prst="rect">
            <a:avLst/>
          </a:prstGeom>
          <a:solidFill>
            <a:srgbClr val="E85D5D"/>
          </a:solidFill>
          <a:ln/>
        </p:spPr>
        <p:txBody>
          <a:bodyPr/>
          <a:lstStyle/>
          <a:p>
            <a:endParaRPr lang="ko-KR" altLang="en-US"/>
          </a:p>
        </p:txBody>
      </p:sp>
      <p:sp>
        <p:nvSpPr>
          <p:cNvPr id="25" name="Text 23"/>
          <p:cNvSpPr/>
          <p:nvPr/>
        </p:nvSpPr>
        <p:spPr>
          <a:xfrm>
            <a:off x="914400" y="4023360"/>
            <a:ext cx="2103120" cy="320040"/>
          </a:xfrm>
          <a:prstGeom prst="rect">
            <a:avLst/>
          </a:prstGeom>
          <a:noFill/>
          <a:ln/>
        </p:spPr>
        <p:txBody>
          <a:bodyPr wrap="square" lIns="0" tIns="0" rIns="0" bIns="0" rtlCol="0" anchor="ctr"/>
          <a:lstStyle/>
          <a:p>
            <a:pPr marL="0" indent="0">
              <a:buNone/>
            </a:pPr>
            <a:r>
              <a:rPr lang="en-US" sz="1400" b="1" dirty="0">
                <a:solidFill>
                  <a:srgbClr val="1A2744"/>
                </a:solidFill>
                <a:latin typeface="Noto Sans KR" pitchFamily="34" charset="0"/>
                <a:ea typeface="Noto Sans KR" pitchFamily="34" charset="-122"/>
                <a:cs typeface="Noto Sans KR" pitchFamily="34" charset="-120"/>
              </a:rPr>
              <a:t>앤디 산체스</a:t>
            </a:r>
            <a:endParaRPr lang="en-US" sz="1400" dirty="0"/>
          </a:p>
        </p:txBody>
      </p:sp>
      <p:sp>
        <p:nvSpPr>
          <p:cNvPr id="26" name="Text 24"/>
          <p:cNvSpPr/>
          <p:nvPr/>
        </p:nvSpPr>
        <p:spPr>
          <a:xfrm>
            <a:off x="914400" y="4361688"/>
            <a:ext cx="2103120" cy="274320"/>
          </a:xfrm>
          <a:prstGeom prst="rect">
            <a:avLst/>
          </a:prstGeom>
          <a:noFill/>
          <a:ln/>
        </p:spPr>
        <p:txBody>
          <a:bodyPr wrap="square" lIns="0" tIns="0" rIns="0" bIns="0" rtlCol="0" anchor="ctr"/>
          <a:lstStyle/>
          <a:p>
            <a:pPr marL="0" indent="0">
              <a:buNone/>
            </a:pPr>
            <a:r>
              <a:rPr lang="en-US" sz="1100" dirty="0">
                <a:solidFill>
                  <a:srgbClr val="2A9D8F"/>
                </a:solidFill>
                <a:latin typeface="Noto Sans KR" pitchFamily="34" charset="0"/>
                <a:ea typeface="Noto Sans KR" pitchFamily="34" charset="-122"/>
                <a:cs typeface="Noto Sans KR" pitchFamily="34" charset="-120"/>
              </a:rPr>
              <a:t>USC MBA</a:t>
            </a:r>
            <a:endParaRPr lang="en-US" sz="1100" dirty="0"/>
          </a:p>
        </p:txBody>
      </p:sp>
      <p:sp>
        <p:nvSpPr>
          <p:cNvPr id="27" name="Text 25"/>
          <p:cNvSpPr/>
          <p:nvPr/>
        </p:nvSpPr>
        <p:spPr>
          <a:xfrm>
            <a:off x="3200400" y="4023360"/>
            <a:ext cx="2560320" cy="64008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교육 사업 창업 (매출 200만$)</a:t>
            </a:r>
            <a:endParaRPr lang="en-US" sz="1100" dirty="0"/>
          </a:p>
        </p:txBody>
      </p:sp>
      <p:sp>
        <p:nvSpPr>
          <p:cNvPr id="28" name="Text 26"/>
          <p:cNvSpPr/>
          <p:nvPr/>
        </p:nvSpPr>
        <p:spPr>
          <a:xfrm>
            <a:off x="5943600" y="4023360"/>
            <a:ext cx="2286000" cy="640080"/>
          </a:xfrm>
          <a:prstGeom prst="rect">
            <a:avLst/>
          </a:prstGeom>
          <a:noFill/>
          <a:ln/>
        </p:spPr>
        <p:txBody>
          <a:bodyPr wrap="square" lIns="0" tIns="0" rIns="0" bIns="0" rtlCol="0" anchor="ctr"/>
          <a:lstStyle/>
          <a:p>
            <a:pPr marL="0" indent="0">
              <a:buNone/>
            </a:pPr>
            <a:r>
              <a:rPr lang="en-US" sz="1200" b="1" dirty="0">
                <a:solidFill>
                  <a:srgbClr val="E85D5D"/>
                </a:solidFill>
                <a:latin typeface="Noto Sans KR" pitchFamily="34" charset="0"/>
                <a:ea typeface="Noto Sans KR" pitchFamily="34" charset="-122"/>
                <a:cs typeface="Noto Sans KR" pitchFamily="34" charset="-120"/>
              </a:rPr>
              <a:t>낮은 학점 (GPA 2.8)</a:t>
            </a:r>
            <a:endParaRPr lang="en-US" sz="1200" dirty="0"/>
          </a:p>
        </p:txBody>
      </p:sp>
      <p:sp>
        <p:nvSpPr>
          <p:cNvPr id="29" name="Text 27"/>
          <p:cNvSpPr/>
          <p:nvPr/>
        </p:nvSpPr>
        <p:spPr>
          <a:xfrm>
            <a:off x="914400" y="1051560"/>
            <a:ext cx="1828800" cy="182880"/>
          </a:xfrm>
          <a:prstGeom prst="rect">
            <a:avLst/>
          </a:prstGeom>
          <a:noFill/>
          <a:ln/>
        </p:spPr>
        <p:txBody>
          <a:bodyPr wrap="square" lIns="0" tIns="0" rIns="0" bIns="0" rtlCol="0" anchor="ctr"/>
          <a:lstStyle/>
          <a:p>
            <a:pPr marL="0" indent="0">
              <a:buNone/>
            </a:pPr>
            <a:r>
              <a:rPr lang="en-US" sz="1000" dirty="0">
                <a:solidFill>
                  <a:srgbClr val="8A98AD"/>
                </a:solidFill>
                <a:latin typeface="Noto Sans KR" pitchFamily="34" charset="0"/>
                <a:ea typeface="Noto Sans KR" pitchFamily="34" charset="-122"/>
                <a:cs typeface="Noto Sans KR" pitchFamily="34" charset="-120"/>
              </a:rPr>
              <a:t>후보자</a:t>
            </a:r>
            <a:endParaRPr lang="en-US" sz="1000" dirty="0"/>
          </a:p>
        </p:txBody>
      </p:sp>
      <p:sp>
        <p:nvSpPr>
          <p:cNvPr id="30" name="Text 28"/>
          <p:cNvSpPr/>
          <p:nvPr/>
        </p:nvSpPr>
        <p:spPr>
          <a:xfrm>
            <a:off x="3200400" y="1051560"/>
            <a:ext cx="1828800" cy="182880"/>
          </a:xfrm>
          <a:prstGeom prst="rect">
            <a:avLst/>
          </a:prstGeom>
          <a:noFill/>
          <a:ln/>
        </p:spPr>
        <p:txBody>
          <a:bodyPr wrap="square" lIns="0" tIns="0" rIns="0" bIns="0" rtlCol="0" anchor="ctr"/>
          <a:lstStyle/>
          <a:p>
            <a:pPr marL="0" indent="0">
              <a:buNone/>
            </a:pPr>
            <a:r>
              <a:rPr lang="en-US" sz="1000" dirty="0">
                <a:solidFill>
                  <a:srgbClr val="8A98AD"/>
                </a:solidFill>
                <a:latin typeface="Noto Sans KR" pitchFamily="34" charset="0"/>
                <a:ea typeface="Noto Sans KR" pitchFamily="34" charset="-122"/>
                <a:cs typeface="Noto Sans KR" pitchFamily="34" charset="-120"/>
              </a:rPr>
              <a:t>경력 배경</a:t>
            </a:r>
            <a:endParaRPr lang="en-US" sz="1000" dirty="0"/>
          </a:p>
        </p:txBody>
      </p:sp>
      <p:sp>
        <p:nvSpPr>
          <p:cNvPr id="31" name="Text 29"/>
          <p:cNvSpPr/>
          <p:nvPr/>
        </p:nvSpPr>
        <p:spPr>
          <a:xfrm>
            <a:off x="5943600" y="1051560"/>
            <a:ext cx="1828800" cy="182880"/>
          </a:xfrm>
          <a:prstGeom prst="rect">
            <a:avLst/>
          </a:prstGeom>
          <a:noFill/>
          <a:ln/>
        </p:spPr>
        <p:txBody>
          <a:bodyPr wrap="square" lIns="0" tIns="0" rIns="0" bIns="0" rtlCol="0" anchor="ctr"/>
          <a:lstStyle/>
          <a:p>
            <a:pPr marL="0" indent="0">
              <a:buNone/>
            </a:pPr>
            <a:r>
              <a:rPr lang="en-US" sz="1000" dirty="0">
                <a:solidFill>
                  <a:srgbClr val="8A98AD"/>
                </a:solidFill>
                <a:latin typeface="Noto Sans KR" pitchFamily="34" charset="0"/>
                <a:ea typeface="Noto Sans KR" pitchFamily="34" charset="-122"/>
                <a:cs typeface="Noto Sans KR" pitchFamily="34" charset="-120"/>
              </a:rPr>
              <a:t>핵심 쟁점</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ko-KR" altLang="en-US"/>
          </a:p>
        </p:txBody>
      </p:sp>
      <p:sp>
        <p:nvSpPr>
          <p:cNvPr id="3" name="Text 1"/>
          <p:cNvSpPr/>
          <p:nvPr/>
        </p:nvSpPr>
        <p:spPr>
          <a:xfrm>
            <a:off x="640080" y="228600"/>
            <a:ext cx="1828800" cy="320040"/>
          </a:xfrm>
          <a:prstGeom prst="rect">
            <a:avLst/>
          </a:prstGeom>
          <a:noFill/>
          <a:ln/>
        </p:spPr>
        <p:txBody>
          <a:bodyPr wrap="square" lIns="0" tIns="0" rIns="0" bIns="0" rtlCol="0" anchor="ctr"/>
          <a:lstStyle/>
          <a:p>
            <a:pPr marL="0" indent="0">
              <a:buNone/>
            </a:pPr>
            <a:r>
              <a:rPr lang="en-US" sz="1200" b="1" dirty="0">
                <a:solidFill>
                  <a:srgbClr val="2A9D8F"/>
                </a:solidFill>
                <a:latin typeface="Noto Sans KR" pitchFamily="34" charset="0"/>
                <a:ea typeface="Noto Sans KR" pitchFamily="34" charset="-122"/>
                <a:cs typeface="Noto Sans KR" pitchFamily="34" charset="-120"/>
              </a:rPr>
              <a:t>후보 1</a:t>
            </a:r>
            <a:endParaRPr lang="en-US" sz="1200" dirty="0"/>
          </a:p>
        </p:txBody>
      </p:sp>
      <p:sp>
        <p:nvSpPr>
          <p:cNvPr id="4" name="Text 2"/>
          <p:cNvSpPr/>
          <p:nvPr/>
        </p:nvSpPr>
        <p:spPr>
          <a:xfrm>
            <a:off x="640080" y="502920"/>
            <a:ext cx="7315200" cy="457200"/>
          </a:xfrm>
          <a:prstGeom prst="rect">
            <a:avLst/>
          </a:prstGeom>
          <a:noFill/>
          <a:ln/>
        </p:spPr>
        <p:txBody>
          <a:bodyPr wrap="square" lIns="0" tIns="0" rIns="0" bIns="0" rtlCol="0" anchor="ctr"/>
          <a:lstStyle/>
          <a:p>
            <a:pPr marL="0" indent="0">
              <a:buNone/>
            </a:pPr>
            <a:r>
              <a:rPr lang="en-US" sz="2400" b="1" dirty="0">
                <a:solidFill>
                  <a:srgbClr val="1A2744"/>
                </a:solidFill>
                <a:latin typeface="Noto Sans KR" pitchFamily="34" charset="0"/>
                <a:ea typeface="Noto Sans KR" pitchFamily="34" charset="-122"/>
                <a:cs typeface="Noto Sans KR" pitchFamily="34" charset="-120"/>
              </a:rPr>
              <a:t>나탈리아 고들레프스카 (Natalya Godlewska)</a:t>
            </a:r>
            <a:endParaRPr lang="en-US" sz="2400" dirty="0"/>
          </a:p>
        </p:txBody>
      </p:sp>
      <p:sp>
        <p:nvSpPr>
          <p:cNvPr id="5" name="Text 3"/>
          <p:cNvSpPr/>
          <p:nvPr/>
        </p:nvSpPr>
        <p:spPr>
          <a:xfrm>
            <a:off x="640080" y="914400"/>
            <a:ext cx="7315200" cy="274320"/>
          </a:xfrm>
          <a:prstGeom prst="rect">
            <a:avLst/>
          </a:prstGeom>
          <a:noFill/>
          <a:ln/>
        </p:spPr>
        <p:txBody>
          <a:bodyPr wrap="square" lIns="0" tIns="0" rIns="0" bIns="0" rtlCol="0" anchor="ctr"/>
          <a:lstStyle/>
          <a:p>
            <a:pPr marL="0" indent="0">
              <a:buNone/>
            </a:pPr>
            <a:r>
              <a:rPr lang="en-US" sz="1300" dirty="0">
                <a:solidFill>
                  <a:srgbClr val="8A98AD"/>
                </a:solidFill>
                <a:latin typeface="Noto Sans KR" pitchFamily="34" charset="0"/>
                <a:ea typeface="Noto Sans KR" pitchFamily="34" charset="-122"/>
                <a:cs typeface="Noto Sans KR" pitchFamily="34" charset="-120"/>
              </a:rPr>
              <a:t>코넬 MBA  |  폴란드 출신  |  CommScan 4년</a:t>
            </a:r>
            <a:endParaRPr lang="en-US" sz="1300" dirty="0"/>
          </a:p>
        </p:txBody>
      </p:sp>
      <p:pic>
        <p:nvPicPr>
          <p:cNvPr id="6" name="Image 0" descr="preencoded.png"/>
          <p:cNvPicPr>
            <a:picLocks noChangeAspect="1"/>
          </p:cNvPicPr>
          <p:nvPr/>
        </p:nvPicPr>
        <p:blipFill>
          <a:blip r:embed="rId3"/>
          <a:stretch>
            <a:fillRect/>
          </a:stretch>
        </p:blipFill>
        <p:spPr>
          <a:xfrm>
            <a:off x="640080" y="1371600"/>
            <a:ext cx="274320" cy="274320"/>
          </a:xfrm>
          <a:prstGeom prst="rect">
            <a:avLst/>
          </a:prstGeom>
        </p:spPr>
      </p:pic>
      <p:sp>
        <p:nvSpPr>
          <p:cNvPr id="7" name="Text 4"/>
          <p:cNvSpPr/>
          <p:nvPr/>
        </p:nvSpPr>
        <p:spPr>
          <a:xfrm>
            <a:off x="1005840" y="1371600"/>
            <a:ext cx="1828800" cy="274320"/>
          </a:xfrm>
          <a:prstGeom prst="rect">
            <a:avLst/>
          </a:prstGeom>
          <a:noFill/>
          <a:ln/>
        </p:spPr>
        <p:txBody>
          <a:bodyPr wrap="square" lIns="0" tIns="0" rIns="0" bIns="0" rtlCol="0" anchor="ctr"/>
          <a:lstStyle/>
          <a:p>
            <a:pPr marL="0" indent="0">
              <a:buNone/>
            </a:pPr>
            <a:r>
              <a:rPr lang="en-US" sz="1400" b="1" dirty="0">
                <a:solidFill>
                  <a:srgbClr val="3DB07A"/>
                </a:solidFill>
                <a:latin typeface="Noto Sans KR" pitchFamily="34" charset="0"/>
                <a:ea typeface="Noto Sans KR" pitchFamily="34" charset="-122"/>
                <a:cs typeface="Noto Sans KR" pitchFamily="34" charset="-120"/>
              </a:rPr>
              <a:t>강점</a:t>
            </a:r>
            <a:endParaRPr lang="en-US" sz="1400" dirty="0"/>
          </a:p>
        </p:txBody>
      </p:sp>
      <p:sp>
        <p:nvSpPr>
          <p:cNvPr id="8" name="Text 5"/>
          <p:cNvSpPr/>
          <p:nvPr/>
        </p:nvSpPr>
        <p:spPr>
          <a:xfrm>
            <a:off x="640080" y="1737360"/>
            <a:ext cx="3931920" cy="2011680"/>
          </a:xfrm>
          <a:prstGeom prst="rect">
            <a:avLst/>
          </a:prstGeom>
          <a:noFill/>
          <a:ln/>
        </p:spPr>
        <p:txBody>
          <a:bodyPr wrap="square" rtlCol="0" anchor="ctr"/>
          <a:lstStyle/>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재무학과 최고 학점, 대학원 조교 역임</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M&amp;A 모델링 소프트웨어 회사(CommScan) 4년 근무</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러시아어·폴란드어·독일어 유창 + 프랑스어</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추천인: "힘든 협상에 데려가고 싶은 사람"</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적극적이고 긍정적 에너지, "할 수 있다"는 태도</a:t>
            </a:r>
            <a:endParaRPr lang="en-US" sz="1200" dirty="0"/>
          </a:p>
        </p:txBody>
      </p:sp>
      <p:pic>
        <p:nvPicPr>
          <p:cNvPr id="9" name="Image 1" descr="preencoded.png"/>
          <p:cNvPicPr>
            <a:picLocks noChangeAspect="1"/>
          </p:cNvPicPr>
          <p:nvPr/>
        </p:nvPicPr>
        <p:blipFill>
          <a:blip r:embed="rId4"/>
          <a:stretch>
            <a:fillRect/>
          </a:stretch>
        </p:blipFill>
        <p:spPr>
          <a:xfrm>
            <a:off x="4846320" y="1371600"/>
            <a:ext cx="274320" cy="274320"/>
          </a:xfrm>
          <a:prstGeom prst="rect">
            <a:avLst/>
          </a:prstGeom>
        </p:spPr>
      </p:pic>
      <p:sp>
        <p:nvSpPr>
          <p:cNvPr id="10" name="Text 6"/>
          <p:cNvSpPr/>
          <p:nvPr/>
        </p:nvSpPr>
        <p:spPr>
          <a:xfrm>
            <a:off x="5212080" y="1371600"/>
            <a:ext cx="1828800" cy="274320"/>
          </a:xfrm>
          <a:prstGeom prst="rect">
            <a:avLst/>
          </a:prstGeom>
          <a:noFill/>
          <a:ln/>
        </p:spPr>
        <p:txBody>
          <a:bodyPr wrap="square" lIns="0" tIns="0" rIns="0" bIns="0" rtlCol="0" anchor="ctr"/>
          <a:lstStyle/>
          <a:p>
            <a:pPr marL="0" indent="0">
              <a:buNone/>
            </a:pPr>
            <a:r>
              <a:rPr lang="en-US" sz="1400" b="1" dirty="0">
                <a:solidFill>
                  <a:srgbClr val="E85D5D"/>
                </a:solidFill>
                <a:latin typeface="Noto Sans KR" pitchFamily="34" charset="0"/>
                <a:ea typeface="Noto Sans KR" pitchFamily="34" charset="-122"/>
                <a:cs typeface="Noto Sans KR" pitchFamily="34" charset="-120"/>
              </a:rPr>
              <a:t>우려 사항</a:t>
            </a:r>
            <a:endParaRPr lang="en-US" sz="1400" dirty="0"/>
          </a:p>
        </p:txBody>
      </p:sp>
      <p:sp>
        <p:nvSpPr>
          <p:cNvPr id="11" name="Text 7"/>
          <p:cNvSpPr/>
          <p:nvPr/>
        </p:nvSpPr>
        <p:spPr>
          <a:xfrm>
            <a:off x="4846320" y="1737360"/>
            <a:ext cx="3931920" cy="1828800"/>
          </a:xfrm>
          <a:prstGeom prst="rect">
            <a:avLst/>
          </a:prstGeom>
          <a:noFill/>
          <a:ln/>
        </p:spPr>
        <p:txBody>
          <a:bodyPr wrap="square" rtlCol="0" anchor="ctr"/>
          <a:lstStyle/>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잡담·만찬 시 딱딱하고 불편해 보임</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"문화적으로 잘 맞지 않을 수 있다"</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완벽하지 않은 영어에 일부 뱅커들이 인내심 부족 우려</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관리자와의 원활한 소통 능력 의문</a:t>
            </a:r>
            <a:endParaRPr lang="en-US" sz="1200" dirty="0"/>
          </a:p>
        </p:txBody>
      </p:sp>
      <p:sp>
        <p:nvSpPr>
          <p:cNvPr id="12" name="Shape 8"/>
          <p:cNvSpPr/>
          <p:nvPr/>
        </p:nvSpPr>
        <p:spPr>
          <a:xfrm>
            <a:off x="640080" y="3931920"/>
            <a:ext cx="7863840" cy="914400"/>
          </a:xfrm>
          <a:prstGeom prst="rect">
            <a:avLst/>
          </a:prstGeom>
          <a:solidFill>
            <a:srgbClr val="1A2744"/>
          </a:solidFill>
          <a:ln/>
        </p:spPr>
        <p:txBody>
          <a:bodyPr/>
          <a:lstStyle/>
          <a:p>
            <a:endParaRPr lang="ko-KR" altLang="en-US"/>
          </a:p>
        </p:txBody>
      </p:sp>
      <p:pic>
        <p:nvPicPr>
          <p:cNvPr id="13" name="Image 2" descr="preencoded.png"/>
          <p:cNvPicPr>
            <a:picLocks noChangeAspect="1"/>
          </p:cNvPicPr>
          <p:nvPr/>
        </p:nvPicPr>
        <p:blipFill>
          <a:blip r:embed="rId5"/>
          <a:stretch>
            <a:fillRect/>
          </a:stretch>
        </p:blipFill>
        <p:spPr>
          <a:xfrm>
            <a:off x="822960" y="4069080"/>
            <a:ext cx="320040" cy="320040"/>
          </a:xfrm>
          <a:prstGeom prst="rect">
            <a:avLst/>
          </a:prstGeom>
        </p:spPr>
      </p:pic>
      <p:sp>
        <p:nvSpPr>
          <p:cNvPr id="14" name="Text 9"/>
          <p:cNvSpPr/>
          <p:nvPr/>
        </p:nvSpPr>
        <p:spPr>
          <a:xfrm>
            <a:off x="1280160" y="3931920"/>
            <a:ext cx="6858000" cy="502920"/>
          </a:xfrm>
          <a:prstGeom prst="rect">
            <a:avLst/>
          </a:prstGeom>
          <a:noFill/>
          <a:ln/>
        </p:spPr>
        <p:txBody>
          <a:bodyPr wrap="square" lIns="0" tIns="0" rIns="0" bIns="0" rtlCol="0" anchor="ctr"/>
          <a:lstStyle/>
          <a:p>
            <a:pPr marL="0" indent="0">
              <a:buNone/>
            </a:pPr>
            <a:r>
              <a:rPr lang="en-US" sz="1400" b="1" dirty="0">
                <a:solidFill>
                  <a:srgbClr val="FFFFFF"/>
                </a:solidFill>
                <a:latin typeface="Noto Sans KR" pitchFamily="34" charset="0"/>
                <a:ea typeface="Noto Sans KR" pitchFamily="34" charset="-122"/>
                <a:cs typeface="Noto Sans KR" pitchFamily="34" charset="-120"/>
              </a:rPr>
              <a:t>핵심 쟁점: '문화 적합성'이라는 기준이 다양성을 배제하는 도구로 사용되고 있는가?</a:t>
            </a:r>
            <a:endParaRPr lang="en-US" sz="1400" dirty="0"/>
          </a:p>
        </p:txBody>
      </p:sp>
      <p:sp>
        <p:nvSpPr>
          <p:cNvPr id="15" name="Text 10"/>
          <p:cNvSpPr/>
          <p:nvPr/>
        </p:nvSpPr>
        <p:spPr>
          <a:xfrm>
            <a:off x="1280160" y="4434840"/>
            <a:ext cx="6858000" cy="320040"/>
          </a:xfrm>
          <a:prstGeom prst="rect">
            <a:avLst/>
          </a:prstGeom>
          <a:noFill/>
          <a:ln/>
        </p:spPr>
        <p:txBody>
          <a:bodyPr wrap="square" lIns="0" tIns="0" rIns="0" bIns="0" rtlCol="0" anchor="ctr"/>
          <a:lstStyle/>
          <a:p>
            <a:pPr marL="0" indent="0">
              <a:buNone/>
            </a:pPr>
            <a:r>
              <a:rPr lang="en-US" sz="1200" dirty="0">
                <a:solidFill>
                  <a:srgbClr val="CADCFC"/>
                </a:solidFill>
                <a:latin typeface="Noto Sans KR" pitchFamily="34" charset="0"/>
                <a:ea typeface="Noto Sans KR" pitchFamily="34" charset="-122"/>
                <a:cs typeface="Noto Sans KR" pitchFamily="34" charset="-120"/>
              </a:rPr>
              <a:t>옹호론: 다양한 배경의 사람과 일하도록 해야 하며, "문화"를 핑계로 쓰기 쉽다</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2744"/>
          </a:solidFill>
          <a:ln/>
        </p:spPr>
        <p:txBody>
          <a:bodyPr/>
          <a:lstStyle/>
          <a:p>
            <a:endParaRPr lang="ko-KR" altLang="en-US"/>
          </a:p>
        </p:txBody>
      </p:sp>
      <p:sp>
        <p:nvSpPr>
          <p:cNvPr id="3" name="Text 1"/>
          <p:cNvSpPr/>
          <p:nvPr/>
        </p:nvSpPr>
        <p:spPr>
          <a:xfrm>
            <a:off x="640080" y="228600"/>
            <a:ext cx="1828800" cy="320040"/>
          </a:xfrm>
          <a:prstGeom prst="rect">
            <a:avLst/>
          </a:prstGeom>
          <a:noFill/>
          <a:ln/>
        </p:spPr>
        <p:txBody>
          <a:bodyPr wrap="square" lIns="0" tIns="0" rIns="0" bIns="0" rtlCol="0" anchor="ctr"/>
          <a:lstStyle/>
          <a:p>
            <a:pPr marL="0" indent="0">
              <a:buNone/>
            </a:pPr>
            <a:r>
              <a:rPr lang="en-US" sz="1200" b="1" dirty="0">
                <a:solidFill>
                  <a:srgbClr val="1A2744"/>
                </a:solidFill>
                <a:latin typeface="Noto Sans KR" pitchFamily="34" charset="0"/>
                <a:ea typeface="Noto Sans KR" pitchFamily="34" charset="-122"/>
                <a:cs typeface="Noto Sans KR" pitchFamily="34" charset="-120"/>
              </a:rPr>
              <a:t>후보 2</a:t>
            </a:r>
            <a:endParaRPr lang="en-US" sz="1200" dirty="0"/>
          </a:p>
        </p:txBody>
      </p:sp>
      <p:sp>
        <p:nvSpPr>
          <p:cNvPr id="4" name="Text 2"/>
          <p:cNvSpPr/>
          <p:nvPr/>
        </p:nvSpPr>
        <p:spPr>
          <a:xfrm>
            <a:off x="640080" y="502920"/>
            <a:ext cx="7315200" cy="457200"/>
          </a:xfrm>
          <a:prstGeom prst="rect">
            <a:avLst/>
          </a:prstGeom>
          <a:noFill/>
          <a:ln/>
        </p:spPr>
        <p:txBody>
          <a:bodyPr wrap="square" lIns="0" tIns="0" rIns="0" bIns="0" rtlCol="0" anchor="ctr"/>
          <a:lstStyle/>
          <a:p>
            <a:pPr marL="0" indent="0">
              <a:buNone/>
            </a:pPr>
            <a:r>
              <a:rPr lang="en-US" sz="2400" b="1" dirty="0">
                <a:solidFill>
                  <a:srgbClr val="1A2744"/>
                </a:solidFill>
                <a:latin typeface="Noto Sans KR" pitchFamily="34" charset="0"/>
                <a:ea typeface="Noto Sans KR" pitchFamily="34" charset="-122"/>
                <a:cs typeface="Noto Sans KR" pitchFamily="34" charset="-120"/>
              </a:rPr>
              <a:t>마틴 스트리트 (Martin Street)</a:t>
            </a:r>
            <a:endParaRPr lang="en-US" sz="2400" dirty="0"/>
          </a:p>
        </p:txBody>
      </p:sp>
      <p:sp>
        <p:nvSpPr>
          <p:cNvPr id="5" name="Text 3"/>
          <p:cNvSpPr/>
          <p:nvPr/>
        </p:nvSpPr>
        <p:spPr>
          <a:xfrm>
            <a:off x="640080" y="914400"/>
            <a:ext cx="7315200" cy="274320"/>
          </a:xfrm>
          <a:prstGeom prst="rect">
            <a:avLst/>
          </a:prstGeom>
          <a:noFill/>
          <a:ln/>
        </p:spPr>
        <p:txBody>
          <a:bodyPr wrap="square" lIns="0" tIns="0" rIns="0" bIns="0" rtlCol="0" anchor="ctr"/>
          <a:lstStyle/>
          <a:p>
            <a:pPr marL="0" indent="0">
              <a:buNone/>
            </a:pPr>
            <a:r>
              <a:rPr lang="en-US" sz="1300" dirty="0">
                <a:solidFill>
                  <a:srgbClr val="8A98AD"/>
                </a:solidFill>
                <a:latin typeface="Noto Sans KR" pitchFamily="34" charset="0"/>
                <a:ea typeface="Noto Sans KR" pitchFamily="34" charset="-122"/>
                <a:cs typeface="Noto Sans KR" pitchFamily="34" charset="-120"/>
              </a:rPr>
              <a:t>와튼 MBA  |  군 복무 4년  |  보스니아 구조작전 지휘</a:t>
            </a:r>
            <a:endParaRPr lang="en-US" sz="1300" dirty="0"/>
          </a:p>
        </p:txBody>
      </p:sp>
      <p:pic>
        <p:nvPicPr>
          <p:cNvPr id="6" name="Image 0" descr="preencoded.png"/>
          <p:cNvPicPr>
            <a:picLocks noChangeAspect="1"/>
          </p:cNvPicPr>
          <p:nvPr/>
        </p:nvPicPr>
        <p:blipFill>
          <a:blip r:embed="rId3"/>
          <a:stretch>
            <a:fillRect/>
          </a:stretch>
        </p:blipFill>
        <p:spPr>
          <a:xfrm>
            <a:off x="640080" y="1371600"/>
            <a:ext cx="274320" cy="274320"/>
          </a:xfrm>
          <a:prstGeom prst="rect">
            <a:avLst/>
          </a:prstGeom>
        </p:spPr>
      </p:pic>
      <p:sp>
        <p:nvSpPr>
          <p:cNvPr id="7" name="Text 4"/>
          <p:cNvSpPr/>
          <p:nvPr/>
        </p:nvSpPr>
        <p:spPr>
          <a:xfrm>
            <a:off x="1005840" y="1371600"/>
            <a:ext cx="1828800" cy="274320"/>
          </a:xfrm>
          <a:prstGeom prst="rect">
            <a:avLst/>
          </a:prstGeom>
          <a:noFill/>
          <a:ln/>
        </p:spPr>
        <p:txBody>
          <a:bodyPr wrap="square" lIns="0" tIns="0" rIns="0" bIns="0" rtlCol="0" anchor="ctr"/>
          <a:lstStyle/>
          <a:p>
            <a:pPr marL="0" indent="0">
              <a:buNone/>
            </a:pPr>
            <a:r>
              <a:rPr lang="en-US" sz="1400" b="1" dirty="0">
                <a:solidFill>
                  <a:srgbClr val="3DB07A"/>
                </a:solidFill>
                <a:latin typeface="Noto Sans KR" pitchFamily="34" charset="0"/>
                <a:ea typeface="Noto Sans KR" pitchFamily="34" charset="-122"/>
                <a:cs typeface="Noto Sans KR" pitchFamily="34" charset="-120"/>
              </a:rPr>
              <a:t>강점</a:t>
            </a:r>
            <a:endParaRPr lang="en-US" sz="1400" dirty="0"/>
          </a:p>
        </p:txBody>
      </p:sp>
      <p:sp>
        <p:nvSpPr>
          <p:cNvPr id="8" name="Text 5"/>
          <p:cNvSpPr/>
          <p:nvPr/>
        </p:nvSpPr>
        <p:spPr>
          <a:xfrm>
            <a:off x="640080" y="1737360"/>
            <a:ext cx="3840480" cy="2011680"/>
          </a:xfrm>
          <a:prstGeom prst="rect">
            <a:avLst/>
          </a:prstGeom>
          <a:noFill/>
          <a:ln/>
        </p:spPr>
        <p:txBody>
          <a:bodyPr wrap="square" rtlCol="0" anchor="ctr"/>
          <a:lstStyle/>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와튼 MBA — 최고 수준의 학교 브랜드</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보스니아 구조작전 등 실전 리더십 경험</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섹션 회장, 러닝 클럽 회장 — 강한 리더십</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마라톤 2회, 트라이애슬론 1회 — 근성·자기관리</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역동적, 자신감 있고 명쾌한 커뮤니케이션</a:t>
            </a:r>
            <a:endParaRPr lang="en-US" sz="1200" dirty="0"/>
          </a:p>
        </p:txBody>
      </p:sp>
      <p:pic>
        <p:nvPicPr>
          <p:cNvPr id="9" name="Image 1" descr="preencoded.png"/>
          <p:cNvPicPr>
            <a:picLocks noChangeAspect="1"/>
          </p:cNvPicPr>
          <p:nvPr/>
        </p:nvPicPr>
        <p:blipFill>
          <a:blip r:embed="rId4"/>
          <a:stretch>
            <a:fillRect/>
          </a:stretch>
        </p:blipFill>
        <p:spPr>
          <a:xfrm>
            <a:off x="4846320" y="1371600"/>
            <a:ext cx="274320" cy="274320"/>
          </a:xfrm>
          <a:prstGeom prst="rect">
            <a:avLst/>
          </a:prstGeom>
        </p:spPr>
      </p:pic>
      <p:sp>
        <p:nvSpPr>
          <p:cNvPr id="10" name="Text 6"/>
          <p:cNvSpPr/>
          <p:nvPr/>
        </p:nvSpPr>
        <p:spPr>
          <a:xfrm>
            <a:off x="5212080" y="1371600"/>
            <a:ext cx="1828800" cy="274320"/>
          </a:xfrm>
          <a:prstGeom prst="rect">
            <a:avLst/>
          </a:prstGeom>
          <a:noFill/>
          <a:ln/>
        </p:spPr>
        <p:txBody>
          <a:bodyPr wrap="square" lIns="0" tIns="0" rIns="0" bIns="0" rtlCol="0" anchor="ctr"/>
          <a:lstStyle/>
          <a:p>
            <a:pPr marL="0" indent="0">
              <a:buNone/>
            </a:pPr>
            <a:r>
              <a:rPr lang="en-US" sz="1400" b="1" dirty="0">
                <a:solidFill>
                  <a:srgbClr val="E85D5D"/>
                </a:solidFill>
                <a:latin typeface="Noto Sans KR" pitchFamily="34" charset="0"/>
                <a:ea typeface="Noto Sans KR" pitchFamily="34" charset="-122"/>
                <a:cs typeface="Noto Sans KR" pitchFamily="34" charset="-120"/>
              </a:rPr>
              <a:t>우려 사항</a:t>
            </a:r>
            <a:endParaRPr lang="en-US" sz="1400" dirty="0"/>
          </a:p>
        </p:txBody>
      </p:sp>
      <p:sp>
        <p:nvSpPr>
          <p:cNvPr id="11" name="Text 7"/>
          <p:cNvSpPr/>
          <p:nvPr/>
        </p:nvSpPr>
        <p:spPr>
          <a:xfrm>
            <a:off x="4846320" y="1737360"/>
            <a:ext cx="3840480" cy="2011680"/>
          </a:xfrm>
          <a:prstGeom prst="rect">
            <a:avLst/>
          </a:prstGeom>
          <a:noFill/>
          <a:ln/>
        </p:spPr>
        <p:txBody>
          <a:bodyPr wrap="square" rtlCol="0" anchor="ctr"/>
          <a:lstStyle/>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비즈니스/금융 경험 전무</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와튼 성적 확인 불가 (학교 규칙)</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SG 코웬은 와튼 채용 시기가 늦어 차선 인재 우려</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다른 회사 채용 행사에 지속 참여 → 충성도 의문</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오퍼 수락 가능성 불확실</a:t>
            </a:r>
            <a:endParaRPr lang="en-US" sz="1200" dirty="0"/>
          </a:p>
        </p:txBody>
      </p:sp>
      <p:sp>
        <p:nvSpPr>
          <p:cNvPr id="12" name="Shape 8"/>
          <p:cNvSpPr/>
          <p:nvPr/>
        </p:nvSpPr>
        <p:spPr>
          <a:xfrm>
            <a:off x="640080" y="3931920"/>
            <a:ext cx="7863840" cy="914400"/>
          </a:xfrm>
          <a:prstGeom prst="rect">
            <a:avLst/>
          </a:prstGeom>
          <a:solidFill>
            <a:srgbClr val="1A2744"/>
          </a:solidFill>
          <a:ln/>
        </p:spPr>
        <p:txBody>
          <a:bodyPr/>
          <a:lstStyle/>
          <a:p>
            <a:endParaRPr lang="ko-KR" altLang="en-US"/>
          </a:p>
        </p:txBody>
      </p:sp>
      <p:pic>
        <p:nvPicPr>
          <p:cNvPr id="13" name="Image 2" descr="preencoded.png"/>
          <p:cNvPicPr>
            <a:picLocks noChangeAspect="1"/>
          </p:cNvPicPr>
          <p:nvPr/>
        </p:nvPicPr>
        <p:blipFill>
          <a:blip r:embed="rId5"/>
          <a:stretch>
            <a:fillRect/>
          </a:stretch>
        </p:blipFill>
        <p:spPr>
          <a:xfrm>
            <a:off x="822960" y="4069080"/>
            <a:ext cx="320040" cy="320040"/>
          </a:xfrm>
          <a:prstGeom prst="rect">
            <a:avLst/>
          </a:prstGeom>
        </p:spPr>
      </p:pic>
      <p:sp>
        <p:nvSpPr>
          <p:cNvPr id="14" name="Text 9"/>
          <p:cNvSpPr/>
          <p:nvPr/>
        </p:nvSpPr>
        <p:spPr>
          <a:xfrm>
            <a:off x="1280160" y="3931920"/>
            <a:ext cx="6858000" cy="502920"/>
          </a:xfrm>
          <a:prstGeom prst="rect">
            <a:avLst/>
          </a:prstGeom>
          <a:noFill/>
          <a:ln/>
        </p:spPr>
        <p:txBody>
          <a:bodyPr wrap="square" lIns="0" tIns="0" rIns="0" bIns="0" rtlCol="0" anchor="ctr"/>
          <a:lstStyle/>
          <a:p>
            <a:pPr marL="0" indent="0">
              <a:buNone/>
            </a:pPr>
            <a:r>
              <a:rPr lang="en-US" sz="1400" b="1" dirty="0">
                <a:solidFill>
                  <a:srgbClr val="FFFFFF"/>
                </a:solidFill>
                <a:latin typeface="Noto Sans KR" pitchFamily="34" charset="0"/>
                <a:ea typeface="Noto Sans KR" pitchFamily="34" charset="-122"/>
                <a:cs typeface="Noto Sans KR" pitchFamily="34" charset="-120"/>
              </a:rPr>
              <a:t>핵심 쟁점: '학교 브랜드'와 '수락 가능성'이 채용 결정에 어느 정도 영향을 미쳐야 하는가?</a:t>
            </a:r>
            <a:endParaRPr lang="en-US" sz="1400" dirty="0"/>
          </a:p>
        </p:txBody>
      </p:sp>
      <p:sp>
        <p:nvSpPr>
          <p:cNvPr id="15" name="Text 10"/>
          <p:cNvSpPr/>
          <p:nvPr/>
        </p:nvSpPr>
        <p:spPr>
          <a:xfrm>
            <a:off x="1280160" y="4434840"/>
            <a:ext cx="6858000" cy="320040"/>
          </a:xfrm>
          <a:prstGeom prst="rect">
            <a:avLst/>
          </a:prstGeom>
          <a:noFill/>
          <a:ln/>
        </p:spPr>
        <p:txBody>
          <a:bodyPr wrap="square" lIns="0" tIns="0" rIns="0" bIns="0" rtlCol="0" anchor="ctr"/>
          <a:lstStyle/>
          <a:p>
            <a:pPr marL="0" indent="0">
              <a:buNone/>
            </a:pPr>
            <a:r>
              <a:rPr lang="en-US" sz="1200" dirty="0">
                <a:solidFill>
                  <a:srgbClr val="CADCFC"/>
                </a:solidFill>
                <a:latin typeface="Noto Sans KR" pitchFamily="34" charset="0"/>
                <a:ea typeface="Noto Sans KR" pitchFamily="34" charset="-122"/>
                <a:cs typeface="Noto Sans KR" pitchFamily="34" charset="-120"/>
              </a:rPr>
              <a:t>리더십은 뛰어나지만, 투자은행에서의 실질적 성과를 예측하기 어려운 프로필</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B"/>
          </a:solidFill>
          <a:ln/>
        </p:spPr>
        <p:txBody>
          <a:bodyPr/>
          <a:lstStyle/>
          <a:p>
            <a:endParaRPr lang="ko-KR" altLang="en-US"/>
          </a:p>
        </p:txBody>
      </p:sp>
      <p:sp>
        <p:nvSpPr>
          <p:cNvPr id="3" name="Text 1"/>
          <p:cNvSpPr/>
          <p:nvPr/>
        </p:nvSpPr>
        <p:spPr>
          <a:xfrm>
            <a:off x="640080" y="228600"/>
            <a:ext cx="1828800" cy="320040"/>
          </a:xfrm>
          <a:prstGeom prst="rect">
            <a:avLst/>
          </a:prstGeom>
          <a:noFill/>
          <a:ln/>
        </p:spPr>
        <p:txBody>
          <a:bodyPr wrap="square" lIns="0" tIns="0" rIns="0" bIns="0" rtlCol="0" anchor="ctr"/>
          <a:lstStyle/>
          <a:p>
            <a:pPr marL="0" indent="0">
              <a:buNone/>
            </a:pPr>
            <a:r>
              <a:rPr lang="en-US" sz="1200" b="1" dirty="0">
                <a:solidFill>
                  <a:srgbClr val="D4A84B"/>
                </a:solidFill>
                <a:latin typeface="Noto Sans KR" pitchFamily="34" charset="0"/>
                <a:ea typeface="Noto Sans KR" pitchFamily="34" charset="-122"/>
                <a:cs typeface="Noto Sans KR" pitchFamily="34" charset="-120"/>
              </a:rPr>
              <a:t>후보 3</a:t>
            </a:r>
            <a:endParaRPr lang="en-US" sz="1200" dirty="0"/>
          </a:p>
        </p:txBody>
      </p:sp>
      <p:sp>
        <p:nvSpPr>
          <p:cNvPr id="4" name="Text 2"/>
          <p:cNvSpPr/>
          <p:nvPr/>
        </p:nvSpPr>
        <p:spPr>
          <a:xfrm>
            <a:off x="640080" y="502920"/>
            <a:ext cx="7315200" cy="457200"/>
          </a:xfrm>
          <a:prstGeom prst="rect">
            <a:avLst/>
          </a:prstGeom>
          <a:noFill/>
          <a:ln/>
        </p:spPr>
        <p:txBody>
          <a:bodyPr wrap="square" lIns="0" tIns="0" rIns="0" bIns="0" rtlCol="0" anchor="ctr"/>
          <a:lstStyle/>
          <a:p>
            <a:pPr marL="0" indent="0">
              <a:buNone/>
            </a:pPr>
            <a:r>
              <a:rPr lang="en-US" sz="2400" b="1" dirty="0">
                <a:solidFill>
                  <a:srgbClr val="1A2744"/>
                </a:solidFill>
                <a:latin typeface="Noto Sans KR" pitchFamily="34" charset="0"/>
                <a:ea typeface="Noto Sans KR" pitchFamily="34" charset="-122"/>
                <a:cs typeface="Noto Sans KR" pitchFamily="34" charset="-120"/>
              </a:rPr>
              <a:t>켄 골드스틴 (Ken Goldstein)</a:t>
            </a:r>
            <a:endParaRPr lang="en-US" sz="2400" dirty="0"/>
          </a:p>
        </p:txBody>
      </p:sp>
      <p:sp>
        <p:nvSpPr>
          <p:cNvPr id="5" name="Text 3"/>
          <p:cNvSpPr/>
          <p:nvPr/>
        </p:nvSpPr>
        <p:spPr>
          <a:xfrm>
            <a:off x="640080" y="914400"/>
            <a:ext cx="7315200" cy="274320"/>
          </a:xfrm>
          <a:prstGeom prst="rect">
            <a:avLst/>
          </a:prstGeom>
          <a:noFill/>
          <a:ln/>
        </p:spPr>
        <p:txBody>
          <a:bodyPr wrap="square" lIns="0" tIns="0" rIns="0" bIns="0" rtlCol="0" anchor="ctr"/>
          <a:lstStyle/>
          <a:p>
            <a:pPr marL="0" indent="0">
              <a:buNone/>
            </a:pPr>
            <a:r>
              <a:rPr lang="en-US" sz="1300" dirty="0">
                <a:solidFill>
                  <a:srgbClr val="8A98AD"/>
                </a:solidFill>
                <a:latin typeface="Noto Sans KR" pitchFamily="34" charset="0"/>
                <a:ea typeface="Noto Sans KR" pitchFamily="34" charset="-122"/>
                <a:cs typeface="Noto Sans KR" pitchFamily="34" charset="-120"/>
              </a:rPr>
              <a:t>버클리 MBA  |  PwC 5년 (상위 5%)  |  기혼, 두 아들</a:t>
            </a:r>
            <a:endParaRPr lang="en-US" sz="1300" dirty="0"/>
          </a:p>
        </p:txBody>
      </p:sp>
      <p:pic>
        <p:nvPicPr>
          <p:cNvPr id="6" name="Image 0" descr="preencoded.png"/>
          <p:cNvPicPr>
            <a:picLocks noChangeAspect="1"/>
          </p:cNvPicPr>
          <p:nvPr/>
        </p:nvPicPr>
        <p:blipFill>
          <a:blip r:embed="rId3"/>
          <a:stretch>
            <a:fillRect/>
          </a:stretch>
        </p:blipFill>
        <p:spPr>
          <a:xfrm>
            <a:off x="640080" y="1371600"/>
            <a:ext cx="274320" cy="274320"/>
          </a:xfrm>
          <a:prstGeom prst="rect">
            <a:avLst/>
          </a:prstGeom>
        </p:spPr>
      </p:pic>
      <p:sp>
        <p:nvSpPr>
          <p:cNvPr id="7" name="Text 4"/>
          <p:cNvSpPr/>
          <p:nvPr/>
        </p:nvSpPr>
        <p:spPr>
          <a:xfrm>
            <a:off x="1005840" y="1371600"/>
            <a:ext cx="1828800" cy="274320"/>
          </a:xfrm>
          <a:prstGeom prst="rect">
            <a:avLst/>
          </a:prstGeom>
          <a:noFill/>
          <a:ln/>
        </p:spPr>
        <p:txBody>
          <a:bodyPr wrap="square" lIns="0" tIns="0" rIns="0" bIns="0" rtlCol="0" anchor="ctr"/>
          <a:lstStyle/>
          <a:p>
            <a:pPr marL="0" indent="0">
              <a:buNone/>
            </a:pPr>
            <a:r>
              <a:rPr lang="en-US" sz="1400" b="1" dirty="0">
                <a:solidFill>
                  <a:srgbClr val="3DB07A"/>
                </a:solidFill>
                <a:latin typeface="Noto Sans KR" pitchFamily="34" charset="0"/>
                <a:ea typeface="Noto Sans KR" pitchFamily="34" charset="-122"/>
                <a:cs typeface="Noto Sans KR" pitchFamily="34" charset="-120"/>
              </a:rPr>
              <a:t>강점</a:t>
            </a:r>
            <a:endParaRPr lang="en-US" sz="1400" dirty="0"/>
          </a:p>
        </p:txBody>
      </p:sp>
      <p:sp>
        <p:nvSpPr>
          <p:cNvPr id="8" name="Text 5"/>
          <p:cNvSpPr/>
          <p:nvPr/>
        </p:nvSpPr>
        <p:spPr>
          <a:xfrm>
            <a:off x="640080" y="1737360"/>
            <a:ext cx="3840480" cy="2011680"/>
          </a:xfrm>
          <a:prstGeom prst="rect">
            <a:avLst/>
          </a:prstGeom>
          <a:noFill/>
          <a:ln/>
        </p:spPr>
        <p:txBody>
          <a:bodyPr wrap="square" rtlCol="0" anchor="ctr"/>
          <a:lstStyle/>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PwC 성과 평가 상위 5% — 객관적으로 검증된 역량</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빠른 매니저 승진, 여러 감사 팀 동시 관리</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프로젝트 예산·가격 책정·사업 수주 경험</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모든 면접관이 호감 — 서면 코멘트 한결같이 긍정적</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SG 코웬을 잘 대표할 인물이라는 평가</a:t>
            </a:r>
            <a:endParaRPr lang="en-US" sz="1200" dirty="0"/>
          </a:p>
        </p:txBody>
      </p:sp>
      <p:pic>
        <p:nvPicPr>
          <p:cNvPr id="9" name="Image 1" descr="preencoded.png"/>
          <p:cNvPicPr>
            <a:picLocks noChangeAspect="1"/>
          </p:cNvPicPr>
          <p:nvPr/>
        </p:nvPicPr>
        <p:blipFill>
          <a:blip r:embed="rId4"/>
          <a:stretch>
            <a:fillRect/>
          </a:stretch>
        </p:blipFill>
        <p:spPr>
          <a:xfrm>
            <a:off x="4846320" y="1371600"/>
            <a:ext cx="274320" cy="274320"/>
          </a:xfrm>
          <a:prstGeom prst="rect">
            <a:avLst/>
          </a:prstGeom>
        </p:spPr>
      </p:pic>
      <p:sp>
        <p:nvSpPr>
          <p:cNvPr id="10" name="Text 6"/>
          <p:cNvSpPr/>
          <p:nvPr/>
        </p:nvSpPr>
        <p:spPr>
          <a:xfrm>
            <a:off x="5212080" y="1371600"/>
            <a:ext cx="1828800" cy="274320"/>
          </a:xfrm>
          <a:prstGeom prst="rect">
            <a:avLst/>
          </a:prstGeom>
          <a:noFill/>
          <a:ln/>
        </p:spPr>
        <p:txBody>
          <a:bodyPr wrap="square" lIns="0" tIns="0" rIns="0" bIns="0" rtlCol="0" anchor="ctr"/>
          <a:lstStyle/>
          <a:p>
            <a:pPr marL="0" indent="0">
              <a:buNone/>
            </a:pPr>
            <a:r>
              <a:rPr lang="en-US" sz="1400" b="1" dirty="0">
                <a:solidFill>
                  <a:srgbClr val="E85D5D"/>
                </a:solidFill>
                <a:latin typeface="Noto Sans KR" pitchFamily="34" charset="0"/>
                <a:ea typeface="Noto Sans KR" pitchFamily="34" charset="-122"/>
                <a:cs typeface="Noto Sans KR" pitchFamily="34" charset="-120"/>
              </a:rPr>
              <a:t>우려 사항</a:t>
            </a:r>
            <a:endParaRPr lang="en-US" sz="1400" dirty="0"/>
          </a:p>
        </p:txBody>
      </p:sp>
      <p:sp>
        <p:nvSpPr>
          <p:cNvPr id="11" name="Text 7"/>
          <p:cNvSpPr/>
          <p:nvPr/>
        </p:nvSpPr>
        <p:spPr>
          <a:xfrm>
            <a:off x="4846320" y="1737360"/>
            <a:ext cx="3840480" cy="1828800"/>
          </a:xfrm>
          <a:prstGeom prst="rect">
            <a:avLst/>
          </a:prstGeom>
          <a:noFill/>
          <a:ln/>
        </p:spPr>
        <p:txBody>
          <a:bodyPr wrap="square" rtlCol="0" anchor="ctr"/>
          <a:lstStyle/>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신생아 + 두 살짜리 → 주 7일 24시간 근무 의지?</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"켄이 사생활을 가지면 다른 1년차는 어떻게?"</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"너무 성숙하다" — 지시를 따르기 싫어할 수 있음</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주도하는 데 익숙한 사람이 하급 역할에 적응 가능?</a:t>
            </a:r>
            <a:endParaRPr lang="en-US" sz="1200" dirty="0"/>
          </a:p>
        </p:txBody>
      </p:sp>
      <p:sp>
        <p:nvSpPr>
          <p:cNvPr id="12" name="Shape 8"/>
          <p:cNvSpPr/>
          <p:nvPr/>
        </p:nvSpPr>
        <p:spPr>
          <a:xfrm>
            <a:off x="640080" y="3931920"/>
            <a:ext cx="7863840" cy="914400"/>
          </a:xfrm>
          <a:prstGeom prst="rect">
            <a:avLst/>
          </a:prstGeom>
          <a:solidFill>
            <a:srgbClr val="1A2744"/>
          </a:solidFill>
          <a:ln/>
        </p:spPr>
        <p:txBody>
          <a:bodyPr/>
          <a:lstStyle/>
          <a:p>
            <a:endParaRPr lang="ko-KR" altLang="en-US"/>
          </a:p>
        </p:txBody>
      </p:sp>
      <p:pic>
        <p:nvPicPr>
          <p:cNvPr id="13" name="Image 2" descr="preencoded.png"/>
          <p:cNvPicPr>
            <a:picLocks noChangeAspect="1"/>
          </p:cNvPicPr>
          <p:nvPr/>
        </p:nvPicPr>
        <p:blipFill>
          <a:blip r:embed="rId5"/>
          <a:stretch>
            <a:fillRect/>
          </a:stretch>
        </p:blipFill>
        <p:spPr>
          <a:xfrm>
            <a:off x="822960" y="4069080"/>
            <a:ext cx="320040" cy="320040"/>
          </a:xfrm>
          <a:prstGeom prst="rect">
            <a:avLst/>
          </a:prstGeom>
        </p:spPr>
      </p:pic>
      <p:sp>
        <p:nvSpPr>
          <p:cNvPr id="14" name="Text 9"/>
          <p:cNvSpPr/>
          <p:nvPr/>
        </p:nvSpPr>
        <p:spPr>
          <a:xfrm>
            <a:off x="1280160" y="3931920"/>
            <a:ext cx="6858000" cy="502920"/>
          </a:xfrm>
          <a:prstGeom prst="rect">
            <a:avLst/>
          </a:prstGeom>
          <a:noFill/>
          <a:ln/>
        </p:spPr>
        <p:txBody>
          <a:bodyPr wrap="square" lIns="0" tIns="0" rIns="0" bIns="0" rtlCol="0" anchor="ctr"/>
          <a:lstStyle/>
          <a:p>
            <a:pPr marL="0" indent="0">
              <a:buNone/>
            </a:pPr>
            <a:r>
              <a:rPr lang="en-US" sz="1400" b="1" dirty="0">
                <a:solidFill>
                  <a:srgbClr val="FFFFFF"/>
                </a:solidFill>
                <a:latin typeface="Noto Sans KR" pitchFamily="34" charset="0"/>
                <a:ea typeface="Noto Sans KR" pitchFamily="34" charset="-122"/>
                <a:cs typeface="Noto Sans KR" pitchFamily="34" charset="-120"/>
              </a:rPr>
              <a:t>핵심 쟁점: 개인의 생활 상황(가정)이 채용 결정의 합법적 기준이 될 수 있는가?</a:t>
            </a:r>
            <a:endParaRPr lang="en-US" sz="1400" dirty="0"/>
          </a:p>
        </p:txBody>
      </p:sp>
      <p:sp>
        <p:nvSpPr>
          <p:cNvPr id="15" name="Text 10"/>
          <p:cNvSpPr/>
          <p:nvPr/>
        </p:nvSpPr>
        <p:spPr>
          <a:xfrm>
            <a:off x="1280160" y="4434840"/>
            <a:ext cx="6858000" cy="320040"/>
          </a:xfrm>
          <a:prstGeom prst="rect">
            <a:avLst/>
          </a:prstGeom>
          <a:noFill/>
          <a:ln/>
        </p:spPr>
        <p:txBody>
          <a:bodyPr wrap="square" lIns="0" tIns="0" rIns="0" bIns="0" rtlCol="0" anchor="ctr"/>
          <a:lstStyle/>
          <a:p>
            <a:pPr marL="0" indent="0">
              <a:buNone/>
            </a:pPr>
            <a:r>
              <a:rPr lang="en-US" sz="1200" dirty="0">
                <a:solidFill>
                  <a:srgbClr val="CADCFC"/>
                </a:solidFill>
                <a:latin typeface="Noto Sans KR" pitchFamily="34" charset="0"/>
                <a:ea typeface="Noto Sans KR" pitchFamily="34" charset="-122"/>
                <a:cs typeface="Noto Sans KR" pitchFamily="34" charset="-120"/>
              </a:rPr>
              <a:t>모든 면접관이 호감인데, "말하기 두려운" 이유로 보류 — 무의식적 편견의 전형</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5D5D"/>
          </a:solidFill>
          <a:ln/>
        </p:spPr>
        <p:txBody>
          <a:bodyPr/>
          <a:lstStyle/>
          <a:p>
            <a:endParaRPr lang="ko-KR" altLang="en-US"/>
          </a:p>
        </p:txBody>
      </p:sp>
      <p:sp>
        <p:nvSpPr>
          <p:cNvPr id="3" name="Text 1"/>
          <p:cNvSpPr/>
          <p:nvPr/>
        </p:nvSpPr>
        <p:spPr>
          <a:xfrm>
            <a:off x="640080" y="228600"/>
            <a:ext cx="1828800" cy="320040"/>
          </a:xfrm>
          <a:prstGeom prst="rect">
            <a:avLst/>
          </a:prstGeom>
          <a:noFill/>
          <a:ln/>
        </p:spPr>
        <p:txBody>
          <a:bodyPr wrap="square" lIns="0" tIns="0" rIns="0" bIns="0" rtlCol="0" anchor="ctr"/>
          <a:lstStyle/>
          <a:p>
            <a:pPr marL="0" indent="0">
              <a:buNone/>
            </a:pPr>
            <a:r>
              <a:rPr lang="en-US" sz="1200" b="1" dirty="0">
                <a:solidFill>
                  <a:srgbClr val="E85D5D"/>
                </a:solidFill>
                <a:latin typeface="Noto Sans KR" pitchFamily="34" charset="0"/>
                <a:ea typeface="Noto Sans KR" pitchFamily="34" charset="-122"/>
                <a:cs typeface="Noto Sans KR" pitchFamily="34" charset="-120"/>
              </a:rPr>
              <a:t>후보 4</a:t>
            </a:r>
            <a:endParaRPr lang="en-US" sz="1200" dirty="0"/>
          </a:p>
        </p:txBody>
      </p:sp>
      <p:sp>
        <p:nvSpPr>
          <p:cNvPr id="4" name="Text 2"/>
          <p:cNvSpPr/>
          <p:nvPr/>
        </p:nvSpPr>
        <p:spPr>
          <a:xfrm>
            <a:off x="640080" y="502920"/>
            <a:ext cx="7315200" cy="457200"/>
          </a:xfrm>
          <a:prstGeom prst="rect">
            <a:avLst/>
          </a:prstGeom>
          <a:noFill/>
          <a:ln/>
        </p:spPr>
        <p:txBody>
          <a:bodyPr wrap="square" lIns="0" tIns="0" rIns="0" bIns="0" rtlCol="0" anchor="ctr"/>
          <a:lstStyle/>
          <a:p>
            <a:pPr marL="0" indent="0">
              <a:buNone/>
            </a:pPr>
            <a:r>
              <a:rPr lang="en-US" sz="2400" b="1" dirty="0">
                <a:solidFill>
                  <a:srgbClr val="1A2744"/>
                </a:solidFill>
                <a:latin typeface="Noto Sans KR" pitchFamily="34" charset="0"/>
                <a:ea typeface="Noto Sans KR" pitchFamily="34" charset="-122"/>
                <a:cs typeface="Noto Sans KR" pitchFamily="34" charset="-120"/>
              </a:rPr>
              <a:t>앤디 산체스 (Andy Sanchez)</a:t>
            </a:r>
            <a:endParaRPr lang="en-US" sz="2400" dirty="0"/>
          </a:p>
        </p:txBody>
      </p:sp>
      <p:sp>
        <p:nvSpPr>
          <p:cNvPr id="5" name="Text 3"/>
          <p:cNvSpPr/>
          <p:nvPr/>
        </p:nvSpPr>
        <p:spPr>
          <a:xfrm>
            <a:off x="640080" y="914400"/>
            <a:ext cx="7315200" cy="274320"/>
          </a:xfrm>
          <a:prstGeom prst="rect">
            <a:avLst/>
          </a:prstGeom>
          <a:noFill/>
          <a:ln/>
        </p:spPr>
        <p:txBody>
          <a:bodyPr wrap="square" lIns="0" tIns="0" rIns="0" bIns="0" rtlCol="0" anchor="ctr"/>
          <a:lstStyle/>
          <a:p>
            <a:pPr marL="0" indent="0">
              <a:buNone/>
            </a:pPr>
            <a:r>
              <a:rPr lang="en-US" sz="1300" dirty="0">
                <a:solidFill>
                  <a:srgbClr val="8A98AD"/>
                </a:solidFill>
                <a:latin typeface="Noto Sans KR" pitchFamily="34" charset="0"/>
                <a:ea typeface="Noto Sans KR" pitchFamily="34" charset="-122"/>
                <a:cs typeface="Noto Sans KR" pitchFamily="34" charset="-120"/>
              </a:rPr>
              <a:t>USC MBA  |  UCLA 경제학  |  교육 사업 창업·운영</a:t>
            </a:r>
            <a:endParaRPr lang="en-US" sz="1300" dirty="0"/>
          </a:p>
        </p:txBody>
      </p:sp>
      <p:pic>
        <p:nvPicPr>
          <p:cNvPr id="6" name="Image 0" descr="preencoded.png"/>
          <p:cNvPicPr>
            <a:picLocks noChangeAspect="1"/>
          </p:cNvPicPr>
          <p:nvPr/>
        </p:nvPicPr>
        <p:blipFill>
          <a:blip r:embed="rId3"/>
          <a:stretch>
            <a:fillRect/>
          </a:stretch>
        </p:blipFill>
        <p:spPr>
          <a:xfrm>
            <a:off x="640080" y="1371600"/>
            <a:ext cx="274320" cy="274320"/>
          </a:xfrm>
          <a:prstGeom prst="rect">
            <a:avLst/>
          </a:prstGeom>
        </p:spPr>
      </p:pic>
      <p:sp>
        <p:nvSpPr>
          <p:cNvPr id="7" name="Text 4"/>
          <p:cNvSpPr/>
          <p:nvPr/>
        </p:nvSpPr>
        <p:spPr>
          <a:xfrm>
            <a:off x="1005840" y="1371600"/>
            <a:ext cx="1828800" cy="274320"/>
          </a:xfrm>
          <a:prstGeom prst="rect">
            <a:avLst/>
          </a:prstGeom>
          <a:noFill/>
          <a:ln/>
        </p:spPr>
        <p:txBody>
          <a:bodyPr wrap="square" lIns="0" tIns="0" rIns="0" bIns="0" rtlCol="0" anchor="ctr"/>
          <a:lstStyle/>
          <a:p>
            <a:pPr marL="0" indent="0">
              <a:buNone/>
            </a:pPr>
            <a:r>
              <a:rPr lang="en-US" sz="1400" b="1" dirty="0">
                <a:solidFill>
                  <a:srgbClr val="3DB07A"/>
                </a:solidFill>
                <a:latin typeface="Noto Sans KR" pitchFamily="34" charset="0"/>
                <a:ea typeface="Noto Sans KR" pitchFamily="34" charset="-122"/>
                <a:cs typeface="Noto Sans KR" pitchFamily="34" charset="-120"/>
              </a:rPr>
              <a:t>강점</a:t>
            </a:r>
            <a:endParaRPr lang="en-US" sz="1400" dirty="0"/>
          </a:p>
        </p:txBody>
      </p:sp>
      <p:sp>
        <p:nvSpPr>
          <p:cNvPr id="8" name="Text 5"/>
          <p:cNvSpPr/>
          <p:nvPr/>
        </p:nvSpPr>
        <p:spPr>
          <a:xfrm>
            <a:off x="640080" y="1737360"/>
            <a:ext cx="3840480" cy="2011680"/>
          </a:xfrm>
          <a:prstGeom prst="rect">
            <a:avLst/>
          </a:prstGeom>
          <a:noFill/>
          <a:ln/>
        </p:spPr>
        <p:txBody>
          <a:bodyPr wrap="square" rtlCol="0" anchor="ctr"/>
          <a:lstStyle/>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대학 1학년 때 창업, 매출 200만$/이익 40만$ 달성</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4,000명 학생 서비스하는 사업 운영 경험</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열정적, 인간적 — 사람을 편안하게 만드는 능력</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적극적 네트워킹: 정보 면접, 후속 이메일, 사전 조사</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SAT·GMAT 매우 높은 점수 — 지적 역량 검증</a:t>
            </a:r>
            <a:endParaRPr lang="en-US" sz="1200" dirty="0"/>
          </a:p>
        </p:txBody>
      </p:sp>
      <p:pic>
        <p:nvPicPr>
          <p:cNvPr id="9" name="Image 1" descr="preencoded.png"/>
          <p:cNvPicPr>
            <a:picLocks noChangeAspect="1"/>
          </p:cNvPicPr>
          <p:nvPr/>
        </p:nvPicPr>
        <p:blipFill>
          <a:blip r:embed="rId4"/>
          <a:stretch>
            <a:fillRect/>
          </a:stretch>
        </p:blipFill>
        <p:spPr>
          <a:xfrm>
            <a:off x="4846320" y="1371600"/>
            <a:ext cx="274320" cy="274320"/>
          </a:xfrm>
          <a:prstGeom prst="rect">
            <a:avLst/>
          </a:prstGeom>
        </p:spPr>
      </p:pic>
      <p:sp>
        <p:nvSpPr>
          <p:cNvPr id="10" name="Text 6"/>
          <p:cNvSpPr/>
          <p:nvPr/>
        </p:nvSpPr>
        <p:spPr>
          <a:xfrm>
            <a:off x="5212080" y="1371600"/>
            <a:ext cx="1828800" cy="274320"/>
          </a:xfrm>
          <a:prstGeom prst="rect">
            <a:avLst/>
          </a:prstGeom>
          <a:noFill/>
          <a:ln/>
        </p:spPr>
        <p:txBody>
          <a:bodyPr wrap="square" lIns="0" tIns="0" rIns="0" bIns="0" rtlCol="0" anchor="ctr"/>
          <a:lstStyle/>
          <a:p>
            <a:pPr marL="0" indent="0">
              <a:buNone/>
            </a:pPr>
            <a:r>
              <a:rPr lang="en-US" sz="1400" b="1" dirty="0">
                <a:solidFill>
                  <a:srgbClr val="E85D5D"/>
                </a:solidFill>
                <a:latin typeface="Noto Sans KR" pitchFamily="34" charset="0"/>
                <a:ea typeface="Noto Sans KR" pitchFamily="34" charset="-122"/>
                <a:cs typeface="Noto Sans KR" pitchFamily="34" charset="-120"/>
              </a:rPr>
              <a:t>우려 사항</a:t>
            </a:r>
            <a:endParaRPr lang="en-US" sz="1400" dirty="0"/>
          </a:p>
        </p:txBody>
      </p:sp>
      <p:sp>
        <p:nvSpPr>
          <p:cNvPr id="11" name="Text 7"/>
          <p:cNvSpPr/>
          <p:nvPr/>
        </p:nvSpPr>
        <p:spPr>
          <a:xfrm>
            <a:off x="4846320" y="1737360"/>
            <a:ext cx="3840480" cy="2011680"/>
          </a:xfrm>
          <a:prstGeom prst="rect">
            <a:avLst/>
          </a:prstGeom>
          <a:noFill/>
          <a:ln/>
        </p:spPr>
        <p:txBody>
          <a:bodyPr wrap="square" rtlCol="0" anchor="ctr"/>
          <a:lstStyle/>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학부 GPA 2.8 / MBA GPA 3.1</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학점 인플레이션 시대에 많은 C학점</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"로켓 과학자는 아니어도 2.8은 눈에 띈다"</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반론: 낮은 학점 = 사업 운영에 시간 투입</a:t>
            </a:r>
            <a:endParaRPr lang="en-US" sz="1200" dirty="0"/>
          </a:p>
          <a:p>
            <a:pPr marL="342900" indent="-342900">
              <a:lnSpc>
                <a:spcPct val="150000"/>
              </a:lnSpc>
              <a:buSzPct val="100000"/>
              <a:buChar char="•"/>
            </a:pPr>
            <a:r>
              <a:rPr lang="en-US" sz="1200" dirty="0">
                <a:solidFill>
                  <a:srgbClr val="4A5568"/>
                </a:solidFill>
                <a:latin typeface="Noto Sans KR" pitchFamily="34" charset="0"/>
                <a:ea typeface="Noto Sans KR" pitchFamily="34" charset="-122"/>
                <a:cs typeface="Noto Sans KR" pitchFamily="34" charset="-120"/>
              </a:rPr>
              <a:t>본인+형제 학비를 스스로 충당해야 하는 상황</a:t>
            </a:r>
            <a:endParaRPr lang="en-US" sz="1200" dirty="0"/>
          </a:p>
        </p:txBody>
      </p:sp>
      <p:sp>
        <p:nvSpPr>
          <p:cNvPr id="12" name="Shape 8"/>
          <p:cNvSpPr/>
          <p:nvPr/>
        </p:nvSpPr>
        <p:spPr>
          <a:xfrm>
            <a:off x="640080" y="3931920"/>
            <a:ext cx="7863840" cy="914400"/>
          </a:xfrm>
          <a:prstGeom prst="rect">
            <a:avLst/>
          </a:prstGeom>
          <a:solidFill>
            <a:srgbClr val="1A2744"/>
          </a:solidFill>
          <a:ln/>
        </p:spPr>
        <p:txBody>
          <a:bodyPr/>
          <a:lstStyle/>
          <a:p>
            <a:endParaRPr lang="ko-KR" altLang="en-US"/>
          </a:p>
        </p:txBody>
      </p:sp>
      <p:pic>
        <p:nvPicPr>
          <p:cNvPr id="13" name="Image 2" descr="preencoded.png"/>
          <p:cNvPicPr>
            <a:picLocks noChangeAspect="1"/>
          </p:cNvPicPr>
          <p:nvPr/>
        </p:nvPicPr>
        <p:blipFill>
          <a:blip r:embed="rId5"/>
          <a:stretch>
            <a:fillRect/>
          </a:stretch>
        </p:blipFill>
        <p:spPr>
          <a:xfrm>
            <a:off x="822960" y="4069080"/>
            <a:ext cx="320040" cy="320040"/>
          </a:xfrm>
          <a:prstGeom prst="rect">
            <a:avLst/>
          </a:prstGeom>
        </p:spPr>
      </p:pic>
      <p:sp>
        <p:nvSpPr>
          <p:cNvPr id="14" name="Text 9"/>
          <p:cNvSpPr/>
          <p:nvPr/>
        </p:nvSpPr>
        <p:spPr>
          <a:xfrm>
            <a:off x="1280160" y="3931920"/>
            <a:ext cx="6858000" cy="502920"/>
          </a:xfrm>
          <a:prstGeom prst="rect">
            <a:avLst/>
          </a:prstGeom>
          <a:noFill/>
          <a:ln/>
        </p:spPr>
        <p:txBody>
          <a:bodyPr wrap="square" lIns="0" tIns="0" rIns="0" bIns="0" rtlCol="0" anchor="ctr"/>
          <a:lstStyle/>
          <a:p>
            <a:pPr marL="0" indent="0">
              <a:buNone/>
            </a:pPr>
            <a:r>
              <a:rPr lang="en-US" sz="1400" b="1" dirty="0">
                <a:solidFill>
                  <a:srgbClr val="FFFFFF"/>
                </a:solidFill>
                <a:latin typeface="Noto Sans KR" pitchFamily="34" charset="0"/>
                <a:ea typeface="Noto Sans KR" pitchFamily="34" charset="-122"/>
                <a:cs typeface="Noto Sans KR" pitchFamily="34" charset="-120"/>
              </a:rPr>
              <a:t>핵심 쟁점: GPA가 능력의 지표인가, 상황의 반영인가? 기업가 정신의 가치는?</a:t>
            </a:r>
            <a:endParaRPr lang="en-US" sz="1400" dirty="0"/>
          </a:p>
        </p:txBody>
      </p:sp>
      <p:sp>
        <p:nvSpPr>
          <p:cNvPr id="15" name="Text 10"/>
          <p:cNvSpPr/>
          <p:nvPr/>
        </p:nvSpPr>
        <p:spPr>
          <a:xfrm>
            <a:off x="1280160" y="4434840"/>
            <a:ext cx="6858000" cy="320040"/>
          </a:xfrm>
          <a:prstGeom prst="rect">
            <a:avLst/>
          </a:prstGeom>
          <a:noFill/>
          <a:ln/>
        </p:spPr>
        <p:txBody>
          <a:bodyPr wrap="square" lIns="0" tIns="0" rIns="0" bIns="0" rtlCol="0" anchor="ctr"/>
          <a:lstStyle/>
          <a:p>
            <a:pPr marL="0" indent="0">
              <a:buNone/>
            </a:pPr>
            <a:r>
              <a:rPr lang="en-US" sz="1200" dirty="0">
                <a:solidFill>
                  <a:srgbClr val="CADCFC"/>
                </a:solidFill>
                <a:latin typeface="Noto Sans KR" pitchFamily="34" charset="0"/>
                <a:ea typeface="Noto Sans KR" pitchFamily="34" charset="-122"/>
                <a:cs typeface="Noto Sans KR" pitchFamily="34" charset="-120"/>
              </a:rPr>
              <a:t>빌 뷰캐넌: "기업가 경험이 있다면 큰 차이가 납니다" "성격을 위해 무리할 수 있다"</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2744"/>
          </a:solidFill>
          <a:ln/>
        </p:spPr>
        <p:txBody>
          <a:bodyPr/>
          <a:lstStyle/>
          <a:p>
            <a:endParaRPr lang="ko-KR" altLang="en-US"/>
          </a:p>
        </p:txBody>
      </p:sp>
      <p:sp>
        <p:nvSpPr>
          <p:cNvPr id="3" name="Text 1"/>
          <p:cNvSpPr/>
          <p:nvPr/>
        </p:nvSpPr>
        <p:spPr>
          <a:xfrm>
            <a:off x="640080" y="274320"/>
            <a:ext cx="8229600" cy="548640"/>
          </a:xfrm>
          <a:prstGeom prst="rect">
            <a:avLst/>
          </a:prstGeom>
          <a:noFill/>
          <a:ln/>
        </p:spPr>
        <p:txBody>
          <a:bodyPr wrap="square" lIns="0" tIns="0" rIns="0" bIns="0" rtlCol="0" anchor="ctr"/>
          <a:lstStyle/>
          <a:p>
            <a:pPr marL="0" indent="0">
              <a:buNone/>
            </a:pPr>
            <a:r>
              <a:rPr lang="en-US" sz="2800" b="1" dirty="0">
                <a:solidFill>
                  <a:srgbClr val="1A2744"/>
                </a:solidFill>
                <a:latin typeface="Noto Sans KR" pitchFamily="34" charset="0"/>
                <a:ea typeface="Noto Sans KR" pitchFamily="34" charset="-122"/>
                <a:cs typeface="Noto Sans KR" pitchFamily="34" charset="-120"/>
              </a:rPr>
              <a:t>후보자 비교 분석</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92608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65760">
                <a:tc>
                  <a:txBody>
                    <a:bodyPr/>
                    <a:lstStyle/>
                    <a:p>
                      <a:pPr marL="0" indent="0" algn="ctr">
                        <a:buNone/>
                      </a:pPr>
                      <a:r>
                        <a:rPr lang="en-US" sz="1100" b="1" dirty="0">
                          <a:solidFill>
                            <a:srgbClr val="FFFFFF"/>
                          </a:solidFill>
                          <a:latin typeface="Noto Sans KR" pitchFamily="34" charset="0"/>
                          <a:ea typeface="Noto Sans KR" pitchFamily="34" charset="-122"/>
                          <a:cs typeface="Noto Sans KR" pitchFamily="34" charset="-120"/>
                        </a:rPr>
                        <a:t>평가 항목</a:t>
                      </a:r>
                      <a:endParaRPr lang="en-US" sz="11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1A2744"/>
                    </a:solidFill>
                  </a:tcPr>
                </a:tc>
                <a:tc>
                  <a:txBody>
                    <a:bodyPr/>
                    <a:lstStyle/>
                    <a:p>
                      <a:pPr marL="0" indent="0" algn="ctr">
                        <a:buNone/>
                      </a:pPr>
                      <a:r>
                        <a:rPr lang="en-US" sz="1100" b="1" dirty="0">
                          <a:solidFill>
                            <a:srgbClr val="FFFFFF"/>
                          </a:solidFill>
                          <a:latin typeface="Noto Sans KR" pitchFamily="34" charset="0"/>
                          <a:ea typeface="Noto Sans KR" pitchFamily="34" charset="-122"/>
                          <a:cs typeface="Noto Sans KR" pitchFamily="34" charset="-120"/>
                        </a:rPr>
                        <a:t>나탈리아</a:t>
                      </a:r>
                      <a:endParaRPr lang="en-US" sz="11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2A9D8F"/>
                    </a:solidFill>
                  </a:tcPr>
                </a:tc>
                <a:tc>
                  <a:txBody>
                    <a:bodyPr/>
                    <a:lstStyle/>
                    <a:p>
                      <a:pPr marL="0" indent="0" algn="ctr">
                        <a:buNone/>
                      </a:pPr>
                      <a:r>
                        <a:rPr lang="en-US" sz="1100" b="1" dirty="0">
                          <a:solidFill>
                            <a:srgbClr val="FFFFFF"/>
                          </a:solidFill>
                          <a:latin typeface="Noto Sans KR" pitchFamily="34" charset="0"/>
                          <a:ea typeface="Noto Sans KR" pitchFamily="34" charset="-122"/>
                          <a:cs typeface="Noto Sans KR" pitchFamily="34" charset="-120"/>
                        </a:rPr>
                        <a:t>마틴</a:t>
                      </a:r>
                      <a:endParaRPr lang="en-US" sz="11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1A2744"/>
                    </a:solidFill>
                  </a:tcPr>
                </a:tc>
                <a:tc>
                  <a:txBody>
                    <a:bodyPr/>
                    <a:lstStyle/>
                    <a:p>
                      <a:pPr marL="0" indent="0" algn="ctr">
                        <a:buNone/>
                      </a:pPr>
                      <a:r>
                        <a:rPr lang="en-US" sz="1100" b="1" dirty="0">
                          <a:solidFill>
                            <a:srgbClr val="FFFFFF"/>
                          </a:solidFill>
                          <a:latin typeface="Noto Sans KR" pitchFamily="34" charset="0"/>
                          <a:ea typeface="Noto Sans KR" pitchFamily="34" charset="-122"/>
                          <a:cs typeface="Noto Sans KR" pitchFamily="34" charset="-120"/>
                        </a:rPr>
                        <a:t>켄</a:t>
                      </a:r>
                      <a:endParaRPr lang="en-US" sz="11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D4A84B"/>
                    </a:solidFill>
                  </a:tcPr>
                </a:tc>
                <a:tc>
                  <a:txBody>
                    <a:bodyPr/>
                    <a:lstStyle/>
                    <a:p>
                      <a:pPr marL="0" indent="0" algn="ctr">
                        <a:buNone/>
                      </a:pPr>
                      <a:r>
                        <a:rPr lang="en-US" sz="1100" b="1" dirty="0">
                          <a:solidFill>
                            <a:srgbClr val="FFFFFF"/>
                          </a:solidFill>
                          <a:latin typeface="Noto Sans KR" pitchFamily="34" charset="0"/>
                          <a:ea typeface="Noto Sans KR" pitchFamily="34" charset="-122"/>
                          <a:cs typeface="Noto Sans KR" pitchFamily="34" charset="-120"/>
                        </a:rPr>
                        <a:t>앤디</a:t>
                      </a:r>
                      <a:endParaRPr lang="en-US" sz="11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E85D5D"/>
                    </a:solidFill>
                  </a:tcPr>
                </a:tc>
                <a:extLst>
                  <a:ext uri="{0D108BD9-81ED-4DB2-BD59-A6C34878D82A}">
                    <a16:rowId xmlns:a16="http://schemas.microsoft.com/office/drawing/2014/main" val="10000"/>
                  </a:ext>
                </a:extLst>
              </a:tr>
              <a:tr h="365760">
                <a:tc>
                  <a:txBody>
                    <a:bodyPr/>
                    <a:lstStyle/>
                    <a:p>
                      <a:pPr marL="0" indent="0">
                        <a:buNone/>
                      </a:pPr>
                      <a:r>
                        <a:rPr lang="en-US" sz="1000" b="1" dirty="0">
                          <a:solidFill>
                            <a:srgbClr val="1A2744"/>
                          </a:solidFill>
                          <a:latin typeface="Noto Sans KR" pitchFamily="34" charset="0"/>
                          <a:ea typeface="Noto Sans KR" pitchFamily="34" charset="-122"/>
                          <a:cs typeface="Noto Sans KR" pitchFamily="34" charset="-120"/>
                        </a:rPr>
                        <a:t>재무 역량</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E8ECF2"/>
                    </a:solidFill>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000" b="1" dirty="0">
                          <a:solidFill>
                            <a:srgbClr val="1A2744"/>
                          </a:solidFill>
                          <a:latin typeface="Noto Sans KR" pitchFamily="34" charset="0"/>
                          <a:ea typeface="Noto Sans KR" pitchFamily="34" charset="-122"/>
                          <a:cs typeface="Noto Sans KR" pitchFamily="34" charset="-120"/>
                        </a:rPr>
                        <a:t>리더십</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E8ECF2"/>
                    </a:solidFill>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000" b="1" dirty="0">
                          <a:solidFill>
                            <a:srgbClr val="1A2744"/>
                          </a:solidFill>
                          <a:latin typeface="Noto Sans KR" pitchFamily="34" charset="0"/>
                          <a:ea typeface="Noto Sans KR" pitchFamily="34" charset="-122"/>
                          <a:cs typeface="Noto Sans KR" pitchFamily="34" charset="-120"/>
                        </a:rPr>
                        <a:t>문화 적합성</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E8ECF2"/>
                    </a:solidFill>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000" b="1" dirty="0">
                          <a:solidFill>
                            <a:srgbClr val="1A2744"/>
                          </a:solidFill>
                          <a:latin typeface="Noto Sans KR" pitchFamily="34" charset="0"/>
                          <a:ea typeface="Noto Sans KR" pitchFamily="34" charset="-122"/>
                          <a:cs typeface="Noto Sans KR" pitchFamily="34" charset="-120"/>
                        </a:rPr>
                        <a:t>충성도/수락 가능성</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E8ECF2"/>
                    </a:solidFill>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000" b="1" dirty="0">
                          <a:solidFill>
                            <a:srgbClr val="1A2744"/>
                          </a:solidFill>
                          <a:latin typeface="Noto Sans KR" pitchFamily="34" charset="0"/>
                          <a:ea typeface="Noto Sans KR" pitchFamily="34" charset="-122"/>
                          <a:cs typeface="Noto Sans KR" pitchFamily="34" charset="-120"/>
                        </a:rPr>
                        <a:t>기업가 정신</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E8ECF2"/>
                    </a:solidFill>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000" b="1" dirty="0">
                          <a:solidFill>
                            <a:srgbClr val="1A2744"/>
                          </a:solidFill>
                          <a:latin typeface="Noto Sans KR" pitchFamily="34" charset="0"/>
                          <a:ea typeface="Noto Sans KR" pitchFamily="34" charset="-122"/>
                          <a:cs typeface="Noto Sans KR" pitchFamily="34" charset="-120"/>
                        </a:rPr>
                        <a:t>워크-라이프 리스크</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E8ECF2"/>
                    </a:solidFill>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낮음</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낮음</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높음(자녀)</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낮음</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000" b="1" dirty="0">
                          <a:solidFill>
                            <a:srgbClr val="1A2744"/>
                          </a:solidFill>
                          <a:latin typeface="Noto Sans KR" pitchFamily="34" charset="0"/>
                          <a:ea typeface="Noto Sans KR" pitchFamily="34" charset="-122"/>
                          <a:cs typeface="Noto Sans KR" pitchFamily="34" charset="-120"/>
                        </a:rPr>
                        <a:t>핵심 편견 유형</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solidFill>
                      <a:srgbClr val="E8ECF2"/>
                    </a:solidFill>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국적/언어</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학교 브랜드</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가정 상황</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tc>
                  <a:txBody>
                    <a:bodyPr/>
                    <a:lstStyle/>
                    <a:p>
                      <a:pPr marL="0" indent="0" algn="ctr">
                        <a:buNone/>
                      </a:pPr>
                      <a:r>
                        <a:rPr lang="en-US" sz="1000" dirty="0">
                          <a:solidFill>
                            <a:srgbClr val="4A5568"/>
                          </a:solidFill>
                          <a:latin typeface="Noto Sans KR" pitchFamily="34" charset="0"/>
                          <a:ea typeface="Noto Sans KR" pitchFamily="34" charset="-122"/>
                          <a:cs typeface="Noto Sans KR" pitchFamily="34" charset="-120"/>
                        </a:rPr>
                        <a:t>학점 편견</a:t>
                      </a:r>
                      <a:endParaRPr lang="en-US" sz="1000" dirty="0">
                        <a:latin typeface="Noto Sans KR" charset="0"/>
                        <a:ea typeface="Noto Sans KR" charset="0"/>
                        <a:cs typeface="Noto Sans KR" charset="0"/>
                      </a:endParaRPr>
                    </a:p>
                  </a:txBody>
                  <a:tcPr>
                    <a:lnL w="6350" cap="flat" cmpd="sng" algn="ctr">
                      <a:solidFill>
                        <a:srgbClr val="E8ECF2"/>
                      </a:solidFill>
                      <a:prstDash val="solid"/>
                      <a:round/>
                      <a:headEnd type="none" w="med" len="med"/>
                      <a:tailEnd type="none" w="med" len="med"/>
                    </a:lnL>
                    <a:lnR w="6350" cap="flat" cmpd="sng" algn="ctr">
                      <a:solidFill>
                        <a:srgbClr val="E8ECF2"/>
                      </a:solidFill>
                      <a:prstDash val="solid"/>
                      <a:round/>
                      <a:headEnd type="none" w="med" len="med"/>
                      <a:tailEnd type="none" w="med" len="med"/>
                    </a:lnR>
                    <a:lnT w="6350" cap="flat" cmpd="sng" algn="ctr">
                      <a:solidFill>
                        <a:srgbClr val="E8ECF2"/>
                      </a:solidFill>
                      <a:prstDash val="solid"/>
                      <a:round/>
                      <a:headEnd type="none" w="med" len="med"/>
                      <a:tailEnd type="none" w="med" len="med"/>
                    </a:lnT>
                    <a:lnB w="6350" cap="flat" cmpd="sng" algn="ctr">
                      <a:solidFill>
                        <a:srgbClr val="E8ECF2"/>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F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B"/>
          </a:solidFill>
          <a:ln/>
        </p:spPr>
        <p:txBody>
          <a:bodyPr/>
          <a:lstStyle/>
          <a:p>
            <a:endParaRPr lang="ko-KR" altLang="en-US"/>
          </a:p>
        </p:txBody>
      </p:sp>
      <p:pic>
        <p:nvPicPr>
          <p:cNvPr id="3" name="Image 0" descr="preencoded.png"/>
          <p:cNvPicPr>
            <a:picLocks noChangeAspect="1"/>
          </p:cNvPicPr>
          <p:nvPr/>
        </p:nvPicPr>
        <p:blipFill>
          <a:blip r:embed="rId3"/>
          <a:stretch>
            <a:fillRect/>
          </a:stretch>
        </p:blipFill>
        <p:spPr>
          <a:xfrm>
            <a:off x="640080" y="365760"/>
            <a:ext cx="411480" cy="411480"/>
          </a:xfrm>
          <a:prstGeom prst="rect">
            <a:avLst/>
          </a:prstGeom>
        </p:spPr>
      </p:pic>
      <p:sp>
        <p:nvSpPr>
          <p:cNvPr id="4" name="Text 1"/>
          <p:cNvSpPr/>
          <p:nvPr/>
        </p:nvSpPr>
        <p:spPr>
          <a:xfrm>
            <a:off x="1188720" y="320040"/>
            <a:ext cx="731520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KR" pitchFamily="34" charset="0"/>
                <a:ea typeface="Noto Sans KR" pitchFamily="34" charset="-122"/>
                <a:cs typeface="Noto Sans KR" pitchFamily="34" charset="-120"/>
              </a:rPr>
              <a:t>핵심 시사점</a:t>
            </a:r>
            <a:endParaRPr lang="en-US" sz="2800" dirty="0"/>
          </a:p>
        </p:txBody>
      </p:sp>
      <p:sp>
        <p:nvSpPr>
          <p:cNvPr id="5" name="Shape 2"/>
          <p:cNvSpPr/>
          <p:nvPr/>
        </p:nvSpPr>
        <p:spPr>
          <a:xfrm>
            <a:off x="640080" y="1143000"/>
            <a:ext cx="457200" cy="457200"/>
          </a:xfrm>
          <a:prstGeom prst="ellipse">
            <a:avLst/>
          </a:prstGeom>
          <a:solidFill>
            <a:srgbClr val="D4A84B"/>
          </a:solidFill>
          <a:ln/>
        </p:spPr>
        <p:txBody>
          <a:bodyPr/>
          <a:lstStyle/>
          <a:p>
            <a:endParaRPr lang="ko-KR" altLang="en-US"/>
          </a:p>
        </p:txBody>
      </p:sp>
      <p:sp>
        <p:nvSpPr>
          <p:cNvPr id="6" name="Text 3"/>
          <p:cNvSpPr/>
          <p:nvPr/>
        </p:nvSpPr>
        <p:spPr>
          <a:xfrm>
            <a:off x="640080" y="1143000"/>
            <a:ext cx="457200" cy="457200"/>
          </a:xfrm>
          <a:prstGeom prst="rect">
            <a:avLst/>
          </a:prstGeom>
          <a:noFill/>
          <a:ln/>
        </p:spPr>
        <p:txBody>
          <a:bodyPr wrap="square" lIns="0" tIns="0" rIns="0" bIns="0" rtlCol="0" anchor="ctr"/>
          <a:lstStyle/>
          <a:p>
            <a:pPr marL="0" indent="0" algn="ctr">
              <a:buNone/>
            </a:pPr>
            <a:r>
              <a:rPr lang="en-US" sz="1800" b="1" dirty="0">
                <a:solidFill>
                  <a:srgbClr val="0F1A2E"/>
                </a:solidFill>
                <a:latin typeface="Noto Sans KR" pitchFamily="34" charset="0"/>
                <a:ea typeface="Noto Sans KR" pitchFamily="34" charset="-122"/>
                <a:cs typeface="Noto Sans KR" pitchFamily="34" charset="-120"/>
              </a:rPr>
              <a:t>1</a:t>
            </a:r>
            <a:endParaRPr lang="en-US" sz="1800" dirty="0"/>
          </a:p>
        </p:txBody>
      </p:sp>
      <p:sp>
        <p:nvSpPr>
          <p:cNvPr id="7" name="Text 4"/>
          <p:cNvSpPr/>
          <p:nvPr/>
        </p:nvSpPr>
        <p:spPr>
          <a:xfrm>
            <a:off x="1280160" y="1051560"/>
            <a:ext cx="7315200" cy="320040"/>
          </a:xfrm>
          <a:prstGeom prst="rect">
            <a:avLst/>
          </a:prstGeom>
          <a:noFill/>
          <a:ln/>
        </p:spPr>
        <p:txBody>
          <a:bodyPr wrap="square" lIns="0" tIns="0" rIns="0" bIns="0" rtlCol="0" anchor="ctr"/>
          <a:lstStyle/>
          <a:p>
            <a:pPr marL="0" indent="0">
              <a:buNone/>
            </a:pPr>
            <a:r>
              <a:rPr lang="en-US" sz="1500" b="1" dirty="0">
                <a:solidFill>
                  <a:srgbClr val="D4A84B"/>
                </a:solidFill>
                <a:latin typeface="Noto Sans KR" pitchFamily="34" charset="0"/>
                <a:ea typeface="Noto Sans KR" pitchFamily="34" charset="-122"/>
                <a:cs typeface="Noto Sans KR" pitchFamily="34" charset="-120"/>
              </a:rPr>
              <a:t>채용 기준의 모호성 = 편견의 온상</a:t>
            </a:r>
            <a:endParaRPr lang="en-US" sz="1500" dirty="0"/>
          </a:p>
        </p:txBody>
      </p:sp>
      <p:sp>
        <p:nvSpPr>
          <p:cNvPr id="8" name="Text 5"/>
          <p:cNvSpPr/>
          <p:nvPr/>
        </p:nvSpPr>
        <p:spPr>
          <a:xfrm>
            <a:off x="1280160" y="1399032"/>
            <a:ext cx="7315200" cy="502920"/>
          </a:xfrm>
          <a:prstGeom prst="rect">
            <a:avLst/>
          </a:prstGeom>
          <a:noFill/>
          <a:ln/>
        </p:spPr>
        <p:txBody>
          <a:bodyPr wrap="square" lIns="0" tIns="0" rIns="0" bIns="0" rtlCol="0" anchor="ctr"/>
          <a:lstStyle/>
          <a:p>
            <a:pPr marL="0" indent="0">
              <a:buNone/>
            </a:pPr>
            <a:r>
              <a:rPr lang="en-US" sz="1200" dirty="0">
                <a:solidFill>
                  <a:srgbClr val="CADCFC"/>
                </a:solidFill>
                <a:latin typeface="Noto Sans KR" pitchFamily="34" charset="0"/>
                <a:ea typeface="Noto Sans KR" pitchFamily="34" charset="-122"/>
                <a:cs typeface="Noto Sans KR" pitchFamily="34" charset="-120"/>
              </a:rPr>
              <a:t>'문화 적합성'이나 '적성'처럼 정의가 불명확한 기준은</a:t>
            </a:r>
            <a:endParaRPr lang="en-US" sz="1200" dirty="0"/>
          </a:p>
          <a:p>
            <a:pPr marL="0" indent="0">
              <a:buNone/>
            </a:pPr>
            <a:r>
              <a:rPr lang="en-US" sz="1200" dirty="0">
                <a:solidFill>
                  <a:srgbClr val="CADCFC"/>
                </a:solidFill>
                <a:latin typeface="Noto Sans KR" pitchFamily="34" charset="0"/>
                <a:ea typeface="Noto Sans KR" pitchFamily="34" charset="-122"/>
                <a:cs typeface="Noto Sans KR" pitchFamily="34" charset="-120"/>
              </a:rPr>
              <a:t>면접관 개인의 편향이 합리화되는 통로가 된다</a:t>
            </a:r>
            <a:endParaRPr lang="en-US" sz="1200" dirty="0"/>
          </a:p>
        </p:txBody>
      </p:sp>
      <p:sp>
        <p:nvSpPr>
          <p:cNvPr id="9" name="Shape 6"/>
          <p:cNvSpPr/>
          <p:nvPr/>
        </p:nvSpPr>
        <p:spPr>
          <a:xfrm>
            <a:off x="640080" y="2103120"/>
            <a:ext cx="457200" cy="457200"/>
          </a:xfrm>
          <a:prstGeom prst="ellipse">
            <a:avLst/>
          </a:prstGeom>
          <a:solidFill>
            <a:srgbClr val="D4A84B"/>
          </a:solidFill>
          <a:ln/>
        </p:spPr>
        <p:txBody>
          <a:bodyPr/>
          <a:lstStyle/>
          <a:p>
            <a:endParaRPr lang="ko-KR" altLang="en-US"/>
          </a:p>
        </p:txBody>
      </p:sp>
      <p:sp>
        <p:nvSpPr>
          <p:cNvPr id="10" name="Text 7"/>
          <p:cNvSpPr/>
          <p:nvPr/>
        </p:nvSpPr>
        <p:spPr>
          <a:xfrm>
            <a:off x="640080" y="2103120"/>
            <a:ext cx="457200" cy="457200"/>
          </a:xfrm>
          <a:prstGeom prst="rect">
            <a:avLst/>
          </a:prstGeom>
          <a:noFill/>
          <a:ln/>
        </p:spPr>
        <p:txBody>
          <a:bodyPr wrap="square" lIns="0" tIns="0" rIns="0" bIns="0" rtlCol="0" anchor="ctr"/>
          <a:lstStyle/>
          <a:p>
            <a:pPr marL="0" indent="0" algn="ctr">
              <a:buNone/>
            </a:pPr>
            <a:r>
              <a:rPr lang="en-US" sz="1800" b="1" dirty="0">
                <a:solidFill>
                  <a:srgbClr val="0F1A2E"/>
                </a:solidFill>
                <a:latin typeface="Noto Sans KR" pitchFamily="34" charset="0"/>
                <a:ea typeface="Noto Sans KR" pitchFamily="34" charset="-122"/>
                <a:cs typeface="Noto Sans KR" pitchFamily="34" charset="-120"/>
              </a:rPr>
              <a:t>2</a:t>
            </a:r>
            <a:endParaRPr lang="en-US" sz="1800" dirty="0"/>
          </a:p>
        </p:txBody>
      </p:sp>
      <p:sp>
        <p:nvSpPr>
          <p:cNvPr id="11" name="Text 8"/>
          <p:cNvSpPr/>
          <p:nvPr/>
        </p:nvSpPr>
        <p:spPr>
          <a:xfrm>
            <a:off x="1280160" y="2011680"/>
            <a:ext cx="7315200" cy="320040"/>
          </a:xfrm>
          <a:prstGeom prst="rect">
            <a:avLst/>
          </a:prstGeom>
          <a:noFill/>
          <a:ln/>
        </p:spPr>
        <p:txBody>
          <a:bodyPr wrap="square" lIns="0" tIns="0" rIns="0" bIns="0" rtlCol="0" anchor="ctr"/>
          <a:lstStyle/>
          <a:p>
            <a:pPr marL="0" indent="0">
              <a:buNone/>
            </a:pPr>
            <a:r>
              <a:rPr lang="en-US" sz="1500" b="1" dirty="0">
                <a:solidFill>
                  <a:srgbClr val="D4A84B"/>
                </a:solidFill>
                <a:latin typeface="Noto Sans KR" pitchFamily="34" charset="0"/>
                <a:ea typeface="Noto Sans KR" pitchFamily="34" charset="-122"/>
                <a:cs typeface="Noto Sans KR" pitchFamily="34" charset="-120"/>
              </a:rPr>
              <a:t>무의식적 편견(Unconscious Bias)의 다양성</a:t>
            </a:r>
            <a:endParaRPr lang="en-US" sz="1500" dirty="0"/>
          </a:p>
        </p:txBody>
      </p:sp>
      <p:sp>
        <p:nvSpPr>
          <p:cNvPr id="12" name="Text 9"/>
          <p:cNvSpPr/>
          <p:nvPr/>
        </p:nvSpPr>
        <p:spPr>
          <a:xfrm>
            <a:off x="1280160" y="2359152"/>
            <a:ext cx="7315200" cy="502920"/>
          </a:xfrm>
          <a:prstGeom prst="rect">
            <a:avLst/>
          </a:prstGeom>
          <a:noFill/>
          <a:ln/>
        </p:spPr>
        <p:txBody>
          <a:bodyPr wrap="square" lIns="0" tIns="0" rIns="0" bIns="0" rtlCol="0" anchor="ctr"/>
          <a:lstStyle/>
          <a:p>
            <a:pPr marL="0" indent="0">
              <a:buNone/>
            </a:pPr>
            <a:r>
              <a:rPr lang="en-US" sz="1200" dirty="0">
                <a:solidFill>
                  <a:srgbClr val="CADCFC"/>
                </a:solidFill>
                <a:latin typeface="Noto Sans KR" pitchFamily="34" charset="0"/>
                <a:ea typeface="Noto Sans KR" pitchFamily="34" charset="-122"/>
                <a:cs typeface="Noto Sans KR" pitchFamily="34" charset="-120"/>
              </a:rPr>
              <a:t>국적, 가정 상황, 학교 브랜드, 학점 등 편견은</a:t>
            </a:r>
            <a:endParaRPr lang="en-US" sz="1200" dirty="0"/>
          </a:p>
          <a:p>
            <a:pPr marL="0" indent="0">
              <a:buNone/>
            </a:pPr>
            <a:r>
              <a:rPr lang="en-US" sz="1200" dirty="0">
                <a:solidFill>
                  <a:srgbClr val="CADCFC"/>
                </a:solidFill>
                <a:latin typeface="Noto Sans KR" pitchFamily="34" charset="0"/>
                <a:ea typeface="Noto Sans KR" pitchFamily="34" charset="-122"/>
                <a:cs typeface="Noto Sans KR" pitchFamily="34" charset="-120"/>
              </a:rPr>
              <a:t>다양한 형태로 나타나며, 당사자도 인식하지 못한다</a:t>
            </a:r>
            <a:endParaRPr lang="en-US" sz="1200" dirty="0"/>
          </a:p>
        </p:txBody>
      </p:sp>
      <p:sp>
        <p:nvSpPr>
          <p:cNvPr id="13" name="Shape 10"/>
          <p:cNvSpPr/>
          <p:nvPr/>
        </p:nvSpPr>
        <p:spPr>
          <a:xfrm>
            <a:off x="640080" y="3063240"/>
            <a:ext cx="457200" cy="457200"/>
          </a:xfrm>
          <a:prstGeom prst="ellipse">
            <a:avLst/>
          </a:prstGeom>
          <a:solidFill>
            <a:srgbClr val="D4A84B"/>
          </a:solidFill>
          <a:ln/>
        </p:spPr>
        <p:txBody>
          <a:bodyPr/>
          <a:lstStyle/>
          <a:p>
            <a:endParaRPr lang="ko-KR" altLang="en-US"/>
          </a:p>
        </p:txBody>
      </p:sp>
      <p:sp>
        <p:nvSpPr>
          <p:cNvPr id="14" name="Text 11"/>
          <p:cNvSpPr/>
          <p:nvPr/>
        </p:nvSpPr>
        <p:spPr>
          <a:xfrm>
            <a:off x="640080" y="3063240"/>
            <a:ext cx="457200" cy="457200"/>
          </a:xfrm>
          <a:prstGeom prst="rect">
            <a:avLst/>
          </a:prstGeom>
          <a:noFill/>
          <a:ln/>
        </p:spPr>
        <p:txBody>
          <a:bodyPr wrap="square" lIns="0" tIns="0" rIns="0" bIns="0" rtlCol="0" anchor="ctr"/>
          <a:lstStyle/>
          <a:p>
            <a:pPr marL="0" indent="0" algn="ctr">
              <a:buNone/>
            </a:pPr>
            <a:r>
              <a:rPr lang="en-US" sz="1800" b="1" dirty="0">
                <a:solidFill>
                  <a:srgbClr val="0F1A2E"/>
                </a:solidFill>
                <a:latin typeface="Noto Sans KR" pitchFamily="34" charset="0"/>
                <a:ea typeface="Noto Sans KR" pitchFamily="34" charset="-122"/>
                <a:cs typeface="Noto Sans KR" pitchFamily="34" charset="-120"/>
              </a:rPr>
              <a:t>3</a:t>
            </a:r>
            <a:endParaRPr lang="en-US" sz="1800" dirty="0"/>
          </a:p>
        </p:txBody>
      </p:sp>
      <p:sp>
        <p:nvSpPr>
          <p:cNvPr id="15" name="Text 12"/>
          <p:cNvSpPr/>
          <p:nvPr/>
        </p:nvSpPr>
        <p:spPr>
          <a:xfrm>
            <a:off x="1280160" y="2971800"/>
            <a:ext cx="7315200" cy="320040"/>
          </a:xfrm>
          <a:prstGeom prst="rect">
            <a:avLst/>
          </a:prstGeom>
          <a:noFill/>
          <a:ln/>
        </p:spPr>
        <p:txBody>
          <a:bodyPr wrap="square" lIns="0" tIns="0" rIns="0" bIns="0" rtlCol="0" anchor="ctr"/>
          <a:lstStyle/>
          <a:p>
            <a:pPr marL="0" indent="0">
              <a:buNone/>
            </a:pPr>
            <a:r>
              <a:rPr lang="en-US" sz="1500" b="1" dirty="0">
                <a:solidFill>
                  <a:srgbClr val="D4A84B"/>
                </a:solidFill>
                <a:latin typeface="Noto Sans KR" pitchFamily="34" charset="0"/>
                <a:ea typeface="Noto Sans KR" pitchFamily="34" charset="-122"/>
                <a:cs typeface="Noto Sans KR" pitchFamily="34" charset="-120"/>
              </a:rPr>
              <a:t>채용은 문화의 재생산 과정</a:t>
            </a:r>
            <a:endParaRPr lang="en-US" sz="1500" dirty="0"/>
          </a:p>
        </p:txBody>
      </p:sp>
      <p:sp>
        <p:nvSpPr>
          <p:cNvPr id="16" name="Text 13"/>
          <p:cNvSpPr/>
          <p:nvPr/>
        </p:nvSpPr>
        <p:spPr>
          <a:xfrm>
            <a:off x="1280160" y="3319272"/>
            <a:ext cx="7315200" cy="502920"/>
          </a:xfrm>
          <a:prstGeom prst="rect">
            <a:avLst/>
          </a:prstGeom>
          <a:noFill/>
          <a:ln/>
        </p:spPr>
        <p:txBody>
          <a:bodyPr wrap="square" lIns="0" tIns="0" rIns="0" bIns="0" rtlCol="0" anchor="ctr"/>
          <a:lstStyle/>
          <a:p>
            <a:pPr marL="0" indent="0">
              <a:buNone/>
            </a:pPr>
            <a:r>
              <a:rPr lang="en-US" sz="1200" dirty="0">
                <a:solidFill>
                  <a:srgbClr val="CADCFC"/>
                </a:solidFill>
                <a:latin typeface="Noto Sans KR" pitchFamily="34" charset="0"/>
                <a:ea typeface="Noto Sans KR" pitchFamily="34" charset="-122"/>
                <a:cs typeface="Noto Sans KR" pitchFamily="34" charset="-120"/>
              </a:rPr>
              <a:t>'우리는 우리가 채용하는 사람들이다'라는 격언처럼,</a:t>
            </a:r>
            <a:endParaRPr lang="en-US" sz="1200" dirty="0"/>
          </a:p>
          <a:p>
            <a:pPr marL="0" indent="0">
              <a:buNone/>
            </a:pPr>
            <a:r>
              <a:rPr lang="en-US" sz="1200" dirty="0">
                <a:solidFill>
                  <a:srgbClr val="CADCFC"/>
                </a:solidFill>
                <a:latin typeface="Noto Sans KR" pitchFamily="34" charset="0"/>
                <a:ea typeface="Noto Sans KR" pitchFamily="34" charset="-122"/>
                <a:cs typeface="Noto Sans KR" pitchFamily="34" charset="-120"/>
              </a:rPr>
              <a:t>채용 기준은 곧 조직이 어떤 문화를 지향하는지의 선언</a:t>
            </a:r>
            <a:endParaRPr lang="en-US" sz="1200" dirty="0"/>
          </a:p>
        </p:txBody>
      </p:sp>
      <p:sp>
        <p:nvSpPr>
          <p:cNvPr id="17" name="Shape 14"/>
          <p:cNvSpPr/>
          <p:nvPr/>
        </p:nvSpPr>
        <p:spPr>
          <a:xfrm>
            <a:off x="640080" y="4023360"/>
            <a:ext cx="457200" cy="457200"/>
          </a:xfrm>
          <a:prstGeom prst="ellipse">
            <a:avLst/>
          </a:prstGeom>
          <a:solidFill>
            <a:srgbClr val="D4A84B"/>
          </a:solidFill>
          <a:ln/>
        </p:spPr>
        <p:txBody>
          <a:bodyPr/>
          <a:lstStyle/>
          <a:p>
            <a:endParaRPr lang="ko-KR" altLang="en-US"/>
          </a:p>
        </p:txBody>
      </p:sp>
      <p:sp>
        <p:nvSpPr>
          <p:cNvPr id="18" name="Text 15"/>
          <p:cNvSpPr/>
          <p:nvPr/>
        </p:nvSpPr>
        <p:spPr>
          <a:xfrm>
            <a:off x="640080" y="4023360"/>
            <a:ext cx="457200" cy="457200"/>
          </a:xfrm>
          <a:prstGeom prst="rect">
            <a:avLst/>
          </a:prstGeom>
          <a:noFill/>
          <a:ln/>
        </p:spPr>
        <p:txBody>
          <a:bodyPr wrap="square" lIns="0" tIns="0" rIns="0" bIns="0" rtlCol="0" anchor="ctr"/>
          <a:lstStyle/>
          <a:p>
            <a:pPr marL="0" indent="0" algn="ctr">
              <a:buNone/>
            </a:pPr>
            <a:r>
              <a:rPr lang="en-US" sz="1800" b="1" dirty="0">
                <a:solidFill>
                  <a:srgbClr val="0F1A2E"/>
                </a:solidFill>
                <a:latin typeface="Noto Sans KR" pitchFamily="34" charset="0"/>
                <a:ea typeface="Noto Sans KR" pitchFamily="34" charset="-122"/>
                <a:cs typeface="Noto Sans KR" pitchFamily="34" charset="-120"/>
              </a:rPr>
              <a:t>4</a:t>
            </a:r>
            <a:endParaRPr lang="en-US" sz="1800" dirty="0"/>
          </a:p>
        </p:txBody>
      </p:sp>
      <p:sp>
        <p:nvSpPr>
          <p:cNvPr id="19" name="Text 16"/>
          <p:cNvSpPr/>
          <p:nvPr/>
        </p:nvSpPr>
        <p:spPr>
          <a:xfrm>
            <a:off x="1280160" y="3931920"/>
            <a:ext cx="7315200" cy="320040"/>
          </a:xfrm>
          <a:prstGeom prst="rect">
            <a:avLst/>
          </a:prstGeom>
          <a:noFill/>
          <a:ln/>
        </p:spPr>
        <p:txBody>
          <a:bodyPr wrap="square" lIns="0" tIns="0" rIns="0" bIns="0" rtlCol="0" anchor="ctr"/>
          <a:lstStyle/>
          <a:p>
            <a:pPr marL="0" indent="0">
              <a:buNone/>
            </a:pPr>
            <a:r>
              <a:rPr lang="en-US" sz="1500" b="1" dirty="0">
                <a:solidFill>
                  <a:srgbClr val="D4A84B"/>
                </a:solidFill>
                <a:latin typeface="Noto Sans KR" pitchFamily="34" charset="0"/>
                <a:ea typeface="Noto Sans KR" pitchFamily="34" charset="-122"/>
                <a:cs typeface="Noto Sans KR" pitchFamily="34" charset="-120"/>
              </a:rPr>
              <a:t>구조화된 프로세스의 필요성</a:t>
            </a:r>
            <a:endParaRPr lang="en-US" sz="1500" dirty="0"/>
          </a:p>
        </p:txBody>
      </p:sp>
      <p:sp>
        <p:nvSpPr>
          <p:cNvPr id="20" name="Text 17"/>
          <p:cNvSpPr/>
          <p:nvPr/>
        </p:nvSpPr>
        <p:spPr>
          <a:xfrm>
            <a:off x="1280160" y="4279392"/>
            <a:ext cx="7315200" cy="502920"/>
          </a:xfrm>
          <a:prstGeom prst="rect">
            <a:avLst/>
          </a:prstGeom>
          <a:noFill/>
          <a:ln/>
        </p:spPr>
        <p:txBody>
          <a:bodyPr wrap="square" lIns="0" tIns="0" rIns="0" bIns="0" rtlCol="0" anchor="ctr"/>
          <a:lstStyle/>
          <a:p>
            <a:pPr marL="0" indent="0">
              <a:buNone/>
            </a:pPr>
            <a:r>
              <a:rPr lang="en-US" sz="1200" dirty="0">
                <a:solidFill>
                  <a:srgbClr val="CADCFC"/>
                </a:solidFill>
                <a:latin typeface="Noto Sans KR" pitchFamily="34" charset="0"/>
                <a:ea typeface="Noto Sans KR" pitchFamily="34" charset="-122"/>
                <a:cs typeface="Noto Sans KR" pitchFamily="34" charset="-120"/>
              </a:rPr>
              <a:t>과학적 접근을 거부하는 뱅커들이 있었지만,</a:t>
            </a:r>
            <a:endParaRPr lang="en-US" sz="1200" dirty="0"/>
          </a:p>
          <a:p>
            <a:pPr marL="0" indent="0">
              <a:buNone/>
            </a:pPr>
            <a:r>
              <a:rPr lang="en-US" sz="1200" dirty="0">
                <a:solidFill>
                  <a:srgbClr val="CADCFC"/>
                </a:solidFill>
                <a:latin typeface="Noto Sans KR" pitchFamily="34" charset="0"/>
                <a:ea typeface="Noto Sans KR" pitchFamily="34" charset="-122"/>
                <a:cs typeface="Noto Sans KR" pitchFamily="34" charset="-120"/>
              </a:rPr>
              <a:t>체계적 평가 없이는 의사결정의 일관성을 담보할 수 없다</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A2744"/>
          </a:solidFill>
          <a:ln/>
        </p:spPr>
        <p:txBody>
          <a:bodyPr/>
          <a:lstStyle/>
          <a:p>
            <a:endParaRPr lang="ko-KR" altLang="en-US"/>
          </a:p>
        </p:txBody>
      </p:sp>
      <p:pic>
        <p:nvPicPr>
          <p:cNvPr id="3" name="Image 0" descr="preencoded.png"/>
          <p:cNvPicPr>
            <a:picLocks noChangeAspect="1"/>
          </p:cNvPicPr>
          <p:nvPr/>
        </p:nvPicPr>
        <p:blipFill>
          <a:blip r:embed="rId3">
            <a:duotone>
              <a:prstClr val="black"/>
              <a:schemeClr val="accent2">
                <a:tint val="45000"/>
                <a:satMod val="400000"/>
              </a:schemeClr>
            </a:duotone>
          </a:blip>
          <a:stretch>
            <a:fillRect/>
          </a:stretch>
        </p:blipFill>
        <p:spPr>
          <a:xfrm>
            <a:off x="7772400" y="274320"/>
            <a:ext cx="411480" cy="411480"/>
          </a:xfrm>
          <a:prstGeom prst="rect">
            <a:avLst/>
          </a:prstGeom>
        </p:spPr>
      </p:pic>
      <p:sp>
        <p:nvSpPr>
          <p:cNvPr id="4" name="Text 1"/>
          <p:cNvSpPr/>
          <p:nvPr/>
        </p:nvSpPr>
        <p:spPr>
          <a:xfrm>
            <a:off x="640080" y="274320"/>
            <a:ext cx="7315200" cy="548640"/>
          </a:xfrm>
          <a:prstGeom prst="rect">
            <a:avLst/>
          </a:prstGeom>
          <a:noFill/>
          <a:ln/>
        </p:spPr>
        <p:txBody>
          <a:bodyPr wrap="square" lIns="0" tIns="0" rIns="0" bIns="0" rtlCol="0" anchor="ctr"/>
          <a:lstStyle/>
          <a:p>
            <a:pPr marL="0" indent="0">
              <a:buNone/>
            </a:pPr>
            <a:r>
              <a:rPr lang="en-US" sz="2800" b="1" dirty="0">
                <a:solidFill>
                  <a:srgbClr val="1A2744"/>
                </a:solidFill>
                <a:latin typeface="Noto Sans KR" pitchFamily="34" charset="0"/>
                <a:ea typeface="Noto Sans KR" pitchFamily="34" charset="-122"/>
                <a:cs typeface="Noto Sans KR" pitchFamily="34" charset="-120"/>
              </a:rPr>
              <a:t>한국 </a:t>
            </a:r>
            <a:r>
              <a:rPr lang="en-US" sz="2800" b="1" dirty="0" err="1">
                <a:solidFill>
                  <a:srgbClr val="1A2744"/>
                </a:solidFill>
                <a:latin typeface="Noto Sans KR" pitchFamily="34" charset="0"/>
                <a:ea typeface="Noto Sans KR" pitchFamily="34" charset="-122"/>
                <a:cs typeface="Noto Sans KR" pitchFamily="34" charset="-120"/>
              </a:rPr>
              <a:t>상황</a:t>
            </a:r>
            <a:r>
              <a:rPr lang="en-US" sz="2800" b="1" dirty="0">
                <a:solidFill>
                  <a:srgbClr val="1A2744"/>
                </a:solidFill>
                <a:latin typeface="Noto Sans KR" pitchFamily="34" charset="0"/>
                <a:ea typeface="Noto Sans KR" pitchFamily="34" charset="-122"/>
                <a:cs typeface="Noto Sans KR" pitchFamily="34" charset="-120"/>
              </a:rPr>
              <a:t> </a:t>
            </a:r>
            <a:r>
              <a:rPr lang="en-US" sz="2800" b="1" dirty="0" err="1">
                <a:solidFill>
                  <a:srgbClr val="1A2744"/>
                </a:solidFill>
                <a:latin typeface="Noto Sans KR" pitchFamily="34" charset="0"/>
                <a:ea typeface="Noto Sans KR" pitchFamily="34" charset="-122"/>
                <a:cs typeface="Noto Sans KR" pitchFamily="34" charset="-120"/>
              </a:rPr>
              <a:t>적용</a:t>
            </a:r>
            <a:endParaRPr lang="en-US" sz="2800" dirty="0"/>
          </a:p>
        </p:txBody>
      </p:sp>
      <p:sp>
        <p:nvSpPr>
          <p:cNvPr id="5" name="Shape 2"/>
          <p:cNvSpPr/>
          <p:nvPr/>
        </p:nvSpPr>
        <p:spPr>
          <a:xfrm>
            <a:off x="640080" y="1005840"/>
            <a:ext cx="786384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6" name="Shape 3"/>
          <p:cNvSpPr/>
          <p:nvPr/>
        </p:nvSpPr>
        <p:spPr>
          <a:xfrm>
            <a:off x="640080" y="1005840"/>
            <a:ext cx="64008" cy="868680"/>
          </a:xfrm>
          <a:prstGeom prst="rect">
            <a:avLst/>
          </a:prstGeom>
          <a:solidFill>
            <a:srgbClr val="2A9D8F"/>
          </a:solidFill>
          <a:ln/>
        </p:spPr>
        <p:txBody>
          <a:bodyPr/>
          <a:lstStyle/>
          <a:p>
            <a:endParaRPr lang="ko-KR" altLang="en-US"/>
          </a:p>
        </p:txBody>
      </p:sp>
      <p:sp>
        <p:nvSpPr>
          <p:cNvPr id="7" name="Text 4"/>
          <p:cNvSpPr/>
          <p:nvPr/>
        </p:nvSpPr>
        <p:spPr>
          <a:xfrm>
            <a:off x="914400" y="1051560"/>
            <a:ext cx="7315200" cy="274320"/>
          </a:xfrm>
          <a:prstGeom prst="rect">
            <a:avLst/>
          </a:prstGeom>
          <a:noFill/>
          <a:ln/>
        </p:spPr>
        <p:txBody>
          <a:bodyPr wrap="square" lIns="0" tIns="0" rIns="0" bIns="0" rtlCol="0" anchor="ctr"/>
          <a:lstStyle/>
          <a:p>
            <a:pPr marL="0" indent="0">
              <a:buNone/>
            </a:pPr>
            <a:r>
              <a:rPr lang="en-US" sz="1400" b="1" dirty="0">
                <a:solidFill>
                  <a:srgbClr val="1A2744"/>
                </a:solidFill>
                <a:latin typeface="Noto Sans KR" pitchFamily="34" charset="0"/>
                <a:ea typeface="Noto Sans KR" pitchFamily="34" charset="-122"/>
                <a:cs typeface="Noto Sans KR" pitchFamily="34" charset="-120"/>
              </a:rPr>
              <a:t>학벌 중심 채용 문화</a:t>
            </a:r>
            <a:endParaRPr lang="en-US" sz="1400" dirty="0"/>
          </a:p>
        </p:txBody>
      </p:sp>
      <p:sp>
        <p:nvSpPr>
          <p:cNvPr id="8" name="Text 5"/>
          <p:cNvSpPr/>
          <p:nvPr/>
        </p:nvSpPr>
        <p:spPr>
          <a:xfrm>
            <a:off x="914400" y="1353312"/>
            <a:ext cx="7315200" cy="45720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SG 코웬의 '학교 티어' 전략은 한국의 학벌 편향과 유사. 칩 레이처럼 '차순위 학교 상위권'을 선택하는 전략은 한국에서도 유효할 수 있음</a:t>
            </a:r>
            <a:endParaRPr lang="en-US" sz="1100" dirty="0"/>
          </a:p>
        </p:txBody>
      </p:sp>
      <p:sp>
        <p:nvSpPr>
          <p:cNvPr id="9" name="Shape 6"/>
          <p:cNvSpPr/>
          <p:nvPr/>
        </p:nvSpPr>
        <p:spPr>
          <a:xfrm>
            <a:off x="640080" y="2011680"/>
            <a:ext cx="786384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10" name="Shape 7"/>
          <p:cNvSpPr/>
          <p:nvPr/>
        </p:nvSpPr>
        <p:spPr>
          <a:xfrm>
            <a:off x="640080" y="2011680"/>
            <a:ext cx="64008" cy="868680"/>
          </a:xfrm>
          <a:prstGeom prst="rect">
            <a:avLst/>
          </a:prstGeom>
          <a:solidFill>
            <a:srgbClr val="E85D5D"/>
          </a:solidFill>
          <a:ln/>
        </p:spPr>
        <p:txBody>
          <a:bodyPr/>
          <a:lstStyle/>
          <a:p>
            <a:endParaRPr lang="ko-KR" altLang="en-US"/>
          </a:p>
        </p:txBody>
      </p:sp>
      <p:sp>
        <p:nvSpPr>
          <p:cNvPr id="11" name="Text 8"/>
          <p:cNvSpPr/>
          <p:nvPr/>
        </p:nvSpPr>
        <p:spPr>
          <a:xfrm>
            <a:off x="914400" y="2057400"/>
            <a:ext cx="7315200" cy="274320"/>
          </a:xfrm>
          <a:prstGeom prst="rect">
            <a:avLst/>
          </a:prstGeom>
          <a:noFill/>
          <a:ln/>
        </p:spPr>
        <p:txBody>
          <a:bodyPr wrap="square" lIns="0" tIns="0" rIns="0" bIns="0" rtlCol="0" anchor="ctr"/>
          <a:lstStyle/>
          <a:p>
            <a:pPr marL="0" indent="0">
              <a:buNone/>
            </a:pPr>
            <a:r>
              <a:rPr lang="en-US" sz="1400" b="1" dirty="0">
                <a:solidFill>
                  <a:srgbClr val="1A2744"/>
                </a:solidFill>
                <a:latin typeface="Noto Sans KR" pitchFamily="34" charset="0"/>
                <a:ea typeface="Noto Sans KR" pitchFamily="34" charset="-122"/>
                <a:cs typeface="Noto Sans KR" pitchFamily="34" charset="-120"/>
              </a:rPr>
              <a:t>기혼자·육아자 차별 (켄 골드스틴 사례)</a:t>
            </a:r>
            <a:endParaRPr lang="en-US" sz="1400" dirty="0"/>
          </a:p>
        </p:txBody>
      </p:sp>
      <p:sp>
        <p:nvSpPr>
          <p:cNvPr id="12" name="Text 9"/>
          <p:cNvSpPr/>
          <p:nvPr/>
        </p:nvSpPr>
        <p:spPr>
          <a:xfrm>
            <a:off x="914400" y="2359152"/>
            <a:ext cx="7315200" cy="45720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한국 「남녀고용평등법」은 혼인·임신·출산을 이유로 한 불이익을 금지. 하지만 실무에서 '야근 가능 여부', '헌신도'라는 이름으로 유사한 편견이 작동</a:t>
            </a:r>
            <a:endParaRPr lang="en-US" sz="1100" dirty="0"/>
          </a:p>
        </p:txBody>
      </p:sp>
      <p:sp>
        <p:nvSpPr>
          <p:cNvPr id="13" name="Shape 10"/>
          <p:cNvSpPr/>
          <p:nvPr/>
        </p:nvSpPr>
        <p:spPr>
          <a:xfrm>
            <a:off x="640080" y="3017520"/>
            <a:ext cx="786384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14" name="Shape 11"/>
          <p:cNvSpPr/>
          <p:nvPr/>
        </p:nvSpPr>
        <p:spPr>
          <a:xfrm>
            <a:off x="640080" y="3017520"/>
            <a:ext cx="64008" cy="868680"/>
          </a:xfrm>
          <a:prstGeom prst="rect">
            <a:avLst/>
          </a:prstGeom>
          <a:solidFill>
            <a:srgbClr val="1A2744"/>
          </a:solidFill>
          <a:ln/>
        </p:spPr>
        <p:txBody>
          <a:bodyPr/>
          <a:lstStyle/>
          <a:p>
            <a:endParaRPr lang="ko-KR" altLang="en-US"/>
          </a:p>
        </p:txBody>
      </p:sp>
      <p:sp>
        <p:nvSpPr>
          <p:cNvPr id="15" name="Text 12"/>
          <p:cNvSpPr/>
          <p:nvPr/>
        </p:nvSpPr>
        <p:spPr>
          <a:xfrm>
            <a:off x="914400" y="3063240"/>
            <a:ext cx="7315200" cy="274320"/>
          </a:xfrm>
          <a:prstGeom prst="rect">
            <a:avLst/>
          </a:prstGeom>
          <a:noFill/>
          <a:ln/>
        </p:spPr>
        <p:txBody>
          <a:bodyPr wrap="square" lIns="0" tIns="0" rIns="0" bIns="0" rtlCol="0" anchor="ctr"/>
          <a:lstStyle/>
          <a:p>
            <a:pPr marL="0" indent="0">
              <a:buNone/>
            </a:pPr>
            <a:r>
              <a:rPr lang="en-US" sz="1400" b="1" dirty="0">
                <a:solidFill>
                  <a:srgbClr val="1A2744"/>
                </a:solidFill>
                <a:latin typeface="Noto Sans KR" pitchFamily="34" charset="0"/>
                <a:ea typeface="Noto Sans KR" pitchFamily="34" charset="-122"/>
                <a:cs typeface="Noto Sans KR" pitchFamily="34" charset="-120"/>
              </a:rPr>
              <a:t>외국인 인재 채용 편견 (나탈리아 사례)</a:t>
            </a:r>
            <a:endParaRPr lang="en-US" sz="1400" dirty="0"/>
          </a:p>
        </p:txBody>
      </p:sp>
      <p:sp>
        <p:nvSpPr>
          <p:cNvPr id="16" name="Text 13"/>
          <p:cNvSpPr/>
          <p:nvPr/>
        </p:nvSpPr>
        <p:spPr>
          <a:xfrm>
            <a:off x="914400" y="3364992"/>
            <a:ext cx="7315200" cy="45720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한국 기업의 글로벌화에 따라 외국인 인재 채용 증가. '문화 적합성' 기준이 다양성을 저해하는 배제 논리로 작용할 수 있음</a:t>
            </a:r>
            <a:endParaRPr lang="en-US" sz="1100" dirty="0"/>
          </a:p>
        </p:txBody>
      </p:sp>
      <p:sp>
        <p:nvSpPr>
          <p:cNvPr id="17" name="Shape 14"/>
          <p:cNvSpPr/>
          <p:nvPr/>
        </p:nvSpPr>
        <p:spPr>
          <a:xfrm>
            <a:off x="640080" y="4023360"/>
            <a:ext cx="786384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ko-KR" altLang="en-US"/>
          </a:p>
        </p:txBody>
      </p:sp>
      <p:sp>
        <p:nvSpPr>
          <p:cNvPr id="18" name="Shape 15"/>
          <p:cNvSpPr/>
          <p:nvPr/>
        </p:nvSpPr>
        <p:spPr>
          <a:xfrm>
            <a:off x="640080" y="4023360"/>
            <a:ext cx="64008" cy="868680"/>
          </a:xfrm>
          <a:prstGeom prst="rect">
            <a:avLst/>
          </a:prstGeom>
          <a:solidFill>
            <a:srgbClr val="D4A84B"/>
          </a:solidFill>
          <a:ln/>
        </p:spPr>
        <p:txBody>
          <a:bodyPr/>
          <a:lstStyle/>
          <a:p>
            <a:endParaRPr lang="ko-KR" altLang="en-US"/>
          </a:p>
        </p:txBody>
      </p:sp>
      <p:sp>
        <p:nvSpPr>
          <p:cNvPr id="19" name="Text 16"/>
          <p:cNvSpPr/>
          <p:nvPr/>
        </p:nvSpPr>
        <p:spPr>
          <a:xfrm>
            <a:off x="914400" y="4069080"/>
            <a:ext cx="7315200" cy="274320"/>
          </a:xfrm>
          <a:prstGeom prst="rect">
            <a:avLst/>
          </a:prstGeom>
          <a:noFill/>
          <a:ln/>
        </p:spPr>
        <p:txBody>
          <a:bodyPr wrap="square" lIns="0" tIns="0" rIns="0" bIns="0" rtlCol="0" anchor="ctr"/>
          <a:lstStyle/>
          <a:p>
            <a:pPr marL="0" indent="0">
              <a:buNone/>
            </a:pPr>
            <a:r>
              <a:rPr lang="en-US" sz="1400" b="1" dirty="0">
                <a:solidFill>
                  <a:srgbClr val="1A2744"/>
                </a:solidFill>
                <a:latin typeface="Noto Sans KR" pitchFamily="34" charset="0"/>
                <a:ea typeface="Noto Sans KR" pitchFamily="34" charset="-122"/>
                <a:cs typeface="Noto Sans KR" pitchFamily="34" charset="-120"/>
              </a:rPr>
              <a:t>구조화된 면접 도입 필요</a:t>
            </a:r>
            <a:endParaRPr lang="en-US" sz="1400" dirty="0"/>
          </a:p>
        </p:txBody>
      </p:sp>
      <p:sp>
        <p:nvSpPr>
          <p:cNvPr id="20" name="Text 17"/>
          <p:cNvSpPr/>
          <p:nvPr/>
        </p:nvSpPr>
        <p:spPr>
          <a:xfrm>
            <a:off x="914400" y="4370832"/>
            <a:ext cx="7315200" cy="457200"/>
          </a:xfrm>
          <a:prstGeom prst="rect">
            <a:avLst/>
          </a:prstGeom>
          <a:noFill/>
          <a:ln/>
        </p:spPr>
        <p:txBody>
          <a:bodyPr wrap="square" lIns="0" tIns="0" rIns="0" bIns="0" rtlCol="0" anchor="ctr"/>
          <a:lstStyle/>
          <a:p>
            <a:pPr marL="0" indent="0">
              <a:buNone/>
            </a:pPr>
            <a:r>
              <a:rPr lang="en-US" sz="1100" dirty="0">
                <a:solidFill>
                  <a:srgbClr val="4A5568"/>
                </a:solidFill>
                <a:latin typeface="Noto Sans KR" pitchFamily="34" charset="0"/>
                <a:ea typeface="Noto Sans KR" pitchFamily="34" charset="-122"/>
                <a:cs typeface="Noto Sans KR" pitchFamily="34" charset="-120"/>
              </a:rPr>
              <a:t>한국 대기업 대부분이 구조화 면접을 도입 중이나, 중소·중견 기업은 여전히 비구조화 면접 의존. 편견 최소화를 위한 체계적 평가 도구 확산 필요</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F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B"/>
          </a:solidFill>
          <a:ln/>
        </p:spPr>
        <p:txBody>
          <a:bodyPr/>
          <a:lstStyle/>
          <a:p>
            <a:endParaRPr lang="ko-KR" altLang="en-US"/>
          </a:p>
        </p:txBody>
      </p:sp>
      <p:pic>
        <p:nvPicPr>
          <p:cNvPr id="3" name="Image 0" descr="preencoded.png"/>
          <p:cNvPicPr>
            <a:picLocks noChangeAspect="1"/>
          </p:cNvPicPr>
          <p:nvPr/>
        </p:nvPicPr>
        <p:blipFill>
          <a:blip r:embed="rId3"/>
          <a:stretch>
            <a:fillRect/>
          </a:stretch>
        </p:blipFill>
        <p:spPr>
          <a:xfrm>
            <a:off x="640080" y="365760"/>
            <a:ext cx="411480" cy="411480"/>
          </a:xfrm>
          <a:prstGeom prst="rect">
            <a:avLst/>
          </a:prstGeom>
        </p:spPr>
      </p:pic>
      <p:sp>
        <p:nvSpPr>
          <p:cNvPr id="4" name="Text 1"/>
          <p:cNvSpPr/>
          <p:nvPr/>
        </p:nvSpPr>
        <p:spPr>
          <a:xfrm>
            <a:off x="1188720" y="320040"/>
            <a:ext cx="731520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KR" pitchFamily="34" charset="0"/>
                <a:ea typeface="Noto Sans KR" pitchFamily="34" charset="-122"/>
                <a:cs typeface="Noto Sans KR" pitchFamily="34" charset="-120"/>
              </a:rPr>
              <a:t>토론 거리</a:t>
            </a:r>
            <a:endParaRPr lang="en-US" sz="2800" dirty="0"/>
          </a:p>
        </p:txBody>
      </p:sp>
      <p:sp>
        <p:nvSpPr>
          <p:cNvPr id="5" name="Shape 2"/>
          <p:cNvSpPr/>
          <p:nvPr/>
        </p:nvSpPr>
        <p:spPr>
          <a:xfrm>
            <a:off x="640080" y="1005840"/>
            <a:ext cx="7863840" cy="685800"/>
          </a:xfrm>
          <a:prstGeom prst="rect">
            <a:avLst/>
          </a:prstGeom>
          <a:solidFill>
            <a:srgbClr val="233456"/>
          </a:solidFill>
          <a:ln/>
        </p:spPr>
        <p:txBody>
          <a:bodyPr/>
          <a:lstStyle/>
          <a:p>
            <a:endParaRPr lang="ko-KR" altLang="en-US"/>
          </a:p>
        </p:txBody>
      </p:sp>
      <p:sp>
        <p:nvSpPr>
          <p:cNvPr id="6" name="Text 3"/>
          <p:cNvSpPr/>
          <p:nvPr/>
        </p:nvSpPr>
        <p:spPr>
          <a:xfrm>
            <a:off x="822960" y="1051560"/>
            <a:ext cx="457200" cy="274320"/>
          </a:xfrm>
          <a:prstGeom prst="rect">
            <a:avLst/>
          </a:prstGeom>
          <a:noFill/>
          <a:ln/>
        </p:spPr>
        <p:txBody>
          <a:bodyPr wrap="square" lIns="0" tIns="0" rIns="0" bIns="0" rtlCol="0" anchor="ctr"/>
          <a:lstStyle/>
          <a:p>
            <a:pPr marL="0" indent="0">
              <a:buNone/>
            </a:pPr>
            <a:r>
              <a:rPr lang="en-US" sz="1600" b="1" dirty="0">
                <a:solidFill>
                  <a:srgbClr val="D4A84B"/>
                </a:solidFill>
                <a:latin typeface="Noto Sans KR" pitchFamily="34" charset="0"/>
                <a:ea typeface="Noto Sans KR" pitchFamily="34" charset="-122"/>
                <a:cs typeface="Noto Sans KR" pitchFamily="34" charset="-120"/>
              </a:rPr>
              <a:t>Q1</a:t>
            </a:r>
            <a:endParaRPr lang="en-US" sz="1600" dirty="0"/>
          </a:p>
        </p:txBody>
      </p:sp>
      <p:sp>
        <p:nvSpPr>
          <p:cNvPr id="7" name="Text 4"/>
          <p:cNvSpPr/>
          <p:nvPr/>
        </p:nvSpPr>
        <p:spPr>
          <a:xfrm>
            <a:off x="1371600" y="1033272"/>
            <a:ext cx="6858000" cy="320040"/>
          </a:xfrm>
          <a:prstGeom prst="rect">
            <a:avLst/>
          </a:prstGeom>
          <a:noFill/>
          <a:ln/>
        </p:spPr>
        <p:txBody>
          <a:bodyPr wrap="square" lIns="0" tIns="0" rIns="0" bIns="0" rtlCol="0" anchor="ct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여러분이 칩 레이라면, 4명 중 누구 2명을 선택하시겠습니까?</a:t>
            </a:r>
            <a:endParaRPr lang="en-US" sz="1300" dirty="0"/>
          </a:p>
        </p:txBody>
      </p:sp>
      <p:sp>
        <p:nvSpPr>
          <p:cNvPr id="8" name="Text 5"/>
          <p:cNvSpPr/>
          <p:nvPr/>
        </p:nvSpPr>
        <p:spPr>
          <a:xfrm>
            <a:off x="1371600" y="1371600"/>
            <a:ext cx="6858000" cy="274320"/>
          </a:xfrm>
          <a:prstGeom prst="rect">
            <a:avLst/>
          </a:prstGeom>
          <a:noFill/>
          <a:ln/>
        </p:spPr>
        <p:txBody>
          <a:bodyPr wrap="square" lIns="0" tIns="0" rIns="0" bIns="0" rtlCol="0" anchor="ctr"/>
          <a:lstStyle/>
          <a:p>
            <a:pPr marL="0" indent="0">
              <a:buNone/>
            </a:pPr>
            <a:r>
              <a:rPr lang="en-US" sz="1100" dirty="0">
                <a:solidFill>
                  <a:srgbClr val="8A98AD"/>
                </a:solidFill>
                <a:latin typeface="Noto Sans KR" pitchFamily="34" charset="0"/>
                <a:ea typeface="Noto Sans KR" pitchFamily="34" charset="-122"/>
                <a:cs typeface="Noto Sans KR" pitchFamily="34" charset="-120"/>
              </a:rPr>
              <a:t>그 이유는 무엇이며, 선택하지 않은 2명을 포기하는 근거는?</a:t>
            </a:r>
            <a:endParaRPr lang="en-US" sz="1100" dirty="0"/>
          </a:p>
        </p:txBody>
      </p:sp>
      <p:sp>
        <p:nvSpPr>
          <p:cNvPr id="9" name="Shape 6"/>
          <p:cNvSpPr/>
          <p:nvPr/>
        </p:nvSpPr>
        <p:spPr>
          <a:xfrm>
            <a:off x="640080" y="1810512"/>
            <a:ext cx="7863840" cy="685800"/>
          </a:xfrm>
          <a:prstGeom prst="rect">
            <a:avLst/>
          </a:prstGeom>
          <a:solidFill>
            <a:srgbClr val="233456"/>
          </a:solidFill>
          <a:ln/>
        </p:spPr>
        <p:txBody>
          <a:bodyPr/>
          <a:lstStyle/>
          <a:p>
            <a:endParaRPr lang="ko-KR" altLang="en-US"/>
          </a:p>
        </p:txBody>
      </p:sp>
      <p:sp>
        <p:nvSpPr>
          <p:cNvPr id="10" name="Text 7"/>
          <p:cNvSpPr/>
          <p:nvPr/>
        </p:nvSpPr>
        <p:spPr>
          <a:xfrm>
            <a:off x="822960" y="1856232"/>
            <a:ext cx="457200" cy="274320"/>
          </a:xfrm>
          <a:prstGeom prst="rect">
            <a:avLst/>
          </a:prstGeom>
          <a:noFill/>
          <a:ln/>
        </p:spPr>
        <p:txBody>
          <a:bodyPr wrap="square" lIns="0" tIns="0" rIns="0" bIns="0" rtlCol="0" anchor="ctr"/>
          <a:lstStyle/>
          <a:p>
            <a:pPr marL="0" indent="0">
              <a:buNone/>
            </a:pPr>
            <a:r>
              <a:rPr lang="en-US" sz="1600" b="1" dirty="0">
                <a:solidFill>
                  <a:srgbClr val="D4A84B"/>
                </a:solidFill>
                <a:latin typeface="Noto Sans KR" pitchFamily="34" charset="0"/>
                <a:ea typeface="Noto Sans KR" pitchFamily="34" charset="-122"/>
                <a:cs typeface="Noto Sans KR" pitchFamily="34" charset="-120"/>
              </a:rPr>
              <a:t>Q2</a:t>
            </a:r>
            <a:endParaRPr lang="en-US" sz="1600" dirty="0"/>
          </a:p>
        </p:txBody>
      </p:sp>
      <p:sp>
        <p:nvSpPr>
          <p:cNvPr id="11" name="Text 8"/>
          <p:cNvSpPr/>
          <p:nvPr/>
        </p:nvSpPr>
        <p:spPr>
          <a:xfrm>
            <a:off x="1371600" y="1837944"/>
            <a:ext cx="6858000" cy="320040"/>
          </a:xfrm>
          <a:prstGeom prst="rect">
            <a:avLst/>
          </a:prstGeom>
          <a:noFill/>
          <a:ln/>
        </p:spPr>
        <p:txBody>
          <a:bodyPr wrap="square" lIns="0" tIns="0" rIns="0" bIns="0" rtlCol="0" anchor="ct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'문화 적합성'의 정당한 범위는 어디까지인가?</a:t>
            </a:r>
            <a:endParaRPr lang="en-US" sz="1300" dirty="0"/>
          </a:p>
        </p:txBody>
      </p:sp>
      <p:sp>
        <p:nvSpPr>
          <p:cNvPr id="12" name="Text 9"/>
          <p:cNvSpPr/>
          <p:nvPr/>
        </p:nvSpPr>
        <p:spPr>
          <a:xfrm>
            <a:off x="1371600" y="2176272"/>
            <a:ext cx="6858000" cy="274320"/>
          </a:xfrm>
          <a:prstGeom prst="rect">
            <a:avLst/>
          </a:prstGeom>
          <a:noFill/>
          <a:ln/>
        </p:spPr>
        <p:txBody>
          <a:bodyPr wrap="square" lIns="0" tIns="0" rIns="0" bIns="0" rtlCol="0" anchor="ctr"/>
          <a:lstStyle/>
          <a:p>
            <a:pPr marL="0" indent="0">
              <a:buNone/>
            </a:pPr>
            <a:r>
              <a:rPr lang="en-US" sz="1100" dirty="0">
                <a:solidFill>
                  <a:srgbClr val="8A98AD"/>
                </a:solidFill>
                <a:latin typeface="Noto Sans KR" pitchFamily="34" charset="0"/>
                <a:ea typeface="Noto Sans KR" pitchFamily="34" charset="-122"/>
                <a:cs typeface="Noto Sans KR" pitchFamily="34" charset="-120"/>
              </a:rPr>
              <a:t>나탈리아의 '딱딱함'은 문화 부적합인가, 문화적 편견인가?</a:t>
            </a:r>
            <a:endParaRPr lang="en-US" sz="1100" dirty="0"/>
          </a:p>
        </p:txBody>
      </p:sp>
      <p:sp>
        <p:nvSpPr>
          <p:cNvPr id="13" name="Shape 10"/>
          <p:cNvSpPr/>
          <p:nvPr/>
        </p:nvSpPr>
        <p:spPr>
          <a:xfrm>
            <a:off x="640080" y="2615184"/>
            <a:ext cx="7863840" cy="685800"/>
          </a:xfrm>
          <a:prstGeom prst="rect">
            <a:avLst/>
          </a:prstGeom>
          <a:solidFill>
            <a:srgbClr val="233456"/>
          </a:solidFill>
          <a:ln/>
        </p:spPr>
        <p:txBody>
          <a:bodyPr/>
          <a:lstStyle/>
          <a:p>
            <a:endParaRPr lang="ko-KR" altLang="en-US"/>
          </a:p>
        </p:txBody>
      </p:sp>
      <p:sp>
        <p:nvSpPr>
          <p:cNvPr id="14" name="Text 11"/>
          <p:cNvSpPr/>
          <p:nvPr/>
        </p:nvSpPr>
        <p:spPr>
          <a:xfrm>
            <a:off x="822960" y="2660904"/>
            <a:ext cx="457200" cy="274320"/>
          </a:xfrm>
          <a:prstGeom prst="rect">
            <a:avLst/>
          </a:prstGeom>
          <a:noFill/>
          <a:ln/>
        </p:spPr>
        <p:txBody>
          <a:bodyPr wrap="square" lIns="0" tIns="0" rIns="0" bIns="0" rtlCol="0" anchor="ctr"/>
          <a:lstStyle/>
          <a:p>
            <a:pPr marL="0" indent="0">
              <a:buNone/>
            </a:pPr>
            <a:r>
              <a:rPr lang="en-US" sz="1600" b="1" dirty="0">
                <a:solidFill>
                  <a:srgbClr val="D4A84B"/>
                </a:solidFill>
                <a:latin typeface="Noto Sans KR" pitchFamily="34" charset="0"/>
                <a:ea typeface="Noto Sans KR" pitchFamily="34" charset="-122"/>
                <a:cs typeface="Noto Sans KR" pitchFamily="34" charset="-120"/>
              </a:rPr>
              <a:t>Q3</a:t>
            </a:r>
            <a:endParaRPr lang="en-US" sz="1600" dirty="0"/>
          </a:p>
        </p:txBody>
      </p:sp>
      <p:sp>
        <p:nvSpPr>
          <p:cNvPr id="15" name="Text 12"/>
          <p:cNvSpPr/>
          <p:nvPr/>
        </p:nvSpPr>
        <p:spPr>
          <a:xfrm>
            <a:off x="1371600" y="2642616"/>
            <a:ext cx="6858000" cy="320040"/>
          </a:xfrm>
          <a:prstGeom prst="rect">
            <a:avLst/>
          </a:prstGeom>
          <a:noFill/>
          <a:ln/>
        </p:spPr>
        <p:txBody>
          <a:bodyPr wrap="square" lIns="0" tIns="0" rIns="0" bIns="0" rtlCol="0" anchor="ct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개인 생활(가정, 취미 등)이 채용 결정에 영향을 미쳐야 하는가?</a:t>
            </a:r>
            <a:endParaRPr lang="en-US" sz="1300" dirty="0"/>
          </a:p>
        </p:txBody>
      </p:sp>
      <p:sp>
        <p:nvSpPr>
          <p:cNvPr id="16" name="Text 13"/>
          <p:cNvSpPr/>
          <p:nvPr/>
        </p:nvSpPr>
        <p:spPr>
          <a:xfrm>
            <a:off x="1371600" y="2980944"/>
            <a:ext cx="6858000" cy="274320"/>
          </a:xfrm>
          <a:prstGeom prst="rect">
            <a:avLst/>
          </a:prstGeom>
          <a:noFill/>
          <a:ln/>
        </p:spPr>
        <p:txBody>
          <a:bodyPr wrap="square" lIns="0" tIns="0" rIns="0" bIns="0" rtlCol="0" anchor="ctr"/>
          <a:lstStyle/>
          <a:p>
            <a:pPr marL="0" indent="0">
              <a:buNone/>
            </a:pPr>
            <a:r>
              <a:rPr lang="en-US" sz="1100" dirty="0">
                <a:solidFill>
                  <a:srgbClr val="8A98AD"/>
                </a:solidFill>
                <a:latin typeface="Noto Sans KR" pitchFamily="34" charset="0"/>
                <a:ea typeface="Noto Sans KR" pitchFamily="34" charset="-122"/>
                <a:cs typeface="Noto Sans KR" pitchFamily="34" charset="-120"/>
              </a:rPr>
              <a:t>켄의 '어린 자녀' 우려는 합리적 판단인가, 차별인가?</a:t>
            </a:r>
            <a:endParaRPr lang="en-US" sz="1100" dirty="0"/>
          </a:p>
        </p:txBody>
      </p:sp>
      <p:sp>
        <p:nvSpPr>
          <p:cNvPr id="17" name="Shape 14"/>
          <p:cNvSpPr/>
          <p:nvPr/>
        </p:nvSpPr>
        <p:spPr>
          <a:xfrm>
            <a:off x="640080" y="3419856"/>
            <a:ext cx="7863840" cy="685800"/>
          </a:xfrm>
          <a:prstGeom prst="rect">
            <a:avLst/>
          </a:prstGeom>
          <a:solidFill>
            <a:srgbClr val="233456"/>
          </a:solidFill>
          <a:ln/>
        </p:spPr>
        <p:txBody>
          <a:bodyPr/>
          <a:lstStyle/>
          <a:p>
            <a:endParaRPr lang="ko-KR" altLang="en-US"/>
          </a:p>
        </p:txBody>
      </p:sp>
      <p:sp>
        <p:nvSpPr>
          <p:cNvPr id="18" name="Text 15"/>
          <p:cNvSpPr/>
          <p:nvPr/>
        </p:nvSpPr>
        <p:spPr>
          <a:xfrm>
            <a:off x="822960" y="3465576"/>
            <a:ext cx="457200" cy="274320"/>
          </a:xfrm>
          <a:prstGeom prst="rect">
            <a:avLst/>
          </a:prstGeom>
          <a:noFill/>
          <a:ln/>
        </p:spPr>
        <p:txBody>
          <a:bodyPr wrap="square" lIns="0" tIns="0" rIns="0" bIns="0" rtlCol="0" anchor="ctr"/>
          <a:lstStyle/>
          <a:p>
            <a:pPr marL="0" indent="0">
              <a:buNone/>
            </a:pPr>
            <a:r>
              <a:rPr lang="en-US" sz="1600" b="1" dirty="0">
                <a:solidFill>
                  <a:srgbClr val="D4A84B"/>
                </a:solidFill>
                <a:latin typeface="Noto Sans KR" pitchFamily="34" charset="0"/>
                <a:ea typeface="Noto Sans KR" pitchFamily="34" charset="-122"/>
                <a:cs typeface="Noto Sans KR" pitchFamily="34" charset="-120"/>
              </a:rPr>
              <a:t>Q4</a:t>
            </a:r>
            <a:endParaRPr lang="en-US" sz="1600" dirty="0"/>
          </a:p>
        </p:txBody>
      </p:sp>
      <p:sp>
        <p:nvSpPr>
          <p:cNvPr id="19" name="Text 16"/>
          <p:cNvSpPr/>
          <p:nvPr/>
        </p:nvSpPr>
        <p:spPr>
          <a:xfrm>
            <a:off x="1371600" y="3447288"/>
            <a:ext cx="6858000" cy="320040"/>
          </a:xfrm>
          <a:prstGeom prst="rect">
            <a:avLst/>
          </a:prstGeom>
          <a:noFill/>
          <a:ln/>
        </p:spPr>
        <p:txBody>
          <a:bodyPr wrap="square" lIns="0" tIns="0" rIns="0" bIns="0" rtlCol="0" anchor="ct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GPA와 실제 업무 성과의 상관관계는 어느 정도인가?</a:t>
            </a:r>
            <a:endParaRPr lang="en-US" sz="1300" dirty="0"/>
          </a:p>
        </p:txBody>
      </p:sp>
      <p:sp>
        <p:nvSpPr>
          <p:cNvPr id="20" name="Text 17"/>
          <p:cNvSpPr/>
          <p:nvPr/>
        </p:nvSpPr>
        <p:spPr>
          <a:xfrm>
            <a:off x="1371600" y="3785616"/>
            <a:ext cx="6858000" cy="274320"/>
          </a:xfrm>
          <a:prstGeom prst="rect">
            <a:avLst/>
          </a:prstGeom>
          <a:noFill/>
          <a:ln/>
        </p:spPr>
        <p:txBody>
          <a:bodyPr wrap="square" lIns="0" tIns="0" rIns="0" bIns="0" rtlCol="0" anchor="ctr"/>
          <a:lstStyle/>
          <a:p>
            <a:pPr marL="0" indent="0">
              <a:buNone/>
            </a:pPr>
            <a:r>
              <a:rPr lang="en-US" sz="1100" dirty="0">
                <a:solidFill>
                  <a:srgbClr val="8A98AD"/>
                </a:solidFill>
                <a:latin typeface="Noto Sans KR" pitchFamily="34" charset="0"/>
                <a:ea typeface="Noto Sans KR" pitchFamily="34" charset="-122"/>
                <a:cs typeface="Noto Sans KR" pitchFamily="34" charset="-120"/>
              </a:rPr>
              <a:t>앤디의 낮은 학점 vs 높은 SAT/GMAT, 무엇이 더 나은 예측변수?</a:t>
            </a:r>
            <a:endParaRPr lang="en-US" sz="1100" dirty="0"/>
          </a:p>
        </p:txBody>
      </p:sp>
      <p:sp>
        <p:nvSpPr>
          <p:cNvPr id="21" name="Shape 18"/>
          <p:cNvSpPr/>
          <p:nvPr/>
        </p:nvSpPr>
        <p:spPr>
          <a:xfrm>
            <a:off x="640080" y="4224528"/>
            <a:ext cx="7863840" cy="685800"/>
          </a:xfrm>
          <a:prstGeom prst="rect">
            <a:avLst/>
          </a:prstGeom>
          <a:solidFill>
            <a:srgbClr val="233456"/>
          </a:solidFill>
          <a:ln/>
        </p:spPr>
        <p:txBody>
          <a:bodyPr/>
          <a:lstStyle/>
          <a:p>
            <a:endParaRPr lang="ko-KR" altLang="en-US"/>
          </a:p>
        </p:txBody>
      </p:sp>
      <p:sp>
        <p:nvSpPr>
          <p:cNvPr id="22" name="Text 19"/>
          <p:cNvSpPr/>
          <p:nvPr/>
        </p:nvSpPr>
        <p:spPr>
          <a:xfrm>
            <a:off x="822960" y="4270248"/>
            <a:ext cx="457200" cy="274320"/>
          </a:xfrm>
          <a:prstGeom prst="rect">
            <a:avLst/>
          </a:prstGeom>
          <a:noFill/>
          <a:ln/>
        </p:spPr>
        <p:txBody>
          <a:bodyPr wrap="square" lIns="0" tIns="0" rIns="0" bIns="0" rtlCol="0" anchor="ctr"/>
          <a:lstStyle/>
          <a:p>
            <a:pPr marL="0" indent="0">
              <a:buNone/>
            </a:pPr>
            <a:r>
              <a:rPr lang="en-US" sz="1600" b="1" dirty="0">
                <a:solidFill>
                  <a:srgbClr val="D4A84B"/>
                </a:solidFill>
                <a:latin typeface="Noto Sans KR" pitchFamily="34" charset="0"/>
                <a:ea typeface="Noto Sans KR" pitchFamily="34" charset="-122"/>
                <a:cs typeface="Noto Sans KR" pitchFamily="34" charset="-120"/>
              </a:rPr>
              <a:t>Q5</a:t>
            </a:r>
            <a:endParaRPr lang="en-US" sz="1600" dirty="0"/>
          </a:p>
        </p:txBody>
      </p:sp>
      <p:sp>
        <p:nvSpPr>
          <p:cNvPr id="23" name="Text 20"/>
          <p:cNvSpPr/>
          <p:nvPr/>
        </p:nvSpPr>
        <p:spPr>
          <a:xfrm>
            <a:off x="1371600" y="4251960"/>
            <a:ext cx="6858000" cy="320040"/>
          </a:xfrm>
          <a:prstGeom prst="rect">
            <a:avLst/>
          </a:prstGeom>
          <a:noFill/>
          <a:ln/>
        </p:spPr>
        <p:txBody>
          <a:bodyPr wrap="square" lIns="0" tIns="0" rIns="0" bIns="0" rtlCol="0" anchor="ct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한국 기업의 채용에서 가장 개선이 필요한 편견은 무엇인가?</a:t>
            </a:r>
            <a:endParaRPr lang="en-US" sz="1300" dirty="0"/>
          </a:p>
        </p:txBody>
      </p:sp>
      <p:sp>
        <p:nvSpPr>
          <p:cNvPr id="24" name="Text 21"/>
          <p:cNvSpPr/>
          <p:nvPr/>
        </p:nvSpPr>
        <p:spPr>
          <a:xfrm>
            <a:off x="1371600" y="4590288"/>
            <a:ext cx="6858000" cy="274320"/>
          </a:xfrm>
          <a:prstGeom prst="rect">
            <a:avLst/>
          </a:prstGeom>
          <a:noFill/>
          <a:ln/>
        </p:spPr>
        <p:txBody>
          <a:bodyPr wrap="square" lIns="0" tIns="0" rIns="0" bIns="0" rtlCol="0" anchor="ctr"/>
          <a:lstStyle/>
          <a:p>
            <a:pPr marL="0" indent="0">
              <a:buNone/>
            </a:pPr>
            <a:r>
              <a:rPr lang="en-US" sz="1100" dirty="0">
                <a:solidFill>
                  <a:srgbClr val="8A98AD"/>
                </a:solidFill>
                <a:latin typeface="Noto Sans KR" pitchFamily="34" charset="0"/>
                <a:ea typeface="Noto Sans KR" pitchFamily="34" charset="-122"/>
                <a:cs typeface="Noto Sans KR" pitchFamily="34" charset="-120"/>
              </a:rPr>
              <a:t>학벌, 성별, 나이, 외모, 장애 등 — 우리 조직에서는?</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F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B"/>
          </a:solidFill>
          <a:ln/>
        </p:spPr>
        <p:txBody>
          <a:bodyPr/>
          <a:lstStyle/>
          <a:p>
            <a:endParaRPr lang="ko-KR" altLang="en-US"/>
          </a:p>
        </p:txBody>
      </p:sp>
      <p:sp>
        <p:nvSpPr>
          <p:cNvPr id="3" name="Shape 1"/>
          <p:cNvSpPr/>
          <p:nvPr/>
        </p:nvSpPr>
        <p:spPr>
          <a:xfrm>
            <a:off x="640080" y="1828800"/>
            <a:ext cx="73152" cy="1280160"/>
          </a:xfrm>
          <a:prstGeom prst="rect">
            <a:avLst/>
          </a:prstGeom>
          <a:solidFill>
            <a:srgbClr val="D4A84B"/>
          </a:solidFill>
          <a:ln/>
        </p:spPr>
        <p:txBody>
          <a:bodyPr/>
          <a:lstStyle/>
          <a:p>
            <a:endParaRPr lang="ko-KR" altLang="en-US"/>
          </a:p>
        </p:txBody>
      </p:sp>
      <p:sp>
        <p:nvSpPr>
          <p:cNvPr id="4" name="Text 2"/>
          <p:cNvSpPr/>
          <p:nvPr/>
        </p:nvSpPr>
        <p:spPr>
          <a:xfrm>
            <a:off x="1005840" y="1737360"/>
            <a:ext cx="7315200" cy="822960"/>
          </a:xfrm>
          <a:prstGeom prst="rect">
            <a:avLst/>
          </a:prstGeom>
          <a:noFill/>
          <a:ln/>
        </p:spPr>
        <p:txBody>
          <a:bodyPr wrap="square" lIns="0" tIns="0" rIns="0" bIns="0" rtlCol="0" anchor="ctr"/>
          <a:lstStyle/>
          <a:p>
            <a:pPr marL="0" indent="0">
              <a:buNone/>
            </a:pPr>
            <a:r>
              <a:rPr lang="en-US" sz="4000" b="1" dirty="0">
                <a:solidFill>
                  <a:srgbClr val="FFFFFF"/>
                </a:solidFill>
                <a:latin typeface="Noto Sans KR" pitchFamily="34" charset="0"/>
                <a:ea typeface="Noto Sans KR" pitchFamily="34" charset="-122"/>
                <a:cs typeface="Noto Sans KR" pitchFamily="34" charset="-120"/>
              </a:rPr>
              <a:t>감사합니다</a:t>
            </a:r>
            <a:endParaRPr lang="en-US" sz="4000" dirty="0"/>
          </a:p>
        </p:txBody>
      </p:sp>
      <p:sp>
        <p:nvSpPr>
          <p:cNvPr id="5" name="Text 3"/>
          <p:cNvSpPr/>
          <p:nvPr/>
        </p:nvSpPr>
        <p:spPr>
          <a:xfrm>
            <a:off x="1005840" y="2560320"/>
            <a:ext cx="7315200" cy="457200"/>
          </a:xfrm>
          <a:prstGeom prst="rect">
            <a:avLst/>
          </a:prstGeom>
          <a:noFill/>
          <a:ln/>
        </p:spPr>
        <p:txBody>
          <a:bodyPr wrap="square" lIns="0" tIns="0" rIns="0" bIns="0" rtlCol="0" anchor="ctr"/>
          <a:lstStyle/>
          <a:p>
            <a:pPr marL="0" indent="0">
              <a:buNone/>
            </a:pPr>
            <a:r>
              <a:rPr lang="en-US" sz="1800" i="1" dirty="0">
                <a:solidFill>
                  <a:srgbClr val="D4A84B"/>
                </a:solidFill>
                <a:latin typeface="Noto Sans KR" pitchFamily="34" charset="0"/>
                <a:ea typeface="Noto Sans KR" pitchFamily="34" charset="-122"/>
                <a:cs typeface="Noto Sans KR" pitchFamily="34" charset="-120"/>
              </a:rPr>
              <a:t>"우리는 우리가 채용하는 사람들이다"</a:t>
            </a:r>
            <a:endParaRPr lang="en-US" sz="1800" dirty="0"/>
          </a:p>
        </p:txBody>
      </p:sp>
      <p:sp>
        <p:nvSpPr>
          <p:cNvPr id="6" name="Text 4"/>
          <p:cNvSpPr/>
          <p:nvPr/>
        </p:nvSpPr>
        <p:spPr>
          <a:xfrm>
            <a:off x="1005840" y="2926080"/>
            <a:ext cx="7315200" cy="274320"/>
          </a:xfrm>
          <a:prstGeom prst="rect">
            <a:avLst/>
          </a:prstGeom>
          <a:noFill/>
          <a:ln/>
        </p:spPr>
        <p:txBody>
          <a:bodyPr wrap="square" lIns="0" tIns="0" rIns="0" bIns="0" rtlCol="0" anchor="ctr"/>
          <a:lstStyle/>
          <a:p>
            <a:pPr marL="0" indent="0">
              <a:buNone/>
            </a:pPr>
            <a:r>
              <a:rPr lang="en-US" sz="1400" dirty="0">
                <a:solidFill>
                  <a:srgbClr val="8A98AD"/>
                </a:solidFill>
                <a:latin typeface="Noto Sans KR" pitchFamily="34" charset="0"/>
                <a:ea typeface="Noto Sans KR" pitchFamily="34" charset="-122"/>
                <a:cs typeface="Noto Sans KR" pitchFamily="34" charset="-120"/>
              </a:rPr>
              <a:t>— SG 코웬</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3127</Words>
  <Application>Microsoft Office PowerPoint</Application>
  <PresentationFormat>화면 슬라이드 쇼(16:9)</PresentationFormat>
  <Paragraphs>315</Paragraphs>
  <Slides>17</Slides>
  <Notes>17</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17</vt:i4>
      </vt:variant>
    </vt:vector>
  </HeadingPairs>
  <TitlesOfParts>
    <vt:vector size="20" baseType="lpstr">
      <vt:lpstr>Noto Sans KR</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 코웬: 신규 채용 - 사례분석</dc:title>
  <dc:subject>PptxGenJS Presentation</dc:subject>
  <dc:creator>종민</dc:creator>
  <cp:lastModifiedBy>오종민</cp:lastModifiedBy>
  <cp:revision>2</cp:revision>
  <dcterms:created xsi:type="dcterms:W3CDTF">2026-04-10T22:19:06Z</dcterms:created>
  <dcterms:modified xsi:type="dcterms:W3CDTF">2026-04-10T22:54:02Z</dcterms:modified>
</cp:coreProperties>
</file>